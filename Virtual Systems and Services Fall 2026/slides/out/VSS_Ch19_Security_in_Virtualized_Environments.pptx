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3.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1.svg" ContentType="image/svg+xml"/>
  <Override PartName="/ppt/media/image33.svg" ContentType="image/svg+xml"/>
  <Override PartName="/ppt/media/image34.svg" ContentType="image/svg+xml"/>
  <Override PartName="/ppt/media/image35.svg" ContentType="image/svg+xml"/>
  <Override PartName="/ppt/media/image37.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2FD75C6-8B36-43CD-BC94-FA0D306E94A5}">
          <p14:sldIdLst>
            <p14:sldId id="256"/>
            <p14:sldId id="257"/>
            <p14:sldId id="258"/>
            <p14:sldId id="259"/>
            <p14:sldId id="260"/>
          </p14:sldIdLst>
        </p14:section>
        <p14:section name="19.1 What the Layer Added" id="{DFFEE6A3-9C21-4A93-910A-3160C42B7179}">
          <p14:sldIdLst>
            <p14:sldId id="261"/>
            <p14:sldId id="262"/>
            <p14:sldId id="263"/>
          </p14:sldIdLst>
        </p14:section>
        <p14:section name="19.2 Where Escapes Come From" id="{FA4033C6-BB32-4AC9-9705-D0A7D76D31DA}">
          <p14:sldIdLst>
            <p14:sldId id="264"/>
          </p14:sldIdLst>
        </p14:section>
        <p14:section name="19.3 Blast Radius Is the Right Metric" id="{7094460C-F9BE-4673-9100-2697E341E2AE}">
          <p14:sldIdLst>
            <p14:sldId id="265"/>
            <p14:sldId id="266"/>
            <p14:sldId id="267"/>
            <p14:sldId id="268"/>
          </p14:sldIdLst>
        </p14:section>
        <p14:section name="19.4 Side Channels" id="{DDF52F94-80EB-4AB5-A220-61C43E718E89}">
          <p14:sldIdLst>
            <p14:sldId id="269"/>
            <p14:sldId id="270"/>
          </p14:sldIdLst>
        </p14:section>
        <p14:section name="19.5 Containers" id="{C60666A9-50E7-45BD-A6AC-DB96686F320B}">
          <p14:sldIdLst>
            <p14:sldId id="271"/>
            <p14:sldId id="272"/>
            <p14:sldId id="273"/>
          </p14:sldIdLst>
        </p14:section>
        <p14:section name="19.6 Hardening, in Order" id="{F81EE48E-0F99-4D25-A6C8-CDCF0D68729F}">
          <p14:sldIdLst>
            <p14:sldId id="274"/>
            <p14:sldId id="275"/>
          </p14:sldIdLst>
        </p14:section>
        <p14:section name="Pitfalls" id="{DF08ECC4-82BB-4580-A107-3CC9C1C53616}">
          <p14:sldIdLst>
            <p14:sldId id="276"/>
            <p14:sldId id="277"/>
          </p14:sldIdLst>
        </p14:section>
        <p14:section name="Lab" id="{B7D41621-C115-4E81-A2F4-4C86ED830DF3}">
          <p14:sldIdLst>
            <p14:sldId id="278"/>
            <p14:sldId id="279"/>
            <p14:sldId id="280"/>
            <p14:sldId id="281"/>
            <p14:sldId id="282"/>
            <p14:sldId id="283"/>
            <p14:sldId id="284"/>
            <p14:sldId id="285"/>
            <p14:sldId id="286"/>
            <p14:sldId id="287"/>
            <p14:sldId id="288"/>
          </p14:sldIdLst>
        </p14:section>
        <p14:section name="Checkpoint" id="{A713FDD9-4F84-4352-A679-6E563592ED1A}">
          <p14:sldIdLst>
            <p14:sldId id="289"/>
            <p14:sldId id="290"/>
            <p14:sldId id="291"/>
            <p14:sldId id="292"/>
            <p14:sldId id="293"/>
            <p14:sldId id="294"/>
          </p14:sldIdLst>
        </p14:section>
        <p14:section name="Wrap-up" id="{B3DD642C-9F02-4013-83E0-95F84356EAB6}">
          <p14:sldIdLst>
            <p14:sldId id="295"/>
            <p14:sldId id="296"/>
            <p14:sldId id="297"/>
            <p14:sldId id="298"/>
            <p14:sldId id="29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19: Security in Virtualized Environments. Part 5 — Management, Performance and Security. Week 14: Performance; security. Handout pages 149–158.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3 (what isolation means formally — resource control is the property being attacked), Chapter 7 (device models, which are the attack surface) and Chapter 8 (the shared kernel). Chapter 16 supplies the management plane this chapter argues is the real target.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attack surface; trusted computing base; VM escape; guest-to-host; device model; side channel; covert channel; Spectre; Meltdown; L1TF; MDS; simultaneous multithreading; core scheduling; blast radius; management plane; lateral movement; container escape; privileged container; seccomp; capability; image provenance; secret; micro-segmentation.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Virtualization is, on balance, good for security. It gives every workload a hardware-enforced boundary, it makes a compromised machine disposable, and it makes isolation affordable enough to apply everywhere. It also added two things that did not exist before: a piece of privileged software underneath every workload, and a control plane that can reach every machine at once. This chapter is about those two.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19.1 (handout p. 150): The attack surface. The hypervisor core is small and heavily reviewed; the device models around it are neither, and that is where the escapes are.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Almost no escape is a flaw in the VMX handling or the page tables. They are overwhelmingly in the device models — the software of Chapter 7 that imitates a network card, a disk controller, a graphics adapter or a USB hub. The reason is structural. That code takes input a hostile guest fully controls — ring descriptors, packet headers, command blocks — parses it in C, and runs with the privileges of the hypervisor. It is large, it imitates decades of hardware quirks, and much of it is rarely exercised.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Severity scores rank a vulnerability in isolation. What matters operationally is how much of your estate one successful attack reaches.</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attacks above are software faults, and software faults get patched. Side channels are not faults at all. Two guests on one physical core share caches, branch predictors and memory buses. Sharing is not a bug — it is what makes the hardware fast. But timing reveals what the other guest did: if a memory access is fast, the data was in a shared cache, which means somebody else touched it recently. Spectre and Meltdown (2018) made this practical by abusing speculative execution. L1TF and the MDS family extended it to the exact multi-tenant case — reading data belonging to another guest on the same core.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Chapter 8 applies: one kernel, 350 system calls, and an isolation boundary enforced by software.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Demonstrates the escape paths the table closes, then closes them. Run on a disposable machine — step 3 genuinely gives the container the host. Expect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A default container: how much is still exposed?.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kernel is shared, and the container can see 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Privileged: the host, with extra steps. DISPOSABLE HOST ONLY..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The Docker socket is equivalent..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Now harden, measure by measure..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Seccomp: count the system calls actually reachable..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All of it together: what a hardened run looks like..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And the alternative, when none of that is enough..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Inventory your own estate for the two fatal flags..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Guest compromise: 1/600 = 0.17%. VM escape: a host carries 600/25 = 24 guests, so 24/600 = 4%. Management plane: 100%. Defend the management plane first — it is 25 times the reach of an escape, it needs no foothold inside any guest, and it is reachable over the network. Do not forget the storage array, which holds all 600 guests’ disks and is usually less hardened.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Two hardware threads on one core share caches, branch predictors and execution resources almost completely, so a side channel between them cannot be closed by flushing at VM entry — the two threads are running simultaneously, not alternately. Where the neighbours are strictly untrusted, the only reliable answer is to stop using the second thread. It costs 15–30% of the host’s apparent capacity. Core scheduling recovers much of that by allowing SMT only between siblings of the same guest.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You are being asked to grant host root, twice over. --privileged grants all capabilities and disables seccomp and AppArmor; the Docker socket allows the agent to start a new container with the host filesystem mounted and privileges set, which is the same thing by another route. Alternatives: (i) run the agent as a host process under systemd with specific, scoped permissions rather than as a container; (ii) give it a read-only, scoped API credential — most monitoring needs metrics, not the socket — and if the vendor cannot work without either, run it where it shares a kernel with nothing you care about.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20 — GPU and Accelerator Virtualization. READ: Handout Chapter 19, pages 149–158. THIS WEEK'S LAB: Find three bottlenecks; harden a container. ASSESSMENT: Quiz 3 (Ch 15–19) Assignment 2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4.xml"/><Relationship Id="rId9" Type="http://schemas.openxmlformats.org/officeDocument/2006/relationships/slide" Target="slide16.xml"/><Relationship Id="rId10" Type="http://schemas.openxmlformats.org/officeDocument/2006/relationships/slide" Target="slide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image" Target="../media/image19.png"/><Relationship Id="rId5" Type="http://schemas.openxmlformats.org/officeDocument/2006/relationships/image" Target="../media/image20.svg"/><Relationship Id="rId6" Type="http://schemas.openxmlformats.org/officeDocument/2006/relationships/image" Target="../media/image21.png"/><Relationship Id="rId7" Type="http://schemas.openxmlformats.org/officeDocument/2006/relationships/image" Target="../media/image22.svg"/><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3.svg"/><Relationship Id="rId4" Type="http://schemas.openxmlformats.org/officeDocument/2006/relationships/image" Target="../media/image24.png"/><Relationship Id="rId5" Type="http://schemas.openxmlformats.org/officeDocument/2006/relationships/image" Target="../media/image25.sv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6.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27.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8.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9.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4.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5.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8.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1.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2.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3.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4.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5.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6.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7.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8.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9.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50.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6.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7.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8.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3.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4.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88674"/>
                </a:solidFill>
                <a:latin typeface="Segoe UI Black"/>
              </a:rPr>
              <a:t>19</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Security in Virtualized Environments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PART V  ·  MANAGEMENT, PERFORMANCE AND SECURITY</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CD9D4"/>
                </a:solidFill>
                <a:latin typeface="Segoe UI"/>
              </a:rPr>
              <a:t>CHAPTER 19  ·  WEEK 14</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CFE4E0"/>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0C57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3BFB9"/>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BD0CC"/>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3BFB9"/>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90D74658-1305-4EE7-A45D-E59A78DF3B3F}"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9091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9091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750335"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750335" y="2029967"/>
            <a:ext cx="1667468" cy="4572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74358"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1829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594039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58489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332120"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2406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672384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6324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1155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0241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7781603"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6901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173324"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0818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56504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4736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8965910" y="2112264"/>
            <a:ext cx="566928" cy="566928"/>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896591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07964"/>
                </a:solidFill>
                <a:latin typeface="Segoe UI"/>
              </a:rPr>
              <a:t>Security in Virtualized Environments</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3">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3">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3"/>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Virtual Machine Monitor</a:t>
            </a:r>
          </a:p>
        </p:txBody>
      </p:sp>
      <p:sp>
        <p:nvSpPr>
          <p:cNvPr id="70" name="!!chipBU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73" name="!!chipBU8">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8">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8"/>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From Virtual Machines to Containers</a:t>
            </a:r>
          </a:p>
        </p:txBody>
      </p:sp>
      <p:sp>
        <p:nvSpPr>
          <p:cNvPr id="76" name="!!chipBU16">
            <a:extLst>
              <a:ext uri="{C183D7F6-B498-43B3-948B-1728B52AA6E4}">
                <adec:decorative xmlns:adec="http://schemas.microsoft.com/office/drawing/2017/decorative" val="1"/>
              </a:ext>
            </a:extLst>
          </p:cNvPr>
          <p:cNvSpPr/>
          <p:nvPr/>
        </p:nvSpPr>
        <p:spPr>
          <a:xfrm>
            <a:off x="658368"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bBU16">
            <a:extLst>
              <a:ext uri="{C183D7F6-B498-43B3-948B-1728B52AA6E4}">
                <adec:decorative xmlns:adec="http://schemas.microsoft.com/office/drawing/2017/decorative" val="1"/>
              </a:ext>
            </a:extLst>
          </p:cNvPr>
          <p:cNvSpPr/>
          <p:nvPr/>
        </p:nvSpPr>
        <p:spPr>
          <a:xfrm>
            <a:off x="658368"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tBU16"/>
          <p:cNvSpPr txBox="1"/>
          <p:nvPr/>
        </p:nvSpPr>
        <p:spPr>
          <a:xfrm>
            <a:off x="859536"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16  </a:t>
            </a:r>
            <a:r>
              <a:rPr sz="1400" b="0" i="0">
                <a:solidFill>
                  <a:srgbClr val="1C252B"/>
                </a:solidFill>
                <a:latin typeface="Segoe UI"/>
              </a:rPr>
              <a:t>Virtualization Management Platforms</a:t>
            </a:r>
          </a:p>
        </p:txBody>
      </p:sp>
      <p:sp>
        <p:nvSpPr>
          <p:cNvPr id="79"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80" name="!!chipUS21">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21">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21"/>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21  </a:t>
            </a:r>
            <a:r>
              <a:rPr sz="1400" b="0" i="0">
                <a:solidFill>
                  <a:srgbClr val="1C252B"/>
                </a:solidFill>
                <a:latin typeface="Segoe UI"/>
              </a:rPr>
              <a:t>Confidential Computing and Emerging Hardware</a:t>
            </a:r>
          </a:p>
        </p:txBody>
      </p:sp>
      <p:sp>
        <p:nvSpPr>
          <p:cNvPr id="8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pfill">
            <a:extLst>
              <a:ext uri="{C183D7F6-B498-43B3-948B-1728B52AA6E4}">
                <adec:decorative xmlns:adec="http://schemas.microsoft.com/office/drawing/2017/decorative" val="1"/>
              </a:ext>
            </a:extLst>
          </p:cNvPr>
          <p:cNvSpPr/>
          <p:nvPr/>
        </p:nvSpPr>
        <p:spPr>
          <a:xfrm>
            <a:off x="0" y="0"/>
            <a:ext cx="5541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6915E218-92BE-4EED-8C49-725D268B9514}"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Describe</a:t>
            </a:r>
            <a:r>
              <a:rPr sz="2100" b="0" i="0">
                <a:solidFill>
                  <a:srgbClr val="1C252B"/>
                </a:solidFill>
                <a:latin typeface="Segoe UI"/>
              </a:rPr>
              <a:t> the hypervisor’s attack surface and </a:t>
            </a:r>
            <a:r>
              <a:rPr sz="2100" b="1" i="0">
                <a:solidFill>
                  <a:srgbClr val="1C252B"/>
                </a:solidFill>
                <a:latin typeface="Segoe UI"/>
              </a:rPr>
              <a:t>explain</a:t>
            </a:r>
            <a:r>
              <a:rPr sz="2100" b="0" i="0">
                <a:solidFill>
                  <a:srgbClr val="1C252B"/>
                </a:solidFill>
                <a:latin typeface="Segoe UI"/>
              </a:rPr>
              <a:t> why device models are where escapes keep being found.</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Explain</a:t>
            </a:r>
            <a:r>
              <a:rPr sz="2100" b="0" i="0">
                <a:solidFill>
                  <a:srgbClr val="1C252B"/>
                </a:solidFill>
                <a:latin typeface="Segoe UI"/>
              </a:rPr>
              <a:t> how a side channel defeats isolation without any software fault, and </a:t>
            </a:r>
            <a:r>
              <a:rPr sz="2100" b="1" i="0">
                <a:solidFill>
                  <a:srgbClr val="1C252B"/>
                </a:solidFill>
                <a:latin typeface="Segoe UI"/>
              </a:rPr>
              <a:t>name</a:t>
            </a:r>
            <a:r>
              <a:rPr sz="2100" b="0" i="0">
                <a:solidFill>
                  <a:srgbClr val="1C252B"/>
                </a:solidFill>
                <a:latin typeface="Segoe UI"/>
              </a:rPr>
              <a:t> the mitigations and what they cost.</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Compare</a:t>
            </a:r>
            <a:r>
              <a:rPr sz="2100" b="0" i="0">
                <a:solidFill>
                  <a:srgbClr val="1C252B"/>
                </a:solidFill>
                <a:latin typeface="Segoe UI"/>
              </a:rPr>
              <a:t> the blast radius of a guest compromise, a host compromise and a management-plane compromise.</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List</a:t>
            </a:r>
            <a:r>
              <a:rPr sz="2100" b="0" i="0">
                <a:solidFill>
                  <a:srgbClr val="1C252B"/>
                </a:solidFill>
                <a:latin typeface="Segoe UI"/>
              </a:rPr>
              <a:t> the container hardening measures and </a:t>
            </a:r>
            <a:r>
              <a:rPr sz="2100" b="1" i="0">
                <a:solidFill>
                  <a:srgbClr val="1C252B"/>
                </a:solidFill>
                <a:latin typeface="Segoe UI"/>
              </a:rPr>
              <a:t>say</a:t>
            </a:r>
            <a:r>
              <a:rPr sz="2100" b="0" i="0">
                <a:solidFill>
                  <a:srgbClr val="1C252B"/>
                </a:solidFill>
                <a:latin typeface="Segoe UI"/>
              </a:rPr>
              <a:t> what each one removes.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07964"/>
                </a:solidFill>
                <a:latin typeface="Segoe UI"/>
              </a:rPr>
              <a:t>Produce</a:t>
            </a:r>
            <a:r>
              <a:rPr sz="2100" b="0" i="0">
                <a:solidFill>
                  <a:srgbClr val="1C252B"/>
                </a:solidFill>
                <a:latin typeface="Segoe UI"/>
              </a:rPr>
              <a:t> a hardening plan for a stated estate, in priority order, justified by blast radius rather than by severity score.</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3125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149     </a:t>
            </a:r>
            <a:fld id="{7DA4E190-1613-4DB7-9CBE-714CA381D356}" type="slidenum">
              <a:rPr lang="en-GB" sz="1000">
                <a:solidFill>
                  <a:srgbClr val="8795A1"/>
                </a:solidFill>
                <a:latin typeface="Segoe UI"/>
              </a:rPr>
              <a:t>4</a:t>
            </a:fld>
          </a:p>
        </p:txBody>
      </p:sp>
      <p:sp>
        <p:nvSpPr>
          <p:cNvPr id="7" name="!!term-attack surface">
            <a:extLst>
              <a:ext uri="{C183D7F6-B498-43B3-948B-1728B52AA6E4}">
                <adec:decorative xmlns:adec="http://schemas.microsoft.com/office/drawing/2017/decorative" val="1"/>
              </a:ext>
            </a:extLst>
          </p:cNvPr>
          <p:cNvSpPr/>
          <p:nvPr/>
        </p:nvSpPr>
        <p:spPr>
          <a:xfrm>
            <a:off x="658368" y="1847088"/>
            <a:ext cx="16192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ttack surface">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ttack surface"/>
          <p:cNvSpPr txBox="1"/>
          <p:nvPr/>
        </p:nvSpPr>
        <p:spPr>
          <a:xfrm>
            <a:off x="950976" y="1970532"/>
            <a:ext cx="143632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attack surface</a:t>
            </a:r>
          </a:p>
        </p:txBody>
      </p:sp>
      <p:sp>
        <p:nvSpPr>
          <p:cNvPr id="10" name="!!term-trusted comput">
            <a:extLst>
              <a:ext uri="{C183D7F6-B498-43B3-948B-1728B52AA6E4}">
                <adec:decorative xmlns:adec="http://schemas.microsoft.com/office/drawing/2017/decorative" val="1"/>
              </a:ext>
            </a:extLst>
          </p:cNvPr>
          <p:cNvSpPr/>
          <p:nvPr/>
        </p:nvSpPr>
        <p:spPr>
          <a:xfrm>
            <a:off x="2423880" y="1847088"/>
            <a:ext cx="24827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trusted comput">
            <a:extLst>
              <a:ext uri="{C183D7F6-B498-43B3-948B-1728B52AA6E4}">
                <adec:decorative xmlns:adec="http://schemas.microsoft.com/office/drawing/2017/decorative" val="1"/>
              </a:ext>
            </a:extLst>
          </p:cNvPr>
          <p:cNvSpPr/>
          <p:nvPr/>
        </p:nvSpPr>
        <p:spPr>
          <a:xfrm>
            <a:off x="255189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trusted comput"/>
          <p:cNvSpPr txBox="1"/>
          <p:nvPr/>
        </p:nvSpPr>
        <p:spPr>
          <a:xfrm>
            <a:off x="2716488" y="1970532"/>
            <a:ext cx="229991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trusted computing base</a:t>
            </a:r>
          </a:p>
        </p:txBody>
      </p:sp>
      <p:sp>
        <p:nvSpPr>
          <p:cNvPr id="13" name="!!term-VM escape">
            <a:extLst>
              <a:ext uri="{C183D7F6-B498-43B3-948B-1728B52AA6E4}">
                <adec:decorative xmlns:adec="http://schemas.microsoft.com/office/drawing/2017/decorative" val="1"/>
              </a:ext>
            </a:extLst>
          </p:cNvPr>
          <p:cNvSpPr/>
          <p:nvPr/>
        </p:nvSpPr>
        <p:spPr>
          <a:xfrm>
            <a:off x="5052979" y="1847088"/>
            <a:ext cx="13758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VM escape">
            <a:extLst>
              <a:ext uri="{C183D7F6-B498-43B3-948B-1728B52AA6E4}">
                <adec:decorative xmlns:adec="http://schemas.microsoft.com/office/drawing/2017/decorative" val="1"/>
              </a:ext>
            </a:extLst>
          </p:cNvPr>
          <p:cNvSpPr/>
          <p:nvPr/>
        </p:nvSpPr>
        <p:spPr>
          <a:xfrm>
            <a:off x="5180995"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VM escape"/>
          <p:cNvSpPr txBox="1"/>
          <p:nvPr/>
        </p:nvSpPr>
        <p:spPr>
          <a:xfrm>
            <a:off x="5345587" y="1970532"/>
            <a:ext cx="119299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VM escape</a:t>
            </a:r>
          </a:p>
        </p:txBody>
      </p:sp>
      <p:sp>
        <p:nvSpPr>
          <p:cNvPr id="16" name="!!term-guest-to-host">
            <a:extLst>
              <a:ext uri="{C183D7F6-B498-43B3-948B-1728B52AA6E4}">
                <adec:decorative xmlns:adec="http://schemas.microsoft.com/office/drawing/2017/decorative" val="1"/>
              </a:ext>
            </a:extLst>
          </p:cNvPr>
          <p:cNvSpPr/>
          <p:nvPr/>
        </p:nvSpPr>
        <p:spPr>
          <a:xfrm>
            <a:off x="6575158" y="1847088"/>
            <a:ext cx="16203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guest-to-host">
            <a:extLst>
              <a:ext uri="{C183D7F6-B498-43B3-948B-1728B52AA6E4}">
                <adec:decorative xmlns:adec="http://schemas.microsoft.com/office/drawing/2017/decorative" val="1"/>
              </a:ext>
            </a:extLst>
          </p:cNvPr>
          <p:cNvSpPr/>
          <p:nvPr/>
        </p:nvSpPr>
        <p:spPr>
          <a:xfrm>
            <a:off x="670317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guest-to-host"/>
          <p:cNvSpPr txBox="1"/>
          <p:nvPr/>
        </p:nvSpPr>
        <p:spPr>
          <a:xfrm>
            <a:off x="6867766" y="1970532"/>
            <a:ext cx="14374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guest-to-host</a:t>
            </a:r>
          </a:p>
        </p:txBody>
      </p:sp>
      <p:sp>
        <p:nvSpPr>
          <p:cNvPr id="19" name="!!term-device model">
            <a:extLst>
              <a:ext uri="{C183D7F6-B498-43B3-948B-1728B52AA6E4}">
                <adec:decorative xmlns:adec="http://schemas.microsoft.com/office/drawing/2017/decorative" val="1"/>
              </a:ext>
            </a:extLst>
          </p:cNvPr>
          <p:cNvSpPr/>
          <p:nvPr/>
        </p:nvSpPr>
        <p:spPr>
          <a:xfrm>
            <a:off x="8341782" y="1847088"/>
            <a:ext cx="15839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device model">
            <a:extLst>
              <a:ext uri="{C183D7F6-B498-43B3-948B-1728B52AA6E4}">
                <adec:decorative xmlns:adec="http://schemas.microsoft.com/office/drawing/2017/decorative" val="1"/>
              </a:ext>
            </a:extLst>
          </p:cNvPr>
          <p:cNvSpPr/>
          <p:nvPr/>
        </p:nvSpPr>
        <p:spPr>
          <a:xfrm>
            <a:off x="846979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device model"/>
          <p:cNvSpPr txBox="1"/>
          <p:nvPr/>
        </p:nvSpPr>
        <p:spPr>
          <a:xfrm>
            <a:off x="8634390" y="1970532"/>
            <a:ext cx="14011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device model</a:t>
            </a:r>
          </a:p>
        </p:txBody>
      </p:sp>
      <p:sp>
        <p:nvSpPr>
          <p:cNvPr id="22" name="!!term-side channel">
            <a:extLst>
              <a:ext uri="{C183D7F6-B498-43B3-948B-1728B52AA6E4}">
                <adec:decorative xmlns:adec="http://schemas.microsoft.com/office/drawing/2017/decorative" val="1"/>
              </a:ext>
            </a:extLst>
          </p:cNvPr>
          <p:cNvSpPr/>
          <p:nvPr/>
        </p:nvSpPr>
        <p:spPr>
          <a:xfrm>
            <a:off x="658368" y="2468880"/>
            <a:ext cx="150489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side channel">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side channel"/>
          <p:cNvSpPr txBox="1"/>
          <p:nvPr/>
        </p:nvSpPr>
        <p:spPr>
          <a:xfrm>
            <a:off x="950976" y="2592324"/>
            <a:ext cx="132201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side channel</a:t>
            </a:r>
          </a:p>
        </p:txBody>
      </p:sp>
      <p:sp>
        <p:nvSpPr>
          <p:cNvPr id="25" name="!!term-covert channel">
            <a:extLst>
              <a:ext uri="{C183D7F6-B498-43B3-948B-1728B52AA6E4}">
                <adec:decorative xmlns:adec="http://schemas.microsoft.com/office/drawing/2017/decorative" val="1"/>
              </a:ext>
            </a:extLst>
          </p:cNvPr>
          <p:cNvSpPr/>
          <p:nvPr/>
        </p:nvSpPr>
        <p:spPr>
          <a:xfrm>
            <a:off x="2309568" y="2468880"/>
            <a:ext cx="16913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covert channel">
            <a:extLst>
              <a:ext uri="{C183D7F6-B498-43B3-948B-1728B52AA6E4}">
                <adec:decorative xmlns:adec="http://schemas.microsoft.com/office/drawing/2017/decorative" val="1"/>
              </a:ext>
            </a:extLst>
          </p:cNvPr>
          <p:cNvSpPr/>
          <p:nvPr/>
        </p:nvSpPr>
        <p:spPr>
          <a:xfrm>
            <a:off x="24375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covert channel"/>
          <p:cNvSpPr txBox="1"/>
          <p:nvPr/>
        </p:nvSpPr>
        <p:spPr>
          <a:xfrm>
            <a:off x="2602176" y="2592324"/>
            <a:ext cx="150842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covert channel</a:t>
            </a:r>
          </a:p>
        </p:txBody>
      </p:sp>
      <p:sp>
        <p:nvSpPr>
          <p:cNvPr id="28" name="!!term-Spectre">
            <a:extLst>
              <a:ext uri="{C183D7F6-B498-43B3-948B-1728B52AA6E4}">
                <adec:decorative xmlns:adec="http://schemas.microsoft.com/office/drawing/2017/decorative" val="1"/>
              </a:ext>
            </a:extLst>
          </p:cNvPr>
          <p:cNvSpPr/>
          <p:nvPr/>
        </p:nvSpPr>
        <p:spPr>
          <a:xfrm>
            <a:off x="4147182" y="2468880"/>
            <a:ext cx="10828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pectre">
            <a:extLst>
              <a:ext uri="{C183D7F6-B498-43B3-948B-1728B52AA6E4}">
                <adec:decorative xmlns:adec="http://schemas.microsoft.com/office/drawing/2017/decorative" val="1"/>
              </a:ext>
            </a:extLst>
          </p:cNvPr>
          <p:cNvSpPr/>
          <p:nvPr/>
        </p:nvSpPr>
        <p:spPr>
          <a:xfrm>
            <a:off x="427519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pectre"/>
          <p:cNvSpPr txBox="1"/>
          <p:nvPr/>
        </p:nvSpPr>
        <p:spPr>
          <a:xfrm>
            <a:off x="4439790" y="2592324"/>
            <a:ext cx="89993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Spectre</a:t>
            </a:r>
          </a:p>
        </p:txBody>
      </p:sp>
      <p:sp>
        <p:nvSpPr>
          <p:cNvPr id="31" name="!!term-Meltdown">
            <a:extLst>
              <a:ext uri="{C183D7F6-B498-43B3-948B-1728B52AA6E4}">
                <adec:decorative xmlns:adec="http://schemas.microsoft.com/office/drawing/2017/decorative" val="1"/>
              </a:ext>
            </a:extLst>
          </p:cNvPr>
          <p:cNvSpPr/>
          <p:nvPr/>
        </p:nvSpPr>
        <p:spPr>
          <a:xfrm>
            <a:off x="5376302" y="2468880"/>
            <a:ext cx="13066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Meltdown">
            <a:extLst>
              <a:ext uri="{C183D7F6-B498-43B3-948B-1728B52AA6E4}">
                <adec:decorative xmlns:adec="http://schemas.microsoft.com/office/drawing/2017/decorative" val="1"/>
              </a:ext>
            </a:extLst>
          </p:cNvPr>
          <p:cNvSpPr/>
          <p:nvPr/>
        </p:nvSpPr>
        <p:spPr>
          <a:xfrm>
            <a:off x="550431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Meltdown"/>
          <p:cNvSpPr txBox="1"/>
          <p:nvPr/>
        </p:nvSpPr>
        <p:spPr>
          <a:xfrm>
            <a:off x="5668910" y="2592324"/>
            <a:ext cx="112378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Meltdown</a:t>
            </a:r>
          </a:p>
        </p:txBody>
      </p:sp>
      <p:sp>
        <p:nvSpPr>
          <p:cNvPr id="34" name="!!term-L1TF">
            <a:extLst>
              <a:ext uri="{C183D7F6-B498-43B3-948B-1728B52AA6E4}">
                <adec:decorative xmlns:adec="http://schemas.microsoft.com/office/drawing/2017/decorative" val="1"/>
              </a:ext>
            </a:extLst>
          </p:cNvPr>
          <p:cNvSpPr/>
          <p:nvPr/>
        </p:nvSpPr>
        <p:spPr>
          <a:xfrm>
            <a:off x="6829267" y="2468880"/>
            <a:ext cx="83180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L1TF">
            <a:extLst>
              <a:ext uri="{C183D7F6-B498-43B3-948B-1728B52AA6E4}">
                <adec:decorative xmlns:adec="http://schemas.microsoft.com/office/drawing/2017/decorative" val="1"/>
              </a:ext>
            </a:extLst>
          </p:cNvPr>
          <p:cNvSpPr/>
          <p:nvPr/>
        </p:nvSpPr>
        <p:spPr>
          <a:xfrm>
            <a:off x="695728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L1TF"/>
          <p:cNvSpPr txBox="1"/>
          <p:nvPr/>
        </p:nvSpPr>
        <p:spPr>
          <a:xfrm>
            <a:off x="7121875" y="2592324"/>
            <a:ext cx="64892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L1TF</a:t>
            </a:r>
          </a:p>
        </p:txBody>
      </p:sp>
      <p:sp>
        <p:nvSpPr>
          <p:cNvPr id="37" name="!!term-MDS">
            <a:extLst>
              <a:ext uri="{C183D7F6-B498-43B3-948B-1728B52AA6E4}">
                <adec:decorative xmlns:adec="http://schemas.microsoft.com/office/drawing/2017/decorative" val="1"/>
              </a:ext>
            </a:extLst>
          </p:cNvPr>
          <p:cNvSpPr/>
          <p:nvPr/>
        </p:nvSpPr>
        <p:spPr>
          <a:xfrm>
            <a:off x="7807378" y="2468880"/>
            <a:ext cx="8527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MDS">
            <a:extLst>
              <a:ext uri="{C183D7F6-B498-43B3-948B-1728B52AA6E4}">
                <adec:decorative xmlns:adec="http://schemas.microsoft.com/office/drawing/2017/decorative" val="1"/>
              </a:ext>
            </a:extLst>
          </p:cNvPr>
          <p:cNvSpPr/>
          <p:nvPr/>
        </p:nvSpPr>
        <p:spPr>
          <a:xfrm>
            <a:off x="793539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MDS"/>
          <p:cNvSpPr txBox="1"/>
          <p:nvPr/>
        </p:nvSpPr>
        <p:spPr>
          <a:xfrm>
            <a:off x="8099986" y="2592324"/>
            <a:ext cx="66991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MDS</a:t>
            </a:r>
          </a:p>
        </p:txBody>
      </p:sp>
      <p:sp>
        <p:nvSpPr>
          <p:cNvPr id="40" name="!!term-simultaneous m">
            <a:extLst>
              <a:ext uri="{C183D7F6-B498-43B3-948B-1728B52AA6E4}">
                <adec:decorative xmlns:adec="http://schemas.microsoft.com/office/drawing/2017/decorative" val="1"/>
              </a:ext>
            </a:extLst>
          </p:cNvPr>
          <p:cNvSpPr/>
          <p:nvPr/>
        </p:nvSpPr>
        <p:spPr>
          <a:xfrm>
            <a:off x="658368" y="3090672"/>
            <a:ext cx="28955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simultaneous m">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simultaneous m"/>
          <p:cNvSpPr txBox="1"/>
          <p:nvPr/>
        </p:nvSpPr>
        <p:spPr>
          <a:xfrm>
            <a:off x="950976" y="3214116"/>
            <a:ext cx="271265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simultaneous multithreading</a:t>
            </a:r>
          </a:p>
        </p:txBody>
      </p:sp>
      <p:sp>
        <p:nvSpPr>
          <p:cNvPr id="43" name="!!term-core schedulin">
            <a:extLst>
              <a:ext uri="{C183D7F6-B498-43B3-948B-1728B52AA6E4}">
                <adec:decorative xmlns:adec="http://schemas.microsoft.com/office/drawing/2017/decorative" val="1"/>
              </a:ext>
            </a:extLst>
          </p:cNvPr>
          <p:cNvSpPr/>
          <p:nvPr/>
        </p:nvSpPr>
        <p:spPr>
          <a:xfrm>
            <a:off x="3700205" y="3090672"/>
            <a:ext cx="17916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core schedulin">
            <a:extLst>
              <a:ext uri="{C183D7F6-B498-43B3-948B-1728B52AA6E4}">
                <adec:decorative xmlns:adec="http://schemas.microsoft.com/office/drawing/2017/decorative" val="1"/>
              </a:ext>
            </a:extLst>
          </p:cNvPr>
          <p:cNvSpPr/>
          <p:nvPr/>
        </p:nvSpPr>
        <p:spPr>
          <a:xfrm>
            <a:off x="382822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core schedulin"/>
          <p:cNvSpPr txBox="1"/>
          <p:nvPr/>
        </p:nvSpPr>
        <p:spPr>
          <a:xfrm>
            <a:off x="3992813" y="3214116"/>
            <a:ext cx="160877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core scheduling</a:t>
            </a:r>
          </a:p>
        </p:txBody>
      </p:sp>
      <p:sp>
        <p:nvSpPr>
          <p:cNvPr id="46" name="!!term-blast radius">
            <a:extLst>
              <a:ext uri="{C183D7F6-B498-43B3-948B-1728B52AA6E4}">
                <adec:decorative xmlns:adec="http://schemas.microsoft.com/office/drawing/2017/decorative" val="1"/>
              </a:ext>
            </a:extLst>
          </p:cNvPr>
          <p:cNvSpPr/>
          <p:nvPr/>
        </p:nvSpPr>
        <p:spPr>
          <a:xfrm>
            <a:off x="5638168" y="3090672"/>
            <a:ext cx="142095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blast radius">
            <a:extLst>
              <a:ext uri="{C183D7F6-B498-43B3-948B-1728B52AA6E4}">
                <adec:decorative xmlns:adec="http://schemas.microsoft.com/office/drawing/2017/decorative" val="1"/>
              </a:ext>
            </a:extLst>
          </p:cNvPr>
          <p:cNvSpPr/>
          <p:nvPr/>
        </p:nvSpPr>
        <p:spPr>
          <a:xfrm>
            <a:off x="57661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blast radius"/>
          <p:cNvSpPr txBox="1"/>
          <p:nvPr/>
        </p:nvSpPr>
        <p:spPr>
          <a:xfrm>
            <a:off x="5930776" y="3214116"/>
            <a:ext cx="123807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blast radius</a:t>
            </a:r>
          </a:p>
        </p:txBody>
      </p:sp>
      <p:sp>
        <p:nvSpPr>
          <p:cNvPr id="49" name="!!term-management pla">
            <a:extLst>
              <a:ext uri="{C183D7F6-B498-43B3-948B-1728B52AA6E4}">
                <adec:decorative xmlns:adec="http://schemas.microsoft.com/office/drawing/2017/decorative" val="1"/>
              </a:ext>
            </a:extLst>
          </p:cNvPr>
          <p:cNvSpPr/>
          <p:nvPr/>
        </p:nvSpPr>
        <p:spPr>
          <a:xfrm>
            <a:off x="7205427" y="3090672"/>
            <a:ext cx="209987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management pla">
            <a:extLst>
              <a:ext uri="{C183D7F6-B498-43B3-948B-1728B52AA6E4}">
                <adec:decorative xmlns:adec="http://schemas.microsoft.com/office/drawing/2017/decorative" val="1"/>
              </a:ext>
            </a:extLst>
          </p:cNvPr>
          <p:cNvSpPr/>
          <p:nvPr/>
        </p:nvSpPr>
        <p:spPr>
          <a:xfrm>
            <a:off x="733344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management pla"/>
          <p:cNvSpPr txBox="1"/>
          <p:nvPr/>
        </p:nvSpPr>
        <p:spPr>
          <a:xfrm>
            <a:off x="7498035" y="3214116"/>
            <a:ext cx="191699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management plane</a:t>
            </a:r>
          </a:p>
        </p:txBody>
      </p:sp>
      <p:sp>
        <p:nvSpPr>
          <p:cNvPr id="52" name="!!term-lateral moveme">
            <a:extLst>
              <a:ext uri="{C183D7F6-B498-43B3-948B-1728B52AA6E4}">
                <adec:decorative xmlns:adec="http://schemas.microsoft.com/office/drawing/2017/decorative" val="1"/>
              </a:ext>
            </a:extLst>
          </p:cNvPr>
          <p:cNvSpPr/>
          <p:nvPr/>
        </p:nvSpPr>
        <p:spPr>
          <a:xfrm>
            <a:off x="9451605" y="3090672"/>
            <a:ext cx="19397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lateral moveme">
            <a:extLst>
              <a:ext uri="{C183D7F6-B498-43B3-948B-1728B52AA6E4}">
                <adec:decorative xmlns:adec="http://schemas.microsoft.com/office/drawing/2017/decorative" val="1"/>
              </a:ext>
            </a:extLst>
          </p:cNvPr>
          <p:cNvSpPr/>
          <p:nvPr/>
        </p:nvSpPr>
        <p:spPr>
          <a:xfrm>
            <a:off x="957962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lateral moveme"/>
          <p:cNvSpPr txBox="1"/>
          <p:nvPr/>
        </p:nvSpPr>
        <p:spPr>
          <a:xfrm>
            <a:off x="9744213" y="3214116"/>
            <a:ext cx="17568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lateral movement</a:t>
            </a:r>
          </a:p>
        </p:txBody>
      </p:sp>
      <p:sp>
        <p:nvSpPr>
          <p:cNvPr id="55" name="!!term-container esca">
            <a:extLst>
              <a:ext uri="{C183D7F6-B498-43B3-948B-1728B52AA6E4}">
                <adec:decorative xmlns:adec="http://schemas.microsoft.com/office/drawing/2017/decorative" val="1"/>
              </a:ext>
            </a:extLst>
          </p:cNvPr>
          <p:cNvSpPr/>
          <p:nvPr/>
        </p:nvSpPr>
        <p:spPr>
          <a:xfrm>
            <a:off x="658368" y="3712464"/>
            <a:ext cx="18853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container esca">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container esca"/>
          <p:cNvSpPr txBox="1"/>
          <p:nvPr/>
        </p:nvSpPr>
        <p:spPr>
          <a:xfrm>
            <a:off x="950976" y="3835908"/>
            <a:ext cx="170247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container escape</a:t>
            </a:r>
          </a:p>
        </p:txBody>
      </p:sp>
      <p:sp>
        <p:nvSpPr>
          <p:cNvPr id="58" name="!!term-privileged con">
            <a:extLst>
              <a:ext uri="{C183D7F6-B498-43B3-948B-1728B52AA6E4}">
                <adec:decorative xmlns:adec="http://schemas.microsoft.com/office/drawing/2017/decorative" val="1"/>
              </a:ext>
            </a:extLst>
          </p:cNvPr>
          <p:cNvSpPr/>
          <p:nvPr/>
        </p:nvSpPr>
        <p:spPr>
          <a:xfrm>
            <a:off x="2690027" y="3712464"/>
            <a:ext cx="21449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privileged con">
            <a:extLst>
              <a:ext uri="{C183D7F6-B498-43B3-948B-1728B52AA6E4}">
                <adec:decorative xmlns:adec="http://schemas.microsoft.com/office/drawing/2017/decorative" val="1"/>
              </a:ext>
            </a:extLst>
          </p:cNvPr>
          <p:cNvSpPr/>
          <p:nvPr/>
        </p:nvSpPr>
        <p:spPr>
          <a:xfrm>
            <a:off x="281804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privileged con"/>
          <p:cNvSpPr txBox="1"/>
          <p:nvPr/>
        </p:nvSpPr>
        <p:spPr>
          <a:xfrm>
            <a:off x="2982635" y="3835908"/>
            <a:ext cx="196207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privileged container</a:t>
            </a:r>
          </a:p>
        </p:txBody>
      </p:sp>
      <p:sp>
        <p:nvSpPr>
          <p:cNvPr id="61" name="!!term-seccomp">
            <a:extLst>
              <a:ext uri="{C183D7F6-B498-43B3-948B-1728B52AA6E4}">
                <adec:decorative xmlns:adec="http://schemas.microsoft.com/office/drawing/2017/decorative" val="1"/>
              </a:ext>
            </a:extLst>
          </p:cNvPr>
          <p:cNvSpPr/>
          <p:nvPr/>
        </p:nvSpPr>
        <p:spPr>
          <a:xfrm>
            <a:off x="4981285" y="3712464"/>
            <a:ext cx="119788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seccomp">
            <a:extLst>
              <a:ext uri="{C183D7F6-B498-43B3-948B-1728B52AA6E4}">
                <adec:decorative xmlns:adec="http://schemas.microsoft.com/office/drawing/2017/decorative" val="1"/>
              </a:ext>
            </a:extLst>
          </p:cNvPr>
          <p:cNvSpPr/>
          <p:nvPr/>
        </p:nvSpPr>
        <p:spPr>
          <a:xfrm>
            <a:off x="5109301"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seccomp"/>
          <p:cNvSpPr txBox="1"/>
          <p:nvPr/>
        </p:nvSpPr>
        <p:spPr>
          <a:xfrm>
            <a:off x="5273893" y="3835908"/>
            <a:ext cx="101500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seccomp</a:t>
            </a:r>
          </a:p>
        </p:txBody>
      </p:sp>
      <p:sp>
        <p:nvSpPr>
          <p:cNvPr id="64" name="!!term-capability">
            <a:extLst>
              <a:ext uri="{C183D7F6-B498-43B3-948B-1728B52AA6E4}">
                <adec:decorative xmlns:adec="http://schemas.microsoft.com/office/drawing/2017/decorative" val="1"/>
              </a:ext>
            </a:extLst>
          </p:cNvPr>
          <p:cNvSpPr/>
          <p:nvPr/>
        </p:nvSpPr>
        <p:spPr>
          <a:xfrm>
            <a:off x="6325476" y="3712464"/>
            <a:ext cx="12559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capability">
            <a:extLst>
              <a:ext uri="{C183D7F6-B498-43B3-948B-1728B52AA6E4}">
                <adec:decorative xmlns:adec="http://schemas.microsoft.com/office/drawing/2017/decorative" val="1"/>
              </a:ext>
            </a:extLst>
          </p:cNvPr>
          <p:cNvSpPr/>
          <p:nvPr/>
        </p:nvSpPr>
        <p:spPr>
          <a:xfrm>
            <a:off x="6453492"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capability"/>
          <p:cNvSpPr txBox="1"/>
          <p:nvPr/>
        </p:nvSpPr>
        <p:spPr>
          <a:xfrm>
            <a:off x="6618084" y="3835908"/>
            <a:ext cx="107306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capability</a:t>
            </a:r>
          </a:p>
        </p:txBody>
      </p:sp>
      <p:sp>
        <p:nvSpPr>
          <p:cNvPr id="67" name="!!term-image provenan">
            <a:extLst>
              <a:ext uri="{C183D7F6-B498-43B3-948B-1728B52AA6E4}">
                <adec:decorative xmlns:adec="http://schemas.microsoft.com/office/drawing/2017/decorative" val="1"/>
              </a:ext>
            </a:extLst>
          </p:cNvPr>
          <p:cNvSpPr/>
          <p:nvPr/>
        </p:nvSpPr>
        <p:spPr>
          <a:xfrm>
            <a:off x="7727726" y="3712464"/>
            <a:ext cx="202209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image provenan">
            <a:extLst>
              <a:ext uri="{C183D7F6-B498-43B3-948B-1728B52AA6E4}">
                <adec:decorative xmlns:adec="http://schemas.microsoft.com/office/drawing/2017/decorative" val="1"/>
              </a:ext>
            </a:extLst>
          </p:cNvPr>
          <p:cNvSpPr/>
          <p:nvPr/>
        </p:nvSpPr>
        <p:spPr>
          <a:xfrm>
            <a:off x="7855742"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image provenan"/>
          <p:cNvSpPr txBox="1"/>
          <p:nvPr/>
        </p:nvSpPr>
        <p:spPr>
          <a:xfrm>
            <a:off x="8020334" y="3835908"/>
            <a:ext cx="183921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image provenance</a:t>
            </a:r>
          </a:p>
        </p:txBody>
      </p:sp>
      <p:sp>
        <p:nvSpPr>
          <p:cNvPr id="70" name="!!term-secret">
            <a:extLst>
              <a:ext uri="{C183D7F6-B498-43B3-948B-1728B52AA6E4}">
                <adec:decorative xmlns:adec="http://schemas.microsoft.com/office/drawing/2017/decorative" val="1"/>
              </a:ext>
            </a:extLst>
          </p:cNvPr>
          <p:cNvSpPr/>
          <p:nvPr/>
        </p:nvSpPr>
        <p:spPr>
          <a:xfrm>
            <a:off x="9896122" y="3712464"/>
            <a:ext cx="9477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termd-secret">
            <a:extLst>
              <a:ext uri="{C183D7F6-B498-43B3-948B-1728B52AA6E4}">
                <adec:decorative xmlns:adec="http://schemas.microsoft.com/office/drawing/2017/decorative" val="1"/>
              </a:ext>
            </a:extLst>
          </p:cNvPr>
          <p:cNvSpPr/>
          <p:nvPr/>
        </p:nvSpPr>
        <p:spPr>
          <a:xfrm>
            <a:off x="10024138"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termt-secret"/>
          <p:cNvSpPr txBox="1"/>
          <p:nvPr/>
        </p:nvSpPr>
        <p:spPr>
          <a:xfrm>
            <a:off x="10188730" y="3835908"/>
            <a:ext cx="76489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secret</a:t>
            </a:r>
          </a:p>
        </p:txBody>
      </p:sp>
      <p:sp>
        <p:nvSpPr>
          <p:cNvPr id="73" name="!!term-micro-segmenta">
            <a:extLst>
              <a:ext uri="{C183D7F6-B498-43B3-948B-1728B52AA6E4}">
                <adec:decorative xmlns:adec="http://schemas.microsoft.com/office/drawing/2017/decorative" val="1"/>
              </a:ext>
            </a:extLst>
          </p:cNvPr>
          <p:cNvSpPr/>
          <p:nvPr/>
        </p:nvSpPr>
        <p:spPr>
          <a:xfrm>
            <a:off x="658368" y="4334256"/>
            <a:ext cx="21810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termd-micro-segmenta">
            <a:extLst>
              <a:ext uri="{C183D7F6-B498-43B3-948B-1728B52AA6E4}">
                <adec:decorative xmlns:adec="http://schemas.microsoft.com/office/drawing/2017/decorative" val="1"/>
              </a:ext>
            </a:extLst>
          </p:cNvPr>
          <p:cNvSpPr/>
          <p:nvPr/>
        </p:nvSpPr>
        <p:spPr>
          <a:xfrm>
            <a:off x="786384" y="4526280"/>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termt-micro-segmenta"/>
          <p:cNvSpPr txBox="1"/>
          <p:nvPr/>
        </p:nvSpPr>
        <p:spPr>
          <a:xfrm>
            <a:off x="950976" y="4457700"/>
            <a:ext cx="199817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micro-segmentation</a:t>
            </a:r>
          </a:p>
        </p:txBody>
      </p:sp>
      <p:sp>
        <p:nvSpPr>
          <p:cNvPr id="76" name="!!termnote"/>
          <p:cNvSpPr txBox="1"/>
          <p:nvPr/>
        </p:nvSpPr>
        <p:spPr>
          <a:xfrm>
            <a:off x="658368" y="5157216"/>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pfill">
            <a:extLst>
              <a:ext uri="{C183D7F6-B498-43B3-948B-1728B52AA6E4}">
                <adec:decorative xmlns:adec="http://schemas.microsoft.com/office/drawing/2017/decorative" val="1"/>
              </a:ext>
            </a:extLst>
          </p:cNvPr>
          <p:cNvSpPr/>
          <p:nvPr/>
        </p:nvSpPr>
        <p:spPr>
          <a:xfrm>
            <a:off x="0" y="0"/>
            <a:ext cx="11083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149–158     </a:t>
            </a:r>
            <a:fld id="{6AECBC4D-0B37-4639-9EB0-6E3A2E76368E}" type="slidenum">
              <a:rPr lang="en-GB" sz="1000">
                <a:solidFill>
                  <a:srgbClr val="8795A1"/>
                </a:solidFill>
                <a:latin typeface="Segoe UI"/>
              </a:rPr>
              <a:t>5</a:t>
            </a:fld>
          </a:p>
        </p:txBody>
      </p:sp>
      <p:sp>
        <p:nvSpPr>
          <p:cNvPr id="7" name="!!ag0" descr="Go to section 19.1 What the Layer Added">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the Layer Added</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149  ›</a:t>
            </a:r>
          </a:p>
        </p:txBody>
      </p:sp>
      <p:sp>
        <p:nvSpPr>
          <p:cNvPr id="12" name="!!ag1" descr="Go to section 19.2 Where Escapes Come From">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Where Escapes Come From</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150  ›</a:t>
            </a:r>
          </a:p>
        </p:txBody>
      </p:sp>
      <p:sp>
        <p:nvSpPr>
          <p:cNvPr id="17" name="!!ag2" descr="Go to section 19.3 Blast Radius Is the Right Metric">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Blast Radius Is the Right Metric</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151  ›</a:t>
            </a:r>
          </a:p>
        </p:txBody>
      </p:sp>
      <p:sp>
        <p:nvSpPr>
          <p:cNvPr id="22" name="!!ag3" descr="Go to section 19.4 Side Channel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Side Channels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152  ›</a:t>
            </a:r>
          </a:p>
        </p:txBody>
      </p:sp>
      <p:sp>
        <p:nvSpPr>
          <p:cNvPr id="27" name="!!ag4" descr="Go to section 19.5 Container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Containers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152  ›</a:t>
            </a:r>
          </a:p>
        </p:txBody>
      </p:sp>
      <p:sp>
        <p:nvSpPr>
          <p:cNvPr id="32" name="!!ag5" descr="Go to section 19.6 Hardening, in Order">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07964"/>
                </a:solidFill>
                <a:latin typeface="Segoe UI Semibold"/>
              </a:rPr>
              <a:t>19.6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Hardening, in Order</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153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3854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the Layer Added</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1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19.1   What the Layer Added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19.2   Where Escapes Come From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19.3   Blast Radius Is the Right Metric</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19.4   Side Channels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19.5   Containers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19.6   Hardening, in Order</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§19.1     </a:t>
            </a:r>
            <a:fld id="{AF6D6A69-8757-4753-ACC9-C83B05567508}" type="slidenum">
              <a:rPr lang="en-GB" sz="1000">
                <a:solidFill>
                  <a:srgbClr val="8795A1"/>
                </a:solidFill>
                <a:latin typeface="Segoe UI"/>
              </a:rPr>
              <a:t>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6625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VM Escape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§19.1  ·  Handout p. 149     </a:t>
            </a:r>
            <a:fld id="{05D29BED-9750-4F79-B0A9-CB52DFC05FAA}" type="slidenum">
              <a:rPr lang="en-GB" sz="1000">
                <a:solidFill>
                  <a:srgbClr val="8795A1"/>
                </a:solidFill>
                <a:latin typeface="Segoe UI"/>
              </a:rPr>
              <a:t>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VM escape</a:t>
            </a:r>
            <a:r>
              <a:rPr sz="2300" b="0" i="0">
                <a:solidFill>
                  <a:srgbClr val="1C252B"/>
                </a:solidFill>
                <a:latin typeface="Segoe UI"/>
              </a:rPr>
              <a:t> is code executing in a guest that gains execution on the host. It breaks the resource-control property of Chapter 3 — the one the whole subject rests on — and it is the most severe class of bug a hypervisor can have, because the attacker arrives with every other guest on the host beside them.</a:t>
            </a:r>
          </a:p>
        </p:txBody>
      </p:sp>
      <p:sp>
        <p:nvSpPr>
          <p:cNvPr id="10" name="body-1"/>
          <p:cNvSpPr txBox="1"/>
          <p:nvPr/>
        </p:nvSpPr>
        <p:spPr>
          <a:xfrm>
            <a:off x="1060704" y="403161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Escapes are rare, which is why the architecture works at all. They are not hypothetical: they are found, patched and exploited on a regular schedule.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93958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attack surface</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07964"/>
                </a:solidFill>
                <a:latin typeface="Segoe UI"/>
              </a:rPr>
              <a:t>FIGURE 19.1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§19.1  ·  Handout p. 149     </a:t>
            </a:r>
            <a:fld id="{5CFAE21B-3075-4539-921A-CA57EBDACBFC}" type="slidenum">
              <a:rPr lang="en-GB" sz="1000">
                <a:solidFill>
                  <a:srgbClr val="8795A1"/>
                </a:solidFill>
                <a:latin typeface="Segoe UI"/>
              </a:rPr>
              <a:t>8</a:t>
            </a:fld>
          </a:p>
        </p:txBody>
      </p:sp>
      <p:pic>
        <p:nvPicPr>
          <p:cNvPr id="6" name="!!figure" descr="Figure 19.1. The attack surface. The hypervisor core is small and heavily reviewed; the device models around it are neither, and that is where the escapes ar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25230" y="1737360"/>
            <a:ext cx="8541233"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hypervisor core is small and heavily reviewed; the device models around it are neither, and that is where the escapes are.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2166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Recent Examples, and What They Have in Common</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§19.2  ·  Handout p. 150     </a:t>
            </a:r>
            <a:fld id="{1143E304-1218-4245-947F-AFFED22CDAFC}"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84268"/>
          </a:xfrm>
          <a:prstGeom prst="roundRect">
            <a:avLst>
              <a:gd name="adj" fmla="val 213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8426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99313"/>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Dated to October 2026. Check for newer ones before teaching from this; </a:t>
            </a:r>
            <a:r>
              <a:rPr sz="1600" b="0" i="1">
                <a:solidFill>
                  <a:srgbClr val="1C252B"/>
                </a:solidFill>
                <a:latin typeface="Segoe UI"/>
              </a:rPr>
              <a:t>that</a:t>
            </a:r>
            <a:r>
              <a:rPr sz="1600" b="0" i="0">
                <a:solidFill>
                  <a:srgbClr val="1C252B"/>
                </a:solidFill>
                <a:latin typeface="Segoe UI"/>
              </a:rPr>
              <a:t> is the lesson rather than the list.</a:t>
            </a:r>
          </a:p>
        </p:txBody>
      </p:sp>
      <p:sp>
        <p:nvSpPr>
          <p:cNvPr id="10" name="body-1"/>
          <p:cNvSpPr txBox="1"/>
          <p:nvPr/>
        </p:nvSpPr>
        <p:spPr>
          <a:xfrm>
            <a:off x="1060704" y="2413609"/>
            <a:ext cx="10161727" cy="2470302"/>
          </a:xfrm>
          <a:prstGeom prst="rect">
            <a:avLst/>
          </a:prstGeom>
          <a:noFill/>
        </p:spPr>
        <p:txBody>
          <a:bodyPr wrap="square" anchor="t" lIns="0" rIns="0" tIns="0" bIns="0">
            <a:noAutofit/>
          </a:bodyPr>
          <a:lstStyle/>
          <a:p>
            <a:pPr algn="l" marL="178905" indent="-178905">
              <a:lnSpc>
                <a:spcPct val="104000"/>
              </a:lnSpc>
              <a:spcBef>
                <a:spcPts val="0"/>
              </a:spcBef>
              <a:spcAft>
                <a:spcPts val="560"/>
              </a:spcAft>
            </a:pPr>
            <a:r>
              <a:rPr sz="1600" b="1">
                <a:solidFill>
                  <a:srgbClr val="1F618D"/>
                </a:solidFill>
                <a:latin typeface="Segoe UI"/>
              </a:rPr>
              <a:t>•	</a:t>
            </a:r>
            <a:r>
              <a:rPr sz="1600" b="1" i="0">
                <a:solidFill>
                  <a:srgbClr val="1F618D"/>
                </a:solidFill>
                <a:latin typeface="Segoe UI"/>
              </a:rPr>
              <a:t>CVE-2025-22224, -22225, -22226</a:t>
            </a:r>
            <a:r>
              <a:rPr sz="1600" b="0" i="0">
                <a:solidFill>
                  <a:srgbClr val="1C252B"/>
                </a:solidFill>
                <a:latin typeface="Segoe UI"/>
              </a:rPr>
              <a:t> (VMware ESXi, March 2025). Three flaws that could be chained from a guest to compromise the hypervisor. Researchers later established that attackers had working exploits well before disclosure, and CISA recorded ransomware groups actively using CVE-2025-22225 to escape guest isolation and encrypt across hypervisors.</a:t>
            </a:r>
          </a:p>
          <a:p>
            <a:pPr algn="l" marL="178905" indent="-178905">
              <a:lnSpc>
                <a:spcPct val="104000"/>
              </a:lnSpc>
              <a:spcBef>
                <a:spcPts val="0"/>
              </a:spcBef>
              <a:spcAft>
                <a:spcPts val="560"/>
              </a:spcAft>
            </a:pPr>
            <a:r>
              <a:rPr sz="1600" b="1">
                <a:solidFill>
                  <a:srgbClr val="1F618D"/>
                </a:solidFill>
                <a:latin typeface="Segoe UI"/>
              </a:rPr>
              <a:t>•	</a:t>
            </a:r>
            <a:r>
              <a:rPr sz="1600" b="1" i="0">
                <a:solidFill>
                  <a:srgbClr val="1F618D"/>
                </a:solidFill>
                <a:latin typeface="Segoe UI"/>
              </a:rPr>
              <a:t>CVE-2026-47876</a:t>
            </a:r>
            <a:r>
              <a:rPr sz="1600" b="0" i="0">
                <a:solidFill>
                  <a:srgbClr val="1C252B"/>
                </a:solidFill>
                <a:latin typeface="Segoe UI"/>
              </a:rPr>
              <a:t> (VMware ESXi, July 2026, CVSS 9.3). An out-of-bounds write in the </a:t>
            </a:r>
            <a:r>
              <a:rPr sz="1600" b="1" i="0">
                <a:solidFill>
                  <a:srgbClr val="1C252B"/>
                </a:solidFill>
                <a:latin typeface="Segoe UI"/>
              </a:rPr>
              <a:t>VMXNET3 virtual network adapter</a:t>
            </a:r>
            <a:r>
              <a:rPr sz="1600" b="0" i="0">
                <a:solidFill>
                  <a:srgbClr val="1C252B"/>
                </a:solidFill>
                <a:latin typeface="Segoe UI"/>
              </a:rPr>
              <a:t>: an attacker with administrative rights inside a guest executes arbitrary code on the host. A paravirtualized network device — precisely the red band in Figure 19.1.</a:t>
            </a:r>
          </a:p>
          <a:p>
            <a:pPr algn="l" marL="178905" indent="-178905">
              <a:lnSpc>
                <a:spcPct val="104000"/>
              </a:lnSpc>
              <a:spcBef>
                <a:spcPts val="0"/>
              </a:spcBef>
              <a:spcAft>
                <a:spcPts val="0"/>
              </a:spcAft>
            </a:pPr>
            <a:r>
              <a:rPr sz="1600" b="1">
                <a:solidFill>
                  <a:srgbClr val="1F618D"/>
                </a:solidFill>
                <a:latin typeface="Segoe UI"/>
              </a:rPr>
              <a:t>•	</a:t>
            </a:r>
            <a:r>
              <a:rPr sz="1600" b="1" i="0">
                <a:solidFill>
                  <a:srgbClr val="1F618D"/>
                </a:solidFill>
                <a:latin typeface="Segoe UI"/>
              </a:rPr>
              <a:t>CVE-2026-59309 and -59310</a:t>
            </a:r>
            <a:r>
              <a:rPr sz="1600" b="0" i="0">
                <a:solidFill>
                  <a:srgbClr val="1C252B"/>
                </a:solidFill>
                <a:latin typeface="Segoe UI"/>
              </a:rPr>
              <a:t> (VMware vCenter, 2026, CVSS 9.8 each). Unauthenticated access and remote code execution against the </a:t>
            </a:r>
            <a:r>
              <a:rPr sz="1600" b="0" i="1">
                <a:solidFill>
                  <a:srgbClr val="1C252B"/>
                </a:solidFill>
                <a:latin typeface="Segoe UI"/>
              </a:rPr>
              <a:t>management plane</a:t>
            </a:r>
            <a:r>
              <a:rPr sz="1600" b="0" i="0">
                <a:solidFill>
                  <a:srgbClr val="1C252B"/>
                </a:solidFill>
                <a:latin typeface="Segoe UI"/>
              </a:rPr>
              <a:t> — no guest required.</a:t>
            </a:r>
          </a:p>
        </p:txBody>
      </p:sp>
      <p:sp>
        <p:nvSpPr>
          <p:cNvPr id="11" name="body-2"/>
          <p:cNvSpPr txBox="1"/>
          <p:nvPr/>
        </p:nvSpPr>
        <p:spPr>
          <a:xfrm>
            <a:off x="1060704" y="4949952"/>
            <a:ext cx="10161727" cy="806500"/>
          </a:xfrm>
          <a:prstGeom prst="rect">
            <a:avLst/>
          </a:prstGeom>
          <a:noFill/>
        </p:spPr>
        <p:txBody>
          <a:bodyPr wrap="square" anchor="t" lIns="0" rIns="0" tIns="0" bIns="0">
            <a:noAutofit/>
          </a:bodyPr>
          <a:lstStyle/>
          <a:p>
            <a:pPr algn="l">
              <a:lnSpc>
                <a:spcPct val="104000"/>
              </a:lnSpc>
              <a:spcBef>
                <a:spcPts val="0"/>
              </a:spcBef>
              <a:spcAft>
                <a:spcPts val="0"/>
              </a:spcAft>
            </a:pPr>
            <a:r>
              <a:rPr sz="1600" b="0" i="0">
                <a:solidFill>
                  <a:srgbClr val="1C252B"/>
                </a:solidFill>
                <a:latin typeface="Segoe UI"/>
              </a:rPr>
              <a:t>Two patterns worth more than the individual numbers. The guest-to-host flaws are in device models, every time. And the highest-scoring flaws are not escapes at all — they are in the management plane, and the next section says why that is worse.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49375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Compromises, Counted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§19.3  ·  Handout p. 151     </a:t>
            </a:r>
            <a:fld id="{95124FE1-C832-4A68-ADA5-68FC1D251D20}"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1057"/>
          </a:xfrm>
          <a:prstGeom prst="roundRect">
            <a:avLst>
              <a:gd name="adj" fmla="val 206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105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An estate: 40 hosts, 900 guests, one vCenter, one storage array. Compare what an attacker obtains from each of three footholds.</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Case 1 — a guest is compromised</a:t>
            </a:r>
            <a:r>
              <a:rPr sz="1900" b="0" i="0">
                <a:solidFill>
                  <a:srgbClr val="1C252B"/>
                </a:solidFill>
                <a:latin typeface="Segoe UI"/>
              </a:rPr>
              <a:t> (a web application flaw).</a:t>
            </a:r>
          </a:p>
        </p:txBody>
      </p:sp>
      <p:pic>
        <p:nvPicPr>
          <p:cNvPr id="11" name="body-2" descr="\text{reach} = 1 \text{ guest} = \frac{1}{900} = \mathbf{0.1\% \text{ of the estat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180537"/>
            <a:ext cx="10234879" cy="547268"/>
          </a:xfrm>
          <a:prstGeom prst="rect">
            <a:avLst/>
          </a:prstGeom>
        </p:spPr>
      </p:pic>
      <p:sp>
        <p:nvSpPr>
          <p:cNvPr id="12" name="body-3"/>
          <p:cNvSpPr txBox="1"/>
          <p:nvPr/>
        </p:nvSpPr>
        <p:spPr>
          <a:xfrm>
            <a:off x="1042416" y="386052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Plus whatever that guest can reach over the network, which is why Chapter 13’s micro-segmentation matters.</a:t>
            </a:r>
          </a:p>
        </p:txBody>
      </p:sp>
      <p:sp>
        <p:nvSpPr>
          <p:cNvPr id="13" name="body-4"/>
          <p:cNvSpPr txBox="1"/>
          <p:nvPr/>
        </p:nvSpPr>
        <p:spPr>
          <a:xfrm>
            <a:off x="1042416" y="459552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Case 2 — a VM escape</a:t>
            </a:r>
            <a:r>
              <a:rPr sz="1900" b="0" i="0">
                <a:solidFill>
                  <a:srgbClr val="1C252B"/>
                </a:solidFill>
                <a:latin typeface="Segoe UI"/>
              </a:rPr>
              <a:t> (CVE-2026-47876, say). The attacker starts in a guest and reaches the host, and therefore every guest on it:</a:t>
            </a:r>
          </a:p>
        </p:txBody>
      </p:sp>
      <p:sp>
        <p:nvSpPr>
          <p:cNvPr id="14" name="body-4bar">
            <a:extLst>
              <a:ext uri="{C183D7F6-B498-43B3-948B-1728B52AA6E4}">
                <adec:decorative xmlns:adec="http://schemas.microsoft.com/office/drawing/2017/decorative" val="1"/>
              </a:ext>
            </a:extLst>
          </p:cNvPr>
          <p:cNvSpPr/>
          <p:nvPr/>
        </p:nvSpPr>
        <p:spPr>
          <a:xfrm>
            <a:off x="841248" y="4613808"/>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5" descr="\frac{900}{40} = 22.5 \text{ guests per host} \qquad \text{reach} = \frac{22.5}{900} = \mathbf{2.5\%}"/>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5330520"/>
            <a:ext cx="10234879" cy="553577"/>
          </a:xfrm>
          <a:prstGeom prst="rect">
            <a:avLst/>
          </a:prstGeom>
        </p:spPr>
      </p:pic>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27708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right)">
                                      <p:cBhvr>
                                        <p:cTn id="31"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Compromises, Counted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§19.3  ·  Handout p. 151     </a:t>
            </a:r>
            <a:fld id="{E73DABC2-0907-4750-BA49-7D02C659FFB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5960"/>
          </a:xfrm>
          <a:prstGeom prst="roundRect">
            <a:avLst>
              <a:gd name="adj" fmla="val 2029"/>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596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22-fold increase, and the hardest of the three to achieve: it needs an unpatched escape and administrative access inside a guest.</a:t>
            </a:r>
          </a:p>
        </p:txBody>
      </p:sp>
      <p:sp>
        <p:nvSpPr>
          <p:cNvPr id="10" name="body-1"/>
          <p:cNvSpPr txBox="1"/>
          <p:nvPr/>
        </p:nvSpPr>
        <p:spPr>
          <a:xfrm>
            <a:off x="1042416" y="2746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Case 3 — the management plane</a:t>
            </a:r>
            <a:r>
              <a:rPr sz="1900" b="0" i="0">
                <a:solidFill>
                  <a:srgbClr val="1C252B"/>
                </a:solidFill>
                <a:latin typeface="Segoe UI"/>
              </a:rPr>
              <a:t> (CVE-2026-59310, say). Unauthenticated remote code execution on vCenter. vCenter can power off, clone, reconfigure and console into every guest on every host it manages:</a:t>
            </a:r>
          </a:p>
        </p:txBody>
      </p:sp>
      <p:sp>
        <p:nvSpPr>
          <p:cNvPr id="11" name="body-1bar">
            <a:extLst>
              <a:ext uri="{C183D7F6-B498-43B3-948B-1728B52AA6E4}">
                <adec:decorative xmlns:adec="http://schemas.microsoft.com/office/drawing/2017/decorative" val="1"/>
              </a:ext>
            </a:extLst>
          </p:cNvPr>
          <p:cNvSpPr/>
          <p:nvPr/>
        </p:nvSpPr>
        <p:spPr>
          <a:xfrm>
            <a:off x="841248" y="2764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 name="body-2" descr="\text{reach} = \frac{900}{900} = \mathbf{10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782821"/>
            <a:ext cx="10234879" cy="547268"/>
          </a:xfrm>
          <a:prstGeom prst="rect">
            <a:avLst/>
          </a:prstGeom>
        </p:spPr>
      </p:pic>
      <p:sp>
        <p:nvSpPr>
          <p:cNvPr id="13" name="body-3"/>
          <p:cNvSpPr txBox="1"/>
          <p:nvPr/>
        </p:nvSpPr>
        <p:spPr>
          <a:xfrm>
            <a:off x="1042416" y="4462805"/>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compare.</a:t>
            </a:r>
          </a:p>
        </p:txBody>
      </p:sp>
      <p:sp>
        <p:nvSpPr>
          <p:cNvPr id="14" name="body-3bar">
            <a:extLst>
              <a:ext uri="{C183D7F6-B498-43B3-948B-1728B52AA6E4}">
                <adec:decorative xmlns:adec="http://schemas.microsoft.com/office/drawing/2017/decorative" val="1"/>
              </a:ext>
            </a:extLst>
          </p:cNvPr>
          <p:cNvSpPr/>
          <p:nvPr/>
        </p:nvSpPr>
        <p:spPr>
          <a:xfrm>
            <a:off x="841248" y="4481093"/>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body-4"/>
          <p:cNvSpPr txBox="1"/>
          <p:nvPr/>
        </p:nvSpPr>
        <p:spPr>
          <a:xfrm>
            <a:off x="1042416" y="4896662"/>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guest compromise: 1 guest, easiest to achieve</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VM escape: 22 guests, hardest to achieve, 22</a:t>
            </a:r>
            <a:r>
              <a:rPr sz="1900" b="0" i="0">
                <a:solidFill>
                  <a:srgbClr val="1C252B"/>
                </a:solidFill>
                <a:latin typeface="Cambria"/>
              </a:rPr>
              <a:t>×</a:t>
            </a:r>
            <a:r>
              <a:rPr sz="1900" b="0" i="0">
                <a:solidFill>
                  <a:srgbClr val="1C252B"/>
                </a:solidFill>
                <a:latin typeface="Segoe UI"/>
              </a:rPr>
              <a:t> the reach</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management plane: 900 guests, </a:t>
            </a:r>
            <a:r>
              <a:rPr sz="1900" b="0" i="1">
                <a:solidFill>
                  <a:srgbClr val="1C252B"/>
                </a:solidFill>
                <a:latin typeface="Segoe UI"/>
              </a:rPr>
              <a:t>no guest access required</a:t>
            </a:r>
            <a:r>
              <a:rPr sz="1900" b="0" i="0">
                <a:solidFill>
                  <a:srgbClr val="1C252B"/>
                </a:solidFill>
                <a:latin typeface="Segoe UI"/>
              </a:rPr>
              <a:t>, and reachable over the network</a:t>
            </a:r>
          </a:p>
        </p:txBody>
      </p:sp>
      <p:sp>
        <p:nvSpPr>
          <p:cNvPr id="4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xEl>
                                              <p:pRg st="0" end="0"/>
                                            </p:txEl>
                                          </p:spTgt>
                                        </p:tgtEl>
                                        <p:attrNameLst>
                                          <p:attrName>style.visibility</p:attrName>
                                        </p:attrNameLst>
                                      </p:cBhvr>
                                      <p:to>
                                        <p:strVal val="visible"/>
                                      </p:to>
                                    </p:set>
                                    <p:animEffect transition="in" filter="fade">
                                      <p:cBhvr>
                                        <p:cTn id="34" dur="350"/>
                                        <p:tgtEl>
                                          <p:spTgt spid="15">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xEl>
                                              <p:pRg st="1" end="1"/>
                                            </p:txEl>
                                          </p:spTgt>
                                        </p:tgtEl>
                                        <p:attrNameLst>
                                          <p:attrName>style.visibility</p:attrName>
                                        </p:attrNameLst>
                                      </p:cBhvr>
                                      <p:to>
                                        <p:strVal val="visible"/>
                                      </p:to>
                                    </p:set>
                                    <p:animEffect transition="in" filter="fade">
                                      <p:cBhvr>
                                        <p:cTn id="39" dur="350"/>
                                        <p:tgtEl>
                                          <p:spTgt spid="15">
                                            <p:txEl>
                                              <p:pRg st="1" end="1"/>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xEl>
                                              <p:pRg st="2" end="2"/>
                                            </p:txEl>
                                          </p:spTgt>
                                        </p:tgtEl>
                                        <p:attrNameLst>
                                          <p:attrName>style.visibility</p:attrName>
                                        </p:attrNameLst>
                                      </p:cBhvr>
                                      <p:to>
                                        <p:strVal val="visible"/>
                                      </p:to>
                                    </p:set>
                                    <p:animEffect transition="in" filter="fade">
                                      <p:cBhvr>
                                        <p:cTn id="44" dur="35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Compromises, Counted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§19.3  ·  Handout p. 151     </a:t>
            </a:r>
            <a:fld id="{6ED52AF3-139A-49ED-B078-5949C5DA57F3}"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6636"/>
          </a:xfrm>
          <a:prstGeom prst="roundRect">
            <a:avLst>
              <a:gd name="adj" fmla="val 2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6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which to defend first?</a:t>
            </a:r>
            <a:r>
              <a:rPr sz="1900" b="0" i="0">
                <a:solidFill>
                  <a:srgbClr val="1C252B"/>
                </a:solidFill>
                <a:latin typeface="Segoe UI"/>
              </a:rPr>
              <a:t> Most of the attention in this subject goes to case 2, because escapes are dramatic. The arithmetic says case 3: it gives </a:t>
            </a:r>
            <a:r>
              <a:rPr sz="1900" b="1" i="0">
                <a:solidFill>
                  <a:srgbClr val="1C252B"/>
                </a:solidFill>
                <a:latin typeface="Segoe UI"/>
              </a:rPr>
              <a:t>forty times</a:t>
            </a:r>
            <a:r>
              <a:rPr sz="1900" b="0" i="0">
                <a:solidFill>
                  <a:srgbClr val="1C252B"/>
                </a:solidFill>
                <a:latin typeface="Segoe UI"/>
              </a:rPr>
              <a:t> the reach of an escape, requires no foothold at all, and the 9.8-scored flaws of 2026 were in exactly that component.</a:t>
            </a:r>
          </a:p>
        </p:txBody>
      </p:sp>
      <p:sp>
        <p:nvSpPr>
          <p:cNvPr id="10" name="body-0bar">
            <a:extLst>
              <a:ext uri="{C183D7F6-B498-43B3-948B-1728B52AA6E4}">
                <adec:decorative xmlns:adec="http://schemas.microsoft.com/office/drawing/2017/decorative" val="1"/>
              </a:ext>
            </a:extLst>
          </p:cNvPr>
          <p:cNvSpPr/>
          <p:nvPr/>
        </p:nvSpPr>
        <p:spPr>
          <a:xfrm>
            <a:off x="841248" y="2029967"/>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047822"/>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and the one the arithmetic understates.</a:t>
            </a:r>
            <a:r>
              <a:rPr sz="1900" b="0" i="0">
                <a:solidFill>
                  <a:srgbClr val="1C252B"/>
                </a:solidFill>
                <a:latin typeface="Segoe UI"/>
              </a:rPr>
              <a:t> The storage array holds every guest’s disk. An attacker with administrative access to it has all 900 guests’ data without touching a hypervisor — and storage management interfaces are routinely less hardened than vCenter, because nobody thinks of them as compute.</a:t>
            </a:r>
          </a:p>
        </p:txBody>
      </p:sp>
      <p:sp>
        <p:nvSpPr>
          <p:cNvPr id="12" name="body-1bar">
            <a:extLst>
              <a:ext uri="{C183D7F6-B498-43B3-948B-1728B52AA6E4}">
                <adec:decorative xmlns:adec="http://schemas.microsoft.com/office/drawing/2017/decorative" val="1"/>
              </a:ext>
            </a:extLst>
          </p:cNvPr>
          <p:cNvSpPr/>
          <p:nvPr/>
        </p:nvSpPr>
        <p:spPr>
          <a:xfrm>
            <a:off x="841248" y="3066110"/>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2"/>
          <p:cNvSpPr txBox="1"/>
          <p:nvPr/>
        </p:nvSpPr>
        <p:spPr>
          <a:xfrm>
            <a:off x="1042416" y="4385106"/>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resulting priority.</a:t>
            </a:r>
            <a:r>
              <a:rPr sz="1900" b="0" i="0">
                <a:solidFill>
                  <a:srgbClr val="1C252B"/>
                </a:solidFill>
                <a:latin typeface="Segoe UI"/>
              </a:rPr>
              <a:t> Management plane and storage management first: not reachable from general networks, multi-factor authentication, separate credentials from the ordinary directory, patched fastest. Hypervisor patching second. Guest hardening third — important, but it is the case with the smallest radius.</a:t>
            </a:r>
          </a:p>
        </p:txBody>
      </p:sp>
      <p:sp>
        <p:nvSpPr>
          <p:cNvPr id="14" name="body-2bar">
            <a:extLst>
              <a:ext uri="{C183D7F6-B498-43B3-948B-1728B52AA6E4}">
                <adec:decorative xmlns:adec="http://schemas.microsoft.com/office/drawing/2017/decorative" val="1"/>
              </a:ext>
            </a:extLst>
          </p:cNvPr>
          <p:cNvSpPr/>
          <p:nvPr/>
        </p:nvSpPr>
        <p:spPr>
          <a:xfrm>
            <a:off x="841248" y="4403394"/>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332500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wipe(right)">
                                      <p:cBhvr>
                                        <p:cTn id="24" dur="42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Compromises, Counted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§19.3  ·  Handout p. 151     </a:t>
            </a:r>
            <a:fld id="{F2943D8C-23AC-43DE-934A-BB5F774D130C}"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150924"/>
          </a:xfrm>
          <a:prstGeom prst="roundRect">
            <a:avLst>
              <a:gd name="adj" fmla="val 794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150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That ordering is the reverse of how most estates allocate effort, and the arithmetic above is the argument for changing it.</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60209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Mitigations Cost So Much</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152     </a:t>
            </a:r>
            <a:fld id="{67AA3D44-0ED6-4681-BAD7-E7CE1E0DBA00}"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83582"/>
          </a:xfrm>
          <a:prstGeom prst="roundRect">
            <a:avLst>
              <a:gd name="adj" fmla="val 213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8358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fixes attack the sharing, which is also the performance.</a:t>
            </a:r>
          </a:p>
        </p:txBody>
      </p:sp>
      <p:sp>
        <p:nvSpPr>
          <p:cNvPr id="10" name="body-1"/>
          <p:cNvSpPr txBox="1"/>
          <p:nvPr/>
        </p:nvSpPr>
        <p:spPr>
          <a:xfrm>
            <a:off x="1060704" y="2527782"/>
            <a:ext cx="10161727" cy="3227984"/>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1F618D"/>
                </a:solidFill>
                <a:latin typeface="Segoe UI"/>
              </a:rPr>
              <a:t>•	</a:t>
            </a:r>
            <a:r>
              <a:rPr sz="2100" b="1" i="0">
                <a:solidFill>
                  <a:srgbClr val="1F618D"/>
                </a:solidFill>
                <a:latin typeface="Segoe UI"/>
              </a:rPr>
              <a:t>Flush the L1 cache on every VM entry.</a:t>
            </a:r>
            <a:r>
              <a:rPr sz="2100" b="0" i="0">
                <a:solidFill>
                  <a:srgbClr val="1C252B"/>
                </a:solidFill>
                <a:latin typeface="Segoe UI"/>
              </a:rPr>
              <a:t> Correct, and it throws away the cache the guest was about to use. Costs most on exit-heavy workloads.</a:t>
            </a:r>
          </a:p>
          <a:p>
            <a:pPr algn="l" marL="234813" indent="-234813">
              <a:lnSpc>
                <a:spcPct val="104000"/>
              </a:lnSpc>
              <a:spcBef>
                <a:spcPts val="0"/>
              </a:spcBef>
              <a:spcAft>
                <a:spcPts val="735"/>
              </a:spcAft>
            </a:pPr>
            <a:r>
              <a:rPr sz="2100" b="1">
                <a:solidFill>
                  <a:srgbClr val="1F618D"/>
                </a:solidFill>
                <a:latin typeface="Segoe UI"/>
              </a:rPr>
              <a:t>•	</a:t>
            </a:r>
            <a:r>
              <a:rPr sz="2100" b="1" i="0">
                <a:solidFill>
                  <a:srgbClr val="1F618D"/>
                </a:solidFill>
                <a:latin typeface="Segoe UI"/>
              </a:rPr>
              <a:t>Disable simultaneous multithreading.</a:t>
            </a:r>
            <a:r>
              <a:rPr sz="2100" b="0" i="0">
                <a:solidFill>
                  <a:srgbClr val="1C252B"/>
                </a:solidFill>
                <a:latin typeface="Segoe UI"/>
              </a:rPr>
              <a:t> Two hardware threads on one core share nearly everything, so the only reliable answer for strictly untrusted neighbours is to stop using the second thread — which removes 15–30% of the host’s apparent capacity outright.</a:t>
            </a:r>
          </a:p>
          <a:p>
            <a:pPr algn="l" marL="234813" indent="-234813">
              <a:lnSpc>
                <a:spcPct val="104000"/>
              </a:lnSpc>
              <a:spcBef>
                <a:spcPts val="0"/>
              </a:spcBef>
              <a:spcAft>
                <a:spcPts val="0"/>
              </a:spcAft>
            </a:pPr>
            <a:r>
              <a:rPr sz="2100" b="1">
                <a:solidFill>
                  <a:srgbClr val="1F618D"/>
                </a:solidFill>
                <a:latin typeface="Segoe UI"/>
              </a:rPr>
              <a:t>•	</a:t>
            </a:r>
            <a:r>
              <a:rPr sz="2100" b="1" i="0">
                <a:solidFill>
                  <a:srgbClr val="1F618D"/>
                </a:solidFill>
                <a:latin typeface="Segoe UI"/>
              </a:rPr>
              <a:t>Core scheduling.</a:t>
            </a:r>
            <a:r>
              <a:rPr sz="2100" b="0" i="0">
                <a:solidFill>
                  <a:srgbClr val="1C252B"/>
                </a:solidFill>
                <a:latin typeface="Segoe UI"/>
              </a:rPr>
              <a:t> Allow SMT, but only schedule siblings from the </a:t>
            </a:r>
            <a:r>
              <a:rPr sz="2100" b="0" i="1">
                <a:solidFill>
                  <a:srgbClr val="1C252B"/>
                </a:solidFill>
                <a:latin typeface="Segoe UI"/>
              </a:rPr>
              <a:t>same</a:t>
            </a:r>
            <a:r>
              <a:rPr sz="2100" b="0" i="0">
                <a:solidFill>
                  <a:srgbClr val="1C252B"/>
                </a:solidFill>
                <a:latin typeface="Segoe UI"/>
              </a:rPr>
              <a:t> guest together. Recovers much of the capacity while keeping tenants off shared cores, at the cost of a harder scheduling problem and some lost efficiency.</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8791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the Mitigations Cost So Much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§19.4  ·  Handout p. 152     </a:t>
            </a:r>
            <a:fld id="{B588CCF7-BDDE-420C-BB40-E384826BCC42}"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77894"/>
          </a:xfrm>
          <a:prstGeom prst="roundRect">
            <a:avLst>
              <a:gd name="adj" fmla="val 2555"/>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7789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11403"/>
          </a:xfrm>
          <a:prstGeom prst="rect">
            <a:avLst/>
          </a:prstGeom>
          <a:noFill/>
        </p:spPr>
        <p:txBody>
          <a:bodyPr wrap="square" anchor="t" lIns="0" rIns="0" tIns="0" bIns="0">
            <a:noAutofit/>
          </a:bodyPr>
          <a:lstStyle/>
          <a:p>
            <a:pPr algn="l" marL="234813" indent="-234813">
              <a:lnSpc>
                <a:spcPct val="104000"/>
              </a:lnSpc>
              <a:spcBef>
                <a:spcPts val="0"/>
              </a:spcBef>
              <a:spcAft>
                <a:spcPts val="0"/>
              </a:spcAft>
            </a:pPr>
            <a:r>
              <a:rPr sz="2100" b="1">
                <a:solidFill>
                  <a:srgbClr val="1F618D"/>
                </a:solidFill>
                <a:latin typeface="Segoe UI"/>
              </a:rPr>
              <a:t>•	</a:t>
            </a:r>
            <a:r>
              <a:rPr sz="2100" b="1" i="0">
                <a:solidFill>
                  <a:srgbClr val="1F618D"/>
                </a:solidFill>
                <a:latin typeface="Segoe UI"/>
              </a:rPr>
              <a:t>Microcode and compiler mitigations</a:t>
            </a:r>
            <a:r>
              <a:rPr sz="2100" b="0" i="0">
                <a:solidFill>
                  <a:srgbClr val="1C252B"/>
                </a:solidFill>
                <a:latin typeface="Segoe UI"/>
              </a:rPr>
              <a:t> — retpolines, IBRS and the rest — each costing a few per cent.</a:t>
            </a:r>
          </a:p>
        </p:txBody>
      </p:sp>
      <p:sp>
        <p:nvSpPr>
          <p:cNvPr id="10" name="body-1"/>
          <p:cNvSpPr txBox="1"/>
          <p:nvPr/>
        </p:nvSpPr>
        <p:spPr>
          <a:xfrm>
            <a:off x="1060704" y="2860624"/>
            <a:ext cx="10161727" cy="1709928"/>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The honest summary: a host running strictly untrusted tenants pays a real and permanent performance tax for these, and a host running only your own trusted workloads may reasonably decline some of it. </a:t>
            </a:r>
            <a:r>
              <a:rPr sz="2100" b="1" i="0">
                <a:solidFill>
                  <a:srgbClr val="1C252B"/>
                </a:solidFill>
                <a:latin typeface="Segoe UI"/>
              </a:rPr>
              <a:t>That is a documented risk decision, not a default</a:t>
            </a:r>
            <a:r>
              <a:rPr sz="2100" b="0" i="0">
                <a:solidFill>
                  <a:srgbClr val="1C252B"/>
                </a:solidFill>
                <a:latin typeface="Segoe UI"/>
              </a:rPr>
              <a:t> — and it is one of the few places in this book where the right answer genuinely depends on who the neighbours are.</a:t>
            </a:r>
          </a:p>
        </p:txBody>
      </p:sp>
      <p:sp>
        <p:nvSpPr>
          <p:cNvPr id="11" name="body-2"/>
          <p:cNvSpPr txBox="1"/>
          <p:nvPr/>
        </p:nvSpPr>
        <p:spPr>
          <a:xfrm>
            <a:off x="1060704" y="4671517"/>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Chapter 21 is the hardware’s attempt to stop the question arising.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1562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Containers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7D7D0"/>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19.5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19.1   What the Layer Added</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19.2   Where Escapes Come From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19.3   Blast Radius Is the Right Metric</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19.4   Side Channels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07964"/>
                </a:solidFill>
                <a:latin typeface="Segoe UI"/>
              </a:rPr>
              <a:t>19.5   Containers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19.6   Hardening, in Order</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§19.5     </a:t>
            </a:r>
            <a:fld id="{05193EE9-AF66-47A8-A738-6F8B48D7929C}" type="slidenum">
              <a:rPr lang="en-GB" sz="1000">
                <a:solidFill>
                  <a:srgbClr val="8795A1"/>
                </a:solidFill>
                <a:latin typeface="Segoe UI"/>
              </a:rPr>
              <a:t>16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43334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Containers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152     </a:t>
            </a:r>
            <a:fld id="{AE2C1AE3-4C66-4FE4-B3D3-33EF7028F75D}" type="slidenum">
              <a:rPr lang="en-GB" sz="1000">
                <a:solidFill>
                  <a:srgbClr val="8795A1"/>
                </a:solidFill>
                <a:latin typeface="Segoe UI"/>
              </a:rPr>
              <a:t>17</a:t>
            </a:fld>
          </a:p>
        </p:txBody>
      </p:sp>
      <p:graphicFrame>
        <p:nvGraphicFramePr>
          <p:cNvPr id="7" name="!!table"/>
          <p:cNvGraphicFramePr>
            <a:graphicFrameLocks noGrp="1"/>
          </p:cNvGraphicFramePr>
          <p:nvPr/>
        </p:nvGraphicFramePr>
        <p:xfrm>
          <a:off x="658368" y="1737360"/>
          <a:ext cx="10874957" cy="4090416"/>
        </p:xfrm>
        <a:graphic>
          <a:graphicData uri="http://schemas.openxmlformats.org/drawingml/2006/table">
            <a:tbl>
              <a:tblPr firstRow="0" bandRow="0" firstCol="0" lastRow="0" lastCol="0" bandCol="0">
                <a:tableStyleId>{2D5ABB26-0587-4C30-8999-92F81FD0307C}</a:tableStyleId>
              </a:tblPr>
              <a:tblGrid>
                <a:gridCol w="3063368"/>
                <a:gridCol w="3982379"/>
                <a:gridCol w="3829210"/>
              </a:tblGrid>
              <a:tr h="359664">
                <a:tc>
                  <a:txBody>
                    <a:bodyPr wrap="square"/>
                    <a:lstStyle/>
                    <a:p>
                      <a:pPr algn="l"/>
                      <a:r>
                        <a:rPr sz="1400" b="1" i="0">
                          <a:solidFill>
                            <a:srgbClr val="1A5276"/>
                          </a:solidFill>
                          <a:latin typeface="Segoe UI"/>
                        </a:rPr>
                        <a:t>Measure</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What it removes</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400" b="1" i="0">
                          <a:solidFill>
                            <a:srgbClr val="1A5276"/>
                          </a:solidFill>
                          <a:latin typeface="Segoe UI"/>
                        </a:rPr>
                        <a:t>Cost</a:t>
                      </a:r>
                      <a:endParaRPr sz="14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59664">
                <a:tc>
                  <a:txBody>
                    <a:bodyPr wrap="square"/>
                    <a:lstStyle/>
                    <a:p>
                      <a:pPr algn="l"/>
                      <a:r>
                        <a:rPr sz="1400" b="0" i="0">
                          <a:solidFill>
                            <a:srgbClr val="1C252B"/>
                          </a:solidFill>
                          <a:latin typeface="Segoe UI"/>
                        </a:rPr>
                        <a:t>Run as non-root (</a:t>
                      </a:r>
                      <a:r>
                        <a:rPr sz="1300" b="0" i="0">
                          <a:solidFill>
                            <a:srgbClr val="1F4E79"/>
                          </a:solidFill>
                          <a:latin typeface="Consolas"/>
                        </a:rPr>
                        <a:t>USER</a:t>
                      </a:r>
                      <a:r>
                        <a:rPr sz="1400" b="0" i="0">
                          <a:solidFill>
                            <a:srgbClr val="1C252B"/>
                          </a:solidFill>
                          <a:latin typeface="Segoe UI"/>
                        </a:rPr>
                        <a: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Most escalation paths that rely on real UID 0</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None</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0" i="0">
                          <a:solidFill>
                            <a:srgbClr val="1C252B"/>
                          </a:solidFill>
                          <a:latin typeface="Segoe UI"/>
                        </a:rPr>
                        <a:t>User namespaces / rootless</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Maps container root to an unprivileged host user</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Some storage drivers and features</a:t>
                      </a:r>
                      <a:endParaRPr sz="1400"/>
                    </a:p>
                  </a:txBody>
                  <a:tcPr marL="109728" marR="109728" marT="64008" marB="45720" anchor="t">
                    <a:lnL w="0" cmpd="sng">
                      <a:noFill/>
                    </a:lnL>
                    <a:lnR w="0" cmpd="sng">
                      <a:noFill/>
                    </a:lnR>
                    <a:lnT w="9525" cmpd="sng">
                      <a:noFill/>
                    </a:lnT>
                    <a:lnB w="9525" cmpd="sng">
                      <a:noFill/>
                    </a:lnB>
                    <a:solidFill>
                      <a:srgbClr val="F2F8FC"/>
                    </a:solidFill>
                  </a:tcPr>
                </a:tc>
              </a:tr>
              <a:tr h="573024">
                <a:tc>
                  <a:txBody>
                    <a:bodyPr wrap="square"/>
                    <a:lstStyle/>
                    <a:p>
                      <a:pPr algn="l"/>
                      <a:r>
                        <a:rPr sz="1400" b="0" i="0">
                          <a:solidFill>
                            <a:srgbClr val="1C252B"/>
                          </a:solidFill>
                          <a:latin typeface="Segoe UI"/>
                        </a:rPr>
                        <a:t>Drop capabilities</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F4E79"/>
                          </a:solidFill>
                          <a:latin typeface="Consolas"/>
                        </a:rPr>
                        <a:t>CAP_SYS_ADMIN</a:t>
                      </a:r>
                      <a:r>
                        <a:rPr sz="1400" b="0" i="0">
                          <a:solidFill>
                            <a:srgbClr val="1C252B"/>
                          </a:solidFill>
                          <a:latin typeface="Segoe UI"/>
                        </a:rPr>
                        <a:t> alone is close to root. Drop all, add back what is needed</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Must know what the app needs</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0" i="0">
                          <a:solidFill>
                            <a:srgbClr val="1C252B"/>
                          </a:solidFill>
                          <a:latin typeface="Segoe UI"/>
                        </a:rPr>
                        <a:t>seccomp profile</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Cuts the reachable system calls from </a:t>
                      </a:r>
                      <a:r>
                        <a:rPr sz="1400" b="0" i="0">
                          <a:solidFill>
                            <a:srgbClr val="1C252B"/>
                          </a:solidFill>
                          <a:latin typeface="Cambria"/>
                        </a:rPr>
                        <a:t>≈</a:t>
                      </a:r>
                      <a:r>
                        <a:rPr sz="1400" b="0" i="0">
                          <a:solidFill>
                            <a:srgbClr val="1C252B"/>
                          </a:solidFill>
                          <a:latin typeface="Segoe UI"/>
                        </a:rPr>
                        <a:t>350 to </a:t>
                      </a:r>
                      <a:r>
                        <a:rPr sz="1400" b="0" i="0">
                          <a:solidFill>
                            <a:srgbClr val="1C252B"/>
                          </a:solidFill>
                          <a:latin typeface="Cambria"/>
                        </a:rPr>
                        <a:t>≈</a:t>
                      </a:r>
                      <a:r>
                        <a:rPr sz="1400" b="0" i="0">
                          <a:solidFill>
                            <a:srgbClr val="1C252B"/>
                          </a:solidFill>
                          <a:latin typeface="Segoe UI"/>
                        </a:rPr>
                        <a:t>50</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Rare calls may break; test</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Read-only root filesystem</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An attacker cannot write a tool to disk</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Needs explicit writable volumes</a:t>
                      </a:r>
                      <a:endParaRPr sz="1400"/>
                    </a:p>
                  </a:txBody>
                  <a:tcPr marL="109728" marR="109728" marT="64008" marB="45720" anchor="t">
                    <a:lnL w="0" cmpd="sng">
                      <a:noFill/>
                    </a:lnL>
                    <a:lnR w="0" cmpd="sng">
                      <a:noFill/>
                    </a:lnR>
                    <a:lnT w="9525" cmpd="sng">
                      <a:noFill/>
                    </a:lnT>
                    <a:lnB w="9525" cmpd="sng">
                      <a:noFill/>
                    </a:lnB>
                    <a:solidFill>
                      <a:srgbClr val="FFFFFF"/>
                    </a:solidFill>
                  </a:tcPr>
                </a:tc>
              </a:tr>
              <a:tr h="573024">
                <a:tc>
                  <a:txBody>
                    <a:bodyPr wrap="square"/>
                    <a:lstStyle/>
                    <a:p>
                      <a:pPr algn="l"/>
                      <a:r>
                        <a:rPr sz="1400" b="0" i="0">
                          <a:solidFill>
                            <a:srgbClr val="1C252B"/>
                          </a:solidFill>
                          <a:latin typeface="Segoe UI"/>
                        </a:rPr>
                        <a:t>No </a:t>
                      </a:r>
                      <a:r>
                        <a:rPr sz="1300" b="0" i="0">
                          <a:solidFill>
                            <a:srgbClr val="1F4E79"/>
                          </a:solidFill>
                          <a:latin typeface="Consolas"/>
                        </a:rPr>
                        <a:t>--privileged</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That flag disables essentially all of the above at once</a:t>
                      </a:r>
                      <a:endParaRPr sz="14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400" b="0" i="0">
                          <a:solidFill>
                            <a:srgbClr val="1C252B"/>
                          </a:solidFill>
                          <a:latin typeface="Segoe UI"/>
                        </a:rPr>
                        <a:t>Some monitoring agents claim to need it; most do not</a:t>
                      </a:r>
                      <a:endParaRPr sz="1400"/>
                    </a:p>
                  </a:txBody>
                  <a:tcPr marL="109728" marR="109728" marT="64008" marB="45720" anchor="t">
                    <a:lnL w="0" cmpd="sng">
                      <a:noFill/>
                    </a:lnL>
                    <a:lnR w="0" cmpd="sng">
                      <a:noFill/>
                    </a:lnR>
                    <a:lnT w="9525" cmpd="sng">
                      <a:noFill/>
                    </a:lnT>
                    <a:lnB w="9525" cmpd="sng">
                      <a:noFill/>
                    </a:lnB>
                    <a:solidFill>
                      <a:srgbClr val="F2F8FC"/>
                    </a:solidFill>
                  </a:tcPr>
                </a:tc>
              </a:tr>
              <a:tr h="359664">
                <a:tc>
                  <a:txBody>
                    <a:bodyPr wrap="square"/>
                    <a:lstStyle/>
                    <a:p>
                      <a:pPr algn="l"/>
                      <a:r>
                        <a:rPr sz="1400" b="0" i="0">
                          <a:solidFill>
                            <a:srgbClr val="1C252B"/>
                          </a:solidFill>
                          <a:latin typeface="Segoe UI"/>
                        </a:rPr>
                        <a:t>Do not mount the Docker socket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It is equivalent to host root</a:t>
                      </a:r>
                      <a:endParaRPr sz="14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400" b="0" i="0">
                          <a:solidFill>
                            <a:srgbClr val="1C252B"/>
                          </a:solidFill>
                          <a:latin typeface="Segoe UI"/>
                        </a:rPr>
                        <a:t>Use a proper API with scoped credentials</a:t>
                      </a:r>
                      <a:endParaRPr sz="1400"/>
                    </a:p>
                  </a:txBody>
                  <a:tcPr marL="109728" marR="109728" marT="64008" marB="45720" anchor="t">
                    <a:lnL w="0" cmpd="sng">
                      <a:noFill/>
                    </a:lnL>
                    <a:lnR w="0" cmpd="sng">
                      <a:noFill/>
                    </a:lnR>
                    <a:lnT w="9525" cmpd="sng">
                      <a:noFill/>
                    </a:lnT>
                    <a:lnB w="9525" cmpd="sng">
                      <a:noFill/>
                    </a:lnB>
                    <a:solidFill>
                      <a:srgbClr val="FFFFFF"/>
                    </a:solidFill>
                  </a:tcPr>
                </a:tc>
              </a:tr>
              <a:tr h="359664">
                <a:tc>
                  <a:txBody>
                    <a:bodyPr wrap="square"/>
                    <a:lstStyle/>
                    <a:p>
                      <a:pPr algn="l"/>
                      <a:r>
                        <a:rPr sz="1400" b="0" i="0">
                          <a:solidFill>
                            <a:srgbClr val="1C252B"/>
                          </a:solidFill>
                          <a:latin typeface="Segoe UI"/>
                        </a:rPr>
                        <a:t>Signed images, pinned digests</a:t>
                      </a:r>
                      <a:endParaRPr sz="14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400" b="0" i="0">
                          <a:solidFill>
                            <a:srgbClr val="1C252B"/>
                          </a:solidFill>
                          <a:latin typeface="Segoe UI"/>
                        </a:rPr>
                        <a:t>Supply-chain substitution (Chapter 9)</a:t>
                      </a:r>
                      <a:endParaRPr sz="14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400" b="0" i="0">
                          <a:solidFill>
                            <a:srgbClr val="1C252B"/>
                          </a:solidFill>
                          <a:latin typeface="Segoe UI"/>
                        </a:rPr>
                        <a:t>Process discipline</a:t>
                      </a:r>
                      <a:endParaRPr sz="14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71042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Two mistakes that are each equivalent to giving away the host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§19.5  ·  Handout p. 152     </a:t>
            </a:r>
            <a:fld id="{09006E68-C0CD-470C-B8EB-D2FD6672BD42}"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23969"/>
          </a:xfrm>
          <a:prstGeom prst="roundRect">
            <a:avLst>
              <a:gd name="adj" fmla="val 2164"/>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23969"/>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150" b="1" i="0">
                <a:solidFill>
                  <a:srgbClr val="1F4E79"/>
                </a:solidFill>
                <a:latin typeface="Consolas"/>
              </a:rPr>
              <a:t>--privileged</a:t>
            </a:r>
            <a:r>
              <a:rPr sz="2300" b="1" i="0">
                <a:solidFill>
                  <a:srgbClr val="1C252B"/>
                </a:solidFill>
                <a:latin typeface="Segoe UI"/>
              </a:rPr>
              <a:t>.</a:t>
            </a:r>
            <a:r>
              <a:rPr sz="2300" b="0" i="0">
                <a:solidFill>
                  <a:srgbClr val="1C252B"/>
                </a:solidFill>
                <a:latin typeface="Segoe UI"/>
              </a:rPr>
              <a:t> It is not “a few more permissions”. It grants all capabilities, disables seccomp and AppArmor, and exposes host devices. A privileged container is a root shell on the host with extra steps.</a:t>
            </a:r>
          </a:p>
        </p:txBody>
      </p:sp>
      <p:sp>
        <p:nvSpPr>
          <p:cNvPr id="10" name="body-1"/>
          <p:cNvSpPr txBox="1"/>
          <p:nvPr/>
        </p:nvSpPr>
        <p:spPr>
          <a:xfrm>
            <a:off x="1060704" y="3302533"/>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A93226"/>
                </a:solidFill>
                <a:latin typeface="Segoe UI"/>
              </a:rPr>
              <a:t>Mounting </a:t>
            </a:r>
            <a:r>
              <a:rPr sz="2150" b="1" i="0">
                <a:solidFill>
                  <a:srgbClr val="1F4E79"/>
                </a:solidFill>
                <a:latin typeface="Consolas"/>
              </a:rPr>
              <a:t>/var/run/docker.sock</a:t>
            </a:r>
            <a:r>
              <a:rPr sz="2300" b="1" i="0">
                <a:solidFill>
                  <a:srgbClr val="1C252B"/>
                </a:solidFill>
                <a:latin typeface="Segoe UI"/>
              </a:rPr>
              <a:t>.</a:t>
            </a:r>
            <a:r>
              <a:rPr sz="2300" b="0" i="0">
                <a:solidFill>
                  <a:srgbClr val="1C252B"/>
                </a:solidFill>
                <a:latin typeface="Segoe UI"/>
              </a:rPr>
              <a:t> Anything that can talk to the Docker socket can start a new container with the host’s filesystem mounted and </a:t>
            </a:r>
            <a:r>
              <a:rPr sz="2150" b="0" i="0">
                <a:solidFill>
                  <a:srgbClr val="1F4E79"/>
                </a:solidFill>
                <a:latin typeface="Consolas"/>
              </a:rPr>
              <a:t>--privileged</a:t>
            </a:r>
            <a:r>
              <a:rPr sz="2300" b="0" i="0">
                <a:solidFill>
                  <a:srgbClr val="1C252B"/>
                </a:solidFill>
                <a:latin typeface="Segoe UI"/>
              </a:rPr>
              <a:t> set. CI systems and monitoring agents ask for this constantly, and granting it makes every other control in the table above irrelevant.</a:t>
            </a:r>
          </a:p>
        </p:txBody>
      </p:sp>
      <p:sp>
        <p:nvSpPr>
          <p:cNvPr id="11" name="body-2"/>
          <p:cNvSpPr txBox="1"/>
          <p:nvPr/>
        </p:nvSpPr>
        <p:spPr>
          <a:xfrm>
            <a:off x="1060704" y="4921351"/>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a workload genuinely needs either, it should not be sharing a kernel with anything you care about — which is what Chapter 11 is for.</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49875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Defensible Priority List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4376D360-118C-4539-A920-8316EDC7D5EB}"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950741"/>
          </a:xfrm>
          <a:prstGeom prst="roundRect">
            <a:avLst>
              <a:gd name="adj" fmla="val 231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95074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Ordered by blast radius, which is the worked example’s conclusion.</a:t>
            </a:r>
          </a:p>
        </p:txBody>
      </p:sp>
      <p:sp>
        <p:nvSpPr>
          <p:cNvPr id="10" name="body-1"/>
          <p:cNvSpPr txBox="1"/>
          <p:nvPr/>
        </p:nvSpPr>
        <p:spPr>
          <a:xfrm>
            <a:off x="1060704" y="2527782"/>
            <a:ext cx="10161727" cy="2895142"/>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1F618D"/>
                </a:solidFill>
                <a:latin typeface="Segoe UI"/>
              </a:rPr>
              <a:t>•	</a:t>
            </a:r>
            <a:r>
              <a:rPr sz="2100" b="1" i="0">
                <a:solidFill>
                  <a:srgbClr val="1F618D"/>
                </a:solidFill>
                <a:latin typeface="Segoe UI"/>
              </a:rPr>
              <a:t>Isolate the management plane.</a:t>
            </a:r>
            <a:r>
              <a:rPr sz="2100" b="0" i="0">
                <a:solidFill>
                  <a:srgbClr val="1C252B"/>
                </a:solidFill>
                <a:latin typeface="Segoe UI"/>
              </a:rPr>
              <a:t> vCenter, SCVMM, the API and the storage array’s management interface on a separate network, reachable only from a bastion, with multi-factor authentication and credentials that are not the general directory’s.</a:t>
            </a:r>
          </a:p>
          <a:p>
            <a:pPr algn="l" marL="234813" indent="-234813">
              <a:lnSpc>
                <a:spcPct val="104000"/>
              </a:lnSpc>
              <a:spcBef>
                <a:spcPts val="0"/>
              </a:spcBef>
              <a:spcAft>
                <a:spcPts val="735"/>
              </a:spcAft>
            </a:pPr>
            <a:r>
              <a:rPr sz="2100" b="1">
                <a:solidFill>
                  <a:srgbClr val="1F618D"/>
                </a:solidFill>
                <a:latin typeface="Segoe UI"/>
              </a:rPr>
              <a:t>•	</a:t>
            </a:r>
            <a:r>
              <a:rPr sz="2100" b="1" i="0">
                <a:solidFill>
                  <a:srgbClr val="1F618D"/>
                </a:solidFill>
                <a:latin typeface="Segoe UI"/>
              </a:rPr>
              <a:t>Patch the management plane fastest.</a:t>
            </a:r>
            <a:r>
              <a:rPr sz="2100" b="0" i="0">
                <a:solidFill>
                  <a:srgbClr val="1C252B"/>
                </a:solidFill>
                <a:latin typeface="Segoe UI"/>
              </a:rPr>
              <a:t> The 9.8-scored flaws are here and need no foothold.</a:t>
            </a:r>
          </a:p>
          <a:p>
            <a:pPr algn="l" marL="234813" indent="-234813">
              <a:lnSpc>
                <a:spcPct val="104000"/>
              </a:lnSpc>
              <a:spcBef>
                <a:spcPts val="0"/>
              </a:spcBef>
              <a:spcAft>
                <a:spcPts val="0"/>
              </a:spcAft>
            </a:pPr>
            <a:r>
              <a:rPr sz="2100" b="1">
                <a:solidFill>
                  <a:srgbClr val="1F618D"/>
                </a:solidFill>
                <a:latin typeface="Segoe UI"/>
              </a:rPr>
              <a:t>•	</a:t>
            </a:r>
            <a:r>
              <a:rPr sz="2100" b="1" i="0">
                <a:solidFill>
                  <a:srgbClr val="1F618D"/>
                </a:solidFill>
                <a:latin typeface="Segoe UI"/>
              </a:rPr>
              <a:t>Patch hypervisors on a schedule you can actually meet.</a:t>
            </a:r>
            <a:r>
              <a:rPr sz="2100" b="0" i="0">
                <a:solidFill>
                  <a:srgbClr val="1C252B"/>
                </a:solidFill>
                <a:latin typeface="Segoe UI"/>
              </a:rPr>
              <a:t> Live migration (Chapter 17) is what makes this possible without outages — which is why a passthrough guest that cannot migrate is a security problem as well as an operational one.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526459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Defensible Priority List (continued)</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9A7E9F9B-ADEE-4A00-B224-513F4504F98A}"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23588"/>
          </a:xfrm>
          <a:prstGeom prst="roundRect">
            <a:avLst>
              <a:gd name="adj" fmla="val 2114"/>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235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47516"/>
          </a:xfrm>
          <a:prstGeom prst="rect">
            <a:avLst/>
          </a:prstGeom>
          <a:noFill/>
        </p:spPr>
        <p:txBody>
          <a:bodyPr wrap="square" anchor="t" lIns="0" rIns="0" tIns="0" bIns="0">
            <a:noAutofit/>
          </a:bodyPr>
          <a:lstStyle/>
          <a:p>
            <a:pPr algn="l" marL="234813" indent="-234813">
              <a:lnSpc>
                <a:spcPct val="104000"/>
              </a:lnSpc>
              <a:spcBef>
                <a:spcPts val="0"/>
              </a:spcBef>
              <a:spcAft>
                <a:spcPts val="735"/>
              </a:spcAft>
            </a:pPr>
            <a:r>
              <a:rPr sz="2100" b="1">
                <a:solidFill>
                  <a:srgbClr val="1F618D"/>
                </a:solidFill>
                <a:latin typeface="Segoe UI"/>
              </a:rPr>
              <a:t>•	</a:t>
            </a:r>
            <a:r>
              <a:rPr sz="2100" b="1" i="0">
                <a:solidFill>
                  <a:srgbClr val="1F618D"/>
                </a:solidFill>
                <a:latin typeface="Segoe UI"/>
              </a:rPr>
              <a:t>Reduce the device surface.</a:t>
            </a:r>
            <a:r>
              <a:rPr sz="2100" b="0" i="0">
                <a:solidFill>
                  <a:srgbClr val="1C252B"/>
                </a:solidFill>
                <a:latin typeface="Segoe UI"/>
              </a:rPr>
              <a:t> Remove virtual USB, serial ports, floppy controllers and clipboard sharing from templates. Each is a device model, and device models are where escapes are.</a:t>
            </a:r>
          </a:p>
          <a:p>
            <a:pPr algn="l" marL="234813" indent="-234813">
              <a:lnSpc>
                <a:spcPct val="104000"/>
              </a:lnSpc>
              <a:spcBef>
                <a:spcPts val="0"/>
              </a:spcBef>
              <a:spcAft>
                <a:spcPts val="735"/>
              </a:spcAft>
            </a:pPr>
            <a:r>
              <a:rPr sz="2100" b="1">
                <a:solidFill>
                  <a:srgbClr val="1F618D"/>
                </a:solidFill>
                <a:latin typeface="Segoe UI"/>
              </a:rPr>
              <a:t>•	</a:t>
            </a:r>
            <a:r>
              <a:rPr sz="2100" b="1" i="0">
                <a:solidFill>
                  <a:srgbClr val="1F618D"/>
                </a:solidFill>
                <a:latin typeface="Segoe UI"/>
              </a:rPr>
              <a:t>Segment east–west</a:t>
            </a:r>
            <a:r>
              <a:rPr sz="2100" b="0" i="0">
                <a:solidFill>
                  <a:srgbClr val="1C252B"/>
                </a:solidFill>
                <a:latin typeface="Segoe UI"/>
              </a:rPr>
              <a:t> (Chapter 13). It is what bounds case 1 in the worked example.</a:t>
            </a:r>
          </a:p>
          <a:p>
            <a:pPr algn="l" marL="234813" indent="-234813">
              <a:lnSpc>
                <a:spcPct val="104000"/>
              </a:lnSpc>
              <a:spcBef>
                <a:spcPts val="0"/>
              </a:spcBef>
              <a:spcAft>
                <a:spcPts val="735"/>
              </a:spcAft>
            </a:pPr>
            <a:r>
              <a:rPr sz="2100" b="1">
                <a:solidFill>
                  <a:srgbClr val="1F618D"/>
                </a:solidFill>
                <a:latin typeface="Segoe UI"/>
              </a:rPr>
              <a:t>•	</a:t>
            </a:r>
            <a:r>
              <a:rPr sz="2100" b="1" i="0">
                <a:solidFill>
                  <a:srgbClr val="1F618D"/>
                </a:solidFill>
                <a:latin typeface="Segoe UI"/>
              </a:rPr>
              <a:t>Harden containers</a:t>
            </a:r>
            <a:r>
              <a:rPr sz="2100" b="0" i="0">
                <a:solidFill>
                  <a:srgbClr val="1C252B"/>
                </a:solidFill>
                <a:latin typeface="Segoe UI"/>
              </a:rPr>
              <a:t> per the table, and use Chapter 11’s runtimes for anything untrusted.</a:t>
            </a:r>
          </a:p>
          <a:p>
            <a:pPr algn="l" marL="234813" indent="-234813">
              <a:lnSpc>
                <a:spcPct val="104000"/>
              </a:lnSpc>
              <a:spcBef>
                <a:spcPts val="0"/>
              </a:spcBef>
              <a:spcAft>
                <a:spcPts val="735"/>
              </a:spcAft>
            </a:pPr>
            <a:r>
              <a:rPr sz="2100" b="1">
                <a:solidFill>
                  <a:srgbClr val="1F618D"/>
                </a:solidFill>
                <a:latin typeface="Segoe UI"/>
              </a:rPr>
              <a:t>•	</a:t>
            </a:r>
            <a:r>
              <a:rPr sz="2100" b="1" i="0">
                <a:solidFill>
                  <a:srgbClr val="1F618D"/>
                </a:solidFill>
                <a:latin typeface="Segoe UI"/>
              </a:rPr>
              <a:t>Decide the SMT question deliberately</a:t>
            </a:r>
            <a:r>
              <a:rPr sz="2100" b="0" i="0">
                <a:solidFill>
                  <a:srgbClr val="1C252B"/>
                </a:solidFill>
                <a:latin typeface="Segoe UI"/>
              </a:rPr>
              <a:t> and write down the decision with its reason.</a:t>
            </a:r>
          </a:p>
          <a:p>
            <a:pPr algn="l" marL="234813" indent="-234813">
              <a:lnSpc>
                <a:spcPct val="104000"/>
              </a:lnSpc>
              <a:spcBef>
                <a:spcPts val="0"/>
              </a:spcBef>
              <a:spcAft>
                <a:spcPts val="0"/>
              </a:spcAft>
            </a:pPr>
            <a:r>
              <a:rPr sz="2100" b="1">
                <a:solidFill>
                  <a:srgbClr val="1F618D"/>
                </a:solidFill>
                <a:latin typeface="Segoe UI"/>
              </a:rPr>
              <a:t>•	</a:t>
            </a:r>
            <a:r>
              <a:rPr sz="2100" b="1" i="0">
                <a:solidFill>
                  <a:srgbClr val="1F618D"/>
                </a:solidFill>
                <a:latin typeface="Segoe UI"/>
              </a:rPr>
              <a:t>Protect the backups</a:t>
            </a:r>
            <a:r>
              <a:rPr sz="2100" b="0" i="0">
                <a:solidFill>
                  <a:srgbClr val="1C252B"/>
                </a:solidFill>
                <a:latin typeface="Segoe UI"/>
              </a:rPr>
              <a:t> (Chapter 17): immutable, separate credentials. Ransomware deletes backups first.</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554167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9A6BBB32-3CA9-463F-A329-AB771466B240}"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Defending against escapes and leaving vCenter on the general network.</a:t>
            </a:r>
            <a:r>
              <a:rPr sz="1700" b="0" i="0">
                <a:solidFill>
                  <a:srgbClr val="1C252B"/>
                </a:solidFill>
                <a:latin typeface="Segoe UI"/>
              </a:rPr>
              <a:t> Forty times the blast radius, no foothold needed.</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Prioritising by CVSS alone.</a:t>
            </a:r>
            <a:r>
              <a:rPr sz="1700" b="0" i="0">
                <a:solidFill>
                  <a:srgbClr val="1C252B"/>
                </a:solidFill>
                <a:latin typeface="Segoe UI"/>
              </a:rPr>
              <a:t> A 7.5 in the management plane may matter more to you than a 9.3 that needs guest administrative access you do not hand out.</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Leaving every virtual device enabled in the template.</a:t>
            </a:r>
            <a:r>
              <a:rPr sz="1700" b="0" i="0">
                <a:solidFill>
                  <a:srgbClr val="1C252B"/>
                </a:solidFill>
                <a:latin typeface="Segoe UI"/>
              </a:rPr>
              <a:t> Each is attack surface you are not using.</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containers isolate like virtual machines.</a:t>
            </a:r>
            <a:r>
              <a:rPr sz="1700" b="0" i="0">
                <a:solidFill>
                  <a:srgbClr val="1C252B"/>
                </a:solidFill>
                <a:latin typeface="Segoe UI"/>
              </a:rPr>
              <a:t> One kernel. Chapter 11 is the answer when that is not acceptable.</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Granting </a:t>
            </a:r>
            <a:r>
              <a:rPr sz="1600" b="1" i="0">
                <a:solidFill>
                  <a:srgbClr val="1F4E79"/>
                </a:solidFill>
                <a:latin typeface="Consolas"/>
              </a:rPr>
              <a:t>--privileged</a:t>
            </a:r>
            <a:r>
              <a:rPr sz="1700" b="1" i="0">
                <a:solidFill>
                  <a:srgbClr val="1C252B"/>
                </a:solidFill>
                <a:latin typeface="Segoe UI"/>
              </a:rPr>
              <a:t> or the Docker socket to make something work.</a:t>
            </a:r>
            <a:r>
              <a:rPr sz="1700" b="0" i="0">
                <a:solidFill>
                  <a:srgbClr val="1C252B"/>
                </a:solidFill>
                <a:latin typeface="Segoe UI"/>
              </a:rPr>
              <a:t> Both are host root.</a:t>
            </a:r>
          </a:p>
        </p:txBody>
      </p:sp>
      <p:sp>
        <p:nvSpPr>
          <p:cNvPr id="22" name="!!pb5">
            <a:extLst>
              <a:ext uri="{C183D7F6-B498-43B3-948B-1728B52AA6E4}">
                <adec:decorative xmlns:adec="http://schemas.microsoft.com/office/drawing/2017/decorative" val="1"/>
              </a:ext>
            </a:extLst>
          </p:cNvPr>
          <p:cNvSpPr/>
          <p:nvPr/>
        </p:nvSpPr>
        <p:spPr>
          <a:xfrm>
            <a:off x="658368" y="5109667"/>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13252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091379"/>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Disabling side-channel mitigations for performance without recording the decision.</a:t>
            </a:r>
            <a:r>
              <a:rPr sz="1700" b="0" i="0">
                <a:solidFill>
                  <a:srgbClr val="1C252B"/>
                </a:solidFill>
                <a:latin typeface="Segoe UI"/>
              </a:rPr>
              <a:t> It may be right; it must be deliberate and documented.</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81876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4BA4E69B-066B-45AF-9ED5-CDEB4F33A28B}" type="slidenum">
              <a:rPr lang="en-GB" sz="1000">
                <a:solidFill>
                  <a:srgbClr val="8795A1"/>
                </a:solidFill>
                <a:latin typeface="Segoe UI"/>
              </a:rPr>
              <a:t>22</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the storage array.</a:t>
            </a:r>
            <a:r>
              <a:rPr sz="1700" b="0" i="0">
                <a:solidFill>
                  <a:srgbClr val="1C252B"/>
                </a:solidFill>
                <a:latin typeface="Segoe UI"/>
              </a:rPr>
              <a:t> It holds every disk, and its management interface is usually the least hardened thing in the room.</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a snapshot as protection from ransomware.</a:t>
            </a:r>
            <a:r>
              <a:rPr sz="1700" b="0" i="0">
                <a:solidFill>
                  <a:srgbClr val="1C252B"/>
                </a:solidFill>
                <a:latin typeface="Segoe UI"/>
              </a:rPr>
              <a:t> Same storage, same credentials.</a:t>
            </a:r>
          </a:p>
        </p:txBody>
      </p:sp>
      <p:sp>
        <p:nvSpPr>
          <p:cNvPr id="2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4195EDBF-88EB-4312-AC77-A2B475D777E1}" type="slidenum">
              <a:rPr lang="en-GB" sz="1000">
                <a:solidFill>
                  <a:srgbClr val="8795A1"/>
                </a:solidFill>
                <a:latin typeface="Segoe UI"/>
              </a:rPr>
              <a:t>23</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Demonstrates the escape paths the table closes, then closes them. Run on a disposable machine — step 3 genuinely gives the container the host. Expect forty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4384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A default container: how much is still exposed?</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The kernel is shared, and the container can see it.</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Privileged: the host, with extra steps. DISPOSABLE HOST ONLY.</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The Docker socket is equivalent.</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Now harden, measure by measure.</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Seccomp: count the system calls actually reachable.</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All of it together: what a hardened run looks like.</a:t>
            </a:r>
          </a:p>
          <a:p>
            <a:pPr algn="l" marL="367434" indent="-367434">
              <a:lnSpc>
                <a:spcPct val="100000"/>
              </a:lnSpc>
              <a:spcBef>
                <a:spcPts val="0"/>
              </a:spcBef>
              <a:spcAft>
                <a:spcPts val="420"/>
              </a:spcAft>
            </a:pPr>
            <a:r>
              <a:rPr sz="1400" b="1">
                <a:solidFill>
                  <a:srgbClr val="117A65"/>
                </a:solidFill>
                <a:latin typeface="Segoe UI"/>
              </a:rPr>
              <a:t>8.	</a:t>
            </a:r>
            <a:r>
              <a:rPr sz="1400" b="0" i="0">
                <a:solidFill>
                  <a:srgbClr val="1C252B"/>
                </a:solidFill>
                <a:latin typeface="Segoe UI"/>
              </a:rPr>
              <a:t>And the alternative, when none of that is enough.</a:t>
            </a:r>
          </a:p>
          <a:p>
            <a:pPr algn="l" marL="367434" indent="-367434">
              <a:lnSpc>
                <a:spcPct val="100000"/>
              </a:lnSpc>
              <a:spcBef>
                <a:spcPts val="0"/>
              </a:spcBef>
              <a:spcAft>
                <a:spcPts val="0"/>
              </a:spcAft>
            </a:pPr>
            <a:r>
              <a:rPr sz="1400" b="1">
                <a:solidFill>
                  <a:srgbClr val="117A65"/>
                </a:solidFill>
                <a:latin typeface="Segoe UI"/>
              </a:rPr>
              <a:t>9.	</a:t>
            </a:r>
            <a:r>
              <a:rPr sz="1400" b="0" i="0">
                <a:solidFill>
                  <a:srgbClr val="1C252B"/>
                </a:solidFill>
                <a:latin typeface="Segoe UI"/>
              </a:rPr>
              <a:t>Inventory your own estate for the two fatal flags.</a:t>
            </a:r>
          </a:p>
        </p:txBody>
      </p:sp>
      <p:sp>
        <p:nvSpPr>
          <p:cNvPr id="49"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52"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14: Find three bottlenecks; harden a container</a:t>
            </a:r>
          </a:p>
        </p:txBody>
      </p:sp>
      <p:sp>
        <p:nvSpPr>
          <p:cNvPr id="53"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6"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83 lines of Shell</a:t>
            </a:r>
          </a:p>
        </p:txBody>
      </p:sp>
      <p:sp>
        <p:nvSpPr>
          <p:cNvPr id="5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pfill">
            <a:extLst>
              <a:ext uri="{C183D7F6-B498-43B3-948B-1728B52AA6E4}">
                <adec:decorative xmlns:adec="http://schemas.microsoft.com/office/drawing/2017/decorative" val="1"/>
              </a:ext>
            </a:extLst>
          </p:cNvPr>
          <p:cNvSpPr/>
          <p:nvPr/>
        </p:nvSpPr>
        <p:spPr>
          <a:xfrm>
            <a:off x="0" y="0"/>
            <a:ext cx="637293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8" end="8"/>
                                            </p:txEl>
                                          </p:spTgt>
                                        </p:tgtEl>
                                        <p:attrNameLst>
                                          <p:attrName>style.visibility</p:attrName>
                                        </p:attrNameLst>
                                      </p:cBhvr>
                                      <p:to>
                                        <p:strVal val="visible"/>
                                      </p:to>
                                    </p:set>
                                    <p:animEffect transition="in" filter="fade">
                                      <p:cBhvr>
                                        <p:cTn id="48" dur="3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539D7925-0EF1-4BDD-9A9B-F812FD3CDDCD}"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default container: how much is still exposed?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9_harden.sh -- what --privileged means, and what hardening removes. set -euo pipefail # --- 1. A default container: how much is still exposed? ---------------- docker run --rm alpine:3.20 id # root, by default docker run --rm alpine:3.20 sh -c \ 'cat /proc/self/status | grep -E &quot;^Cap(Eff|Prm)&quot;' # Decode those with capsh --decode=&lt;hex&gt;; the default set is ~14 caps."/>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#!/usr/bin/env bash</a:t>
            </a:r>
          </a:p>
          <a:p>
            <a:pPr>
              <a:lnSpc>
                <a:spcPct val="100000"/>
              </a:lnSpc>
              <a:spcAft>
                <a:spcPts val="0"/>
              </a:spcAft>
            </a:pPr>
            <a:r>
              <a:rPr sz="1800" i="1">
                <a:solidFill>
                  <a:srgbClr val="8795A1"/>
                </a:solidFill>
                <a:latin typeface="Consolas"/>
              </a:rPr>
              <a:t># ch19_harden.sh -- what --privileged means, and what hardening removes.</a:t>
            </a:r>
          </a:p>
          <a:p>
            <a:pPr>
              <a:lnSpc>
                <a:spcPct val="100000"/>
              </a:lnSpc>
              <a:spcAft>
                <a:spcPts val="0"/>
              </a:spcAft>
            </a:pPr>
            <a:r>
              <a:rPr sz="1800" i="0">
                <a:solidFill>
                  <a:srgbClr val="C39BD3"/>
                </a:solidFill>
                <a:latin typeface="Consolas"/>
              </a:rPr>
              <a:t>set</a:t>
            </a:r>
            <a:r>
              <a:rPr sz="1800" i="0">
                <a:solidFill>
                  <a:srgbClr val="E8EDF2"/>
                </a:solidFill>
                <a:latin typeface="Consolas"/>
              </a:rPr>
              <a:t> </a:t>
            </a:r>
            <a:r>
              <a:rPr sz="1800" i="0">
                <a:solidFill>
                  <a:srgbClr val="E8EDF2"/>
                </a:solidFill>
                <a:latin typeface="Consolas"/>
              </a:rPr>
              <a:t>-euo</a:t>
            </a:r>
            <a:r>
              <a:rPr sz="1800" i="0">
                <a:solidFill>
                  <a:srgbClr val="E8EDF2"/>
                </a:solidFill>
                <a:latin typeface="Consolas"/>
              </a:rPr>
              <a:t> </a:t>
            </a:r>
            <a:r>
              <a:rPr sz="1800" i="0">
                <a:solidFill>
                  <a:srgbClr val="E8EDF2"/>
                </a:solidFill>
                <a:latin typeface="Consolas"/>
              </a:rPr>
              <a:t>pipefail</a:t>
            </a:r>
          </a:p>
          <a:p>
            <a:pPr>
              <a:lnSpc>
                <a:spcPct val="100000"/>
              </a:lnSpc>
              <a:spcAft>
                <a:spcPts val="0"/>
              </a:spcAft>
            </a:pPr>
            <a:r>
              <a:rPr sz="1800">
                <a:latin typeface="Consolas"/>
              </a:rPr>
              <a:t> </a:t>
            </a:r>
          </a:p>
          <a:p>
            <a:pPr>
              <a:lnSpc>
                <a:spcPct val="100000"/>
              </a:lnSpc>
              <a:spcAft>
                <a:spcPts val="0"/>
              </a:spcAft>
            </a:pPr>
            <a:r>
              <a:rPr sz="1800" i="1">
                <a:solidFill>
                  <a:srgbClr val="8795A1"/>
                </a:solidFill>
                <a:latin typeface="Consolas"/>
              </a:rPr>
              <a:t># --- 1. A default container: how much is still exposed? ----------------</a:t>
            </a:r>
          </a:p>
          <a:p>
            <a:pPr>
              <a:lnSpc>
                <a:spcPct val="100000"/>
              </a:lnSpc>
              <a:spcAft>
                <a:spcPts val="0"/>
              </a:spcAft>
            </a:pPr>
            <a:r>
              <a:rPr sz="1800" i="0">
                <a:solidFill>
                  <a:srgbClr val="E8EDF2"/>
                </a:solidFill>
                <a:latin typeface="Consolas"/>
              </a:rPr>
              <a:t>docker</a:t>
            </a:r>
            <a:r>
              <a:rPr sz="1800" i="0">
                <a:solidFill>
                  <a:srgbClr val="E8EDF2"/>
                </a:solidFill>
                <a:latin typeface="Consolas"/>
              </a:rPr>
              <a:t> </a:t>
            </a:r>
            <a:r>
              <a:rPr sz="1800" i="0">
                <a:solidFill>
                  <a:srgbClr val="E8EDF2"/>
                </a:solidFill>
                <a:latin typeface="Consolas"/>
              </a:rPr>
              <a:t>run</a:t>
            </a:r>
            <a:r>
              <a:rPr sz="1800" i="0">
                <a:solidFill>
                  <a:srgbClr val="E8EDF2"/>
                </a:solidFill>
                <a:latin typeface="Consolas"/>
              </a:rPr>
              <a:t> </a:t>
            </a:r>
            <a:r>
              <a:rPr sz="1800" i="0">
                <a:solidFill>
                  <a:srgbClr val="E8EDF2"/>
                </a:solidFill>
                <a:latin typeface="Consolas"/>
              </a:rPr>
              <a:t>--rm</a:t>
            </a:r>
            <a:r>
              <a:rPr sz="1800" i="0">
                <a:solidFill>
                  <a:srgbClr val="E8EDF2"/>
                </a:solidFill>
                <a:latin typeface="Consolas"/>
              </a:rPr>
              <a:t> </a:t>
            </a:r>
            <a:r>
              <a:rPr sz="1800" i="0">
                <a:solidFill>
                  <a:srgbClr val="E8EDF2"/>
                </a:solidFill>
                <a:latin typeface="Consolas"/>
              </a:rPr>
              <a:t>alpine:3.20</a:t>
            </a:r>
            <a:r>
              <a:rPr sz="1800" i="0">
                <a:solidFill>
                  <a:srgbClr val="E8EDF2"/>
                </a:solidFill>
                <a:latin typeface="Consolas"/>
              </a:rPr>
              <a:t> </a:t>
            </a:r>
            <a:r>
              <a:rPr sz="1800" i="0">
                <a:solidFill>
                  <a:srgbClr val="E8EDF2"/>
                </a:solidFill>
                <a:latin typeface="Consolas"/>
              </a:rPr>
              <a:t>id</a:t>
            </a:r>
            <a:r>
              <a:rPr sz="1800" i="0">
                <a:solidFill>
                  <a:srgbClr val="E8EDF2"/>
                </a:solidFill>
                <a:latin typeface="Consolas"/>
              </a:rPr>
              <a:t>            </a:t>
            </a:r>
            <a:r>
              <a:rPr sz="1800" i="1">
                <a:solidFill>
                  <a:srgbClr val="8795A1"/>
                </a:solidFill>
                <a:latin typeface="Consolas"/>
              </a:rPr>
              <a:t># root, by default</a:t>
            </a:r>
          </a:p>
          <a:p>
            <a:pPr>
              <a:lnSpc>
                <a:spcPct val="100000"/>
              </a:lnSpc>
              <a:spcAft>
                <a:spcPts val="0"/>
              </a:spcAft>
            </a:pPr>
            <a:r>
              <a:rPr sz="1800" i="0">
                <a:solidFill>
                  <a:srgbClr val="E8EDF2"/>
                </a:solidFill>
                <a:latin typeface="Consolas"/>
              </a:rPr>
              <a:t>docker</a:t>
            </a:r>
            <a:r>
              <a:rPr sz="1800" i="0">
                <a:solidFill>
                  <a:srgbClr val="E8EDF2"/>
                </a:solidFill>
                <a:latin typeface="Consolas"/>
              </a:rPr>
              <a:t> </a:t>
            </a:r>
            <a:r>
              <a:rPr sz="1800" i="0">
                <a:solidFill>
                  <a:srgbClr val="E8EDF2"/>
                </a:solidFill>
                <a:latin typeface="Consolas"/>
              </a:rPr>
              <a:t>run</a:t>
            </a:r>
            <a:r>
              <a:rPr sz="1800" i="0">
                <a:solidFill>
                  <a:srgbClr val="E8EDF2"/>
                </a:solidFill>
                <a:latin typeface="Consolas"/>
              </a:rPr>
              <a:t> </a:t>
            </a:r>
            <a:r>
              <a:rPr sz="1800" i="0">
                <a:solidFill>
                  <a:srgbClr val="E8EDF2"/>
                </a:solidFill>
                <a:latin typeface="Consolas"/>
              </a:rPr>
              <a:t>--rm</a:t>
            </a:r>
            <a:r>
              <a:rPr sz="1800" i="0">
                <a:solidFill>
                  <a:srgbClr val="E8EDF2"/>
                </a:solidFill>
                <a:latin typeface="Consolas"/>
              </a:rPr>
              <a:t> </a:t>
            </a:r>
            <a:r>
              <a:rPr sz="1800" i="0">
                <a:solidFill>
                  <a:srgbClr val="E8EDF2"/>
                </a:solidFill>
                <a:latin typeface="Consolas"/>
              </a:rPr>
              <a:t>alpine:3.20</a:t>
            </a:r>
            <a:r>
              <a:rPr sz="1800" i="0">
                <a:solidFill>
                  <a:srgbClr val="E8EDF2"/>
                </a:solidFill>
                <a:latin typeface="Consolas"/>
              </a:rPr>
              <a:t> </a:t>
            </a:r>
            <a:r>
              <a:rPr sz="1800" i="0">
                <a:solidFill>
                  <a:srgbClr val="E8EDF2"/>
                </a:solidFill>
                <a:latin typeface="Consolas"/>
              </a:rPr>
              <a:t>sh</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'cat /proc/self/status | grep -E "^Cap(Eff|Prm)"'</a:t>
            </a:r>
          </a:p>
          <a:p>
            <a:pPr>
              <a:lnSpc>
                <a:spcPct val="100000"/>
              </a:lnSpc>
              <a:spcAft>
                <a:spcPts val="0"/>
              </a:spcAft>
            </a:pPr>
            <a:r>
              <a:rPr sz="1800" i="1">
                <a:solidFill>
                  <a:srgbClr val="8795A1"/>
                </a:solidFill>
                <a:latin typeface="Consolas"/>
              </a:rPr>
              <a:t># Decode those with capsh --decode=&lt;hex&gt;; the default set is ~14 caps.</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a:t>
            </a:r>
          </a:p>
          <a:p>
            <a:pPr algn="r">
              <a:lnSpc>
                <a:spcPct val="100000"/>
              </a:lnSpc>
            </a:pPr>
            <a:r>
              <a:rPr sz="1800">
                <a:solidFill>
                  <a:srgbClr val="4F5D6A"/>
                </a:solidFill>
                <a:latin typeface="Consolas"/>
              </a:rPr>
              <a:t>2</a:t>
            </a:r>
          </a:p>
          <a:p>
            <a:pPr algn="r">
              <a:lnSpc>
                <a:spcPct val="100000"/>
              </a:lnSpc>
            </a:pPr>
            <a:r>
              <a:rPr sz="1800">
                <a:solidFill>
                  <a:srgbClr val="4F5D6A"/>
                </a:solidFill>
                <a:latin typeface="Consolas"/>
              </a:rPr>
              <a:t>3</a:t>
            </a:r>
          </a:p>
          <a:p>
            <a:pPr algn="r">
              <a:lnSpc>
                <a:spcPct val="100000"/>
              </a:lnSpc>
            </a:pPr>
            <a:r>
              <a:rPr sz="1800">
                <a:solidFill>
                  <a:srgbClr val="4F5D6A"/>
                </a:solidFill>
                <a:latin typeface="Consolas"/>
              </a:rPr>
              <a:t>4</a:t>
            </a:r>
          </a:p>
          <a:p>
            <a:pPr algn="r">
              <a:lnSpc>
                <a:spcPct val="100000"/>
              </a:lnSpc>
            </a:pPr>
            <a:r>
              <a:rPr sz="1800">
                <a:solidFill>
                  <a:srgbClr val="4F5D6A"/>
                </a:solidFill>
                <a:latin typeface="Consolas"/>
              </a:rPr>
              <a:t>5</a:t>
            </a:r>
          </a:p>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65001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F510C7D3-1EA6-4484-9EA1-5E427FC0A6C6}"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kernel is shared, and the container can see 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The kernel is shared, and the container can see it. ----------- docker run --rm alpine:3.20 uname -a # the HOST kernel version uname -a # identical. Chapter 8."/>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The kernel is shared, and the container can see it. -----------</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alpine:3.20</a:t>
            </a:r>
            <a:r>
              <a:rPr sz="1900" i="0">
                <a:solidFill>
                  <a:srgbClr val="E8EDF2"/>
                </a:solidFill>
                <a:latin typeface="Consolas"/>
              </a:rPr>
              <a:t> </a:t>
            </a:r>
            <a:r>
              <a:rPr sz="1900" i="0">
                <a:solidFill>
                  <a:srgbClr val="E8EDF2"/>
                </a:solidFill>
                <a:latin typeface="Consolas"/>
              </a:rPr>
              <a:t>uname</a:t>
            </a:r>
            <a:r>
              <a:rPr sz="1900" i="0">
                <a:solidFill>
                  <a:srgbClr val="E8EDF2"/>
                </a:solidFill>
                <a:latin typeface="Consolas"/>
              </a:rPr>
              <a:t> </a:t>
            </a:r>
            <a:r>
              <a:rPr sz="1900" i="0">
                <a:solidFill>
                  <a:srgbClr val="E8EDF2"/>
                </a:solidFill>
                <a:latin typeface="Consolas"/>
              </a:rPr>
              <a:t>-a</a:t>
            </a:r>
            <a:r>
              <a:rPr sz="1900" i="0">
                <a:solidFill>
                  <a:srgbClr val="E8EDF2"/>
                </a:solidFill>
                <a:latin typeface="Consolas"/>
              </a:rPr>
              <a:t>      </a:t>
            </a:r>
            <a:r>
              <a:rPr sz="1900" i="1">
                <a:solidFill>
                  <a:srgbClr val="8795A1"/>
                </a:solidFill>
                <a:latin typeface="Consolas"/>
              </a:rPr>
              <a:t># the HOST kernel version</a:t>
            </a:r>
          </a:p>
          <a:p>
            <a:pPr>
              <a:lnSpc>
                <a:spcPct val="100000"/>
              </a:lnSpc>
              <a:spcAft>
                <a:spcPts val="0"/>
              </a:spcAft>
            </a:pPr>
            <a:r>
              <a:rPr sz="1900" i="0">
                <a:solidFill>
                  <a:srgbClr val="E8EDF2"/>
                </a:solidFill>
                <a:latin typeface="Consolas"/>
              </a:rPr>
              <a:t>uname</a:t>
            </a:r>
            <a:r>
              <a:rPr sz="1900" i="0">
                <a:solidFill>
                  <a:srgbClr val="E8EDF2"/>
                </a:solidFill>
                <a:latin typeface="Consolas"/>
              </a:rPr>
              <a:t> </a:t>
            </a:r>
            <a:r>
              <a:rPr sz="1900" i="0">
                <a:solidFill>
                  <a:srgbClr val="E8EDF2"/>
                </a:solidFill>
                <a:latin typeface="Consolas"/>
              </a:rPr>
              <a:t>-a</a:t>
            </a:r>
            <a:r>
              <a:rPr sz="1900" i="0">
                <a:solidFill>
                  <a:srgbClr val="E8EDF2"/>
                </a:solidFill>
                <a:latin typeface="Consolas"/>
              </a:rPr>
              <a:t>                                  </a:t>
            </a:r>
            <a:r>
              <a:rPr sz="1900" i="1">
                <a:solidFill>
                  <a:srgbClr val="8795A1"/>
                </a:solidFill>
                <a:latin typeface="Consolas"/>
              </a:rPr>
              <a:t># identical. Chapter 8.</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11</a:t>
            </a:r>
          </a:p>
          <a:p>
            <a:pPr algn="r">
              <a:lnSpc>
                <a:spcPct val="100000"/>
              </a:lnSpc>
            </a:pPr>
            <a:r>
              <a:rPr sz="1900">
                <a:solidFill>
                  <a:srgbClr val="4F5D6A"/>
                </a:solidFill>
                <a:latin typeface="Consolas"/>
              </a:rPr>
              <a:t>12</a:t>
            </a:r>
          </a:p>
          <a:p>
            <a:pPr algn="r">
              <a:lnSpc>
                <a:spcPct val="100000"/>
              </a:lnSpc>
            </a:pPr>
            <a:r>
              <a:rPr sz="1900">
                <a:solidFill>
                  <a:srgbClr val="4F5D6A"/>
                </a:solidFill>
                <a:latin typeface="Consolas"/>
              </a:rPr>
              <a:t>13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2709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CF4F6F7C-1FC1-4CE3-B15B-9D1C700D64EC}"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Privileged: the host, with extra steps. DISPOSABLE HOST ONLY.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privileged: the host, with extra steps. DISPOSABLE HOST ONLY. docker run --rm --privileged alpine:3.20 sh -c \ 'ls /dev/ | head -20; echo &quot;--- host disks visible above ---&quot;' docker run --rm --privileged --pid=host alpine:3.20 sh -c \ 'ps aux | head -5' # the host's process table # With --privileged you can mount the host root and chroot into it. # That is the whole &quot;escape&quot;: there was never a boundary to cross."/>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--privileged: the host, with extra steps. DISPOSABLE HOST ONLY.</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--privileged</a:t>
            </a:r>
            <a:r>
              <a:rPr sz="1900" i="0">
                <a:solidFill>
                  <a:srgbClr val="E8EDF2"/>
                </a:solidFill>
                <a:latin typeface="Consolas"/>
              </a:rPr>
              <a:t> </a:t>
            </a:r>
            <a:r>
              <a:rPr sz="1900" i="0">
                <a:solidFill>
                  <a:srgbClr val="E8EDF2"/>
                </a:solidFill>
                <a:latin typeface="Consolas"/>
              </a:rPr>
              <a:t>alpine:3.20</a:t>
            </a:r>
            <a:r>
              <a:rPr sz="1900" i="0">
                <a:solidFill>
                  <a:srgbClr val="E8EDF2"/>
                </a:solidFill>
                <a:latin typeface="Consolas"/>
              </a:rPr>
              <a:t> </a:t>
            </a:r>
            <a:r>
              <a:rPr sz="1900" i="0">
                <a:solidFill>
                  <a:srgbClr val="E8EDF2"/>
                </a:solidFill>
                <a:latin typeface="Consolas"/>
              </a:rPr>
              <a:t>sh</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'ls /dev/ | head -20; echo "--- host disks visible above ---"'</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--privileged</a:t>
            </a:r>
            <a:r>
              <a:rPr sz="1900" i="0">
                <a:solidFill>
                  <a:srgbClr val="E8EDF2"/>
                </a:solidFill>
                <a:latin typeface="Consolas"/>
              </a:rPr>
              <a:t> </a:t>
            </a:r>
            <a:r>
              <a:rPr sz="1900" i="0">
                <a:solidFill>
                  <a:srgbClr val="E8EDF2"/>
                </a:solidFill>
                <a:latin typeface="Consolas"/>
              </a:rPr>
              <a:t>--pid</a:t>
            </a:r>
            <a:r>
              <a:rPr sz="1900" i="0">
                <a:solidFill>
                  <a:srgbClr val="AEB6BF"/>
                </a:solidFill>
                <a:latin typeface="Consolas"/>
              </a:rPr>
              <a:t>=</a:t>
            </a:r>
            <a:r>
              <a:rPr sz="1900" i="0">
                <a:solidFill>
                  <a:srgbClr val="E8EDF2"/>
                </a:solidFill>
                <a:latin typeface="Consolas"/>
              </a:rPr>
              <a:t>host</a:t>
            </a:r>
            <a:r>
              <a:rPr sz="1900" i="0">
                <a:solidFill>
                  <a:srgbClr val="E8EDF2"/>
                </a:solidFill>
                <a:latin typeface="Consolas"/>
              </a:rPr>
              <a:t> </a:t>
            </a:r>
            <a:r>
              <a:rPr sz="1900" i="0">
                <a:solidFill>
                  <a:srgbClr val="E8EDF2"/>
                </a:solidFill>
                <a:latin typeface="Consolas"/>
              </a:rPr>
              <a:t>alpine:3.20</a:t>
            </a:r>
            <a:r>
              <a:rPr sz="1900" i="0">
                <a:solidFill>
                  <a:srgbClr val="E8EDF2"/>
                </a:solidFill>
                <a:latin typeface="Consolas"/>
              </a:rPr>
              <a:t> </a:t>
            </a:r>
            <a:r>
              <a:rPr sz="1900" i="0">
                <a:solidFill>
                  <a:srgbClr val="E8EDF2"/>
                </a:solidFill>
                <a:latin typeface="Consolas"/>
              </a:rPr>
              <a:t>sh</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'ps aux | head -5'</a:t>
            </a:r>
            <a:r>
              <a:rPr sz="1900" i="0">
                <a:solidFill>
                  <a:srgbClr val="E8EDF2"/>
                </a:solidFill>
                <a:latin typeface="Consolas"/>
              </a:rPr>
              <a:t>                      </a:t>
            </a:r>
            <a:r>
              <a:rPr sz="1900" i="1">
                <a:solidFill>
                  <a:srgbClr val="8795A1"/>
                </a:solidFill>
                <a:latin typeface="Consolas"/>
              </a:rPr>
              <a:t># the host's process table</a:t>
            </a:r>
          </a:p>
          <a:p>
            <a:pPr>
              <a:lnSpc>
                <a:spcPct val="100000"/>
              </a:lnSpc>
              <a:spcAft>
                <a:spcPts val="0"/>
              </a:spcAft>
            </a:pPr>
            <a:r>
              <a:rPr sz="1900" i="1">
                <a:solidFill>
                  <a:srgbClr val="8795A1"/>
                </a:solidFill>
                <a:latin typeface="Consolas"/>
              </a:rPr>
              <a:t># With --privileged you can mount the host root and chroot into it.</a:t>
            </a:r>
          </a:p>
          <a:p>
            <a:pPr>
              <a:lnSpc>
                <a:spcPct val="100000"/>
              </a:lnSpc>
              <a:spcAft>
                <a:spcPts val="0"/>
              </a:spcAft>
            </a:pPr>
            <a:r>
              <a:rPr sz="1900" i="1">
                <a:solidFill>
                  <a:srgbClr val="8795A1"/>
                </a:solidFill>
                <a:latin typeface="Consolas"/>
              </a:rPr>
              <a:t># That is the whole "escape": there was never a boundary to cross.</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15</a:t>
            </a:r>
          </a:p>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0418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E6F11690-0FF8-4523-94E8-780B84C44D41}"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Docker socket is equivalent.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The Docker socket is equivalent. ------------------------------ docker run --rm -v /var/run/docker.sock:/var/run/docker.sock \ docker:cli sh -c 'docker ps | head -3' # Anything that can reach the socket can start a privileged container # with / mounted. Never grant it to something you do not fully trust."/>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The Docker socket is equivalent. ------------------------------</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E8EDF2"/>
                </a:solidFill>
                <a:latin typeface="Consolas"/>
              </a:rPr>
              <a:t>/var/run/docker.sock:/var/run/docker.sock</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docker:cli</a:t>
            </a:r>
            <a:r>
              <a:rPr sz="1900" i="0">
                <a:solidFill>
                  <a:srgbClr val="E8EDF2"/>
                </a:solidFill>
                <a:latin typeface="Consolas"/>
              </a:rPr>
              <a:t> </a:t>
            </a:r>
            <a:r>
              <a:rPr sz="1900" i="0">
                <a:solidFill>
                  <a:srgbClr val="E8EDF2"/>
                </a:solidFill>
                <a:latin typeface="Consolas"/>
              </a:rPr>
              <a:t>sh</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'docker ps | head -3'</a:t>
            </a:r>
          </a:p>
          <a:p>
            <a:pPr>
              <a:lnSpc>
                <a:spcPct val="100000"/>
              </a:lnSpc>
              <a:spcAft>
                <a:spcPts val="0"/>
              </a:spcAft>
            </a:pPr>
            <a:r>
              <a:rPr sz="1900" i="1">
                <a:solidFill>
                  <a:srgbClr val="8795A1"/>
                </a:solidFill>
                <a:latin typeface="Consolas"/>
              </a:rPr>
              <a:t># Anything that can reach the socket can start a privileged container</a:t>
            </a:r>
          </a:p>
          <a:p>
            <a:pPr>
              <a:lnSpc>
                <a:spcPct val="100000"/>
              </a:lnSpc>
              <a:spcAft>
                <a:spcPts val="0"/>
              </a:spcAft>
            </a:pPr>
            <a:r>
              <a:rPr sz="1900" i="1">
                <a:solidFill>
                  <a:srgbClr val="8795A1"/>
                </a:solidFill>
                <a:latin typeface="Consolas"/>
              </a:rPr>
              <a:t># with / mounted. Never grant it to something you do not fully trust.</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a:p>
            <a:pPr algn="r">
              <a:lnSpc>
                <a:spcPct val="100000"/>
              </a:lnSpc>
            </a:pPr>
            <a:r>
              <a:rPr sz="1900">
                <a:solidFill>
                  <a:srgbClr val="4F5D6A"/>
                </a:solidFill>
                <a:latin typeface="Consolas"/>
              </a:rPr>
              <a:t>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8126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5723AE5F-5C42-4179-9D59-19B16FE9D930}"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harden, measure by measure.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Now harden, measure by measure. ------------------------------- docker run --rm --user 10001:10001 alpine:3.20 id docker run --rm --cap-drop=ALL alpine:3.20 sh -c \ 'cat /proc/self/status | grep ^CapEff' # 0000000000000000 docker run --rm --read-only alpine:3.20 sh -c 'touch /x' 2&gt;&amp;1 | tail -1 docker run --rm --security-opt=no-new-privileges alpine:3.20 \ sh -c 'echo no-new-privileges set'"/>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Now harden, measure by measure. -------------------------------</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--user</a:t>
            </a:r>
            <a:r>
              <a:rPr sz="1900" i="0">
                <a:solidFill>
                  <a:srgbClr val="E8EDF2"/>
                </a:solidFill>
                <a:latin typeface="Consolas"/>
              </a:rPr>
              <a:t> </a:t>
            </a:r>
            <a:r>
              <a:rPr sz="1900" i="0">
                <a:solidFill>
                  <a:srgbClr val="F7DC6F"/>
                </a:solidFill>
                <a:latin typeface="Consolas"/>
              </a:rPr>
              <a:t>10001</a:t>
            </a:r>
            <a:r>
              <a:rPr sz="1900" i="0">
                <a:solidFill>
                  <a:srgbClr val="E8EDF2"/>
                </a:solidFill>
                <a:latin typeface="Consolas"/>
              </a:rPr>
              <a:t>:10001</a:t>
            </a:r>
            <a:r>
              <a:rPr sz="1900" i="0">
                <a:solidFill>
                  <a:srgbClr val="E8EDF2"/>
                </a:solidFill>
                <a:latin typeface="Consolas"/>
              </a:rPr>
              <a:t> </a:t>
            </a:r>
            <a:r>
              <a:rPr sz="1900" i="0">
                <a:solidFill>
                  <a:srgbClr val="E8EDF2"/>
                </a:solidFill>
                <a:latin typeface="Consolas"/>
              </a:rPr>
              <a:t>alpine:3.20</a:t>
            </a:r>
            <a:r>
              <a:rPr sz="1900" i="0">
                <a:solidFill>
                  <a:srgbClr val="E8EDF2"/>
                </a:solidFill>
                <a:latin typeface="Consolas"/>
              </a:rPr>
              <a:t> </a:t>
            </a:r>
            <a:r>
              <a:rPr sz="1900" i="0">
                <a:solidFill>
                  <a:srgbClr val="E8EDF2"/>
                </a:solidFill>
                <a:latin typeface="Consolas"/>
              </a:rPr>
              <a:t>id</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--cap-drop</a:t>
            </a:r>
            <a:r>
              <a:rPr sz="1900" i="0">
                <a:solidFill>
                  <a:srgbClr val="AEB6BF"/>
                </a:solidFill>
                <a:latin typeface="Consolas"/>
              </a:rPr>
              <a:t>=</a:t>
            </a:r>
            <a:r>
              <a:rPr sz="1900" i="0">
                <a:solidFill>
                  <a:srgbClr val="E8EDF2"/>
                </a:solidFill>
                <a:latin typeface="Consolas"/>
              </a:rPr>
              <a:t>ALL</a:t>
            </a:r>
            <a:r>
              <a:rPr sz="1900" i="0">
                <a:solidFill>
                  <a:srgbClr val="E8EDF2"/>
                </a:solidFill>
                <a:latin typeface="Consolas"/>
              </a:rPr>
              <a:t> </a:t>
            </a:r>
            <a:r>
              <a:rPr sz="1900" i="0">
                <a:solidFill>
                  <a:srgbClr val="E8EDF2"/>
                </a:solidFill>
                <a:latin typeface="Consolas"/>
              </a:rPr>
              <a:t>alpine:3.20</a:t>
            </a:r>
            <a:r>
              <a:rPr sz="1900" i="0">
                <a:solidFill>
                  <a:srgbClr val="E8EDF2"/>
                </a:solidFill>
                <a:latin typeface="Consolas"/>
              </a:rPr>
              <a:t> </a:t>
            </a:r>
            <a:r>
              <a:rPr sz="1900" i="0">
                <a:solidFill>
                  <a:srgbClr val="E8EDF2"/>
                </a:solidFill>
                <a:latin typeface="Consolas"/>
              </a:rPr>
              <a:t>sh</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'cat /proc/self/status | grep ^CapEff'</a:t>
            </a:r>
            <a:r>
              <a:rPr sz="1900" i="0">
                <a:solidFill>
                  <a:srgbClr val="E8EDF2"/>
                </a:solidFill>
                <a:latin typeface="Consolas"/>
              </a:rPr>
              <a:t>  </a:t>
            </a:r>
            <a:r>
              <a:rPr sz="1900" i="1">
                <a:solidFill>
                  <a:srgbClr val="8795A1"/>
                </a:solidFill>
                <a:latin typeface="Consolas"/>
              </a:rPr>
              <a:t># 0000000000000000</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--read-only</a:t>
            </a:r>
            <a:r>
              <a:rPr sz="1900" i="0">
                <a:solidFill>
                  <a:srgbClr val="E8EDF2"/>
                </a:solidFill>
                <a:latin typeface="Consolas"/>
              </a:rPr>
              <a:t> </a:t>
            </a:r>
            <a:r>
              <a:rPr sz="1900" i="0">
                <a:solidFill>
                  <a:srgbClr val="E8EDF2"/>
                </a:solidFill>
                <a:latin typeface="Consolas"/>
              </a:rPr>
              <a:t>alpine:3.20</a:t>
            </a:r>
            <a:r>
              <a:rPr sz="1900" i="0">
                <a:solidFill>
                  <a:srgbClr val="E8EDF2"/>
                </a:solidFill>
                <a:latin typeface="Consolas"/>
              </a:rPr>
              <a:t> </a:t>
            </a:r>
            <a:r>
              <a:rPr sz="1900" i="0">
                <a:solidFill>
                  <a:srgbClr val="E8EDF2"/>
                </a:solidFill>
                <a:latin typeface="Consolas"/>
              </a:rPr>
              <a:t>sh</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'touch /x'</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a:t>
            </a:r>
            <a:r>
              <a:rPr sz="1900" i="0">
                <a:solidFill>
                  <a:srgbClr val="AEB6BF"/>
                </a:solidFill>
                <a:latin typeface="Consolas"/>
              </a:rPr>
              <a:t>&amp;</a:t>
            </a:r>
            <a:r>
              <a:rPr sz="1900" i="0">
                <a:solidFill>
                  <a:srgbClr val="F7DC6F"/>
                </a:solidFill>
                <a:latin typeface="Consolas"/>
              </a:rPr>
              <a:t>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-1</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--security-opt</a:t>
            </a:r>
            <a:r>
              <a:rPr sz="1900" i="0">
                <a:solidFill>
                  <a:srgbClr val="AEB6BF"/>
                </a:solidFill>
                <a:latin typeface="Consolas"/>
              </a:rPr>
              <a:t>=</a:t>
            </a:r>
            <a:r>
              <a:rPr sz="1900" i="0">
                <a:solidFill>
                  <a:srgbClr val="E8EDF2"/>
                </a:solidFill>
                <a:latin typeface="Consolas"/>
              </a:rPr>
              <a:t>no-new-privileges</a:t>
            </a:r>
            <a:r>
              <a:rPr sz="1900" i="0">
                <a:solidFill>
                  <a:srgbClr val="E8EDF2"/>
                </a:solidFill>
                <a:latin typeface="Consolas"/>
              </a:rPr>
              <a:t> </a:t>
            </a:r>
            <a:r>
              <a:rPr sz="1900" i="0">
                <a:solidFill>
                  <a:srgbClr val="E8EDF2"/>
                </a:solidFill>
                <a:latin typeface="Consolas"/>
              </a:rPr>
              <a:t>alpine:3.20</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sh</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'echo no-new-privileges set'</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a:p>
            <a:pPr algn="r">
              <a:lnSpc>
                <a:spcPct val="100000"/>
              </a:lnSpc>
            </a:pPr>
            <a:r>
              <a:rPr sz="1900">
                <a:solidFill>
                  <a:srgbClr val="4F5D6A"/>
                </a:solidFill>
                <a:latin typeface="Consolas"/>
              </a:rPr>
              <a:t>34</a:t>
            </a:r>
          </a:p>
          <a:p>
            <a:pPr algn="r">
              <a:lnSpc>
                <a:spcPct val="100000"/>
              </a:lnSpc>
            </a:pPr>
            <a:r>
              <a:rPr sz="1900">
                <a:solidFill>
                  <a:srgbClr val="4F5D6A"/>
                </a:solidFill>
                <a:latin typeface="Consolas"/>
              </a:rPr>
              <a:t>35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5835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918C2DA0-47C9-4F09-BC41-A9E05C782DD6}"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Seccomp: count the system calls actually reachable.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seccomp: count the system calls actually reachable. ----------- docker run --rm --security-opt seccomp=unconfined alpine:3.20 \ sh -c 'echo unconfined: every syscall the kernel has' # The default profile already blocks ~44 of them, including some that # have historically been escape primitives. docker info --format '{{.SecurityOptions}}'"/>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seccomp: count the system calls actually reachable. -----------</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--security-opt</a:t>
            </a:r>
            <a:r>
              <a:rPr sz="1900" i="0">
                <a:solidFill>
                  <a:srgbClr val="E8EDF2"/>
                </a:solidFill>
                <a:latin typeface="Consolas"/>
              </a:rPr>
              <a:t> </a:t>
            </a:r>
            <a:r>
              <a:rPr sz="1900" i="0">
                <a:solidFill>
                  <a:srgbClr val="E8EDF2"/>
                </a:solidFill>
                <a:latin typeface="Consolas"/>
              </a:rPr>
              <a:t>seccomp</a:t>
            </a:r>
            <a:r>
              <a:rPr sz="1900" i="0">
                <a:solidFill>
                  <a:srgbClr val="AEB6BF"/>
                </a:solidFill>
                <a:latin typeface="Consolas"/>
              </a:rPr>
              <a:t>=</a:t>
            </a:r>
            <a:r>
              <a:rPr sz="1900" i="0">
                <a:solidFill>
                  <a:srgbClr val="E8EDF2"/>
                </a:solidFill>
                <a:latin typeface="Consolas"/>
              </a:rPr>
              <a:t>unconfined</a:t>
            </a:r>
            <a:r>
              <a:rPr sz="1900" i="0">
                <a:solidFill>
                  <a:srgbClr val="E8EDF2"/>
                </a:solidFill>
                <a:latin typeface="Consolas"/>
              </a:rPr>
              <a:t> </a:t>
            </a:r>
            <a:r>
              <a:rPr sz="1900" i="0">
                <a:solidFill>
                  <a:srgbClr val="E8EDF2"/>
                </a:solidFill>
                <a:latin typeface="Consolas"/>
              </a:rPr>
              <a:t>alpine:3.20</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sh</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7DCEA0"/>
                </a:solidFill>
                <a:latin typeface="Consolas"/>
              </a:rPr>
              <a:t>'echo unconfined: every syscall the kernel has'</a:t>
            </a:r>
          </a:p>
          <a:p>
            <a:pPr>
              <a:lnSpc>
                <a:spcPct val="100000"/>
              </a:lnSpc>
              <a:spcAft>
                <a:spcPts val="0"/>
              </a:spcAft>
            </a:pPr>
            <a:r>
              <a:rPr sz="1900" i="1">
                <a:solidFill>
                  <a:srgbClr val="8795A1"/>
                </a:solidFill>
                <a:latin typeface="Consolas"/>
              </a:rPr>
              <a:t># The default profile already blocks ~44 of them, including some that</a:t>
            </a:r>
          </a:p>
          <a:p>
            <a:pPr>
              <a:lnSpc>
                <a:spcPct val="100000"/>
              </a:lnSpc>
              <a:spcAft>
                <a:spcPts val="0"/>
              </a:spcAft>
            </a:pPr>
            <a:r>
              <a:rPr sz="1900" i="1">
                <a:solidFill>
                  <a:srgbClr val="8795A1"/>
                </a:solidFill>
                <a:latin typeface="Consolas"/>
              </a:rPr>
              <a:t># have historically been escape primitives.</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info</a:t>
            </a:r>
            <a:r>
              <a:rPr sz="1900" i="0">
                <a:solidFill>
                  <a:srgbClr val="E8EDF2"/>
                </a:solidFill>
                <a:latin typeface="Consolas"/>
              </a:rPr>
              <a:t> </a:t>
            </a:r>
            <a:r>
              <a:rPr sz="1900" i="0">
                <a:solidFill>
                  <a:srgbClr val="E8EDF2"/>
                </a:solidFill>
                <a:latin typeface="Consolas"/>
              </a:rPr>
              <a:t>--format</a:t>
            </a:r>
            <a:r>
              <a:rPr sz="1900" i="0">
                <a:solidFill>
                  <a:srgbClr val="E8EDF2"/>
                </a:solidFill>
                <a:latin typeface="Consolas"/>
              </a:rPr>
              <a:t> </a:t>
            </a:r>
            <a:r>
              <a:rPr sz="1900" i="0">
                <a:solidFill>
                  <a:srgbClr val="7DCEA0"/>
                </a:solidFill>
                <a:latin typeface="Consolas"/>
              </a:rPr>
              <a:t>'{{.SecurityOptions}}'</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37</a:t>
            </a:r>
          </a:p>
          <a:p>
            <a:pPr algn="r">
              <a:lnSpc>
                <a:spcPct val="100000"/>
              </a:lnSpc>
            </a:pPr>
            <a:r>
              <a:rPr sz="1900">
                <a:solidFill>
                  <a:srgbClr val="4F5D6A"/>
                </a:solidFill>
                <a:latin typeface="Consolas"/>
              </a:rPr>
              <a:t>38</a:t>
            </a:r>
          </a:p>
          <a:p>
            <a:pPr algn="r">
              <a:lnSpc>
                <a:spcPct val="100000"/>
              </a:lnSpc>
            </a:pPr>
            <a:r>
              <a:rPr sz="1900">
                <a:solidFill>
                  <a:srgbClr val="4F5D6A"/>
                </a:solidFill>
                <a:latin typeface="Consolas"/>
              </a:rPr>
              <a:t>39</a:t>
            </a:r>
          </a:p>
          <a:p>
            <a:pPr algn="r">
              <a:lnSpc>
                <a:spcPct val="100000"/>
              </a:lnSpc>
            </a:pPr>
            <a:r>
              <a:rPr sz="1900">
                <a:solidFill>
                  <a:srgbClr val="4F5D6A"/>
                </a:solidFill>
                <a:latin typeface="Consolas"/>
              </a:rPr>
              <a:t>40</a:t>
            </a:r>
          </a:p>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3543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FF4F3F5A-5B88-4FBE-8E9C-3A9BAD42F137}"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All of it together: what a hardened run looks like.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All of it together: what a hardened run looks like. ----------- docker run --rm \ --user 10001:10001 \ --cap-drop=ALL \ --security-opt=no-new-privileges \ --read-only --tmpfs /tmp \ --pids-limit 100 \ --memory 256m --cpus 0.5 \ --network none \ alpine:3.20 sh -c 'id; echo &quot;hardened&quot;; touch /tmp/ok &amp;&amp; echo &quot;tmp ok&quot;'"/>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--- 7. All of it together: what a hardened run looks like. -----------</a:t>
            </a:r>
          </a:p>
          <a:p>
            <a:pPr>
              <a:lnSpc>
                <a:spcPct val="100000"/>
              </a:lnSpc>
              <a:spcAft>
                <a:spcPts val="0"/>
              </a:spcAft>
            </a:pPr>
            <a:r>
              <a:rPr sz="1800" i="0">
                <a:solidFill>
                  <a:srgbClr val="E8EDF2"/>
                </a:solidFill>
                <a:latin typeface="Consolas"/>
              </a:rPr>
              <a:t>docker</a:t>
            </a:r>
            <a:r>
              <a:rPr sz="1800" i="0">
                <a:solidFill>
                  <a:srgbClr val="E8EDF2"/>
                </a:solidFill>
                <a:latin typeface="Consolas"/>
              </a:rPr>
              <a:t> </a:t>
            </a:r>
            <a:r>
              <a:rPr sz="1800" i="0">
                <a:solidFill>
                  <a:srgbClr val="E8EDF2"/>
                </a:solidFill>
                <a:latin typeface="Consolas"/>
              </a:rPr>
              <a:t>run</a:t>
            </a:r>
            <a:r>
              <a:rPr sz="1800" i="0">
                <a:solidFill>
                  <a:srgbClr val="E8EDF2"/>
                </a:solidFill>
                <a:latin typeface="Consolas"/>
              </a:rPr>
              <a:t> </a:t>
            </a:r>
            <a:r>
              <a:rPr sz="1800" i="0">
                <a:solidFill>
                  <a:srgbClr val="E8EDF2"/>
                </a:solidFill>
                <a:latin typeface="Consolas"/>
              </a:rPr>
              <a:t>--rm</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--user</a:t>
            </a:r>
            <a:r>
              <a:rPr sz="1800" i="0">
                <a:solidFill>
                  <a:srgbClr val="E8EDF2"/>
                </a:solidFill>
                <a:latin typeface="Consolas"/>
              </a:rPr>
              <a:t> </a:t>
            </a:r>
            <a:r>
              <a:rPr sz="1800" i="0">
                <a:solidFill>
                  <a:srgbClr val="F7DC6F"/>
                </a:solidFill>
                <a:latin typeface="Consolas"/>
              </a:rPr>
              <a:t>10001</a:t>
            </a:r>
            <a:r>
              <a:rPr sz="1800" i="0">
                <a:solidFill>
                  <a:srgbClr val="E8EDF2"/>
                </a:solidFill>
                <a:latin typeface="Consolas"/>
              </a:rPr>
              <a:t>:10001</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--cap-drop</a:t>
            </a:r>
            <a:r>
              <a:rPr sz="1800" i="0">
                <a:solidFill>
                  <a:srgbClr val="AEB6BF"/>
                </a:solidFill>
                <a:latin typeface="Consolas"/>
              </a:rPr>
              <a:t>=</a:t>
            </a:r>
            <a:r>
              <a:rPr sz="1800" i="0">
                <a:solidFill>
                  <a:srgbClr val="E8EDF2"/>
                </a:solidFill>
                <a:latin typeface="Consolas"/>
              </a:rPr>
              <a:t>ALL</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--security-opt</a:t>
            </a:r>
            <a:r>
              <a:rPr sz="1800" i="0">
                <a:solidFill>
                  <a:srgbClr val="AEB6BF"/>
                </a:solidFill>
                <a:latin typeface="Consolas"/>
              </a:rPr>
              <a:t>=</a:t>
            </a:r>
            <a:r>
              <a:rPr sz="1800" i="0">
                <a:solidFill>
                  <a:srgbClr val="E8EDF2"/>
                </a:solidFill>
                <a:latin typeface="Consolas"/>
              </a:rPr>
              <a:t>no-new-privileges</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--read-only</a:t>
            </a:r>
            <a:r>
              <a:rPr sz="1800" i="0">
                <a:solidFill>
                  <a:srgbClr val="E8EDF2"/>
                </a:solidFill>
                <a:latin typeface="Consolas"/>
              </a:rPr>
              <a:t> </a:t>
            </a:r>
            <a:r>
              <a:rPr sz="1800" i="0">
                <a:solidFill>
                  <a:srgbClr val="E8EDF2"/>
                </a:solidFill>
                <a:latin typeface="Consolas"/>
              </a:rPr>
              <a:t>--tmpfs</a:t>
            </a:r>
            <a:r>
              <a:rPr sz="1800" i="0">
                <a:solidFill>
                  <a:srgbClr val="E8EDF2"/>
                </a:solidFill>
                <a:latin typeface="Consolas"/>
              </a:rPr>
              <a:t> </a:t>
            </a:r>
            <a:r>
              <a:rPr sz="1800" i="0">
                <a:solidFill>
                  <a:srgbClr val="E8EDF2"/>
                </a:solidFill>
                <a:latin typeface="Consolas"/>
              </a:rPr>
              <a:t>/tmp</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--pids-limit</a:t>
            </a:r>
            <a:r>
              <a:rPr sz="1800" i="0">
                <a:solidFill>
                  <a:srgbClr val="E8EDF2"/>
                </a:solidFill>
                <a:latin typeface="Consolas"/>
              </a:rPr>
              <a:t> </a:t>
            </a:r>
            <a:r>
              <a:rPr sz="1800" i="0">
                <a:solidFill>
                  <a:srgbClr val="F7DC6F"/>
                </a:solidFill>
                <a:latin typeface="Consolas"/>
              </a:rPr>
              <a:t>100</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--memory</a:t>
            </a:r>
            <a:r>
              <a:rPr sz="1800" i="0">
                <a:solidFill>
                  <a:srgbClr val="E8EDF2"/>
                </a:solidFill>
                <a:latin typeface="Consolas"/>
              </a:rPr>
              <a:t> </a:t>
            </a:r>
            <a:r>
              <a:rPr sz="1800" i="0">
                <a:solidFill>
                  <a:srgbClr val="E8EDF2"/>
                </a:solidFill>
                <a:latin typeface="Consolas"/>
              </a:rPr>
              <a:t>256m</a:t>
            </a:r>
            <a:r>
              <a:rPr sz="1800" i="0">
                <a:solidFill>
                  <a:srgbClr val="E8EDF2"/>
                </a:solidFill>
                <a:latin typeface="Consolas"/>
              </a:rPr>
              <a:t> </a:t>
            </a:r>
            <a:r>
              <a:rPr sz="1800" i="0">
                <a:solidFill>
                  <a:srgbClr val="E8EDF2"/>
                </a:solidFill>
                <a:latin typeface="Consolas"/>
              </a:rPr>
              <a:t>--cpus</a:t>
            </a:r>
            <a:r>
              <a:rPr sz="1800" i="0">
                <a:solidFill>
                  <a:srgbClr val="E8EDF2"/>
                </a:solidFill>
                <a:latin typeface="Consolas"/>
              </a:rPr>
              <a:t> </a:t>
            </a:r>
            <a:r>
              <a:rPr sz="1800" i="0">
                <a:solidFill>
                  <a:srgbClr val="F7DC6F"/>
                </a:solidFill>
                <a:latin typeface="Consolas"/>
              </a:rPr>
              <a:t>0</a:t>
            </a:r>
            <a:r>
              <a:rPr sz="1800" i="0">
                <a:solidFill>
                  <a:srgbClr val="E8EDF2"/>
                </a:solidFill>
                <a:latin typeface="Consolas"/>
              </a:rPr>
              <a:t>.5</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--network</a:t>
            </a:r>
            <a:r>
              <a:rPr sz="1800" i="0">
                <a:solidFill>
                  <a:srgbClr val="E8EDF2"/>
                </a:solidFill>
                <a:latin typeface="Consolas"/>
              </a:rPr>
              <a:t> </a:t>
            </a:r>
            <a:r>
              <a:rPr sz="1800" i="0">
                <a:solidFill>
                  <a:srgbClr val="E8EDF2"/>
                </a:solidFill>
                <a:latin typeface="Consolas"/>
              </a:rPr>
              <a:t>none</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alpine:3.20</a:t>
            </a:r>
            <a:r>
              <a:rPr sz="1800" i="0">
                <a:solidFill>
                  <a:srgbClr val="E8EDF2"/>
                </a:solidFill>
                <a:latin typeface="Consolas"/>
              </a:rPr>
              <a:t> </a:t>
            </a:r>
            <a:r>
              <a:rPr sz="1800" i="0">
                <a:solidFill>
                  <a:srgbClr val="E8EDF2"/>
                </a:solidFill>
                <a:latin typeface="Consolas"/>
              </a:rPr>
              <a:t>sh</a:t>
            </a:r>
            <a:r>
              <a:rPr sz="1800" i="0">
                <a:solidFill>
                  <a:srgbClr val="E8EDF2"/>
                </a:solidFill>
                <a:latin typeface="Consolas"/>
              </a:rPr>
              <a:t> </a:t>
            </a:r>
            <a:r>
              <a:rPr sz="1800" i="0">
                <a:solidFill>
                  <a:srgbClr val="E8EDF2"/>
                </a:solidFill>
                <a:latin typeface="Consolas"/>
              </a:rPr>
              <a:t>-c</a:t>
            </a:r>
            <a:r>
              <a:rPr sz="1800" i="0">
                <a:solidFill>
                  <a:srgbClr val="E8EDF2"/>
                </a:solidFill>
                <a:latin typeface="Consolas"/>
              </a:rPr>
              <a:t> </a:t>
            </a:r>
            <a:r>
              <a:rPr sz="1800" i="0">
                <a:solidFill>
                  <a:srgbClr val="7DCEA0"/>
                </a:solidFill>
                <a:latin typeface="Consolas"/>
              </a:rPr>
              <a:t>'id; echo "hardened"; touch /tmp/ok &amp;&amp; echo "tmp ok"'</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a:p>
            <a:pPr algn="r">
              <a:lnSpc>
                <a:spcPct val="100000"/>
              </a:lnSpc>
            </a:pPr>
            <a:r>
              <a:rPr sz="1800">
                <a:solidFill>
                  <a:srgbClr val="4F5D6A"/>
                </a:solidFill>
                <a:latin typeface="Consolas"/>
              </a:rPr>
              <a:t>49</a:t>
            </a:r>
          </a:p>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a:p>
            <a:pPr algn="r">
              <a:lnSpc>
                <a:spcPct val="100000"/>
              </a:lnSpc>
            </a:pPr>
            <a:r>
              <a:rPr sz="1800">
                <a:solidFill>
                  <a:srgbClr val="4F5D6A"/>
                </a:solidFill>
                <a:latin typeface="Consolas"/>
              </a:rPr>
              <a:t>53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1251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8825952D-7946-4C98-BFA7-D1C933925F65}"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And the alternative, when none of that is enough.</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78224"/>
          </a:xfrm>
          <a:prstGeom prst="roundRect">
            <a:avLst>
              <a:gd name="adj" fmla="val 224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And the alternative, when none of that is enough. ------------- # Under Kubernetes this is one field (Chapter 11): cat &lt;&lt;'YAML' apiVersion: v1 kind: Pod metadata: name: untrusted spec: runtimeClassName: kata # a hardware boundary, per workload containers: - name: job image: registry.example/builder@sha256:9b8c... securityContext: runAsNonRoot: true runAsUser: 10001 allowPrivilegeEscalation: false readOnlyRootFilesystem: true capabilities: { drop: [&quot;ALL&quot;] } YAML"/>
          <p:cNvSpPr txBox="1"/>
          <p:nvPr/>
        </p:nvSpPr>
        <p:spPr>
          <a:xfrm>
            <a:off x="1362456" y="2523744"/>
            <a:ext cx="9987991" cy="3584447"/>
          </a:xfrm>
          <a:prstGeom prst="rect">
            <a:avLst/>
          </a:prstGeom>
          <a:noFill/>
        </p:spPr>
        <p:txBody>
          <a:bodyPr wrap="none" anchor="t" lIns="0" rIns="0" tIns="0" bIns="0">
            <a:noAutofit/>
          </a:bodyPr>
          <a:lstStyle/>
          <a:p>
            <a:pPr>
              <a:lnSpc>
                <a:spcPct val="100000"/>
              </a:lnSpc>
              <a:spcAft>
                <a:spcPts val="0"/>
              </a:spcAft>
            </a:pPr>
            <a:r>
              <a:rPr sz="1200" i="1">
                <a:solidFill>
                  <a:srgbClr val="8795A1"/>
                </a:solidFill>
                <a:latin typeface="Consolas"/>
              </a:rPr>
              <a:t># --- 8. And the alternative, when none of that is enough. -------------</a:t>
            </a:r>
          </a:p>
          <a:p>
            <a:pPr>
              <a:lnSpc>
                <a:spcPct val="100000"/>
              </a:lnSpc>
              <a:spcAft>
                <a:spcPts val="0"/>
              </a:spcAft>
            </a:pPr>
            <a:r>
              <a:rPr sz="1200" i="1">
                <a:solidFill>
                  <a:srgbClr val="8795A1"/>
                </a:solidFill>
                <a:latin typeface="Consolas"/>
              </a:rPr>
              <a:t># Under Kubernetes this is one field (Chapter 11):</a:t>
            </a:r>
          </a:p>
          <a:p>
            <a:pPr>
              <a:lnSpc>
                <a:spcPct val="100000"/>
              </a:lnSpc>
              <a:spcAft>
                <a:spcPts val="0"/>
              </a:spcAft>
            </a:pPr>
            <a:r>
              <a:rPr sz="1200" i="0">
                <a:solidFill>
                  <a:srgbClr val="E8EDF2"/>
                </a:solidFill>
                <a:latin typeface="Consolas"/>
              </a:rPr>
              <a:t>cat</a:t>
            </a:r>
            <a:r>
              <a:rPr sz="1200" i="0">
                <a:solidFill>
                  <a:srgbClr val="E8EDF2"/>
                </a:solidFill>
                <a:latin typeface="Consolas"/>
              </a:rPr>
              <a:t> </a:t>
            </a:r>
            <a:r>
              <a:rPr sz="1200" i="0">
                <a:solidFill>
                  <a:srgbClr val="7DCEA0"/>
                </a:solidFill>
                <a:latin typeface="Consolas"/>
              </a:rPr>
              <a:t>&lt;&lt;'YAML'</a:t>
            </a:r>
          </a:p>
          <a:p>
            <a:pPr>
              <a:lnSpc>
                <a:spcPct val="100000"/>
              </a:lnSpc>
              <a:spcAft>
                <a:spcPts val="0"/>
              </a:spcAft>
            </a:pPr>
            <a:r>
              <a:rPr sz="1200" i="0">
                <a:solidFill>
                  <a:srgbClr val="7DCEA0"/>
                </a:solidFill>
                <a:latin typeface="Consolas"/>
              </a:rPr>
              <a:t>apiVersion: v1</a:t>
            </a:r>
          </a:p>
          <a:p>
            <a:pPr>
              <a:lnSpc>
                <a:spcPct val="100000"/>
              </a:lnSpc>
              <a:spcAft>
                <a:spcPts val="0"/>
              </a:spcAft>
            </a:pPr>
            <a:r>
              <a:rPr sz="1200" i="0">
                <a:solidFill>
                  <a:srgbClr val="7DCEA0"/>
                </a:solidFill>
                <a:latin typeface="Consolas"/>
              </a:rPr>
              <a:t>kind: Pod</a:t>
            </a:r>
          </a:p>
          <a:p>
            <a:pPr>
              <a:lnSpc>
                <a:spcPct val="100000"/>
              </a:lnSpc>
              <a:spcAft>
                <a:spcPts val="0"/>
              </a:spcAft>
            </a:pPr>
            <a:r>
              <a:rPr sz="1200" i="0">
                <a:solidFill>
                  <a:srgbClr val="7DCEA0"/>
                </a:solidFill>
                <a:latin typeface="Consolas"/>
              </a:rPr>
              <a:t>metadata:</a:t>
            </a:r>
          </a:p>
          <a:p>
            <a:pPr>
              <a:lnSpc>
                <a:spcPct val="100000"/>
              </a:lnSpc>
              <a:spcAft>
                <a:spcPts val="0"/>
              </a:spcAft>
            </a:pPr>
            <a:r>
              <a:rPr sz="1200" i="0">
                <a:solidFill>
                  <a:srgbClr val="7DCEA0"/>
                </a:solidFill>
                <a:latin typeface="Consolas"/>
              </a:rPr>
              <a:t>  name: untrusted</a:t>
            </a:r>
          </a:p>
          <a:p>
            <a:pPr>
              <a:lnSpc>
                <a:spcPct val="100000"/>
              </a:lnSpc>
              <a:spcAft>
                <a:spcPts val="0"/>
              </a:spcAft>
            </a:pPr>
            <a:r>
              <a:rPr sz="1200" i="0">
                <a:solidFill>
                  <a:srgbClr val="7DCEA0"/>
                </a:solidFill>
                <a:latin typeface="Consolas"/>
              </a:rPr>
              <a:t>spec:</a:t>
            </a:r>
          </a:p>
          <a:p>
            <a:pPr>
              <a:lnSpc>
                <a:spcPct val="100000"/>
              </a:lnSpc>
              <a:spcAft>
                <a:spcPts val="0"/>
              </a:spcAft>
            </a:pPr>
            <a:r>
              <a:rPr sz="1200" i="0">
                <a:solidFill>
                  <a:srgbClr val="7DCEA0"/>
                </a:solidFill>
                <a:latin typeface="Consolas"/>
              </a:rPr>
              <a:t>  runtimeClassName: kata        # a hardware boundary, per workload</a:t>
            </a:r>
          </a:p>
          <a:p>
            <a:pPr>
              <a:lnSpc>
                <a:spcPct val="100000"/>
              </a:lnSpc>
              <a:spcAft>
                <a:spcPts val="0"/>
              </a:spcAft>
            </a:pPr>
            <a:r>
              <a:rPr sz="1200" i="0">
                <a:solidFill>
                  <a:srgbClr val="7DCEA0"/>
                </a:solidFill>
                <a:latin typeface="Consolas"/>
              </a:rPr>
              <a:t>  containers:</a:t>
            </a:r>
          </a:p>
          <a:p>
            <a:pPr>
              <a:lnSpc>
                <a:spcPct val="100000"/>
              </a:lnSpc>
              <a:spcAft>
                <a:spcPts val="0"/>
              </a:spcAft>
            </a:pPr>
            <a:r>
              <a:rPr sz="1200" i="0">
                <a:solidFill>
                  <a:srgbClr val="7DCEA0"/>
                </a:solidFill>
                <a:latin typeface="Consolas"/>
              </a:rPr>
              <a:t>    - name: job</a:t>
            </a:r>
          </a:p>
          <a:p>
            <a:pPr>
              <a:lnSpc>
                <a:spcPct val="100000"/>
              </a:lnSpc>
              <a:spcAft>
                <a:spcPts val="0"/>
              </a:spcAft>
            </a:pPr>
            <a:r>
              <a:rPr sz="1200" i="0">
                <a:solidFill>
                  <a:srgbClr val="7DCEA0"/>
                </a:solidFill>
                <a:latin typeface="Consolas"/>
              </a:rPr>
              <a:t>      image: registry.example/builder@sha256:9b8c...</a:t>
            </a:r>
          </a:p>
          <a:p>
            <a:pPr>
              <a:lnSpc>
                <a:spcPct val="100000"/>
              </a:lnSpc>
              <a:spcAft>
                <a:spcPts val="0"/>
              </a:spcAft>
            </a:pPr>
            <a:r>
              <a:rPr sz="1200" i="0">
                <a:solidFill>
                  <a:srgbClr val="7DCEA0"/>
                </a:solidFill>
                <a:latin typeface="Consolas"/>
              </a:rPr>
              <a:t>      securityContext:</a:t>
            </a:r>
          </a:p>
          <a:p>
            <a:pPr>
              <a:lnSpc>
                <a:spcPct val="100000"/>
              </a:lnSpc>
              <a:spcAft>
                <a:spcPts val="0"/>
              </a:spcAft>
            </a:pPr>
            <a:r>
              <a:rPr sz="1200" i="0">
                <a:solidFill>
                  <a:srgbClr val="7DCEA0"/>
                </a:solidFill>
                <a:latin typeface="Consolas"/>
              </a:rPr>
              <a:t>        runAsNonRoot: true</a:t>
            </a:r>
          </a:p>
          <a:p>
            <a:pPr>
              <a:lnSpc>
                <a:spcPct val="100000"/>
              </a:lnSpc>
              <a:spcAft>
                <a:spcPts val="0"/>
              </a:spcAft>
            </a:pPr>
            <a:r>
              <a:rPr sz="1200" i="0">
                <a:solidFill>
                  <a:srgbClr val="7DCEA0"/>
                </a:solidFill>
                <a:latin typeface="Consolas"/>
              </a:rPr>
              <a:t>        runAsUser: 10001</a:t>
            </a:r>
          </a:p>
          <a:p>
            <a:pPr>
              <a:lnSpc>
                <a:spcPct val="100000"/>
              </a:lnSpc>
              <a:spcAft>
                <a:spcPts val="0"/>
              </a:spcAft>
            </a:pPr>
            <a:r>
              <a:rPr sz="1200" i="0">
                <a:solidFill>
                  <a:srgbClr val="7DCEA0"/>
                </a:solidFill>
                <a:latin typeface="Consolas"/>
              </a:rPr>
              <a:t>        allowPrivilegeEscalation: false</a:t>
            </a:r>
          </a:p>
          <a:p>
            <a:pPr>
              <a:lnSpc>
                <a:spcPct val="100000"/>
              </a:lnSpc>
              <a:spcAft>
                <a:spcPts val="0"/>
              </a:spcAft>
            </a:pPr>
            <a:r>
              <a:rPr sz="1200" i="0">
                <a:solidFill>
                  <a:srgbClr val="7DCEA0"/>
                </a:solidFill>
                <a:latin typeface="Consolas"/>
              </a:rPr>
              <a:t>        readOnlyRootFilesystem: true</a:t>
            </a:r>
          </a:p>
          <a:p>
            <a:pPr>
              <a:lnSpc>
                <a:spcPct val="100000"/>
              </a:lnSpc>
              <a:spcAft>
                <a:spcPts val="0"/>
              </a:spcAft>
            </a:pPr>
            <a:r>
              <a:rPr sz="1200" i="0">
                <a:solidFill>
                  <a:srgbClr val="7DCEA0"/>
                </a:solidFill>
                <a:latin typeface="Consolas"/>
              </a:rPr>
              <a:t>        capabilities: { drop: ["ALL"] }</a:t>
            </a:r>
          </a:p>
          <a:p>
            <a:pPr>
              <a:lnSpc>
                <a:spcPct val="100000"/>
              </a:lnSpc>
              <a:spcAft>
                <a:spcPts val="0"/>
              </a:spcAft>
            </a:pPr>
            <a:r>
              <a:rPr sz="1200" i="0">
                <a:solidFill>
                  <a:srgbClr val="7DCEA0"/>
                </a:solidFill>
                <a:latin typeface="Consolas"/>
              </a:rPr>
              <a:t>YAML</a:t>
            </a:r>
          </a:p>
        </p:txBody>
      </p:sp>
      <p:sp>
        <p:nvSpPr>
          <p:cNvPr id="15" name="!!code-num"/>
          <p:cNvSpPr txBox="1"/>
          <p:nvPr/>
        </p:nvSpPr>
        <p:spPr>
          <a:xfrm>
            <a:off x="768096" y="2523744"/>
            <a:ext cx="393192" cy="3584447"/>
          </a:xfrm>
          <a:prstGeom prst="rect">
            <a:avLst/>
          </a:prstGeom>
          <a:noFill/>
        </p:spPr>
        <p:txBody>
          <a:bodyPr wrap="none" anchor="t" lIns="0" rIns="0" tIns="0" bIns="0">
            <a:noAutofit/>
          </a:bodyPr>
          <a:lstStyle/>
          <a:p>
            <a:pPr algn="r">
              <a:lnSpc>
                <a:spcPct val="100000"/>
              </a:lnSpc>
            </a:pPr>
            <a:r>
              <a:rPr sz="1200">
                <a:solidFill>
                  <a:srgbClr val="4F5D6A"/>
                </a:solidFill>
                <a:latin typeface="Consolas"/>
              </a:rPr>
              <a:t>55</a:t>
            </a:r>
          </a:p>
          <a:p>
            <a:pPr algn="r">
              <a:lnSpc>
                <a:spcPct val="100000"/>
              </a:lnSpc>
            </a:pPr>
            <a:r>
              <a:rPr sz="1200">
                <a:solidFill>
                  <a:srgbClr val="4F5D6A"/>
                </a:solidFill>
                <a:latin typeface="Consolas"/>
              </a:rPr>
              <a:t>56</a:t>
            </a:r>
          </a:p>
          <a:p>
            <a:pPr algn="r">
              <a:lnSpc>
                <a:spcPct val="100000"/>
              </a:lnSpc>
            </a:pPr>
            <a:r>
              <a:rPr sz="1200">
                <a:solidFill>
                  <a:srgbClr val="4F5D6A"/>
                </a:solidFill>
                <a:latin typeface="Consolas"/>
              </a:rPr>
              <a:t>57</a:t>
            </a:r>
          </a:p>
          <a:p>
            <a:pPr algn="r">
              <a:lnSpc>
                <a:spcPct val="100000"/>
              </a:lnSpc>
            </a:pPr>
            <a:r>
              <a:rPr sz="1200">
                <a:solidFill>
                  <a:srgbClr val="4F5D6A"/>
                </a:solidFill>
                <a:latin typeface="Consolas"/>
              </a:rPr>
              <a:t>58</a:t>
            </a:r>
          </a:p>
          <a:p>
            <a:pPr algn="r">
              <a:lnSpc>
                <a:spcPct val="100000"/>
              </a:lnSpc>
            </a:pPr>
            <a:r>
              <a:rPr sz="1200">
                <a:solidFill>
                  <a:srgbClr val="4F5D6A"/>
                </a:solidFill>
                <a:latin typeface="Consolas"/>
              </a:rPr>
              <a:t>59</a:t>
            </a:r>
          </a:p>
          <a:p>
            <a:pPr algn="r">
              <a:lnSpc>
                <a:spcPct val="100000"/>
              </a:lnSpc>
            </a:pPr>
            <a:r>
              <a:rPr sz="1200">
                <a:solidFill>
                  <a:srgbClr val="4F5D6A"/>
                </a:solidFill>
                <a:latin typeface="Consolas"/>
              </a:rPr>
              <a:t>60</a:t>
            </a:r>
          </a:p>
          <a:p>
            <a:pPr algn="r">
              <a:lnSpc>
                <a:spcPct val="100000"/>
              </a:lnSpc>
            </a:pPr>
            <a:r>
              <a:rPr sz="1200">
                <a:solidFill>
                  <a:srgbClr val="4F5D6A"/>
                </a:solidFill>
                <a:latin typeface="Consolas"/>
              </a:rPr>
              <a:t>61</a:t>
            </a:r>
          </a:p>
          <a:p>
            <a:pPr algn="r">
              <a:lnSpc>
                <a:spcPct val="100000"/>
              </a:lnSpc>
            </a:pPr>
            <a:r>
              <a:rPr sz="1200">
                <a:solidFill>
                  <a:srgbClr val="4F5D6A"/>
                </a:solidFill>
                <a:latin typeface="Consolas"/>
              </a:rPr>
              <a:t>62</a:t>
            </a:r>
          </a:p>
          <a:p>
            <a:pPr algn="r">
              <a:lnSpc>
                <a:spcPct val="100000"/>
              </a:lnSpc>
            </a:pPr>
            <a:r>
              <a:rPr sz="1200">
                <a:solidFill>
                  <a:srgbClr val="4F5D6A"/>
                </a:solidFill>
                <a:latin typeface="Consolas"/>
              </a:rPr>
              <a:t>63</a:t>
            </a:r>
          </a:p>
          <a:p>
            <a:pPr algn="r">
              <a:lnSpc>
                <a:spcPct val="100000"/>
              </a:lnSpc>
            </a:pPr>
            <a:r>
              <a:rPr sz="1200">
                <a:solidFill>
                  <a:srgbClr val="4F5D6A"/>
                </a:solidFill>
                <a:latin typeface="Consolas"/>
              </a:rPr>
              <a:t>64</a:t>
            </a:r>
          </a:p>
          <a:p>
            <a:pPr algn="r">
              <a:lnSpc>
                <a:spcPct val="100000"/>
              </a:lnSpc>
            </a:pPr>
            <a:r>
              <a:rPr sz="1200">
                <a:solidFill>
                  <a:srgbClr val="4F5D6A"/>
                </a:solidFill>
                <a:latin typeface="Consolas"/>
              </a:rPr>
              <a:t>65</a:t>
            </a:r>
          </a:p>
          <a:p>
            <a:pPr algn="r">
              <a:lnSpc>
                <a:spcPct val="100000"/>
              </a:lnSpc>
            </a:pPr>
            <a:r>
              <a:rPr sz="1200">
                <a:solidFill>
                  <a:srgbClr val="4F5D6A"/>
                </a:solidFill>
                <a:latin typeface="Consolas"/>
              </a:rPr>
              <a:t>66</a:t>
            </a:r>
          </a:p>
          <a:p>
            <a:pPr algn="r">
              <a:lnSpc>
                <a:spcPct val="100000"/>
              </a:lnSpc>
            </a:pPr>
            <a:r>
              <a:rPr sz="1200">
                <a:solidFill>
                  <a:srgbClr val="4F5D6A"/>
                </a:solidFill>
                <a:latin typeface="Consolas"/>
              </a:rPr>
              <a:t>67</a:t>
            </a:r>
          </a:p>
          <a:p>
            <a:pPr algn="r">
              <a:lnSpc>
                <a:spcPct val="100000"/>
              </a:lnSpc>
            </a:pPr>
            <a:r>
              <a:rPr sz="1200">
                <a:solidFill>
                  <a:srgbClr val="4F5D6A"/>
                </a:solidFill>
                <a:latin typeface="Consolas"/>
              </a:rPr>
              <a:t>68</a:t>
            </a:r>
          </a:p>
          <a:p>
            <a:pPr algn="r">
              <a:lnSpc>
                <a:spcPct val="100000"/>
              </a:lnSpc>
            </a:pPr>
            <a:r>
              <a:rPr sz="1200">
                <a:solidFill>
                  <a:srgbClr val="4F5D6A"/>
                </a:solidFill>
                <a:latin typeface="Consolas"/>
              </a:rPr>
              <a:t>69</a:t>
            </a:r>
          </a:p>
          <a:p>
            <a:pPr algn="r">
              <a:lnSpc>
                <a:spcPct val="100000"/>
              </a:lnSpc>
            </a:pPr>
            <a:r>
              <a:rPr sz="1200">
                <a:solidFill>
                  <a:srgbClr val="4F5D6A"/>
                </a:solidFill>
                <a:latin typeface="Consolas"/>
              </a:rPr>
              <a:t>70</a:t>
            </a:r>
          </a:p>
          <a:p>
            <a:pPr algn="r">
              <a:lnSpc>
                <a:spcPct val="100000"/>
              </a:lnSpc>
            </a:pPr>
            <a:r>
              <a:rPr sz="1200">
                <a:solidFill>
                  <a:srgbClr val="4F5D6A"/>
                </a:solidFill>
                <a:latin typeface="Consolas"/>
              </a:rPr>
              <a:t>71</a:t>
            </a:r>
          </a:p>
          <a:p>
            <a:pPr algn="r">
              <a:lnSpc>
                <a:spcPct val="100000"/>
              </a:lnSpc>
            </a:pPr>
            <a:r>
              <a:rPr sz="1200">
                <a:solidFill>
                  <a:srgbClr val="4F5D6A"/>
                </a:solidFill>
                <a:latin typeface="Consolas"/>
              </a:rPr>
              <a:t>72</a:t>
            </a:r>
          </a:p>
          <a:p>
            <a:pPr algn="r">
              <a:lnSpc>
                <a:spcPct val="100000"/>
              </a:lnSpc>
            </a:pPr>
            <a:r>
              <a:rPr sz="1200">
                <a:solidFill>
                  <a:srgbClr val="4F5D6A"/>
                </a:solidFill>
                <a:latin typeface="Consolas"/>
              </a:rPr>
              <a:t>73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58960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Hardening a Container, and Proving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FAF58BB2-84F4-4F22-8340-3FACD84F704B}" type="slidenum">
              <a:rPr lang="en-GB" sz="1000">
                <a:solidFill>
                  <a:srgbClr val="8795A1"/>
                </a:solidFill>
                <a:latin typeface="Segoe UI"/>
              </a:rPr>
              <a:t>32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Inventory your own estate for the two fatal flags.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209544"/>
          </a:xfrm>
          <a:prstGeom prst="roundRect">
            <a:avLst>
              <a:gd name="adj" fmla="val 284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9. Inventory your own estate for the two fatal flags. ------------ docker ps -q | while read -r c; do priv=$(docker inspect -f '{{.HostConfig.Privileged}}' &quot;$c&quot;) sock=$(docker inspect -f '{{range .Mounts}}{{.Source}} {{end}}' &quot;$c&quot; \ | grep -c docker.sock || true) [ &quot;$priv&quot; = &quot;true&quot; ] &amp;&amp; echo &quot;PRIVILEGED: $c&quot; [ &quot;$sock&quot; != &quot;0&quot; ] &amp;&amp; echo &quot;DOCKER SOCKET MOUNTED: $c&quot; done echo &quot;inventory complete&quot;"/>
          <p:cNvSpPr txBox="1"/>
          <p:nvPr/>
        </p:nvSpPr>
        <p:spPr>
          <a:xfrm>
            <a:off x="1362456" y="2523744"/>
            <a:ext cx="9987991" cy="271576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--- 9. Inventory your own estate for the two fatal flags. ------------</a:t>
            </a:r>
          </a:p>
          <a:p>
            <a:pPr>
              <a:lnSpc>
                <a:spcPct val="100000"/>
              </a:lnSpc>
              <a:spcAft>
                <a:spcPts val="0"/>
              </a:spcAft>
            </a:pP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ps</a:t>
            </a:r>
            <a:r>
              <a:rPr sz="1900" i="0">
                <a:solidFill>
                  <a:srgbClr val="E8EDF2"/>
                </a:solidFill>
                <a:latin typeface="Consolas"/>
              </a:rPr>
              <a:t> </a:t>
            </a:r>
            <a:r>
              <a:rPr sz="1900" i="0">
                <a:solidFill>
                  <a:srgbClr val="E8EDF2"/>
                </a:solidFill>
                <a:latin typeface="Consolas"/>
              </a:rPr>
              <a:t>-q</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while</a:t>
            </a:r>
            <a:r>
              <a:rPr sz="1900" i="0">
                <a:solidFill>
                  <a:srgbClr val="E8EDF2"/>
                </a:solidFill>
                <a:latin typeface="Consolas"/>
              </a:rPr>
              <a:t> </a:t>
            </a:r>
            <a:r>
              <a:rPr sz="1900" i="0">
                <a:solidFill>
                  <a:srgbClr val="C39BD3"/>
                </a:solidFill>
                <a:latin typeface="Consolas"/>
              </a:rPr>
              <a:t>read</a:t>
            </a:r>
            <a:r>
              <a:rPr sz="1900" i="0">
                <a:solidFill>
                  <a:srgbClr val="E8EDF2"/>
                </a:solidFill>
                <a:latin typeface="Consolas"/>
              </a:rPr>
              <a:t> </a:t>
            </a:r>
            <a:r>
              <a:rPr sz="1900" i="0">
                <a:solidFill>
                  <a:srgbClr val="E8EDF2"/>
                </a:solidFill>
                <a:latin typeface="Consolas"/>
              </a:rPr>
              <a:t>-r</a:t>
            </a:r>
            <a:r>
              <a:rPr sz="1900" i="0">
                <a:solidFill>
                  <a:srgbClr val="E8EDF2"/>
                </a:solidFill>
                <a:latin typeface="Consolas"/>
              </a:rPr>
              <a:t> </a:t>
            </a:r>
            <a:r>
              <a:rPr sz="1900" i="0">
                <a:solidFill>
                  <a:srgbClr val="E8EDF2"/>
                </a:solidFill>
                <a:latin typeface="Consolas"/>
              </a:rPr>
              <a:t>c</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E8EDF2"/>
                </a:solidFill>
                <a:latin typeface="Consolas"/>
              </a:rPr>
              <a:t>priv</a:t>
            </a:r>
            <a:r>
              <a:rPr sz="1900" i="0">
                <a:solidFill>
                  <a:srgbClr val="AEB6BF"/>
                </a:solidFill>
                <a:latin typeface="Consolas"/>
              </a:rPr>
              <a:t>=</a:t>
            </a:r>
            <a:r>
              <a:rPr sz="1900" i="0">
                <a:solidFill>
                  <a:srgbClr val="5DADE2"/>
                </a:solidFill>
                <a:latin typeface="Consolas"/>
              </a:rPr>
              <a:t>$(</a:t>
            </a: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inspect</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7DCEA0"/>
                </a:solidFill>
                <a:latin typeface="Consolas"/>
              </a:rPr>
              <a:t>'{{.HostConfig.Privileged}}'</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$c</a:t>
            </a:r>
            <a:r>
              <a:rPr sz="1900" i="0">
                <a:solidFill>
                  <a:srgbClr val="7DCEA0"/>
                </a:solidFill>
                <a:latin typeface="Consolas"/>
              </a:rPr>
              <a:t>"</a:t>
            </a:r>
            <a:r>
              <a:rPr sz="1900" i="0">
                <a:solidFill>
                  <a:srgbClr val="5DADE2"/>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sock</a:t>
            </a:r>
            <a:r>
              <a:rPr sz="1900" i="0">
                <a:solidFill>
                  <a:srgbClr val="AEB6BF"/>
                </a:solidFill>
                <a:latin typeface="Consolas"/>
              </a:rPr>
              <a:t>=</a:t>
            </a:r>
            <a:r>
              <a:rPr sz="1900" i="0">
                <a:solidFill>
                  <a:srgbClr val="5DADE2"/>
                </a:solidFill>
                <a:latin typeface="Consolas"/>
              </a:rPr>
              <a:t>$(</a:t>
            </a: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inspect</a:t>
            </a:r>
            <a:r>
              <a:rPr sz="1900" i="0">
                <a:solidFill>
                  <a:srgbClr val="E8EDF2"/>
                </a:solidFill>
                <a:latin typeface="Consolas"/>
              </a:rPr>
              <a:t> </a:t>
            </a:r>
            <a:r>
              <a:rPr sz="1900" i="0">
                <a:solidFill>
                  <a:srgbClr val="E8EDF2"/>
                </a:solidFill>
                <a:latin typeface="Consolas"/>
              </a:rPr>
              <a:t>-f</a:t>
            </a:r>
            <a:r>
              <a:rPr sz="1900" i="0">
                <a:solidFill>
                  <a:srgbClr val="E8EDF2"/>
                </a:solidFill>
                <a:latin typeface="Consolas"/>
              </a:rPr>
              <a:t> </a:t>
            </a:r>
            <a:r>
              <a:rPr sz="1900" i="0">
                <a:solidFill>
                  <a:srgbClr val="7DCEA0"/>
                </a:solidFill>
                <a:latin typeface="Consolas"/>
              </a:rPr>
              <a:t>'{{range .Mounts}}{{.Source}} {{end}}'</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$c</a:t>
            </a:r>
            <a:r>
              <a:rPr sz="1900" i="0">
                <a:solidFill>
                  <a:srgbClr val="7DCEA0"/>
                </a:solidFill>
                <a:latin typeface="Consolas"/>
              </a:rPr>
              <a: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-c</a:t>
            </a:r>
            <a:r>
              <a:rPr sz="1900" i="0">
                <a:solidFill>
                  <a:srgbClr val="E8EDF2"/>
                </a:solidFill>
                <a:latin typeface="Consolas"/>
              </a:rPr>
              <a:t> </a:t>
            </a:r>
            <a:r>
              <a:rPr sz="1900" i="0">
                <a:solidFill>
                  <a:srgbClr val="E8EDF2"/>
                </a:solidFill>
                <a:latin typeface="Consolas"/>
              </a:rPr>
              <a:t>docker.sock</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r>
              <a:rPr sz="1900" i="0">
                <a:solidFill>
                  <a:srgbClr val="5DADE2"/>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$priv</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"true"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PRIVILEGED: </a:t>
            </a:r>
            <a:r>
              <a:rPr sz="1900" i="0">
                <a:solidFill>
                  <a:srgbClr val="E8EDF2"/>
                </a:solidFill>
                <a:latin typeface="Consolas"/>
              </a:rPr>
              <a:t>$c</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$sock</a:t>
            </a:r>
            <a:r>
              <a:rPr sz="1900" i="0">
                <a:solidFill>
                  <a:srgbClr val="7DCEA0"/>
                </a:solidFill>
                <a:latin typeface="Consolas"/>
              </a:rPr>
              <a:t>"</a:t>
            </a:r>
            <a:r>
              <a:rPr sz="1900" i="0">
                <a:solidFill>
                  <a:srgbClr val="E8EDF2"/>
                </a:solidFill>
                <a:latin typeface="Consolas"/>
              </a:rPr>
              <a:t> </a:t>
            </a:r>
            <a:r>
              <a:rPr sz="1900" i="0">
                <a:solidFill>
                  <a:srgbClr val="E8EDF2"/>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"0"</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DOCKER SOCKET MOUNTED: </a:t>
            </a:r>
            <a:r>
              <a:rPr sz="1900" i="0">
                <a:solidFill>
                  <a:srgbClr val="E8EDF2"/>
                </a:solidFill>
                <a:latin typeface="Consolas"/>
              </a:rPr>
              <a:t>$c</a:t>
            </a:r>
            <a:r>
              <a:rPr sz="1900" i="0">
                <a:solidFill>
                  <a:srgbClr val="7DCEA0"/>
                </a:solidFill>
                <a:latin typeface="Consolas"/>
              </a:rPr>
              <a:t>"</a:t>
            </a:r>
          </a:p>
          <a:p>
            <a:pPr>
              <a:lnSpc>
                <a:spcPct val="100000"/>
              </a:lnSpc>
              <a:spcAft>
                <a:spcPts val="0"/>
              </a:spcAft>
            </a:pPr>
            <a:r>
              <a:rPr sz="1900" i="0">
                <a:solidFill>
                  <a:srgbClr val="5DADE2"/>
                </a:solidFill>
                <a:latin typeface="Consolas"/>
              </a:rPr>
              <a:t>done</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"inventory complete"</a:t>
            </a:r>
          </a:p>
        </p:txBody>
      </p:sp>
      <p:sp>
        <p:nvSpPr>
          <p:cNvPr id="15" name="!!code-num"/>
          <p:cNvSpPr txBox="1"/>
          <p:nvPr/>
        </p:nvSpPr>
        <p:spPr>
          <a:xfrm>
            <a:off x="768096" y="2523744"/>
            <a:ext cx="393192" cy="271576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75</a:t>
            </a:r>
          </a:p>
          <a:p>
            <a:pPr algn="r">
              <a:lnSpc>
                <a:spcPct val="100000"/>
              </a:lnSpc>
            </a:pPr>
            <a:r>
              <a:rPr sz="1900">
                <a:solidFill>
                  <a:srgbClr val="4F5D6A"/>
                </a:solidFill>
                <a:latin typeface="Consolas"/>
              </a:rPr>
              <a:t>76</a:t>
            </a:r>
          </a:p>
          <a:p>
            <a:pPr algn="r">
              <a:lnSpc>
                <a:spcPct val="100000"/>
              </a:lnSpc>
            </a:pPr>
            <a:r>
              <a:rPr sz="1900">
                <a:solidFill>
                  <a:srgbClr val="4F5D6A"/>
                </a:solidFill>
                <a:latin typeface="Consolas"/>
              </a:rPr>
              <a:t>77</a:t>
            </a:r>
          </a:p>
          <a:p>
            <a:pPr algn="r">
              <a:lnSpc>
                <a:spcPct val="100000"/>
              </a:lnSpc>
            </a:pPr>
            <a:r>
              <a:rPr sz="1900">
                <a:solidFill>
                  <a:srgbClr val="4F5D6A"/>
                </a:solidFill>
                <a:latin typeface="Consolas"/>
              </a:rPr>
              <a:t>78</a:t>
            </a:r>
          </a:p>
          <a:p>
            <a:pPr algn="r">
              <a:lnSpc>
                <a:spcPct val="100000"/>
              </a:lnSpc>
            </a:pPr>
            <a:r>
              <a:rPr sz="1900">
                <a:solidFill>
                  <a:srgbClr val="4F5D6A"/>
                </a:solidFill>
                <a:latin typeface="Consolas"/>
              </a:rPr>
              <a:t>79</a:t>
            </a:r>
          </a:p>
          <a:p>
            <a:pPr algn="r">
              <a:lnSpc>
                <a:spcPct val="100000"/>
              </a:lnSpc>
            </a:pPr>
            <a:r>
              <a:rPr sz="1900">
                <a:solidFill>
                  <a:srgbClr val="4F5D6A"/>
                </a:solidFill>
                <a:latin typeface="Consolas"/>
              </a:rPr>
              <a:t>80</a:t>
            </a:r>
          </a:p>
          <a:p>
            <a:pPr algn="r">
              <a:lnSpc>
                <a:spcPct val="100000"/>
              </a:lnSpc>
            </a:pPr>
            <a:r>
              <a:rPr sz="1900">
                <a:solidFill>
                  <a:srgbClr val="4F5D6A"/>
                </a:solidFill>
                <a:latin typeface="Consolas"/>
              </a:rPr>
              <a:t>81</a:t>
            </a:r>
          </a:p>
          <a:p>
            <a:pPr algn="r">
              <a:lnSpc>
                <a:spcPct val="100000"/>
              </a:lnSpc>
            </a:pPr>
            <a:r>
              <a:rPr sz="1900">
                <a:solidFill>
                  <a:srgbClr val="4F5D6A"/>
                </a:solidFill>
                <a:latin typeface="Consolas"/>
              </a:rPr>
              <a:t>82</a:t>
            </a:r>
          </a:p>
          <a:p>
            <a:pPr algn="r">
              <a:lnSpc>
                <a:spcPct val="100000"/>
              </a:lnSpc>
            </a:pPr>
            <a:r>
              <a:rPr sz="1900">
                <a:solidFill>
                  <a:srgbClr val="4F5D6A"/>
                </a:solidFill>
                <a:latin typeface="Consolas"/>
              </a:rPr>
              <a:t>83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86668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§19.6  ·  Handout p. 153     </a:t>
            </a:r>
            <a:fld id="{CC6CF87D-DDE4-4619-99ED-8FB4DE4F9F2D}" type="slidenum">
              <a:rPr lang="en-GB" sz="1000">
                <a:solidFill>
                  <a:srgbClr val="8795A1"/>
                </a:solidFill>
                <a:latin typeface="Segoe UI"/>
              </a:rPr>
              <a:t>33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3 is not an exploit — nothing was broken and no vulnerability was used. The flag was given, so the boundary was never there. Most real container “escapes” in the wild are this, and step 9 is how you find out whether your estate has any.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An estate has 25 hosts, 600 guests and one management server. Compute the blast radius of a guest compromise, a VM escape and a management-plane compromise, and say which you would defend first.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19  ·  Security in Virtualized Environments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158  ·  answers in Appendix D     </a:t>
            </a:r>
            <a:fld id="{4B39E9EB-241B-4FEA-ABE8-F237F5AB8904}"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An estate has 25 hosts, 600 guests and one management server. Compute the blast radius of a guest compromise, a VM escape and a management-plane compromise, and say which you would defend first.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Guest compromise: </a:t>
            </a:r>
            <a:r>
              <a:rPr sz="2200" b="0" i="0">
                <a:solidFill>
                  <a:srgbClr val="1C252B"/>
                </a:solidFill>
                <a:latin typeface="Cambria"/>
              </a:rPr>
              <a:t>1/600 = </a:t>
            </a:r>
            <a:r>
              <a:rPr sz="2200" b="1" i="0">
                <a:solidFill>
                  <a:srgbClr val="1C252B"/>
                </a:solidFill>
                <a:latin typeface="Cambria"/>
              </a:rPr>
              <a:t>0.17%</a:t>
            </a:r>
            <a:r>
              <a:rPr sz="2200" b="0" i="0">
                <a:solidFill>
                  <a:srgbClr val="1C252B"/>
                </a:solidFill>
                <a:latin typeface="Segoe UI"/>
              </a:rPr>
              <a:t>. VM escape: a host carries </a:t>
            </a:r>
            <a:r>
              <a:rPr sz="2200" b="0" i="0">
                <a:solidFill>
                  <a:srgbClr val="1C252B"/>
                </a:solidFill>
                <a:latin typeface="Cambria"/>
              </a:rPr>
              <a:t>600/25 = 24</a:t>
            </a:r>
            <a:r>
              <a:rPr sz="2200" b="0" i="0">
                <a:solidFill>
                  <a:srgbClr val="1C252B"/>
                </a:solidFill>
                <a:latin typeface="Segoe UI"/>
              </a:rPr>
              <a:t> guests, so </a:t>
            </a:r>
            <a:r>
              <a:rPr sz="2200" b="0" i="0">
                <a:solidFill>
                  <a:srgbClr val="1C252B"/>
                </a:solidFill>
                <a:latin typeface="Cambria"/>
              </a:rPr>
              <a:t>24/600 = </a:t>
            </a:r>
            <a:r>
              <a:rPr sz="2200" b="1" i="0">
                <a:solidFill>
                  <a:srgbClr val="1C252B"/>
                </a:solidFill>
                <a:latin typeface="Cambria"/>
              </a:rPr>
              <a:t>4%</a:t>
            </a:r>
            <a:r>
              <a:rPr sz="2200" b="0" i="0">
                <a:solidFill>
                  <a:srgbClr val="1C252B"/>
                </a:solidFill>
                <a:latin typeface="Segoe UI"/>
              </a:rPr>
              <a:t>. Management plane: </a:t>
            </a:r>
            <a:r>
              <a:rPr sz="2200" b="1" i="0">
                <a:solidFill>
                  <a:srgbClr val="1C252B"/>
                </a:solidFill>
                <a:latin typeface="Cambria"/>
              </a:rPr>
              <a:t>100%</a:t>
            </a:r>
            <a:r>
              <a:rPr sz="2200" b="0" i="0">
                <a:solidFill>
                  <a:srgbClr val="1C252B"/>
                </a:solidFill>
                <a:latin typeface="Segoe UI"/>
              </a:rPr>
              <a:t>. </a:t>
            </a:r>
            <a:r>
              <a:rPr sz="2200" b="1" i="0">
                <a:solidFill>
                  <a:srgbClr val="1C252B"/>
                </a:solidFill>
                <a:latin typeface="Segoe UI"/>
              </a:rPr>
              <a:t>Defend the management plane first</a:t>
            </a:r>
            <a:r>
              <a:rPr sz="2200" b="0" i="0">
                <a:solidFill>
                  <a:srgbClr val="1C252B"/>
                </a:solidFill>
                <a:latin typeface="Segoe UI"/>
              </a:rPr>
              <a:t> — it is 25 times the reach of an escape, it needs no foothold inside any guest, and it is reachable over the network. Do not forget the storage array, which holds all 600 guests’ disks and is usually less hardened.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158  ·  answers in Appendix D     </a:t>
            </a:r>
            <a:fld id="{F6F43691-A691-4164-A44A-82E3ECC3B287}"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69793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why disabling SMT is sometimes the only sound answer to a side channel, and what it costs.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19  ·  Security in Virtualized Environments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158  ·  answers in Appendix D     </a:t>
            </a:r>
            <a:fld id="{1FBD48F4-F832-4C89-95ED-7E63B6D0DFE6}"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why disabling SMT is sometimes the only sound answer to a side channel, and what it costs.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Two hardware threads on one core share caches, branch predictors and execution resources almost completely, so a side channel between them cannot be closed by flushing at VM entry — the two threads are running </a:t>
            </a:r>
            <a:r>
              <a:rPr sz="2200" b="0" i="1">
                <a:solidFill>
                  <a:srgbClr val="1C252B"/>
                </a:solidFill>
                <a:latin typeface="Segoe UI"/>
              </a:rPr>
              <a:t>simultaneously</a:t>
            </a:r>
            <a:r>
              <a:rPr sz="2200" b="0" i="0">
                <a:solidFill>
                  <a:srgbClr val="1C252B"/>
                </a:solidFill>
                <a:latin typeface="Segoe UI"/>
              </a:rPr>
              <a:t>, not alternately. Where the neighbours are strictly untrusted, the only reliable answer is to stop using the second thread. It costs </a:t>
            </a:r>
            <a:r>
              <a:rPr sz="2200" b="1" i="0">
                <a:solidFill>
                  <a:srgbClr val="1C252B"/>
                </a:solidFill>
                <a:latin typeface="Segoe UI"/>
              </a:rPr>
              <a:t>15–30% of the host’s apparent capacity</a:t>
            </a:r>
            <a:r>
              <a:rPr sz="2200" b="0" i="0">
                <a:solidFill>
                  <a:srgbClr val="1C252B"/>
                </a:solidFill>
                <a:latin typeface="Segoe UI"/>
              </a:rPr>
              <a:t>. Core scheduling recovers much of that by allowing SMT only between siblings of the same guest.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158  ·  answers in Appendix D     </a:t>
            </a:r>
            <a:fld id="{4F3291DA-C366-4AEC-B448-E07EF17F8E22}"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5210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monitoring vendor’s agent requires </a:t>
            </a:r>
            <a:r>
              <a:rPr sz="3200" b="0" i="0">
                <a:solidFill>
                  <a:srgbClr val="FFFFFF"/>
                </a:solidFill>
                <a:latin typeface="Consolas"/>
              </a:rPr>
              <a:t>--privileged</a:t>
            </a:r>
            <a:r>
              <a:rPr sz="3400" b="0" i="0">
                <a:solidFill>
                  <a:srgbClr val="FFFFFF"/>
                </a:solidFill>
                <a:latin typeface="Segoe UI Semibold"/>
              </a:rPr>
              <a:t> and a mount of the Docker socket. State what you are being asked to grant, and give two alternatives.</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19  ·  Security in Virtualized Environments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158  ·  answers in Appendix D     </a:t>
            </a:r>
            <a:fld id="{AE1EFD60-5CCE-49A9-A4BA-BFD360530FF2}" type="slidenum">
              <a:rPr lang="en-GB" sz="1000">
                <a:solidFill>
                  <a:srgbClr val="D5DEE5"/>
                </a:solidFill>
                <a:latin typeface="Segoe UI"/>
              </a:rPr>
              <a:t>38</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monitoring vendor’s agent requires </a:t>
            </a:r>
            <a:r>
              <a:rPr sz="2250" b="0" i="0">
                <a:solidFill>
                  <a:srgbClr val="1A5276"/>
                </a:solidFill>
                <a:latin typeface="Consolas"/>
              </a:rPr>
              <a:t>--privileged</a:t>
            </a:r>
            <a:r>
              <a:rPr sz="2400" b="0" i="0">
                <a:solidFill>
                  <a:srgbClr val="1A5276"/>
                </a:solidFill>
                <a:latin typeface="Segoe UI Semibold"/>
              </a:rPr>
              <a:t> and a mount of the Docker socket. State what you are being asked to grant, and give two alternatives.</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You are being asked to grant </a:t>
            </a:r>
            <a:r>
              <a:rPr sz="2200" b="1" i="0">
                <a:solidFill>
                  <a:srgbClr val="1C252B"/>
                </a:solidFill>
                <a:latin typeface="Segoe UI"/>
              </a:rPr>
              <a:t>host root, twice over</a:t>
            </a:r>
            <a:r>
              <a:rPr sz="2200" b="0" i="0">
                <a:solidFill>
                  <a:srgbClr val="1C252B"/>
                </a:solidFill>
                <a:latin typeface="Segoe UI"/>
              </a:rPr>
              <a:t>. </a:t>
            </a:r>
            <a:r>
              <a:rPr sz="2050" b="0" i="0">
                <a:solidFill>
                  <a:srgbClr val="1F4E79"/>
                </a:solidFill>
                <a:latin typeface="Consolas"/>
              </a:rPr>
              <a:t>--privileged</a:t>
            </a:r>
            <a:r>
              <a:rPr sz="2200" b="0" i="0">
                <a:solidFill>
                  <a:srgbClr val="1C252B"/>
                </a:solidFill>
                <a:latin typeface="Segoe UI"/>
              </a:rPr>
              <a:t> grants all capabilities and disables seccomp and AppArmor; the Docker socket allows the agent to start a new container with the host filesystem mounted and privileges set, which is the same thing by another route. Alternatives: (i) run the agent as a host process under systemd with specific, scoped permissions rather than as a container; (ii) give it a read-only, scoped API credential — most monitoring needs metrics, not the socket — and if the vendor cannot work without either, run it where it shares a kernel with nothing you care about.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158  ·  answers in Appendix D     </a:t>
            </a:r>
            <a:fld id="{EDA7D786-B428-496B-A0AE-BBA0B94AE90F}" type="slidenum">
              <a:rPr lang="en-GB" sz="1000">
                <a:solidFill>
                  <a:srgbClr val="8795A1"/>
                </a:solidFill>
                <a:latin typeface="Segoe UI"/>
              </a:rPr>
              <a:t>39</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806275"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158     </a:t>
            </a:r>
            <a:fld id="{7F6C1A1A-D288-46CB-BCB8-13EE24F6788B}" type="slidenum">
              <a:rPr lang="en-GB" sz="1000">
                <a:solidFill>
                  <a:srgbClr val="8795A1"/>
                </a:solidFill>
                <a:latin typeface="Segoe UI"/>
              </a:rPr>
              <a:t>40</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Virtualization is good for security on balance, and it added two things: privileged software under every workload, and a control plane that reaches every machine.</a:t>
            </a:r>
          </a:p>
        </p:txBody>
      </p:sp>
      <p:sp>
        <p:nvSpPr>
          <p:cNvPr id="10" name="!!sb1">
            <a:extLst>
              <a:ext uri="{C183D7F6-B498-43B3-948B-1728B52AA6E4}">
                <adec:decorative xmlns:adec="http://schemas.microsoft.com/office/drawing/2017/decorative" val="1"/>
              </a:ext>
            </a:extLst>
          </p:cNvPr>
          <p:cNvSpPr/>
          <p:nvPr/>
        </p:nvSpPr>
        <p:spPr>
          <a:xfrm>
            <a:off x="658368" y="253166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8653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2252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VM escapes are overwhelmingly in </a:t>
            </a:r>
            <a:r>
              <a:rPr sz="1900" b="0" i="1">
                <a:solidFill>
                  <a:srgbClr val="1C252B"/>
                </a:solidFill>
                <a:latin typeface="Segoe UI"/>
              </a:rPr>
              <a:t>device models</a:t>
            </a:r>
            <a:r>
              <a:rPr sz="1900" b="0" i="0">
                <a:solidFill>
                  <a:srgbClr val="1C252B"/>
                </a:solidFill>
                <a:latin typeface="Segoe UI"/>
              </a:rPr>
              <a:t> — code parsing hostile input with hypervisor privileges — not in the hypervisor core. CVE-2026-47876 was in a paravirtual network adapter.</a:t>
            </a:r>
          </a:p>
        </p:txBody>
      </p:sp>
      <p:sp>
        <p:nvSpPr>
          <p:cNvPr id="13" name="!!sb2">
            <a:extLst>
              <a:ext uri="{C183D7F6-B498-43B3-948B-1728B52AA6E4}">
                <adec:decorative xmlns:adec="http://schemas.microsoft.com/office/drawing/2017/decorative" val="1"/>
              </a:ext>
            </a:extLst>
          </p:cNvPr>
          <p:cNvSpPr/>
          <p:nvPr/>
        </p:nvSpPr>
        <p:spPr>
          <a:xfrm>
            <a:off x="658368" y="331683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37169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0768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Blast radius beats severity score. In the worked example an escape reached 2.5% of the estate and a management-plane flaw reached 100%, with no guest foothold required.</a:t>
            </a:r>
          </a:p>
        </p:txBody>
      </p:sp>
      <p:sp>
        <p:nvSpPr>
          <p:cNvPr id="16" name="!!sb3">
            <a:extLst>
              <a:ext uri="{C183D7F6-B498-43B3-948B-1728B52AA6E4}">
                <adec:decorative xmlns:adec="http://schemas.microsoft.com/office/drawing/2017/decorative" val="1"/>
              </a:ext>
            </a:extLst>
          </p:cNvPr>
          <p:cNvSpPr/>
          <p:nvPr/>
        </p:nvSpPr>
        <p:spPr>
          <a:xfrm>
            <a:off x="658368" y="410199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5686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09285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Side channels are not software faults. Mitigations attack the sharing that makes hardware fast, and disabling SMT costs 15–30% of capacity. Decide deliberately and write it down.</a:t>
            </a:r>
          </a:p>
        </p:txBody>
      </p:sp>
      <p:sp>
        <p:nvSpPr>
          <p:cNvPr id="19" name="!!sb4">
            <a:extLst>
              <a:ext uri="{C183D7F6-B498-43B3-948B-1728B52AA6E4}">
                <adec:decorative xmlns:adec="http://schemas.microsoft.com/office/drawing/2017/decorative" val="1"/>
              </a:ext>
            </a:extLst>
          </p:cNvPr>
          <p:cNvSpPr/>
          <p:nvPr/>
        </p:nvSpPr>
        <p:spPr>
          <a:xfrm>
            <a:off x="658368" y="488716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4202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78019"/>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Containers share a kernel. </a:t>
            </a:r>
            <a:r>
              <a:rPr sz="1800" b="0" i="0">
                <a:solidFill>
                  <a:srgbClr val="1F4E79"/>
                </a:solidFill>
                <a:latin typeface="Consolas"/>
              </a:rPr>
              <a:t>--privileged</a:t>
            </a:r>
            <a:r>
              <a:rPr sz="1900" b="0" i="0">
                <a:solidFill>
                  <a:srgbClr val="1C252B"/>
                </a:solidFill>
                <a:latin typeface="Segoe UI"/>
              </a:rPr>
              <a:t> and the Docker socket are each equivalent to host root.</a:t>
            </a:r>
          </a:p>
        </p:txBody>
      </p:sp>
      <p:sp>
        <p:nvSpPr>
          <p:cNvPr id="22" name="!!sb5">
            <a:extLst>
              <a:ext uri="{C183D7F6-B498-43B3-948B-1728B52AA6E4}">
                <adec:decorative xmlns:adec="http://schemas.microsoft.com/office/drawing/2017/decorative" val="1"/>
              </a:ext>
            </a:extLst>
          </p:cNvPr>
          <p:cNvSpPr/>
          <p:nvPr/>
        </p:nvSpPr>
        <p:spPr>
          <a:xfrm>
            <a:off x="658368" y="56723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7271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663184"/>
            <a:ext cx="102348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Harden in blast-radius order: management plane, hypervisor patching, device surface, segmentation, containers, SMT decision, backups.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83359"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158     </a:t>
            </a:r>
            <a:fld id="{97AB6040-9F87-479A-945C-D152318DD628}"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Most hypervisor escapes are found in: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VMX instruction handling</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extended page tables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device models</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scheduler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60443"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158     </a:t>
            </a:r>
            <a:fld id="{3AE53F39-DAB1-45E1-B422-51D4EB39D30C}"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Running a container with </a:t>
            </a:r>
            <a:r>
              <a:rPr sz="2450" b="0" i="0">
                <a:solidFill>
                  <a:srgbClr val="1F4E79"/>
                </a:solidFill>
                <a:latin typeface="Consolas"/>
              </a:rPr>
              <a:t>--privileged</a:t>
            </a:r>
            <a:r>
              <a:rPr sz="2600" b="0" i="0">
                <a:solidFill>
                  <a:srgbClr val="1C252B"/>
                </a:solidFill>
                <a:latin typeface="Segoe UI"/>
              </a:rPr>
              <a: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adds two capabilities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grants all capabilities and disables seccomp and AppArmor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is required for networking</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only affects the container’s own filesystem</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37527"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19  ·  Security in Virtualized Environments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158     </a:t>
            </a:r>
            <a:fld id="{23AE7860-2801-4723-AD94-DE4746FEF805}" type="slidenum">
              <a:rPr lang="en-GB" sz="1000">
                <a:solidFill>
                  <a:srgbClr val="8795A1"/>
                </a:solidFill>
                <a:latin typeface="Segoe UI"/>
              </a:rPr>
              <a:t>43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Define blast radius and explain why it can reorder a priority list derived from CVSS scores.</a:t>
            </a:r>
          </a:p>
        </p:txBody>
      </p:sp>
      <p:sp>
        <p:nvSpPr>
          <p:cNvPr id="10" name="!!rt1">
            <a:extLst>
              <a:ext uri="{C183D7F6-B498-43B3-948B-1728B52AA6E4}">
                <adec:decorative xmlns:adec="http://schemas.microsoft.com/office/drawing/2017/decorative" val="1"/>
              </a:ext>
            </a:extLst>
          </p:cNvPr>
          <p:cNvSpPr/>
          <p:nvPr/>
        </p:nvSpPr>
        <p:spPr>
          <a:xfrm>
            <a:off x="658368" y="226039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0154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42108"/>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how two guests on one core can leak data between them with no software vulnerability involved.</a:t>
            </a:r>
          </a:p>
        </p:txBody>
      </p:sp>
      <p:sp>
        <p:nvSpPr>
          <p:cNvPr id="13" name="!!rt2">
            <a:extLst>
              <a:ext uri="{C183D7F6-B498-43B3-948B-1728B52AA6E4}">
                <adec:decorative xmlns:adec="http://schemas.microsoft.com/office/drawing/2017/decorative" val="1"/>
              </a:ext>
            </a:extLst>
          </p:cNvPr>
          <p:cNvSpPr/>
          <p:nvPr/>
        </p:nvSpPr>
        <p:spPr>
          <a:xfrm>
            <a:off x="658368" y="305043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09158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32150"/>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Give three container hardening measures and state precisely what each removes.</a:t>
            </a:r>
          </a:p>
        </p:txBody>
      </p:sp>
      <p:sp>
        <p:nvSpPr>
          <p:cNvPr id="16" name="!!rt3">
            <a:extLst>
              <a:ext uri="{C183D7F6-B498-43B3-948B-1728B52AA6E4}">
                <adec:decorative xmlns:adec="http://schemas.microsoft.com/office/drawing/2017/decorative" val="1"/>
              </a:ext>
            </a:extLst>
          </p:cNvPr>
          <p:cNvSpPr/>
          <p:nvPr/>
        </p:nvSpPr>
        <p:spPr>
          <a:xfrm>
            <a:off x="658368" y="355518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59633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536899"/>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hosting provider runs untrusted customer guests on shared hosts. Write the SMT and side-channel decision you would recommend, the capacity consequence, and how you would justify it to a finance director who sees only the lost capacity.</a:t>
            </a:r>
          </a:p>
        </p:txBody>
      </p:sp>
      <p:sp>
        <p:nvSpPr>
          <p:cNvPr id="19" name="!!rt4">
            <a:extLst>
              <a:ext uri="{C183D7F6-B498-43B3-948B-1728B52AA6E4}">
                <adec:decorative xmlns:adec="http://schemas.microsoft.com/office/drawing/2017/decorative" val="1"/>
              </a:ext>
            </a:extLst>
          </p:cNvPr>
          <p:cNvSpPr/>
          <p:nvPr/>
        </p:nvSpPr>
        <p:spPr>
          <a:xfrm>
            <a:off x="658368" y="463052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67166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612233"/>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You are given two weeks to improve the security of a 40-host estate with 900 guests, one vCenter on the general corporate network, templates with every virtual device enabled, and a flat network between guests. Write the plan, in order, with the reason for each position.</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14611" cy="54864"/>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0796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38470"/>
                </a:solidFill>
                <a:latin typeface="Segoe UI Black"/>
              </a:rPr>
              <a:t>19</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19</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20 — GPU and Accelerator Virtualization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19, pages 149–158</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Find three bottlenecks; harden a container</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0C5E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4CCC4"/>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3 (Ch 15–19) Assignment 2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19  ·  Security in Virtualized Environments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03B49CFC-3BAC-43A0-85B8-EBDC90CDA417}"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Security in Virtualized Environments</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