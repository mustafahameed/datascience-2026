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5.svg" ContentType="image/svg+xml"/>
  <Override PartName="/ppt/media/image17.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3.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1.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5.svg" ContentType="image/svg+xml"/>
  <Override PartName="/ppt/media/image67.svg" ContentType="image/svg+xml"/>
  <Override PartName="/ppt/media/image68.svg" ContentType="image/svg+xml"/>
  <Override PartName="/ppt/media/image69.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AF4B574-B25E-4A65-821A-5DD3AF29F45C}">
          <p14:sldIdLst>
            <p14:sldId id="256"/>
            <p14:sldId id="257"/>
            <p14:sldId id="258"/>
            <p14:sldId id="259"/>
            <p14:sldId id="260"/>
          </p14:sldIdLst>
        </p14:section>
        <p14:section name="22.1 How to Read These" id="{328F31B0-4810-42D2-802C-D8BFB85F93B1}">
          <p14:sldIdLst>
            <p14:sldId id="261"/>
          </p14:sldIdLst>
        </p14:section>
        <p14:section name="22.2 Case 1: The Consolidation That Nearly Failed" id="{A595B794-51BF-45D9-9D20-4CF0E2B814EE}">
          <p14:sldIdLst>
            <p14:sldId id="262"/>
            <p14:sldId id="263"/>
            <p14:sldId id="264"/>
            <p14:sldId id="265"/>
            <p14:sldId id="266"/>
            <p14:sldId id="267"/>
            <p14:sldId id="268"/>
            <p14:sldId id="269"/>
            <p14:sldId id="270"/>
          </p14:sldIdLst>
        </p14:section>
        <p14:section name="22.3 Case 2: The Cloud Migration That Cost More" id="{24FD5D40-C4A0-4F4A-90E0-2E8D829F3541}">
          <p14:sldIdLst>
            <p14:sldId id="271"/>
            <p14:sldId id="272"/>
            <p14:sldId id="273"/>
            <p14:sldId id="274"/>
            <p14:sldId id="275"/>
          </p14:sldIdLst>
        </p14:section>
        <p14:section name="22.4 Case 3: Edge Virtualization at Twenty-Three Sites" id="{B8D8D863-4A5D-4E79-BE0E-68EF3BF8127B}">
          <p14:sldIdLst>
            <p14:sldId id="276"/>
            <p14:sldId id="277"/>
            <p14:sldId id="278"/>
            <p14:sldId id="279"/>
            <p14:sldId id="280"/>
          </p14:sldIdLst>
        </p14:section>
        <p14:section name="22.5 Case 4: A Licence Change, and What It Revealed" id="{A9C06B29-70AF-4A46-B995-3C8824BEE0BA}">
          <p14:sldIdLst>
            <p14:sldId id="281"/>
            <p14:sldId id="282"/>
            <p14:sldId id="283"/>
            <p14:sldId id="284"/>
          </p14:sldIdLst>
        </p14:section>
        <p14:section name="22.6 What the Four Have in Common" id="{93014D46-B5EC-455A-8FC2-60748F725627}">
          <p14:sldIdLst>
            <p14:sldId id="285"/>
            <p14:sldId id="286"/>
            <p14:sldId id="287"/>
          </p14:sldIdLst>
        </p14:section>
        <p14:section name="Pitfalls" id="{010FCB3F-0F61-4E40-BF24-A124ADB72B54}">
          <p14:sldIdLst>
            <p14:sldId id="288"/>
          </p14:sldIdLst>
        </p14:section>
        <p14:section name="Lab" id="{C29C59C6-3792-41A1-9195-AD7CDD493D94}">
          <p14:sldIdLst>
            <p14:sldId id="289"/>
            <p14:sldId id="290"/>
            <p14:sldId id="291"/>
          </p14:sldIdLst>
        </p14:section>
        <p14:section name="Checkpoint" id="{BB4A19F6-0569-478A-AACD-CCFE96634EE0}">
          <p14:sldIdLst>
            <p14:sldId id="292"/>
            <p14:sldId id="293"/>
            <p14:sldId id="294"/>
            <p14:sldId id="295"/>
            <p14:sldId id="296"/>
            <p14:sldId id="297"/>
          </p14:sldIdLst>
        </p14:section>
        <p14:section name="Wrap-up" id="{1229DB16-E941-4429-BA6D-C88CC1031540}">
          <p14:sldIdLst>
            <p14:sldId id="298"/>
            <p14:sldId id="299"/>
            <p14:sldId id="300"/>
            <p14:sldId id="301"/>
            <p14:sldId id="30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22: Case Studies in Enterprise and Cloud Virtualization. Part 6 — Emerging Hardware and Practice. Week 16: Case studies; project. Handout pages 172–179.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Everything. Each case below uses the arithmetic of a specific earlier chapter, named where it arises, and the point of the chapter is that the arithmetic is the same whatever the vendor calls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consolidation ratio; right-sizing; lift and shift; refactoring; egress; reserved capacity; licence model; blast radius; edge site; intermittent connectivity; post-mortem; counterfactual.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cases. The figures are representative of real deployments rather than drawn from one named organisation, and they are constructed so that the arithmetic can be checked — that is what they are for. Each follows the same shape: what was decided, what happened, what the numbers said, and the single measurement that would have changed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numbers said. Sizing had been done on allocated capacity, as Chapter 6 warns.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looks comfortable. But N+1 was not applied, and one host was taken for maintenance in week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alone is survivable. What was not survivable was memory. The 64 old servers had 32 GB each; the guests were given 32 GB each because that is what they had before, and nobody measured what they used: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all five hosts this was absorbed by page sharing and ballooning (Chapter 6). With four hosts it was not: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hosts reached the bottom of the reclamation ladder and began swapping. %RDY was fine throughout, which is why the first week of investigation looked at the wrong resource. The measurement that would have changed it. Active memory, before migration. Measured afterwards it was 9.4 GB per workload: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against 1,920 GB installed — the estate needed a third of what was bought, and the guests should have been given 12 GB, not 32. What was done. Right-sizing, over three weeks, guest by guest. σmem fell to 0.59 and σmem|N+1 to 0.74. No hardware was added.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money went. Four causes, in descending order, each traceable to a chapter.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arithmetic of the fix. All four were addressed in six weeks, with no architectural change.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invoice settled at about 0.78 of the on-premises baseline — close to the original projection, reached eight months late.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centralisation was rejected. The arithmetic was not about cost but about Chapter 17’s availability vocabulary. Depot operations must continue when the line is down. Measured over a year, each site’s link had about 99.2%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Seventy hours a year per site of no dispatch at all, against the current arrangement where a line failure meant only that head office reporting was delayed. Centralisation would have improved manageability and made the business worse.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comparison looked like. Over three years, approximately: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finding that decided it. Not cost. When the trust catalogued what would have to be rebuilt, it discovered that nobody could enumerate what the estate did. There was no inventory mapping guests to clinical services, no record of which of the 340 were still needed, and 61 guests whose owner could not be identified at all. The migration could not be planned because the thing to be migrated was not known. What was done. A twelve-month discovery and rationalisation programme first: inventory, ownership, dependency mapping, decommissioning. It retired 78 guests — 23% of the estate — that nothing used. Only then was the platform decision taken, and by then the licence quantity had fallen with the guest count.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commands. Work in pairs, 45 minutes, and write a one-page recommendation — this is deliberately the shape of the examination’s applied questions and of Chapter 23’s report. The brief. A college runs 90 guests on 4 hosts (32 cores, 256 GB each), bought three years ago, under a platform whose support expires in seven months. Measured over the last term: Produce: Marking yourselves. A good answer identifies that %RDY of 11% and σcpu of 4.0 mean the estate is already contended; that memory is wildly over-allocated at 1,740 GB against 198 GB active; that the thin pool has about 17 months at the current rate but no N+1 storage headroom; and that the 14 unowned guests are case 4 in miniature. A weak answer compares products.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At 1.26 the shortfall was small enough to be absorbed by the upper rungs of the reclamation ladder — transparent page sharing across 64 similar guests, and ballooning, both of which degrade performance imperceptibly. At 1.57 the shortfall exceeded what the guests could give back, so the hypervisor reached host swapping, which is not a slope but a cliff: guest pages went to disk and latency rose by orders of magnitude. The mechanism is the same ladder; the difference is which rung it reached.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cloud made existing waste legible — on premises an over-allocated guest costs nothing once the host is bought, whereas in the cloud every unit of waste is a line on a monthly invoice. The two items accounting for 75% were lift and shift without right-sizing (44%) and on-demand pricing (31%).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quorum requires a majority, and two nodes can never produce one: a clean split leaves each node with one vote out of two, so neither may act and both stop. A third vote at head office breaks the tie. When the link to the witness failed, the site operated in a documented degraded mode with HA disabled — accepting that a node failure during that window would not be recovered automatically, rather than risking the split brain that automatic recovery without quorum would invite.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23 — The Semester Project. READ: Handout Chapter 22, pages 172–179. THIS WEEK'S LAB: Peer walkthroughs of each team’s service. ASSESSMENT: Project report and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6.xml"/><Relationship Id="rId8" Type="http://schemas.openxmlformats.org/officeDocument/2006/relationships/slide" Target="slide21.xml"/><Relationship Id="rId9" Type="http://schemas.openxmlformats.org/officeDocument/2006/relationships/slide" Target="slide26.xml"/><Relationship Id="rId10" Type="http://schemas.openxmlformats.org/officeDocument/2006/relationships/slide" Target="slide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5.svg"/><Relationship Id="rId4" Type="http://schemas.openxmlformats.org/officeDocument/2006/relationships/image" Target="../media/image16.png"/><Relationship Id="rId5" Type="http://schemas.openxmlformats.org/officeDocument/2006/relationships/image" Target="../media/image17.sv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1.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4.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8.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9.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40.svg"/><Relationship Id="rId4" Type="http://schemas.openxmlformats.org/officeDocument/2006/relationships/image" Target="../media/image41.png"/><Relationship Id="rId5" Type="http://schemas.openxmlformats.org/officeDocument/2006/relationships/image" Target="../media/image42.sv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4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5.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6.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7.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8.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9.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4.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5.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6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1.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62.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3.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8.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9.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Case Studies in Enterprise and Cloud Virtualization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EMERGING HARDWARE AND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22  ·  WEEK 16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a:t>
            </a:r>
            <a:fld id="{9638D171-A727-41A8-A98B-FD20CBF67D13}"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7503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7503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591539"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591539" y="2029967"/>
            <a:ext cx="1822916"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32120"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406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1603"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01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73324"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0818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6504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4736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8956766"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88653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22807"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3136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01452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992308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415393"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41539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Case Studies in Enterprise and Cloud Virtualization</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dep-none-BUILD"/>
          <p:cNvSpPr txBox="1"/>
          <p:nvPr/>
        </p:nvSpPr>
        <p:spPr>
          <a:xfrm>
            <a:off x="658368"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nothing earlier in the course</a:t>
            </a:r>
          </a:p>
        </p:txBody>
      </p:sp>
      <p:sp>
        <p:nvSpPr>
          <p:cNvPr id="6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9"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 later chapter depends on it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1879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a:t>
            </a:r>
            <a:fld id="{9DB2B294-FAE2-41CF-8CBA-BA6E0E40EF12}"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Analyse</a:t>
            </a:r>
            <a:r>
              <a:rPr sz="2100" b="0" i="0">
                <a:solidFill>
                  <a:srgbClr val="1C252B"/>
                </a:solidFill>
                <a:latin typeface="Segoe UI"/>
              </a:rPr>
              <a:t> a virtualization decision using the arithmetic of the preceding chapters rather than the vendor’s framing.</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Identify</a:t>
            </a:r>
            <a:r>
              <a:rPr sz="2100" b="0" i="0">
                <a:solidFill>
                  <a:srgbClr val="1C252B"/>
                </a:solidFill>
                <a:latin typeface="Segoe UI"/>
              </a:rPr>
              <a:t> the measurement that would have changed each decision, and </a:t>
            </a:r>
            <a:r>
              <a:rPr sz="2100" b="1" i="0">
                <a:solidFill>
                  <a:srgbClr val="1C252B"/>
                </a:solidFill>
                <a:latin typeface="Segoe UI"/>
              </a:rPr>
              <a:t>say</a:t>
            </a:r>
            <a:r>
              <a:rPr sz="2100" b="0" i="0">
                <a:solidFill>
                  <a:srgbClr val="1C252B"/>
                </a:solidFill>
                <a:latin typeface="Segoe UI"/>
              </a:rPr>
              <a:t> when it should have been taken.</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Explain</a:t>
            </a:r>
            <a:r>
              <a:rPr sz="2100" b="0" i="0">
                <a:solidFill>
                  <a:srgbClr val="1C252B"/>
                </a:solidFill>
                <a:latin typeface="Segoe UI"/>
              </a:rPr>
              <a:t> why a technically correct migration can still be a commercial failure.</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Apply</a:t>
            </a:r>
            <a:r>
              <a:rPr sz="2100" b="0" i="0">
                <a:solidFill>
                  <a:srgbClr val="1C252B"/>
                </a:solidFill>
                <a:latin typeface="Segoe UI"/>
              </a:rPr>
              <a:t> the consolidation, overcommit, migration and cost models to a case you have not seen before.</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Write</a:t>
            </a:r>
            <a:r>
              <a:rPr sz="2100" b="0" i="0">
                <a:solidFill>
                  <a:srgbClr val="1C252B"/>
                </a:solidFill>
                <a:latin typeface="Segoe UI"/>
              </a:rPr>
              <a:t> a recommendation that states its assumptions and the evidence that would overturn it.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7819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172     </a:t>
            </a:r>
            <a:fld id="{BAB344E4-00F5-4D0F-9792-E6D4C57D82EB}" type="slidenum">
              <a:rPr lang="en-GB" sz="1000">
                <a:solidFill>
                  <a:srgbClr val="8795A1"/>
                </a:solidFill>
                <a:latin typeface="Segoe UI"/>
              </a:rPr>
              <a:t>4</a:t>
            </a:fld>
          </a:p>
        </p:txBody>
      </p:sp>
      <p:sp>
        <p:nvSpPr>
          <p:cNvPr id="7" name="!!term-consolidation ">
            <a:extLst>
              <a:ext uri="{C183D7F6-B498-43B3-948B-1728B52AA6E4}">
                <adec:decorative xmlns:adec="http://schemas.microsoft.com/office/drawing/2017/decorative" val="1"/>
              </a:ext>
            </a:extLst>
          </p:cNvPr>
          <p:cNvSpPr/>
          <p:nvPr/>
        </p:nvSpPr>
        <p:spPr>
          <a:xfrm>
            <a:off x="658368" y="1847088"/>
            <a:ext cx="22528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onsolidation ">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onsolidation "/>
          <p:cNvSpPr txBox="1"/>
          <p:nvPr/>
        </p:nvSpPr>
        <p:spPr>
          <a:xfrm>
            <a:off x="950976" y="1955291"/>
            <a:ext cx="206996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consolidation ratio</a:t>
            </a:r>
          </a:p>
        </p:txBody>
      </p:sp>
      <p:sp>
        <p:nvSpPr>
          <p:cNvPr id="10" name="!!term-right-sizing">
            <a:extLst>
              <a:ext uri="{C183D7F6-B498-43B3-948B-1728B52AA6E4}">
                <adec:decorative xmlns:adec="http://schemas.microsoft.com/office/drawing/2017/decorative" val="1"/>
              </a:ext>
            </a:extLst>
          </p:cNvPr>
          <p:cNvSpPr/>
          <p:nvPr/>
        </p:nvSpPr>
        <p:spPr>
          <a:xfrm>
            <a:off x="3057519" y="1847088"/>
            <a:ext cx="15395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right-sizing">
            <a:extLst>
              <a:ext uri="{C183D7F6-B498-43B3-948B-1728B52AA6E4}">
                <adec:decorative xmlns:adec="http://schemas.microsoft.com/office/drawing/2017/decorative" val="1"/>
              </a:ext>
            </a:extLst>
          </p:cNvPr>
          <p:cNvSpPr/>
          <p:nvPr/>
        </p:nvSpPr>
        <p:spPr>
          <a:xfrm>
            <a:off x="318553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right-sizing"/>
          <p:cNvSpPr txBox="1"/>
          <p:nvPr/>
        </p:nvSpPr>
        <p:spPr>
          <a:xfrm>
            <a:off x="3350127" y="1955291"/>
            <a:ext cx="135671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right-sizing</a:t>
            </a:r>
          </a:p>
        </p:txBody>
      </p:sp>
      <p:sp>
        <p:nvSpPr>
          <p:cNvPr id="13" name="!!term-lift and shift">
            <a:extLst>
              <a:ext uri="{C183D7F6-B498-43B3-948B-1728B52AA6E4}">
                <adec:decorative xmlns:adec="http://schemas.microsoft.com/office/drawing/2017/decorative" val="1"/>
              </a:ext>
            </a:extLst>
          </p:cNvPr>
          <p:cNvSpPr/>
          <p:nvPr/>
        </p:nvSpPr>
        <p:spPr>
          <a:xfrm>
            <a:off x="4743416" y="1847088"/>
            <a:ext cx="15912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lift and shift">
            <a:extLst>
              <a:ext uri="{C183D7F6-B498-43B3-948B-1728B52AA6E4}">
                <adec:decorative xmlns:adec="http://schemas.microsoft.com/office/drawing/2017/decorative" val="1"/>
              </a:ext>
            </a:extLst>
          </p:cNvPr>
          <p:cNvSpPr/>
          <p:nvPr/>
        </p:nvSpPr>
        <p:spPr>
          <a:xfrm>
            <a:off x="487143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lift and shift"/>
          <p:cNvSpPr txBox="1"/>
          <p:nvPr/>
        </p:nvSpPr>
        <p:spPr>
          <a:xfrm>
            <a:off x="5036024" y="1955291"/>
            <a:ext cx="140833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lift and shift</a:t>
            </a:r>
          </a:p>
        </p:txBody>
      </p:sp>
      <p:sp>
        <p:nvSpPr>
          <p:cNvPr id="16" name="!!term-refactoring">
            <a:extLst>
              <a:ext uri="{C183D7F6-B498-43B3-948B-1728B52AA6E4}">
                <adec:decorative xmlns:adec="http://schemas.microsoft.com/office/drawing/2017/decorative" val="1"/>
              </a:ext>
            </a:extLst>
          </p:cNvPr>
          <p:cNvSpPr/>
          <p:nvPr/>
        </p:nvSpPr>
        <p:spPr>
          <a:xfrm>
            <a:off x="6480936" y="1847088"/>
            <a:ext cx="15013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refactoring">
            <a:extLst>
              <a:ext uri="{C183D7F6-B498-43B3-948B-1728B52AA6E4}">
                <adec:decorative xmlns:adec="http://schemas.microsoft.com/office/drawing/2017/decorative" val="1"/>
              </a:ext>
            </a:extLst>
          </p:cNvPr>
          <p:cNvSpPr/>
          <p:nvPr/>
        </p:nvSpPr>
        <p:spPr>
          <a:xfrm>
            <a:off x="660895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refactoring"/>
          <p:cNvSpPr txBox="1"/>
          <p:nvPr/>
        </p:nvSpPr>
        <p:spPr>
          <a:xfrm>
            <a:off x="6773544" y="1955291"/>
            <a:ext cx="131851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refactoring</a:t>
            </a:r>
          </a:p>
        </p:txBody>
      </p:sp>
      <p:sp>
        <p:nvSpPr>
          <p:cNvPr id="19" name="!!term-egress">
            <a:extLst>
              <a:ext uri="{C183D7F6-B498-43B3-948B-1728B52AA6E4}">
                <adec:decorative xmlns:adec="http://schemas.microsoft.com/office/drawing/2017/decorative" val="1"/>
              </a:ext>
            </a:extLst>
          </p:cNvPr>
          <p:cNvSpPr/>
          <p:nvPr/>
        </p:nvSpPr>
        <p:spPr>
          <a:xfrm>
            <a:off x="8128632" y="1847088"/>
            <a:ext cx="106230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egress">
            <a:extLst>
              <a:ext uri="{C183D7F6-B498-43B3-948B-1728B52AA6E4}">
                <adec:decorative xmlns:adec="http://schemas.microsoft.com/office/drawing/2017/decorative" val="1"/>
              </a:ext>
            </a:extLst>
          </p:cNvPr>
          <p:cNvSpPr/>
          <p:nvPr/>
        </p:nvSpPr>
        <p:spPr>
          <a:xfrm>
            <a:off x="825664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egress"/>
          <p:cNvSpPr txBox="1"/>
          <p:nvPr/>
        </p:nvSpPr>
        <p:spPr>
          <a:xfrm>
            <a:off x="8421240" y="1955291"/>
            <a:ext cx="87942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egress</a:t>
            </a:r>
          </a:p>
        </p:txBody>
      </p:sp>
      <p:sp>
        <p:nvSpPr>
          <p:cNvPr id="22" name="!!term-reserved capac">
            <a:extLst>
              <a:ext uri="{C183D7F6-B498-43B3-948B-1728B52AA6E4}">
                <adec:decorative xmlns:adec="http://schemas.microsoft.com/office/drawing/2017/decorative" val="1"/>
              </a:ext>
            </a:extLst>
          </p:cNvPr>
          <p:cNvSpPr/>
          <p:nvPr/>
        </p:nvSpPr>
        <p:spPr>
          <a:xfrm>
            <a:off x="9337240" y="1847088"/>
            <a:ext cx="21183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reserved capac">
            <a:extLst>
              <a:ext uri="{C183D7F6-B498-43B3-948B-1728B52AA6E4}">
                <adec:decorative xmlns:adec="http://schemas.microsoft.com/office/drawing/2017/decorative" val="1"/>
              </a:ext>
            </a:extLst>
          </p:cNvPr>
          <p:cNvSpPr/>
          <p:nvPr/>
        </p:nvSpPr>
        <p:spPr>
          <a:xfrm>
            <a:off x="946525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reserved capac"/>
          <p:cNvSpPr txBox="1"/>
          <p:nvPr/>
        </p:nvSpPr>
        <p:spPr>
          <a:xfrm>
            <a:off x="9629848" y="1955291"/>
            <a:ext cx="193544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reserved capacity</a:t>
            </a:r>
          </a:p>
        </p:txBody>
      </p:sp>
      <p:sp>
        <p:nvSpPr>
          <p:cNvPr id="25" name="!!term-licence model">
            <a:extLst>
              <a:ext uri="{C183D7F6-B498-43B3-948B-1728B52AA6E4}">
                <adec:decorative xmlns:adec="http://schemas.microsoft.com/office/drawing/2017/decorative" val="1"/>
              </a:ext>
            </a:extLst>
          </p:cNvPr>
          <p:cNvSpPr/>
          <p:nvPr/>
        </p:nvSpPr>
        <p:spPr>
          <a:xfrm>
            <a:off x="658368" y="2468880"/>
            <a:ext cx="17811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licence model">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licence model"/>
          <p:cNvSpPr txBox="1"/>
          <p:nvPr/>
        </p:nvSpPr>
        <p:spPr>
          <a:xfrm>
            <a:off x="950976" y="2577084"/>
            <a:ext cx="159826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licence model</a:t>
            </a:r>
          </a:p>
        </p:txBody>
      </p:sp>
      <p:sp>
        <p:nvSpPr>
          <p:cNvPr id="28" name="!!term-blast radius">
            <a:extLst>
              <a:ext uri="{C183D7F6-B498-43B3-948B-1728B52AA6E4}">
                <adec:decorative xmlns:adec="http://schemas.microsoft.com/office/drawing/2017/decorative" val="1"/>
              </a:ext>
            </a:extLst>
          </p:cNvPr>
          <p:cNvSpPr/>
          <p:nvPr/>
        </p:nvSpPr>
        <p:spPr>
          <a:xfrm>
            <a:off x="2585812" y="2468880"/>
            <a:ext cx="15518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blast radius">
            <a:extLst>
              <a:ext uri="{C183D7F6-B498-43B3-948B-1728B52AA6E4}">
                <adec:decorative xmlns:adec="http://schemas.microsoft.com/office/drawing/2017/decorative" val="1"/>
              </a:ext>
            </a:extLst>
          </p:cNvPr>
          <p:cNvSpPr/>
          <p:nvPr/>
        </p:nvSpPr>
        <p:spPr>
          <a:xfrm>
            <a:off x="271382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blast radius"/>
          <p:cNvSpPr txBox="1"/>
          <p:nvPr/>
        </p:nvSpPr>
        <p:spPr>
          <a:xfrm>
            <a:off x="2878420" y="2577084"/>
            <a:ext cx="136901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blast radius</a:t>
            </a:r>
          </a:p>
        </p:txBody>
      </p:sp>
      <p:sp>
        <p:nvSpPr>
          <p:cNvPr id="31" name="!!term-edge site">
            <a:extLst>
              <a:ext uri="{C183D7F6-B498-43B3-948B-1728B52AA6E4}">
                <adec:decorative xmlns:adec="http://schemas.microsoft.com/office/drawing/2017/decorative" val="1"/>
              </a:ext>
            </a:extLst>
          </p:cNvPr>
          <p:cNvSpPr/>
          <p:nvPr/>
        </p:nvSpPr>
        <p:spPr>
          <a:xfrm>
            <a:off x="4284010" y="2468880"/>
            <a:ext cx="13254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edge site">
            <a:extLst>
              <a:ext uri="{C183D7F6-B498-43B3-948B-1728B52AA6E4}">
                <adec:decorative xmlns:adec="http://schemas.microsoft.com/office/drawing/2017/decorative" val="1"/>
              </a:ext>
            </a:extLst>
          </p:cNvPr>
          <p:cNvSpPr/>
          <p:nvPr/>
        </p:nvSpPr>
        <p:spPr>
          <a:xfrm>
            <a:off x="441202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edge site"/>
          <p:cNvSpPr txBox="1"/>
          <p:nvPr/>
        </p:nvSpPr>
        <p:spPr>
          <a:xfrm>
            <a:off x="4576618" y="2577084"/>
            <a:ext cx="114260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edge site</a:t>
            </a:r>
          </a:p>
        </p:txBody>
      </p:sp>
      <p:sp>
        <p:nvSpPr>
          <p:cNvPr id="34" name="!!term-intermittent c">
            <a:extLst>
              <a:ext uri="{C183D7F6-B498-43B3-948B-1728B52AA6E4}">
                <adec:decorative xmlns:adec="http://schemas.microsoft.com/office/drawing/2017/decorative" val="1"/>
              </a:ext>
            </a:extLst>
          </p:cNvPr>
          <p:cNvSpPr/>
          <p:nvPr/>
        </p:nvSpPr>
        <p:spPr>
          <a:xfrm>
            <a:off x="5755796" y="2468880"/>
            <a:ext cx="28152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intermittent c">
            <a:extLst>
              <a:ext uri="{C183D7F6-B498-43B3-948B-1728B52AA6E4}">
                <adec:decorative xmlns:adec="http://schemas.microsoft.com/office/drawing/2017/decorative" val="1"/>
              </a:ext>
            </a:extLst>
          </p:cNvPr>
          <p:cNvSpPr/>
          <p:nvPr/>
        </p:nvSpPr>
        <p:spPr>
          <a:xfrm>
            <a:off x="588381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intermittent c"/>
          <p:cNvSpPr txBox="1"/>
          <p:nvPr/>
        </p:nvSpPr>
        <p:spPr>
          <a:xfrm>
            <a:off x="6048404" y="2577084"/>
            <a:ext cx="263234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intermittent connectivity</a:t>
            </a:r>
          </a:p>
        </p:txBody>
      </p:sp>
      <p:sp>
        <p:nvSpPr>
          <p:cNvPr id="37" name="!!term-post-mortem">
            <a:extLst>
              <a:ext uri="{C183D7F6-B498-43B3-948B-1728B52AA6E4}">
                <adec:decorative xmlns:adec="http://schemas.microsoft.com/office/drawing/2017/decorative" val="1"/>
              </a:ext>
            </a:extLst>
          </p:cNvPr>
          <p:cNvSpPr/>
          <p:nvPr/>
        </p:nvSpPr>
        <p:spPr>
          <a:xfrm>
            <a:off x="8717323" y="2468880"/>
            <a:ext cx="17281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ost-mortem">
            <a:extLst>
              <a:ext uri="{C183D7F6-B498-43B3-948B-1728B52AA6E4}">
                <adec:decorative xmlns:adec="http://schemas.microsoft.com/office/drawing/2017/decorative" val="1"/>
              </a:ext>
            </a:extLst>
          </p:cNvPr>
          <p:cNvSpPr/>
          <p:nvPr/>
        </p:nvSpPr>
        <p:spPr>
          <a:xfrm>
            <a:off x="884533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ost-mortem"/>
          <p:cNvSpPr txBox="1"/>
          <p:nvPr/>
        </p:nvSpPr>
        <p:spPr>
          <a:xfrm>
            <a:off x="9009931" y="2577084"/>
            <a:ext cx="154529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post-mortem</a:t>
            </a:r>
          </a:p>
        </p:txBody>
      </p:sp>
      <p:sp>
        <p:nvSpPr>
          <p:cNvPr id="40" name="!!term-counterfactual">
            <a:extLst>
              <a:ext uri="{C183D7F6-B498-43B3-948B-1728B52AA6E4}">
                <adec:decorative xmlns:adec="http://schemas.microsoft.com/office/drawing/2017/decorative" val="1"/>
              </a:ext>
            </a:extLst>
          </p:cNvPr>
          <p:cNvSpPr/>
          <p:nvPr/>
        </p:nvSpPr>
        <p:spPr>
          <a:xfrm>
            <a:off x="658368" y="3090672"/>
            <a:ext cx="18329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counterfactual">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counterfactual"/>
          <p:cNvSpPr txBox="1"/>
          <p:nvPr/>
        </p:nvSpPr>
        <p:spPr>
          <a:xfrm>
            <a:off x="950976" y="3198876"/>
            <a:ext cx="165004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counterfactual</a:t>
            </a:r>
          </a:p>
        </p:txBody>
      </p:sp>
      <p:sp>
        <p:nvSpPr>
          <p:cNvPr id="43"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103759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172–179     </a:t>
            </a:r>
            <a:fld id="{82F9BAEA-0F31-441A-A8F9-6CDCB639C441}" type="slidenum">
              <a:rPr lang="en-GB" sz="1000">
                <a:solidFill>
                  <a:srgbClr val="8795A1"/>
                </a:solidFill>
                <a:latin typeface="Segoe UI"/>
              </a:rPr>
              <a:t>5</a:t>
            </a:fld>
          </a:p>
        </p:txBody>
      </p:sp>
      <p:sp>
        <p:nvSpPr>
          <p:cNvPr id="7" name="!!ag0" descr="Go to section 22.1 How to Read Thes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How to Read These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172  ›</a:t>
            </a:r>
          </a:p>
        </p:txBody>
      </p:sp>
      <p:sp>
        <p:nvSpPr>
          <p:cNvPr id="12" name="!!ag1" descr="Go to section 22.2 Case 1: The Consolidation That Nearly Failed">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Case 1: The Consolidation That Nearly Failed</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173  ›</a:t>
            </a:r>
          </a:p>
        </p:txBody>
      </p:sp>
      <p:sp>
        <p:nvSpPr>
          <p:cNvPr id="17" name="!!ag2" descr="Go to section 22.3 Case 2: The Cloud Migration That Cost More">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Case 2: The Cloud Migration That Cost More</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174  ›</a:t>
            </a:r>
          </a:p>
        </p:txBody>
      </p:sp>
      <p:sp>
        <p:nvSpPr>
          <p:cNvPr id="22" name="!!ag3" descr="Go to section 22.4 Case 3: Edge Virtualization at Twenty-Three Site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Case 3: Edge Virtualization at Twenty-Three Sites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175  ›</a:t>
            </a:r>
          </a:p>
        </p:txBody>
      </p:sp>
      <p:sp>
        <p:nvSpPr>
          <p:cNvPr id="27" name="!!ag4" descr="Go to section 22.5 Case 4: A Licence Change, and What It Revealed">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Case 4: A Licence Change, and What It Revealed</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176  ›</a:t>
            </a:r>
          </a:p>
        </p:txBody>
      </p:sp>
      <p:sp>
        <p:nvSpPr>
          <p:cNvPr id="32" name="!!ag5" descr="Go to section 22.6 What the Four Have in Common">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the Four Have in Common</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177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29698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Every number in this chapter is invented, and says so</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172     </a:t>
            </a:r>
            <a:fld id="{8DE70D9D-F77E-4C75-BF0E-0E9DBA515F71}"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cases are composites. They are built to be arithmetically consistent and to exercise the models of earlier chapters, not to report on any particular institution. Where a real, dated fact is used — a licence change, a published vulnerability — it is cited as such in the chapter that introduced it.</a:t>
            </a:r>
          </a:p>
        </p:txBody>
      </p:sp>
      <p:sp>
        <p:nvSpPr>
          <p:cNvPr id="10" name="body-1"/>
          <p:cNvSpPr txBox="1"/>
          <p:nvPr/>
        </p:nvSpPr>
        <p:spPr>
          <a:xfrm>
            <a:off x="1060704" y="366707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Treat the figures as you would a worked example: reproduce them, change the inputs, and see where the recommendation flips. The skill being taught is the flipping point, not the answer.</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55638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Case 1: The Consolidation That Nearly Failed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How to Read These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22.2   Case 1: The Consolidation That Nearly Failed</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Case 2: The Cloud Migration That Cost More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Case 3: Edge Virtualization at Twenty-Three Sites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Case 4: A Licence Change, and What It Revealed</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What the Four Have in Common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§22.2     </a:t>
            </a:r>
            <a:fld id="{33D39434-3B36-4A59-B27F-8BAEBEE04F92}"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8157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decision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173     </a:t>
            </a:r>
            <a:fld id="{479C1790-AC39-4450-B3E7-6F1442C1F65B}"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university’s computing department had 64 physical servers, bought one at a time over nine years. It consolidated onto 5 hosts and a shared array. The business case cited the arithmetic of Chapter 1: a 12.8:1 ratio, 85% less power, one estate to patch instead of 64.</a:t>
            </a:r>
          </a:p>
        </p:txBody>
      </p:sp>
      <p:sp>
        <p:nvSpPr>
          <p:cNvPr id="10" name="body-1"/>
          <p:cNvSpPr txBox="1"/>
          <p:nvPr/>
        </p:nvSpPr>
        <p:spPr>
          <a:xfrm>
            <a:off x="1060704" y="3667074"/>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Eleven weeks after the migration the estate was described by its own users as “slower than the old servers”.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07518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1: The Consolidation That Nearly Failed</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173     </a:t>
            </a:r>
            <a:fld id="{85F6B1FD-23BF-4B6C-A6B8-CE7043510147}"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187087"/>
          </a:xfrm>
          <a:prstGeom prst="roundRect">
            <a:avLst>
              <a:gd name="adj" fmla="val 418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187087"/>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What the numbers said.</a:t>
            </a:r>
            <a:r>
              <a:rPr sz="2300" b="0" i="0">
                <a:solidFill>
                  <a:srgbClr val="1C252B"/>
                </a:solidFill>
                <a:latin typeface="Segoe UI"/>
              </a:rPr>
              <a:t> Sizing had been done on </a:t>
            </a:r>
            <a:r>
              <a:rPr sz="2300" b="0" i="1">
                <a:solidFill>
                  <a:srgbClr val="1C252B"/>
                </a:solidFill>
                <a:latin typeface="Segoe UI"/>
              </a:rPr>
              <a:t>allocated</a:t>
            </a:r>
            <a:r>
              <a:rPr sz="2300" b="0" i="0">
                <a:solidFill>
                  <a:srgbClr val="1C252B"/>
                </a:solidFill>
                <a:latin typeface="Segoe UI"/>
              </a:rPr>
              <a:t> capacity, as Chapter 6 warns.</a:t>
            </a:r>
          </a:p>
        </p:txBody>
      </p:sp>
      <p:pic>
        <p:nvPicPr>
          <p:cNvPr id="10" name="body-1" descr="\sigma_{\text{cpu}} = \frac{64 \text{ guests} \times 4 \text{ vCPU}} {5 \times 48 \text{ cores}} = \frac{256}{240} = 1.0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675558"/>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33457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1: The Consolidation That Nearly Failed</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173     </a:t>
            </a:r>
            <a:fld id="{7B9801F8-1FCB-421B-AD72-776DAB73FBAE}"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181692"/>
          </a:xfrm>
          <a:prstGeom prst="roundRect">
            <a:avLst>
              <a:gd name="adj" fmla="val 419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18169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which looks comfortable. But N+1 was not applied, and one host was taken for maintenance in week 11:</a:t>
            </a:r>
          </a:p>
        </p:txBody>
      </p:sp>
      <p:pic>
        <p:nvPicPr>
          <p:cNvPr id="10" name="body-1" descr="\sigma_{\text{cpu}}\big|_{N+1} = \frac{256}{4 \times 48} = \frac{256}{192} = 1.3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670163"/>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59397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1: The Consolidation That Nearly Failed</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173     </a:t>
            </a:r>
            <a:fld id="{E92E0F60-307D-4DF7-BF47-8C9AE603393E}"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68895"/>
          </a:xfrm>
          <a:prstGeom prst="roundRect">
            <a:avLst>
              <a:gd name="adj" fmla="val 403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6889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That alone is survivable. What was not survivable was memory. The 64 old servers had 32 GB each; the guests were given 32 GB each because that is what they had before, and nobody measured what they used:</a:t>
            </a:r>
          </a:p>
        </p:txBody>
      </p:sp>
      <p:pic>
        <p:nvPicPr>
          <p:cNvPr id="10" name="body-1" descr="\text{allocated} = 64 \times 32 = 2{,}048 \text{ GB} \qquad \text{installed} = 5 \times 384 = 1{,}920 \text{ G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02533"/>
            <a:ext cx="10161727" cy="392826"/>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85337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1: The Consolidation That Nearly Failed</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173     </a:t>
            </a:r>
            <a:fld id="{4FDB5F4B-12A8-4A84-B142-2FC5570E7F4E}"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24234"/>
          </a:xfrm>
          <a:prstGeom prst="roundRect">
            <a:avLst>
              <a:gd name="adj" fmla="val 6905"/>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2423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sigma_{\text{mem}} = \frac{2{,}048}{1{,}920 \times 0.85} = 1.2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702442"/>
          </a:xfrm>
          <a:prstGeom prst="rect">
            <a:avLst/>
          </a:prstGeom>
        </p:spPr>
      </p:pic>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11277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1: The Consolidation That Nearly Failed</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173     </a:t>
            </a:r>
            <a:fld id="{99E84CE3-1B17-4ADC-A828-3FCFBFD8AA48}"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213970"/>
          </a:xfrm>
          <a:prstGeom prst="roundRect">
            <a:avLst>
              <a:gd name="adj" fmla="val 413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21397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all five hosts this was absorbed by page sharing and ballooning (Chapter 6). With four hosts it was not:</a:t>
            </a:r>
          </a:p>
        </p:txBody>
      </p:sp>
      <p:pic>
        <p:nvPicPr>
          <p:cNvPr id="10" name="body-1" descr="\sigma_{\text{mem}}\big|_{N+1} = \frac{2{,}048}{4 \times 384 \times 0.85} = \frac{2{,}048}{1{,}306} = 1.5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702442"/>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37217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1: The Consolidation That Nearly Failed</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173     </a:t>
            </a:r>
            <a:fld id="{999E5942-11E8-44F1-8DD9-708D518CDAA5}"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904354"/>
          </a:xfrm>
          <a:prstGeom prst="roundRect">
            <a:avLst>
              <a:gd name="adj" fmla="val 480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90435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The measurement that would have changed it.</a:t>
            </a:r>
            <a:r>
              <a:rPr sz="2300" b="0" i="0">
                <a:solidFill>
                  <a:srgbClr val="1C252B"/>
                </a:solidFill>
                <a:latin typeface="Segoe UI"/>
              </a:rPr>
              <a:t> Active memory, before migration. Measured afterwards it was 9.4 GB per workload:</a:t>
            </a:r>
          </a:p>
        </p:txBody>
      </p:sp>
      <p:pic>
        <p:nvPicPr>
          <p:cNvPr id="10" name="body-1" descr="64 \times 9.4 = 602 \text{ G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6315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lesson, stated generally</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173     </a:t>
            </a:r>
            <a:fld id="{68CB0879-9BC4-48CD-B031-B4B6A93D705C}"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Migrating a server is not sizing a guest.</a:t>
            </a:r>
            <a:r>
              <a:rPr sz="2300" b="0" i="0">
                <a:solidFill>
                  <a:srgbClr val="1C252B"/>
                </a:solidFill>
                <a:latin typeface="Segoe UI"/>
              </a:rPr>
              <a:t> The old machine’s specification was a purchasing decision from up to nine years earlier, made against a different workload, with headroom for growth that never arrived. Carrying it across preserves every bad guess ever made and adds the hypervisor’s overhead on top.</a:t>
            </a:r>
          </a:p>
        </p:txBody>
      </p:sp>
      <p:sp>
        <p:nvSpPr>
          <p:cNvPr id="10" name="body-1"/>
          <p:cNvSpPr txBox="1"/>
          <p:nvPr/>
        </p:nvSpPr>
        <p:spPr>
          <a:xfrm>
            <a:off x="1060704" y="403161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Measure for a month before migrating; size to the 95th percentile with a stated margin; and apply N+1 to </a:t>
            </a:r>
            <a:r>
              <a:rPr sz="2300" b="0" i="1">
                <a:solidFill>
                  <a:srgbClr val="1C252B"/>
                </a:solidFill>
                <a:latin typeface="Segoe UI"/>
              </a:rPr>
              <a:t>every</a:t>
            </a:r>
            <a:r>
              <a:rPr sz="2300" b="0" i="0">
                <a:solidFill>
                  <a:srgbClr val="1C252B"/>
                </a:solidFill>
                <a:latin typeface="Segoe UI"/>
              </a:rPr>
              <a:t> ratio you quote, because the failure happens on the day one host is away.</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89096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Case 2: The Cloud Migration That Cost More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How to Read These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Case 1: The Consolidation That Nearly Failed</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22.3   Case 2: The Cloud Migration That Cost More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Case 3: Edge Virtualization at Twenty-Three Sites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Case 4: A Licence Change, and What It Revealed</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What the Four Have in Common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§22.3     </a:t>
            </a:r>
            <a:fld id="{E670B74A-ADC2-4D44-BD97-36D08321FE49}" type="slidenum">
              <a:rPr lang="en-GB" sz="1000">
                <a:solidFill>
                  <a:srgbClr val="8795A1"/>
                </a:solidFill>
                <a:latin typeface="Segoe UI"/>
              </a:rPr>
              <a:t>16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15036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decision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174     </a:t>
            </a:r>
            <a:fld id="{AFCD399D-E6BD-4A8D-9AD1-4794BF3F4CAB}"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software house of 40 engineers moved its entire estate — 120 guests, development and production — to a public cloud over four months. The projection showed a 15% saving. The first full month’s invoice was 2.3 times the projection, and the second was higher.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40976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2: The Cloud Migration That Cost More</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174     </a:t>
            </a:r>
            <a:fld id="{B9FFBA3C-CA1C-4968-916F-30A83076BE5C}"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7" cy="4160518"/>
        </p:xfrm>
        <a:graphic>
          <a:graphicData uri="http://schemas.openxmlformats.org/drawingml/2006/table">
            <a:tbl>
              <a:tblPr firstRow="0" bandRow="0" firstCol="0" lastRow="0" lastCol="0" bandCol="0">
                <a:tableStyleId>{2D5ABB26-0587-4C30-8999-92F81FD0307C}</a:tableStyleId>
              </a:tblPr>
              <a:tblGrid>
                <a:gridCol w="2737234"/>
                <a:gridCol w="1627544"/>
                <a:gridCol w="3181110"/>
                <a:gridCol w="3329069"/>
              </a:tblGrid>
              <a:tr h="603504">
                <a:tc>
                  <a:txBody>
                    <a:bodyPr wrap="square"/>
                    <a:lstStyle/>
                    <a:p>
                      <a:pPr algn="l"/>
                      <a:r>
                        <a:rPr sz="1500" b="1" i="0">
                          <a:solidFill>
                            <a:srgbClr val="1A5276"/>
                          </a:solidFill>
                          <a:latin typeface="Segoe UI"/>
                        </a:rPr>
                        <a:t>Cause</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Share of overrun</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What happened</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Chapter</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832103">
                <a:tc>
                  <a:txBody>
                    <a:bodyPr wrap="square"/>
                    <a:lstStyle/>
                    <a:p>
                      <a:pPr algn="l"/>
                      <a:r>
                        <a:rPr sz="1500" b="0" i="0">
                          <a:solidFill>
                            <a:srgbClr val="1C252B"/>
                          </a:solidFill>
                          <a:latin typeface="Segoe UI"/>
                        </a:rPr>
                        <a:t>Lift and shift without right-sizing</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44%</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120 guests moved at their existing vCPU and memory, which had never been measured</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Chapter 6, Chapter 14</a:t>
                      </a:r>
                      <a:endParaRPr sz="1500"/>
                    </a:p>
                  </a:txBody>
                  <a:tcPr marL="109728" marR="109728" marT="64008" marB="45720" anchor="t">
                    <a:lnL w="0" cmpd="sng">
                      <a:noFill/>
                    </a:lnL>
                    <a:lnR w="0" cmpd="sng">
                      <a:noFill/>
                    </a:lnR>
                    <a:lnT w="9525" cmpd="sng">
                      <a:noFill/>
                    </a:lnT>
                    <a:lnB w="9525" cmpd="sng">
                      <a:noFill/>
                    </a:lnB>
                    <a:solidFill>
                      <a:srgbClr val="FFFFFF"/>
                    </a:solidFill>
                  </a:tcPr>
                </a:tc>
              </a:tr>
              <a:tr h="1289304">
                <a:tc>
                  <a:txBody>
                    <a:bodyPr wrap="square"/>
                    <a:lstStyle/>
                    <a:p>
                      <a:pPr algn="l"/>
                      <a:r>
                        <a:rPr sz="1500" b="0" i="0">
                          <a:solidFill>
                            <a:srgbClr val="1C252B"/>
                          </a:solidFill>
                          <a:latin typeface="Segoe UI"/>
                        </a:rPr>
                        <a:t>On-demand pricing throughout</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31%</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No reservations, because nobody was confident enough to commit. Chapter 14’s worked example: on demand was 61% more than owning</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Chapter 14</a:t>
                      </a:r>
                      <a:endParaRPr sz="1500"/>
                    </a:p>
                  </a:txBody>
                  <a:tcPr marL="109728" marR="109728" marT="64008" marB="45720" anchor="t">
                    <a:lnL w="0" cmpd="sng">
                      <a:noFill/>
                    </a:lnL>
                    <a:lnR w="0" cmpd="sng">
                      <a:noFill/>
                    </a:lnR>
                    <a:lnT w="9525" cmpd="sng">
                      <a:noFill/>
                    </a:lnT>
                    <a:lnB w="9525" cmpd="sng">
                      <a:noFill/>
                    </a:lnB>
                    <a:solidFill>
                      <a:srgbClr val="F2F8FC"/>
                    </a:solidFill>
                  </a:tcPr>
                </a:tc>
              </a:tr>
              <a:tr h="832103">
                <a:tc>
                  <a:txBody>
                    <a:bodyPr wrap="square"/>
                    <a:lstStyle/>
                    <a:p>
                      <a:pPr algn="l"/>
                      <a:r>
                        <a:rPr sz="1500" b="0" i="0">
                          <a:solidFill>
                            <a:srgbClr val="1C252B"/>
                          </a:solidFill>
                          <a:latin typeface="Segoe UI"/>
                        </a:rPr>
                        <a:t>Egress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17%</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Nightly backups written </a:t>
                      </a:r>
                      <a:r>
                        <a:rPr sz="1500" b="0" i="1">
                          <a:solidFill>
                            <a:srgbClr val="1C252B"/>
                          </a:solidFill>
                          <a:latin typeface="Segoe UI"/>
                        </a:rPr>
                        <a:t>out</a:t>
                      </a:r>
                      <a:r>
                        <a:rPr sz="1500" b="0" i="0">
                          <a:solidFill>
                            <a:srgbClr val="1C252B"/>
                          </a:solidFill>
                          <a:latin typeface="Segoe UI"/>
                        </a:rPr>
                        <a:t> of the cloud to the old on-premises array, at $0.09 per GB</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Chapter 14</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0" i="0">
                          <a:solidFill>
                            <a:srgbClr val="1C252B"/>
                          </a:solidFill>
                          <a:latin typeface="Segoe UI"/>
                        </a:rPr>
                        <a:t>Development guests running continuously</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500" b="0" i="0">
                          <a:solidFill>
                            <a:srgbClr val="1C252B"/>
                          </a:solidFill>
                          <a:latin typeface="Segoe UI"/>
                        </a:rPr>
                        <a:t>8%</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500" b="0" i="0">
                          <a:solidFill>
                            <a:srgbClr val="1C252B"/>
                          </a:solidFill>
                          <a:latin typeface="Segoe UI"/>
                        </a:rPr>
                        <a:t>44 non-production guests billed </a:t>
                      </a:r>
                      <a:r>
                        <a:rPr sz="1500" b="0" i="0">
                          <a:solidFill>
                            <a:srgbClr val="1C252B"/>
                          </a:solidFill>
                          <a:latin typeface="Cambria"/>
                        </a:rPr>
                        <a:t>24 × 7</a:t>
                      </a:r>
                      <a:r>
                        <a:rPr sz="1500" b="0" i="0">
                          <a:solidFill>
                            <a:srgbClr val="1C252B"/>
                          </a:solidFill>
                          <a:latin typeface="Segoe UI"/>
                        </a:rPr>
                        <a:t> for work done </a:t>
                      </a:r>
                      <a:r>
                        <a:rPr sz="1500" b="0" i="0">
                          <a:solidFill>
                            <a:srgbClr val="1C252B"/>
                          </a:solidFill>
                          <a:latin typeface="Cambria"/>
                        </a:rPr>
                        <a:t>8 × 5</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500" b="0" i="0">
                          <a:solidFill>
                            <a:srgbClr val="1C252B"/>
                          </a:solidFill>
                          <a:latin typeface="Segoe UI"/>
                        </a:rPr>
                        <a:t>Chapter 14</a:t>
                      </a:r>
                      <a:endParaRPr sz="15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66915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2: The Cloud Migration That Cost More</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174     </a:t>
            </a:r>
            <a:fld id="{33FF6579-4B73-4D39-AD21-FCB085D89CA1}"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09364"/>
          </a:xfrm>
          <a:prstGeom prst="roundRect">
            <a:avLst>
              <a:gd name="adj" fmla="val 2172"/>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093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633292"/>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Right-sizing.</a:t>
            </a:r>
            <a:r>
              <a:rPr sz="2300" b="0" i="0">
                <a:solidFill>
                  <a:srgbClr val="1C252B"/>
                </a:solidFill>
                <a:latin typeface="Segoe UI"/>
              </a:rPr>
              <a:t> Measured p95 across 120 guests; mean allocation fell from 6.2 vCPU and 21 GB to 2.1 vCPU and 7 GB. Compute cost </a:t>
            </a:r>
            <a:r>
              <a:rPr sz="2300" b="0" i="0">
                <a:solidFill>
                  <a:srgbClr val="1C252B"/>
                </a:solidFill>
                <a:latin typeface="Cambria"/>
              </a:rPr>
              <a:t>× 0.34</a:t>
            </a:r>
            <a:r>
              <a:rPr sz="2300" b="0" i="0">
                <a:solidFill>
                  <a:srgbClr val="1C252B"/>
                </a:solidFill>
                <a:latin typeface="Segoe UI"/>
              </a:rPr>
              <a:t>.</a:t>
            </a:r>
          </a:p>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Reservations</a:t>
            </a:r>
            <a:r>
              <a:rPr sz="2300" b="0" i="0">
                <a:solidFill>
                  <a:srgbClr val="1C252B"/>
                </a:solidFill>
                <a:latin typeface="Segoe UI"/>
              </a:rPr>
              <a:t> on the 61 guests that were genuinely steady. Chapter 14’s figure for a three-year commitment is 55%; a one-year commitment was taken instead at 34%, because the business would not commit for three.</a:t>
            </a:r>
          </a:p>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Backups kept in the cloud</a:t>
            </a:r>
            <a:r>
              <a:rPr sz="2300" b="0" i="0">
                <a:solidFill>
                  <a:srgbClr val="1C252B"/>
                </a:solidFill>
                <a:latin typeface="Segoe UI"/>
              </a:rPr>
              <a:t>, with only a weekly copy leaving. Egress fell by about 85%.</a:t>
            </a:r>
          </a:p>
          <a:p>
            <a:pPr algn="l" marL="257176" indent="-257176">
              <a:lnSpc>
                <a:spcPct val="104000"/>
              </a:lnSpc>
              <a:spcBef>
                <a:spcPts val="0"/>
              </a:spcBef>
              <a:spcAft>
                <a:spcPts val="0"/>
              </a:spcAft>
            </a:pPr>
            <a:r>
              <a:rPr sz="2300" b="1">
                <a:solidFill>
                  <a:srgbClr val="1A5276"/>
                </a:solidFill>
                <a:latin typeface="Segoe UI"/>
              </a:rPr>
              <a:t>•	</a:t>
            </a:r>
            <a:r>
              <a:rPr sz="2300" b="1" i="0">
                <a:solidFill>
                  <a:srgbClr val="1A5276"/>
                </a:solidFill>
                <a:latin typeface="Segoe UI"/>
              </a:rPr>
              <a:t>Development guests stopped out of hours</a:t>
            </a:r>
            <a:r>
              <a:rPr sz="2300" b="0" i="0">
                <a:solidFill>
                  <a:srgbClr val="1C252B"/>
                </a:solidFill>
                <a:latin typeface="Segoe UI"/>
              </a:rPr>
              <a:t>, a scheduled task: </a:t>
            </a:r>
            <a:r>
              <a:rPr sz="2300" b="0" i="0">
                <a:solidFill>
                  <a:srgbClr val="1C252B"/>
                </a:solidFill>
                <a:latin typeface="Cambria"/>
              </a:rPr>
              <a:t>24 × 7 = 168</a:t>
            </a:r>
            <a:r>
              <a:rPr sz="2300" b="0" i="0">
                <a:solidFill>
                  <a:srgbClr val="1C252B"/>
                </a:solidFill>
                <a:latin typeface="Segoe UI"/>
              </a:rPr>
              <a:t> hours becomes </a:t>
            </a:r>
            <a:r>
              <a:rPr sz="2300" b="0" i="0">
                <a:solidFill>
                  <a:srgbClr val="1C252B"/>
                </a:solidFill>
                <a:latin typeface="Cambria"/>
              </a:rPr>
              <a:t>10 × 5 = 50</a:t>
            </a:r>
            <a:r>
              <a:rPr sz="2300" b="0" i="0">
                <a:solidFill>
                  <a:srgbClr val="1C252B"/>
                </a:solidFill>
                <a:latin typeface="Segoe UI"/>
              </a:rPr>
              <a:t>, a 70% reduction on those 44 guests.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492855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lesson: lift and shift is a migration strategy, not a cost strategy</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174     </a:t>
            </a:r>
            <a:fld id="{11133556-39A9-4F21-9FAE-835F9A054E2D}"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Lifting and shifting is a perfectly reasonable way to </a:t>
            </a:r>
            <a:r>
              <a:rPr sz="2200" b="0" i="1">
                <a:solidFill>
                  <a:srgbClr val="1C252B"/>
                </a:solidFill>
                <a:latin typeface="Segoe UI"/>
              </a:rPr>
              <a:t>move</a:t>
            </a:r>
            <a:r>
              <a:rPr sz="2200" b="0" i="0">
                <a:solidFill>
                  <a:srgbClr val="1C252B"/>
                </a:solidFill>
                <a:latin typeface="Segoe UI"/>
              </a:rPr>
              <a:t>: it is fast, it is low-risk, and it decouples the move from the redesign.</a:t>
            </a:r>
          </a:p>
        </p:txBody>
      </p:sp>
      <p:sp>
        <p:nvSpPr>
          <p:cNvPr id="10" name="body-1"/>
          <p:cNvSpPr txBox="1"/>
          <p:nvPr/>
        </p:nvSpPr>
        <p:spPr>
          <a:xfrm>
            <a:off x="1060704" y="2899308"/>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What it is not is a way to save money, and the reason is structural. On premises, waste is invisible — a guest with four times the memory it needs costs nothing extra once the host is bought. In the cloud, every unit of waste is a line on a monthly invoice. The cloud did not make this estate expensive; it made it </a:t>
            </a:r>
            <a:r>
              <a:rPr sz="2200" b="0" i="1">
                <a:solidFill>
                  <a:srgbClr val="1C252B"/>
                </a:solidFill>
                <a:latin typeface="Segoe UI"/>
              </a:rPr>
              <a:t>legible</a:t>
            </a:r>
            <a:r>
              <a:rPr sz="2200" b="0" i="0">
                <a:solidFill>
                  <a:srgbClr val="1C252B"/>
                </a:solidFill>
                <a:latin typeface="Segoe UI"/>
              </a:rPr>
              <a:t>, and what became legible was eleven years of unmeasured allocation.</a:t>
            </a:r>
          </a:p>
        </p:txBody>
      </p:sp>
      <p:sp>
        <p:nvSpPr>
          <p:cNvPr id="11" name="body-2"/>
          <p:cNvSpPr txBox="1"/>
          <p:nvPr/>
        </p:nvSpPr>
        <p:spPr>
          <a:xfrm>
            <a:off x="1060704" y="4796434"/>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If a migration business case claims savings, ask which of the four items above it has budgeted for. If the answer is none, the projection is wrong by roughly the factor this case saw.</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18795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Case 3: Edge Virtualization at Twenty-Three Sites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How to Read These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Case 1: The Consolidation That Nearly Failed</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Case 2: The Cloud Migration That Cost More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22.4   Case 3: Edge Virtualization at Twenty-Three Sites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Case 4: A Licence Change, and What It Revealed</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What the Four Have in Common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§22.4     </a:t>
            </a:r>
            <a:fld id="{3584EA28-A97F-4A40-A10B-6B6BCB876EC4}" type="slidenum">
              <a:rPr lang="en-GB" sz="1000">
                <a:solidFill>
                  <a:srgbClr val="8795A1"/>
                </a:solidFill>
                <a:latin typeface="Segoe UI"/>
              </a:rPr>
              <a:t>21</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44735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decision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175     </a:t>
            </a:r>
            <a:fld id="{110B201F-392A-49B4-920F-59EF293C706E}"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logistics company ran a small application at each of 23 depots: stock, weighing, dispatch. Each site had two aging PCs under a desk. Connectivity to head office was a consumer broadband line, and it failed somewhere in the estate most weeks.</a:t>
            </a:r>
          </a:p>
        </p:txBody>
      </p:sp>
      <p:sp>
        <p:nvSpPr>
          <p:cNvPr id="10" name="body-1"/>
          <p:cNvSpPr txBox="1"/>
          <p:nvPr/>
        </p:nvSpPr>
        <p:spPr>
          <a:xfrm>
            <a:off x="1060704" y="3667074"/>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proposal was to centralise everything into the data centre and give each depot a thin client (Chapter 15).</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70675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3: Edge Virtualization at Twenty-Three Sites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175     </a:t>
            </a:r>
            <a:fld id="{1AECADCC-062E-451E-92B3-3CE0D28FF6A5}"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904354"/>
          </a:xfrm>
          <a:prstGeom prst="roundRect">
            <a:avLst>
              <a:gd name="adj" fmla="val 480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90435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Depot operations must continue when the line is down. Measured over a year, each site’s link had about 99.2% availability:</a:t>
            </a:r>
          </a:p>
        </p:txBody>
      </p:sp>
      <p:pic>
        <p:nvPicPr>
          <p:cNvPr id="10" name="body-1" descr="(1 - 0.992) \times 8{,}760 = \mathbf{70 \text{ hours a yea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96614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3: Edge Virtualization at Twenty-Three Sites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175     </a:t>
            </a:r>
            <a:fld id="{9571C7DA-B781-461D-8233-5099CABFA9E6}"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1065"/>
          </a:xfrm>
          <a:prstGeom prst="roundRect">
            <a:avLst>
              <a:gd name="adj" fmla="val 2072"/>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106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A5276"/>
                </a:solidFill>
                <a:latin typeface="Segoe UI"/>
              </a:rPr>
              <a:t>What was built instead.</a:t>
            </a:r>
            <a:r>
              <a:rPr sz="1800" b="0" i="0">
                <a:solidFill>
                  <a:srgbClr val="1C252B"/>
                </a:solidFill>
                <a:latin typeface="Segoe UI"/>
              </a:rPr>
              <a:t> One small two-node cluster per depot, running three guests: the application, a local database and a management agent. Specifically:</a:t>
            </a:r>
          </a:p>
        </p:txBody>
      </p:sp>
      <p:sp>
        <p:nvSpPr>
          <p:cNvPr id="10" name="body-1"/>
          <p:cNvSpPr txBox="1"/>
          <p:nvPr/>
        </p:nvSpPr>
        <p:spPr>
          <a:xfrm>
            <a:off x="1060704" y="2744571"/>
            <a:ext cx="10161727" cy="3138677"/>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1A5276"/>
                </a:solidFill>
                <a:latin typeface="Segoe UI"/>
              </a:rPr>
              <a:t>•	</a:t>
            </a:r>
            <a:r>
              <a:rPr sz="1800" b="1" i="0">
                <a:solidFill>
                  <a:srgbClr val="1A5276"/>
                </a:solidFill>
                <a:latin typeface="Segoe UI"/>
              </a:rPr>
              <a:t>Immutable images</a:t>
            </a:r>
            <a:r>
              <a:rPr sz="1800" b="0" i="0">
                <a:solidFill>
                  <a:srgbClr val="1C252B"/>
                </a:solidFill>
                <a:latin typeface="Segoe UI"/>
              </a:rPr>
              <a:t> (Chapter 16). Depots have no technical staff, so nothing is configured on site. A new version is a new image; rollback is the previous image.</a:t>
            </a:r>
          </a:p>
          <a:p>
            <a:pPr algn="l" marL="201268" indent="-201268">
              <a:lnSpc>
                <a:spcPct val="104000"/>
              </a:lnSpc>
              <a:spcBef>
                <a:spcPts val="0"/>
              </a:spcBef>
              <a:spcAft>
                <a:spcPts val="630"/>
              </a:spcAft>
            </a:pPr>
            <a:r>
              <a:rPr sz="1800" b="1">
                <a:solidFill>
                  <a:srgbClr val="1A5276"/>
                </a:solidFill>
                <a:latin typeface="Segoe UI"/>
              </a:rPr>
              <a:t>•	</a:t>
            </a:r>
            <a:r>
              <a:rPr sz="1800" b="1" i="0">
                <a:solidFill>
                  <a:srgbClr val="1A5276"/>
                </a:solidFill>
                <a:latin typeface="Segoe UI"/>
              </a:rPr>
              <a:t>Containers, not VMs, for the application</a:t>
            </a:r>
            <a:r>
              <a:rPr sz="1800" b="0" i="0">
                <a:solidFill>
                  <a:srgbClr val="1C252B"/>
                </a:solidFill>
                <a:latin typeface="Segoe UI"/>
              </a:rPr>
              <a:t> (Chapter 8), because the hardware budget per site was small and the start-up speed made unattended recovery practical.</a:t>
            </a:r>
          </a:p>
          <a:p>
            <a:pPr algn="l" marL="201268" indent="-201268">
              <a:lnSpc>
                <a:spcPct val="104000"/>
              </a:lnSpc>
              <a:spcBef>
                <a:spcPts val="0"/>
              </a:spcBef>
              <a:spcAft>
                <a:spcPts val="630"/>
              </a:spcAft>
            </a:pPr>
            <a:r>
              <a:rPr sz="1800" b="1">
                <a:solidFill>
                  <a:srgbClr val="1A5276"/>
                </a:solidFill>
                <a:latin typeface="Segoe UI"/>
              </a:rPr>
              <a:t>•	</a:t>
            </a:r>
            <a:r>
              <a:rPr sz="1800" b="1" i="0">
                <a:solidFill>
                  <a:srgbClr val="1A5276"/>
                </a:solidFill>
                <a:latin typeface="Segoe UI"/>
              </a:rPr>
              <a:t>Local persistence with asynchronous replication</a:t>
            </a:r>
            <a:r>
              <a:rPr sz="1800" b="0" i="0">
                <a:solidFill>
                  <a:srgbClr val="1C252B"/>
                </a:solidFill>
                <a:latin typeface="Segoe UI"/>
              </a:rPr>
              <a:t> to head office. RPO of 15 minutes, accepted explicitly: a depot losing 15 minutes of dispatch records in a total site failure was judged tolerable, and synchronous replication over a failing consumer line was not possible anyway.</a:t>
            </a:r>
          </a:p>
          <a:p>
            <a:pPr algn="l" marL="201268" indent="-201268">
              <a:lnSpc>
                <a:spcPct val="104000"/>
              </a:lnSpc>
              <a:spcBef>
                <a:spcPts val="0"/>
              </a:spcBef>
              <a:spcAft>
                <a:spcPts val="0"/>
              </a:spcAft>
            </a:pPr>
            <a:r>
              <a:rPr sz="1800" b="1">
                <a:solidFill>
                  <a:srgbClr val="1A5276"/>
                </a:solidFill>
                <a:latin typeface="Segoe UI"/>
              </a:rPr>
              <a:t>•	</a:t>
            </a:r>
            <a:r>
              <a:rPr sz="1800" b="1" i="0">
                <a:solidFill>
                  <a:srgbClr val="1A5276"/>
                </a:solidFill>
                <a:latin typeface="Segoe UI"/>
              </a:rPr>
              <a:t>No live migration</a:t>
            </a:r>
            <a:r>
              <a:rPr sz="1800" b="0" i="0">
                <a:solidFill>
                  <a:srgbClr val="1C252B"/>
                </a:solidFill>
                <a:latin typeface="Segoe UI"/>
              </a:rPr>
              <a:t> (Chapter 17). Two nodes, so quorum is impossible; a witness ran at head office, and when the line was down the site operated in a documented degraded mode with HA disabled rather than risking the split brain of Chapter 17.</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622554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lesson: the constraint is rarely the one in the proposal</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175     </a:t>
            </a:r>
            <a:fld id="{1426AA02-DB5E-4DCF-B3CC-EE7C6B505291}"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3"/>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proposal was framed as a management problem — 46 unmanaged PCs — and the answer was framed as centralisation. The actual constraint was a 99.2% network link, which nobody had measured until someone asked for the number.</a:t>
            </a:r>
          </a:p>
        </p:txBody>
      </p:sp>
      <p:sp>
        <p:nvSpPr>
          <p:cNvPr id="10" name="body-1"/>
          <p:cNvSpPr txBox="1"/>
          <p:nvPr/>
        </p:nvSpPr>
        <p:spPr>
          <a:xfrm>
            <a:off x="1060704" y="3247999"/>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Edge deployments invert several assumptions this book has relied on: bandwidth is scarce and unreliable, there is no one on site, physical security is weak, and the hardware is whatever fits under a desk. The techniques still apply — images, containers, replication, quorum — but the </a:t>
            </a:r>
            <a:r>
              <a:rPr sz="2200" b="0" i="1">
                <a:solidFill>
                  <a:srgbClr val="1C252B"/>
                </a:solidFill>
                <a:latin typeface="Segoe UI"/>
              </a:rPr>
              <a:t>weightings</a:t>
            </a:r>
            <a:r>
              <a:rPr sz="2200" b="0" i="0">
                <a:solidFill>
                  <a:srgbClr val="1C252B"/>
                </a:solidFill>
                <a:latin typeface="Segoe UI"/>
              </a:rPr>
              <a:t> change completely.</a:t>
            </a:r>
          </a:p>
        </p:txBody>
      </p:sp>
      <p:sp>
        <p:nvSpPr>
          <p:cNvPr id="11" name="body-2"/>
          <p:cNvSpPr txBox="1"/>
          <p:nvPr/>
        </p:nvSpPr>
        <p:spPr>
          <a:xfrm>
            <a:off x="1060704" y="4796434"/>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transferable question: </a:t>
            </a:r>
            <a:r>
              <a:rPr sz="2200" b="0" i="1">
                <a:solidFill>
                  <a:srgbClr val="1C252B"/>
                </a:solidFill>
                <a:latin typeface="Segoe UI"/>
              </a:rPr>
              <a:t>what does this site have to keep doing when the link is down?</a:t>
            </a:r>
            <a:r>
              <a:rPr sz="2200" b="0" i="0">
                <a:solidFill>
                  <a:srgbClr val="1C252B"/>
                </a:solidFill>
                <a:latin typeface="Segoe UI"/>
              </a:rPr>
              <a:t> If the answer is “nothing”, centralise. If it is “everything”, the compute follows the work.</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48494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Case 4: A Licence Change, and What It Revealed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How to Read These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Case 1: The Consolidation That Nearly Failed</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Case 2: The Cloud Migration That Cost More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Case 3: Edge Virtualization at Twenty-Three Sites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22.5   Case 4: A Licence Change, and What It Revealed</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What the Four Have in Common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§22.5     </a:t>
            </a:r>
            <a:fld id="{DD2BA11D-573D-403A-9CD3-23BB420124B2}" type="slidenum">
              <a:rPr lang="en-GB" sz="1000">
                <a:solidFill>
                  <a:srgbClr val="8795A1"/>
                </a:solidFill>
                <a:latin typeface="Segoe UI"/>
              </a:rPr>
              <a:t>26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67443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decision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§22.5  ·  Handout p. 176     </a:t>
            </a:r>
            <a:fld id="{1216618E-492E-4D85-8993-F9DB9340DC0A}" type="slidenum">
              <a:rPr lang="en-GB" sz="1000">
                <a:solidFill>
                  <a:srgbClr val="8795A1"/>
                </a:solidFill>
                <a:latin typeface="Segoe UI"/>
              </a:rPr>
              <a:t>27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hospital trust ran 340 guests on 14 hosts under vSphere. At renewal, a change in the vendor’s packaging — bundled subscription rather than perpetual per-socket licensing, as the industry saw after 2024 (Chapter 5) — raised the quoted renewal by a factor of roughly four.</a:t>
            </a:r>
          </a:p>
        </p:txBody>
      </p:sp>
      <p:sp>
        <p:nvSpPr>
          <p:cNvPr id="10" name="body-1"/>
          <p:cNvSpPr txBox="1"/>
          <p:nvPr/>
        </p:nvSpPr>
        <p:spPr>
          <a:xfrm>
            <a:off x="1060704" y="3667074"/>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Three options were considered: pay, migrate to another platform, or move to a public cloud.</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700373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Case 4: A Licence Change, and What It Revealed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§22.5  ·  Handout p. 176     </a:t>
            </a:r>
            <a:fld id="{9B273F37-EE91-42FA-93FE-228553BB31FB}" type="slidenum">
              <a:rPr lang="en-GB" sz="1000">
                <a:solidFill>
                  <a:srgbClr val="8795A1"/>
                </a:solidFill>
                <a:latin typeface="Segoe UI"/>
              </a:rPr>
              <a:t>28</a:t>
            </a:fld>
          </a:p>
        </p:txBody>
      </p:sp>
      <p:graphicFrame>
        <p:nvGraphicFramePr>
          <p:cNvPr id="7" name="!!table"/>
          <p:cNvGraphicFramePr>
            <a:graphicFrameLocks noGrp="1"/>
          </p:cNvGraphicFramePr>
          <p:nvPr/>
        </p:nvGraphicFramePr>
        <p:xfrm>
          <a:off x="658368" y="1737360"/>
          <a:ext cx="10874957" cy="2398776"/>
        </p:xfrm>
        <a:graphic>
          <a:graphicData uri="http://schemas.openxmlformats.org/drawingml/2006/table">
            <a:tbl>
              <a:tblPr firstRow="0" bandRow="0" firstCol="0" lastRow="0" lastCol="0" bandCol="0">
                <a:tableStyleId>{2D5ABB26-0587-4C30-8999-92F81FD0307C}</a:tableStyleId>
              </a:tblPr>
              <a:tblGrid>
                <a:gridCol w="3020821"/>
                <a:gridCol w="1963534"/>
                <a:gridCol w="2416657"/>
                <a:gridCol w="3473945"/>
              </a:tblGrid>
              <a:tr h="405384">
                <a:tc>
                  <a:txBody>
                    <a:bodyPr wrap="square"/>
                    <a:lstStyle/>
                    <a:p>
                      <a:pPr algn="l"/>
                      <a:r>
                        <a:rPr sz="1700" b="1" i="0">
                          <a:solidFill>
                            <a:srgbClr val="1A5276"/>
                          </a:solidFill>
                          <a:latin typeface="Segoe UI"/>
                        </a:rPr>
                        <a:t>Option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Licence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Migration effort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Risk</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Stay on vSphere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High</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None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Exposed to the next repricing</a:t>
                      </a:r>
                      <a:endParaRPr sz="1700"/>
                    </a:p>
                  </a:txBody>
                  <a:tcPr marL="109728" marR="109728" marT="64008" marB="45720" anchor="t">
                    <a:lnL w="0" cmpd="sng">
                      <a:noFill/>
                    </a:lnL>
                    <a:lnR w="0" cmpd="sng">
                      <a:noFill/>
                    </a:lnR>
                    <a:lnT w="9525" cmpd="sng">
                      <a:noFill/>
                    </a:lnT>
                    <a:lnB w="9525" cmpd="sng">
                      <a:noFill/>
                    </a:lnB>
                    <a:solidFill>
                      <a:srgbClr val="FFFFFF"/>
                    </a:solidFill>
                  </a:tcPr>
                </a:tc>
              </a:tr>
              <a:tr h="923544">
                <a:tc>
                  <a:txBody>
                    <a:bodyPr wrap="square"/>
                    <a:lstStyle/>
                    <a:p>
                      <a:pPr algn="l"/>
                      <a:r>
                        <a:rPr sz="1700" b="0" i="0">
                          <a:solidFill>
                            <a:srgbClr val="1C252B"/>
                          </a:solidFill>
                          <a:latin typeface="Segoe UI"/>
                        </a:rPr>
                        <a:t>Migrate to Proxmox or oVirt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Near zero</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340 guests, 9–14 months, two engineers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Staff retraining; tooling rebuilt; clinical systems vendors may not support it</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Public cloud</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N/A</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Largest; also a data-residency review</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Egress; ongoing cost; regulatory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726313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lesson: lock-in is not technical</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§22.5  ·  Handout p. 176     </a:t>
            </a:r>
            <a:fld id="{4E3E447C-F034-4184-9B6B-3BE17341AD79}"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3"/>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Every chapter in this book would say the migration is feasible. The hypervisors are comparable (Chapter 5), the disk formats convert (Chapter 12), the networking is reproducible (Chapter 13).</a:t>
            </a:r>
          </a:p>
        </p:txBody>
      </p:sp>
      <p:sp>
        <p:nvSpPr>
          <p:cNvPr id="10" name="body-1"/>
          <p:cNvSpPr txBox="1"/>
          <p:nvPr/>
        </p:nvSpPr>
        <p:spPr>
          <a:xfrm>
            <a:off x="1060704" y="3247999"/>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What made it hard was institutional knowledge that had never been written down. That is the real lock-in, and it is not specific to any vendor: it accumulates in any estate that grows without an inventory, and it is what makes every platform change cost three times its estimate.</a:t>
            </a:r>
          </a:p>
        </p:txBody>
      </p:sp>
      <p:sp>
        <p:nvSpPr>
          <p:cNvPr id="11" name="body-2"/>
          <p:cNvSpPr txBox="1"/>
          <p:nvPr/>
        </p:nvSpPr>
        <p:spPr>
          <a:xfrm>
            <a:off x="1060704" y="4796434"/>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cheapest insurance against a repricing you cannot predict is an inventory you maintain. It costs little, it is useful every day for other reasons, and it converts a crisis into a project.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752253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the Four Have in Common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How to Read These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Case 1: The Consolidation That Nearly Failed</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Case 2: The Cloud Migration That Cost More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Case 3: Edge Virtualization at Twenty-Three Sites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Case 4: A Licence Change, and What It Revealed</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22.6   What the Four Have in Common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§22.6     </a:t>
            </a:r>
            <a:fld id="{DAAE87F5-7E38-4178-97ED-4FD2885E4FE0}" type="slidenum">
              <a:rPr lang="en-GB" sz="1000">
                <a:solidFill>
                  <a:srgbClr val="8795A1"/>
                </a:solidFill>
                <a:latin typeface="Segoe UI"/>
              </a:rPr>
              <a:t>30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778193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Four Have in Common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177     </a:t>
            </a:r>
            <a:fld id="{6FDE0725-03FE-474A-8B4C-49D78A3CCBAE}" type="slidenum">
              <a:rPr lang="en-GB" sz="1000">
                <a:solidFill>
                  <a:srgbClr val="8795A1"/>
                </a:solidFill>
                <a:latin typeface="Segoe UI"/>
              </a:rPr>
              <a:t>31</a:t>
            </a:fld>
          </a:p>
        </p:txBody>
      </p:sp>
      <p:graphicFrame>
        <p:nvGraphicFramePr>
          <p:cNvPr id="7" name="!!table"/>
          <p:cNvGraphicFramePr>
            <a:graphicFrameLocks noGrp="1"/>
          </p:cNvGraphicFramePr>
          <p:nvPr/>
        </p:nvGraphicFramePr>
        <p:xfrm>
          <a:off x="658368" y="1737360"/>
          <a:ext cx="10874957" cy="3063240"/>
        </p:xfrm>
        <a:graphic>
          <a:graphicData uri="http://schemas.openxmlformats.org/drawingml/2006/table">
            <a:tbl>
              <a:tblPr firstRow="0" bandRow="0" firstCol="0" lastRow="0" lastCol="0" bandCol="0">
                <a:tableStyleId>{2D5ABB26-0587-4C30-8999-92F81FD0307C}</a:tableStyleId>
              </a:tblPr>
              <a:tblGrid>
                <a:gridCol w="1469589"/>
                <a:gridCol w="3233095"/>
                <a:gridCol w="3159616"/>
                <a:gridCol w="3012657"/>
              </a:tblGrid>
              <a:tr h="405384">
                <a:tc>
                  <a:txBody>
                    <a:bodyPr wrap="square"/>
                    <a:lstStyle/>
                    <a:p>
                      <a:pPr algn="l"/>
                      <a:r>
                        <a:rPr sz="1700" b="1" i="0">
                          <a:solidFill>
                            <a:srgbClr val="1A5276"/>
                          </a:solidFill>
                          <a:latin typeface="Segoe UI"/>
                        </a:rPr>
                        <a:t>Case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Framed as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Actually about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Missing measurement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1</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Consolidation ratio</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N+1 memory under maintenance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Active memory, before migrating</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2</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Cloud versus on premises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Eleven years of unmeasured allocation becoming visible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p95 utilisation per guest</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3</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Managing 46 unmanaged PCs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What must keep working when the link fails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Link availability per site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4</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A licence renewal</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Not knowing what the estate does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An inventory with owners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804133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pattern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177     </a:t>
            </a:r>
            <a:fld id="{49A49FE0-CD75-479B-BBA8-C99E8504BCC9}" type="slidenum">
              <a:rPr lang="en-GB" sz="1000">
                <a:solidFill>
                  <a:srgbClr val="8795A1"/>
                </a:solidFill>
                <a:latin typeface="Segoe UI"/>
              </a:rPr>
              <a:t>32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54119"/>
          </a:xfrm>
          <a:prstGeom prst="roundRect">
            <a:avLst>
              <a:gd name="adj" fmla="val 243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5411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In all four, the decision was framed as a technology choice and settled by a measurement nobody had taken. In none of them was the chosen technology wrong.</a:t>
            </a:r>
          </a:p>
        </p:txBody>
      </p:sp>
      <p:sp>
        <p:nvSpPr>
          <p:cNvPr id="10" name="body-1"/>
          <p:cNvSpPr txBox="1"/>
          <p:nvPr/>
        </p:nvSpPr>
        <p:spPr>
          <a:xfrm>
            <a:off x="1060704" y="2821939"/>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That is worth carrying into Chapter 23 and into professional practice. The engineering in this book is the easy part: hypervisors work, containers work, migration works. The difficulty is almost always in knowing what you have, what it uses and what it must keep doing — and those are questions of measurement and record-keeping, not of architecture.</a:t>
            </a:r>
          </a:p>
        </p:txBody>
      </p:sp>
      <p:sp>
        <p:nvSpPr>
          <p:cNvPr id="11" name="body-2"/>
          <p:cNvSpPr txBox="1"/>
          <p:nvPr/>
        </p:nvSpPr>
        <p:spPr>
          <a:xfrm>
            <a:off x="1060704" y="4546599"/>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When you are handed a proposal, the most useful question is rarely “is this the right technology?”. It is </a:t>
            </a:r>
            <a:r>
              <a:rPr sz="2000" b="0" i="1">
                <a:solidFill>
                  <a:srgbClr val="1C252B"/>
                </a:solidFill>
                <a:latin typeface="Segoe UI"/>
              </a:rPr>
              <a:t>“what number would change this decision, and has anyone taken it?”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830072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177     </a:t>
            </a:r>
            <a:fld id="{04E13E74-55BE-4EA8-9980-E3E8B9C87A53}" type="slidenum">
              <a:rPr lang="en-GB" sz="1000">
                <a:solidFill>
                  <a:srgbClr val="8795A1"/>
                </a:solidFill>
                <a:latin typeface="Segoe UI"/>
              </a:rPr>
              <a:t>33</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Quoting a consolidation ratio without N+1.</a:t>
            </a:r>
            <a:r>
              <a:rPr sz="1800" b="0" i="0">
                <a:solidFill>
                  <a:srgbClr val="1C252B"/>
                </a:solidFill>
                <a:latin typeface="Segoe UI"/>
              </a:rPr>
              <a:t> Case 1 failed on the day one host went away for maintenance.</a:t>
            </a:r>
          </a:p>
        </p:txBody>
      </p:sp>
      <p:sp>
        <p:nvSpPr>
          <p:cNvPr id="10" name="!!pb1">
            <a:extLst>
              <a:ext uri="{C183D7F6-B498-43B3-948B-1728B52AA6E4}">
                <adec:decorative xmlns:adec="http://schemas.microsoft.com/office/drawing/2017/decorative" val="1"/>
              </a:ext>
            </a:extLst>
          </p:cNvPr>
          <p:cNvSpPr/>
          <p:nvPr/>
        </p:nvSpPr>
        <p:spPr>
          <a:xfrm>
            <a:off x="658368" y="25274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502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509113"/>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Carrying old specifications into new guests.</a:t>
            </a:r>
            <a:r>
              <a:rPr sz="1800" b="0" i="0">
                <a:solidFill>
                  <a:srgbClr val="1C252B"/>
                </a:solidFill>
                <a:latin typeface="Segoe UI"/>
              </a:rPr>
              <a:t> You preserve every purchasing guess ever made and add overhead.</a:t>
            </a:r>
          </a:p>
        </p:txBody>
      </p:sp>
      <p:sp>
        <p:nvSpPr>
          <p:cNvPr id="13" name="!!pb2">
            <a:extLst>
              <a:ext uri="{C183D7F6-B498-43B3-948B-1728B52AA6E4}">
                <adec:decorative xmlns:adec="http://schemas.microsoft.com/office/drawing/2017/decorative" val="1"/>
              </a:ext>
            </a:extLst>
          </p:cNvPr>
          <p:cNvSpPr/>
          <p:nvPr/>
        </p:nvSpPr>
        <p:spPr>
          <a:xfrm>
            <a:off x="658368" y="32991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3220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80867"/>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Expecting lift and shift to save money.</a:t>
            </a:r>
            <a:r>
              <a:rPr sz="1800" b="0" i="0">
                <a:solidFill>
                  <a:srgbClr val="1C252B"/>
                </a:solidFill>
                <a:latin typeface="Segoe UI"/>
              </a:rPr>
              <a:t> It moves the estate; it does not fix it, and the cloud bills for what on premises concealed.</a:t>
            </a:r>
          </a:p>
        </p:txBody>
      </p:sp>
      <p:sp>
        <p:nvSpPr>
          <p:cNvPr id="16" name="!!pb3">
            <a:extLst>
              <a:ext uri="{C183D7F6-B498-43B3-948B-1728B52AA6E4}">
                <adec:decorative xmlns:adec="http://schemas.microsoft.com/office/drawing/2017/decorative" val="1"/>
              </a:ext>
            </a:extLst>
          </p:cNvPr>
          <p:cNvSpPr/>
          <p:nvPr/>
        </p:nvSpPr>
        <p:spPr>
          <a:xfrm>
            <a:off x="658368" y="407090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09376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052620"/>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Centralising without measuring the link.</a:t>
            </a:r>
            <a:r>
              <a:rPr sz="1800" b="0" i="0">
                <a:solidFill>
                  <a:srgbClr val="1C252B"/>
                </a:solidFill>
                <a:latin typeface="Segoe UI"/>
              </a:rPr>
              <a:t> Availability at the edge is a property of the worst site, not the average one.</a:t>
            </a:r>
          </a:p>
        </p:txBody>
      </p:sp>
      <p:sp>
        <p:nvSpPr>
          <p:cNvPr id="19" name="!!pb4">
            <a:extLst>
              <a:ext uri="{C183D7F6-B498-43B3-948B-1728B52AA6E4}">
                <adec:decorative xmlns:adec="http://schemas.microsoft.com/office/drawing/2017/decorative" val="1"/>
              </a:ext>
            </a:extLst>
          </p:cNvPr>
          <p:cNvSpPr/>
          <p:nvPr/>
        </p:nvSpPr>
        <p:spPr>
          <a:xfrm>
            <a:off x="658368" y="484266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86552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824374"/>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Treating a platform migration as a technical project.</a:t>
            </a:r>
            <a:r>
              <a:rPr sz="1800" b="0" i="0">
                <a:solidFill>
                  <a:srgbClr val="1C252B"/>
                </a:solidFill>
                <a:latin typeface="Segoe UI"/>
              </a:rPr>
              <a:t> The cost is in the knowledge that was never written down.</a:t>
            </a:r>
          </a:p>
        </p:txBody>
      </p:sp>
      <p:sp>
        <p:nvSpPr>
          <p:cNvPr id="22" name="!!pb5">
            <a:extLst>
              <a:ext uri="{C183D7F6-B498-43B3-948B-1728B52AA6E4}">
                <adec:decorative xmlns:adec="http://schemas.microsoft.com/office/drawing/2017/decorative" val="1"/>
              </a:ext>
            </a:extLst>
          </p:cNvPr>
          <p:cNvSpPr/>
          <p:nvPr/>
        </p:nvSpPr>
        <p:spPr>
          <a:xfrm>
            <a:off x="658368" y="561441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63727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596128"/>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Reading a case study as a recommendation.</a:t>
            </a:r>
            <a:r>
              <a:rPr sz="1800" b="0" i="0">
                <a:solidFill>
                  <a:srgbClr val="1C252B"/>
                </a:solidFill>
                <a:latin typeface="Segoe UI"/>
              </a:rPr>
              <a:t> Change one input and the answer changes; the skill is knowing which input.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856012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Analysing a Case You Have Not Seen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177     </a:t>
            </a:r>
            <a:fld id="{519615A9-9A50-40F5-8E04-4F5D0DB49826}" type="slidenum">
              <a:rPr lang="en-GB" sz="1000">
                <a:solidFill>
                  <a:srgbClr val="8795A1"/>
                </a:solidFill>
                <a:latin typeface="Segoe UI"/>
              </a:rPr>
              <a:t>34</a:t>
            </a:fld>
          </a:p>
        </p:txBody>
      </p:sp>
      <p:sp>
        <p:nvSpPr>
          <p:cNvPr id="7" name="body-0"/>
          <p:cNvSpPr txBox="1"/>
          <p:nvPr/>
        </p:nvSpPr>
        <p:spPr>
          <a:xfrm>
            <a:off x="658368" y="1737360"/>
            <a:ext cx="1087495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No commands. Work in pairs, 45 minutes, and write a one-page recommendation — this is deliberately the shape of the examination’s applied questions and of Chapter 23’s report.</a:t>
            </a:r>
          </a:p>
        </p:txBody>
      </p:sp>
      <p:sp>
        <p:nvSpPr>
          <p:cNvPr id="8" name="body-1"/>
          <p:cNvSpPr txBox="1"/>
          <p:nvPr/>
        </p:nvSpPr>
        <p:spPr>
          <a:xfrm>
            <a:off x="658368" y="2433675"/>
            <a:ext cx="1087495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0E6655"/>
                </a:solidFill>
                <a:latin typeface="Segoe UI"/>
              </a:rPr>
              <a:t>The brief.</a:t>
            </a:r>
            <a:r>
              <a:rPr sz="1800" b="0" i="0">
                <a:solidFill>
                  <a:srgbClr val="1C252B"/>
                </a:solidFill>
                <a:latin typeface="Segoe UI"/>
              </a:rPr>
              <a:t> A college runs 90 guests on 4 hosts (32 cores, 256 GB each), bought three years ago, under a platform whose support expires in seven months. Measured over the last term:</a:t>
            </a:r>
          </a:p>
        </p:txBody>
      </p:sp>
      <p:sp>
        <p:nvSpPr>
          <p:cNvPr id="9" name="body-2"/>
          <p:cNvSpPr txBox="1"/>
          <p:nvPr/>
        </p:nvSpPr>
        <p:spPr>
          <a:xfrm>
            <a:off x="658368" y="3129991"/>
            <a:ext cx="10874959" cy="1792224"/>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0E6655"/>
                </a:solidFill>
                <a:latin typeface="Segoe UI"/>
              </a:rPr>
              <a:t>•	</a:t>
            </a:r>
            <a:r>
              <a:rPr sz="1800" b="0" i="0">
                <a:solidFill>
                  <a:srgbClr val="1C252B"/>
                </a:solidFill>
                <a:latin typeface="Segoe UI"/>
              </a:rPr>
              <a:t>allocated: 410 vCPU, 1,740 GB</a:t>
            </a:r>
          </a:p>
          <a:p>
            <a:pPr algn="l" marL="201268" indent="-201268">
              <a:lnSpc>
                <a:spcPct val="104000"/>
              </a:lnSpc>
              <a:spcBef>
                <a:spcPts val="0"/>
              </a:spcBef>
              <a:spcAft>
                <a:spcPts val="630"/>
              </a:spcAft>
            </a:pPr>
            <a:r>
              <a:rPr sz="1800" b="1">
                <a:solidFill>
                  <a:srgbClr val="0E6655"/>
                </a:solidFill>
                <a:latin typeface="Segoe UI"/>
              </a:rPr>
              <a:t>•	</a:t>
            </a:r>
            <a:r>
              <a:rPr sz="1800" b="0" i="0">
                <a:solidFill>
                  <a:srgbClr val="1C252B"/>
                </a:solidFill>
                <a:latin typeface="Segoe UI"/>
              </a:rPr>
              <a:t>active: 198 GB total, p95; %RDY p95 11%</a:t>
            </a:r>
          </a:p>
          <a:p>
            <a:pPr algn="l" marL="201268" indent="-201268">
              <a:lnSpc>
                <a:spcPct val="104000"/>
              </a:lnSpc>
              <a:spcBef>
                <a:spcPts val="0"/>
              </a:spcBef>
              <a:spcAft>
                <a:spcPts val="630"/>
              </a:spcAft>
            </a:pPr>
            <a:r>
              <a:rPr sz="1800" b="1">
                <a:solidFill>
                  <a:srgbClr val="0E6655"/>
                </a:solidFill>
                <a:latin typeface="Segoe UI"/>
              </a:rPr>
              <a:t>•	</a:t>
            </a:r>
            <a:r>
              <a:rPr sz="1800" b="0" i="0">
                <a:solidFill>
                  <a:srgbClr val="1C252B"/>
                </a:solidFill>
                <a:latin typeface="Segoe UI"/>
              </a:rPr>
              <a:t>storage: 24 TB provisioned on an 11 TB thin pool, 7.9 TB written, growing 180 GB a month</a:t>
            </a:r>
          </a:p>
          <a:p>
            <a:pPr algn="l" marL="201268" indent="-201268">
              <a:lnSpc>
                <a:spcPct val="104000"/>
              </a:lnSpc>
              <a:spcBef>
                <a:spcPts val="0"/>
              </a:spcBef>
              <a:spcAft>
                <a:spcPts val="630"/>
              </a:spcAft>
            </a:pPr>
            <a:r>
              <a:rPr sz="1800" b="1">
                <a:solidFill>
                  <a:srgbClr val="0E6655"/>
                </a:solidFill>
                <a:latin typeface="Segoe UI"/>
              </a:rPr>
              <a:t>•	</a:t>
            </a:r>
            <a:r>
              <a:rPr sz="1800" b="0" i="0">
                <a:solidFill>
                  <a:srgbClr val="1C252B"/>
                </a:solidFill>
                <a:latin typeface="Segoe UI"/>
              </a:rPr>
              <a:t>14 guests have no identified owner</a:t>
            </a:r>
          </a:p>
          <a:p>
            <a:pPr algn="l" marL="201268" indent="-201268">
              <a:lnSpc>
                <a:spcPct val="104000"/>
              </a:lnSpc>
              <a:spcBef>
                <a:spcPts val="0"/>
              </a:spcBef>
              <a:spcAft>
                <a:spcPts val="0"/>
              </a:spcAft>
            </a:pPr>
            <a:r>
              <a:rPr sz="1800" b="1">
                <a:solidFill>
                  <a:srgbClr val="0E6655"/>
                </a:solidFill>
                <a:latin typeface="Segoe UI"/>
              </a:rPr>
              <a:t>•	</a:t>
            </a:r>
            <a:r>
              <a:rPr sz="1800" b="0" i="0">
                <a:solidFill>
                  <a:srgbClr val="1C252B"/>
                </a:solidFill>
                <a:latin typeface="Segoe UI"/>
              </a:rPr>
              <a:t>the finance office requires three-year costings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81952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Analysing a Case You Have Not Seen (continued)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177     </a:t>
            </a:r>
            <a:fld id="{282F2E39-4E64-41E4-B457-B2E9128550C9}" type="slidenum">
              <a:rPr lang="en-GB" sz="1000">
                <a:solidFill>
                  <a:srgbClr val="8795A1"/>
                </a:solidFill>
                <a:latin typeface="Segoe UI"/>
              </a:rPr>
              <a:t>35</a:t>
            </a:fld>
          </a:p>
        </p:txBody>
      </p:sp>
      <p:sp>
        <p:nvSpPr>
          <p:cNvPr id="7" name="body-0"/>
          <p:cNvSpPr txBox="1"/>
          <p:nvPr/>
        </p:nvSpPr>
        <p:spPr>
          <a:xfrm>
            <a:off x="658368" y="1737360"/>
            <a:ext cx="1087495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0E6655"/>
                </a:solidFill>
                <a:latin typeface="Segoe UI"/>
              </a:rPr>
              <a:t>Produce:</a:t>
            </a:r>
          </a:p>
        </p:txBody>
      </p:sp>
      <p:sp>
        <p:nvSpPr>
          <p:cNvPr id="8" name="body-1"/>
          <p:cNvSpPr txBox="1"/>
          <p:nvPr/>
        </p:nvSpPr>
        <p:spPr>
          <a:xfrm>
            <a:off x="658368" y="2148382"/>
            <a:ext cx="10874959" cy="1792224"/>
          </a:xfrm>
          <a:prstGeom prst="rect">
            <a:avLst/>
          </a:prstGeom>
          <a:noFill/>
        </p:spPr>
        <p:txBody>
          <a:bodyPr wrap="square" anchor="t" lIns="0" rIns="0" tIns="0" bIns="0">
            <a:noAutofit/>
          </a:bodyPr>
          <a:lstStyle/>
          <a:p>
            <a:pPr algn="l" marL="434207" indent="-434207">
              <a:lnSpc>
                <a:spcPct val="104000"/>
              </a:lnSpc>
              <a:spcBef>
                <a:spcPts val="0"/>
              </a:spcBef>
              <a:spcAft>
                <a:spcPts val="630"/>
              </a:spcAft>
            </a:pPr>
            <a:r>
              <a:rPr sz="1800" b="1">
                <a:solidFill>
                  <a:srgbClr val="0E6655"/>
                </a:solidFill>
                <a:latin typeface="Segoe UI"/>
              </a:rPr>
              <a:t>1.	</a:t>
            </a:r>
            <a:r>
              <a:rPr sz="1800" b="0" i="0">
                <a:solidFill>
                  <a:srgbClr val="1C252B"/>
                </a:solidFill>
                <a:latin typeface="Cambria"/>
              </a:rPr>
              <a:t>σ</a:t>
            </a:r>
            <a:r>
              <a:rPr sz="1200" b="0" i="0" baseline="-25000">
                <a:solidFill>
                  <a:srgbClr val="1C252B"/>
                </a:solidFill>
                <a:latin typeface="Segoe UI"/>
              </a:rPr>
              <a:t>cpu</a:t>
            </a:r>
            <a:r>
              <a:rPr sz="1800" b="0" i="0">
                <a:solidFill>
                  <a:srgbClr val="1C252B"/>
                </a:solidFill>
                <a:latin typeface="Segoe UI"/>
              </a:rPr>
              <a:t> and </a:t>
            </a:r>
            <a:r>
              <a:rPr sz="1800" b="0" i="0">
                <a:solidFill>
                  <a:srgbClr val="1C252B"/>
                </a:solidFill>
                <a:latin typeface="Cambria"/>
              </a:rPr>
              <a:t>σ</a:t>
            </a:r>
            <a:r>
              <a:rPr sz="1200" b="0" i="0" baseline="-25000">
                <a:solidFill>
                  <a:srgbClr val="1C252B"/>
                </a:solidFill>
                <a:latin typeface="Segoe UI"/>
              </a:rPr>
              <a:t>mem</a:t>
            </a:r>
            <a:r>
              <a:rPr sz="1800" b="0" i="0">
                <a:solidFill>
                  <a:srgbClr val="1C252B"/>
                </a:solidFill>
                <a:latin typeface="Segoe UI"/>
              </a:rPr>
              <a:t>, with and without N+1.</a:t>
            </a:r>
          </a:p>
          <a:p>
            <a:pPr algn="l" marL="434207" indent="-434207">
              <a:lnSpc>
                <a:spcPct val="104000"/>
              </a:lnSpc>
              <a:spcBef>
                <a:spcPts val="0"/>
              </a:spcBef>
              <a:spcAft>
                <a:spcPts val="630"/>
              </a:spcAft>
            </a:pPr>
            <a:r>
              <a:rPr sz="1800" b="1">
                <a:solidFill>
                  <a:srgbClr val="0E6655"/>
                </a:solidFill>
                <a:latin typeface="Segoe UI"/>
              </a:rPr>
              <a:t>2.	</a:t>
            </a:r>
            <a:r>
              <a:rPr sz="1800" b="0" i="0">
                <a:solidFill>
                  <a:srgbClr val="1C252B"/>
                </a:solidFill>
                <a:latin typeface="Segoe UI"/>
              </a:rPr>
              <a:t>The storage over-subscription ratio and the time to pool exhaustion (Chapter 12).</a:t>
            </a:r>
          </a:p>
          <a:p>
            <a:pPr algn="l" marL="434207" indent="-434207">
              <a:lnSpc>
                <a:spcPct val="104000"/>
              </a:lnSpc>
              <a:spcBef>
                <a:spcPts val="0"/>
              </a:spcBef>
              <a:spcAft>
                <a:spcPts val="630"/>
              </a:spcAft>
            </a:pPr>
            <a:r>
              <a:rPr sz="1800" b="1">
                <a:solidFill>
                  <a:srgbClr val="0E6655"/>
                </a:solidFill>
                <a:latin typeface="Segoe UI"/>
              </a:rPr>
              <a:t>3.	</a:t>
            </a:r>
            <a:r>
              <a:rPr sz="1800" b="0" i="0">
                <a:solidFill>
                  <a:srgbClr val="1C252B"/>
                </a:solidFill>
                <a:latin typeface="Segoe UI"/>
              </a:rPr>
              <a:t>The single most urgent finding, with the arithmetic that supports it.</a:t>
            </a:r>
          </a:p>
          <a:p>
            <a:pPr algn="l" marL="434207" indent="-434207">
              <a:lnSpc>
                <a:spcPct val="104000"/>
              </a:lnSpc>
              <a:spcBef>
                <a:spcPts val="0"/>
              </a:spcBef>
              <a:spcAft>
                <a:spcPts val="630"/>
              </a:spcAft>
            </a:pPr>
            <a:r>
              <a:rPr sz="1800" b="1">
                <a:solidFill>
                  <a:srgbClr val="0E6655"/>
                </a:solidFill>
                <a:latin typeface="Segoe UI"/>
              </a:rPr>
              <a:t>4.	</a:t>
            </a:r>
            <a:r>
              <a:rPr sz="1800" b="0" i="0">
                <a:solidFill>
                  <a:srgbClr val="1C252B"/>
                </a:solidFill>
                <a:latin typeface="Segoe UI"/>
              </a:rPr>
              <a:t>Three options with three-year costings, using Chapter 14’s method for the cloud one.</a:t>
            </a:r>
          </a:p>
          <a:p>
            <a:pPr algn="l" marL="434207" indent="-434207">
              <a:lnSpc>
                <a:spcPct val="104000"/>
              </a:lnSpc>
              <a:spcBef>
                <a:spcPts val="0"/>
              </a:spcBef>
              <a:spcAft>
                <a:spcPts val="0"/>
              </a:spcAft>
            </a:pPr>
            <a:r>
              <a:rPr sz="1800" b="1">
                <a:solidFill>
                  <a:srgbClr val="0E6655"/>
                </a:solidFill>
                <a:latin typeface="Segoe UI"/>
              </a:rPr>
              <a:t>5.	</a:t>
            </a:r>
            <a:r>
              <a:rPr sz="1800" b="0" i="0">
                <a:solidFill>
                  <a:srgbClr val="1C252B"/>
                </a:solidFill>
                <a:latin typeface="Segoe UI"/>
              </a:rPr>
              <a:t>A recommendation, the assumptions it rests on, and </a:t>
            </a:r>
            <a:r>
              <a:rPr sz="1800" b="1" i="0">
                <a:solidFill>
                  <a:srgbClr val="1C252B"/>
                </a:solidFill>
                <a:latin typeface="Segoe UI"/>
              </a:rPr>
              <a:t>the one measurement that would overturn it</a:t>
            </a:r>
            <a:r>
              <a:rPr sz="1800" b="0" i="0">
                <a:solidFill>
                  <a:srgbClr val="1C252B"/>
                </a:solidFill>
                <a:latin typeface="Segoe UI"/>
              </a:rPr>
              <a: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0789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Analysing a Case You Have Not Seen (continued)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177     </a:t>
            </a:r>
            <a:fld id="{AB6D49F1-C710-466E-A876-8066A676E757}" type="slidenum">
              <a:rPr lang="en-GB" sz="1000">
                <a:solidFill>
                  <a:srgbClr val="8795A1"/>
                </a:solidFill>
                <a:latin typeface="Segoe UI"/>
              </a:rPr>
              <a:t>36</a:t>
            </a:fld>
          </a:p>
        </p:txBody>
      </p:sp>
      <p:sp>
        <p:nvSpPr>
          <p:cNvPr id="7" name="body-0"/>
          <p:cNvSpPr txBox="1"/>
          <p:nvPr/>
        </p:nvSpPr>
        <p:spPr>
          <a:xfrm>
            <a:off x="658368" y="1737360"/>
            <a:ext cx="10874959" cy="1186891"/>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0E6655"/>
                </a:solidFill>
                <a:latin typeface="Segoe UI"/>
              </a:rPr>
              <a:t>Marking yourselves.</a:t>
            </a:r>
            <a:r>
              <a:rPr sz="1800" b="0" i="0">
                <a:solidFill>
                  <a:srgbClr val="1C252B"/>
                </a:solidFill>
                <a:latin typeface="Segoe UI"/>
              </a:rPr>
              <a:t> A good answer identifies that %RDY of 11% and </a:t>
            </a:r>
            <a:r>
              <a:rPr sz="1800" b="0" i="0">
                <a:solidFill>
                  <a:srgbClr val="1C252B"/>
                </a:solidFill>
                <a:latin typeface="Cambria"/>
              </a:rPr>
              <a:t>σ</a:t>
            </a:r>
            <a:r>
              <a:rPr sz="1200" b="0" i="0" baseline="-25000">
                <a:solidFill>
                  <a:srgbClr val="1C252B"/>
                </a:solidFill>
                <a:latin typeface="Segoe UI"/>
              </a:rPr>
              <a:t>cpu</a:t>
            </a:r>
            <a:r>
              <a:rPr sz="1800" b="0" i="0">
                <a:solidFill>
                  <a:srgbClr val="1C252B"/>
                </a:solidFill>
                <a:latin typeface="Segoe UI"/>
              </a:rPr>
              <a:t> of 4.0 mean the estate is already contended; that memory is wildly over-allocated at 1,740 GB against 198 GB active; that the thin pool has about 17 months at the current rate but no N+1 storage headroom; and that the 14 unowned guests are case 4 in miniature. A weak answer compares products.</a:t>
            </a:r>
          </a:p>
        </p:txBody>
      </p:sp>
      <p:sp>
        <p:nvSpPr>
          <p:cNvPr id="8" name="!!lfTHIS">
            <a:extLst>
              <a:ext uri="{C183D7F6-B498-43B3-948B-1728B52AA6E4}">
                <adec:decorative xmlns:adec="http://schemas.microsoft.com/office/drawing/2017/decorative" val="1"/>
              </a:ext>
            </a:extLst>
          </p:cNvPr>
          <p:cNvSpPr/>
          <p:nvPr/>
        </p:nvSpPr>
        <p:spPr>
          <a:xfrm>
            <a:off x="658368" y="3189427"/>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3189427"/>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3354019"/>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646627"/>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16: Peer walkthroughs of each team’s service</a:t>
            </a:r>
          </a:p>
        </p:txBody>
      </p:sp>
      <p:sp>
        <p:nvSpPr>
          <p:cNvPr id="12" name="!!lfWHAT">
            <a:extLst>
              <a:ext uri="{C183D7F6-B498-43B3-948B-1728B52AA6E4}">
                <adec:decorative xmlns:adec="http://schemas.microsoft.com/office/drawing/2017/decorative" val="1"/>
              </a:ext>
            </a:extLst>
          </p:cNvPr>
          <p:cNvSpPr/>
          <p:nvPr/>
        </p:nvSpPr>
        <p:spPr>
          <a:xfrm>
            <a:off x="6233007" y="3189427"/>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6233007" y="3189427"/>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6507327" y="3354019"/>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DO</a:t>
            </a:r>
          </a:p>
        </p:txBody>
      </p:sp>
      <p:sp>
        <p:nvSpPr>
          <p:cNvPr id="15" name="!!lfvWHAT"/>
          <p:cNvSpPr txBox="1"/>
          <p:nvPr/>
        </p:nvSpPr>
        <p:spPr>
          <a:xfrm>
            <a:off x="6507327" y="3646627"/>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written analysis — no code to run</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33831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In case 1, </a:t>
            </a:r>
            <a:r>
              <a:rPr sz="3400" b="0" i="0">
                <a:solidFill>
                  <a:srgbClr val="FFFFFF"/>
                </a:solidFill>
                <a:latin typeface="Cambria"/>
              </a:rPr>
              <a:t>σ</a:t>
            </a:r>
            <a:r>
              <a:rPr sz="2250" b="0" i="0" baseline="-25000">
                <a:solidFill>
                  <a:srgbClr val="FFFFFF"/>
                </a:solidFill>
                <a:latin typeface="Segoe UI Semibold"/>
              </a:rPr>
              <a:t>mem</a:t>
            </a:r>
            <a:r>
              <a:rPr sz="3400" b="0" i="0">
                <a:solidFill>
                  <a:srgbClr val="FFFFFF"/>
                </a:solidFill>
                <a:latin typeface="Segoe UI Semibold"/>
              </a:rPr>
              <a:t> was 1.26 with five hosts and 1.57 with four. Explain why the first was survivable and the second was not, naming the mechanism.</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22  ·  Case Studies in Enterprise and Cloud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179  ·  answers in Appendix D     </a:t>
            </a:r>
            <a:fld id="{9AE14B4E-8B16-4225-A6FC-F06C31021A09}"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In case 1, </a:t>
            </a:r>
            <a:r>
              <a:rPr sz="2400" b="0" i="0">
                <a:solidFill>
                  <a:srgbClr val="1A5276"/>
                </a:solidFill>
                <a:latin typeface="Cambria"/>
              </a:rPr>
              <a:t>σ</a:t>
            </a:r>
            <a:r>
              <a:rPr sz="1600" b="0" i="0" baseline="-25000">
                <a:solidFill>
                  <a:srgbClr val="1A5276"/>
                </a:solidFill>
                <a:latin typeface="Segoe UI Semibold"/>
              </a:rPr>
              <a:t>mem</a:t>
            </a:r>
            <a:r>
              <a:rPr sz="2400" b="0" i="0">
                <a:solidFill>
                  <a:srgbClr val="1A5276"/>
                </a:solidFill>
                <a:latin typeface="Segoe UI Semibold"/>
              </a:rPr>
              <a:t> was 1.26 with five hosts and 1.57 with four. Explain why the first was survivable and the second was not, naming the mechanism.</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At 1.26 the shortfall was small enough to be absorbed by the </a:t>
            </a:r>
            <a:r>
              <a:rPr sz="2200" b="1" i="0">
                <a:solidFill>
                  <a:srgbClr val="1C252B"/>
                </a:solidFill>
                <a:latin typeface="Segoe UI"/>
              </a:rPr>
              <a:t>upper rungs of the reclamation ladder</a:t>
            </a:r>
            <a:r>
              <a:rPr sz="2200" b="0" i="0">
                <a:solidFill>
                  <a:srgbClr val="1C252B"/>
                </a:solidFill>
                <a:latin typeface="Segoe UI"/>
              </a:rPr>
              <a:t> — transparent page sharing across 64 similar guests, and ballooning, both of which degrade performance imperceptibly. At 1.57 the shortfall exceeded what the guests could give back, so the hypervisor reached </a:t>
            </a:r>
            <a:r>
              <a:rPr sz="2200" b="1" i="0">
                <a:solidFill>
                  <a:srgbClr val="1C252B"/>
                </a:solidFill>
                <a:latin typeface="Segoe UI"/>
              </a:rPr>
              <a:t>host swapping</a:t>
            </a:r>
            <a:r>
              <a:rPr sz="2200" b="0" i="0">
                <a:solidFill>
                  <a:srgbClr val="1C252B"/>
                </a:solidFill>
                <a:latin typeface="Segoe UI"/>
              </a:rPr>
              <a:t>, which is not a slope but a cliff: guest pages went to disk and latency rose by orders of magnitude. The mechanism is the same ladder; the difference is which rung it reached.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179  ·  answers in Appendix D     </a:t>
            </a:r>
            <a:fld id="{92AF5DEB-222B-4F74-AFB8-EE388AACBFBB}"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5711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Case 2’s estate was not made more expensive by the cloud. State in one sentence what the cloud actually did, and name the two items that together accounted for 75% of the overrun.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22  ·  Case Studies in Enterprise and Cloud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179  ·  answers in Appendix D     </a:t>
            </a:r>
            <a:fld id="{DF7B77AA-CED4-46FB-A340-E3DD3224128E}"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Case 2’s estate was not made more expensive by the cloud. State in one sentence what the cloud actually did, and name the two items that together accounted for 75% of the overrun.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cloud </a:t>
            </a:r>
            <a:r>
              <a:rPr sz="2200" b="1" i="0">
                <a:solidFill>
                  <a:srgbClr val="1C252B"/>
                </a:solidFill>
                <a:latin typeface="Segoe UI"/>
              </a:rPr>
              <a:t>made existing waste legible</a:t>
            </a:r>
            <a:r>
              <a:rPr sz="2200" b="0" i="0">
                <a:solidFill>
                  <a:srgbClr val="1C252B"/>
                </a:solidFill>
                <a:latin typeface="Segoe UI"/>
              </a:rPr>
              <a:t> — on premises an over-allocated guest costs nothing once the host is bought, whereas in the cloud every unit of waste is a line on a monthly invoice. The two items accounting for 75% were </a:t>
            </a:r>
            <a:r>
              <a:rPr sz="2200" b="1" i="0">
                <a:solidFill>
                  <a:srgbClr val="1C252B"/>
                </a:solidFill>
                <a:latin typeface="Segoe UI"/>
              </a:rPr>
              <a:t>lift and shift without right-sizing</a:t>
            </a:r>
            <a:r>
              <a:rPr sz="2200" b="0" i="0">
                <a:solidFill>
                  <a:srgbClr val="1C252B"/>
                </a:solidFill>
                <a:latin typeface="Segoe UI"/>
              </a:rPr>
              <a:t> (44%) and </a:t>
            </a:r>
            <a:r>
              <a:rPr sz="2200" b="1" i="0">
                <a:solidFill>
                  <a:srgbClr val="1C252B"/>
                </a:solidFill>
                <a:latin typeface="Segoe UI"/>
              </a:rPr>
              <a:t>on-demand pricing</a:t>
            </a:r>
            <a:r>
              <a:rPr sz="2200" b="0" i="0">
                <a:solidFill>
                  <a:srgbClr val="1C252B"/>
                </a:solidFill>
                <a:latin typeface="Segoe UI"/>
              </a:rPr>
              <a:t> (31%).</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179  ·  answers in Appendix D     </a:t>
            </a:r>
            <a:fld id="{CA1C5A22-EE92-4D8B-B34C-658109F8F121}"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7591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In case 3, why did a two-node cluster at each depot need a witness elsewhere, and what was done when the link to it failed?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22  ·  Case Studies in Enterprise and Cloud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179  ·  answers in Appendix D     </a:t>
            </a:r>
            <a:fld id="{1A22BA03-0EA3-42C0-B4C9-FF6633871525}"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In case 3, why did a two-node cluster at each depot need a witness elsewhere, and what was done when the link to it failed?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quorum requires a majority, and two nodes can never produce one: a clean split leaves each node with one vote out of two, so neither may act and both stop. A third vote at head office breaks the tie. When the link to the witness failed, the site </a:t>
            </a:r>
            <a:r>
              <a:rPr sz="2200" b="1" i="0">
                <a:solidFill>
                  <a:srgbClr val="1C252B"/>
                </a:solidFill>
                <a:latin typeface="Segoe UI"/>
              </a:rPr>
              <a:t>operated in a documented degraded mode with HA disabled</a:t>
            </a:r>
            <a:r>
              <a:rPr sz="2200" b="0" i="0">
                <a:solidFill>
                  <a:srgbClr val="1C252B"/>
                </a:solidFill>
                <a:latin typeface="Segoe UI"/>
              </a:rPr>
              <a:t> — accepting that a node failure during that window would not be recovered automatically, rather than risking the split brain that automatic recovery without quorum would invite.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179  ·  answers in Appendix D     </a:t>
            </a:r>
            <a:fld id="{14F51C91-E3A9-4FDB-8E99-7B58158B7F6D}"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9470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179     </a:t>
            </a:r>
            <a:fld id="{DA885D68-85D4-464B-A70D-E66F627C6D81}" type="slidenum">
              <a:rPr lang="en-GB" sz="1000">
                <a:solidFill>
                  <a:srgbClr val="8795A1"/>
                </a:solidFill>
                <a:latin typeface="Segoe UI"/>
              </a:rPr>
              <a:t>43</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Case 1: a consolidation sized on allocated rather than active memory failed the day a host was taken for maintenance. Quote every ratio with N+1.</a:t>
            </a:r>
          </a:p>
        </p:txBody>
      </p:sp>
      <p:sp>
        <p:nvSpPr>
          <p:cNvPr id="10" name="!!sb1">
            <a:extLst>
              <a:ext uri="{C183D7F6-B498-43B3-948B-1728B52AA6E4}">
                <adec:decorative xmlns:adec="http://schemas.microsoft.com/office/drawing/2017/decorative" val="1"/>
              </a:ext>
            </a:extLst>
          </p:cNvPr>
          <p:cNvSpPr/>
          <p:nvPr/>
        </p:nvSpPr>
        <p:spPr>
          <a:xfrm>
            <a:off x="658368" y="24999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548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90825"/>
            <a:ext cx="102348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Case 2: a cloud migration cost 2.3 times its projection through lift and shift, on-demand pricing, egress and always-on development guests. The cloud made existing waste legible rather than creating it.</a:t>
            </a:r>
          </a:p>
        </p:txBody>
      </p:sp>
      <p:sp>
        <p:nvSpPr>
          <p:cNvPr id="13" name="!!sb2">
            <a:extLst>
              <a:ext uri="{C183D7F6-B498-43B3-948B-1728B52AA6E4}">
                <adec:decorative xmlns:adec="http://schemas.microsoft.com/office/drawing/2017/decorative" val="1"/>
              </a:ext>
            </a:extLst>
          </p:cNvPr>
          <p:cNvSpPr/>
          <p:nvPr/>
        </p:nvSpPr>
        <p:spPr>
          <a:xfrm>
            <a:off x="658368" y="35387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935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529584"/>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Case 3: centralising 23 depots would have improved management and cost 70 hours a year of operations per site. The constraint was link availability, which nobody had measured.</a:t>
            </a:r>
          </a:p>
        </p:txBody>
      </p:sp>
      <p:sp>
        <p:nvSpPr>
          <p:cNvPr id="16" name="!!sb3">
            <a:extLst>
              <a:ext uri="{C183D7F6-B498-43B3-948B-1728B52AA6E4}">
                <adec:decorative xmlns:adec="http://schemas.microsoft.com/office/drawing/2017/decorative" val="1"/>
              </a:ext>
            </a:extLst>
          </p:cNvPr>
          <p:cNvSpPr/>
          <p:nvPr/>
        </p:nvSpPr>
        <p:spPr>
          <a:xfrm>
            <a:off x="658368" y="429219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34705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283049"/>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Case 4: a licence repricing was blocked not by technology but by the absence of an inventory. Lock-in is institutional, not technical.</a:t>
            </a:r>
          </a:p>
        </p:txBody>
      </p:sp>
      <p:sp>
        <p:nvSpPr>
          <p:cNvPr id="19" name="!!sb4">
            <a:extLst>
              <a:ext uri="{C183D7F6-B498-43B3-948B-1728B52AA6E4}">
                <adec:decorative xmlns:adec="http://schemas.microsoft.com/office/drawing/2017/decorative" val="1"/>
              </a:ext>
            </a:extLst>
          </p:cNvPr>
          <p:cNvSpPr/>
          <p:nvPr/>
        </p:nvSpPr>
        <p:spPr>
          <a:xfrm>
            <a:off x="658368" y="504565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10052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03651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In all four the decision was framed as a technology choice and settled by a missing measurement.</a:t>
            </a:r>
          </a:p>
        </p:txBody>
      </p:sp>
      <p:sp>
        <p:nvSpPr>
          <p:cNvPr id="22" name="!!sb5">
            <a:extLst>
              <a:ext uri="{C183D7F6-B498-43B3-948B-1728B52AA6E4}">
                <adec:decorative xmlns:adec="http://schemas.microsoft.com/office/drawing/2017/decorative" val="1"/>
              </a:ext>
            </a:extLst>
          </p:cNvPr>
          <p:cNvSpPr/>
          <p:nvPr/>
        </p:nvSpPr>
        <p:spPr>
          <a:xfrm>
            <a:off x="658368" y="563087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8573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621731"/>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question to ask of any proposal: what number would change this, and has anyone taken it?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5410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179     </a:t>
            </a:r>
            <a:fld id="{7F0F9C7E-3237-4405-9311-29E6047C2F70}"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case 1, the resource that failed was: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CPU</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memory under N+1</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storage capacity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network bandwidth</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1350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179     </a:t>
            </a:r>
            <a:fld id="{F7F08FA8-2C87-4F61-B212-C1AD703BE870}"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largest single contributor to case 2’s overrun was: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egress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on-demand pricing</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lift and shift without right-sizing</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development guests running continuously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7289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22  ·  Case Studies in Enterprise and Cloud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179     </a:t>
            </a:r>
            <a:fld id="{ED12B3E9-3EE8-42CF-8668-F5694A5E9393}" type="slidenum">
              <a:rPr lang="en-GB" sz="1000">
                <a:solidFill>
                  <a:srgbClr val="8795A1"/>
                </a:solidFill>
                <a:latin typeface="Segoe UI"/>
              </a:rPr>
              <a:t>46</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the cloud “made waste legible” and what that implies for a migration business case.</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question that decides whether an edge site should keep local compute, and apply it to a supermarket till system.</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what case 4 means by lock-in being institutional rather than technical.</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Work the lab’s brief and submit the one-page recommendation.</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Choose any one of the four cases and write the counterfactual: what would have happened had the missing measurement been taken six months earlier? Be specific about what would have been decided differently and what it would have cost.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3229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23 — The Semester Project</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22, pages 172–179</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Peer walkthroughs of each team’s service</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report and presentation</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22  ·  Case Studies in Enterprise and Cloud Virtualization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85AADFFE-0623-4D59-A2CC-C1F22A29FE08}" type="slidenum">
              <a:rPr lang="en-GB" sz="1000">
                <a:solidFill>
                  <a:srgbClr val="D5DEE5"/>
                </a:solidFill>
                <a:latin typeface="Segoe UI"/>
              </a:rPr>
              <a:t>47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22: Case Studies in Enterprise and Cloud Virtualization</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