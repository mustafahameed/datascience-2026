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4428DC-ED2F-4C2D-AA75-CDAB2EED17DB}">
          <p14:sldIdLst>
            <p14:sldId id="256"/>
            <p14:sldId id="257"/>
            <p14:sldId id="258"/>
            <p14:sldId id="259"/>
            <p14:sldId id="260"/>
          </p14:sldIdLst>
        </p14:section>
        <p14:section name="20.1 Why a GPU Is Not a CPU" id="{810EE632-F36C-47D4-9AE3-E6F2BF59DDC7}">
          <p14:sldIdLst>
            <p14:sldId id="261"/>
            <p14:sldId id="262"/>
            <p14:sldId id="263"/>
          </p14:sldIdLst>
        </p14:section>
        <p14:section name="20.2 The Three Models" id="{B2EE7624-99DB-49F4-A1C7-6DB30CBEC42F}">
          <p14:sldIdLst>
            <p14:sldId id="264"/>
            <p14:sldId id="265"/>
            <p14:sldId id="266"/>
            <p14:sldId id="267"/>
            <p14:sldId id="268"/>
            <p14:sldId id="269"/>
            <p14:sldId id="270"/>
            <p14:sldId id="271"/>
          </p14:sldIdLst>
        </p14:section>
        <p14:section name="20.3 DPUs: Moving the Infrastructure Off the Host" id="{8C6A82EE-2BE0-4509-A462-752BFC53BAC7}">
          <p14:sldIdLst>
            <p14:sldId id="272"/>
          </p14:sldIdLst>
        </p14:section>
        <p14:section name="Pitfalls" id="{7061F7DA-EAF2-483C-8830-C0126F225257}">
          <p14:sldIdLst>
            <p14:sldId id="273"/>
            <p14:sldId id="274"/>
          </p14:sldIdLst>
        </p14:section>
        <p14:section name="Lab" id="{80E39092-2CBF-4EA3-8FA9-FF6A3D600BC7}">
          <p14:sldIdLst>
            <p14:sldId id="275"/>
            <p14:sldId id="276"/>
            <p14:sldId id="277"/>
            <p14:sldId id="278"/>
            <p14:sldId id="279"/>
            <p14:sldId id="280"/>
            <p14:sldId id="281"/>
            <p14:sldId id="282"/>
            <p14:sldId id="283"/>
            <p14:sldId id="284"/>
            <p14:sldId id="285"/>
          </p14:sldIdLst>
        </p14:section>
        <p14:section name="Checkpoint" id="{BEB42507-DCC6-4CD9-903C-B0DF6D2E67DE}">
          <p14:sldIdLst>
            <p14:sldId id="286"/>
            <p14:sldId id="287"/>
            <p14:sldId id="288"/>
            <p14:sldId id="289"/>
            <p14:sldId id="290"/>
            <p14:sldId id="291"/>
          </p14:sldIdLst>
        </p14:section>
        <p14:section name="Wrap-up" id="{F66F089B-A4E1-48F1-9EF0-C84331D96573}">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GPU and Accelerator Virtualization. Part 6 — Emerging Hardware and Practice. Week 15: Accelerators; confidential computing. Handout pages 159–164.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7 entire — passthrough, VFIO, SR-IOV and the IOMMU are the machinery this chapter applies to a different device — and Chapter 6 (scheduling and overcommit, which work differently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GPU passthrough; vGPU; time slicing; MIG; instance profile; SR-IOV for GPUs; framebuffer; context switch; mediated device; VFIO-mdev; DPU; SmartNIC; infrastructure offload; HBM; NVLink; fractional GPU.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divided a processor among guests by scheduling: a vCPU runs for a slice, is descheduled, and another runs. The state to save is a few hundred bytes of registers, and the switch costs microseconds. A GPU resists this for three reasons.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last point is the one that matters most. Processor overcommit works because time is divisible (Chapter 6); GPU memory is as indivisible as host memory, and there is far less of it.</a:t>
            </a:r>
          </a:p>
          <a:p/>
          <a:p>
            <a:r>
              <a:t>Figure 20.1 (handout p. 160): Three ways to divide one accelerator. Only the right-hand one gives a guarantee, and only the left-hand one gives the whole card.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few chapters have quietly accumulated work the host performs on behalf of guests: the virtual switch of Chapter 13, the encapsulation of VXLAN, the storage path of Chapter 12, the encryption everywhere. On a busy host this is a material fraction of the processor — capacity bought for guests and spent on plumbing. A DPU (data processing unit, or SmartNIC) is a card with its own processors, memory and operating system that takes that work. The virtual switch runs on the card. The storage initiator runs on the card. Encryption runs on the card. The host’s cores go back to the guests.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against a real GPU where one is available, and against captured output where one is not — the file is in code/ and the exercise is the same.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Is there an accelerator here at all?.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IOMMU group: what passthrough would have to take..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Enable MIG, if this card supports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Create four instances, and see them as separate devices..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Run the same job on one instance, then on all four..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Run the same job on one instance, then on all four.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Run the same job on one instance, then on all four.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What "utilisation" actually reports..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Tear down the partitions..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reclamation ladder works because host memory can be recovered gradually: pages are shared, then ballooned, then compressed, then swapped, and each rung degrades performance rather than causing failure. None of that exists for GPU memory. There is no balloon driver, no page sharing between contexts and nowhere cheap to swap to, and a compute kernel that needs 40 GB of working set cannot run in 20 GB more slowly — the allocation simply fails. GPU memory is a hard allocation, not an elastic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Demand is 6 × 5 = 30 GPU-hours a day against 24 available, so the card is undersized whatever is done. Passthrough: one group at a time, so five groups queue at any moment and the utilisation is 100% with permanently unmet demand. A six-way MIG partition at 12 GB each does not exist — profiles are fixed, and on an 80 GB card the choices are seven instances of 10 GB (too small for 12 GB), three of 20 GB, two of 40 GB or one of 80 GB. The realistic option is three 20 GB instances, giving three groups concurrent, predictable access and a queue for the other three. Predictability is better than passthrough; capacity is still short.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utilization.gpu reports the fraction of sampled intervals in which at least one kernel was resident — not how much of the hardware was doing work. A job using a single streaming multiprocessor badly will show 100% while leaving most of the card idle. Measure achieved occupancy, memory bandwidth utilisation and the SM activity counters — through Nsight or the DCGM profiling metrics — which distinguish a busy card from a resident kernel.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21 — Confidential Computing and Emerging Hardware. READ: Handout Chapter 20, pages 159–164. THIS WEEK'S LAB: Partition a GPU; verify an attestation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7.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8.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3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1.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2.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3.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4.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5.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6.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3.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GPU and Accelerator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EMERGING HARDWARE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20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159     </a:t>
            </a:r>
            <a:fld id="{EEF05A70-90C7-4FCF-BB92-F72B2D19BB0F}"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746987"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746987" y="2029967"/>
            <a:ext cx="1667468"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31951"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63195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GPU and Accelerator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159     </a:t>
            </a:r>
            <a:fld id="{E4B3CA78-A6E9-4324-97A7-FA28C8DABFF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why a GPU is harder to share than a processor, and </a:t>
            </a:r>
            <a:r>
              <a:rPr sz="2100" b="1" i="0">
                <a:solidFill>
                  <a:srgbClr val="1C252B"/>
                </a:solidFill>
                <a:latin typeface="Segoe UI"/>
              </a:rPr>
              <a:t>name</a:t>
            </a:r>
            <a:r>
              <a:rPr sz="2100" b="0" i="0">
                <a:solidFill>
                  <a:srgbClr val="1C252B"/>
                </a:solidFill>
                <a:latin typeface="Segoe UI"/>
              </a:rPr>
              <a:t> the three sharing models.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Distinguish</a:t>
            </a:r>
            <a:r>
              <a:rPr sz="2100" b="0" i="0">
                <a:solidFill>
                  <a:srgbClr val="1C252B"/>
                </a:solidFill>
                <a:latin typeface="Segoe UI"/>
              </a:rPr>
              <a:t> time-sliced vGPU from MIG partitioning by what is divided and what is guaranteed.</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Compute</a:t>
            </a:r>
            <a:r>
              <a:rPr sz="2100" b="0" i="0">
                <a:solidFill>
                  <a:srgbClr val="1C252B"/>
                </a:solidFill>
                <a:latin typeface="Segoe UI"/>
              </a:rPr>
              <a:t> the utilisation and cost consequences of each model for a stated set of jobs.</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Describe</a:t>
            </a:r>
            <a:r>
              <a:rPr sz="2100" b="0" i="0">
                <a:solidFill>
                  <a:srgbClr val="1C252B"/>
                </a:solidFill>
                <a:latin typeface="Segoe UI"/>
              </a:rPr>
              <a:t> what a DPU moves off the host, and </a:t>
            </a:r>
            <a:r>
              <a:rPr sz="2100" b="1" i="0">
                <a:solidFill>
                  <a:srgbClr val="1C252B"/>
                </a:solidFill>
                <a:latin typeface="Segoe UI"/>
              </a:rPr>
              <a:t>relate</a:t>
            </a:r>
            <a:r>
              <a:rPr sz="2100" b="0" i="0">
                <a:solidFill>
                  <a:srgbClr val="1C252B"/>
                </a:solidFill>
                <a:latin typeface="Segoe UI"/>
              </a:rPr>
              <a:t> it to Chapter 7.</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 sharing model for a workload and </a:t>
            </a:r>
            <a:r>
              <a:rPr sz="2100" b="1" i="0">
                <a:solidFill>
                  <a:srgbClr val="1C252B"/>
                </a:solidFill>
                <a:latin typeface="Segoe UI"/>
              </a:rPr>
              <a:t>state</a:t>
            </a:r>
            <a:r>
              <a:rPr sz="2100" b="0" i="0">
                <a:solidFill>
                  <a:srgbClr val="1C252B"/>
                </a:solidFill>
                <a:latin typeface="Segoe UI"/>
              </a:rPr>
              <a:t> what it gives up.</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159     </a:t>
            </a:r>
            <a:fld id="{61A84A6B-55AB-4883-ADAF-342380D38017}" type="slidenum">
              <a:rPr lang="en-GB" sz="1000">
                <a:solidFill>
                  <a:srgbClr val="8795A1"/>
                </a:solidFill>
                <a:latin typeface="Segoe UI"/>
              </a:rPr>
              <a:t>4</a:t>
            </a:fld>
          </a:p>
        </p:txBody>
      </p:sp>
      <p:sp>
        <p:nvSpPr>
          <p:cNvPr id="7" name="!!term-GPU passthroug">
            <a:extLst>
              <a:ext uri="{C183D7F6-B498-43B3-948B-1728B52AA6E4}">
                <adec:decorative xmlns:adec="http://schemas.microsoft.com/office/drawing/2017/decorative" val="1"/>
              </a:ext>
            </a:extLst>
          </p:cNvPr>
          <p:cNvSpPr/>
          <p:nvPr/>
        </p:nvSpPr>
        <p:spPr>
          <a:xfrm>
            <a:off x="658368" y="1847088"/>
            <a:ext cx="20372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GPU passthroug">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GPU passthroug"/>
          <p:cNvSpPr txBox="1"/>
          <p:nvPr/>
        </p:nvSpPr>
        <p:spPr>
          <a:xfrm>
            <a:off x="950976" y="1962911"/>
            <a:ext cx="18543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GPU passthrough</a:t>
            </a:r>
          </a:p>
        </p:txBody>
      </p:sp>
      <p:sp>
        <p:nvSpPr>
          <p:cNvPr id="10" name="!!term-vGPU">
            <a:extLst>
              <a:ext uri="{C183D7F6-B498-43B3-948B-1728B52AA6E4}">
                <adec:decorative xmlns:adec="http://schemas.microsoft.com/office/drawing/2017/decorative" val="1"/>
              </a:ext>
            </a:extLst>
          </p:cNvPr>
          <p:cNvSpPr/>
          <p:nvPr/>
        </p:nvSpPr>
        <p:spPr>
          <a:xfrm>
            <a:off x="2841919" y="1847088"/>
            <a:ext cx="9388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GPU">
            <a:extLst>
              <a:ext uri="{C183D7F6-B498-43B3-948B-1728B52AA6E4}">
                <adec:decorative xmlns:adec="http://schemas.microsoft.com/office/drawing/2017/decorative" val="1"/>
              </a:ext>
            </a:extLst>
          </p:cNvPr>
          <p:cNvSpPr/>
          <p:nvPr/>
        </p:nvSpPr>
        <p:spPr>
          <a:xfrm>
            <a:off x="29699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GPU"/>
          <p:cNvSpPr txBox="1"/>
          <p:nvPr/>
        </p:nvSpPr>
        <p:spPr>
          <a:xfrm>
            <a:off x="3134527" y="1962911"/>
            <a:ext cx="75595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vGPU</a:t>
            </a:r>
          </a:p>
        </p:txBody>
      </p:sp>
      <p:sp>
        <p:nvSpPr>
          <p:cNvPr id="13" name="!!term-time slicing">
            <a:extLst>
              <a:ext uri="{C183D7F6-B498-43B3-948B-1728B52AA6E4}">
                <adec:decorative xmlns:adec="http://schemas.microsoft.com/office/drawing/2017/decorative" val="1"/>
              </a:ext>
            </a:extLst>
          </p:cNvPr>
          <p:cNvSpPr/>
          <p:nvPr/>
        </p:nvSpPr>
        <p:spPr>
          <a:xfrm>
            <a:off x="3927056" y="1847088"/>
            <a:ext cx="14764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ime slicing">
            <a:extLst>
              <a:ext uri="{C183D7F6-B498-43B3-948B-1728B52AA6E4}">
                <adec:decorative xmlns:adec="http://schemas.microsoft.com/office/drawing/2017/decorative" val="1"/>
              </a:ext>
            </a:extLst>
          </p:cNvPr>
          <p:cNvSpPr/>
          <p:nvPr/>
        </p:nvSpPr>
        <p:spPr>
          <a:xfrm>
            <a:off x="40550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ime slicing"/>
          <p:cNvSpPr txBox="1"/>
          <p:nvPr/>
        </p:nvSpPr>
        <p:spPr>
          <a:xfrm>
            <a:off x="4219664" y="1962911"/>
            <a:ext cx="12935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time slicing</a:t>
            </a:r>
          </a:p>
        </p:txBody>
      </p:sp>
      <p:sp>
        <p:nvSpPr>
          <p:cNvPr id="16" name="!!term-MIG">
            <a:extLst>
              <a:ext uri="{C183D7F6-B498-43B3-948B-1728B52AA6E4}">
                <adec:decorative xmlns:adec="http://schemas.microsoft.com/office/drawing/2017/decorative" val="1"/>
              </a:ext>
            </a:extLst>
          </p:cNvPr>
          <p:cNvSpPr/>
          <p:nvPr/>
        </p:nvSpPr>
        <p:spPr>
          <a:xfrm>
            <a:off x="5549836" y="1847088"/>
            <a:ext cx="8223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IG">
            <a:extLst>
              <a:ext uri="{C183D7F6-B498-43B3-948B-1728B52AA6E4}">
                <adec:decorative xmlns:adec="http://schemas.microsoft.com/office/drawing/2017/decorative" val="1"/>
              </a:ext>
            </a:extLst>
          </p:cNvPr>
          <p:cNvSpPr/>
          <p:nvPr/>
        </p:nvSpPr>
        <p:spPr>
          <a:xfrm>
            <a:off x="567785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IG"/>
          <p:cNvSpPr txBox="1"/>
          <p:nvPr/>
        </p:nvSpPr>
        <p:spPr>
          <a:xfrm>
            <a:off x="5842444" y="1962911"/>
            <a:ext cx="6394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MIG</a:t>
            </a:r>
          </a:p>
        </p:txBody>
      </p:sp>
      <p:sp>
        <p:nvSpPr>
          <p:cNvPr id="19" name="!!term-instance profi">
            <a:extLst>
              <a:ext uri="{C183D7F6-B498-43B3-948B-1728B52AA6E4}">
                <adec:decorative xmlns:adec="http://schemas.microsoft.com/office/drawing/2017/decorative" val="1"/>
              </a:ext>
            </a:extLst>
          </p:cNvPr>
          <p:cNvSpPr/>
          <p:nvPr/>
        </p:nvSpPr>
        <p:spPr>
          <a:xfrm>
            <a:off x="6518490" y="1847088"/>
            <a:ext cx="18372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stance profi">
            <a:extLst>
              <a:ext uri="{C183D7F6-B498-43B3-948B-1728B52AA6E4}">
                <adec:decorative xmlns:adec="http://schemas.microsoft.com/office/drawing/2017/decorative" val="1"/>
              </a:ext>
            </a:extLst>
          </p:cNvPr>
          <p:cNvSpPr/>
          <p:nvPr/>
        </p:nvSpPr>
        <p:spPr>
          <a:xfrm>
            <a:off x="664650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stance profi"/>
          <p:cNvSpPr txBox="1"/>
          <p:nvPr/>
        </p:nvSpPr>
        <p:spPr>
          <a:xfrm>
            <a:off x="6811098" y="1962911"/>
            <a:ext cx="165434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instance profile</a:t>
            </a:r>
          </a:p>
        </p:txBody>
      </p:sp>
      <p:sp>
        <p:nvSpPr>
          <p:cNvPr id="22" name="!!term-SR-IOV for GPU">
            <a:extLst>
              <a:ext uri="{C183D7F6-B498-43B3-948B-1728B52AA6E4}">
                <adec:decorative xmlns:adec="http://schemas.microsoft.com/office/drawing/2017/decorative" val="1"/>
              </a:ext>
            </a:extLst>
          </p:cNvPr>
          <p:cNvSpPr/>
          <p:nvPr/>
        </p:nvSpPr>
        <p:spPr>
          <a:xfrm>
            <a:off x="8502016" y="1847088"/>
            <a:ext cx="1956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R-IOV for GPU">
            <a:extLst>
              <a:ext uri="{C183D7F6-B498-43B3-948B-1728B52AA6E4}">
                <adec:decorative xmlns:adec="http://schemas.microsoft.com/office/drawing/2017/decorative" val="1"/>
              </a:ext>
            </a:extLst>
          </p:cNvPr>
          <p:cNvSpPr/>
          <p:nvPr/>
        </p:nvSpPr>
        <p:spPr>
          <a:xfrm>
            <a:off x="86300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R-IOV for GPU"/>
          <p:cNvSpPr txBox="1"/>
          <p:nvPr/>
        </p:nvSpPr>
        <p:spPr>
          <a:xfrm>
            <a:off x="8794624" y="1962911"/>
            <a:ext cx="177361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SR-IOV for GPUs</a:t>
            </a:r>
          </a:p>
        </p:txBody>
      </p:sp>
      <p:sp>
        <p:nvSpPr>
          <p:cNvPr id="25" name="!!term-framebuffer">
            <a:extLst>
              <a:ext uri="{C183D7F6-B498-43B3-948B-1728B52AA6E4}">
                <adec:decorative xmlns:adec="http://schemas.microsoft.com/office/drawing/2017/decorative" val="1"/>
              </a:ext>
            </a:extLst>
          </p:cNvPr>
          <p:cNvSpPr/>
          <p:nvPr/>
        </p:nvSpPr>
        <p:spPr>
          <a:xfrm>
            <a:off x="658368" y="2468880"/>
            <a:ext cx="15177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framebuffe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framebuffer"/>
          <p:cNvSpPr txBox="1"/>
          <p:nvPr/>
        </p:nvSpPr>
        <p:spPr>
          <a:xfrm>
            <a:off x="950976" y="2584704"/>
            <a:ext cx="133484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framebuffer</a:t>
            </a:r>
          </a:p>
        </p:txBody>
      </p:sp>
      <p:sp>
        <p:nvSpPr>
          <p:cNvPr id="28" name="!!term-context switch">
            <a:extLst>
              <a:ext uri="{C183D7F6-B498-43B3-948B-1728B52AA6E4}">
                <adec:decorative xmlns:adec="http://schemas.microsoft.com/office/drawing/2017/decorative" val="1"/>
              </a:ext>
            </a:extLst>
          </p:cNvPr>
          <p:cNvSpPr/>
          <p:nvPr/>
        </p:nvSpPr>
        <p:spPr>
          <a:xfrm>
            <a:off x="2322393" y="2468880"/>
            <a:ext cx="17454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ontext switch">
            <a:extLst>
              <a:ext uri="{C183D7F6-B498-43B3-948B-1728B52AA6E4}">
                <adec:decorative xmlns:adec="http://schemas.microsoft.com/office/drawing/2017/decorative" val="1"/>
              </a:ext>
            </a:extLst>
          </p:cNvPr>
          <p:cNvSpPr/>
          <p:nvPr/>
        </p:nvSpPr>
        <p:spPr>
          <a:xfrm>
            <a:off x="24504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ontext switch"/>
          <p:cNvSpPr txBox="1"/>
          <p:nvPr/>
        </p:nvSpPr>
        <p:spPr>
          <a:xfrm>
            <a:off x="2615001" y="2584704"/>
            <a:ext cx="156255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context switch</a:t>
            </a:r>
          </a:p>
        </p:txBody>
      </p:sp>
      <p:sp>
        <p:nvSpPr>
          <p:cNvPr id="31" name="!!term-mediated devic">
            <a:extLst>
              <a:ext uri="{C183D7F6-B498-43B3-948B-1728B52AA6E4}">
                <adec:decorative xmlns:adec="http://schemas.microsoft.com/office/drawing/2017/decorative" val="1"/>
              </a:ext>
            </a:extLst>
          </p:cNvPr>
          <p:cNvSpPr/>
          <p:nvPr/>
        </p:nvSpPr>
        <p:spPr>
          <a:xfrm>
            <a:off x="4214133" y="2468880"/>
            <a:ext cx="19450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ediated devic">
            <a:extLst>
              <a:ext uri="{C183D7F6-B498-43B3-948B-1728B52AA6E4}">
                <adec:decorative xmlns:adec="http://schemas.microsoft.com/office/drawing/2017/decorative" val="1"/>
              </a:ext>
            </a:extLst>
          </p:cNvPr>
          <p:cNvSpPr/>
          <p:nvPr/>
        </p:nvSpPr>
        <p:spPr>
          <a:xfrm>
            <a:off x="434214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ediated devic"/>
          <p:cNvSpPr txBox="1"/>
          <p:nvPr/>
        </p:nvSpPr>
        <p:spPr>
          <a:xfrm>
            <a:off x="4506741" y="2584704"/>
            <a:ext cx="17621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mediated device</a:t>
            </a:r>
          </a:p>
        </p:txBody>
      </p:sp>
      <p:sp>
        <p:nvSpPr>
          <p:cNvPr id="34" name="!!term-VFIO-mdev">
            <a:extLst>
              <a:ext uri="{C183D7F6-B498-43B3-948B-1728B52AA6E4}">
                <adec:decorative xmlns:adec="http://schemas.microsoft.com/office/drawing/2017/decorative" val="1"/>
              </a:ext>
            </a:extLst>
          </p:cNvPr>
          <p:cNvSpPr/>
          <p:nvPr/>
        </p:nvSpPr>
        <p:spPr>
          <a:xfrm>
            <a:off x="6305510" y="2468880"/>
            <a:ext cx="14712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VFIO-mdev">
            <a:extLst>
              <a:ext uri="{C183D7F6-B498-43B3-948B-1728B52AA6E4}">
                <adec:decorative xmlns:adec="http://schemas.microsoft.com/office/drawing/2017/decorative" val="1"/>
              </a:ext>
            </a:extLst>
          </p:cNvPr>
          <p:cNvSpPr/>
          <p:nvPr/>
        </p:nvSpPr>
        <p:spPr>
          <a:xfrm>
            <a:off x="64335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VFIO-mdev"/>
          <p:cNvSpPr txBox="1"/>
          <p:nvPr/>
        </p:nvSpPr>
        <p:spPr>
          <a:xfrm>
            <a:off x="6598118" y="2584704"/>
            <a:ext cx="12884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VFIO-mdev</a:t>
            </a:r>
          </a:p>
        </p:txBody>
      </p:sp>
      <p:sp>
        <p:nvSpPr>
          <p:cNvPr id="37" name="!!term-DPU">
            <a:extLst>
              <a:ext uri="{C183D7F6-B498-43B3-948B-1728B52AA6E4}">
                <adec:decorative xmlns:adec="http://schemas.microsoft.com/office/drawing/2017/decorative" val="1"/>
              </a:ext>
            </a:extLst>
          </p:cNvPr>
          <p:cNvSpPr/>
          <p:nvPr/>
        </p:nvSpPr>
        <p:spPr>
          <a:xfrm>
            <a:off x="7923108" y="2468880"/>
            <a:ext cx="8426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PU">
            <a:extLst>
              <a:ext uri="{C183D7F6-B498-43B3-948B-1728B52AA6E4}">
                <adec:decorative xmlns:adec="http://schemas.microsoft.com/office/drawing/2017/decorative" val="1"/>
              </a:ext>
            </a:extLst>
          </p:cNvPr>
          <p:cNvSpPr/>
          <p:nvPr/>
        </p:nvSpPr>
        <p:spPr>
          <a:xfrm>
            <a:off x="805112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PU"/>
          <p:cNvSpPr txBox="1"/>
          <p:nvPr/>
        </p:nvSpPr>
        <p:spPr>
          <a:xfrm>
            <a:off x="8215716" y="2584704"/>
            <a:ext cx="6597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DPU</a:t>
            </a:r>
          </a:p>
        </p:txBody>
      </p:sp>
      <p:sp>
        <p:nvSpPr>
          <p:cNvPr id="40" name="!!term-SmartNIC">
            <a:extLst>
              <a:ext uri="{C183D7F6-B498-43B3-948B-1728B52AA6E4}">
                <adec:decorative xmlns:adec="http://schemas.microsoft.com/office/drawing/2017/decorative" val="1"/>
              </a:ext>
            </a:extLst>
          </p:cNvPr>
          <p:cNvSpPr/>
          <p:nvPr/>
        </p:nvSpPr>
        <p:spPr>
          <a:xfrm>
            <a:off x="8912075" y="2468880"/>
            <a:ext cx="13138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martNIC">
            <a:extLst>
              <a:ext uri="{C183D7F6-B498-43B3-948B-1728B52AA6E4}">
                <adec:decorative xmlns:adec="http://schemas.microsoft.com/office/drawing/2017/decorative" val="1"/>
              </a:ext>
            </a:extLst>
          </p:cNvPr>
          <p:cNvSpPr/>
          <p:nvPr/>
        </p:nvSpPr>
        <p:spPr>
          <a:xfrm>
            <a:off x="904009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martNIC"/>
          <p:cNvSpPr txBox="1"/>
          <p:nvPr/>
        </p:nvSpPr>
        <p:spPr>
          <a:xfrm>
            <a:off x="9204683" y="2584704"/>
            <a:ext cx="113098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SmartNIC</a:t>
            </a:r>
          </a:p>
        </p:txBody>
      </p:sp>
      <p:sp>
        <p:nvSpPr>
          <p:cNvPr id="43" name="!!term-infrastructure">
            <a:extLst>
              <a:ext uri="{C183D7F6-B498-43B3-948B-1728B52AA6E4}">
                <adec:decorative xmlns:adec="http://schemas.microsoft.com/office/drawing/2017/decorative" val="1"/>
              </a:ext>
            </a:extLst>
          </p:cNvPr>
          <p:cNvSpPr/>
          <p:nvPr/>
        </p:nvSpPr>
        <p:spPr>
          <a:xfrm>
            <a:off x="658368" y="3090672"/>
            <a:ext cx="23673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infrastructur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infrastructure"/>
          <p:cNvSpPr txBox="1"/>
          <p:nvPr/>
        </p:nvSpPr>
        <p:spPr>
          <a:xfrm>
            <a:off x="950976" y="3206496"/>
            <a:ext cx="21844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infrastructure offload</a:t>
            </a:r>
          </a:p>
        </p:txBody>
      </p:sp>
      <p:sp>
        <p:nvSpPr>
          <p:cNvPr id="46" name="!!term-HBM">
            <a:extLst>
              <a:ext uri="{C183D7F6-B498-43B3-948B-1728B52AA6E4}">
                <adec:decorative xmlns:adec="http://schemas.microsoft.com/office/drawing/2017/decorative" val="1"/>
              </a:ext>
            </a:extLst>
          </p:cNvPr>
          <p:cNvSpPr/>
          <p:nvPr/>
        </p:nvSpPr>
        <p:spPr>
          <a:xfrm>
            <a:off x="3172033" y="3090672"/>
            <a:ext cx="8909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BM">
            <a:extLst>
              <a:ext uri="{C183D7F6-B498-43B3-948B-1728B52AA6E4}">
                <adec:decorative xmlns:adec="http://schemas.microsoft.com/office/drawing/2017/decorative" val="1"/>
              </a:ext>
            </a:extLst>
          </p:cNvPr>
          <p:cNvSpPr/>
          <p:nvPr/>
        </p:nvSpPr>
        <p:spPr>
          <a:xfrm>
            <a:off x="330004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BM"/>
          <p:cNvSpPr txBox="1"/>
          <p:nvPr/>
        </p:nvSpPr>
        <p:spPr>
          <a:xfrm>
            <a:off x="3464641" y="3206496"/>
            <a:ext cx="70807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HBM</a:t>
            </a:r>
          </a:p>
        </p:txBody>
      </p:sp>
      <p:sp>
        <p:nvSpPr>
          <p:cNvPr id="49" name="!!term-NVLink">
            <a:extLst>
              <a:ext uri="{C183D7F6-B498-43B3-948B-1728B52AA6E4}">
                <adec:decorative xmlns:adec="http://schemas.microsoft.com/office/drawing/2017/decorative" val="1"/>
              </a:ext>
            </a:extLst>
          </p:cNvPr>
          <p:cNvSpPr/>
          <p:nvPr/>
        </p:nvSpPr>
        <p:spPr>
          <a:xfrm>
            <a:off x="4209291" y="3090672"/>
            <a:ext cx="1090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NVLink">
            <a:extLst>
              <a:ext uri="{C183D7F6-B498-43B3-948B-1728B52AA6E4}">
                <adec:decorative xmlns:adec="http://schemas.microsoft.com/office/drawing/2017/decorative" val="1"/>
              </a:ext>
            </a:extLst>
          </p:cNvPr>
          <p:cNvSpPr/>
          <p:nvPr/>
        </p:nvSpPr>
        <p:spPr>
          <a:xfrm>
            <a:off x="433730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NVLink"/>
          <p:cNvSpPr txBox="1"/>
          <p:nvPr/>
        </p:nvSpPr>
        <p:spPr>
          <a:xfrm>
            <a:off x="4501899" y="3206496"/>
            <a:ext cx="90787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NVLink</a:t>
            </a:r>
          </a:p>
        </p:txBody>
      </p:sp>
      <p:sp>
        <p:nvSpPr>
          <p:cNvPr id="52" name="!!term-fractional GPU">
            <a:extLst>
              <a:ext uri="{C183D7F6-B498-43B3-948B-1728B52AA6E4}">
                <adec:decorative xmlns:adec="http://schemas.microsoft.com/office/drawing/2017/decorative" val="1"/>
              </a:ext>
            </a:extLst>
          </p:cNvPr>
          <p:cNvSpPr/>
          <p:nvPr/>
        </p:nvSpPr>
        <p:spPr>
          <a:xfrm>
            <a:off x="5446353" y="3090672"/>
            <a:ext cx="17494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fractional GPU">
            <a:extLst>
              <a:ext uri="{C183D7F6-B498-43B3-948B-1728B52AA6E4}">
                <adec:decorative xmlns:adec="http://schemas.microsoft.com/office/drawing/2017/decorative" val="1"/>
              </a:ext>
            </a:extLst>
          </p:cNvPr>
          <p:cNvSpPr/>
          <p:nvPr/>
        </p:nvSpPr>
        <p:spPr>
          <a:xfrm>
            <a:off x="557436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fractional GPU"/>
          <p:cNvSpPr txBox="1"/>
          <p:nvPr/>
        </p:nvSpPr>
        <p:spPr>
          <a:xfrm>
            <a:off x="5738961" y="3206496"/>
            <a:ext cx="15665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fractional GPU</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159–164     </a:t>
            </a:r>
            <a:fld id="{059A1CE0-B1F8-442F-BE63-2BF54882013B}" type="slidenum">
              <a:rPr lang="en-GB" sz="1000">
                <a:solidFill>
                  <a:srgbClr val="8795A1"/>
                </a:solidFill>
                <a:latin typeface="Segoe UI"/>
              </a:rPr>
              <a:t>5</a:t>
            </a:fld>
          </a:p>
        </p:txBody>
      </p:sp>
      <p:sp>
        <p:nvSpPr>
          <p:cNvPr id="7" name="!!ag0" descr="Go to section 20.1 Why a GPU Is Not a CPU">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a GPU Is Not a CPU</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159  ›</a:t>
            </a:r>
          </a:p>
        </p:txBody>
      </p:sp>
      <p:sp>
        <p:nvSpPr>
          <p:cNvPr id="12" name="!!ag1" descr="Go to section 20.2 The Three Model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Three Models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160  ›</a:t>
            </a:r>
          </a:p>
        </p:txBody>
      </p:sp>
      <p:sp>
        <p:nvSpPr>
          <p:cNvPr id="17" name="!!ag2" descr="Go to section 20.3 DPUs: Moving the Infrastructure Off the Hos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DPUs: Moving the Infrastructure Off the Host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a GPU Is Not a CPU</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20.1   Why a GPU Is Not a CPU</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The Three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DPUs: Moving the Infrastructure Off the Host</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§20.1     </a:t>
            </a:r>
            <a:fld id="{7195737F-B406-478F-B403-B15174A0724E}" type="slidenum">
              <a:rPr lang="en-GB" sz="1000">
                <a:solidFill>
                  <a:srgbClr val="8795A1"/>
                </a:solidFill>
                <a:latin typeface="Segoe UI"/>
              </a:rPr>
              <a:t>6</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GPU Is Not a CPU</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159     </a:t>
            </a:r>
            <a:fld id="{6221B95B-4DF7-414B-BC4E-832DA19615A0}"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1670"/>
          </a:xfrm>
          <a:prstGeom prst="roundRect">
            <a:avLst>
              <a:gd name="adj" fmla="val 204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167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89559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The state is enormous.</a:t>
            </a:r>
            <a:r>
              <a:rPr sz="2300" b="0" i="0">
                <a:solidFill>
                  <a:srgbClr val="1C252B"/>
                </a:solidFill>
                <a:latin typeface="Segoe UI"/>
              </a:rPr>
              <a:t> A context includes tens of gigabytes of high-bandwidth memory holding model weights, textures and intermediate results. You cannot save and restore that between time slices; there is nowhere to put it and no time to move it.</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The work is long and uninterruptible.</a:t>
            </a:r>
            <a:r>
              <a:rPr sz="2300" b="0" i="0">
                <a:solidFill>
                  <a:srgbClr val="1C252B"/>
                </a:solidFill>
                <a:latin typeface="Segoe UI"/>
              </a:rPr>
              <a:t> A compute kernel runs to completion. Pre-empting it mid-flight is either impossible or very expensive, depending on the generation.</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The memory is the scarce resource, not the compute.</a:t>
            </a:r>
            <a:r>
              <a:rPr sz="2300" b="0" i="0">
                <a:solidFill>
                  <a:srgbClr val="1C252B"/>
                </a:solidFill>
                <a:latin typeface="Segoe UI"/>
              </a:rPr>
              <a:t> A training job that needs 40 GB of GPU memory cannot run in 20 GB at half speed. It cannot run at all.</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ways to divide one accelerator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159     </a:t>
            </a:r>
            <a:fld id="{F66D21CB-3913-4127-A437-7728B3746258}" type="slidenum">
              <a:rPr lang="en-GB" sz="1000">
                <a:solidFill>
                  <a:srgbClr val="8795A1"/>
                </a:solidFill>
                <a:latin typeface="Segoe UI"/>
              </a:rPr>
              <a:t>8</a:t>
            </a:fld>
          </a:p>
        </p:txBody>
      </p:sp>
      <p:pic>
        <p:nvPicPr>
          <p:cNvPr id="6" name="!!figure" descr="Figure 20.1. Three ways to divide one accelerator. Only the right-hand one gives a guarantee, and only the left-hand one gives the whole car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06394"/>
            <a:ext cx="10874959" cy="361546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the right-hand one gives a guarantee, and only the left-hand one gives the whole card.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Three Models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Why a GPU Is Not a CPU</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20.2   The Three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DPUs: Moving the Infrastructure Off the Host</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§20.2     </a:t>
            </a:r>
            <a:fld id="{2A9B2E42-7B11-4FC6-A4D3-13FF0691DC1F}" type="slidenum">
              <a:rPr lang="en-GB" sz="1000">
                <a:solidFill>
                  <a:srgbClr val="8795A1"/>
                </a:solidFill>
                <a:latin typeface="Segoe UI"/>
              </a:rPr>
              <a:t>9</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Passthrough, vGPU and MIG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5697E8B0-D791-4C39-A4E9-F2E4180D4C12}"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9788"/>
          </a:xfrm>
          <a:prstGeom prst="roundRect">
            <a:avLst>
              <a:gd name="adj" fmla="val 217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978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Passthrough</a:t>
            </a:r>
            <a:r>
              <a:rPr sz="1900" b="0" i="0">
                <a:solidFill>
                  <a:srgbClr val="1C252B"/>
                </a:solidFill>
                <a:latin typeface="Segoe UI"/>
              </a:rPr>
              <a:t> assigns the whole physical GPU to one guest with VFIO and the IOMMU, exactly as Chapter 7 assigned a network card. Native performance, the guest’s own vendor driver, and all of Chapter 7’s costs: no live migration, memory pinned, one guest per card.</a:t>
            </a:r>
          </a:p>
        </p:txBody>
      </p:sp>
      <p:sp>
        <p:nvSpPr>
          <p:cNvPr id="10" name="body-1"/>
          <p:cNvSpPr txBox="1"/>
          <p:nvPr/>
        </p:nvSpPr>
        <p:spPr>
          <a:xfrm>
            <a:off x="1060704" y="3084398"/>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vGPU</a:t>
            </a:r>
            <a:r>
              <a:rPr sz="1900" b="0" i="0">
                <a:solidFill>
                  <a:srgbClr val="1C252B"/>
                </a:solidFill>
                <a:latin typeface="Segoe UI"/>
              </a:rPr>
              <a:t> — NVIDIA’s term; a </a:t>
            </a:r>
            <a:r>
              <a:rPr sz="1900" b="1" i="0">
                <a:solidFill>
                  <a:srgbClr val="1A5276"/>
                </a:solidFill>
                <a:latin typeface="Segoe UI"/>
              </a:rPr>
              <a:t>mediated device</a:t>
            </a:r>
            <a:r>
              <a:rPr sz="1900" b="0" i="0">
                <a:solidFill>
                  <a:srgbClr val="1C252B"/>
                </a:solidFill>
                <a:latin typeface="Segoe UI"/>
              </a:rPr>
              <a:t> in Linux terms — splits the card’s memory between several guests and </a:t>
            </a:r>
            <a:r>
              <a:rPr sz="1900" b="0" i="1">
                <a:solidFill>
                  <a:srgbClr val="1C252B"/>
                </a:solidFill>
                <a:latin typeface="Segoe UI"/>
              </a:rPr>
              <a:t>time slices</a:t>
            </a:r>
            <a:r>
              <a:rPr sz="1900" b="0" i="0">
                <a:solidFill>
                  <a:srgbClr val="1C252B"/>
                </a:solidFill>
                <a:latin typeface="Segoe UI"/>
              </a:rPr>
              <a:t> the compute between them. Each guest gets a fixed framebuffer and a turn at all the streaming multiprocessors. Density without a performance guarantee.</a:t>
            </a:r>
          </a:p>
        </p:txBody>
      </p:sp>
      <p:sp>
        <p:nvSpPr>
          <p:cNvPr id="11" name="body-2"/>
          <p:cNvSpPr txBox="1"/>
          <p:nvPr/>
        </p:nvSpPr>
        <p:spPr>
          <a:xfrm>
            <a:off x="1060704" y="4421682"/>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MIG</a:t>
            </a:r>
            <a:r>
              <a:rPr sz="1900" b="0" i="0">
                <a:solidFill>
                  <a:srgbClr val="1C252B"/>
                </a:solidFill>
                <a:latin typeface="Segoe UI"/>
              </a:rPr>
              <a:t> — multi-instance GPU, from the A100 onward — partitions the hardware itself. Memory, cache, streaming multiprocessors and memory bandwidth are divided into up to seven instances with hardware-enforced boundaries. Each instance behaves like a smaller, independent GPU. Density </a:t>
            </a:r>
            <a:r>
              <a:rPr sz="1900" b="0" i="1">
                <a:solidFill>
                  <a:srgbClr val="1C252B"/>
                </a:solidFill>
                <a:latin typeface="Segoe UI"/>
              </a:rPr>
              <a:t>with</a:t>
            </a:r>
            <a:r>
              <a:rPr sz="1900" b="0" i="0">
                <a:solidFill>
                  <a:srgbClr val="1C252B"/>
                </a:solidFill>
                <a:latin typeface="Segoe UI"/>
              </a:rPr>
              <a:t> a guarantee, at the cost of fixed partition sizes.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One Matches Which Workload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EDF51540-C305-4819-AD4D-691E33C76795}"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15104"/>
          </a:xfrm>
          <a:prstGeom prst="roundRect">
            <a:avLst>
              <a:gd name="adj" fmla="val 202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15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deciding question is whether the workload’s demand is steady or bursty, and whether it can tolerate interference.</a:t>
            </a:r>
          </a:p>
        </p:txBody>
      </p:sp>
      <p:sp>
        <p:nvSpPr>
          <p:cNvPr id="10" name="body-1"/>
          <p:cNvSpPr txBox="1"/>
          <p:nvPr/>
        </p:nvSpPr>
        <p:spPr>
          <a:xfrm>
            <a:off x="1060704" y="2821939"/>
            <a:ext cx="10161727" cy="3165348"/>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1F618D"/>
                </a:solidFill>
                <a:latin typeface="Segoe UI"/>
              </a:rPr>
              <a:t>•	</a:t>
            </a:r>
            <a:r>
              <a:rPr sz="2000" b="1" i="0">
                <a:solidFill>
                  <a:srgbClr val="1F618D"/>
                </a:solidFill>
                <a:latin typeface="Segoe UI"/>
              </a:rPr>
              <a:t>Training a large model</a:t>
            </a:r>
            <a:r>
              <a:rPr sz="2000" b="0" i="0">
                <a:solidFill>
                  <a:srgbClr val="1C252B"/>
                </a:solidFill>
                <a:latin typeface="Segoe UI"/>
              </a:rPr>
              <a:t> — passthrough, or MIG’s largest profile. It needs all the memory and it runs for days; sharing buys nothing.</a:t>
            </a:r>
          </a:p>
          <a:p>
            <a:pPr algn="l" marL="223631" indent="-223631">
              <a:lnSpc>
                <a:spcPct val="104000"/>
              </a:lnSpc>
              <a:spcBef>
                <a:spcPts val="0"/>
              </a:spcBef>
              <a:spcAft>
                <a:spcPts val="700"/>
              </a:spcAft>
            </a:pPr>
            <a:r>
              <a:rPr sz="2000" b="1">
                <a:solidFill>
                  <a:srgbClr val="1F618D"/>
                </a:solidFill>
                <a:latin typeface="Segoe UI"/>
              </a:rPr>
              <a:t>•	</a:t>
            </a:r>
            <a:r>
              <a:rPr sz="2000" b="1" i="0">
                <a:solidFill>
                  <a:srgbClr val="1F618D"/>
                </a:solidFill>
                <a:latin typeface="Segoe UI"/>
              </a:rPr>
              <a:t>Inference serving</a:t>
            </a:r>
            <a:r>
              <a:rPr sz="2000" b="0" i="0">
                <a:solidFill>
                  <a:srgbClr val="1C252B"/>
                </a:solidFill>
                <a:latin typeface="Segoe UI"/>
              </a:rPr>
              <a:t> — MIG. Many small, latency-sensitive requests that must not be delayed by somebody else’s batch job. The guarantee is the point.</a:t>
            </a:r>
          </a:p>
          <a:p>
            <a:pPr algn="l" marL="223631" indent="-223631">
              <a:lnSpc>
                <a:spcPct val="104000"/>
              </a:lnSpc>
              <a:spcBef>
                <a:spcPts val="0"/>
              </a:spcBef>
              <a:spcAft>
                <a:spcPts val="700"/>
              </a:spcAft>
            </a:pPr>
            <a:r>
              <a:rPr sz="2000" b="1">
                <a:solidFill>
                  <a:srgbClr val="1F618D"/>
                </a:solidFill>
                <a:latin typeface="Segoe UI"/>
              </a:rPr>
              <a:t>•	</a:t>
            </a:r>
            <a:r>
              <a:rPr sz="2000" b="1" i="0">
                <a:solidFill>
                  <a:srgbClr val="1F618D"/>
                </a:solidFill>
                <a:latin typeface="Segoe UI"/>
              </a:rPr>
              <a:t>Virtual desktops with CAD or rendering</a:t>
            </a:r>
            <a:r>
              <a:rPr sz="2000" b="0" i="0">
                <a:solidFill>
                  <a:srgbClr val="1C252B"/>
                </a:solidFill>
                <a:latin typeface="Segoe UI"/>
              </a:rPr>
              <a:t> (Chapter 15) — vGPU. Demand is bursty and interactive, users are rarely busy simultaneously, and time slicing exploits exactly that.</a:t>
            </a:r>
          </a:p>
          <a:p>
            <a:pPr algn="l" marL="223631" indent="-223631">
              <a:lnSpc>
                <a:spcPct val="104000"/>
              </a:lnSpc>
              <a:spcBef>
                <a:spcPts val="0"/>
              </a:spcBef>
              <a:spcAft>
                <a:spcPts val="0"/>
              </a:spcAft>
            </a:pPr>
            <a:r>
              <a:rPr sz="2000" b="1">
                <a:solidFill>
                  <a:srgbClr val="1F618D"/>
                </a:solidFill>
                <a:latin typeface="Segoe UI"/>
              </a:rPr>
              <a:t>•	</a:t>
            </a:r>
            <a:r>
              <a:rPr sz="2000" b="1" i="0">
                <a:solidFill>
                  <a:srgbClr val="1F618D"/>
                </a:solidFill>
                <a:latin typeface="Segoe UI"/>
              </a:rPr>
              <a:t>Student or research workloads</a:t>
            </a:r>
            <a:r>
              <a:rPr sz="2000" b="0" i="0">
                <a:solidFill>
                  <a:srgbClr val="1C252B"/>
                </a:solidFill>
                <a:latin typeface="Segoe UI"/>
              </a:rPr>
              <a:t> — MIG where the hardware supports it, because fairness between users matters more than peak throughput, and one runaway job must not stop the others.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Jobs, One Card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C0770FA7-F895-4C3C-ADCD-72D725FC934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1180"/>
          </a:xfrm>
          <a:prstGeom prst="roundRect">
            <a:avLst>
              <a:gd name="adj" fmla="val 234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118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department has one 80 GB accelerator and four research groups. Each needs 18 GB of GPU memory and runs jobs averaging 40 minutes, roughly 6 hours a day each. Compare passthrough, vGPU and MIG.</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passthrough.</a:t>
            </a:r>
            <a:r>
              <a:rPr sz="1900" b="0" i="0">
                <a:solidFill>
                  <a:srgbClr val="1C252B"/>
                </a:solidFill>
                <a:latin typeface="Segoe UI"/>
              </a:rPr>
              <a:t> One guest owns the card.</a:t>
            </a:r>
          </a:p>
        </p:txBody>
      </p:sp>
      <p:pic>
        <p:nvPicPr>
          <p:cNvPr id="11" name="body-2" descr="\text{concurrent groups} = 1 \qquad \text{utilisation} = \frac{6}{24} = \mathbf{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545256"/>
          </a:xfrm>
          <a:prstGeom prst="rect">
            <a:avLst/>
          </a:prstGeom>
        </p:spPr>
      </p:pic>
      <p:sp>
        <p:nvSpPr>
          <p:cNvPr id="12" name="body-3"/>
          <p:cNvSpPr txBox="1"/>
          <p:nvPr/>
        </p:nvSpPr>
        <p:spPr>
          <a:xfrm>
            <a:off x="1042416" y="415965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other three queue. Aggregate demand is </a:t>
            </a:r>
            <a:r>
              <a:rPr sz="1900" b="0" i="0">
                <a:solidFill>
                  <a:srgbClr val="1C252B"/>
                </a:solidFill>
                <a:latin typeface="Cambria"/>
              </a:rPr>
              <a:t>4 × 6 = 24</a:t>
            </a:r>
            <a:r>
              <a:rPr sz="1900" b="0" i="0">
                <a:solidFill>
                  <a:srgbClr val="1C252B"/>
                </a:solidFill>
                <a:latin typeface="Segoe UI"/>
              </a:rPr>
              <a:t> hours a day against 24 hours available, so the card is theoretically just sufficient — but only if the four groups never want it at the same time, which they will, because they work the same hours. Expect long queues at 2 p.m. and an idle card at 3 a.m.</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Jobs, One Card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843A7653-1468-47C8-8106-12CE8E742398}"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0428"/>
          </a:xfrm>
          <a:prstGeom prst="roundRect">
            <a:avLst>
              <a:gd name="adj" fmla="val 20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04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vGPU, four slices of 20 GB.</a:t>
            </a:r>
            <a:r>
              <a:rPr sz="1900" b="0" i="0">
                <a:solidFill>
                  <a:srgbClr val="1C252B"/>
                </a:solidFill>
                <a:latin typeface="Segoe UI"/>
              </a:rPr>
              <a:t> All four run concurrently. Memory fits (</a:t>
            </a:r>
            <a:r>
              <a:rPr sz="1900" b="0" i="0">
                <a:solidFill>
                  <a:srgbClr val="1C252B"/>
                </a:solidFill>
                <a:latin typeface="Cambria"/>
              </a:rPr>
              <a:t>4 × 20 = 80</a:t>
            </a:r>
            <a:r>
              <a:rPr sz="1900" b="0" i="0">
                <a:solidFill>
                  <a:srgbClr val="1C252B"/>
                </a:solidFill>
                <a:latin typeface="Segoe UI"/>
              </a:rPr>
              <a:t>). Compute is time sliced, so when all four are busy each gets roughly a quarter of the throughput: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text{job time when all four are active} = 40 \times 4 = \mathbf{160 \text{ minut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047822"/>
            <a:ext cx="10234879" cy="324520"/>
          </a:xfrm>
          <a:prstGeom prst="rect">
            <a:avLst/>
          </a:prstGeom>
        </p:spPr>
      </p:pic>
      <p:sp>
        <p:nvSpPr>
          <p:cNvPr id="12" name="body-2"/>
          <p:cNvSpPr txBox="1"/>
          <p:nvPr/>
        </p:nvSpPr>
        <p:spPr>
          <a:xfrm>
            <a:off x="1042416" y="350505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When only one is active it gets the whole card and finishes in 40. Throughput is good; </a:t>
            </a:r>
            <a:r>
              <a:rPr sz="1900" b="0" i="1">
                <a:solidFill>
                  <a:srgbClr val="1C252B"/>
                </a:solidFill>
                <a:latin typeface="Segoe UI"/>
              </a:rPr>
              <a:t>predictability is gone</a:t>
            </a:r>
            <a:r>
              <a:rPr sz="1900" b="0" i="0">
                <a:solidFill>
                  <a:srgbClr val="1C252B"/>
                </a:solidFill>
                <a:latin typeface="Segoe UI"/>
              </a:rPr>
              <a:t>, and a researcher cannot tell whether their job will take 40 minutes or 160.</a:t>
            </a:r>
          </a:p>
        </p:txBody>
      </p:sp>
      <p:sp>
        <p:nvSpPr>
          <p:cNvPr id="13" name="body-3"/>
          <p:cNvSpPr txBox="1"/>
          <p:nvPr/>
        </p:nvSpPr>
        <p:spPr>
          <a:xfrm>
            <a:off x="1042416" y="454119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MIG, four instances.</a:t>
            </a:r>
            <a:r>
              <a:rPr sz="1900" b="0" i="0">
                <a:solidFill>
                  <a:srgbClr val="1C252B"/>
                </a:solidFill>
                <a:latin typeface="Segoe UI"/>
              </a:rPr>
              <a:t> On an 80 GB card the </a:t>
            </a:r>
            <a:r>
              <a:rPr sz="1800" b="0" i="0">
                <a:solidFill>
                  <a:srgbClr val="1F4E79"/>
                </a:solidFill>
                <a:latin typeface="Consolas"/>
              </a:rPr>
              <a:t>2g.20gb</a:t>
            </a:r>
            <a:r>
              <a:rPr sz="1900" b="0" i="0">
                <a:solidFill>
                  <a:srgbClr val="1C252B"/>
                </a:solidFill>
                <a:latin typeface="Segoe UI"/>
              </a:rPr>
              <a:t> profile gives four instances of 20 GB with a fixed share of compute — about a quarter each, always.</a:t>
            </a:r>
          </a:p>
        </p:txBody>
      </p:sp>
      <p:sp>
        <p:nvSpPr>
          <p:cNvPr id="14" name="body-3bar">
            <a:extLst>
              <a:ext uri="{C183D7F6-B498-43B3-948B-1728B52AA6E4}">
                <adec:decorative xmlns:adec="http://schemas.microsoft.com/office/drawing/2017/decorative" val="1"/>
              </a:ext>
            </a:extLst>
          </p:cNvPr>
          <p:cNvSpPr/>
          <p:nvPr/>
        </p:nvSpPr>
        <p:spPr>
          <a:xfrm>
            <a:off x="841248" y="455948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4" descr="\text{job time, always} = \frac{40}{0.25} = \mathbf{160 \text{ minut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276199"/>
            <a:ext cx="10234879" cy="547268"/>
          </a:xfrm>
          <a:prstGeom prst="rect">
            <a:avLst/>
          </a:prstGeom>
        </p:spPr>
      </p:pic>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Jobs, One Card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B5270150-1ED4-4BAF-BC78-5330D908795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89834"/>
          </a:xfrm>
          <a:prstGeom prst="roundRect">
            <a:avLst>
              <a:gd name="adj" fmla="val 327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8983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same 160 minutes as the worst vGPU case — but it is </a:t>
            </a:r>
            <a:r>
              <a:rPr sz="1900" b="0" i="1">
                <a:solidFill>
                  <a:srgbClr val="1C252B"/>
                </a:solidFill>
                <a:latin typeface="Segoe UI"/>
              </a:rPr>
              <a:t>always</a:t>
            </a:r>
            <a:r>
              <a:rPr sz="1900" b="0" i="0">
                <a:solidFill>
                  <a:srgbClr val="1C252B"/>
                </a:solidFill>
                <a:latin typeface="Segoe UI"/>
              </a:rPr>
              <a:t> 160, whether the neighbours are busy or idle.</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compare honestly.</a:t>
            </a:r>
          </a:p>
        </p:txBody>
      </p:sp>
      <p:sp>
        <p:nvSpPr>
          <p:cNvPr id="11" name="body-1bar">
            <a:extLst>
              <a:ext uri="{C183D7F6-B498-43B3-948B-1728B52AA6E4}">
                <adec:decorative xmlns:adec="http://schemas.microsoft.com/office/drawing/2017/decorative" val="1"/>
              </a:ext>
            </a:extLst>
          </p:cNvPr>
          <p:cNvSpPr/>
          <p:nvPr/>
        </p:nvSpPr>
        <p:spPr>
          <a:xfrm>
            <a:off x="841248" y="2764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180537"/>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Passthrough: fastest single job (40 min), 25% utilisation, queueing.</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vGPU: 40–160 min depending on neighbours, high utilisation, unpredictable.</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MIG: always 160 min, high utilisation, predictable, and no job can be harmed by another.</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35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350"/>
                                        <p:tgtEl>
                                          <p:spTgt spid="1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fade">
                                      <p:cBhvr>
                                        <p:cTn id="31" dur="35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Jobs, One Card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0413758B-8E65-4555-9983-FC5AD93F19B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2779"/>
          </a:xfrm>
          <a:prstGeom prst="roundRect">
            <a:avLst>
              <a:gd name="adj" fmla="val 24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277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85257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recommendation, and why it is not obvious.</a:t>
            </a:r>
            <a:r>
              <a:rPr sz="1900" b="0" i="0">
                <a:solidFill>
                  <a:srgbClr val="1C252B"/>
                </a:solidFill>
                <a:latin typeface="Segoe UI"/>
              </a:rPr>
              <a:t> For four research groups sharing one departmental card, </a:t>
            </a:r>
            <a:r>
              <a:rPr sz="1900" b="1" i="0">
                <a:solidFill>
                  <a:srgbClr val="1C252B"/>
                </a:solidFill>
                <a:latin typeface="Segoe UI"/>
              </a:rPr>
              <a:t>MIG</a:t>
            </a:r>
            <a:r>
              <a:rPr sz="1900" b="0" i="0">
                <a:solidFill>
                  <a:srgbClr val="1C252B"/>
                </a:solidFill>
                <a:latin typeface="Segoe UI"/>
              </a:rPr>
              <a:t>. The reason is not throughput — vGPU matches or beats it — but that MIG makes the system </a:t>
            </a:r>
            <a:r>
              <a:rPr sz="1900" b="0" i="1">
                <a:solidFill>
                  <a:srgbClr val="1C252B"/>
                </a:solidFill>
                <a:latin typeface="Segoe UI"/>
              </a:rPr>
              <a:t>explicable</a:t>
            </a:r>
            <a:r>
              <a:rPr sz="1900" b="0" i="0">
                <a:solidFill>
                  <a:srgbClr val="1C252B"/>
                </a:solidFill>
                <a:latin typeface="Segoe UI"/>
              </a:rPr>
              <a:t>. A researcher who is told “you have a quarter of a card and your job takes 160 minutes” can plan. One whose job takes 40 minutes on Tuesday and 160 on Wednesday for reasons they cannot see will conclude the cluster is broken, and will start asking for their own card.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7885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95124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and when to reverse it.</a:t>
            </a:r>
            <a:r>
              <a:rPr sz="1900" b="0" i="0">
                <a:solidFill>
                  <a:srgbClr val="1C252B"/>
                </a:solidFill>
                <a:latin typeface="Segoe UI"/>
              </a:rPr>
              <a:t> If the four groups’ work were genuinely bursty and rarely simultaneous — interactive visualisation rather than batch training — vGPU would win outright, because time slicing harvests exactly the idleness that MIG’s fixed partitions would waste.</a:t>
            </a:r>
          </a:p>
        </p:txBody>
      </p:sp>
      <p:sp>
        <p:nvSpPr>
          <p:cNvPr id="12" name="body-1bar">
            <a:extLst>
              <a:ext uri="{C183D7F6-B498-43B3-948B-1728B52AA6E4}">
                <adec:decorative xmlns:adec="http://schemas.microsoft.com/office/drawing/2017/decorative" val="1"/>
              </a:ext>
            </a:extLst>
          </p:cNvPr>
          <p:cNvSpPr/>
          <p:nvPr/>
        </p:nvSpPr>
        <p:spPr>
          <a:xfrm>
            <a:off x="841248" y="396953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practical constraints that decide this before you do</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160     </a:t>
            </a:r>
            <a:fld id="{BE40DAAA-8954-43B5-BCD8-2906C1B95196}"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Licensing.</a:t>
            </a:r>
            <a:r>
              <a:rPr sz="2100" b="0" i="0">
                <a:solidFill>
                  <a:srgbClr val="1C252B"/>
                </a:solidFill>
                <a:latin typeface="Segoe UI"/>
              </a:rPr>
              <a:t> NVIDIA vGPU requires a separate software licence per concurrent user, renewed annually. It is frequently a larger cost than the card over three years, and it is the reason many sites use passthrough or MIG instead.</a:t>
            </a:r>
          </a:p>
        </p:txBody>
      </p:sp>
      <p:sp>
        <p:nvSpPr>
          <p:cNvPr id="10" name="body-1"/>
          <p:cNvSpPr txBox="1"/>
          <p:nvPr/>
        </p:nvSpPr>
        <p:spPr>
          <a:xfrm>
            <a:off x="1060704" y="319346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MIG profiles are fixed.</a:t>
            </a:r>
            <a:r>
              <a:rPr sz="2100" b="0" i="0">
                <a:solidFill>
                  <a:srgbClr val="1C252B"/>
                </a:solidFill>
                <a:latin typeface="Segoe UI"/>
              </a:rPr>
              <a:t> You choose from a published list — one instance of seven-eighths, two of a half, seven of a seventh, and a few combinations. You cannot ask for 30% of a card. Reconfiguring requires stopping every workload on it.</a:t>
            </a:r>
          </a:p>
        </p:txBody>
      </p:sp>
      <p:sp>
        <p:nvSpPr>
          <p:cNvPr id="11" name="body-2"/>
          <p:cNvSpPr txBox="1"/>
          <p:nvPr/>
        </p:nvSpPr>
        <p:spPr>
          <a:xfrm>
            <a:off x="1060704" y="433867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Not every card supports every model.</a:t>
            </a:r>
            <a:r>
              <a:rPr sz="2100" b="0" i="0">
                <a:solidFill>
                  <a:srgbClr val="1C252B"/>
                </a:solidFill>
                <a:latin typeface="Segoe UI"/>
              </a:rPr>
              <a:t> MIG arrived with the A100 and is absent from consumer cards entirely; vGPU needs a supported card and the licence; passthrough works almost everywhere. Check the specific model before designing around a capability.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Is a Security Change as Much as a Performance One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FF9F5D11-412B-4F88-99CC-D96416F29F9B}"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obvious benefit is reclaimed cores — commonly 20–30% of a host that was doing heavy overlay networking.</a:t>
            </a:r>
          </a:p>
        </p:txBody>
      </p:sp>
      <p:sp>
        <p:nvSpPr>
          <p:cNvPr id="10" name="body-1"/>
          <p:cNvSpPr txBox="1"/>
          <p:nvPr/>
        </p:nvSpPr>
        <p:spPr>
          <a:xfrm>
            <a:off x="1060704" y="2821939"/>
            <a:ext cx="10161727" cy="194767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structural benefit is that the infrastructure now runs on a processor the host’s operating system does not control. A compromised hypervisor cannot rewrite the virtual switch’s rules if the switch is not on the hypervisor; the management path to the DPU is separate. This is Chapter 5’s disaggregation argument — Xen’s driver domains — implemented in silicon rather than in software, and it is why AWS’s Nitro architecture is built this way.</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It also completes an arc this book has been tracing since Chapter 7: emulate the device, then paravirtualize it, then hand the real one over, and finally move the whole supporting apparatus to a computer of its own.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2F736CC0-2611-41E3-8186-AB9EDFC8A6CD}" type="slidenum">
              <a:rPr lang="en-GB" sz="1000">
                <a:solidFill>
                  <a:srgbClr val="8795A1"/>
                </a:solidFill>
                <a:latin typeface="Segoe UI"/>
              </a:rPr>
              <a:t>18</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GPU memory can be overcommitted.</a:t>
            </a:r>
            <a:r>
              <a:rPr sz="1700" b="0" i="0">
                <a:solidFill>
                  <a:srgbClr val="1C252B"/>
                </a:solidFill>
                <a:latin typeface="Segoe UI"/>
              </a:rPr>
              <a:t> It cannot. A job needing 40 GB in a 20 GB instance does not run slowly; it fails.</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vGPU for latency-sensitive inference.</a:t>
            </a:r>
            <a:r>
              <a:rPr sz="1700" b="0" i="0">
                <a:solidFill>
                  <a:srgbClr val="1C252B"/>
                </a:solidFill>
                <a:latin typeface="Segoe UI"/>
              </a:rPr>
              <a:t> Time slicing has no guarantee, and the tail latency of Chapter 18 is exactly what suffers.</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the vGPU licence in the budget.</a:t>
            </a:r>
            <a:r>
              <a:rPr sz="1700" b="0" i="0">
                <a:solidFill>
                  <a:srgbClr val="1C252B"/>
                </a:solidFill>
                <a:latin typeface="Segoe UI"/>
              </a:rPr>
              <a:t> It can exceed the hardware cost over three years.</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Designing for MIG on a card that does not have it.</a:t>
            </a:r>
            <a:r>
              <a:rPr sz="1700" b="0" i="0">
                <a:solidFill>
                  <a:srgbClr val="1C252B"/>
                </a:solidFill>
                <a:latin typeface="Segoe UI"/>
              </a:rPr>
              <a:t> Check the model, not the vendor.</a:t>
            </a:r>
          </a:p>
        </p:txBody>
      </p:sp>
      <p:sp>
        <p:nvSpPr>
          <p:cNvPr id="19" name="!!pb4">
            <a:extLst>
              <a:ext uri="{C183D7F6-B498-43B3-948B-1728B52AA6E4}">
                <adec:decorative xmlns:adec="http://schemas.microsoft.com/office/drawing/2017/decorative" val="1"/>
              </a:ext>
            </a:extLst>
          </p:cNvPr>
          <p:cNvSpPr/>
          <p:nvPr/>
        </p:nvSpPr>
        <p:spPr>
          <a:xfrm>
            <a:off x="658368" y="436961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9247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5132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to live-migrate a GPU guest.</a:t>
            </a:r>
            <a:r>
              <a:rPr sz="1700" b="0" i="0">
                <a:solidFill>
                  <a:srgbClr val="1C252B"/>
                </a:solidFill>
                <a:latin typeface="Segoe UI"/>
              </a:rPr>
              <a:t> All of Chapter 7’s passthrough costs apply, and GPU state makes them worse.</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Measuring GPU utilisation as a percentage and stopping there.</a:t>
            </a:r>
            <a:r>
              <a:rPr sz="1700" b="0" i="0">
                <a:solidFill>
                  <a:srgbClr val="1C252B"/>
                </a:solidFill>
                <a:latin typeface="Segoe UI"/>
              </a:rPr>
              <a:t> “100% utilisation” from </a:t>
            </a:r>
            <a:r>
              <a:rPr sz="1600" b="0" i="0">
                <a:solidFill>
                  <a:srgbClr val="1F4E79"/>
                </a:solidFill>
                <a:latin typeface="Consolas"/>
              </a:rPr>
              <a:t>nvidia-smi</a:t>
            </a:r>
            <a:r>
              <a:rPr sz="1700" b="0" i="0">
                <a:solidFill>
                  <a:srgbClr val="1C252B"/>
                </a:solidFill>
                <a:latin typeface="Segoe UI"/>
              </a:rPr>
              <a:t> means a kernel was resident, not that the hardware was fully used. Look at achieved occupancy and memory bandwidth.</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0A09DB18-A6B2-4650-9CD6-675E07C94604}"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Buying accelerators before measuring queueing.</a:t>
            </a:r>
            <a:r>
              <a:rPr sz="1700" b="0" i="0">
                <a:solidFill>
                  <a:srgbClr val="1C252B"/>
                </a:solidFill>
                <a:latin typeface="Segoe UI"/>
              </a:rPr>
              <a:t> The worked example’s passthrough case was 25% utilised and still had queues, which is a scheduling problem, not a capacity one.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CD6D0B28-A1FE-4A63-A56E-E6D99B2B4B0C}" type="slidenum">
              <a:rPr lang="en-GB" sz="1000">
                <a:solidFill>
                  <a:srgbClr val="8795A1"/>
                </a:solidFill>
                <a:latin typeface="Segoe UI"/>
              </a:rPr>
              <a:t>20</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Runs against a real GPU where one is available, and against captured output where one is not — the file is in </a:t>
            </a:r>
            <a:r>
              <a:rPr sz="1900" b="0" i="0">
                <a:solidFill>
                  <a:srgbClr val="1F4E79"/>
                </a:solidFill>
                <a:latin typeface="Consolas"/>
              </a:rPr>
              <a:t>code/</a:t>
            </a:r>
            <a:r>
              <a:rPr sz="2000" b="0" i="0">
                <a:solidFill>
                  <a:srgbClr val="1C252B"/>
                </a:solidFill>
                <a:latin typeface="Segoe UI"/>
              </a:rPr>
              <a:t> and the exercise is the same. Expect thirty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Is there an accelerator here at all?</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The IOMMU group: what passthrough would have to take.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Enable MIG, if this card supports it.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Create four instances, and see them as separate devices.</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Run the same job on one instance, then on all four.</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What "utilisation" actually reports.</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Tear down the partitions.</a:t>
            </a:r>
          </a:p>
        </p:txBody>
      </p:sp>
      <p:sp>
        <p:nvSpPr>
          <p:cNvPr id="3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Partition a GPU; verify an attestation report</a:t>
            </a:r>
          </a:p>
        </p:txBody>
      </p:sp>
      <p:sp>
        <p:nvSpPr>
          <p:cNvPr id="4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69 lines of Shell</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2480F303-A0DE-48AC-8A22-F72F9B50459D}" type="slidenum">
              <a:rPr lang="en-GB" sz="1000">
                <a:solidFill>
                  <a:srgbClr val="8795A1"/>
                </a:solidFill>
                <a:latin typeface="Segoe UI"/>
              </a:rPr>
              <a:t>21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Is there an accelerator here at all?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20_gpu.sh -- passthrough, MIG and what utilisation really reports. set -euo pipefail # --- 1. Is there an accelerator here at all? --------------------------- if ! command -v nvidia-smi &gt;/dev/null; then echo &quot;no GPU on this host -- read code/ch20_capture.txt instead&quot; sed -n '1,40p' &quot;$(dirname &quot;$0&quot;)/ch20_capture.txt&quot; 2&gt;/dev/null || true exit 0 fi nvidia-smi --query-gpu=name,memory.total,mig.mode.current \ --format=csv"/>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ch20_gpu.sh -- passthrough, MIG and what utilisation really reports.</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Is there an accelerator here at all? ---------------------------</a:t>
            </a:r>
          </a:p>
          <a:p>
            <a:pPr>
              <a:lnSpc>
                <a:spcPct val="100000"/>
              </a:lnSpc>
              <a:spcAft>
                <a:spcPts val="0"/>
              </a:spcAft>
            </a:pP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a:t>
            </a:r>
            <a:r>
              <a:rPr sz="1800" i="0">
                <a:solidFill>
                  <a:srgbClr val="E8EDF2"/>
                </a:solidFill>
                <a:latin typeface="Consolas"/>
              </a:rPr>
              <a:t> </a:t>
            </a:r>
            <a:r>
              <a:rPr sz="1800" i="0">
                <a:solidFill>
                  <a:srgbClr val="C39BD3"/>
                </a:solidFill>
                <a:latin typeface="Consolas"/>
              </a:rPr>
              <a:t>command</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E8EDF2"/>
                </a:solidFill>
                <a:latin typeface="Consolas"/>
              </a:rPr>
              <a:t>nvidia-smi</a:t>
            </a:r>
            <a:r>
              <a:rPr sz="1800" i="0">
                <a:solidFill>
                  <a:srgbClr val="E8EDF2"/>
                </a:solidFill>
                <a:latin typeface="Consolas"/>
              </a:rPr>
              <a:t> </a:t>
            </a:r>
            <a:r>
              <a:rPr sz="1800" i="0">
                <a:solidFill>
                  <a:srgbClr val="E8EDF2"/>
                </a:solidFill>
                <a:latin typeface="Consolas"/>
              </a:rPr>
              <a:t>&gt;/dev/null</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then</a:t>
            </a:r>
          </a:p>
          <a:p>
            <a:pPr>
              <a:lnSpc>
                <a:spcPct val="100000"/>
              </a:lnSpc>
              <a:spcAft>
                <a:spcPts val="0"/>
              </a:spcAft>
            </a:pP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GPU on this host -- read code/ch20_capture.txt instead"</a:t>
            </a:r>
          </a:p>
          <a:p>
            <a:pPr>
              <a:lnSpc>
                <a:spcPct val="100000"/>
              </a:lnSpc>
              <a:spcAft>
                <a:spcPts val="0"/>
              </a:spcAft>
            </a:pPr>
            <a:r>
              <a:rPr sz="1800" i="0">
                <a:solidFill>
                  <a:srgbClr val="E8EDF2"/>
                </a:solidFill>
                <a:latin typeface="Consolas"/>
              </a:rPr>
              <a:t>  </a:t>
            </a:r>
            <a:r>
              <a:rPr sz="1800" i="0">
                <a:solidFill>
                  <a:srgbClr val="E8EDF2"/>
                </a:solidFill>
                <a:latin typeface="Consolas"/>
              </a:rPr>
              <a:t>sed</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7DCEA0"/>
                </a:solidFill>
                <a:latin typeface="Consolas"/>
              </a:rPr>
              <a:t>'1,40p'</a:t>
            </a:r>
            <a:r>
              <a:rPr sz="1800" i="0">
                <a:solidFill>
                  <a:srgbClr val="E8EDF2"/>
                </a:solidFill>
                <a:latin typeface="Consolas"/>
              </a:rPr>
              <a:t> </a:t>
            </a:r>
            <a:r>
              <a:rPr sz="1800" i="0">
                <a:solidFill>
                  <a:srgbClr val="7DCEA0"/>
                </a:solidFill>
                <a:latin typeface="Consolas"/>
              </a:rPr>
              <a:t>"</a:t>
            </a:r>
            <a:r>
              <a:rPr sz="1800" i="0">
                <a:solidFill>
                  <a:srgbClr val="5DADE2"/>
                </a:solidFill>
                <a:latin typeface="Consolas"/>
              </a:rPr>
              <a:t>$(</a:t>
            </a:r>
            <a:r>
              <a:rPr sz="1800" i="0">
                <a:solidFill>
                  <a:srgbClr val="E8EDF2"/>
                </a:solidFill>
                <a:latin typeface="Consolas"/>
              </a:rPr>
              <a:t>dirname</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$0</a:t>
            </a:r>
            <a:r>
              <a:rPr sz="1800" i="0">
                <a:solidFill>
                  <a:srgbClr val="7DCEA0"/>
                </a:solidFill>
                <a:latin typeface="Consolas"/>
              </a:rPr>
              <a:t>"</a:t>
            </a:r>
            <a:r>
              <a:rPr sz="1800" i="0">
                <a:solidFill>
                  <a:srgbClr val="5DADE2"/>
                </a:solidFill>
                <a:latin typeface="Consolas"/>
              </a:rPr>
              <a:t>)</a:t>
            </a:r>
            <a:r>
              <a:rPr sz="1800" i="0">
                <a:solidFill>
                  <a:srgbClr val="7DCEA0"/>
                </a:solidFill>
                <a:latin typeface="Consolas"/>
              </a:rPr>
              <a:t>/ch20_capture.txt</a:t>
            </a:r>
            <a:r>
              <a:rPr sz="1800" i="0">
                <a:solidFill>
                  <a:srgbClr val="7DCEA0"/>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  </a:t>
            </a:r>
            <a:r>
              <a:rPr sz="1800" i="0">
                <a:solidFill>
                  <a:srgbClr val="C39BD3"/>
                </a:solidFill>
                <a:latin typeface="Consolas"/>
              </a:rPr>
              <a:t>exit</a:t>
            </a:r>
            <a:r>
              <a:rPr sz="1800" i="0">
                <a:solidFill>
                  <a:srgbClr val="E8EDF2"/>
                </a:solidFill>
                <a:latin typeface="Consolas"/>
              </a:rPr>
              <a:t> </a:t>
            </a:r>
            <a:r>
              <a:rPr sz="1800" i="0">
                <a:solidFill>
                  <a:srgbClr val="F7DC6F"/>
                </a:solidFill>
                <a:latin typeface="Consolas"/>
              </a:rPr>
              <a:t>0</a:t>
            </a:r>
          </a:p>
          <a:p>
            <a:pPr>
              <a:lnSpc>
                <a:spcPct val="100000"/>
              </a:lnSpc>
              <a:spcAft>
                <a:spcPts val="0"/>
              </a:spcAft>
            </a:pPr>
            <a:r>
              <a:rPr sz="1800" i="0">
                <a:solidFill>
                  <a:srgbClr val="5DADE2"/>
                </a:solidFill>
                <a:latin typeface="Consolas"/>
              </a:rPr>
              <a:t>fi</a:t>
            </a:r>
          </a:p>
          <a:p>
            <a:pPr>
              <a:lnSpc>
                <a:spcPct val="100000"/>
              </a:lnSpc>
              <a:spcAft>
                <a:spcPts val="0"/>
              </a:spcAft>
            </a:pPr>
            <a:r>
              <a:rPr sz="1800" i="0">
                <a:solidFill>
                  <a:srgbClr val="E8EDF2"/>
                </a:solidFill>
                <a:latin typeface="Consolas"/>
              </a:rPr>
              <a:t>nvidia-smi</a:t>
            </a:r>
            <a:r>
              <a:rPr sz="1800" i="0">
                <a:solidFill>
                  <a:srgbClr val="E8EDF2"/>
                </a:solidFill>
                <a:latin typeface="Consolas"/>
              </a:rPr>
              <a:t> </a:t>
            </a:r>
            <a:r>
              <a:rPr sz="1800" i="0">
                <a:solidFill>
                  <a:srgbClr val="E8EDF2"/>
                </a:solidFill>
                <a:latin typeface="Consolas"/>
              </a:rPr>
              <a:t>--query-gpu</a:t>
            </a:r>
            <a:r>
              <a:rPr sz="1800" i="0">
                <a:solidFill>
                  <a:srgbClr val="AEB6BF"/>
                </a:solidFill>
                <a:latin typeface="Consolas"/>
              </a:rPr>
              <a:t>=</a:t>
            </a:r>
            <a:r>
              <a:rPr sz="1800" i="0">
                <a:solidFill>
                  <a:srgbClr val="E8EDF2"/>
                </a:solidFill>
                <a:latin typeface="Consolas"/>
              </a:rPr>
              <a:t>name,memory.total,mig.mode.current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--format</a:t>
            </a:r>
            <a:r>
              <a:rPr sz="1800" i="0">
                <a:solidFill>
                  <a:srgbClr val="AEB6BF"/>
                </a:solidFill>
                <a:latin typeface="Consolas"/>
              </a:rPr>
              <a:t>=</a:t>
            </a:r>
            <a:r>
              <a:rPr sz="1800" i="0">
                <a:solidFill>
                  <a:srgbClr val="E8EDF2"/>
                </a:solidFill>
                <a:latin typeface="Consolas"/>
              </a:rPr>
              <a:t>csv</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5082FDED-60A8-46F6-953A-8A80DEA61C9C}"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IOMMU group: what passthrough would have to take.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The IOMMU group: what passthrough would have to take. --------- # Chapter 4: the whole group moves together, or nothing does. for d in $(lspci -D | awk '/NVIDIA/{print $1}'); do grp=$(basename &quot;$(dirname &quot;$(readlink -f \ &quot;/sys/bus/pci/devices/$d/iommu_group&quot;)&quot;)&quot;) echo &quot;device $d is in IOMMU group $grp&quot; ls &quot;/sys/kernel/iommu_groups/$grp/devices/&quot; done # A card and its audio function usually share a group: both must go."/>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IOMMU group: what passthrough would have to take. ---------</a:t>
            </a:r>
          </a:p>
          <a:p>
            <a:pPr>
              <a:lnSpc>
                <a:spcPct val="100000"/>
              </a:lnSpc>
              <a:spcAft>
                <a:spcPts val="0"/>
              </a:spcAft>
            </a:pPr>
            <a:r>
              <a:rPr sz="1900" i="1">
                <a:solidFill>
                  <a:srgbClr val="8795A1"/>
                </a:solidFill>
                <a:latin typeface="Consolas"/>
              </a:rPr>
              <a:t># Chapter 4: the whole group moves together, or nothing does.</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5DADE2"/>
                </a:solidFill>
                <a:latin typeface="Consolas"/>
              </a:rPr>
              <a:t>$(</a:t>
            </a:r>
            <a:r>
              <a:rPr sz="1900" i="0">
                <a:solidFill>
                  <a:srgbClr val="E8EDF2"/>
                </a:solidFill>
                <a:latin typeface="Consolas"/>
              </a:rPr>
              <a:t>lspci</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awk</a:t>
            </a:r>
            <a:r>
              <a:rPr sz="1900" i="0">
                <a:solidFill>
                  <a:srgbClr val="E8EDF2"/>
                </a:solidFill>
                <a:latin typeface="Consolas"/>
              </a:rPr>
              <a:t> </a:t>
            </a:r>
            <a:r>
              <a:rPr sz="1900" i="0">
                <a:solidFill>
                  <a:srgbClr val="7DCEA0"/>
                </a:solidFill>
                <a:latin typeface="Consolas"/>
              </a:rPr>
              <a:t>'/NVIDIA/{print $1}'</a:t>
            </a:r>
            <a:r>
              <a:rPr sz="1900" i="0">
                <a:solidFill>
                  <a:srgbClr val="5DADE2"/>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grp</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basename</a:t>
            </a:r>
            <a:r>
              <a:rPr sz="1900" i="0">
                <a:solidFill>
                  <a:srgbClr val="E8EDF2"/>
                </a:solidFill>
                <a:latin typeface="Consolas"/>
              </a:rPr>
              <a:t> </a:t>
            </a:r>
            <a:r>
              <a:rPr sz="1900" i="0">
                <a:solidFill>
                  <a:srgbClr val="7DCEA0"/>
                </a:solidFill>
                <a:latin typeface="Consolas"/>
              </a:rPr>
              <a:t>"</a:t>
            </a:r>
            <a:r>
              <a:rPr sz="1900" i="0">
                <a:solidFill>
                  <a:srgbClr val="5DADE2"/>
                </a:solidFill>
                <a:latin typeface="Consolas"/>
              </a:rPr>
              <a:t>$(</a:t>
            </a:r>
            <a:r>
              <a:rPr sz="1900" i="0">
                <a:solidFill>
                  <a:srgbClr val="E8EDF2"/>
                </a:solidFill>
                <a:latin typeface="Consolas"/>
              </a:rPr>
              <a:t>dirname</a:t>
            </a:r>
            <a:r>
              <a:rPr sz="1900" i="0">
                <a:solidFill>
                  <a:srgbClr val="E8EDF2"/>
                </a:solidFill>
                <a:latin typeface="Consolas"/>
              </a:rPr>
              <a:t> </a:t>
            </a:r>
            <a:r>
              <a:rPr sz="1900" i="0">
                <a:solidFill>
                  <a:srgbClr val="7DCEA0"/>
                </a:solidFill>
                <a:latin typeface="Consolas"/>
              </a:rPr>
              <a:t>"</a:t>
            </a:r>
            <a:r>
              <a:rPr sz="1900" i="0">
                <a:solidFill>
                  <a:srgbClr val="5DADE2"/>
                </a:solidFill>
                <a:latin typeface="Consolas"/>
              </a:rPr>
              <a:t>$(</a:t>
            </a:r>
            <a:r>
              <a:rPr sz="1900" i="0">
                <a:solidFill>
                  <a:srgbClr val="E8EDF2"/>
                </a:solidFill>
                <a:latin typeface="Consolas"/>
              </a:rPr>
              <a:t>readlink</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/sys/bus/pci/devices/</a:t>
            </a:r>
            <a:r>
              <a:rPr sz="1900" i="0">
                <a:solidFill>
                  <a:srgbClr val="E8EDF2"/>
                </a:solidFill>
                <a:latin typeface="Consolas"/>
              </a:rPr>
              <a:t>$d</a:t>
            </a:r>
            <a:r>
              <a:rPr sz="1900" i="0">
                <a:solidFill>
                  <a:srgbClr val="7DCEA0"/>
                </a:solidFill>
                <a:latin typeface="Consolas"/>
              </a:rPr>
              <a:t>/iommu_group</a:t>
            </a:r>
            <a:r>
              <a:rPr sz="1900" i="0">
                <a:solidFill>
                  <a:srgbClr val="7DCEA0"/>
                </a:solidFill>
                <a:latin typeface="Consolas"/>
              </a:rPr>
              <a:t>"</a:t>
            </a:r>
            <a:r>
              <a:rPr sz="1900" i="0">
                <a:solidFill>
                  <a:srgbClr val="5DADE2"/>
                </a:solidFill>
                <a:latin typeface="Consolas"/>
              </a:rPr>
              <a:t>)</a:t>
            </a:r>
            <a:r>
              <a:rPr sz="1900" i="0">
                <a:solidFill>
                  <a:srgbClr val="7DCEA0"/>
                </a:solidFill>
                <a:latin typeface="Consolas"/>
              </a:rPr>
              <a:t>"</a:t>
            </a:r>
            <a:r>
              <a:rPr sz="1900" i="0">
                <a:solidFill>
                  <a:srgbClr val="5DADE2"/>
                </a:solidFill>
                <a:latin typeface="Consolas"/>
              </a:rPr>
              <a:t>)</a:t>
            </a:r>
            <a:r>
              <a:rPr sz="1900" i="0">
                <a:solidFill>
                  <a:srgbClr val="7DCEA0"/>
                </a:solidFill>
                <a:latin typeface="Consolas"/>
              </a:rPr>
              <a:t>"</a:t>
            </a:r>
            <a:r>
              <a:rPr sz="1900" i="0">
                <a:solidFill>
                  <a:srgbClr val="5DADE2"/>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device </a:t>
            </a:r>
            <a:r>
              <a:rPr sz="1900" i="0">
                <a:solidFill>
                  <a:srgbClr val="E8EDF2"/>
                </a:solidFill>
                <a:latin typeface="Consolas"/>
              </a:rPr>
              <a:t>$d</a:t>
            </a:r>
            <a:r>
              <a:rPr sz="1900" i="0">
                <a:solidFill>
                  <a:srgbClr val="7DCEA0"/>
                </a:solidFill>
                <a:latin typeface="Consolas"/>
              </a:rPr>
              <a:t> is in IOMMU group </a:t>
            </a:r>
            <a:r>
              <a:rPr sz="1900" i="0">
                <a:solidFill>
                  <a:srgbClr val="E8EDF2"/>
                </a:solidFill>
                <a:latin typeface="Consolas"/>
              </a:rPr>
              <a:t>$grp</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ls</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/sys/kernel/iommu_groups/</a:t>
            </a:r>
            <a:r>
              <a:rPr sz="1900" i="0">
                <a:solidFill>
                  <a:srgbClr val="E8EDF2"/>
                </a:solidFill>
                <a:latin typeface="Consolas"/>
              </a:rPr>
              <a:t>$grp</a:t>
            </a:r>
            <a:r>
              <a:rPr sz="1900" i="0">
                <a:solidFill>
                  <a:srgbClr val="7DCEA0"/>
                </a:solidFill>
                <a:latin typeface="Consolas"/>
              </a:rPr>
              <a:t>/devices/</a:t>
            </a:r>
            <a:r>
              <a:rPr sz="1900" i="0">
                <a:solidFill>
                  <a:srgbClr val="7DCEA0"/>
                </a:solidFill>
                <a:latin typeface="Consolas"/>
              </a:rPr>
              <a:t>"</a:t>
            </a:r>
          </a:p>
          <a:p>
            <a:pPr>
              <a:lnSpc>
                <a:spcPct val="100000"/>
              </a:lnSpc>
              <a:spcAft>
                <a:spcPts val="0"/>
              </a:spcAft>
            </a:pPr>
            <a:r>
              <a:rPr sz="1900" i="0">
                <a:solidFill>
                  <a:srgbClr val="5DADE2"/>
                </a:solidFill>
                <a:latin typeface="Consolas"/>
              </a:rPr>
              <a:t>done</a:t>
            </a:r>
          </a:p>
          <a:p>
            <a:pPr>
              <a:lnSpc>
                <a:spcPct val="100000"/>
              </a:lnSpc>
              <a:spcAft>
                <a:spcPts val="0"/>
              </a:spcAft>
            </a:pPr>
            <a:r>
              <a:rPr sz="1900" i="1">
                <a:solidFill>
                  <a:srgbClr val="8795A1"/>
                </a:solidFill>
                <a:latin typeface="Consolas"/>
              </a:rPr>
              <a:t># A card and its audio function usually share a group: both must go.</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71F21251-AFF1-4582-A6EB-8E521B4D3FAC}"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Enable MIG, if this card supports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Enable MIG, if this card supports it. ------------------------- sudo nvidia-smi -i 0 -mig 1 || \ echo &quot;MIG not supported on this card -- see the alertbox&quot; sudo nvidia-smi mig -i 0 -lgip # the fixed profiles availabl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Enable MIG, if this card supports it.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"MIG not supported on this card -- see the alertbox"</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-lgip</a:t>
            </a:r>
            <a:r>
              <a:rPr sz="1900" i="0">
                <a:solidFill>
                  <a:srgbClr val="E8EDF2"/>
                </a:solidFill>
                <a:latin typeface="Consolas"/>
              </a:rPr>
              <a:t>      </a:t>
            </a:r>
            <a:r>
              <a:rPr sz="1900" i="1">
                <a:solidFill>
                  <a:srgbClr val="8795A1"/>
                </a:solidFill>
                <a:latin typeface="Consolas"/>
              </a:rPr>
              <a:t># the fixed profiles available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2C5B6A15-375E-4259-B68F-31AD94C513E3}"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Create four instances, and see them as separate devices.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Create four instances, and see them as separate devices. ------ sudo nvidia-smi mig -i 0 -cgi 2g.20gb,2g.20gb,2g.20gb,2g.20gb -C || true nvidia-smi -L # four MIG UUIDs, one card"/>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Create four instances, and see them as separate devices.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-cgi</a:t>
            </a:r>
            <a:r>
              <a:rPr sz="1900" i="0">
                <a:solidFill>
                  <a:srgbClr val="E8EDF2"/>
                </a:solidFill>
                <a:latin typeface="Consolas"/>
              </a:rPr>
              <a:t> </a:t>
            </a:r>
            <a:r>
              <a:rPr sz="1900" i="0">
                <a:solidFill>
                  <a:srgbClr val="E8EDF2"/>
                </a:solidFill>
                <a:latin typeface="Consolas"/>
              </a:rPr>
              <a:t>2g.20gb,2g.20gb,2g.20gb,2g.20gb</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1">
                <a:solidFill>
                  <a:srgbClr val="8795A1"/>
                </a:solidFill>
                <a:latin typeface="Consolas"/>
              </a:rPr>
              <a:t># four MIG UUIDs, one card</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9A2F8FE6-C058-48CD-9087-2AFA2223B454}"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Run the same job on one instance, then on all four.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Run the same job on one instance, then on all four. ----------- JOB='python3 -c &quot; import tim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Run the same job on one instance, then on all four. -----------</a:t>
            </a:r>
          </a:p>
          <a:p>
            <a:pPr>
              <a:lnSpc>
                <a:spcPct val="100000"/>
              </a:lnSpc>
              <a:spcAft>
                <a:spcPts val="0"/>
              </a:spcAft>
            </a:pPr>
            <a:r>
              <a:rPr sz="1900" i="0">
                <a:solidFill>
                  <a:srgbClr val="E8EDF2"/>
                </a:solidFill>
                <a:latin typeface="Consolas"/>
              </a:rPr>
              <a:t>JOB</a:t>
            </a:r>
            <a:r>
              <a:rPr sz="1900" i="0">
                <a:solidFill>
                  <a:srgbClr val="AEB6BF"/>
                </a:solidFill>
                <a:latin typeface="Consolas"/>
              </a:rPr>
              <a:t>=</a:t>
            </a:r>
            <a:r>
              <a:rPr sz="1900" i="0">
                <a:solidFill>
                  <a:srgbClr val="E8EDF2"/>
                </a:solidFill>
                <a:latin typeface="Consolas"/>
              </a:rPr>
              <a:t>'</a:t>
            </a:r>
            <a:r>
              <a:rPr sz="1900" i="0">
                <a:solidFill>
                  <a:srgbClr val="E8EDF2"/>
                </a:solidFill>
                <a:latin typeface="Consolas"/>
              </a:rPr>
              <a:t>python3</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7DCEA0"/>
                </a:solidFill>
                <a:latin typeface="Consolas"/>
              </a:rPr>
              <a:t>import time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14E5CF5F-16B5-4281-A8BB-A15DBA841147}"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Run the same job on one instance, then on all four.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try: import torch except ImportError:"/>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try:</a:t>
            </a:r>
          </a:p>
          <a:p>
            <a:pPr>
              <a:lnSpc>
                <a:spcPct val="100000"/>
              </a:lnSpc>
              <a:spcAft>
                <a:spcPts val="0"/>
              </a:spcAft>
            </a:pPr>
            <a:r>
              <a:rPr sz="2000" i="0">
                <a:solidFill>
                  <a:srgbClr val="E8EDF2"/>
                </a:solidFill>
                <a:latin typeface="Consolas"/>
              </a:rPr>
              <a:t>    </a:t>
            </a:r>
            <a:r>
              <a:rPr sz="2000" i="0">
                <a:solidFill>
                  <a:srgbClr val="E8EDF2"/>
                </a:solidFill>
                <a:latin typeface="Consolas"/>
              </a:rPr>
              <a:t>import</a:t>
            </a:r>
            <a:r>
              <a:rPr sz="2000" i="0">
                <a:solidFill>
                  <a:srgbClr val="E8EDF2"/>
                </a:solidFill>
                <a:latin typeface="Consolas"/>
              </a:rPr>
              <a:t> </a:t>
            </a:r>
            <a:r>
              <a:rPr sz="2000" i="0">
                <a:solidFill>
                  <a:srgbClr val="E8EDF2"/>
                </a:solidFill>
                <a:latin typeface="Consolas"/>
              </a:rPr>
              <a:t>torch</a:t>
            </a:r>
          </a:p>
          <a:p>
            <a:pPr>
              <a:lnSpc>
                <a:spcPct val="100000"/>
              </a:lnSpc>
              <a:spcAft>
                <a:spcPts val="0"/>
              </a:spcAft>
            </a:pPr>
            <a:r>
              <a:rPr sz="2000" i="0">
                <a:solidFill>
                  <a:srgbClr val="E8EDF2"/>
                </a:solidFill>
                <a:latin typeface="Consolas"/>
              </a:rPr>
              <a:t>except</a:t>
            </a:r>
            <a:r>
              <a:rPr sz="2000" i="0">
                <a:solidFill>
                  <a:srgbClr val="E8EDF2"/>
                </a:solidFill>
                <a:latin typeface="Consolas"/>
              </a:rPr>
              <a:t> </a:t>
            </a:r>
            <a:r>
              <a:rPr sz="2000" i="0">
                <a:solidFill>
                  <a:srgbClr val="E8EDF2"/>
                </a:solidFill>
                <a:latin typeface="Consolas"/>
              </a:rPr>
              <a:t>ImportError:</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36</a:t>
            </a:r>
          </a:p>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E9F7AD5F-946F-45BA-8231-D35E3D7C5A3B}"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Run the same job on one instance, then on all four.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raise SystemExit(\&quot;install torch to run this step\&quot;) a = torch.randn(8192, 8192, device=\&quot;cuda\&quot;) t = time.time() for _ in range(50): a = a @ a.T / 1e4 torch.cuda.synchronize(); print(f\&quot;{time.time()-t:.1f} s\&quot;)&quot;' mig_uuids () { nvidia-smi -L | awk -F'UUID: ' '/MIG/{print $2}' | tr -d ')' } UUID=$(mig_uuids | head -1) echo &quot;=== alone on one instance ===&quot; CUDA_VISIBLE_DEVICES=&quot;$UUID&quot; bash -c &quot;$JOB&quot; echo &quot;=== all four instances busy together ===&quot; mig_uuids | while read -r u; do CUDA_VISIBLE_DEVICES=&quot;$u&quot; bash -c &quot;$JOB&quot; &amp; done wait # Under MIG the single-instance time and the all-busy time should be # the SAME. That is the guarantee the worked example is abou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E8EDF2"/>
                </a:solidFill>
                <a:latin typeface="Consolas"/>
              </a:rPr>
              <a:t>    </a:t>
            </a:r>
            <a:r>
              <a:rPr sz="1100" i="0">
                <a:solidFill>
                  <a:srgbClr val="E8EDF2"/>
                </a:solidFill>
                <a:latin typeface="Consolas"/>
              </a:rPr>
              <a:t>raise</a:t>
            </a:r>
            <a:r>
              <a:rPr sz="1100" i="0">
                <a:solidFill>
                  <a:srgbClr val="E8EDF2"/>
                </a:solidFill>
                <a:latin typeface="Consolas"/>
              </a:rPr>
              <a:t> </a:t>
            </a:r>
            <a:r>
              <a:rPr sz="1100" i="0">
                <a:solidFill>
                  <a:srgbClr val="E8EDF2"/>
                </a:solidFill>
                <a:latin typeface="Consolas"/>
              </a:rPr>
              <a:t>SystemExit</a:t>
            </a:r>
            <a:r>
              <a:rPr sz="1100" i="0">
                <a:solidFill>
                  <a:srgbClr val="AEB6BF"/>
                </a:solidFill>
                <a:latin typeface="Consolas"/>
              </a:rPr>
              <a:t>(</a:t>
            </a:r>
            <a:r>
              <a:rPr sz="1100" i="0">
                <a:solidFill>
                  <a:srgbClr val="7DCEA0"/>
                </a:solidFill>
                <a:latin typeface="Consolas"/>
              </a:rPr>
              <a:t>\"</a:t>
            </a:r>
            <a:r>
              <a:rPr sz="1100" i="0">
                <a:solidFill>
                  <a:srgbClr val="E8EDF2"/>
                </a:solidFill>
                <a:latin typeface="Consolas"/>
              </a:rPr>
              <a:t>install</a:t>
            </a:r>
            <a:r>
              <a:rPr sz="1100" i="0">
                <a:solidFill>
                  <a:srgbClr val="E8EDF2"/>
                </a:solidFill>
                <a:latin typeface="Consolas"/>
              </a:rPr>
              <a:t> </a:t>
            </a:r>
            <a:r>
              <a:rPr sz="1100" i="0">
                <a:solidFill>
                  <a:srgbClr val="E8EDF2"/>
                </a:solidFill>
                <a:latin typeface="Consolas"/>
              </a:rPr>
              <a:t>torch</a:t>
            </a:r>
            <a:r>
              <a:rPr sz="1100" i="0">
                <a:solidFill>
                  <a:srgbClr val="E8EDF2"/>
                </a:solidFill>
                <a:latin typeface="Consolas"/>
              </a:rPr>
              <a:t> </a:t>
            </a:r>
            <a:r>
              <a:rPr sz="1100" i="0">
                <a:solidFill>
                  <a:srgbClr val="E8EDF2"/>
                </a:solidFill>
                <a:latin typeface="Consolas"/>
              </a:rPr>
              <a:t>to</a:t>
            </a:r>
            <a:r>
              <a:rPr sz="1100" i="0">
                <a:solidFill>
                  <a:srgbClr val="E8EDF2"/>
                </a:solidFill>
                <a:latin typeface="Consolas"/>
              </a:rPr>
              <a:t> </a:t>
            </a:r>
            <a:r>
              <a:rPr sz="1100" i="0">
                <a:solidFill>
                  <a:srgbClr val="E8EDF2"/>
                </a:solidFill>
                <a:latin typeface="Consolas"/>
              </a:rPr>
              <a:t>run</a:t>
            </a:r>
            <a:r>
              <a:rPr sz="1100" i="0">
                <a:solidFill>
                  <a:srgbClr val="E8EDF2"/>
                </a:solidFill>
                <a:latin typeface="Consolas"/>
              </a:rPr>
              <a:t> </a:t>
            </a:r>
            <a:r>
              <a:rPr sz="1100" i="0">
                <a:solidFill>
                  <a:srgbClr val="E8EDF2"/>
                </a:solidFill>
                <a:latin typeface="Consolas"/>
              </a:rPr>
              <a:t>this</a:t>
            </a:r>
            <a:r>
              <a:rPr sz="1100" i="0">
                <a:solidFill>
                  <a:srgbClr val="E8EDF2"/>
                </a:solidFill>
                <a:latin typeface="Consolas"/>
              </a:rPr>
              <a:t> </a:t>
            </a:r>
            <a:r>
              <a:rPr sz="1100" i="0">
                <a:solidFill>
                  <a:srgbClr val="E8EDF2"/>
                </a:solidFill>
                <a:latin typeface="Consolas"/>
              </a:rPr>
              <a:t>step</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a</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torch.randn</a:t>
            </a:r>
            <a:r>
              <a:rPr sz="1100" i="0">
                <a:solidFill>
                  <a:srgbClr val="AEB6BF"/>
                </a:solidFill>
                <a:latin typeface="Consolas"/>
              </a:rPr>
              <a:t>(</a:t>
            </a:r>
            <a:r>
              <a:rPr sz="1100" i="0">
                <a:solidFill>
                  <a:srgbClr val="F7DC6F"/>
                </a:solidFill>
                <a:latin typeface="Consolas"/>
              </a:rPr>
              <a:t>8192</a:t>
            </a:r>
            <a:r>
              <a:rPr sz="1100" i="0">
                <a:solidFill>
                  <a:srgbClr val="E8EDF2"/>
                </a:solidFill>
                <a:latin typeface="Consolas"/>
              </a:rPr>
              <a:t>,</a:t>
            </a:r>
            <a:r>
              <a:rPr sz="1100" i="0">
                <a:solidFill>
                  <a:srgbClr val="E8EDF2"/>
                </a:solidFill>
                <a:latin typeface="Consolas"/>
              </a:rPr>
              <a:t> </a:t>
            </a:r>
            <a:r>
              <a:rPr sz="1100" i="0">
                <a:solidFill>
                  <a:srgbClr val="F7DC6F"/>
                </a:solidFill>
                <a:latin typeface="Consolas"/>
              </a:rPr>
              <a:t>8192</a:t>
            </a:r>
            <a:r>
              <a:rPr sz="1100" i="0">
                <a:solidFill>
                  <a:srgbClr val="E8EDF2"/>
                </a:solidFill>
                <a:latin typeface="Consolas"/>
              </a:rPr>
              <a:t>,</a:t>
            </a:r>
            <a:r>
              <a:rPr sz="1100" i="0">
                <a:solidFill>
                  <a:srgbClr val="E8EDF2"/>
                </a:solidFill>
                <a:latin typeface="Consolas"/>
              </a:rPr>
              <a:t> </a:t>
            </a:r>
            <a:r>
              <a:rPr sz="1100" i="0">
                <a:solidFill>
                  <a:srgbClr val="E8EDF2"/>
                </a:solidFill>
                <a:latin typeface="Consolas"/>
              </a:rPr>
              <a:t>device</a:t>
            </a:r>
            <a:r>
              <a:rPr sz="1100" i="0">
                <a:solidFill>
                  <a:srgbClr val="AEB6BF"/>
                </a:solidFill>
                <a:latin typeface="Consolas"/>
              </a:rPr>
              <a:t>=</a:t>
            </a:r>
            <a:r>
              <a:rPr sz="1100" i="0">
                <a:solidFill>
                  <a:srgbClr val="7DCEA0"/>
                </a:solidFill>
                <a:latin typeface="Consolas"/>
              </a:rPr>
              <a:t>\"</a:t>
            </a:r>
            <a:r>
              <a:rPr sz="1100" i="0">
                <a:solidFill>
                  <a:srgbClr val="E8EDF2"/>
                </a:solidFill>
                <a:latin typeface="Consolas"/>
              </a:rPr>
              <a:t>cuda</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time.time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_</a:t>
            </a:r>
            <a:r>
              <a:rPr sz="1100" i="0">
                <a:solidFill>
                  <a:srgbClr val="E8EDF2"/>
                </a:solidFill>
                <a:latin typeface="Consolas"/>
              </a:rPr>
              <a:t> </a:t>
            </a:r>
            <a:r>
              <a:rPr sz="1100" i="0">
                <a:solidFill>
                  <a:srgbClr val="5DADE2"/>
                </a:solidFill>
                <a:latin typeface="Consolas"/>
              </a:rPr>
              <a:t>in</a:t>
            </a:r>
            <a:r>
              <a:rPr sz="1100" i="0">
                <a:solidFill>
                  <a:srgbClr val="E8EDF2"/>
                </a:solidFill>
                <a:latin typeface="Consolas"/>
              </a:rPr>
              <a:t> </a:t>
            </a:r>
            <a:r>
              <a:rPr sz="1100" i="0">
                <a:solidFill>
                  <a:srgbClr val="E8EDF2"/>
                </a:solidFill>
                <a:latin typeface="Consolas"/>
              </a:rPr>
              <a:t>range</a:t>
            </a:r>
            <a:r>
              <a:rPr sz="1100" i="0">
                <a:solidFill>
                  <a:srgbClr val="AEB6BF"/>
                </a:solidFill>
                <a:latin typeface="Consolas"/>
              </a:rPr>
              <a:t>(</a:t>
            </a:r>
            <a:r>
              <a:rPr sz="1100" i="0">
                <a:solidFill>
                  <a:srgbClr val="F7DC6F"/>
                </a:solidFill>
                <a:latin typeface="Consolas"/>
              </a:rPr>
              <a:t>50</a:t>
            </a:r>
            <a:r>
              <a:rPr sz="1100" i="0">
                <a:solidFill>
                  <a:srgbClr val="AEB6BF"/>
                </a:solidFill>
                <a:latin typeface="Consolas"/>
              </a:rPr>
              <a:t>)</a:t>
            </a:r>
            <a:r>
              <a:rPr sz="1100" i="0">
                <a:solidFill>
                  <a:srgbClr val="E8EDF2"/>
                </a:solidFill>
                <a:latin typeface="Consolas"/>
              </a:rPr>
              <a:t>:</a:t>
            </a:r>
            <a:r>
              <a:rPr sz="1100" i="0">
                <a:solidFill>
                  <a:srgbClr val="E8EDF2"/>
                </a:solidFill>
                <a:latin typeface="Consolas"/>
              </a:rPr>
              <a:t> </a:t>
            </a:r>
            <a:r>
              <a:rPr sz="1100" i="0">
                <a:solidFill>
                  <a:srgbClr val="E8EDF2"/>
                </a:solidFill>
                <a:latin typeface="Consolas"/>
              </a:rPr>
              <a:t>a</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a:t>
            </a:r>
            <a:r>
              <a:rPr sz="1100" i="0">
                <a:solidFill>
                  <a:srgbClr val="E8EDF2"/>
                </a:solidFill>
                <a:latin typeface="Consolas"/>
              </a:rPr>
              <a:t> </a:t>
            </a:r>
            <a:r>
              <a:rPr sz="1100" i="0">
                <a:solidFill>
                  <a:srgbClr val="E8EDF2"/>
                </a:solidFill>
                <a:latin typeface="Consolas"/>
              </a:rPr>
              <a:t>@</a:t>
            </a:r>
            <a:r>
              <a:rPr sz="1100" i="0">
                <a:solidFill>
                  <a:srgbClr val="E8EDF2"/>
                </a:solidFill>
                <a:latin typeface="Consolas"/>
              </a:rPr>
              <a:t> </a:t>
            </a:r>
            <a:r>
              <a:rPr sz="1100" i="0">
                <a:solidFill>
                  <a:srgbClr val="E8EDF2"/>
                </a:solidFill>
                <a:latin typeface="Consolas"/>
              </a:rPr>
              <a:t>a.T</a:t>
            </a:r>
            <a:r>
              <a:rPr sz="1100" i="0">
                <a:solidFill>
                  <a:srgbClr val="E8EDF2"/>
                </a:solidFill>
                <a:latin typeface="Consolas"/>
              </a:rPr>
              <a:t> </a:t>
            </a:r>
            <a:r>
              <a:rPr sz="1100" i="0">
                <a:solidFill>
                  <a:srgbClr val="E8EDF2"/>
                </a:solidFill>
                <a:latin typeface="Consolas"/>
              </a:rPr>
              <a:t>/</a:t>
            </a:r>
            <a:r>
              <a:rPr sz="1100" i="0">
                <a:solidFill>
                  <a:srgbClr val="E8EDF2"/>
                </a:solidFill>
                <a:latin typeface="Consolas"/>
              </a:rPr>
              <a:t> </a:t>
            </a:r>
            <a:r>
              <a:rPr sz="1100" i="0">
                <a:solidFill>
                  <a:srgbClr val="E8EDF2"/>
                </a:solidFill>
                <a:latin typeface="Consolas"/>
              </a:rPr>
              <a:t>1e4</a:t>
            </a:r>
          </a:p>
          <a:p>
            <a:pPr>
              <a:lnSpc>
                <a:spcPct val="100000"/>
              </a:lnSpc>
              <a:spcAft>
                <a:spcPts val="0"/>
              </a:spcAft>
            </a:pPr>
            <a:r>
              <a:rPr sz="1100" i="0">
                <a:solidFill>
                  <a:srgbClr val="E8EDF2"/>
                </a:solidFill>
                <a:latin typeface="Consolas"/>
              </a:rPr>
              <a:t>torch.cuda.synchronize</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print</a:t>
            </a:r>
            <a:r>
              <a:rPr sz="1100" i="0">
                <a:solidFill>
                  <a:srgbClr val="AEB6BF"/>
                </a:solidFill>
                <a:latin typeface="Consolas"/>
              </a:rPr>
              <a:t>(</a:t>
            </a:r>
            <a:r>
              <a:rPr sz="1100" i="0">
                <a:solidFill>
                  <a:srgbClr val="E8EDF2"/>
                </a:solidFill>
                <a:latin typeface="Consolas"/>
              </a:rPr>
              <a:t>f</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time.time</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-t:.1f</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a:t>
            </a:r>
            <a:r>
              <a:rPr sz="1100" i="0">
                <a:solidFill>
                  <a:srgbClr val="7DCEA0"/>
                </a:solidFill>
                <a:latin typeface="Consolas"/>
              </a:rPr>
              <a: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t>
            </a:r>
          </a:p>
          <a:p>
            <a:pPr>
              <a:lnSpc>
                <a:spcPct val="100000"/>
              </a:lnSpc>
              <a:spcAft>
                <a:spcPts val="0"/>
              </a:spcAft>
            </a:pPr>
            <a:r>
              <a:rPr sz="1100">
                <a:latin typeface="Consolas"/>
              </a:rPr>
              <a:t> </a:t>
            </a:r>
          </a:p>
          <a:p>
            <a:pPr>
              <a:lnSpc>
                <a:spcPct val="100000"/>
              </a:lnSpc>
              <a:spcAft>
                <a:spcPts val="0"/>
              </a:spcAft>
            </a:pPr>
            <a:r>
              <a:rPr sz="1100" i="0">
                <a:solidFill>
                  <a:srgbClr val="7DCEA0"/>
                </a:solidFill>
                <a:latin typeface="Consolas"/>
              </a:rPr>
              <a:t>mig_uuids () {</a:t>
            </a:r>
          </a:p>
          <a:p>
            <a:pPr>
              <a:lnSpc>
                <a:spcPct val="100000"/>
              </a:lnSpc>
              <a:spcAft>
                <a:spcPts val="0"/>
              </a:spcAft>
            </a:pPr>
            <a:r>
              <a:rPr sz="1100" i="0">
                <a:solidFill>
                  <a:srgbClr val="7DCEA0"/>
                </a:solidFill>
                <a:latin typeface="Consolas"/>
              </a:rPr>
              <a:t>  nvidia-smi -L | awk -F'UUID: ' '/MIG/{print </a:t>
            </a:r>
            <a:r>
              <a:rPr sz="1100" i="0">
                <a:solidFill>
                  <a:srgbClr val="E8EDF2"/>
                </a:solidFill>
                <a:latin typeface="Consolas"/>
              </a:rPr>
              <a:t>$2</a:t>
            </a:r>
            <a:r>
              <a:rPr sz="1100" i="0">
                <a:solidFill>
                  <a:srgbClr val="7DCEA0"/>
                </a:solidFill>
                <a:latin typeface="Consolas"/>
              </a:rPr>
              <a:t>}' | tr -d ')'</a:t>
            </a:r>
          </a:p>
          <a:p>
            <a:pPr>
              <a:lnSpc>
                <a:spcPct val="100000"/>
              </a:lnSpc>
              <a:spcAft>
                <a:spcPts val="0"/>
              </a:spcAft>
            </a:pPr>
            <a:r>
              <a:rPr sz="1100" i="0">
                <a:solidFill>
                  <a:srgbClr val="7DCEA0"/>
                </a:solidFill>
                <a:latin typeface="Consolas"/>
              </a:rPr>
              <a:t>}</a:t>
            </a:r>
          </a:p>
          <a:p>
            <a:pPr>
              <a:lnSpc>
                <a:spcPct val="100000"/>
              </a:lnSpc>
              <a:spcAft>
                <a:spcPts val="0"/>
              </a:spcAft>
            </a:pPr>
            <a:r>
              <a:rPr sz="1100" i="0">
                <a:solidFill>
                  <a:srgbClr val="7DCEA0"/>
                </a:solidFill>
                <a:latin typeface="Consolas"/>
              </a:rPr>
              <a:t>UUID=</a:t>
            </a:r>
            <a:r>
              <a:rPr sz="1100" i="0">
                <a:solidFill>
                  <a:srgbClr val="5DADE2"/>
                </a:solidFill>
                <a:latin typeface="Consolas"/>
              </a:rPr>
              <a:t>$(</a:t>
            </a:r>
            <a:r>
              <a:rPr sz="1100" i="0">
                <a:solidFill>
                  <a:srgbClr val="E8EDF2"/>
                </a:solidFill>
                <a:latin typeface="Consolas"/>
              </a:rPr>
              <a:t>mig_uuids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head</a:t>
            </a:r>
            <a:r>
              <a:rPr sz="1100" i="0">
                <a:solidFill>
                  <a:srgbClr val="E8EDF2"/>
                </a:solidFill>
                <a:latin typeface="Consolas"/>
              </a:rPr>
              <a:t> </a:t>
            </a:r>
            <a:r>
              <a:rPr sz="1100" i="0">
                <a:solidFill>
                  <a:srgbClr val="E8EDF2"/>
                </a:solidFill>
                <a:latin typeface="Consolas"/>
              </a:rPr>
              <a:t>-1</a:t>
            </a:r>
            <a:r>
              <a:rPr sz="1100" i="0">
                <a:solidFill>
                  <a:srgbClr val="5DADE2"/>
                </a:solidFill>
                <a:latin typeface="Consolas"/>
              </a:rPr>
              <a:t>)</a:t>
            </a:r>
          </a:p>
          <a:p>
            <a:pPr>
              <a:lnSpc>
                <a:spcPct val="100000"/>
              </a:lnSpc>
              <a:spcAft>
                <a:spcPts val="0"/>
              </a:spcAft>
            </a:pPr>
            <a:r>
              <a:rPr sz="1100" i="0">
                <a:solidFill>
                  <a:srgbClr val="7DCEA0"/>
                </a:solidFill>
                <a:latin typeface="Consolas"/>
              </a:rPr>
              <a:t>echo </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alone</a:t>
            </a:r>
            <a:r>
              <a:rPr sz="1100" i="0">
                <a:solidFill>
                  <a:srgbClr val="E8EDF2"/>
                </a:solidFill>
                <a:latin typeface="Consolas"/>
              </a:rPr>
              <a:t> </a:t>
            </a:r>
            <a:r>
              <a:rPr sz="1100" i="0">
                <a:solidFill>
                  <a:srgbClr val="E8EDF2"/>
                </a:solidFill>
                <a:latin typeface="Consolas"/>
              </a:rPr>
              <a:t>on</a:t>
            </a:r>
            <a:r>
              <a:rPr sz="1100" i="0">
                <a:solidFill>
                  <a:srgbClr val="E8EDF2"/>
                </a:solidFill>
                <a:latin typeface="Consolas"/>
              </a:rPr>
              <a:t> </a:t>
            </a:r>
            <a:r>
              <a:rPr sz="1100" i="0">
                <a:solidFill>
                  <a:srgbClr val="E8EDF2"/>
                </a:solidFill>
                <a:latin typeface="Consolas"/>
              </a:rPr>
              <a:t>one</a:t>
            </a:r>
            <a:r>
              <a:rPr sz="1100" i="0">
                <a:solidFill>
                  <a:srgbClr val="E8EDF2"/>
                </a:solidFill>
                <a:latin typeface="Consolas"/>
              </a:rPr>
              <a:t> </a:t>
            </a:r>
            <a:r>
              <a:rPr sz="1100" i="0">
                <a:solidFill>
                  <a:srgbClr val="E8EDF2"/>
                </a:solidFill>
                <a:latin typeface="Consolas"/>
              </a:rPr>
              <a:t>instance</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7DCEA0"/>
                </a:solidFill>
                <a:latin typeface="Consolas"/>
              </a:rPr>
              <a:t>"</a:t>
            </a:r>
          </a:p>
          <a:p>
            <a:pPr>
              <a:lnSpc>
                <a:spcPct val="100000"/>
              </a:lnSpc>
              <a:spcAft>
                <a:spcPts val="0"/>
              </a:spcAft>
            </a:pPr>
            <a:r>
              <a:rPr sz="1100" i="0">
                <a:solidFill>
                  <a:srgbClr val="7DCEA0"/>
                </a:solidFill>
                <a:latin typeface="Consolas"/>
              </a:rPr>
              <a:t>CUDA_VISIBLE_DEVICES="</a:t>
            </a:r>
            <a:r>
              <a:rPr sz="1100" i="0">
                <a:solidFill>
                  <a:srgbClr val="E8EDF2"/>
                </a:solidFill>
                <a:latin typeface="Consolas"/>
              </a:rPr>
              <a:t>$UUID</a:t>
            </a:r>
            <a:r>
              <a:rPr sz="1100" i="0">
                <a:solidFill>
                  <a:srgbClr val="7DCEA0"/>
                </a:solidFill>
                <a:latin typeface="Consolas"/>
              </a:rPr>
              <a:t>" bash -c "</a:t>
            </a:r>
            <a:r>
              <a:rPr sz="1100" i="0">
                <a:solidFill>
                  <a:srgbClr val="E8EDF2"/>
                </a:solidFill>
                <a:latin typeface="Consolas"/>
              </a:rPr>
              <a:t>$JOB</a:t>
            </a:r>
            <a:r>
              <a:rPr sz="1100" i="0">
                <a:solidFill>
                  <a:srgbClr val="7DCEA0"/>
                </a:solidFill>
                <a:latin typeface="Consolas"/>
              </a:rPr>
              <a:t>"</a:t>
            </a:r>
          </a:p>
          <a:p>
            <a:pPr>
              <a:lnSpc>
                <a:spcPct val="100000"/>
              </a:lnSpc>
              <a:spcAft>
                <a:spcPts val="0"/>
              </a:spcAft>
            </a:pPr>
            <a:r>
              <a:rPr sz="1100">
                <a:latin typeface="Consolas"/>
              </a:rPr>
              <a:t> </a:t>
            </a:r>
          </a:p>
          <a:p>
            <a:pPr>
              <a:lnSpc>
                <a:spcPct val="100000"/>
              </a:lnSpc>
              <a:spcAft>
                <a:spcPts val="0"/>
              </a:spcAft>
            </a:pPr>
            <a:r>
              <a:rPr sz="1100" i="0">
                <a:solidFill>
                  <a:srgbClr val="7DCEA0"/>
                </a:solidFill>
                <a:latin typeface="Consolas"/>
              </a:rPr>
              <a:t>echo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all</a:t>
            </a:r>
            <a:r>
              <a:rPr sz="1100" i="0">
                <a:solidFill>
                  <a:srgbClr val="E8EDF2"/>
                </a:solidFill>
                <a:latin typeface="Consolas"/>
              </a:rPr>
              <a:t> </a:t>
            </a:r>
            <a:r>
              <a:rPr sz="1100" i="0">
                <a:solidFill>
                  <a:srgbClr val="E8EDF2"/>
                </a:solidFill>
                <a:latin typeface="Consolas"/>
              </a:rPr>
              <a:t>four</a:t>
            </a:r>
            <a:r>
              <a:rPr sz="1100" i="0">
                <a:solidFill>
                  <a:srgbClr val="E8EDF2"/>
                </a:solidFill>
                <a:latin typeface="Consolas"/>
              </a:rPr>
              <a:t> </a:t>
            </a:r>
            <a:r>
              <a:rPr sz="1100" i="0">
                <a:solidFill>
                  <a:srgbClr val="E8EDF2"/>
                </a:solidFill>
                <a:latin typeface="Consolas"/>
              </a:rPr>
              <a:t>instances</a:t>
            </a:r>
            <a:r>
              <a:rPr sz="1100" i="0">
                <a:solidFill>
                  <a:srgbClr val="E8EDF2"/>
                </a:solidFill>
                <a:latin typeface="Consolas"/>
              </a:rPr>
              <a:t> </a:t>
            </a:r>
            <a:r>
              <a:rPr sz="1100" i="0">
                <a:solidFill>
                  <a:srgbClr val="E8EDF2"/>
                </a:solidFill>
                <a:latin typeface="Consolas"/>
              </a:rPr>
              <a:t>busy</a:t>
            </a:r>
            <a:r>
              <a:rPr sz="1100" i="0">
                <a:solidFill>
                  <a:srgbClr val="E8EDF2"/>
                </a:solidFill>
                <a:latin typeface="Consolas"/>
              </a:rPr>
              <a:t> </a:t>
            </a:r>
            <a:r>
              <a:rPr sz="1100" i="0">
                <a:solidFill>
                  <a:srgbClr val="E8EDF2"/>
                </a:solidFill>
                <a:latin typeface="Consolas"/>
              </a:rPr>
              <a:t>together</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7DCEA0"/>
                </a:solidFill>
                <a:latin typeface="Consolas"/>
              </a:rPr>
              <a:t>"</a:t>
            </a:r>
          </a:p>
          <a:p>
            <a:pPr>
              <a:lnSpc>
                <a:spcPct val="100000"/>
              </a:lnSpc>
              <a:spcAft>
                <a:spcPts val="0"/>
              </a:spcAft>
            </a:pPr>
            <a:r>
              <a:rPr sz="1100" i="0">
                <a:solidFill>
                  <a:srgbClr val="7DCEA0"/>
                </a:solidFill>
                <a:latin typeface="Consolas"/>
              </a:rPr>
              <a:t>mig_uuids | while read -r u; do</a:t>
            </a:r>
          </a:p>
          <a:p>
            <a:pPr>
              <a:lnSpc>
                <a:spcPct val="100000"/>
              </a:lnSpc>
              <a:spcAft>
                <a:spcPts val="0"/>
              </a:spcAft>
            </a:pPr>
            <a:r>
              <a:rPr sz="1100" i="0">
                <a:solidFill>
                  <a:srgbClr val="7DCEA0"/>
                </a:solidFill>
                <a:latin typeface="Consolas"/>
              </a:rPr>
              <a:t>  CUDA_VISIBLE_DEVICES="</a:t>
            </a:r>
            <a:r>
              <a:rPr sz="1100" i="0">
                <a:solidFill>
                  <a:srgbClr val="E8EDF2"/>
                </a:solidFill>
                <a:latin typeface="Consolas"/>
              </a:rPr>
              <a:t>$u</a:t>
            </a:r>
            <a:r>
              <a:rPr sz="1100" i="0">
                <a:solidFill>
                  <a:srgbClr val="7DCEA0"/>
                </a:solidFill>
                <a:latin typeface="Consolas"/>
              </a:rPr>
              <a:t>" bash -c "</a:t>
            </a:r>
            <a:r>
              <a:rPr sz="1100" i="0">
                <a:solidFill>
                  <a:srgbClr val="E8EDF2"/>
                </a:solidFill>
                <a:latin typeface="Consolas"/>
              </a:rPr>
              <a:t>$JOB</a:t>
            </a:r>
            <a:r>
              <a:rPr sz="1100" i="0">
                <a:solidFill>
                  <a:srgbClr val="7DCEA0"/>
                </a:solidFill>
                <a:latin typeface="Consolas"/>
              </a:rPr>
              <a:t>"</a:t>
            </a:r>
            <a:r>
              <a:rPr sz="1100" i="0">
                <a:solidFill>
                  <a:srgbClr val="7DCEA0"/>
                </a:solidFill>
                <a:latin typeface="Consolas"/>
              </a:rPr>
              <a:t> &amp;</a:t>
            </a:r>
          </a:p>
          <a:p>
            <a:pPr>
              <a:lnSpc>
                <a:spcPct val="100000"/>
              </a:lnSpc>
              <a:spcAft>
                <a:spcPts val="0"/>
              </a:spcAft>
            </a:pPr>
            <a:r>
              <a:rPr sz="1100" i="0">
                <a:solidFill>
                  <a:srgbClr val="7DCEA0"/>
                </a:solidFill>
                <a:latin typeface="Consolas"/>
              </a:rPr>
              <a:t>done</a:t>
            </a:r>
          </a:p>
          <a:p>
            <a:pPr>
              <a:lnSpc>
                <a:spcPct val="100000"/>
              </a:lnSpc>
              <a:spcAft>
                <a:spcPts val="0"/>
              </a:spcAft>
            </a:pPr>
            <a:r>
              <a:rPr sz="1100" i="0">
                <a:solidFill>
                  <a:srgbClr val="7DCEA0"/>
                </a:solidFill>
                <a:latin typeface="Consolas"/>
              </a:rPr>
              <a:t>wait</a:t>
            </a:r>
          </a:p>
          <a:p>
            <a:pPr>
              <a:lnSpc>
                <a:spcPct val="100000"/>
              </a:lnSpc>
              <a:spcAft>
                <a:spcPts val="0"/>
              </a:spcAft>
            </a:pPr>
            <a:r>
              <a:rPr sz="1100" i="0">
                <a:solidFill>
                  <a:srgbClr val="7DCEA0"/>
                </a:solidFill>
                <a:latin typeface="Consolas"/>
              </a:rPr>
              <a:t># Under MIG the single-instance time and the all-busy time should be</a:t>
            </a:r>
          </a:p>
          <a:p>
            <a:pPr>
              <a:lnSpc>
                <a:spcPct val="100000"/>
              </a:lnSpc>
              <a:spcAft>
                <a:spcPts val="0"/>
              </a:spcAft>
            </a:pPr>
            <a:r>
              <a:rPr sz="1100" i="0">
                <a:solidFill>
                  <a:srgbClr val="7DCEA0"/>
                </a:solidFill>
                <a:latin typeface="Consolas"/>
              </a:rPr>
              <a:t># the SAME. That is the guarantee the worked example is about.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39</a:t>
            </a:r>
          </a:p>
          <a:p>
            <a:pPr algn="r">
              <a:lnSpc>
                <a:spcPct val="100000"/>
              </a:lnSpc>
            </a:pPr>
            <a:r>
              <a:rPr sz="1100">
                <a:solidFill>
                  <a:srgbClr val="4F5D6A"/>
                </a:solidFill>
                <a:latin typeface="Consolas"/>
              </a:rPr>
              <a:t>40</a:t>
            </a:r>
          </a:p>
          <a:p>
            <a:pPr algn="r">
              <a:lnSpc>
                <a:spcPct val="100000"/>
              </a:lnSpc>
            </a:pPr>
            <a:r>
              <a:rPr sz="1100">
                <a:solidFill>
                  <a:srgbClr val="4F5D6A"/>
                </a:solidFill>
                <a:latin typeface="Consolas"/>
              </a:rPr>
              <a:t>41</a:t>
            </a:r>
          </a:p>
          <a:p>
            <a:pPr algn="r">
              <a:lnSpc>
                <a:spcPct val="100000"/>
              </a:lnSpc>
            </a:pPr>
            <a:r>
              <a:rPr sz="1100">
                <a:solidFill>
                  <a:srgbClr val="4F5D6A"/>
                </a:solidFill>
                <a:latin typeface="Consolas"/>
              </a:rPr>
              <a:t>42</a:t>
            </a:r>
          </a:p>
          <a:p>
            <a:pPr algn="r">
              <a:lnSpc>
                <a:spcPct val="100000"/>
              </a:lnSpc>
            </a:pPr>
            <a:r>
              <a:rPr sz="1100">
                <a:solidFill>
                  <a:srgbClr val="4F5D6A"/>
                </a:solidFill>
                <a:latin typeface="Consolas"/>
              </a:rPr>
              <a:t>43</a:t>
            </a:r>
          </a:p>
          <a:p>
            <a:pPr algn="r">
              <a:lnSpc>
                <a:spcPct val="100000"/>
              </a:lnSpc>
            </a:pPr>
            <a:r>
              <a:rPr sz="1100">
                <a:solidFill>
                  <a:srgbClr val="4F5D6A"/>
                </a:solidFill>
                <a:latin typeface="Consolas"/>
              </a:rPr>
              <a:t>44</a:t>
            </a:r>
          </a:p>
          <a:p>
            <a:pPr algn="r">
              <a:lnSpc>
                <a:spcPct val="100000"/>
              </a:lnSpc>
            </a:pPr>
            <a:r>
              <a:rPr sz="1100">
                <a:solidFill>
                  <a:srgbClr val="4F5D6A"/>
                </a:solidFill>
                <a:latin typeface="Consolas"/>
              </a:rPr>
              <a:t>45</a:t>
            </a:r>
          </a:p>
          <a:p>
            <a:pPr algn="r">
              <a:lnSpc>
                <a:spcPct val="100000"/>
              </a:lnSpc>
            </a:pPr>
            <a:r>
              <a:rPr sz="1100">
                <a:solidFill>
                  <a:srgbClr val="4F5D6A"/>
                </a:solidFill>
                <a:latin typeface="Consolas"/>
              </a:rPr>
              <a:t>46</a:t>
            </a:r>
          </a:p>
          <a:p>
            <a:pPr algn="r">
              <a:lnSpc>
                <a:spcPct val="100000"/>
              </a:lnSpc>
            </a:pPr>
            <a:r>
              <a:rPr sz="1100">
                <a:solidFill>
                  <a:srgbClr val="4F5D6A"/>
                </a:solidFill>
                <a:latin typeface="Consolas"/>
              </a:rPr>
              <a:t>47</a:t>
            </a:r>
          </a:p>
          <a:p>
            <a:pPr algn="r">
              <a:lnSpc>
                <a:spcPct val="100000"/>
              </a:lnSpc>
            </a:pPr>
            <a:r>
              <a:rPr sz="1100">
                <a:solidFill>
                  <a:srgbClr val="4F5D6A"/>
                </a:solidFill>
                <a:latin typeface="Consolas"/>
              </a:rPr>
              <a:t>48</a:t>
            </a:r>
          </a:p>
          <a:p>
            <a:pPr algn="r">
              <a:lnSpc>
                <a:spcPct val="100000"/>
              </a:lnSpc>
            </a:pPr>
            <a:r>
              <a:rPr sz="1100">
                <a:solidFill>
                  <a:srgbClr val="4F5D6A"/>
                </a:solidFill>
                <a:latin typeface="Consolas"/>
              </a:rPr>
              <a:t>49</a:t>
            </a:r>
          </a:p>
          <a:p>
            <a:pPr algn="r">
              <a:lnSpc>
                <a:spcPct val="100000"/>
              </a:lnSpc>
            </a:pPr>
            <a:r>
              <a:rPr sz="1100">
                <a:solidFill>
                  <a:srgbClr val="4F5D6A"/>
                </a:solidFill>
                <a:latin typeface="Consolas"/>
              </a:rPr>
              <a:t>50</a:t>
            </a:r>
          </a:p>
          <a:p>
            <a:pPr algn="r">
              <a:lnSpc>
                <a:spcPct val="100000"/>
              </a:lnSpc>
            </a:pPr>
            <a:r>
              <a:rPr sz="1100">
                <a:solidFill>
                  <a:srgbClr val="4F5D6A"/>
                </a:solidFill>
                <a:latin typeface="Consolas"/>
              </a:rPr>
              <a:t>51</a:t>
            </a:r>
          </a:p>
          <a:p>
            <a:pPr algn="r">
              <a:lnSpc>
                <a:spcPct val="100000"/>
              </a:lnSpc>
            </a:pPr>
            <a:r>
              <a:rPr sz="1100">
                <a:solidFill>
                  <a:srgbClr val="4F5D6A"/>
                </a:solidFill>
                <a:latin typeface="Consolas"/>
              </a:rPr>
              <a:t>52</a:t>
            </a:r>
          </a:p>
          <a:p>
            <a:pPr algn="r">
              <a:lnSpc>
                <a:spcPct val="100000"/>
              </a:lnSpc>
            </a:pPr>
            <a:r>
              <a:rPr sz="1100">
                <a:solidFill>
                  <a:srgbClr val="4F5D6A"/>
                </a:solidFill>
                <a:latin typeface="Consolas"/>
              </a:rPr>
              <a:t>53</a:t>
            </a:r>
          </a:p>
          <a:p>
            <a:pPr algn="r">
              <a:lnSpc>
                <a:spcPct val="100000"/>
              </a:lnSpc>
            </a:pPr>
            <a:r>
              <a:rPr sz="1100">
                <a:solidFill>
                  <a:srgbClr val="4F5D6A"/>
                </a:solidFill>
                <a:latin typeface="Consolas"/>
              </a:rPr>
              <a:t>54</a:t>
            </a:r>
          </a:p>
          <a:p>
            <a:pPr algn="r">
              <a:lnSpc>
                <a:spcPct val="100000"/>
              </a:lnSpc>
            </a:pPr>
            <a:r>
              <a:rPr sz="1100">
                <a:solidFill>
                  <a:srgbClr val="4F5D6A"/>
                </a:solidFill>
                <a:latin typeface="Consolas"/>
              </a:rPr>
              <a:t>55</a:t>
            </a:r>
          </a:p>
          <a:p>
            <a:pPr algn="r">
              <a:lnSpc>
                <a:spcPct val="100000"/>
              </a:lnSpc>
            </a:pPr>
            <a:r>
              <a:rPr sz="1100">
                <a:solidFill>
                  <a:srgbClr val="4F5D6A"/>
                </a:solidFill>
                <a:latin typeface="Consolas"/>
              </a:rPr>
              <a:t>56</a:t>
            </a:r>
          </a:p>
          <a:p>
            <a:pPr algn="r">
              <a:lnSpc>
                <a:spcPct val="100000"/>
              </a:lnSpc>
            </a:pPr>
            <a:r>
              <a:rPr sz="1100">
                <a:solidFill>
                  <a:srgbClr val="4F5D6A"/>
                </a:solidFill>
                <a:latin typeface="Consolas"/>
              </a:rPr>
              <a:t>57</a:t>
            </a:r>
          </a:p>
          <a:p>
            <a:pPr algn="r">
              <a:lnSpc>
                <a:spcPct val="100000"/>
              </a:lnSpc>
            </a:pPr>
            <a:r>
              <a:rPr sz="1100">
                <a:solidFill>
                  <a:srgbClr val="4F5D6A"/>
                </a:solidFill>
                <a:latin typeface="Consolas"/>
              </a:rPr>
              <a:t>58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E75C9682-ADCD-46A9-9E1F-3A5BB772202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"utilisation" actually reports.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What &quot;utilisation&quot; actually reports. -------------------------- nvidia-smi --query-gpu=utilization.gpu,utilization.memory,\ memory.used,memory.total --format=csv -l 1 -c 5 # utilization.gpu is &quot;a kernel was resident during the sample&quot;, not # &quot;the hardware was fully used&quot;. See the pitfalls."/>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What "utilisation" actually reports. --------------------------</a:t>
            </a:r>
          </a:p>
          <a:p>
            <a:pPr>
              <a:lnSpc>
                <a:spcPct val="100000"/>
              </a:lnSpc>
              <a:spcAft>
                <a:spcPts val="0"/>
              </a:spcAft>
            </a:pP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--query-gpu</a:t>
            </a:r>
            <a:r>
              <a:rPr sz="1900" i="0">
                <a:solidFill>
                  <a:srgbClr val="AEB6BF"/>
                </a:solidFill>
                <a:latin typeface="Consolas"/>
              </a:rPr>
              <a:t>=</a:t>
            </a:r>
            <a:r>
              <a:rPr sz="1900" i="0">
                <a:solidFill>
                  <a:srgbClr val="E8EDF2"/>
                </a:solidFill>
                <a:latin typeface="Consolas"/>
              </a:rPr>
              <a:t>utilization.gpu,utilization.memory,</a:t>
            </a:r>
            <a:r>
              <a:rPr sz="1900" i="0">
                <a:solidFill>
                  <a:srgbClr val="7DCEA0"/>
                </a:solidFill>
                <a:latin typeface="Consolas"/>
              </a:rPr>
              <a:t>\</a:t>
            </a:r>
          </a:p>
          <a:p>
            <a:pPr>
              <a:lnSpc>
                <a:spcPct val="100000"/>
              </a:lnSpc>
              <a:spcAft>
                <a:spcPts val="0"/>
              </a:spcAft>
            </a:pPr>
            <a:r>
              <a:rPr sz="1900" i="0">
                <a:solidFill>
                  <a:srgbClr val="E8EDF2"/>
                </a:solidFill>
                <a:latin typeface="Consolas"/>
              </a:rPr>
              <a:t>memory.used,memory.total</a:t>
            </a:r>
            <a:r>
              <a:rPr sz="1900" i="0">
                <a:solidFill>
                  <a:srgbClr val="E8EDF2"/>
                </a:solidFill>
                <a:latin typeface="Consolas"/>
              </a:rPr>
              <a:t> </a:t>
            </a:r>
            <a:r>
              <a:rPr sz="1900" i="0">
                <a:solidFill>
                  <a:srgbClr val="E8EDF2"/>
                </a:solidFill>
                <a:latin typeface="Consolas"/>
              </a:rPr>
              <a:t>--format</a:t>
            </a:r>
            <a:r>
              <a:rPr sz="1900" i="0">
                <a:solidFill>
                  <a:srgbClr val="AEB6BF"/>
                </a:solidFill>
                <a:latin typeface="Consolas"/>
              </a:rPr>
              <a:t>=</a:t>
            </a:r>
            <a:r>
              <a:rPr sz="1900" i="0">
                <a:solidFill>
                  <a:srgbClr val="E8EDF2"/>
                </a:solidFill>
                <a:latin typeface="Consolas"/>
              </a:rPr>
              <a:t>csv</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5</a:t>
            </a:r>
          </a:p>
          <a:p>
            <a:pPr>
              <a:lnSpc>
                <a:spcPct val="100000"/>
              </a:lnSpc>
              <a:spcAft>
                <a:spcPts val="0"/>
              </a:spcAft>
            </a:pPr>
            <a:r>
              <a:rPr sz="1900" i="1">
                <a:solidFill>
                  <a:srgbClr val="8795A1"/>
                </a:solidFill>
                <a:latin typeface="Consolas"/>
              </a:rPr>
              <a:t># utilization.gpu is "a kernel was resident during the sample", not</a:t>
            </a:r>
          </a:p>
          <a:p>
            <a:pPr>
              <a:lnSpc>
                <a:spcPct val="100000"/>
              </a:lnSpc>
              <a:spcAft>
                <a:spcPts val="0"/>
              </a:spcAft>
            </a:pPr>
            <a:r>
              <a:rPr sz="1900" i="1">
                <a:solidFill>
                  <a:srgbClr val="8795A1"/>
                </a:solidFill>
                <a:latin typeface="Consolas"/>
              </a:rPr>
              <a:t># "the hardware was fully used". See the pitfalls.</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a:p>
            <a:pPr algn="r">
              <a:lnSpc>
                <a:spcPct val="100000"/>
              </a:lnSpc>
            </a:pPr>
            <a:r>
              <a:rPr sz="1900">
                <a:solidFill>
                  <a:srgbClr val="4F5D6A"/>
                </a:solidFill>
                <a:latin typeface="Consolas"/>
              </a:rPr>
              <a:t>63</a:t>
            </a:r>
          </a:p>
          <a:p>
            <a:pPr algn="r">
              <a:lnSpc>
                <a:spcPct val="100000"/>
              </a:lnSpc>
            </a:pPr>
            <a:r>
              <a:rPr sz="1900">
                <a:solidFill>
                  <a:srgbClr val="4F5D6A"/>
                </a:solidFill>
                <a:latin typeface="Consolas"/>
              </a:rPr>
              <a:t>64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Partitioning an Accelerator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EBB8F938-3B5D-473A-86BE-A23C4AAF9A65}"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 the partitions.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ear down the partitions. ------------------------------------- sudo nvidia-smi mig -i 0 -dci || true sudo nvidia-smi mig -i 0 -dgi || true sudo nvidia-smi -i 0 -mig 0 || tru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Tear down the partitions.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-dci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-dgi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nvidia-smi</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E8EDF2"/>
                </a:solidFill>
                <a:latin typeface="Consolas"/>
              </a:rPr>
              <a:t>-mig</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a:p>
            <a:pPr algn="r">
              <a:lnSpc>
                <a:spcPct val="100000"/>
              </a:lnSpc>
            </a:pPr>
            <a:r>
              <a:rPr sz="1900">
                <a:solidFill>
                  <a:srgbClr val="4F5D6A"/>
                </a:solidFill>
                <a:latin typeface="Consolas"/>
              </a:rPr>
              <a:t>69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162     </a:t>
            </a:r>
            <a:fld id="{7C6ED3A5-8CB7-45D1-B886-805DCE63635B}"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 is the whole chapter in one measurement. Under MIG the two timings match, because the partitions are enforced in hardware. Repeat the same test under vGPU time slicing and they will not — and that difference, not throughput, is what you are choosing between.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GPU memory cannot be overcommitted the way host memory can, referring to Chapter 6’s reclamation ladder.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20  ·  GPU and Accelerator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164  ·  answers in Appendix D     </a:t>
            </a:r>
            <a:fld id="{7249E3B1-9039-48A2-93CC-782F45BE98F6}"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GPU memory cannot be overcommitted the way host memory can, referring to Chapter 6’s reclamation ladder.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reclamation ladder works because host memory can be recovered gradually: pages are shared, then ballooned, then compressed, then swapped, and each rung degrades performance rather than causing failure. None of that exists for GPU memory. There is no balloon driver, no page sharing between contexts and nowhere cheap to swap to, and a compute kernel that needs 40 GB of working set cannot run in 20 GB more slowly — the allocation simply fails. GPU memory is a hard allocation, not an elastic one.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  answers in Appendix D     </a:t>
            </a:r>
            <a:fld id="{272792C2-371F-4BB7-959E-6EA45A0142CA}"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Six groups each need 12 GB and run 5 hours a day on one 80 GB card. Compare passthrough and a six-way MIG partition on utilisation and on predictability.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20  ·  GPU and Accelerator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164  ·  answers in Appendix D     </a:t>
            </a:r>
            <a:fld id="{8C163033-A6FD-4A18-A677-C50B458E38FD}"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Six groups each need 12 GB and run 5 hours a day on one 80 GB card. Compare passthrough and a six-way MIG partition on utilisation and on predictability.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Demand is </a:t>
            </a:r>
            <a:r>
              <a:rPr sz="2200" b="0" i="0">
                <a:solidFill>
                  <a:srgbClr val="1C252B"/>
                </a:solidFill>
                <a:latin typeface="Cambria"/>
              </a:rPr>
              <a:t>6 × 5 = 30</a:t>
            </a:r>
            <a:r>
              <a:rPr sz="2200" b="0" i="0">
                <a:solidFill>
                  <a:srgbClr val="1C252B"/>
                </a:solidFill>
                <a:latin typeface="Segoe UI"/>
              </a:rPr>
              <a:t> GPU-hours a day against 24 available, so </a:t>
            </a:r>
            <a:r>
              <a:rPr sz="2200" b="1" i="0">
                <a:solidFill>
                  <a:srgbClr val="1C252B"/>
                </a:solidFill>
                <a:latin typeface="Segoe UI"/>
              </a:rPr>
              <a:t>the card is undersized whatever is done</a:t>
            </a:r>
            <a:r>
              <a:rPr sz="2200" b="0" i="0">
                <a:solidFill>
                  <a:srgbClr val="1C252B"/>
                </a:solidFill>
                <a:latin typeface="Segoe UI"/>
              </a:rPr>
              <a:t>. </a:t>
            </a:r>
            <a:r>
              <a:rPr sz="2200" b="0" i="1">
                <a:solidFill>
                  <a:srgbClr val="1C252B"/>
                </a:solidFill>
                <a:latin typeface="Segoe UI"/>
              </a:rPr>
              <a:t>Passthrough</a:t>
            </a:r>
            <a:r>
              <a:rPr sz="2200" b="0" i="0">
                <a:solidFill>
                  <a:srgbClr val="1C252B"/>
                </a:solidFill>
                <a:latin typeface="Segoe UI"/>
              </a:rPr>
              <a:t>: one group at a time, so five groups queue at any moment and the utilisation is 100% with permanently unmet demand. </a:t>
            </a:r>
            <a:r>
              <a:rPr sz="2200" b="0" i="1">
                <a:solidFill>
                  <a:srgbClr val="1C252B"/>
                </a:solidFill>
                <a:latin typeface="Segoe UI"/>
              </a:rPr>
              <a:t>A six-way MIG partition at 12 GB each does not exist</a:t>
            </a:r>
            <a:r>
              <a:rPr sz="2200" b="0" i="0">
                <a:solidFill>
                  <a:srgbClr val="1C252B"/>
                </a:solidFill>
                <a:latin typeface="Segoe UI"/>
              </a:rPr>
              <a:t> — profiles are fixed, and on an 80 GB card the choices are seven instances of 10 GB (too small for 12 GB), three of 20 GB, two of 40 GB or one of 80 GB. The realistic option is three 20 GB instances, giving three groups concurrent, predictable access and a queue for the other three. Predictability is better than passthrough; capacity is still short.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  answers in Appendix D     </a:t>
            </a:r>
            <a:fld id="{164A4C52-DEAE-4AC3-8EAF-181E5B428353}"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200" b="0" i="0">
                <a:solidFill>
                  <a:srgbClr val="FFFFFF"/>
                </a:solidFill>
                <a:latin typeface="Consolas"/>
              </a:rPr>
              <a:t>nvidia-smi</a:t>
            </a:r>
            <a:r>
              <a:rPr sz="3400" b="0" i="0">
                <a:solidFill>
                  <a:srgbClr val="FFFFFF"/>
                </a:solidFill>
                <a:latin typeface="Segoe UI Semibold"/>
              </a:rPr>
              <a:t> reports 100% GPU utilisation for a job that a colleague says is poorly optimised. Explain how both can be true, and what you would measure instead.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20  ·  GPU and Accelerator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164  ·  answers in Appendix D     </a:t>
            </a:r>
            <a:fld id="{3299AB29-13E0-4E1C-A9DA-63C3FE4C7EDC}"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250" b="0" i="0">
                <a:solidFill>
                  <a:srgbClr val="1A5276"/>
                </a:solidFill>
                <a:latin typeface="Consolas"/>
              </a:rPr>
              <a:t>nvidia-smi</a:t>
            </a:r>
            <a:r>
              <a:rPr sz="2400" b="0" i="0">
                <a:solidFill>
                  <a:srgbClr val="1A5276"/>
                </a:solidFill>
                <a:latin typeface="Segoe UI Semibold"/>
              </a:rPr>
              <a:t> reports 100% GPU utilisation for a job that a colleague says is poorly optimised. Explain how both can be true, and what you would measure instead.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utilization.gpu</a:t>
            </a:r>
            <a:r>
              <a:rPr sz="2200" b="0" i="0">
                <a:solidFill>
                  <a:srgbClr val="1C252B"/>
                </a:solidFill>
                <a:latin typeface="Segoe UI"/>
              </a:rPr>
              <a:t> reports the fraction of sampled intervals in which </a:t>
            </a:r>
            <a:r>
              <a:rPr sz="2200" b="0" i="1">
                <a:solidFill>
                  <a:srgbClr val="1C252B"/>
                </a:solidFill>
                <a:latin typeface="Segoe UI"/>
              </a:rPr>
              <a:t>at least one kernel was resident</a:t>
            </a:r>
            <a:r>
              <a:rPr sz="2200" b="0" i="0">
                <a:solidFill>
                  <a:srgbClr val="1C252B"/>
                </a:solidFill>
                <a:latin typeface="Segoe UI"/>
              </a:rPr>
              <a:t> — not how much of the hardware was doing work. A job using a single streaming multiprocessor badly will show 100% while leaving most of the card idle. Measure </a:t>
            </a:r>
            <a:r>
              <a:rPr sz="2200" b="1" i="0">
                <a:solidFill>
                  <a:srgbClr val="1C252B"/>
                </a:solidFill>
                <a:latin typeface="Segoe UI"/>
              </a:rPr>
              <a:t>achieved occupancy</a:t>
            </a:r>
            <a:r>
              <a:rPr sz="2200" b="0" i="0">
                <a:solidFill>
                  <a:srgbClr val="1C252B"/>
                </a:solidFill>
                <a:latin typeface="Segoe UI"/>
              </a:rPr>
              <a:t>, </a:t>
            </a:r>
            <a:r>
              <a:rPr sz="2200" b="1" i="0">
                <a:solidFill>
                  <a:srgbClr val="1C252B"/>
                </a:solidFill>
                <a:latin typeface="Segoe UI"/>
              </a:rPr>
              <a:t>memory bandwidth utilisation</a:t>
            </a:r>
            <a:r>
              <a:rPr sz="2200" b="0" i="0">
                <a:solidFill>
                  <a:srgbClr val="1C252B"/>
                </a:solidFill>
                <a:latin typeface="Segoe UI"/>
              </a:rPr>
              <a:t> and the SM activity counters — through Nsight or the DCGM profiling metrics — which distinguish a busy card from a resident kernel.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  answers in Appendix D     </a:t>
            </a:r>
            <a:fld id="{58B29654-0843-47E8-A72E-B36AAC8CCB60}"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a:t>
            </a:r>
            <a:fld id="{A9312059-2E84-4BE3-BFB4-C4B84BAD7247}"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GPU resists time slicing because its context is tens of gigabytes, its kernels are uninterruptible, and memory — not compute — is the scarce, indivisible resource.</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Passthrough gives one guest the whole card at native speed, with all of Chapter 7’s costs.</a:t>
            </a:r>
          </a:p>
        </p:txBody>
      </p:sp>
      <p:sp>
        <p:nvSpPr>
          <p:cNvPr id="13" name="!!sb2">
            <a:extLst>
              <a:ext uri="{C183D7F6-B498-43B3-948B-1728B52AA6E4}">
                <adec:decorative xmlns:adec="http://schemas.microsoft.com/office/drawing/2017/decorative" val="1"/>
              </a:ext>
            </a:extLst>
          </p:cNvPr>
          <p:cNvSpPr/>
          <p:nvPr/>
        </p:nvSpPr>
        <p:spPr>
          <a:xfrm>
            <a:off x="658368" y="30851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400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7604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vGPU splits memory and time slices compute: density without a guarantee. MIG partitions memory </a:t>
            </a:r>
            <a:r>
              <a:rPr sz="1800" b="0" i="1">
                <a:solidFill>
                  <a:srgbClr val="1C252B"/>
                </a:solidFill>
                <a:latin typeface="Segoe UI"/>
              </a:rPr>
              <a:t>and</a:t>
            </a:r>
            <a:r>
              <a:rPr sz="1800" b="0" i="0">
                <a:solidFill>
                  <a:srgbClr val="1C252B"/>
                </a:solidFill>
                <a:latin typeface="Segoe UI"/>
              </a:rPr>
              <a:t> compute in hardware: density with a guarantee, in fixed profiles.</a:t>
            </a:r>
          </a:p>
        </p:txBody>
      </p:sp>
      <p:sp>
        <p:nvSpPr>
          <p:cNvPr id="16" name="!!sb3">
            <a:extLst>
              <a:ext uri="{C183D7F6-B498-43B3-948B-1728B52AA6E4}">
                <adec:decorative xmlns:adec="http://schemas.microsoft.com/office/drawing/2017/decorative" val="1"/>
              </a:ext>
            </a:extLst>
          </p:cNvPr>
          <p:cNvSpPr/>
          <p:nvPr/>
        </p:nvSpPr>
        <p:spPr>
          <a:xfrm>
            <a:off x="658368" y="383865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9351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829507"/>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In the worked example MIG and vGPU gave the same throughput and only MIG gave a predictable answer — which is usually what shared research and inference infrastructure needs.</a:t>
            </a:r>
          </a:p>
        </p:txBody>
      </p:sp>
      <p:sp>
        <p:nvSpPr>
          <p:cNvPr id="19" name="!!sb4">
            <a:extLst>
              <a:ext uri="{C183D7F6-B498-43B3-948B-1728B52AA6E4}">
                <adec:decorative xmlns:adec="http://schemas.microsoft.com/office/drawing/2017/decorative" val="1"/>
              </a:ext>
            </a:extLst>
          </p:cNvPr>
          <p:cNvSpPr/>
          <p:nvPr/>
        </p:nvSpPr>
        <p:spPr>
          <a:xfrm>
            <a:off x="658368" y="459211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4698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58297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Licensing, fixed profiles and card support frequently decide the question before the engineering does.</a:t>
            </a:r>
          </a:p>
        </p:txBody>
      </p:sp>
      <p:sp>
        <p:nvSpPr>
          <p:cNvPr id="22" name="!!sb5">
            <a:extLst>
              <a:ext uri="{C183D7F6-B498-43B3-948B-1728B52AA6E4}">
                <adec:decorative xmlns:adec="http://schemas.microsoft.com/office/drawing/2017/decorative" val="1"/>
              </a:ext>
            </a:extLst>
          </p:cNvPr>
          <p:cNvSpPr/>
          <p:nvPr/>
        </p:nvSpPr>
        <p:spPr>
          <a:xfrm>
            <a:off x="658368" y="534558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0044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3643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DPU moves the virtual switch, the storage path and encryption to a computer of its own: 20–30% of host cores returned, and the infrastructure placed outside the hypervisor’s control.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a:t>
            </a:r>
            <a:fld id="{E2EC0B30-9A05-4EBE-96C7-C2DAE52F757E}"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MIG differs from time-sliced vGPU in that it: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supports more guests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4380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partitions compute and memory in hardware, so performance is guaranteed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requires no licence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allows live migration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a:t>
            </a:r>
            <a:fld id="{69D69AA8-400F-40DC-A8DA-D481034A2F30}"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job needing 40 GB of GPU memory, given a 20 GB instance, will:</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run at half speed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swap to host memory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fail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 queued automatically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20  ·  GPU and Accelerator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164     </a:t>
            </a:r>
            <a:fld id="{45BD24B6-1557-4D2B-BEC8-FDDC92C822C7}"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three reasons a GPU is harder to share than a CPU, and say which is the most consequential.</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a workload suited to vGPU and one suited to MIG, with the reason for each.</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what a DPU moves off the host and why that is a security change as well as a performance one.</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department will buy one accelerator for eight research students whose jobs need 9 GB each and run in bursts during office hours. Recommend a sharing model, give the expected utilisation, and state the two questions you would answer before purchase.</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inference service has a p99 latency requirement of 150 ms and currently runs on time-sliced vGPU, missing the target intermittently. Explain the mechanism, propose a change, and say what you would measure to confirm the fix.</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21 — Confidential Computing and Emerging Hardware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20, pages 159–164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Partition a GPU; verify an attestation report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20  ·  GPU and Accelerator Virtualization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AF9915E5-43F1-4344-BBFB-47617161E46D}"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GPU and Accelerator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