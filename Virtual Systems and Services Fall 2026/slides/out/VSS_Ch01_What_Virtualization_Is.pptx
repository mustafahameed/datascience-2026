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001AFA-83D3-44F0-BEB0-C24080677D4A}">
          <p14:sldIdLst>
            <p14:sldId id="256"/>
            <p14:sldId id="257"/>
            <p14:sldId id="258"/>
            <p14:sldId id="259"/>
            <p14:sldId id="260"/>
          </p14:sldIdLst>
        </p14:section>
        <p14:section name="1.1 A Room Full of Idle Servers" id="{1494770E-A141-4C05-A853-0F930EACB2C3}">
          <p14:sldIdLst>
            <p14:sldId id="261"/>
            <p14:sldId id="262"/>
            <p14:sldId id="263"/>
            <p14:sldId id="264"/>
          </p14:sldIdLst>
        </p14:section>
        <p14:section name="1.2 What It Is Not" id="{AAAC47FC-0A6A-42F0-8CD4-4E8CCAD27C24}">
          <p14:sldIdLst>
            <p14:sldId id="265"/>
            <p14:sldId id="266"/>
            <p14:sldId id="267"/>
          </p14:sldIdLst>
        </p14:section>
        <p14:section name="1.3 Why Anyone Would Do This" id="{763B4044-9E90-48EA-9DA4-978A13E461B2}">
          <p14:sldIdLst>
            <p14:sldId id="268"/>
            <p14:sldId id="269"/>
            <p14:sldId id="270"/>
            <p14:sldId id="271"/>
            <p14:sldId id="272"/>
            <p14:sldId id="273"/>
            <p14:sldId id="274"/>
            <p14:sldId id="275"/>
          </p14:sldIdLst>
        </p14:section>
        <p14:section name="1.4 Where It Came From" id="{0285816E-CB5C-4816-8525-CC9410DDF1CA}">
          <p14:sldIdLst>
            <p14:sldId id="276"/>
            <p14:sldId id="277"/>
            <p14:sldId id="278"/>
          </p14:sldIdLst>
        </p14:section>
        <p14:section name="1.5 What Is Virtualized, and Where to Find It" id="{872A6CDE-65C4-4D34-8990-DB93847EF80C}">
          <p14:sldIdLst>
            <p14:sldId id="279"/>
          </p14:sldIdLst>
        </p14:section>
        <p14:section name="Pitfalls" id="{4571F00A-E93F-48AE-AE22-449BE07EBA37}">
          <p14:sldIdLst>
            <p14:sldId id="280"/>
            <p14:sldId id="281"/>
          </p14:sldIdLst>
        </p14:section>
        <p14:section name="Lab" id="{B78417E9-0C33-4074-92E0-30651BF5429C}">
          <p14:sldIdLst>
            <p14:sldId id="282"/>
            <p14:sldId id="283"/>
            <p14:sldId id="284"/>
            <p14:sldId id="285"/>
            <p14:sldId id="286"/>
            <p14:sldId id="287"/>
            <p14:sldId id="288"/>
            <p14:sldId id="289"/>
            <p14:sldId id="290"/>
            <p14:sldId id="291"/>
          </p14:sldIdLst>
        </p14:section>
        <p14:section name="Checkpoint" id="{55642B65-08D7-49C3-AB3D-E0CC15655C17}">
          <p14:sldIdLst>
            <p14:sldId id="292"/>
            <p14:sldId id="293"/>
            <p14:sldId id="294"/>
            <p14:sldId id="295"/>
            <p14:sldId id="296"/>
            <p14:sldId id="297"/>
          </p14:sldIdLst>
        </p14:section>
        <p14:section name="Wrap-up" id="{78B94C92-C66F-46DF-8151-62C4B28D9545}">
          <p14:sldIdLst>
            <p14:sldId id="298"/>
            <p14:sldId id="299"/>
            <p14:sldId id="300"/>
            <p14:sldId id="301"/>
            <p14:sldId id="302"/>
            <p14:sldId id="3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What Virtualization Is. Part 1 — Foundations of Virtualization. Week 1: What virtualization is; architectures. Handout pages 3–11.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Nothing in this book. You need the idea that an operating system stands between a program and the hardware, and that a program cannot tell the difference between a real device and a convincing imitation of one. If the second half of that sentence sounds improbable, this chapter is the right place to start.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virtualization; virtual machine; hypervisor; virtual machine monitor; host; guest; abstraction; multiplexing; aggregation; emulation; consolidation; consolidation ratio; utilisation; server sprawl; isolation; encapsulation; elasticity; time-sharing.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into a university machine room that has not been consolidated and you will find something strange: forty servers, each costing as much as a car, each running at eight per cent of its capacity. The library catalogue has a server. The examination system has a server. The staff portal has a server. None of them is busy. Together they draw fourteen kilowatts and need as much again in cooling, and the department pays for all of it. Nobody planned this. It arrived one purchase order at a time, and each purchase was defensible. The examination system must not be slowed down by the library catalogue, so it gets its own machine. The portal needs a newer version of the database than the catalogue can tolerate, so it gets its own machine. The vendor’s support contract is void if anything else runs on the box, so it gets its own machine. Every reason is a reason about isolation, and the only isolation mechanism available was a second computer. This is server sprawl, and it is the problem virtualization was brought to industry to solve. The insight is that the forty applications genuinely do need to be isolated from one another — that part was never wrong — but that isolation does not have to be purchased one chassis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 (handout p. 4): The layer, and the only claim it makes. Each guest is told a different machine exists, and none of the three was modified to be told. Every later chapter replaces one row of this diagram with something more specific.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neighbouring ideas are routinely confused with virtualization, and the confusion is worth clearing before it compounds.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motives, and they arrived in this order historically. Every product in this book was built for at least one of them, and the ones that lasted serve several.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 (handout p. 7): The same work, before and after. Nothing was made faster; the idle capacity was simply stopped from being bought. The right-hand picture is also the risk picture: three failure domains where there were forty.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Virtualization is not a 2000s invention. It is a 1960s invention that the personal computer made irrelevant for thirty years and the data centre made urgent again.</a:t>
            </a:r>
          </a:p>
          <a:p/>
          <a:p>
            <a:r>
              <a:t>Figure 1.3 (handout p. 7): The field in ten dates, coloured by the part of this book that covers each. The gap in the middle is the subject of Chapter 3: the theory was settled in 1974, and the dominant architecture then spent a quarter of a century unable to satisfy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built CP-67 for the System/360 Model 67 because its customers had a problem of scarcity rather than sprawl. A mainframe cost millions and there was exactly one; a dozen departments each needed their own operating environment on it, and several of those operating systems could not be persuaded to share. CP-67 gave each department a complete virtual System/360 of its own. Its successor VM/370 ran in production for decades, and its descendant z/VM still does. Then the minicomputer and the personal computer made computers cheap, and the problem CP-67 solved stopped being a problem: if you needed a second computing environment you bought a second computer. The idea went quiet for twenty-five years, kept alive on mainframes and in research, while the architecture that won the market — x86 — turned out, for reasons Chapter 3 sets out exactly, to be incapable of supporting it correctly.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“Virtualization” names a technique, not a product category. The useful question about any system is which resource it virtualizes, because that determines what it can promise.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on any Linux host, or on Windows under WSL2 with VirtualBox substituted at step 2. Appendix A installs the prerequisites. Expect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Does this processor support virtualization at all?.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Install the hypervisor and confirm it is usable.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Fetch a cloud image and give it a login.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Create the virtual machine.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Look at it from the host.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Snapshot it, then break it on purpose.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Undo four minutes of damage in four seconds.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Active memory is 24 × 19 = 456 GB. With 30% headroom, 456 × 1.3 = 593 GB, so ⌈ 593/384 ⌉ = 2 hosts, plus one for N+1 = 3 hosts. The consolidation ratio is 24/3 = 8:1. Note what was not used: the 128 GB installed per server. Sizing on that would have given 24 × 128 × 1.3 / 384 = 11 hosts for the same work.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second half is wrong. There is a virtualization layer — namespaces and control groups — it is simply inserted inside the kernel rather than beneath it. The correct statement is that containers start faster and cost less memory because they share the host’s kernel instead of each running their own, not because no layer exists.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Encapsulation. A running machine becomes a file, so it can be snapshotted, copied, versioned and restored. The operation with no physical equivalent is the snapshot: you can return a machine to its state four minutes ago in a few seconds. A physical server has no way to record its entire state — memory, disk and devices — as something that can be put back.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 — Virtualization Architectures. READ: Handout Chapter 1, pages 3–11. THIS WEEK'S LAB: Install a hypervisor; a first guest and a snapshot.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21.xml"/><Relationship Id="rId9"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What Virtualization Is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1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1EF62910-977C-408D-A42E-79A756CBC504}" type="slidenum">
              <a:rPr lang="en-GB" sz="1000">
                <a:solidFill>
                  <a:srgbClr val="8795A1"/>
                </a:solidFill>
                <a:latin typeface="Segoe UI"/>
              </a:rPr>
              <a:t>2</a:t>
            </a:fld>
          </a:p>
        </p:txBody>
      </p:sp>
      <p:sp>
        <p:nvSpPr>
          <p:cNvPr id="7" name="!!rp1"/>
          <p:cNvSpPr txBox="1"/>
          <p:nvPr/>
        </p:nvSpPr>
        <p:spPr>
          <a:xfrm>
            <a:off x="932688" y="1755648"/>
            <a:ext cx="127574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932688" y="2029967"/>
            <a:ext cx="1275747"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3761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3761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652"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81765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21" name="!!dot2">
            <a:extLst>
              <a:ext uri="{C183D7F6-B498-43B3-948B-1728B52AA6E4}">
                <adec:decorative xmlns:adec="http://schemas.microsoft.com/office/drawing/2017/decorative" val="1"/>
              </a:ext>
            </a:extLst>
          </p:cNvPr>
          <p:cNvSpPr/>
          <p:nvPr/>
        </p:nvSpPr>
        <p:spPr>
          <a:xfrm>
            <a:off x="1511125"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41968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90284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1140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568887"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4774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What Virtualization Is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Virtualization Architectures</a:t>
            </a:r>
          </a:p>
        </p:txBody>
      </p:sp>
      <p:sp>
        <p:nvSpPr>
          <p:cNvPr id="72" name="!!chipUS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Virtual Machine Monitor</a:t>
            </a:r>
          </a:p>
        </p:txBody>
      </p:sp>
      <p:sp>
        <p:nvSpPr>
          <p:cNvPr id="75" name="!!chipUS5">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5">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5"/>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8" name="!!chipUS6">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6">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6"/>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81" name="!!chipUS12">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2">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2"/>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5079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9398CA85-C986-4ABF-8CFF-04C8205361B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Define</a:t>
            </a:r>
            <a:r>
              <a:rPr sz="2000" b="0" i="0">
                <a:solidFill>
                  <a:srgbClr val="1C252B"/>
                </a:solidFill>
                <a:latin typeface="Segoe UI"/>
              </a:rPr>
              <a:t> virtualization as a layer that presents a resource different from the one it sits on, and </a:t>
            </a:r>
            <a:r>
              <a:rPr sz="2000" b="1" i="0">
                <a:solidFill>
                  <a:srgbClr val="1C252B"/>
                </a:solidFill>
                <a:latin typeface="Segoe UI"/>
              </a:rPr>
              <a:t>identify</a:t>
            </a:r>
            <a:r>
              <a:rPr sz="2000" b="0" i="0">
                <a:solidFill>
                  <a:srgbClr val="1C252B"/>
                </a:solidFill>
                <a:latin typeface="Segoe UI"/>
              </a:rPr>
              <a:t> that layer in a system you are shown.</a:t>
            </a:r>
          </a:p>
        </p:txBody>
      </p:sp>
      <p:sp>
        <p:nvSpPr>
          <p:cNvPr id="11" name="!!ob1">
            <a:extLst>
              <a:ext uri="{C183D7F6-B498-43B3-948B-1728B52AA6E4}">
                <adec:decorative xmlns:adec="http://schemas.microsoft.com/office/drawing/2017/decorative" val="1"/>
              </a:ext>
            </a:extLst>
          </p:cNvPr>
          <p:cNvSpPr/>
          <p:nvPr/>
        </p:nvSpPr>
        <p:spPr>
          <a:xfrm>
            <a:off x="658368" y="303885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09829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29712"/>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Distinguish</a:t>
            </a:r>
            <a:r>
              <a:rPr sz="2000" b="0" i="0">
                <a:solidFill>
                  <a:srgbClr val="1C252B"/>
                </a:solidFill>
                <a:latin typeface="Segoe UI"/>
              </a:rPr>
              <a:t> a virtual machine from a process, an emulator and a simulator, by what each one is allowed to assume about the hardware.</a:t>
            </a:r>
          </a:p>
        </p:txBody>
      </p:sp>
      <p:sp>
        <p:nvSpPr>
          <p:cNvPr id="14" name="!!ob2">
            <a:extLst>
              <a:ext uri="{C183D7F6-B498-43B3-948B-1728B52AA6E4}">
                <adec:decorative xmlns:adec="http://schemas.microsoft.com/office/drawing/2017/decorative" val="1"/>
              </a:ext>
            </a:extLst>
          </p:cNvPr>
          <p:cNvSpPr/>
          <p:nvPr/>
        </p:nvSpPr>
        <p:spPr>
          <a:xfrm>
            <a:off x="658368" y="3855720"/>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1515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846576"/>
            <a:ext cx="10216591" cy="95097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Explain</a:t>
            </a:r>
            <a:r>
              <a:rPr sz="2000" b="0" i="0">
                <a:solidFill>
                  <a:srgbClr val="1C252B"/>
                </a:solidFill>
                <a:latin typeface="Segoe UI"/>
              </a:rPr>
              <a:t> the four reasons an organisation inserts such a layer — consolidation, isolation, encapsulation and elasticity — and </a:t>
            </a:r>
            <a:r>
              <a:rPr sz="2000" b="1" i="0">
                <a:solidFill>
                  <a:srgbClr val="1C252B"/>
                </a:solidFill>
                <a:latin typeface="Segoe UI"/>
              </a:rPr>
              <a:t>state</a:t>
            </a:r>
            <a:r>
              <a:rPr sz="2000" b="0" i="0">
                <a:solidFill>
                  <a:srgbClr val="1C252B"/>
                </a:solidFill>
                <a:latin typeface="Segoe UI"/>
              </a:rPr>
              <a:t> which of the four motivated each milestone in the field’s history.</a:t>
            </a:r>
          </a:p>
        </p:txBody>
      </p:sp>
      <p:sp>
        <p:nvSpPr>
          <p:cNvPr id="17" name="!!ob3">
            <a:extLst>
              <a:ext uri="{C183D7F6-B498-43B3-948B-1728B52AA6E4}">
                <adec:decorative xmlns:adec="http://schemas.microsoft.com/office/drawing/2017/decorative" val="1"/>
              </a:ext>
            </a:extLst>
          </p:cNvPr>
          <p:cNvSpPr/>
          <p:nvPr/>
        </p:nvSpPr>
        <p:spPr>
          <a:xfrm>
            <a:off x="658368" y="498957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504901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50383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Compute</a:t>
            </a:r>
            <a:r>
              <a:rPr sz="2000" b="0" i="0">
                <a:solidFill>
                  <a:srgbClr val="1C252B"/>
                </a:solidFill>
                <a:latin typeface="Segoe UI"/>
              </a:rPr>
              <a:t> a consolidation ratio and the power it saves, from measured utilisation figures.</a:t>
            </a:r>
          </a:p>
        </p:txBody>
      </p:sp>
      <p:sp>
        <p:nvSpPr>
          <p:cNvPr id="20" name="!!ob4">
            <a:extLst>
              <a:ext uri="{C183D7F6-B498-43B3-948B-1728B52AA6E4}">
                <adec:decorative xmlns:adec="http://schemas.microsoft.com/office/drawing/2017/decorative" val="1"/>
              </a:ext>
            </a:extLst>
          </p:cNvPr>
          <p:cNvSpPr/>
          <p:nvPr/>
        </p:nvSpPr>
        <p:spPr>
          <a:xfrm>
            <a:off x="658368" y="5593080"/>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5251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583936"/>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Describe</a:t>
            </a:r>
            <a:r>
              <a:rPr sz="2000" b="0" i="0">
                <a:solidFill>
                  <a:srgbClr val="1C252B"/>
                </a:solidFill>
                <a:latin typeface="Segoe UI"/>
              </a:rPr>
              <a:t> what is being virtualized in a given product, and locate the chapter of this book that covers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619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F9106D37-0426-40B4-8E37-6949BEFA0D66}" type="slidenum">
              <a:rPr lang="en-GB" sz="1000">
                <a:solidFill>
                  <a:srgbClr val="8795A1"/>
                </a:solidFill>
                <a:latin typeface="Segoe UI"/>
              </a:rPr>
              <a:t>4</a:t>
            </a:fld>
          </a:p>
        </p:txBody>
      </p:sp>
      <p:sp>
        <p:nvSpPr>
          <p:cNvPr id="7" name="!!term-virtualization">
            <a:extLst>
              <a:ext uri="{C183D7F6-B498-43B3-948B-1728B52AA6E4}">
                <adec:decorative xmlns:adec="http://schemas.microsoft.com/office/drawing/2017/decorative" val="1"/>
              </a:ext>
            </a:extLst>
          </p:cNvPr>
          <p:cNvSpPr/>
          <p:nvPr/>
        </p:nvSpPr>
        <p:spPr>
          <a:xfrm>
            <a:off x="658368" y="1847088"/>
            <a:ext cx="15389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irtualiz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irtualization"/>
          <p:cNvSpPr txBox="1"/>
          <p:nvPr/>
        </p:nvSpPr>
        <p:spPr>
          <a:xfrm>
            <a:off x="950976" y="1970532"/>
            <a:ext cx="13561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virtualization</a:t>
            </a:r>
          </a:p>
        </p:txBody>
      </p:sp>
      <p:sp>
        <p:nvSpPr>
          <p:cNvPr id="10" name="!!term-virtual machin">
            <a:extLst>
              <a:ext uri="{C183D7F6-B498-43B3-948B-1728B52AA6E4}">
                <adec:decorative xmlns:adec="http://schemas.microsoft.com/office/drawing/2017/decorative" val="1"/>
              </a:ext>
            </a:extLst>
          </p:cNvPr>
          <p:cNvSpPr/>
          <p:nvPr/>
        </p:nvSpPr>
        <p:spPr>
          <a:xfrm>
            <a:off x="2343660" y="1847088"/>
            <a:ext cx="17463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irtual machin">
            <a:extLst>
              <a:ext uri="{C183D7F6-B498-43B3-948B-1728B52AA6E4}">
                <adec:decorative xmlns:adec="http://schemas.microsoft.com/office/drawing/2017/decorative" val="1"/>
              </a:ext>
            </a:extLst>
          </p:cNvPr>
          <p:cNvSpPr/>
          <p:nvPr/>
        </p:nvSpPr>
        <p:spPr>
          <a:xfrm>
            <a:off x="247167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irtual machin"/>
          <p:cNvSpPr txBox="1"/>
          <p:nvPr/>
        </p:nvSpPr>
        <p:spPr>
          <a:xfrm>
            <a:off x="2636268" y="1970532"/>
            <a:ext cx="156343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machine</a:t>
            </a:r>
          </a:p>
        </p:txBody>
      </p:sp>
      <p:sp>
        <p:nvSpPr>
          <p:cNvPr id="13" name="!!term-hypervisor">
            <a:extLst>
              <a:ext uri="{C183D7F6-B498-43B3-948B-1728B52AA6E4}">
                <adec:decorative xmlns:adec="http://schemas.microsoft.com/office/drawing/2017/decorative" val="1"/>
              </a:ext>
            </a:extLst>
          </p:cNvPr>
          <p:cNvSpPr/>
          <p:nvPr/>
        </p:nvSpPr>
        <p:spPr>
          <a:xfrm>
            <a:off x="4236282" y="1847088"/>
            <a:ext cx="13305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hypervisor">
            <a:extLst>
              <a:ext uri="{C183D7F6-B498-43B3-948B-1728B52AA6E4}">
                <adec:decorative xmlns:adec="http://schemas.microsoft.com/office/drawing/2017/decorative" val="1"/>
              </a:ext>
            </a:extLst>
          </p:cNvPr>
          <p:cNvSpPr/>
          <p:nvPr/>
        </p:nvSpPr>
        <p:spPr>
          <a:xfrm>
            <a:off x="436429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hypervisor"/>
          <p:cNvSpPr txBox="1"/>
          <p:nvPr/>
        </p:nvSpPr>
        <p:spPr>
          <a:xfrm>
            <a:off x="4528890" y="1970532"/>
            <a:ext cx="11476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hypervisor</a:t>
            </a:r>
          </a:p>
        </p:txBody>
      </p:sp>
      <p:sp>
        <p:nvSpPr>
          <p:cNvPr id="16" name="!!term-virtual machin">
            <a:extLst>
              <a:ext uri="{C183D7F6-B498-43B3-948B-1728B52AA6E4}">
                <adec:decorative xmlns:adec="http://schemas.microsoft.com/office/drawing/2017/decorative" val="1"/>
              </a:ext>
            </a:extLst>
          </p:cNvPr>
          <p:cNvSpPr/>
          <p:nvPr/>
        </p:nvSpPr>
        <p:spPr>
          <a:xfrm>
            <a:off x="5713114" y="1847088"/>
            <a:ext cx="24850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virtual machin">
            <a:extLst>
              <a:ext uri="{C183D7F6-B498-43B3-948B-1728B52AA6E4}">
                <adec:decorative xmlns:adec="http://schemas.microsoft.com/office/drawing/2017/decorative" val="1"/>
              </a:ext>
            </a:extLst>
          </p:cNvPr>
          <p:cNvSpPr/>
          <p:nvPr/>
        </p:nvSpPr>
        <p:spPr>
          <a:xfrm>
            <a:off x="584113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virtual machin"/>
          <p:cNvSpPr txBox="1"/>
          <p:nvPr/>
        </p:nvSpPr>
        <p:spPr>
          <a:xfrm>
            <a:off x="6005722" y="1970532"/>
            <a:ext cx="23021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machine monitor</a:t>
            </a:r>
          </a:p>
        </p:txBody>
      </p:sp>
      <p:sp>
        <p:nvSpPr>
          <p:cNvPr id="19" name="!!term-host">
            <a:extLst>
              <a:ext uri="{C183D7F6-B498-43B3-948B-1728B52AA6E4}">
                <adec:decorative xmlns:adec="http://schemas.microsoft.com/office/drawing/2017/decorative" val="1"/>
              </a:ext>
            </a:extLst>
          </p:cNvPr>
          <p:cNvSpPr/>
          <p:nvPr/>
        </p:nvSpPr>
        <p:spPr>
          <a:xfrm>
            <a:off x="8344478" y="1847088"/>
            <a:ext cx="8110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host">
            <a:extLst>
              <a:ext uri="{C183D7F6-B498-43B3-948B-1728B52AA6E4}">
                <adec:decorative xmlns:adec="http://schemas.microsoft.com/office/drawing/2017/decorative" val="1"/>
              </a:ext>
            </a:extLst>
          </p:cNvPr>
          <p:cNvSpPr/>
          <p:nvPr/>
        </p:nvSpPr>
        <p:spPr>
          <a:xfrm>
            <a:off x="847249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host"/>
          <p:cNvSpPr txBox="1"/>
          <p:nvPr/>
        </p:nvSpPr>
        <p:spPr>
          <a:xfrm>
            <a:off x="8637086" y="1970532"/>
            <a:ext cx="6281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host</a:t>
            </a:r>
          </a:p>
        </p:txBody>
      </p:sp>
      <p:sp>
        <p:nvSpPr>
          <p:cNvPr id="22" name="!!term-guest">
            <a:extLst>
              <a:ext uri="{C183D7F6-B498-43B3-948B-1728B52AA6E4}">
                <adec:decorative xmlns:adec="http://schemas.microsoft.com/office/drawing/2017/decorative" val="1"/>
              </a:ext>
            </a:extLst>
          </p:cNvPr>
          <p:cNvSpPr/>
          <p:nvPr/>
        </p:nvSpPr>
        <p:spPr>
          <a:xfrm>
            <a:off x="9301798" y="1847088"/>
            <a:ext cx="9132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guest">
            <a:extLst>
              <a:ext uri="{C183D7F6-B498-43B3-948B-1728B52AA6E4}">
                <adec:decorative xmlns:adec="http://schemas.microsoft.com/office/drawing/2017/decorative" val="1"/>
              </a:ext>
            </a:extLst>
          </p:cNvPr>
          <p:cNvSpPr/>
          <p:nvPr/>
        </p:nvSpPr>
        <p:spPr>
          <a:xfrm>
            <a:off x="94298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guest"/>
          <p:cNvSpPr txBox="1"/>
          <p:nvPr/>
        </p:nvSpPr>
        <p:spPr>
          <a:xfrm>
            <a:off x="9594406" y="1970532"/>
            <a:ext cx="7303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guest</a:t>
            </a:r>
          </a:p>
        </p:txBody>
      </p:sp>
      <p:sp>
        <p:nvSpPr>
          <p:cNvPr id="25" name="!!term-abstraction">
            <a:extLst>
              <a:ext uri="{C183D7F6-B498-43B3-948B-1728B52AA6E4}">
                <adec:decorative xmlns:adec="http://schemas.microsoft.com/office/drawing/2017/decorative" val="1"/>
              </a:ext>
            </a:extLst>
          </p:cNvPr>
          <p:cNvSpPr/>
          <p:nvPr/>
        </p:nvSpPr>
        <p:spPr>
          <a:xfrm>
            <a:off x="658368" y="2468880"/>
            <a:ext cx="13933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bstrac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bstraction"/>
          <p:cNvSpPr txBox="1"/>
          <p:nvPr/>
        </p:nvSpPr>
        <p:spPr>
          <a:xfrm>
            <a:off x="950976" y="2592324"/>
            <a:ext cx="12104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abstraction</a:t>
            </a:r>
          </a:p>
        </p:txBody>
      </p:sp>
      <p:sp>
        <p:nvSpPr>
          <p:cNvPr id="28" name="!!term-multiplexing">
            <a:extLst>
              <a:ext uri="{C183D7F6-B498-43B3-948B-1728B52AA6E4}">
                <adec:decorative xmlns:adec="http://schemas.microsoft.com/office/drawing/2017/decorative" val="1"/>
              </a:ext>
            </a:extLst>
          </p:cNvPr>
          <p:cNvSpPr/>
          <p:nvPr/>
        </p:nvSpPr>
        <p:spPr>
          <a:xfrm>
            <a:off x="2198034" y="2468880"/>
            <a:ext cx="14996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multiplexing">
            <a:extLst>
              <a:ext uri="{C183D7F6-B498-43B3-948B-1728B52AA6E4}">
                <adec:decorative xmlns:adec="http://schemas.microsoft.com/office/drawing/2017/decorative" val="1"/>
              </a:ext>
            </a:extLst>
          </p:cNvPr>
          <p:cNvSpPr/>
          <p:nvPr/>
        </p:nvSpPr>
        <p:spPr>
          <a:xfrm>
            <a:off x="23260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multiplexing"/>
          <p:cNvSpPr txBox="1"/>
          <p:nvPr/>
        </p:nvSpPr>
        <p:spPr>
          <a:xfrm>
            <a:off x="2490642" y="2592324"/>
            <a:ext cx="13167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multiplexing</a:t>
            </a:r>
          </a:p>
        </p:txBody>
      </p:sp>
      <p:sp>
        <p:nvSpPr>
          <p:cNvPr id="31" name="!!term-aggregation">
            <a:extLst>
              <a:ext uri="{C183D7F6-B498-43B3-948B-1728B52AA6E4}">
                <adec:decorative xmlns:adec="http://schemas.microsoft.com/office/drawing/2017/decorative" val="1"/>
              </a:ext>
            </a:extLst>
          </p:cNvPr>
          <p:cNvSpPr/>
          <p:nvPr/>
        </p:nvSpPr>
        <p:spPr>
          <a:xfrm>
            <a:off x="3843989" y="2468880"/>
            <a:ext cx="14860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ggregation">
            <a:extLst>
              <a:ext uri="{C183D7F6-B498-43B3-948B-1728B52AA6E4}">
                <adec:decorative xmlns:adec="http://schemas.microsoft.com/office/drawing/2017/decorative" val="1"/>
              </a:ext>
            </a:extLst>
          </p:cNvPr>
          <p:cNvSpPr/>
          <p:nvPr/>
        </p:nvSpPr>
        <p:spPr>
          <a:xfrm>
            <a:off x="397200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ggregation"/>
          <p:cNvSpPr txBox="1"/>
          <p:nvPr/>
        </p:nvSpPr>
        <p:spPr>
          <a:xfrm>
            <a:off x="4136597" y="2592324"/>
            <a:ext cx="13031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aggregation</a:t>
            </a:r>
          </a:p>
        </p:txBody>
      </p:sp>
      <p:sp>
        <p:nvSpPr>
          <p:cNvPr id="34" name="!!term-emulation">
            <a:extLst>
              <a:ext uri="{C183D7F6-B498-43B3-948B-1728B52AA6E4}">
                <adec:decorative xmlns:adec="http://schemas.microsoft.com/office/drawing/2017/decorative" val="1"/>
              </a:ext>
            </a:extLst>
          </p:cNvPr>
          <p:cNvSpPr/>
          <p:nvPr/>
        </p:nvSpPr>
        <p:spPr>
          <a:xfrm>
            <a:off x="5476302" y="2468880"/>
            <a:ext cx="13004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mulation">
            <a:extLst>
              <a:ext uri="{C183D7F6-B498-43B3-948B-1728B52AA6E4}">
                <adec:decorative xmlns:adec="http://schemas.microsoft.com/office/drawing/2017/decorative" val="1"/>
              </a:ext>
            </a:extLst>
          </p:cNvPr>
          <p:cNvSpPr/>
          <p:nvPr/>
        </p:nvSpPr>
        <p:spPr>
          <a:xfrm>
            <a:off x="56043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mulation"/>
          <p:cNvSpPr txBox="1"/>
          <p:nvPr/>
        </p:nvSpPr>
        <p:spPr>
          <a:xfrm>
            <a:off x="5768910" y="2592324"/>
            <a:ext cx="111760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emulation</a:t>
            </a:r>
          </a:p>
        </p:txBody>
      </p:sp>
      <p:sp>
        <p:nvSpPr>
          <p:cNvPr id="37" name="!!term-consolidation">
            <a:extLst>
              <a:ext uri="{C183D7F6-B498-43B3-948B-1728B52AA6E4}">
                <adec:decorative xmlns:adec="http://schemas.microsoft.com/office/drawing/2017/decorative" val="1"/>
              </a:ext>
            </a:extLst>
          </p:cNvPr>
          <p:cNvSpPr/>
          <p:nvPr/>
        </p:nvSpPr>
        <p:spPr>
          <a:xfrm>
            <a:off x="6923088" y="2468880"/>
            <a:ext cx="1592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onsolidation">
            <a:extLst>
              <a:ext uri="{C183D7F6-B498-43B3-948B-1728B52AA6E4}">
                <adec:decorative xmlns:adec="http://schemas.microsoft.com/office/drawing/2017/decorative" val="1"/>
              </a:ext>
            </a:extLst>
          </p:cNvPr>
          <p:cNvSpPr/>
          <p:nvPr/>
        </p:nvSpPr>
        <p:spPr>
          <a:xfrm>
            <a:off x="705110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onsolidation"/>
          <p:cNvSpPr txBox="1"/>
          <p:nvPr/>
        </p:nvSpPr>
        <p:spPr>
          <a:xfrm>
            <a:off x="7215696" y="2592324"/>
            <a:ext cx="14100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consolidation</a:t>
            </a:r>
          </a:p>
        </p:txBody>
      </p:sp>
      <p:sp>
        <p:nvSpPr>
          <p:cNvPr id="40" name="!!term-consolidation ">
            <a:extLst>
              <a:ext uri="{C183D7F6-B498-43B3-948B-1728B52AA6E4}">
                <adec:decorative xmlns:adec="http://schemas.microsoft.com/office/drawing/2017/decorative" val="1"/>
              </a:ext>
            </a:extLst>
          </p:cNvPr>
          <p:cNvSpPr/>
          <p:nvPr/>
        </p:nvSpPr>
        <p:spPr>
          <a:xfrm>
            <a:off x="8662311" y="2468880"/>
            <a:ext cx="20394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onsolidation ">
            <a:extLst>
              <a:ext uri="{C183D7F6-B498-43B3-948B-1728B52AA6E4}">
                <adec:decorative xmlns:adec="http://schemas.microsoft.com/office/drawing/2017/decorative" val="1"/>
              </a:ext>
            </a:extLst>
          </p:cNvPr>
          <p:cNvSpPr/>
          <p:nvPr/>
        </p:nvSpPr>
        <p:spPr>
          <a:xfrm>
            <a:off x="879032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onsolidation "/>
          <p:cNvSpPr txBox="1"/>
          <p:nvPr/>
        </p:nvSpPr>
        <p:spPr>
          <a:xfrm>
            <a:off x="8954919" y="2592324"/>
            <a:ext cx="18565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consolidation ratio</a:t>
            </a:r>
          </a:p>
        </p:txBody>
      </p:sp>
      <p:sp>
        <p:nvSpPr>
          <p:cNvPr id="43" name="!!term-utilisation">
            <a:extLst>
              <a:ext uri="{C183D7F6-B498-43B3-948B-1728B52AA6E4}">
                <adec:decorative xmlns:adec="http://schemas.microsoft.com/office/drawing/2017/decorative" val="1"/>
              </a:ext>
            </a:extLst>
          </p:cNvPr>
          <p:cNvSpPr/>
          <p:nvPr/>
        </p:nvSpPr>
        <p:spPr>
          <a:xfrm>
            <a:off x="658368" y="3090672"/>
            <a:ext cx="12738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utilisat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utilisation"/>
          <p:cNvSpPr txBox="1"/>
          <p:nvPr/>
        </p:nvSpPr>
        <p:spPr>
          <a:xfrm>
            <a:off x="950976" y="3214116"/>
            <a:ext cx="10909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utilisation</a:t>
            </a:r>
          </a:p>
        </p:txBody>
      </p:sp>
      <p:sp>
        <p:nvSpPr>
          <p:cNvPr id="46" name="!!term-server sprawl">
            <a:extLst>
              <a:ext uri="{C183D7F6-B498-43B3-948B-1728B52AA6E4}">
                <adec:decorative xmlns:adec="http://schemas.microsoft.com/office/drawing/2017/decorative" val="1"/>
              </a:ext>
            </a:extLst>
          </p:cNvPr>
          <p:cNvSpPr/>
          <p:nvPr/>
        </p:nvSpPr>
        <p:spPr>
          <a:xfrm>
            <a:off x="2078534" y="3090672"/>
            <a:ext cx="15568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server sprawl">
            <a:extLst>
              <a:ext uri="{C183D7F6-B498-43B3-948B-1728B52AA6E4}">
                <adec:decorative xmlns:adec="http://schemas.microsoft.com/office/drawing/2017/decorative" val="1"/>
              </a:ext>
            </a:extLst>
          </p:cNvPr>
          <p:cNvSpPr/>
          <p:nvPr/>
        </p:nvSpPr>
        <p:spPr>
          <a:xfrm>
            <a:off x="220655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server sprawl"/>
          <p:cNvSpPr txBox="1"/>
          <p:nvPr/>
        </p:nvSpPr>
        <p:spPr>
          <a:xfrm>
            <a:off x="2371142" y="3214116"/>
            <a:ext cx="13740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server sprawl</a:t>
            </a:r>
          </a:p>
        </p:txBody>
      </p:sp>
      <p:sp>
        <p:nvSpPr>
          <p:cNvPr id="49" name="!!term-isolation">
            <a:extLst>
              <a:ext uri="{C183D7F6-B498-43B3-948B-1728B52AA6E4}">
                <adec:decorative xmlns:adec="http://schemas.microsoft.com/office/drawing/2017/decorative" val="1"/>
              </a:ext>
            </a:extLst>
          </p:cNvPr>
          <p:cNvSpPr/>
          <p:nvPr/>
        </p:nvSpPr>
        <p:spPr>
          <a:xfrm>
            <a:off x="3781718" y="3090672"/>
            <a:ext cx="11648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isolation">
            <a:extLst>
              <a:ext uri="{C183D7F6-B498-43B3-948B-1728B52AA6E4}">
                <adec:decorative xmlns:adec="http://schemas.microsoft.com/office/drawing/2017/decorative" val="1"/>
              </a:ext>
            </a:extLst>
          </p:cNvPr>
          <p:cNvSpPr/>
          <p:nvPr/>
        </p:nvSpPr>
        <p:spPr>
          <a:xfrm>
            <a:off x="39097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isolation"/>
          <p:cNvSpPr txBox="1"/>
          <p:nvPr/>
        </p:nvSpPr>
        <p:spPr>
          <a:xfrm>
            <a:off x="4074326" y="3214116"/>
            <a:ext cx="9819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isolation</a:t>
            </a:r>
          </a:p>
        </p:txBody>
      </p:sp>
      <p:sp>
        <p:nvSpPr>
          <p:cNvPr id="52" name="!!term-encapsulation">
            <a:extLst>
              <a:ext uri="{C183D7F6-B498-43B3-948B-1728B52AA6E4}">
                <adec:decorative xmlns:adec="http://schemas.microsoft.com/office/drawing/2017/decorative" val="1"/>
              </a:ext>
            </a:extLst>
          </p:cNvPr>
          <p:cNvSpPr/>
          <p:nvPr/>
        </p:nvSpPr>
        <p:spPr>
          <a:xfrm>
            <a:off x="5092876" y="3090672"/>
            <a:ext cx="1628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encapsulation">
            <a:extLst>
              <a:ext uri="{C183D7F6-B498-43B3-948B-1728B52AA6E4}">
                <adec:decorative xmlns:adec="http://schemas.microsoft.com/office/drawing/2017/decorative" val="1"/>
              </a:ext>
            </a:extLst>
          </p:cNvPr>
          <p:cNvSpPr/>
          <p:nvPr/>
        </p:nvSpPr>
        <p:spPr>
          <a:xfrm>
            <a:off x="522089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encapsulation"/>
          <p:cNvSpPr txBox="1"/>
          <p:nvPr/>
        </p:nvSpPr>
        <p:spPr>
          <a:xfrm>
            <a:off x="5385484" y="3214116"/>
            <a:ext cx="14455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encapsulation</a:t>
            </a:r>
          </a:p>
        </p:txBody>
      </p:sp>
      <p:sp>
        <p:nvSpPr>
          <p:cNvPr id="55" name="!!term-elasticity">
            <a:extLst>
              <a:ext uri="{C183D7F6-B498-43B3-948B-1728B52AA6E4}">
                <adec:decorative xmlns:adec="http://schemas.microsoft.com/office/drawing/2017/decorative" val="1"/>
              </a:ext>
            </a:extLst>
          </p:cNvPr>
          <p:cNvSpPr/>
          <p:nvPr/>
        </p:nvSpPr>
        <p:spPr>
          <a:xfrm>
            <a:off x="6867658" y="3090672"/>
            <a:ext cx="11784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elasticity">
            <a:extLst>
              <a:ext uri="{C183D7F6-B498-43B3-948B-1728B52AA6E4}">
                <adec:decorative xmlns:adec="http://schemas.microsoft.com/office/drawing/2017/decorative" val="1"/>
              </a:ext>
            </a:extLst>
          </p:cNvPr>
          <p:cNvSpPr/>
          <p:nvPr/>
        </p:nvSpPr>
        <p:spPr>
          <a:xfrm>
            <a:off x="69956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elasticity"/>
          <p:cNvSpPr txBox="1"/>
          <p:nvPr/>
        </p:nvSpPr>
        <p:spPr>
          <a:xfrm>
            <a:off x="7160266" y="3214116"/>
            <a:ext cx="99557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elasticity</a:t>
            </a:r>
          </a:p>
        </p:txBody>
      </p:sp>
      <p:sp>
        <p:nvSpPr>
          <p:cNvPr id="58" name="!!term-time-sharing">
            <a:extLst>
              <a:ext uri="{C183D7F6-B498-43B3-948B-1728B52AA6E4}">
                <adec:decorative xmlns:adec="http://schemas.microsoft.com/office/drawing/2017/decorative" val="1"/>
              </a:ext>
            </a:extLst>
          </p:cNvPr>
          <p:cNvSpPr/>
          <p:nvPr/>
        </p:nvSpPr>
        <p:spPr>
          <a:xfrm>
            <a:off x="8192418" y="3090672"/>
            <a:ext cx="15287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time-sharing">
            <a:extLst>
              <a:ext uri="{C183D7F6-B498-43B3-948B-1728B52AA6E4}">
                <adec:decorative xmlns:adec="http://schemas.microsoft.com/office/drawing/2017/decorative" val="1"/>
              </a:ext>
            </a:extLst>
          </p:cNvPr>
          <p:cNvSpPr/>
          <p:nvPr/>
        </p:nvSpPr>
        <p:spPr>
          <a:xfrm>
            <a:off x="83204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time-sharing"/>
          <p:cNvSpPr txBox="1"/>
          <p:nvPr/>
        </p:nvSpPr>
        <p:spPr>
          <a:xfrm>
            <a:off x="8485026" y="3214116"/>
            <a:ext cx="134591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time-sharing</a:t>
            </a:r>
          </a:p>
        </p:txBody>
      </p:sp>
      <p:sp>
        <p:nvSpPr>
          <p:cNvPr id="61"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101597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3–11     </a:t>
            </a:r>
            <a:fld id="{DEBA1712-984F-45D7-A89D-00F3399F2F65}" type="slidenum">
              <a:rPr lang="en-GB" sz="1000">
                <a:solidFill>
                  <a:srgbClr val="8795A1"/>
                </a:solidFill>
                <a:latin typeface="Segoe UI"/>
              </a:rPr>
              <a:t>5</a:t>
            </a:fld>
          </a:p>
        </p:txBody>
      </p:sp>
      <p:sp>
        <p:nvSpPr>
          <p:cNvPr id="7" name="!!ag0" descr="Go to section 1.1 A Room Full of Idle Serve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Room Full of Idle Servers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  ›</a:t>
            </a:r>
          </a:p>
        </p:txBody>
      </p:sp>
      <p:sp>
        <p:nvSpPr>
          <p:cNvPr id="12" name="!!ag1" descr="Go to section 1.2 What It Is No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It Is Not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17" name="!!ag2" descr="Go to section 1.3 Why Anyone Would Do Thi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Anyone Would Do This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  ›</a:t>
            </a:r>
          </a:p>
        </p:txBody>
      </p:sp>
      <p:sp>
        <p:nvSpPr>
          <p:cNvPr id="22" name="!!ag3" descr="Go to section 1.4 Where It Came Fro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It Came From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  ›</a:t>
            </a:r>
          </a:p>
        </p:txBody>
      </p:sp>
      <p:sp>
        <p:nvSpPr>
          <p:cNvPr id="27" name="!!ag4" descr="Go to section 1.5 What Is Virtualized, and Where to Find I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Is Virtualized, and Where to Find It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699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Room Full of Idle Servers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1.1   A Room Full of Idle Servers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It Is Not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Why Anyone Would Do This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Where It Came From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What Is Virtualized, and Where to Find It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     </a:t>
            </a:r>
            <a:fld id="{0D428F1D-2CF1-456D-9C4A-7450438F4E6E}"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Virtualization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6947B510-D8B8-4980-A49C-FD1F72862549}"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97222"/>
          </a:xfrm>
          <a:prstGeom prst="roundRect">
            <a:avLst>
              <a:gd name="adj" fmla="val 212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9722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A5276"/>
                </a:solidFill>
                <a:latin typeface="Segoe UI"/>
              </a:rPr>
              <a:t>Virtualization</a:t>
            </a:r>
            <a:r>
              <a:rPr sz="1800" b="0" i="0">
                <a:solidFill>
                  <a:srgbClr val="1C252B"/>
                </a:solidFill>
                <a:latin typeface="Segoe UI"/>
              </a:rPr>
              <a:t> is the insertion of a software layer that presents a resource which differs from the one physically present, while preserving the interface that software above the layer already expects.</a:t>
            </a:r>
          </a:p>
        </p:txBody>
      </p:sp>
      <p:sp>
        <p:nvSpPr>
          <p:cNvPr id="10" name="body-1"/>
          <p:cNvSpPr txBox="1"/>
          <p:nvPr/>
        </p:nvSpPr>
        <p:spPr>
          <a:xfrm>
            <a:off x="1060704" y="3029864"/>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layer does one of three things, or several at once:</a:t>
            </a:r>
          </a:p>
        </p:txBody>
      </p:sp>
      <p:sp>
        <p:nvSpPr>
          <p:cNvPr id="11" name="body-2"/>
          <p:cNvSpPr txBox="1"/>
          <p:nvPr/>
        </p:nvSpPr>
        <p:spPr>
          <a:xfrm>
            <a:off x="1060704" y="3440887"/>
            <a:ext cx="10161727" cy="1346911"/>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8A4500"/>
                </a:solidFill>
                <a:latin typeface="Segoe UI"/>
              </a:rPr>
              <a:t>•	</a:t>
            </a:r>
            <a:r>
              <a:rPr sz="1800" b="1" i="0">
                <a:solidFill>
                  <a:srgbClr val="1A5276"/>
                </a:solidFill>
                <a:latin typeface="Segoe UI"/>
              </a:rPr>
              <a:t>multiplexing</a:t>
            </a:r>
            <a:r>
              <a:rPr sz="1800" b="0" i="0">
                <a:solidFill>
                  <a:srgbClr val="1C252B"/>
                </a:solidFill>
                <a:latin typeface="Segoe UI"/>
              </a:rPr>
              <a:t> — one physical resource is presented as many (one processor as twelve vCPUs);</a:t>
            </a:r>
          </a:p>
          <a:p>
            <a:pPr algn="l" marL="201268" indent="-201268">
              <a:lnSpc>
                <a:spcPct val="104000"/>
              </a:lnSpc>
              <a:spcBef>
                <a:spcPts val="0"/>
              </a:spcBef>
              <a:spcAft>
                <a:spcPts val="630"/>
              </a:spcAft>
            </a:pPr>
            <a:r>
              <a:rPr sz="1800" b="1">
                <a:solidFill>
                  <a:srgbClr val="8A4500"/>
                </a:solidFill>
                <a:latin typeface="Segoe UI"/>
              </a:rPr>
              <a:t>•	</a:t>
            </a:r>
            <a:r>
              <a:rPr sz="1800" b="1" i="0">
                <a:solidFill>
                  <a:srgbClr val="1A5276"/>
                </a:solidFill>
                <a:latin typeface="Segoe UI"/>
              </a:rPr>
              <a:t>aggregation</a:t>
            </a:r>
            <a:r>
              <a:rPr sz="1800" b="0" i="0">
                <a:solidFill>
                  <a:srgbClr val="1C252B"/>
                </a:solidFill>
                <a:latin typeface="Segoe UI"/>
              </a:rPr>
              <a:t> — many physical resources are presented as one (twelve disks as one volume);</a:t>
            </a:r>
          </a:p>
          <a:p>
            <a:pPr algn="l" marL="201268" indent="-201268">
              <a:lnSpc>
                <a:spcPct val="104000"/>
              </a:lnSpc>
              <a:spcBef>
                <a:spcPts val="0"/>
              </a:spcBef>
              <a:spcAft>
                <a:spcPts val="0"/>
              </a:spcAft>
            </a:pPr>
            <a:r>
              <a:rPr sz="1800" b="1">
                <a:solidFill>
                  <a:srgbClr val="8A4500"/>
                </a:solidFill>
                <a:latin typeface="Segoe UI"/>
              </a:rPr>
              <a:t>•	</a:t>
            </a:r>
            <a:r>
              <a:rPr sz="1800" b="1" i="0">
                <a:solidFill>
                  <a:srgbClr val="1A5276"/>
                </a:solidFill>
                <a:latin typeface="Segoe UI"/>
              </a:rPr>
              <a:t>abstraction</a:t>
            </a:r>
            <a:r>
              <a:rPr sz="1800" b="0" i="0">
                <a:solidFill>
                  <a:srgbClr val="1C252B"/>
                </a:solidFill>
                <a:latin typeface="Segoe UI"/>
              </a:rPr>
              <a:t> — a resource is presented as a different kind of thing entirely (a file on a disk presented as a disk).</a:t>
            </a:r>
          </a:p>
        </p:txBody>
      </p:sp>
      <p:sp>
        <p:nvSpPr>
          <p:cNvPr id="12" name="body-3"/>
          <p:cNvSpPr txBox="1"/>
          <p:nvPr/>
        </p:nvSpPr>
        <p:spPr>
          <a:xfrm>
            <a:off x="1060704" y="4867808"/>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What makes it virtualization rather than merely software is the second clause: the interface is </a:t>
            </a:r>
            <a:r>
              <a:rPr sz="1800" b="0" i="1">
                <a:solidFill>
                  <a:srgbClr val="1C252B"/>
                </a:solidFill>
                <a:latin typeface="Segoe UI"/>
              </a:rPr>
              <a:t>preserved</a:t>
            </a:r>
            <a:r>
              <a:rPr sz="1800" b="0" i="0">
                <a:solidFill>
                  <a:srgbClr val="1C252B"/>
                </a:solidFill>
                <a:latin typeface="Segoe UI"/>
              </a:rPr>
              <a:t>. An unmodified operating system, written with no knowledge that any of this is happening, runs correctly above the layer.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7779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layer, and the only claim it makes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14578DEA-6F13-4303-9904-142F6AB18857}" type="slidenum">
              <a:rPr lang="en-GB" sz="1000">
                <a:solidFill>
                  <a:srgbClr val="8795A1"/>
                </a:solidFill>
                <a:latin typeface="Segoe UI"/>
              </a:rPr>
              <a:t>8</a:t>
            </a:fld>
          </a:p>
        </p:txBody>
      </p:sp>
      <p:pic>
        <p:nvPicPr>
          <p:cNvPr id="6" name="!!figure" descr="Figure 1.1. The layer, and the only claim it makes. Each guest is told a different machine exists, and none of the three was modified to be told. Every later chapter replaces one row of this diagram with something more specific."/>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13678"/>
            <a:ext cx="10874959" cy="273297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guest is told a different machine exists, and none of the three was modified to be told. Every later chapter replaces one row of this diagram with something more specific.</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Virtual Machine, Hypervisor, Host, Guest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4AA2FACF-96A8-4AF6-8691-0EC59B6A286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virtual machine</a:t>
            </a:r>
            <a:r>
              <a:rPr sz="2200" b="0" i="0">
                <a:solidFill>
                  <a:srgbClr val="1C252B"/>
                </a:solidFill>
                <a:latin typeface="Segoe UI"/>
              </a:rPr>
              <a:t> is the illusion the layer sells: a complete computer — processor, memory, firmware, disks, network interfaces — implemented in software, on which an operating system can be installed as if on metal.</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hypervisor</a:t>
            </a:r>
            <a:r>
              <a:rPr sz="2200" b="0" i="0">
                <a:solidFill>
                  <a:srgbClr val="1C252B"/>
                </a:solidFill>
                <a:latin typeface="Segoe UI"/>
              </a:rPr>
              <a:t>, equivalently the </a:t>
            </a:r>
            <a:r>
              <a:rPr sz="2200" b="1" i="0">
                <a:solidFill>
                  <a:srgbClr val="1A5276"/>
                </a:solidFill>
                <a:latin typeface="Segoe UI"/>
              </a:rPr>
              <a:t>virtual machine monitor</a:t>
            </a:r>
            <a:r>
              <a:rPr sz="2200" b="0" i="0">
                <a:solidFill>
                  <a:srgbClr val="1C252B"/>
                </a:solidFill>
                <a:latin typeface="Segoe UI"/>
              </a:rPr>
              <a:t> or VMM, is the software that creates and maintains that illusion. The </a:t>
            </a:r>
            <a:r>
              <a:rPr sz="2200" b="1" i="0">
                <a:solidFill>
                  <a:srgbClr val="1A5276"/>
                </a:solidFill>
                <a:latin typeface="Segoe UI"/>
              </a:rPr>
              <a:t>host</a:t>
            </a:r>
            <a:r>
              <a:rPr sz="2200" b="0" i="0">
                <a:solidFill>
                  <a:srgbClr val="1C252B"/>
                </a:solidFill>
                <a:latin typeface="Segoe UI"/>
              </a:rPr>
              <a:t> is the physical machine and the software running directly on it; a </a:t>
            </a:r>
            <a:r>
              <a:rPr sz="2200" b="1" i="0">
                <a:solidFill>
                  <a:srgbClr val="1A5276"/>
                </a:solidFill>
                <a:latin typeface="Segoe UI"/>
              </a:rPr>
              <a:t>guest</a:t>
            </a:r>
            <a:r>
              <a:rPr sz="2200" b="0" i="0">
                <a:solidFill>
                  <a:srgbClr val="1C252B"/>
                </a:solidFill>
                <a:latin typeface="Segoe UI"/>
              </a:rPr>
              <a:t> is an operating system running inside a virtual machine.</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This book uses </a:t>
            </a:r>
            <a:r>
              <a:rPr sz="2200" b="0" i="1">
                <a:solidFill>
                  <a:srgbClr val="1C252B"/>
                </a:solidFill>
                <a:latin typeface="Segoe UI"/>
              </a:rPr>
              <a:t>hypervisor</a:t>
            </a:r>
            <a:r>
              <a:rPr sz="2200" b="0" i="0">
                <a:solidFill>
                  <a:srgbClr val="1C252B"/>
                </a:solidFill>
                <a:latin typeface="Segoe UI"/>
              </a:rPr>
              <a:t> and </a:t>
            </a:r>
            <a:r>
              <a:rPr sz="2200" b="0" i="1">
                <a:solidFill>
                  <a:srgbClr val="1C252B"/>
                </a:solidFill>
                <a:latin typeface="Segoe UI"/>
              </a:rPr>
              <a:t>VMM</a:t>
            </a:r>
            <a:r>
              <a:rPr sz="2200" b="0" i="0">
                <a:solidFill>
                  <a:srgbClr val="1C252B"/>
                </a:solidFill>
                <a:latin typeface="Segoe UI"/>
              </a:rPr>
              <a:t> interchangeably, as the literature does. Chapter 3 is the one place the distinction is sharpened, because that is where it begins to matter.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2859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It Is Not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Room Full of Idle Servers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1.2   What It Is Not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Why Anyone Would Do This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Where It Came From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What Is Virtualized, and Where to Find It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     </a:t>
            </a:r>
            <a:fld id="{3472F760-CA56-46D6-8529-6660743921AB}"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5399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Virtualization, Emulation, Simulation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3D3913D1-399A-42B7-96EC-BEADB40BD023}"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345"/>
          </a:xfrm>
          <a:prstGeom prst="roundRect">
            <a:avLst>
              <a:gd name="adj" fmla="val 217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34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Emulation</a:t>
            </a:r>
            <a:r>
              <a:rPr sz="1700" b="0" i="0">
                <a:solidFill>
                  <a:srgbClr val="1C252B"/>
                </a:solidFill>
                <a:latin typeface="Segoe UI"/>
              </a:rPr>
              <a:t> interprets every guest instruction in software, translating from one instruction set to another. An ARM emulator on an x86 laptop reads an ARM instruction, works out what it means, and performs the equivalent x86 work. It is slow — commonly ten to a hundred times slower than native — and completely general: the guest architecture need not resemble the host at all.</a:t>
            </a:r>
          </a:p>
        </p:txBody>
      </p:sp>
      <p:sp>
        <p:nvSpPr>
          <p:cNvPr id="10" name="body-1"/>
          <p:cNvSpPr txBox="1"/>
          <p:nvPr/>
        </p:nvSpPr>
        <p:spPr>
          <a:xfrm>
            <a:off x="1060704" y="3244773"/>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Virtualization</a:t>
            </a:r>
            <a:r>
              <a:rPr sz="1700" b="0" i="0">
                <a:solidFill>
                  <a:srgbClr val="1C252B"/>
                </a:solidFill>
                <a:latin typeface="Segoe UI"/>
              </a:rPr>
              <a:t> runs guest instructions </a:t>
            </a:r>
            <a:r>
              <a:rPr sz="1700" b="0" i="1">
                <a:solidFill>
                  <a:srgbClr val="1C252B"/>
                </a:solidFill>
                <a:latin typeface="Segoe UI"/>
              </a:rPr>
              <a:t>on the real processor</a:t>
            </a:r>
            <a:r>
              <a:rPr sz="1700" b="0" i="0">
                <a:solidFill>
                  <a:srgbClr val="1C252B"/>
                </a:solidFill>
                <a:latin typeface="Segoe UI"/>
              </a:rPr>
              <a:t> wherever it safely can, and intervenes only for the instructions it cannot allow to execute directly. It is therefore fast — commonly within a few per cent of native — and restricted: the guest must be built for the same architecture as the host.</a:t>
            </a:r>
          </a:p>
        </p:txBody>
      </p:sp>
      <p:sp>
        <p:nvSpPr>
          <p:cNvPr id="11" name="body-2"/>
          <p:cNvSpPr txBox="1"/>
          <p:nvPr/>
        </p:nvSpPr>
        <p:spPr>
          <a:xfrm>
            <a:off x="1060704" y="4171848"/>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Segoe UI"/>
              </a:rPr>
              <a:t>Simulation</a:t>
            </a:r>
            <a:r>
              <a:rPr sz="1700" b="0" i="0">
                <a:solidFill>
                  <a:srgbClr val="1C252B"/>
                </a:solidFill>
                <a:latin typeface="Segoe UI"/>
              </a:rPr>
              <a:t> models a system’s behaviour without claiming to run its software: a network simulator predicts throughput; it does not boot a router.</a:t>
            </a:r>
          </a:p>
        </p:txBody>
      </p:sp>
      <p:sp>
        <p:nvSpPr>
          <p:cNvPr id="12" name="body-3"/>
          <p:cNvSpPr txBox="1"/>
          <p:nvPr/>
        </p:nvSpPr>
        <p:spPr>
          <a:xfrm>
            <a:off x="1060704" y="4829479"/>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QEMU does the first two in different modes, which is why it appears on both sides of the comparison in Chapter 2. Running </a:t>
            </a:r>
            <a:r>
              <a:rPr sz="1600" b="0" i="0">
                <a:solidFill>
                  <a:srgbClr val="1F4E79"/>
                </a:solidFill>
                <a:latin typeface="Consolas"/>
              </a:rPr>
              <a:t>qemu-system-aarch64</a:t>
            </a:r>
            <a:r>
              <a:rPr sz="1700" b="0" i="0">
                <a:solidFill>
                  <a:srgbClr val="1C252B"/>
                </a:solidFill>
                <a:latin typeface="Segoe UI"/>
              </a:rPr>
              <a:t> on an x86 host is emulation. Running </a:t>
            </a:r>
            <a:r>
              <a:rPr sz="1600" b="0" i="0">
                <a:solidFill>
                  <a:srgbClr val="1F4E79"/>
                </a:solidFill>
                <a:latin typeface="Consolas"/>
              </a:rPr>
              <a:t>qemu-system-x86_64</a:t>
            </a:r>
            <a:r>
              <a:rPr sz="1700" b="0" i="0">
                <a:solidFill>
                  <a:srgbClr val="1C252B"/>
                </a:solidFill>
                <a:latin typeface="Segoe UI"/>
              </a:rPr>
              <a:t> with KVM enabled is virtualization, and the same binary does both.</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9393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container is not a virtual machine, and both are virtualization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70AED0CB-F499-4AFF-9ACA-7023994045D2}"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two most common statements about containers in a first course contradict each other, and both are half right.</a:t>
            </a:r>
          </a:p>
        </p:txBody>
      </p:sp>
      <p:sp>
        <p:nvSpPr>
          <p:cNvPr id="10" name="body-1"/>
          <p:cNvSpPr txBox="1"/>
          <p:nvPr/>
        </p:nvSpPr>
        <p:spPr>
          <a:xfrm>
            <a:off x="1060704" y="2821939"/>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container does not contain a virtual machine: there is no virtual processor, no virtual firmware, no guest kernel. Processes in a container run on the host’s kernel as ordinary processes, and </a:t>
            </a:r>
            <a:r>
              <a:rPr sz="1900" b="0" i="0">
                <a:solidFill>
                  <a:srgbClr val="1F4E79"/>
                </a:solidFill>
                <a:latin typeface="Consolas"/>
              </a:rPr>
              <a:t>ps</a:t>
            </a:r>
            <a:r>
              <a:rPr sz="2000" b="0" i="0">
                <a:solidFill>
                  <a:srgbClr val="1C252B"/>
                </a:solidFill>
                <a:latin typeface="Segoe UI"/>
              </a:rPr>
              <a:t> on the host can see them.</a:t>
            </a:r>
          </a:p>
        </p:txBody>
      </p:sp>
      <p:sp>
        <p:nvSpPr>
          <p:cNvPr id="11" name="body-2"/>
          <p:cNvSpPr txBox="1"/>
          <p:nvPr/>
        </p:nvSpPr>
        <p:spPr>
          <a:xfrm>
            <a:off x="1060704" y="3912615"/>
            <a:ext cx="10161727" cy="194767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But a container </a:t>
            </a:r>
            <a:r>
              <a:rPr sz="2000" b="0" i="1">
                <a:solidFill>
                  <a:srgbClr val="1C252B"/>
                </a:solidFill>
                <a:latin typeface="Segoe UI"/>
              </a:rPr>
              <a:t>is</a:t>
            </a:r>
            <a:r>
              <a:rPr sz="2000" b="0" i="0">
                <a:solidFill>
                  <a:srgbClr val="1C252B"/>
                </a:solidFill>
                <a:latin typeface="Segoe UI"/>
              </a:rPr>
              <a:t> virtualization by the definition above. The layer is inserted inside the kernel rather than beneath it, and what it multiplexes is the operating system’s own namespace of process identifiers, mount points, network interfaces and users. The interface preserved is the system-call interface, not the instruction set. Chapter 8 makes this precise; the reason it matters this early is that “virtual machine or container?” is a question about </a:t>
            </a:r>
            <a:r>
              <a:rPr sz="2000" b="0" i="1">
                <a:solidFill>
                  <a:srgbClr val="1C252B"/>
                </a:solidFill>
                <a:latin typeface="Segoe UI"/>
              </a:rPr>
              <a:t>which layer</a:t>
            </a:r>
            <a:r>
              <a:rPr sz="2000" b="0" i="0">
                <a:solidFill>
                  <a:srgbClr val="1C252B"/>
                </a:solidFill>
                <a:latin typeface="Segoe UI"/>
              </a:rPr>
              <a:t>, not about whether a layer exists.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Anyone Would Do This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Room Full of Idle Servers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It Is Not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1.3   Why Anyone Would Do This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Where It Came From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What Is Virtualized, and Where to Find It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     </a:t>
            </a:r>
            <a:fld id="{05A29919-7A8B-418C-93C4-9073C064E7FC}"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019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Anyone Would Do This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9876320F-7418-47E1-8E03-2F558521AC61}"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8" cy="3931917"/>
        </p:xfrm>
        <a:graphic>
          <a:graphicData uri="http://schemas.openxmlformats.org/drawingml/2006/table">
            <a:tbl>
              <a:tblPr firstRow="0" bandRow="0" firstCol="0" lastRow="0" lastCol="0" bandCol="0">
                <a:tableStyleId>{2D5ABB26-0587-4C30-8999-92F81FD0307C}</a:tableStyleId>
              </a:tblPr>
              <a:tblGrid>
                <a:gridCol w="2102492"/>
                <a:gridCol w="4567482"/>
                <a:gridCol w="4204984"/>
              </a:tblGrid>
              <a:tr h="374904">
                <a:tc>
                  <a:txBody>
                    <a:bodyPr wrap="square"/>
                    <a:lstStyle/>
                    <a:p>
                      <a:pPr algn="l"/>
                      <a:r>
                        <a:rPr sz="1500" b="1" i="0">
                          <a:solidFill>
                            <a:srgbClr val="1A5276"/>
                          </a:solidFill>
                          <a:latin typeface="Segoe UI"/>
                        </a:rPr>
                        <a:t>Motive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What it buys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Where this book shows it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832103">
                <a:tc>
                  <a:txBody>
                    <a:bodyPr wrap="square"/>
                    <a:lstStyle/>
                    <a:p>
                      <a:pPr algn="l"/>
                      <a:r>
                        <a:rPr sz="1500" b="1" i="0">
                          <a:solidFill>
                            <a:srgbClr val="1A5276"/>
                          </a:solidFill>
                          <a:latin typeface="Segoe UI"/>
                        </a:rPr>
                        <a:t>Consolidation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Many lightly-loaded workloads on one well-loaded machine. Fewer machines, less power, less cooling, less floor space, less to patch</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The worked example below; Chapter 6 on how far it can be pushed; Chapter 18 on when it has gone too far</a:t>
                      </a:r>
                      <a:endParaRPr sz="1500"/>
                    </a:p>
                  </a:txBody>
                  <a:tcPr marL="109728" marR="109728" marT="64008" marB="45720" anchor="t">
                    <a:lnL w="0" cmpd="sng">
                      <a:noFill/>
                    </a:lnL>
                    <a:lnR w="0" cmpd="sng">
                      <a:noFill/>
                    </a:lnR>
                    <a:lnT w="9525" cmpd="sng">
                      <a:noFill/>
                    </a:lnT>
                    <a:lnB w="9525" cmpd="sng">
                      <a:noFill/>
                    </a:lnB>
                    <a:solidFill>
                      <a:srgbClr val="FFFFFF"/>
                    </a:solidFill>
                  </a:tcPr>
                </a:tc>
              </a:tr>
              <a:tr h="1060704">
                <a:tc>
                  <a:txBody>
                    <a:bodyPr wrap="square"/>
                    <a:lstStyle/>
                    <a:p>
                      <a:pPr algn="l"/>
                      <a:r>
                        <a:rPr sz="1500" b="1" i="0">
                          <a:solidFill>
                            <a:srgbClr val="1A5276"/>
                          </a:solidFill>
                          <a:latin typeface="Segoe UI"/>
                        </a:rPr>
                        <a:t>Isolation</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A fault, a crash or a compromise in one workload does not reach the others. This is the reason the forty servers existed, and virtualization preserves it while removing the forty</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Chapter 3 on what makes isolation sound; Chapter 19 on where it fails</a:t>
                      </a:r>
                      <a:endParaRPr sz="1500"/>
                    </a:p>
                  </a:txBody>
                  <a:tcPr marL="109728" marR="109728" marT="64008" marB="45720" anchor="t">
                    <a:lnL w="0" cmpd="sng">
                      <a:noFill/>
                    </a:lnL>
                    <a:lnR w="0" cmpd="sng">
                      <a:noFill/>
                    </a:lnR>
                    <a:lnT w="9525" cmpd="sng">
                      <a:noFill/>
                    </a:lnT>
                    <a:lnB w="9525" cmpd="sng">
                      <a:noFill/>
                    </a:lnB>
                    <a:solidFill>
                      <a:srgbClr val="F2F8FC"/>
                    </a:solidFill>
                  </a:tcPr>
                </a:tc>
              </a:tr>
              <a:tr h="832103">
                <a:tc>
                  <a:txBody>
                    <a:bodyPr wrap="square"/>
                    <a:lstStyle/>
                    <a:p>
                      <a:pPr algn="l"/>
                      <a:r>
                        <a:rPr sz="1500" b="1" i="0">
                          <a:solidFill>
                            <a:srgbClr val="1A5276"/>
                          </a:solidFill>
                          <a:latin typeface="Segoe UI"/>
                        </a:rPr>
                        <a:t>Encapsulation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A running machine becomes a file. It can be copied, versioned, moved, snapshotted and restored — operations no physical server supports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Chapter 12 on the file; Chapter 17 on moving it while it runs</a:t>
                      </a:r>
                      <a:endParaRPr sz="1500"/>
                    </a:p>
                  </a:txBody>
                  <a:tcPr marL="109728" marR="109728" marT="64008" marB="45720" anchor="t">
                    <a:lnL w="0" cmpd="sng">
                      <a:noFill/>
                    </a:lnL>
                    <a:lnR w="0" cmpd="sng">
                      <a:noFill/>
                    </a:lnR>
                    <a:lnT w="9525" cmpd="sng">
                      <a:noFill/>
                    </a:lnT>
                    <a:lnB w="9525" cmpd="sng">
                      <a:noFill/>
                    </a:lnB>
                    <a:solidFill>
                      <a:srgbClr val="FFFFFF"/>
                    </a:solidFill>
                  </a:tcPr>
                </a:tc>
              </a:tr>
              <a:tr h="832103">
                <a:tc>
                  <a:txBody>
                    <a:bodyPr wrap="square"/>
                    <a:lstStyle/>
                    <a:p>
                      <a:pPr algn="l"/>
                      <a:r>
                        <a:rPr sz="1500" b="1" i="0">
                          <a:solidFill>
                            <a:srgbClr val="1A5276"/>
                          </a:solidFill>
                          <a:latin typeface="Segoe UI"/>
                        </a:rPr>
                        <a:t>Elasticity</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Capacity becomes a quantity you request rather than a chassis you procure. Minutes instead of months, and returnable</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Chapter 14 entire; Chapter 10 for the same idea one layer up</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5559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Encapsulation is the one with no physical analogue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988D6F4C-BF49-46C8-8119-E4331E8BA60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Consolidation is an efficiency argument and isolation is a safety argument, and a sufficiently rich organisation could buy its way out of both. Encapsulation is different in kind.</a:t>
            </a:r>
          </a:p>
        </p:txBody>
      </p:sp>
      <p:sp>
        <p:nvSpPr>
          <p:cNvPr id="10" name="body-1"/>
          <p:cNvSpPr txBox="1"/>
          <p:nvPr/>
        </p:nvSpPr>
        <p:spPr>
          <a:xfrm>
            <a:off x="1060704" y="3302533"/>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Once a running computer is a file, every operation you know how to perform on a file becomes available to it. You can take a snapshot before a risky upgrade and return to it in four seconds when the upgrade fails. You can copy a production machine into a test environment, bit for bit, including the fault you are trying to reproduce. You can keep last Tuesday. None of this has a physical equivalent — there is no way to take a snapshot of a server in a rack — and it is the capability administrators miss most when they go back.</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099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Forty Servers, Costed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368C72E9-3D9D-493A-9465-2931DCEF12B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6521"/>
          </a:xfrm>
          <a:prstGeom prst="roundRect">
            <a:avLst>
              <a:gd name="adj" fmla="val 20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652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machine room of the opening section, measured over one semester. Decide how many hosts replace it, and what that saves.</a:t>
            </a:r>
          </a:p>
        </p:txBody>
      </p:sp>
      <p:sp>
        <p:nvSpPr>
          <p:cNvPr id="10"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is there.</a:t>
            </a:r>
            <a:r>
              <a:rPr sz="1900" b="0" i="0">
                <a:solidFill>
                  <a:srgbClr val="1C252B"/>
                </a:solidFill>
                <a:latin typeface="Segoe UI"/>
              </a:rPr>
              <a:t> 40 servers, each 2 sockets </a:t>
            </a:r>
            <a:r>
              <a:rPr sz="1900" b="0" i="0">
                <a:solidFill>
                  <a:srgbClr val="1C252B"/>
                </a:solidFill>
                <a:latin typeface="Cambria"/>
              </a:rPr>
              <a:t>×</a:t>
            </a:r>
            <a:r>
              <a:rPr sz="1900" b="0" i="0">
                <a:solidFill>
                  <a:srgbClr val="1C252B"/>
                </a:solidFill>
                <a:latin typeface="Segoe UI"/>
              </a:rPr>
              <a:t> 8 cores </a:t>
            </a:r>
            <a:r>
              <a:rPr sz="1900" b="0" i="0">
                <a:solidFill>
                  <a:srgbClr val="1C252B"/>
                </a:solidFill>
                <a:latin typeface="Cambria"/>
              </a:rPr>
              <a:t>=</a:t>
            </a:r>
            <a:r>
              <a:rPr sz="1900" b="0" i="0">
                <a:solidFill>
                  <a:srgbClr val="1C252B"/>
                </a:solidFill>
                <a:latin typeface="Segoe UI"/>
              </a:rPr>
              <a:t> 16 cores and 64 GB of memory. Measured per server: mean CPU utilisation 8%, peak 22%; mean memory in use 11 GB. Each draws 350 W.</a:t>
            </a:r>
          </a:p>
        </p:txBody>
      </p:sp>
      <p:sp>
        <p:nvSpPr>
          <p:cNvPr id="11" name="body-2"/>
          <p:cNvSpPr txBox="1"/>
          <p:nvPr/>
        </p:nvSpPr>
        <p:spPr>
          <a:xfrm>
            <a:off x="1042416" y="378282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what is actually consumed.</a:t>
            </a:r>
          </a:p>
        </p:txBody>
      </p:sp>
      <p:sp>
        <p:nvSpPr>
          <p:cNvPr id="12" name="body-3"/>
          <p:cNvSpPr txBox="1"/>
          <p:nvPr/>
        </p:nvSpPr>
        <p:spPr>
          <a:xfrm>
            <a:off x="1042416" y="4216679"/>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CPU: </a:t>
            </a:r>
            <a:r>
              <a:rPr sz="1900" b="0" i="0">
                <a:solidFill>
                  <a:srgbClr val="1C252B"/>
                </a:solidFill>
                <a:latin typeface="Cambria"/>
              </a:rPr>
              <a:t>40 × 16 × 0.08 = 51.2</a:t>
            </a:r>
            <a:r>
              <a:rPr sz="1900" b="0" i="0">
                <a:solidFill>
                  <a:srgbClr val="1C252B"/>
                </a:solidFill>
                <a:latin typeface="Segoe UI"/>
              </a:rPr>
              <a:t> cores’ worth of work, spread over 640 physical cores.</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Memory: </a:t>
            </a:r>
            <a:r>
              <a:rPr sz="1900" b="0" i="0">
                <a:solidFill>
                  <a:srgbClr val="1C252B"/>
                </a:solidFill>
                <a:latin typeface="Cambria"/>
              </a:rPr>
              <a:t>40 × 11 = 440</a:t>
            </a:r>
            <a:r>
              <a:rPr sz="1900" b="0" i="0">
                <a:solidFill>
                  <a:srgbClr val="1C252B"/>
                </a:solidFill>
                <a:latin typeface="Segoe UI"/>
              </a:rPr>
              <a:t> GB in use, of 2,560 GB installed.</a:t>
            </a:r>
          </a:p>
        </p:txBody>
      </p:sp>
      <p:sp>
        <p:nvSpPr>
          <p:cNvPr id="13" name="body-4"/>
          <p:cNvSpPr txBox="1"/>
          <p:nvPr/>
        </p:nvSpPr>
        <p:spPr>
          <a:xfrm>
            <a:off x="1042416" y="503613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size the replacement on memory, not CPU.</a:t>
            </a:r>
            <a:r>
              <a:rPr sz="1900" b="0" i="0">
                <a:solidFill>
                  <a:srgbClr val="1C252B"/>
                </a:solidFill>
                <a:latin typeface="Segoe UI"/>
              </a:rPr>
              <a:t> Memory is the binding constraint in almost every consolidation, because it cannot be oversubscribed as freely as processor time (Chapter 6 says why). Allow 30% headroom for growth and for the hypervisor itself:</a:t>
            </a:r>
          </a:p>
        </p:txBody>
      </p:sp>
      <p:sp>
        <p:nvSpPr>
          <p:cNvPr id="14" name="body-4bar">
            <a:extLst>
              <a:ext uri="{C183D7F6-B498-43B3-948B-1728B52AA6E4}">
                <adec:decorative xmlns:adec="http://schemas.microsoft.com/office/drawing/2017/decorative" val="1"/>
              </a:ext>
            </a:extLst>
          </p:cNvPr>
          <p:cNvSpPr/>
          <p:nvPr/>
        </p:nvSpPr>
        <p:spPr>
          <a:xfrm>
            <a:off x="841248" y="505442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Forty Servers,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D8277B70-DA15-4338-A07E-7DF1E58F84AA}"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3143"/>
          </a:xfrm>
          <a:prstGeom prst="roundRect">
            <a:avLst>
              <a:gd name="adj" fmla="val 20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314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440 \times 1.3 = 572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 hosts of 512 GB that is </a:t>
            </a:r>
            <a:r>
              <a:rPr sz="1900" b="0" i="0">
                <a:solidFill>
                  <a:srgbClr val="1C252B"/>
                </a:solidFill>
                <a:latin typeface="Cambria"/>
              </a:rPr>
              <a:t>⌈ 572/512 ⌉ = 2</a:t>
            </a:r>
            <a:r>
              <a:rPr sz="1900" b="0" i="0">
                <a:solidFill>
                  <a:srgbClr val="1C252B"/>
                </a:solidFill>
                <a:latin typeface="Segoe UI"/>
              </a:rPr>
              <a:t> hosts. Add one more so that a single host failure does not take the estate down — an </a:t>
            </a:r>
            <a:r>
              <a:rPr sz="1900" b="0" i="1">
                <a:solidFill>
                  <a:srgbClr val="1C252B"/>
                </a:solidFill>
                <a:latin typeface="Segoe UI"/>
              </a:rPr>
              <a:t>N+1</a:t>
            </a:r>
            <a:r>
              <a:rPr sz="1900" b="0" i="0">
                <a:solidFill>
                  <a:srgbClr val="1C252B"/>
                </a:solidFill>
                <a:latin typeface="Segoe UI"/>
              </a:rPr>
              <a:t> design — giving </a:t>
            </a:r>
            <a:r>
              <a:rPr sz="1900" b="1" i="0">
                <a:solidFill>
                  <a:srgbClr val="1C252B"/>
                </a:solidFill>
                <a:latin typeface="Segoe UI"/>
              </a:rPr>
              <a:t>3 hosts</a:t>
            </a:r>
            <a:r>
              <a:rPr sz="1900" b="0" i="0">
                <a:solidFill>
                  <a:srgbClr val="1C252B"/>
                </a:solidFill>
                <a:latin typeface="Segoe UI"/>
              </a:rPr>
              <a:t>.</a:t>
            </a:r>
          </a:p>
        </p:txBody>
      </p:sp>
      <p:sp>
        <p:nvSpPr>
          <p:cNvPr id="11" name="body-2"/>
          <p:cNvSpPr txBox="1"/>
          <p:nvPr/>
        </p:nvSpPr>
        <p:spPr>
          <a:xfrm>
            <a:off x="1042416" y="3203915"/>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check that CPU is not the real constraint.</a:t>
            </a:r>
            <a:r>
              <a:rPr sz="1900" b="0" i="0">
                <a:solidFill>
                  <a:srgbClr val="1C252B"/>
                </a:solidFill>
                <a:latin typeface="Segoe UI"/>
              </a:rPr>
              <a:t> Give each workload 4 vCPUs, which is generous against a measured peak of </a:t>
            </a:r>
            <a:r>
              <a:rPr sz="1900" b="0" i="0">
                <a:solidFill>
                  <a:srgbClr val="1C252B"/>
                </a:solidFill>
                <a:latin typeface="Cambria"/>
              </a:rPr>
              <a:t>16 × 0.22 = 3.5</a:t>
            </a:r>
            <a:r>
              <a:rPr sz="1900" b="0" i="0">
                <a:solidFill>
                  <a:srgbClr val="1C252B"/>
                </a:solidFill>
                <a:latin typeface="Segoe UI"/>
              </a:rPr>
              <a:t> cores. Three hosts of 2 </a:t>
            </a:r>
            <a:r>
              <a:rPr sz="1900" b="0" i="0">
                <a:solidFill>
                  <a:srgbClr val="1C252B"/>
                </a:solidFill>
                <a:latin typeface="Cambria"/>
              </a:rPr>
              <a:t>×</a:t>
            </a:r>
            <a:r>
              <a:rPr sz="1900" b="0" i="0">
                <a:solidFill>
                  <a:srgbClr val="1C252B"/>
                </a:solidFill>
                <a:latin typeface="Segoe UI"/>
              </a:rPr>
              <a:t> 32 cores give 192 physical cores:</a:t>
            </a:r>
          </a:p>
        </p:txBody>
      </p:sp>
      <p:sp>
        <p:nvSpPr>
          <p:cNvPr id="12" name="body-2bar">
            <a:extLst>
              <a:ext uri="{C183D7F6-B498-43B3-948B-1728B52AA6E4}">
                <adec:decorative xmlns:adec="http://schemas.microsoft.com/office/drawing/2017/decorative" val="1"/>
              </a:ext>
            </a:extLst>
          </p:cNvPr>
          <p:cNvSpPr/>
          <p:nvPr/>
        </p:nvSpPr>
        <p:spPr>
          <a:xfrm>
            <a:off x="841248" y="3222203"/>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sigma = \frac{40 \times 4}{192} = \frac{160}{192} = 0.8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240057"/>
            <a:ext cx="10234879" cy="547268"/>
          </a:xfrm>
          <a:prstGeom prst="rect">
            <a:avLst/>
          </a:prstGeom>
        </p:spPr>
      </p:pic>
      <p:sp>
        <p:nvSpPr>
          <p:cNvPr id="14" name="body-4"/>
          <p:cNvSpPr txBox="1"/>
          <p:nvPr/>
        </p:nvSpPr>
        <p:spPr>
          <a:xfrm>
            <a:off x="1042416" y="492004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overcommit ratio below 1 means that even if every guest demanded its full allocation simultaneously, the cores exist. CPU is not the constraint; memory was right.</a:t>
            </a:r>
          </a:p>
        </p:txBody>
      </p:sp>
      <p:sp>
        <p:nvSpPr>
          <p:cNvPr id="15" name="body-5"/>
          <p:cNvSpPr txBox="1"/>
          <p:nvPr/>
        </p:nvSpPr>
        <p:spPr>
          <a:xfrm>
            <a:off x="1042416" y="565504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consolidation ratio.</a:t>
            </a:r>
          </a:p>
        </p:txBody>
      </p:sp>
      <p:sp>
        <p:nvSpPr>
          <p:cNvPr id="16" name="body-5bar">
            <a:extLst>
              <a:ext uri="{C183D7F6-B498-43B3-948B-1728B52AA6E4}">
                <adec:decorative xmlns:adec="http://schemas.microsoft.com/office/drawing/2017/decorative" val="1"/>
              </a:ext>
            </a:extLst>
          </p:cNvPr>
          <p:cNvSpPr/>
          <p:nvPr/>
        </p:nvSpPr>
        <p:spPr>
          <a:xfrm>
            <a:off x="841248" y="5673328"/>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3178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Forty Servers,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8F18ACC6-9874-4A3D-8877-D1F94D607E2E}"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33484"/>
          </a:xfrm>
          <a:prstGeom prst="roundRect">
            <a:avLst>
              <a:gd name="adj" fmla="val 215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3348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R = \frac{40 \text{ workloads}}{3 \text{ hosts}} = \mathbf{13.3 :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65373"/>
          </a:xfrm>
          <a:prstGeom prst="rect">
            <a:avLst/>
          </a:prstGeom>
        </p:spPr>
      </p:pic>
      <p:sp>
        <p:nvSpPr>
          <p:cNvPr id="10" name="body-1"/>
          <p:cNvSpPr txBox="1"/>
          <p:nvPr/>
        </p:nvSpPr>
        <p:spPr>
          <a:xfrm>
            <a:off x="1042416" y="2709768"/>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power.</a:t>
            </a:r>
            <a:r>
              <a:rPr sz="1900" b="0" i="0">
                <a:solidFill>
                  <a:srgbClr val="1C252B"/>
                </a:solidFill>
                <a:latin typeface="Segoe UI"/>
              </a:rPr>
              <a:t> The new hosts are larger and draw 700 W each.</a:t>
            </a:r>
          </a:p>
        </p:txBody>
      </p:sp>
      <p:sp>
        <p:nvSpPr>
          <p:cNvPr id="11" name="body-1bar">
            <a:extLst>
              <a:ext uri="{C183D7F6-B498-43B3-948B-1728B52AA6E4}">
                <adec:decorative xmlns:adec="http://schemas.microsoft.com/office/drawing/2017/decorative" val="1"/>
              </a:ext>
            </a:extLst>
          </p:cNvPr>
          <p:cNvSpPr/>
          <p:nvPr/>
        </p:nvSpPr>
        <p:spPr>
          <a:xfrm>
            <a:off x="841248" y="2728056"/>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40 \times 350 = 14{,}000 \text{ W} \qquad 3 \times 700 = 2{,}100 \text{ W} \qquad \text{saved: } 11.9 \text{ kW}"/>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143625"/>
            <a:ext cx="10234879" cy="324520"/>
          </a:xfrm>
          <a:prstGeom prst="rect">
            <a:avLst/>
          </a:prstGeom>
        </p:spPr>
      </p:pic>
      <p:sp>
        <p:nvSpPr>
          <p:cNvPr id="13" name="body-3"/>
          <p:cNvSpPr txBox="1"/>
          <p:nvPr/>
        </p:nvSpPr>
        <p:spPr>
          <a:xfrm>
            <a:off x="1042416" y="3600861"/>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Cooling roughly tracks the load; at a power usage effectiveness of 1.6 the facility saves </a:t>
            </a:r>
            <a:r>
              <a:rPr sz="1900" b="0" i="0">
                <a:solidFill>
                  <a:srgbClr val="1C252B"/>
                </a:solidFill>
                <a:latin typeface="Cambria"/>
              </a:rPr>
              <a:t>11.9 × 1.6 = 19.0</a:t>
            </a:r>
            <a:r>
              <a:rPr sz="1900" b="0" i="0">
                <a:solidFill>
                  <a:srgbClr val="1C252B"/>
                </a:solidFill>
                <a:latin typeface="Segoe UI"/>
              </a:rPr>
              <a:t> kW. Over a year:</a:t>
            </a:r>
          </a:p>
        </p:txBody>
      </p:sp>
      <p:pic>
        <p:nvPicPr>
          <p:cNvPr id="14" name="body-4" descr="19.0 \times 8{,}760 = 166{,}400 \text{ kWh}"/>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335861"/>
            <a:ext cx="10234879" cy="324520"/>
          </a:xfrm>
          <a:prstGeom prst="rect">
            <a:avLst/>
          </a:prstGeom>
        </p:spPr>
      </p:pic>
      <p:sp>
        <p:nvSpPr>
          <p:cNvPr id="15" name="body-5"/>
          <p:cNvSpPr txBox="1"/>
          <p:nvPr/>
        </p:nvSpPr>
        <p:spPr>
          <a:xfrm>
            <a:off x="1042416" y="479309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At PKR 45 per kWh that is </a:t>
            </a:r>
            <a:r>
              <a:rPr sz="1900" b="1" i="0">
                <a:solidFill>
                  <a:srgbClr val="1C252B"/>
                </a:solidFill>
                <a:latin typeface="Segoe UI"/>
              </a:rPr>
              <a:t>about PKR 7.5 million a year</a:t>
            </a:r>
            <a:r>
              <a:rPr sz="1900" b="0" i="0">
                <a:solidFill>
                  <a:srgbClr val="1C252B"/>
                </a:solidFill>
                <a:latin typeface="Segoe UI"/>
              </a:rPr>
              <a:t>, before counting the thirty-seven servers not bought, the rack space not rented, or the thirty-seven operating systems not patched.</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Forty Servers,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5F9A6699-9044-4731-A6C9-58FD563C2B93}"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the number does not say.</a:t>
            </a:r>
            <a:r>
              <a:rPr sz="1900" b="0" i="0">
                <a:solidFill>
                  <a:srgbClr val="1C252B"/>
                </a:solidFill>
                <a:latin typeface="Segoe UI"/>
              </a:rPr>
              <a:t> Those three hosts are now a shared fate. The arithmetic above bought a 13:1 reduction in machines and a 13:1 concentration of risk, and Chapter 17 is where that bill comes due.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258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work, before and after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55BC0411-2049-43B8-AC71-A3A2A7313F0E}" type="slidenum">
              <a:rPr lang="en-GB" sz="1000">
                <a:solidFill>
                  <a:srgbClr val="8795A1"/>
                </a:solidFill>
                <a:latin typeface="Segoe UI"/>
              </a:rPr>
              <a:t>20</a:t>
            </a:fld>
          </a:p>
        </p:txBody>
      </p:sp>
      <p:pic>
        <p:nvPicPr>
          <p:cNvPr id="6" name="!!figure" descr="Figure 1.2. The same work, before and after. Nothing was made faster; the idle capacity was simply stopped from being bought. The right-hand picture is also the risk picture: three failure domains where there were fort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3484"/>
            <a:ext cx="10874959" cy="324836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Nothing was made faster; the idle capacity was simply stopped from being bought. The right-hand picture is also the risk picture: three failure domains where there were forty.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07987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Where It Came From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A Room Full of Idle Servers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What It Is Not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Why Anyone Would Do This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1.4   Where It Came From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What Is Virtualized, and Where to Find It</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     </a:t>
            </a:r>
            <a:fld id="{C9D086C5-6662-4A01-BA53-7276072ECF07}" type="slidenum">
              <a:rPr lang="en-GB" sz="1000">
                <a:solidFill>
                  <a:srgbClr val="8795A1"/>
                </a:solidFill>
                <a:latin typeface="Segoe UI"/>
              </a:rPr>
              <a:t>21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3338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field in ten dates, coloured by the part of this book that covers each</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7     </a:t>
            </a:r>
            <a:fld id="{98086C45-DDEB-49E7-BF86-32A596448E12}" type="slidenum">
              <a:rPr lang="en-GB" sz="1000">
                <a:solidFill>
                  <a:srgbClr val="8795A1"/>
                </a:solidFill>
                <a:latin typeface="Segoe UI"/>
              </a:rPr>
              <a:t>22</a:t>
            </a:fld>
          </a:p>
        </p:txBody>
      </p:sp>
      <p:pic>
        <p:nvPicPr>
          <p:cNvPr id="6" name="!!figure" descr="Figure 1.3. The field in ten dates, coloured by the part of this book that covers each. The gap in the middle is the subject of Chapter 3: the theory was settled in 1974, and the dominant architecture then spent a quarter of a century unable to satisfy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71040"/>
            <a:ext cx="10874959" cy="240518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gap in the middle is the subject of Chapter 3: the theory was settled in 1974, and the dominant architecture then spent a quarter of a century unable to satisfy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587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second wave looked nothing like the first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7     </a:t>
            </a:r>
            <a:fld id="{6ADAA6DF-D46A-4B87-8703-AFB17E1C74A9}"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CP-67 was built for scarcity: one machine, many users. VMware was built for the opposite — forty machines, each almost idle. The motive inverted completely, and the mechanism was reused unchanged.</a:t>
            </a:r>
          </a:p>
        </p:txBody>
      </p:sp>
      <p:sp>
        <p:nvSpPr>
          <p:cNvPr id="10" name="body-1"/>
          <p:cNvSpPr txBox="1"/>
          <p:nvPr/>
        </p:nvSpPr>
        <p:spPr>
          <a:xfrm>
            <a:off x="1060704" y="3302533"/>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is worth noticing because the same inversion happened again. Containers were adopted in 2013 largely for </a:t>
            </a:r>
            <a:r>
              <a:rPr sz="2300" b="0" i="1">
                <a:solidFill>
                  <a:srgbClr val="1C252B"/>
                </a:solidFill>
                <a:latin typeface="Segoe UI"/>
              </a:rPr>
              <a:t>packaging</a:t>
            </a:r>
            <a:r>
              <a:rPr sz="2300" b="0" i="0">
                <a:solidFill>
                  <a:srgbClr val="1C252B"/>
                </a:solidFill>
                <a:latin typeface="Segoe UI"/>
              </a:rPr>
              <a:t>: a reproducible image that runs the same on a laptop and in production. Only afterwards did the industry discover that the same mechanism gave it density — a thousand containers on a host that would hold fifty virtual machines — and density became the reason people cite today. A mechanism outlives the motive that produced it, which is why this book teaches mechanisms.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8418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Is Virtualized, and Where to Find It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A9CA1BFF-7D27-492B-8067-9312D5FF56B4}" type="slidenum">
              <a:rPr lang="en-GB" sz="1000">
                <a:solidFill>
                  <a:srgbClr val="8795A1"/>
                </a:solidFill>
                <a:latin typeface="Segoe UI"/>
              </a:rPr>
              <a:t>24</a:t>
            </a:fld>
          </a:p>
        </p:txBody>
      </p:sp>
      <p:graphicFrame>
        <p:nvGraphicFramePr>
          <p:cNvPr id="7" name="!!table"/>
          <p:cNvGraphicFramePr>
            <a:graphicFrameLocks noGrp="1"/>
          </p:cNvGraphicFramePr>
          <p:nvPr/>
        </p:nvGraphicFramePr>
        <p:xfrm>
          <a:off x="658368" y="1737360"/>
          <a:ext cx="10874957" cy="3694176"/>
        </p:xfrm>
        <a:graphic>
          <a:graphicData uri="http://schemas.openxmlformats.org/drawingml/2006/table">
            <a:tbl>
              <a:tblPr firstRow="0" bandRow="0" firstCol="0" lastRow="0" lastCol="0" bandCol="0">
                <a:tableStyleId>{2D5ABB26-0587-4C30-8999-92F81FD0307C}</a:tableStyleId>
              </a:tblPr>
              <a:tblGrid>
                <a:gridCol w="2195989"/>
                <a:gridCol w="3945106"/>
                <a:gridCol w="2263374"/>
                <a:gridCol w="2470488"/>
              </a:tblGrid>
              <a:tr h="344424">
                <a:tc>
                  <a:txBody>
                    <a:bodyPr wrap="square"/>
                    <a:lstStyle/>
                    <a:p>
                      <a:pPr algn="l"/>
                      <a:r>
                        <a:rPr sz="1300" b="1" i="0">
                          <a:solidFill>
                            <a:srgbClr val="1A5276"/>
                          </a:solidFill>
                          <a:latin typeface="Segoe UI"/>
                        </a:rPr>
                        <a:t>What is virtualized</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So that</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Examples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Chapter</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The whole machine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An unmodified operating system boots on it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ESXi, Hyper-V, KVM, Xen</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5</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The operating system</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Processes see a private system, sharing one kernel</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Docker, containerd, LXC</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8, Chapter 9</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The processor and memory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Several guests divide cores and RAM</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vCPU scheduling, ballooning</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6</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A device</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 guest drives hardware it does not exclusively own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virtio, SR-IOV, VFIO</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7</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Storage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 file behaves as a disk; many disks behave as one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qcow2, VMDK, Ceph, vSAN</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12</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The network</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 switch exists in software; a LAN spans data centres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Open vSwitch, VXLAN, SDN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13</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The desktop</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screen is here and the computer is elsewhere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VDI, Citrix, AVD</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15</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An accelerator</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One GPU serves several tenants</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vGPU, MIG, SR-IOV</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Chapter 20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90A26EC8-C532-4909-BF54-422DFA448904}"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“virtual” as meaning “not real”.</a:t>
            </a:r>
            <a:r>
              <a:rPr sz="1700" b="0" i="0">
                <a:solidFill>
                  <a:srgbClr val="1C252B"/>
                </a:solidFill>
                <a:latin typeface="Segoe UI"/>
              </a:rPr>
              <a:t> A virtual processor executes real instructions on real silicon and consumes real electricity. What is virtual is the </a:t>
            </a:r>
            <a:r>
              <a:rPr sz="1700" b="0" i="1">
                <a:solidFill>
                  <a:srgbClr val="1C252B"/>
                </a:solidFill>
                <a:latin typeface="Segoe UI"/>
              </a:rPr>
              <a:t>mapping</a:t>
            </a:r>
            <a:r>
              <a:rPr sz="1700" b="0" i="0">
                <a:solidFill>
                  <a:srgbClr val="1C252B"/>
                </a:solidFill>
                <a:latin typeface="Segoe UI"/>
              </a:rPr>
              <a:t>, not the work. The fastest way to mislead yourself about capacity is to believe the vCPU count is free.</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Sizing a consolidation from installed capacity rather than measured use.</a:t>
            </a:r>
            <a:r>
              <a:rPr sz="1700" b="0" i="0">
                <a:solidFill>
                  <a:srgbClr val="1C252B"/>
                </a:solidFill>
                <a:latin typeface="Segoe UI"/>
              </a:rPr>
              <a:t> The forty servers above had 2,560 GB installed and used 440 GB. Planning against the first number buys five times the hardware you need; it is the single most common and most expensive mistake in this subject.</a:t>
            </a:r>
          </a:p>
        </p:txBody>
      </p:sp>
      <p:sp>
        <p:nvSpPr>
          <p:cNvPr id="13" name="!!pb2">
            <a:extLst>
              <a:ext uri="{C183D7F6-B498-43B3-948B-1728B52AA6E4}">
                <adec:decorative xmlns:adec="http://schemas.microsoft.com/office/drawing/2017/decorative" val="1"/>
              </a:ext>
            </a:extLst>
          </p:cNvPr>
          <p:cNvSpPr/>
          <p:nvPr/>
        </p:nvSpPr>
        <p:spPr>
          <a:xfrm>
            <a:off x="658368" y="37746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7975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756355"/>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consolidation is free.</a:t>
            </a:r>
            <a:r>
              <a:rPr sz="1700" b="0" i="0">
                <a:solidFill>
                  <a:srgbClr val="1C252B"/>
                </a:solidFill>
                <a:latin typeface="Segoe UI"/>
              </a:rPr>
              <a:t> It converts capital cost into shared risk and contention. Three hosts instead of forty is also three failure domains instead of forty, and every guest on a host is now a potential noisy neighbour to every other (Chapter 18).</a:t>
            </a:r>
          </a:p>
        </p:txBody>
      </p:sp>
      <p:sp>
        <p:nvSpPr>
          <p:cNvPr id="16" name="!!pb3">
            <a:extLst>
              <a:ext uri="{C183D7F6-B498-43B3-948B-1728B52AA6E4}">
                <adec:decorative xmlns:adec="http://schemas.microsoft.com/office/drawing/2017/decorative" val="1"/>
              </a:ext>
            </a:extLst>
          </p:cNvPr>
          <p:cNvSpPr/>
          <p:nvPr/>
        </p:nvSpPr>
        <p:spPr>
          <a:xfrm>
            <a:off x="658368" y="478414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80700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765852"/>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 hypervisor an operating system, or vice versa.</a:t>
            </a:r>
            <a:r>
              <a:rPr sz="1700" b="0" i="0">
                <a:solidFill>
                  <a:srgbClr val="1C252B"/>
                </a:solidFill>
                <a:latin typeface="Segoe UI"/>
              </a:rPr>
              <a:t> They schedule different things for different consumers. The confusion makes Chapter 3 incomprehensible, because the whole chapter turns on what the hypervisor is allowed to assume that an operating system is not.</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634984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D6923852-1CF7-4886-A753-1EBF36CBB411}"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the marketing distinction between “virtualization” and “cloud”.</a:t>
            </a:r>
            <a:r>
              <a:rPr sz="1700" b="0" i="0">
                <a:solidFill>
                  <a:srgbClr val="1C252B"/>
                </a:solidFill>
                <a:latin typeface="Segoe UI"/>
              </a:rPr>
              <a:t> A cloud is virtualization with a billing system, an API and somebody else’s staff. Chapter 14 is explicit about which of the three is doing the work in any given claim.</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6038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32674263-CEB5-494D-90A8-B382D38E3979}" type="slidenum">
              <a:rPr lang="en-GB" sz="1000">
                <a:solidFill>
                  <a:srgbClr val="8795A1"/>
                </a:solidFill>
                <a:latin typeface="Segoe UI"/>
              </a:rPr>
              <a:t>27</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Runs on any Linux host, or on Windows under WSL2 with VirtualBox substituted at step 2. Appendix A installs the prerequisites. Expect fifteen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Does this processor support virtualization at all?</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Install the hypervisor and confirm it is usable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Fetch a cloud image and give it a login</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Create the virtual machine</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Look at it from the host</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Snapshot it, then break it on purpose</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Undo four minutes of damage in four seconds</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Tear down</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 Install a hypervisor; a first guest and a snapshot</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57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8578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4D96D0A8-BC09-43D4-BCEE-CAAD298C47F3}"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Does this processor support virtualization at all?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1_first_vm.sh -- create, snapshot, break and restore a virtual machine. set -euo pipefail # --- 1. Does this processor support virtualization at all? -------------- # vmx = Intel VT-x, svm = AMD-V. Chapter 4 explains what these flags buy. # A count of 0 means the feature is absent or disabled in firmware. grep -c -E '\&lt;(vmx|svm)\&gt;' /proc/cpuinfo lscpu | grep -i 'virtuali[sz]ation' || echo &quot;no such line reported&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ch01_first_vm.sh -- create, snapshot, break and restore a virtual machine.</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Does this processor support virtualization at all? --------------</a:t>
            </a:r>
          </a:p>
          <a:p>
            <a:pPr>
              <a:lnSpc>
                <a:spcPct val="100000"/>
              </a:lnSpc>
              <a:spcAft>
                <a:spcPts val="0"/>
              </a:spcAft>
            </a:pPr>
            <a:r>
              <a:rPr sz="1800" i="1">
                <a:solidFill>
                  <a:srgbClr val="8795A1"/>
                </a:solidFill>
                <a:latin typeface="Consolas"/>
              </a:rPr>
              <a:t># vmx = Intel VT-x, svm = AMD-V. Chapter 4 explains what these flags buy.</a:t>
            </a:r>
          </a:p>
          <a:p>
            <a:pPr>
              <a:lnSpc>
                <a:spcPct val="100000"/>
              </a:lnSpc>
              <a:spcAft>
                <a:spcPts val="0"/>
              </a:spcAft>
            </a:pPr>
            <a:r>
              <a:rPr sz="1800" i="1">
                <a:solidFill>
                  <a:srgbClr val="8795A1"/>
                </a:solidFill>
                <a:latin typeface="Consolas"/>
              </a:rPr>
              <a:t># A count of 0 means the feature is absent or disabled in firmware.</a:t>
            </a:r>
          </a:p>
          <a:p>
            <a:pPr>
              <a:lnSpc>
                <a:spcPct val="100000"/>
              </a:lnSpc>
              <a:spcAft>
                <a:spcPts val="0"/>
              </a:spcAft>
            </a:pP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'\&lt;(vmx|svm)\&gt;'</a:t>
            </a:r>
            <a:r>
              <a:rPr sz="1800" i="0">
                <a:solidFill>
                  <a:srgbClr val="E8EDF2"/>
                </a:solidFill>
                <a:latin typeface="Consolas"/>
              </a:rPr>
              <a:t> </a:t>
            </a:r>
            <a:r>
              <a:rPr sz="1800" i="0">
                <a:solidFill>
                  <a:srgbClr val="E8EDF2"/>
                </a:solidFill>
                <a:latin typeface="Consolas"/>
              </a:rPr>
              <a:t>/proc/cpuinfo</a:t>
            </a:r>
          </a:p>
          <a:p>
            <a:pPr>
              <a:lnSpc>
                <a:spcPct val="100000"/>
              </a:lnSpc>
              <a:spcAft>
                <a:spcPts val="0"/>
              </a:spcAft>
            </a:pPr>
            <a:r>
              <a:rPr sz="1800" i="0">
                <a:solidFill>
                  <a:srgbClr val="E8EDF2"/>
                </a:solidFill>
                <a:latin typeface="Consolas"/>
              </a:rPr>
              <a:t>lscpu</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7DCEA0"/>
                </a:solidFill>
                <a:latin typeface="Consolas"/>
              </a:rPr>
              <a:t>'virtuali[sz]ation'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such line reported"</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11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32379D84-14F3-43A4-86F7-2D60C5CB7861}"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Install the hypervisor and confirm it is usable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Install the hypervisor and confirm it is usable ----------------- sudo apt-get install -y qemu-kvm libvirt-daemon-system virtinst \ libguestfs-tools cloud-image-utils # virt-host-validate prints PASS/WARN/FAIL for every prerequisite. sudo virt-host-validate qemu | head -20"/>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Install the hypervisor and confirm it is usable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apt-get</a:t>
            </a:r>
            <a:r>
              <a:rPr sz="1800" i="0">
                <a:solidFill>
                  <a:srgbClr val="E8EDF2"/>
                </a:solidFill>
                <a:latin typeface="Consolas"/>
              </a:rPr>
              <a:t> </a:t>
            </a:r>
            <a:r>
              <a:rPr sz="1800" i="0">
                <a:solidFill>
                  <a:srgbClr val="E8EDF2"/>
                </a:solidFill>
                <a:latin typeface="Consolas"/>
              </a:rPr>
              <a:t>install</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E8EDF2"/>
                </a:solidFill>
                <a:latin typeface="Consolas"/>
              </a:rPr>
              <a:t>qemu-kvm</a:t>
            </a:r>
            <a:r>
              <a:rPr sz="1800" i="0">
                <a:solidFill>
                  <a:srgbClr val="E8EDF2"/>
                </a:solidFill>
                <a:latin typeface="Consolas"/>
              </a:rPr>
              <a:t> </a:t>
            </a:r>
            <a:r>
              <a:rPr sz="1800" i="0">
                <a:solidFill>
                  <a:srgbClr val="E8EDF2"/>
                </a:solidFill>
                <a:latin typeface="Consolas"/>
              </a:rPr>
              <a:t>libvirt-daemon-system</a:t>
            </a:r>
            <a:r>
              <a:rPr sz="1800" i="0">
                <a:solidFill>
                  <a:srgbClr val="E8EDF2"/>
                </a:solidFill>
                <a:latin typeface="Consolas"/>
              </a:rPr>
              <a:t> </a:t>
            </a:r>
            <a:r>
              <a:rPr sz="1800" i="0">
                <a:solidFill>
                  <a:srgbClr val="E8EDF2"/>
                </a:solidFill>
                <a:latin typeface="Consolas"/>
              </a:rPr>
              <a:t>virtinst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libguestfs-tools</a:t>
            </a:r>
            <a:r>
              <a:rPr sz="1800" i="0">
                <a:solidFill>
                  <a:srgbClr val="E8EDF2"/>
                </a:solidFill>
                <a:latin typeface="Consolas"/>
              </a:rPr>
              <a:t> </a:t>
            </a:r>
            <a:r>
              <a:rPr sz="1800" i="0">
                <a:solidFill>
                  <a:srgbClr val="E8EDF2"/>
                </a:solidFill>
                <a:latin typeface="Consolas"/>
              </a:rPr>
              <a:t>cloud-image-utils</a:t>
            </a:r>
          </a:p>
          <a:p>
            <a:pPr>
              <a:lnSpc>
                <a:spcPct val="100000"/>
              </a:lnSpc>
              <a:spcAft>
                <a:spcPts val="0"/>
              </a:spcAft>
            </a:pPr>
            <a:r>
              <a:rPr sz="1800" i="1">
                <a:solidFill>
                  <a:srgbClr val="8795A1"/>
                </a:solidFill>
                <a:latin typeface="Consolas"/>
              </a:rPr>
              <a:t># virt-host-validate prints PASS/WARN/FAIL for every prerequisite.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virt-host-validate</a:t>
            </a:r>
            <a:r>
              <a:rPr sz="1800" i="0">
                <a:solidFill>
                  <a:srgbClr val="E8EDF2"/>
                </a:solidFill>
                <a:latin typeface="Consolas"/>
              </a:rPr>
              <a:t> </a:t>
            </a:r>
            <a:r>
              <a:rPr sz="1800" i="0">
                <a:solidFill>
                  <a:srgbClr val="E8EDF2"/>
                </a:solidFill>
                <a:latin typeface="Consolas"/>
              </a:rPr>
              <a:t>qemu</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-20</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658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FDAF21AC-4119-4CE7-ABDA-4D21AA4BCCC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Fetch a cloud image and give it a login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Fetch a cloud image and give it a login ------------------------- # A cloud image is a disk file with an operating system already installed: # encapsulation (section 1.3) before you have even started. BASE=https://cloud-images.ubuntu.com/jammy/current wget -nc -O ubuntu.img &quot;$BASE/jammy-server-cloudimg-amd64.img&quot; cat &gt; user-data &lt;&lt;'YAML' #cloud-config password: vss2026 chpasswd: { expire: False } ssh_pwauth: True YAML cloud-localds seed.iso user-data"/>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Fetch a cloud image and give it a login -------------------------</a:t>
            </a:r>
          </a:p>
          <a:p>
            <a:pPr>
              <a:lnSpc>
                <a:spcPct val="100000"/>
              </a:lnSpc>
              <a:spcAft>
                <a:spcPts val="0"/>
              </a:spcAft>
            </a:pPr>
            <a:r>
              <a:rPr sz="1800" i="1">
                <a:solidFill>
                  <a:srgbClr val="8795A1"/>
                </a:solidFill>
                <a:latin typeface="Consolas"/>
              </a:rPr>
              <a:t># A cloud image is a disk file with an operating system already installed:</a:t>
            </a:r>
          </a:p>
          <a:p>
            <a:pPr>
              <a:lnSpc>
                <a:spcPct val="100000"/>
              </a:lnSpc>
              <a:spcAft>
                <a:spcPts val="0"/>
              </a:spcAft>
            </a:pPr>
            <a:r>
              <a:rPr sz="1800" i="1">
                <a:solidFill>
                  <a:srgbClr val="8795A1"/>
                </a:solidFill>
                <a:latin typeface="Consolas"/>
              </a:rPr>
              <a:t># encapsulation (section 1.3) before you have even started.</a:t>
            </a:r>
          </a:p>
          <a:p>
            <a:pPr>
              <a:lnSpc>
                <a:spcPct val="100000"/>
              </a:lnSpc>
              <a:spcAft>
                <a:spcPts val="0"/>
              </a:spcAft>
            </a:pP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https://cloud-images.ubuntu.com/jammy/current</a:t>
            </a:r>
          </a:p>
          <a:p>
            <a:pPr>
              <a:lnSpc>
                <a:spcPct val="100000"/>
              </a:lnSpc>
              <a:spcAft>
                <a:spcPts val="0"/>
              </a:spcAft>
            </a:pPr>
            <a:r>
              <a:rPr sz="1800" i="0">
                <a:solidFill>
                  <a:srgbClr val="E8EDF2"/>
                </a:solidFill>
                <a:latin typeface="Consolas"/>
              </a:rPr>
              <a:t>wget</a:t>
            </a:r>
            <a:r>
              <a:rPr sz="1800" i="0">
                <a:solidFill>
                  <a:srgbClr val="E8EDF2"/>
                </a:solidFill>
                <a:latin typeface="Consolas"/>
              </a:rPr>
              <a:t> </a:t>
            </a:r>
            <a:r>
              <a:rPr sz="1800" i="0">
                <a:solidFill>
                  <a:srgbClr val="E8EDF2"/>
                </a:solidFill>
                <a:latin typeface="Consolas"/>
              </a:rPr>
              <a:t>-nc</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ubuntu.img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$BASE</a:t>
            </a:r>
            <a:r>
              <a:rPr sz="1800" i="0">
                <a:solidFill>
                  <a:srgbClr val="7DCEA0"/>
                </a:solidFill>
                <a:latin typeface="Consolas"/>
              </a:rPr>
              <a:t>/jammy-server-cloudimg-amd64.img</a:t>
            </a:r>
            <a:r>
              <a:rPr sz="1800" i="0">
                <a:solidFill>
                  <a:srgbClr val="7DCEA0"/>
                </a:solidFill>
                <a:latin typeface="Consolas"/>
              </a:rPr>
              <a:t>"</a:t>
            </a:r>
          </a:p>
          <a:p>
            <a:pPr>
              <a:lnSpc>
                <a:spcPct val="100000"/>
              </a:lnSpc>
              <a:spcAft>
                <a:spcPts val="0"/>
              </a:spcAft>
            </a:pP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user-data</a:t>
            </a:r>
            <a:r>
              <a:rPr sz="1800" i="0">
                <a:solidFill>
                  <a:srgbClr val="E8EDF2"/>
                </a:solidFill>
                <a:latin typeface="Consolas"/>
              </a:rPr>
              <a:t> </a:t>
            </a:r>
            <a:r>
              <a:rPr sz="1800" i="0">
                <a:solidFill>
                  <a:srgbClr val="7DCEA0"/>
                </a:solidFill>
                <a:latin typeface="Consolas"/>
              </a:rPr>
              <a:t>&lt;&lt;'YAML'</a:t>
            </a:r>
          </a:p>
          <a:p>
            <a:pPr>
              <a:lnSpc>
                <a:spcPct val="100000"/>
              </a:lnSpc>
              <a:spcAft>
                <a:spcPts val="0"/>
              </a:spcAft>
            </a:pPr>
            <a:r>
              <a:rPr sz="1800" i="0">
                <a:solidFill>
                  <a:srgbClr val="7DCEA0"/>
                </a:solidFill>
                <a:latin typeface="Consolas"/>
              </a:rPr>
              <a:t>#cloud-config</a:t>
            </a:r>
          </a:p>
          <a:p>
            <a:pPr>
              <a:lnSpc>
                <a:spcPct val="100000"/>
              </a:lnSpc>
              <a:spcAft>
                <a:spcPts val="0"/>
              </a:spcAft>
            </a:pPr>
            <a:r>
              <a:rPr sz="1800" i="0">
                <a:solidFill>
                  <a:srgbClr val="7DCEA0"/>
                </a:solidFill>
                <a:latin typeface="Consolas"/>
              </a:rPr>
              <a:t>password: vss2026</a:t>
            </a:r>
          </a:p>
          <a:p>
            <a:pPr>
              <a:lnSpc>
                <a:spcPct val="100000"/>
              </a:lnSpc>
              <a:spcAft>
                <a:spcPts val="0"/>
              </a:spcAft>
            </a:pPr>
            <a:r>
              <a:rPr sz="1800" i="0">
                <a:solidFill>
                  <a:srgbClr val="7DCEA0"/>
                </a:solidFill>
                <a:latin typeface="Consolas"/>
              </a:rPr>
              <a:t>chpasswd: { expire: False }</a:t>
            </a:r>
          </a:p>
          <a:p>
            <a:pPr>
              <a:lnSpc>
                <a:spcPct val="100000"/>
              </a:lnSpc>
              <a:spcAft>
                <a:spcPts val="0"/>
              </a:spcAft>
            </a:pPr>
            <a:r>
              <a:rPr sz="1800" i="0">
                <a:solidFill>
                  <a:srgbClr val="7DCEA0"/>
                </a:solidFill>
                <a:latin typeface="Consolas"/>
              </a:rPr>
              <a:t>ssh_pwauth: True</a:t>
            </a:r>
          </a:p>
          <a:p>
            <a:pPr>
              <a:lnSpc>
                <a:spcPct val="100000"/>
              </a:lnSpc>
              <a:spcAft>
                <a:spcPts val="0"/>
              </a:spcAft>
            </a:pPr>
            <a:r>
              <a:rPr sz="1800" i="0">
                <a:solidFill>
                  <a:srgbClr val="7DCEA0"/>
                </a:solidFill>
                <a:latin typeface="Consolas"/>
              </a:rPr>
              <a:t>YAML</a:t>
            </a:r>
          </a:p>
          <a:p>
            <a:pPr>
              <a:lnSpc>
                <a:spcPct val="100000"/>
              </a:lnSpc>
              <a:spcAft>
                <a:spcPts val="0"/>
              </a:spcAft>
            </a:pPr>
            <a:r>
              <a:rPr sz="1800" i="0">
                <a:solidFill>
                  <a:srgbClr val="E8EDF2"/>
                </a:solidFill>
                <a:latin typeface="Consolas"/>
              </a:rPr>
              <a:t>cloud-localds</a:t>
            </a:r>
            <a:r>
              <a:rPr sz="1800" i="0">
                <a:solidFill>
                  <a:srgbClr val="E8EDF2"/>
                </a:solidFill>
                <a:latin typeface="Consolas"/>
              </a:rPr>
              <a:t> </a:t>
            </a:r>
            <a:r>
              <a:rPr sz="1800" i="0">
                <a:solidFill>
                  <a:srgbClr val="E8EDF2"/>
                </a:solidFill>
                <a:latin typeface="Consolas"/>
              </a:rPr>
              <a:t>seed.iso</a:t>
            </a:r>
            <a:r>
              <a:rPr sz="1800" i="0">
                <a:solidFill>
                  <a:srgbClr val="E8EDF2"/>
                </a:solidFill>
                <a:latin typeface="Consolas"/>
              </a:rPr>
              <a:t> </a:t>
            </a:r>
            <a:r>
              <a:rPr sz="1800" i="0">
                <a:solidFill>
                  <a:srgbClr val="E8EDF2"/>
                </a:solidFill>
                <a:latin typeface="Consolas"/>
              </a:rPr>
              <a:t>user-data</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4BF36395-0BE9-4DCB-8ADA-FCF45DD739D6}"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Create the virtual machine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Create the virtual machine -------------------------------------- # Read the arguments as a parts list for an imaginary computer. sudo cp ubuntu.img /var/lib/libvirt/images/vss1.qcow2 sudo qemu-img resize /var/lib/libvirt/images/vss1.qcow2 10G sudo virt-install --name vss1 --memory 2048 --vcpus 2 \ --disk /var/lib/libvirt/images/vss1.qcow2,format=qcow2 \ --disk seed.iso,device=cdrom --os-variant ubuntu22.04 \ --import --graphics none --noautoconsole"/>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Create the virtual machine --------------------------------------</a:t>
            </a:r>
          </a:p>
          <a:p>
            <a:pPr>
              <a:lnSpc>
                <a:spcPct val="100000"/>
              </a:lnSpc>
              <a:spcAft>
                <a:spcPts val="0"/>
              </a:spcAft>
            </a:pPr>
            <a:r>
              <a:rPr sz="1800" i="1">
                <a:solidFill>
                  <a:srgbClr val="8795A1"/>
                </a:solidFill>
                <a:latin typeface="Consolas"/>
              </a:rPr>
              <a:t># Read the arguments as a parts list for an imaginary computer.</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cp</a:t>
            </a:r>
            <a:r>
              <a:rPr sz="1800" i="0">
                <a:solidFill>
                  <a:srgbClr val="E8EDF2"/>
                </a:solidFill>
                <a:latin typeface="Consolas"/>
              </a:rPr>
              <a:t> </a:t>
            </a:r>
            <a:r>
              <a:rPr sz="1800" i="0">
                <a:solidFill>
                  <a:srgbClr val="E8EDF2"/>
                </a:solidFill>
                <a:latin typeface="Consolas"/>
              </a:rPr>
              <a:t>ubuntu.img</a:t>
            </a:r>
            <a:r>
              <a:rPr sz="1800" i="0">
                <a:solidFill>
                  <a:srgbClr val="E8EDF2"/>
                </a:solidFill>
                <a:latin typeface="Consolas"/>
              </a:rPr>
              <a:t> </a:t>
            </a:r>
            <a:r>
              <a:rPr sz="1800" i="0">
                <a:solidFill>
                  <a:srgbClr val="E8EDF2"/>
                </a:solidFill>
                <a:latin typeface="Consolas"/>
              </a:rPr>
              <a:t>/var/lib/libvirt/images/vss1.qcow2</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resize</a:t>
            </a:r>
            <a:r>
              <a:rPr sz="1800" i="0">
                <a:solidFill>
                  <a:srgbClr val="E8EDF2"/>
                </a:solidFill>
                <a:latin typeface="Consolas"/>
              </a:rPr>
              <a:t> </a:t>
            </a:r>
            <a:r>
              <a:rPr sz="1800" i="0">
                <a:solidFill>
                  <a:srgbClr val="E8EDF2"/>
                </a:solidFill>
                <a:latin typeface="Consolas"/>
              </a:rPr>
              <a:t>/var/lib/libvirt/images/vss1.qcow2</a:t>
            </a:r>
            <a:r>
              <a:rPr sz="1800" i="0">
                <a:solidFill>
                  <a:srgbClr val="E8EDF2"/>
                </a:solidFill>
                <a:latin typeface="Consolas"/>
              </a:rPr>
              <a:t> </a:t>
            </a:r>
            <a:r>
              <a:rPr sz="1800" i="0">
                <a:solidFill>
                  <a:srgbClr val="E8EDF2"/>
                </a:solidFill>
                <a:latin typeface="Consolas"/>
              </a:rPr>
              <a:t>10G</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virt-install</a:t>
            </a:r>
            <a:r>
              <a:rPr sz="1800" i="0">
                <a:solidFill>
                  <a:srgbClr val="E8EDF2"/>
                </a:solidFill>
                <a:latin typeface="Consolas"/>
              </a:rPr>
              <a:t> </a:t>
            </a:r>
            <a:r>
              <a:rPr sz="1800" i="0">
                <a:solidFill>
                  <a:srgbClr val="E8EDF2"/>
                </a:solidFill>
                <a:latin typeface="Consolas"/>
              </a:rPr>
              <a:t>--name</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--memory</a:t>
            </a:r>
            <a:r>
              <a:rPr sz="1800" i="0">
                <a:solidFill>
                  <a:srgbClr val="E8EDF2"/>
                </a:solidFill>
                <a:latin typeface="Consolas"/>
              </a:rPr>
              <a:t> </a:t>
            </a:r>
            <a:r>
              <a:rPr sz="1800" i="0">
                <a:solidFill>
                  <a:srgbClr val="F7DC6F"/>
                </a:solidFill>
                <a:latin typeface="Consolas"/>
              </a:rPr>
              <a:t>2048</a:t>
            </a:r>
            <a:r>
              <a:rPr sz="1800" i="0">
                <a:solidFill>
                  <a:srgbClr val="E8EDF2"/>
                </a:solidFill>
                <a:latin typeface="Consolas"/>
              </a:rPr>
              <a:t> </a:t>
            </a:r>
            <a:r>
              <a:rPr sz="1800" i="0">
                <a:solidFill>
                  <a:srgbClr val="E8EDF2"/>
                </a:solidFill>
                <a:latin typeface="Consolas"/>
              </a:rPr>
              <a:t>--vcpus</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--disk</a:t>
            </a:r>
            <a:r>
              <a:rPr sz="1800" i="0">
                <a:solidFill>
                  <a:srgbClr val="E8EDF2"/>
                </a:solidFill>
                <a:latin typeface="Consolas"/>
              </a:rPr>
              <a:t> </a:t>
            </a:r>
            <a:r>
              <a:rPr sz="1800" i="0">
                <a:solidFill>
                  <a:srgbClr val="E8EDF2"/>
                </a:solidFill>
                <a:latin typeface="Consolas"/>
              </a:rPr>
              <a:t>/var/lib/libvirt/images/vss1.qcow2,format</a:t>
            </a:r>
            <a:r>
              <a:rPr sz="1800" i="0">
                <a:solidFill>
                  <a:srgbClr val="AEB6BF"/>
                </a:solidFill>
                <a:latin typeface="Consolas"/>
              </a:rPr>
              <a:t>=</a:t>
            </a:r>
            <a:r>
              <a:rPr sz="1800" i="0">
                <a:solidFill>
                  <a:srgbClr val="E8EDF2"/>
                </a:solidFill>
                <a:latin typeface="Consolas"/>
              </a:rPr>
              <a:t>qcow2</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--disk</a:t>
            </a:r>
            <a:r>
              <a:rPr sz="1800" i="0">
                <a:solidFill>
                  <a:srgbClr val="E8EDF2"/>
                </a:solidFill>
                <a:latin typeface="Consolas"/>
              </a:rPr>
              <a:t> </a:t>
            </a:r>
            <a:r>
              <a:rPr sz="1800" i="0">
                <a:solidFill>
                  <a:srgbClr val="E8EDF2"/>
                </a:solidFill>
                <a:latin typeface="Consolas"/>
              </a:rPr>
              <a:t>seed.iso,device</a:t>
            </a:r>
            <a:r>
              <a:rPr sz="1800" i="0">
                <a:solidFill>
                  <a:srgbClr val="AEB6BF"/>
                </a:solidFill>
                <a:latin typeface="Consolas"/>
              </a:rPr>
              <a:t>=</a:t>
            </a:r>
            <a:r>
              <a:rPr sz="1800" i="0">
                <a:solidFill>
                  <a:srgbClr val="E8EDF2"/>
                </a:solidFill>
                <a:latin typeface="Consolas"/>
              </a:rPr>
              <a:t>cdrom</a:t>
            </a:r>
            <a:r>
              <a:rPr sz="1800" i="0">
                <a:solidFill>
                  <a:srgbClr val="E8EDF2"/>
                </a:solidFill>
                <a:latin typeface="Consolas"/>
              </a:rPr>
              <a:t> </a:t>
            </a:r>
            <a:r>
              <a:rPr sz="1800" i="0">
                <a:solidFill>
                  <a:srgbClr val="E8EDF2"/>
                </a:solidFill>
                <a:latin typeface="Consolas"/>
              </a:rPr>
              <a:t>--os-variant</a:t>
            </a:r>
            <a:r>
              <a:rPr sz="1800" i="0">
                <a:solidFill>
                  <a:srgbClr val="E8EDF2"/>
                </a:solidFill>
                <a:latin typeface="Consolas"/>
              </a:rPr>
              <a:t> </a:t>
            </a:r>
            <a:r>
              <a:rPr sz="1800" i="0">
                <a:solidFill>
                  <a:srgbClr val="E8EDF2"/>
                </a:solidFill>
                <a:latin typeface="Consolas"/>
              </a:rPr>
              <a:t>ubuntu22.04</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--import</a:t>
            </a:r>
            <a:r>
              <a:rPr sz="1800" i="0">
                <a:solidFill>
                  <a:srgbClr val="E8EDF2"/>
                </a:solidFill>
                <a:latin typeface="Consolas"/>
              </a:rPr>
              <a:t> </a:t>
            </a:r>
            <a:r>
              <a:rPr sz="1800" i="0">
                <a:solidFill>
                  <a:srgbClr val="E8EDF2"/>
                </a:solidFill>
                <a:latin typeface="Consolas"/>
              </a:rPr>
              <a:t>--graphics</a:t>
            </a:r>
            <a:r>
              <a:rPr sz="1800" i="0">
                <a:solidFill>
                  <a:srgbClr val="E8EDF2"/>
                </a:solidFill>
                <a:latin typeface="Consolas"/>
              </a:rPr>
              <a:t> </a:t>
            </a:r>
            <a:r>
              <a:rPr sz="1800" i="0">
                <a:solidFill>
                  <a:srgbClr val="E8EDF2"/>
                </a:solidFill>
                <a:latin typeface="Consolas"/>
              </a:rPr>
              <a:t>none</a:t>
            </a:r>
            <a:r>
              <a:rPr sz="1800" i="0">
                <a:solidFill>
                  <a:srgbClr val="E8EDF2"/>
                </a:solidFill>
                <a:latin typeface="Consolas"/>
              </a:rPr>
              <a:t> </a:t>
            </a:r>
            <a:r>
              <a:rPr sz="1800" i="0">
                <a:solidFill>
                  <a:srgbClr val="E8EDF2"/>
                </a:solidFill>
                <a:latin typeface="Consolas"/>
              </a:rPr>
              <a:t>--noautoconsole</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738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7F413C7B-97C5-4E43-9E61-069AEE87D407}"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Look at it from the host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Look at it from the host ---------------------------------------- # dominfo is the guest as the hypervisor sees it: an allocation. sudo virsh list --all sudo virsh dominfo vss1"/>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Look at it from the host ----------------------------------------</a:t>
            </a:r>
          </a:p>
          <a:p>
            <a:pPr>
              <a:lnSpc>
                <a:spcPct val="100000"/>
              </a:lnSpc>
              <a:spcAft>
                <a:spcPts val="0"/>
              </a:spcAft>
            </a:pPr>
            <a:r>
              <a:rPr sz="1800" i="1">
                <a:solidFill>
                  <a:srgbClr val="8795A1"/>
                </a:solidFill>
                <a:latin typeface="Consolas"/>
              </a:rPr>
              <a:t># dominfo is the guest as the hypervisor sees it: an allocation.</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list</a:t>
            </a:r>
            <a:r>
              <a:rPr sz="1800" i="0">
                <a:solidFill>
                  <a:srgbClr val="E8EDF2"/>
                </a:solidFill>
                <a:latin typeface="Consolas"/>
              </a:rPr>
              <a:t> </a:t>
            </a:r>
            <a:r>
              <a:rPr sz="1800" i="0">
                <a:solidFill>
                  <a:srgbClr val="E8EDF2"/>
                </a:solidFill>
                <a:latin typeface="Consolas"/>
              </a:rPr>
              <a:t>--all</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dominfo</a:t>
            </a:r>
            <a:r>
              <a:rPr sz="1800" i="0">
                <a:solidFill>
                  <a:srgbClr val="E8EDF2"/>
                </a:solidFill>
                <a:latin typeface="Consolas"/>
              </a:rPr>
              <a:t> </a:t>
            </a:r>
            <a:r>
              <a:rPr sz="1800" i="0">
                <a:solidFill>
                  <a:srgbClr val="E8EDF2"/>
                </a:solidFill>
                <a:latin typeface="Consolas"/>
              </a:rPr>
              <a:t>vss1</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ED939B02-963A-49BF-8618-EEB6774662E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Snapshot it, then break it on purpose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Snapshot it, then break it on purpose --------------------------- sudo virsh snapshot-create-as vss1 clean &quot;before I broke it&quot; sudo virsh console vss1 # log in as ubuntu / vss2026, then: # sudo rm -rf /etc/systemd ; sudo reboot # Ctrl-] returns you to the hos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--- 6. Snapshot it, then break it on purpose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snapshot-create-as</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clean</a:t>
            </a:r>
            <a:r>
              <a:rPr sz="1800" i="0">
                <a:solidFill>
                  <a:srgbClr val="E8EDF2"/>
                </a:solidFill>
                <a:latin typeface="Consolas"/>
              </a:rPr>
              <a:t> </a:t>
            </a:r>
            <a:r>
              <a:rPr sz="1800" i="0">
                <a:solidFill>
                  <a:srgbClr val="7DCEA0"/>
                </a:solidFill>
                <a:latin typeface="Consolas"/>
              </a:rPr>
              <a:t>"before I broke it"</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console</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1">
                <a:solidFill>
                  <a:srgbClr val="8795A1"/>
                </a:solidFill>
                <a:latin typeface="Consolas"/>
              </a:rPr>
              <a:t># log in as ubuntu / vss2026, then:</a:t>
            </a:r>
          </a:p>
          <a:p>
            <a:pPr>
              <a:lnSpc>
                <a:spcPct val="100000"/>
              </a:lnSpc>
              <a:spcAft>
                <a:spcPts val="0"/>
              </a:spcAft>
            </a:pPr>
            <a:r>
              <a:rPr sz="1800" i="0">
                <a:solidFill>
                  <a:srgbClr val="E8EDF2"/>
                </a:solidFill>
                <a:latin typeface="Consolas"/>
              </a:rPr>
              <a:t>                           </a:t>
            </a:r>
            <a:r>
              <a:rPr sz="1800" i="1">
                <a:solidFill>
                  <a:srgbClr val="8795A1"/>
                </a:solidFill>
                <a:latin typeface="Consolas"/>
              </a:rPr>
              <a:t>#   sudo rm -rf /etc/systemd  ; sudo reboot</a:t>
            </a:r>
          </a:p>
          <a:p>
            <a:pPr>
              <a:lnSpc>
                <a:spcPct val="100000"/>
              </a:lnSpc>
              <a:spcAft>
                <a:spcPts val="0"/>
              </a:spcAft>
            </a:pPr>
            <a:r>
              <a:rPr sz="1800" i="0">
                <a:solidFill>
                  <a:srgbClr val="E8EDF2"/>
                </a:solidFill>
                <a:latin typeface="Consolas"/>
              </a:rPr>
              <a:t>                           </a:t>
            </a:r>
            <a:r>
              <a:rPr sz="1800" i="1">
                <a:solidFill>
                  <a:srgbClr val="8795A1"/>
                </a:solidFill>
                <a:latin typeface="Consolas"/>
              </a:rPr>
              <a:t># Ctrl-] returns you to the host.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817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A66C93DF-4BF0-4DF2-84D7-AFD3EDCEE175}"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Undo four minutes of damage in four seconds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Undo four minutes of damage in four seconds --------------------- # No physical server supports this operation. That is section 1.3's point. sudo virsh snapshot-revert vss1 clean --running sudo virsh snapshot-list vss1"/>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Undo four minutes of damage in four seconds ---------------------</a:t>
            </a:r>
          </a:p>
          <a:p>
            <a:pPr>
              <a:lnSpc>
                <a:spcPct val="100000"/>
              </a:lnSpc>
              <a:spcAft>
                <a:spcPts val="0"/>
              </a:spcAft>
            </a:pPr>
            <a:r>
              <a:rPr sz="1800" i="1">
                <a:solidFill>
                  <a:srgbClr val="8795A1"/>
                </a:solidFill>
                <a:latin typeface="Consolas"/>
              </a:rPr>
              <a:t># No physical server supports this operation. That is section 1.3's point.</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snapshot-revert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clean</a:t>
            </a:r>
            <a:r>
              <a:rPr sz="1800" i="0">
                <a:solidFill>
                  <a:srgbClr val="E8EDF2"/>
                </a:solidFill>
                <a:latin typeface="Consolas"/>
              </a:rPr>
              <a:t> </a:t>
            </a:r>
            <a:r>
              <a:rPr sz="1800" i="0">
                <a:solidFill>
                  <a:srgbClr val="E8EDF2"/>
                </a:solidFill>
                <a:latin typeface="Consolas"/>
              </a:rPr>
              <a:t>--running</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snapshot-list</a:t>
            </a:r>
            <a:r>
              <a:rPr sz="1800" i="0">
                <a:solidFill>
                  <a:srgbClr val="E8EDF2"/>
                </a:solidFill>
                <a:latin typeface="Consolas"/>
              </a:rPr>
              <a:t> </a:t>
            </a:r>
            <a:r>
              <a:rPr sz="1800" i="0">
                <a:solidFill>
                  <a:srgbClr val="E8EDF2"/>
                </a:solidFill>
                <a:latin typeface="Consolas"/>
              </a:rPr>
              <a:t>vss1</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357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Your First Virtual Machine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D533F181-7774-4DDC-9CFF-8B2BA4178417}"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Tear down ------------------------------------------------------- sudo virsh destroy vss1 || true sudo virsh undefine vss1 --remove-all-storage --snapshots-metadata"/>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--- 8. Tear down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undefine</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--remove-all-storage</a:t>
            </a:r>
            <a:r>
              <a:rPr sz="1800" i="0">
                <a:solidFill>
                  <a:srgbClr val="E8EDF2"/>
                </a:solidFill>
                <a:latin typeface="Consolas"/>
              </a:rPr>
              <a:t> </a:t>
            </a:r>
            <a:r>
              <a:rPr sz="1800" i="0">
                <a:solidFill>
                  <a:srgbClr val="E8EDF2"/>
                </a:solidFill>
                <a:latin typeface="Consolas"/>
              </a:rPr>
              <a:t>--snapshots-metadata</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897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8     </a:t>
            </a:r>
            <a:fld id="{E8404643-F99A-4230-80D8-AC9B0AE0EE04}" type="slidenum">
              <a:rPr lang="en-GB" sz="1000">
                <a:solidFill>
                  <a:srgbClr val="8795A1"/>
                </a:solidFill>
                <a:latin typeface="Segoe UI"/>
              </a:rPr>
              <a:t>36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6 took longer to type than step 7 took to undo, and step 7 has no physical equivalent. Everything else in this book is detail; that asymmetry is the subject.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department runs 24 servers, each with 128 GB of memory, of which a measured 19 GB is in use. You are sizing hosts with 384 GB each, with 30% headroom and an N+1 spare. How many hosts, and what consolidation ratio does that give?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  ·  What Virtualization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  ·  answers in Appendix D     </a:t>
            </a:r>
            <a:fld id="{2D8A4D3C-C18F-425E-97D9-13811AB797A8}"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11326"/>
          </a:xfrm>
        </p:spPr>
        <p:txBody>
          <a:bodyPr wrap="square" lIns="0" rIns="0" tIns="0" bIns="0" anchor="t">
            <a:noAutofit/>
          </a:bodyPr>
          <a:lstStyle/>
          <a:p>
            <a:pPr algn="l">
              <a:lnSpc>
                <a:spcPct val="96000"/>
              </a:lnSpc>
            </a:pPr>
            <a:r>
              <a:rPr sz="2200" b="0" i="0">
                <a:solidFill>
                  <a:srgbClr val="1A5276"/>
                </a:solidFill>
                <a:latin typeface="Segoe UI Semibold"/>
              </a:rPr>
              <a:t>A department runs 24 servers, each with 128 GB of memory, of which a measured 19 GB is in use. You are sizing hosts with 384 GB each, with 30% headroom and an N+1 spare. How many hosts, and what consolidation ratio does that give?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026310"/>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026310"/>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Active memory is </a:t>
            </a:r>
            <a:r>
              <a:rPr sz="2200" b="0" i="0">
                <a:solidFill>
                  <a:srgbClr val="1C252B"/>
                </a:solidFill>
                <a:latin typeface="Cambria"/>
              </a:rPr>
              <a:t>24 × 19 = 456</a:t>
            </a:r>
            <a:r>
              <a:rPr sz="2200" b="0" i="0">
                <a:solidFill>
                  <a:srgbClr val="1C252B"/>
                </a:solidFill>
                <a:latin typeface="Segoe UI"/>
              </a:rPr>
              <a:t> GB. With 30% headroom, </a:t>
            </a:r>
            <a:r>
              <a:rPr sz="2200" b="0" i="0">
                <a:solidFill>
                  <a:srgbClr val="1C252B"/>
                </a:solidFill>
                <a:latin typeface="Cambria"/>
              </a:rPr>
              <a:t>456 × 1.3 = 593</a:t>
            </a:r>
            <a:r>
              <a:rPr sz="2200" b="0" i="0">
                <a:solidFill>
                  <a:srgbClr val="1C252B"/>
                </a:solidFill>
                <a:latin typeface="Segoe UI"/>
              </a:rPr>
              <a:t> GB, so </a:t>
            </a:r>
            <a:r>
              <a:rPr sz="2200" b="0" i="0">
                <a:solidFill>
                  <a:srgbClr val="1C252B"/>
                </a:solidFill>
                <a:latin typeface="Cambria"/>
              </a:rPr>
              <a:t>⌈ 593/384 ⌉ = 2</a:t>
            </a:r>
            <a:r>
              <a:rPr sz="2200" b="0" i="0">
                <a:solidFill>
                  <a:srgbClr val="1C252B"/>
                </a:solidFill>
                <a:latin typeface="Segoe UI"/>
              </a:rPr>
              <a:t> hosts, plus one for N+1 </a:t>
            </a:r>
            <a:r>
              <a:rPr sz="2200" b="0" i="0">
                <a:solidFill>
                  <a:srgbClr val="1C252B"/>
                </a:solidFill>
                <a:latin typeface="Cambria"/>
              </a:rPr>
              <a:t>= </a:t>
            </a:r>
            <a:r>
              <a:rPr sz="2200" b="1" i="0">
                <a:solidFill>
                  <a:srgbClr val="1C252B"/>
                </a:solidFill>
                <a:latin typeface="Cambria"/>
              </a:rPr>
              <a:t>3</a:t>
            </a:r>
            <a:r>
              <a:rPr sz="2200" b="0" i="0">
                <a:solidFill>
                  <a:srgbClr val="1C252B"/>
                </a:solidFill>
                <a:latin typeface="Segoe UI"/>
              </a:rPr>
              <a:t> hosts. The consolidation ratio is </a:t>
            </a:r>
            <a:r>
              <a:rPr sz="2200" b="0" i="0">
                <a:solidFill>
                  <a:srgbClr val="1C252B"/>
                </a:solidFill>
                <a:latin typeface="Cambria"/>
              </a:rPr>
              <a:t>24/3 = </a:t>
            </a:r>
            <a:r>
              <a:rPr sz="2200" b="1" i="0">
                <a:solidFill>
                  <a:srgbClr val="1C252B"/>
                </a:solidFill>
                <a:latin typeface="Cambria"/>
              </a:rPr>
              <a:t>8:1</a:t>
            </a:r>
            <a:r>
              <a:rPr sz="2200" b="0" i="0">
                <a:solidFill>
                  <a:srgbClr val="1C252B"/>
                </a:solidFill>
                <a:latin typeface="Segoe UI"/>
              </a:rPr>
              <a:t>. Note what was </a:t>
            </a:r>
            <a:r>
              <a:rPr sz="2200" b="0" i="1">
                <a:solidFill>
                  <a:srgbClr val="1C252B"/>
                </a:solidFill>
                <a:latin typeface="Segoe UI"/>
              </a:rPr>
              <a:t>not</a:t>
            </a:r>
            <a:r>
              <a:rPr sz="2200" b="0" i="0">
                <a:solidFill>
                  <a:srgbClr val="1C252B"/>
                </a:solidFill>
                <a:latin typeface="Segoe UI"/>
              </a:rPr>
              <a:t> used: the 128 GB installed per server. Sizing on that would have given </a:t>
            </a:r>
            <a:r>
              <a:rPr sz="2200" b="0" i="0">
                <a:solidFill>
                  <a:srgbClr val="1C252B"/>
                </a:solidFill>
                <a:latin typeface="Cambria"/>
              </a:rPr>
              <a:t>24 × 128 × 1.3 / 384 = 11</a:t>
            </a:r>
            <a:r>
              <a:rPr sz="2200" b="0" i="0">
                <a:solidFill>
                  <a:srgbClr val="1C252B"/>
                </a:solidFill>
                <a:latin typeface="Segoe UI"/>
              </a:rPr>
              <a:t> hosts for the same work.</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  answers in Appendix D     </a:t>
            </a:r>
            <a:fld id="{254AB10B-F2DB-4E48-A5B7-5FF25F148B88}"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517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 says “containers are faster than virtual machines because there is no virtualization layer.” Which half of that sentence is wrong, and what is the correct statement?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  ·  What Virtualization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  ·  answers in Appendix D     </a:t>
            </a:r>
            <a:fld id="{C8051E30-2BE2-495C-8AF0-EB81140B3515}"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colleague says “containers are faster than virtual machines because there is no virtualization layer.” Which half of that sentence is wrong, and what is the correct statement?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second half is wrong. There </a:t>
            </a:r>
            <a:r>
              <a:rPr sz="2200" b="0" i="1">
                <a:solidFill>
                  <a:srgbClr val="1C252B"/>
                </a:solidFill>
                <a:latin typeface="Segoe UI"/>
              </a:rPr>
              <a:t>is</a:t>
            </a:r>
            <a:r>
              <a:rPr sz="2200" b="0" i="0">
                <a:solidFill>
                  <a:srgbClr val="1C252B"/>
                </a:solidFill>
                <a:latin typeface="Segoe UI"/>
              </a:rPr>
              <a:t> a virtualization layer — namespaces and control groups — it is simply inserted inside the kernel rather than beneath it. The correct statement is that containers start faster and cost less memory because they share the host’s kernel instead of each running their own, not because no layer exists.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  answers in Appendix D     </a:t>
            </a:r>
            <a:fld id="{1904E322-121B-4AAE-A316-1D42856CB42A}"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Of the four motives in Section 1.3, which one has no equivalent for physical servers at all? Give an operation it makes possible and say why a physical machine cannot offer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  ·  What Virtualization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  ·  answers in Appendix D     </a:t>
            </a:r>
            <a:fld id="{AADB3363-4977-423F-AA31-8A1AF3C70C26}"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Of the four motives in Section 1.3, which one has no equivalent for physical servers at all? Give an operation it makes possible and say why a physical machine cannot offer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Encapsulation.</a:t>
            </a:r>
            <a:r>
              <a:rPr sz="2200" b="0" i="0">
                <a:solidFill>
                  <a:srgbClr val="1C252B"/>
                </a:solidFill>
                <a:latin typeface="Segoe UI"/>
              </a:rPr>
              <a:t> A running machine becomes a file, so it can be snapshotted, copied, versioned and restored. The operation with no physical equivalent is the snapshot: you can return a machine to its state four minutes ago in a few seconds. A physical server has no way to record its entire state — memory, disk and devices — as something that can be put back.</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  answers in Appendix D     </a:t>
            </a:r>
            <a:fld id="{D28C28D0-6120-4E4D-A466-4071C1BC1AA3}"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FB3E37A9-F581-4866-9B39-37407D43D4D9}"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Virtualization inserts a layer that presents a resource differing from the physical one, while preserving the interface above it. It multiplexes, aggregates or abstracts — often all three.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preserved interface is what distinguishes it: an unmodified operating system runs above the layer.</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Emulation interprets every instruction and is general and slow; virtualization executes most instructions natively and is restricted and fast. QEMU does both, in different modes.</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Four motives: consolidation, isolation, encapsulation, elasticity. Encapsulation — a running machine as a file — is the one with no physical analogue.</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Size a consolidation from measured use, not installed capacity, and expect memory rather than CPU to be the binding constraint.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technique is from 1967. The twenty-five-year gap in the middle of its history is an x86 problem, and Chapter 3 is what went wrong.</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217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5F701D59-784C-4741-BCFB-A4C6AC07BF97}" type="slidenum">
              <a:rPr lang="en-GB" sz="1000">
                <a:solidFill>
                  <a:srgbClr val="8795A1"/>
                </a:solidFill>
                <a:latin typeface="Segoe UI"/>
              </a:rPr>
              <a:t>44</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Ask of any product: </a:t>
            </a:r>
            <a:r>
              <a:rPr sz="1700" b="0" i="1">
                <a:solidFill>
                  <a:srgbClr val="1C252B"/>
                </a:solidFill>
                <a:latin typeface="Segoe UI"/>
              </a:rPr>
              <a:t>which resource does it virtualize?</a:t>
            </a:r>
            <a:r>
              <a:rPr sz="1700" b="0" i="0">
                <a:solidFill>
                  <a:srgbClr val="1C252B"/>
                </a:solidFill>
                <a:latin typeface="Segoe UI"/>
              </a:rPr>
              <a:t> That determines what it can promise, and which chapter of this book covers it.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7572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BF4A902D-3C72-4E69-9B8D-9BCF1769CB03}" type="slidenum">
              <a:rPr lang="en-GB" sz="1000">
                <a:solidFill>
                  <a:srgbClr val="8795A1"/>
                </a:solidFill>
                <a:latin typeface="Segoe UI"/>
              </a:rPr>
              <a:t>45</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defining property that separates virtualization from ordinary resource-sharing software is that:</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runs in kernel mode</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1254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preserves the interface, so unmodified software runs above it</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improves performance</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requires hardware support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2971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C4B6957A-4365-426E-B076-2AC738C51A9F}" type="slidenum">
              <a:rPr lang="en-GB" sz="1000">
                <a:solidFill>
                  <a:srgbClr val="8795A1"/>
                </a:solidFill>
                <a:latin typeface="Segoe UI"/>
              </a:rPr>
              <a:t>46</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tool runs ARM binaries on an x86 laptop at roughly one fiftieth of native speed. This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virtualization</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paravirtualization</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emulation</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containerisation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8370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  ·  What Virtualization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969E6DAA-E4A1-4620-8D75-955F1FD9A688}" type="slidenum">
              <a:rPr lang="en-GB" sz="1000">
                <a:solidFill>
                  <a:srgbClr val="8795A1"/>
                </a:solidFill>
                <a:latin typeface="Segoe UI"/>
              </a:rPr>
              <a:t>47</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475488"/>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C252B"/>
                </a:solidFill>
                <a:latin typeface="Segoe UI"/>
              </a:rPr>
              <a:t>Give the three things a virtualization layer can do to a resource, with one concrete example of each from a system you have used.</a:t>
            </a:r>
          </a:p>
        </p:txBody>
      </p:sp>
      <p:sp>
        <p:nvSpPr>
          <p:cNvPr id="10" name="!!rt1">
            <a:extLst>
              <a:ext uri="{C183D7F6-B498-43B3-948B-1728B52AA6E4}">
                <adec:decorative xmlns:adec="http://schemas.microsoft.com/office/drawing/2017/decorative" val="1"/>
              </a:ext>
            </a:extLst>
          </p:cNvPr>
          <p:cNvSpPr/>
          <p:nvPr/>
        </p:nvSpPr>
        <p:spPr>
          <a:xfrm>
            <a:off x="658368" y="2450592"/>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49174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432304"/>
            <a:ext cx="9549079" cy="475488"/>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C252B"/>
                </a:solidFill>
                <a:latin typeface="Segoe UI"/>
              </a:rPr>
              <a:t>Explain why memory, rather than processor time, is usually the constraint that decides how many guests fit on a host.</a:t>
            </a:r>
          </a:p>
        </p:txBody>
      </p:sp>
      <p:sp>
        <p:nvSpPr>
          <p:cNvPr id="13" name="!!rt2">
            <a:extLst>
              <a:ext uri="{C183D7F6-B498-43B3-948B-1728B52AA6E4}">
                <adec:decorative xmlns:adec="http://schemas.microsoft.com/office/drawing/2017/decorative" val="1"/>
              </a:ext>
            </a:extLst>
          </p:cNvPr>
          <p:cNvSpPr/>
          <p:nvPr/>
        </p:nvSpPr>
        <p:spPr>
          <a:xfrm>
            <a:off x="658368" y="314553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8668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127248"/>
            <a:ext cx="9549079" cy="475488"/>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C252B"/>
                </a:solidFill>
                <a:latin typeface="Segoe UI"/>
              </a:rPr>
              <a:t>The opening section argued that forty separate servers was a rational response to a real requirement. Name the requirement, and explain precisely what virtualization changed about it.</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950976"/>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C252B"/>
                </a:solidFill>
                <a:latin typeface="Segoe UI"/>
              </a:rPr>
              <a:t>A faculty runs 60 servers at a measured mean of 6% CPU and 14 GB of 96 GB memory each, drawing 300 W apiece. Size a replacement estate on 768 GB hosts drawing 850 W, with 30% headroom and N+1. Give the host count, the consolidation ratio and the annual energy saved at PUE 1.6 and PKR 45 per kWh. Then state the one risk your proposal has introduced and what you would do about it.</a:t>
            </a:r>
          </a:p>
        </p:txBody>
      </p:sp>
      <p:sp>
        <p:nvSpPr>
          <p:cNvPr id="19" name="!!rt4">
            <a:extLst>
              <a:ext uri="{C183D7F6-B498-43B3-948B-1728B52AA6E4}">
                <adec:decorative xmlns:adec="http://schemas.microsoft.com/office/drawing/2017/decorative" val="1"/>
              </a:ext>
            </a:extLst>
          </p:cNvPr>
          <p:cNvSpPr/>
          <p:nvPr/>
        </p:nvSpPr>
        <p:spPr>
          <a:xfrm>
            <a:off x="658368" y="501091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5206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992624"/>
            <a:ext cx="9549079" cy="950976"/>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C252B"/>
                </a:solidFill>
                <a:latin typeface="Segoe UI"/>
              </a:rPr>
              <a:t>For each of these, say which resource is virtualized and which chapter of this book covers it: a laptop running Windows inside a window on macOS; a Kubernetes cluster; an NVMe disk presented to eight tenants; an office where staff keep no local files and log in to the same desktop from any machine; a GPU shared between three training jobs.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77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Chapter 2 — Virtualization Architectures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 pages 3–11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Install a hypervisor; a first guest and a snapshot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  ·  What Virtualization Is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15B68FD3-10B2-440E-8A4B-686B27C8C4D1}" type="slidenum">
              <a:rPr lang="en-GB" sz="1000">
                <a:solidFill>
                  <a:srgbClr val="D5DEE5"/>
                </a:solidFill>
                <a:latin typeface="Segoe UI"/>
              </a:rPr>
              <a:t>48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Virtualization Is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