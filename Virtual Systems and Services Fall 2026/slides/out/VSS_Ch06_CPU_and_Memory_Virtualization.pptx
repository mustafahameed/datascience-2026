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7.svg" ContentType="image/svg+xml"/>
  <Override PartName="/ppt/media/image29.svg" ContentType="image/svg+xml"/>
  <Override PartName="/ppt/media/image30.svg" ContentType="image/svg+xml"/>
  <Override PartName="/ppt/media/image31.svg" ContentType="image/svg+xml"/>
  <Override PartName="/ppt/media/image32.svg" ContentType="image/svg+xml"/>
  <Override PartName="/ppt/media/image34.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7A723B1-E048-463D-946E-CD4B2A545B1A}">
          <p14:sldIdLst>
            <p14:sldId id="256"/>
            <p14:sldId id="257"/>
            <p14:sldId id="258"/>
            <p14:sldId id="259"/>
            <p14:sldId id="260"/>
          </p14:sldIdLst>
        </p14:section>
        <p14:section name="6.1 Scheduling a Processor That Is Not There" id="{9DE25F3F-A2EF-4D35-8D5F-12A6BC3BA5E3}">
          <p14:sldIdLst>
            <p14:sldId id="261"/>
          </p14:sldIdLst>
        </p14:section>
        <p14:section name="6.2 Why More vCPUs Can Be Slower" id="{6E2F4B7F-BEFC-422D-8A0A-BEBE913C7729}">
          <p14:sldIdLst>
            <p14:sldId id="262"/>
            <p14:sldId id="263"/>
            <p14:sldId id="264"/>
          </p14:sldIdLst>
        </p14:section>
        <p14:section name="6.3 Memory, and Why It Is the Constraint" id="{3E945F67-152F-4B74-B1CC-F105E211EC35}">
          <p14:sldIdLst>
            <p14:sldId id="265"/>
            <p14:sldId id="266"/>
            <p14:sldId id="267"/>
            <p14:sldId id="268"/>
            <p14:sldId id="269"/>
            <p14:sldId id="270"/>
            <p14:sldId id="271"/>
            <p14:sldId id="272"/>
          </p14:sldIdLst>
        </p14:section>
        <p14:section name="6.4 NUMA" id="{FD1FA20D-C4BE-4F96-8ABD-C6CB2D5126D8}">
          <p14:sldIdLst>
            <p14:sldId id="273"/>
            <p14:sldId id="274"/>
            <p14:sldId id="275"/>
          </p14:sldIdLst>
        </p14:section>
        <p14:section name="Pitfalls" id="{C3D1E537-1740-4A23-BC84-D21FE17333ED}">
          <p14:sldIdLst>
            <p14:sldId id="276"/>
          </p14:sldIdLst>
        </p14:section>
        <p14:section name="Lab" id="{DBE301F0-3092-4FD5-8D8A-C53243684419}">
          <p14:sldIdLst>
            <p14:sldId id="277"/>
            <p14:sldId id="278"/>
            <p14:sldId id="279"/>
            <p14:sldId id="280"/>
            <p14:sldId id="281"/>
            <p14:sldId id="282"/>
            <p14:sldId id="283"/>
            <p14:sldId id="284"/>
            <p14:sldId id="285"/>
            <p14:sldId id="286"/>
          </p14:sldIdLst>
        </p14:section>
        <p14:section name="Checkpoint" id="{24105F97-05CE-4C0F-B0F4-F5DA1C4887B2}">
          <p14:sldIdLst>
            <p14:sldId id="287"/>
            <p14:sldId id="288"/>
            <p14:sldId id="289"/>
            <p14:sldId id="290"/>
            <p14:sldId id="291"/>
            <p14:sldId id="292"/>
          </p14:sldIdLst>
        </p14:section>
        <p14:section name="Wrap-up" id="{5C998E71-5DC1-485B-9DCD-D11669FB6932}">
          <p14:sldIdLst>
            <p14:sldId id="293"/>
            <p14:sldId id="294"/>
            <p14:sldId id="295"/>
            <p14:sldId id="296"/>
            <p14:sldId id="29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CPU and Memory Virtualization. Part 2 — Hypervisors and Compute Virtualization. Week 5: CPU and memory virtualization. Handout pages 45–52.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4 (extended page tables, which are what make guest memory management cheap) and Chapter 5 (the four schedulers). From Operating Systems you need process scheduling and the idea of a working 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vCPU; pCPU; time slice; ready time; %RDY; co-scheduling; co-stop; relaxed co-scheduling; overcommit ratio; working set; active memory; transparent page sharing; ballooning; balloon driver; memory compression; hypervisor swapping; memory tax; NUMA; NUMA node; vNUMA; node interleaving.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guest configured with four virtual processors believes it has four processors. It runs four run queues, balances threads across them, and spins on locks expecting the other holder to be making progress. None of that is true: a vCPU is a thread the hypervisor schedules onto a pCPU, and between one guest instruction and the next it may have been off the processor for milliseconds. For CPU-bound work this is nearly free — the guest’s instructions run on the real processor at full speed, as Chapter 2 measured. The costs appear when guests contend, and they are measured by one number.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instinct on finding a slow guest is to give it more processors. It is often exactly wrong, and the reason is co-scheduling. A guest kernel assumes its processors run simultaneously. A thread holding a spinlock on vCPU 0 will be released shortly, so a thread on vCPU 1 spins rather than sleeping. If vCPU 0 is descheduled while holding that lock, vCPU 1 spins for a whole time slice — burning a physical core to wait for a virtual one that is not running. Early hypervisors avoided this by strict co-scheduling: never run a guest’s vCPUs unless all of them can run together. That removes the problem and creates a worse one — an eight-vCPU guest waits for eight free cores, and on a busy host it waits a long time. Modern schedulers use relaxed co-scheduling: a vCPU is allowed to fall behind its siblings by a small margin, and is forced to catch up only when the skew grows too large. The waiting that results is reported as co-stop.</a:t>
            </a:r>
          </a:p>
          <a:p/>
          <a:p>
            <a:r>
              <a:t>Figure 6.1 (handout p. 46): Why a bigger guest can be a slower guest. Right-sizing downward is the most common successful intervention in a contended cluster, and the one administrators are most reluctant to make.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 asserted that memory, not processor time, usually decides how many guests fit. The reason is that the two resources are elastic in different ways. A processor can be oversubscribed because time is divisible: two guests each wanting a core can have it alternately, and the result is slower, not wrong. Memory cannot be divided in time. A page either holds a guest’s data or it does not, and a guest denied a page it is using does not slow down slightly — it swaps, and swapping is a hundredfold penalty, not a percentage. So hypervisors oversubscribe memory cautiously, using four techniques of increasing desperation.</a:t>
            </a:r>
          </a:p>
          <a:p/>
          <a:p>
            <a:r>
              <a:t>Figure 6.2 (handout p. 47): The reclamation ladder. A hypervisor works down it as pressure rises; an administrator’s job is to ensure it never reaches the bottom rung.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two-socket server does not have one pool of memory. Each socket has its own memory controller and its own attached DIMMs; a core reaches its own socket’s memory quickly and the other socket’s memory across an interconnect, more slowly. This is NUMA — non-uniform memory access — and a remote access typically costs something in the region of 1.5 to 2 times a local one in latency, with lower bandwidth.</a:t>
            </a:r>
          </a:p>
          <a:p/>
          <a:p>
            <a:r>
              <a:t>Figure 6.3 (handout p. 49): NUMA on a two-socket host. The green guest is a sizing decision, not a tuning option: once a guest is wider than a socket, no amount of hypervisor configuration makes its memory local again.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Drives one host into CPU contention and then into memory pressure, and watches each symptom appear. Use a laptop you are not relying on; it will become unresponsive at step 5. Expect forty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How many physical cores are we actually working with?.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Build four guests, each with as many vCPUs as the host has..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Baseline: one guest busy, three idle..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Now make all four busy and read steal time in the guest..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Memory pressure: ask for far more than the host has..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Right-size, and measure the same thing again..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σcpu = (20 × 6)/48 = 120/48 = 2.5. A mean %RDY of 14% is well above the 10% action threshold, so the host is oversubscribed. Measure first: the actual vCPU utilisation of each guest — 6 vCPUs is a large allocation and is very likely more than most of them use. Then act: right-size downward before buying anything. Halving the allocations would bring σ to 1.25 and would almost certainly resolve the ready time without new hardware.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the hypervisor cannot tell which pages matter. From outside, every guest page looks alike; it cannot distinguish a hot database buffer from a page of cache the guest would discard without noticing, so taking pages itself means guessing, and a wrong guess costs the guest a disk read. The guest kernel has a page-replacement algorithm that is good at exactly this question. The balloon driver asks in the one language the guest understands — it allocates memory — and the guest decides what to give up.</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guest is wider than a NUMA node. It has 40 vCPUs against 32 cores per socket and 400 GB against 256 GB per socket, so it must span both sockets and roughly half its memory accesses cross the interconnect at 1.5–2× the latency. No hypervisor setting fixes it because the memory is physically attached to a socket; locality cannot be created after the fact. The change that would work is resizing the guest to fit inside one node — 32 vCPU and 256 GB or less. Failing that, enable vNUMA so the guest’s own scheduler can at least keep each thread’s memory on its own node.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7 — Paravirtualization and Device Virtualization. READ: Handout Chapter 6, pages 45–52. THIS WEEK'S LAB: Drive a host into contention and read the counters.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0.xml"/><Relationship Id="rId8" Type="http://schemas.openxmlformats.org/officeDocument/2006/relationships/slide" Target="slide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image" Target="../media/image25.png"/><Relationship Id="rId7" Type="http://schemas.openxmlformats.org/officeDocument/2006/relationships/image" Target="../media/image26.svg"/><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27.svg"/><Relationship Id="rId4" Type="http://schemas.openxmlformats.org/officeDocument/2006/relationships/image" Target="../media/image28.png"/><Relationship Id="rId5" Type="http://schemas.openxmlformats.org/officeDocument/2006/relationships/image" Target="../media/image29.svg"/><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0.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image" Target="../media/image31.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32.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5.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0.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1.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2.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3.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4.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5.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6.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7.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8.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3.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4.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9.png"/><Relationship Id="rId3" Type="http://schemas.openxmlformats.org/officeDocument/2006/relationships/image" Target="../media/image55.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6.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1.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2.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06</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CPU and Memory Virtualization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HYPERVISORS AND COMPUTE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6  ·  WEEK 5</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45     </a:t>
            </a:r>
            <a:fld id="{A2AC5E89-05C6-47FB-A862-15DD22AEE050}"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822916"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822916"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3788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3788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50577"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50577"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31" name="!!dot7">
            <a:extLst>
              <a:ext uri="{C183D7F6-B498-43B3-948B-1728B52AA6E4}">
                <adec:decorative xmlns:adec="http://schemas.microsoft.com/office/drawing/2017/decorative" val="1"/>
              </a:ext>
            </a:extLst>
          </p:cNvPr>
          <p:cNvSpPr/>
          <p:nvPr/>
        </p:nvSpPr>
        <p:spPr>
          <a:xfrm>
            <a:off x="3744050" y="2258568"/>
            <a:ext cx="274320" cy="274320"/>
          </a:xfrm>
          <a:prstGeom prst="ellipse">
            <a:avLst/>
          </a:prstGeom>
          <a:solidFill>
            <a:srgbClr val="FFFFFF"/>
          </a:solidFill>
          <a:ln w="15875">
            <a:solidFill>
              <a:srgbClr val="8CBCDD"/>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6526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A73A3"/>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4100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3186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8018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7103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658368"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CPU and Memory Virtualization</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4">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4">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4"/>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Hardware Support for Virtualization</a:t>
            </a:r>
          </a:p>
        </p:txBody>
      </p:sp>
      <p:sp>
        <p:nvSpPr>
          <p:cNvPr id="70" name="!!chipBU5">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5">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5"/>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5  </a:t>
            </a:r>
            <a:r>
              <a:rPr sz="1400" b="0" i="0">
                <a:solidFill>
                  <a:srgbClr val="1C252B"/>
                </a:solidFill>
                <a:latin typeface="Segoe UI"/>
              </a:rPr>
              <a:t>Major Hypervisor Platforms</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8">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8">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8"/>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8  </a:t>
            </a:r>
            <a:r>
              <a:rPr sz="1400" b="0" i="0">
                <a:solidFill>
                  <a:srgbClr val="1C252B"/>
                </a:solidFill>
                <a:latin typeface="Segoe UI"/>
              </a:rPr>
              <a:t>From Virtual Machines to Containers</a:t>
            </a:r>
          </a:p>
        </p:txBody>
      </p:sp>
      <p:sp>
        <p:nvSpPr>
          <p:cNvPr id="77" name="!!chipUS14">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4">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4"/>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14  </a:t>
            </a:r>
            <a:r>
              <a:rPr sz="1400" b="0" i="0">
                <a:solidFill>
                  <a:srgbClr val="1C252B"/>
                </a:solidFill>
                <a:latin typeface="Segoe UI"/>
              </a:rPr>
              <a:t>Cloud Service and Deployment Models</a:t>
            </a:r>
          </a:p>
        </p:txBody>
      </p:sp>
      <p:sp>
        <p:nvSpPr>
          <p:cNvPr id="80" name="!!chipUS15">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5">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5"/>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15  </a:t>
            </a:r>
            <a:r>
              <a:rPr sz="1400" b="0" i="0">
                <a:solidFill>
                  <a:srgbClr val="1C252B"/>
                </a:solidFill>
                <a:latin typeface="Segoe UI"/>
              </a:rPr>
              <a:t>Desktop and Application Virtualization</a:t>
            </a:r>
          </a:p>
        </p:txBody>
      </p:sp>
      <p:sp>
        <p:nvSpPr>
          <p:cNvPr id="83" name="!!chipUS17">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17">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17"/>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17  </a:t>
            </a:r>
            <a:r>
              <a:rPr sz="1400" b="0" i="0">
                <a:solidFill>
                  <a:srgbClr val="1C252B"/>
                </a:solidFill>
                <a:latin typeface="Segoe UI"/>
              </a:rPr>
              <a:t>High Availability, Live Migration and Disaster Recovery</a:t>
            </a:r>
          </a:p>
        </p:txBody>
      </p:sp>
      <p:sp>
        <p:nvSpPr>
          <p:cNvPr id="86" name="!!chipUS18">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bUS18">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tUS18"/>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18  </a:t>
            </a:r>
            <a:r>
              <a:rPr sz="1400" b="0" i="0">
                <a:solidFill>
                  <a:srgbClr val="1C252B"/>
                </a:solidFill>
                <a:latin typeface="Segoe UI"/>
              </a:rPr>
              <a:t>Performance Monitoring and Capacity Planning</a:t>
            </a:r>
          </a:p>
        </p:txBody>
      </p:sp>
      <p:sp>
        <p:nvSpPr>
          <p:cNvPr id="8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pfill">
            <a:extLst>
              <a:ext uri="{C183D7F6-B498-43B3-948B-1728B52AA6E4}">
                <adec:decorative xmlns:adec="http://schemas.microsoft.com/office/drawing/2017/decorative" val="1"/>
              </a:ext>
            </a:extLst>
          </p:cNvPr>
          <p:cNvSpPr/>
          <p:nvPr/>
        </p:nvSpPr>
        <p:spPr>
          <a:xfrm>
            <a:off x="0" y="0"/>
            <a:ext cx="58055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45     </a:t>
            </a:r>
            <a:fld id="{5BDDD2A4-B512-422C-8DED-EB8ADD54C29E}"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how a hypervisor schedules virtual processors onto physical ones, and </a:t>
            </a:r>
            <a:r>
              <a:rPr sz="2100" b="1" i="0">
                <a:solidFill>
                  <a:srgbClr val="1C252B"/>
                </a:solidFill>
                <a:latin typeface="Segoe UI"/>
              </a:rPr>
              <a:t>interpret</a:t>
            </a:r>
            <a:r>
              <a:rPr sz="2100" b="0" i="0">
                <a:solidFill>
                  <a:srgbClr val="1C252B"/>
                </a:solidFill>
                <a:latin typeface="Segoe UI"/>
              </a:rPr>
              <a:t> ready time as the measure of whether it is succeeding.</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why giving a guest more virtual processors can make it slower, using co-scheduling.</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Compute</a:t>
            </a:r>
            <a:r>
              <a:rPr sz="2100" b="0" i="0">
                <a:solidFill>
                  <a:srgbClr val="1C252B"/>
                </a:solidFill>
                <a:latin typeface="Segoe UI"/>
              </a:rPr>
              <a:t> CPU and memory overcommit ratios, and </a:t>
            </a:r>
            <a:r>
              <a:rPr sz="2100" b="1" i="0">
                <a:solidFill>
                  <a:srgbClr val="1C252B"/>
                </a:solidFill>
                <a:latin typeface="Segoe UI"/>
              </a:rPr>
              <a:t>decide</a:t>
            </a:r>
            <a:r>
              <a:rPr sz="2100" b="0" i="0">
                <a:solidFill>
                  <a:srgbClr val="1C252B"/>
                </a:solidFill>
                <a:latin typeface="Segoe UI"/>
              </a:rPr>
              <a:t> from measured figures whether a host can take another guest.</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758537"/>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Order</a:t>
            </a:r>
            <a:r>
              <a:rPr sz="2100" b="0" i="0">
                <a:solidFill>
                  <a:srgbClr val="1C252B"/>
                </a:solidFill>
                <a:latin typeface="Segoe UI"/>
              </a:rPr>
              <a:t> the four memory reclamation techniques by cost and </a:t>
            </a:r>
            <a:r>
              <a:rPr sz="2100" b="1" i="0">
                <a:solidFill>
                  <a:srgbClr val="1C252B"/>
                </a:solidFill>
                <a:latin typeface="Segoe UI"/>
              </a:rPr>
              <a:t>state</a:t>
            </a:r>
            <a:r>
              <a:rPr sz="2100" b="0" i="0">
                <a:solidFill>
                  <a:srgbClr val="1C252B"/>
                </a:solidFill>
                <a:latin typeface="Segoe UI"/>
              </a:rPr>
              <a:t> what each one does to guest performance.</a:t>
            </a:r>
          </a:p>
        </p:txBody>
      </p:sp>
      <p:sp>
        <p:nvSpPr>
          <p:cNvPr id="20" name="!!ob4">
            <a:extLst>
              <a:ext uri="{C183D7F6-B498-43B3-948B-1728B52AA6E4}">
                <adec:decorative xmlns:adec="http://schemas.microsoft.com/office/drawing/2017/decorative" val="1"/>
              </a:ext>
            </a:extLst>
          </p:cNvPr>
          <p:cNvSpPr/>
          <p:nvPr/>
        </p:nvSpPr>
        <p:spPr>
          <a:xfrm>
            <a:off x="658368" y="5616244"/>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67568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607100"/>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Describe</a:t>
            </a:r>
            <a:r>
              <a:rPr sz="2100" b="0" i="0">
                <a:solidFill>
                  <a:srgbClr val="1C252B"/>
                </a:solidFill>
                <a:latin typeface="Segoe UI"/>
              </a:rPr>
              <a:t> NUMA and </a:t>
            </a:r>
            <a:r>
              <a:rPr sz="2100" b="1" i="0">
                <a:solidFill>
                  <a:srgbClr val="1C252B"/>
                </a:solidFill>
                <a:latin typeface="Segoe UI"/>
              </a:rPr>
              <a:t>explain</a:t>
            </a:r>
            <a:r>
              <a:rPr sz="2100" b="0" i="0">
                <a:solidFill>
                  <a:srgbClr val="1C252B"/>
                </a:solidFill>
                <a:latin typeface="Segoe UI"/>
              </a:rPr>
              <a:t> why a guest sized larger than a socket may lose a third of its memory bandwidth.</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7083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45     </a:t>
            </a:r>
            <a:fld id="{27881041-1B25-465B-B210-ED595C6C405D}" type="slidenum">
              <a:rPr lang="en-GB" sz="1000">
                <a:solidFill>
                  <a:srgbClr val="8795A1"/>
                </a:solidFill>
                <a:latin typeface="Segoe UI"/>
              </a:rPr>
              <a:t>4</a:t>
            </a:fld>
          </a:p>
        </p:txBody>
      </p:sp>
      <p:sp>
        <p:nvSpPr>
          <p:cNvPr id="7" name="!!term-vCPU">
            <a:extLst>
              <a:ext uri="{C183D7F6-B498-43B3-948B-1728B52AA6E4}">
                <adec:decorative xmlns:adec="http://schemas.microsoft.com/office/drawing/2017/decorative" val="1"/>
              </a:ext>
            </a:extLst>
          </p:cNvPr>
          <p:cNvSpPr/>
          <p:nvPr/>
        </p:nvSpPr>
        <p:spPr>
          <a:xfrm>
            <a:off x="658368" y="1847088"/>
            <a:ext cx="89456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vCPU">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vCPU"/>
          <p:cNvSpPr txBox="1"/>
          <p:nvPr/>
        </p:nvSpPr>
        <p:spPr>
          <a:xfrm>
            <a:off x="950976" y="1970532"/>
            <a:ext cx="71168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vCPU</a:t>
            </a:r>
          </a:p>
        </p:txBody>
      </p:sp>
      <p:sp>
        <p:nvSpPr>
          <p:cNvPr id="10" name="!!term-pCPU">
            <a:extLst>
              <a:ext uri="{C183D7F6-B498-43B3-948B-1728B52AA6E4}">
                <adec:decorative xmlns:adec="http://schemas.microsoft.com/office/drawing/2017/decorative" val="1"/>
              </a:ext>
            </a:extLst>
          </p:cNvPr>
          <p:cNvSpPr/>
          <p:nvPr/>
        </p:nvSpPr>
        <p:spPr>
          <a:xfrm>
            <a:off x="1699240" y="1847088"/>
            <a:ext cx="9157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CPU">
            <a:extLst>
              <a:ext uri="{C183D7F6-B498-43B3-948B-1728B52AA6E4}">
                <adec:decorative xmlns:adec="http://schemas.microsoft.com/office/drawing/2017/decorative" val="1"/>
              </a:ext>
            </a:extLst>
          </p:cNvPr>
          <p:cNvSpPr/>
          <p:nvPr/>
        </p:nvSpPr>
        <p:spPr>
          <a:xfrm>
            <a:off x="182725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CPU"/>
          <p:cNvSpPr txBox="1"/>
          <p:nvPr/>
        </p:nvSpPr>
        <p:spPr>
          <a:xfrm>
            <a:off x="1991848" y="1970532"/>
            <a:ext cx="73286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pCPU</a:t>
            </a:r>
          </a:p>
        </p:txBody>
      </p:sp>
      <p:sp>
        <p:nvSpPr>
          <p:cNvPr id="13" name="!!term-time slice">
            <a:extLst>
              <a:ext uri="{C183D7F6-B498-43B3-948B-1728B52AA6E4}">
                <adec:decorative xmlns:adec="http://schemas.microsoft.com/office/drawing/2017/decorative" val="1"/>
              </a:ext>
            </a:extLst>
          </p:cNvPr>
          <p:cNvSpPr/>
          <p:nvPr/>
        </p:nvSpPr>
        <p:spPr>
          <a:xfrm>
            <a:off x="2761293" y="1847088"/>
            <a:ext cx="124180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time slice">
            <a:extLst>
              <a:ext uri="{C183D7F6-B498-43B3-948B-1728B52AA6E4}">
                <adec:decorative xmlns:adec="http://schemas.microsoft.com/office/drawing/2017/decorative" val="1"/>
              </a:ext>
            </a:extLst>
          </p:cNvPr>
          <p:cNvSpPr/>
          <p:nvPr/>
        </p:nvSpPr>
        <p:spPr>
          <a:xfrm>
            <a:off x="288930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time slice"/>
          <p:cNvSpPr txBox="1"/>
          <p:nvPr/>
        </p:nvSpPr>
        <p:spPr>
          <a:xfrm>
            <a:off x="3053901" y="1970532"/>
            <a:ext cx="105892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time slice</a:t>
            </a:r>
          </a:p>
        </p:txBody>
      </p:sp>
      <p:sp>
        <p:nvSpPr>
          <p:cNvPr id="16" name="!!term-ready time">
            <a:extLst>
              <a:ext uri="{C183D7F6-B498-43B3-948B-1728B52AA6E4}">
                <adec:decorative xmlns:adec="http://schemas.microsoft.com/office/drawing/2017/decorative" val="1"/>
              </a:ext>
            </a:extLst>
          </p:cNvPr>
          <p:cNvSpPr/>
          <p:nvPr/>
        </p:nvSpPr>
        <p:spPr>
          <a:xfrm>
            <a:off x="4149398" y="1847088"/>
            <a:ext cx="135057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ready time">
            <a:extLst>
              <a:ext uri="{C183D7F6-B498-43B3-948B-1728B52AA6E4}">
                <adec:decorative xmlns:adec="http://schemas.microsoft.com/office/drawing/2017/decorative" val="1"/>
              </a:ext>
            </a:extLst>
          </p:cNvPr>
          <p:cNvSpPr/>
          <p:nvPr/>
        </p:nvSpPr>
        <p:spPr>
          <a:xfrm>
            <a:off x="427741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ready time"/>
          <p:cNvSpPr txBox="1"/>
          <p:nvPr/>
        </p:nvSpPr>
        <p:spPr>
          <a:xfrm>
            <a:off x="4442006" y="1970532"/>
            <a:ext cx="116769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ready time</a:t>
            </a:r>
          </a:p>
        </p:txBody>
      </p:sp>
      <p:sp>
        <p:nvSpPr>
          <p:cNvPr id="19" name="!!term-%RDY">
            <a:extLst>
              <a:ext uri="{C183D7F6-B498-43B3-948B-1728B52AA6E4}">
                <adec:decorative xmlns:adec="http://schemas.microsoft.com/office/drawing/2017/decorative" val="1"/>
              </a:ext>
            </a:extLst>
          </p:cNvPr>
          <p:cNvSpPr/>
          <p:nvPr/>
        </p:nvSpPr>
        <p:spPr>
          <a:xfrm>
            <a:off x="5646277" y="1847088"/>
            <a:ext cx="95771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RDY">
            <a:extLst>
              <a:ext uri="{C183D7F6-B498-43B3-948B-1728B52AA6E4}">
                <adec:decorative xmlns:adec="http://schemas.microsoft.com/office/drawing/2017/decorative" val="1"/>
              </a:ext>
            </a:extLst>
          </p:cNvPr>
          <p:cNvSpPr/>
          <p:nvPr/>
        </p:nvSpPr>
        <p:spPr>
          <a:xfrm>
            <a:off x="577429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RDY"/>
          <p:cNvSpPr txBox="1"/>
          <p:nvPr/>
        </p:nvSpPr>
        <p:spPr>
          <a:xfrm>
            <a:off x="5938885" y="1970532"/>
            <a:ext cx="77483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%RDY</a:t>
            </a:r>
          </a:p>
        </p:txBody>
      </p:sp>
      <p:sp>
        <p:nvSpPr>
          <p:cNvPr id="22" name="!!term-co-scheduling">
            <a:extLst>
              <a:ext uri="{C183D7F6-B498-43B3-948B-1728B52AA6E4}">
                <adec:decorative xmlns:adec="http://schemas.microsoft.com/office/drawing/2017/decorative" val="1"/>
              </a:ext>
            </a:extLst>
          </p:cNvPr>
          <p:cNvSpPr/>
          <p:nvPr/>
        </p:nvSpPr>
        <p:spPr>
          <a:xfrm>
            <a:off x="6750301" y="1847088"/>
            <a:ext cx="164693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co-scheduling">
            <a:extLst>
              <a:ext uri="{C183D7F6-B498-43B3-948B-1728B52AA6E4}">
                <adec:decorative xmlns:adec="http://schemas.microsoft.com/office/drawing/2017/decorative" val="1"/>
              </a:ext>
            </a:extLst>
          </p:cNvPr>
          <p:cNvSpPr/>
          <p:nvPr/>
        </p:nvSpPr>
        <p:spPr>
          <a:xfrm>
            <a:off x="687831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co-scheduling"/>
          <p:cNvSpPr txBox="1"/>
          <p:nvPr/>
        </p:nvSpPr>
        <p:spPr>
          <a:xfrm>
            <a:off x="7042909" y="1970532"/>
            <a:ext cx="146405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co-scheduling</a:t>
            </a:r>
          </a:p>
        </p:txBody>
      </p:sp>
      <p:sp>
        <p:nvSpPr>
          <p:cNvPr id="25" name="!!term-co-stop">
            <a:extLst>
              <a:ext uri="{C183D7F6-B498-43B3-948B-1728B52AA6E4}">
                <adec:decorative xmlns:adec="http://schemas.microsoft.com/office/drawing/2017/decorative" val="1"/>
              </a:ext>
            </a:extLst>
          </p:cNvPr>
          <p:cNvSpPr/>
          <p:nvPr/>
        </p:nvSpPr>
        <p:spPr>
          <a:xfrm>
            <a:off x="8543542" y="1847088"/>
            <a:ext cx="109662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co-stop">
            <a:extLst>
              <a:ext uri="{C183D7F6-B498-43B3-948B-1728B52AA6E4}">
                <adec:decorative xmlns:adec="http://schemas.microsoft.com/office/drawing/2017/decorative" val="1"/>
              </a:ext>
            </a:extLst>
          </p:cNvPr>
          <p:cNvSpPr/>
          <p:nvPr/>
        </p:nvSpPr>
        <p:spPr>
          <a:xfrm>
            <a:off x="867155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co-stop"/>
          <p:cNvSpPr txBox="1"/>
          <p:nvPr/>
        </p:nvSpPr>
        <p:spPr>
          <a:xfrm>
            <a:off x="8836150" y="1970532"/>
            <a:ext cx="91374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co-stop</a:t>
            </a:r>
          </a:p>
        </p:txBody>
      </p:sp>
      <p:sp>
        <p:nvSpPr>
          <p:cNvPr id="28" name="!!term-relaxed co-sch">
            <a:extLst>
              <a:ext uri="{C183D7F6-B498-43B3-948B-1728B52AA6E4}">
                <adec:decorative xmlns:adec="http://schemas.microsoft.com/office/drawing/2017/decorative" val="1"/>
              </a:ext>
            </a:extLst>
          </p:cNvPr>
          <p:cNvSpPr/>
          <p:nvPr/>
        </p:nvSpPr>
        <p:spPr>
          <a:xfrm>
            <a:off x="658368" y="2468880"/>
            <a:ext cx="232054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relaxed co-sch">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relaxed co-sch"/>
          <p:cNvSpPr txBox="1"/>
          <p:nvPr/>
        </p:nvSpPr>
        <p:spPr>
          <a:xfrm>
            <a:off x="950976" y="2592324"/>
            <a:ext cx="213766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relaxed co-scheduling</a:t>
            </a:r>
          </a:p>
        </p:txBody>
      </p:sp>
      <p:sp>
        <p:nvSpPr>
          <p:cNvPr id="31" name="!!term-overcommit rat">
            <a:extLst>
              <a:ext uri="{C183D7F6-B498-43B3-948B-1728B52AA6E4}">
                <adec:decorative xmlns:adec="http://schemas.microsoft.com/office/drawing/2017/decorative" val="1"/>
              </a:ext>
            </a:extLst>
          </p:cNvPr>
          <p:cNvSpPr/>
          <p:nvPr/>
        </p:nvSpPr>
        <p:spPr>
          <a:xfrm>
            <a:off x="3125218" y="2468880"/>
            <a:ext cx="19126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overcommit rat">
            <a:extLst>
              <a:ext uri="{C183D7F6-B498-43B3-948B-1728B52AA6E4}">
                <adec:decorative xmlns:adec="http://schemas.microsoft.com/office/drawing/2017/decorative" val="1"/>
              </a:ext>
            </a:extLst>
          </p:cNvPr>
          <p:cNvSpPr/>
          <p:nvPr/>
        </p:nvSpPr>
        <p:spPr>
          <a:xfrm>
            <a:off x="325323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overcommit rat"/>
          <p:cNvSpPr txBox="1"/>
          <p:nvPr/>
        </p:nvSpPr>
        <p:spPr>
          <a:xfrm>
            <a:off x="3417826" y="2592324"/>
            <a:ext cx="172981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overcommit ratio</a:t>
            </a:r>
          </a:p>
        </p:txBody>
      </p:sp>
      <p:sp>
        <p:nvSpPr>
          <p:cNvPr id="34" name="!!term-working set">
            <a:extLst>
              <a:ext uri="{C183D7F6-B498-43B3-948B-1728B52AA6E4}">
                <adec:decorative xmlns:adec="http://schemas.microsoft.com/office/drawing/2017/decorative" val="1"/>
              </a:ext>
            </a:extLst>
          </p:cNvPr>
          <p:cNvSpPr/>
          <p:nvPr/>
        </p:nvSpPr>
        <p:spPr>
          <a:xfrm>
            <a:off x="5184217" y="2468880"/>
            <a:ext cx="143202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working set">
            <a:extLst>
              <a:ext uri="{C183D7F6-B498-43B3-948B-1728B52AA6E4}">
                <adec:decorative xmlns:adec="http://schemas.microsoft.com/office/drawing/2017/decorative" val="1"/>
              </a:ext>
            </a:extLst>
          </p:cNvPr>
          <p:cNvSpPr/>
          <p:nvPr/>
        </p:nvSpPr>
        <p:spPr>
          <a:xfrm>
            <a:off x="531223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working set"/>
          <p:cNvSpPr txBox="1"/>
          <p:nvPr/>
        </p:nvSpPr>
        <p:spPr>
          <a:xfrm>
            <a:off x="5476825" y="2592324"/>
            <a:ext cx="124914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working set</a:t>
            </a:r>
          </a:p>
        </p:txBody>
      </p:sp>
      <p:sp>
        <p:nvSpPr>
          <p:cNvPr id="37" name="!!term-active memory">
            <a:extLst>
              <a:ext uri="{C183D7F6-B498-43B3-948B-1728B52AA6E4}">
                <adec:decorative xmlns:adec="http://schemas.microsoft.com/office/drawing/2017/decorative" val="1"/>
              </a:ext>
            </a:extLst>
          </p:cNvPr>
          <p:cNvSpPr/>
          <p:nvPr/>
        </p:nvSpPr>
        <p:spPr>
          <a:xfrm>
            <a:off x="6762543" y="2468880"/>
            <a:ext cx="170028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active memory">
            <a:extLst>
              <a:ext uri="{C183D7F6-B498-43B3-948B-1728B52AA6E4}">
                <adec:decorative xmlns:adec="http://schemas.microsoft.com/office/drawing/2017/decorative" val="1"/>
              </a:ext>
            </a:extLst>
          </p:cNvPr>
          <p:cNvSpPr/>
          <p:nvPr/>
        </p:nvSpPr>
        <p:spPr>
          <a:xfrm>
            <a:off x="689055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active memory"/>
          <p:cNvSpPr txBox="1"/>
          <p:nvPr/>
        </p:nvSpPr>
        <p:spPr>
          <a:xfrm>
            <a:off x="7055151" y="2592324"/>
            <a:ext cx="151740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active memory</a:t>
            </a:r>
          </a:p>
        </p:txBody>
      </p:sp>
      <p:sp>
        <p:nvSpPr>
          <p:cNvPr id="40" name="!!term-transparent pa">
            <a:extLst>
              <a:ext uri="{C183D7F6-B498-43B3-948B-1728B52AA6E4}">
                <adec:decorative xmlns:adec="http://schemas.microsoft.com/office/drawing/2017/decorative" val="1"/>
              </a:ext>
            </a:extLst>
          </p:cNvPr>
          <p:cNvSpPr/>
          <p:nvPr/>
        </p:nvSpPr>
        <p:spPr>
          <a:xfrm>
            <a:off x="8609128" y="2468880"/>
            <a:ext cx="25878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transparent pa">
            <a:extLst>
              <a:ext uri="{C183D7F6-B498-43B3-948B-1728B52AA6E4}">
                <adec:decorative xmlns:adec="http://schemas.microsoft.com/office/drawing/2017/decorative" val="1"/>
              </a:ext>
            </a:extLst>
          </p:cNvPr>
          <p:cNvSpPr/>
          <p:nvPr/>
        </p:nvSpPr>
        <p:spPr>
          <a:xfrm>
            <a:off x="873714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transparent pa"/>
          <p:cNvSpPr txBox="1"/>
          <p:nvPr/>
        </p:nvSpPr>
        <p:spPr>
          <a:xfrm>
            <a:off x="8901736" y="2592324"/>
            <a:ext cx="240498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transparent page sharing</a:t>
            </a:r>
          </a:p>
        </p:txBody>
      </p:sp>
      <p:sp>
        <p:nvSpPr>
          <p:cNvPr id="43" name="!!term-ballooning">
            <a:extLst>
              <a:ext uri="{C183D7F6-B498-43B3-948B-1728B52AA6E4}">
                <adec:decorative xmlns:adec="http://schemas.microsoft.com/office/drawing/2017/decorative" val="1"/>
              </a:ext>
            </a:extLst>
          </p:cNvPr>
          <p:cNvSpPr/>
          <p:nvPr/>
        </p:nvSpPr>
        <p:spPr>
          <a:xfrm>
            <a:off x="658368" y="3090672"/>
            <a:ext cx="135523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ballooning">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ballooning"/>
          <p:cNvSpPr txBox="1"/>
          <p:nvPr/>
        </p:nvSpPr>
        <p:spPr>
          <a:xfrm>
            <a:off x="950976" y="3214116"/>
            <a:ext cx="117235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ballooning</a:t>
            </a:r>
          </a:p>
        </p:txBody>
      </p:sp>
      <p:sp>
        <p:nvSpPr>
          <p:cNvPr id="46" name="!!term-balloon driver">
            <a:extLst>
              <a:ext uri="{C183D7F6-B498-43B3-948B-1728B52AA6E4}">
                <adec:decorative xmlns:adec="http://schemas.microsoft.com/office/drawing/2017/decorative" val="1"/>
              </a:ext>
            </a:extLst>
          </p:cNvPr>
          <p:cNvSpPr/>
          <p:nvPr/>
        </p:nvSpPr>
        <p:spPr>
          <a:xfrm>
            <a:off x="2159910" y="3090672"/>
            <a:ext cx="16284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balloon driver">
            <a:extLst>
              <a:ext uri="{C183D7F6-B498-43B3-948B-1728B52AA6E4}">
                <adec:decorative xmlns:adec="http://schemas.microsoft.com/office/drawing/2017/decorative" val="1"/>
              </a:ext>
            </a:extLst>
          </p:cNvPr>
          <p:cNvSpPr/>
          <p:nvPr/>
        </p:nvSpPr>
        <p:spPr>
          <a:xfrm>
            <a:off x="228792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balloon driver"/>
          <p:cNvSpPr txBox="1"/>
          <p:nvPr/>
        </p:nvSpPr>
        <p:spPr>
          <a:xfrm>
            <a:off x="2452518" y="3214116"/>
            <a:ext cx="14455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balloon driver</a:t>
            </a:r>
          </a:p>
        </p:txBody>
      </p:sp>
      <p:sp>
        <p:nvSpPr>
          <p:cNvPr id="49" name="!!term-memory compres">
            <a:extLst>
              <a:ext uri="{C183D7F6-B498-43B3-948B-1728B52AA6E4}">
                <adec:decorative xmlns:adec="http://schemas.microsoft.com/office/drawing/2017/decorative" val="1"/>
              </a:ext>
            </a:extLst>
          </p:cNvPr>
          <p:cNvSpPr/>
          <p:nvPr/>
        </p:nvSpPr>
        <p:spPr>
          <a:xfrm>
            <a:off x="3934634" y="3090672"/>
            <a:ext cx="229407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memory compres">
            <a:extLst>
              <a:ext uri="{C183D7F6-B498-43B3-948B-1728B52AA6E4}">
                <adec:decorative xmlns:adec="http://schemas.microsoft.com/office/drawing/2017/decorative" val="1"/>
              </a:ext>
            </a:extLst>
          </p:cNvPr>
          <p:cNvSpPr/>
          <p:nvPr/>
        </p:nvSpPr>
        <p:spPr>
          <a:xfrm>
            <a:off x="4062650"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memory compres"/>
          <p:cNvSpPr txBox="1"/>
          <p:nvPr/>
        </p:nvSpPr>
        <p:spPr>
          <a:xfrm>
            <a:off x="4227242" y="3214116"/>
            <a:ext cx="211119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memory compression</a:t>
            </a:r>
          </a:p>
        </p:txBody>
      </p:sp>
      <p:sp>
        <p:nvSpPr>
          <p:cNvPr id="52" name="!!term-hypervisor swa">
            <a:extLst>
              <a:ext uri="{C183D7F6-B498-43B3-948B-1728B52AA6E4}">
                <adec:decorative xmlns:adec="http://schemas.microsoft.com/office/drawing/2017/decorative" val="1"/>
              </a:ext>
            </a:extLst>
          </p:cNvPr>
          <p:cNvSpPr/>
          <p:nvPr/>
        </p:nvSpPr>
        <p:spPr>
          <a:xfrm>
            <a:off x="6375010" y="3090672"/>
            <a:ext cx="220550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hypervisor swa">
            <a:extLst>
              <a:ext uri="{C183D7F6-B498-43B3-948B-1728B52AA6E4}">
                <adec:decorative xmlns:adec="http://schemas.microsoft.com/office/drawing/2017/decorative" val="1"/>
              </a:ext>
            </a:extLst>
          </p:cNvPr>
          <p:cNvSpPr/>
          <p:nvPr/>
        </p:nvSpPr>
        <p:spPr>
          <a:xfrm>
            <a:off x="650302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hypervisor swa"/>
          <p:cNvSpPr txBox="1"/>
          <p:nvPr/>
        </p:nvSpPr>
        <p:spPr>
          <a:xfrm>
            <a:off x="6667618" y="3214116"/>
            <a:ext cx="202262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hypervisor swapping</a:t>
            </a:r>
          </a:p>
        </p:txBody>
      </p:sp>
      <p:sp>
        <p:nvSpPr>
          <p:cNvPr id="55" name="!!term-memory tax">
            <a:extLst>
              <a:ext uri="{C183D7F6-B498-43B3-948B-1728B52AA6E4}">
                <adec:decorative xmlns:adec="http://schemas.microsoft.com/office/drawing/2017/decorative" val="1"/>
              </a:ext>
            </a:extLst>
          </p:cNvPr>
          <p:cNvSpPr/>
          <p:nvPr/>
        </p:nvSpPr>
        <p:spPr>
          <a:xfrm>
            <a:off x="8726819" y="3090672"/>
            <a:ext cx="14579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memory tax">
            <a:extLst>
              <a:ext uri="{C183D7F6-B498-43B3-948B-1728B52AA6E4}">
                <adec:decorative xmlns:adec="http://schemas.microsoft.com/office/drawing/2017/decorative" val="1"/>
              </a:ext>
            </a:extLst>
          </p:cNvPr>
          <p:cNvSpPr/>
          <p:nvPr/>
        </p:nvSpPr>
        <p:spPr>
          <a:xfrm>
            <a:off x="885483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memory tax"/>
          <p:cNvSpPr txBox="1"/>
          <p:nvPr/>
        </p:nvSpPr>
        <p:spPr>
          <a:xfrm>
            <a:off x="9019427" y="3214116"/>
            <a:ext cx="127511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memory tax</a:t>
            </a:r>
          </a:p>
        </p:txBody>
      </p:sp>
      <p:sp>
        <p:nvSpPr>
          <p:cNvPr id="58" name="!!term-NUMA">
            <a:extLst>
              <a:ext uri="{C183D7F6-B498-43B3-948B-1728B52AA6E4}">
                <adec:decorative xmlns:adec="http://schemas.microsoft.com/office/drawing/2017/decorative" val="1"/>
              </a:ext>
            </a:extLst>
          </p:cNvPr>
          <p:cNvSpPr/>
          <p:nvPr/>
        </p:nvSpPr>
        <p:spPr>
          <a:xfrm>
            <a:off x="10331118" y="3090672"/>
            <a:ext cx="101756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NUMA">
            <a:extLst>
              <a:ext uri="{C183D7F6-B498-43B3-948B-1728B52AA6E4}">
                <adec:decorative xmlns:adec="http://schemas.microsoft.com/office/drawing/2017/decorative" val="1"/>
              </a:ext>
            </a:extLst>
          </p:cNvPr>
          <p:cNvSpPr/>
          <p:nvPr/>
        </p:nvSpPr>
        <p:spPr>
          <a:xfrm>
            <a:off x="1045913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NUMA"/>
          <p:cNvSpPr txBox="1"/>
          <p:nvPr/>
        </p:nvSpPr>
        <p:spPr>
          <a:xfrm>
            <a:off x="10623726" y="3214116"/>
            <a:ext cx="83468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NUMA</a:t>
            </a:r>
          </a:p>
        </p:txBody>
      </p:sp>
      <p:sp>
        <p:nvSpPr>
          <p:cNvPr id="61" name="!!term-NUMA node">
            <a:extLst>
              <a:ext uri="{C183D7F6-B498-43B3-948B-1728B52AA6E4}">
                <adec:decorative xmlns:adec="http://schemas.microsoft.com/office/drawing/2017/decorative" val="1"/>
              </a:ext>
            </a:extLst>
          </p:cNvPr>
          <p:cNvSpPr/>
          <p:nvPr/>
        </p:nvSpPr>
        <p:spPr>
          <a:xfrm>
            <a:off x="658368" y="3712464"/>
            <a:ext cx="151072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NUMA node">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NUMA node"/>
          <p:cNvSpPr txBox="1"/>
          <p:nvPr/>
        </p:nvSpPr>
        <p:spPr>
          <a:xfrm>
            <a:off x="950976" y="3835908"/>
            <a:ext cx="1327845"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NUMA node</a:t>
            </a:r>
          </a:p>
        </p:txBody>
      </p:sp>
      <p:sp>
        <p:nvSpPr>
          <p:cNvPr id="64" name="!!term-vNUMA">
            <a:extLst>
              <a:ext uri="{C183D7F6-B498-43B3-948B-1728B52AA6E4}">
                <adec:decorative xmlns:adec="http://schemas.microsoft.com/office/drawing/2017/decorative" val="1"/>
              </a:ext>
            </a:extLst>
          </p:cNvPr>
          <p:cNvSpPr/>
          <p:nvPr/>
        </p:nvSpPr>
        <p:spPr>
          <a:xfrm>
            <a:off x="2315397" y="3712464"/>
            <a:ext cx="11106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vNUMA">
            <a:extLst>
              <a:ext uri="{C183D7F6-B498-43B3-948B-1728B52AA6E4}">
                <adec:decorative xmlns:adec="http://schemas.microsoft.com/office/drawing/2017/decorative" val="1"/>
              </a:ext>
            </a:extLst>
          </p:cNvPr>
          <p:cNvSpPr/>
          <p:nvPr/>
        </p:nvSpPr>
        <p:spPr>
          <a:xfrm>
            <a:off x="2443413"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vNUMA"/>
          <p:cNvSpPr txBox="1"/>
          <p:nvPr/>
        </p:nvSpPr>
        <p:spPr>
          <a:xfrm>
            <a:off x="2608005" y="3835908"/>
            <a:ext cx="927761"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vNUMA</a:t>
            </a:r>
          </a:p>
        </p:txBody>
      </p:sp>
      <p:sp>
        <p:nvSpPr>
          <p:cNvPr id="67" name="!!term-node interleav">
            <a:extLst>
              <a:ext uri="{C183D7F6-B498-43B3-948B-1728B52AA6E4}">
                <adec:decorative xmlns:adec="http://schemas.microsoft.com/office/drawing/2017/decorative" val="1"/>
              </a:ext>
            </a:extLst>
          </p:cNvPr>
          <p:cNvSpPr/>
          <p:nvPr/>
        </p:nvSpPr>
        <p:spPr>
          <a:xfrm>
            <a:off x="3572343" y="3712464"/>
            <a:ext cx="193624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node interleav">
            <a:extLst>
              <a:ext uri="{C183D7F6-B498-43B3-948B-1728B52AA6E4}">
                <adec:decorative xmlns:adec="http://schemas.microsoft.com/office/drawing/2017/decorative" val="1"/>
              </a:ext>
            </a:extLst>
          </p:cNvPr>
          <p:cNvSpPr/>
          <p:nvPr/>
        </p:nvSpPr>
        <p:spPr>
          <a:xfrm>
            <a:off x="3700359"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node interleav"/>
          <p:cNvSpPr txBox="1"/>
          <p:nvPr/>
        </p:nvSpPr>
        <p:spPr>
          <a:xfrm>
            <a:off x="3864951" y="3835908"/>
            <a:ext cx="175336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node interleaving</a:t>
            </a:r>
          </a:p>
        </p:txBody>
      </p:sp>
      <p:sp>
        <p:nvSpPr>
          <p:cNvPr id="70"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pfill">
            <a:extLst>
              <a:ext uri="{C183D7F6-B498-43B3-948B-1728B52AA6E4}">
                <adec:decorative xmlns:adec="http://schemas.microsoft.com/office/drawing/2017/decorative" val="1"/>
              </a:ext>
            </a:extLst>
          </p:cNvPr>
          <p:cNvSpPr/>
          <p:nvPr/>
        </p:nvSpPr>
        <p:spPr>
          <a:xfrm>
            <a:off x="0" y="0"/>
            <a:ext cx="116111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45–52     </a:t>
            </a:r>
            <a:fld id="{469B9C1B-3A40-4616-8276-C7C5E00CEEE1}" type="slidenum">
              <a:rPr lang="en-GB" sz="1000">
                <a:solidFill>
                  <a:srgbClr val="8795A1"/>
                </a:solidFill>
                <a:latin typeface="Segoe UI"/>
              </a:rPr>
              <a:t>5</a:t>
            </a:fld>
          </a:p>
        </p:txBody>
      </p:sp>
      <p:sp>
        <p:nvSpPr>
          <p:cNvPr id="7" name="!!ag0" descr="Go to section 6.1 Scheduling a Processor That Is Not Ther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Scheduling a Processor That Is Not There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45  ›</a:t>
            </a:r>
          </a:p>
        </p:txBody>
      </p:sp>
      <p:sp>
        <p:nvSpPr>
          <p:cNvPr id="12" name="!!ag1" descr="Go to section 6.2 Why More vCPUs Can Be Slower">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Why More vCPUs Can Be Slower</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46  ›</a:t>
            </a:r>
          </a:p>
        </p:txBody>
      </p:sp>
      <p:sp>
        <p:nvSpPr>
          <p:cNvPr id="17" name="!!ag2" descr="Go to section 6.3 Memory, and Why It Is the Constraint">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Memory, and Why It Is the Constraint</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47  ›</a:t>
            </a:r>
          </a:p>
        </p:txBody>
      </p:sp>
      <p:sp>
        <p:nvSpPr>
          <p:cNvPr id="22" name="!!ag3" descr="Go to section 6.4 NUMA">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6.4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NUMA</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49  ›</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145139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Ready Time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§6.1  ·  Handout p. 45     </a:t>
            </a:r>
            <a:fld id="{5997314B-F4A7-4268-82F9-31D1F904A9BC}"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3578"/>
          </a:xfrm>
          <a:prstGeom prst="roundRect">
            <a:avLst>
              <a:gd name="adj" fmla="val 2154"/>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3578"/>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377086"/>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A5276"/>
                </a:solidFill>
                <a:latin typeface="Segoe UI"/>
              </a:rPr>
              <a:t>Ready time</a:t>
            </a:r>
            <a:r>
              <a:rPr sz="2100" b="0" i="0">
                <a:solidFill>
                  <a:srgbClr val="1C252B"/>
                </a:solidFill>
                <a:latin typeface="Segoe UI"/>
              </a:rPr>
              <a:t> is the proportion of time a vCPU was </a:t>
            </a:r>
            <a:r>
              <a:rPr sz="2100" b="0" i="1">
                <a:solidFill>
                  <a:srgbClr val="1C252B"/>
                </a:solidFill>
                <a:latin typeface="Segoe UI"/>
              </a:rPr>
              <a:t>runnable but not scheduled</a:t>
            </a:r>
            <a:r>
              <a:rPr sz="2100" b="0" i="0">
                <a:solidFill>
                  <a:srgbClr val="1C252B"/>
                </a:solidFill>
                <a:latin typeface="Segoe UI"/>
              </a:rPr>
              <a:t> — the guest had work, and no physical core was free for it. VMware reports it as </a:t>
            </a:r>
            <a:r>
              <a:rPr sz="2100" b="1" i="0">
                <a:solidFill>
                  <a:srgbClr val="1A5276"/>
                </a:solidFill>
                <a:latin typeface="Segoe UI"/>
              </a:rPr>
              <a:t>%RDY</a:t>
            </a:r>
            <a:r>
              <a:rPr sz="2100" b="0" i="0">
                <a:solidFill>
                  <a:srgbClr val="1C252B"/>
                </a:solidFill>
                <a:latin typeface="Segoe UI"/>
              </a:rPr>
              <a:t> per vCPU; KVM exposes the same quantity as steal time, which the guest itself can see in </a:t>
            </a:r>
            <a:r>
              <a:rPr sz="1950" b="0" i="0">
                <a:solidFill>
                  <a:srgbClr val="1F4E79"/>
                </a:solidFill>
                <a:latin typeface="Consolas"/>
              </a:rPr>
              <a:t>top</a:t>
            </a:r>
            <a:r>
              <a:rPr sz="2100" b="0" i="0">
                <a:solidFill>
                  <a:srgbClr val="1C252B"/>
                </a:solidFill>
                <a:latin typeface="Segoe UI"/>
              </a:rPr>
              <a:t> as </a:t>
            </a:r>
            <a:r>
              <a:rPr sz="1950" b="0" i="0">
                <a:solidFill>
                  <a:srgbClr val="1F4E79"/>
                </a:solidFill>
                <a:latin typeface="Consolas"/>
              </a:rPr>
              <a:t>%st</a:t>
            </a:r>
            <a:r>
              <a:rPr sz="2100" b="0" i="0">
                <a:solidFill>
                  <a:srgbClr val="1C252B"/>
                </a:solidFill>
                <a:latin typeface="Segoe UI"/>
              </a:rPr>
              <a:t>.</a:t>
            </a:r>
          </a:p>
        </p:txBody>
      </p:sp>
      <p:sp>
        <p:nvSpPr>
          <p:cNvPr id="10" name="body-1"/>
          <p:cNvSpPr txBox="1"/>
          <p:nvPr/>
        </p:nvSpPr>
        <p:spPr>
          <a:xfrm>
            <a:off x="1060704" y="3526307"/>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It is the single most useful number in capacity planning, because it distinguishes the two cases that look identical from inside the guest: a guest that is slow because its own work is slow, and a guest that is slow because it is not being given a processor.</a:t>
            </a:r>
          </a:p>
        </p:txBody>
      </p:sp>
      <p:sp>
        <p:nvSpPr>
          <p:cNvPr id="11" name="body-2"/>
          <p:cNvSpPr txBox="1"/>
          <p:nvPr/>
        </p:nvSpPr>
        <p:spPr>
          <a:xfrm>
            <a:off x="1060704" y="4671517"/>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Rules of thumb, widely used and worth knowing: under 5% is healthy, 5–10% deserves investigation, and sustained figures above 10% mean the host is oversubscribed. Chapter 18 treats the measurement properly.</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174167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Why More vCPUs Can Be Slower</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Scheduling a Processor That Is Not There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6.2   Why More vCPUs Can Be Slower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Memory, and Why It Is the Constraint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6.4   NUMA</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§6.2     </a:t>
            </a:r>
            <a:fld id="{067324CA-B4A7-42D8-8156-4C6450722553}" type="slidenum">
              <a:rPr lang="en-GB" sz="1000">
                <a:solidFill>
                  <a:srgbClr val="8795A1"/>
                </a:solidFill>
                <a:latin typeface="Segoe UI"/>
              </a:rPr>
              <a:t>7</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a bigger guest can be a slower guest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6.1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§6.2  ·  Handout p. 46     </a:t>
            </a:r>
            <a:fld id="{F05A8B9A-354F-4D38-A8C9-58B6E35B619D}" type="slidenum">
              <a:rPr lang="en-GB" sz="1000">
                <a:solidFill>
                  <a:srgbClr val="8795A1"/>
                </a:solidFill>
                <a:latin typeface="Segoe UI"/>
              </a:rPr>
              <a:t>8</a:t>
            </a:fld>
          </a:p>
        </p:txBody>
      </p:sp>
      <p:pic>
        <p:nvPicPr>
          <p:cNvPr id="6" name="!!figure" descr="Figure 6.1. Why a bigger guest can be a slower guest. Right-sizing downward is the most common successful intervention in a contended cluster, and the one administrators are most reluctant to mak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829163" y="1737360"/>
            <a:ext cx="8533369"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Right-sizing downward is the most common successful intervention in a contended cluster, and the one administrators are most reluctant to make.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32222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rule that follows: size for what is used, not what is asked for</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§6.2  ·  Handout p. 46     </a:t>
            </a:r>
            <a:fld id="{D535FA4D-51F3-4255-A11B-0E61AC9CB926}"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3314"/>
          </a:xfrm>
          <a:prstGeom prst="roundRect">
            <a:avLst>
              <a:gd name="adj" fmla="val 225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3314"/>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Users ask for vCPUs the way they ask for disk — more is safer. It is not. A guest given eight vCPUs and using two has not merely wasted six; it has made itself harder to schedule, raised its own ready time and raised everyone else’s.</a:t>
            </a:r>
          </a:p>
        </p:txBody>
      </p:sp>
      <p:sp>
        <p:nvSpPr>
          <p:cNvPr id="10" name="body-1"/>
          <p:cNvSpPr txBox="1"/>
          <p:nvPr/>
        </p:nvSpPr>
        <p:spPr>
          <a:xfrm>
            <a:off x="1060704" y="3667074"/>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operational rule is to allocate what measurement justifies and add more when ready time and utilisation both say so. Chapter 18 gives the procedure; the point here is that the arithmetic of overcommit does not capture it, because two guests with the same total vCPU count behave differently according to how those vCPUs are grouped.</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61250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Memory, and Why It Is the Constraint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3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Scheduling a Processor That Is Not There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6.2   Why More vCPUs Can Be Slower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6.3   Memory, and Why It Is the Constraint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6.4   NUMA</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§6.3     </a:t>
            </a:r>
            <a:fld id="{42C2AEA8-BA3D-4075-BAFF-3EFCA59CF8C1}" type="slidenum">
              <a:rPr lang="en-GB" sz="1000">
                <a:solidFill>
                  <a:srgbClr val="8795A1"/>
                </a:solidFill>
                <a:latin typeface="Segoe UI"/>
              </a:rPr>
              <a:t>10</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027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reclamation ladder</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6.2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47     </a:t>
            </a:r>
            <a:fld id="{06AC1406-8A67-43F2-A092-27628273356A}" type="slidenum">
              <a:rPr lang="en-GB" sz="1000">
                <a:solidFill>
                  <a:srgbClr val="8795A1"/>
                </a:solidFill>
                <a:latin typeface="Segoe UI"/>
              </a:rPr>
              <a:t>11</a:t>
            </a:fld>
          </a:p>
        </p:txBody>
      </p:sp>
      <p:pic>
        <p:nvPicPr>
          <p:cNvPr id="6" name="!!figure" descr="Figure 6.2. The reclamation ladder. A hypervisor works down it as pressure rises; an administrator’s job is to ensure it never reaches the bottom ru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80940" y="1737360"/>
            <a:ext cx="6829814"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A hypervisor works down it as pressure rises; an administrator’s job is to ensure it never reaches the bottom rung.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319306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Ballooning Works, and Why It Feels Wrong</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47     </a:t>
            </a:r>
            <a:fld id="{E014E7BF-ECF7-4856-83B3-49AA4530AD6B}"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11345"/>
          </a:xfrm>
          <a:prstGeom prst="roundRect">
            <a:avLst>
              <a:gd name="adj" fmla="val 217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1134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58460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Ballooning looks like a trick, and students reasonably ask why the hypervisor does not simply take the pages.</a:t>
            </a:r>
          </a:p>
        </p:txBody>
      </p:sp>
      <p:sp>
        <p:nvSpPr>
          <p:cNvPr id="10" name="body-1"/>
          <p:cNvSpPr txBox="1"/>
          <p:nvPr/>
        </p:nvSpPr>
        <p:spPr>
          <a:xfrm>
            <a:off x="1060704" y="2705887"/>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Because it does not know which ones to take. From outside, every guest page looks alike; the hypervisor cannot tell a hot database buffer from a page of cache the guest would discard without noticing. Taking the wrong page costs a disk read in the guest, and the hypervisor would be guessing.</a:t>
            </a:r>
          </a:p>
        </p:txBody>
      </p:sp>
      <p:sp>
        <p:nvSpPr>
          <p:cNvPr id="11" name="body-2"/>
          <p:cNvSpPr txBox="1"/>
          <p:nvPr/>
        </p:nvSpPr>
        <p:spPr>
          <a:xfrm>
            <a:off x="1060704" y="3632961"/>
            <a:ext cx="10161727" cy="112349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guest kernel, by contrast, has spent decades getting good at exactly this question. So the balloon driver asks the guest for memory in the one language the guest understands — it allocates it, as any program would — and the guest runs its own page replacement to decide what to give up. The hypervisor then takes the pages backing the balloon, which it knows are not in use.</a:t>
            </a:r>
          </a:p>
        </p:txBody>
      </p:sp>
      <p:sp>
        <p:nvSpPr>
          <p:cNvPr id="12" name="body-3"/>
          <p:cNvSpPr txBox="1"/>
          <p:nvPr/>
        </p:nvSpPr>
        <p:spPr>
          <a:xfrm>
            <a:off x="1060704" y="4829479"/>
            <a:ext cx="10161727" cy="85404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consequence worth remembering: </a:t>
            </a:r>
            <a:r>
              <a:rPr sz="1700" b="1" i="0">
                <a:solidFill>
                  <a:srgbClr val="1C252B"/>
                </a:solidFill>
                <a:latin typeface="Segoe UI"/>
              </a:rPr>
              <a:t>ballooning requires the guest to cooperate</a:t>
            </a:r>
            <a:r>
              <a:rPr sz="1700" b="0" i="0">
                <a:solidFill>
                  <a:srgbClr val="1C252B"/>
                </a:solidFill>
                <a:latin typeface="Segoe UI"/>
              </a:rPr>
              <a:t>. A guest without the balloon driver installed cannot be reclaimed from gracefully, and pressure on that host goes straight from step 1 to step 3. Installing guest tools is not cosmetic.</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348334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Can This Host Take Four More Guests?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47     </a:t>
            </a:r>
            <a:fld id="{322A47C3-F7EC-4578-A1E2-8C8D308742AD}"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92000"/>
          </a:xfrm>
          <a:prstGeom prst="roundRect">
            <a:avLst>
              <a:gd name="adj" fmla="val 2181"/>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92000"/>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host of 2 </a:t>
            </a:r>
            <a:r>
              <a:rPr sz="1900" b="0" i="0">
                <a:solidFill>
                  <a:srgbClr val="1C252B"/>
                </a:solidFill>
                <a:latin typeface="Cambria"/>
              </a:rPr>
              <a:t>×</a:t>
            </a:r>
            <a:r>
              <a:rPr sz="1900" b="0" i="0">
                <a:solidFill>
                  <a:srgbClr val="1C252B"/>
                </a:solidFill>
                <a:latin typeface="Segoe UI"/>
              </a:rPr>
              <a:t> 32 cores and 512 GB currently runs 28 guests, each configured with 4 vCPUs and 16 GB. Measured over a month: mean %RDY 4%, 95th percentile 9%; mean active memory 6.2 GB per guest. A team asks for four more identical guests. Decide.</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CPU overcommit now and after.</a:t>
            </a:r>
          </a:p>
        </p:txBody>
      </p:sp>
      <p:pic>
        <p:nvPicPr>
          <p:cNvPr id="11" name="body-2" descr="\sigma_{\text{cpu}} = \frac{28 \times 4}{64} = \frac{112}{64} = \mathbf{1.75} \qquad\text{after: } \frac{32 \times 4}{64} = \frac{128}{64} = \mathbf{2.0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547268"/>
          </a:xfrm>
          <a:prstGeom prst="rect">
            <a:avLst/>
          </a:prstGeom>
        </p:spPr>
      </p:pic>
      <p:sp>
        <p:nvSpPr>
          <p:cNvPr id="12" name="body-3"/>
          <p:cNvSpPr txBox="1"/>
          <p:nvPr/>
        </p:nvSpPr>
        <p:spPr>
          <a:xfrm>
            <a:off x="1042416" y="4161662"/>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Ready time is already at 9% at the 95th percentile, which is the edge of the acceptable band. Raising oversubscription by 14% will not improve it.</a:t>
            </a:r>
          </a:p>
        </p:txBody>
      </p:sp>
      <p:sp>
        <p:nvSpPr>
          <p:cNvPr id="13" name="body-4"/>
          <p:cNvSpPr txBox="1"/>
          <p:nvPr/>
        </p:nvSpPr>
        <p:spPr>
          <a:xfrm>
            <a:off x="1042416" y="489666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memory </a:t>
            </a:r>
            <a:r>
              <a:rPr sz="1900" b="1" i="1">
                <a:solidFill>
                  <a:srgbClr val="1C252B"/>
                </a:solidFill>
                <a:latin typeface="Segoe UI"/>
              </a:rPr>
              <a:t>allocated</a:t>
            </a:r>
            <a:r>
              <a:rPr sz="1900" b="1" i="0">
                <a:solidFill>
                  <a:srgbClr val="1C252B"/>
                </a:solidFill>
                <a:latin typeface="Segoe UI"/>
              </a:rPr>
              <a:t>.</a:t>
            </a:r>
          </a:p>
        </p:txBody>
      </p:sp>
      <p:sp>
        <p:nvSpPr>
          <p:cNvPr id="14" name="body-4bar">
            <a:extLst>
              <a:ext uri="{C183D7F6-B498-43B3-948B-1728B52AA6E4}">
                <adec:decorative xmlns:adec="http://schemas.microsoft.com/office/drawing/2017/decorative" val="1"/>
              </a:ext>
            </a:extLst>
          </p:cNvPr>
          <p:cNvSpPr/>
          <p:nvPr/>
        </p:nvSpPr>
        <p:spPr>
          <a:xfrm>
            <a:off x="841248" y="491495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5" name="body-5" descr="28 \times 16 = 448 \text{ GB} \qquad\text{after: } 32 \times 16 = \mathbf{512 \text{ GB}}"/>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5330520"/>
            <a:ext cx="10234879" cy="324520"/>
          </a:xfrm>
          <a:prstGeom prst="rect">
            <a:avLst/>
          </a:prstGeom>
        </p:spPr>
      </p:pic>
      <p:sp>
        <p:nvSpPr>
          <p:cNvPr id="3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pfill">
            <a:extLst>
              <a:ext uri="{C183D7F6-B498-43B3-948B-1728B52AA6E4}">
                <adec:decorative xmlns:adec="http://schemas.microsoft.com/office/drawing/2017/decorative" val="1"/>
              </a:ext>
            </a:extLst>
          </p:cNvPr>
          <p:cNvSpPr/>
          <p:nvPr/>
        </p:nvSpPr>
        <p:spPr>
          <a:xfrm>
            <a:off x="0" y="0"/>
            <a:ext cx="377361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right)">
                                      <p:cBhvr>
                                        <p:cTn id="23" dur="420"/>
                                        <p:tgtEl>
                                          <p:spTgt spid="1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right)">
                                      <p:cBhvr>
                                        <p:cTn id="31"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Can This Host Take Four More Guests?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47     </a:t>
            </a:r>
            <a:fld id="{4936DA64-62DD-4861-8AEF-6839823EB189}"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78159"/>
          </a:xfrm>
          <a:prstGeom prst="roundRect">
            <a:avLst>
              <a:gd name="adj" fmla="val 297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7815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host has 512 GB </a:t>
            </a:r>
            <a:r>
              <a:rPr sz="1900" b="0" i="1">
                <a:solidFill>
                  <a:srgbClr val="1C252B"/>
                </a:solidFill>
                <a:latin typeface="Segoe UI"/>
              </a:rPr>
              <a:t>in total</a:t>
            </a:r>
            <a:r>
              <a:rPr sz="1900" b="0" i="0">
                <a:solidFill>
                  <a:srgbClr val="1C252B"/>
                </a:solidFill>
                <a:latin typeface="Segoe UI"/>
              </a:rPr>
              <a:t>, and the hypervisor itself needs some — call it 6%, about 32 GB, for its own code, the per-guest overhead and the page tables of Chapter 4. So the request allocates 512 GB of 480 GB usable: </a:t>
            </a:r>
            <a:r>
              <a:rPr sz="1900" b="1" i="0">
                <a:solidFill>
                  <a:srgbClr val="1C252B"/>
                </a:solidFill>
                <a:latin typeface="Segoe UI"/>
              </a:rPr>
              <a:t>32 GB short</a:t>
            </a:r>
            <a:r>
              <a:rPr sz="1900" b="0" i="0">
                <a:solidFill>
                  <a:srgbClr val="1C252B"/>
                </a:solidFill>
                <a:latin typeface="Segoe UI"/>
              </a:rPr>
              <a:t> before a single guest does anything.</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memory </a:t>
            </a:r>
            <a:r>
              <a:rPr sz="1900" b="1" i="1">
                <a:solidFill>
                  <a:srgbClr val="1C252B"/>
                </a:solidFill>
                <a:latin typeface="Segoe UI"/>
              </a:rPr>
              <a:t>active</a:t>
            </a:r>
            <a:r>
              <a:rPr sz="1900" b="1" i="0">
                <a:solidFill>
                  <a:srgbClr val="1C252B"/>
                </a:solidFill>
                <a:latin typeface="Segoe UI"/>
              </a:rPr>
              <a:t>.</a:t>
            </a:r>
            <a:r>
              <a:rPr sz="1900" b="0" i="0">
                <a:solidFill>
                  <a:srgbClr val="1C252B"/>
                </a:solidFill>
                <a:latin typeface="Segoe UI"/>
              </a:rPr>
              <a:t> Today the guests actually touch</a:t>
            </a:r>
          </a:p>
        </p:txBody>
      </p:sp>
      <p:sp>
        <p:nvSpPr>
          <p:cNvPr id="11" name="body-1bar">
            <a:extLst>
              <a:ext uri="{C183D7F6-B498-43B3-948B-1728B52AA6E4}">
                <adec:decorative xmlns:adec="http://schemas.microsoft.com/office/drawing/2017/decorative" val="1"/>
              </a:ext>
            </a:extLst>
          </p:cNvPr>
          <p:cNvSpPr/>
          <p:nvPr/>
        </p:nvSpPr>
        <p:spPr>
          <a:xfrm>
            <a:off x="841248" y="3066110"/>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2" name="body-2" descr="28 \times 6.2 = 173.6 \text{ GB}"/>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3481679"/>
            <a:ext cx="10234879" cy="324520"/>
          </a:xfrm>
          <a:prstGeom prst="rect">
            <a:avLst/>
          </a:prstGeom>
        </p:spPr>
      </p:pic>
      <p:sp>
        <p:nvSpPr>
          <p:cNvPr id="13" name="body-3"/>
          <p:cNvSpPr txBox="1"/>
          <p:nvPr/>
        </p:nvSpPr>
        <p:spPr>
          <a:xfrm>
            <a:off x="1042416" y="3938915"/>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of 448 GB allocated — 39%. After the change, </a:t>
            </a:r>
            <a:r>
              <a:rPr sz="1900" b="0" i="0">
                <a:solidFill>
                  <a:srgbClr val="1C252B"/>
                </a:solidFill>
                <a:latin typeface="Cambria"/>
              </a:rPr>
              <a:t>32 × 6.2 = 198.4</a:t>
            </a:r>
            <a:r>
              <a:rPr sz="1900" b="0" i="0">
                <a:solidFill>
                  <a:srgbClr val="1C252B"/>
                </a:solidFill>
                <a:latin typeface="Segoe UI"/>
              </a:rPr>
              <a:t> GB, still far below 480 GB. So on </a:t>
            </a:r>
            <a:r>
              <a:rPr sz="1900" b="0" i="1">
                <a:solidFill>
                  <a:srgbClr val="1C252B"/>
                </a:solidFill>
                <a:latin typeface="Segoe UI"/>
              </a:rPr>
              <a:t>today’s behaviour</a:t>
            </a:r>
            <a:r>
              <a:rPr sz="1900" b="0" i="0">
                <a:solidFill>
                  <a:srgbClr val="1C252B"/>
                </a:solidFill>
                <a:latin typeface="Segoe UI"/>
              </a:rPr>
              <a:t> the memory fits comfortably.</a:t>
            </a:r>
          </a:p>
        </p:txBody>
      </p:sp>
      <p:sp>
        <p:nvSpPr>
          <p:cNvPr id="2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wipe(right)">
                                      <p:cBhvr>
                                        <p:cTn id="21" dur="42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Can This Host Take Four More Guests?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47     </a:t>
            </a:r>
            <a:fld id="{CAE1479B-CA09-4449-BE6F-EEBF1260CD31}"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27778"/>
          </a:xfrm>
          <a:prstGeom prst="roundRect">
            <a:avLst>
              <a:gd name="adj" fmla="val 206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2777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which of Steps 2 and 3 should decide?</a:t>
            </a:r>
            <a:r>
              <a:rPr sz="1900" b="0" i="0">
                <a:solidFill>
                  <a:srgbClr val="1C252B"/>
                </a:solidFill>
                <a:latin typeface="Segoe UI"/>
              </a:rPr>
              <a:t> This is the real question, and the answer is: Step 3 for the normal case, Step 2 for the bad one. Overcommitting memory is safe exactly as long as the guests do not all become active together — and the events that make them active together (a patch window, a backup run, a traffic spike, a failover from another host) are correlated by construction.</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65010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If all 32 guests touched their full allocation, demand would be 512 GB against 480 GB usable: 32 GB short, about 1 GB per guest to be reclaimed. Page sharing and ballooning would absorb that — rungs 1 and 2 — so the host would not swap. That is survivable.</a:t>
            </a:r>
          </a:p>
        </p:txBody>
      </p:sp>
      <p:sp>
        <p:nvSpPr>
          <p:cNvPr id="12" name="body-2"/>
          <p:cNvSpPr txBox="1"/>
          <p:nvPr/>
        </p:nvSpPr>
        <p:spPr>
          <a:xfrm>
            <a:off x="1042416" y="468624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5 — the recommendation.</a:t>
            </a:r>
            <a:r>
              <a:rPr sz="1900" b="0" i="0">
                <a:solidFill>
                  <a:srgbClr val="1C252B"/>
                </a:solidFill>
                <a:latin typeface="Segoe UI"/>
              </a:rPr>
              <a:t> </a:t>
            </a:r>
            <a:r>
              <a:rPr sz="1900" b="1" i="0">
                <a:solidFill>
                  <a:srgbClr val="1C252B"/>
                </a:solidFill>
                <a:latin typeface="Segoe UI"/>
              </a:rPr>
              <a:t>Refuse the request as stated, and make a counter-offer.</a:t>
            </a:r>
            <a:r>
              <a:rPr sz="1900" b="0" i="0">
                <a:solidFill>
                  <a:srgbClr val="1C252B"/>
                </a:solidFill>
                <a:latin typeface="Segoe UI"/>
              </a:rPr>
              <a:t> The binding problem is CPU, not memory: 9% ready at the 95th percentile is the symptom of a host already at its limit, and </a:t>
            </a:r>
            <a:r>
              <a:rPr sz="1900" b="0" i="0">
                <a:solidFill>
                  <a:srgbClr val="1C252B"/>
                </a:solidFill>
                <a:latin typeface="Cambria"/>
              </a:rPr>
              <a:t>σ</a:t>
            </a:r>
            <a:r>
              <a:rPr sz="1250" b="0" i="0" baseline="-25000">
                <a:solidFill>
                  <a:srgbClr val="1C252B"/>
                </a:solidFill>
                <a:latin typeface="Segoe UI"/>
              </a:rPr>
              <a:t>cpu</a:t>
            </a:r>
            <a:r>
              <a:rPr sz="1900" b="0" i="0">
                <a:solidFill>
                  <a:srgbClr val="1C252B"/>
                </a:solidFill>
                <a:latin typeface="Cambria"/>
              </a:rPr>
              <a:t> = 2.0</a:t>
            </a:r>
            <a:r>
              <a:rPr sz="1900" b="0" i="0">
                <a:solidFill>
                  <a:srgbClr val="1C252B"/>
                </a:solidFill>
                <a:latin typeface="Segoe UI"/>
              </a:rPr>
              <a:t> will make it worse for all 32 guests, not just the new four.</a:t>
            </a:r>
          </a:p>
        </p:txBody>
      </p:sp>
      <p:sp>
        <p:nvSpPr>
          <p:cNvPr id="13" name="body-2bar">
            <a:extLst>
              <a:ext uri="{C183D7F6-B498-43B3-948B-1728B52AA6E4}">
                <adec:decorative xmlns:adec="http://schemas.microsoft.com/office/drawing/2017/decorative" val="1"/>
              </a:ext>
            </a:extLst>
          </p:cNvPr>
          <p:cNvSpPr/>
          <p:nvPr/>
        </p:nvSpPr>
        <p:spPr>
          <a:xfrm>
            <a:off x="841248" y="4704537"/>
            <a:ext cx="54864" cy="118628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pfill">
            <a:extLst>
              <a:ext uri="{C183D7F6-B498-43B3-948B-1728B52AA6E4}">
                <adec:decorative xmlns:adec="http://schemas.microsoft.com/office/drawing/2017/decorative" val="1"/>
              </a:ext>
            </a:extLst>
          </p:cNvPr>
          <p:cNvSpPr/>
          <p:nvPr/>
        </p:nvSpPr>
        <p:spPr>
          <a:xfrm>
            <a:off x="0" y="0"/>
            <a:ext cx="435417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right)">
                                      <p:cBhvr>
                                        <p:cTn id="16" dur="42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right)">
                                      <p:cBhvr>
                                        <p:cTn id="21" dur="42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Can This Host Take Four More Guests?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47     </a:t>
            </a:r>
            <a:fld id="{8F006462-43F7-490C-8077-ED4516A18348}"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753209"/>
          </a:xfrm>
          <a:prstGeom prst="roundRect">
            <a:avLst>
              <a:gd name="adj" fmla="val 5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75320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counter-offer is to right-size. If the existing 28 guests are, like most, using two vCPUs of their four, reducing them to 2 vCPUs gives </a:t>
            </a:r>
            <a:r>
              <a:rPr sz="1900" b="0" i="0">
                <a:solidFill>
                  <a:srgbClr val="1C252B"/>
                </a:solidFill>
                <a:latin typeface="Cambria"/>
              </a:rPr>
              <a:t>σ</a:t>
            </a:r>
            <a:r>
              <a:rPr sz="1250" b="0" i="0" baseline="-25000">
                <a:solidFill>
                  <a:srgbClr val="1C252B"/>
                </a:solidFill>
                <a:latin typeface="Segoe UI"/>
              </a:rPr>
              <a:t>cpu</a:t>
            </a:r>
            <a:r>
              <a:rPr sz="1900" b="0" i="0">
                <a:solidFill>
                  <a:srgbClr val="1C252B"/>
                </a:solidFill>
                <a:latin typeface="Cambria"/>
              </a:rPr>
              <a:t> = (28 × 2 + 4 × 4)/64 = 72/64 = 1.13</a:t>
            </a:r>
            <a:r>
              <a:rPr sz="1900" b="0" i="0">
                <a:solidFill>
                  <a:srgbClr val="1C252B"/>
                </a:solidFill>
                <a:latin typeface="Segoe UI"/>
              </a:rPr>
              <a:t> — and the four new guests fit with ready time </a:t>
            </a:r>
            <a:r>
              <a:rPr sz="1900" b="0" i="1">
                <a:solidFill>
                  <a:srgbClr val="1C252B"/>
                </a:solidFill>
                <a:latin typeface="Segoe UI"/>
              </a:rPr>
              <a:t>lower</a:t>
            </a:r>
            <a:r>
              <a:rPr sz="1900" b="0" i="0">
                <a:solidFill>
                  <a:srgbClr val="1C252B"/>
                </a:solidFill>
                <a:latin typeface="Segoe UI"/>
              </a:rPr>
              <a:t> than it is today. Chapter 18 is how you establish whether that premise holds.</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64445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Do not read a memory overcommit ratio without an active figure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§6.3  ·  Handout p. 47     </a:t>
            </a:r>
            <a:fld id="{915AFB11-3F7C-4130-B553-7E2BD95AF39C}"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969691"/>
          </a:xfrm>
          <a:prstGeom prst="roundRect">
            <a:avLst>
              <a:gd name="adj" fmla="val 3079"/>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969691"/>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Cambria"/>
              </a:rPr>
              <a:t>σ</a:t>
            </a:r>
            <a:r>
              <a:rPr sz="1500" b="0" i="0" baseline="-25000">
                <a:solidFill>
                  <a:srgbClr val="1C252B"/>
                </a:solidFill>
                <a:latin typeface="Segoe UI"/>
              </a:rPr>
              <a:t>mem</a:t>
            </a:r>
            <a:r>
              <a:rPr sz="2300" b="0" i="0">
                <a:solidFill>
                  <a:srgbClr val="1C252B"/>
                </a:solidFill>
                <a:latin typeface="Cambria"/>
              </a:rPr>
              <a:t> = 1.25</a:t>
            </a:r>
            <a:r>
              <a:rPr sz="2300" b="0" i="0">
                <a:solidFill>
                  <a:srgbClr val="1C252B"/>
                </a:solidFill>
                <a:latin typeface="Segoe UI"/>
              </a:rPr>
              <a:t> tells you almost nothing on its own. If the guests are using a third of what they were given, it is comfortable. If they are using all of it, the host is already swapping.</a:t>
            </a:r>
          </a:p>
        </p:txBody>
      </p:sp>
      <p:sp>
        <p:nvSpPr>
          <p:cNvPr id="10" name="body-1"/>
          <p:cNvSpPr txBox="1"/>
          <p:nvPr/>
        </p:nvSpPr>
        <p:spPr>
          <a:xfrm>
            <a:off x="1060704" y="3302533"/>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Allocation is a promise; active memory is a fact. Plan against the fact, size the safety margin against the promise, and know which of the two you are quoting whenever you quote a number.</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93473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NUMA</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4 OF 4</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6.4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6.1   Scheduling a Processor That Is Not There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6.2   Why More vCPUs Can Be Slower</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6.3   Memory, and Why It Is the Constraint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6.4   NUMA</a:t>
            </a:r>
          </a:p>
        </p:txBody>
      </p:sp>
      <p:sp>
        <p:nvSpPr>
          <p:cNvPr id="10"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a:t>
            </a:r>
          </a:p>
        </p:txBody>
      </p:sp>
      <p:sp>
        <p:nvSpPr>
          <p:cNvPr id="11"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§6.4     </a:t>
            </a:r>
            <a:fld id="{B5478AB9-8CA6-456C-8322-C87FDD30FDEA}" type="slidenum">
              <a:rPr lang="en-GB" sz="1000">
                <a:solidFill>
                  <a:srgbClr val="8795A1"/>
                </a:solidFill>
                <a:latin typeface="Segoe UI"/>
              </a:rPr>
              <a:t>18</a:t>
            </a:fld>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22501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NUMA on a two-socket host</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6.3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99D2FDC3-14C2-4EC8-AD02-6D22B31CCC5A}" type="slidenum">
              <a:rPr lang="en-GB" sz="1000">
                <a:solidFill>
                  <a:srgbClr val="8795A1"/>
                </a:solidFill>
                <a:latin typeface="Segoe UI"/>
              </a:rPr>
              <a:t>19</a:t>
            </a:fld>
          </a:p>
        </p:txBody>
      </p:sp>
      <p:pic>
        <p:nvPicPr>
          <p:cNvPr id="6" name="!!figure" descr="Figure 6.3. NUMA on a two-socket host. The green guest is a sizing decision, not a tuning option: once a guest is wider than a socket, no amount of hypervisor configuration makes its memory local agai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4095" y="1737360"/>
            <a:ext cx="10503503"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The green guest is a sizing decision, not a tuning option: once a guest is wider than a socket, no amount of hypervisor configuration makes its memory local again.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551529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vNUMA: Telling the Guest the Truth</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45BCB40C-15EE-4D87-92DF-DF6F291543B0}" type="slidenum">
              <a:rPr lang="en-GB" sz="1000">
                <a:solidFill>
                  <a:srgbClr val="8795A1"/>
                </a:solidFill>
                <a:latin typeface="Segoe UI"/>
              </a:rPr>
              <a:t>20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500930"/>
          </a:xfrm>
          <a:prstGeom prst="roundRect">
            <a:avLst>
              <a:gd name="adj" fmla="val 203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500930"/>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guest that must span sockets can still be scheduled well, but only if it knows. </a:t>
            </a:r>
            <a:r>
              <a:rPr sz="1900" b="1" i="0">
                <a:solidFill>
                  <a:srgbClr val="1A5276"/>
                </a:solidFill>
                <a:latin typeface="Segoe UI"/>
              </a:rPr>
              <a:t>vNUMA</a:t>
            </a:r>
            <a:r>
              <a:rPr sz="1900" b="0" i="0">
                <a:solidFill>
                  <a:srgbClr val="1C252B"/>
                </a:solidFill>
                <a:latin typeface="Segoe UI"/>
              </a:rPr>
              <a:t> exposes the host’s NUMA topology to the guest, so the guest kernel’s own NUMA-aware scheduler and allocator can keep each thread’s memory on the node where the thread runs. Databases and JVMs do this competently.</a:t>
            </a:r>
          </a:p>
        </p:txBody>
      </p:sp>
      <p:sp>
        <p:nvSpPr>
          <p:cNvPr id="10" name="body-1"/>
          <p:cNvSpPr txBox="1"/>
          <p:nvPr/>
        </p:nvSpPr>
        <p:spPr>
          <a:xfrm>
            <a:off x="1060704" y="3385540"/>
            <a:ext cx="10161727"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Two consequences follow, and both are commonly missed. First, vNUMA is usually enabled automatically only above a threshold — historically eight or nine vCPUs — so a guest just under it that still spans sockets gets no topology at all. Second, the topology is fixed when the guest boots: migrating it (Chapter 17) to a host with a different socket layout leaves the guest optimising for a machine it is no longer on.</a:t>
            </a:r>
          </a:p>
        </p:txBody>
      </p:sp>
      <p:sp>
        <p:nvSpPr>
          <p:cNvPr id="11" name="body-2"/>
          <p:cNvSpPr txBox="1"/>
          <p:nvPr/>
        </p:nvSpPr>
        <p:spPr>
          <a:xfrm>
            <a:off x="1060704" y="5023967"/>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rule that survives all of this: </a:t>
            </a:r>
            <a:r>
              <a:rPr sz="1900" b="1" i="0">
                <a:solidFill>
                  <a:srgbClr val="1C252B"/>
                </a:solidFill>
                <a:latin typeface="Segoe UI"/>
              </a:rPr>
              <a:t>size guests to fit inside a NUMA node wherever you can</a:t>
            </a:r>
            <a:r>
              <a:rPr sz="1900" b="0" i="0">
                <a:solidFill>
                  <a:srgbClr val="1C252B"/>
                </a:solidFill>
                <a:latin typeface="Segoe UI"/>
              </a:rPr>
              <a:t>. It is the cheapest performance decision in this chapter and it is made at provisioning time, where nobody is looking.</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80556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0F190C8B-2CBD-4056-9119-5F8FED7C4DBB}"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Adding vCPUs to a slow guest.</a:t>
            </a:r>
            <a:r>
              <a:rPr sz="1700" b="0" i="0">
                <a:solidFill>
                  <a:srgbClr val="1C252B"/>
                </a:solidFill>
                <a:latin typeface="Segoe UI"/>
              </a:rPr>
              <a:t> If the guest is slow because the host is contended, more vCPUs raise its ready time and everyone else’s. Measure %RDY before changing anything.</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Quoting an overcommit ratio with no active-memory figure.</a:t>
            </a:r>
            <a:r>
              <a:rPr sz="1700" b="0" i="0">
                <a:solidFill>
                  <a:srgbClr val="1C252B"/>
                </a:solidFill>
                <a:latin typeface="Segoe UI"/>
              </a:rPr>
              <a:t> Allocation is a promise and activity is a fact; a ratio without the second is not a capacity statement.</a:t>
            </a:r>
          </a:p>
        </p:txBody>
      </p:sp>
      <p:sp>
        <p:nvSpPr>
          <p:cNvPr id="13" name="!!pb2">
            <a:extLst>
              <a:ext uri="{C183D7F6-B498-43B3-948B-1728B52AA6E4}">
                <adec:decorative xmlns:adec="http://schemas.microsoft.com/office/drawing/2017/decorative" val="1"/>
              </a:ext>
            </a:extLst>
          </p:cNvPr>
          <p:cNvSpPr/>
          <p:nvPr/>
        </p:nvSpPr>
        <p:spPr>
          <a:xfrm>
            <a:off x="658368" y="323575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25861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217468"/>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the four reclamation techniques as interchangeable.</a:t>
            </a:r>
            <a:r>
              <a:rPr sz="1700" b="0" i="0">
                <a:solidFill>
                  <a:srgbClr val="1C252B"/>
                </a:solidFill>
                <a:latin typeface="Segoe UI"/>
              </a:rPr>
              <a:t> Page sharing is free and ballooning is cheap; swapping is a cliff, not a slope. A host that swaps is misconfigured, not merely busy.</a:t>
            </a:r>
          </a:p>
        </p:txBody>
      </p:sp>
      <p:sp>
        <p:nvSpPr>
          <p:cNvPr id="16" name="!!pb3">
            <a:extLst>
              <a:ext uri="{C183D7F6-B498-43B3-948B-1728B52AA6E4}">
                <adec:decorative xmlns:adec="http://schemas.microsoft.com/office/drawing/2017/decorative" val="1"/>
              </a:ext>
            </a:extLst>
          </p:cNvPr>
          <p:cNvSpPr/>
          <p:nvPr/>
        </p:nvSpPr>
        <p:spPr>
          <a:xfrm>
            <a:off x="658368" y="397581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998671"/>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57523"/>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Running guests without the balloon driver and then overcommitting.</a:t>
            </a:r>
            <a:r>
              <a:rPr sz="1700" b="0" i="0">
                <a:solidFill>
                  <a:srgbClr val="1C252B"/>
                </a:solidFill>
                <a:latin typeface="Segoe UI"/>
              </a:rPr>
              <a:t> Without guest cooperation the hypervisor skips the graceful rung entirely.</a:t>
            </a:r>
          </a:p>
        </p:txBody>
      </p:sp>
      <p:sp>
        <p:nvSpPr>
          <p:cNvPr id="19" name="!!pb4">
            <a:extLst>
              <a:ext uri="{C183D7F6-B498-43B3-948B-1728B52AA6E4}">
                <adec:decorative xmlns:adec="http://schemas.microsoft.com/office/drawing/2017/decorative" val="1"/>
              </a:ext>
            </a:extLst>
          </p:cNvPr>
          <p:cNvSpPr/>
          <p:nvPr/>
        </p:nvSpPr>
        <p:spPr>
          <a:xfrm>
            <a:off x="658368" y="4715865"/>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738725"/>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697577"/>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Ignoring NUMA until there is a problem.</a:t>
            </a:r>
            <a:r>
              <a:rPr sz="1700" b="0" i="0">
                <a:solidFill>
                  <a:srgbClr val="1C252B"/>
                </a:solidFill>
                <a:latin typeface="Segoe UI"/>
              </a:rPr>
              <a:t> It is decided when the guest is sized. A 40-vCPU guest on a 32-core socket cannot be tuned back into locality.</a:t>
            </a:r>
          </a:p>
        </p:txBody>
      </p:sp>
      <p:sp>
        <p:nvSpPr>
          <p:cNvPr id="22" name="!!pb5">
            <a:extLst>
              <a:ext uri="{C183D7F6-B498-43B3-948B-1728B52AA6E4}">
                <adec:decorative xmlns:adec="http://schemas.microsoft.com/office/drawing/2017/decorative" val="1"/>
              </a:ext>
            </a:extLst>
          </p:cNvPr>
          <p:cNvSpPr/>
          <p:nvPr/>
        </p:nvSpPr>
        <p:spPr>
          <a:xfrm>
            <a:off x="658368" y="545591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47877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437631"/>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Disabling page sharing because of side-channel advice, without noticing the memory cost.</a:t>
            </a:r>
            <a:r>
              <a:rPr sz="1700" b="0" i="0">
                <a:solidFill>
                  <a:srgbClr val="1C252B"/>
                </a:solidFill>
                <a:latin typeface="Segoe UI"/>
              </a:rPr>
              <a:t> Sharing between guests was restricted by default after 2014 for good reasons, but on a host of forty identical guests it was recovering a substantial fraction of memory. Know which trade you have made.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Making a Host Hurt, on Purpose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7ACF3A0F-E474-46C2-A684-609FF15D577B}" type="slidenum">
              <a:rPr lang="en-GB" sz="1000">
                <a:solidFill>
                  <a:srgbClr val="8795A1"/>
                </a:solidFill>
                <a:latin typeface="Segoe UI"/>
              </a:rPr>
              <a:t>22</a:t>
            </a:fld>
          </a:p>
        </p:txBody>
      </p:sp>
      <p:sp>
        <p:nvSpPr>
          <p:cNvPr id="7" name="body-0"/>
          <p:cNvSpPr txBox="1"/>
          <p:nvPr/>
        </p:nvSpPr>
        <p:spPr>
          <a:xfrm>
            <a:off x="658368" y="1737360"/>
            <a:ext cx="108749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Drives one host into CPU contention and then into memory pressure, and watches each symptom appear. Use a laptop you are not relying on; it will become unresponsive at step 5. Expect forty minutes.</a:t>
            </a:r>
          </a:p>
        </p:txBody>
      </p:sp>
      <p:sp>
        <p:nvSpPr>
          <p:cNvPr id="8" name="!!labsteps-h"/>
          <p:cNvSpPr txBox="1"/>
          <p:nvPr/>
        </p:nvSpPr>
        <p:spPr>
          <a:xfrm>
            <a:off x="658368" y="29992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383280"/>
            <a:ext cx="10874959" cy="19050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How many physical cores are we actually working with?</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Build four guests, each with as many vCPUs as the host has.</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Baseline: one guest busy, three idle.</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Now make all four busy and read steal time in the guest.</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Memory pressure: ask for far more than the host has.</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Right-size, and measure the same thing again.</a:t>
            </a:r>
          </a:p>
          <a:p>
            <a:pPr algn="l" marL="367434" indent="-367434">
              <a:lnSpc>
                <a:spcPct val="100000"/>
              </a:lnSpc>
              <a:spcBef>
                <a:spcPts val="0"/>
              </a:spcBef>
              <a:spcAft>
                <a:spcPts val="0"/>
              </a:spcAft>
            </a:pPr>
            <a:r>
              <a:rPr sz="1400" b="1">
                <a:solidFill>
                  <a:srgbClr val="117A65"/>
                </a:solidFill>
                <a:latin typeface="Segoe UI"/>
              </a:rPr>
              <a:t>7.	</a:t>
            </a:r>
            <a:r>
              <a:rPr sz="1400" b="0" i="0">
                <a:solidFill>
                  <a:srgbClr val="1C252B"/>
                </a:solidFill>
                <a:latin typeface="Segoe UI"/>
              </a:rPr>
              <a:t>Tear down.</a:t>
            </a:r>
          </a:p>
        </p:txBody>
      </p:sp>
      <p:sp>
        <p:nvSpPr>
          <p:cNvPr id="39"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2"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5: Drive a host into contention and read the counters</a:t>
            </a:r>
          </a:p>
        </p:txBody>
      </p:sp>
      <p:sp>
        <p:nvSpPr>
          <p:cNvPr id="43"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46"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62 lines of Shell</a:t>
            </a:r>
          </a:p>
        </p:txBody>
      </p:sp>
      <p:sp>
        <p:nvSpPr>
          <p:cNvPr id="4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pfill">
            <a:extLst>
              <a:ext uri="{C183D7F6-B498-43B3-948B-1728B52AA6E4}">
                <adec:decorative xmlns:adec="http://schemas.microsoft.com/office/drawing/2017/decorative" val="1"/>
              </a:ext>
            </a:extLst>
          </p:cNvPr>
          <p:cNvSpPr/>
          <p:nvPr/>
        </p:nvSpPr>
        <p:spPr>
          <a:xfrm>
            <a:off x="0" y="0"/>
            <a:ext cx="638612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a Host Hurt, on Purpose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60ED7C0B-1041-4910-A670-97A7EB6476EF}"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06_pressure.sh -- ready time and the reclamation ladder, observed. set -euo pipefail G () { ssh -o StrictHostKeyChecking=no &quot;ubuntu@$1&quot; &quot;$2&quot;; }"/>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#!/usr/bin/env bash</a:t>
            </a:r>
          </a:p>
          <a:p>
            <a:pPr>
              <a:lnSpc>
                <a:spcPct val="100000"/>
              </a:lnSpc>
              <a:spcAft>
                <a:spcPts val="0"/>
              </a:spcAft>
            </a:pPr>
            <a:r>
              <a:rPr sz="1900" i="1">
                <a:solidFill>
                  <a:srgbClr val="8795A1"/>
                </a:solidFill>
                <a:latin typeface="Consolas"/>
              </a:rPr>
              <a:t># ch06_pressure.sh -- ready time and the reclamation ladder, observed.</a:t>
            </a:r>
          </a:p>
          <a:p>
            <a:pPr>
              <a:lnSpc>
                <a:spcPct val="100000"/>
              </a:lnSpc>
              <a:spcAft>
                <a:spcPts val="0"/>
              </a:spcAft>
            </a:pP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-euo</a:t>
            </a:r>
            <a:r>
              <a:rPr sz="1900" i="0">
                <a:solidFill>
                  <a:srgbClr val="E8EDF2"/>
                </a:solidFill>
                <a:latin typeface="Consolas"/>
              </a:rPr>
              <a:t> </a:t>
            </a:r>
            <a:r>
              <a:rPr sz="1900" i="0">
                <a:solidFill>
                  <a:srgbClr val="E8EDF2"/>
                </a:solidFill>
                <a:latin typeface="Consolas"/>
              </a:rPr>
              <a:t>pipefail</a:t>
            </a:r>
          </a:p>
          <a:p>
            <a:pPr>
              <a:lnSpc>
                <a:spcPct val="100000"/>
              </a:lnSpc>
              <a:spcAft>
                <a:spcPts val="0"/>
              </a:spcAft>
            </a:pPr>
            <a:r>
              <a:rPr sz="1900" i="0">
                <a:solidFill>
                  <a:srgbClr val="E8EDF2"/>
                </a:solidFill>
                <a:latin typeface="Consolas"/>
              </a:rPr>
              <a:t>G</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ssh</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StrictHostKeyChecking</a:t>
            </a:r>
            <a:r>
              <a:rPr sz="1900" i="0">
                <a:solidFill>
                  <a:srgbClr val="AEB6BF"/>
                </a:solidFill>
                <a:latin typeface="Consolas"/>
              </a:rPr>
              <a:t>=</a:t>
            </a:r>
            <a:r>
              <a:rPr sz="1900" i="0">
                <a:solidFill>
                  <a:srgbClr val="E8EDF2"/>
                </a:solidFill>
                <a:latin typeface="Consolas"/>
              </a:rPr>
              <a:t>no</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ubuntu@</a:t>
            </a:r>
            <a:r>
              <a:rPr sz="1900" i="0">
                <a:solidFill>
                  <a:srgbClr val="E8EDF2"/>
                </a:solidFill>
                <a:latin typeface="Consolas"/>
              </a:rPr>
              <a:t>$1</a:t>
            </a:r>
            <a:r>
              <a:rPr sz="1900" i="0">
                <a:solidFill>
                  <a:srgbClr val="7DCEA0"/>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$2</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67640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a Host Hurt, on Purpose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22858C2E-7883-45CD-A880-36B4A69F0B0A}"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How many physical cores are we actually working with?</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152143"/>
          </a:xfrm>
          <a:prstGeom prst="roundRect">
            <a:avLst>
              <a:gd name="adj" fmla="val 79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1. How many physical cores are we actually working with? ---------- nproc ; lscpu | grep -E 'Socket|Core|NUMA'"/>
          <p:cNvSpPr txBox="1"/>
          <p:nvPr/>
        </p:nvSpPr>
        <p:spPr>
          <a:xfrm>
            <a:off x="1362456" y="2523744"/>
            <a:ext cx="9987991" cy="6583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How many physical cores are we actually working with? ----------</a:t>
            </a:r>
          </a:p>
          <a:p>
            <a:pPr>
              <a:lnSpc>
                <a:spcPct val="100000"/>
              </a:lnSpc>
              <a:spcAft>
                <a:spcPts val="0"/>
              </a:spcAft>
            </a:pPr>
            <a:r>
              <a:rPr sz="1800" i="0">
                <a:solidFill>
                  <a:srgbClr val="E8EDF2"/>
                </a:solidFill>
                <a:latin typeface="Consolas"/>
              </a:rPr>
              <a:t>nproc</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lscpu</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-E</a:t>
            </a:r>
            <a:r>
              <a:rPr sz="1800" i="0">
                <a:solidFill>
                  <a:srgbClr val="E8EDF2"/>
                </a:solidFill>
                <a:latin typeface="Consolas"/>
              </a:rPr>
              <a:t> </a:t>
            </a:r>
            <a:r>
              <a:rPr sz="1800" i="0">
                <a:solidFill>
                  <a:srgbClr val="7DCEA0"/>
                </a:solidFill>
                <a:latin typeface="Consolas"/>
              </a:rPr>
              <a:t>'Socket|Core|NUMA'</a:t>
            </a:r>
          </a:p>
        </p:txBody>
      </p:sp>
      <p:sp>
        <p:nvSpPr>
          <p:cNvPr id="15" name="!!code-num"/>
          <p:cNvSpPr txBox="1"/>
          <p:nvPr/>
        </p:nvSpPr>
        <p:spPr>
          <a:xfrm>
            <a:off x="768096" y="2523744"/>
            <a:ext cx="393192" cy="6583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6</a:t>
            </a:r>
          </a:p>
          <a:p>
            <a:pPr algn="r">
              <a:lnSpc>
                <a:spcPct val="100000"/>
              </a:lnSpc>
            </a:pPr>
            <a:r>
              <a:rPr sz="18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96668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a Host Hurt, on Purpose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3F8A0294-C553-4433-B34C-C7C4F8EDB8AD}"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Build four guests, each with as many vCPUs as the host has.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621024"/>
          </a:xfrm>
          <a:prstGeom prst="roundRect">
            <a:avLst>
              <a:gd name="adj" fmla="val 2525"/>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Build four guests, each with as many vCPUs as the host has. ---- # Deliberate oversubscription: 4 guests x nproc vCPUs on nproc cores. for n in 1 2 3 4; do sudo qemu-img create -f qcow2 -b /var/lib/libvirt/images/vss1.qcow2 \ -F qcow2 &quot;/var/lib/libvirt/images/p$n.qcow2&quot; 10G sudo virt-install --name &quot;p$n&quot; --memory 2048 --vcpus &quot;$(nproc)&quot; \ --disk &quot;/var/lib/libvirt/images/p$n.qcow2&quot;,format=qcow2 \ --disk seed.iso,device=cdrom --os-variant ubuntu22.04 \ --import --graphics none --noautoconsole done sleep 40"/>
          <p:cNvSpPr txBox="1"/>
          <p:nvPr/>
        </p:nvSpPr>
        <p:spPr>
          <a:xfrm>
            <a:off x="1362456" y="2523744"/>
            <a:ext cx="9987991" cy="312724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Build four guests, each with as many vCPUs as the host has. ----</a:t>
            </a:r>
          </a:p>
          <a:p>
            <a:pPr>
              <a:lnSpc>
                <a:spcPct val="100000"/>
              </a:lnSpc>
              <a:spcAft>
                <a:spcPts val="0"/>
              </a:spcAft>
            </a:pPr>
            <a:r>
              <a:rPr sz="1800" i="1">
                <a:solidFill>
                  <a:srgbClr val="8795A1"/>
                </a:solidFill>
                <a:latin typeface="Consolas"/>
              </a:rPr>
              <a:t># Deliberate oversubscription: 4 guests x nproc vCPUs on nproc cores.</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5DADE2"/>
                </a:solidFill>
                <a:latin typeface="Consolas"/>
              </a:rPr>
              <a:t>in</a:t>
            </a:r>
            <a:r>
              <a:rPr sz="1800" i="0">
                <a:solidFill>
                  <a:srgbClr val="E8EDF2"/>
                </a:solidFill>
                <a:latin typeface="Consolas"/>
              </a:rPr>
              <a:t> </a:t>
            </a:r>
            <a:r>
              <a:rPr sz="1800" i="0">
                <a:solidFill>
                  <a:srgbClr val="F7DC6F"/>
                </a:solidFill>
                <a:latin typeface="Consolas"/>
              </a:rPr>
              <a:t>1</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F7DC6F"/>
                </a:solidFill>
                <a:latin typeface="Consolas"/>
              </a:rPr>
              <a:t>3</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qemu-img</a:t>
            </a:r>
            <a:r>
              <a:rPr sz="1800" i="0">
                <a:solidFill>
                  <a:srgbClr val="E8EDF2"/>
                </a:solidFill>
                <a:latin typeface="Consolas"/>
              </a:rPr>
              <a:t> </a:t>
            </a:r>
            <a:r>
              <a:rPr sz="1800" i="0">
                <a:solidFill>
                  <a:srgbClr val="E8EDF2"/>
                </a:solidFill>
                <a:latin typeface="Consolas"/>
              </a:rPr>
              <a:t>create</a:t>
            </a:r>
            <a:r>
              <a:rPr sz="1800" i="0">
                <a:solidFill>
                  <a:srgbClr val="E8EDF2"/>
                </a:solidFill>
                <a:latin typeface="Consolas"/>
              </a:rPr>
              <a:t> </a:t>
            </a:r>
            <a:r>
              <a:rPr sz="1800" i="0">
                <a:solidFill>
                  <a:srgbClr val="E8EDF2"/>
                </a:solidFill>
                <a:latin typeface="Consolas"/>
              </a:rPr>
              <a:t>-f</a:t>
            </a:r>
            <a:r>
              <a:rPr sz="1800" i="0">
                <a:solidFill>
                  <a:srgbClr val="E8EDF2"/>
                </a:solidFill>
                <a:latin typeface="Consolas"/>
              </a:rPr>
              <a:t> </a:t>
            </a:r>
            <a:r>
              <a:rPr sz="1800" i="0">
                <a:solidFill>
                  <a:srgbClr val="E8EDF2"/>
                </a:solidFill>
                <a:latin typeface="Consolas"/>
              </a:rPr>
              <a:t>qcow2</a:t>
            </a:r>
            <a:r>
              <a:rPr sz="1800" i="0">
                <a:solidFill>
                  <a:srgbClr val="E8EDF2"/>
                </a:solidFill>
                <a:latin typeface="Consolas"/>
              </a:rPr>
              <a:t> </a:t>
            </a:r>
            <a:r>
              <a:rPr sz="1800" i="0">
                <a:solidFill>
                  <a:srgbClr val="E8EDF2"/>
                </a:solidFill>
                <a:latin typeface="Consolas"/>
              </a:rPr>
              <a:t>-b</a:t>
            </a:r>
            <a:r>
              <a:rPr sz="1800" i="0">
                <a:solidFill>
                  <a:srgbClr val="E8EDF2"/>
                </a:solidFill>
                <a:latin typeface="Consolas"/>
              </a:rPr>
              <a:t> </a:t>
            </a:r>
            <a:r>
              <a:rPr sz="1800" i="0">
                <a:solidFill>
                  <a:srgbClr val="E8EDF2"/>
                </a:solidFill>
                <a:latin typeface="Consolas"/>
              </a:rPr>
              <a:t>/var/lib/libvirt/images/vss1.qcow2</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-F</a:t>
            </a:r>
            <a:r>
              <a:rPr sz="1800" i="0">
                <a:solidFill>
                  <a:srgbClr val="E8EDF2"/>
                </a:solidFill>
                <a:latin typeface="Consolas"/>
              </a:rPr>
              <a:t> </a:t>
            </a:r>
            <a:r>
              <a:rPr sz="1800" i="0">
                <a:solidFill>
                  <a:srgbClr val="E8EDF2"/>
                </a:solidFill>
                <a:latin typeface="Consolas"/>
              </a:rPr>
              <a:t>qcow2</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/var/lib/libvirt/images/p</a:t>
            </a:r>
            <a:r>
              <a:rPr sz="1800" i="0">
                <a:solidFill>
                  <a:srgbClr val="E8EDF2"/>
                </a:solidFill>
                <a:latin typeface="Consolas"/>
              </a:rPr>
              <a:t>$n</a:t>
            </a:r>
            <a:r>
              <a:rPr sz="1800" i="0">
                <a:solidFill>
                  <a:srgbClr val="7DCEA0"/>
                </a:solidFill>
                <a:latin typeface="Consolas"/>
              </a:rPr>
              <a:t>.qcow2</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10G</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virt-install</a:t>
            </a:r>
            <a:r>
              <a:rPr sz="1800" i="0">
                <a:solidFill>
                  <a:srgbClr val="E8EDF2"/>
                </a:solidFill>
                <a:latin typeface="Consolas"/>
              </a:rPr>
              <a:t> </a:t>
            </a:r>
            <a:r>
              <a:rPr sz="1800" i="0">
                <a:solidFill>
                  <a:srgbClr val="E8EDF2"/>
                </a:solidFill>
                <a:latin typeface="Consolas"/>
              </a:rPr>
              <a:t>--name</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a:t>
            </a:r>
            <a:r>
              <a:rPr sz="1800" i="0">
                <a:solidFill>
                  <a:srgbClr val="E8EDF2"/>
                </a:solidFill>
                <a:latin typeface="Consolas"/>
              </a:rPr>
              <a:t>$n</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--memory</a:t>
            </a:r>
            <a:r>
              <a:rPr sz="1800" i="0">
                <a:solidFill>
                  <a:srgbClr val="E8EDF2"/>
                </a:solidFill>
                <a:latin typeface="Consolas"/>
              </a:rPr>
              <a:t> </a:t>
            </a:r>
            <a:r>
              <a:rPr sz="1800" i="0">
                <a:solidFill>
                  <a:srgbClr val="F7DC6F"/>
                </a:solidFill>
                <a:latin typeface="Consolas"/>
              </a:rPr>
              <a:t>2048</a:t>
            </a:r>
            <a:r>
              <a:rPr sz="1800" i="0">
                <a:solidFill>
                  <a:srgbClr val="E8EDF2"/>
                </a:solidFill>
                <a:latin typeface="Consolas"/>
              </a:rPr>
              <a:t> </a:t>
            </a:r>
            <a:r>
              <a:rPr sz="1800" i="0">
                <a:solidFill>
                  <a:srgbClr val="E8EDF2"/>
                </a:solidFill>
                <a:latin typeface="Consolas"/>
              </a:rPr>
              <a:t>--vcpus</a:t>
            </a:r>
            <a:r>
              <a:rPr sz="1800" i="0">
                <a:solidFill>
                  <a:srgbClr val="E8EDF2"/>
                </a:solidFill>
                <a:latin typeface="Consolas"/>
              </a:rPr>
              <a:t> </a:t>
            </a:r>
            <a:r>
              <a:rPr sz="1800" i="0">
                <a:solidFill>
                  <a:srgbClr val="7DCEA0"/>
                </a:solidFill>
                <a:latin typeface="Consolas"/>
              </a:rPr>
              <a:t>"</a:t>
            </a:r>
            <a:r>
              <a:rPr sz="1800" i="0">
                <a:solidFill>
                  <a:srgbClr val="5DADE2"/>
                </a:solidFill>
                <a:latin typeface="Consolas"/>
              </a:rPr>
              <a:t>$(</a:t>
            </a:r>
            <a:r>
              <a:rPr sz="1800" i="0">
                <a:solidFill>
                  <a:srgbClr val="E8EDF2"/>
                </a:solidFill>
                <a:latin typeface="Consolas"/>
              </a:rPr>
              <a:t>nproc</a:t>
            </a:r>
            <a:r>
              <a:rPr sz="1800" i="0">
                <a:solidFill>
                  <a:srgbClr val="5DADE2"/>
                </a:solidFill>
                <a:latin typeface="Consolas"/>
              </a:rPr>
              <a:t>)</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--disk</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/var/lib/libvirt/images/p</a:t>
            </a:r>
            <a:r>
              <a:rPr sz="1800" i="0">
                <a:solidFill>
                  <a:srgbClr val="E8EDF2"/>
                </a:solidFill>
                <a:latin typeface="Consolas"/>
              </a:rPr>
              <a:t>$n</a:t>
            </a:r>
            <a:r>
              <a:rPr sz="1800" i="0">
                <a:solidFill>
                  <a:srgbClr val="7DCEA0"/>
                </a:solidFill>
                <a:latin typeface="Consolas"/>
              </a:rPr>
              <a:t>.qcow2</a:t>
            </a:r>
            <a:r>
              <a:rPr sz="1800" i="0">
                <a:solidFill>
                  <a:srgbClr val="7DCEA0"/>
                </a:solidFill>
                <a:latin typeface="Consolas"/>
              </a:rPr>
              <a:t>"</a:t>
            </a:r>
            <a:r>
              <a:rPr sz="1800" i="0">
                <a:solidFill>
                  <a:srgbClr val="E8EDF2"/>
                </a:solidFill>
                <a:latin typeface="Consolas"/>
              </a:rPr>
              <a:t>,format</a:t>
            </a:r>
            <a:r>
              <a:rPr sz="1800" i="0">
                <a:solidFill>
                  <a:srgbClr val="AEB6BF"/>
                </a:solidFill>
                <a:latin typeface="Consolas"/>
              </a:rPr>
              <a:t>=</a:t>
            </a:r>
            <a:r>
              <a:rPr sz="1800" i="0">
                <a:solidFill>
                  <a:srgbClr val="E8EDF2"/>
                </a:solidFill>
                <a:latin typeface="Consolas"/>
              </a:rPr>
              <a:t>qcow2</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--disk</a:t>
            </a:r>
            <a:r>
              <a:rPr sz="1800" i="0">
                <a:solidFill>
                  <a:srgbClr val="E8EDF2"/>
                </a:solidFill>
                <a:latin typeface="Consolas"/>
              </a:rPr>
              <a:t> </a:t>
            </a:r>
            <a:r>
              <a:rPr sz="1800" i="0">
                <a:solidFill>
                  <a:srgbClr val="E8EDF2"/>
                </a:solidFill>
                <a:latin typeface="Consolas"/>
              </a:rPr>
              <a:t>seed.iso,device</a:t>
            </a:r>
            <a:r>
              <a:rPr sz="1800" i="0">
                <a:solidFill>
                  <a:srgbClr val="AEB6BF"/>
                </a:solidFill>
                <a:latin typeface="Consolas"/>
              </a:rPr>
              <a:t>=</a:t>
            </a:r>
            <a:r>
              <a:rPr sz="1800" i="0">
                <a:solidFill>
                  <a:srgbClr val="E8EDF2"/>
                </a:solidFill>
                <a:latin typeface="Consolas"/>
              </a:rPr>
              <a:t>cdrom</a:t>
            </a:r>
            <a:r>
              <a:rPr sz="1800" i="0">
                <a:solidFill>
                  <a:srgbClr val="E8EDF2"/>
                </a:solidFill>
                <a:latin typeface="Consolas"/>
              </a:rPr>
              <a:t> </a:t>
            </a:r>
            <a:r>
              <a:rPr sz="1800" i="0">
                <a:solidFill>
                  <a:srgbClr val="E8EDF2"/>
                </a:solidFill>
                <a:latin typeface="Consolas"/>
              </a:rPr>
              <a:t>--os-variant</a:t>
            </a:r>
            <a:r>
              <a:rPr sz="1800" i="0">
                <a:solidFill>
                  <a:srgbClr val="E8EDF2"/>
                </a:solidFill>
                <a:latin typeface="Consolas"/>
              </a:rPr>
              <a:t> </a:t>
            </a:r>
            <a:r>
              <a:rPr sz="1800" i="0">
                <a:solidFill>
                  <a:srgbClr val="E8EDF2"/>
                </a:solidFill>
                <a:latin typeface="Consolas"/>
              </a:rPr>
              <a:t>ubuntu22.04</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--import</a:t>
            </a:r>
            <a:r>
              <a:rPr sz="1800" i="0">
                <a:solidFill>
                  <a:srgbClr val="E8EDF2"/>
                </a:solidFill>
                <a:latin typeface="Consolas"/>
              </a:rPr>
              <a:t> </a:t>
            </a:r>
            <a:r>
              <a:rPr sz="1800" i="0">
                <a:solidFill>
                  <a:srgbClr val="E8EDF2"/>
                </a:solidFill>
                <a:latin typeface="Consolas"/>
              </a:rPr>
              <a:t>--graphics</a:t>
            </a:r>
            <a:r>
              <a:rPr sz="1800" i="0">
                <a:solidFill>
                  <a:srgbClr val="E8EDF2"/>
                </a:solidFill>
                <a:latin typeface="Consolas"/>
              </a:rPr>
              <a:t> </a:t>
            </a:r>
            <a:r>
              <a:rPr sz="1800" i="0">
                <a:solidFill>
                  <a:srgbClr val="E8EDF2"/>
                </a:solidFill>
                <a:latin typeface="Consolas"/>
              </a:rPr>
              <a:t>none</a:t>
            </a:r>
            <a:r>
              <a:rPr sz="1800" i="0">
                <a:solidFill>
                  <a:srgbClr val="E8EDF2"/>
                </a:solidFill>
                <a:latin typeface="Consolas"/>
              </a:rPr>
              <a:t> </a:t>
            </a:r>
            <a:r>
              <a:rPr sz="1800" i="0">
                <a:solidFill>
                  <a:srgbClr val="E8EDF2"/>
                </a:solidFill>
                <a:latin typeface="Consolas"/>
              </a:rPr>
              <a:t>--noautoconsole</a:t>
            </a:r>
          </a:p>
          <a:p>
            <a:pPr>
              <a:lnSpc>
                <a:spcPct val="100000"/>
              </a:lnSpc>
              <a:spcAft>
                <a:spcPts val="0"/>
              </a:spcAft>
            </a:pPr>
            <a:r>
              <a:rPr sz="1800" i="0">
                <a:solidFill>
                  <a:srgbClr val="5DADE2"/>
                </a:solidFill>
                <a:latin typeface="Consolas"/>
              </a:rPr>
              <a:t>done</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40</a:t>
            </a:r>
          </a:p>
        </p:txBody>
      </p:sp>
      <p:sp>
        <p:nvSpPr>
          <p:cNvPr id="15" name="!!code-num"/>
          <p:cNvSpPr txBox="1"/>
          <p:nvPr/>
        </p:nvSpPr>
        <p:spPr>
          <a:xfrm>
            <a:off x="768096" y="2523744"/>
            <a:ext cx="393192" cy="312724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a:p>
            <a:pPr algn="r">
              <a:lnSpc>
                <a:spcPct val="100000"/>
              </a:lnSpc>
            </a:pPr>
            <a:r>
              <a:rPr sz="1800">
                <a:solidFill>
                  <a:srgbClr val="4F5D6A"/>
                </a:solidFill>
                <a:latin typeface="Consolas"/>
              </a:rPr>
              <a:t>12</a:t>
            </a:r>
          </a:p>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a:p>
            <a:pPr algn="r">
              <a:lnSpc>
                <a:spcPct val="100000"/>
              </a:lnSpc>
            </a:pPr>
            <a:r>
              <a:rPr sz="1800">
                <a:solidFill>
                  <a:srgbClr val="4F5D6A"/>
                </a:solidFill>
                <a:latin typeface="Consolas"/>
              </a:rPr>
              <a:t>18</a:t>
            </a:r>
          </a:p>
          <a:p>
            <a:pPr algn="r">
              <a:lnSpc>
                <a:spcPct val="100000"/>
              </a:lnSpc>
            </a:pPr>
            <a:r>
              <a:rPr sz="1800">
                <a:solidFill>
                  <a:srgbClr val="4F5D6A"/>
                </a:solidFill>
                <a:latin typeface="Consolas"/>
              </a:rPr>
              <a:t>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25696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a Host Hurt, on Purpose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27C17487-5C71-4155-B6B9-A6FE89A1C5C3}"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Baseline: one guest busy, three idle.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Baseline: one guest busy, three idle. -------------------------- ip_of () { sudo virsh domifaddr &quot;$1&quot; | awk '/ipv4/{split($4,a,&quot;/&quot;); print a[1]}' } IP1=$(ip_of p1) G &quot;$IP1&quot; &quot;sudo apt-get -qq install -y stress-ng sysstat&quot; G &quot;$IP1&quot; &quot;stress-ng --cpu \$(nproc) --timeout 30s --metrics-brief&quot;"/>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Baseline: one guest busy, three idle. --------------------------</a:t>
            </a:r>
          </a:p>
          <a:p>
            <a:pPr>
              <a:lnSpc>
                <a:spcPct val="100000"/>
              </a:lnSpc>
              <a:spcAft>
                <a:spcPts val="0"/>
              </a:spcAft>
            </a:pPr>
            <a:r>
              <a:rPr sz="1800" i="0">
                <a:solidFill>
                  <a:srgbClr val="E8EDF2"/>
                </a:solidFill>
                <a:latin typeface="Consolas"/>
              </a:rPr>
              <a:t>ip_of</a:t>
            </a:r>
            <a:r>
              <a:rPr sz="1800" i="0">
                <a:solidFill>
                  <a:srgbClr val="E8EDF2"/>
                </a:solidFill>
                <a:latin typeface="Consolas"/>
              </a:rPr>
              <a:t> </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domifaddr</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$1</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awk</a:t>
            </a:r>
            <a:r>
              <a:rPr sz="1800" i="0">
                <a:solidFill>
                  <a:srgbClr val="E8EDF2"/>
                </a:solidFill>
                <a:latin typeface="Consolas"/>
              </a:rPr>
              <a:t> </a:t>
            </a:r>
            <a:r>
              <a:rPr sz="1800" i="0">
                <a:solidFill>
                  <a:srgbClr val="7DCEA0"/>
                </a:solidFill>
                <a:latin typeface="Consolas"/>
              </a:rPr>
              <a:t>'/ipv4/{split($4,a,"/"); print a[1]}'</a:t>
            </a:r>
          </a:p>
          <a:p>
            <a:pPr>
              <a:lnSpc>
                <a:spcPct val="100000"/>
              </a:lnSpc>
              <a:spcAft>
                <a:spcPts val="0"/>
              </a:spcAft>
            </a:pPr>
            <a:r>
              <a:rPr sz="1800" i="0">
                <a:solidFill>
                  <a:srgbClr val="AEB6BF"/>
                </a:solidFill>
                <a:latin typeface="Consolas"/>
              </a:rPr>
              <a:t>}</a:t>
            </a:r>
          </a:p>
          <a:p>
            <a:pPr>
              <a:lnSpc>
                <a:spcPct val="100000"/>
              </a:lnSpc>
              <a:spcAft>
                <a:spcPts val="0"/>
              </a:spcAft>
            </a:pPr>
            <a:r>
              <a:rPr sz="1800" i="0">
                <a:solidFill>
                  <a:srgbClr val="E8EDF2"/>
                </a:solidFill>
                <a:latin typeface="Consolas"/>
              </a:rPr>
              <a:t>IP1</a:t>
            </a:r>
            <a:r>
              <a:rPr sz="1800" i="0">
                <a:solidFill>
                  <a:srgbClr val="AEB6BF"/>
                </a:solidFill>
                <a:latin typeface="Consolas"/>
              </a:rPr>
              <a:t>=</a:t>
            </a:r>
            <a:r>
              <a:rPr sz="1800" i="0">
                <a:solidFill>
                  <a:srgbClr val="5DADE2"/>
                </a:solidFill>
                <a:latin typeface="Consolas"/>
              </a:rPr>
              <a:t>$(</a:t>
            </a:r>
            <a:r>
              <a:rPr sz="1800" i="0">
                <a:solidFill>
                  <a:srgbClr val="E8EDF2"/>
                </a:solidFill>
                <a:latin typeface="Consolas"/>
              </a:rPr>
              <a:t>ip_of</a:t>
            </a:r>
            <a:r>
              <a:rPr sz="1800" i="0">
                <a:solidFill>
                  <a:srgbClr val="E8EDF2"/>
                </a:solidFill>
                <a:latin typeface="Consolas"/>
              </a:rPr>
              <a:t> </a:t>
            </a:r>
            <a:r>
              <a:rPr sz="1800" i="0">
                <a:solidFill>
                  <a:srgbClr val="E8EDF2"/>
                </a:solidFill>
                <a:latin typeface="Consolas"/>
              </a:rPr>
              <a:t>p1</a:t>
            </a:r>
            <a:r>
              <a:rPr sz="1800" i="0">
                <a:solidFill>
                  <a:srgbClr val="5DADE2"/>
                </a:solidFill>
                <a:latin typeface="Consolas"/>
              </a:rPr>
              <a:t>)</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$IP1</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"sudo apt-get -qq install -y stress-ng sysstat"</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$IP1</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"stress-ng --cpu \$(nproc) --timeout 30s --metrics-brief"</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21</a:t>
            </a:r>
          </a:p>
          <a:p>
            <a:pPr algn="r">
              <a:lnSpc>
                <a:spcPct val="100000"/>
              </a:lnSpc>
            </a:pPr>
            <a:r>
              <a:rPr sz="1800">
                <a:solidFill>
                  <a:srgbClr val="4F5D6A"/>
                </a:solidFill>
                <a:latin typeface="Consolas"/>
              </a:rPr>
              <a:t>22</a:t>
            </a:r>
          </a:p>
          <a:p>
            <a:pPr algn="r">
              <a:lnSpc>
                <a:spcPct val="100000"/>
              </a:lnSpc>
            </a:pPr>
            <a:r>
              <a:rPr sz="1800">
                <a:solidFill>
                  <a:srgbClr val="4F5D6A"/>
                </a:solidFill>
                <a:latin typeface="Consolas"/>
              </a:rPr>
              <a:t>23</a:t>
            </a:r>
          </a:p>
          <a:p>
            <a:pPr algn="r">
              <a:lnSpc>
                <a:spcPct val="100000"/>
              </a:lnSpc>
            </a:pPr>
            <a:r>
              <a:rPr sz="1800">
                <a:solidFill>
                  <a:srgbClr val="4F5D6A"/>
                </a:solidFill>
                <a:latin typeface="Consolas"/>
              </a:rPr>
              <a:t>24</a:t>
            </a:r>
          </a:p>
          <a:p>
            <a:pPr algn="r">
              <a:lnSpc>
                <a:spcPct val="100000"/>
              </a:lnSpc>
            </a:pPr>
            <a:r>
              <a:rPr sz="1800">
                <a:solidFill>
                  <a:srgbClr val="4F5D6A"/>
                </a:solidFill>
                <a:latin typeface="Consolas"/>
              </a:rPr>
              <a:t>25</a:t>
            </a:r>
          </a:p>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4723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a Host Hurt, on Purpose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4C11255F-72DA-4FF4-B1AA-154DE2686E07}"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Now make all four busy and read steal time in the guest.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Now make all four busy and read steal time in the guest. ------- # %st in the guest IS the ready time of section 6.1, seen from inside. for n in 2 3 4; do IP=$(ip_of &quot;p$n&quot;) G &quot;$IP&quot; &quot;sudo apt-get -qq install -y stress-ng&quot; || true G &quot;$IP&quot; &quot;nohup stress-ng --cpu \$(nproc) --timeout 60s &gt;/dev/null 2&gt;&amp;1 &amp;&quot; done sleep 5 G &quot;$IP1&quot; &quot;mpstat 2 5 | tail -4&quot; # watch the %steal column climb"/>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--- 4. Now make all four busy and read steal time in the guest. -------</a:t>
            </a:r>
          </a:p>
          <a:p>
            <a:pPr>
              <a:lnSpc>
                <a:spcPct val="100000"/>
              </a:lnSpc>
              <a:spcAft>
                <a:spcPts val="0"/>
              </a:spcAft>
            </a:pPr>
            <a:r>
              <a:rPr sz="1800" i="1">
                <a:solidFill>
                  <a:srgbClr val="8795A1"/>
                </a:solidFill>
                <a:latin typeface="Consolas"/>
              </a:rPr>
              <a:t># %st in the guest IS the ready time of section 6.1, seen from inside.</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5DADE2"/>
                </a:solidFill>
                <a:latin typeface="Consolas"/>
              </a:rPr>
              <a:t>in</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F7DC6F"/>
                </a:solidFill>
                <a:latin typeface="Consolas"/>
              </a:rPr>
              <a:t>3</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a:t>
            </a:r>
          </a:p>
          <a:p>
            <a:pPr>
              <a:lnSpc>
                <a:spcPct val="100000"/>
              </a:lnSpc>
              <a:spcAft>
                <a:spcPts val="0"/>
              </a:spcAft>
            </a:pPr>
            <a:r>
              <a:rPr sz="1800" i="0">
                <a:solidFill>
                  <a:srgbClr val="E8EDF2"/>
                </a:solidFill>
                <a:latin typeface="Consolas"/>
              </a:rPr>
              <a:t>  </a:t>
            </a:r>
            <a:r>
              <a:rPr sz="1800" i="0">
                <a:solidFill>
                  <a:srgbClr val="E8EDF2"/>
                </a:solidFill>
                <a:latin typeface="Consolas"/>
              </a:rPr>
              <a:t>IP</a:t>
            </a:r>
            <a:r>
              <a:rPr sz="1800" i="0">
                <a:solidFill>
                  <a:srgbClr val="AEB6BF"/>
                </a:solidFill>
                <a:latin typeface="Consolas"/>
              </a:rPr>
              <a:t>=</a:t>
            </a:r>
            <a:r>
              <a:rPr sz="1800" i="0">
                <a:solidFill>
                  <a:srgbClr val="5DADE2"/>
                </a:solidFill>
                <a:latin typeface="Consolas"/>
              </a:rPr>
              <a:t>$(</a:t>
            </a:r>
            <a:r>
              <a:rPr sz="1800" i="0">
                <a:solidFill>
                  <a:srgbClr val="E8EDF2"/>
                </a:solidFill>
                <a:latin typeface="Consolas"/>
              </a:rPr>
              <a:t>ip_of</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a:t>
            </a:r>
            <a:r>
              <a:rPr sz="1800" i="0">
                <a:solidFill>
                  <a:srgbClr val="E8EDF2"/>
                </a:solidFill>
                <a:latin typeface="Consolas"/>
              </a:rPr>
              <a:t>$n</a:t>
            </a:r>
            <a:r>
              <a:rPr sz="1800" i="0">
                <a:solidFill>
                  <a:srgbClr val="7DCEA0"/>
                </a:solidFill>
                <a:latin typeface="Consolas"/>
              </a:rPr>
              <a:t>"</a:t>
            </a:r>
            <a:r>
              <a:rPr sz="1800" i="0">
                <a:solidFill>
                  <a:srgbClr val="5DADE2"/>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$IP</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"sudo apt-get -qq install -y stress-ng"</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  </a:t>
            </a: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$IP</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"nohup stress-ng --cpu \$(nproc) --timeout 60s &gt;/dev/null 2&gt;&amp;1 &amp;"</a:t>
            </a:r>
          </a:p>
          <a:p>
            <a:pPr>
              <a:lnSpc>
                <a:spcPct val="100000"/>
              </a:lnSpc>
              <a:spcAft>
                <a:spcPts val="0"/>
              </a:spcAft>
            </a:pPr>
            <a:r>
              <a:rPr sz="1800" i="0">
                <a:solidFill>
                  <a:srgbClr val="5DADE2"/>
                </a:solidFill>
                <a:latin typeface="Consolas"/>
              </a:rPr>
              <a:t>done</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5</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$IP1</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"mpstat 2 5 | tail -4"</a:t>
            </a:r>
            <a:r>
              <a:rPr sz="1800" i="0">
                <a:solidFill>
                  <a:srgbClr val="E8EDF2"/>
                </a:solidFill>
                <a:latin typeface="Consolas"/>
              </a:rPr>
              <a:t>       </a:t>
            </a:r>
            <a:r>
              <a:rPr sz="1800" i="1">
                <a:solidFill>
                  <a:srgbClr val="8795A1"/>
                </a:solidFill>
                <a:latin typeface="Consolas"/>
              </a:rPr>
              <a:t># watch the %steal column climb</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a:p>
            <a:pPr algn="r">
              <a:lnSpc>
                <a:spcPct val="100000"/>
              </a:lnSpc>
            </a:pPr>
            <a:r>
              <a:rPr sz="1800">
                <a:solidFill>
                  <a:srgbClr val="4F5D6A"/>
                </a:solidFill>
                <a:latin typeface="Consolas"/>
              </a:rPr>
              <a:t>34</a:t>
            </a:r>
          </a:p>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375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a Host Hurt, on Purpose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FB04175E-3D19-49E9-857A-FCB208DF0DEA}"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Memory pressure: ask for far more than the host has.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346704"/>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Memory pressure: ask for far more than the host has. ----------- # Watch the balloon move before anything swaps. sudo virsh dommemstat p1 for n in 1 2 3 4; do G &quot;$(ip_of &quot;p$n&quot;)&quot; &quot;nohup stress-ng --vm 1 --vm-bytes 85% \ --timeout 60s &gt;/dev/null 2&gt;&amp;1 &amp;&quot; || true done sleep 20 sudo virsh dommemstat p1 # balloon / swap_in / swap_out free -m ; vmstat 2 4 # the host's own view"/>
          <p:cNvSpPr txBox="1"/>
          <p:nvPr/>
        </p:nvSpPr>
        <p:spPr>
          <a:xfrm>
            <a:off x="1362456" y="2523744"/>
            <a:ext cx="9987991" cy="28529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--- 5. Memory pressure: ask for far more than the host has. -----------</a:t>
            </a:r>
          </a:p>
          <a:p>
            <a:pPr>
              <a:lnSpc>
                <a:spcPct val="100000"/>
              </a:lnSpc>
              <a:spcAft>
                <a:spcPts val="0"/>
              </a:spcAft>
            </a:pPr>
            <a:r>
              <a:rPr sz="1800" i="1">
                <a:solidFill>
                  <a:srgbClr val="8795A1"/>
                </a:solidFill>
                <a:latin typeface="Consolas"/>
              </a:rPr>
              <a:t># Watch the balloon move before anything swaps.</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dommemstat</a:t>
            </a:r>
            <a:r>
              <a:rPr sz="1800" i="0">
                <a:solidFill>
                  <a:srgbClr val="E8EDF2"/>
                </a:solidFill>
                <a:latin typeface="Consolas"/>
              </a:rPr>
              <a:t> </a:t>
            </a:r>
            <a:r>
              <a:rPr sz="1800" i="0">
                <a:solidFill>
                  <a:srgbClr val="E8EDF2"/>
                </a:solidFill>
                <a:latin typeface="Consolas"/>
              </a:rPr>
              <a:t>p1</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5DADE2"/>
                </a:solidFill>
                <a:latin typeface="Consolas"/>
              </a:rPr>
              <a:t>in</a:t>
            </a:r>
            <a:r>
              <a:rPr sz="1800" i="0">
                <a:solidFill>
                  <a:srgbClr val="E8EDF2"/>
                </a:solidFill>
                <a:latin typeface="Consolas"/>
              </a:rPr>
              <a:t> </a:t>
            </a:r>
            <a:r>
              <a:rPr sz="1800" i="0">
                <a:solidFill>
                  <a:srgbClr val="F7DC6F"/>
                </a:solidFill>
                <a:latin typeface="Consolas"/>
              </a:rPr>
              <a:t>1</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F7DC6F"/>
                </a:solidFill>
                <a:latin typeface="Consolas"/>
              </a:rPr>
              <a:t>3</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a:t>
            </a:r>
          </a:p>
          <a:p>
            <a:pPr>
              <a:lnSpc>
                <a:spcPct val="100000"/>
              </a:lnSpc>
              <a:spcAft>
                <a:spcPts val="0"/>
              </a:spcAft>
            </a:pPr>
            <a:r>
              <a:rPr sz="1800" i="0">
                <a:solidFill>
                  <a:srgbClr val="E8EDF2"/>
                </a:solidFill>
                <a:latin typeface="Consolas"/>
              </a:rPr>
              <a:t>  </a:t>
            </a: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a:t>
            </a:r>
            <a:r>
              <a:rPr sz="1800" i="0">
                <a:solidFill>
                  <a:srgbClr val="5DADE2"/>
                </a:solidFill>
                <a:latin typeface="Consolas"/>
              </a:rPr>
              <a:t>$(</a:t>
            </a:r>
            <a:r>
              <a:rPr sz="1800" i="0">
                <a:solidFill>
                  <a:srgbClr val="E8EDF2"/>
                </a:solidFill>
                <a:latin typeface="Consolas"/>
              </a:rPr>
              <a:t>ip_of</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a:t>
            </a:r>
            <a:r>
              <a:rPr sz="1800" i="0">
                <a:solidFill>
                  <a:srgbClr val="E8EDF2"/>
                </a:solidFill>
                <a:latin typeface="Consolas"/>
              </a:rPr>
              <a:t>$n</a:t>
            </a:r>
            <a:r>
              <a:rPr sz="1800" i="0">
                <a:solidFill>
                  <a:srgbClr val="7DCEA0"/>
                </a:solidFill>
                <a:latin typeface="Consolas"/>
              </a:rPr>
              <a:t>"</a:t>
            </a:r>
            <a:r>
              <a:rPr sz="1800" i="0">
                <a:solidFill>
                  <a:srgbClr val="5DADE2"/>
                </a:solidFill>
                <a:latin typeface="Consolas"/>
              </a:rPr>
              <a:t>)</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"nohup stress-ng --vm 1 --vm-bytes 85% \</a:t>
            </a:r>
          </a:p>
          <a:p>
            <a:pPr>
              <a:lnSpc>
                <a:spcPct val="100000"/>
              </a:lnSpc>
              <a:spcAft>
                <a:spcPts val="0"/>
              </a:spcAft>
            </a:pPr>
            <a:r>
              <a:rPr sz="1800" i="0">
                <a:solidFill>
                  <a:srgbClr val="7DCEA0"/>
                </a:solidFill>
                <a:latin typeface="Consolas"/>
              </a:rPr>
              <a:t>           --timeout 60s &gt;/dev/null 2&gt;&amp;1 &amp;"</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5DADE2"/>
                </a:solidFill>
                <a:latin typeface="Consolas"/>
              </a:rPr>
              <a:t>done</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20</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dommemstat</a:t>
            </a:r>
            <a:r>
              <a:rPr sz="1800" i="0">
                <a:solidFill>
                  <a:srgbClr val="E8EDF2"/>
                </a:solidFill>
                <a:latin typeface="Consolas"/>
              </a:rPr>
              <a:t> </a:t>
            </a:r>
            <a:r>
              <a:rPr sz="1800" i="0">
                <a:solidFill>
                  <a:srgbClr val="E8EDF2"/>
                </a:solidFill>
                <a:latin typeface="Consolas"/>
              </a:rPr>
              <a:t>p1</a:t>
            </a:r>
            <a:r>
              <a:rPr sz="1800" i="0">
                <a:solidFill>
                  <a:srgbClr val="E8EDF2"/>
                </a:solidFill>
                <a:latin typeface="Consolas"/>
              </a:rPr>
              <a:t>               </a:t>
            </a:r>
            <a:r>
              <a:rPr sz="1800" i="1">
                <a:solidFill>
                  <a:srgbClr val="8795A1"/>
                </a:solidFill>
                <a:latin typeface="Consolas"/>
              </a:rPr>
              <a:t># balloon / swap_in / swap_out</a:t>
            </a:r>
          </a:p>
          <a:p>
            <a:pPr>
              <a:lnSpc>
                <a:spcPct val="100000"/>
              </a:lnSpc>
              <a:spcAft>
                <a:spcPts val="0"/>
              </a:spcAft>
            </a:pPr>
            <a:r>
              <a:rPr sz="1800" i="0">
                <a:solidFill>
                  <a:srgbClr val="E8EDF2"/>
                </a:solidFill>
                <a:latin typeface="Consolas"/>
              </a:rPr>
              <a:t>free</a:t>
            </a:r>
            <a:r>
              <a:rPr sz="1800" i="0">
                <a:solidFill>
                  <a:srgbClr val="E8EDF2"/>
                </a:solidFill>
                <a:latin typeface="Consolas"/>
              </a:rPr>
              <a:t> </a:t>
            </a:r>
            <a:r>
              <a:rPr sz="1800" i="0">
                <a:solidFill>
                  <a:srgbClr val="E8EDF2"/>
                </a:solidFill>
                <a:latin typeface="Consolas"/>
              </a:rPr>
              <a:t>-m</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vmstat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F7DC6F"/>
                </a:solidFill>
                <a:latin typeface="Consolas"/>
              </a:rPr>
              <a:t>4</a:t>
            </a:r>
            <a:r>
              <a:rPr sz="1800" i="0">
                <a:solidFill>
                  <a:srgbClr val="E8EDF2"/>
                </a:solidFill>
                <a:latin typeface="Consolas"/>
              </a:rPr>
              <a:t>                   </a:t>
            </a:r>
            <a:r>
              <a:rPr sz="1800" i="1">
                <a:solidFill>
                  <a:srgbClr val="8795A1"/>
                </a:solidFill>
                <a:latin typeface="Consolas"/>
              </a:rPr>
              <a:t># the host's own view</a:t>
            </a:r>
          </a:p>
        </p:txBody>
      </p:sp>
      <p:sp>
        <p:nvSpPr>
          <p:cNvPr id="15" name="!!code-num"/>
          <p:cNvSpPr txBox="1"/>
          <p:nvPr/>
        </p:nvSpPr>
        <p:spPr>
          <a:xfrm>
            <a:off x="768096" y="2523744"/>
            <a:ext cx="393192" cy="28529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a:p>
            <a:pPr algn="r">
              <a:lnSpc>
                <a:spcPct val="100000"/>
              </a:lnSpc>
            </a:pPr>
            <a:r>
              <a:rPr sz="1800">
                <a:solidFill>
                  <a:srgbClr val="4F5D6A"/>
                </a:solidFill>
                <a:latin typeface="Consolas"/>
              </a:rPr>
              <a:t>44</a:t>
            </a:r>
          </a:p>
          <a:p>
            <a:pPr algn="r">
              <a:lnSpc>
                <a:spcPct val="100000"/>
              </a:lnSpc>
            </a:pPr>
            <a:r>
              <a:rPr sz="1800">
                <a:solidFill>
                  <a:srgbClr val="4F5D6A"/>
                </a:solidFill>
                <a:latin typeface="Consolas"/>
              </a:rPr>
              <a:t>45</a:t>
            </a:r>
          </a:p>
          <a:p>
            <a:pPr algn="r">
              <a:lnSpc>
                <a:spcPct val="100000"/>
              </a:lnSpc>
            </a:pPr>
            <a:r>
              <a:rPr sz="1800">
                <a:solidFill>
                  <a:srgbClr val="4F5D6A"/>
                </a:solidFill>
                <a:latin typeface="Consolas"/>
              </a:rPr>
              <a:t>46</a:t>
            </a:r>
          </a:p>
          <a:p>
            <a:pPr algn="r">
              <a:lnSpc>
                <a:spcPct val="100000"/>
              </a:lnSpc>
            </a:pPr>
            <a:r>
              <a:rPr sz="1800">
                <a:solidFill>
                  <a:srgbClr val="4F5D6A"/>
                </a:solidFill>
                <a:latin typeface="Consolas"/>
              </a:rPr>
              <a:t>47</a:t>
            </a:r>
          </a:p>
          <a:p>
            <a:pPr algn="r">
              <a:lnSpc>
                <a:spcPct val="100000"/>
              </a:lnSpc>
            </a:pPr>
            <a:r>
              <a:rPr sz="1800">
                <a:solidFill>
                  <a:srgbClr val="4F5D6A"/>
                </a:solidFill>
                <a:latin typeface="Consolas"/>
              </a:rPr>
              <a:t>48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a Host Hurt, on Purpose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C7E7540B-B485-42A5-A56D-F1D9438E1D4E}"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Right-size, and measure the same thing again.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523744"/>
          </a:xfrm>
          <a:prstGeom prst="roundRect">
            <a:avLst>
              <a:gd name="adj" fmla="val 362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Right-size, and measure the same thing again. ------------------ # Two vCPUs each instead of nproc: the overcommit ratio drops fourfold. for n in 1 2 3 4; do sudo virsh destroy &quot;p$n&quot;; \ sudo virsh setvcpus &quot;p$n&quot; 2 --config --maximum --config; \ sudo virsh setvcpus &quot;p$n&quot; 2 --config; sudo virsh start &quot;p$n&quot;; done sleep 40 G &quot;$IP1&quot; &quot;mpstat 2 5 | tail -4&quot; # %steal should be far lower"/>
          <p:cNvSpPr txBox="1"/>
          <p:nvPr/>
        </p:nvSpPr>
        <p:spPr>
          <a:xfrm>
            <a:off x="1362456" y="2523744"/>
            <a:ext cx="9987991" cy="202996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--- 6. Right-size, and measure the same thing again. ------------------</a:t>
            </a:r>
          </a:p>
          <a:p>
            <a:pPr>
              <a:lnSpc>
                <a:spcPct val="100000"/>
              </a:lnSpc>
              <a:spcAft>
                <a:spcPts val="0"/>
              </a:spcAft>
            </a:pPr>
            <a:r>
              <a:rPr sz="1800" i="1">
                <a:solidFill>
                  <a:srgbClr val="8795A1"/>
                </a:solidFill>
                <a:latin typeface="Consolas"/>
              </a:rPr>
              <a:t># Two vCPUs each instead of nproc: the overcommit ratio drops fourfold.</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5DADE2"/>
                </a:solidFill>
                <a:latin typeface="Consolas"/>
              </a:rPr>
              <a:t>in</a:t>
            </a:r>
            <a:r>
              <a:rPr sz="1800" i="0">
                <a:solidFill>
                  <a:srgbClr val="E8EDF2"/>
                </a:solidFill>
                <a:latin typeface="Consolas"/>
              </a:rPr>
              <a:t> </a:t>
            </a:r>
            <a:r>
              <a:rPr sz="1800" i="0">
                <a:solidFill>
                  <a:srgbClr val="F7DC6F"/>
                </a:solidFill>
                <a:latin typeface="Consolas"/>
              </a:rPr>
              <a:t>1</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F7DC6F"/>
                </a:solidFill>
                <a:latin typeface="Consolas"/>
              </a:rPr>
              <a:t>3</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a:t>
            </a: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destroy</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a:t>
            </a:r>
            <a:r>
              <a:rPr sz="1800" i="0">
                <a:solidFill>
                  <a:srgbClr val="E8EDF2"/>
                </a:solidFill>
                <a:latin typeface="Consolas"/>
              </a:rPr>
              <a:t>$n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setvcpus</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a:t>
            </a:r>
            <a:r>
              <a:rPr sz="1800" i="0">
                <a:solidFill>
                  <a:srgbClr val="E8EDF2"/>
                </a:solidFill>
                <a:latin typeface="Consolas"/>
              </a:rPr>
              <a:t>$n</a:t>
            </a:r>
            <a:r>
              <a:rPr sz="1800" i="0">
                <a:solidFill>
                  <a:srgbClr val="7DCEA0"/>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E8EDF2"/>
                </a:solidFill>
                <a:latin typeface="Consolas"/>
              </a:rPr>
              <a:t>--config</a:t>
            </a:r>
            <a:r>
              <a:rPr sz="1800" i="0">
                <a:solidFill>
                  <a:srgbClr val="E8EDF2"/>
                </a:solidFill>
                <a:latin typeface="Consolas"/>
              </a:rPr>
              <a:t> </a:t>
            </a:r>
            <a:r>
              <a:rPr sz="1800" i="0">
                <a:solidFill>
                  <a:srgbClr val="E8EDF2"/>
                </a:solidFill>
                <a:latin typeface="Consolas"/>
              </a:rPr>
              <a:t>--maximum</a:t>
            </a:r>
            <a:r>
              <a:rPr sz="1800" i="0">
                <a:solidFill>
                  <a:srgbClr val="E8EDF2"/>
                </a:solidFill>
                <a:latin typeface="Consolas"/>
              </a:rPr>
              <a:t> </a:t>
            </a:r>
            <a:r>
              <a:rPr sz="1800" i="0">
                <a:solidFill>
                  <a:srgbClr val="E8EDF2"/>
                </a:solidFill>
                <a:latin typeface="Consolas"/>
              </a:rPr>
              <a:t>--config</a:t>
            </a:r>
            <a:r>
              <a:rPr sz="1800" i="0">
                <a:solidFill>
                  <a:srgbClr val="AEB6BF"/>
                </a:solidFill>
                <a:latin typeface="Consolas"/>
              </a:rPr>
              <a:t>;</a:t>
            </a:r>
            <a:r>
              <a:rPr sz="1800" i="0">
                <a:solidFill>
                  <a:srgbClr val="E8EDF2"/>
                </a:solidFill>
                <a:latin typeface="Consolas"/>
              </a:rPr>
              <a:t> </a:t>
            </a:r>
            <a:r>
              <a:rPr sz="1800" i="0">
                <a:solidFill>
                  <a:srgbClr val="7DCEA0"/>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setvcpus</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a:t>
            </a:r>
            <a:r>
              <a:rPr sz="1800" i="0">
                <a:solidFill>
                  <a:srgbClr val="E8EDF2"/>
                </a:solidFill>
                <a:latin typeface="Consolas"/>
              </a:rPr>
              <a:t>$n</a:t>
            </a:r>
            <a:r>
              <a:rPr sz="1800" i="0">
                <a:solidFill>
                  <a:srgbClr val="7DCEA0"/>
                </a:solidFill>
                <a:latin typeface="Consolas"/>
              </a:rPr>
              <a:t>"</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E8EDF2"/>
                </a:solidFill>
                <a:latin typeface="Consolas"/>
              </a:rPr>
              <a:t>--config</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start</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a:t>
            </a:r>
            <a:r>
              <a:rPr sz="1800" i="0">
                <a:solidFill>
                  <a:srgbClr val="E8EDF2"/>
                </a:solidFill>
                <a:latin typeface="Consolas"/>
              </a:rPr>
              <a:t>$n</a:t>
            </a:r>
            <a:r>
              <a:rPr sz="1800" i="0">
                <a:solidFill>
                  <a:srgbClr val="7DCEA0"/>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done</a:t>
            </a:r>
          </a:p>
          <a:p>
            <a:pPr>
              <a:lnSpc>
                <a:spcPct val="100000"/>
              </a:lnSpc>
              <a:spcAft>
                <a:spcPts val="0"/>
              </a:spcAft>
            </a:pP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40</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a:t>
            </a:r>
            <a:r>
              <a:rPr sz="1800" i="0">
                <a:solidFill>
                  <a:srgbClr val="E8EDF2"/>
                </a:solidFill>
                <a:latin typeface="Consolas"/>
              </a:rPr>
              <a:t>$IP1</a:t>
            </a:r>
            <a:r>
              <a:rPr sz="1800" i="0">
                <a:solidFill>
                  <a:srgbClr val="7DCEA0"/>
                </a:solidFill>
                <a:latin typeface="Consolas"/>
              </a:rPr>
              <a:t>"</a:t>
            </a:r>
            <a:r>
              <a:rPr sz="1800" i="0">
                <a:solidFill>
                  <a:srgbClr val="E8EDF2"/>
                </a:solidFill>
                <a:latin typeface="Consolas"/>
              </a:rPr>
              <a:t> </a:t>
            </a:r>
            <a:r>
              <a:rPr sz="1800" i="0">
                <a:solidFill>
                  <a:srgbClr val="7DCEA0"/>
                </a:solidFill>
                <a:latin typeface="Consolas"/>
              </a:rPr>
              <a:t>"mpstat 2 5 | tail -4"</a:t>
            </a:r>
            <a:r>
              <a:rPr sz="1800" i="0">
                <a:solidFill>
                  <a:srgbClr val="E8EDF2"/>
                </a:solidFill>
                <a:latin typeface="Consolas"/>
              </a:rPr>
              <a:t>        </a:t>
            </a:r>
            <a:r>
              <a:rPr sz="1800" i="1">
                <a:solidFill>
                  <a:srgbClr val="8795A1"/>
                </a:solidFill>
                <a:latin typeface="Consolas"/>
              </a:rPr>
              <a:t># %steal should be far lower</a:t>
            </a:r>
          </a:p>
        </p:txBody>
      </p:sp>
      <p:sp>
        <p:nvSpPr>
          <p:cNvPr id="15" name="!!code-num"/>
          <p:cNvSpPr txBox="1"/>
          <p:nvPr/>
        </p:nvSpPr>
        <p:spPr>
          <a:xfrm>
            <a:off x="768096" y="2523744"/>
            <a:ext cx="393192" cy="202996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50</a:t>
            </a:r>
          </a:p>
          <a:p>
            <a:pPr algn="r">
              <a:lnSpc>
                <a:spcPct val="100000"/>
              </a:lnSpc>
            </a:pPr>
            <a:r>
              <a:rPr sz="1800">
                <a:solidFill>
                  <a:srgbClr val="4F5D6A"/>
                </a:solidFill>
                <a:latin typeface="Consolas"/>
              </a:rPr>
              <a:t>51</a:t>
            </a:r>
          </a:p>
          <a:p>
            <a:pPr algn="r">
              <a:lnSpc>
                <a:spcPct val="100000"/>
              </a:lnSpc>
            </a:pPr>
            <a:r>
              <a:rPr sz="1800">
                <a:solidFill>
                  <a:srgbClr val="4F5D6A"/>
                </a:solidFill>
                <a:latin typeface="Consolas"/>
              </a:rPr>
              <a:t>52</a:t>
            </a:r>
          </a:p>
          <a:p>
            <a:pPr algn="r">
              <a:lnSpc>
                <a:spcPct val="100000"/>
              </a:lnSpc>
            </a:pPr>
            <a:r>
              <a:rPr sz="1800">
                <a:solidFill>
                  <a:srgbClr val="4F5D6A"/>
                </a:solidFill>
                <a:latin typeface="Consolas"/>
              </a:rPr>
              <a:t>53</a:t>
            </a:r>
          </a:p>
          <a:p>
            <a:pPr algn="r">
              <a:lnSpc>
                <a:spcPct val="100000"/>
              </a:lnSpc>
            </a:pPr>
            <a:r>
              <a:rPr sz="1800">
                <a:solidFill>
                  <a:srgbClr val="4F5D6A"/>
                </a:solidFill>
                <a:latin typeface="Consolas"/>
              </a:rPr>
              <a:t>54</a:t>
            </a:r>
          </a:p>
          <a:p>
            <a:pPr algn="r">
              <a:lnSpc>
                <a:spcPct val="100000"/>
              </a:lnSpc>
            </a:pPr>
            <a:r>
              <a:rPr sz="1800">
                <a:solidFill>
                  <a:srgbClr val="4F5D6A"/>
                </a:solidFill>
                <a:latin typeface="Consolas"/>
              </a:rPr>
              <a:t>55</a:t>
            </a:r>
          </a:p>
          <a:p>
            <a:pPr algn="r">
              <a:lnSpc>
                <a:spcPct val="100000"/>
              </a:lnSpc>
            </a:pPr>
            <a:r>
              <a:rPr sz="1800">
                <a:solidFill>
                  <a:srgbClr val="4F5D6A"/>
                </a:solidFill>
                <a:latin typeface="Consolas"/>
              </a:rPr>
              <a:t>56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41807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Making a Host Hurt, on Purpose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2F653389-CCC6-43CE-ADFA-80AFEC87EAFF}"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Tear down. ----------------------------------------------------- for n in 1 2 3 4; do sudo virsh destroy &quot;p$n&quot; || true sudo virsh undefine &quot;p$n&quot; --remove-all-storage || true done"/>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--- 7. Tear down. -----------------------------------------------------</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5DADE2"/>
                </a:solidFill>
                <a:latin typeface="Consolas"/>
              </a:rPr>
              <a:t>in</a:t>
            </a:r>
            <a:r>
              <a:rPr sz="1800" i="0">
                <a:solidFill>
                  <a:srgbClr val="E8EDF2"/>
                </a:solidFill>
                <a:latin typeface="Consolas"/>
              </a:rPr>
              <a:t> </a:t>
            </a:r>
            <a:r>
              <a:rPr sz="1800" i="0">
                <a:solidFill>
                  <a:srgbClr val="F7DC6F"/>
                </a:solidFill>
                <a:latin typeface="Consolas"/>
              </a:rPr>
              <a:t>1</a:t>
            </a:r>
            <a:r>
              <a:rPr sz="1800" i="0">
                <a:solidFill>
                  <a:srgbClr val="E8EDF2"/>
                </a:solidFill>
                <a:latin typeface="Consolas"/>
              </a:rPr>
              <a:t> </a:t>
            </a:r>
            <a:r>
              <a:rPr sz="1800" i="0">
                <a:solidFill>
                  <a:srgbClr val="F7DC6F"/>
                </a:solidFill>
                <a:latin typeface="Consolas"/>
              </a:rPr>
              <a:t>2</a:t>
            </a:r>
            <a:r>
              <a:rPr sz="1800" i="0">
                <a:solidFill>
                  <a:srgbClr val="E8EDF2"/>
                </a:solidFill>
                <a:latin typeface="Consolas"/>
              </a:rPr>
              <a:t> </a:t>
            </a:r>
            <a:r>
              <a:rPr sz="1800" i="0">
                <a:solidFill>
                  <a:srgbClr val="F7DC6F"/>
                </a:solidFill>
                <a:latin typeface="Consolas"/>
              </a:rPr>
              <a:t>3</a:t>
            </a:r>
            <a:r>
              <a:rPr sz="1800" i="0">
                <a:solidFill>
                  <a:srgbClr val="E8EDF2"/>
                </a:solidFill>
                <a:latin typeface="Consolas"/>
              </a:rPr>
              <a:t> </a:t>
            </a:r>
            <a:r>
              <a:rPr sz="1800" i="0">
                <a:solidFill>
                  <a:srgbClr val="F7DC6F"/>
                </a:solidFill>
                <a:latin typeface="Consolas"/>
              </a:rPr>
              <a:t>4</a:t>
            </a:r>
            <a:r>
              <a:rPr sz="1800" i="0">
                <a:solidFill>
                  <a:srgbClr val="AEB6BF"/>
                </a:solidFill>
                <a:latin typeface="Consolas"/>
              </a:rPr>
              <a:t>;</a:t>
            </a:r>
            <a:r>
              <a:rPr sz="1800" i="0">
                <a:solidFill>
                  <a:srgbClr val="E8EDF2"/>
                </a:solidFill>
                <a:latin typeface="Consolas"/>
              </a:rPr>
              <a:t> </a:t>
            </a:r>
            <a:r>
              <a:rPr sz="1800" i="0">
                <a:solidFill>
                  <a:srgbClr val="5DADE2"/>
                </a:solidFill>
                <a:latin typeface="Consolas"/>
              </a:rPr>
              <a:t>do</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destroy</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a:t>
            </a:r>
            <a:r>
              <a:rPr sz="1800" i="0">
                <a:solidFill>
                  <a:srgbClr val="E8EDF2"/>
                </a:solidFill>
                <a:latin typeface="Consolas"/>
              </a:rPr>
              <a:t>$n</a:t>
            </a:r>
            <a:r>
              <a:rPr sz="1800" i="0">
                <a:solidFill>
                  <a:srgbClr val="7DCEA0"/>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undefine</a:t>
            </a:r>
            <a:r>
              <a:rPr sz="1800" i="0">
                <a:solidFill>
                  <a:srgbClr val="E8EDF2"/>
                </a:solidFill>
                <a:latin typeface="Consolas"/>
              </a:rPr>
              <a:t> </a:t>
            </a:r>
            <a:r>
              <a:rPr sz="1800" i="0">
                <a:solidFill>
                  <a:srgbClr val="7DCEA0"/>
                </a:solidFill>
                <a:latin typeface="Consolas"/>
              </a:rPr>
              <a:t>"</a:t>
            </a:r>
            <a:r>
              <a:rPr sz="1800" i="0">
                <a:solidFill>
                  <a:srgbClr val="7DCEA0"/>
                </a:solidFill>
                <a:latin typeface="Consolas"/>
              </a:rPr>
              <a:t>p</a:t>
            </a:r>
            <a:r>
              <a:rPr sz="1800" i="0">
                <a:solidFill>
                  <a:srgbClr val="E8EDF2"/>
                </a:solidFill>
                <a:latin typeface="Consolas"/>
              </a:rPr>
              <a:t>$n</a:t>
            </a:r>
            <a:r>
              <a:rPr sz="1800" i="0">
                <a:solidFill>
                  <a:srgbClr val="7DCEA0"/>
                </a:solidFill>
                <a:latin typeface="Consolas"/>
              </a:rPr>
              <a:t>"</a:t>
            </a:r>
            <a:r>
              <a:rPr sz="1800" i="0">
                <a:solidFill>
                  <a:srgbClr val="E8EDF2"/>
                </a:solidFill>
                <a:latin typeface="Consolas"/>
              </a:rPr>
              <a:t> </a:t>
            </a:r>
            <a:r>
              <a:rPr sz="1800" i="0">
                <a:solidFill>
                  <a:srgbClr val="E8EDF2"/>
                </a:solidFill>
                <a:latin typeface="Consolas"/>
              </a:rPr>
              <a:t>--remove-all-storage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p>
          <a:p>
            <a:pPr>
              <a:lnSpc>
                <a:spcPct val="100000"/>
              </a:lnSpc>
              <a:spcAft>
                <a:spcPts val="0"/>
              </a:spcAft>
            </a:pPr>
            <a:r>
              <a:rPr sz="1800" i="0">
                <a:solidFill>
                  <a:srgbClr val="5DADE2"/>
                </a:solidFill>
                <a:latin typeface="Consolas"/>
              </a:rPr>
              <a:t>done</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58</a:t>
            </a:r>
          </a:p>
          <a:p>
            <a:pPr algn="r">
              <a:lnSpc>
                <a:spcPct val="100000"/>
              </a:lnSpc>
            </a:pPr>
            <a:r>
              <a:rPr sz="1800">
                <a:solidFill>
                  <a:srgbClr val="4F5D6A"/>
                </a:solidFill>
                <a:latin typeface="Consolas"/>
              </a:rPr>
              <a:t>59</a:t>
            </a:r>
          </a:p>
          <a:p>
            <a:pPr algn="r">
              <a:lnSpc>
                <a:spcPct val="100000"/>
              </a:lnSpc>
            </a:pPr>
            <a:r>
              <a:rPr sz="1800">
                <a:solidFill>
                  <a:srgbClr val="4F5D6A"/>
                </a:solidFill>
                <a:latin typeface="Consolas"/>
              </a:rPr>
              <a:t>60</a:t>
            </a:r>
          </a:p>
          <a:p>
            <a:pPr algn="r">
              <a:lnSpc>
                <a:spcPct val="100000"/>
              </a:lnSpc>
            </a:pPr>
            <a:r>
              <a:rPr sz="1800">
                <a:solidFill>
                  <a:srgbClr val="4F5D6A"/>
                </a:solidFill>
                <a:latin typeface="Consolas"/>
              </a:rPr>
              <a:t>61</a:t>
            </a:r>
          </a:p>
          <a:p>
            <a:pPr algn="r">
              <a:lnSpc>
                <a:spcPct val="100000"/>
              </a:lnSpc>
            </a:pPr>
            <a:r>
              <a:rPr sz="1800">
                <a:solidFill>
                  <a:srgbClr val="4F5D6A"/>
                </a:solidFill>
                <a:latin typeface="Consolas"/>
              </a:rPr>
              <a:t>62</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70835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§6.4  ·  Handout p. 49     </a:t>
            </a:r>
            <a:fld id="{737C9DF0-C733-444F-975E-0AF1CA509A81}" type="slidenum">
              <a:rPr lang="en-GB" sz="1000">
                <a:solidFill>
                  <a:srgbClr val="8795A1"/>
                </a:solidFill>
                <a:latin typeface="Segoe UI"/>
              </a:rPr>
              <a:t>31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Step 4’s </a:t>
            </a:r>
            <a:r>
              <a:rPr sz="2150" b="0" i="0">
                <a:solidFill>
                  <a:srgbClr val="1F4E79"/>
                </a:solidFill>
                <a:latin typeface="Consolas"/>
              </a:rPr>
              <a:t>%steal</a:t>
            </a:r>
            <a:r>
              <a:rPr sz="2300" b="0" i="0">
                <a:solidFill>
                  <a:srgbClr val="1C252B"/>
                </a:solidFill>
                <a:latin typeface="Segoe UI"/>
              </a:rPr>
              <a:t> is the worked example’s %RDY, measured from inside the guest, and step 6 shows that halving the vCPU count made every guest </a:t>
            </a:r>
            <a:r>
              <a:rPr sz="2300" b="0" i="1">
                <a:solidFill>
                  <a:srgbClr val="1C252B"/>
                </a:solidFill>
                <a:latin typeface="Segoe UI"/>
              </a:rPr>
              <a:t>faster</a:t>
            </a:r>
            <a:r>
              <a:rPr sz="2300" b="0" i="0">
                <a:solidFill>
                  <a:srgbClr val="1C252B"/>
                </a:solidFill>
                <a:latin typeface="Segoe UI"/>
              </a:rPr>
              <a:t>. That is the chapter’s least intuitive claim and you have now produced it yourself.</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99863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host of 48 cores runs 20 guests of 6 vCPUs each. Give the CPU overcommit ratio. Mean %RDY is 14%. State what you would do and what you would measure first.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6  ·  CPU and Memory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52  ·  answers in Appendix D     </a:t>
            </a:r>
            <a:fld id="{BCBE3557-E2D1-40D7-B4B2-2AB608B9F96B}" type="slidenum">
              <a:rPr lang="en-GB" sz="1000">
                <a:solidFill>
                  <a:srgbClr val="D5DEE5"/>
                </a:solidFill>
                <a:latin typeface="Segoe UI"/>
              </a:rPr>
              <a:t>32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host of 48 cores runs 20 guests of 6 vCPUs each. Give the CPU overcommit ratio. Mean %RDY is 14%. State what you would do and what you would measure first.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σ</a:t>
            </a:r>
            <a:r>
              <a:rPr sz="1450" b="0" i="0" baseline="-25000">
                <a:solidFill>
                  <a:srgbClr val="1C252B"/>
                </a:solidFill>
                <a:latin typeface="Segoe UI"/>
              </a:rPr>
              <a:t>cpu</a:t>
            </a:r>
            <a:r>
              <a:rPr sz="2200" b="0" i="0">
                <a:solidFill>
                  <a:srgbClr val="1C252B"/>
                </a:solidFill>
                <a:latin typeface="Cambria"/>
              </a:rPr>
              <a:t> = (20 × 6)/48 = 120/48 = </a:t>
            </a:r>
            <a:r>
              <a:rPr sz="2200" b="1" i="0">
                <a:solidFill>
                  <a:srgbClr val="1C252B"/>
                </a:solidFill>
                <a:latin typeface="Cambria"/>
              </a:rPr>
              <a:t>2.5</a:t>
            </a:r>
            <a:r>
              <a:rPr sz="2200" b="0" i="0">
                <a:solidFill>
                  <a:srgbClr val="1C252B"/>
                </a:solidFill>
                <a:latin typeface="Segoe UI"/>
              </a:rPr>
              <a:t>. A mean %RDY of 14% is well above the 10% action threshold, so the host is oversubscribed. </a:t>
            </a:r>
            <a:r>
              <a:rPr sz="2200" b="1" i="0">
                <a:solidFill>
                  <a:srgbClr val="1C252B"/>
                </a:solidFill>
                <a:latin typeface="Segoe UI"/>
              </a:rPr>
              <a:t>Measure first:</a:t>
            </a:r>
            <a:r>
              <a:rPr sz="2200" b="0" i="0">
                <a:solidFill>
                  <a:srgbClr val="1C252B"/>
                </a:solidFill>
                <a:latin typeface="Segoe UI"/>
              </a:rPr>
              <a:t> the actual vCPU utilisation of each guest — 6 vCPUs is a large allocation and is very likely more than most of them use. </a:t>
            </a:r>
            <a:r>
              <a:rPr sz="2200" b="1" i="0">
                <a:solidFill>
                  <a:srgbClr val="1C252B"/>
                </a:solidFill>
                <a:latin typeface="Segoe UI"/>
              </a:rPr>
              <a:t>Then act:</a:t>
            </a:r>
            <a:r>
              <a:rPr sz="2200" b="0" i="0">
                <a:solidFill>
                  <a:srgbClr val="1C252B"/>
                </a:solidFill>
                <a:latin typeface="Segoe UI"/>
              </a:rPr>
              <a:t> right-size downward before buying anything. Halving the allocations would bring </a:t>
            </a:r>
            <a:r>
              <a:rPr sz="2200" b="0" i="0">
                <a:solidFill>
                  <a:srgbClr val="1C252B"/>
                </a:solidFill>
                <a:latin typeface="Cambria"/>
              </a:rPr>
              <a:t>σ</a:t>
            </a:r>
            <a:r>
              <a:rPr sz="2200" b="0" i="0">
                <a:solidFill>
                  <a:srgbClr val="1C252B"/>
                </a:solidFill>
                <a:latin typeface="Segoe UI"/>
              </a:rPr>
              <a:t> to 1.25 and would almost certainly resolve the ready time without new hardware.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52  ·  answers in Appendix D     </a:t>
            </a:r>
            <a:fld id="{1217B6FC-BE0F-4868-874B-7927D5AA6E1A}" type="slidenum">
              <a:rPr lang="en-GB" sz="1000">
                <a:solidFill>
                  <a:srgbClr val="8795A1"/>
                </a:solidFill>
                <a:latin typeface="Segoe UI"/>
              </a:rPr>
              <a:t>33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7918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why the hypervisor asks the guest to give up memory through a balloon driver rather than simply reclaiming pages itself.</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6  ·  CPU and Memory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52  ·  answers in Appendix D     </a:t>
            </a:r>
            <a:fld id="{13CBC89D-3FDF-4AE3-AEBB-E8A296A92BF9}" type="slidenum">
              <a:rPr lang="en-GB" sz="1000">
                <a:solidFill>
                  <a:srgbClr val="D5DEE5"/>
                </a:solidFill>
                <a:latin typeface="Segoe UI"/>
              </a:rPr>
              <a:t>34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why the hypervisor asks the guest to give up memory through a balloon driver rather than simply reclaiming pages itself.</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the hypervisor cannot tell which pages matter. From outside, every guest page looks alike; it cannot distinguish a hot database buffer from a page of cache the guest would discard without noticing, so taking pages itself means guessing, and a wrong guess costs the guest a disk read. The guest kernel has a page-replacement algorithm that is good at exactly this question. The balloon driver asks in the one language the guest understands — it allocates memory — and the guest decides what to give up.</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52  ·  answers in Appendix D     </a:t>
            </a:r>
            <a:fld id="{F2F3500F-6040-452C-AA27-3B3DFCEF77A5}" type="slidenum">
              <a:rPr lang="en-GB" sz="1000">
                <a:solidFill>
                  <a:srgbClr val="8795A1"/>
                </a:solidFill>
                <a:latin typeface="Segoe UI"/>
              </a:rPr>
              <a:t>35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5974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guest is configured with 40 vCPUs and 400 GB on a host with two 32-core sockets and 256 GB per socket. Name the problem, say why no hypervisor setting fixes it, and give the one change that would.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6  ·  CPU and Memory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52  ·  answers in Appendix D     </a:t>
            </a:r>
            <a:fld id="{2A8CA8A9-F75B-42E0-A155-1AA9CE33A277}" type="slidenum">
              <a:rPr lang="en-GB" sz="1000">
                <a:solidFill>
                  <a:srgbClr val="D5DEE5"/>
                </a:solidFill>
                <a:latin typeface="Segoe UI"/>
              </a:rPr>
              <a:t>36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guest is configured with 40 vCPUs and 400 GB on a host with two 32-core sockets and 256 GB per socket. Name the problem, say why no hypervisor setting fixes it, and give the one change that would.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The guest is wider than a NUMA node.</a:t>
            </a:r>
            <a:r>
              <a:rPr sz="2200" b="0" i="0">
                <a:solidFill>
                  <a:srgbClr val="1C252B"/>
                </a:solidFill>
                <a:latin typeface="Segoe UI"/>
              </a:rPr>
              <a:t> It has 40 vCPUs against 32 cores per socket and 400 GB against 256 GB per socket, so it must span both sockets and roughly half its memory accesses cross the interconnect at 1.5–2</a:t>
            </a:r>
            <a:r>
              <a:rPr sz="2200" b="0" i="0">
                <a:solidFill>
                  <a:srgbClr val="1C252B"/>
                </a:solidFill>
                <a:latin typeface="Cambria"/>
              </a:rPr>
              <a:t>×</a:t>
            </a:r>
            <a:r>
              <a:rPr sz="2200" b="0" i="0">
                <a:solidFill>
                  <a:srgbClr val="1C252B"/>
                </a:solidFill>
                <a:latin typeface="Segoe UI"/>
              </a:rPr>
              <a:t> the latency. No hypervisor setting fixes it because the memory is physically attached to a socket; locality cannot be created after the fact. The change that would work is </a:t>
            </a:r>
            <a:r>
              <a:rPr sz="2200" b="1" i="0">
                <a:solidFill>
                  <a:srgbClr val="1C252B"/>
                </a:solidFill>
                <a:latin typeface="Segoe UI"/>
              </a:rPr>
              <a:t>resizing the guest to fit inside one node</a:t>
            </a:r>
            <a:r>
              <a:rPr sz="2200" b="0" i="0">
                <a:solidFill>
                  <a:srgbClr val="1C252B"/>
                </a:solidFill>
                <a:latin typeface="Segoe UI"/>
              </a:rPr>
              <a:t> — 32 vCPU and 256 GB or less. Failing that, enable vNUMA so the guest’s own scheduler can at least keep each thread’s memory on its own node.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52  ·  answers in Appendix D     </a:t>
            </a:r>
            <a:fld id="{672E822B-0AF1-424E-A7DE-85C00510DDAE}" type="slidenum">
              <a:rPr lang="en-GB" sz="1000">
                <a:solidFill>
                  <a:srgbClr val="8795A1"/>
                </a:solidFill>
                <a:latin typeface="Segoe UI"/>
              </a:rPr>
              <a:t>37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4030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52     </a:t>
            </a:r>
            <a:fld id="{260195A1-BBD3-4CEF-9277-236509D78965}" type="slidenum">
              <a:rPr lang="en-GB" sz="1000">
                <a:solidFill>
                  <a:srgbClr val="8795A1"/>
                </a:solidFill>
                <a:latin typeface="Segoe UI"/>
              </a:rPr>
              <a:t>38</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A vCPU is a thread scheduled onto a physical core. Ready time — %RDY, or steal time inside the guest — measures how often it had work and no core. Under 5% healthy, over 10% oversubscribed.</a:t>
            </a:r>
          </a:p>
        </p:txBody>
      </p:sp>
      <p:sp>
        <p:nvSpPr>
          <p:cNvPr id="10" name="!!sb1">
            <a:extLst>
              <a:ext uri="{C183D7F6-B498-43B3-948B-1728B52AA6E4}">
                <adec:decorative xmlns:adec="http://schemas.microsoft.com/office/drawing/2017/decorative" val="1"/>
              </a:ext>
            </a:extLst>
          </p:cNvPr>
          <p:cNvSpPr/>
          <p:nvPr/>
        </p:nvSpPr>
        <p:spPr>
          <a:xfrm>
            <a:off x="658368" y="24999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548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90825"/>
            <a:ext cx="10234879" cy="855878"/>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More vCPUs can make a guest slower: a guest’s spinlocks assume its processors run together, and relaxed co-scheduling makes a wide guest wait. Right-sizing downward is the commonest effective fix.</a:t>
            </a:r>
          </a:p>
        </p:txBody>
      </p:sp>
      <p:sp>
        <p:nvSpPr>
          <p:cNvPr id="13" name="!!sb2">
            <a:extLst>
              <a:ext uri="{C183D7F6-B498-43B3-948B-1728B52AA6E4}">
                <adec:decorative xmlns:adec="http://schemas.microsoft.com/office/drawing/2017/decorative" val="1"/>
              </a:ext>
            </a:extLst>
          </p:cNvPr>
          <p:cNvSpPr/>
          <p:nvPr/>
        </p:nvSpPr>
        <p:spPr>
          <a:xfrm>
            <a:off x="658368" y="3538728"/>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5935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529584"/>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Processor time is divisible and memory is not, which is why memory usually decides guest density.</a:t>
            </a:r>
          </a:p>
        </p:txBody>
      </p:sp>
      <p:sp>
        <p:nvSpPr>
          <p:cNvPr id="16" name="!!sb3">
            <a:extLst>
              <a:ext uri="{C183D7F6-B498-43B3-948B-1728B52AA6E4}">
                <adec:decorative xmlns:adec="http://schemas.microsoft.com/office/drawing/2017/decorative" val="1"/>
              </a:ext>
            </a:extLst>
          </p:cNvPr>
          <p:cNvSpPr/>
          <p:nvPr/>
        </p:nvSpPr>
        <p:spPr>
          <a:xfrm>
            <a:off x="658368" y="412394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17880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4114800"/>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The reclamation ladder: page sharing (free), ballooning (cheap, needs the guest driver), compression (noticeable), hypervisor swapping (a cliff). The job is to never reach the fourth.</a:t>
            </a:r>
          </a:p>
        </p:txBody>
      </p:sp>
      <p:sp>
        <p:nvSpPr>
          <p:cNvPr id="19" name="!!sb4">
            <a:extLst>
              <a:ext uri="{C183D7F6-B498-43B3-948B-1728B52AA6E4}">
                <adec:decorative xmlns:adec="http://schemas.microsoft.com/office/drawing/2017/decorative" val="1"/>
              </a:ext>
            </a:extLst>
          </p:cNvPr>
          <p:cNvSpPr/>
          <p:nvPr/>
        </p:nvSpPr>
        <p:spPr>
          <a:xfrm>
            <a:off x="658368" y="487740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93227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868265"/>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Overcommit ratios mean nothing without an active-memory figure. Allocation is a promise; activity is a fact.</a:t>
            </a:r>
          </a:p>
        </p:txBody>
      </p:sp>
      <p:sp>
        <p:nvSpPr>
          <p:cNvPr id="22" name="!!sb5">
            <a:extLst>
              <a:ext uri="{C183D7F6-B498-43B3-948B-1728B52AA6E4}">
                <adec:decorative xmlns:adec="http://schemas.microsoft.com/office/drawing/2017/decorative" val="1"/>
              </a:ext>
            </a:extLst>
          </p:cNvPr>
          <p:cNvSpPr/>
          <p:nvPr/>
        </p:nvSpPr>
        <p:spPr>
          <a:xfrm>
            <a:off x="658368" y="5630875"/>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85739"/>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621731"/>
            <a:ext cx="10234879" cy="570585"/>
          </a:xfrm>
          <a:prstGeom prst="rect">
            <a:avLst/>
          </a:prstGeom>
          <a:noFill/>
        </p:spPr>
        <p:txBody>
          <a:bodyPr wrap="square" anchor="t" lIns="0" rIns="0" tIns="0" bIns="0">
            <a:noAutofit/>
          </a:bodyPr>
          <a:lstStyle/>
          <a:p>
            <a:pPr algn="l">
              <a:lnSpc>
                <a:spcPct val="104000"/>
              </a:lnSpc>
              <a:spcBef>
                <a:spcPts val="0"/>
              </a:spcBef>
              <a:spcAft>
                <a:spcPts val="0"/>
              </a:spcAft>
            </a:pPr>
            <a:r>
              <a:rPr sz="1800" b="0" i="0">
                <a:solidFill>
                  <a:srgbClr val="1C252B"/>
                </a:solidFill>
                <a:latin typeface="Segoe UI"/>
              </a:rPr>
              <a:t>NUMA is decided at provisioning time. Size guests inside a node where you can; where you cannot, make sure vNUMA tells the guest the truth.</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3058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52     </a:t>
            </a:r>
            <a:fld id="{31014990-D0FF-4803-9958-3D43DEF4BDDD}" type="slidenum">
              <a:rPr lang="en-GB" sz="1000">
                <a:solidFill>
                  <a:srgbClr val="8795A1"/>
                </a:solidFill>
                <a:latin typeface="Segoe UI"/>
              </a:rPr>
              <a:t>39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Ready time measures: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how long the guest took to boot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fraction of time a vCPU was runnable but not scheduled</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hypervisor’s own CPU use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time spent in VM exits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208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52     </a:t>
            </a:r>
            <a:fld id="{4EF64AB0-E08B-4EA5-B327-ED5463E788D9}"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Ballooning requires: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extended page tables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 IOMMU</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cooperating driver inside the guest</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shared storage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61113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6  ·  CPU and Memory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52     </a:t>
            </a:r>
            <a:fld id="{BA441092-52BC-4B14-82D9-4184A158AE2E}" type="slidenum">
              <a:rPr lang="en-GB" sz="1000">
                <a:solidFill>
                  <a:srgbClr val="8795A1"/>
                </a:solidFill>
                <a:latin typeface="Segoe UI"/>
              </a:rPr>
              <a:t>41</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co-scheduling and why relaxed co-scheduling replaced the strict form.</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the four reclamation techniques in order and say what each costs the guest.</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a memory overcommit ratio of 1.3 potentially safe while a CPU overcommit ratio of 1.3 is almost always safe?</a:t>
            </a:r>
          </a:p>
        </p:txBody>
      </p:sp>
      <p:sp>
        <p:nvSpPr>
          <p:cNvPr id="16" name="!!rt3">
            <a:extLst>
              <a:ext uri="{C183D7F6-B498-43B3-948B-1728B52AA6E4}">
                <adec:decorative xmlns:adec="http://schemas.microsoft.com/office/drawing/2017/decorative" val="1"/>
              </a:ext>
            </a:extLst>
          </p:cNvPr>
          <p:cNvSpPr/>
          <p:nvPr/>
        </p:nvSpPr>
        <p:spPr>
          <a:xfrm>
            <a:off x="658368" y="3618585"/>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659733"/>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600297"/>
            <a:ext cx="9549079" cy="1204569"/>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host of 2 </a:t>
            </a:r>
            <a:r>
              <a:rPr sz="1900" b="0" i="0">
                <a:solidFill>
                  <a:srgbClr val="1C252B"/>
                </a:solidFill>
                <a:latin typeface="Cambria"/>
              </a:rPr>
              <a:t>×</a:t>
            </a:r>
            <a:r>
              <a:rPr sz="1900" b="0" i="0">
                <a:solidFill>
                  <a:srgbClr val="1C252B"/>
                </a:solidFill>
                <a:latin typeface="Segoe UI"/>
              </a:rPr>
              <a:t> 24 cores and 384 GB runs 30 guests of 4 vCPUs and 12 GB. Measured: %RDY mean 7%, p95 15%; active memory 4.1 GB per guest. A team wants six more identical guests. Work through the same five steps as the chapter’s worked example and give a recommendation with a counter-offer.</a:t>
            </a:r>
          </a:p>
        </p:txBody>
      </p:sp>
      <p:sp>
        <p:nvSpPr>
          <p:cNvPr id="19" name="!!rt4">
            <a:extLst>
              <a:ext uri="{C183D7F6-B498-43B3-948B-1728B52AA6E4}">
                <adec:decorative xmlns:adec="http://schemas.microsoft.com/office/drawing/2017/decorative" val="1"/>
              </a:ext>
            </a:extLst>
          </p:cNvPr>
          <p:cNvSpPr/>
          <p:nvPr/>
        </p:nvSpPr>
        <p:spPr>
          <a:xfrm>
            <a:off x="658368" y="504261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5083759"/>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5024323"/>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database guest is reported as slow. It has 32 vCPUs and 512 GB on a two-socket host with 24 cores and 384 GB per socket. List what you would measure, in order, and for each possible finding say what you would change.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90141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06</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6</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7 — Paravirtualization and Device Virtualization</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6, pages 45–52</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Drive a host into contention and read the counters</a:t>
            </a:r>
          </a:p>
        </p:txBody>
      </p:sp>
      <p:sp>
        <p:nvSpPr>
          <p:cNvPr id="1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6  ·  CPU and Memory Virtualization</a:t>
            </a:r>
          </a:p>
        </p:txBody>
      </p:sp>
      <p:sp>
        <p:nvSpPr>
          <p:cNvPr id="15" name="!!footR"/>
          <p:cNvSpPr txBox="1"/>
          <p:nvPr/>
        </p:nvSpPr>
        <p:spPr>
          <a:xfrm>
            <a:off x="6639595" y="6437376"/>
            <a:ext cx="4893731" cy="237744"/>
          </a:xfrm>
          <a:prstGeom prst="rect">
            <a:avLst/>
          </a:prstGeom>
          <a:noFill/>
        </p:spPr>
        <p:txBody>
          <a:bodyPr wrap="square" anchor="t" lIns="0" rIns="0" tIns="0" bIns="0">
            <a:noAutofit/>
          </a:bodyPr>
          <a:lstStyle/>
          <a:p>
            <a:pPr algn="r"/>
            <a:fld id="{E6C421CE-F014-42C6-B992-BB441FCCA067}"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 CPU and Memory Virtualization</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