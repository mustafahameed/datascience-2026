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1.svg" ContentType="image/svg+xml"/>
  <Override PartName="/ppt/media/image33.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1.svg" ContentType="image/svg+xml"/>
  <Override PartName="/ppt/media/image42.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5.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3.svg" ContentType="image/svg+xml"/>
  <Override PartName="/ppt/media/image65.svg" ContentType="image/svg+xml"/>
  <Override PartName="/ppt/media/image66.svg" ContentType="image/svg+xml"/>
  <Override PartName="/ppt/media/image6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B5DBFBB-B2B0-432D-A9A5-AE1BEB49119C}">
          <p14:sldIdLst>
            <p14:sldId id="256"/>
            <p14:sldId id="257"/>
            <p14:sldId id="258"/>
            <p14:sldId id="259"/>
            <p14:sldId id="260"/>
          </p14:sldIdLst>
        </p14:section>
        <p14:section name="12.1 Three Interfaces" id="{CDB08B67-89F0-425C-8174-5F1AFB8E3A08}">
          <p14:sldIdLst>
            <p14:sldId id="261"/>
            <p14:sldId id="262"/>
            <p14:sldId id="263"/>
            <p14:sldId id="264"/>
          </p14:sldIdLst>
        </p14:section>
        <p14:section name="12.2 The Virtual Disk" id="{25184E88-C203-4518-AFBE-B3CFA67BD981}">
          <p14:sldIdLst>
            <p14:sldId id="265"/>
            <p14:sldId id="266"/>
            <p14:sldId id="267"/>
          </p14:sldIdLst>
        </p14:section>
        <p14:section name="12.3 Thin Provisioning, and How It Fails" id="{BEE02950-B26D-4834-A48D-94C972F44CE8}">
          <p14:sldIdLst>
            <p14:sldId id="268"/>
            <p14:sldId id="269"/>
            <p14:sldId id="270"/>
            <p14:sldId id="271"/>
            <p14:sldId id="272"/>
            <p14:sldId id="273"/>
          </p14:sldIdLst>
        </p14:section>
        <p14:section name="12.4 Snapshots and Copy-on-Write" id="{56CDEBD2-0293-490D-B940-1D49A8B12C71}">
          <p14:sldIdLst>
            <p14:sldId id="274"/>
          </p14:sldIdLst>
        </p14:section>
        <p14:section name="12.5 Software-Defined Storage" id="{3190A339-3886-4CFF-8557-93CEE19841E7}">
          <p14:sldIdLst>
            <p14:sldId id="275"/>
          </p14:sldIdLst>
        </p14:section>
        <p14:section name="Pitfalls" id="{10BFC489-768E-4C42-8331-6A69A4961F9E}">
          <p14:sldIdLst>
            <p14:sldId id="276"/>
            <p14:sldId id="277"/>
          </p14:sldIdLst>
        </p14:section>
        <p14:section name="Lab" id="{550D9C2E-815E-4245-BD11-5CA5621CD02A}">
          <p14:sldIdLst>
            <p14:sldId id="278"/>
            <p14:sldId id="279"/>
            <p14:sldId id="280"/>
            <p14:sldId id="281"/>
            <p14:sldId id="282"/>
            <p14:sldId id="283"/>
            <p14:sldId id="284"/>
            <p14:sldId id="285"/>
            <p14:sldId id="286"/>
            <p14:sldId id="287"/>
          </p14:sldIdLst>
        </p14:section>
        <p14:section name="Checkpoint" id="{6A12F91D-2C86-4A1E-8BF6-3EC0EFB607F2}">
          <p14:sldIdLst>
            <p14:sldId id="288"/>
            <p14:sldId id="289"/>
            <p14:sldId id="290"/>
            <p14:sldId id="291"/>
            <p14:sldId id="292"/>
            <p14:sldId id="293"/>
          </p14:sldIdLst>
        </p14:section>
        <p14:section name="Wrap-up" id="{CCE1FCEF-1DB1-48FB-8948-C0182B3476B3}">
          <p14:sldIdLst>
            <p14:sldId id="294"/>
            <p14:sldId id="295"/>
            <p14:sldId id="296"/>
            <p14:sldId id="297"/>
            <p14:sldId id="29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12: Storage Virtualization. Part 4 — Storage, Network and Cloud Virtualization. Week 10: Storage and network virtualization. Handout pages 94–100.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7 (virtio-blk, and why an emulated disk controller costs 80% of its throughput) and Chapter 1 (encapsulation — a running machine as a file, which this chapter makes literal). From Operating Systems you need filesystems, blocks and the page cache.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block storage; file storage; object storage; LUN; SAN; NAS; iSCSI; datastore; virtual disk; raw; qcow2; VMDK; VHDX; cluster; L1/L2 table; thick provisioning; thin provisioning; over-subscription; copy-on-write; snapshot chain; backing file; read amplification; software-defined storage; CRUSH; replica; erasure coding; IOPS; discard / TRIM.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names three different contracts, and a great deal of confusion in this area comes from using one word for all of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12.1 (handout p. 95): The path of one write. Each layer below the virtual disk file can be replaced without the guest noticing — which is what makes migration, snapshots and replication possible at all.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virtual disk is a file on the host that the guest sees as a block device. Two formats cover almost everything.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Thick provisioning allocates all of a disk’s space when it is created: a 500 GB disk takes 500 GB immediately. Thin provisioning allocates only what has been written, so that same disk might occupy 40 GB. Thin provisioning is the storage equivalent of the memory overcommit in Chapter 6, and it has the same shape: usually a large saving, occasionally a cliff.</a:t>
            </a:r>
          </a:p>
          <a:p/>
          <a:p>
            <a:r>
              <a:t>Figure 12.2 (handout p. 96): Thin provisioning, drawn to scale for the worked example. The gap between the second and third bars is the saving; the gap between the first and second is the exposure.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snapshot freezes the disk as it is now. The implementation is the obvious one: stop writing to the current file and make it read-only, then direct all new writes to a fresh overlay file that records only what has changed. A read checks the overlay first and falls back to the frozen file beneath. This is copy-on-write, and it is the same mechanism as the overlayfs of Chapter 8, one layer down.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traditional answer to shared storage was a SAN: a dedicated array, dual controllers, a Fibre Channel fabric, and a price to match. The software-defined answer is to put ordinary disks in the servers you already have and let software make them one pool. Ceph is the open example. Data is split into objects; each object’s placement is computed by CRUSH, a deterministic function of the object name and a map of the cluster’s failure domains. There is no lookup table and no metadata server in the data path — any client can compute where a block lives, which is what lets it scale to thousands of nodes. VMware’s vSAN does the same job inside a vSphere cluster.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Builds a small thin pool with LVM, fills it, and watches a guest filesystem go read-only — the worked example’s step 6, at a safe scale. Expect forty minutes.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Virtual disk formats: what they cost on disk..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A backing file: many disks, one shared base..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Build a thin pool, deliberately over-subscribed..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Put filesystems on them and write a little..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Now walk off the cliff..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Snapshots and read amplification..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Reclaim: discard is what returns space..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Tear down..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Provisioned = 120 × 800 = 96 TB, so σ = 96/40 = 2.4. Written = 120 × 240 = 28.8 TB, so headroom = 40 − 28.8 = 11.2 TB. Growth is 120 × 20 = 2.4 TB a month, giving 11.2/2.4 = 4.7 months to exhaustion. Alert at 80% of the pool — 32 TB used, 8 TB free — because that is reached in about six weeks, which is the last point at which there is still time to order capacity or reclaim space. Alerting at 95% leaves no time to do anything.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Deleting a file inside a guest only marks blocks free in the guest’s filesystem. The pool underneath was never told, so it still holds those blocks as written. The setting is discard / TRIM, enabled end to end — in the guest mount options or a periodic fstrim, in the virtual disk controller, and in the storage layer. On an estate that has never had it, enabling it commonly returns 10–20% of the pool.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Slow because reads are amplified: a block must be looked for in each overlay in turn until it is found, so twelve layers can mean twelve lookups where one would do, and a first write to a block must copy it up from wherever it currently lives. Dangerous because every file in the chain is load-bearing: lose or corrupt any one of them and every snapshot above it is unreadable — and after six months nobody knows which snapshots are still needed.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13 — Network Virtualization and SDN. READ: Handout Chapter 12, pages 94–100. THIS WEEK'S LAB: A thin pool to exhaustion; an overlay and its MTU. ASSESSMENT: Project proposal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3.xml"/><Relationship Id="rId8" Type="http://schemas.openxmlformats.org/officeDocument/2006/relationships/slide" Target="slide19.xml"/><Relationship Id="rId9" Type="http://schemas.openxmlformats.org/officeDocument/2006/relationships/slide" Target="slide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image" Target="../media/image25.png"/><Relationship Id="rId5" Type="http://schemas.openxmlformats.org/officeDocument/2006/relationships/image" Target="../media/image26.svg"/><Relationship Id="rId6" Type="http://schemas.openxmlformats.org/officeDocument/2006/relationships/image" Target="../media/image27.png"/><Relationship Id="rId7" Type="http://schemas.openxmlformats.org/officeDocument/2006/relationships/image" Target="../media/image28.svg"/><Relationship Id="rId8" Type="http://schemas.openxmlformats.org/officeDocument/2006/relationships/image" Target="../media/image29.png"/><Relationship Id="rId9" Type="http://schemas.openxmlformats.org/officeDocument/2006/relationships/image" Target="../media/image30.svg"/><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31.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4.png"/><Relationship Id="rId7" Type="http://schemas.openxmlformats.org/officeDocument/2006/relationships/image" Target="../media/image35.svg"/><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36.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37.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8.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9.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2.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5.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6.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7.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8.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9.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50.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51.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52.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53.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5.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60.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61.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5.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6.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7.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74EA0"/>
                </a:solidFill>
                <a:latin typeface="Segoe UI Black"/>
              </a:rPr>
              <a:t>12</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Storage Virtualization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PART IV  ·  STORAGE, NETWORK AND CLOUD VIRTUALIZATION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CHAPTER 12  ·  WEEK 10</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4D8EA"/>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82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C0AE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D0C3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0AE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3082C558-5C90-4EB0-ABD2-A3FC9E12A546}"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679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679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064579" y="1755648"/>
            <a:ext cx="166746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A3A95"/>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064579" y="2029967"/>
            <a:ext cx="1667468" cy="4572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12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12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0991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077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4909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3994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949543" y="2112264"/>
            <a:ext cx="566928" cy="566928"/>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949543"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12</a:t>
            </a:r>
          </a:p>
        </p:txBody>
      </p:sp>
      <p:sp>
        <p:nvSpPr>
          <p:cNvPr id="43" name="!!dot13">
            <a:extLst>
              <a:ext uri="{C183D7F6-B498-43B3-948B-1728B52AA6E4}">
                <adec:decorative xmlns:adec="http://schemas.microsoft.com/office/drawing/2017/decorative" val="1"/>
              </a:ext>
            </a:extLst>
          </p:cNvPr>
          <p:cNvSpPr/>
          <p:nvPr/>
        </p:nvSpPr>
        <p:spPr>
          <a:xfrm>
            <a:off x="6643016"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5515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2499"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10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48422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3927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330692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A3A95"/>
                </a:solidFill>
                <a:latin typeface="Segoe UI"/>
              </a:rPr>
              <a:t>Storage Virtualization</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1">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1">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1"/>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1  </a:t>
            </a:r>
            <a:r>
              <a:rPr sz="1400" b="0" i="0">
                <a:solidFill>
                  <a:srgbClr val="1C252B"/>
                </a:solidFill>
                <a:latin typeface="Segoe UI"/>
              </a:rPr>
              <a:t>What Virtualization Is</a:t>
            </a:r>
          </a:p>
        </p:txBody>
      </p:sp>
      <p:sp>
        <p:nvSpPr>
          <p:cNvPr id="70" name="!!chipBU7">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7">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7"/>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Paravirtualization and Device Virtualization</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chipUS14">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14">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14"/>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14  </a:t>
            </a:r>
            <a:r>
              <a:rPr sz="1400" b="0" i="0">
                <a:solidFill>
                  <a:srgbClr val="1C252B"/>
                </a:solidFill>
                <a:latin typeface="Segoe UI"/>
              </a:rPr>
              <a:t>Cloud Service and Deployment Models</a:t>
            </a:r>
          </a:p>
        </p:txBody>
      </p:sp>
      <p:sp>
        <p:nvSpPr>
          <p:cNvPr id="77" name="!!chipUS15">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15">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15"/>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15  </a:t>
            </a:r>
            <a:r>
              <a:rPr sz="1400" b="0" i="0">
                <a:solidFill>
                  <a:srgbClr val="1C252B"/>
                </a:solidFill>
                <a:latin typeface="Segoe UI"/>
              </a:rPr>
              <a:t>Desktop and Application Virtualization</a:t>
            </a:r>
          </a:p>
        </p:txBody>
      </p:sp>
      <p:sp>
        <p:nvSpPr>
          <p:cNvPr id="80" name="!!chipUS16">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16">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16"/>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16  </a:t>
            </a:r>
            <a:r>
              <a:rPr sz="1400" b="0" i="0">
                <a:solidFill>
                  <a:srgbClr val="1C252B"/>
                </a:solidFill>
                <a:latin typeface="Segoe UI"/>
              </a:rPr>
              <a:t>Virtualization Management Platforms</a:t>
            </a:r>
          </a:p>
        </p:txBody>
      </p:sp>
      <p:sp>
        <p:nvSpPr>
          <p:cNvPr id="83" name="!!chipUS17">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chipbUS17">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tUS17"/>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17  </a:t>
            </a:r>
            <a:r>
              <a:rPr sz="1400" b="0" i="0">
                <a:solidFill>
                  <a:srgbClr val="1C252B"/>
                </a:solidFill>
                <a:latin typeface="Segoe UI"/>
              </a:rPr>
              <a:t>High Availability, Live Migration and Disaster Recovery</a:t>
            </a:r>
          </a:p>
        </p:txBody>
      </p:sp>
      <p:sp>
        <p:nvSpPr>
          <p:cNvPr id="86" name="!!chipUS18">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bUS18">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chiptUS18"/>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18  </a:t>
            </a:r>
            <a:r>
              <a:rPr sz="1400" b="0" i="0">
                <a:solidFill>
                  <a:srgbClr val="1C252B"/>
                </a:solidFill>
                <a:latin typeface="Segoe UI"/>
              </a:rPr>
              <a:t>Performance Monitoring and Capacity Planning</a:t>
            </a:r>
          </a:p>
        </p:txBody>
      </p:sp>
      <p:sp>
        <p:nvSpPr>
          <p:cNvPr id="8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pfill">
            <a:extLst>
              <a:ext uri="{C183D7F6-B498-43B3-948B-1728B52AA6E4}">
                <adec:decorative xmlns:adec="http://schemas.microsoft.com/office/drawing/2017/decorative" val="1"/>
              </a:ext>
            </a:extLst>
          </p:cNvPr>
          <p:cNvSpPr/>
          <p:nvPr/>
        </p:nvSpPr>
        <p:spPr>
          <a:xfrm>
            <a:off x="0" y="0"/>
            <a:ext cx="56705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C8E044FA-CDC6-43ED-BEC2-C55C085B1463}"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Distinguish</a:t>
            </a:r>
            <a:r>
              <a:rPr sz="2100" b="0" i="0">
                <a:solidFill>
                  <a:srgbClr val="1C252B"/>
                </a:solidFill>
                <a:latin typeface="Segoe UI"/>
              </a:rPr>
              <a:t> block, file and object storage by the interface each presents, and </a:t>
            </a:r>
            <a:r>
              <a:rPr sz="2100" b="1" i="0">
                <a:solidFill>
                  <a:srgbClr val="1C252B"/>
                </a:solidFill>
                <a:latin typeface="Segoe UI"/>
              </a:rPr>
              <a:t>say</a:t>
            </a:r>
            <a:r>
              <a:rPr sz="2100" b="0" i="0">
                <a:solidFill>
                  <a:srgbClr val="1C252B"/>
                </a:solidFill>
                <a:latin typeface="Segoe UI"/>
              </a:rPr>
              <a:t> which a virtual machine needs.</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Explain</a:t>
            </a:r>
            <a:r>
              <a:rPr sz="2100" b="0" i="0">
                <a:solidFill>
                  <a:srgbClr val="1C252B"/>
                </a:solidFill>
                <a:latin typeface="Segoe UI"/>
              </a:rPr>
              <a:t> what a virtual disk file is, and </a:t>
            </a:r>
            <a:r>
              <a:rPr sz="2100" b="1" i="0">
                <a:solidFill>
                  <a:srgbClr val="1C252B"/>
                </a:solidFill>
                <a:latin typeface="Segoe UI"/>
              </a:rPr>
              <a:t>compare</a:t>
            </a:r>
            <a:r>
              <a:rPr sz="2100" b="0" i="0">
                <a:solidFill>
                  <a:srgbClr val="1C252B"/>
                </a:solidFill>
                <a:latin typeface="Segoe UI"/>
              </a:rPr>
              <a:t> raw and qcow2 by what each gives up.</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Compute</a:t>
            </a:r>
            <a:r>
              <a:rPr sz="2100" b="0" i="0">
                <a:solidFill>
                  <a:srgbClr val="1C252B"/>
                </a:solidFill>
                <a:latin typeface="Segoe UI"/>
              </a:rPr>
              <a:t> a thin-provisioning overcommit ratio and </a:t>
            </a:r>
            <a:r>
              <a:rPr sz="2100" b="1" i="0">
                <a:solidFill>
                  <a:srgbClr val="1C252B"/>
                </a:solidFill>
                <a:latin typeface="Segoe UI"/>
              </a:rPr>
              <a:t>predict</a:t>
            </a:r>
            <a:r>
              <a:rPr sz="2100" b="0" i="0">
                <a:solidFill>
                  <a:srgbClr val="1C252B"/>
                </a:solidFill>
                <a:latin typeface="Segoe UI"/>
              </a:rPr>
              <a:t> when a pool will exhaust.</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Describe</a:t>
            </a:r>
            <a:r>
              <a:rPr sz="2100" b="0" i="0">
                <a:solidFill>
                  <a:srgbClr val="1C252B"/>
                </a:solidFill>
                <a:latin typeface="Segoe UI"/>
              </a:rPr>
              <a:t> copy-on-write snapshots and </a:t>
            </a:r>
            <a:r>
              <a:rPr sz="2100" b="1" i="0">
                <a:solidFill>
                  <a:srgbClr val="1C252B"/>
                </a:solidFill>
                <a:latin typeface="Segoe UI"/>
              </a:rPr>
              <a:t>explain</a:t>
            </a:r>
            <a:r>
              <a:rPr sz="2100" b="0" i="0">
                <a:solidFill>
                  <a:srgbClr val="1C252B"/>
                </a:solidFill>
                <a:latin typeface="Segoe UI"/>
              </a:rPr>
              <a:t> why a long snapshot chain degrades reads.</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57392"/>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Explain</a:t>
            </a:r>
            <a:r>
              <a:rPr sz="2100" b="0" i="0">
                <a:solidFill>
                  <a:srgbClr val="1C252B"/>
                </a:solidFill>
                <a:latin typeface="Segoe UI"/>
              </a:rPr>
              <a:t> how software-defined storage places replicas, and </a:t>
            </a:r>
            <a:r>
              <a:rPr sz="2100" b="1" i="0">
                <a:solidFill>
                  <a:srgbClr val="1C252B"/>
                </a:solidFill>
                <a:latin typeface="Segoe UI"/>
              </a:rPr>
              <a:t>state</a:t>
            </a:r>
            <a:r>
              <a:rPr sz="2100" b="0" i="0">
                <a:solidFill>
                  <a:srgbClr val="1C252B"/>
                </a:solidFill>
                <a:latin typeface="Segoe UI"/>
              </a:rPr>
              <a:t> what it replaces.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5058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CFAFF271-36E9-490C-98DA-5C9D606CA570}" type="slidenum">
              <a:rPr lang="en-GB" sz="1000">
                <a:solidFill>
                  <a:srgbClr val="8795A1"/>
                </a:solidFill>
                <a:latin typeface="Segoe UI"/>
              </a:rPr>
              <a:t>4</a:t>
            </a:fld>
          </a:p>
        </p:txBody>
      </p:sp>
      <p:sp>
        <p:nvSpPr>
          <p:cNvPr id="7" name="!!term-block storage">
            <a:extLst>
              <a:ext uri="{C183D7F6-B498-43B3-948B-1728B52AA6E4}">
                <adec:decorative xmlns:adec="http://schemas.microsoft.com/office/drawing/2017/decorative" val="1"/>
              </a:ext>
            </a:extLst>
          </p:cNvPr>
          <p:cNvSpPr/>
          <p:nvPr/>
        </p:nvSpPr>
        <p:spPr>
          <a:xfrm>
            <a:off x="658368" y="1847088"/>
            <a:ext cx="159833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block storage">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block storage"/>
          <p:cNvSpPr txBox="1"/>
          <p:nvPr/>
        </p:nvSpPr>
        <p:spPr>
          <a:xfrm>
            <a:off x="950976" y="1970532"/>
            <a:ext cx="141545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block storage</a:t>
            </a:r>
          </a:p>
        </p:txBody>
      </p:sp>
      <p:sp>
        <p:nvSpPr>
          <p:cNvPr id="10" name="!!term-file storage">
            <a:extLst>
              <a:ext uri="{C183D7F6-B498-43B3-948B-1728B52AA6E4}">
                <adec:decorative xmlns:adec="http://schemas.microsoft.com/office/drawing/2017/decorative" val="1"/>
              </a:ext>
            </a:extLst>
          </p:cNvPr>
          <p:cNvSpPr/>
          <p:nvPr/>
        </p:nvSpPr>
        <p:spPr>
          <a:xfrm>
            <a:off x="2403007" y="1847088"/>
            <a:ext cx="139333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file storage">
            <a:extLst>
              <a:ext uri="{C183D7F6-B498-43B3-948B-1728B52AA6E4}">
                <adec:decorative xmlns:adec="http://schemas.microsoft.com/office/drawing/2017/decorative" val="1"/>
              </a:ext>
            </a:extLst>
          </p:cNvPr>
          <p:cNvSpPr/>
          <p:nvPr/>
        </p:nvSpPr>
        <p:spPr>
          <a:xfrm>
            <a:off x="253102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file storage"/>
          <p:cNvSpPr txBox="1"/>
          <p:nvPr/>
        </p:nvSpPr>
        <p:spPr>
          <a:xfrm>
            <a:off x="2695615" y="1970532"/>
            <a:ext cx="121045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file storage</a:t>
            </a:r>
          </a:p>
        </p:txBody>
      </p:sp>
      <p:sp>
        <p:nvSpPr>
          <p:cNvPr id="13" name="!!term-object storage">
            <a:extLst>
              <a:ext uri="{C183D7F6-B498-43B3-948B-1728B52AA6E4}">
                <adec:decorative xmlns:adec="http://schemas.microsoft.com/office/drawing/2017/decorative" val="1"/>
              </a:ext>
            </a:extLst>
          </p:cNvPr>
          <p:cNvSpPr/>
          <p:nvPr/>
        </p:nvSpPr>
        <p:spPr>
          <a:xfrm>
            <a:off x="3942649" y="1847088"/>
            <a:ext cx="166925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object storage">
            <a:extLst>
              <a:ext uri="{C183D7F6-B498-43B3-948B-1728B52AA6E4}">
                <adec:decorative xmlns:adec="http://schemas.microsoft.com/office/drawing/2017/decorative" val="1"/>
              </a:ext>
            </a:extLst>
          </p:cNvPr>
          <p:cNvSpPr/>
          <p:nvPr/>
        </p:nvSpPr>
        <p:spPr>
          <a:xfrm>
            <a:off x="407066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object storage"/>
          <p:cNvSpPr txBox="1"/>
          <p:nvPr/>
        </p:nvSpPr>
        <p:spPr>
          <a:xfrm>
            <a:off x="4235257" y="1970532"/>
            <a:ext cx="148637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object storage</a:t>
            </a:r>
          </a:p>
        </p:txBody>
      </p:sp>
      <p:sp>
        <p:nvSpPr>
          <p:cNvPr id="16" name="!!term-LUN">
            <a:extLst>
              <a:ext uri="{C183D7F6-B498-43B3-948B-1728B52AA6E4}">
                <adec:decorative xmlns:adec="http://schemas.microsoft.com/office/drawing/2017/decorative" val="1"/>
              </a:ext>
            </a:extLst>
          </p:cNvPr>
          <p:cNvSpPr/>
          <p:nvPr/>
        </p:nvSpPr>
        <p:spPr>
          <a:xfrm>
            <a:off x="5758212" y="1847088"/>
            <a:ext cx="80922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LUN">
            <a:extLst>
              <a:ext uri="{C183D7F6-B498-43B3-948B-1728B52AA6E4}">
                <adec:decorative xmlns:adec="http://schemas.microsoft.com/office/drawing/2017/decorative" val="1"/>
              </a:ext>
            </a:extLst>
          </p:cNvPr>
          <p:cNvSpPr/>
          <p:nvPr/>
        </p:nvSpPr>
        <p:spPr>
          <a:xfrm>
            <a:off x="588622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LUN"/>
          <p:cNvSpPr txBox="1"/>
          <p:nvPr/>
        </p:nvSpPr>
        <p:spPr>
          <a:xfrm>
            <a:off x="6050820" y="1970532"/>
            <a:ext cx="62634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LUN</a:t>
            </a:r>
          </a:p>
        </p:txBody>
      </p:sp>
      <p:sp>
        <p:nvSpPr>
          <p:cNvPr id="19" name="!!term-SAN">
            <a:extLst>
              <a:ext uri="{C183D7F6-B498-43B3-948B-1728B52AA6E4}">
                <adec:decorative xmlns:adec="http://schemas.microsoft.com/office/drawing/2017/decorative" val="1"/>
              </a:ext>
            </a:extLst>
          </p:cNvPr>
          <p:cNvSpPr/>
          <p:nvPr/>
        </p:nvSpPr>
        <p:spPr>
          <a:xfrm>
            <a:off x="6713740" y="1847088"/>
            <a:ext cx="81276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SAN">
            <a:extLst>
              <a:ext uri="{C183D7F6-B498-43B3-948B-1728B52AA6E4}">
                <adec:decorative xmlns:adec="http://schemas.microsoft.com/office/drawing/2017/decorative" val="1"/>
              </a:ext>
            </a:extLst>
          </p:cNvPr>
          <p:cNvSpPr/>
          <p:nvPr/>
        </p:nvSpPr>
        <p:spPr>
          <a:xfrm>
            <a:off x="684175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SAN"/>
          <p:cNvSpPr txBox="1"/>
          <p:nvPr/>
        </p:nvSpPr>
        <p:spPr>
          <a:xfrm>
            <a:off x="7006348" y="1970532"/>
            <a:ext cx="62988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SAN</a:t>
            </a:r>
          </a:p>
        </p:txBody>
      </p:sp>
      <p:sp>
        <p:nvSpPr>
          <p:cNvPr id="22" name="!!term-NAS">
            <a:extLst>
              <a:ext uri="{C183D7F6-B498-43B3-948B-1728B52AA6E4}">
                <adec:decorative xmlns:adec="http://schemas.microsoft.com/office/drawing/2017/decorative" val="1"/>
              </a:ext>
            </a:extLst>
          </p:cNvPr>
          <p:cNvSpPr/>
          <p:nvPr/>
        </p:nvSpPr>
        <p:spPr>
          <a:xfrm>
            <a:off x="7672809" y="1847088"/>
            <a:ext cx="81276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NAS">
            <a:extLst>
              <a:ext uri="{C183D7F6-B498-43B3-948B-1728B52AA6E4}">
                <adec:decorative xmlns:adec="http://schemas.microsoft.com/office/drawing/2017/decorative" val="1"/>
              </a:ext>
            </a:extLst>
          </p:cNvPr>
          <p:cNvSpPr/>
          <p:nvPr/>
        </p:nvSpPr>
        <p:spPr>
          <a:xfrm>
            <a:off x="780082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NAS"/>
          <p:cNvSpPr txBox="1"/>
          <p:nvPr/>
        </p:nvSpPr>
        <p:spPr>
          <a:xfrm>
            <a:off x="7965417" y="1970532"/>
            <a:ext cx="62988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NAS</a:t>
            </a:r>
          </a:p>
        </p:txBody>
      </p:sp>
      <p:sp>
        <p:nvSpPr>
          <p:cNvPr id="25" name="!!term-iSCSI">
            <a:extLst>
              <a:ext uri="{C183D7F6-B498-43B3-948B-1728B52AA6E4}">
                <adec:decorative xmlns:adec="http://schemas.microsoft.com/office/drawing/2017/decorative" val="1"/>
              </a:ext>
            </a:extLst>
          </p:cNvPr>
          <p:cNvSpPr/>
          <p:nvPr/>
        </p:nvSpPr>
        <p:spPr>
          <a:xfrm>
            <a:off x="8631877" y="1847088"/>
            <a:ext cx="8642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iSCSI">
            <a:extLst>
              <a:ext uri="{C183D7F6-B498-43B3-948B-1728B52AA6E4}">
                <adec:decorative xmlns:adec="http://schemas.microsoft.com/office/drawing/2017/decorative" val="1"/>
              </a:ext>
            </a:extLst>
          </p:cNvPr>
          <p:cNvSpPr/>
          <p:nvPr/>
        </p:nvSpPr>
        <p:spPr>
          <a:xfrm>
            <a:off x="875989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iSCSI"/>
          <p:cNvSpPr txBox="1"/>
          <p:nvPr/>
        </p:nvSpPr>
        <p:spPr>
          <a:xfrm>
            <a:off x="8924485" y="1970532"/>
            <a:ext cx="68137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iSCSI</a:t>
            </a:r>
          </a:p>
        </p:txBody>
      </p:sp>
      <p:sp>
        <p:nvSpPr>
          <p:cNvPr id="28" name="!!term-datastore">
            <a:extLst>
              <a:ext uri="{C183D7F6-B498-43B3-948B-1728B52AA6E4}">
                <adec:decorative xmlns:adec="http://schemas.microsoft.com/office/drawing/2017/decorative" val="1"/>
              </a:ext>
            </a:extLst>
          </p:cNvPr>
          <p:cNvSpPr/>
          <p:nvPr/>
        </p:nvSpPr>
        <p:spPr>
          <a:xfrm>
            <a:off x="9642438" y="1847088"/>
            <a:ext cx="12483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datastore">
            <a:extLst>
              <a:ext uri="{C183D7F6-B498-43B3-948B-1728B52AA6E4}">
                <adec:decorative xmlns:adec="http://schemas.microsoft.com/office/drawing/2017/decorative" val="1"/>
              </a:ext>
            </a:extLst>
          </p:cNvPr>
          <p:cNvSpPr/>
          <p:nvPr/>
        </p:nvSpPr>
        <p:spPr>
          <a:xfrm>
            <a:off x="977045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datastore"/>
          <p:cNvSpPr txBox="1"/>
          <p:nvPr/>
        </p:nvSpPr>
        <p:spPr>
          <a:xfrm>
            <a:off x="9935046" y="1970532"/>
            <a:ext cx="106546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datastore</a:t>
            </a:r>
          </a:p>
        </p:txBody>
      </p:sp>
      <p:sp>
        <p:nvSpPr>
          <p:cNvPr id="31" name="!!term-virtual disk">
            <a:extLst>
              <a:ext uri="{C183D7F6-B498-43B3-948B-1728B52AA6E4}">
                <adec:decorative xmlns:adec="http://schemas.microsoft.com/office/drawing/2017/decorative" val="1"/>
              </a:ext>
            </a:extLst>
          </p:cNvPr>
          <p:cNvSpPr/>
          <p:nvPr/>
        </p:nvSpPr>
        <p:spPr>
          <a:xfrm>
            <a:off x="658368" y="2468880"/>
            <a:ext cx="13621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virtual disk">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virtual disk"/>
          <p:cNvSpPr txBox="1"/>
          <p:nvPr/>
        </p:nvSpPr>
        <p:spPr>
          <a:xfrm>
            <a:off x="950976" y="2592324"/>
            <a:ext cx="117928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virtual disk</a:t>
            </a:r>
          </a:p>
        </p:txBody>
      </p:sp>
      <p:sp>
        <p:nvSpPr>
          <p:cNvPr id="34" name="!!term-raw">
            <a:extLst>
              <a:ext uri="{C183D7F6-B498-43B3-948B-1728B52AA6E4}">
                <adec:decorative xmlns:adec="http://schemas.microsoft.com/office/drawing/2017/decorative" val="1"/>
              </a:ext>
            </a:extLst>
          </p:cNvPr>
          <p:cNvSpPr/>
          <p:nvPr/>
        </p:nvSpPr>
        <p:spPr>
          <a:xfrm>
            <a:off x="2166838" y="2468880"/>
            <a:ext cx="74592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raw">
            <a:extLst>
              <a:ext uri="{C183D7F6-B498-43B3-948B-1728B52AA6E4}">
                <adec:decorative xmlns:adec="http://schemas.microsoft.com/office/drawing/2017/decorative" val="1"/>
              </a:ext>
            </a:extLst>
          </p:cNvPr>
          <p:cNvSpPr/>
          <p:nvPr/>
        </p:nvSpPr>
        <p:spPr>
          <a:xfrm>
            <a:off x="229485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raw"/>
          <p:cNvSpPr txBox="1"/>
          <p:nvPr/>
        </p:nvSpPr>
        <p:spPr>
          <a:xfrm>
            <a:off x="2459446" y="2592324"/>
            <a:ext cx="56304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raw</a:t>
            </a:r>
          </a:p>
        </p:txBody>
      </p:sp>
      <p:sp>
        <p:nvSpPr>
          <p:cNvPr id="37" name="!!term-qcow2">
            <a:extLst>
              <a:ext uri="{C183D7F6-B498-43B3-948B-1728B52AA6E4}">
                <adec:decorative xmlns:adec="http://schemas.microsoft.com/office/drawing/2017/decorative" val="1"/>
              </a:ext>
            </a:extLst>
          </p:cNvPr>
          <p:cNvSpPr/>
          <p:nvPr/>
        </p:nvSpPr>
        <p:spPr>
          <a:xfrm>
            <a:off x="3059064" y="2468880"/>
            <a:ext cx="10022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qcow2">
            <a:extLst>
              <a:ext uri="{C183D7F6-B498-43B3-948B-1728B52AA6E4}">
                <adec:decorative xmlns:adec="http://schemas.microsoft.com/office/drawing/2017/decorative" val="1"/>
              </a:ext>
            </a:extLst>
          </p:cNvPr>
          <p:cNvSpPr/>
          <p:nvPr/>
        </p:nvSpPr>
        <p:spPr>
          <a:xfrm>
            <a:off x="318708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qcow2"/>
          <p:cNvSpPr txBox="1"/>
          <p:nvPr/>
        </p:nvSpPr>
        <p:spPr>
          <a:xfrm>
            <a:off x="3351672" y="2592324"/>
            <a:ext cx="81933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qcow2</a:t>
            </a:r>
          </a:p>
        </p:txBody>
      </p:sp>
      <p:sp>
        <p:nvSpPr>
          <p:cNvPr id="40" name="!!term-VMDK">
            <a:extLst>
              <a:ext uri="{C183D7F6-B498-43B3-948B-1728B52AA6E4}">
                <adec:decorative xmlns:adec="http://schemas.microsoft.com/office/drawing/2017/decorative" val="1"/>
              </a:ext>
            </a:extLst>
          </p:cNvPr>
          <p:cNvSpPr/>
          <p:nvPr/>
        </p:nvSpPr>
        <p:spPr>
          <a:xfrm>
            <a:off x="4207585" y="2468880"/>
            <a:ext cx="9829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VMDK">
            <a:extLst>
              <a:ext uri="{C183D7F6-B498-43B3-948B-1728B52AA6E4}">
                <adec:decorative xmlns:adec="http://schemas.microsoft.com/office/drawing/2017/decorative" val="1"/>
              </a:ext>
            </a:extLst>
          </p:cNvPr>
          <p:cNvSpPr/>
          <p:nvPr/>
        </p:nvSpPr>
        <p:spPr>
          <a:xfrm>
            <a:off x="433560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VMDK"/>
          <p:cNvSpPr txBox="1"/>
          <p:nvPr/>
        </p:nvSpPr>
        <p:spPr>
          <a:xfrm>
            <a:off x="4500193" y="2592324"/>
            <a:ext cx="80010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VMDK</a:t>
            </a:r>
          </a:p>
        </p:txBody>
      </p:sp>
      <p:sp>
        <p:nvSpPr>
          <p:cNvPr id="43" name="!!term-VHDX">
            <a:extLst>
              <a:ext uri="{C183D7F6-B498-43B3-948B-1728B52AA6E4}">
                <adec:decorative xmlns:adec="http://schemas.microsoft.com/office/drawing/2017/decorative" val="1"/>
              </a:ext>
            </a:extLst>
          </p:cNvPr>
          <p:cNvSpPr/>
          <p:nvPr/>
        </p:nvSpPr>
        <p:spPr>
          <a:xfrm>
            <a:off x="5336869" y="2468880"/>
            <a:ext cx="94831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VHDX">
            <a:extLst>
              <a:ext uri="{C183D7F6-B498-43B3-948B-1728B52AA6E4}">
                <adec:decorative xmlns:adec="http://schemas.microsoft.com/office/drawing/2017/decorative" val="1"/>
              </a:ext>
            </a:extLst>
          </p:cNvPr>
          <p:cNvSpPr/>
          <p:nvPr/>
        </p:nvSpPr>
        <p:spPr>
          <a:xfrm>
            <a:off x="546488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VHDX"/>
          <p:cNvSpPr txBox="1"/>
          <p:nvPr/>
        </p:nvSpPr>
        <p:spPr>
          <a:xfrm>
            <a:off x="5629477" y="2592324"/>
            <a:ext cx="76543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VHDX</a:t>
            </a:r>
          </a:p>
        </p:txBody>
      </p:sp>
      <p:sp>
        <p:nvSpPr>
          <p:cNvPr id="46" name="!!term-cluster">
            <a:extLst>
              <a:ext uri="{C183D7F6-B498-43B3-948B-1728B52AA6E4}">
                <adec:decorative xmlns:adec="http://schemas.microsoft.com/office/drawing/2017/decorative" val="1"/>
              </a:ext>
            </a:extLst>
          </p:cNvPr>
          <p:cNvSpPr/>
          <p:nvPr/>
        </p:nvSpPr>
        <p:spPr>
          <a:xfrm>
            <a:off x="6431487" y="2468880"/>
            <a:ext cx="100316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cluster">
            <a:extLst>
              <a:ext uri="{C183D7F6-B498-43B3-948B-1728B52AA6E4}">
                <adec:decorative xmlns:adec="http://schemas.microsoft.com/office/drawing/2017/decorative" val="1"/>
              </a:ext>
            </a:extLst>
          </p:cNvPr>
          <p:cNvSpPr/>
          <p:nvPr/>
        </p:nvSpPr>
        <p:spPr>
          <a:xfrm>
            <a:off x="655950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cluster"/>
          <p:cNvSpPr txBox="1"/>
          <p:nvPr/>
        </p:nvSpPr>
        <p:spPr>
          <a:xfrm>
            <a:off x="6724095" y="2592324"/>
            <a:ext cx="82028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cluster</a:t>
            </a:r>
          </a:p>
        </p:txBody>
      </p:sp>
      <p:sp>
        <p:nvSpPr>
          <p:cNvPr id="49" name="!!term-L1/L2 table">
            <a:extLst>
              <a:ext uri="{C183D7F6-B498-43B3-948B-1728B52AA6E4}">
                <adec:decorative xmlns:adec="http://schemas.microsoft.com/office/drawing/2017/decorative" val="1"/>
              </a:ext>
            </a:extLst>
          </p:cNvPr>
          <p:cNvSpPr/>
          <p:nvPr/>
        </p:nvSpPr>
        <p:spPr>
          <a:xfrm>
            <a:off x="7580955" y="2468880"/>
            <a:ext cx="13881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L1/L2 table">
            <a:extLst>
              <a:ext uri="{C183D7F6-B498-43B3-948B-1728B52AA6E4}">
                <adec:decorative xmlns:adec="http://schemas.microsoft.com/office/drawing/2017/decorative" val="1"/>
              </a:ext>
            </a:extLst>
          </p:cNvPr>
          <p:cNvSpPr/>
          <p:nvPr/>
        </p:nvSpPr>
        <p:spPr>
          <a:xfrm>
            <a:off x="770897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L1/L2 table"/>
          <p:cNvSpPr txBox="1"/>
          <p:nvPr/>
        </p:nvSpPr>
        <p:spPr>
          <a:xfrm>
            <a:off x="7873563" y="2592324"/>
            <a:ext cx="120523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L1/L2 table</a:t>
            </a:r>
          </a:p>
        </p:txBody>
      </p:sp>
      <p:sp>
        <p:nvSpPr>
          <p:cNvPr id="52" name="!!term-thick provisio">
            <a:extLst>
              <a:ext uri="{C183D7F6-B498-43B3-948B-1728B52AA6E4}">
                <adec:decorative xmlns:adec="http://schemas.microsoft.com/office/drawing/2017/decorative" val="1"/>
              </a:ext>
            </a:extLst>
          </p:cNvPr>
          <p:cNvSpPr/>
          <p:nvPr/>
        </p:nvSpPr>
        <p:spPr>
          <a:xfrm>
            <a:off x="9115375" y="2468880"/>
            <a:ext cx="19618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thick provisio">
            <a:extLst>
              <a:ext uri="{C183D7F6-B498-43B3-948B-1728B52AA6E4}">
                <adec:decorative xmlns:adec="http://schemas.microsoft.com/office/drawing/2017/decorative" val="1"/>
              </a:ext>
            </a:extLst>
          </p:cNvPr>
          <p:cNvSpPr/>
          <p:nvPr/>
        </p:nvSpPr>
        <p:spPr>
          <a:xfrm>
            <a:off x="924339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thick provisio"/>
          <p:cNvSpPr txBox="1"/>
          <p:nvPr/>
        </p:nvSpPr>
        <p:spPr>
          <a:xfrm>
            <a:off x="9407983" y="2592324"/>
            <a:ext cx="177899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thick provisioning</a:t>
            </a:r>
          </a:p>
        </p:txBody>
      </p:sp>
      <p:sp>
        <p:nvSpPr>
          <p:cNvPr id="55" name="!!term-thin provision">
            <a:extLst>
              <a:ext uri="{C183D7F6-B498-43B3-948B-1728B52AA6E4}">
                <adec:decorative xmlns:adec="http://schemas.microsoft.com/office/drawing/2017/decorative" val="1"/>
              </a:ext>
            </a:extLst>
          </p:cNvPr>
          <p:cNvSpPr/>
          <p:nvPr/>
        </p:nvSpPr>
        <p:spPr>
          <a:xfrm>
            <a:off x="658368" y="3090672"/>
            <a:ext cx="188551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thin provision">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thin provision"/>
          <p:cNvSpPr txBox="1"/>
          <p:nvPr/>
        </p:nvSpPr>
        <p:spPr>
          <a:xfrm>
            <a:off x="950976" y="3214116"/>
            <a:ext cx="170263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thin provisioning</a:t>
            </a:r>
          </a:p>
        </p:txBody>
      </p:sp>
      <p:sp>
        <p:nvSpPr>
          <p:cNvPr id="58" name="!!term-over-subscript">
            <a:extLst>
              <a:ext uri="{C183D7F6-B498-43B3-948B-1728B52AA6E4}">
                <adec:decorative xmlns:adec="http://schemas.microsoft.com/office/drawing/2017/decorative" val="1"/>
              </a:ext>
            </a:extLst>
          </p:cNvPr>
          <p:cNvSpPr/>
          <p:nvPr/>
        </p:nvSpPr>
        <p:spPr>
          <a:xfrm>
            <a:off x="2690182" y="3090672"/>
            <a:ext cx="193702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over-subscript">
            <a:extLst>
              <a:ext uri="{C183D7F6-B498-43B3-948B-1728B52AA6E4}">
                <adec:decorative xmlns:adec="http://schemas.microsoft.com/office/drawing/2017/decorative" val="1"/>
              </a:ext>
            </a:extLst>
          </p:cNvPr>
          <p:cNvSpPr/>
          <p:nvPr/>
        </p:nvSpPr>
        <p:spPr>
          <a:xfrm>
            <a:off x="281819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over-subscript"/>
          <p:cNvSpPr txBox="1"/>
          <p:nvPr/>
        </p:nvSpPr>
        <p:spPr>
          <a:xfrm>
            <a:off x="2982790" y="3214116"/>
            <a:ext cx="175414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over-subscription</a:t>
            </a:r>
          </a:p>
        </p:txBody>
      </p:sp>
      <p:sp>
        <p:nvSpPr>
          <p:cNvPr id="61" name="!!term-copy-on-write">
            <a:extLst>
              <a:ext uri="{C183D7F6-B498-43B3-948B-1728B52AA6E4}">
                <adec:decorative xmlns:adec="http://schemas.microsoft.com/office/drawing/2017/decorative" val="1"/>
              </a:ext>
            </a:extLst>
          </p:cNvPr>
          <p:cNvSpPr/>
          <p:nvPr/>
        </p:nvSpPr>
        <p:spPr>
          <a:xfrm>
            <a:off x="4773513" y="3090672"/>
            <a:ext cx="165274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copy-on-write">
            <a:extLst>
              <a:ext uri="{C183D7F6-B498-43B3-948B-1728B52AA6E4}">
                <adec:decorative xmlns:adec="http://schemas.microsoft.com/office/drawing/2017/decorative" val="1"/>
              </a:ext>
            </a:extLst>
          </p:cNvPr>
          <p:cNvSpPr/>
          <p:nvPr/>
        </p:nvSpPr>
        <p:spPr>
          <a:xfrm>
            <a:off x="490152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copy-on-write"/>
          <p:cNvSpPr txBox="1"/>
          <p:nvPr/>
        </p:nvSpPr>
        <p:spPr>
          <a:xfrm>
            <a:off x="5066121" y="3214116"/>
            <a:ext cx="146986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copy-on-write</a:t>
            </a:r>
          </a:p>
        </p:txBody>
      </p:sp>
      <p:sp>
        <p:nvSpPr>
          <p:cNvPr id="64" name="!!term-snapshot chain">
            <a:extLst>
              <a:ext uri="{C183D7F6-B498-43B3-948B-1728B52AA6E4}">
                <adec:decorative xmlns:adec="http://schemas.microsoft.com/office/drawing/2017/decorative" val="1"/>
              </a:ext>
            </a:extLst>
          </p:cNvPr>
          <p:cNvSpPr/>
          <p:nvPr/>
        </p:nvSpPr>
        <p:spPr>
          <a:xfrm>
            <a:off x="6572559" y="3090672"/>
            <a:ext cx="172543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snapshot chain">
            <a:extLst>
              <a:ext uri="{C183D7F6-B498-43B3-948B-1728B52AA6E4}">
                <adec:decorative xmlns:adec="http://schemas.microsoft.com/office/drawing/2017/decorative" val="1"/>
              </a:ext>
            </a:extLst>
          </p:cNvPr>
          <p:cNvSpPr/>
          <p:nvPr/>
        </p:nvSpPr>
        <p:spPr>
          <a:xfrm>
            <a:off x="670057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snapshot chain"/>
          <p:cNvSpPr txBox="1"/>
          <p:nvPr/>
        </p:nvSpPr>
        <p:spPr>
          <a:xfrm>
            <a:off x="6865167" y="3214116"/>
            <a:ext cx="154255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snapshot chain</a:t>
            </a:r>
          </a:p>
        </p:txBody>
      </p:sp>
      <p:sp>
        <p:nvSpPr>
          <p:cNvPr id="67" name="!!term-backing file">
            <a:extLst>
              <a:ext uri="{C183D7F6-B498-43B3-948B-1728B52AA6E4}">
                <adec:decorative xmlns:adec="http://schemas.microsoft.com/office/drawing/2017/decorative" val="1"/>
              </a:ext>
            </a:extLst>
          </p:cNvPr>
          <p:cNvSpPr/>
          <p:nvPr/>
        </p:nvSpPr>
        <p:spPr>
          <a:xfrm>
            <a:off x="8444302" y="3090672"/>
            <a:ext cx="14195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termd-backing file">
            <a:extLst>
              <a:ext uri="{C183D7F6-B498-43B3-948B-1728B52AA6E4}">
                <adec:decorative xmlns:adec="http://schemas.microsoft.com/office/drawing/2017/decorative" val="1"/>
              </a:ext>
            </a:extLst>
          </p:cNvPr>
          <p:cNvSpPr/>
          <p:nvPr/>
        </p:nvSpPr>
        <p:spPr>
          <a:xfrm>
            <a:off x="857231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termt-backing file"/>
          <p:cNvSpPr txBox="1"/>
          <p:nvPr/>
        </p:nvSpPr>
        <p:spPr>
          <a:xfrm>
            <a:off x="8736910" y="3214116"/>
            <a:ext cx="123667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backing file</a:t>
            </a:r>
          </a:p>
        </p:txBody>
      </p:sp>
      <p:sp>
        <p:nvSpPr>
          <p:cNvPr id="70" name="!!term-read amplifica">
            <a:extLst>
              <a:ext uri="{C183D7F6-B498-43B3-948B-1728B52AA6E4}">
                <adec:decorative xmlns:adec="http://schemas.microsoft.com/office/drawing/2017/decorative" val="1"/>
              </a:ext>
            </a:extLst>
          </p:cNvPr>
          <p:cNvSpPr/>
          <p:nvPr/>
        </p:nvSpPr>
        <p:spPr>
          <a:xfrm>
            <a:off x="658368" y="3712464"/>
            <a:ext cx="19824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termd-read amplifica">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termt-read amplifica"/>
          <p:cNvSpPr txBox="1"/>
          <p:nvPr/>
        </p:nvSpPr>
        <p:spPr>
          <a:xfrm>
            <a:off x="950976" y="3835908"/>
            <a:ext cx="179959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read amplification</a:t>
            </a:r>
          </a:p>
        </p:txBody>
      </p:sp>
      <p:sp>
        <p:nvSpPr>
          <p:cNvPr id="73" name="!!term-software-defin">
            <a:extLst>
              <a:ext uri="{C183D7F6-B498-43B3-948B-1728B52AA6E4}">
                <adec:decorative xmlns:adec="http://schemas.microsoft.com/office/drawing/2017/decorative" val="1"/>
              </a:ext>
            </a:extLst>
          </p:cNvPr>
          <p:cNvSpPr/>
          <p:nvPr/>
        </p:nvSpPr>
        <p:spPr>
          <a:xfrm>
            <a:off x="2787143" y="3712464"/>
            <a:ext cx="25960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termd-software-defin">
            <a:extLst>
              <a:ext uri="{C183D7F6-B498-43B3-948B-1728B52AA6E4}">
                <adec:decorative xmlns:adec="http://schemas.microsoft.com/office/drawing/2017/decorative" val="1"/>
              </a:ext>
            </a:extLst>
          </p:cNvPr>
          <p:cNvSpPr/>
          <p:nvPr/>
        </p:nvSpPr>
        <p:spPr>
          <a:xfrm>
            <a:off x="2915159"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termt-software-defin"/>
          <p:cNvSpPr txBox="1"/>
          <p:nvPr/>
        </p:nvSpPr>
        <p:spPr>
          <a:xfrm>
            <a:off x="3079751" y="3835908"/>
            <a:ext cx="241319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software-defined storage</a:t>
            </a:r>
          </a:p>
        </p:txBody>
      </p:sp>
      <p:sp>
        <p:nvSpPr>
          <p:cNvPr id="76" name="!!term-CRUSH">
            <a:extLst>
              <a:ext uri="{C183D7F6-B498-43B3-948B-1728B52AA6E4}">
                <adec:decorative xmlns:adec="http://schemas.microsoft.com/office/drawing/2017/decorative" val="1"/>
              </a:ext>
            </a:extLst>
          </p:cNvPr>
          <p:cNvSpPr/>
          <p:nvPr/>
        </p:nvSpPr>
        <p:spPr>
          <a:xfrm>
            <a:off x="5529525" y="3712464"/>
            <a:ext cx="10500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termd-CRUSH">
            <a:extLst>
              <a:ext uri="{C183D7F6-B498-43B3-948B-1728B52AA6E4}">
                <adec:decorative xmlns:adec="http://schemas.microsoft.com/office/drawing/2017/decorative" val="1"/>
              </a:ext>
            </a:extLst>
          </p:cNvPr>
          <p:cNvSpPr/>
          <p:nvPr/>
        </p:nvSpPr>
        <p:spPr>
          <a:xfrm>
            <a:off x="5657541"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termt-CRUSH"/>
          <p:cNvSpPr txBox="1"/>
          <p:nvPr/>
        </p:nvSpPr>
        <p:spPr>
          <a:xfrm>
            <a:off x="5822133" y="3835908"/>
            <a:ext cx="86713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CRUSH</a:t>
            </a:r>
          </a:p>
        </p:txBody>
      </p:sp>
      <p:sp>
        <p:nvSpPr>
          <p:cNvPr id="79" name="!!term-replica">
            <a:extLst>
              <a:ext uri="{C183D7F6-B498-43B3-948B-1728B52AA6E4}">
                <adec:decorative xmlns:adec="http://schemas.microsoft.com/office/drawing/2017/decorative" val="1"/>
              </a:ext>
            </a:extLst>
          </p:cNvPr>
          <p:cNvSpPr/>
          <p:nvPr/>
        </p:nvSpPr>
        <p:spPr>
          <a:xfrm>
            <a:off x="6725845" y="3712464"/>
            <a:ext cx="10050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termd-replica">
            <a:extLst>
              <a:ext uri="{C183D7F6-B498-43B3-948B-1728B52AA6E4}">
                <adec:decorative xmlns:adec="http://schemas.microsoft.com/office/drawing/2017/decorative" val="1"/>
              </a:ext>
            </a:extLst>
          </p:cNvPr>
          <p:cNvSpPr/>
          <p:nvPr/>
        </p:nvSpPr>
        <p:spPr>
          <a:xfrm>
            <a:off x="6853861"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termt-replica"/>
          <p:cNvSpPr txBox="1"/>
          <p:nvPr/>
        </p:nvSpPr>
        <p:spPr>
          <a:xfrm>
            <a:off x="7018453" y="3835908"/>
            <a:ext cx="82221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replica</a:t>
            </a:r>
          </a:p>
        </p:txBody>
      </p:sp>
      <p:sp>
        <p:nvSpPr>
          <p:cNvPr id="82" name="!!term-erasure coding">
            <a:extLst>
              <a:ext uri="{C183D7F6-B498-43B3-948B-1728B52AA6E4}">
                <adec:decorative xmlns:adec="http://schemas.microsoft.com/office/drawing/2017/decorative" val="1"/>
              </a:ext>
            </a:extLst>
          </p:cNvPr>
          <p:cNvSpPr/>
          <p:nvPr/>
        </p:nvSpPr>
        <p:spPr>
          <a:xfrm>
            <a:off x="7877241" y="3712464"/>
            <a:ext cx="17114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termd-erasure coding">
            <a:extLst>
              <a:ext uri="{C183D7F6-B498-43B3-948B-1728B52AA6E4}">
                <adec:decorative xmlns:adec="http://schemas.microsoft.com/office/drawing/2017/decorative" val="1"/>
              </a:ext>
            </a:extLst>
          </p:cNvPr>
          <p:cNvSpPr/>
          <p:nvPr/>
        </p:nvSpPr>
        <p:spPr>
          <a:xfrm>
            <a:off x="8005257"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termt-erasure coding"/>
          <p:cNvSpPr txBox="1"/>
          <p:nvPr/>
        </p:nvSpPr>
        <p:spPr>
          <a:xfrm>
            <a:off x="8169849" y="3835908"/>
            <a:ext cx="152852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erasure coding</a:t>
            </a:r>
          </a:p>
        </p:txBody>
      </p:sp>
      <p:sp>
        <p:nvSpPr>
          <p:cNvPr id="85" name="!!term-IOPS">
            <a:extLst>
              <a:ext uri="{C183D7F6-B498-43B3-948B-1728B52AA6E4}">
                <adec:decorative xmlns:adec="http://schemas.microsoft.com/office/drawing/2017/decorative" val="1"/>
              </a:ext>
            </a:extLst>
          </p:cNvPr>
          <p:cNvSpPr/>
          <p:nvPr/>
        </p:nvSpPr>
        <p:spPr>
          <a:xfrm>
            <a:off x="9734954" y="3712464"/>
            <a:ext cx="8491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termd-IOPS">
            <a:extLst>
              <a:ext uri="{C183D7F6-B498-43B3-948B-1728B52AA6E4}">
                <adec:decorative xmlns:adec="http://schemas.microsoft.com/office/drawing/2017/decorative" val="1"/>
              </a:ext>
            </a:extLst>
          </p:cNvPr>
          <p:cNvSpPr/>
          <p:nvPr/>
        </p:nvSpPr>
        <p:spPr>
          <a:xfrm>
            <a:off x="9862970"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termt-IOPS"/>
          <p:cNvSpPr txBox="1"/>
          <p:nvPr/>
        </p:nvSpPr>
        <p:spPr>
          <a:xfrm>
            <a:off x="10027562" y="3835908"/>
            <a:ext cx="66622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IOPS</a:t>
            </a:r>
          </a:p>
        </p:txBody>
      </p:sp>
      <p:sp>
        <p:nvSpPr>
          <p:cNvPr id="88" name="!!term-discard / TRIM">
            <a:extLst>
              <a:ext uri="{C183D7F6-B498-43B3-948B-1728B52AA6E4}">
                <adec:decorative xmlns:adec="http://schemas.microsoft.com/office/drawing/2017/decorative" val="1"/>
              </a:ext>
            </a:extLst>
          </p:cNvPr>
          <p:cNvSpPr/>
          <p:nvPr/>
        </p:nvSpPr>
        <p:spPr>
          <a:xfrm>
            <a:off x="658368" y="4334256"/>
            <a:ext cx="167993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termd-discard / TRIM">
            <a:extLst>
              <a:ext uri="{C183D7F6-B498-43B3-948B-1728B52AA6E4}">
                <adec:decorative xmlns:adec="http://schemas.microsoft.com/office/drawing/2017/decorative" val="1"/>
              </a:ext>
            </a:extLst>
          </p:cNvPr>
          <p:cNvSpPr/>
          <p:nvPr/>
        </p:nvSpPr>
        <p:spPr>
          <a:xfrm>
            <a:off x="786384" y="4526280"/>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termt-discard / TRIM"/>
          <p:cNvSpPr txBox="1"/>
          <p:nvPr/>
        </p:nvSpPr>
        <p:spPr>
          <a:xfrm>
            <a:off x="950976" y="4457700"/>
            <a:ext cx="149705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discard / TRIM</a:t>
            </a:r>
          </a:p>
        </p:txBody>
      </p:sp>
      <p:sp>
        <p:nvSpPr>
          <p:cNvPr id="91" name="!!termnote"/>
          <p:cNvSpPr txBox="1"/>
          <p:nvPr/>
        </p:nvSpPr>
        <p:spPr>
          <a:xfrm>
            <a:off x="658368" y="5157216"/>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9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pfill">
            <a:extLst>
              <a:ext uri="{C183D7F6-B498-43B3-948B-1728B52AA6E4}">
                <adec:decorative xmlns:adec="http://schemas.microsoft.com/office/drawing/2017/decorative" val="1"/>
              </a:ext>
            </a:extLst>
          </p:cNvPr>
          <p:cNvSpPr/>
          <p:nvPr/>
        </p:nvSpPr>
        <p:spPr>
          <a:xfrm>
            <a:off x="0" y="0"/>
            <a:ext cx="113411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94–100     </a:t>
            </a:r>
            <a:fld id="{09F4E430-9420-4C6A-AF1E-0975E6ED0AA1}" type="slidenum">
              <a:rPr lang="en-GB" sz="1000">
                <a:solidFill>
                  <a:srgbClr val="8795A1"/>
                </a:solidFill>
                <a:latin typeface="Segoe UI"/>
              </a:rPr>
              <a:t>5</a:t>
            </a:fld>
          </a:p>
        </p:txBody>
      </p:sp>
      <p:sp>
        <p:nvSpPr>
          <p:cNvPr id="7" name="!!ag0" descr="Go to section 12.1 Three Interface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12.1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Three Interfaces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94  ›</a:t>
            </a:r>
          </a:p>
        </p:txBody>
      </p:sp>
      <p:sp>
        <p:nvSpPr>
          <p:cNvPr id="12" name="!!ag1" descr="Go to section 12.2 The Virtual Disk">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12.2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Virtual Disk</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95  ›</a:t>
            </a:r>
          </a:p>
        </p:txBody>
      </p:sp>
      <p:sp>
        <p:nvSpPr>
          <p:cNvPr id="17" name="!!ag2" descr="Go to section 12.3 Thin Provisioning, and How It Fail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12.3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Thin Provisioning, and How It Fails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96  ›</a:t>
            </a:r>
          </a:p>
        </p:txBody>
      </p:sp>
      <p:sp>
        <p:nvSpPr>
          <p:cNvPr id="22" name="!!ag3" descr="Go to section 12.4 Snapshots and Copy-on-Write">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12.4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Snapshots and Copy-on-Write</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97  ›</a:t>
            </a:r>
          </a:p>
        </p:txBody>
      </p:sp>
      <p:sp>
        <p:nvSpPr>
          <p:cNvPr id="27" name="!!ag4" descr="Go to section 12.5 Software-Defined Storage">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12.5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Software-Defined Storage</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98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41763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Three Interfaces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12.1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12.1   Three Interfaces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12.2   The Virtual Disk</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12.3   Thin Provisioning, and How It Fails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12.4   Snapshots and Copy-on-Write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12.5   Software-Defined Storage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§12.1     </a:t>
            </a:r>
            <a:fld id="{30A47DC9-22A4-4A69-8933-7A90A8085EA0}"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70116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Interfaces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§12.1  ·  Handout p. 94     </a:t>
            </a:r>
            <a:fld id="{FD99AD9A-C639-40B6-9AD3-64D4BB3B25C2}" type="slidenum">
              <a:rPr lang="en-GB" sz="1000">
                <a:solidFill>
                  <a:srgbClr val="8795A1"/>
                </a:solidFill>
                <a:latin typeface="Segoe UI"/>
              </a:rPr>
              <a:t>7</a:t>
            </a:fld>
          </a:p>
        </p:txBody>
      </p:sp>
      <p:graphicFrame>
        <p:nvGraphicFramePr>
          <p:cNvPr id="7" name="!!table"/>
          <p:cNvGraphicFramePr>
            <a:graphicFrameLocks noGrp="1"/>
          </p:cNvGraphicFramePr>
          <p:nvPr/>
        </p:nvGraphicFramePr>
        <p:xfrm>
          <a:off x="658368" y="1737360"/>
          <a:ext cx="10874957" cy="3694176"/>
        </p:xfrm>
        <a:graphic>
          <a:graphicData uri="http://schemas.openxmlformats.org/drawingml/2006/table">
            <a:tbl>
              <a:tblPr firstRow="0" bandRow="0" firstCol="0" lastRow="0" lastCol="0" bandCol="0">
                <a:tableStyleId>{2D5ABB26-0587-4C30-8999-92F81FD0307C}</a:tableStyleId>
              </a:tblPr>
              <a:tblGrid>
                <a:gridCol w="1775503"/>
                <a:gridCol w="3255089"/>
                <a:gridCol w="2885193"/>
                <a:gridCol w="2959172"/>
              </a:tblGrid>
              <a:tr h="405384">
                <a:tc>
                  <a:txBody>
                    <a:bodyPr wrap="square"/>
                    <a:lstStyle/>
                    <a:p>
                      <a:pPr algn="l"/>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What it presents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Spoken over</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Used for</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1182624">
                <a:tc>
                  <a:txBody>
                    <a:bodyPr wrap="square"/>
                    <a:lstStyle/>
                    <a:p>
                      <a:pPr algn="l"/>
                      <a:r>
                        <a:rPr sz="1700" b="1" i="0">
                          <a:solidFill>
                            <a:srgbClr val="1A5276"/>
                          </a:solidFill>
                          <a:latin typeface="Segoe UI"/>
                        </a:rPr>
                        <a:t>Block</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An array of fixed-size blocks, with no notion of a file. Whoever mounts it puts a filesystem on it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SAS, Fibre Channel, </a:t>
                      </a:r>
                      <a:r>
                        <a:rPr sz="1700" b="1" i="0">
                          <a:solidFill>
                            <a:srgbClr val="1A5276"/>
                          </a:solidFill>
                          <a:latin typeface="Segoe UI"/>
                        </a:rPr>
                        <a:t>iSCSI</a:t>
                      </a:r>
                      <a:r>
                        <a:rPr sz="1700" b="0" i="0">
                          <a:solidFill>
                            <a:srgbClr val="1C252B"/>
                          </a:solidFill>
                          <a:latin typeface="Segoe UI"/>
                        </a:rPr>
                        <a:t>, NVMe-oF</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0">
                          <a:solidFill>
                            <a:srgbClr val="1C252B"/>
                          </a:solidFill>
                          <a:latin typeface="Segoe UI"/>
                        </a:rPr>
                        <a:t>Virtual disks.</a:t>
                      </a:r>
                      <a:r>
                        <a:rPr sz="1700" b="0" i="0">
                          <a:solidFill>
                            <a:srgbClr val="1C252B"/>
                          </a:solidFill>
                          <a:latin typeface="Segoe UI"/>
                        </a:rPr>
                        <a:t> A guest expects a disk, so it must be block</a:t>
                      </a:r>
                      <a:endParaRPr sz="1700"/>
                    </a:p>
                  </a:txBody>
                  <a:tcPr marL="109728" marR="109728" marT="64008" marB="45720" anchor="t">
                    <a:lnL w="0" cmpd="sng">
                      <a:noFill/>
                    </a:lnL>
                    <a:lnR w="0" cmpd="sng">
                      <a:noFill/>
                    </a:lnR>
                    <a:lnT w="9525" cmpd="sng">
                      <a:noFill/>
                    </a:lnT>
                    <a:lnB w="9525" cmpd="sng">
                      <a:noFill/>
                    </a:lnB>
                    <a:solidFill>
                      <a:srgbClr val="FFFFFF"/>
                    </a:solidFill>
                  </a:tcPr>
                </a:tc>
              </a:tr>
              <a:tr h="1182624">
                <a:tc>
                  <a:txBody>
                    <a:bodyPr wrap="square"/>
                    <a:lstStyle/>
                    <a:p>
                      <a:pPr algn="l"/>
                      <a:r>
                        <a:rPr sz="1700" b="1" i="0">
                          <a:solidFill>
                            <a:srgbClr val="1A5276"/>
                          </a:solidFill>
                          <a:latin typeface="Segoe UI"/>
                        </a:rPr>
                        <a:t>File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 directory tree with files, locking and permissions, shared by many clients at once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NFS, SMB</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Shared datastores, home directories, anything several machines must read together</a:t>
                      </a:r>
                      <a:endParaRPr sz="1700"/>
                    </a:p>
                  </a:txBody>
                  <a:tcPr marL="109728" marR="109728" marT="64008" marB="45720" anchor="t">
                    <a:lnL w="0" cmpd="sng">
                      <a:noFill/>
                    </a:lnL>
                    <a:lnR w="0" cmpd="sng">
                      <a:noFill/>
                    </a:lnR>
                    <a:lnT w="9525" cmpd="sng">
                      <a:noFill/>
                    </a:lnT>
                    <a:lnB w="9525" cmpd="sng">
                      <a:noFill/>
                    </a:lnB>
                    <a:solidFill>
                      <a:srgbClr val="F2F8FC"/>
                    </a:solidFill>
                  </a:tcPr>
                </a:tc>
              </a:tr>
              <a:tr h="923544">
                <a:tc>
                  <a:txBody>
                    <a:bodyPr wrap="square"/>
                    <a:lstStyle/>
                    <a:p>
                      <a:pPr algn="l"/>
                      <a:r>
                        <a:rPr sz="1700" b="1" i="0">
                          <a:solidFill>
                            <a:srgbClr val="1A5276"/>
                          </a:solidFill>
                          <a:latin typeface="Segoe UI"/>
                        </a:rPr>
                        <a:t>Object</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Whole immutable objects in a flat namespace, addressed by key over HTTP</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S3 API, Swift</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Images, backups, logs, anything written once and read many times</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198469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a Guest Must Have Block Storage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§12.1  ·  Handout p. 94     </a:t>
            </a:r>
            <a:fld id="{CAC51DFB-ABCA-44AB-A102-35C062C9DD6F}"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guest operating system contains a filesystem driver, and a filesystem driver issues block reads and writes. It cannot be given an object store, because it has no idea what an HTTP PUT is, and giving it a file share only works if something underneath turns that into blocks — which is exactly what a virtual disk on NFS does.</a:t>
            </a:r>
          </a:p>
        </p:txBody>
      </p:sp>
      <p:sp>
        <p:nvSpPr>
          <p:cNvPr id="10" name="body-1"/>
          <p:cNvSpPr txBox="1"/>
          <p:nvPr/>
        </p:nvSpPr>
        <p:spPr>
          <a:xfrm>
            <a:off x="1060704" y="403161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So the chain is always: guest filesystem </a:t>
            </a:r>
            <a:r>
              <a:rPr sz="2300" b="0" i="0">
                <a:solidFill>
                  <a:srgbClr val="1C252B"/>
                </a:solidFill>
                <a:latin typeface="Cambria"/>
              </a:rPr>
              <a:t>→</a:t>
            </a:r>
            <a:r>
              <a:rPr sz="2300" b="0" i="0">
                <a:solidFill>
                  <a:srgbClr val="1C252B"/>
                </a:solidFill>
                <a:latin typeface="Segoe UI"/>
              </a:rPr>
              <a:t> block device </a:t>
            </a:r>
            <a:r>
              <a:rPr sz="2300" b="0" i="0">
                <a:solidFill>
                  <a:srgbClr val="1C252B"/>
                </a:solidFill>
                <a:latin typeface="Cambria"/>
              </a:rPr>
              <a:t>→</a:t>
            </a:r>
            <a:r>
              <a:rPr sz="2300" b="0" i="0">
                <a:solidFill>
                  <a:srgbClr val="1C252B"/>
                </a:solidFill>
                <a:latin typeface="Segoe UI"/>
              </a:rPr>
              <a:t> virtual disk </a:t>
            </a:r>
            <a:r>
              <a:rPr sz="2300" b="0" i="0">
                <a:solidFill>
                  <a:srgbClr val="1C252B"/>
                </a:solidFill>
                <a:latin typeface="Cambria"/>
              </a:rPr>
              <a:t>→</a:t>
            </a:r>
            <a:r>
              <a:rPr sz="2300" b="0" i="0">
                <a:solidFill>
                  <a:srgbClr val="1C252B"/>
                </a:solidFill>
                <a:latin typeface="Segoe UI"/>
              </a:rPr>
              <a:t> whatever the host has. The interesting engineering is in the last two steps, and the guest never sees any of it.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26822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path of one write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12.1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§12.1  ·  Handout p. 94     </a:t>
            </a:r>
            <a:fld id="{3ED98163-4128-4FD0-9D8F-7CE30C38BED7}" type="slidenum">
              <a:rPr lang="en-GB" sz="1000">
                <a:solidFill>
                  <a:srgbClr val="8795A1"/>
                </a:solidFill>
                <a:latin typeface="Segoe UI"/>
              </a:rPr>
              <a:t>9</a:t>
            </a:fld>
          </a:p>
        </p:txBody>
      </p:sp>
      <p:pic>
        <p:nvPicPr>
          <p:cNvPr id="6" name="!!figure" descr="Figure 12.1. The path of one write. Each layer below the virtual disk file can be replaced without the guest noticing — which is what makes migration, snapshots and replication possible at all."/>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72278" y="1737360"/>
            <a:ext cx="7447138"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Each layer below the virtual disk file can be replaced without the guest noticing — which is what makes migration, snapshots and replication possible at all.</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55175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Virtual Disk</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12.2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12.1   Three Interfaces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12.2   The Virtual Disk</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12.3   Thin Provisioning, and How It Fails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12.4   Snapshots and Copy-on-Write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12.5   Software-Defined Storage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§12.2     </a:t>
            </a:r>
            <a:fld id="{763589FF-3806-47ED-80EE-37549AD0197B}" type="slidenum">
              <a:rPr lang="en-GB" sz="1000">
                <a:solidFill>
                  <a:srgbClr val="8795A1"/>
                </a:solidFill>
                <a:latin typeface="Segoe UI"/>
              </a:rPr>
              <a:t>10</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83527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Raw and qcow2</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§12.2  ·  Handout p. 95     </a:t>
            </a:r>
            <a:fld id="{C1720811-84E6-4FC7-930D-4EE8E3398407}"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4"/>
          </a:xfrm>
          <a:prstGeom prst="roundRect">
            <a:avLst>
              <a:gd name="adj" fmla="val 207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a:t>
            </a:r>
            <a:r>
              <a:rPr sz="2200" b="1" i="0">
                <a:solidFill>
                  <a:srgbClr val="1A5276"/>
                </a:solidFill>
                <a:latin typeface="Segoe UI"/>
              </a:rPr>
              <a:t>raw</a:t>
            </a:r>
            <a:r>
              <a:rPr sz="2200" b="0" i="0">
                <a:solidFill>
                  <a:srgbClr val="1C252B"/>
                </a:solidFill>
                <a:latin typeface="Segoe UI"/>
              </a:rPr>
              <a:t> disk is a byte-for-byte image: block </a:t>
            </a:r>
            <a:r>
              <a:rPr sz="2200" b="0" i="1">
                <a:solidFill>
                  <a:srgbClr val="1C252B"/>
                </a:solidFill>
                <a:latin typeface="Cambria"/>
              </a:rPr>
              <a:t>n</a:t>
            </a:r>
            <a:r>
              <a:rPr sz="2200" b="0" i="0">
                <a:solidFill>
                  <a:srgbClr val="1C252B"/>
                </a:solidFill>
                <a:latin typeface="Segoe UI"/>
              </a:rPr>
              <a:t> of the guest is byte </a:t>
            </a:r>
            <a:r>
              <a:rPr sz="2200" b="0" i="1">
                <a:solidFill>
                  <a:srgbClr val="1C252B"/>
                </a:solidFill>
                <a:latin typeface="Cambria"/>
              </a:rPr>
              <a:t>n</a:t>
            </a:r>
            <a:r>
              <a:rPr sz="2200" b="0" i="0">
                <a:solidFill>
                  <a:srgbClr val="1C252B"/>
                </a:solidFill>
                <a:latin typeface="Cambria"/>
              </a:rPr>
              <a:t> × 512</a:t>
            </a:r>
            <a:r>
              <a:rPr sz="2200" b="0" i="0">
                <a:solidFill>
                  <a:srgbClr val="1C252B"/>
                </a:solidFill>
                <a:latin typeface="Segoe UI"/>
              </a:rPr>
              <a:t> of the file. There is no metadata and no translation, so it is as fast as the host filesystem and can be mounted directly with </a:t>
            </a:r>
            <a:r>
              <a:rPr sz="2050" b="0" i="0">
                <a:solidFill>
                  <a:srgbClr val="1F4E79"/>
                </a:solidFill>
                <a:latin typeface="Consolas"/>
              </a:rPr>
              <a:t>losetup</a:t>
            </a:r>
            <a:r>
              <a:rPr sz="2200" b="0" i="0">
                <a:solidFill>
                  <a:srgbClr val="1C252B"/>
                </a:solidFill>
                <a:latin typeface="Segoe UI"/>
              </a:rPr>
              <a:t>.</a:t>
            </a:r>
          </a:p>
        </p:txBody>
      </p:sp>
      <p:sp>
        <p:nvSpPr>
          <p:cNvPr id="10" name="body-1"/>
          <p:cNvSpPr txBox="1"/>
          <p:nvPr/>
        </p:nvSpPr>
        <p:spPr>
          <a:xfrm>
            <a:off x="1060704" y="3247999"/>
            <a:ext cx="10161727"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1A5276"/>
                </a:solidFill>
                <a:latin typeface="Segoe UI"/>
              </a:rPr>
              <a:t>qcow2</a:t>
            </a:r>
            <a:r>
              <a:rPr sz="2200" b="0" i="0">
                <a:solidFill>
                  <a:srgbClr val="1C252B"/>
                </a:solidFill>
                <a:latin typeface="Segoe UI"/>
              </a:rPr>
              <a:t> — QEMU copy-on-write, version 2 — adds an indirection table. The file is divided into </a:t>
            </a:r>
            <a:r>
              <a:rPr sz="2200" b="1" i="0">
                <a:solidFill>
                  <a:srgbClr val="1A5276"/>
                </a:solidFill>
                <a:latin typeface="Segoe UI"/>
              </a:rPr>
              <a:t>clusters</a:t>
            </a:r>
            <a:r>
              <a:rPr sz="2200" b="0" i="0">
                <a:solidFill>
                  <a:srgbClr val="1C252B"/>
                </a:solidFill>
                <a:latin typeface="Segoe UI"/>
              </a:rPr>
              <a:t> (64 KB by default) and a two-level L1/L2 table maps guest offsets to cluster locations. That indirection buys three things raw cannot do: allocate clusters only when written (thin provisioning), keep internal snapshots, and reference a </a:t>
            </a:r>
            <a:r>
              <a:rPr sz="2200" b="1" i="0">
                <a:solidFill>
                  <a:srgbClr val="1A5276"/>
                </a:solidFill>
                <a:latin typeface="Segoe UI"/>
              </a:rPr>
              <a:t>backing file</a:t>
            </a:r>
            <a:r>
              <a:rPr sz="2200" b="0" i="0">
                <a:solidFill>
                  <a:srgbClr val="1C252B"/>
                </a:solidFill>
                <a:latin typeface="Segoe UI"/>
              </a:rPr>
              <a:t> so that several disks share one unwritten base.</a:t>
            </a:r>
          </a:p>
        </p:txBody>
      </p:sp>
      <p:sp>
        <p:nvSpPr>
          <p:cNvPr id="11" name="body-2"/>
          <p:cNvSpPr txBox="1"/>
          <p:nvPr/>
        </p:nvSpPr>
        <p:spPr>
          <a:xfrm>
            <a:off x="1060704" y="514512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VMware’s </a:t>
            </a:r>
            <a:r>
              <a:rPr sz="2200" b="1" i="0">
                <a:solidFill>
                  <a:srgbClr val="1A5276"/>
                </a:solidFill>
                <a:latin typeface="Segoe UI"/>
              </a:rPr>
              <a:t>VMDK</a:t>
            </a:r>
            <a:r>
              <a:rPr sz="2200" b="0" i="0">
                <a:solidFill>
                  <a:srgbClr val="1C252B"/>
                </a:solidFill>
                <a:latin typeface="Segoe UI"/>
              </a:rPr>
              <a:t> and Microsoft’s </a:t>
            </a:r>
            <a:r>
              <a:rPr sz="2200" b="1" i="0">
                <a:solidFill>
                  <a:srgbClr val="1A5276"/>
                </a:solidFill>
                <a:latin typeface="Segoe UI"/>
              </a:rPr>
              <a:t>VHDX</a:t>
            </a:r>
            <a:r>
              <a:rPr sz="2200" b="0" i="0">
                <a:solidFill>
                  <a:srgbClr val="1C252B"/>
                </a:solidFill>
                <a:latin typeface="Segoe UI"/>
              </a:rPr>
              <a:t> are the same idea with different metadata, and </a:t>
            </a:r>
            <a:r>
              <a:rPr sz="2050" b="0" i="0">
                <a:solidFill>
                  <a:srgbClr val="1F4E79"/>
                </a:solidFill>
                <a:latin typeface="Consolas"/>
              </a:rPr>
              <a:t>qemu-img convert</a:t>
            </a:r>
            <a:r>
              <a:rPr sz="2200" b="0" i="0">
                <a:solidFill>
                  <a:srgbClr val="1C252B"/>
                </a:solidFill>
                <a:latin typeface="Segoe UI"/>
              </a:rPr>
              <a:t> moves between all of them.</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11880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Raw is faster, and the gap is smaller than people assume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§12.2  ·  Handout p. 95     </a:t>
            </a:r>
            <a:fld id="{498CBDF5-EB4C-456B-80EA-22F064D70088}"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4"/>
          </a:xfrm>
          <a:prstGeom prst="roundRect">
            <a:avLst>
              <a:gd name="adj" fmla="val 207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qcow2 must consult its L2 table before reaching data, and must allocate and update metadata on first write to each cluster. On a freshly created image with small random writes the penalty is real — tens of per cent.</a:t>
            </a:r>
          </a:p>
        </p:txBody>
      </p:sp>
      <p:sp>
        <p:nvSpPr>
          <p:cNvPr id="10" name="body-1"/>
          <p:cNvSpPr txBox="1"/>
          <p:nvPr/>
        </p:nvSpPr>
        <p:spPr>
          <a:xfrm>
            <a:off x="1060704" y="3247999"/>
            <a:ext cx="10161727"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Two things shrink it. The L2 tables are cached, so a steady-state workload mostly hits the cache; and </a:t>
            </a:r>
            <a:r>
              <a:rPr sz="2050" b="0" i="0">
                <a:solidFill>
                  <a:srgbClr val="1F4E79"/>
                </a:solidFill>
                <a:latin typeface="Consolas"/>
              </a:rPr>
              <a:t>qemu-img create -o preallocation=metadata</a:t>
            </a:r>
            <a:r>
              <a:rPr sz="2200" b="0" i="0">
                <a:solidFill>
                  <a:srgbClr val="1C252B"/>
                </a:solidFill>
                <a:latin typeface="Segoe UI"/>
              </a:rPr>
              <a:t> builds the tables up front, removing the first-write cost. With a modern qcow2 and a warm cache the difference on typical server workloads is usually in the low single digits.</a:t>
            </a:r>
          </a:p>
        </p:txBody>
      </p:sp>
      <p:sp>
        <p:nvSpPr>
          <p:cNvPr id="11" name="body-2"/>
          <p:cNvSpPr txBox="1"/>
          <p:nvPr/>
        </p:nvSpPr>
        <p:spPr>
          <a:xfrm>
            <a:off x="1060704" y="514512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Use raw when you need every last IOPS and will handle snapshots at the layer below. Use qcow2 when you want the features, which is most of the time.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40233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Thin Provisioning, and How It Fails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12.3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12.1   Three Interfaces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12.2   The Virtual Disk</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12.3   Thin Provisioning, and How It Fails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12.4   Snapshots and Copy-on-Write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12.5   Software-Defined Storage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§12.3     </a:t>
            </a:r>
            <a:fld id="{E3FE3049-80D5-410F-8FE5-431E32DEED70}" type="slidenum">
              <a:rPr lang="en-GB" sz="1000">
                <a:solidFill>
                  <a:srgbClr val="8795A1"/>
                </a:solidFill>
                <a:latin typeface="Segoe UI"/>
              </a:rPr>
              <a:t>13</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68586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Thin provisioning, drawn to scale for the worked example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12.2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§12.3  ·  Handout p. 96     </a:t>
            </a:r>
            <a:fld id="{A8716C47-6208-4167-A404-3B1D637AFACE}" type="slidenum">
              <a:rPr lang="en-GB" sz="1000">
                <a:solidFill>
                  <a:srgbClr val="8795A1"/>
                </a:solidFill>
                <a:latin typeface="Segoe UI"/>
              </a:rPr>
              <a:t>14</a:t>
            </a:fld>
          </a:p>
        </p:txBody>
      </p:sp>
      <p:pic>
        <p:nvPicPr>
          <p:cNvPr id="6" name="!!figure" descr="Figure 12.2. Thin provisioning, drawn to scale for the worked example. The gap between the second and third bars is the saving; the gap between the first and second is the exposur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34182"/>
            <a:ext cx="10874959" cy="2615803"/>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gap between the second and third bars is the saving; the gap between the first and second is the exposure.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96938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When Does This Pool Run Out?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§12.3  ·  Handout p. 96     </a:t>
            </a:r>
            <a:fld id="{ECCC201A-3C83-4B60-823D-7D8A9719D61D}"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48093"/>
          </a:xfrm>
          <a:prstGeom prst="roundRect">
            <a:avLst>
              <a:gd name="adj" fmla="val 210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4809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datastore of 10 TB serves 40 guests, each with a 500 GB thin-provisioned disk. Measured: mean 180 GB written per guest, growing 15 GB per guest per month. Decide whether to act, and when.</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the three quantities.</a:t>
            </a:r>
          </a:p>
        </p:txBody>
      </p:sp>
      <p:pic>
        <p:nvPicPr>
          <p:cNvPr id="11" name="body-2" descr="\text{provisioned} = 40 \times 500 = 20{,}000 \text{ GB} = 20 \text{ T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481679"/>
            <a:ext cx="10234879" cy="324520"/>
          </a:xfrm>
          <a:prstGeom prst="rect">
            <a:avLst/>
          </a:prstGeom>
        </p:spPr>
      </p:pic>
      <p:pic>
        <p:nvPicPr>
          <p:cNvPr id="12" name="body-3" descr="\text{physical} = 10 \text{ TB} \qquad \text{written} = 40 \times 180 = 7{,}200 \text{ GB} = 7.2 \text{ TB}"/>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938915"/>
            <a:ext cx="10234879" cy="324520"/>
          </a:xfrm>
          <a:prstGeom prst="rect">
            <a:avLst/>
          </a:prstGeom>
        </p:spPr>
      </p:pic>
      <p:sp>
        <p:nvSpPr>
          <p:cNvPr id="13" name="body-4"/>
          <p:cNvSpPr txBox="1"/>
          <p:nvPr/>
        </p:nvSpPr>
        <p:spPr>
          <a:xfrm>
            <a:off x="1042416" y="4396150"/>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the over-subscription ratio.</a:t>
            </a:r>
          </a:p>
        </p:txBody>
      </p:sp>
      <p:sp>
        <p:nvSpPr>
          <p:cNvPr id="14" name="body-4bar">
            <a:extLst>
              <a:ext uri="{C183D7F6-B498-43B3-948B-1728B52AA6E4}">
                <adec:decorative xmlns:adec="http://schemas.microsoft.com/office/drawing/2017/decorative" val="1"/>
              </a:ext>
            </a:extLst>
          </p:cNvPr>
          <p:cNvSpPr/>
          <p:nvPr/>
        </p:nvSpPr>
        <p:spPr>
          <a:xfrm>
            <a:off x="841248" y="4414438"/>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5" name="body-5" descr="\sigma = \frac{20}{10} = \mathbf{2.0}"/>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4830008"/>
            <a:ext cx="10234879" cy="547268"/>
          </a:xfrm>
          <a:prstGeom prst="rect">
            <a:avLst/>
          </a:prstGeom>
        </p:spPr>
      </p:pic>
      <p:sp>
        <p:nvSpPr>
          <p:cNvPr id="16" name="body-6"/>
          <p:cNvSpPr txBox="1"/>
          <p:nvPr/>
        </p:nvSpPr>
        <p:spPr>
          <a:xfrm>
            <a:off x="1042416" y="5509991"/>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Every guest could legitimately fill its disk, and the pool can honour half of them.</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425291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right)">
                                      <p:cBhvr>
                                        <p:cTn id="23" dur="42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right)">
                                      <p:cBhvr>
                                        <p:cTn id="31" dur="42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When Does This Pool Run Out?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§12.3  ·  Handout p. 96     </a:t>
            </a:r>
            <a:fld id="{C6BD7D67-4B52-4DE7-8164-487904B95E73}"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90858"/>
          </a:xfrm>
          <a:prstGeom prst="roundRect">
            <a:avLst>
              <a:gd name="adj" fmla="val 235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9085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current headroom.</a:t>
            </a:r>
          </a:p>
        </p:txBody>
      </p:sp>
      <p:sp>
        <p:nvSpPr>
          <p:cNvPr id="10" name="body-0bar">
            <a:extLst>
              <a:ext uri="{C183D7F6-B498-43B3-948B-1728B52AA6E4}">
                <adec:decorative xmlns:adec="http://schemas.microsoft.com/office/drawing/2017/decorative" val="1"/>
              </a:ext>
            </a:extLst>
          </p:cNvPr>
          <p:cNvSpPr/>
          <p:nvPr/>
        </p:nvSpPr>
        <p:spPr>
          <a:xfrm>
            <a:off x="841248" y="202996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1" name="body-1" descr="10 - 7.2 = 2.8 \text{ TB free, or } 72\% \text{ of the pool consumed}"/>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445537"/>
            <a:ext cx="10234879" cy="324520"/>
          </a:xfrm>
          <a:prstGeom prst="rect">
            <a:avLst/>
          </a:prstGeom>
        </p:spPr>
      </p:pic>
      <p:sp>
        <p:nvSpPr>
          <p:cNvPr id="12" name="body-2"/>
          <p:cNvSpPr txBox="1"/>
          <p:nvPr/>
        </p:nvSpPr>
        <p:spPr>
          <a:xfrm>
            <a:off x="1042416" y="290277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time to exhaustion at the measured rate.</a:t>
            </a:r>
          </a:p>
        </p:txBody>
      </p:sp>
      <p:sp>
        <p:nvSpPr>
          <p:cNvPr id="13" name="body-2bar">
            <a:extLst>
              <a:ext uri="{C183D7F6-B498-43B3-948B-1728B52AA6E4}">
                <adec:decorative xmlns:adec="http://schemas.microsoft.com/office/drawing/2017/decorative" val="1"/>
              </a:ext>
            </a:extLst>
          </p:cNvPr>
          <p:cNvSpPr/>
          <p:nvPr/>
        </p:nvSpPr>
        <p:spPr>
          <a:xfrm>
            <a:off x="841248" y="2921060"/>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4" name="body-3" descr="40 \times 15 = 600 \text{ GB per month} \qquad \frac{2{,}800}{600} = \mathbf{4.6 \text{ month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336630"/>
            <a:ext cx="10234879" cy="547268"/>
          </a:xfrm>
          <a:prstGeom prst="rect">
            <a:avLst/>
          </a:prstGeom>
        </p:spPr>
      </p:pic>
      <p:sp>
        <p:nvSpPr>
          <p:cNvPr id="15" name="body-4"/>
          <p:cNvSpPr txBox="1"/>
          <p:nvPr/>
        </p:nvSpPr>
        <p:spPr>
          <a:xfrm>
            <a:off x="1042416" y="4016613"/>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but that is the optimistic figure.</a:t>
            </a:r>
            <a:r>
              <a:rPr sz="1900" b="0" i="0">
                <a:solidFill>
                  <a:srgbClr val="1C252B"/>
                </a:solidFill>
                <a:latin typeface="Segoe UI"/>
              </a:rPr>
              <a:t> Three things consume the pool faster than the trend line:</a:t>
            </a:r>
          </a:p>
        </p:txBody>
      </p:sp>
      <p:sp>
        <p:nvSpPr>
          <p:cNvPr id="16" name="body-4bar">
            <a:extLst>
              <a:ext uri="{C183D7F6-B498-43B3-948B-1728B52AA6E4}">
                <adec:decorative xmlns:adec="http://schemas.microsoft.com/office/drawing/2017/decorative" val="1"/>
              </a:ext>
            </a:extLst>
          </p:cNvPr>
          <p:cNvSpPr/>
          <p:nvPr/>
        </p:nvSpPr>
        <p:spPr>
          <a:xfrm>
            <a:off x="841248" y="4034901"/>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body-5"/>
          <p:cNvSpPr txBox="1"/>
          <p:nvPr/>
        </p:nvSpPr>
        <p:spPr>
          <a:xfrm>
            <a:off x="1042416" y="4751613"/>
            <a:ext cx="10234879" cy="648004"/>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1" i="0">
                <a:solidFill>
                  <a:srgbClr val="7D6608"/>
                </a:solidFill>
                <a:latin typeface="Segoe UI"/>
              </a:rPr>
              <a:t>Snapshots.</a:t>
            </a:r>
            <a:r>
              <a:rPr sz="1900" b="0" i="0">
                <a:solidFill>
                  <a:srgbClr val="1C252B"/>
                </a:solidFill>
                <a:latin typeface="Segoe UI"/>
              </a:rPr>
              <a:t> Each one holds the blocks its parent has since overwritten. A forgotten snapshot on a busy database can grow by its whole working set.</a:t>
            </a:r>
          </a:p>
        </p:txBody>
      </p:sp>
      <p:sp>
        <p:nvSpPr>
          <p:cNvPr id="4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pfill">
            <a:extLst>
              <a:ext uri="{C183D7F6-B498-43B3-948B-1728B52AA6E4}">
                <adec:decorative xmlns:adec="http://schemas.microsoft.com/office/drawing/2017/decorative" val="1"/>
              </a:ext>
            </a:extLst>
          </p:cNvPr>
          <p:cNvSpPr/>
          <p:nvPr/>
        </p:nvSpPr>
        <p:spPr>
          <a:xfrm>
            <a:off x="0" y="0"/>
            <a:ext cx="453644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42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2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right)">
                                      <p:cBhvr>
                                        <p:cTn id="29" dur="42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right)">
                                      <p:cBhvr>
                                        <p:cTn id="34" dur="42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2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right)">
                                      <p:cBhvr>
                                        <p:cTn id="42"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When Does This Pool Run Out?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§12.3  ·  Handout p. 96     </a:t>
            </a:r>
            <a:fld id="{D6B5EE26-CBDC-4515-9BA3-C73272FA0FCF}"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09949"/>
          </a:xfrm>
          <a:prstGeom prst="roundRect">
            <a:avLst>
              <a:gd name="adj" fmla="val 233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0994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63588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1" i="0">
                <a:solidFill>
                  <a:srgbClr val="7D6608"/>
                </a:solidFill>
                <a:latin typeface="Segoe UI"/>
              </a:rPr>
              <a:t>Deleted files do not return space.</a:t>
            </a:r>
            <a:r>
              <a:rPr sz="1900" b="0" i="0">
                <a:solidFill>
                  <a:srgbClr val="1C252B"/>
                </a:solidFill>
                <a:latin typeface="Segoe UI"/>
              </a:rPr>
              <a:t> A guest deleting 50 GB frees nothing in the pool unless </a:t>
            </a:r>
            <a:r>
              <a:rPr sz="1800" b="0" i="0">
                <a:solidFill>
                  <a:srgbClr val="1F4E79"/>
                </a:solidFill>
                <a:latin typeface="Consolas"/>
              </a:rPr>
              <a:t>discard</a:t>
            </a:r>
            <a:r>
              <a:rPr sz="1900" b="0" i="0">
                <a:solidFill>
                  <a:srgbClr val="1C252B"/>
                </a:solidFill>
                <a:latin typeface="Segoe UI"/>
              </a:rPr>
              <a:t>/TRIM is enabled all the way down. Most estates discover this configuration only here.</a:t>
            </a:r>
          </a:p>
          <a:p>
            <a:pPr algn="l" marL="212450" indent="-212450">
              <a:lnSpc>
                <a:spcPct val="104000"/>
              </a:lnSpc>
              <a:spcBef>
                <a:spcPts val="0"/>
              </a:spcBef>
              <a:spcAft>
                <a:spcPts val="0"/>
              </a:spcAft>
            </a:pPr>
            <a:r>
              <a:rPr sz="1900" b="1">
                <a:solidFill>
                  <a:srgbClr val="7D6608"/>
                </a:solidFill>
                <a:latin typeface="Segoe UI"/>
              </a:rPr>
              <a:t>•	</a:t>
            </a:r>
            <a:r>
              <a:rPr sz="1900" b="1" i="0">
                <a:solidFill>
                  <a:srgbClr val="7D6608"/>
                </a:solidFill>
                <a:latin typeface="Segoe UI"/>
              </a:rPr>
              <a:t>Correlation.</a:t>
            </a:r>
            <a:r>
              <a:rPr sz="1900" b="0" i="0">
                <a:solidFill>
                  <a:srgbClr val="1C252B"/>
                </a:solidFill>
                <a:latin typeface="Segoe UI"/>
              </a:rPr>
              <a:t> A patch cycle writes to every guest in the same hour, so consumption arrives in steps, not a slope.</a:t>
            </a:r>
          </a:p>
        </p:txBody>
      </p:sp>
      <p:sp>
        <p:nvSpPr>
          <p:cNvPr id="10" name="body-1"/>
          <p:cNvSpPr txBox="1"/>
          <p:nvPr/>
        </p:nvSpPr>
        <p:spPr>
          <a:xfrm>
            <a:off x="1042416" y="3734562"/>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6 — what happens at 100%.</a:t>
            </a:r>
            <a:r>
              <a:rPr sz="1900" b="0" i="0">
                <a:solidFill>
                  <a:srgbClr val="1C252B"/>
                </a:solidFill>
                <a:latin typeface="Segoe UI"/>
              </a:rPr>
              <a:t> Not a slowdown. The pool cannot satisfy a write; the guest receives an I/O error; its filesystem remounts read-only to protect itself. </a:t>
            </a:r>
            <a:r>
              <a:rPr sz="1900" b="0" i="1">
                <a:solidFill>
                  <a:srgbClr val="1C252B"/>
                </a:solidFill>
                <a:latin typeface="Segoe UI"/>
              </a:rPr>
              <a:t>Many guests hit this within seconds of each other</a:t>
            </a:r>
            <a:r>
              <a:rPr sz="1900" b="0" i="0">
                <a:solidFill>
                  <a:srgbClr val="1C252B"/>
                </a:solidFill>
                <a:latin typeface="Segoe UI"/>
              </a:rPr>
              <a:t>, because they share the pool — so the failure is simultaneous and estate-wide, and recovery requires space that by definition is not there.</a:t>
            </a:r>
          </a:p>
        </p:txBody>
      </p:sp>
      <p:sp>
        <p:nvSpPr>
          <p:cNvPr id="11" name="body-1bar">
            <a:extLst>
              <a:ext uri="{C183D7F6-B498-43B3-948B-1728B52AA6E4}">
                <adec:decorative xmlns:adec="http://schemas.microsoft.com/office/drawing/2017/decorative" val="1"/>
              </a:ext>
            </a:extLst>
          </p:cNvPr>
          <p:cNvSpPr/>
          <p:nvPr/>
        </p:nvSpPr>
        <p:spPr>
          <a:xfrm>
            <a:off x="841248" y="3752849"/>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5071846"/>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7 — the recommendation.</a:t>
            </a:r>
            <a:r>
              <a:rPr sz="1900" b="0" i="0">
                <a:solidFill>
                  <a:srgbClr val="1C252B"/>
                </a:solidFill>
                <a:latin typeface="Segoe UI"/>
              </a:rPr>
              <a:t> Act now, not in four months.</a:t>
            </a:r>
          </a:p>
        </p:txBody>
      </p:sp>
      <p:sp>
        <p:nvSpPr>
          <p:cNvPr id="13" name="body-2bar">
            <a:extLst>
              <a:ext uri="{C183D7F6-B498-43B3-948B-1728B52AA6E4}">
                <adec:decorative xmlns:adec="http://schemas.microsoft.com/office/drawing/2017/decorative" val="1"/>
              </a:ext>
            </a:extLst>
          </p:cNvPr>
          <p:cNvSpPr/>
          <p:nvPr/>
        </p:nvSpPr>
        <p:spPr>
          <a:xfrm>
            <a:off x="841248" y="5090134"/>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pfill">
            <a:extLst>
              <a:ext uri="{C183D7F6-B498-43B3-948B-1728B52AA6E4}">
                <adec:decorative xmlns:adec="http://schemas.microsoft.com/office/drawing/2017/decorative" val="1"/>
              </a:ext>
            </a:extLst>
          </p:cNvPr>
          <p:cNvSpPr/>
          <p:nvPr/>
        </p:nvSpPr>
        <p:spPr>
          <a:xfrm>
            <a:off x="0" y="0"/>
            <a:ext cx="481997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5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5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42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2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right)">
                                      <p:cBhvr>
                                        <p:cTn id="26" dur="42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When Does This Pool Run Out?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§12.3  ·  Handout p. 96     </a:t>
            </a:r>
            <a:fld id="{FAA5F5AE-CB2A-4094-A516-3D46D10105AF}"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608859"/>
          </a:xfrm>
          <a:prstGeom prst="roundRect">
            <a:avLst>
              <a:gd name="adj" fmla="val 350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60885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210593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Alert at 80% of the pool (2 TB free), which at the measured rate is about six weeks away. Alerting at 95% leaves no time to buy anything.</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Enable </a:t>
            </a:r>
            <a:r>
              <a:rPr sz="1800" b="0" i="0">
                <a:solidFill>
                  <a:srgbClr val="1F4E79"/>
                </a:solidFill>
                <a:latin typeface="Consolas"/>
              </a:rPr>
              <a:t>discard</a:t>
            </a:r>
            <a:r>
              <a:rPr sz="1900" b="0" i="0">
                <a:solidFill>
                  <a:srgbClr val="1C252B"/>
                </a:solidFill>
                <a:latin typeface="Segoe UI"/>
              </a:rPr>
              <a:t> end to end and reclaim; on a four-year-old estate this commonly returns 10–20%.</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Report any snapshot older than seven days, every day.</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Add capacity, or reduce </a:t>
            </a:r>
            <a:r>
              <a:rPr sz="1900" b="0" i="0">
                <a:solidFill>
                  <a:srgbClr val="1C252B"/>
                </a:solidFill>
                <a:latin typeface="Cambria"/>
              </a:rPr>
              <a:t>σ</a:t>
            </a:r>
            <a:r>
              <a:rPr sz="1900" b="0" i="0">
                <a:solidFill>
                  <a:srgbClr val="1C252B"/>
                </a:solidFill>
                <a:latin typeface="Segoe UI"/>
              </a:rPr>
              <a:t> by shrinking the 500 GB disks nobody asked for.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510350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5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5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5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5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a Long Chain Is Slow, and Why It Is Dangerous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§12.4  ·  Handout p. 97     </a:t>
            </a:r>
            <a:fld id="{8E639AD8-C728-480C-B56E-39E71A7F2996}"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00930"/>
          </a:xfrm>
          <a:prstGeom prst="roundRect">
            <a:avLst>
              <a:gd name="adj" fmla="val 203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0093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Each snapshot adds a layer. A read must check each overlay in turn until it finds the block, so a chain of twelve snapshots can require twelve lookups where one would do — </a:t>
            </a:r>
            <a:r>
              <a:rPr sz="1900" b="1" i="0">
                <a:solidFill>
                  <a:srgbClr val="1A5276"/>
                </a:solidFill>
                <a:latin typeface="Segoe UI"/>
              </a:rPr>
              <a:t>read amplification</a:t>
            </a:r>
            <a:r>
              <a:rPr sz="1900" b="0" i="0">
                <a:solidFill>
                  <a:srgbClr val="1C252B"/>
                </a:solidFill>
                <a:latin typeface="Segoe UI"/>
              </a:rPr>
              <a:t>. Writes are worse: the first write to a block must copy it up from wherever it currently lives.</a:t>
            </a:r>
          </a:p>
        </p:txBody>
      </p:sp>
      <p:sp>
        <p:nvSpPr>
          <p:cNvPr id="10" name="body-1"/>
          <p:cNvSpPr txBox="1"/>
          <p:nvPr/>
        </p:nvSpPr>
        <p:spPr>
          <a:xfrm>
            <a:off x="1060704" y="3385540"/>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danger is worse than the latency. Every file in the chain is required: lose or corrupt one and every snapshot above it is unreadable. A guest with a six-month chain has six months of fragile dependency, and the usual discovery is that nobody knows which snapshots are still needed.</a:t>
            </a:r>
          </a:p>
        </p:txBody>
      </p:sp>
      <p:sp>
        <p:nvSpPr>
          <p:cNvPr id="11" name="body-2"/>
          <p:cNvSpPr txBox="1"/>
          <p:nvPr/>
        </p:nvSpPr>
        <p:spPr>
          <a:xfrm>
            <a:off x="1060704" y="4722825"/>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F618D"/>
                </a:solidFill>
                <a:latin typeface="Segoe UI"/>
              </a:rPr>
              <a:t>A snapshot is not a backup.</a:t>
            </a:r>
            <a:r>
              <a:rPr sz="1900" b="0" i="0">
                <a:solidFill>
                  <a:srgbClr val="1C252B"/>
                </a:solidFill>
                <a:latin typeface="Segoe UI"/>
              </a:rPr>
              <a:t> It lives on the same storage as the original, so it does not survive the array failing, the pool filling, or the ransomware that encrypted both. Keep chains short, delete snapshots on a schedule, and keep real backups elsewhere. Chapter 17 covers what a real backup is.</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38702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Replication or Erasure Coding: a Real Choice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98     </a:t>
            </a:r>
            <a:fld id="{985F9C22-CD26-49FC-8B4E-6C94C07921C0}"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32503"/>
          </a:xfrm>
          <a:prstGeom prst="roundRect">
            <a:avLst>
              <a:gd name="adj" fmla="val 211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3250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Both survive failures; they trade capacity against CPU and latency.</a:t>
            </a:r>
          </a:p>
        </p:txBody>
      </p:sp>
      <p:sp>
        <p:nvSpPr>
          <p:cNvPr id="10" name="body-1"/>
          <p:cNvSpPr txBox="1"/>
          <p:nvPr/>
        </p:nvSpPr>
        <p:spPr>
          <a:xfrm>
            <a:off x="1060704" y="2482113"/>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F618D"/>
                </a:solidFill>
                <a:latin typeface="Segoe UI"/>
              </a:rPr>
              <a:t>Three-way replication</a:t>
            </a:r>
            <a:r>
              <a:rPr sz="1900" b="0" i="0">
                <a:solidFill>
                  <a:srgbClr val="1C252B"/>
                </a:solidFill>
                <a:latin typeface="Segoe UI"/>
              </a:rPr>
              <a:t> keeps three copies. Usable capacity is a third of raw; a read is served by one disk; recovery is a copy. Simple and fast.</a:t>
            </a:r>
          </a:p>
        </p:txBody>
      </p:sp>
      <p:sp>
        <p:nvSpPr>
          <p:cNvPr id="11" name="body-2"/>
          <p:cNvSpPr txBox="1"/>
          <p:nvPr/>
        </p:nvSpPr>
        <p:spPr>
          <a:xfrm>
            <a:off x="1060704" y="3217113"/>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F618D"/>
                </a:solidFill>
                <a:latin typeface="Segoe UI"/>
              </a:rPr>
              <a:t>Erasure coding</a:t>
            </a:r>
            <a:r>
              <a:rPr sz="1900" b="0" i="0">
                <a:solidFill>
                  <a:srgbClr val="1C252B"/>
                </a:solidFill>
                <a:latin typeface="Segoe UI"/>
              </a:rPr>
              <a:t> — say 4 data plus 2 parity — stores 6 chunks for 4 chunks of data. Usable capacity is </a:t>
            </a:r>
            <a:r>
              <a:rPr sz="1900" b="0" i="0">
                <a:solidFill>
                  <a:srgbClr val="1C252B"/>
                </a:solidFill>
                <a:latin typeface="Cambria"/>
              </a:rPr>
              <a:t>4/6 = 67%</a:t>
            </a:r>
            <a:r>
              <a:rPr sz="1900" b="0" i="0">
                <a:solidFill>
                  <a:srgbClr val="1C252B"/>
                </a:solidFill>
                <a:latin typeface="Segoe UI"/>
              </a:rPr>
              <a:t> of raw against replication’s 33%, so a petabyte of raw yields 670 TB instead of 330 TB. The cost is that every write computes parity and every degraded read reconstructs it, so latency and CPU both rise.</a:t>
            </a:r>
          </a:p>
        </p:txBody>
      </p:sp>
      <p:sp>
        <p:nvSpPr>
          <p:cNvPr id="12" name="body-3"/>
          <p:cNvSpPr txBox="1"/>
          <p:nvPr/>
        </p:nvSpPr>
        <p:spPr>
          <a:xfrm>
            <a:off x="1060704" y="4554397"/>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usual split: replication for virtual machine disks, where latency matters and the data is active; erasure coding for backups, archives and object storage, where capacity dominates and nothing is latency-sensitive. Putting a busy database on erasure-coded storage is a common and expensive mistake.</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67055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98     </a:t>
            </a:r>
            <a:fld id="{7234580C-EE60-45DA-9A05-F5518D5F5517}" type="slidenum">
              <a:rPr lang="en-GB" sz="1000">
                <a:solidFill>
                  <a:srgbClr val="8795A1"/>
                </a:solidFill>
                <a:latin typeface="Segoe UI"/>
              </a:rPr>
              <a:t>21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Monitoring provisioned capacity instead of written capacity.</a:t>
            </a:r>
            <a:r>
              <a:rPr sz="1700" b="0" i="0">
                <a:solidFill>
                  <a:srgbClr val="1C252B"/>
                </a:solidFill>
                <a:latin typeface="Segoe UI"/>
              </a:rPr>
              <a:t> The first tells you nothing about when you run out. Alert on the pool’s free space, at 80%.</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Treating a snapshot as a backup.</a:t>
            </a:r>
            <a:r>
              <a:rPr sz="1700" b="0" i="0">
                <a:solidFill>
                  <a:srgbClr val="1C252B"/>
                </a:solidFill>
                <a:latin typeface="Segoe UI"/>
              </a:rPr>
              <a:t> Same storage, same failure, same ransomware.</a:t>
            </a:r>
          </a:p>
        </p:txBody>
      </p:sp>
      <p:sp>
        <p:nvSpPr>
          <p:cNvPr id="13" name="!!pb2">
            <a:extLst>
              <a:ext uri="{C183D7F6-B498-43B3-948B-1728B52AA6E4}">
                <adec:decorative xmlns:adec="http://schemas.microsoft.com/office/drawing/2017/decorative" val="1"/>
              </a:ext>
            </a:extLst>
          </p:cNvPr>
          <p:cNvSpPr/>
          <p:nvPr/>
        </p:nvSpPr>
        <p:spPr>
          <a:xfrm>
            <a:off x="658368" y="306263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08549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044342"/>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Leaving snapshots behind after an upgrade.</a:t>
            </a:r>
            <a:r>
              <a:rPr sz="1700" b="0" i="0">
                <a:solidFill>
                  <a:srgbClr val="1C252B"/>
                </a:solidFill>
                <a:latin typeface="Segoe UI"/>
              </a:rPr>
              <a:t> The chain grows, the pool fills and reads slow down. Report anything older than a week.</a:t>
            </a:r>
          </a:p>
        </p:txBody>
      </p:sp>
      <p:sp>
        <p:nvSpPr>
          <p:cNvPr id="16" name="!!pb3">
            <a:extLst>
              <a:ext uri="{C183D7F6-B498-43B3-948B-1728B52AA6E4}">
                <adec:decorative xmlns:adec="http://schemas.microsoft.com/office/drawing/2017/decorative" val="1"/>
              </a:ext>
            </a:extLst>
          </p:cNvPr>
          <p:cNvSpPr/>
          <p:nvPr/>
        </p:nvSpPr>
        <p:spPr>
          <a:xfrm>
            <a:off x="658368" y="380268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8255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84396"/>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deleting files inside a guest frees pool space.</a:t>
            </a:r>
            <a:r>
              <a:rPr sz="1700" b="0" i="0">
                <a:solidFill>
                  <a:srgbClr val="1C252B"/>
                </a:solidFill>
                <a:latin typeface="Segoe UI"/>
              </a:rPr>
              <a:t> It does not without </a:t>
            </a:r>
            <a:r>
              <a:rPr sz="1600" b="0" i="0">
                <a:solidFill>
                  <a:srgbClr val="1F4E79"/>
                </a:solidFill>
                <a:latin typeface="Consolas"/>
              </a:rPr>
              <a:t>discard</a:t>
            </a:r>
            <a:r>
              <a:rPr sz="1700" b="0" i="0">
                <a:solidFill>
                  <a:srgbClr val="1C252B"/>
                </a:solidFill>
                <a:latin typeface="Segoe UI"/>
              </a:rPr>
              <a:t> enabled end to end, which is off by default in many stacks.</a:t>
            </a:r>
          </a:p>
        </p:txBody>
      </p:sp>
      <p:sp>
        <p:nvSpPr>
          <p:cNvPr id="19" name="!!pb4">
            <a:extLst>
              <a:ext uri="{C183D7F6-B498-43B3-948B-1728B52AA6E4}">
                <adec:decorative xmlns:adec="http://schemas.microsoft.com/office/drawing/2017/decorative" val="1"/>
              </a:ext>
            </a:extLst>
          </p:cNvPr>
          <p:cNvSpPr/>
          <p:nvPr/>
        </p:nvSpPr>
        <p:spPr>
          <a:xfrm>
            <a:off x="658368" y="454273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56559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524451"/>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Thin-provisioning the pool </a:t>
            </a:r>
            <a:r>
              <a:rPr sz="1700" b="1" i="1">
                <a:solidFill>
                  <a:srgbClr val="1C252B"/>
                </a:solidFill>
                <a:latin typeface="Segoe UI"/>
              </a:rPr>
              <a:t>and</a:t>
            </a:r>
            <a:r>
              <a:rPr sz="1700" b="1" i="0">
                <a:solidFill>
                  <a:srgbClr val="1C252B"/>
                </a:solidFill>
                <a:latin typeface="Segoe UI"/>
              </a:rPr>
              <a:t> overcommitting memory </a:t>
            </a:r>
            <a:r>
              <a:rPr sz="1700" b="1" i="1">
                <a:solidFill>
                  <a:srgbClr val="1C252B"/>
                </a:solidFill>
                <a:latin typeface="Segoe UI"/>
              </a:rPr>
              <a:t>and</a:t>
            </a:r>
            <a:r>
              <a:rPr sz="1700" b="1" i="0">
                <a:solidFill>
                  <a:srgbClr val="1C252B"/>
                </a:solidFill>
                <a:latin typeface="Segoe UI"/>
              </a:rPr>
              <a:t> oversubscribing CPU on the same host.</a:t>
            </a:r>
            <a:r>
              <a:rPr sz="1700" b="0" i="0">
                <a:solidFill>
                  <a:srgbClr val="1C252B"/>
                </a:solidFill>
                <a:latin typeface="Segoe UI"/>
              </a:rPr>
              <a:t> Each is defensible alone; together they fail at the same moment, because the event that triggers one triggers the others.</a:t>
            </a:r>
          </a:p>
        </p:txBody>
      </p:sp>
      <p:sp>
        <p:nvSpPr>
          <p:cNvPr id="22" name="!!pb5">
            <a:extLst>
              <a:ext uri="{C183D7F6-B498-43B3-948B-1728B52AA6E4}">
                <adec:decorative xmlns:adec="http://schemas.microsoft.com/office/drawing/2017/decorative" val="1"/>
              </a:ext>
            </a:extLst>
          </p:cNvPr>
          <p:cNvSpPr/>
          <p:nvPr/>
        </p:nvSpPr>
        <p:spPr>
          <a:xfrm>
            <a:off x="658368" y="555223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57509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53394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Erasure-coding a database.</a:t>
            </a:r>
            <a:r>
              <a:rPr sz="1700" b="0" i="0">
                <a:solidFill>
                  <a:srgbClr val="1C252B"/>
                </a:solidFill>
                <a:latin typeface="Segoe UI"/>
              </a:rPr>
              <a:t> Capacity efficiency bought with write latency, on the workload least able to pay it.</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595408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98     </a:t>
            </a:r>
            <a:fld id="{E977CA52-D765-42B6-AAA6-706C1C42ADAC}" type="slidenum">
              <a:rPr lang="en-GB" sz="1000">
                <a:solidFill>
                  <a:srgbClr val="8795A1"/>
                </a:solidFill>
                <a:latin typeface="Segoe UI"/>
              </a:rPr>
              <a:t>22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Running a guest’s disk on a filesystem that is itself copy-on-write, with qcow2 on top.</a:t>
            </a:r>
            <a:r>
              <a:rPr sz="1700" b="0" i="0">
                <a:solidFill>
                  <a:srgbClr val="1C252B"/>
                </a:solidFill>
                <a:latin typeface="Segoe UI"/>
              </a:rPr>
              <a:t> Two layers of copy-on-write fragment each other. Pick one.</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23761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Thin Pools, Snapshots and the Cliff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98     </a:t>
            </a:r>
            <a:fld id="{3ECFF8DF-81F2-4654-8576-94DE8CF67F28}" type="slidenum">
              <a:rPr lang="en-GB" sz="1000">
                <a:solidFill>
                  <a:srgbClr val="8795A1"/>
                </a:solidFill>
                <a:latin typeface="Segoe UI"/>
              </a:rPr>
              <a:t>23</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Builds a small thin pool with LVM, fills it, and watches a guest filesystem go read-only — the worked example’s step 6, at a safe scale. Expect forty minutes.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21717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Virtual disk formats: what they cost on disk.</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A backing file: many disks, one shared base.</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Build a thin pool, deliberately over-subscribed.</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Put filesystems on them and write a little.</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Now walk off the cliff.</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Snapshots and read amplification.</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Reclaim: discard is what returns space.</a:t>
            </a:r>
          </a:p>
          <a:p>
            <a:pPr algn="l" marL="367434" indent="-367434">
              <a:lnSpc>
                <a:spcPct val="100000"/>
              </a:lnSpc>
              <a:spcBef>
                <a:spcPts val="0"/>
              </a:spcBef>
              <a:spcAft>
                <a:spcPts val="0"/>
              </a:spcAft>
            </a:pPr>
            <a:r>
              <a:rPr sz="1400" b="1">
                <a:solidFill>
                  <a:srgbClr val="117A65"/>
                </a:solidFill>
                <a:latin typeface="Segoe UI"/>
              </a:rPr>
              <a:t>8.	</a:t>
            </a:r>
            <a:r>
              <a:rPr sz="1400" b="0" i="0">
                <a:solidFill>
                  <a:srgbClr val="1C252B"/>
                </a:solidFill>
                <a:latin typeface="Segoe UI"/>
              </a:rPr>
              <a:t>Tear down.</a:t>
            </a:r>
          </a:p>
        </p:txBody>
      </p:sp>
      <p:sp>
        <p:nvSpPr>
          <p:cNvPr id="44" name="!!lfTHIS">
            <a:extLst>
              <a:ext uri="{C183D7F6-B498-43B3-948B-1728B52AA6E4}">
                <adec:decorative xmlns:adec="http://schemas.microsoft.com/office/drawing/2017/decorative" val="1"/>
              </a:ext>
            </a:extLst>
          </p:cNvPr>
          <p:cNvSpPr/>
          <p:nvPr/>
        </p:nvSpPr>
        <p:spPr>
          <a:xfrm>
            <a:off x="658368"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lflTHIS"/>
          <p:cNvSpPr txBox="1"/>
          <p:nvPr/>
        </p:nvSpPr>
        <p:spPr>
          <a:xfrm>
            <a:off x="932688"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7" name="!!lfvTHIS"/>
          <p:cNvSpPr txBox="1"/>
          <p:nvPr/>
        </p:nvSpPr>
        <p:spPr>
          <a:xfrm>
            <a:off x="932688"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10: A thin pool to exhaustion; an overlay and its MTU</a:t>
            </a:r>
          </a:p>
        </p:txBody>
      </p:sp>
      <p:sp>
        <p:nvSpPr>
          <p:cNvPr id="48" name="!!lfWHAT">
            <a:extLst>
              <a:ext uri="{C183D7F6-B498-43B3-948B-1728B52AA6E4}">
                <adec:decorative xmlns:adec="http://schemas.microsoft.com/office/drawing/2017/decorative" val="1"/>
              </a:ext>
            </a:extLst>
          </p:cNvPr>
          <p:cNvSpPr/>
          <p:nvPr/>
        </p:nvSpPr>
        <p:spPr>
          <a:xfrm>
            <a:off x="6233007"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lfbWHAT">
            <a:extLst>
              <a:ext uri="{C183D7F6-B498-43B3-948B-1728B52AA6E4}">
                <adec:decorative xmlns:adec="http://schemas.microsoft.com/office/drawing/2017/decorative" val="1"/>
              </a:ext>
            </a:extLst>
          </p:cNvPr>
          <p:cNvSpPr/>
          <p:nvPr/>
        </p:nvSpPr>
        <p:spPr>
          <a:xfrm>
            <a:off x="6233007"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lWHAT"/>
          <p:cNvSpPr txBox="1"/>
          <p:nvPr/>
        </p:nvSpPr>
        <p:spPr>
          <a:xfrm>
            <a:off x="6507327"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1" name="!!lfvWHAT"/>
          <p:cNvSpPr txBox="1"/>
          <p:nvPr/>
        </p:nvSpPr>
        <p:spPr>
          <a:xfrm>
            <a:off x="6507327"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64 lines of Shell</a:t>
            </a:r>
          </a:p>
        </p:txBody>
      </p:sp>
      <p:sp>
        <p:nvSpPr>
          <p:cNvPr id="5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pfill">
            <a:extLst>
              <a:ext uri="{C183D7F6-B498-43B3-948B-1728B52AA6E4}">
                <adec:decorative xmlns:adec="http://schemas.microsoft.com/office/drawing/2017/decorative" val="1"/>
              </a:ext>
            </a:extLst>
          </p:cNvPr>
          <p:cNvSpPr/>
          <p:nvPr/>
        </p:nvSpPr>
        <p:spPr>
          <a:xfrm>
            <a:off x="0" y="0"/>
            <a:ext cx="65211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Thin Pools, Snapshots and the Cliff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98     </a:t>
            </a:r>
            <a:fld id="{92513E68-50A6-47A1-813E-F4D544FB53B7}"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Virtual disk formats: what they cost on disk.</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621024"/>
          </a:xfrm>
          <a:prstGeom prst="roundRect">
            <a:avLst>
              <a:gd name="adj" fmla="val 252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12_storage.sh -- thin provisioning, snapshots and exhaustion. set -euo pipefail # --- 1. Virtual disk formats: what they cost on disk. ------------------ cd /tmp qemu-img create -f raw plain.raw 10G qemu-img create -f qcow2 thin.qcow2 10G ls -lh plain.raw thin.qcow2 # apparent size du -h plain.raw thin.qcow2 # actual size: this is the point qemu-img info thin.qcow2 | head -6"/>
          <p:cNvSpPr txBox="1"/>
          <p:nvPr/>
        </p:nvSpPr>
        <p:spPr>
          <a:xfrm>
            <a:off x="1362456" y="2523744"/>
            <a:ext cx="9987991" cy="31272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#!/usr/bin/env bash</a:t>
            </a:r>
          </a:p>
          <a:p>
            <a:pPr>
              <a:lnSpc>
                <a:spcPct val="100000"/>
              </a:lnSpc>
              <a:spcAft>
                <a:spcPts val="0"/>
              </a:spcAft>
            </a:pPr>
            <a:r>
              <a:rPr sz="1800" i="1">
                <a:solidFill>
                  <a:srgbClr val="8795A1"/>
                </a:solidFill>
                <a:latin typeface="Consolas"/>
              </a:rPr>
              <a:t># ch12_storage.sh -- thin provisioning, snapshots and exhaustion.</a:t>
            </a:r>
          </a:p>
          <a:p>
            <a:pPr>
              <a:lnSpc>
                <a:spcPct val="100000"/>
              </a:lnSpc>
              <a:spcAft>
                <a:spcPts val="0"/>
              </a:spcAft>
            </a:pPr>
            <a:r>
              <a:rPr sz="1800" i="0">
                <a:solidFill>
                  <a:srgbClr val="C39BD3"/>
                </a:solidFill>
                <a:latin typeface="Consolas"/>
              </a:rPr>
              <a:t>set</a:t>
            </a:r>
            <a:r>
              <a:rPr sz="1800" i="0">
                <a:solidFill>
                  <a:srgbClr val="E8EDF2"/>
                </a:solidFill>
                <a:latin typeface="Consolas"/>
              </a:rPr>
              <a:t> </a:t>
            </a:r>
            <a:r>
              <a:rPr sz="1800" i="0">
                <a:solidFill>
                  <a:srgbClr val="E8EDF2"/>
                </a:solidFill>
                <a:latin typeface="Consolas"/>
              </a:rPr>
              <a:t>-euo</a:t>
            </a:r>
            <a:r>
              <a:rPr sz="1800" i="0">
                <a:solidFill>
                  <a:srgbClr val="E8EDF2"/>
                </a:solidFill>
                <a:latin typeface="Consolas"/>
              </a:rPr>
              <a:t> </a:t>
            </a:r>
            <a:r>
              <a:rPr sz="1800" i="0">
                <a:solidFill>
                  <a:srgbClr val="E8EDF2"/>
                </a:solidFill>
                <a:latin typeface="Consolas"/>
              </a:rPr>
              <a:t>pipefail</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--- 1. Virtual disk formats: what they cost on disk. ------------------</a:t>
            </a:r>
          </a:p>
          <a:p>
            <a:pPr>
              <a:lnSpc>
                <a:spcPct val="100000"/>
              </a:lnSpc>
              <a:spcAft>
                <a:spcPts val="0"/>
              </a:spcAft>
            </a:pPr>
            <a:r>
              <a:rPr sz="1800" i="0">
                <a:solidFill>
                  <a:srgbClr val="C39BD3"/>
                </a:solidFill>
                <a:latin typeface="Consolas"/>
              </a:rPr>
              <a:t>cd</a:t>
            </a:r>
            <a:r>
              <a:rPr sz="1800" i="0">
                <a:solidFill>
                  <a:srgbClr val="E8EDF2"/>
                </a:solidFill>
                <a:latin typeface="Consolas"/>
              </a:rPr>
              <a:t> </a:t>
            </a:r>
            <a:r>
              <a:rPr sz="1800" i="0">
                <a:solidFill>
                  <a:srgbClr val="E8EDF2"/>
                </a:solidFill>
                <a:latin typeface="Consolas"/>
              </a:rPr>
              <a:t>/tmp</a:t>
            </a:r>
          </a:p>
          <a:p>
            <a:pPr>
              <a:lnSpc>
                <a:spcPct val="100000"/>
              </a:lnSpc>
              <a:spcAft>
                <a:spcPts val="0"/>
              </a:spcAft>
            </a:pPr>
            <a:r>
              <a:rPr sz="1800" i="0">
                <a:solidFill>
                  <a:srgbClr val="E8EDF2"/>
                </a:solidFill>
                <a:latin typeface="Consolas"/>
              </a:rPr>
              <a:t>qemu-img</a:t>
            </a:r>
            <a:r>
              <a:rPr sz="1800" i="0">
                <a:solidFill>
                  <a:srgbClr val="E8EDF2"/>
                </a:solidFill>
                <a:latin typeface="Consolas"/>
              </a:rPr>
              <a:t> </a:t>
            </a:r>
            <a:r>
              <a:rPr sz="1800" i="0">
                <a:solidFill>
                  <a:srgbClr val="E8EDF2"/>
                </a:solidFill>
                <a:latin typeface="Consolas"/>
              </a:rPr>
              <a:t>create</a:t>
            </a:r>
            <a:r>
              <a:rPr sz="1800" i="0">
                <a:solidFill>
                  <a:srgbClr val="E8EDF2"/>
                </a:solidFill>
                <a:latin typeface="Consolas"/>
              </a:rPr>
              <a:t> </a:t>
            </a:r>
            <a:r>
              <a:rPr sz="1800" i="0">
                <a:solidFill>
                  <a:srgbClr val="E8EDF2"/>
                </a:solidFill>
                <a:latin typeface="Consolas"/>
              </a:rPr>
              <a:t>-f</a:t>
            </a:r>
            <a:r>
              <a:rPr sz="1800" i="0">
                <a:solidFill>
                  <a:srgbClr val="E8EDF2"/>
                </a:solidFill>
                <a:latin typeface="Consolas"/>
              </a:rPr>
              <a:t> </a:t>
            </a:r>
            <a:r>
              <a:rPr sz="1800" i="0">
                <a:solidFill>
                  <a:srgbClr val="E8EDF2"/>
                </a:solidFill>
                <a:latin typeface="Consolas"/>
              </a:rPr>
              <a:t>raw</a:t>
            </a:r>
            <a:r>
              <a:rPr sz="1800" i="0">
                <a:solidFill>
                  <a:srgbClr val="E8EDF2"/>
                </a:solidFill>
                <a:latin typeface="Consolas"/>
              </a:rPr>
              <a:t>   </a:t>
            </a:r>
            <a:r>
              <a:rPr sz="1800" i="0">
                <a:solidFill>
                  <a:srgbClr val="E8EDF2"/>
                </a:solidFill>
                <a:latin typeface="Consolas"/>
              </a:rPr>
              <a:t>plain.raw</a:t>
            </a:r>
            <a:r>
              <a:rPr sz="1800" i="0">
                <a:solidFill>
                  <a:srgbClr val="E8EDF2"/>
                </a:solidFill>
                <a:latin typeface="Consolas"/>
              </a:rPr>
              <a:t>  </a:t>
            </a:r>
            <a:r>
              <a:rPr sz="1800" i="0">
                <a:solidFill>
                  <a:srgbClr val="E8EDF2"/>
                </a:solidFill>
                <a:latin typeface="Consolas"/>
              </a:rPr>
              <a:t>10G</a:t>
            </a:r>
          </a:p>
          <a:p>
            <a:pPr>
              <a:lnSpc>
                <a:spcPct val="100000"/>
              </a:lnSpc>
              <a:spcAft>
                <a:spcPts val="0"/>
              </a:spcAft>
            </a:pPr>
            <a:r>
              <a:rPr sz="1800" i="0">
                <a:solidFill>
                  <a:srgbClr val="E8EDF2"/>
                </a:solidFill>
                <a:latin typeface="Consolas"/>
              </a:rPr>
              <a:t>qemu-img</a:t>
            </a:r>
            <a:r>
              <a:rPr sz="1800" i="0">
                <a:solidFill>
                  <a:srgbClr val="E8EDF2"/>
                </a:solidFill>
                <a:latin typeface="Consolas"/>
              </a:rPr>
              <a:t> </a:t>
            </a:r>
            <a:r>
              <a:rPr sz="1800" i="0">
                <a:solidFill>
                  <a:srgbClr val="E8EDF2"/>
                </a:solidFill>
                <a:latin typeface="Consolas"/>
              </a:rPr>
              <a:t>create</a:t>
            </a:r>
            <a:r>
              <a:rPr sz="1800" i="0">
                <a:solidFill>
                  <a:srgbClr val="E8EDF2"/>
                </a:solidFill>
                <a:latin typeface="Consolas"/>
              </a:rPr>
              <a:t> </a:t>
            </a:r>
            <a:r>
              <a:rPr sz="1800" i="0">
                <a:solidFill>
                  <a:srgbClr val="E8EDF2"/>
                </a:solidFill>
                <a:latin typeface="Consolas"/>
              </a:rPr>
              <a:t>-f</a:t>
            </a:r>
            <a:r>
              <a:rPr sz="1800" i="0">
                <a:solidFill>
                  <a:srgbClr val="E8EDF2"/>
                </a:solidFill>
                <a:latin typeface="Consolas"/>
              </a:rPr>
              <a:t> </a:t>
            </a:r>
            <a:r>
              <a:rPr sz="1800" i="0">
                <a:solidFill>
                  <a:srgbClr val="E8EDF2"/>
                </a:solidFill>
                <a:latin typeface="Consolas"/>
              </a:rPr>
              <a:t>qcow2</a:t>
            </a:r>
            <a:r>
              <a:rPr sz="1800" i="0">
                <a:solidFill>
                  <a:srgbClr val="E8EDF2"/>
                </a:solidFill>
                <a:latin typeface="Consolas"/>
              </a:rPr>
              <a:t> </a:t>
            </a:r>
            <a:r>
              <a:rPr sz="1800" i="0">
                <a:solidFill>
                  <a:srgbClr val="E8EDF2"/>
                </a:solidFill>
                <a:latin typeface="Consolas"/>
              </a:rPr>
              <a:t>thin.qcow2</a:t>
            </a:r>
            <a:r>
              <a:rPr sz="1800" i="0">
                <a:solidFill>
                  <a:srgbClr val="E8EDF2"/>
                </a:solidFill>
                <a:latin typeface="Consolas"/>
              </a:rPr>
              <a:t> </a:t>
            </a:r>
            <a:r>
              <a:rPr sz="1800" i="0">
                <a:solidFill>
                  <a:srgbClr val="E8EDF2"/>
                </a:solidFill>
                <a:latin typeface="Consolas"/>
              </a:rPr>
              <a:t>10G</a:t>
            </a:r>
          </a:p>
          <a:p>
            <a:pPr>
              <a:lnSpc>
                <a:spcPct val="100000"/>
              </a:lnSpc>
              <a:spcAft>
                <a:spcPts val="0"/>
              </a:spcAft>
            </a:pPr>
            <a:r>
              <a:rPr sz="1800" i="0">
                <a:solidFill>
                  <a:srgbClr val="E8EDF2"/>
                </a:solidFill>
                <a:latin typeface="Consolas"/>
              </a:rPr>
              <a:t>ls</a:t>
            </a:r>
            <a:r>
              <a:rPr sz="1800" i="0">
                <a:solidFill>
                  <a:srgbClr val="E8EDF2"/>
                </a:solidFill>
                <a:latin typeface="Consolas"/>
              </a:rPr>
              <a:t> </a:t>
            </a:r>
            <a:r>
              <a:rPr sz="1800" i="0">
                <a:solidFill>
                  <a:srgbClr val="E8EDF2"/>
                </a:solidFill>
                <a:latin typeface="Consolas"/>
              </a:rPr>
              <a:t>-lh</a:t>
            </a:r>
            <a:r>
              <a:rPr sz="1800" i="0">
                <a:solidFill>
                  <a:srgbClr val="E8EDF2"/>
                </a:solidFill>
                <a:latin typeface="Consolas"/>
              </a:rPr>
              <a:t> </a:t>
            </a:r>
            <a:r>
              <a:rPr sz="1800" i="0">
                <a:solidFill>
                  <a:srgbClr val="E8EDF2"/>
                </a:solidFill>
                <a:latin typeface="Consolas"/>
              </a:rPr>
              <a:t>plain.raw</a:t>
            </a:r>
            <a:r>
              <a:rPr sz="1800" i="0">
                <a:solidFill>
                  <a:srgbClr val="E8EDF2"/>
                </a:solidFill>
                <a:latin typeface="Consolas"/>
              </a:rPr>
              <a:t> </a:t>
            </a:r>
            <a:r>
              <a:rPr sz="1800" i="0">
                <a:solidFill>
                  <a:srgbClr val="E8EDF2"/>
                </a:solidFill>
                <a:latin typeface="Consolas"/>
              </a:rPr>
              <a:t>thin.qcow2</a:t>
            </a:r>
            <a:r>
              <a:rPr sz="1800" i="0">
                <a:solidFill>
                  <a:srgbClr val="E8EDF2"/>
                </a:solidFill>
                <a:latin typeface="Consolas"/>
              </a:rPr>
              <a:t>          </a:t>
            </a:r>
            <a:r>
              <a:rPr sz="1800" i="1">
                <a:solidFill>
                  <a:srgbClr val="8795A1"/>
                </a:solidFill>
                <a:latin typeface="Consolas"/>
              </a:rPr>
              <a:t># apparent size</a:t>
            </a:r>
          </a:p>
          <a:p>
            <a:pPr>
              <a:lnSpc>
                <a:spcPct val="100000"/>
              </a:lnSpc>
              <a:spcAft>
                <a:spcPts val="0"/>
              </a:spcAft>
            </a:pPr>
            <a:r>
              <a:rPr sz="1800" i="0">
                <a:solidFill>
                  <a:srgbClr val="E8EDF2"/>
                </a:solidFill>
                <a:latin typeface="Consolas"/>
              </a:rPr>
              <a:t>du</a:t>
            </a:r>
            <a:r>
              <a:rPr sz="1800" i="0">
                <a:solidFill>
                  <a:srgbClr val="E8EDF2"/>
                </a:solidFill>
                <a:latin typeface="Consolas"/>
              </a:rPr>
              <a:t> </a:t>
            </a:r>
            <a:r>
              <a:rPr sz="1800" i="0">
                <a:solidFill>
                  <a:srgbClr val="E8EDF2"/>
                </a:solidFill>
                <a:latin typeface="Consolas"/>
              </a:rPr>
              <a:t>-h</a:t>
            </a:r>
            <a:r>
              <a:rPr sz="1800" i="0">
                <a:solidFill>
                  <a:srgbClr val="E8EDF2"/>
                </a:solidFill>
                <a:latin typeface="Consolas"/>
              </a:rPr>
              <a:t>  </a:t>
            </a:r>
            <a:r>
              <a:rPr sz="1800" i="0">
                <a:solidFill>
                  <a:srgbClr val="E8EDF2"/>
                </a:solidFill>
                <a:latin typeface="Consolas"/>
              </a:rPr>
              <a:t>plain.raw</a:t>
            </a:r>
            <a:r>
              <a:rPr sz="1800" i="0">
                <a:solidFill>
                  <a:srgbClr val="E8EDF2"/>
                </a:solidFill>
                <a:latin typeface="Consolas"/>
              </a:rPr>
              <a:t> </a:t>
            </a:r>
            <a:r>
              <a:rPr sz="1800" i="0">
                <a:solidFill>
                  <a:srgbClr val="E8EDF2"/>
                </a:solidFill>
                <a:latin typeface="Consolas"/>
              </a:rPr>
              <a:t>thin.qcow2</a:t>
            </a:r>
            <a:r>
              <a:rPr sz="1800" i="0">
                <a:solidFill>
                  <a:srgbClr val="E8EDF2"/>
                </a:solidFill>
                <a:latin typeface="Consolas"/>
              </a:rPr>
              <a:t>          </a:t>
            </a:r>
            <a:r>
              <a:rPr sz="1800" i="1">
                <a:solidFill>
                  <a:srgbClr val="8795A1"/>
                </a:solidFill>
                <a:latin typeface="Consolas"/>
              </a:rPr>
              <a:t># actual size: this is the point</a:t>
            </a:r>
          </a:p>
          <a:p>
            <a:pPr>
              <a:lnSpc>
                <a:spcPct val="100000"/>
              </a:lnSpc>
              <a:spcAft>
                <a:spcPts val="0"/>
              </a:spcAft>
            </a:pPr>
            <a:r>
              <a:rPr sz="1800" i="0">
                <a:solidFill>
                  <a:srgbClr val="E8EDF2"/>
                </a:solidFill>
                <a:latin typeface="Consolas"/>
              </a:rPr>
              <a:t>qemu-img</a:t>
            </a:r>
            <a:r>
              <a:rPr sz="1800" i="0">
                <a:solidFill>
                  <a:srgbClr val="E8EDF2"/>
                </a:solidFill>
                <a:latin typeface="Consolas"/>
              </a:rPr>
              <a:t> </a:t>
            </a:r>
            <a:r>
              <a:rPr sz="1800" i="0">
                <a:solidFill>
                  <a:srgbClr val="E8EDF2"/>
                </a:solidFill>
                <a:latin typeface="Consolas"/>
              </a:rPr>
              <a:t>info</a:t>
            </a:r>
            <a:r>
              <a:rPr sz="1800" i="0">
                <a:solidFill>
                  <a:srgbClr val="E8EDF2"/>
                </a:solidFill>
                <a:latin typeface="Consolas"/>
              </a:rPr>
              <a:t> </a:t>
            </a:r>
            <a:r>
              <a:rPr sz="1800" i="0">
                <a:solidFill>
                  <a:srgbClr val="E8EDF2"/>
                </a:solidFill>
                <a:latin typeface="Consolas"/>
              </a:rPr>
              <a:t>thin.qcow2</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head</a:t>
            </a:r>
            <a:r>
              <a:rPr sz="1800" i="0">
                <a:solidFill>
                  <a:srgbClr val="E8EDF2"/>
                </a:solidFill>
                <a:latin typeface="Consolas"/>
              </a:rPr>
              <a:t> </a:t>
            </a:r>
            <a:r>
              <a:rPr sz="1800" i="0">
                <a:solidFill>
                  <a:srgbClr val="E8EDF2"/>
                </a:solidFill>
                <a:latin typeface="Consolas"/>
              </a:rPr>
              <a:t>-6</a:t>
            </a:r>
          </a:p>
        </p:txBody>
      </p:sp>
      <p:sp>
        <p:nvSpPr>
          <p:cNvPr id="15" name="!!code-num"/>
          <p:cNvSpPr txBox="1"/>
          <p:nvPr/>
        </p:nvSpPr>
        <p:spPr>
          <a:xfrm>
            <a:off x="768096" y="2523744"/>
            <a:ext cx="393192" cy="31272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a:t>
            </a:r>
          </a:p>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80466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Thin Pools, Snapshots and the Cliff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98     </a:t>
            </a:r>
            <a:fld id="{1007822D-D331-4C69-8CF0-CAA199C791CB}"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backing file: many disks, one shared base.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A backing file: many disks, one shared base. ------------------ qemu-img create -f qcow2 -b thin.qcow2 -F qcow2 child1.qcow2 qemu-img create -f qcow2 -b thin.qcow2 -F qcow2 child2.qcow2 du -h child1.qcow2 child2.qcow2 # nearly nothing until written qemu-img info child1.qcow2 | grep -i backing"/>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A backing file: many disks, one shared base. ------------------</a:t>
            </a:r>
          </a:p>
          <a:p>
            <a:pPr>
              <a:lnSpc>
                <a:spcPct val="100000"/>
              </a:lnSpc>
              <a:spcAft>
                <a:spcPts val="0"/>
              </a:spcAft>
            </a:pPr>
            <a:r>
              <a:rPr sz="1900" i="0">
                <a:solidFill>
                  <a:srgbClr val="E8EDF2"/>
                </a:solidFill>
                <a:latin typeface="Consolas"/>
              </a:rPr>
              <a:t>qemu-img</a:t>
            </a:r>
            <a:r>
              <a:rPr sz="1900" i="0">
                <a:solidFill>
                  <a:srgbClr val="E8EDF2"/>
                </a:solidFill>
                <a:latin typeface="Consolas"/>
              </a:rPr>
              <a:t> </a:t>
            </a:r>
            <a:r>
              <a:rPr sz="1900" i="0">
                <a:solidFill>
                  <a:srgbClr val="E8EDF2"/>
                </a:solidFill>
                <a:latin typeface="Consolas"/>
              </a:rPr>
              <a:t>create</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E8EDF2"/>
                </a:solidFill>
                <a:latin typeface="Consolas"/>
              </a:rPr>
              <a:t>qcow2</a:t>
            </a:r>
            <a:r>
              <a:rPr sz="1900" i="0">
                <a:solidFill>
                  <a:srgbClr val="E8EDF2"/>
                </a:solidFill>
                <a:latin typeface="Consolas"/>
              </a:rPr>
              <a:t> </a:t>
            </a:r>
            <a:r>
              <a:rPr sz="1900" i="0">
                <a:solidFill>
                  <a:srgbClr val="E8EDF2"/>
                </a:solidFill>
                <a:latin typeface="Consolas"/>
              </a:rPr>
              <a:t>-b</a:t>
            </a:r>
            <a:r>
              <a:rPr sz="1900" i="0">
                <a:solidFill>
                  <a:srgbClr val="E8EDF2"/>
                </a:solidFill>
                <a:latin typeface="Consolas"/>
              </a:rPr>
              <a:t> </a:t>
            </a:r>
            <a:r>
              <a:rPr sz="1900" i="0">
                <a:solidFill>
                  <a:srgbClr val="E8EDF2"/>
                </a:solidFill>
                <a:latin typeface="Consolas"/>
              </a:rPr>
              <a:t>thin.qcow2</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E8EDF2"/>
                </a:solidFill>
                <a:latin typeface="Consolas"/>
              </a:rPr>
              <a:t>qcow2</a:t>
            </a:r>
            <a:r>
              <a:rPr sz="1900" i="0">
                <a:solidFill>
                  <a:srgbClr val="E8EDF2"/>
                </a:solidFill>
                <a:latin typeface="Consolas"/>
              </a:rPr>
              <a:t> </a:t>
            </a:r>
            <a:r>
              <a:rPr sz="1900" i="0">
                <a:solidFill>
                  <a:srgbClr val="E8EDF2"/>
                </a:solidFill>
                <a:latin typeface="Consolas"/>
              </a:rPr>
              <a:t>child1.qcow2</a:t>
            </a:r>
          </a:p>
          <a:p>
            <a:pPr>
              <a:lnSpc>
                <a:spcPct val="100000"/>
              </a:lnSpc>
              <a:spcAft>
                <a:spcPts val="0"/>
              </a:spcAft>
            </a:pPr>
            <a:r>
              <a:rPr sz="1900" i="0">
                <a:solidFill>
                  <a:srgbClr val="E8EDF2"/>
                </a:solidFill>
                <a:latin typeface="Consolas"/>
              </a:rPr>
              <a:t>qemu-img</a:t>
            </a:r>
            <a:r>
              <a:rPr sz="1900" i="0">
                <a:solidFill>
                  <a:srgbClr val="E8EDF2"/>
                </a:solidFill>
                <a:latin typeface="Consolas"/>
              </a:rPr>
              <a:t> </a:t>
            </a:r>
            <a:r>
              <a:rPr sz="1900" i="0">
                <a:solidFill>
                  <a:srgbClr val="E8EDF2"/>
                </a:solidFill>
                <a:latin typeface="Consolas"/>
              </a:rPr>
              <a:t>create</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E8EDF2"/>
                </a:solidFill>
                <a:latin typeface="Consolas"/>
              </a:rPr>
              <a:t>qcow2</a:t>
            </a:r>
            <a:r>
              <a:rPr sz="1900" i="0">
                <a:solidFill>
                  <a:srgbClr val="E8EDF2"/>
                </a:solidFill>
                <a:latin typeface="Consolas"/>
              </a:rPr>
              <a:t> </a:t>
            </a:r>
            <a:r>
              <a:rPr sz="1900" i="0">
                <a:solidFill>
                  <a:srgbClr val="E8EDF2"/>
                </a:solidFill>
                <a:latin typeface="Consolas"/>
              </a:rPr>
              <a:t>-b</a:t>
            </a:r>
            <a:r>
              <a:rPr sz="1900" i="0">
                <a:solidFill>
                  <a:srgbClr val="E8EDF2"/>
                </a:solidFill>
                <a:latin typeface="Consolas"/>
              </a:rPr>
              <a:t> </a:t>
            </a:r>
            <a:r>
              <a:rPr sz="1900" i="0">
                <a:solidFill>
                  <a:srgbClr val="E8EDF2"/>
                </a:solidFill>
                <a:latin typeface="Consolas"/>
              </a:rPr>
              <a:t>thin.qcow2</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E8EDF2"/>
                </a:solidFill>
                <a:latin typeface="Consolas"/>
              </a:rPr>
              <a:t>qcow2</a:t>
            </a:r>
            <a:r>
              <a:rPr sz="1900" i="0">
                <a:solidFill>
                  <a:srgbClr val="E8EDF2"/>
                </a:solidFill>
                <a:latin typeface="Consolas"/>
              </a:rPr>
              <a:t> </a:t>
            </a:r>
            <a:r>
              <a:rPr sz="1900" i="0">
                <a:solidFill>
                  <a:srgbClr val="E8EDF2"/>
                </a:solidFill>
                <a:latin typeface="Consolas"/>
              </a:rPr>
              <a:t>child2.qcow2</a:t>
            </a:r>
          </a:p>
          <a:p>
            <a:pPr>
              <a:lnSpc>
                <a:spcPct val="100000"/>
              </a:lnSpc>
              <a:spcAft>
                <a:spcPts val="0"/>
              </a:spcAft>
            </a:pPr>
            <a:r>
              <a:rPr sz="1900" i="0">
                <a:solidFill>
                  <a:srgbClr val="E8EDF2"/>
                </a:solidFill>
                <a:latin typeface="Consolas"/>
              </a:rPr>
              <a:t>du</a:t>
            </a:r>
            <a:r>
              <a:rPr sz="1900" i="0">
                <a:solidFill>
                  <a:srgbClr val="E8EDF2"/>
                </a:solidFill>
                <a:latin typeface="Consolas"/>
              </a:rPr>
              <a:t> </a:t>
            </a:r>
            <a:r>
              <a:rPr sz="1900" i="0">
                <a:solidFill>
                  <a:srgbClr val="E8EDF2"/>
                </a:solidFill>
                <a:latin typeface="Consolas"/>
              </a:rPr>
              <a:t>-h</a:t>
            </a:r>
            <a:r>
              <a:rPr sz="1900" i="0">
                <a:solidFill>
                  <a:srgbClr val="E8EDF2"/>
                </a:solidFill>
                <a:latin typeface="Consolas"/>
              </a:rPr>
              <a:t> </a:t>
            </a:r>
            <a:r>
              <a:rPr sz="1900" i="0">
                <a:solidFill>
                  <a:srgbClr val="E8EDF2"/>
                </a:solidFill>
                <a:latin typeface="Consolas"/>
              </a:rPr>
              <a:t>child1.qcow2</a:t>
            </a:r>
            <a:r>
              <a:rPr sz="1900" i="0">
                <a:solidFill>
                  <a:srgbClr val="E8EDF2"/>
                </a:solidFill>
                <a:latin typeface="Consolas"/>
              </a:rPr>
              <a:t> </a:t>
            </a:r>
            <a:r>
              <a:rPr sz="1900" i="0">
                <a:solidFill>
                  <a:srgbClr val="E8EDF2"/>
                </a:solidFill>
                <a:latin typeface="Consolas"/>
              </a:rPr>
              <a:t>child2.qcow2</a:t>
            </a:r>
            <a:r>
              <a:rPr sz="1900" i="0">
                <a:solidFill>
                  <a:srgbClr val="E8EDF2"/>
                </a:solidFill>
                <a:latin typeface="Consolas"/>
              </a:rPr>
              <a:t>      </a:t>
            </a:r>
            <a:r>
              <a:rPr sz="1900" i="1">
                <a:solidFill>
                  <a:srgbClr val="8795A1"/>
                </a:solidFill>
                <a:latin typeface="Consolas"/>
              </a:rPr>
              <a:t># nearly nothing until written</a:t>
            </a:r>
          </a:p>
          <a:p>
            <a:pPr>
              <a:lnSpc>
                <a:spcPct val="100000"/>
              </a:lnSpc>
              <a:spcAft>
                <a:spcPts val="0"/>
              </a:spcAft>
            </a:pPr>
            <a:r>
              <a:rPr sz="1900" i="0">
                <a:solidFill>
                  <a:srgbClr val="E8EDF2"/>
                </a:solidFill>
                <a:latin typeface="Consolas"/>
              </a:rPr>
              <a:t>qemu-img</a:t>
            </a:r>
            <a:r>
              <a:rPr sz="1900" i="0">
                <a:solidFill>
                  <a:srgbClr val="E8EDF2"/>
                </a:solidFill>
                <a:latin typeface="Consolas"/>
              </a:rPr>
              <a:t> </a:t>
            </a:r>
            <a:r>
              <a:rPr sz="1900" i="0">
                <a:solidFill>
                  <a:srgbClr val="E8EDF2"/>
                </a:solidFill>
                <a:latin typeface="Consolas"/>
              </a:rPr>
              <a:t>info</a:t>
            </a:r>
            <a:r>
              <a:rPr sz="1900" i="0">
                <a:solidFill>
                  <a:srgbClr val="E8EDF2"/>
                </a:solidFill>
                <a:latin typeface="Consolas"/>
              </a:rPr>
              <a:t> </a:t>
            </a:r>
            <a:r>
              <a:rPr sz="1900" i="0">
                <a:solidFill>
                  <a:srgbClr val="E8EDF2"/>
                </a:solidFill>
                <a:latin typeface="Consolas"/>
              </a:rPr>
              <a:t>child1.qcow2</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E8EDF2"/>
                </a:solidFill>
                <a:latin typeface="Consolas"/>
              </a:rPr>
              <a:t>backing</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13</a:t>
            </a:r>
          </a:p>
          <a:p>
            <a:pPr algn="r">
              <a:lnSpc>
                <a:spcPct val="100000"/>
              </a:lnSpc>
            </a:pPr>
            <a:r>
              <a:rPr sz="1900">
                <a:solidFill>
                  <a:srgbClr val="4F5D6A"/>
                </a:solidFill>
                <a:latin typeface="Consolas"/>
              </a:rPr>
              <a:t>14</a:t>
            </a:r>
          </a:p>
          <a:p>
            <a:pPr algn="r">
              <a:lnSpc>
                <a:spcPct val="100000"/>
              </a:lnSpc>
            </a:pPr>
            <a:r>
              <a:rPr sz="1900">
                <a:solidFill>
                  <a:srgbClr val="4F5D6A"/>
                </a:solidFill>
                <a:latin typeface="Consolas"/>
              </a:rPr>
              <a:t>15</a:t>
            </a:r>
          </a:p>
          <a:p>
            <a:pPr algn="r">
              <a:lnSpc>
                <a:spcPct val="100000"/>
              </a:lnSpc>
            </a:pPr>
            <a:r>
              <a:rPr sz="1900">
                <a:solidFill>
                  <a:srgbClr val="4F5D6A"/>
                </a:solidFill>
                <a:latin typeface="Consolas"/>
              </a:rPr>
              <a:t>16</a:t>
            </a:r>
          </a:p>
          <a:p>
            <a:pPr algn="r">
              <a:lnSpc>
                <a:spcPct val="100000"/>
              </a:lnSpc>
            </a:pPr>
            <a:r>
              <a:rPr sz="1900">
                <a:solidFill>
                  <a:srgbClr val="4F5D6A"/>
                </a:solidFill>
                <a:latin typeface="Consolas"/>
              </a:rPr>
              <a:t>17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08819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Thin Pools, Snapshots and the Cliff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98     </a:t>
            </a:r>
            <a:fld id="{92DBE0DD-90D8-40BD-8D16-E31960A2D62E}"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Build a thin pool, deliberately over-subscribed.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499103"/>
          </a:xfrm>
          <a:prstGeom prst="roundRect">
            <a:avLst>
              <a:gd name="adj" fmla="val 26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Build a thin pool, deliberately over-subscribed. -------------- sudo truncate -s 2G /tmp/pv.img LOOP=$(sudo losetup --find --show /tmp/pv.img) sudo pvcreate &quot;$LOOP&quot; ; sudo vgcreate vsvg &quot;$LOOP&quot; sudo lvcreate -L 1.5G --thinpool vspool vsvg # Four 1 GB volumes out of a 1.5 GB pool: sigma = 2.7 for i in 1 2 3 4; do sudo lvcreate -V 1G --thin -n &quot;vol$i&quot; vsvg/vspool done sudo lvs vsvg -o lv_name,lv_size,data_percent"/>
          <p:cNvSpPr txBox="1"/>
          <p:nvPr/>
        </p:nvSpPr>
        <p:spPr>
          <a:xfrm>
            <a:off x="1362456" y="2523744"/>
            <a:ext cx="9987991" cy="300532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Build a thin pool, deliberately over-subscribed.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truncate</a:t>
            </a:r>
            <a:r>
              <a:rPr sz="1900" i="0">
                <a:solidFill>
                  <a:srgbClr val="E8EDF2"/>
                </a:solidFill>
                <a:latin typeface="Consolas"/>
              </a:rPr>
              <a:t> </a:t>
            </a:r>
            <a:r>
              <a:rPr sz="1900" i="0">
                <a:solidFill>
                  <a:srgbClr val="E8EDF2"/>
                </a:solidFill>
                <a:latin typeface="Consolas"/>
              </a:rPr>
              <a:t>-s</a:t>
            </a:r>
            <a:r>
              <a:rPr sz="1900" i="0">
                <a:solidFill>
                  <a:srgbClr val="E8EDF2"/>
                </a:solidFill>
                <a:latin typeface="Consolas"/>
              </a:rPr>
              <a:t> </a:t>
            </a:r>
            <a:r>
              <a:rPr sz="1900" i="0">
                <a:solidFill>
                  <a:srgbClr val="E8EDF2"/>
                </a:solidFill>
                <a:latin typeface="Consolas"/>
              </a:rPr>
              <a:t>2G</a:t>
            </a:r>
            <a:r>
              <a:rPr sz="1900" i="0">
                <a:solidFill>
                  <a:srgbClr val="E8EDF2"/>
                </a:solidFill>
                <a:latin typeface="Consolas"/>
              </a:rPr>
              <a:t> </a:t>
            </a:r>
            <a:r>
              <a:rPr sz="1900" i="0">
                <a:solidFill>
                  <a:srgbClr val="E8EDF2"/>
                </a:solidFill>
                <a:latin typeface="Consolas"/>
              </a:rPr>
              <a:t>/tmp/pv.img</a:t>
            </a:r>
          </a:p>
          <a:p>
            <a:pPr>
              <a:lnSpc>
                <a:spcPct val="100000"/>
              </a:lnSpc>
              <a:spcAft>
                <a:spcPts val="0"/>
              </a:spcAft>
            </a:pPr>
            <a:r>
              <a:rPr sz="1900" i="0">
                <a:solidFill>
                  <a:srgbClr val="E8EDF2"/>
                </a:solidFill>
                <a:latin typeface="Consolas"/>
              </a:rPr>
              <a:t>LOOP</a:t>
            </a:r>
            <a:r>
              <a:rPr sz="1900" i="0">
                <a:solidFill>
                  <a:srgbClr val="AEB6BF"/>
                </a:solidFill>
                <a:latin typeface="Consolas"/>
              </a:rPr>
              <a:t>=</a:t>
            </a:r>
            <a:r>
              <a:rPr sz="1900" i="0">
                <a:solidFill>
                  <a:srgbClr val="5DADE2"/>
                </a:solidFill>
                <a:latin typeface="Consolas"/>
              </a:rPr>
              <a:t>$(</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losetup</a:t>
            </a:r>
            <a:r>
              <a:rPr sz="1900" i="0">
                <a:solidFill>
                  <a:srgbClr val="E8EDF2"/>
                </a:solidFill>
                <a:latin typeface="Consolas"/>
              </a:rPr>
              <a:t> </a:t>
            </a:r>
            <a:r>
              <a:rPr sz="1900" i="0">
                <a:solidFill>
                  <a:srgbClr val="E8EDF2"/>
                </a:solidFill>
                <a:latin typeface="Consolas"/>
              </a:rPr>
              <a:t>--find</a:t>
            </a:r>
            <a:r>
              <a:rPr sz="1900" i="0">
                <a:solidFill>
                  <a:srgbClr val="E8EDF2"/>
                </a:solidFill>
                <a:latin typeface="Consolas"/>
              </a:rPr>
              <a:t> </a:t>
            </a:r>
            <a:r>
              <a:rPr sz="1900" i="0">
                <a:solidFill>
                  <a:srgbClr val="E8EDF2"/>
                </a:solidFill>
                <a:latin typeface="Consolas"/>
              </a:rPr>
              <a:t>--show</a:t>
            </a:r>
            <a:r>
              <a:rPr sz="1900" i="0">
                <a:solidFill>
                  <a:srgbClr val="E8EDF2"/>
                </a:solidFill>
                <a:latin typeface="Consolas"/>
              </a:rPr>
              <a:t> </a:t>
            </a:r>
            <a:r>
              <a:rPr sz="1900" i="0">
                <a:solidFill>
                  <a:srgbClr val="E8EDF2"/>
                </a:solidFill>
                <a:latin typeface="Consolas"/>
              </a:rPr>
              <a:t>/tmp/pv.img</a:t>
            </a:r>
            <a:r>
              <a:rPr sz="1900" i="0">
                <a:solidFill>
                  <a:srgbClr val="5DADE2"/>
                </a:solidFill>
                <a:latin typeface="Consolas"/>
              </a:rPr>
              <a:t>)</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pvcreate</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$LOOP</a:t>
            </a:r>
            <a:r>
              <a:rPr sz="1900" i="0">
                <a:solidFill>
                  <a:srgbClr val="7DCEA0"/>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vgcreate</a:t>
            </a:r>
            <a:r>
              <a:rPr sz="1900" i="0">
                <a:solidFill>
                  <a:srgbClr val="E8EDF2"/>
                </a:solidFill>
                <a:latin typeface="Consolas"/>
              </a:rPr>
              <a:t> </a:t>
            </a:r>
            <a:r>
              <a:rPr sz="1900" i="0">
                <a:solidFill>
                  <a:srgbClr val="E8EDF2"/>
                </a:solidFill>
                <a:latin typeface="Consolas"/>
              </a:rPr>
              <a:t>vsvg</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$LOOP</a:t>
            </a:r>
            <a:r>
              <a:rPr sz="1900" i="0">
                <a:solidFill>
                  <a:srgbClr val="7DCEA0"/>
                </a:solidFill>
                <a:latin typeface="Consolas"/>
              </a:rPr>
              <a:t>"</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lvcreate</a:t>
            </a:r>
            <a:r>
              <a:rPr sz="1900" i="0">
                <a:solidFill>
                  <a:srgbClr val="E8EDF2"/>
                </a:solidFill>
                <a:latin typeface="Consolas"/>
              </a:rPr>
              <a:t> </a:t>
            </a:r>
            <a:r>
              <a:rPr sz="1900" i="0">
                <a:solidFill>
                  <a:srgbClr val="E8EDF2"/>
                </a:solidFill>
                <a:latin typeface="Consolas"/>
              </a:rPr>
              <a:t>-L</a:t>
            </a:r>
            <a:r>
              <a:rPr sz="1900" i="0">
                <a:solidFill>
                  <a:srgbClr val="E8EDF2"/>
                </a:solidFill>
                <a:latin typeface="Consolas"/>
              </a:rPr>
              <a:t> </a:t>
            </a:r>
            <a:r>
              <a:rPr sz="1900" i="0">
                <a:solidFill>
                  <a:srgbClr val="F7DC6F"/>
                </a:solidFill>
                <a:latin typeface="Consolas"/>
              </a:rPr>
              <a:t>1</a:t>
            </a:r>
            <a:r>
              <a:rPr sz="1900" i="0">
                <a:solidFill>
                  <a:srgbClr val="E8EDF2"/>
                </a:solidFill>
                <a:latin typeface="Consolas"/>
              </a:rPr>
              <a:t>.5G</a:t>
            </a:r>
            <a:r>
              <a:rPr sz="1900" i="0">
                <a:solidFill>
                  <a:srgbClr val="E8EDF2"/>
                </a:solidFill>
                <a:latin typeface="Consolas"/>
              </a:rPr>
              <a:t> </a:t>
            </a:r>
            <a:r>
              <a:rPr sz="1900" i="0">
                <a:solidFill>
                  <a:srgbClr val="E8EDF2"/>
                </a:solidFill>
                <a:latin typeface="Consolas"/>
              </a:rPr>
              <a:t>--thinpool</a:t>
            </a:r>
            <a:r>
              <a:rPr sz="1900" i="0">
                <a:solidFill>
                  <a:srgbClr val="E8EDF2"/>
                </a:solidFill>
                <a:latin typeface="Consolas"/>
              </a:rPr>
              <a:t> </a:t>
            </a:r>
            <a:r>
              <a:rPr sz="1900" i="0">
                <a:solidFill>
                  <a:srgbClr val="E8EDF2"/>
                </a:solidFill>
                <a:latin typeface="Consolas"/>
              </a:rPr>
              <a:t>vspool</a:t>
            </a:r>
            <a:r>
              <a:rPr sz="1900" i="0">
                <a:solidFill>
                  <a:srgbClr val="E8EDF2"/>
                </a:solidFill>
                <a:latin typeface="Consolas"/>
              </a:rPr>
              <a:t> </a:t>
            </a:r>
            <a:r>
              <a:rPr sz="1900" i="0">
                <a:solidFill>
                  <a:srgbClr val="E8EDF2"/>
                </a:solidFill>
                <a:latin typeface="Consolas"/>
              </a:rPr>
              <a:t>vsvg</a:t>
            </a:r>
          </a:p>
          <a:p>
            <a:pPr>
              <a:lnSpc>
                <a:spcPct val="100000"/>
              </a:lnSpc>
              <a:spcAft>
                <a:spcPts val="0"/>
              </a:spcAft>
            </a:pPr>
            <a:r>
              <a:rPr sz="1900" i="1">
                <a:solidFill>
                  <a:srgbClr val="8795A1"/>
                </a:solidFill>
                <a:latin typeface="Consolas"/>
              </a:rPr>
              <a:t># Four 1 GB volumes out of a 1.5 GB pool: sigma = 2.7</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5DADE2"/>
                </a:solidFill>
                <a:latin typeface="Consolas"/>
              </a:rPr>
              <a:t>in</a:t>
            </a:r>
            <a:r>
              <a:rPr sz="1900" i="0">
                <a:solidFill>
                  <a:srgbClr val="E8EDF2"/>
                </a:solidFill>
                <a:latin typeface="Consolas"/>
              </a:rPr>
              <a:t> </a:t>
            </a:r>
            <a:r>
              <a:rPr sz="1900" i="0">
                <a:solidFill>
                  <a:srgbClr val="F7DC6F"/>
                </a:solidFill>
                <a:latin typeface="Consolas"/>
              </a:rPr>
              <a:t>1</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F7DC6F"/>
                </a:solidFill>
                <a:latin typeface="Consolas"/>
              </a:rPr>
              <a:t>3</a:t>
            </a:r>
            <a:r>
              <a:rPr sz="1900" i="0">
                <a:solidFill>
                  <a:srgbClr val="E8EDF2"/>
                </a:solidFill>
                <a:latin typeface="Consolas"/>
              </a:rPr>
              <a:t> </a:t>
            </a:r>
            <a:r>
              <a:rPr sz="1900" i="0">
                <a:solidFill>
                  <a:srgbClr val="F7DC6F"/>
                </a:solidFill>
                <a:latin typeface="Consolas"/>
              </a:rPr>
              <a:t>4</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do</a:t>
            </a:r>
          </a:p>
          <a:p>
            <a:pPr>
              <a:lnSpc>
                <a:spcPct val="100000"/>
              </a:lnSpc>
              <a:spcAft>
                <a:spcPts val="0"/>
              </a:spcAft>
            </a:pP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lvcreate</a:t>
            </a:r>
            <a:r>
              <a:rPr sz="1900" i="0">
                <a:solidFill>
                  <a:srgbClr val="E8EDF2"/>
                </a:solidFill>
                <a:latin typeface="Consolas"/>
              </a:rPr>
              <a:t> </a:t>
            </a:r>
            <a:r>
              <a:rPr sz="1900" i="0">
                <a:solidFill>
                  <a:srgbClr val="E8EDF2"/>
                </a:solidFill>
                <a:latin typeface="Consolas"/>
              </a:rPr>
              <a:t>-V</a:t>
            </a:r>
            <a:r>
              <a:rPr sz="1900" i="0">
                <a:solidFill>
                  <a:srgbClr val="E8EDF2"/>
                </a:solidFill>
                <a:latin typeface="Consolas"/>
              </a:rPr>
              <a:t> </a:t>
            </a:r>
            <a:r>
              <a:rPr sz="1900" i="0">
                <a:solidFill>
                  <a:srgbClr val="E8EDF2"/>
                </a:solidFill>
                <a:latin typeface="Consolas"/>
              </a:rPr>
              <a:t>1G</a:t>
            </a:r>
            <a:r>
              <a:rPr sz="1900" i="0">
                <a:solidFill>
                  <a:srgbClr val="E8EDF2"/>
                </a:solidFill>
                <a:latin typeface="Consolas"/>
              </a:rPr>
              <a:t> </a:t>
            </a:r>
            <a:r>
              <a:rPr sz="1900" i="0">
                <a:solidFill>
                  <a:srgbClr val="E8EDF2"/>
                </a:solidFill>
                <a:latin typeface="Consolas"/>
              </a:rPr>
              <a:t>--thin</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vol</a:t>
            </a:r>
            <a:r>
              <a:rPr sz="1900" i="0">
                <a:solidFill>
                  <a:srgbClr val="E8EDF2"/>
                </a:solidFill>
                <a:latin typeface="Consolas"/>
              </a:rPr>
              <a:t>$i</a:t>
            </a:r>
            <a:r>
              <a:rPr sz="1900" i="0">
                <a:solidFill>
                  <a:srgbClr val="7DCEA0"/>
                </a:solidFill>
                <a:latin typeface="Consolas"/>
              </a:rPr>
              <a:t>"</a:t>
            </a:r>
            <a:r>
              <a:rPr sz="1900" i="0">
                <a:solidFill>
                  <a:srgbClr val="E8EDF2"/>
                </a:solidFill>
                <a:latin typeface="Consolas"/>
              </a:rPr>
              <a:t> </a:t>
            </a:r>
            <a:r>
              <a:rPr sz="1900" i="0">
                <a:solidFill>
                  <a:srgbClr val="E8EDF2"/>
                </a:solidFill>
                <a:latin typeface="Consolas"/>
              </a:rPr>
              <a:t>vsvg/vspool</a:t>
            </a:r>
          </a:p>
          <a:p>
            <a:pPr>
              <a:lnSpc>
                <a:spcPct val="100000"/>
              </a:lnSpc>
              <a:spcAft>
                <a:spcPts val="0"/>
              </a:spcAft>
            </a:pPr>
            <a:r>
              <a:rPr sz="1900" i="0">
                <a:solidFill>
                  <a:srgbClr val="5DADE2"/>
                </a:solidFill>
                <a:latin typeface="Consolas"/>
              </a:rPr>
              <a:t>done</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lvs</a:t>
            </a:r>
            <a:r>
              <a:rPr sz="1900" i="0">
                <a:solidFill>
                  <a:srgbClr val="E8EDF2"/>
                </a:solidFill>
                <a:latin typeface="Consolas"/>
              </a:rPr>
              <a:t> </a:t>
            </a:r>
            <a:r>
              <a:rPr sz="1900" i="0">
                <a:solidFill>
                  <a:srgbClr val="E8EDF2"/>
                </a:solidFill>
                <a:latin typeface="Consolas"/>
              </a:rPr>
              <a:t>vsvg</a:t>
            </a:r>
            <a:r>
              <a:rPr sz="1900" i="0">
                <a:solidFill>
                  <a:srgbClr val="E8EDF2"/>
                </a:solidFill>
                <a:latin typeface="Consolas"/>
              </a:rPr>
              <a:t> </a:t>
            </a:r>
            <a:r>
              <a:rPr sz="1900" i="0">
                <a:solidFill>
                  <a:srgbClr val="E8EDF2"/>
                </a:solidFill>
                <a:latin typeface="Consolas"/>
              </a:rPr>
              <a:t>-o</a:t>
            </a:r>
            <a:r>
              <a:rPr sz="1900" i="0">
                <a:solidFill>
                  <a:srgbClr val="E8EDF2"/>
                </a:solidFill>
                <a:latin typeface="Consolas"/>
              </a:rPr>
              <a:t> </a:t>
            </a:r>
            <a:r>
              <a:rPr sz="1900" i="0">
                <a:solidFill>
                  <a:srgbClr val="E8EDF2"/>
                </a:solidFill>
                <a:latin typeface="Consolas"/>
              </a:rPr>
              <a:t>lv_name,lv_size,data_percent</a:t>
            </a:r>
          </a:p>
        </p:txBody>
      </p:sp>
      <p:sp>
        <p:nvSpPr>
          <p:cNvPr id="15" name="!!code-num"/>
          <p:cNvSpPr txBox="1"/>
          <p:nvPr/>
        </p:nvSpPr>
        <p:spPr>
          <a:xfrm>
            <a:off x="768096" y="2523744"/>
            <a:ext cx="393192" cy="300532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19</a:t>
            </a:r>
          </a:p>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a:p>
            <a:pPr algn="r">
              <a:lnSpc>
                <a:spcPct val="100000"/>
              </a:lnSpc>
            </a:pPr>
            <a:r>
              <a:rPr sz="1900">
                <a:solidFill>
                  <a:srgbClr val="4F5D6A"/>
                </a:solidFill>
                <a:latin typeface="Consolas"/>
              </a:rPr>
              <a:t>22</a:t>
            </a:r>
          </a:p>
          <a:p>
            <a:pPr algn="r">
              <a:lnSpc>
                <a:spcPct val="100000"/>
              </a:lnSpc>
            </a:pPr>
            <a:r>
              <a:rPr sz="1900">
                <a:solidFill>
                  <a:srgbClr val="4F5D6A"/>
                </a:solidFill>
                <a:latin typeface="Consolas"/>
              </a:rPr>
              <a:t>23</a:t>
            </a:r>
          </a:p>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a:p>
            <a:pPr algn="r">
              <a:lnSpc>
                <a:spcPct val="100000"/>
              </a:lnSpc>
            </a:pPr>
            <a:r>
              <a:rPr sz="1900">
                <a:solidFill>
                  <a:srgbClr val="4F5D6A"/>
                </a:solidFill>
                <a:latin typeface="Consolas"/>
              </a:rPr>
              <a:t>26</a:t>
            </a:r>
          </a:p>
          <a:p>
            <a:pPr algn="r">
              <a:lnSpc>
                <a:spcPct val="100000"/>
              </a:lnSpc>
            </a:pPr>
            <a:r>
              <a:rPr sz="1900">
                <a:solidFill>
                  <a:srgbClr val="4F5D6A"/>
                </a:solidFill>
                <a:latin typeface="Consolas"/>
              </a:rPr>
              <a:t>27</a:t>
            </a:r>
          </a:p>
          <a:p>
            <a:pPr algn="r">
              <a:lnSpc>
                <a:spcPct val="100000"/>
              </a:lnSpc>
            </a:pPr>
            <a:r>
              <a:rPr sz="1900">
                <a:solidFill>
                  <a:srgbClr val="4F5D6A"/>
                </a:solidFill>
                <a:latin typeface="Consolas"/>
              </a:rPr>
              <a:t>28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37172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Thin Pools, Snapshots and the Cliff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98     </a:t>
            </a:r>
            <a:fld id="{4AF82C10-BFB6-4C59-82FB-CF62FC43F87E}"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Put filesystems on them and write a little.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30424"/>
          </a:xfrm>
          <a:prstGeom prst="roundRect">
            <a:avLst>
              <a:gd name="adj" fmla="val 34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Put filesystems on them and write a little. ------------------- for i in 1 2 3 4; do sudo mkfs.ext4 -q &quot;/dev/vsvg/vol$i&quot; sudo mkdir -p &quot;/mnt/v$i&quot; &amp;&amp; sudo mount &quot;/dev/vsvg/vol$i&quot; &quot;/mnt/v$i&quot; sudo dd if=/dev/urandom of=&quot;/mnt/v$i/data&quot; bs=1M count=200 status=none done sudo lvs vsvg -o lv_name,data_percent # pool filling up"/>
          <p:cNvSpPr txBox="1"/>
          <p:nvPr/>
        </p:nvSpPr>
        <p:spPr>
          <a:xfrm>
            <a:off x="1362456" y="2523744"/>
            <a:ext cx="9987991" cy="213664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Put filesystems on them and write a little. -------------------</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5DADE2"/>
                </a:solidFill>
                <a:latin typeface="Consolas"/>
              </a:rPr>
              <a:t>in</a:t>
            </a:r>
            <a:r>
              <a:rPr sz="1900" i="0">
                <a:solidFill>
                  <a:srgbClr val="E8EDF2"/>
                </a:solidFill>
                <a:latin typeface="Consolas"/>
              </a:rPr>
              <a:t> </a:t>
            </a:r>
            <a:r>
              <a:rPr sz="1900" i="0">
                <a:solidFill>
                  <a:srgbClr val="F7DC6F"/>
                </a:solidFill>
                <a:latin typeface="Consolas"/>
              </a:rPr>
              <a:t>1</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F7DC6F"/>
                </a:solidFill>
                <a:latin typeface="Consolas"/>
              </a:rPr>
              <a:t>3</a:t>
            </a:r>
            <a:r>
              <a:rPr sz="1900" i="0">
                <a:solidFill>
                  <a:srgbClr val="E8EDF2"/>
                </a:solidFill>
                <a:latin typeface="Consolas"/>
              </a:rPr>
              <a:t> </a:t>
            </a:r>
            <a:r>
              <a:rPr sz="1900" i="0">
                <a:solidFill>
                  <a:srgbClr val="F7DC6F"/>
                </a:solidFill>
                <a:latin typeface="Consolas"/>
              </a:rPr>
              <a:t>4</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do</a:t>
            </a:r>
          </a:p>
          <a:p>
            <a:pPr>
              <a:lnSpc>
                <a:spcPct val="100000"/>
              </a:lnSpc>
              <a:spcAft>
                <a:spcPts val="0"/>
              </a:spcAft>
            </a:pP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mkfs.ext4</a:t>
            </a:r>
            <a:r>
              <a:rPr sz="1900" i="0">
                <a:solidFill>
                  <a:srgbClr val="E8EDF2"/>
                </a:solidFill>
                <a:latin typeface="Consolas"/>
              </a:rPr>
              <a:t> </a:t>
            </a:r>
            <a:r>
              <a:rPr sz="1900" i="0">
                <a:solidFill>
                  <a:srgbClr val="E8EDF2"/>
                </a:solidFill>
                <a:latin typeface="Consolas"/>
              </a:rPr>
              <a:t>-q</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/dev/vsvg/vol</a:t>
            </a:r>
            <a:r>
              <a:rPr sz="1900" i="0">
                <a:solidFill>
                  <a:srgbClr val="E8EDF2"/>
                </a:solidFill>
                <a:latin typeface="Consolas"/>
              </a:rPr>
              <a:t>$i</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mkdir</a:t>
            </a:r>
            <a:r>
              <a:rPr sz="1900" i="0">
                <a:solidFill>
                  <a:srgbClr val="E8EDF2"/>
                </a:solidFill>
                <a:latin typeface="Consolas"/>
              </a:rPr>
              <a:t> </a:t>
            </a:r>
            <a:r>
              <a:rPr sz="1900" i="0">
                <a:solidFill>
                  <a:srgbClr val="E8EDF2"/>
                </a:solidFill>
                <a:latin typeface="Consolas"/>
              </a:rPr>
              <a:t>-p</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/mnt/v</a:t>
            </a:r>
            <a:r>
              <a:rPr sz="1900" i="0">
                <a:solidFill>
                  <a:srgbClr val="E8EDF2"/>
                </a:solidFill>
                <a:latin typeface="Consolas"/>
              </a:rPr>
              <a:t>$i</a:t>
            </a:r>
            <a:r>
              <a:rPr sz="1900" i="0">
                <a:solidFill>
                  <a:srgbClr val="7DCEA0"/>
                </a:solidFill>
                <a:latin typeface="Consolas"/>
              </a:rPr>
              <a:t>"</a:t>
            </a:r>
            <a:r>
              <a:rPr sz="1900" i="0">
                <a:solidFill>
                  <a:srgbClr val="E8EDF2"/>
                </a:solidFill>
                <a:latin typeface="Consolas"/>
              </a:rPr>
              <a:t> </a:t>
            </a:r>
            <a:r>
              <a:rPr sz="1900" i="0">
                <a:solidFill>
                  <a:srgbClr val="AEB6BF"/>
                </a:solidFill>
                <a:latin typeface="Consolas"/>
              </a:rPr>
              <a:t>&amp;&amp;</a:t>
            </a: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mount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/dev/vsvg/vol</a:t>
            </a:r>
            <a:r>
              <a:rPr sz="1900" i="0">
                <a:solidFill>
                  <a:srgbClr val="E8EDF2"/>
                </a:solidFill>
                <a:latin typeface="Consolas"/>
              </a:rPr>
              <a:t>$i</a:t>
            </a:r>
            <a:r>
              <a:rPr sz="1900" i="0">
                <a:solidFill>
                  <a:srgbClr val="7DCEA0"/>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/mnt/v</a:t>
            </a:r>
            <a:r>
              <a:rPr sz="1900" i="0">
                <a:solidFill>
                  <a:srgbClr val="E8EDF2"/>
                </a:solidFill>
                <a:latin typeface="Consolas"/>
              </a:rPr>
              <a:t>$i</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dd</a:t>
            </a:r>
            <a:r>
              <a:rPr sz="1900" i="0">
                <a:solidFill>
                  <a:srgbClr val="E8EDF2"/>
                </a:solidFill>
                <a:latin typeface="Consolas"/>
              </a:rPr>
              <a:t> </a:t>
            </a:r>
            <a:r>
              <a:rPr sz="1900" i="0">
                <a:solidFill>
                  <a:srgbClr val="5DADE2"/>
                </a:solidFill>
                <a:latin typeface="Consolas"/>
              </a:rPr>
              <a:t>if</a:t>
            </a:r>
            <a:r>
              <a:rPr sz="1900" i="0">
                <a:solidFill>
                  <a:srgbClr val="AEB6BF"/>
                </a:solidFill>
                <a:latin typeface="Consolas"/>
              </a:rPr>
              <a:t>=</a:t>
            </a:r>
            <a:r>
              <a:rPr sz="1900" i="0">
                <a:solidFill>
                  <a:srgbClr val="E8EDF2"/>
                </a:solidFill>
                <a:latin typeface="Consolas"/>
              </a:rPr>
              <a:t>/dev/urandom</a:t>
            </a:r>
            <a:r>
              <a:rPr sz="1900" i="0">
                <a:solidFill>
                  <a:srgbClr val="E8EDF2"/>
                </a:solidFill>
                <a:latin typeface="Consolas"/>
              </a:rPr>
              <a:t> </a:t>
            </a:r>
            <a:r>
              <a:rPr sz="1900" i="0">
                <a:solidFill>
                  <a:srgbClr val="E8EDF2"/>
                </a:solidFill>
                <a:latin typeface="Consolas"/>
              </a:rPr>
              <a:t>of</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/mnt/v</a:t>
            </a:r>
            <a:r>
              <a:rPr sz="1900" i="0">
                <a:solidFill>
                  <a:srgbClr val="E8EDF2"/>
                </a:solidFill>
                <a:latin typeface="Consolas"/>
              </a:rPr>
              <a:t>$i</a:t>
            </a:r>
            <a:r>
              <a:rPr sz="1900" i="0">
                <a:solidFill>
                  <a:srgbClr val="7DCEA0"/>
                </a:solidFill>
                <a:latin typeface="Consolas"/>
              </a:rPr>
              <a:t>/data</a:t>
            </a:r>
            <a:r>
              <a:rPr sz="1900" i="0">
                <a:solidFill>
                  <a:srgbClr val="7DCEA0"/>
                </a:solidFill>
                <a:latin typeface="Consolas"/>
              </a:rPr>
              <a:t>"</a:t>
            </a:r>
            <a:r>
              <a:rPr sz="1900" i="0">
                <a:solidFill>
                  <a:srgbClr val="E8EDF2"/>
                </a:solidFill>
                <a:latin typeface="Consolas"/>
              </a:rPr>
              <a:t> </a:t>
            </a:r>
            <a:r>
              <a:rPr sz="1900" i="0">
                <a:solidFill>
                  <a:srgbClr val="E8EDF2"/>
                </a:solidFill>
                <a:latin typeface="Consolas"/>
              </a:rPr>
              <a:t>bs</a:t>
            </a:r>
            <a:r>
              <a:rPr sz="1900" i="0">
                <a:solidFill>
                  <a:srgbClr val="AEB6BF"/>
                </a:solidFill>
                <a:latin typeface="Consolas"/>
              </a:rPr>
              <a:t>=</a:t>
            </a:r>
            <a:r>
              <a:rPr sz="1900" i="0">
                <a:solidFill>
                  <a:srgbClr val="E8EDF2"/>
                </a:solidFill>
                <a:latin typeface="Consolas"/>
              </a:rPr>
              <a:t>1M</a:t>
            </a:r>
            <a:r>
              <a:rPr sz="1900" i="0">
                <a:solidFill>
                  <a:srgbClr val="E8EDF2"/>
                </a:solidFill>
                <a:latin typeface="Consolas"/>
              </a:rPr>
              <a:t> </a:t>
            </a:r>
            <a:r>
              <a:rPr sz="1900" i="0">
                <a:solidFill>
                  <a:srgbClr val="E8EDF2"/>
                </a:solidFill>
                <a:latin typeface="Consolas"/>
              </a:rPr>
              <a:t>count</a:t>
            </a:r>
            <a:r>
              <a:rPr sz="1900" i="0">
                <a:solidFill>
                  <a:srgbClr val="AEB6BF"/>
                </a:solidFill>
                <a:latin typeface="Consolas"/>
              </a:rPr>
              <a:t>=</a:t>
            </a:r>
            <a:r>
              <a:rPr sz="1900" i="0">
                <a:solidFill>
                  <a:srgbClr val="F7DC6F"/>
                </a:solidFill>
                <a:latin typeface="Consolas"/>
              </a:rPr>
              <a:t>200</a:t>
            </a:r>
            <a:r>
              <a:rPr sz="1900" i="0">
                <a:solidFill>
                  <a:srgbClr val="E8EDF2"/>
                </a:solidFill>
                <a:latin typeface="Consolas"/>
              </a:rPr>
              <a:t> </a:t>
            </a:r>
            <a:r>
              <a:rPr sz="1900" i="0">
                <a:solidFill>
                  <a:srgbClr val="E8EDF2"/>
                </a:solidFill>
                <a:latin typeface="Consolas"/>
              </a:rPr>
              <a:t>status</a:t>
            </a:r>
            <a:r>
              <a:rPr sz="1900" i="0">
                <a:solidFill>
                  <a:srgbClr val="AEB6BF"/>
                </a:solidFill>
                <a:latin typeface="Consolas"/>
              </a:rPr>
              <a:t>=</a:t>
            </a:r>
            <a:r>
              <a:rPr sz="1900" i="0">
                <a:solidFill>
                  <a:srgbClr val="E8EDF2"/>
                </a:solidFill>
                <a:latin typeface="Consolas"/>
              </a:rPr>
              <a:t>none</a:t>
            </a:r>
          </a:p>
          <a:p>
            <a:pPr>
              <a:lnSpc>
                <a:spcPct val="100000"/>
              </a:lnSpc>
              <a:spcAft>
                <a:spcPts val="0"/>
              </a:spcAft>
            </a:pPr>
            <a:r>
              <a:rPr sz="1900" i="0">
                <a:solidFill>
                  <a:srgbClr val="5DADE2"/>
                </a:solidFill>
                <a:latin typeface="Consolas"/>
              </a:rPr>
              <a:t>done</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lvs</a:t>
            </a:r>
            <a:r>
              <a:rPr sz="1900" i="0">
                <a:solidFill>
                  <a:srgbClr val="E8EDF2"/>
                </a:solidFill>
                <a:latin typeface="Consolas"/>
              </a:rPr>
              <a:t> </a:t>
            </a:r>
            <a:r>
              <a:rPr sz="1900" i="0">
                <a:solidFill>
                  <a:srgbClr val="E8EDF2"/>
                </a:solidFill>
                <a:latin typeface="Consolas"/>
              </a:rPr>
              <a:t>vsvg</a:t>
            </a:r>
            <a:r>
              <a:rPr sz="1900" i="0">
                <a:solidFill>
                  <a:srgbClr val="E8EDF2"/>
                </a:solidFill>
                <a:latin typeface="Consolas"/>
              </a:rPr>
              <a:t> </a:t>
            </a:r>
            <a:r>
              <a:rPr sz="1900" i="0">
                <a:solidFill>
                  <a:srgbClr val="E8EDF2"/>
                </a:solidFill>
                <a:latin typeface="Consolas"/>
              </a:rPr>
              <a:t>-o</a:t>
            </a:r>
            <a:r>
              <a:rPr sz="1900" i="0">
                <a:solidFill>
                  <a:srgbClr val="E8EDF2"/>
                </a:solidFill>
                <a:latin typeface="Consolas"/>
              </a:rPr>
              <a:t> </a:t>
            </a:r>
            <a:r>
              <a:rPr sz="1900" i="0">
                <a:solidFill>
                  <a:srgbClr val="E8EDF2"/>
                </a:solidFill>
                <a:latin typeface="Consolas"/>
              </a:rPr>
              <a:t>lv_name,data_percent</a:t>
            </a:r>
            <a:r>
              <a:rPr sz="1900" i="0">
                <a:solidFill>
                  <a:srgbClr val="E8EDF2"/>
                </a:solidFill>
                <a:latin typeface="Consolas"/>
              </a:rPr>
              <a:t>    </a:t>
            </a:r>
            <a:r>
              <a:rPr sz="1900" i="1">
                <a:solidFill>
                  <a:srgbClr val="8795A1"/>
                </a:solidFill>
                <a:latin typeface="Consolas"/>
              </a:rPr>
              <a:t># pool filling up</a:t>
            </a:r>
          </a:p>
        </p:txBody>
      </p:sp>
      <p:sp>
        <p:nvSpPr>
          <p:cNvPr id="15" name="!!code-num"/>
          <p:cNvSpPr txBox="1"/>
          <p:nvPr/>
        </p:nvSpPr>
        <p:spPr>
          <a:xfrm>
            <a:off x="768096" y="2523744"/>
            <a:ext cx="393192" cy="213664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30</a:t>
            </a:r>
          </a:p>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a:p>
            <a:pPr algn="r">
              <a:lnSpc>
                <a:spcPct val="100000"/>
              </a:lnSpc>
            </a:pPr>
            <a:r>
              <a:rPr sz="1900">
                <a:solidFill>
                  <a:srgbClr val="4F5D6A"/>
                </a:solidFill>
                <a:latin typeface="Consolas"/>
              </a:rPr>
              <a:t>33</a:t>
            </a:r>
          </a:p>
          <a:p>
            <a:pPr algn="r">
              <a:lnSpc>
                <a:spcPct val="100000"/>
              </a:lnSpc>
            </a:pPr>
            <a:r>
              <a:rPr sz="1900">
                <a:solidFill>
                  <a:srgbClr val="4F5D6A"/>
                </a:solidFill>
                <a:latin typeface="Consolas"/>
              </a:rPr>
              <a:t>34</a:t>
            </a:r>
          </a:p>
          <a:p>
            <a:pPr algn="r">
              <a:lnSpc>
                <a:spcPct val="100000"/>
              </a:lnSpc>
            </a:pPr>
            <a:r>
              <a:rPr sz="1900">
                <a:solidFill>
                  <a:srgbClr val="4F5D6A"/>
                </a:solidFill>
                <a:latin typeface="Consolas"/>
              </a:rPr>
              <a:t>35</a:t>
            </a:r>
          </a:p>
          <a:p>
            <a:pPr algn="r">
              <a:lnSpc>
                <a:spcPct val="100000"/>
              </a:lnSpc>
            </a:pPr>
            <a:r>
              <a:rPr sz="1900">
                <a:solidFill>
                  <a:srgbClr val="4F5D6A"/>
                </a:solidFill>
                <a:latin typeface="Consolas"/>
              </a:rPr>
              <a:t>36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5525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Thin Pools, Snapshots and the Cliff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98     </a:t>
            </a:r>
            <a:fld id="{F3089479-9703-41EA-A584-CDE8B995A9FB}"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Now walk off the cliff.</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49424"/>
          </a:xfrm>
          <a:prstGeom prst="roundRect">
            <a:avLst>
              <a:gd name="adj" fmla="val 406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Now walk off the cliff. --------------------------------------- # Keep writing until the pool cannot satisfy a write. sudo dd if=/dev/urandom of=/mnt/v1/more bs=1M count=900 || \ echo &quot;write failed -- the pool is full&quot; dmesg | tail -5 | grep -iE 'thin|read-only|I/O error' || true mount | grep -E '/mnt/v[0-9]' # look for &quot;ro&quot; on several at once"/>
          <p:cNvSpPr txBox="1"/>
          <p:nvPr/>
        </p:nvSpPr>
        <p:spPr>
          <a:xfrm>
            <a:off x="1362456" y="2523744"/>
            <a:ext cx="9987991" cy="17556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--- 5. Now walk off the cliff. ---------------------------------------</a:t>
            </a:r>
          </a:p>
          <a:p>
            <a:pPr>
              <a:lnSpc>
                <a:spcPct val="100000"/>
              </a:lnSpc>
              <a:spcAft>
                <a:spcPts val="0"/>
              </a:spcAft>
            </a:pPr>
            <a:r>
              <a:rPr sz="1800" i="1">
                <a:solidFill>
                  <a:srgbClr val="8795A1"/>
                </a:solidFill>
                <a:latin typeface="Consolas"/>
              </a:rPr>
              <a:t># Keep writing until the pool cannot satisfy a write.</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dd</a:t>
            </a:r>
            <a:r>
              <a:rPr sz="1800" i="0">
                <a:solidFill>
                  <a:srgbClr val="E8EDF2"/>
                </a:solidFill>
                <a:latin typeface="Consolas"/>
              </a:rPr>
              <a:t> </a:t>
            </a:r>
            <a:r>
              <a:rPr sz="1800" i="0">
                <a:solidFill>
                  <a:srgbClr val="5DADE2"/>
                </a:solidFill>
                <a:latin typeface="Consolas"/>
              </a:rPr>
              <a:t>if</a:t>
            </a:r>
            <a:r>
              <a:rPr sz="1800" i="0">
                <a:solidFill>
                  <a:srgbClr val="AEB6BF"/>
                </a:solidFill>
                <a:latin typeface="Consolas"/>
              </a:rPr>
              <a:t>=</a:t>
            </a:r>
            <a:r>
              <a:rPr sz="1800" i="0">
                <a:solidFill>
                  <a:srgbClr val="E8EDF2"/>
                </a:solidFill>
                <a:latin typeface="Consolas"/>
              </a:rPr>
              <a:t>/dev/urandom</a:t>
            </a:r>
            <a:r>
              <a:rPr sz="1800" i="0">
                <a:solidFill>
                  <a:srgbClr val="E8EDF2"/>
                </a:solidFill>
                <a:latin typeface="Consolas"/>
              </a:rPr>
              <a:t> </a:t>
            </a:r>
            <a:r>
              <a:rPr sz="1800" i="0">
                <a:solidFill>
                  <a:srgbClr val="E8EDF2"/>
                </a:solidFill>
                <a:latin typeface="Consolas"/>
              </a:rPr>
              <a:t>of</a:t>
            </a:r>
            <a:r>
              <a:rPr sz="1800" i="0">
                <a:solidFill>
                  <a:srgbClr val="AEB6BF"/>
                </a:solidFill>
                <a:latin typeface="Consolas"/>
              </a:rPr>
              <a:t>=</a:t>
            </a:r>
            <a:r>
              <a:rPr sz="1800" i="0">
                <a:solidFill>
                  <a:srgbClr val="E8EDF2"/>
                </a:solidFill>
                <a:latin typeface="Consolas"/>
              </a:rPr>
              <a:t>/mnt/v1/more</a:t>
            </a:r>
            <a:r>
              <a:rPr sz="1800" i="0">
                <a:solidFill>
                  <a:srgbClr val="E8EDF2"/>
                </a:solidFill>
                <a:latin typeface="Consolas"/>
              </a:rPr>
              <a:t> </a:t>
            </a:r>
            <a:r>
              <a:rPr sz="1800" i="0">
                <a:solidFill>
                  <a:srgbClr val="E8EDF2"/>
                </a:solidFill>
                <a:latin typeface="Consolas"/>
              </a:rPr>
              <a:t>bs</a:t>
            </a:r>
            <a:r>
              <a:rPr sz="1800" i="0">
                <a:solidFill>
                  <a:srgbClr val="AEB6BF"/>
                </a:solidFill>
                <a:latin typeface="Consolas"/>
              </a:rPr>
              <a:t>=</a:t>
            </a:r>
            <a:r>
              <a:rPr sz="1800" i="0">
                <a:solidFill>
                  <a:srgbClr val="E8EDF2"/>
                </a:solidFill>
                <a:latin typeface="Consolas"/>
              </a:rPr>
              <a:t>1M</a:t>
            </a:r>
            <a:r>
              <a:rPr sz="1800" i="0">
                <a:solidFill>
                  <a:srgbClr val="E8EDF2"/>
                </a:solidFill>
                <a:latin typeface="Consolas"/>
              </a:rPr>
              <a:t> </a:t>
            </a:r>
            <a:r>
              <a:rPr sz="1800" i="0">
                <a:solidFill>
                  <a:srgbClr val="E8EDF2"/>
                </a:solidFill>
                <a:latin typeface="Consolas"/>
              </a:rPr>
              <a:t>count</a:t>
            </a:r>
            <a:r>
              <a:rPr sz="1800" i="0">
                <a:solidFill>
                  <a:srgbClr val="AEB6BF"/>
                </a:solidFill>
                <a:latin typeface="Consolas"/>
              </a:rPr>
              <a:t>=</a:t>
            </a:r>
            <a:r>
              <a:rPr sz="1800" i="0">
                <a:solidFill>
                  <a:srgbClr val="F7DC6F"/>
                </a:solidFill>
                <a:latin typeface="Consolas"/>
              </a:rPr>
              <a:t>900</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"write failed -- the pool is full"</a:t>
            </a:r>
          </a:p>
          <a:p>
            <a:pPr>
              <a:lnSpc>
                <a:spcPct val="100000"/>
              </a:lnSpc>
              <a:spcAft>
                <a:spcPts val="0"/>
              </a:spcAft>
            </a:pPr>
            <a:r>
              <a:rPr sz="1800" i="0">
                <a:solidFill>
                  <a:srgbClr val="E8EDF2"/>
                </a:solidFill>
                <a:latin typeface="Consolas"/>
              </a:rPr>
              <a:t>dmesg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tail</a:t>
            </a:r>
            <a:r>
              <a:rPr sz="1800" i="0">
                <a:solidFill>
                  <a:srgbClr val="E8EDF2"/>
                </a:solidFill>
                <a:latin typeface="Consolas"/>
              </a:rPr>
              <a:t> </a:t>
            </a:r>
            <a:r>
              <a:rPr sz="1800" i="0">
                <a:solidFill>
                  <a:srgbClr val="E8EDF2"/>
                </a:solidFill>
                <a:latin typeface="Consolas"/>
              </a:rPr>
              <a:t>-5</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grep</a:t>
            </a:r>
            <a:r>
              <a:rPr sz="1800" i="0">
                <a:solidFill>
                  <a:srgbClr val="E8EDF2"/>
                </a:solidFill>
                <a:latin typeface="Consolas"/>
              </a:rPr>
              <a:t> </a:t>
            </a:r>
            <a:r>
              <a:rPr sz="1800" i="0">
                <a:solidFill>
                  <a:srgbClr val="E8EDF2"/>
                </a:solidFill>
                <a:latin typeface="Consolas"/>
              </a:rPr>
              <a:t>-iE</a:t>
            </a:r>
            <a:r>
              <a:rPr sz="1800" i="0">
                <a:solidFill>
                  <a:srgbClr val="E8EDF2"/>
                </a:solidFill>
                <a:latin typeface="Consolas"/>
              </a:rPr>
              <a:t> </a:t>
            </a:r>
            <a:r>
              <a:rPr sz="1800" i="0">
                <a:solidFill>
                  <a:srgbClr val="7DCEA0"/>
                </a:solidFill>
                <a:latin typeface="Consolas"/>
              </a:rPr>
              <a:t>'thin|read-only|I/O error'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a:p>
            <a:pPr>
              <a:lnSpc>
                <a:spcPct val="100000"/>
              </a:lnSpc>
              <a:spcAft>
                <a:spcPts val="0"/>
              </a:spcAft>
            </a:pPr>
            <a:r>
              <a:rPr sz="1800" i="0">
                <a:solidFill>
                  <a:srgbClr val="E8EDF2"/>
                </a:solidFill>
                <a:latin typeface="Consolas"/>
              </a:rPr>
              <a:t>mount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grep</a:t>
            </a:r>
            <a:r>
              <a:rPr sz="1800" i="0">
                <a:solidFill>
                  <a:srgbClr val="E8EDF2"/>
                </a:solidFill>
                <a:latin typeface="Consolas"/>
              </a:rPr>
              <a:t> </a:t>
            </a:r>
            <a:r>
              <a:rPr sz="1800" i="0">
                <a:solidFill>
                  <a:srgbClr val="E8EDF2"/>
                </a:solidFill>
                <a:latin typeface="Consolas"/>
              </a:rPr>
              <a:t>-E</a:t>
            </a:r>
            <a:r>
              <a:rPr sz="1800" i="0">
                <a:solidFill>
                  <a:srgbClr val="E8EDF2"/>
                </a:solidFill>
                <a:latin typeface="Consolas"/>
              </a:rPr>
              <a:t> </a:t>
            </a:r>
            <a:r>
              <a:rPr sz="1800" i="0">
                <a:solidFill>
                  <a:srgbClr val="7DCEA0"/>
                </a:solidFill>
                <a:latin typeface="Consolas"/>
              </a:rPr>
              <a:t>'/mnt/v[0-9]'</a:t>
            </a:r>
            <a:r>
              <a:rPr sz="1800" i="0">
                <a:solidFill>
                  <a:srgbClr val="E8EDF2"/>
                </a:solidFill>
                <a:latin typeface="Consolas"/>
              </a:rPr>
              <a:t>            </a:t>
            </a:r>
            <a:r>
              <a:rPr sz="1800" i="1">
                <a:solidFill>
                  <a:srgbClr val="8795A1"/>
                </a:solidFill>
                <a:latin typeface="Consolas"/>
              </a:rPr>
              <a:t># look for "ro" on several at once</a:t>
            </a:r>
          </a:p>
        </p:txBody>
      </p:sp>
      <p:sp>
        <p:nvSpPr>
          <p:cNvPr id="15" name="!!code-num"/>
          <p:cNvSpPr txBox="1"/>
          <p:nvPr/>
        </p:nvSpPr>
        <p:spPr>
          <a:xfrm>
            <a:off x="768096" y="2523744"/>
            <a:ext cx="393192" cy="17556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38</a:t>
            </a:r>
          </a:p>
          <a:p>
            <a:pPr algn="r">
              <a:lnSpc>
                <a:spcPct val="100000"/>
              </a:lnSpc>
            </a:pPr>
            <a:r>
              <a:rPr sz="1800">
                <a:solidFill>
                  <a:srgbClr val="4F5D6A"/>
                </a:solidFill>
                <a:latin typeface="Consolas"/>
              </a:rPr>
              <a:t>39</a:t>
            </a:r>
          </a:p>
          <a:p>
            <a:pPr algn="r">
              <a:lnSpc>
                <a:spcPct val="100000"/>
              </a:lnSpc>
            </a:pPr>
            <a:r>
              <a:rPr sz="1800">
                <a:solidFill>
                  <a:srgbClr val="4F5D6A"/>
                </a:solidFill>
                <a:latin typeface="Consolas"/>
              </a:rPr>
              <a:t>40</a:t>
            </a:r>
          </a:p>
          <a:p>
            <a:pPr algn="r">
              <a:lnSpc>
                <a:spcPct val="100000"/>
              </a:lnSpc>
            </a:pPr>
            <a:r>
              <a:rPr sz="1800">
                <a:solidFill>
                  <a:srgbClr val="4F5D6A"/>
                </a:solidFill>
                <a:latin typeface="Consolas"/>
              </a:rPr>
              <a:t>41</a:t>
            </a:r>
          </a:p>
          <a:p>
            <a:pPr algn="r">
              <a:lnSpc>
                <a:spcPct val="100000"/>
              </a:lnSpc>
            </a:pPr>
            <a:r>
              <a:rPr sz="1800">
                <a:solidFill>
                  <a:srgbClr val="4F5D6A"/>
                </a:solidFill>
                <a:latin typeface="Consolas"/>
              </a:rPr>
              <a:t>42</a:t>
            </a:r>
          </a:p>
          <a:p>
            <a:pPr algn="r">
              <a:lnSpc>
                <a:spcPct val="100000"/>
              </a:lnSpc>
            </a:pPr>
            <a:r>
              <a:rPr sz="1800">
                <a:solidFill>
                  <a:srgbClr val="4F5D6A"/>
                </a:solidFill>
                <a:latin typeface="Consolas"/>
              </a:rPr>
              <a:t>43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3877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Thin Pools, Snapshots and the Cliff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98     </a:t>
            </a:r>
            <a:fld id="{28E57319-EC44-4642-BFE3-913968B0D7F5}"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Snapshots and read amplification.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499103"/>
          </a:xfrm>
          <a:prstGeom prst="roundRect">
            <a:avLst>
              <a:gd name="adj" fmla="val 26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Snapshots and read amplification. ----------------------------- cd /tmp qemu-img create -f qcow2 base.qcow2 1G sudo modprobe nbd max_part=8 || true for n in $(seq 1 8); do qemu-img create -f qcow2 -b &quot;$( [ $n -eq 1 ] &amp;&amp; echo base.qcow2 \ || echo &quot;snap$((n-1)).qcow2&quot; )&quot; -F qcow2 &quot;snap$n.qcow2&quot; done qemu-img info --backing-chain snap8.qcow2 | grep -c '^image:' # Eight files, every one of which is required to read the newest."/>
          <p:cNvSpPr txBox="1"/>
          <p:nvPr/>
        </p:nvSpPr>
        <p:spPr>
          <a:xfrm>
            <a:off x="1362456" y="2523744"/>
            <a:ext cx="9987991" cy="300532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Snapshots and read amplification. -----------------------------</a:t>
            </a:r>
          </a:p>
          <a:p>
            <a:pPr>
              <a:lnSpc>
                <a:spcPct val="100000"/>
              </a:lnSpc>
              <a:spcAft>
                <a:spcPts val="0"/>
              </a:spcAft>
            </a:pPr>
            <a:r>
              <a:rPr sz="1900" i="0">
                <a:solidFill>
                  <a:srgbClr val="C39BD3"/>
                </a:solidFill>
                <a:latin typeface="Consolas"/>
              </a:rPr>
              <a:t>cd</a:t>
            </a:r>
            <a:r>
              <a:rPr sz="1900" i="0">
                <a:solidFill>
                  <a:srgbClr val="E8EDF2"/>
                </a:solidFill>
                <a:latin typeface="Consolas"/>
              </a:rPr>
              <a:t> </a:t>
            </a:r>
            <a:r>
              <a:rPr sz="1900" i="0">
                <a:solidFill>
                  <a:srgbClr val="E8EDF2"/>
                </a:solidFill>
                <a:latin typeface="Consolas"/>
              </a:rPr>
              <a:t>/tmp</a:t>
            </a:r>
          </a:p>
          <a:p>
            <a:pPr>
              <a:lnSpc>
                <a:spcPct val="100000"/>
              </a:lnSpc>
              <a:spcAft>
                <a:spcPts val="0"/>
              </a:spcAft>
            </a:pPr>
            <a:r>
              <a:rPr sz="1900" i="0">
                <a:solidFill>
                  <a:srgbClr val="E8EDF2"/>
                </a:solidFill>
                <a:latin typeface="Consolas"/>
              </a:rPr>
              <a:t>qemu-img</a:t>
            </a:r>
            <a:r>
              <a:rPr sz="1900" i="0">
                <a:solidFill>
                  <a:srgbClr val="E8EDF2"/>
                </a:solidFill>
                <a:latin typeface="Consolas"/>
              </a:rPr>
              <a:t> </a:t>
            </a:r>
            <a:r>
              <a:rPr sz="1900" i="0">
                <a:solidFill>
                  <a:srgbClr val="E8EDF2"/>
                </a:solidFill>
                <a:latin typeface="Consolas"/>
              </a:rPr>
              <a:t>create</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E8EDF2"/>
                </a:solidFill>
                <a:latin typeface="Consolas"/>
              </a:rPr>
              <a:t>qcow2</a:t>
            </a:r>
            <a:r>
              <a:rPr sz="1900" i="0">
                <a:solidFill>
                  <a:srgbClr val="E8EDF2"/>
                </a:solidFill>
                <a:latin typeface="Consolas"/>
              </a:rPr>
              <a:t> </a:t>
            </a:r>
            <a:r>
              <a:rPr sz="1900" i="0">
                <a:solidFill>
                  <a:srgbClr val="E8EDF2"/>
                </a:solidFill>
                <a:latin typeface="Consolas"/>
              </a:rPr>
              <a:t>base.qcow2</a:t>
            </a:r>
            <a:r>
              <a:rPr sz="1900" i="0">
                <a:solidFill>
                  <a:srgbClr val="E8EDF2"/>
                </a:solidFill>
                <a:latin typeface="Consolas"/>
              </a:rPr>
              <a:t> </a:t>
            </a:r>
            <a:r>
              <a:rPr sz="1900" i="0">
                <a:solidFill>
                  <a:srgbClr val="E8EDF2"/>
                </a:solidFill>
                <a:latin typeface="Consolas"/>
              </a:rPr>
              <a:t>1G</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modprobe</a:t>
            </a:r>
            <a:r>
              <a:rPr sz="1900" i="0">
                <a:solidFill>
                  <a:srgbClr val="E8EDF2"/>
                </a:solidFill>
                <a:latin typeface="Consolas"/>
              </a:rPr>
              <a:t> </a:t>
            </a:r>
            <a:r>
              <a:rPr sz="1900" i="0">
                <a:solidFill>
                  <a:srgbClr val="E8EDF2"/>
                </a:solidFill>
                <a:latin typeface="Consolas"/>
              </a:rPr>
              <a:t>nbd</a:t>
            </a:r>
            <a:r>
              <a:rPr sz="1900" i="0">
                <a:solidFill>
                  <a:srgbClr val="E8EDF2"/>
                </a:solidFill>
                <a:latin typeface="Consolas"/>
              </a:rPr>
              <a:t> </a:t>
            </a:r>
            <a:r>
              <a:rPr sz="1900" i="0">
                <a:solidFill>
                  <a:srgbClr val="E8EDF2"/>
                </a:solidFill>
                <a:latin typeface="Consolas"/>
              </a:rPr>
              <a:t>max_part</a:t>
            </a:r>
            <a:r>
              <a:rPr sz="1900" i="0">
                <a:solidFill>
                  <a:srgbClr val="AEB6BF"/>
                </a:solidFill>
                <a:latin typeface="Consolas"/>
              </a:rPr>
              <a:t>=</a:t>
            </a:r>
            <a:r>
              <a:rPr sz="1900" i="0">
                <a:solidFill>
                  <a:srgbClr val="F7DC6F"/>
                </a:solidFill>
                <a:latin typeface="Consolas"/>
              </a:rPr>
              <a:t>8</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5DADE2"/>
                </a:solidFill>
                <a:latin typeface="Consolas"/>
              </a:rPr>
              <a:t>in</a:t>
            </a:r>
            <a:r>
              <a:rPr sz="1900" i="0">
                <a:solidFill>
                  <a:srgbClr val="E8EDF2"/>
                </a:solidFill>
                <a:latin typeface="Consolas"/>
              </a:rPr>
              <a:t> </a:t>
            </a:r>
            <a:r>
              <a:rPr sz="1900" i="0">
                <a:solidFill>
                  <a:srgbClr val="5DADE2"/>
                </a:solidFill>
                <a:latin typeface="Consolas"/>
              </a:rPr>
              <a:t>$(</a:t>
            </a:r>
            <a:r>
              <a:rPr sz="1900" i="0">
                <a:solidFill>
                  <a:srgbClr val="E8EDF2"/>
                </a:solidFill>
                <a:latin typeface="Consolas"/>
              </a:rPr>
              <a:t>seq</a:t>
            </a:r>
            <a:r>
              <a:rPr sz="1900" i="0">
                <a:solidFill>
                  <a:srgbClr val="E8EDF2"/>
                </a:solidFill>
                <a:latin typeface="Consolas"/>
              </a:rPr>
              <a:t> </a:t>
            </a:r>
            <a:r>
              <a:rPr sz="1900" i="0">
                <a:solidFill>
                  <a:srgbClr val="F7DC6F"/>
                </a:solidFill>
                <a:latin typeface="Consolas"/>
              </a:rPr>
              <a:t>1</a:t>
            </a:r>
            <a:r>
              <a:rPr sz="1900" i="0">
                <a:solidFill>
                  <a:srgbClr val="E8EDF2"/>
                </a:solidFill>
                <a:latin typeface="Consolas"/>
              </a:rPr>
              <a:t> </a:t>
            </a:r>
            <a:r>
              <a:rPr sz="1900" i="0">
                <a:solidFill>
                  <a:srgbClr val="F7DC6F"/>
                </a:solidFill>
                <a:latin typeface="Consolas"/>
              </a:rPr>
              <a:t>8</a:t>
            </a:r>
            <a:r>
              <a:rPr sz="1900" i="0">
                <a:solidFill>
                  <a:srgbClr val="5DADE2"/>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do</a:t>
            </a:r>
          </a:p>
          <a:p>
            <a:pPr>
              <a:lnSpc>
                <a:spcPct val="100000"/>
              </a:lnSpc>
              <a:spcAft>
                <a:spcPts val="0"/>
              </a:spcAft>
            </a:pPr>
            <a:r>
              <a:rPr sz="1900" i="0">
                <a:solidFill>
                  <a:srgbClr val="E8EDF2"/>
                </a:solidFill>
                <a:latin typeface="Consolas"/>
              </a:rPr>
              <a:t>  </a:t>
            </a:r>
            <a:r>
              <a:rPr sz="1900" i="0">
                <a:solidFill>
                  <a:srgbClr val="E8EDF2"/>
                </a:solidFill>
                <a:latin typeface="Consolas"/>
              </a:rPr>
              <a:t>qemu-img</a:t>
            </a:r>
            <a:r>
              <a:rPr sz="1900" i="0">
                <a:solidFill>
                  <a:srgbClr val="E8EDF2"/>
                </a:solidFill>
                <a:latin typeface="Consolas"/>
              </a:rPr>
              <a:t> </a:t>
            </a:r>
            <a:r>
              <a:rPr sz="1900" i="0">
                <a:solidFill>
                  <a:srgbClr val="E8EDF2"/>
                </a:solidFill>
                <a:latin typeface="Consolas"/>
              </a:rPr>
              <a:t>create</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E8EDF2"/>
                </a:solidFill>
                <a:latin typeface="Consolas"/>
              </a:rPr>
              <a:t>qcow2</a:t>
            </a:r>
            <a:r>
              <a:rPr sz="1900" i="0">
                <a:solidFill>
                  <a:srgbClr val="E8EDF2"/>
                </a:solidFill>
                <a:latin typeface="Consolas"/>
              </a:rPr>
              <a:t> </a:t>
            </a:r>
            <a:r>
              <a:rPr sz="1900" i="0">
                <a:solidFill>
                  <a:srgbClr val="E8EDF2"/>
                </a:solidFill>
                <a:latin typeface="Consolas"/>
              </a:rPr>
              <a:t>-b</a:t>
            </a:r>
            <a:r>
              <a:rPr sz="1900" i="0">
                <a:solidFill>
                  <a:srgbClr val="E8EDF2"/>
                </a:solidFill>
                <a:latin typeface="Consolas"/>
              </a:rPr>
              <a:t> </a:t>
            </a:r>
            <a:r>
              <a:rPr sz="1900" i="0">
                <a:solidFill>
                  <a:srgbClr val="7DCEA0"/>
                </a:solidFill>
                <a:latin typeface="Consolas"/>
              </a:rPr>
              <a:t>"</a:t>
            </a:r>
            <a:r>
              <a:rPr sz="1900" i="0">
                <a:solidFill>
                  <a:srgbClr val="5DADE2"/>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E8EDF2"/>
                </a:solidFill>
                <a:latin typeface="Consolas"/>
              </a:rPr>
              <a:t>-eq</a:t>
            </a:r>
            <a:r>
              <a:rPr sz="1900" i="0">
                <a:solidFill>
                  <a:srgbClr val="E8EDF2"/>
                </a:solidFill>
                <a:latin typeface="Consolas"/>
              </a:rPr>
              <a:t> </a:t>
            </a:r>
            <a:r>
              <a:rPr sz="1900" i="0">
                <a:solidFill>
                  <a:srgbClr val="F7DC6F"/>
                </a:solidFill>
                <a:latin typeface="Consolas"/>
              </a:rPr>
              <a:t>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&amp;&amp;</a:t>
            </a: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E8EDF2"/>
                </a:solidFill>
                <a:latin typeface="Consolas"/>
              </a:rPr>
              <a:t>base.qcow2</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snap</a:t>
            </a:r>
            <a:r>
              <a:rPr sz="1900" i="0">
                <a:solidFill>
                  <a:srgbClr val="5DADE2"/>
                </a:solidFill>
                <a:latin typeface="Consolas"/>
              </a:rPr>
              <a:t>$((</a:t>
            </a:r>
            <a:r>
              <a:rPr sz="1900" i="0">
                <a:solidFill>
                  <a:srgbClr val="E8EDF2"/>
                </a:solidFill>
                <a:latin typeface="Consolas"/>
              </a:rPr>
              <a:t>n</a:t>
            </a:r>
            <a:r>
              <a:rPr sz="1900" i="0">
                <a:solidFill>
                  <a:srgbClr val="AEB6BF"/>
                </a:solidFill>
                <a:latin typeface="Consolas"/>
              </a:rPr>
              <a:t>-</a:t>
            </a:r>
            <a:r>
              <a:rPr sz="1900" i="0">
                <a:solidFill>
                  <a:srgbClr val="F7DC6F"/>
                </a:solidFill>
                <a:latin typeface="Consolas"/>
              </a:rPr>
              <a:t>1</a:t>
            </a:r>
            <a:r>
              <a:rPr sz="1900" i="0">
                <a:solidFill>
                  <a:srgbClr val="5DADE2"/>
                </a:solidFill>
                <a:latin typeface="Consolas"/>
              </a:rPr>
              <a:t>))</a:t>
            </a:r>
            <a:r>
              <a:rPr sz="1900" i="0">
                <a:solidFill>
                  <a:srgbClr val="7DCEA0"/>
                </a:solidFill>
                <a:latin typeface="Consolas"/>
              </a:rPr>
              <a:t>.qcow2</a:t>
            </a:r>
            <a:r>
              <a:rPr sz="1900" i="0">
                <a:solidFill>
                  <a:srgbClr val="7DCEA0"/>
                </a:solidFill>
                <a:latin typeface="Consolas"/>
              </a:rPr>
              <a:t>"</a:t>
            </a:r>
            <a:r>
              <a:rPr sz="1900" i="0">
                <a:solidFill>
                  <a:srgbClr val="E8EDF2"/>
                </a:solidFill>
                <a:latin typeface="Consolas"/>
              </a:rPr>
              <a:t> </a:t>
            </a:r>
            <a:r>
              <a:rPr sz="1900" i="0">
                <a:solidFill>
                  <a:srgbClr val="5DADE2"/>
                </a:solidFill>
                <a:latin typeface="Consolas"/>
              </a:rPr>
              <a:t>)</a:t>
            </a:r>
            <a:r>
              <a:rPr sz="1900" i="0">
                <a:solidFill>
                  <a:srgbClr val="7DCEA0"/>
                </a:solidFill>
                <a:latin typeface="Consolas"/>
              </a:rPr>
              <a:t>"</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E8EDF2"/>
                </a:solidFill>
                <a:latin typeface="Consolas"/>
              </a:rPr>
              <a:t>qcow2</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snap</a:t>
            </a:r>
            <a:r>
              <a:rPr sz="1900" i="0">
                <a:solidFill>
                  <a:srgbClr val="E8EDF2"/>
                </a:solidFill>
                <a:latin typeface="Consolas"/>
              </a:rPr>
              <a:t>$n</a:t>
            </a:r>
            <a:r>
              <a:rPr sz="1900" i="0">
                <a:solidFill>
                  <a:srgbClr val="7DCEA0"/>
                </a:solidFill>
                <a:latin typeface="Consolas"/>
              </a:rPr>
              <a:t>.qcow2</a:t>
            </a:r>
            <a:r>
              <a:rPr sz="1900" i="0">
                <a:solidFill>
                  <a:srgbClr val="7DCEA0"/>
                </a:solidFill>
                <a:latin typeface="Consolas"/>
              </a:rPr>
              <a:t>"</a:t>
            </a:r>
          </a:p>
          <a:p>
            <a:pPr>
              <a:lnSpc>
                <a:spcPct val="100000"/>
              </a:lnSpc>
              <a:spcAft>
                <a:spcPts val="0"/>
              </a:spcAft>
            </a:pPr>
            <a:r>
              <a:rPr sz="1900" i="0">
                <a:solidFill>
                  <a:srgbClr val="5DADE2"/>
                </a:solidFill>
                <a:latin typeface="Consolas"/>
              </a:rPr>
              <a:t>done</a:t>
            </a:r>
          </a:p>
          <a:p>
            <a:pPr>
              <a:lnSpc>
                <a:spcPct val="100000"/>
              </a:lnSpc>
              <a:spcAft>
                <a:spcPts val="0"/>
              </a:spcAft>
            </a:pPr>
            <a:r>
              <a:rPr sz="1900" i="0">
                <a:solidFill>
                  <a:srgbClr val="E8EDF2"/>
                </a:solidFill>
                <a:latin typeface="Consolas"/>
              </a:rPr>
              <a:t>qemu-img</a:t>
            </a:r>
            <a:r>
              <a:rPr sz="1900" i="0">
                <a:solidFill>
                  <a:srgbClr val="E8EDF2"/>
                </a:solidFill>
                <a:latin typeface="Consolas"/>
              </a:rPr>
              <a:t> </a:t>
            </a:r>
            <a:r>
              <a:rPr sz="1900" i="0">
                <a:solidFill>
                  <a:srgbClr val="E8EDF2"/>
                </a:solidFill>
                <a:latin typeface="Consolas"/>
              </a:rPr>
              <a:t>info</a:t>
            </a:r>
            <a:r>
              <a:rPr sz="1900" i="0">
                <a:solidFill>
                  <a:srgbClr val="E8EDF2"/>
                </a:solidFill>
                <a:latin typeface="Consolas"/>
              </a:rPr>
              <a:t> </a:t>
            </a:r>
            <a:r>
              <a:rPr sz="1900" i="0">
                <a:solidFill>
                  <a:srgbClr val="E8EDF2"/>
                </a:solidFill>
                <a:latin typeface="Consolas"/>
              </a:rPr>
              <a:t>--backing-chain</a:t>
            </a:r>
            <a:r>
              <a:rPr sz="1900" i="0">
                <a:solidFill>
                  <a:srgbClr val="E8EDF2"/>
                </a:solidFill>
                <a:latin typeface="Consolas"/>
              </a:rPr>
              <a:t> </a:t>
            </a:r>
            <a:r>
              <a:rPr sz="1900" i="0">
                <a:solidFill>
                  <a:srgbClr val="E8EDF2"/>
                </a:solidFill>
                <a:latin typeface="Consolas"/>
              </a:rPr>
              <a:t>snap8.qcow2</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7DCEA0"/>
                </a:solidFill>
                <a:latin typeface="Consolas"/>
              </a:rPr>
              <a:t>'^image:'</a:t>
            </a:r>
          </a:p>
          <a:p>
            <a:pPr>
              <a:lnSpc>
                <a:spcPct val="100000"/>
              </a:lnSpc>
              <a:spcAft>
                <a:spcPts val="0"/>
              </a:spcAft>
            </a:pPr>
            <a:r>
              <a:rPr sz="1900" i="1">
                <a:solidFill>
                  <a:srgbClr val="8795A1"/>
                </a:solidFill>
                <a:latin typeface="Consolas"/>
              </a:rPr>
              <a:t># Eight files, every one of which is required to read the newest.</a:t>
            </a:r>
          </a:p>
        </p:txBody>
      </p:sp>
      <p:sp>
        <p:nvSpPr>
          <p:cNvPr id="15" name="!!code-num"/>
          <p:cNvSpPr txBox="1"/>
          <p:nvPr/>
        </p:nvSpPr>
        <p:spPr>
          <a:xfrm>
            <a:off x="768096" y="2523744"/>
            <a:ext cx="393192" cy="300532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a:p>
            <a:pPr algn="r">
              <a:lnSpc>
                <a:spcPct val="100000"/>
              </a:lnSpc>
            </a:pPr>
            <a:r>
              <a:rPr sz="1900">
                <a:solidFill>
                  <a:srgbClr val="4F5D6A"/>
                </a:solidFill>
                <a:latin typeface="Consolas"/>
              </a:rPr>
              <a:t>47</a:t>
            </a:r>
          </a:p>
          <a:p>
            <a:pPr algn="r">
              <a:lnSpc>
                <a:spcPct val="100000"/>
              </a:lnSpc>
            </a:pPr>
            <a:r>
              <a:rPr sz="1900">
                <a:solidFill>
                  <a:srgbClr val="4F5D6A"/>
                </a:solidFill>
                <a:latin typeface="Consolas"/>
              </a:rPr>
              <a:t>48</a:t>
            </a:r>
          </a:p>
          <a:p>
            <a:pPr algn="r">
              <a:lnSpc>
                <a:spcPct val="100000"/>
              </a:lnSpc>
            </a:pPr>
            <a:r>
              <a:rPr sz="1900">
                <a:solidFill>
                  <a:srgbClr val="4F5D6A"/>
                </a:solidFill>
                <a:latin typeface="Consolas"/>
              </a:rPr>
              <a:t>49</a:t>
            </a:r>
          </a:p>
          <a:p>
            <a:pPr algn="r">
              <a:lnSpc>
                <a:spcPct val="100000"/>
              </a:lnSpc>
            </a:pPr>
            <a:r>
              <a:rPr sz="1900">
                <a:solidFill>
                  <a:srgbClr val="4F5D6A"/>
                </a:solidFill>
                <a:latin typeface="Consolas"/>
              </a:rPr>
              <a:t>50</a:t>
            </a:r>
          </a:p>
          <a:p>
            <a:pPr algn="r">
              <a:lnSpc>
                <a:spcPct val="100000"/>
              </a:lnSpc>
            </a:pPr>
            <a:r>
              <a:rPr sz="1900">
                <a:solidFill>
                  <a:srgbClr val="4F5D6A"/>
                </a:solidFill>
                <a:latin typeface="Consolas"/>
              </a:rPr>
              <a:t>51</a:t>
            </a:r>
          </a:p>
          <a:p>
            <a:pPr algn="r">
              <a:lnSpc>
                <a:spcPct val="100000"/>
              </a:lnSpc>
            </a:pPr>
            <a:r>
              <a:rPr sz="1900">
                <a:solidFill>
                  <a:srgbClr val="4F5D6A"/>
                </a:solidFill>
                <a:latin typeface="Consolas"/>
              </a:rPr>
              <a:t>52</a:t>
            </a:r>
          </a:p>
          <a:p>
            <a:pPr algn="r">
              <a:lnSpc>
                <a:spcPct val="100000"/>
              </a:lnSpc>
            </a:pPr>
            <a:r>
              <a:rPr sz="1900">
                <a:solidFill>
                  <a:srgbClr val="4F5D6A"/>
                </a:solidFill>
                <a:latin typeface="Consolas"/>
              </a:rPr>
              <a:t>53</a:t>
            </a:r>
          </a:p>
          <a:p>
            <a:pPr algn="r">
              <a:lnSpc>
                <a:spcPct val="100000"/>
              </a:lnSpc>
            </a:pPr>
            <a:r>
              <a:rPr sz="1900">
                <a:solidFill>
                  <a:srgbClr val="4F5D6A"/>
                </a:solidFill>
                <a:latin typeface="Consolas"/>
              </a:rPr>
              <a:t>54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2230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Thin Pools, Snapshots and the Cliff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98     </a:t>
            </a:r>
            <a:fld id="{0E693191-1FCA-482A-B518-83B6050AF0D7}"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Reclaim: discard is what returns space.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Reclaim: discard is what returns space. ----------------------- sudo fstrim -v /mnt/v2 || echo &quot;discard not supported on this stack&quot; sudo lvs vsvg -o lv_name,data_percent"/>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--- 7. Reclaim: discard is what returns space.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fstrim</a:t>
            </a:r>
            <a:r>
              <a:rPr sz="1900" i="0">
                <a:solidFill>
                  <a:srgbClr val="E8EDF2"/>
                </a:solidFill>
                <a:latin typeface="Consolas"/>
              </a:rPr>
              <a:t> </a:t>
            </a:r>
            <a:r>
              <a:rPr sz="1900" i="0">
                <a:solidFill>
                  <a:srgbClr val="E8EDF2"/>
                </a:solidFill>
                <a:latin typeface="Consolas"/>
              </a:rPr>
              <a:t>-v</a:t>
            </a:r>
            <a:r>
              <a:rPr sz="1900" i="0">
                <a:solidFill>
                  <a:srgbClr val="E8EDF2"/>
                </a:solidFill>
                <a:latin typeface="Consolas"/>
              </a:rPr>
              <a:t> </a:t>
            </a:r>
            <a:r>
              <a:rPr sz="1900" i="0">
                <a:solidFill>
                  <a:srgbClr val="E8EDF2"/>
                </a:solidFill>
                <a:latin typeface="Consolas"/>
              </a:rPr>
              <a:t>/mnt/v2</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"discard not supported on this stack"</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lvs</a:t>
            </a:r>
            <a:r>
              <a:rPr sz="1900" i="0">
                <a:solidFill>
                  <a:srgbClr val="E8EDF2"/>
                </a:solidFill>
                <a:latin typeface="Consolas"/>
              </a:rPr>
              <a:t> </a:t>
            </a:r>
            <a:r>
              <a:rPr sz="1900" i="0">
                <a:solidFill>
                  <a:srgbClr val="E8EDF2"/>
                </a:solidFill>
                <a:latin typeface="Consolas"/>
              </a:rPr>
              <a:t>vsvg</a:t>
            </a:r>
            <a:r>
              <a:rPr sz="1900" i="0">
                <a:solidFill>
                  <a:srgbClr val="E8EDF2"/>
                </a:solidFill>
                <a:latin typeface="Consolas"/>
              </a:rPr>
              <a:t> </a:t>
            </a:r>
            <a:r>
              <a:rPr sz="1900" i="0">
                <a:solidFill>
                  <a:srgbClr val="E8EDF2"/>
                </a:solidFill>
                <a:latin typeface="Consolas"/>
              </a:rPr>
              <a:t>-o</a:t>
            </a:r>
            <a:r>
              <a:rPr sz="1900" i="0">
                <a:solidFill>
                  <a:srgbClr val="E8EDF2"/>
                </a:solidFill>
                <a:latin typeface="Consolas"/>
              </a:rPr>
              <a:t> </a:t>
            </a:r>
            <a:r>
              <a:rPr sz="1900" i="0">
                <a:solidFill>
                  <a:srgbClr val="E8EDF2"/>
                </a:solidFill>
                <a:latin typeface="Consolas"/>
              </a:rPr>
              <a:t>lv_name,data_percent</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56</a:t>
            </a:r>
          </a:p>
          <a:p>
            <a:pPr algn="r">
              <a:lnSpc>
                <a:spcPct val="100000"/>
              </a:lnSpc>
            </a:pPr>
            <a:r>
              <a:rPr sz="1900">
                <a:solidFill>
                  <a:srgbClr val="4F5D6A"/>
                </a:solidFill>
                <a:latin typeface="Consolas"/>
              </a:rPr>
              <a:t>57</a:t>
            </a:r>
          </a:p>
          <a:p>
            <a:pPr algn="r">
              <a:lnSpc>
                <a:spcPct val="100000"/>
              </a:lnSpc>
            </a:pPr>
            <a:r>
              <a:rPr sz="1900">
                <a:solidFill>
                  <a:srgbClr val="4F5D6A"/>
                </a:solidFill>
                <a:latin typeface="Consolas"/>
              </a:rPr>
              <a:t>58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0583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Thin Pools, Snapshots and the Cliff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98     </a:t>
            </a:r>
            <a:fld id="{BC3583B3-AF82-43E9-9066-D6F0B7188DCC}"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down.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8. Tear down. ---------------------------------------------------- for i in 1 2 3 4; do sudo umount &quot;/mnt/v$i&quot; || true; done sudo lvremove -f vsvg || true ; sudo vgremove -f vsvg || true sudo pvremove -f &quot;$LOOP&quot; || true ; sudo losetup -d &quot;$LOOP&quot; || true rm -f /tmp/{plain.raw,thin.qcow2,child*.qcow2,base.qcow2,snap*.qcow2,pv.img}"/>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--- 8. Tear down. ----------------------------------------------------</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i</a:t>
            </a:r>
            <a:r>
              <a:rPr sz="1800" i="0">
                <a:solidFill>
                  <a:srgbClr val="E8EDF2"/>
                </a:solidFill>
                <a:latin typeface="Consolas"/>
              </a:rPr>
              <a:t> </a:t>
            </a:r>
            <a:r>
              <a:rPr sz="1800" i="0">
                <a:solidFill>
                  <a:srgbClr val="5DADE2"/>
                </a:solidFill>
                <a:latin typeface="Consolas"/>
              </a:rPr>
              <a:t>in</a:t>
            </a:r>
            <a:r>
              <a:rPr sz="1800" i="0">
                <a:solidFill>
                  <a:srgbClr val="E8EDF2"/>
                </a:solidFill>
                <a:latin typeface="Consolas"/>
              </a:rPr>
              <a:t> </a:t>
            </a:r>
            <a:r>
              <a:rPr sz="1800" i="0">
                <a:solidFill>
                  <a:srgbClr val="F7DC6F"/>
                </a:solidFill>
                <a:latin typeface="Consolas"/>
              </a:rPr>
              <a:t>1</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 </a:t>
            </a:r>
            <a:r>
              <a:rPr sz="1800" i="0">
                <a:solidFill>
                  <a:srgbClr val="F7DC6F"/>
                </a:solidFill>
                <a:latin typeface="Consolas"/>
              </a:rPr>
              <a:t>3</a:t>
            </a:r>
            <a:r>
              <a:rPr sz="1800" i="0">
                <a:solidFill>
                  <a:srgbClr val="E8EDF2"/>
                </a:solidFill>
                <a:latin typeface="Consolas"/>
              </a:rPr>
              <a:t> </a:t>
            </a:r>
            <a:r>
              <a:rPr sz="1800" i="0">
                <a:solidFill>
                  <a:srgbClr val="F7DC6F"/>
                </a:solidFill>
                <a:latin typeface="Consolas"/>
              </a:rPr>
              <a:t>4</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do</a:t>
            </a: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umount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/mnt/v</a:t>
            </a:r>
            <a:r>
              <a:rPr sz="1800" i="0">
                <a:solidFill>
                  <a:srgbClr val="E8EDF2"/>
                </a:solidFill>
                <a:latin typeface="Consolas"/>
              </a:rPr>
              <a:t>$i</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true</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done</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lvremove</a:t>
            </a:r>
            <a:r>
              <a:rPr sz="1800" i="0">
                <a:solidFill>
                  <a:srgbClr val="E8EDF2"/>
                </a:solidFill>
                <a:latin typeface="Consolas"/>
              </a:rPr>
              <a:t> </a:t>
            </a:r>
            <a:r>
              <a:rPr sz="1800" i="0">
                <a:solidFill>
                  <a:srgbClr val="E8EDF2"/>
                </a:solidFill>
                <a:latin typeface="Consolas"/>
              </a:rPr>
              <a:t>-f</a:t>
            </a:r>
            <a:r>
              <a:rPr sz="1800" i="0">
                <a:solidFill>
                  <a:srgbClr val="E8EDF2"/>
                </a:solidFill>
                <a:latin typeface="Consolas"/>
              </a:rPr>
              <a:t> </a:t>
            </a:r>
            <a:r>
              <a:rPr sz="1800" i="0">
                <a:solidFill>
                  <a:srgbClr val="E8EDF2"/>
                </a:solidFill>
                <a:latin typeface="Consolas"/>
              </a:rPr>
              <a:t>vsvg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vgremove</a:t>
            </a:r>
            <a:r>
              <a:rPr sz="1800" i="0">
                <a:solidFill>
                  <a:srgbClr val="E8EDF2"/>
                </a:solidFill>
                <a:latin typeface="Consolas"/>
              </a:rPr>
              <a:t> </a:t>
            </a:r>
            <a:r>
              <a:rPr sz="1800" i="0">
                <a:solidFill>
                  <a:srgbClr val="E8EDF2"/>
                </a:solidFill>
                <a:latin typeface="Consolas"/>
              </a:rPr>
              <a:t>-f</a:t>
            </a:r>
            <a:r>
              <a:rPr sz="1800" i="0">
                <a:solidFill>
                  <a:srgbClr val="E8EDF2"/>
                </a:solidFill>
                <a:latin typeface="Consolas"/>
              </a:rPr>
              <a:t> </a:t>
            </a:r>
            <a:r>
              <a:rPr sz="1800" i="0">
                <a:solidFill>
                  <a:srgbClr val="E8EDF2"/>
                </a:solidFill>
                <a:latin typeface="Consolas"/>
              </a:rPr>
              <a:t>vsvg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pvremove</a:t>
            </a:r>
            <a:r>
              <a:rPr sz="1800" i="0">
                <a:solidFill>
                  <a:srgbClr val="E8EDF2"/>
                </a:solidFill>
                <a:latin typeface="Consolas"/>
              </a:rPr>
              <a:t> </a:t>
            </a:r>
            <a:r>
              <a:rPr sz="1800" i="0">
                <a:solidFill>
                  <a:srgbClr val="E8EDF2"/>
                </a:solidFill>
                <a:latin typeface="Consolas"/>
              </a:rPr>
              <a:t>-f</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$LOOP</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losetup</a:t>
            </a:r>
            <a:r>
              <a:rPr sz="1800" i="0">
                <a:solidFill>
                  <a:srgbClr val="E8EDF2"/>
                </a:solidFill>
                <a:latin typeface="Consolas"/>
              </a:rPr>
              <a:t> </a:t>
            </a:r>
            <a:r>
              <a:rPr sz="1800" i="0">
                <a:solidFill>
                  <a:srgbClr val="E8EDF2"/>
                </a:solidFill>
                <a:latin typeface="Consolas"/>
              </a:rPr>
              <a:t>-d</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$LOOP</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a:p>
            <a:pPr>
              <a:lnSpc>
                <a:spcPct val="100000"/>
              </a:lnSpc>
              <a:spcAft>
                <a:spcPts val="0"/>
              </a:spcAft>
            </a:pPr>
            <a:r>
              <a:rPr sz="1800" i="0">
                <a:solidFill>
                  <a:srgbClr val="E8EDF2"/>
                </a:solidFill>
                <a:latin typeface="Consolas"/>
              </a:rPr>
              <a:t>rm</a:t>
            </a:r>
            <a:r>
              <a:rPr sz="1800" i="0">
                <a:solidFill>
                  <a:srgbClr val="E8EDF2"/>
                </a:solidFill>
                <a:latin typeface="Consolas"/>
              </a:rPr>
              <a:t> </a:t>
            </a:r>
            <a:r>
              <a:rPr sz="1800" i="0">
                <a:solidFill>
                  <a:srgbClr val="E8EDF2"/>
                </a:solidFill>
                <a:latin typeface="Consolas"/>
              </a:rPr>
              <a:t>-f</a:t>
            </a:r>
            <a:r>
              <a:rPr sz="1800" i="0">
                <a:solidFill>
                  <a:srgbClr val="E8EDF2"/>
                </a:solidFill>
                <a:latin typeface="Consolas"/>
              </a:rPr>
              <a:t> </a:t>
            </a:r>
            <a:r>
              <a:rPr sz="1800" i="0">
                <a:solidFill>
                  <a:srgbClr val="E8EDF2"/>
                </a:solidFill>
                <a:latin typeface="Consolas"/>
              </a:rPr>
              <a:t>/tmp/</a:t>
            </a:r>
            <a:r>
              <a:rPr sz="1800" i="0">
                <a:solidFill>
                  <a:srgbClr val="AEB6BF"/>
                </a:solidFill>
                <a:latin typeface="Consolas"/>
              </a:rPr>
              <a:t>{</a:t>
            </a:r>
            <a:r>
              <a:rPr sz="1800" i="0">
                <a:solidFill>
                  <a:srgbClr val="E8EDF2"/>
                </a:solidFill>
                <a:latin typeface="Consolas"/>
              </a:rPr>
              <a:t>plain.raw,thin.qcow2,child*.qcow2,base.qcow2,snap*.qcow2,pv.img</a:t>
            </a:r>
            <a:r>
              <a:rPr sz="1800" i="0">
                <a:solidFill>
                  <a:srgbClr val="AEB6BF"/>
                </a:solidFill>
                <a:latin typeface="Consolas"/>
              </a:rPr>
              <a:t>}</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60</a:t>
            </a:r>
          </a:p>
          <a:p>
            <a:pPr algn="r">
              <a:lnSpc>
                <a:spcPct val="100000"/>
              </a:lnSpc>
            </a:pPr>
            <a:r>
              <a:rPr sz="1800">
                <a:solidFill>
                  <a:srgbClr val="4F5D6A"/>
                </a:solidFill>
                <a:latin typeface="Consolas"/>
              </a:rPr>
              <a:t>61</a:t>
            </a:r>
          </a:p>
          <a:p>
            <a:pPr algn="r">
              <a:lnSpc>
                <a:spcPct val="100000"/>
              </a:lnSpc>
            </a:pPr>
            <a:r>
              <a:rPr sz="1800">
                <a:solidFill>
                  <a:srgbClr val="4F5D6A"/>
                </a:solidFill>
                <a:latin typeface="Consolas"/>
              </a:rPr>
              <a:t>62</a:t>
            </a:r>
          </a:p>
          <a:p>
            <a:pPr algn="r">
              <a:lnSpc>
                <a:spcPct val="100000"/>
              </a:lnSpc>
            </a:pPr>
            <a:r>
              <a:rPr sz="1800">
                <a:solidFill>
                  <a:srgbClr val="4F5D6A"/>
                </a:solidFill>
                <a:latin typeface="Consolas"/>
              </a:rPr>
              <a:t>63</a:t>
            </a:r>
          </a:p>
          <a:p>
            <a:pPr algn="r">
              <a:lnSpc>
                <a:spcPct val="100000"/>
              </a:lnSpc>
            </a:pPr>
            <a:r>
              <a:rPr sz="1800">
                <a:solidFill>
                  <a:srgbClr val="4F5D6A"/>
                </a:solidFill>
                <a:latin typeface="Consolas"/>
              </a:rPr>
              <a:t>64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8936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98     </a:t>
            </a:r>
            <a:fld id="{68FA2D22-6453-4EEC-B544-9A439A1B0A03}" type="slidenum">
              <a:rPr lang="en-GB" sz="1000">
                <a:solidFill>
                  <a:srgbClr val="8795A1"/>
                </a:solidFill>
                <a:latin typeface="Segoe UI"/>
              </a:rPr>
              <a:t>32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Step 5 is the part worth sitting with. The failure is not gradual and it is not confined to the volume that caused it: several filesystems go read-only together, because the resource they were quietly sharing ran out. That is the whole argument for alerting at 80%.</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07288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pool of 40 TB serves 120 guests with 800 GB disks each, of which a mean 240 GB is written, growing 20 GB per guest per month. Give the over-subscription ratio, the headroom and the time to exhaustion. At what free-space figure would you alert, and why?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12  ·  Storage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100  ·  answers in Appendix D     </a:t>
            </a:r>
            <a:fld id="{8C09D485-F0C7-41B9-8C7B-BAD804A5C0B1}"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923544"/>
          </a:xfrm>
        </p:spPr>
        <p:txBody>
          <a:bodyPr wrap="square" lIns="0" rIns="0" tIns="0" bIns="0" anchor="t">
            <a:noAutofit/>
          </a:bodyPr>
          <a:lstStyle/>
          <a:p>
            <a:pPr algn="l">
              <a:lnSpc>
                <a:spcPct val="96000"/>
              </a:lnSpc>
            </a:pPr>
            <a:r>
              <a:rPr sz="2000" b="0" i="0">
                <a:solidFill>
                  <a:srgbClr val="1A5276"/>
                </a:solidFill>
                <a:latin typeface="Segoe UI Semibold"/>
              </a:rPr>
              <a:t>A pool of 40 TB serves 120 guests with 800 GB disks each, of which a mean 240 GB is written, growing 20 GB per guest per month. Give the over-subscription ratio, the headroom and the time to exhaustion. At what free-space figure would you alert, and why?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938528"/>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938528"/>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Provisioned </a:t>
            </a:r>
            <a:r>
              <a:rPr sz="2200" b="0" i="0">
                <a:solidFill>
                  <a:srgbClr val="1C252B"/>
                </a:solidFill>
                <a:latin typeface="Cambria"/>
              </a:rPr>
              <a:t>= 120 × 800 = 96</a:t>
            </a:r>
            <a:r>
              <a:rPr sz="2200" b="0" i="0">
                <a:solidFill>
                  <a:srgbClr val="1C252B"/>
                </a:solidFill>
                <a:latin typeface="Segoe UI"/>
              </a:rPr>
              <a:t> TB, so </a:t>
            </a:r>
            <a:r>
              <a:rPr sz="2200" b="0" i="0">
                <a:solidFill>
                  <a:srgbClr val="1C252B"/>
                </a:solidFill>
                <a:latin typeface="Cambria"/>
              </a:rPr>
              <a:t>σ = 96/40 = </a:t>
            </a:r>
            <a:r>
              <a:rPr sz="2200" b="1" i="0">
                <a:solidFill>
                  <a:srgbClr val="1C252B"/>
                </a:solidFill>
                <a:latin typeface="Cambria"/>
              </a:rPr>
              <a:t>2.4</a:t>
            </a:r>
            <a:r>
              <a:rPr sz="2200" b="0" i="0">
                <a:solidFill>
                  <a:srgbClr val="1C252B"/>
                </a:solidFill>
                <a:latin typeface="Segoe UI"/>
              </a:rPr>
              <a:t>. Written </a:t>
            </a:r>
            <a:r>
              <a:rPr sz="2200" b="0" i="0">
                <a:solidFill>
                  <a:srgbClr val="1C252B"/>
                </a:solidFill>
                <a:latin typeface="Cambria"/>
              </a:rPr>
              <a:t>= 120 × 240 = 28.8</a:t>
            </a:r>
            <a:r>
              <a:rPr sz="2200" b="0" i="0">
                <a:solidFill>
                  <a:srgbClr val="1C252B"/>
                </a:solidFill>
                <a:latin typeface="Segoe UI"/>
              </a:rPr>
              <a:t> TB, so headroom </a:t>
            </a:r>
            <a:r>
              <a:rPr sz="2200" b="0" i="0">
                <a:solidFill>
                  <a:srgbClr val="1C252B"/>
                </a:solidFill>
                <a:latin typeface="Cambria"/>
              </a:rPr>
              <a:t>= 40 − 28.8 = </a:t>
            </a:r>
            <a:r>
              <a:rPr sz="2200" b="1" i="0">
                <a:solidFill>
                  <a:srgbClr val="1C252B"/>
                </a:solidFill>
                <a:latin typeface="Cambria"/>
              </a:rPr>
              <a:t>11.2</a:t>
            </a:r>
            <a:r>
              <a:rPr sz="2200" b="0" i="0">
                <a:solidFill>
                  <a:srgbClr val="1C252B"/>
                </a:solidFill>
                <a:latin typeface="Segoe UI"/>
              </a:rPr>
              <a:t> TB. Growth is </a:t>
            </a:r>
            <a:r>
              <a:rPr sz="2200" b="0" i="0">
                <a:solidFill>
                  <a:srgbClr val="1C252B"/>
                </a:solidFill>
                <a:latin typeface="Cambria"/>
              </a:rPr>
              <a:t>120 × 20 = 2.4</a:t>
            </a:r>
            <a:r>
              <a:rPr sz="2200" b="0" i="0">
                <a:solidFill>
                  <a:srgbClr val="1C252B"/>
                </a:solidFill>
                <a:latin typeface="Segoe UI"/>
              </a:rPr>
              <a:t> TB a month, giving </a:t>
            </a:r>
            <a:r>
              <a:rPr sz="2200" b="0" i="0">
                <a:solidFill>
                  <a:srgbClr val="1C252B"/>
                </a:solidFill>
                <a:latin typeface="Cambria"/>
              </a:rPr>
              <a:t>11.2/2.4 = </a:t>
            </a:r>
            <a:r>
              <a:rPr sz="2200" b="1" i="0">
                <a:solidFill>
                  <a:srgbClr val="1C252B"/>
                </a:solidFill>
                <a:latin typeface="Cambria"/>
              </a:rPr>
              <a:t>4.7</a:t>
            </a:r>
            <a:r>
              <a:rPr sz="2200" b="0" i="0">
                <a:solidFill>
                  <a:srgbClr val="1C252B"/>
                </a:solidFill>
                <a:latin typeface="Segoe UI"/>
              </a:rPr>
              <a:t> months to exhaustion. Alert at </a:t>
            </a:r>
            <a:r>
              <a:rPr sz="2200" b="1" i="0">
                <a:solidFill>
                  <a:srgbClr val="1C252B"/>
                </a:solidFill>
                <a:latin typeface="Segoe UI"/>
              </a:rPr>
              <a:t>80% of the pool</a:t>
            </a:r>
            <a:r>
              <a:rPr sz="2200" b="0" i="0">
                <a:solidFill>
                  <a:srgbClr val="1C252B"/>
                </a:solidFill>
                <a:latin typeface="Segoe UI"/>
              </a:rPr>
              <a:t> — 32 TB used, 8 TB free — because that is reached in about six weeks, which is the last point at which there is still time to order capacity or reclaim space. Alerting at 95% leaves no time to do anything.</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  answers in Appendix D     </a:t>
            </a:r>
            <a:fld id="{E3962D03-1785-4DA8-AF5C-455431FC91C6}"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63994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guest deletes 300 GB of files and the storage team reports no change in pool usage. Explain why, and give the setting that changes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12  ·  Storage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100  ·  answers in Appendix D     </a:t>
            </a:r>
            <a:fld id="{6125ECFF-26E0-4570-ABC2-BC2DC1C056B0}"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guest deletes 300 GB of files and the storage team reports no change in pool usage. Explain why, and give the setting that changes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Deleting a file inside a guest only marks blocks free in the </a:t>
            </a:r>
            <a:r>
              <a:rPr sz="2200" b="0" i="1">
                <a:solidFill>
                  <a:srgbClr val="1C252B"/>
                </a:solidFill>
                <a:latin typeface="Segoe UI"/>
              </a:rPr>
              <a:t>guest’s</a:t>
            </a:r>
            <a:r>
              <a:rPr sz="2200" b="0" i="0">
                <a:solidFill>
                  <a:srgbClr val="1C252B"/>
                </a:solidFill>
                <a:latin typeface="Segoe UI"/>
              </a:rPr>
              <a:t> filesystem. The pool underneath was never told, so it still holds those blocks as written. The setting is </a:t>
            </a:r>
            <a:r>
              <a:rPr sz="2200" b="1" i="0">
                <a:solidFill>
                  <a:srgbClr val="1C252B"/>
                </a:solidFill>
                <a:latin typeface="Segoe UI"/>
              </a:rPr>
              <a:t>discard / TRIM, enabled end to end</a:t>
            </a:r>
            <a:r>
              <a:rPr sz="2200" b="0" i="0">
                <a:solidFill>
                  <a:srgbClr val="1C252B"/>
                </a:solidFill>
                <a:latin typeface="Segoe UI"/>
              </a:rPr>
              <a:t> — in the guest mount options or a periodic </a:t>
            </a:r>
            <a:r>
              <a:rPr sz="2050" b="0" i="0">
                <a:solidFill>
                  <a:srgbClr val="1F4E79"/>
                </a:solidFill>
                <a:latin typeface="Consolas"/>
              </a:rPr>
              <a:t>fstrim</a:t>
            </a:r>
            <a:r>
              <a:rPr sz="2200" b="0" i="0">
                <a:solidFill>
                  <a:srgbClr val="1C252B"/>
                </a:solidFill>
                <a:latin typeface="Segoe UI"/>
              </a:rPr>
              <a:t>, in the virtual disk controller, and in the storage layer. On an estate that has never had it, enabling it commonly returns 10–20% of the pool.</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  answers in Appendix D     </a:t>
            </a:r>
            <a:fld id="{29F63D8A-CC41-4AB3-AFD7-EA3EC57B8042}"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0700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is a chain of twelve snapshots both slow to read and dangerous to keep?</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12  ·  Storage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100  ·  answers in Appendix D     </a:t>
            </a:r>
            <a:fld id="{AEF97BCC-D7C3-46A3-A83B-DDBF08E18863}"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is a chain of twelve snapshots both slow to read and dangerous to keep?</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Slow</a:t>
            </a:r>
            <a:r>
              <a:rPr sz="2200" b="0" i="0">
                <a:solidFill>
                  <a:srgbClr val="1C252B"/>
                </a:solidFill>
                <a:latin typeface="Segoe UI"/>
              </a:rPr>
              <a:t> because reads are amplified: a block must be looked for in each overlay in turn until it is found, so twelve layers can mean twelve lookups where one would do, and a first write to a block must copy it up from wherever it currently lives. </a:t>
            </a:r>
            <a:r>
              <a:rPr sz="2200" b="1" i="0">
                <a:solidFill>
                  <a:srgbClr val="1C252B"/>
                </a:solidFill>
                <a:latin typeface="Segoe UI"/>
              </a:rPr>
              <a:t>Dangerous</a:t>
            </a:r>
            <a:r>
              <a:rPr sz="2200" b="0" i="0">
                <a:solidFill>
                  <a:srgbClr val="1C252B"/>
                </a:solidFill>
                <a:latin typeface="Segoe UI"/>
              </a:rPr>
              <a:t> because every file in the chain is load-bearing: lose or corrupt any one of them and every snapshot above it is unreadable — and after six months nobody knows which snapshots are still needed.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  answers in Appendix D     </a:t>
            </a:r>
            <a:fld id="{ACA8B8FC-988F-4E22-8526-631E005E53ED}"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7405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7F44D451-7CBD-4156-8D8E-B6422B792EF0}" type="slidenum">
              <a:rPr lang="en-GB" sz="1000">
                <a:solidFill>
                  <a:srgbClr val="8795A1"/>
                </a:solidFill>
                <a:latin typeface="Segoe UI"/>
              </a:rPr>
              <a:t>39</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Block, file and object are three different contracts. A guest needs block, because its filesystem driver issues block requests.</a:t>
            </a:r>
          </a:p>
        </p:txBody>
      </p:sp>
      <p:sp>
        <p:nvSpPr>
          <p:cNvPr id="10" name="!!sb1">
            <a:extLst>
              <a:ext uri="{C183D7F6-B498-43B3-948B-1728B52AA6E4}">
                <adec:decorative xmlns:adec="http://schemas.microsoft.com/office/drawing/2017/decorative" val="1"/>
              </a:ext>
            </a:extLst>
          </p:cNvPr>
          <p:cNvSpPr/>
          <p:nvPr/>
        </p:nvSpPr>
        <p:spPr>
          <a:xfrm>
            <a:off x="658368" y="253166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8653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2252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virtual disk is a file the guest sees as a device. raw is a byte-for-byte image; qcow2 adds an L1/L2 indirection that buys thin provisioning, snapshots and backing files.</a:t>
            </a:r>
          </a:p>
        </p:txBody>
      </p:sp>
      <p:sp>
        <p:nvSpPr>
          <p:cNvPr id="13" name="!!sb2">
            <a:extLst>
              <a:ext uri="{C183D7F6-B498-43B3-948B-1728B52AA6E4}">
                <adec:decorative xmlns:adec="http://schemas.microsoft.com/office/drawing/2017/decorative" val="1"/>
              </a:ext>
            </a:extLst>
          </p:cNvPr>
          <p:cNvSpPr/>
          <p:nvPr/>
        </p:nvSpPr>
        <p:spPr>
          <a:xfrm>
            <a:off x="658368" y="331683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7169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0768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Thin provisioning is memory overcommit for disks: usually a large saving, occasionally a cliff. Monitor written capacity, never provisioned, and alert at 80%.</a:t>
            </a:r>
          </a:p>
        </p:txBody>
      </p:sp>
      <p:sp>
        <p:nvSpPr>
          <p:cNvPr id="16" name="!!sb3">
            <a:extLst>
              <a:ext uri="{C183D7F6-B498-43B3-948B-1728B52AA6E4}">
                <adec:decorative xmlns:adec="http://schemas.microsoft.com/office/drawing/2017/decorative" val="1"/>
              </a:ext>
            </a:extLst>
          </p:cNvPr>
          <p:cNvSpPr/>
          <p:nvPr/>
        </p:nvSpPr>
        <p:spPr>
          <a:xfrm>
            <a:off x="658368" y="410199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15686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9285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Pool exhaustion is not a slowdown. Writes fail, guest filesystems go read-only, and they do it together because they share the pool.</a:t>
            </a:r>
          </a:p>
        </p:txBody>
      </p:sp>
      <p:sp>
        <p:nvSpPr>
          <p:cNvPr id="19" name="!!sb4">
            <a:extLst>
              <a:ext uri="{C183D7F6-B498-43B3-948B-1728B52AA6E4}">
                <adec:decorative xmlns:adec="http://schemas.microsoft.com/office/drawing/2017/decorative" val="1"/>
              </a:ext>
            </a:extLst>
          </p:cNvPr>
          <p:cNvSpPr/>
          <p:nvPr/>
        </p:nvSpPr>
        <p:spPr>
          <a:xfrm>
            <a:off x="658368" y="488716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4202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7801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Snapshots are copy-on-write overlays. Long chains amplify reads and make every file in the chain load-bearing. A snapshot is not a backup.</a:t>
            </a:r>
          </a:p>
        </p:txBody>
      </p:sp>
      <p:sp>
        <p:nvSpPr>
          <p:cNvPr id="22" name="!!sb5">
            <a:extLst>
              <a:ext uri="{C183D7F6-B498-43B3-948B-1728B52AA6E4}">
                <adec:decorative xmlns:adec="http://schemas.microsoft.com/office/drawing/2017/decorative" val="1"/>
              </a:ext>
            </a:extLst>
          </p:cNvPr>
          <p:cNvSpPr/>
          <p:nvPr/>
        </p:nvSpPr>
        <p:spPr>
          <a:xfrm>
            <a:off x="658368" y="567232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72719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66318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Software-defined storage computes placement rather than looking it up. Replication for virtual disks, erasure coding for archives.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575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595532FE-22FF-429B-A222-0B8CA685752B}" type="slidenum">
              <a:rPr lang="en-GB" sz="1000">
                <a:solidFill>
                  <a:srgbClr val="8795A1"/>
                </a:solidFill>
                <a:latin typeface="Segoe UI"/>
              </a:rPr>
              <a:t>40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guest operating system requires its storage to be presented as: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object storage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block storage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an NFS share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any of these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4111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41A803E1-DAC7-4C61-81F8-75A9D8A09A7D}"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When a thin pool reaches 100% of physical capacity:</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writes slow down</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oldest snapshots are deleted</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writes fail and guest filesystems typically remount read-only</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hypervisor migrates guests away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246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12  ·  Storage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9D9AFB4B-96D7-4DFE-A6B7-51E42EFD1455}" type="slidenum">
              <a:rPr lang="en-GB" sz="1000">
                <a:solidFill>
                  <a:srgbClr val="8795A1"/>
                </a:solidFill>
                <a:latin typeface="Segoe UI"/>
              </a:rPr>
              <a:t>42</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what qcow2’s indirection table buys over raw, and what it costs.</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read amplification in a snapshot chain, and why every file in the chain matters.</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the rule for choosing between replication and erasure coding, with the reason.</a:t>
            </a:r>
          </a:p>
        </p:txBody>
      </p:sp>
      <p:sp>
        <p:nvSpPr>
          <p:cNvPr id="16" name="!!rt3">
            <a:extLst>
              <a:ext uri="{C183D7F6-B498-43B3-948B-1728B52AA6E4}">
                <adec:decorative xmlns:adec="http://schemas.microsoft.com/office/drawing/2017/decorative" val="1"/>
              </a:ext>
            </a:extLst>
          </p:cNvPr>
          <p:cNvSpPr/>
          <p:nvPr/>
        </p:nvSpPr>
        <p:spPr>
          <a:xfrm>
            <a:off x="658368" y="331744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35859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299155"/>
            <a:ext cx="9549079" cy="120456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 estate thin-provisions storage at </a:t>
            </a:r>
            <a:r>
              <a:rPr sz="1900" b="0" i="0">
                <a:solidFill>
                  <a:srgbClr val="1C252B"/>
                </a:solidFill>
                <a:latin typeface="Cambria"/>
              </a:rPr>
              <a:t>σ = 2.4</a:t>
            </a:r>
            <a:r>
              <a:rPr sz="1900" b="0" i="0">
                <a:solidFill>
                  <a:srgbClr val="1C252B"/>
                </a:solidFill>
                <a:latin typeface="Segoe UI"/>
              </a:rPr>
              <a:t>, overcommits memory at 1.3 and oversubscribes CPU at 2.0. Explain why these three are more dangerous together than separately, give a scenario that triggers all three at once, and say what you would change first.</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 inherit an estate with 400 guests, 1,900 snapshots and no snapshot policy. Write the plan you would follow to get to a safe state, in order, saying what you would measure before deleting anything.</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0816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54A9D"/>
                </a:solidFill>
                <a:latin typeface="Segoe UI Black"/>
              </a:rPr>
              <a:t>12</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12</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13 — Network Virtualization and SDN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12, pages 94–100</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A thin pool to exhaustion; an overlay and its MTU</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Project proposal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12  ·  Storage Virtualization</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41D4A42B-3080-4BFB-9795-3EB30B2C30B4}"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12: Storage Virtualization</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