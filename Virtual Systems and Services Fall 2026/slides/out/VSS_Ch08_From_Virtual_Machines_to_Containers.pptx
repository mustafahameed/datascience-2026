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8.svg" ContentType="image/svg+xml"/>
  <Override PartName="/ppt/media/image30.svg" ContentType="image/svg+xml"/>
  <Override PartName="/ppt/media/image32.svg" ContentType="image/svg+xml"/>
  <Override PartName="/ppt/media/image33.svg" ContentType="image/svg+xml"/>
  <Override PartName="/ppt/media/image35.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1.svg" ContentType="image/svg+xml"/>
  <Override PartName="/ppt/media/image42.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4.svg" ContentType="image/svg+xml"/>
  <Override PartName="/ppt/media/image56.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4.svg" ContentType="image/svg+xml"/>
  <Override PartName="/ppt/media/image65.svg" ContentType="image/svg+xml"/>
  <Override PartName="/ppt/media/image67.svg" ContentType="image/svg+xml"/>
  <Override PartName="/ppt/media/image68.svg" ContentType="image/svg+xml"/>
  <Override PartName="/ppt/media/image69.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8131B93-0FF6-452E-B4F5-989DBF3EBF3E}">
          <p14:sldIdLst>
            <p14:sldId id="256"/>
            <p14:sldId id="257"/>
            <p14:sldId id="258"/>
            <p14:sldId id="259"/>
            <p14:sldId id="260"/>
          </p14:sldIdLst>
        </p14:section>
        <p14:section name="8.1 A Different Place to Cut" id="{A64ECAF7-FF9E-48A1-8B08-77769BCB6E2F}">
          <p14:sldIdLst>
            <p14:sldId id="261"/>
            <p14:sldId id="262"/>
            <p14:sldId id="263"/>
          </p14:sldIdLst>
        </p14:section>
        <p14:section name="8.2 Namespaces" id="{0AEA9C0E-5F60-4987-8107-3817A378AF99}">
          <p14:sldIdLst>
            <p14:sldId id="264"/>
            <p14:sldId id="265"/>
            <p14:sldId id="266"/>
            <p14:sldId id="267"/>
          </p14:sldIdLst>
        </p14:section>
        <p14:section name="8.3 Control Groups" id="{96811AE7-E603-4A7A-9D60-5DAE83EF7B9B}">
          <p14:sldIdLst>
            <p14:sldId id="268"/>
          </p14:sldIdLst>
        </p14:section>
        <p14:section name="8.4 The Image, and the Union Filesystem" id="{15617021-0265-4B99-B6E4-6AA6EE936311}">
          <p14:sldIdLst>
            <p14:sldId id="269"/>
            <p14:sldId id="270"/>
            <p14:sldId id="271"/>
            <p14:sldId id="272"/>
            <p14:sldId id="273"/>
            <p14:sldId id="274"/>
            <p14:sldId id="275"/>
          </p14:sldIdLst>
        </p14:section>
        <p14:section name="Pitfalls" id="{13D1E7EB-DD59-4423-8E84-E16B290CA3A3}">
          <p14:sldIdLst>
            <p14:sldId id="276"/>
            <p14:sldId id="277"/>
          </p14:sldIdLst>
        </p14:section>
        <p14:section name="Lab" id="{E95B8443-D528-478F-9B3A-A8877867A123}">
          <p14:sldIdLst>
            <p14:sldId id="278"/>
            <p14:sldId id="279"/>
            <p14:sldId id="280"/>
            <p14:sldId id="281"/>
            <p14:sldId id="282"/>
            <p14:sldId id="283"/>
            <p14:sldId id="284"/>
            <p14:sldId id="285"/>
            <p14:sldId id="286"/>
            <p14:sldId id="287"/>
            <p14:sldId id="288"/>
          </p14:sldIdLst>
        </p14:section>
        <p14:section name="Checkpoint" id="{2CFE837D-5DBB-4F76-91E6-BB8D7B4C6CAD}">
          <p14:sldIdLst>
            <p14:sldId id="289"/>
            <p14:sldId id="290"/>
            <p14:sldId id="291"/>
            <p14:sldId id="292"/>
            <p14:sldId id="293"/>
            <p14:sldId id="294"/>
          </p14:sldIdLst>
        </p14:section>
        <p14:section name="Wrap-up" id="{FDE39A1D-1F47-4497-A5C5-661F58D1A774}">
          <p14:sldIdLst>
            <p14:sldId id="295"/>
            <p14:sldId id="296"/>
            <p14:sldId id="297"/>
            <p14:sldId id="298"/>
            <p14:sldId id="299"/>
            <p14:sldId id="30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8: From Virtual Machines to Containers. Part 3 — Containers and Lightweight Virtualization. Week 7: From machines to containers; Docker. Handout pages 62–68.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2 (the taxonomy figure, which placed containers on the second row) and Chapter 6 (overcommit and the working set). From Operating Systems you need processes, the process tree, file descriptors and mount points. Nothing in Part II’s hardware material is required — which is itself the point of this chapter.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OS-level virtualization; container; namespace; mount namespace; PID namespace; network namespace; user namespace; control group; cgroup v2; cgroup controller; union filesystem; overlayfs; lower dir; upper dir; copy-up; capability; seccomp; chroot; rootless container; shared kernel.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chapter so far has virtualized hardware: a processor that is not a processor, memory that is not where the guest thinks, a disk that is a file. The guest runs its own kernel on that imaginary machine. A container asks a cheaper question. If all the workloads are going to run on Linux anyway, why buy forty copies of Linux? Leave one kernel in place, and give each group of processes a private view of it: its own filesystem root, its own process numbers, its own network interfaces, its own users. The processes are ordinary processes on the host kernel. They simply cannot see anything they were not shown.</a:t>
            </a:r>
          </a:p>
          <a:p/>
          <a:p>
            <a:r>
              <a:t>Figure 8.1 (handout p. 63): The whole of Part III in one picture. Nothing else about containers is a new idea — only the height at which the stack is cut.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namespace wraps one global system resource so that processes inside it see their own instance of it. Eight exist, added over eighteen years.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Namespaces decide what a container can see. They say nothing about how much it can use: a process in a private namespace can still consume every core and all the memory on the host. Control groups supply the limits. Processes are arranged in a tree, and each node carries controllers — cpu, memory, io, pids — that account for and cap consumption. Version 2, now the default everywhere, replaced v1’s separate per-controller hierarchies with a single unified tree.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container needs a root filesystem. Giving each one a private copy would cost hundreds of megabytes apiece and lose most of the density the chapter has been claiming. Overlayfs solves it by stacking directories. Several read-only lower layers are presented as one tree, with a single writable upper layer on top. A read finds the file in the topmost layer that has it. A write triggers a copy-up: the file is copied into the upper layer and modified there, leaving the shared layer untouched.</a:t>
            </a:r>
          </a:p>
          <a:p/>
          <a:p>
            <a:r>
              <a:t>Figure 8.2 (handout p. 65): Overlayfs. The layers are why pulling a second image from the same base downloads almost nothing, and why a thousand containers of one image cost little more on disk than one.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Docker. Builds an isolated process tree from the kernel primitives, so that the next chapter’s tooling is recognisable rather than magical. Needs a Linux host and root. Expect thirty minutes.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What namespaces does an ordinary process already have?.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A root filesystem to be the container's world..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Enter new namespaces. This is the whole mechanism..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Prove the host is unaffected..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Limit it with a control group..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Now cross the memory limit, and watch it be killed..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8: Share one root between two containers with overlayfs..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9: Tear down..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137 is 128 + 9: the process was terminated by signal 9, SIGKILL, which here means the memory limit and the kernel’s OOM killer. The symptom is a kill rather than a slowdown because memory is not divisible in time: a page is either available or it is not, so there is nothing to degrade. A CPU limit, by contrast, throttles — the container simply runs more slowly and nothing fails.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A container shares the host’s kernel, so there is no guest kernel to load a module into; loading one would mean loading it into the host, which is both a privilege escalation and shared with every other container. The two options are (i) load the module on the host and expose the resulting device to the container, accepting that the module is now host-wide, or (ii) use a virtual machine, or a microVM from Chapter 11, which has a kernel of its own.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image is stored once and shared: 400 + 3 × 50 = 550 MB. The logs are in each container’s writable layer, so they count three times and are lost when the containers are replaced. The change is to write logs to stdout and let the runtime collect them, or mount a volume — either removes them from the copy-on-write layer entirely.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9 — Docker and the Container Ecosystem. READ: Handout Chapter 8, pages 62–68. THIS WEEK'S LAB: Build a container by hand; then measure the build cache. ASSESSMENT: Assignment 1 set.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9.xml"/><Relationship Id="rId7" Type="http://schemas.openxmlformats.org/officeDocument/2006/relationships/slide" Target="slide13.xml"/><Relationship Id="rId8" Type="http://schemas.openxmlformats.org/officeDocument/2006/relationships/slide" Target="slide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21.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25.svg"/><Relationship Id="rId4" Type="http://schemas.openxmlformats.org/officeDocument/2006/relationships/image" Target="../media/image26.png"/><Relationship Id="rId5" Type="http://schemas.openxmlformats.org/officeDocument/2006/relationships/image" Target="../media/image27.svg"/><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28.svg"/><Relationship Id="rId4" Type="http://schemas.openxmlformats.org/officeDocument/2006/relationships/image" Target="../media/image29.png"/><Relationship Id="rId5" Type="http://schemas.openxmlformats.org/officeDocument/2006/relationships/image" Target="../media/image30.svg"/><Relationship Id="rId6" Type="http://schemas.openxmlformats.org/officeDocument/2006/relationships/image" Target="../media/image31.png"/><Relationship Id="rId7" Type="http://schemas.openxmlformats.org/officeDocument/2006/relationships/image" Target="../media/image32.svg"/><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svg"/><Relationship Id="rId6" Type="http://schemas.openxmlformats.org/officeDocument/2006/relationships/image" Target="../media/image36.png"/><Relationship Id="rId7" Type="http://schemas.openxmlformats.org/officeDocument/2006/relationships/image" Target="../media/image37.svg"/><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image" Target="../media/image38.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39.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1.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2.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4.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5.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6.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7.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8.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49.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50.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51.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52.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53.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image" Target="../media/image54.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56.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58.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59.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60.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image" Target="../media/image61.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62.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4.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5.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67.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68.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69.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28756"/>
                </a:solidFill>
                <a:latin typeface="Segoe UI Black"/>
              </a:rPr>
              <a:t>08</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From Virtual Machines to Containers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PART III  ·  CONTAINERS AND LIGHTWEIGHT VIRTUALIZATION</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CHAPTER 8  ·  WEEK 7</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E4D9"/>
                </a:solidFill>
                <a:latin typeface="Segoe UI"/>
              </a:rPr>
              <a:t>From Hypervisors to the Cloud-Native Stack</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58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C0B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D0C5"/>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C0B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62     </a:t>
            </a:r>
            <a:fld id="{E63629BA-0D24-459A-A565-E603C6B9A815}" type="slidenum">
              <a:rPr lang="en-GB" sz="1000">
                <a:solidFill>
                  <a:srgbClr val="8795A1"/>
                </a:solidFill>
                <a:latin typeface="Segoe UI"/>
              </a:rPr>
              <a:t>2</a:t>
            </a:fld>
          </a:p>
        </p:txBody>
      </p:sp>
      <p:sp>
        <p:nvSpPr>
          <p:cNvPr id="7" name="!!rp1"/>
          <p:cNvSpPr txBox="1"/>
          <p:nvPr/>
        </p:nvSpPr>
        <p:spPr>
          <a:xfrm>
            <a:off x="777240"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226723"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226723"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223375" y="1755648"/>
            <a:ext cx="1667468"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B7A43"/>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223375" y="2029967"/>
            <a:ext cx="1667468" cy="4572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220027"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220027"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061231"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061231"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902435"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902435"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257991"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1665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649712"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5582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04143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9499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433154"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3417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108339" y="2112264"/>
            <a:ext cx="566928" cy="566928"/>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108339"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8</a:t>
            </a:r>
          </a:p>
        </p:txBody>
      </p:sp>
      <p:sp>
        <p:nvSpPr>
          <p:cNvPr id="35" name="!!dot9">
            <a:extLst>
              <a:ext uri="{C183D7F6-B498-43B3-948B-1728B52AA6E4}">
                <adec:decorative xmlns:adec="http://schemas.microsoft.com/office/drawing/2017/decorative" val="1"/>
              </a:ext>
            </a:extLst>
          </p:cNvPr>
          <p:cNvSpPr/>
          <p:nvPr/>
        </p:nvSpPr>
        <p:spPr>
          <a:xfrm>
            <a:off x="480181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7103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193533"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1020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585254"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4938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251295"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1598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643016"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5515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03473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432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4264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3350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092499"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0105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48422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3927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87594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7845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267662"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1762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93370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84226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1465723"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B7A43"/>
                </a:solidFill>
                <a:latin typeface="Segoe UI"/>
              </a:rPr>
              <a:t>From Virtual Machines to Containers</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2">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2">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2"/>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Virtualization Architectures</a:t>
            </a:r>
          </a:p>
        </p:txBody>
      </p:sp>
      <p:sp>
        <p:nvSpPr>
          <p:cNvPr id="70" name="!!chipBU6">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bBU6">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tBU6"/>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6  </a:t>
            </a:r>
            <a:r>
              <a:rPr sz="1400" b="0" i="0">
                <a:solidFill>
                  <a:srgbClr val="1C252B"/>
                </a:solidFill>
                <a:latin typeface="Segoe UI"/>
              </a:rPr>
              <a:t>CPU and Memory Virtualization</a:t>
            </a:r>
          </a:p>
        </p:txBody>
      </p:sp>
      <p:sp>
        <p:nvSpPr>
          <p:cNvPr id="73"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4" name="!!chipUS9">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bUS9">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tUS9"/>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9  </a:t>
            </a:r>
            <a:r>
              <a:rPr sz="1400" b="0" i="0">
                <a:solidFill>
                  <a:srgbClr val="1C252B"/>
                </a:solidFill>
                <a:latin typeface="Segoe UI"/>
              </a:rPr>
              <a:t>Docker and the Container Ecosystem</a:t>
            </a:r>
          </a:p>
        </p:txBody>
      </p:sp>
      <p:sp>
        <p:nvSpPr>
          <p:cNvPr id="77" name="!!chipUS10">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chipbUS10">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tUS10"/>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10  </a:t>
            </a:r>
            <a:r>
              <a:rPr sz="1400" b="0" i="0">
                <a:solidFill>
                  <a:srgbClr val="1C252B"/>
                </a:solidFill>
                <a:latin typeface="Segoe UI"/>
              </a:rPr>
              <a:t>Container Orchestration with Kubernetes</a:t>
            </a:r>
          </a:p>
        </p:txBody>
      </p:sp>
      <p:sp>
        <p:nvSpPr>
          <p:cNvPr id="80" name="!!chipUS11">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1" name="!!chipbUS11">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tUS11"/>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11  </a:t>
            </a:r>
            <a:r>
              <a:rPr sz="1400" b="0" i="0">
                <a:solidFill>
                  <a:srgbClr val="1C252B"/>
                </a:solidFill>
                <a:latin typeface="Segoe UI"/>
              </a:rPr>
              <a:t>Lightweight and Secure Virtualization</a:t>
            </a:r>
          </a:p>
        </p:txBody>
      </p:sp>
      <p:sp>
        <p:nvSpPr>
          <p:cNvPr id="83" name="!!chipUS13">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4" name="!!chipbUS13">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chiptUS13"/>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13  </a:t>
            </a:r>
            <a:r>
              <a:rPr sz="1400" b="0" i="0">
                <a:solidFill>
                  <a:srgbClr val="1C252B"/>
                </a:solidFill>
                <a:latin typeface="Segoe UI"/>
              </a:rPr>
              <a:t>Network Virtualization and SDN</a:t>
            </a:r>
          </a:p>
        </p:txBody>
      </p:sp>
      <p:sp>
        <p:nvSpPr>
          <p:cNvPr id="86" name="!!chipUS19">
            <a:extLst>
              <a:ext uri="{C183D7F6-B498-43B3-948B-1728B52AA6E4}">
                <adec:decorative xmlns:adec="http://schemas.microsoft.com/office/drawing/2017/decorative" val="1"/>
              </a:ext>
            </a:extLst>
          </p:cNvPr>
          <p:cNvSpPr/>
          <p:nvPr/>
        </p:nvSpPr>
        <p:spPr>
          <a:xfrm>
            <a:off x="6324447" y="5833872"/>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bUS19">
            <a:extLst>
              <a:ext uri="{C183D7F6-B498-43B3-948B-1728B52AA6E4}">
                <adec:decorative xmlns:adec="http://schemas.microsoft.com/office/drawing/2017/decorative" val="1"/>
              </a:ext>
            </a:extLst>
          </p:cNvPr>
          <p:cNvSpPr/>
          <p:nvPr/>
        </p:nvSpPr>
        <p:spPr>
          <a:xfrm>
            <a:off x="6324447" y="5833872"/>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8" name="!!chiptUS19"/>
          <p:cNvSpPr txBox="1"/>
          <p:nvPr/>
        </p:nvSpPr>
        <p:spPr>
          <a:xfrm>
            <a:off x="6525615" y="5925312"/>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19  </a:t>
            </a:r>
            <a:r>
              <a:rPr sz="1400" b="0" i="0">
                <a:solidFill>
                  <a:srgbClr val="1C252B"/>
                </a:solidFill>
                <a:latin typeface="Segoe UI"/>
              </a:rPr>
              <a:t>Security in Virtualized Environments</a:t>
            </a:r>
          </a:p>
        </p:txBody>
      </p:sp>
      <p:sp>
        <p:nvSpPr>
          <p:cNvPr id="8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pfill">
            <a:extLst>
              <a:ext uri="{C183D7F6-B498-43B3-948B-1728B52AA6E4}">
                <adec:decorative xmlns:adec="http://schemas.microsoft.com/office/drawing/2017/decorative" val="1"/>
              </a:ext>
            </a:extLst>
          </p:cNvPr>
          <p:cNvSpPr/>
          <p:nvPr/>
        </p:nvSpPr>
        <p:spPr>
          <a:xfrm>
            <a:off x="0" y="0"/>
            <a:ext cx="54185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62     </a:t>
            </a:r>
            <a:fld id="{153666C6-BE89-474F-8800-086641E04D24}"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Explain</a:t>
            </a:r>
            <a:r>
              <a:rPr sz="2100" b="0" i="0">
                <a:solidFill>
                  <a:srgbClr val="1C252B"/>
                </a:solidFill>
                <a:latin typeface="Segoe UI"/>
              </a:rPr>
              <a:t> where a container cuts the stack, and </a:t>
            </a:r>
            <a:r>
              <a:rPr sz="2100" b="1" i="0">
                <a:solidFill>
                  <a:srgbClr val="1C252B"/>
                </a:solidFill>
                <a:latin typeface="Segoe UI"/>
              </a:rPr>
              <a:t>contrast</a:t>
            </a:r>
            <a:r>
              <a:rPr sz="2100" b="0" i="0">
                <a:solidFill>
                  <a:srgbClr val="1C252B"/>
                </a:solidFill>
                <a:latin typeface="Segoe UI"/>
              </a:rPr>
              <a:t> it with where a hypervisor cuts it.</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111703"/>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Name</a:t>
            </a:r>
            <a:r>
              <a:rPr sz="2100" b="0" i="0">
                <a:solidFill>
                  <a:srgbClr val="1C252B"/>
                </a:solidFill>
                <a:latin typeface="Segoe UI"/>
              </a:rPr>
              <a:t> the Linux namespaces and </a:t>
            </a:r>
            <a:r>
              <a:rPr sz="2100" b="1" i="0">
                <a:solidFill>
                  <a:srgbClr val="1C252B"/>
                </a:solidFill>
                <a:latin typeface="Segoe UI"/>
              </a:rPr>
              <a:t>state</a:t>
            </a:r>
            <a:r>
              <a:rPr sz="2100" b="0" i="0">
                <a:solidFill>
                  <a:srgbClr val="1C252B"/>
                </a:solidFill>
                <a:latin typeface="Segoe UI"/>
              </a:rPr>
              <a:t> what each one isolates.</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664915"/>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Use</a:t>
            </a:r>
            <a:r>
              <a:rPr sz="2100" b="0" i="0">
                <a:solidFill>
                  <a:srgbClr val="1C252B"/>
                </a:solidFill>
                <a:latin typeface="Segoe UI"/>
              </a:rPr>
              <a:t> control groups to limit a process tree’s CPU and memory, and </a:t>
            </a:r>
            <a:r>
              <a:rPr sz="2100" b="1" i="0">
                <a:solidFill>
                  <a:srgbClr val="1C252B"/>
                </a:solidFill>
                <a:latin typeface="Segoe UI"/>
              </a:rPr>
              <a:t>explain</a:t>
            </a:r>
            <a:r>
              <a:rPr sz="2100" b="0" i="0">
                <a:solidFill>
                  <a:srgbClr val="1C252B"/>
                </a:solidFill>
                <a:latin typeface="Segoe UI"/>
              </a:rPr>
              <a:t> what happens when a limit is reached.</a:t>
            </a:r>
          </a:p>
        </p:txBody>
      </p:sp>
      <p:sp>
        <p:nvSpPr>
          <p:cNvPr id="17" name="!!ob3">
            <a:extLst>
              <a:ext uri="{C183D7F6-B498-43B3-948B-1728B52AA6E4}">
                <adec:decorative xmlns:adec="http://schemas.microsoft.com/office/drawing/2017/decorative" val="1"/>
              </a:ext>
            </a:extLst>
          </p:cNvPr>
          <p:cNvSpPr/>
          <p:nvPr/>
        </p:nvSpPr>
        <p:spPr>
          <a:xfrm>
            <a:off x="658368" y="4522622"/>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58205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51347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Describe</a:t>
            </a:r>
            <a:r>
              <a:rPr sz="2100" b="0" i="0">
                <a:solidFill>
                  <a:srgbClr val="1C252B"/>
                </a:solidFill>
                <a:latin typeface="Segoe UI"/>
              </a:rPr>
              <a:t> how an overlay filesystem gives every container a private root from shared read-only layers.</a:t>
            </a:r>
          </a:p>
        </p:txBody>
      </p:sp>
      <p:sp>
        <p:nvSpPr>
          <p:cNvPr id="20" name="!!ob4">
            <a:extLst>
              <a:ext uri="{C183D7F6-B498-43B3-948B-1728B52AA6E4}">
                <adec:decorative xmlns:adec="http://schemas.microsoft.com/office/drawing/2017/decorative" val="1"/>
              </a:ext>
            </a:extLst>
          </p:cNvPr>
          <p:cNvSpPr/>
          <p:nvPr/>
        </p:nvSpPr>
        <p:spPr>
          <a:xfrm>
            <a:off x="658368" y="5371185"/>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43062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36204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Compute</a:t>
            </a:r>
            <a:r>
              <a:rPr sz="2100" b="0" i="0">
                <a:solidFill>
                  <a:srgbClr val="1C252B"/>
                </a:solidFill>
                <a:latin typeface="Segoe UI"/>
              </a:rPr>
              <a:t> the density and start-up advantage of containers over virtual machines, and </a:t>
            </a:r>
            <a:r>
              <a:rPr sz="2100" b="1" i="0">
                <a:solidFill>
                  <a:srgbClr val="1C252B"/>
                </a:solidFill>
                <a:latin typeface="Segoe UI"/>
              </a:rPr>
              <a:t>state</a:t>
            </a:r>
            <a:r>
              <a:rPr sz="2100" b="0" i="0">
                <a:solidFill>
                  <a:srgbClr val="1C252B"/>
                </a:solidFill>
                <a:latin typeface="Segoe UI"/>
              </a:rPr>
              <a:t> precisely what is given up for it.</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1277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62     </a:t>
            </a:r>
            <a:fld id="{8332B547-3CD6-4B49-9C19-DAAAEC050840}" type="slidenum">
              <a:rPr lang="en-GB" sz="1000">
                <a:solidFill>
                  <a:srgbClr val="8795A1"/>
                </a:solidFill>
                <a:latin typeface="Segoe UI"/>
              </a:rPr>
              <a:t>4</a:t>
            </a:fld>
          </a:p>
        </p:txBody>
      </p:sp>
      <p:sp>
        <p:nvSpPr>
          <p:cNvPr id="7" name="!!term-OS-level virtu">
            <a:extLst>
              <a:ext uri="{C183D7F6-B498-43B3-948B-1728B52AA6E4}">
                <adec:decorative xmlns:adec="http://schemas.microsoft.com/office/drawing/2017/decorative" val="1"/>
              </a:ext>
            </a:extLst>
          </p:cNvPr>
          <p:cNvSpPr/>
          <p:nvPr/>
        </p:nvSpPr>
        <p:spPr>
          <a:xfrm>
            <a:off x="658368" y="1847088"/>
            <a:ext cx="230999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OS-level virtu">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OS-level virtu"/>
          <p:cNvSpPr txBox="1"/>
          <p:nvPr/>
        </p:nvSpPr>
        <p:spPr>
          <a:xfrm>
            <a:off x="950976" y="1970532"/>
            <a:ext cx="212711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OS-level virtualization</a:t>
            </a:r>
          </a:p>
        </p:txBody>
      </p:sp>
      <p:sp>
        <p:nvSpPr>
          <p:cNvPr id="10" name="!!term-container">
            <a:extLst>
              <a:ext uri="{C183D7F6-B498-43B3-948B-1728B52AA6E4}">
                <adec:decorative xmlns:adec="http://schemas.microsoft.com/office/drawing/2017/decorative" val="1"/>
              </a:ext>
            </a:extLst>
          </p:cNvPr>
          <p:cNvSpPr/>
          <p:nvPr/>
        </p:nvSpPr>
        <p:spPr>
          <a:xfrm>
            <a:off x="3114664" y="1847088"/>
            <a:ext cx="124354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container">
            <a:extLst>
              <a:ext uri="{C183D7F6-B498-43B3-948B-1728B52AA6E4}">
                <adec:decorative xmlns:adec="http://schemas.microsoft.com/office/drawing/2017/decorative" val="1"/>
              </a:ext>
            </a:extLst>
          </p:cNvPr>
          <p:cNvSpPr/>
          <p:nvPr/>
        </p:nvSpPr>
        <p:spPr>
          <a:xfrm>
            <a:off x="324268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container"/>
          <p:cNvSpPr txBox="1"/>
          <p:nvPr/>
        </p:nvSpPr>
        <p:spPr>
          <a:xfrm>
            <a:off x="3407272" y="1970532"/>
            <a:ext cx="106066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container</a:t>
            </a:r>
          </a:p>
        </p:txBody>
      </p:sp>
      <p:sp>
        <p:nvSpPr>
          <p:cNvPr id="13" name="!!term-namespace">
            <a:extLst>
              <a:ext uri="{C183D7F6-B498-43B3-948B-1728B52AA6E4}">
                <adec:decorative xmlns:adec="http://schemas.microsoft.com/office/drawing/2017/decorative" val="1"/>
              </a:ext>
            </a:extLst>
          </p:cNvPr>
          <p:cNvSpPr/>
          <p:nvPr/>
        </p:nvSpPr>
        <p:spPr>
          <a:xfrm>
            <a:off x="4504518" y="1847088"/>
            <a:ext cx="140362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namespace">
            <a:extLst>
              <a:ext uri="{C183D7F6-B498-43B3-948B-1728B52AA6E4}">
                <adec:decorative xmlns:adec="http://schemas.microsoft.com/office/drawing/2017/decorative" val="1"/>
              </a:ext>
            </a:extLst>
          </p:cNvPr>
          <p:cNvSpPr/>
          <p:nvPr/>
        </p:nvSpPr>
        <p:spPr>
          <a:xfrm>
            <a:off x="463253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namespace"/>
          <p:cNvSpPr txBox="1"/>
          <p:nvPr/>
        </p:nvSpPr>
        <p:spPr>
          <a:xfrm>
            <a:off x="4797126" y="1970532"/>
            <a:ext cx="122074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namespace</a:t>
            </a:r>
          </a:p>
        </p:txBody>
      </p:sp>
      <p:sp>
        <p:nvSpPr>
          <p:cNvPr id="16" name="!!term-mount namespac">
            <a:extLst>
              <a:ext uri="{C183D7F6-B498-43B3-948B-1728B52AA6E4}">
                <adec:decorative xmlns:adec="http://schemas.microsoft.com/office/drawing/2017/decorative" val="1"/>
              </a:ext>
            </a:extLst>
          </p:cNvPr>
          <p:cNvSpPr/>
          <p:nvPr/>
        </p:nvSpPr>
        <p:spPr>
          <a:xfrm>
            <a:off x="6054444" y="1847088"/>
            <a:ext cx="202385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mount namespac">
            <a:extLst>
              <a:ext uri="{C183D7F6-B498-43B3-948B-1728B52AA6E4}">
                <adec:decorative xmlns:adec="http://schemas.microsoft.com/office/drawing/2017/decorative" val="1"/>
              </a:ext>
            </a:extLst>
          </p:cNvPr>
          <p:cNvSpPr/>
          <p:nvPr/>
        </p:nvSpPr>
        <p:spPr>
          <a:xfrm>
            <a:off x="618246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mount namespac"/>
          <p:cNvSpPr txBox="1"/>
          <p:nvPr/>
        </p:nvSpPr>
        <p:spPr>
          <a:xfrm>
            <a:off x="6347052" y="1970532"/>
            <a:ext cx="184097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mount namespace</a:t>
            </a:r>
          </a:p>
        </p:txBody>
      </p:sp>
      <p:sp>
        <p:nvSpPr>
          <p:cNvPr id="19" name="!!term-PID namespace">
            <a:extLst>
              <a:ext uri="{C183D7F6-B498-43B3-948B-1728B52AA6E4}">
                <adec:decorative xmlns:adec="http://schemas.microsoft.com/office/drawing/2017/decorative" val="1"/>
              </a:ext>
            </a:extLst>
          </p:cNvPr>
          <p:cNvSpPr/>
          <p:nvPr/>
        </p:nvSpPr>
        <p:spPr>
          <a:xfrm>
            <a:off x="8224607" y="1847088"/>
            <a:ext cx="175357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PID namespace">
            <a:extLst>
              <a:ext uri="{C183D7F6-B498-43B3-948B-1728B52AA6E4}">
                <adec:decorative xmlns:adec="http://schemas.microsoft.com/office/drawing/2017/decorative" val="1"/>
              </a:ext>
            </a:extLst>
          </p:cNvPr>
          <p:cNvSpPr/>
          <p:nvPr/>
        </p:nvSpPr>
        <p:spPr>
          <a:xfrm>
            <a:off x="835262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PID namespace"/>
          <p:cNvSpPr txBox="1"/>
          <p:nvPr/>
        </p:nvSpPr>
        <p:spPr>
          <a:xfrm>
            <a:off x="8517215" y="1970532"/>
            <a:ext cx="157069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PID namespace</a:t>
            </a:r>
          </a:p>
        </p:txBody>
      </p:sp>
      <p:sp>
        <p:nvSpPr>
          <p:cNvPr id="22" name="!!term-network namesp">
            <a:extLst>
              <a:ext uri="{C183D7F6-B498-43B3-948B-1728B52AA6E4}">
                <adec:decorative xmlns:adec="http://schemas.microsoft.com/office/drawing/2017/decorative" val="1"/>
              </a:ext>
            </a:extLst>
          </p:cNvPr>
          <p:cNvSpPr/>
          <p:nvPr/>
        </p:nvSpPr>
        <p:spPr>
          <a:xfrm>
            <a:off x="658368" y="2468880"/>
            <a:ext cx="215287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network namesp">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network namesp"/>
          <p:cNvSpPr txBox="1"/>
          <p:nvPr/>
        </p:nvSpPr>
        <p:spPr>
          <a:xfrm>
            <a:off x="950976" y="2592324"/>
            <a:ext cx="196999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network namespace</a:t>
            </a:r>
          </a:p>
        </p:txBody>
      </p:sp>
      <p:sp>
        <p:nvSpPr>
          <p:cNvPr id="25" name="!!term-user namespace">
            <a:extLst>
              <a:ext uri="{C183D7F6-B498-43B3-948B-1728B52AA6E4}">
                <adec:decorative xmlns:adec="http://schemas.microsoft.com/office/drawing/2017/decorative" val="1"/>
              </a:ext>
            </a:extLst>
          </p:cNvPr>
          <p:cNvSpPr/>
          <p:nvPr/>
        </p:nvSpPr>
        <p:spPr>
          <a:xfrm>
            <a:off x="2957543" y="2468880"/>
            <a:ext cx="181847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user namespace">
            <a:extLst>
              <a:ext uri="{C183D7F6-B498-43B3-948B-1728B52AA6E4}">
                <adec:decorative xmlns:adec="http://schemas.microsoft.com/office/drawing/2017/decorative" val="1"/>
              </a:ext>
            </a:extLst>
          </p:cNvPr>
          <p:cNvSpPr/>
          <p:nvPr/>
        </p:nvSpPr>
        <p:spPr>
          <a:xfrm>
            <a:off x="308555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user namespace"/>
          <p:cNvSpPr txBox="1"/>
          <p:nvPr/>
        </p:nvSpPr>
        <p:spPr>
          <a:xfrm>
            <a:off x="3250151" y="2592324"/>
            <a:ext cx="163559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user namespace</a:t>
            </a:r>
          </a:p>
        </p:txBody>
      </p:sp>
      <p:sp>
        <p:nvSpPr>
          <p:cNvPr id="28" name="!!term-control group">
            <a:extLst>
              <a:ext uri="{C183D7F6-B498-43B3-948B-1728B52AA6E4}">
                <adec:decorative xmlns:adec="http://schemas.microsoft.com/office/drawing/2017/decorative" val="1"/>
              </a:ext>
            </a:extLst>
          </p:cNvPr>
          <p:cNvSpPr/>
          <p:nvPr/>
        </p:nvSpPr>
        <p:spPr>
          <a:xfrm>
            <a:off x="4922321" y="2468880"/>
            <a:ext cx="162023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control group">
            <a:extLst>
              <a:ext uri="{C183D7F6-B498-43B3-948B-1728B52AA6E4}">
                <adec:decorative xmlns:adec="http://schemas.microsoft.com/office/drawing/2017/decorative" val="1"/>
              </a:ext>
            </a:extLst>
          </p:cNvPr>
          <p:cNvSpPr/>
          <p:nvPr/>
        </p:nvSpPr>
        <p:spPr>
          <a:xfrm>
            <a:off x="505033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control group"/>
          <p:cNvSpPr txBox="1"/>
          <p:nvPr/>
        </p:nvSpPr>
        <p:spPr>
          <a:xfrm>
            <a:off x="5214929" y="2592324"/>
            <a:ext cx="143735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control group</a:t>
            </a:r>
          </a:p>
        </p:txBody>
      </p:sp>
      <p:sp>
        <p:nvSpPr>
          <p:cNvPr id="31" name="!!term-cgroup v2">
            <a:extLst>
              <a:ext uri="{C183D7F6-B498-43B3-948B-1728B52AA6E4}">
                <adec:decorative xmlns:adec="http://schemas.microsoft.com/office/drawing/2017/decorative" val="1"/>
              </a:ext>
            </a:extLst>
          </p:cNvPr>
          <p:cNvSpPr/>
          <p:nvPr/>
        </p:nvSpPr>
        <p:spPr>
          <a:xfrm>
            <a:off x="6688863" y="2468880"/>
            <a:ext cx="129986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cgroup v2">
            <a:extLst>
              <a:ext uri="{C183D7F6-B498-43B3-948B-1728B52AA6E4}">
                <adec:decorative xmlns:adec="http://schemas.microsoft.com/office/drawing/2017/decorative" val="1"/>
              </a:ext>
            </a:extLst>
          </p:cNvPr>
          <p:cNvSpPr/>
          <p:nvPr/>
        </p:nvSpPr>
        <p:spPr>
          <a:xfrm>
            <a:off x="681687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cgroup v2"/>
          <p:cNvSpPr txBox="1"/>
          <p:nvPr/>
        </p:nvSpPr>
        <p:spPr>
          <a:xfrm>
            <a:off x="6981471" y="2592324"/>
            <a:ext cx="111698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cgroup v2</a:t>
            </a:r>
          </a:p>
        </p:txBody>
      </p:sp>
      <p:sp>
        <p:nvSpPr>
          <p:cNvPr id="34" name="!!term-cgroup control">
            <a:extLst>
              <a:ext uri="{C183D7F6-B498-43B3-948B-1728B52AA6E4}">
                <adec:decorative xmlns:adec="http://schemas.microsoft.com/office/drawing/2017/decorative" val="1"/>
              </a:ext>
            </a:extLst>
          </p:cNvPr>
          <p:cNvSpPr/>
          <p:nvPr/>
        </p:nvSpPr>
        <p:spPr>
          <a:xfrm>
            <a:off x="8135027" y="2468880"/>
            <a:ext cx="192627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cgroup control">
            <a:extLst>
              <a:ext uri="{C183D7F6-B498-43B3-948B-1728B52AA6E4}">
                <adec:decorative xmlns:adec="http://schemas.microsoft.com/office/drawing/2017/decorative" val="1"/>
              </a:ext>
            </a:extLst>
          </p:cNvPr>
          <p:cNvSpPr/>
          <p:nvPr/>
        </p:nvSpPr>
        <p:spPr>
          <a:xfrm>
            <a:off x="826304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cgroup control"/>
          <p:cNvSpPr txBox="1"/>
          <p:nvPr/>
        </p:nvSpPr>
        <p:spPr>
          <a:xfrm>
            <a:off x="8427635" y="2592324"/>
            <a:ext cx="174339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cgroup controller</a:t>
            </a:r>
          </a:p>
        </p:txBody>
      </p:sp>
      <p:sp>
        <p:nvSpPr>
          <p:cNvPr id="37" name="!!term-union filesyst">
            <a:extLst>
              <a:ext uri="{C183D7F6-B498-43B3-948B-1728B52AA6E4}">
                <adec:decorative xmlns:adec="http://schemas.microsoft.com/office/drawing/2017/decorative" val="1"/>
              </a:ext>
            </a:extLst>
          </p:cNvPr>
          <p:cNvSpPr/>
          <p:nvPr/>
        </p:nvSpPr>
        <p:spPr>
          <a:xfrm>
            <a:off x="658368" y="3090672"/>
            <a:ext cx="183306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union filesyst">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union filesyst"/>
          <p:cNvSpPr txBox="1"/>
          <p:nvPr/>
        </p:nvSpPr>
        <p:spPr>
          <a:xfrm>
            <a:off x="950976" y="3214116"/>
            <a:ext cx="165018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union filesystem</a:t>
            </a:r>
          </a:p>
        </p:txBody>
      </p:sp>
      <p:sp>
        <p:nvSpPr>
          <p:cNvPr id="40" name="!!term-overlayfs">
            <a:extLst>
              <a:ext uri="{C183D7F6-B498-43B3-948B-1728B52AA6E4}">
                <adec:decorative xmlns:adec="http://schemas.microsoft.com/office/drawing/2017/decorative" val="1"/>
              </a:ext>
            </a:extLst>
          </p:cNvPr>
          <p:cNvSpPr/>
          <p:nvPr/>
        </p:nvSpPr>
        <p:spPr>
          <a:xfrm>
            <a:off x="2637733" y="3090672"/>
            <a:ext cx="119826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overlayfs">
            <a:extLst>
              <a:ext uri="{C183D7F6-B498-43B3-948B-1728B52AA6E4}">
                <adec:decorative xmlns:adec="http://schemas.microsoft.com/office/drawing/2017/decorative" val="1"/>
              </a:ext>
            </a:extLst>
          </p:cNvPr>
          <p:cNvSpPr/>
          <p:nvPr/>
        </p:nvSpPr>
        <p:spPr>
          <a:xfrm>
            <a:off x="276574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overlayfs"/>
          <p:cNvSpPr txBox="1"/>
          <p:nvPr/>
        </p:nvSpPr>
        <p:spPr>
          <a:xfrm>
            <a:off x="2930341" y="3214116"/>
            <a:ext cx="101538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overlayfs</a:t>
            </a:r>
          </a:p>
        </p:txBody>
      </p:sp>
      <p:sp>
        <p:nvSpPr>
          <p:cNvPr id="43" name="!!term-lower dir">
            <a:extLst>
              <a:ext uri="{C183D7F6-B498-43B3-948B-1728B52AA6E4}">
                <adec:decorative xmlns:adec="http://schemas.microsoft.com/office/drawing/2017/decorative" val="1"/>
              </a:ext>
            </a:extLst>
          </p:cNvPr>
          <p:cNvSpPr/>
          <p:nvPr/>
        </p:nvSpPr>
        <p:spPr>
          <a:xfrm>
            <a:off x="3982301" y="3090672"/>
            <a:ext cx="119184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lower dir">
            <a:extLst>
              <a:ext uri="{C183D7F6-B498-43B3-948B-1728B52AA6E4}">
                <adec:decorative xmlns:adec="http://schemas.microsoft.com/office/drawing/2017/decorative" val="1"/>
              </a:ext>
            </a:extLst>
          </p:cNvPr>
          <p:cNvSpPr/>
          <p:nvPr/>
        </p:nvSpPr>
        <p:spPr>
          <a:xfrm>
            <a:off x="4110317"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lower dir"/>
          <p:cNvSpPr txBox="1"/>
          <p:nvPr/>
        </p:nvSpPr>
        <p:spPr>
          <a:xfrm>
            <a:off x="4274909" y="3214116"/>
            <a:ext cx="100896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lower dir</a:t>
            </a:r>
          </a:p>
        </p:txBody>
      </p:sp>
      <p:sp>
        <p:nvSpPr>
          <p:cNvPr id="46" name="!!term-upper dir">
            <a:extLst>
              <a:ext uri="{C183D7F6-B498-43B3-948B-1728B52AA6E4}">
                <adec:decorative xmlns:adec="http://schemas.microsoft.com/office/drawing/2017/decorative" val="1"/>
              </a:ext>
            </a:extLst>
          </p:cNvPr>
          <p:cNvSpPr/>
          <p:nvPr/>
        </p:nvSpPr>
        <p:spPr>
          <a:xfrm>
            <a:off x="5320453" y="3090672"/>
            <a:ext cx="122897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upper dir">
            <a:extLst>
              <a:ext uri="{C183D7F6-B498-43B3-948B-1728B52AA6E4}">
                <adec:decorative xmlns:adec="http://schemas.microsoft.com/office/drawing/2017/decorative" val="1"/>
              </a:ext>
            </a:extLst>
          </p:cNvPr>
          <p:cNvSpPr/>
          <p:nvPr/>
        </p:nvSpPr>
        <p:spPr>
          <a:xfrm>
            <a:off x="544846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upper dir"/>
          <p:cNvSpPr txBox="1"/>
          <p:nvPr/>
        </p:nvSpPr>
        <p:spPr>
          <a:xfrm>
            <a:off x="5613061" y="3214116"/>
            <a:ext cx="104609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upper dir</a:t>
            </a:r>
          </a:p>
        </p:txBody>
      </p:sp>
      <p:sp>
        <p:nvSpPr>
          <p:cNvPr id="49" name="!!term-copy-up">
            <a:extLst>
              <a:ext uri="{C183D7F6-B498-43B3-948B-1728B52AA6E4}">
                <adec:decorative xmlns:adec="http://schemas.microsoft.com/office/drawing/2017/decorative" val="1"/>
              </a:ext>
            </a:extLst>
          </p:cNvPr>
          <p:cNvSpPr/>
          <p:nvPr/>
        </p:nvSpPr>
        <p:spPr>
          <a:xfrm>
            <a:off x="6695733" y="3090672"/>
            <a:ext cx="115280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copy-up">
            <a:extLst>
              <a:ext uri="{C183D7F6-B498-43B3-948B-1728B52AA6E4}">
                <adec:decorative xmlns:adec="http://schemas.microsoft.com/office/drawing/2017/decorative" val="1"/>
              </a:ext>
            </a:extLst>
          </p:cNvPr>
          <p:cNvSpPr/>
          <p:nvPr/>
        </p:nvSpPr>
        <p:spPr>
          <a:xfrm>
            <a:off x="682374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copy-up"/>
          <p:cNvSpPr txBox="1"/>
          <p:nvPr/>
        </p:nvSpPr>
        <p:spPr>
          <a:xfrm>
            <a:off x="6988341" y="3214116"/>
            <a:ext cx="96992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copy-up</a:t>
            </a:r>
          </a:p>
        </p:txBody>
      </p:sp>
      <p:sp>
        <p:nvSpPr>
          <p:cNvPr id="52" name="!!term-capability">
            <a:extLst>
              <a:ext uri="{C183D7F6-B498-43B3-948B-1728B52AA6E4}">
                <adec:decorative xmlns:adec="http://schemas.microsoft.com/office/drawing/2017/decorative" val="1"/>
              </a:ext>
            </a:extLst>
          </p:cNvPr>
          <p:cNvSpPr/>
          <p:nvPr/>
        </p:nvSpPr>
        <p:spPr>
          <a:xfrm>
            <a:off x="7994844" y="3090672"/>
            <a:ext cx="125594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capability">
            <a:extLst>
              <a:ext uri="{C183D7F6-B498-43B3-948B-1728B52AA6E4}">
                <adec:decorative xmlns:adec="http://schemas.microsoft.com/office/drawing/2017/decorative" val="1"/>
              </a:ext>
            </a:extLst>
          </p:cNvPr>
          <p:cNvSpPr/>
          <p:nvPr/>
        </p:nvSpPr>
        <p:spPr>
          <a:xfrm>
            <a:off x="812286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capability"/>
          <p:cNvSpPr txBox="1"/>
          <p:nvPr/>
        </p:nvSpPr>
        <p:spPr>
          <a:xfrm>
            <a:off x="8287452" y="3214116"/>
            <a:ext cx="107306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capability</a:t>
            </a:r>
          </a:p>
        </p:txBody>
      </p:sp>
      <p:sp>
        <p:nvSpPr>
          <p:cNvPr id="55" name="!!term-seccomp">
            <a:extLst>
              <a:ext uri="{C183D7F6-B498-43B3-948B-1728B52AA6E4}">
                <adec:decorative xmlns:adec="http://schemas.microsoft.com/office/drawing/2017/decorative" val="1"/>
              </a:ext>
            </a:extLst>
          </p:cNvPr>
          <p:cNvSpPr/>
          <p:nvPr/>
        </p:nvSpPr>
        <p:spPr>
          <a:xfrm>
            <a:off x="9397094" y="3090672"/>
            <a:ext cx="119788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seccomp">
            <a:extLst>
              <a:ext uri="{C183D7F6-B498-43B3-948B-1728B52AA6E4}">
                <adec:decorative xmlns:adec="http://schemas.microsoft.com/office/drawing/2017/decorative" val="1"/>
              </a:ext>
            </a:extLst>
          </p:cNvPr>
          <p:cNvSpPr/>
          <p:nvPr/>
        </p:nvSpPr>
        <p:spPr>
          <a:xfrm>
            <a:off x="952511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seccomp"/>
          <p:cNvSpPr txBox="1"/>
          <p:nvPr/>
        </p:nvSpPr>
        <p:spPr>
          <a:xfrm>
            <a:off x="9689702" y="3214116"/>
            <a:ext cx="101500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seccomp</a:t>
            </a:r>
          </a:p>
        </p:txBody>
      </p:sp>
      <p:sp>
        <p:nvSpPr>
          <p:cNvPr id="58" name="!!term-chroot">
            <a:extLst>
              <a:ext uri="{C183D7F6-B498-43B3-948B-1728B52AA6E4}">
                <adec:decorative xmlns:adec="http://schemas.microsoft.com/office/drawing/2017/decorative" val="1"/>
              </a:ext>
            </a:extLst>
          </p:cNvPr>
          <p:cNvSpPr/>
          <p:nvPr/>
        </p:nvSpPr>
        <p:spPr>
          <a:xfrm>
            <a:off x="658368" y="3712464"/>
            <a:ext cx="99984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rmd-chroot">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rmt-chroot"/>
          <p:cNvSpPr txBox="1"/>
          <p:nvPr/>
        </p:nvSpPr>
        <p:spPr>
          <a:xfrm>
            <a:off x="950976" y="3835908"/>
            <a:ext cx="81696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chroot</a:t>
            </a:r>
          </a:p>
        </p:txBody>
      </p:sp>
      <p:sp>
        <p:nvSpPr>
          <p:cNvPr id="61" name="!!term-rootless conta">
            <a:extLst>
              <a:ext uri="{C183D7F6-B498-43B3-948B-1728B52AA6E4}">
                <adec:decorative xmlns:adec="http://schemas.microsoft.com/office/drawing/2017/decorative" val="1"/>
              </a:ext>
            </a:extLst>
          </p:cNvPr>
          <p:cNvSpPr/>
          <p:nvPr/>
        </p:nvSpPr>
        <p:spPr>
          <a:xfrm>
            <a:off x="1804517" y="3712464"/>
            <a:ext cx="197139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rmd-rootless conta">
            <a:extLst>
              <a:ext uri="{C183D7F6-B498-43B3-948B-1728B52AA6E4}">
                <adec:decorative xmlns:adec="http://schemas.microsoft.com/office/drawing/2017/decorative" val="1"/>
              </a:ext>
            </a:extLst>
          </p:cNvPr>
          <p:cNvSpPr/>
          <p:nvPr/>
        </p:nvSpPr>
        <p:spPr>
          <a:xfrm>
            <a:off x="1932533"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termt-rootless conta"/>
          <p:cNvSpPr txBox="1"/>
          <p:nvPr/>
        </p:nvSpPr>
        <p:spPr>
          <a:xfrm>
            <a:off x="2097125" y="3835908"/>
            <a:ext cx="178851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rootless container</a:t>
            </a:r>
          </a:p>
        </p:txBody>
      </p:sp>
      <p:sp>
        <p:nvSpPr>
          <p:cNvPr id="64" name="!!term-shared kernel">
            <a:extLst>
              <a:ext uri="{C183D7F6-B498-43B3-948B-1728B52AA6E4}">
                <adec:decorative xmlns:adec="http://schemas.microsoft.com/office/drawing/2017/decorative" val="1"/>
              </a:ext>
            </a:extLst>
          </p:cNvPr>
          <p:cNvSpPr/>
          <p:nvPr/>
        </p:nvSpPr>
        <p:spPr>
          <a:xfrm>
            <a:off x="3922217" y="3712464"/>
            <a:ext cx="159145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5" name="!!termd-shared kernel">
            <a:extLst>
              <a:ext uri="{C183D7F6-B498-43B3-948B-1728B52AA6E4}">
                <adec:decorative xmlns:adec="http://schemas.microsoft.com/office/drawing/2017/decorative" val="1"/>
              </a:ext>
            </a:extLst>
          </p:cNvPr>
          <p:cNvSpPr/>
          <p:nvPr/>
        </p:nvSpPr>
        <p:spPr>
          <a:xfrm>
            <a:off x="4050233"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termt-shared kernel"/>
          <p:cNvSpPr txBox="1"/>
          <p:nvPr/>
        </p:nvSpPr>
        <p:spPr>
          <a:xfrm>
            <a:off x="4214825" y="3835908"/>
            <a:ext cx="140857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shared kernel</a:t>
            </a:r>
          </a:p>
        </p:txBody>
      </p:sp>
      <p:sp>
        <p:nvSpPr>
          <p:cNvPr id="67"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6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pfill">
            <a:extLst>
              <a:ext uri="{C183D7F6-B498-43B3-948B-1728B52AA6E4}">
                <adec:decorative xmlns:adec="http://schemas.microsoft.com/office/drawing/2017/decorative" val="1"/>
              </a:ext>
            </a:extLst>
          </p:cNvPr>
          <p:cNvSpPr/>
          <p:nvPr/>
        </p:nvSpPr>
        <p:spPr>
          <a:xfrm>
            <a:off x="0" y="0"/>
            <a:ext cx="108370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62–68     </a:t>
            </a:r>
            <a:fld id="{36ECC405-01D0-4292-8F3B-89C03AEB67A7}" type="slidenum">
              <a:rPr lang="en-GB" sz="1000">
                <a:solidFill>
                  <a:srgbClr val="8795A1"/>
                </a:solidFill>
                <a:latin typeface="Segoe UI"/>
              </a:rPr>
              <a:t>5</a:t>
            </a:fld>
          </a:p>
        </p:txBody>
      </p:sp>
      <p:sp>
        <p:nvSpPr>
          <p:cNvPr id="7" name="!!ag0" descr="Go to section 8.1 A Different Place to Cut">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8.1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A Different Place to Cut</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62  ›</a:t>
            </a:r>
          </a:p>
        </p:txBody>
      </p:sp>
      <p:sp>
        <p:nvSpPr>
          <p:cNvPr id="12" name="!!ag1" descr="Go to section 8.2 Namespace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8.2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Namespaces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63  ›</a:t>
            </a:r>
          </a:p>
        </p:txBody>
      </p:sp>
      <p:sp>
        <p:nvSpPr>
          <p:cNvPr id="17" name="!!ag2" descr="Go to section 8.3 Control Groups">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8.3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Control Groups</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64  ›</a:t>
            </a:r>
          </a:p>
        </p:txBody>
      </p:sp>
      <p:sp>
        <p:nvSpPr>
          <p:cNvPr id="22" name="!!ag3" descr="Go to section 8.4 The Image, and the Union Filesystem">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8.4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Image, and the Union Filesystem</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65  ›</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135463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A Different Place to Cut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1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8.1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8.1   A Different Place to Cut</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8.2   Namespaces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8.3   Control Groups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8.4   The Image, and the Union Filesystem</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§8.1     </a:t>
            </a:r>
            <a:fld id="{369EB2FE-73A8-461B-8528-D786638FC3B5}" type="slidenum">
              <a:rPr lang="en-GB" sz="1000">
                <a:solidFill>
                  <a:srgbClr val="8795A1"/>
                </a:solidFill>
                <a:latin typeface="Segoe UI"/>
              </a:rPr>
              <a:t>6</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162555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whole of Part III in one picture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8.1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§8.1  ·  Handout p. 62     </a:t>
            </a:r>
            <a:fld id="{282B271F-6472-4706-ACA7-0D77A0EF7989}" type="slidenum">
              <a:rPr lang="en-GB" sz="1000">
                <a:solidFill>
                  <a:srgbClr val="8795A1"/>
                </a:solidFill>
                <a:latin typeface="Segoe UI"/>
              </a:rPr>
              <a:t>7</a:t>
            </a:fld>
          </a:p>
        </p:txBody>
      </p:sp>
      <p:pic>
        <p:nvPicPr>
          <p:cNvPr id="6" name="!!figure" descr="Figure 8.1. The whole of Part III in one picture. Nothing else about containers is a new idea — only the height at which the stack is cu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82113" y="1737360"/>
            <a:ext cx="9227467"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Nothing else about containers is a new idea — only the height at which the stack is cut.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89648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Container</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§8.1  ·  Handout p. 62     </a:t>
            </a:r>
            <a:fld id="{24F90898-D80D-4B65-A055-02974437D05E}"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98773"/>
          </a:xfrm>
          <a:prstGeom prst="roundRect">
            <a:avLst>
              <a:gd name="adj" fmla="val 2472"/>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98773"/>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a:t>
            </a:r>
            <a:r>
              <a:rPr sz="2300" b="1" i="0">
                <a:solidFill>
                  <a:srgbClr val="1A5276"/>
                </a:solidFill>
                <a:latin typeface="Segoe UI"/>
              </a:rPr>
              <a:t>container</a:t>
            </a:r>
            <a:r>
              <a:rPr sz="2300" b="0" i="0">
                <a:solidFill>
                  <a:srgbClr val="1C252B"/>
                </a:solidFill>
                <a:latin typeface="Segoe UI"/>
              </a:rPr>
              <a:t> is a group of processes on a shared kernel, given a private view of the system by </a:t>
            </a:r>
            <a:r>
              <a:rPr sz="2300" b="1" i="0">
                <a:solidFill>
                  <a:srgbClr val="1A5276"/>
                </a:solidFill>
                <a:latin typeface="Segoe UI"/>
              </a:rPr>
              <a:t>namespaces</a:t>
            </a:r>
            <a:r>
              <a:rPr sz="2300" b="0" i="0">
                <a:solidFill>
                  <a:srgbClr val="1C252B"/>
                </a:solidFill>
                <a:latin typeface="Segoe UI"/>
              </a:rPr>
              <a:t> and a bounded share of its resources by </a:t>
            </a:r>
            <a:r>
              <a:rPr sz="2300" b="1" i="0">
                <a:solidFill>
                  <a:srgbClr val="1A5276"/>
                </a:solidFill>
                <a:latin typeface="Segoe UI"/>
              </a:rPr>
              <a:t>control groups</a:t>
            </a:r>
            <a:r>
              <a:rPr sz="2300" b="0" i="0">
                <a:solidFill>
                  <a:srgbClr val="1C252B"/>
                </a:solidFill>
                <a:latin typeface="Segoe UI"/>
              </a:rPr>
              <a:t>, usually running from a filesystem image assembled by a </a:t>
            </a:r>
            <a:r>
              <a:rPr sz="2300" b="1" i="0">
                <a:solidFill>
                  <a:srgbClr val="1A5276"/>
                </a:solidFill>
                <a:latin typeface="Segoe UI"/>
              </a:rPr>
              <a:t>union filesystem</a:t>
            </a:r>
            <a:r>
              <a:rPr sz="2300" b="0" i="0">
                <a:solidFill>
                  <a:srgbClr val="1C252B"/>
                </a:solidFill>
                <a:latin typeface="Segoe UI"/>
              </a:rPr>
              <a:t>.</a:t>
            </a:r>
          </a:p>
        </p:txBody>
      </p:sp>
      <p:sp>
        <p:nvSpPr>
          <p:cNvPr id="10" name="body-1"/>
          <p:cNvSpPr txBox="1"/>
          <p:nvPr/>
        </p:nvSpPr>
        <p:spPr>
          <a:xfrm>
            <a:off x="1060704" y="3667074"/>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There is no “container” object in the Linux kernel. The kernel has namespaces, cgroups, capabilities and mounts; a container is a convention about using them together, and Docker’s contribution was the convention and the packaging, not the mechanism.</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216741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Namespaces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2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8.2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8.1   A Different Place to Cut</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8.2   Namespaces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8.3   Control Groups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8.4   The Image, and the Union Filesystem</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§8.2     </a:t>
            </a:r>
            <a:fld id="{AE4E1EAD-38FC-46F6-A1D5-1B545C6F6ADC}" type="slidenum">
              <a:rPr lang="en-GB" sz="1000">
                <a:solidFill>
                  <a:srgbClr val="8795A1"/>
                </a:solidFill>
                <a:latin typeface="Segoe UI"/>
              </a:rPr>
              <a:t>9</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43833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Namespaces</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§8.2  ·  Handout p. 63     </a:t>
            </a:r>
            <a:fld id="{6442AD4D-937D-481D-967A-A937F97AAA68}" type="slidenum">
              <a:rPr lang="en-GB" sz="1000">
                <a:solidFill>
                  <a:srgbClr val="8795A1"/>
                </a:solidFill>
                <a:latin typeface="Segoe UI"/>
              </a:rPr>
              <a:t>10</a:t>
            </a:fld>
          </a:p>
        </p:txBody>
      </p:sp>
      <p:graphicFrame>
        <p:nvGraphicFramePr>
          <p:cNvPr id="7" name="!!table"/>
          <p:cNvGraphicFramePr>
            <a:graphicFrameLocks noGrp="1"/>
          </p:cNvGraphicFramePr>
          <p:nvPr/>
        </p:nvGraphicFramePr>
        <p:xfrm>
          <a:off x="658368" y="1737360"/>
          <a:ext cx="10874957" cy="4288536"/>
        </p:xfrm>
        <a:graphic>
          <a:graphicData uri="http://schemas.openxmlformats.org/drawingml/2006/table">
            <a:tbl>
              <a:tblPr firstRow="0" bandRow="0" firstCol="0" lastRow="0" lastCol="0" bandCol="0">
                <a:tableStyleId>{2D5ABB26-0587-4C30-8999-92F81FD0307C}</a:tableStyleId>
              </a:tblPr>
              <a:tblGrid>
                <a:gridCol w="1849482"/>
                <a:gridCol w="961731"/>
                <a:gridCol w="3994882"/>
                <a:gridCol w="4068862"/>
              </a:tblGrid>
              <a:tr h="344424">
                <a:tc>
                  <a:txBody>
                    <a:bodyPr wrap="square"/>
                    <a:lstStyle/>
                    <a:p>
                      <a:pPr algn="l"/>
                      <a:r>
                        <a:rPr sz="1300" b="1" i="0">
                          <a:solidFill>
                            <a:srgbClr val="1A5276"/>
                          </a:solidFill>
                          <a:latin typeface="Segoe UI"/>
                        </a:rPr>
                        <a:t>Namespace</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300" b="1" i="0">
                          <a:solidFill>
                            <a:srgbClr val="1A5276"/>
                          </a:solidFill>
                          <a:latin typeface="Segoe UI"/>
                        </a:rPr>
                        <a:t>Year</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300" b="1" i="0">
                          <a:solidFill>
                            <a:srgbClr val="1A5276"/>
                          </a:solidFill>
                          <a:latin typeface="Segoe UI"/>
                        </a:rPr>
                        <a:t>What it isolates</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300" b="1" i="0">
                          <a:solidFill>
                            <a:srgbClr val="1A5276"/>
                          </a:solidFill>
                          <a:latin typeface="Segoe UI"/>
                        </a:rPr>
                        <a:t>Consequence inside</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542544">
                <a:tc>
                  <a:txBody>
                    <a:bodyPr wrap="square"/>
                    <a:lstStyle/>
                    <a:p>
                      <a:pPr algn="l"/>
                      <a:r>
                        <a:rPr sz="1300" b="1" i="0">
                          <a:solidFill>
                            <a:srgbClr val="1A5276"/>
                          </a:solidFill>
                          <a:latin typeface="Segoe UI"/>
                        </a:rPr>
                        <a:t>mount</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2002</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The set of mount points</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A private filesystem tree — this is the one that makes an image work</a:t>
                      </a:r>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l"/>
                      <a:r>
                        <a:rPr sz="1300" b="1" i="0">
                          <a:solidFill>
                            <a:srgbClr val="1A5276"/>
                          </a:solidFill>
                          <a:latin typeface="Segoe UI"/>
                        </a:rPr>
                        <a:t>UTS</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2006</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Hostname and domain name</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F4E79"/>
                          </a:solidFill>
                          <a:latin typeface="Consolas"/>
                        </a:rPr>
                        <a:t>hostname</a:t>
                      </a:r>
                      <a:r>
                        <a:rPr sz="1300" b="0" i="0">
                          <a:solidFill>
                            <a:srgbClr val="1C252B"/>
                          </a:solidFill>
                          <a:latin typeface="Segoe UI"/>
                        </a:rPr>
                        <a:t> returns something of its own</a:t>
                      </a:r>
                      <a:endParaRPr sz="1300"/>
                    </a:p>
                  </a:txBody>
                  <a:tcPr marL="109728" marR="109728" marT="64008" marB="45720" anchor="t">
                    <a:lnL w="0" cmpd="sng">
                      <a:noFill/>
                    </a:lnL>
                    <a:lnR w="0" cmpd="sng">
                      <a:noFill/>
                    </a:lnR>
                    <a:lnT w="9525" cmpd="sng">
                      <a:noFill/>
                    </a:lnT>
                    <a:lnB w="9525" cmpd="sng">
                      <a:noFill/>
                    </a:lnB>
                    <a:solidFill>
                      <a:srgbClr val="F2F8FC"/>
                    </a:solidFill>
                  </a:tcPr>
                </a:tc>
              </a:tr>
              <a:tr h="542544">
                <a:tc>
                  <a:txBody>
                    <a:bodyPr wrap="square"/>
                    <a:lstStyle/>
                    <a:p>
                      <a:pPr algn="l"/>
                      <a:r>
                        <a:rPr sz="1300" b="1" i="0">
                          <a:solidFill>
                            <a:srgbClr val="1A5276"/>
                          </a:solidFill>
                          <a:latin typeface="Segoe UI"/>
                        </a:rPr>
                        <a:t>IPC</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2006</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System V IPC, POSIX message queues</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Shared memory segments cannot be reached from outside</a:t>
                      </a:r>
                      <a:endParaRPr sz="1300"/>
                    </a:p>
                  </a:txBody>
                  <a:tcPr marL="109728" marR="109728" marT="64008" marB="45720" anchor="t">
                    <a:lnL w="0" cmpd="sng">
                      <a:noFill/>
                    </a:lnL>
                    <a:lnR w="0" cmpd="sng">
                      <a:noFill/>
                    </a:lnR>
                    <a:lnT w="9525" cmpd="sng">
                      <a:noFill/>
                    </a:lnT>
                    <a:lnB w="9525" cmpd="sng">
                      <a:noFill/>
                    </a:lnB>
                    <a:solidFill>
                      <a:srgbClr val="FFFFFF"/>
                    </a:solidFill>
                  </a:tcPr>
                </a:tc>
              </a:tr>
              <a:tr h="542544">
                <a:tc>
                  <a:txBody>
                    <a:bodyPr wrap="square"/>
                    <a:lstStyle/>
                    <a:p>
                      <a:pPr algn="l"/>
                      <a:r>
                        <a:rPr sz="1300" b="1" i="0">
                          <a:solidFill>
                            <a:srgbClr val="1A5276"/>
                          </a:solidFill>
                          <a:latin typeface="Segoe UI"/>
                        </a:rPr>
                        <a:t>PID</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2008</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Process identifiers</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The first process is PID 1, and the host’s processes are invisible</a:t>
                      </a:r>
                      <a:endParaRPr sz="1300"/>
                    </a:p>
                  </a:txBody>
                  <a:tcPr marL="109728" marR="109728" marT="64008" marB="45720" anchor="t">
                    <a:lnL w="0" cmpd="sng">
                      <a:noFill/>
                    </a:lnL>
                    <a:lnR w="0" cmpd="sng">
                      <a:noFill/>
                    </a:lnR>
                    <a:lnT w="9525" cmpd="sng">
                      <a:noFill/>
                    </a:lnT>
                    <a:lnB w="9525" cmpd="sng">
                      <a:noFill/>
                    </a:lnB>
                    <a:solidFill>
                      <a:srgbClr val="F2F8FC"/>
                    </a:solidFill>
                  </a:tcPr>
                </a:tc>
              </a:tr>
              <a:tr h="542544">
                <a:tc>
                  <a:txBody>
                    <a:bodyPr wrap="square"/>
                    <a:lstStyle/>
                    <a:p>
                      <a:pPr algn="l"/>
                      <a:r>
                        <a:rPr sz="1300" b="1" i="0">
                          <a:solidFill>
                            <a:srgbClr val="1A5276"/>
                          </a:solidFill>
                          <a:latin typeface="Segoe UI"/>
                        </a:rPr>
                        <a:t>network</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2009</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Interfaces, routes, firewall rules, ports</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Its own </a:t>
                      </a:r>
                      <a:r>
                        <a:rPr sz="1200" b="0" i="0">
                          <a:solidFill>
                            <a:srgbClr val="1F4E79"/>
                          </a:solidFill>
                          <a:latin typeface="Consolas"/>
                        </a:rPr>
                        <a:t>lo</a:t>
                      </a:r>
                      <a:r>
                        <a:rPr sz="1300" b="0" i="0">
                          <a:solidFill>
                            <a:srgbClr val="1C252B"/>
                          </a:solidFill>
                          <a:latin typeface="Segoe UI"/>
                        </a:rPr>
                        <a:t> and </a:t>
                      </a:r>
                      <a:r>
                        <a:rPr sz="1200" b="0" i="0">
                          <a:solidFill>
                            <a:srgbClr val="1F4E79"/>
                          </a:solidFill>
                          <a:latin typeface="Consolas"/>
                        </a:rPr>
                        <a:t>eth0</a:t>
                      </a:r>
                      <a:r>
                        <a:rPr sz="1300" b="0" i="0">
                          <a:solidFill>
                            <a:srgbClr val="1C252B"/>
                          </a:solidFill>
                          <a:latin typeface="Segoe UI"/>
                        </a:rPr>
                        <a:t>; two containers may both bind port 80</a:t>
                      </a:r>
                      <a:endParaRPr sz="1300"/>
                    </a:p>
                  </a:txBody>
                  <a:tcPr marL="109728" marR="109728" marT="64008" marB="45720" anchor="t">
                    <a:lnL w="0" cmpd="sng">
                      <a:noFill/>
                    </a:lnL>
                    <a:lnR w="0" cmpd="sng">
                      <a:noFill/>
                    </a:lnR>
                    <a:lnT w="9525" cmpd="sng">
                      <a:noFill/>
                    </a:lnT>
                    <a:lnB w="9525" cmpd="sng">
                      <a:noFill/>
                    </a:lnB>
                    <a:solidFill>
                      <a:srgbClr val="FFFFFF"/>
                    </a:solidFill>
                  </a:tcPr>
                </a:tc>
              </a:tr>
              <a:tr h="542544">
                <a:tc>
                  <a:txBody>
                    <a:bodyPr wrap="square"/>
                    <a:lstStyle/>
                    <a:p>
                      <a:pPr algn="l"/>
                      <a:r>
                        <a:rPr sz="1300" b="1" i="0">
                          <a:solidFill>
                            <a:srgbClr val="1A5276"/>
                          </a:solidFill>
                          <a:latin typeface="Segoe UI"/>
                        </a:rPr>
                        <a:t>user</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2013</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User and group identifiers</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200" b="0" i="0">
                          <a:solidFill>
                            <a:srgbClr val="1F4E79"/>
                          </a:solidFill>
                          <a:latin typeface="Consolas"/>
                        </a:rPr>
                        <a:t>root</a:t>
                      </a:r>
                      <a:r>
                        <a:rPr sz="1300" b="0" i="0">
                          <a:solidFill>
                            <a:srgbClr val="1C252B"/>
                          </a:solidFill>
                          <a:latin typeface="Segoe UI"/>
                        </a:rPr>
                        <a:t> inside can map to an unprivileged user outside — the basis of rootless containers</a:t>
                      </a:r>
                      <a:endParaRPr sz="1300"/>
                    </a:p>
                  </a:txBody>
                  <a:tcPr marL="109728" marR="109728" marT="64008" marB="45720" anchor="t">
                    <a:lnL w="0" cmpd="sng">
                      <a:noFill/>
                    </a:lnL>
                    <a:lnR w="0" cmpd="sng">
                      <a:noFill/>
                    </a:lnR>
                    <a:lnT w="9525" cmpd="sng">
                      <a:noFill/>
                    </a:lnT>
                    <a:lnB w="9525" cmpd="sng">
                      <a:noFill/>
                    </a:lnB>
                    <a:solidFill>
                      <a:srgbClr val="F2F8FC"/>
                    </a:solidFill>
                  </a:tcPr>
                </a:tc>
              </a:tr>
              <a:tr h="542544">
                <a:tc>
                  <a:txBody>
                    <a:bodyPr wrap="square"/>
                    <a:lstStyle/>
                    <a:p>
                      <a:pPr algn="l"/>
                      <a:r>
                        <a:rPr sz="1300" b="1" i="0">
                          <a:solidFill>
                            <a:srgbClr val="1A5276"/>
                          </a:solidFill>
                          <a:latin typeface="Segoe UI"/>
                        </a:rPr>
                        <a:t>cgroup</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2016</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The cgroup hierarchy root</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A container cannot see where it sits in the host’s resource tree</a:t>
                      </a:r>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l"/>
                      <a:r>
                        <a:rPr sz="1300" b="1" i="0">
                          <a:solidFill>
                            <a:srgbClr val="1A5276"/>
                          </a:solidFill>
                          <a:latin typeface="Segoe UI"/>
                        </a:rPr>
                        <a:t>time</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300" b="0" i="0">
                          <a:solidFill>
                            <a:srgbClr val="1C252B"/>
                          </a:solidFill>
                          <a:latin typeface="Segoe UI"/>
                        </a:rPr>
                        <a:t>2020</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300" b="0" i="0">
                          <a:solidFill>
                            <a:srgbClr val="1C252B"/>
                          </a:solidFill>
                          <a:latin typeface="Segoe UI"/>
                        </a:rPr>
                        <a:t>The boot and monotonic clocks</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300" b="0" i="0">
                          <a:solidFill>
                            <a:srgbClr val="1C252B"/>
                          </a:solidFill>
                          <a:latin typeface="Segoe UI"/>
                        </a:rPr>
                        <a:t>Used mainly for checkpoint and restore</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270926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PID 1 Is Not a Detail</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§8.2  ·  Handout p. 63     </a:t>
            </a:r>
            <a:fld id="{01964C13-7AEB-40C3-B603-910370CE3012}"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71111"/>
          </a:xfrm>
          <a:prstGeom prst="roundRect">
            <a:avLst>
              <a:gd name="adj" fmla="val 2246"/>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71111"/>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Inside a PID namespace the first process is numbered 1, and the kernel treats PID 1 specially everywhere: it must reap orphaned children, and signals with default actions are </a:t>
            </a:r>
            <a:r>
              <a:rPr sz="2000" b="0" i="1">
                <a:solidFill>
                  <a:srgbClr val="1C252B"/>
                </a:solidFill>
                <a:latin typeface="Segoe UI"/>
              </a:rPr>
              <a:t>not</a:t>
            </a:r>
            <a:r>
              <a:rPr sz="2000" b="0" i="0">
                <a:solidFill>
                  <a:srgbClr val="1C252B"/>
                </a:solidFill>
                <a:latin typeface="Segoe UI"/>
              </a:rPr>
              <a:t> delivered to it unless it has installed a handler.</a:t>
            </a:r>
          </a:p>
        </p:txBody>
      </p:sp>
      <p:sp>
        <p:nvSpPr>
          <p:cNvPr id="10" name="body-1"/>
          <p:cNvSpPr txBox="1"/>
          <p:nvPr/>
        </p:nvSpPr>
        <p:spPr>
          <a:xfrm>
            <a:off x="1060704" y="3138931"/>
            <a:ext cx="10161727" cy="1630680"/>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Two consequences bite in production. A container whose PID 1 is an ordinary application does not reap orphans, so a process that forks accumulates zombies until the PID limit is reached. And </a:t>
            </a:r>
            <a:r>
              <a:rPr sz="1900" b="0" i="0">
                <a:solidFill>
                  <a:srgbClr val="1F4E79"/>
                </a:solidFill>
                <a:latin typeface="Consolas"/>
              </a:rPr>
              <a:t>docker stop</a:t>
            </a:r>
            <a:r>
              <a:rPr sz="2000" b="0" i="0">
                <a:solidFill>
                  <a:srgbClr val="1C252B"/>
                </a:solidFill>
                <a:latin typeface="Segoe UI"/>
              </a:rPr>
              <a:t> sends </a:t>
            </a:r>
            <a:r>
              <a:rPr sz="1900" b="0" i="0">
                <a:solidFill>
                  <a:srgbClr val="1F4E79"/>
                </a:solidFill>
                <a:latin typeface="Consolas"/>
              </a:rPr>
              <a:t>SIGTERM</a:t>
            </a:r>
            <a:r>
              <a:rPr sz="2000" b="0" i="0">
                <a:solidFill>
                  <a:srgbClr val="1C252B"/>
                </a:solidFill>
                <a:latin typeface="Segoe UI"/>
              </a:rPr>
              <a:t>, which an application that installed no handler simply ignores — the runtime then waits ten seconds and sends </a:t>
            </a:r>
            <a:r>
              <a:rPr sz="1900" b="0" i="0">
                <a:solidFill>
                  <a:srgbClr val="1F4E79"/>
                </a:solidFill>
                <a:latin typeface="Consolas"/>
              </a:rPr>
              <a:t>SIGKILL</a:t>
            </a:r>
            <a:r>
              <a:rPr sz="2000" b="0" i="0">
                <a:solidFill>
                  <a:srgbClr val="1C252B"/>
                </a:solidFill>
                <a:latin typeface="Segoe UI"/>
              </a:rPr>
              <a:t>, which is why so many containers take exactly ten seconds to stop and lose in-flight work.</a:t>
            </a:r>
          </a:p>
        </p:txBody>
      </p:sp>
      <p:sp>
        <p:nvSpPr>
          <p:cNvPr id="11" name="body-2"/>
          <p:cNvSpPr txBox="1"/>
          <p:nvPr/>
        </p:nvSpPr>
        <p:spPr>
          <a:xfrm>
            <a:off x="1060704" y="4863592"/>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Both are fixed by running a tiny init as PID 1, which is what </a:t>
            </a:r>
            <a:r>
              <a:rPr sz="1900" b="0" i="0">
                <a:solidFill>
                  <a:srgbClr val="1F4E79"/>
                </a:solidFill>
                <a:latin typeface="Consolas"/>
              </a:rPr>
              <a:t>docker run --init</a:t>
            </a:r>
            <a:r>
              <a:rPr sz="2000" b="0" i="0">
                <a:solidFill>
                  <a:srgbClr val="1C252B"/>
                </a:solidFill>
                <a:latin typeface="Segoe UI"/>
              </a:rPr>
              <a:t> does. Knowing </a:t>
            </a:r>
            <a:r>
              <a:rPr sz="2000" b="0" i="1">
                <a:solidFill>
                  <a:srgbClr val="1C252B"/>
                </a:solidFill>
                <a:latin typeface="Segoe UI"/>
              </a:rPr>
              <a:t>why</a:t>
            </a:r>
            <a:r>
              <a:rPr sz="2000" b="0" i="0">
                <a:solidFill>
                  <a:srgbClr val="1C252B"/>
                </a:solidFill>
                <a:latin typeface="Segoe UI"/>
              </a:rPr>
              <a:t> is the difference between applying the flag and diagnosing the symptom.</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98019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user namespace is the one that changed the security story</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§8.2  ·  Handout p. 63     </a:t>
            </a:r>
            <a:fld id="{E1516F91-27E8-4A35-8CC5-F48A3988ED7B}"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437128"/>
          </a:xfrm>
          <a:prstGeom prst="roundRect">
            <a:avLst>
              <a:gd name="adj" fmla="val 266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437128"/>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Before user namespaces, </a:t>
            </a:r>
            <a:r>
              <a:rPr sz="1900" b="0" i="0">
                <a:solidFill>
                  <a:srgbClr val="1F4E79"/>
                </a:solidFill>
                <a:latin typeface="Consolas"/>
              </a:rPr>
              <a:t>root</a:t>
            </a:r>
            <a:r>
              <a:rPr sz="2000" b="0" i="0">
                <a:solidFill>
                  <a:srgbClr val="1C252B"/>
                </a:solidFill>
                <a:latin typeface="Segoe UI"/>
              </a:rPr>
              <a:t> inside a container was </a:t>
            </a:r>
            <a:r>
              <a:rPr sz="1900" b="0" i="0">
                <a:solidFill>
                  <a:srgbClr val="1F4E79"/>
                </a:solidFill>
                <a:latin typeface="Consolas"/>
              </a:rPr>
              <a:t>root</a:t>
            </a:r>
            <a:r>
              <a:rPr sz="2000" b="0" i="0">
                <a:solidFill>
                  <a:srgbClr val="1C252B"/>
                </a:solidFill>
                <a:latin typeface="Segoe UI"/>
              </a:rPr>
              <a:t> on the host: the same UID 0, with the same power over the shared kernel, and one escape was a total compromise.</a:t>
            </a:r>
          </a:p>
        </p:txBody>
      </p:sp>
      <p:sp>
        <p:nvSpPr>
          <p:cNvPr id="10" name="body-1"/>
          <p:cNvSpPr txBox="1"/>
          <p:nvPr/>
        </p:nvSpPr>
        <p:spPr>
          <a:xfrm>
            <a:off x="1060704" y="2821939"/>
            <a:ext cx="10161727" cy="1313688"/>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 user namespace maps identifiers. UID 0 inside can be UID 100000 outside, so a process that believes it is root holds no privilege the host recognises. This is what makes </a:t>
            </a:r>
            <a:r>
              <a:rPr sz="2000" b="1" i="0">
                <a:solidFill>
                  <a:srgbClr val="1A5276"/>
                </a:solidFill>
                <a:latin typeface="Segoe UI"/>
              </a:rPr>
              <a:t>rootless containers</a:t>
            </a:r>
            <a:r>
              <a:rPr sz="2000" b="0" i="0">
                <a:solidFill>
                  <a:srgbClr val="1C252B"/>
                </a:solidFill>
                <a:latin typeface="Segoe UI"/>
              </a:rPr>
              <a:t> possible — an unprivileged user running containers with no daemon and no setuid helper, which is Podman’s default and now an option in Docker.</a:t>
            </a:r>
          </a:p>
        </p:txBody>
      </p:sp>
      <p:sp>
        <p:nvSpPr>
          <p:cNvPr id="11" name="body-2"/>
          <p:cNvSpPr txBox="1"/>
          <p:nvPr/>
        </p:nvSpPr>
        <p:spPr>
          <a:xfrm>
            <a:off x="1060704" y="4229608"/>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It is not enabled by default in every runtime, and a container run as root without it is still a process running as real root beside your other services. Chapter 19 returns to this.</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25111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a Limit Does When It Is Reached</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§8.3  ·  Handout p. 64     </a:t>
            </a:r>
            <a:fld id="{FBA46FCB-BA6F-4D9D-A7FF-1A7C32343E8B}"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37202"/>
          </a:xfrm>
          <a:prstGeom prst="roundRect">
            <a:avLst>
              <a:gd name="adj" fmla="val 221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3720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1630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The two important limits fail in completely different ways, and conflating them is a common source of mystification.</a:t>
            </a:r>
          </a:p>
        </p:txBody>
      </p:sp>
      <p:sp>
        <p:nvSpPr>
          <p:cNvPr id="10" name="body-1"/>
          <p:cNvSpPr txBox="1"/>
          <p:nvPr/>
        </p:nvSpPr>
        <p:spPr>
          <a:xfrm>
            <a:off x="1060704" y="2744571"/>
            <a:ext cx="10161727" cy="616305"/>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1F618D"/>
                </a:solidFill>
                <a:latin typeface="Segoe UI"/>
              </a:rPr>
              <a:t>CPU is throttled.</a:t>
            </a:r>
            <a:r>
              <a:rPr sz="1800" b="0" i="0">
                <a:solidFill>
                  <a:srgbClr val="1C252B"/>
                </a:solidFill>
                <a:latin typeface="Segoe UI"/>
              </a:rPr>
              <a:t> A container limited to 0.5 of a core that asks for more is simply scheduled less: it runs at half speed. Nothing fails. You see it as latency, and in </a:t>
            </a:r>
            <a:r>
              <a:rPr sz="1700" b="0" i="0">
                <a:solidFill>
                  <a:srgbClr val="1F4E79"/>
                </a:solidFill>
                <a:latin typeface="Consolas"/>
              </a:rPr>
              <a:t>cpu.stat</a:t>
            </a:r>
            <a:r>
              <a:rPr sz="1800" b="0" i="0">
                <a:solidFill>
                  <a:srgbClr val="1C252B"/>
                </a:solidFill>
                <a:latin typeface="Segoe UI"/>
              </a:rPr>
              <a:t> as a rising </a:t>
            </a:r>
            <a:r>
              <a:rPr sz="1700" b="0" i="0">
                <a:solidFill>
                  <a:srgbClr val="1F4E79"/>
                </a:solidFill>
                <a:latin typeface="Consolas"/>
              </a:rPr>
              <a:t>throttled_usec</a:t>
            </a:r>
            <a:r>
              <a:rPr sz="1800" b="0" i="0">
                <a:solidFill>
                  <a:srgbClr val="1C252B"/>
                </a:solidFill>
                <a:latin typeface="Segoe UI"/>
              </a:rPr>
              <a:t>.</a:t>
            </a:r>
          </a:p>
        </p:txBody>
      </p:sp>
      <p:sp>
        <p:nvSpPr>
          <p:cNvPr id="11" name="body-2"/>
          <p:cNvSpPr txBox="1"/>
          <p:nvPr/>
        </p:nvSpPr>
        <p:spPr>
          <a:xfrm>
            <a:off x="1060704" y="3440887"/>
            <a:ext cx="10161727" cy="901598"/>
          </a:xfrm>
          <a:prstGeom prst="rect">
            <a:avLst/>
          </a:prstGeom>
          <a:noFill/>
        </p:spPr>
        <p:txBody>
          <a:bodyPr wrap="square" anchor="t" lIns="0" rIns="0" tIns="0" bIns="0">
            <a:noAutofit/>
          </a:bodyPr>
          <a:lstStyle/>
          <a:p>
            <a:pPr algn="l">
              <a:lnSpc>
                <a:spcPct val="104000"/>
              </a:lnSpc>
              <a:spcBef>
                <a:spcPts val="0"/>
              </a:spcBef>
              <a:spcAft>
                <a:spcPts val="0"/>
              </a:spcAft>
            </a:pPr>
            <a:r>
              <a:rPr sz="1800" b="1" i="0">
                <a:solidFill>
                  <a:srgbClr val="1F618D"/>
                </a:solidFill>
                <a:latin typeface="Segoe UI"/>
              </a:rPr>
              <a:t>Memory is killed.</a:t>
            </a:r>
            <a:r>
              <a:rPr sz="1800" b="0" i="0">
                <a:solidFill>
                  <a:srgbClr val="1C252B"/>
                </a:solidFill>
                <a:latin typeface="Segoe UI"/>
              </a:rPr>
              <a:t> A container that exceeds its memory limit has a process killed by the OOM killer — usually the largest, usually the one you cared about. There is no graceful degradation, because there is nothing to degrade: the page is needed or it is not.</a:t>
            </a:r>
          </a:p>
        </p:txBody>
      </p:sp>
      <p:sp>
        <p:nvSpPr>
          <p:cNvPr id="12" name="body-3"/>
          <p:cNvSpPr txBox="1"/>
          <p:nvPr/>
        </p:nvSpPr>
        <p:spPr>
          <a:xfrm>
            <a:off x="1060704" y="4422495"/>
            <a:ext cx="10161727" cy="1186891"/>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This is the same asymmetry as Chapter 6: time is divisible and memory is not. It is why the commonest container incident is an application restarting every few hours with exit code 137 — which is </a:t>
            </a:r>
            <a:r>
              <a:rPr sz="1800" b="0" i="0">
                <a:solidFill>
                  <a:srgbClr val="1C252B"/>
                </a:solidFill>
                <a:latin typeface="Cambria"/>
              </a:rPr>
              <a:t>128 + 9</a:t>
            </a:r>
            <a:r>
              <a:rPr sz="1800" b="0" i="0">
                <a:solidFill>
                  <a:srgbClr val="1C252B"/>
                </a:solidFill>
                <a:latin typeface="Segoe UI"/>
              </a:rPr>
              <a:t>, signal 9, the OOM kill — and why memory limits deserve far more thought than CPU limits.</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52204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Image, and the Union Filesystem</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4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8.4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8.1   A Different Place to Cut</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8.2   Namespaces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8.3   Control Groups</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8.4   The Image, and the Union Filesystem</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§8.4     </a:t>
            </a:r>
            <a:fld id="{3970699B-674F-4AEA-85FA-7B982A8B51BB}" type="slidenum">
              <a:rPr lang="en-GB" sz="1000">
                <a:solidFill>
                  <a:srgbClr val="8795A1"/>
                </a:solidFill>
                <a:latin typeface="Segoe UI"/>
              </a:rPr>
              <a:t>14</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79297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Image, and the Union Filesystem</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8.2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§8.4  ·  Handout p. 65     </a:t>
            </a:r>
            <a:fld id="{0A1FB2DF-4E9A-4F18-8CF5-F67ADBBA5F73}" type="slidenum">
              <a:rPr lang="en-GB" sz="1000">
                <a:solidFill>
                  <a:srgbClr val="8795A1"/>
                </a:solidFill>
                <a:latin typeface="Segoe UI"/>
              </a:rPr>
              <a:t>15</a:t>
            </a:fld>
          </a:p>
        </p:txBody>
      </p:sp>
      <p:pic>
        <p:nvPicPr>
          <p:cNvPr id="6" name="!!figure" descr="Figure 8.2. Overlayfs. The layers are why pulling a second image from the same base downloads almost nothing, and why a thousand containers of one image cost little more on disk than on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796361"/>
            <a:ext cx="10874959" cy="340335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Overlayfs. The layers are why pulling a second image from the same base downloads almost nothing, and why a thousand containers of one image cost little more on disk than one.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Density and Start-Up, Costed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§8.4  ·  Handout p. 65     </a:t>
            </a:r>
            <a:fld id="{4F91271C-72E8-4B1B-8D91-9EC263548D5C}"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15927"/>
          </a:xfrm>
          <a:prstGeom prst="roundRect">
            <a:avLst>
              <a:gd name="adj" fmla="val 207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1592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host of 64 cores and 512 GB must run as many copies as possible of one service that needs 256 MB of memory. Compare virtual machines with containers.</a:t>
            </a:r>
          </a:p>
        </p:txBody>
      </p:sp>
      <p:sp>
        <p:nvSpPr>
          <p:cNvPr id="10" name="body-1"/>
          <p:cNvSpPr txBox="1"/>
          <p:nvPr/>
        </p:nvSpPr>
        <p:spPr>
          <a:xfrm>
            <a:off x="1042416" y="2746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1 — memory per instance, as a virtual machine.</a:t>
            </a:r>
          </a:p>
        </p:txBody>
      </p:sp>
      <p:sp>
        <p:nvSpPr>
          <p:cNvPr id="11" name="body-2"/>
          <p:cNvSpPr txBox="1"/>
          <p:nvPr/>
        </p:nvSpPr>
        <p:spPr>
          <a:xfrm>
            <a:off x="1042416" y="3180537"/>
            <a:ext cx="10234879" cy="1419199"/>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the application: 256 MB;</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a guest Linux that can run it: 512 MB is a realistic floor;</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per-guest hypervisor overhead — the VMCS, the EPT tables, the device models of Chapter 7: call it 100 MB.</a:t>
            </a:r>
          </a:p>
        </p:txBody>
      </p:sp>
      <p:pic>
        <p:nvPicPr>
          <p:cNvPr id="12" name="body-3" descr="256 + 512 + 100 = 868 \text{ MB per gues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4686731"/>
            <a:ext cx="10234879" cy="324520"/>
          </a:xfrm>
          <a:prstGeom prst="rect">
            <a:avLst/>
          </a:prstGeom>
        </p:spPr>
      </p:pic>
      <p:sp>
        <p:nvSpPr>
          <p:cNvPr id="13" name="body-4"/>
          <p:cNvSpPr txBox="1"/>
          <p:nvPr/>
        </p:nvSpPr>
        <p:spPr>
          <a:xfrm>
            <a:off x="1042416" y="5143967"/>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2 — memory per instance, as a container.</a:t>
            </a:r>
          </a:p>
        </p:txBody>
      </p:sp>
      <p:sp>
        <p:nvSpPr>
          <p:cNvPr id="14" name="body-4bar">
            <a:extLst>
              <a:ext uri="{C183D7F6-B498-43B3-948B-1728B52AA6E4}">
                <adec:decorative xmlns:adec="http://schemas.microsoft.com/office/drawing/2017/decorative" val="1"/>
              </a:ext>
            </a:extLst>
          </p:cNvPr>
          <p:cNvSpPr/>
          <p:nvPr/>
        </p:nvSpPr>
        <p:spPr>
          <a:xfrm>
            <a:off x="841248" y="5162255"/>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body-5"/>
          <p:cNvSpPr txBox="1"/>
          <p:nvPr/>
        </p:nvSpPr>
        <p:spPr>
          <a:xfrm>
            <a:off x="1042416" y="5577824"/>
            <a:ext cx="10234879" cy="346862"/>
          </a:xfrm>
          <a:prstGeom prst="rect">
            <a:avLst/>
          </a:prstGeom>
          <a:noFill/>
        </p:spPr>
        <p:txBody>
          <a:bodyPr wrap="square" anchor="t" lIns="0" rIns="0" tIns="0" bIns="0">
            <a:noAutofit/>
          </a:bodyPr>
          <a:lstStyle/>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the application: 256 MB;</a:t>
            </a:r>
          </a:p>
        </p:txBody>
      </p:sp>
      <p:sp>
        <p:nvSpPr>
          <p:cNvPr id="4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pfill">
            <a:extLst>
              <a:ext uri="{C183D7F6-B498-43B3-948B-1728B52AA6E4}">
                <adec:decorative xmlns:adec="http://schemas.microsoft.com/office/drawing/2017/decorative" val="1"/>
              </a:ext>
            </a:extLst>
          </p:cNvPr>
          <p:cNvSpPr/>
          <p:nvPr/>
        </p:nvSpPr>
        <p:spPr>
          <a:xfrm>
            <a:off x="0" y="0"/>
            <a:ext cx="433482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fade">
                                      <p:cBhvr>
                                        <p:cTn id="13" dur="350"/>
                                        <p:tgtEl>
                                          <p:spTgt spid="1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xEl>
                                              <p:pRg st="1" end="1"/>
                                            </p:txEl>
                                          </p:spTgt>
                                        </p:tgtEl>
                                        <p:attrNameLst>
                                          <p:attrName>style.visibility</p:attrName>
                                        </p:attrNameLst>
                                      </p:cBhvr>
                                      <p:to>
                                        <p:strVal val="visible"/>
                                      </p:to>
                                    </p:set>
                                    <p:animEffect transition="in" filter="fade">
                                      <p:cBhvr>
                                        <p:cTn id="18" dur="350"/>
                                        <p:tgtEl>
                                          <p:spTgt spid="11">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xEl>
                                              <p:pRg st="2" end="2"/>
                                            </p:txEl>
                                          </p:spTgt>
                                        </p:tgtEl>
                                        <p:attrNameLst>
                                          <p:attrName>style.visibility</p:attrName>
                                        </p:attrNameLst>
                                      </p:cBhvr>
                                      <p:to>
                                        <p:strVal val="visible"/>
                                      </p:to>
                                    </p:set>
                                    <p:animEffect transition="in" filter="fade">
                                      <p:cBhvr>
                                        <p:cTn id="23" dur="350"/>
                                        <p:tgtEl>
                                          <p:spTgt spid="11">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right)">
                                      <p:cBhvr>
                                        <p:cTn id="28" dur="42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right)">
                                      <p:cBhvr>
                                        <p:cTn id="33" dur="42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2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wipe(right)">
                                      <p:cBhvr>
                                        <p:cTn id="41"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Density and Start-Up, Costed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§8.4  ·  Handout p. 65     </a:t>
            </a:r>
            <a:fld id="{906ED489-A5CB-4DB2-AA4D-7F2DC5AED99A}"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842598"/>
          </a:xfrm>
          <a:prstGeom prst="roundRect">
            <a:avLst>
              <a:gd name="adj" fmla="val 2379"/>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84259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732459"/>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no guest kernel — the host’s is shared;</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runtime overhead: a few MB. Call it 4 MB.</a:t>
            </a:r>
          </a:p>
        </p:txBody>
      </p:sp>
      <p:pic>
        <p:nvPicPr>
          <p:cNvPr id="10" name="body-1" descr="256 + 4 = 260 \text{ MB per containe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831134"/>
            <a:ext cx="10234879" cy="324520"/>
          </a:xfrm>
          <a:prstGeom prst="rect">
            <a:avLst/>
          </a:prstGeom>
        </p:spPr>
      </p:pic>
      <p:sp>
        <p:nvSpPr>
          <p:cNvPr id="11" name="body-2"/>
          <p:cNvSpPr txBox="1"/>
          <p:nvPr/>
        </p:nvSpPr>
        <p:spPr>
          <a:xfrm>
            <a:off x="1042416" y="3288370"/>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3 — how many fit.</a:t>
            </a:r>
            <a:r>
              <a:rPr sz="1900" b="0" i="0">
                <a:solidFill>
                  <a:srgbClr val="1C252B"/>
                </a:solidFill>
                <a:latin typeface="Segoe UI"/>
              </a:rPr>
              <a:t> Reserve 32 GB for the host, leaving 480 GB:</a:t>
            </a:r>
          </a:p>
        </p:txBody>
      </p:sp>
      <p:sp>
        <p:nvSpPr>
          <p:cNvPr id="12" name="body-2bar">
            <a:extLst>
              <a:ext uri="{C183D7F6-B498-43B3-948B-1728B52AA6E4}">
                <adec:decorative xmlns:adec="http://schemas.microsoft.com/office/drawing/2017/decorative" val="1"/>
              </a:ext>
            </a:extLst>
          </p:cNvPr>
          <p:cNvSpPr/>
          <p:nvPr/>
        </p:nvSpPr>
        <p:spPr>
          <a:xfrm>
            <a:off x="841248" y="3306658"/>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3" name="body-3" descr="\text{VMs} = \frac{480 \times 1024}{868} = 566 \qquad \text{containers} = \frac{480 \times 1024}{260} = \mathbf{1{,}890}"/>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3722227"/>
            <a:ext cx="10234879" cy="547268"/>
          </a:xfrm>
          <a:prstGeom prst="rect">
            <a:avLst/>
          </a:prstGeom>
        </p:spPr>
      </p:pic>
      <p:sp>
        <p:nvSpPr>
          <p:cNvPr id="14" name="body-4"/>
          <p:cNvSpPr txBox="1"/>
          <p:nvPr/>
        </p:nvSpPr>
        <p:spPr>
          <a:xfrm>
            <a:off x="1042416" y="4402211"/>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ratio of </a:t>
            </a:r>
            <a:r>
              <a:rPr sz="1900" b="1" i="0">
                <a:solidFill>
                  <a:srgbClr val="1C252B"/>
                </a:solidFill>
                <a:latin typeface="Segoe UI"/>
              </a:rPr>
              <a:t>3.3 : 1</a:t>
            </a:r>
            <a:r>
              <a:rPr sz="1900" b="0" i="0">
                <a:solidFill>
                  <a:srgbClr val="1C252B"/>
                </a:solidFill>
                <a:latin typeface="Segoe UI"/>
              </a:rPr>
              <a:t> — and note it is not the hundredfold figure containers are often credited with, because the </a:t>
            </a:r>
            <a:r>
              <a:rPr sz="1900" b="0" i="1">
                <a:solidFill>
                  <a:srgbClr val="1C252B"/>
                </a:solidFill>
                <a:latin typeface="Segoe UI"/>
              </a:rPr>
              <a:t>application’s</a:t>
            </a:r>
            <a:r>
              <a:rPr sz="1900" b="0" i="0">
                <a:solidFill>
                  <a:srgbClr val="1C252B"/>
                </a:solidFill>
                <a:latin typeface="Segoe UI"/>
              </a:rPr>
              <a:t> 256 MB dominates both sides. The container advantage is large exactly when the workload is small.</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460575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5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5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right)">
                                      <p:cBhvr>
                                        <p:cTn id="18" dur="42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right)">
                                      <p:cBhvr>
                                        <p:cTn id="23" dur="42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2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right)">
                                      <p:cBhvr>
                                        <p:cTn id="31" dur="42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right)">
                                      <p:cBhvr>
                                        <p:cTn id="36"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Density and Start-Up, Costed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§8.4  ·  Handout p. 65     </a:t>
            </a:r>
            <a:fld id="{9CE1AD6E-3179-4A0F-B38C-03952746D670}"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26434"/>
          </a:xfrm>
          <a:prstGeom prst="roundRect">
            <a:avLst>
              <a:gd name="adj" fmla="val 2521"/>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2643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4 — the disk, where the ratio is larger.</a:t>
            </a:r>
            <a:r>
              <a:rPr sz="1900" b="0" i="0">
                <a:solidFill>
                  <a:srgbClr val="1C252B"/>
                </a:solidFill>
                <a:latin typeface="Segoe UI"/>
              </a:rPr>
              <a:t> 566 guests each with a 2 GB root disk is 1.1 TB, even thin-provisioned. 1,890 containers from one 139 MB image share that image: 139 MB plus each container’s writes. Call it 10 MB each:</a:t>
            </a:r>
          </a:p>
        </p:txBody>
      </p:sp>
      <p:sp>
        <p:nvSpPr>
          <p:cNvPr id="10" name="body-0bar">
            <a:extLst>
              <a:ext uri="{C183D7F6-B498-43B3-948B-1728B52AA6E4}">
                <adec:decorative xmlns:adec="http://schemas.microsoft.com/office/drawing/2017/decorative" val="1"/>
              </a:ext>
            </a:extLst>
          </p:cNvPr>
          <p:cNvSpPr/>
          <p:nvPr/>
        </p:nvSpPr>
        <p:spPr>
          <a:xfrm>
            <a:off x="841248" y="202996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1" name="body-1" descr="139 + 1{,}890 \times 10 = 19 \text{ GB, against } 1{,}100 \text{ GB} \;\approx\; \mathbf{58 : 1}"/>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047822"/>
            <a:ext cx="10234879" cy="324520"/>
          </a:xfrm>
          <a:prstGeom prst="rect">
            <a:avLst/>
          </a:prstGeom>
        </p:spPr>
      </p:pic>
      <p:sp>
        <p:nvSpPr>
          <p:cNvPr id="12" name="body-2"/>
          <p:cNvSpPr txBox="1"/>
          <p:nvPr/>
        </p:nvSpPr>
        <p:spPr>
          <a:xfrm>
            <a:off x="1042416" y="3505057"/>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5 — start-up, where it is larger still.</a:t>
            </a:r>
            <a:r>
              <a:rPr sz="1900" b="0" i="0">
                <a:solidFill>
                  <a:srgbClr val="1C252B"/>
                </a:solidFill>
                <a:latin typeface="Segoe UI"/>
              </a:rPr>
              <a:t> A guest boots a kernel, initialises virtual hardware and starts an init system: 20–40 s. A container is </a:t>
            </a:r>
            <a:r>
              <a:rPr sz="1800" b="0" i="0">
                <a:solidFill>
                  <a:srgbClr val="1F4E79"/>
                </a:solidFill>
                <a:latin typeface="Consolas"/>
              </a:rPr>
              <a:t>clone()</a:t>
            </a:r>
            <a:r>
              <a:rPr sz="1900" b="0" i="0">
                <a:solidFill>
                  <a:srgbClr val="1C252B"/>
                </a:solidFill>
                <a:latin typeface="Segoe UI"/>
              </a:rPr>
              <a:t> with some flags, a mount and an </a:t>
            </a:r>
            <a:r>
              <a:rPr sz="1800" b="0" i="0">
                <a:solidFill>
                  <a:srgbClr val="1F4E79"/>
                </a:solidFill>
                <a:latin typeface="Consolas"/>
              </a:rPr>
              <a:t>execve</a:t>
            </a:r>
            <a:r>
              <a:rPr sz="1900" b="0" i="0">
                <a:solidFill>
                  <a:srgbClr val="1C252B"/>
                </a:solidFill>
                <a:latin typeface="Segoe UI"/>
              </a:rPr>
              <a:t>: 50–200 ms.</a:t>
            </a:r>
          </a:p>
        </p:txBody>
      </p:sp>
      <p:sp>
        <p:nvSpPr>
          <p:cNvPr id="13" name="body-2bar">
            <a:extLst>
              <a:ext uri="{C183D7F6-B498-43B3-948B-1728B52AA6E4}">
                <adec:decorative xmlns:adec="http://schemas.microsoft.com/office/drawing/2017/decorative" val="1"/>
              </a:ext>
            </a:extLst>
          </p:cNvPr>
          <p:cNvSpPr/>
          <p:nvPr/>
        </p:nvSpPr>
        <p:spPr>
          <a:xfrm>
            <a:off x="841248" y="3523345"/>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4" name="body-3" descr="\frac{30 \text{ s}}{0.1 \text{ s}} = \mathbf{300 : 1}"/>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4541199"/>
            <a:ext cx="10234879" cy="548274"/>
          </a:xfrm>
          <a:prstGeom prst="rect">
            <a:avLst/>
          </a:prstGeom>
        </p:spPr>
      </p:pic>
      <p:sp>
        <p:nvSpPr>
          <p:cNvPr id="3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pfill">
            <a:extLst>
              <a:ext uri="{C183D7F6-B498-43B3-948B-1728B52AA6E4}">
                <adec:decorative xmlns:adec="http://schemas.microsoft.com/office/drawing/2017/decorative" val="1"/>
              </a:ext>
            </a:extLst>
          </p:cNvPr>
          <p:cNvSpPr/>
          <p:nvPr/>
        </p:nvSpPr>
        <p:spPr>
          <a:xfrm>
            <a:off x="0" y="0"/>
            <a:ext cx="487667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right)">
                                      <p:cBhvr>
                                        <p:cTn id="16" dur="42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right)">
                                      <p:cBhvr>
                                        <p:cTn id="21" dur="42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2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right)">
                                      <p:cBhvr>
                                        <p:cTn id="29"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Density and Start-Up, Costed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§8.4  ·  Handout p. 65     </a:t>
            </a:r>
            <a:fld id="{E3BC013F-7878-4C79-BF6C-D688BFD3D6F8}"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54352"/>
          </a:xfrm>
          <a:prstGeom prst="roundRect">
            <a:avLst>
              <a:gd name="adj" fmla="val 4451"/>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5435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6 — what the three ratios are actually telling you.</a:t>
            </a:r>
            <a:r>
              <a:rPr sz="1900" b="0" i="0">
                <a:solidFill>
                  <a:srgbClr val="1C252B"/>
                </a:solidFill>
                <a:latin typeface="Segoe UI"/>
              </a:rPr>
              <a:t> Memory density, 3:1, is the least impressive number and the one usually quoted. The ones that changed how software is deployed are disk and start-up: when an instance costs 10 MB and starts in a tenth of a second, you can afford to run one per request, scale on demand, and redeploy continuously. Chapter 10 is what people built once that became true.</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4874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14760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ratios cost: one kernel, one failure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§8.4  ·  Handout p. 65     </a:t>
            </a:r>
            <a:fld id="{4889AC2F-ABBB-4726-99E5-A64796F44CB9}"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98773"/>
          </a:xfrm>
          <a:prstGeom prst="roundRect">
            <a:avLst>
              <a:gd name="adj" fmla="val 2472"/>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98773"/>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Every container on that host shares one kernel. A kernel panic takes all 1,890 down; a kernel privilege-escalation bug gives any one of them the host. The Linux system-call interface is around 350 calls wide and every one is reachable from inside a container, where a virtual machine’s guest would have to escape its own kernel first and then the hypervisor.</a:t>
            </a:r>
          </a:p>
        </p:txBody>
      </p:sp>
      <p:sp>
        <p:nvSpPr>
          <p:cNvPr id="10" name="body-1"/>
          <p:cNvSpPr txBox="1"/>
          <p:nvPr/>
        </p:nvSpPr>
        <p:spPr>
          <a:xfrm>
            <a:off x="1060704" y="403161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That is the trade, stated numerically: 3</a:t>
            </a:r>
            <a:r>
              <a:rPr sz="2300" b="0" i="0">
                <a:solidFill>
                  <a:srgbClr val="1C252B"/>
                </a:solidFill>
                <a:latin typeface="Cambria"/>
              </a:rPr>
              <a:t>×</a:t>
            </a:r>
            <a:r>
              <a:rPr sz="2300" b="0" i="0">
                <a:solidFill>
                  <a:srgbClr val="1C252B"/>
                </a:solidFill>
                <a:latin typeface="Segoe UI"/>
              </a:rPr>
              <a:t> the density, 300</a:t>
            </a:r>
            <a:r>
              <a:rPr sz="2300" b="0" i="0">
                <a:solidFill>
                  <a:srgbClr val="1C252B"/>
                </a:solidFill>
                <a:latin typeface="Cambria"/>
              </a:rPr>
              <a:t>×</a:t>
            </a:r>
            <a:r>
              <a:rPr sz="2300" b="0" i="0">
                <a:solidFill>
                  <a:srgbClr val="1C252B"/>
                </a:solidFill>
                <a:latin typeface="Segoe UI"/>
              </a:rPr>
              <a:t> the start-up speed, and an isolation boundary enforced by software rather than by the processor. Chapter 11 is the chapter where people decline to choose.</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541853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§8.4  ·  Handout p. 65     </a:t>
            </a:r>
            <a:fld id="{2F8636AF-1761-4E51-AB05-C538B7389B64}" type="slidenum">
              <a:rPr lang="en-GB" sz="1000">
                <a:solidFill>
                  <a:srgbClr val="8795A1"/>
                </a:solidFill>
                <a:latin typeface="Segoe UI"/>
              </a:rPr>
              <a:t>21</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Calling a container a lightweight virtual machine.</a:t>
            </a:r>
            <a:r>
              <a:rPr sz="1700" b="0" i="0">
                <a:solidFill>
                  <a:srgbClr val="1C252B"/>
                </a:solidFill>
                <a:latin typeface="Segoe UI"/>
              </a:rPr>
              <a:t> There is no virtual machine and no guest kernel. The phrase predicts the wrong things about security, about kernel modules, and about what </a:t>
            </a:r>
            <a:r>
              <a:rPr sz="1600" b="0" i="0">
                <a:solidFill>
                  <a:srgbClr val="1F4E79"/>
                </a:solidFill>
                <a:latin typeface="Consolas"/>
              </a:rPr>
              <a:t>uname</a:t>
            </a:r>
            <a:r>
              <a:rPr sz="1700" b="0" i="0">
                <a:solidFill>
                  <a:srgbClr val="1C252B"/>
                </a:solidFill>
                <a:latin typeface="Segoe UI"/>
              </a:rPr>
              <a:t> reports inside.</a:t>
            </a:r>
          </a:p>
        </p:txBody>
      </p:sp>
      <p:sp>
        <p:nvSpPr>
          <p:cNvPr id="10" name="!!pb1">
            <a:extLst>
              <a:ext uri="{C183D7F6-B498-43B3-948B-1728B52AA6E4}">
                <adec:decorative xmlns:adec="http://schemas.microsoft.com/office/drawing/2017/decorative" val="1"/>
              </a:ext>
            </a:extLst>
          </p:cNvPr>
          <p:cNvSpPr/>
          <p:nvPr/>
        </p:nvSpPr>
        <p:spPr>
          <a:xfrm>
            <a:off x="658368" y="276514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78800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746857"/>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Expecting a container to run a different kernel.</a:t>
            </a:r>
            <a:r>
              <a:rPr sz="1700" b="0" i="0">
                <a:solidFill>
                  <a:srgbClr val="1C252B"/>
                </a:solidFill>
                <a:latin typeface="Segoe UI"/>
              </a:rPr>
              <a:t> It cannot. A container “running CentOS” on an Ubuntu host is CentOS </a:t>
            </a:r>
            <a:r>
              <a:rPr sz="1700" b="0" i="1">
                <a:solidFill>
                  <a:srgbClr val="1C252B"/>
                </a:solidFill>
                <a:latin typeface="Segoe UI"/>
              </a:rPr>
              <a:t>user space</a:t>
            </a:r>
            <a:r>
              <a:rPr sz="1700" b="0" i="0">
                <a:solidFill>
                  <a:srgbClr val="1C252B"/>
                </a:solidFill>
                <a:latin typeface="Segoe UI"/>
              </a:rPr>
              <a:t> on Ubuntu’s kernel. Nothing needing a specific kernel version or a kernel module will work.</a:t>
            </a:r>
          </a:p>
        </p:txBody>
      </p:sp>
      <p:sp>
        <p:nvSpPr>
          <p:cNvPr id="13" name="!!pb2">
            <a:extLst>
              <a:ext uri="{C183D7F6-B498-43B3-948B-1728B52AA6E4}">
                <adec:decorative xmlns:adec="http://schemas.microsoft.com/office/drawing/2017/decorative" val="1"/>
              </a:ext>
            </a:extLst>
          </p:cNvPr>
          <p:cNvSpPr/>
          <p:nvPr/>
        </p:nvSpPr>
        <p:spPr>
          <a:xfrm>
            <a:off x="658368" y="3774643"/>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797503"/>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756355"/>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Running an application directly as PID 1 and wondering about zombies or ten-second stops.</a:t>
            </a:r>
            <a:r>
              <a:rPr sz="1700" b="0" i="0">
                <a:solidFill>
                  <a:srgbClr val="1C252B"/>
                </a:solidFill>
                <a:latin typeface="Segoe UI"/>
              </a:rPr>
              <a:t> Use an init, and know why.</a:t>
            </a:r>
          </a:p>
        </p:txBody>
      </p:sp>
      <p:sp>
        <p:nvSpPr>
          <p:cNvPr id="16" name="!!pb3">
            <a:extLst>
              <a:ext uri="{C183D7F6-B498-43B3-948B-1728B52AA6E4}">
                <adec:decorative xmlns:adec="http://schemas.microsoft.com/office/drawing/2017/decorative" val="1"/>
              </a:ext>
            </a:extLst>
          </p:cNvPr>
          <p:cNvSpPr/>
          <p:nvPr/>
        </p:nvSpPr>
        <p:spPr>
          <a:xfrm>
            <a:off x="658368" y="4514697"/>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53755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496409"/>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Setting CPU limits carefully and memory limits by guesswork.</a:t>
            </a:r>
            <a:r>
              <a:rPr sz="1700" b="0" i="0">
                <a:solidFill>
                  <a:srgbClr val="1C252B"/>
                </a:solidFill>
                <a:latin typeface="Segoe UI"/>
              </a:rPr>
              <a:t> CPU throttles; memory kills. Exit code 137 is the OOM killer and it is the commonest container incident there is.</a:t>
            </a:r>
          </a:p>
        </p:txBody>
      </p:sp>
      <p:sp>
        <p:nvSpPr>
          <p:cNvPr id="19" name="!!pb4">
            <a:extLst>
              <a:ext uri="{C183D7F6-B498-43B3-948B-1728B52AA6E4}">
                <adec:decorative xmlns:adec="http://schemas.microsoft.com/office/drawing/2017/decorative" val="1"/>
              </a:ext>
            </a:extLst>
          </p:cNvPr>
          <p:cNvSpPr/>
          <p:nvPr/>
        </p:nvSpPr>
        <p:spPr>
          <a:xfrm>
            <a:off x="658368" y="525475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527761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5236463"/>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Writing large amounts of data to the container’s writable layer.</a:t>
            </a:r>
            <a:r>
              <a:rPr sz="1700" b="0" i="0">
                <a:solidFill>
                  <a:srgbClr val="1C252B"/>
                </a:solidFill>
                <a:latin typeface="Segoe UI"/>
              </a:rPr>
              <a:t> Copy-up through overlayfs is slow, and the layer disappears with the container. Mount a volume.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568945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 (continued)</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§8.4  ·  Handout p. 65     </a:t>
            </a:r>
            <a:fld id="{FD349C2F-DF1B-4F3F-B033-58D123B69632}" type="slidenum">
              <a:rPr lang="en-GB" sz="1000">
                <a:solidFill>
                  <a:srgbClr val="8795A1"/>
                </a:solidFill>
                <a:latin typeface="Segoe UI"/>
              </a:rPr>
              <a:t>22</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Assuming a container is isolated because it has a private namespace.</a:t>
            </a:r>
            <a:r>
              <a:rPr sz="1700" b="0" i="0">
                <a:solidFill>
                  <a:srgbClr val="1C252B"/>
                </a:solidFill>
                <a:latin typeface="Segoe UI"/>
              </a:rPr>
              <a:t> Namespaces hide things; they do not reduce the kernel attack surface. Chapter 19 separates the two properly.</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596038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Building a Container by Hand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§8.4  ·  Handout p. 65     </a:t>
            </a:r>
            <a:fld id="{64143318-3A39-4191-9365-0BCCA012BE10}" type="slidenum">
              <a:rPr lang="en-GB" sz="1000">
                <a:solidFill>
                  <a:srgbClr val="8795A1"/>
                </a:solidFill>
                <a:latin typeface="Segoe UI"/>
              </a:rPr>
              <a:t>23</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No Docker. Builds an isolated process tree from the kernel primitives, so that the next chapter’s tooling is recognisable rather than magical. Needs a Linux host and root. Expect thirty minutes.</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2171700"/>
          </a:xfrm>
          <a:prstGeom prst="rect">
            <a:avLst/>
          </a:prstGeom>
          <a:noFill/>
        </p:spPr>
        <p:txBody>
          <a:bodyPr wrap="square" anchor="t" lIns="0" rIns="0" tIns="0" bIns="0">
            <a:noAutofit/>
          </a:bodyPr>
          <a:lstStyle/>
          <a:p>
            <a:pPr algn="l" marL="367434" indent="-367434">
              <a:lnSpc>
                <a:spcPct val="100000"/>
              </a:lnSpc>
              <a:spcBef>
                <a:spcPts val="0"/>
              </a:spcBef>
              <a:spcAft>
                <a:spcPts val="420"/>
              </a:spcAft>
            </a:pPr>
            <a:r>
              <a:rPr sz="1400" b="1">
                <a:solidFill>
                  <a:srgbClr val="117A65"/>
                </a:solidFill>
                <a:latin typeface="Segoe UI"/>
              </a:rPr>
              <a:t>1.	</a:t>
            </a:r>
            <a:r>
              <a:rPr sz="1400" b="0" i="0">
                <a:solidFill>
                  <a:srgbClr val="1C252B"/>
                </a:solidFill>
                <a:latin typeface="Segoe UI"/>
              </a:rPr>
              <a:t>What namespaces does an ordinary process already have?</a:t>
            </a:r>
          </a:p>
          <a:p>
            <a:pPr algn="l" marL="367434" indent="-367434">
              <a:lnSpc>
                <a:spcPct val="100000"/>
              </a:lnSpc>
              <a:spcBef>
                <a:spcPts val="0"/>
              </a:spcBef>
              <a:spcAft>
                <a:spcPts val="420"/>
              </a:spcAft>
            </a:pPr>
            <a:r>
              <a:rPr sz="1400" b="1">
                <a:solidFill>
                  <a:srgbClr val="117A65"/>
                </a:solidFill>
                <a:latin typeface="Segoe UI"/>
              </a:rPr>
              <a:t>2.	</a:t>
            </a:r>
            <a:r>
              <a:rPr sz="1400" b="0" i="0">
                <a:solidFill>
                  <a:srgbClr val="1C252B"/>
                </a:solidFill>
                <a:latin typeface="Segoe UI"/>
              </a:rPr>
              <a:t>A root filesystem to be the container's world.</a:t>
            </a:r>
          </a:p>
          <a:p>
            <a:pPr algn="l" marL="367434" indent="-367434">
              <a:lnSpc>
                <a:spcPct val="100000"/>
              </a:lnSpc>
              <a:spcBef>
                <a:spcPts val="0"/>
              </a:spcBef>
              <a:spcAft>
                <a:spcPts val="420"/>
              </a:spcAft>
            </a:pPr>
            <a:r>
              <a:rPr sz="1400" b="1">
                <a:solidFill>
                  <a:srgbClr val="117A65"/>
                </a:solidFill>
                <a:latin typeface="Segoe UI"/>
              </a:rPr>
              <a:t>3.	</a:t>
            </a:r>
            <a:r>
              <a:rPr sz="1400" b="0" i="0">
                <a:solidFill>
                  <a:srgbClr val="1C252B"/>
                </a:solidFill>
                <a:latin typeface="Segoe UI"/>
              </a:rPr>
              <a:t>Enter new namespaces. This is the whole mechanism.</a:t>
            </a:r>
          </a:p>
          <a:p>
            <a:pPr algn="l" marL="367434" indent="-367434">
              <a:lnSpc>
                <a:spcPct val="100000"/>
              </a:lnSpc>
              <a:spcBef>
                <a:spcPts val="0"/>
              </a:spcBef>
              <a:spcAft>
                <a:spcPts val="420"/>
              </a:spcAft>
            </a:pPr>
            <a:r>
              <a:rPr sz="1400" b="1">
                <a:solidFill>
                  <a:srgbClr val="117A65"/>
                </a:solidFill>
                <a:latin typeface="Segoe UI"/>
              </a:rPr>
              <a:t>4.	</a:t>
            </a:r>
            <a:r>
              <a:rPr sz="1400" b="0" i="0">
                <a:solidFill>
                  <a:srgbClr val="1C252B"/>
                </a:solidFill>
                <a:latin typeface="Segoe UI"/>
              </a:rPr>
              <a:t>Prove the host is unaffected.</a:t>
            </a:r>
          </a:p>
          <a:p>
            <a:pPr algn="l" marL="367434" indent="-367434">
              <a:lnSpc>
                <a:spcPct val="100000"/>
              </a:lnSpc>
              <a:spcBef>
                <a:spcPts val="0"/>
              </a:spcBef>
              <a:spcAft>
                <a:spcPts val="420"/>
              </a:spcAft>
            </a:pPr>
            <a:r>
              <a:rPr sz="1400" b="1">
                <a:solidFill>
                  <a:srgbClr val="117A65"/>
                </a:solidFill>
                <a:latin typeface="Segoe UI"/>
              </a:rPr>
              <a:t>5.	</a:t>
            </a:r>
            <a:r>
              <a:rPr sz="1400" b="0" i="0">
                <a:solidFill>
                  <a:srgbClr val="1C252B"/>
                </a:solidFill>
                <a:latin typeface="Segoe UI"/>
              </a:rPr>
              <a:t>Limit it with a control group.</a:t>
            </a:r>
          </a:p>
          <a:p>
            <a:pPr algn="l" marL="367434" indent="-367434">
              <a:lnSpc>
                <a:spcPct val="100000"/>
              </a:lnSpc>
              <a:spcBef>
                <a:spcPts val="0"/>
              </a:spcBef>
              <a:spcAft>
                <a:spcPts val="420"/>
              </a:spcAft>
            </a:pPr>
            <a:r>
              <a:rPr sz="1400" b="1">
                <a:solidFill>
                  <a:srgbClr val="117A65"/>
                </a:solidFill>
                <a:latin typeface="Segoe UI"/>
              </a:rPr>
              <a:t>6.	</a:t>
            </a:r>
            <a:r>
              <a:rPr sz="1400" b="0" i="0">
                <a:solidFill>
                  <a:srgbClr val="1C252B"/>
                </a:solidFill>
                <a:latin typeface="Segoe UI"/>
              </a:rPr>
              <a:t>Now cross the memory limit, and watch it be killed.</a:t>
            </a:r>
          </a:p>
          <a:p>
            <a:pPr algn="l" marL="367434" indent="-367434">
              <a:lnSpc>
                <a:spcPct val="100000"/>
              </a:lnSpc>
              <a:spcBef>
                <a:spcPts val="0"/>
              </a:spcBef>
              <a:spcAft>
                <a:spcPts val="420"/>
              </a:spcAft>
            </a:pPr>
            <a:r>
              <a:rPr sz="1400" b="1">
                <a:solidFill>
                  <a:srgbClr val="117A65"/>
                </a:solidFill>
                <a:latin typeface="Segoe UI"/>
              </a:rPr>
              <a:t>7.	</a:t>
            </a:r>
            <a:r>
              <a:rPr sz="1400" b="0" i="0">
                <a:solidFill>
                  <a:srgbClr val="1C252B"/>
                </a:solidFill>
                <a:latin typeface="Segoe UI"/>
              </a:rPr>
              <a:t>Share one root between two containers with overlayfs.</a:t>
            </a:r>
          </a:p>
          <a:p>
            <a:pPr algn="l" marL="367434" indent="-367434">
              <a:lnSpc>
                <a:spcPct val="100000"/>
              </a:lnSpc>
              <a:spcBef>
                <a:spcPts val="0"/>
              </a:spcBef>
              <a:spcAft>
                <a:spcPts val="0"/>
              </a:spcAft>
            </a:pPr>
            <a:r>
              <a:rPr sz="1400" b="1">
                <a:solidFill>
                  <a:srgbClr val="117A65"/>
                </a:solidFill>
                <a:latin typeface="Segoe UI"/>
              </a:rPr>
              <a:t>8.	</a:t>
            </a:r>
            <a:r>
              <a:rPr sz="1400" b="0" i="0">
                <a:solidFill>
                  <a:srgbClr val="1C252B"/>
                </a:solidFill>
                <a:latin typeface="Segoe UI"/>
              </a:rPr>
              <a:t>Tear down.</a:t>
            </a:r>
          </a:p>
        </p:txBody>
      </p:sp>
      <p:sp>
        <p:nvSpPr>
          <p:cNvPr id="44" name="!!lfTHIS">
            <a:extLst>
              <a:ext uri="{C183D7F6-B498-43B3-948B-1728B52AA6E4}">
                <adec:decorative xmlns:adec="http://schemas.microsoft.com/office/drawing/2017/decorative" val="1"/>
              </a:ext>
            </a:extLst>
          </p:cNvPr>
          <p:cNvSpPr/>
          <p:nvPr/>
        </p:nvSpPr>
        <p:spPr>
          <a:xfrm>
            <a:off x="658368"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lfbTHIS">
            <a:extLst>
              <a:ext uri="{C183D7F6-B498-43B3-948B-1728B52AA6E4}">
                <adec:decorative xmlns:adec="http://schemas.microsoft.com/office/drawing/2017/decorative" val="1"/>
              </a:ext>
            </a:extLst>
          </p:cNvPr>
          <p:cNvSpPr/>
          <p:nvPr/>
        </p:nvSpPr>
        <p:spPr>
          <a:xfrm>
            <a:off x="658368"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lflTHIS"/>
          <p:cNvSpPr txBox="1"/>
          <p:nvPr/>
        </p:nvSpPr>
        <p:spPr>
          <a:xfrm>
            <a:off x="932688"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47" name="!!lfvTHIS"/>
          <p:cNvSpPr txBox="1"/>
          <p:nvPr/>
        </p:nvSpPr>
        <p:spPr>
          <a:xfrm>
            <a:off x="932688"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7: Build a container by hand; then measure the build cache</a:t>
            </a:r>
          </a:p>
        </p:txBody>
      </p:sp>
      <p:sp>
        <p:nvSpPr>
          <p:cNvPr id="48" name="!!lfWHAT">
            <a:extLst>
              <a:ext uri="{C183D7F6-B498-43B3-948B-1728B52AA6E4}">
                <adec:decorative xmlns:adec="http://schemas.microsoft.com/office/drawing/2017/decorative" val="1"/>
              </a:ext>
            </a:extLst>
          </p:cNvPr>
          <p:cNvSpPr/>
          <p:nvPr/>
        </p:nvSpPr>
        <p:spPr>
          <a:xfrm>
            <a:off x="6233007"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lfbWHAT">
            <a:extLst>
              <a:ext uri="{C183D7F6-B498-43B3-948B-1728B52AA6E4}">
                <adec:decorative xmlns:adec="http://schemas.microsoft.com/office/drawing/2017/decorative" val="1"/>
              </a:ext>
            </a:extLst>
          </p:cNvPr>
          <p:cNvSpPr/>
          <p:nvPr/>
        </p:nvSpPr>
        <p:spPr>
          <a:xfrm>
            <a:off x="6233007"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lflWHAT"/>
          <p:cNvSpPr txBox="1"/>
          <p:nvPr/>
        </p:nvSpPr>
        <p:spPr>
          <a:xfrm>
            <a:off x="6507327"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51" name="!!lfvWHAT"/>
          <p:cNvSpPr txBox="1"/>
          <p:nvPr/>
        </p:nvSpPr>
        <p:spPr>
          <a:xfrm>
            <a:off x="6507327"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67 lines of Shell</a:t>
            </a:r>
          </a:p>
        </p:txBody>
      </p:sp>
      <p:sp>
        <p:nvSpPr>
          <p:cNvPr id="5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pfill">
            <a:extLst>
              <a:ext uri="{C183D7F6-B498-43B3-948B-1728B52AA6E4}">
                <adec:decorative xmlns:adec="http://schemas.microsoft.com/office/drawing/2017/decorative" val="1"/>
              </a:ext>
            </a:extLst>
          </p:cNvPr>
          <p:cNvSpPr/>
          <p:nvPr/>
        </p:nvSpPr>
        <p:spPr>
          <a:xfrm>
            <a:off x="0" y="0"/>
            <a:ext cx="623131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6" end="6"/>
                                            </p:txEl>
                                          </p:spTgt>
                                        </p:tgtEl>
                                        <p:attrNameLst>
                                          <p:attrName>style.visibility</p:attrName>
                                        </p:attrNameLst>
                                      </p:cBhvr>
                                      <p:to>
                                        <p:strVal val="visible"/>
                                      </p:to>
                                    </p:set>
                                    <p:animEffect transition="in" filter="fade">
                                      <p:cBhvr>
                                        <p:cTn id="38" dur="300"/>
                                        <p:tgtEl>
                                          <p:spTgt spid="9">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9">
                                            <p:txEl>
                                              <p:pRg st="7" end="7"/>
                                            </p:txEl>
                                          </p:spTgt>
                                        </p:tgtEl>
                                        <p:attrNameLst>
                                          <p:attrName>style.visibility</p:attrName>
                                        </p:attrNameLst>
                                      </p:cBhvr>
                                      <p:to>
                                        <p:strVal val="visible"/>
                                      </p:to>
                                    </p:set>
                                    <p:animEffect transition="in" filter="fade">
                                      <p:cBhvr>
                                        <p:cTn id="43" dur="3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Building a Container by Hand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§8.4  ·  Handout p. 65     </a:t>
            </a:r>
            <a:fld id="{5DFC461B-8978-49A9-B60F-3894C644C0C4}" type="slidenum">
              <a:rPr lang="en-GB" sz="1000">
                <a:solidFill>
                  <a:srgbClr val="8795A1"/>
                </a:solidFill>
                <a:latin typeface="Segoe UI"/>
              </a:rPr>
              <a:t>24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00784"/>
          </a:xfrm>
          <a:prstGeom prst="roundRect">
            <a:avLst>
              <a:gd name="adj" fmla="val 53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usr/bin/env bash # ch08_byhand.sh -- namespaces, cgroups and overlayfs, without a runtime. set -euo pipefail ROOT=/tmp/vsroot"/>
          <p:cNvSpPr txBox="1"/>
          <p:nvPr/>
        </p:nvSpPr>
        <p:spPr>
          <a:xfrm>
            <a:off x="1362456" y="2523744"/>
            <a:ext cx="9987991" cy="120700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#!/usr/bin/env bash</a:t>
            </a:r>
          </a:p>
          <a:p>
            <a:pPr>
              <a:lnSpc>
                <a:spcPct val="100000"/>
              </a:lnSpc>
              <a:spcAft>
                <a:spcPts val="0"/>
              </a:spcAft>
            </a:pPr>
            <a:r>
              <a:rPr sz="1800" i="1">
                <a:solidFill>
                  <a:srgbClr val="8795A1"/>
                </a:solidFill>
                <a:latin typeface="Consolas"/>
              </a:rPr>
              <a:t># ch08_byhand.sh -- namespaces, cgroups and overlayfs, without a runtime.</a:t>
            </a:r>
          </a:p>
          <a:p>
            <a:pPr>
              <a:lnSpc>
                <a:spcPct val="100000"/>
              </a:lnSpc>
              <a:spcAft>
                <a:spcPts val="0"/>
              </a:spcAft>
            </a:pPr>
            <a:r>
              <a:rPr sz="1800" i="0">
                <a:solidFill>
                  <a:srgbClr val="C39BD3"/>
                </a:solidFill>
                <a:latin typeface="Consolas"/>
              </a:rPr>
              <a:t>set</a:t>
            </a:r>
            <a:r>
              <a:rPr sz="1800" i="0">
                <a:solidFill>
                  <a:srgbClr val="E8EDF2"/>
                </a:solidFill>
                <a:latin typeface="Consolas"/>
              </a:rPr>
              <a:t> </a:t>
            </a:r>
            <a:r>
              <a:rPr sz="1800" i="0">
                <a:solidFill>
                  <a:srgbClr val="E8EDF2"/>
                </a:solidFill>
                <a:latin typeface="Consolas"/>
              </a:rPr>
              <a:t>-euo</a:t>
            </a:r>
            <a:r>
              <a:rPr sz="1800" i="0">
                <a:solidFill>
                  <a:srgbClr val="E8EDF2"/>
                </a:solidFill>
                <a:latin typeface="Consolas"/>
              </a:rPr>
              <a:t> </a:t>
            </a:r>
            <a:r>
              <a:rPr sz="1800" i="0">
                <a:solidFill>
                  <a:srgbClr val="E8EDF2"/>
                </a:solidFill>
                <a:latin typeface="Consolas"/>
              </a:rPr>
              <a:t>pipefail</a:t>
            </a:r>
          </a:p>
          <a:p>
            <a:pPr>
              <a:lnSpc>
                <a:spcPct val="100000"/>
              </a:lnSpc>
              <a:spcAft>
                <a:spcPts val="0"/>
              </a:spcAft>
            </a:pPr>
            <a:r>
              <a:rPr sz="1800" i="0">
                <a:solidFill>
                  <a:srgbClr val="E8EDF2"/>
                </a:solidFill>
                <a:latin typeface="Consolas"/>
              </a:rPr>
              <a:t>ROOT</a:t>
            </a:r>
            <a:r>
              <a:rPr sz="1800" i="0">
                <a:solidFill>
                  <a:srgbClr val="AEB6BF"/>
                </a:solidFill>
                <a:latin typeface="Consolas"/>
              </a:rPr>
              <a:t>=</a:t>
            </a:r>
            <a:r>
              <a:rPr sz="1800" i="0">
                <a:solidFill>
                  <a:srgbClr val="E8EDF2"/>
                </a:solidFill>
                <a:latin typeface="Consolas"/>
              </a:rPr>
              <a:t>/tmp/vsroot</a:t>
            </a:r>
          </a:p>
        </p:txBody>
      </p:sp>
      <p:sp>
        <p:nvSpPr>
          <p:cNvPr id="15" name="!!code-num"/>
          <p:cNvSpPr txBox="1"/>
          <p:nvPr/>
        </p:nvSpPr>
        <p:spPr>
          <a:xfrm>
            <a:off x="768096" y="2523744"/>
            <a:ext cx="393192" cy="120700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a:t>
            </a:r>
          </a:p>
          <a:p>
            <a:pPr algn="r">
              <a:lnSpc>
                <a:spcPct val="100000"/>
              </a:lnSpc>
            </a:pPr>
            <a:r>
              <a:rPr sz="1800">
                <a:solidFill>
                  <a:srgbClr val="4F5D6A"/>
                </a:solidFill>
                <a:latin typeface="Consolas"/>
              </a:rPr>
              <a:t>2</a:t>
            </a:r>
          </a:p>
          <a:p>
            <a:pPr algn="r">
              <a:lnSpc>
                <a:spcPct val="100000"/>
              </a:lnSpc>
            </a:pPr>
            <a:r>
              <a:rPr sz="1800">
                <a:solidFill>
                  <a:srgbClr val="4F5D6A"/>
                </a:solidFill>
                <a:latin typeface="Consolas"/>
              </a:rPr>
              <a:t>3</a:t>
            </a:r>
          </a:p>
          <a:p>
            <a:pPr algn="r">
              <a:lnSpc>
                <a:spcPct val="100000"/>
              </a:lnSpc>
            </a:pPr>
            <a:r>
              <a:rPr sz="1800">
                <a:solidFill>
                  <a:srgbClr val="4F5D6A"/>
                </a:solidFill>
                <a:latin typeface="Consolas"/>
              </a:rPr>
              <a:t>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50223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Building a Container by Hand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§8.4  ·  Handout p. 65     </a:t>
            </a:r>
            <a:fld id="{C4F3A636-2BA3-4342-9734-7421B7D9AE58}"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What namespaces does an ordinary process already have?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26463"/>
          </a:xfrm>
          <a:prstGeom prst="roundRect">
            <a:avLst>
              <a:gd name="adj" fmla="val 641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1. What namespaces does an ordinary process already have? --------- # Every process is in a namespace; a container just gets different ones. ls -l /proc/self/ns/"/>
          <p:cNvSpPr txBox="1"/>
          <p:nvPr/>
        </p:nvSpPr>
        <p:spPr>
          <a:xfrm>
            <a:off x="1362456" y="2523744"/>
            <a:ext cx="9987991" cy="93268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--- 1. What namespaces does an ordinary process already have? ---------</a:t>
            </a:r>
          </a:p>
          <a:p>
            <a:pPr>
              <a:lnSpc>
                <a:spcPct val="100000"/>
              </a:lnSpc>
              <a:spcAft>
                <a:spcPts val="0"/>
              </a:spcAft>
            </a:pPr>
            <a:r>
              <a:rPr sz="1800" i="1">
                <a:solidFill>
                  <a:srgbClr val="8795A1"/>
                </a:solidFill>
                <a:latin typeface="Consolas"/>
              </a:rPr>
              <a:t># Every process is in a namespace; a container just gets different ones.</a:t>
            </a:r>
          </a:p>
          <a:p>
            <a:pPr>
              <a:lnSpc>
                <a:spcPct val="100000"/>
              </a:lnSpc>
              <a:spcAft>
                <a:spcPts val="0"/>
              </a:spcAft>
            </a:pPr>
            <a:r>
              <a:rPr sz="1800" i="0">
                <a:solidFill>
                  <a:srgbClr val="E8EDF2"/>
                </a:solidFill>
                <a:latin typeface="Consolas"/>
              </a:rPr>
              <a:t>ls</a:t>
            </a:r>
            <a:r>
              <a:rPr sz="1800" i="0">
                <a:solidFill>
                  <a:srgbClr val="E8EDF2"/>
                </a:solidFill>
                <a:latin typeface="Consolas"/>
              </a:rPr>
              <a:t> </a:t>
            </a:r>
            <a:r>
              <a:rPr sz="1800" i="0">
                <a:solidFill>
                  <a:srgbClr val="E8EDF2"/>
                </a:solidFill>
                <a:latin typeface="Consolas"/>
              </a:rPr>
              <a:t>-l</a:t>
            </a:r>
            <a:r>
              <a:rPr sz="1800" i="0">
                <a:solidFill>
                  <a:srgbClr val="E8EDF2"/>
                </a:solidFill>
                <a:latin typeface="Consolas"/>
              </a:rPr>
              <a:t> </a:t>
            </a:r>
            <a:r>
              <a:rPr sz="1800" i="0">
                <a:solidFill>
                  <a:srgbClr val="E8EDF2"/>
                </a:solidFill>
                <a:latin typeface="Consolas"/>
              </a:rPr>
              <a:t>/proc/self/ns/</a:t>
            </a:r>
          </a:p>
        </p:txBody>
      </p:sp>
      <p:sp>
        <p:nvSpPr>
          <p:cNvPr id="15" name="!!code-num"/>
          <p:cNvSpPr txBox="1"/>
          <p:nvPr/>
        </p:nvSpPr>
        <p:spPr>
          <a:xfrm>
            <a:off x="768096" y="2523744"/>
            <a:ext cx="393192" cy="9326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6</a:t>
            </a:r>
          </a:p>
          <a:p>
            <a:pPr algn="r">
              <a:lnSpc>
                <a:spcPct val="100000"/>
              </a:lnSpc>
            </a:pPr>
            <a:r>
              <a:rPr sz="1800">
                <a:solidFill>
                  <a:srgbClr val="4F5D6A"/>
                </a:solidFill>
                <a:latin typeface="Consolas"/>
              </a:rPr>
              <a:t>7</a:t>
            </a:r>
          </a:p>
          <a:p>
            <a:pPr algn="r">
              <a:lnSpc>
                <a:spcPct val="100000"/>
              </a:lnSpc>
            </a:pPr>
            <a:r>
              <a:rPr sz="1800">
                <a:solidFill>
                  <a:srgbClr val="4F5D6A"/>
                </a:solidFill>
                <a:latin typeface="Consolas"/>
              </a:rPr>
              <a:t>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77316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Building a Container by Hand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§8.4  ·  Handout p. 65     </a:t>
            </a:r>
            <a:fld id="{20365389-D79F-4BC5-8BC2-03A716091F2A}"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root filesystem to be the container's world.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975104"/>
          </a:xfrm>
          <a:prstGeom prst="roundRect">
            <a:avLst>
              <a:gd name="adj" fmla="val 462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2. A root filesystem to be the container's world. ----------------- sudo apt-get install -y debootstrap util-linux sudo mkdir -p &quot;$ROOT&quot; sudo debootstrap --variant=minbase jammy &quot;$ROOT&quot; \ http://archive.ubuntu.com/ubuntu/"/>
          <p:cNvSpPr txBox="1"/>
          <p:nvPr/>
        </p:nvSpPr>
        <p:spPr>
          <a:xfrm>
            <a:off x="1362456" y="2523744"/>
            <a:ext cx="9987991" cy="148132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--- 2. A root filesystem to be the container's world. -----------------</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apt-get</a:t>
            </a:r>
            <a:r>
              <a:rPr sz="1800" i="0">
                <a:solidFill>
                  <a:srgbClr val="E8EDF2"/>
                </a:solidFill>
                <a:latin typeface="Consolas"/>
              </a:rPr>
              <a:t> </a:t>
            </a:r>
            <a:r>
              <a:rPr sz="1800" i="0">
                <a:solidFill>
                  <a:srgbClr val="E8EDF2"/>
                </a:solidFill>
                <a:latin typeface="Consolas"/>
              </a:rPr>
              <a:t>install</a:t>
            </a:r>
            <a:r>
              <a:rPr sz="1800" i="0">
                <a:solidFill>
                  <a:srgbClr val="E8EDF2"/>
                </a:solidFill>
                <a:latin typeface="Consolas"/>
              </a:rPr>
              <a:t> </a:t>
            </a:r>
            <a:r>
              <a:rPr sz="1800" i="0">
                <a:solidFill>
                  <a:srgbClr val="E8EDF2"/>
                </a:solidFill>
                <a:latin typeface="Consolas"/>
              </a:rPr>
              <a:t>-y</a:t>
            </a:r>
            <a:r>
              <a:rPr sz="1800" i="0">
                <a:solidFill>
                  <a:srgbClr val="E8EDF2"/>
                </a:solidFill>
                <a:latin typeface="Consolas"/>
              </a:rPr>
              <a:t> </a:t>
            </a:r>
            <a:r>
              <a:rPr sz="1800" i="0">
                <a:solidFill>
                  <a:srgbClr val="E8EDF2"/>
                </a:solidFill>
                <a:latin typeface="Consolas"/>
              </a:rPr>
              <a:t>debootstrap</a:t>
            </a:r>
            <a:r>
              <a:rPr sz="1800" i="0">
                <a:solidFill>
                  <a:srgbClr val="E8EDF2"/>
                </a:solidFill>
                <a:latin typeface="Consolas"/>
              </a:rPr>
              <a:t> </a:t>
            </a:r>
            <a:r>
              <a:rPr sz="1800" i="0">
                <a:solidFill>
                  <a:srgbClr val="E8EDF2"/>
                </a:solidFill>
                <a:latin typeface="Consolas"/>
              </a:rPr>
              <a:t>util-linux</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mkdir</a:t>
            </a:r>
            <a:r>
              <a:rPr sz="1800" i="0">
                <a:solidFill>
                  <a:srgbClr val="E8EDF2"/>
                </a:solidFill>
                <a:latin typeface="Consolas"/>
              </a:rPr>
              <a:t> </a:t>
            </a:r>
            <a:r>
              <a:rPr sz="1800" i="0">
                <a:solidFill>
                  <a:srgbClr val="E8EDF2"/>
                </a:solidFill>
                <a:latin typeface="Consolas"/>
              </a:rPr>
              <a:t>-p</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$ROOT</a:t>
            </a:r>
            <a:r>
              <a:rPr sz="1800" i="0">
                <a:solidFill>
                  <a:srgbClr val="7DCEA0"/>
                </a:solidFill>
                <a:latin typeface="Consolas"/>
              </a:rPr>
              <a:t>"</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debootstrap</a:t>
            </a:r>
            <a:r>
              <a:rPr sz="1800" i="0">
                <a:solidFill>
                  <a:srgbClr val="E8EDF2"/>
                </a:solidFill>
                <a:latin typeface="Consolas"/>
              </a:rPr>
              <a:t> </a:t>
            </a:r>
            <a:r>
              <a:rPr sz="1800" i="0">
                <a:solidFill>
                  <a:srgbClr val="E8EDF2"/>
                </a:solidFill>
                <a:latin typeface="Consolas"/>
              </a:rPr>
              <a:t>--variant</a:t>
            </a:r>
            <a:r>
              <a:rPr sz="1800" i="0">
                <a:solidFill>
                  <a:srgbClr val="AEB6BF"/>
                </a:solidFill>
                <a:latin typeface="Consolas"/>
              </a:rPr>
              <a:t>=</a:t>
            </a:r>
            <a:r>
              <a:rPr sz="1800" i="0">
                <a:solidFill>
                  <a:srgbClr val="E8EDF2"/>
                </a:solidFill>
                <a:latin typeface="Consolas"/>
              </a:rPr>
              <a:t>minbase</a:t>
            </a:r>
            <a:r>
              <a:rPr sz="1800" i="0">
                <a:solidFill>
                  <a:srgbClr val="E8EDF2"/>
                </a:solidFill>
                <a:latin typeface="Consolas"/>
              </a:rPr>
              <a:t> </a:t>
            </a:r>
            <a:r>
              <a:rPr sz="1800" i="0">
                <a:solidFill>
                  <a:srgbClr val="E8EDF2"/>
                </a:solidFill>
                <a:latin typeface="Consolas"/>
              </a:rPr>
              <a:t>jammy</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$ROOT</a:t>
            </a:r>
            <a:r>
              <a:rPr sz="1800" i="0">
                <a:solidFill>
                  <a:srgbClr val="7DCEA0"/>
                </a:solidFill>
                <a:latin typeface="Consolas"/>
              </a:rPr>
              <a:t>"</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http://archive.ubuntu.com/ubuntu/</a:t>
            </a:r>
          </a:p>
        </p:txBody>
      </p:sp>
      <p:sp>
        <p:nvSpPr>
          <p:cNvPr id="15" name="!!code-num"/>
          <p:cNvSpPr txBox="1"/>
          <p:nvPr/>
        </p:nvSpPr>
        <p:spPr>
          <a:xfrm>
            <a:off x="768096" y="2523744"/>
            <a:ext cx="393192" cy="148132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10</a:t>
            </a:r>
          </a:p>
          <a:p>
            <a:pPr algn="r">
              <a:lnSpc>
                <a:spcPct val="100000"/>
              </a:lnSpc>
            </a:pPr>
            <a:r>
              <a:rPr sz="1800">
                <a:solidFill>
                  <a:srgbClr val="4F5D6A"/>
                </a:solidFill>
                <a:latin typeface="Consolas"/>
              </a:rPr>
              <a:t>11</a:t>
            </a:r>
          </a:p>
          <a:p>
            <a:pPr algn="r">
              <a:lnSpc>
                <a:spcPct val="100000"/>
              </a:lnSpc>
            </a:pPr>
            <a:r>
              <a:rPr sz="1800">
                <a:solidFill>
                  <a:srgbClr val="4F5D6A"/>
                </a:solidFill>
                <a:latin typeface="Consolas"/>
              </a:rPr>
              <a:t>12</a:t>
            </a:r>
          </a:p>
          <a:p>
            <a:pPr algn="r">
              <a:lnSpc>
                <a:spcPct val="100000"/>
              </a:lnSpc>
            </a:pPr>
            <a:r>
              <a:rPr sz="1800">
                <a:solidFill>
                  <a:srgbClr val="4F5D6A"/>
                </a:solidFill>
                <a:latin typeface="Consolas"/>
              </a:rPr>
              <a:t>13</a:t>
            </a:r>
          </a:p>
          <a:p>
            <a:pPr algn="r">
              <a:lnSpc>
                <a:spcPct val="100000"/>
              </a:lnSpc>
            </a:pPr>
            <a:r>
              <a:rPr sz="1800">
                <a:solidFill>
                  <a:srgbClr val="4F5D6A"/>
                </a:solidFill>
                <a:latin typeface="Consolas"/>
              </a:rPr>
              <a:t>14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04409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Building a Container by Hand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§8.4  ·  Handout p. 65     </a:t>
            </a:r>
            <a:fld id="{E28B4435-293E-452D-B69F-5A351F177AD0}"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Enter new namespaces. This is the whole mechanism.</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621024"/>
          </a:xfrm>
          <a:prstGeom prst="roundRect">
            <a:avLst>
              <a:gd name="adj" fmla="val 252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3. Enter new namespaces. This is the whole mechanism. ------------- # --pid --mount --uts --ipc --net: one flag per namespace from the table. sudo unshare --pid --mount --uts --ipc --net --fork --mount-proc \ chroot &quot;$ROOT&quot; /bin/bash -c ' hostname container-1 mount -t proc proc /proc echo &quot;--- inside ---&quot; hostname # the UTS namespace ps aux # the PID namespace: we are PID 1, host invisible ip addr # the network namespace: only lo, and it is down exit'"/>
          <p:cNvSpPr txBox="1"/>
          <p:nvPr/>
        </p:nvSpPr>
        <p:spPr>
          <a:xfrm>
            <a:off x="1362456" y="2523744"/>
            <a:ext cx="9987991" cy="312724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--- 3. Enter new namespaces. This is the whole mechanism. -------------</a:t>
            </a:r>
          </a:p>
          <a:p>
            <a:pPr>
              <a:lnSpc>
                <a:spcPct val="100000"/>
              </a:lnSpc>
              <a:spcAft>
                <a:spcPts val="0"/>
              </a:spcAft>
            </a:pPr>
            <a:r>
              <a:rPr sz="1800" i="1">
                <a:solidFill>
                  <a:srgbClr val="8795A1"/>
                </a:solidFill>
                <a:latin typeface="Consolas"/>
              </a:rPr>
              <a:t># --pid --mount --uts --ipc --net: one flag per namespace from the table.</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unshare</a:t>
            </a:r>
            <a:r>
              <a:rPr sz="1800" i="0">
                <a:solidFill>
                  <a:srgbClr val="E8EDF2"/>
                </a:solidFill>
                <a:latin typeface="Consolas"/>
              </a:rPr>
              <a:t> </a:t>
            </a:r>
            <a:r>
              <a:rPr sz="1800" i="0">
                <a:solidFill>
                  <a:srgbClr val="E8EDF2"/>
                </a:solidFill>
                <a:latin typeface="Consolas"/>
              </a:rPr>
              <a:t>--pid</a:t>
            </a:r>
            <a:r>
              <a:rPr sz="1800" i="0">
                <a:solidFill>
                  <a:srgbClr val="E8EDF2"/>
                </a:solidFill>
                <a:latin typeface="Consolas"/>
              </a:rPr>
              <a:t> </a:t>
            </a:r>
            <a:r>
              <a:rPr sz="1800" i="0">
                <a:solidFill>
                  <a:srgbClr val="E8EDF2"/>
                </a:solidFill>
                <a:latin typeface="Consolas"/>
              </a:rPr>
              <a:t>--mount</a:t>
            </a:r>
            <a:r>
              <a:rPr sz="1800" i="0">
                <a:solidFill>
                  <a:srgbClr val="E8EDF2"/>
                </a:solidFill>
                <a:latin typeface="Consolas"/>
              </a:rPr>
              <a:t> </a:t>
            </a:r>
            <a:r>
              <a:rPr sz="1800" i="0">
                <a:solidFill>
                  <a:srgbClr val="E8EDF2"/>
                </a:solidFill>
                <a:latin typeface="Consolas"/>
              </a:rPr>
              <a:t>--uts</a:t>
            </a:r>
            <a:r>
              <a:rPr sz="1800" i="0">
                <a:solidFill>
                  <a:srgbClr val="E8EDF2"/>
                </a:solidFill>
                <a:latin typeface="Consolas"/>
              </a:rPr>
              <a:t> </a:t>
            </a:r>
            <a:r>
              <a:rPr sz="1800" i="0">
                <a:solidFill>
                  <a:srgbClr val="E8EDF2"/>
                </a:solidFill>
                <a:latin typeface="Consolas"/>
              </a:rPr>
              <a:t>--ipc</a:t>
            </a:r>
            <a:r>
              <a:rPr sz="1800" i="0">
                <a:solidFill>
                  <a:srgbClr val="E8EDF2"/>
                </a:solidFill>
                <a:latin typeface="Consolas"/>
              </a:rPr>
              <a:t> </a:t>
            </a:r>
            <a:r>
              <a:rPr sz="1800" i="0">
                <a:solidFill>
                  <a:srgbClr val="E8EDF2"/>
                </a:solidFill>
                <a:latin typeface="Consolas"/>
              </a:rPr>
              <a:t>--net</a:t>
            </a:r>
            <a:r>
              <a:rPr sz="1800" i="0">
                <a:solidFill>
                  <a:srgbClr val="E8EDF2"/>
                </a:solidFill>
                <a:latin typeface="Consolas"/>
              </a:rPr>
              <a:t> </a:t>
            </a:r>
            <a:r>
              <a:rPr sz="1800" i="0">
                <a:solidFill>
                  <a:srgbClr val="E8EDF2"/>
                </a:solidFill>
                <a:latin typeface="Consolas"/>
              </a:rPr>
              <a:t>--fork</a:t>
            </a:r>
            <a:r>
              <a:rPr sz="1800" i="0">
                <a:solidFill>
                  <a:srgbClr val="E8EDF2"/>
                </a:solidFill>
                <a:latin typeface="Consolas"/>
              </a:rPr>
              <a:t> </a:t>
            </a:r>
            <a:r>
              <a:rPr sz="1800" i="0">
                <a:solidFill>
                  <a:srgbClr val="E8EDF2"/>
                </a:solidFill>
                <a:latin typeface="Consolas"/>
              </a:rPr>
              <a:t>--mount-proc</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chroot</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$ROOT</a:t>
            </a:r>
            <a:r>
              <a:rPr sz="1800" i="0">
                <a:solidFill>
                  <a:srgbClr val="7DCEA0"/>
                </a:solidFill>
                <a:latin typeface="Consolas"/>
              </a:rPr>
              <a:t>"</a:t>
            </a:r>
            <a:r>
              <a:rPr sz="1800" i="0">
                <a:solidFill>
                  <a:srgbClr val="E8EDF2"/>
                </a:solidFill>
                <a:latin typeface="Consolas"/>
              </a:rPr>
              <a:t> </a:t>
            </a:r>
            <a:r>
              <a:rPr sz="1800" i="0">
                <a:solidFill>
                  <a:srgbClr val="E8EDF2"/>
                </a:solidFill>
                <a:latin typeface="Consolas"/>
              </a:rPr>
              <a:t>/bin/bash</a:t>
            </a:r>
            <a:r>
              <a:rPr sz="1800" i="0">
                <a:solidFill>
                  <a:srgbClr val="E8EDF2"/>
                </a:solidFill>
                <a:latin typeface="Consolas"/>
              </a:rPr>
              <a:t> </a:t>
            </a:r>
            <a:r>
              <a:rPr sz="1800" i="0">
                <a:solidFill>
                  <a:srgbClr val="E8EDF2"/>
                </a:solidFill>
                <a:latin typeface="Consolas"/>
              </a:rPr>
              <a:t>-c</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7DCEA0"/>
                </a:solidFill>
                <a:latin typeface="Consolas"/>
              </a:rPr>
              <a:t>       hostname container-1</a:t>
            </a:r>
          </a:p>
          <a:p>
            <a:pPr>
              <a:lnSpc>
                <a:spcPct val="100000"/>
              </a:lnSpc>
              <a:spcAft>
                <a:spcPts val="0"/>
              </a:spcAft>
            </a:pPr>
            <a:r>
              <a:rPr sz="1800" i="0">
                <a:solidFill>
                  <a:srgbClr val="7DCEA0"/>
                </a:solidFill>
                <a:latin typeface="Consolas"/>
              </a:rPr>
              <a:t>       mount -t proc proc /proc</a:t>
            </a:r>
          </a:p>
          <a:p>
            <a:pPr>
              <a:lnSpc>
                <a:spcPct val="100000"/>
              </a:lnSpc>
              <a:spcAft>
                <a:spcPts val="0"/>
              </a:spcAft>
            </a:pPr>
            <a:r>
              <a:rPr sz="1800" i="0">
                <a:solidFill>
                  <a:srgbClr val="7DCEA0"/>
                </a:solidFill>
                <a:latin typeface="Consolas"/>
              </a:rPr>
              <a:t>       echo "--- inside ---"</a:t>
            </a:r>
          </a:p>
          <a:p>
            <a:pPr>
              <a:lnSpc>
                <a:spcPct val="100000"/>
              </a:lnSpc>
              <a:spcAft>
                <a:spcPts val="0"/>
              </a:spcAft>
            </a:pPr>
            <a:r>
              <a:rPr sz="1800" i="0">
                <a:solidFill>
                  <a:srgbClr val="7DCEA0"/>
                </a:solidFill>
                <a:latin typeface="Consolas"/>
              </a:rPr>
              <a:t>       hostname            # the UTS namespace</a:t>
            </a:r>
          </a:p>
          <a:p>
            <a:pPr>
              <a:lnSpc>
                <a:spcPct val="100000"/>
              </a:lnSpc>
              <a:spcAft>
                <a:spcPts val="0"/>
              </a:spcAft>
            </a:pPr>
            <a:r>
              <a:rPr sz="1800" i="0">
                <a:solidFill>
                  <a:srgbClr val="7DCEA0"/>
                </a:solidFill>
                <a:latin typeface="Consolas"/>
              </a:rPr>
              <a:t>       ps aux              # the PID namespace: we are PID 1, host invisible</a:t>
            </a:r>
          </a:p>
          <a:p>
            <a:pPr>
              <a:lnSpc>
                <a:spcPct val="100000"/>
              </a:lnSpc>
              <a:spcAft>
                <a:spcPts val="0"/>
              </a:spcAft>
            </a:pPr>
            <a:r>
              <a:rPr sz="1800" i="0">
                <a:solidFill>
                  <a:srgbClr val="7DCEA0"/>
                </a:solidFill>
                <a:latin typeface="Consolas"/>
              </a:rPr>
              <a:t>       ip addr             # the network namespace: only lo, and it is down</a:t>
            </a:r>
          </a:p>
          <a:p>
            <a:pPr>
              <a:lnSpc>
                <a:spcPct val="100000"/>
              </a:lnSpc>
              <a:spcAft>
                <a:spcPts val="0"/>
              </a:spcAft>
            </a:pPr>
            <a:r>
              <a:rPr sz="1800" i="0">
                <a:solidFill>
                  <a:srgbClr val="7DCEA0"/>
                </a:solidFill>
                <a:latin typeface="Consolas"/>
              </a:rPr>
              <a:t>       exit'</a:t>
            </a:r>
          </a:p>
        </p:txBody>
      </p:sp>
      <p:sp>
        <p:nvSpPr>
          <p:cNvPr id="15" name="!!code-num"/>
          <p:cNvSpPr txBox="1"/>
          <p:nvPr/>
        </p:nvSpPr>
        <p:spPr>
          <a:xfrm>
            <a:off x="768096" y="2523744"/>
            <a:ext cx="393192" cy="312724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16</a:t>
            </a:r>
          </a:p>
          <a:p>
            <a:pPr algn="r">
              <a:lnSpc>
                <a:spcPct val="100000"/>
              </a:lnSpc>
            </a:pPr>
            <a:r>
              <a:rPr sz="1800">
                <a:solidFill>
                  <a:srgbClr val="4F5D6A"/>
                </a:solidFill>
                <a:latin typeface="Consolas"/>
              </a:rPr>
              <a:t>17</a:t>
            </a:r>
          </a:p>
          <a:p>
            <a:pPr algn="r">
              <a:lnSpc>
                <a:spcPct val="100000"/>
              </a:lnSpc>
            </a:pPr>
            <a:r>
              <a:rPr sz="1800">
                <a:solidFill>
                  <a:srgbClr val="4F5D6A"/>
                </a:solidFill>
                <a:latin typeface="Consolas"/>
              </a:rPr>
              <a:t>18</a:t>
            </a:r>
          </a:p>
          <a:p>
            <a:pPr algn="r">
              <a:lnSpc>
                <a:spcPct val="100000"/>
              </a:lnSpc>
            </a:pPr>
            <a:r>
              <a:rPr sz="1800">
                <a:solidFill>
                  <a:srgbClr val="4F5D6A"/>
                </a:solidFill>
                <a:latin typeface="Consolas"/>
              </a:rPr>
              <a:t>19</a:t>
            </a:r>
          </a:p>
          <a:p>
            <a:pPr algn="r">
              <a:lnSpc>
                <a:spcPct val="100000"/>
              </a:lnSpc>
            </a:pPr>
            <a:r>
              <a:rPr sz="1800">
                <a:solidFill>
                  <a:srgbClr val="4F5D6A"/>
                </a:solidFill>
                <a:latin typeface="Consolas"/>
              </a:rPr>
              <a:t>20</a:t>
            </a:r>
          </a:p>
          <a:p>
            <a:pPr algn="r">
              <a:lnSpc>
                <a:spcPct val="100000"/>
              </a:lnSpc>
            </a:pPr>
            <a:r>
              <a:rPr sz="1800">
                <a:solidFill>
                  <a:srgbClr val="4F5D6A"/>
                </a:solidFill>
                <a:latin typeface="Consolas"/>
              </a:rPr>
              <a:t>21</a:t>
            </a:r>
          </a:p>
          <a:p>
            <a:pPr algn="r">
              <a:lnSpc>
                <a:spcPct val="100000"/>
              </a:lnSpc>
            </a:pPr>
            <a:r>
              <a:rPr sz="1800">
                <a:solidFill>
                  <a:srgbClr val="4F5D6A"/>
                </a:solidFill>
                <a:latin typeface="Consolas"/>
              </a:rPr>
              <a:t>22</a:t>
            </a:r>
          </a:p>
          <a:p>
            <a:pPr algn="r">
              <a:lnSpc>
                <a:spcPct val="100000"/>
              </a:lnSpc>
            </a:pPr>
            <a:r>
              <a:rPr sz="1800">
                <a:solidFill>
                  <a:srgbClr val="4F5D6A"/>
                </a:solidFill>
                <a:latin typeface="Consolas"/>
              </a:rPr>
              <a:t>23</a:t>
            </a:r>
          </a:p>
          <a:p>
            <a:pPr algn="r">
              <a:lnSpc>
                <a:spcPct val="100000"/>
              </a:lnSpc>
            </a:pPr>
            <a:r>
              <a:rPr sz="1800">
                <a:solidFill>
                  <a:srgbClr val="4F5D6A"/>
                </a:solidFill>
                <a:latin typeface="Consolas"/>
              </a:rPr>
              <a:t>24</a:t>
            </a:r>
          </a:p>
          <a:p>
            <a:pPr algn="r">
              <a:lnSpc>
                <a:spcPct val="100000"/>
              </a:lnSpc>
            </a:pPr>
            <a:r>
              <a:rPr sz="1800">
                <a:solidFill>
                  <a:srgbClr val="4F5D6A"/>
                </a:solidFill>
                <a:latin typeface="Consolas"/>
              </a:rPr>
              <a:t>25</a:t>
            </a:r>
          </a:p>
          <a:p>
            <a:pPr algn="r">
              <a:lnSpc>
                <a:spcPct val="100000"/>
              </a:lnSpc>
            </a:pPr>
            <a:r>
              <a:rPr sz="1800">
                <a:solidFill>
                  <a:srgbClr val="4F5D6A"/>
                </a:solidFill>
                <a:latin typeface="Consolas"/>
              </a:rPr>
              <a:t>26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31501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Building a Container by Hand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§8.4  ·  Handout p. 65     </a:t>
            </a:r>
            <a:fld id="{EF38603F-06BC-4123-9407-8FBD49F46ED3}"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Prove the host is unaffected.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152143"/>
          </a:xfrm>
          <a:prstGeom prst="roundRect">
            <a:avLst>
              <a:gd name="adj" fmla="val 793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4. Prove the host is unaffected. ---------------------------------- hostname ; ps aux | wc -l"/>
          <p:cNvSpPr txBox="1"/>
          <p:nvPr/>
        </p:nvSpPr>
        <p:spPr>
          <a:xfrm>
            <a:off x="1362456" y="2523744"/>
            <a:ext cx="9987991" cy="65836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--- 4. Prove the host is unaffected. ----------------------------------</a:t>
            </a:r>
          </a:p>
          <a:p>
            <a:pPr>
              <a:lnSpc>
                <a:spcPct val="100000"/>
              </a:lnSpc>
              <a:spcAft>
                <a:spcPts val="0"/>
              </a:spcAft>
            </a:pPr>
            <a:r>
              <a:rPr sz="1800" i="0">
                <a:solidFill>
                  <a:srgbClr val="E8EDF2"/>
                </a:solidFill>
                <a:latin typeface="Consolas"/>
              </a:rPr>
              <a:t>hostname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ps</a:t>
            </a:r>
            <a:r>
              <a:rPr sz="1800" i="0">
                <a:solidFill>
                  <a:srgbClr val="E8EDF2"/>
                </a:solidFill>
                <a:latin typeface="Consolas"/>
              </a:rPr>
              <a:t> </a:t>
            </a:r>
            <a:r>
              <a:rPr sz="1800" i="0">
                <a:solidFill>
                  <a:srgbClr val="E8EDF2"/>
                </a:solidFill>
                <a:latin typeface="Consolas"/>
              </a:rPr>
              <a:t>aux</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wc</a:t>
            </a:r>
            <a:r>
              <a:rPr sz="1800" i="0">
                <a:solidFill>
                  <a:srgbClr val="E8EDF2"/>
                </a:solidFill>
                <a:latin typeface="Consolas"/>
              </a:rPr>
              <a:t> </a:t>
            </a:r>
            <a:r>
              <a:rPr sz="1800" i="0">
                <a:solidFill>
                  <a:srgbClr val="E8EDF2"/>
                </a:solidFill>
                <a:latin typeface="Consolas"/>
              </a:rPr>
              <a:t>-l</a:t>
            </a:r>
          </a:p>
        </p:txBody>
      </p:sp>
      <p:sp>
        <p:nvSpPr>
          <p:cNvPr id="15" name="!!code-num"/>
          <p:cNvSpPr txBox="1"/>
          <p:nvPr/>
        </p:nvSpPr>
        <p:spPr>
          <a:xfrm>
            <a:off x="768096" y="2523744"/>
            <a:ext cx="393192" cy="65836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28</a:t>
            </a:r>
          </a:p>
          <a:p>
            <a:pPr algn="r">
              <a:lnSpc>
                <a:spcPct val="100000"/>
              </a:lnSpc>
            </a:pPr>
            <a:r>
              <a:rPr sz="1800">
                <a:solidFill>
                  <a:srgbClr val="4F5D6A"/>
                </a:solidFill>
                <a:latin typeface="Consolas"/>
              </a:rPr>
              <a:t>29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58594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Building a Container by Hand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§8.4  ·  Handout p. 65     </a:t>
            </a:r>
            <a:fld id="{8D01F262-030D-4AF2-B80E-27D81AF7A933}"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Limit it with a control group.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895344"/>
          </a:xfrm>
          <a:prstGeom prst="roundRect">
            <a:avLst>
              <a:gd name="adj" fmla="val 234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5. Limit it with a control group. --------------------------------- # cgroup v2: one unified tree under /sys/fs/cgroup. sudo mkdir -p /sys/fs/cgroup/vsdemo echo &quot;+cpu +memory&quot; | sudo tee /sys/fs/cgroup/cgroup.subtree_control echo &quot;50000 100000&quot; | sudo tee /sys/fs/cgroup/vsdemo/cpu.max # half a core echo &quot;100M&quot; | sudo tee /sys/fs/cgroup/vsdemo/memory.max # Put a busy process in it and watch it be throttled, not killed. sudo bash -c 'echo $$ &gt; /sys/fs/cgroup/vsdemo/cgroup.procs; \ timeout 10 yes &gt; /dev/null' &amp; sleep 11 cat /sys/fs/cgroup/vsdemo/cpu.stat | grep throttled"/>
          <p:cNvSpPr txBox="1"/>
          <p:nvPr/>
        </p:nvSpPr>
        <p:spPr>
          <a:xfrm>
            <a:off x="1362456" y="2523744"/>
            <a:ext cx="9987991" cy="340156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--- 5. Limit it with a control group. ---------------------------------</a:t>
            </a:r>
          </a:p>
          <a:p>
            <a:pPr>
              <a:lnSpc>
                <a:spcPct val="100000"/>
              </a:lnSpc>
              <a:spcAft>
                <a:spcPts val="0"/>
              </a:spcAft>
            </a:pPr>
            <a:r>
              <a:rPr sz="1800" i="1">
                <a:solidFill>
                  <a:srgbClr val="8795A1"/>
                </a:solidFill>
                <a:latin typeface="Consolas"/>
              </a:rPr>
              <a:t># cgroup v2: one unified tree under /sys/fs/cgroup.</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mkdir</a:t>
            </a:r>
            <a:r>
              <a:rPr sz="1800" i="0">
                <a:solidFill>
                  <a:srgbClr val="E8EDF2"/>
                </a:solidFill>
                <a:latin typeface="Consolas"/>
              </a:rPr>
              <a:t> </a:t>
            </a:r>
            <a:r>
              <a:rPr sz="1800" i="0">
                <a:solidFill>
                  <a:srgbClr val="E8EDF2"/>
                </a:solidFill>
                <a:latin typeface="Consolas"/>
              </a:rPr>
              <a:t>-p</a:t>
            </a:r>
            <a:r>
              <a:rPr sz="1800" i="0">
                <a:solidFill>
                  <a:srgbClr val="E8EDF2"/>
                </a:solidFill>
                <a:latin typeface="Consolas"/>
              </a:rPr>
              <a:t> </a:t>
            </a:r>
            <a:r>
              <a:rPr sz="1800" i="0">
                <a:solidFill>
                  <a:srgbClr val="E8EDF2"/>
                </a:solidFill>
                <a:latin typeface="Consolas"/>
              </a:rPr>
              <a:t>/sys/fs/cgroup/vsdemo</a:t>
            </a:r>
          </a:p>
          <a:p>
            <a:pPr>
              <a:lnSpc>
                <a:spcPct val="100000"/>
              </a:lnSpc>
              <a:spcAft>
                <a:spcPts val="0"/>
              </a:spcAft>
            </a:pPr>
            <a:r>
              <a:rPr sz="1800" i="0">
                <a:solidFill>
                  <a:srgbClr val="C39BD3"/>
                </a:solidFill>
                <a:latin typeface="Consolas"/>
              </a:rPr>
              <a:t>echo</a:t>
            </a:r>
            <a:r>
              <a:rPr sz="1800" i="0">
                <a:solidFill>
                  <a:srgbClr val="E8EDF2"/>
                </a:solidFill>
                <a:latin typeface="Consolas"/>
              </a:rPr>
              <a:t> </a:t>
            </a:r>
            <a:r>
              <a:rPr sz="1800" i="0">
                <a:solidFill>
                  <a:srgbClr val="7DCEA0"/>
                </a:solidFill>
                <a:latin typeface="Consolas"/>
              </a:rPr>
              <a:t>"+cpu +memory"</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tee</a:t>
            </a:r>
            <a:r>
              <a:rPr sz="1800" i="0">
                <a:solidFill>
                  <a:srgbClr val="E8EDF2"/>
                </a:solidFill>
                <a:latin typeface="Consolas"/>
              </a:rPr>
              <a:t> </a:t>
            </a:r>
            <a:r>
              <a:rPr sz="1800" i="0">
                <a:solidFill>
                  <a:srgbClr val="E8EDF2"/>
                </a:solidFill>
                <a:latin typeface="Consolas"/>
              </a:rPr>
              <a:t>/sys/fs/cgroup/cgroup.subtree_control</a:t>
            </a:r>
          </a:p>
          <a:p>
            <a:pPr>
              <a:lnSpc>
                <a:spcPct val="100000"/>
              </a:lnSpc>
              <a:spcAft>
                <a:spcPts val="0"/>
              </a:spcAft>
            </a:pPr>
            <a:r>
              <a:rPr sz="1800" i="0">
                <a:solidFill>
                  <a:srgbClr val="C39BD3"/>
                </a:solidFill>
                <a:latin typeface="Consolas"/>
              </a:rPr>
              <a:t>echo</a:t>
            </a:r>
            <a:r>
              <a:rPr sz="1800" i="0">
                <a:solidFill>
                  <a:srgbClr val="E8EDF2"/>
                </a:solidFill>
                <a:latin typeface="Consolas"/>
              </a:rPr>
              <a:t> </a:t>
            </a:r>
            <a:r>
              <a:rPr sz="1800" i="0">
                <a:solidFill>
                  <a:srgbClr val="7DCEA0"/>
                </a:solidFill>
                <a:latin typeface="Consolas"/>
              </a:rPr>
              <a:t>"50000 100000"</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tee</a:t>
            </a:r>
            <a:r>
              <a:rPr sz="1800" i="0">
                <a:solidFill>
                  <a:srgbClr val="E8EDF2"/>
                </a:solidFill>
                <a:latin typeface="Consolas"/>
              </a:rPr>
              <a:t> </a:t>
            </a:r>
            <a:r>
              <a:rPr sz="1800" i="0">
                <a:solidFill>
                  <a:srgbClr val="E8EDF2"/>
                </a:solidFill>
                <a:latin typeface="Consolas"/>
              </a:rPr>
              <a:t>/sys/fs/cgroup/vsdemo/cpu.max</a:t>
            </a:r>
            <a:r>
              <a:rPr sz="1800" i="0">
                <a:solidFill>
                  <a:srgbClr val="E8EDF2"/>
                </a:solidFill>
                <a:latin typeface="Consolas"/>
              </a:rPr>
              <a:t>   </a:t>
            </a:r>
            <a:r>
              <a:rPr sz="1800" i="1">
                <a:solidFill>
                  <a:srgbClr val="8795A1"/>
                </a:solidFill>
                <a:latin typeface="Consolas"/>
              </a:rPr>
              <a:t># half a core</a:t>
            </a:r>
          </a:p>
          <a:p>
            <a:pPr>
              <a:lnSpc>
                <a:spcPct val="100000"/>
              </a:lnSpc>
              <a:spcAft>
                <a:spcPts val="0"/>
              </a:spcAft>
            </a:pPr>
            <a:r>
              <a:rPr sz="1800" i="0">
                <a:solidFill>
                  <a:srgbClr val="C39BD3"/>
                </a:solidFill>
                <a:latin typeface="Consolas"/>
              </a:rPr>
              <a:t>echo</a:t>
            </a:r>
            <a:r>
              <a:rPr sz="1800" i="0">
                <a:solidFill>
                  <a:srgbClr val="E8EDF2"/>
                </a:solidFill>
                <a:latin typeface="Consolas"/>
              </a:rPr>
              <a:t> </a:t>
            </a:r>
            <a:r>
              <a:rPr sz="1800" i="0">
                <a:solidFill>
                  <a:srgbClr val="7DCEA0"/>
                </a:solidFill>
                <a:latin typeface="Consolas"/>
              </a:rPr>
              <a:t>"100M"</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tee</a:t>
            </a:r>
            <a:r>
              <a:rPr sz="1800" i="0">
                <a:solidFill>
                  <a:srgbClr val="E8EDF2"/>
                </a:solidFill>
                <a:latin typeface="Consolas"/>
              </a:rPr>
              <a:t> </a:t>
            </a:r>
            <a:r>
              <a:rPr sz="1800" i="0">
                <a:solidFill>
                  <a:srgbClr val="E8EDF2"/>
                </a:solidFill>
                <a:latin typeface="Consolas"/>
              </a:rPr>
              <a:t>/sys/fs/cgroup/vsdemo/memory.max</a:t>
            </a:r>
          </a:p>
          <a:p>
            <a:pPr>
              <a:lnSpc>
                <a:spcPct val="100000"/>
              </a:lnSpc>
              <a:spcAft>
                <a:spcPts val="0"/>
              </a:spcAft>
            </a:pPr>
            <a:r>
              <a:rPr sz="1800">
                <a:latin typeface="Consolas"/>
              </a:rPr>
              <a:t> </a:t>
            </a:r>
          </a:p>
          <a:p>
            <a:pPr>
              <a:lnSpc>
                <a:spcPct val="100000"/>
              </a:lnSpc>
              <a:spcAft>
                <a:spcPts val="0"/>
              </a:spcAft>
            </a:pPr>
            <a:r>
              <a:rPr sz="1800" i="1">
                <a:solidFill>
                  <a:srgbClr val="8795A1"/>
                </a:solidFill>
                <a:latin typeface="Consolas"/>
              </a:rPr>
              <a:t># Put a busy process in it and watch it be throttled, not killed.</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bash</a:t>
            </a:r>
            <a:r>
              <a:rPr sz="1800" i="0">
                <a:solidFill>
                  <a:srgbClr val="E8EDF2"/>
                </a:solidFill>
                <a:latin typeface="Consolas"/>
              </a:rPr>
              <a:t> </a:t>
            </a:r>
            <a:r>
              <a:rPr sz="1800" i="0">
                <a:solidFill>
                  <a:srgbClr val="E8EDF2"/>
                </a:solidFill>
                <a:latin typeface="Consolas"/>
              </a:rPr>
              <a:t>-c</a:t>
            </a:r>
            <a:r>
              <a:rPr sz="1800" i="0">
                <a:solidFill>
                  <a:srgbClr val="E8EDF2"/>
                </a:solidFill>
                <a:latin typeface="Consolas"/>
              </a:rPr>
              <a:t> </a:t>
            </a:r>
            <a:r>
              <a:rPr sz="1800" i="0">
                <a:solidFill>
                  <a:srgbClr val="7DCEA0"/>
                </a:solidFill>
                <a:latin typeface="Consolas"/>
              </a:rPr>
              <a:t>'echo $$ &gt; /sys/fs/cgroup/vsdemo/cgroup.procs; \</a:t>
            </a:r>
          </a:p>
          <a:p>
            <a:pPr>
              <a:lnSpc>
                <a:spcPct val="100000"/>
              </a:lnSpc>
              <a:spcAft>
                <a:spcPts val="0"/>
              </a:spcAft>
            </a:pPr>
            <a:r>
              <a:rPr sz="1800" i="0">
                <a:solidFill>
                  <a:srgbClr val="7DCEA0"/>
                </a:solidFill>
                <a:latin typeface="Consolas"/>
              </a:rPr>
              <a:t>              timeout 10 yes &gt; /dev/null'</a:t>
            </a:r>
            <a:r>
              <a:rPr sz="1800" i="0">
                <a:solidFill>
                  <a:srgbClr val="E8EDF2"/>
                </a:solidFill>
                <a:latin typeface="Consolas"/>
              </a:rPr>
              <a:t> </a:t>
            </a:r>
            <a:r>
              <a:rPr sz="1800" i="0">
                <a:solidFill>
                  <a:srgbClr val="AEB6BF"/>
                </a:solidFill>
                <a:latin typeface="Consolas"/>
              </a:rPr>
              <a:t>&amp;</a:t>
            </a:r>
          </a:p>
          <a:p>
            <a:pPr>
              <a:lnSpc>
                <a:spcPct val="100000"/>
              </a:lnSpc>
              <a:spcAft>
                <a:spcPts val="0"/>
              </a:spcAft>
            </a:pPr>
            <a:r>
              <a:rPr sz="1800" i="0">
                <a:solidFill>
                  <a:srgbClr val="E8EDF2"/>
                </a:solidFill>
                <a:latin typeface="Consolas"/>
              </a:rPr>
              <a:t>sleep</a:t>
            </a:r>
            <a:r>
              <a:rPr sz="1800" i="0">
                <a:solidFill>
                  <a:srgbClr val="E8EDF2"/>
                </a:solidFill>
                <a:latin typeface="Consolas"/>
              </a:rPr>
              <a:t> </a:t>
            </a:r>
            <a:r>
              <a:rPr sz="1800" i="0">
                <a:solidFill>
                  <a:srgbClr val="F7DC6F"/>
                </a:solidFill>
                <a:latin typeface="Consolas"/>
              </a:rPr>
              <a:t>11</a:t>
            </a:r>
          </a:p>
          <a:p>
            <a:pPr>
              <a:lnSpc>
                <a:spcPct val="100000"/>
              </a:lnSpc>
              <a:spcAft>
                <a:spcPts val="0"/>
              </a:spcAft>
            </a:pPr>
            <a:r>
              <a:rPr sz="1800" i="0">
                <a:solidFill>
                  <a:srgbClr val="E8EDF2"/>
                </a:solidFill>
                <a:latin typeface="Consolas"/>
              </a:rPr>
              <a:t>cat</a:t>
            </a:r>
            <a:r>
              <a:rPr sz="1800" i="0">
                <a:solidFill>
                  <a:srgbClr val="E8EDF2"/>
                </a:solidFill>
                <a:latin typeface="Consolas"/>
              </a:rPr>
              <a:t> </a:t>
            </a:r>
            <a:r>
              <a:rPr sz="1800" i="0">
                <a:solidFill>
                  <a:srgbClr val="E8EDF2"/>
                </a:solidFill>
                <a:latin typeface="Consolas"/>
              </a:rPr>
              <a:t>/sys/fs/cgroup/vsdemo/cpu.stat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grep</a:t>
            </a:r>
            <a:r>
              <a:rPr sz="1800" i="0">
                <a:solidFill>
                  <a:srgbClr val="E8EDF2"/>
                </a:solidFill>
                <a:latin typeface="Consolas"/>
              </a:rPr>
              <a:t> </a:t>
            </a:r>
            <a:r>
              <a:rPr sz="1800" i="0">
                <a:solidFill>
                  <a:srgbClr val="E8EDF2"/>
                </a:solidFill>
                <a:latin typeface="Consolas"/>
              </a:rPr>
              <a:t>throttled</a:t>
            </a:r>
          </a:p>
        </p:txBody>
      </p:sp>
      <p:sp>
        <p:nvSpPr>
          <p:cNvPr id="15" name="!!code-num"/>
          <p:cNvSpPr txBox="1"/>
          <p:nvPr/>
        </p:nvSpPr>
        <p:spPr>
          <a:xfrm>
            <a:off x="768096" y="2523744"/>
            <a:ext cx="393192" cy="340156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31</a:t>
            </a:r>
          </a:p>
          <a:p>
            <a:pPr algn="r">
              <a:lnSpc>
                <a:spcPct val="100000"/>
              </a:lnSpc>
            </a:pPr>
            <a:r>
              <a:rPr sz="1800">
                <a:solidFill>
                  <a:srgbClr val="4F5D6A"/>
                </a:solidFill>
                <a:latin typeface="Consolas"/>
              </a:rPr>
              <a:t>32</a:t>
            </a:r>
          </a:p>
          <a:p>
            <a:pPr algn="r">
              <a:lnSpc>
                <a:spcPct val="100000"/>
              </a:lnSpc>
            </a:pPr>
            <a:r>
              <a:rPr sz="1800">
                <a:solidFill>
                  <a:srgbClr val="4F5D6A"/>
                </a:solidFill>
                <a:latin typeface="Consolas"/>
              </a:rPr>
              <a:t>33</a:t>
            </a:r>
          </a:p>
          <a:p>
            <a:pPr algn="r">
              <a:lnSpc>
                <a:spcPct val="100000"/>
              </a:lnSpc>
            </a:pPr>
            <a:r>
              <a:rPr sz="1800">
                <a:solidFill>
                  <a:srgbClr val="4F5D6A"/>
                </a:solidFill>
                <a:latin typeface="Consolas"/>
              </a:rPr>
              <a:t>34</a:t>
            </a:r>
          </a:p>
          <a:p>
            <a:pPr algn="r">
              <a:lnSpc>
                <a:spcPct val="100000"/>
              </a:lnSpc>
            </a:pPr>
            <a:r>
              <a:rPr sz="1800">
                <a:solidFill>
                  <a:srgbClr val="4F5D6A"/>
                </a:solidFill>
                <a:latin typeface="Consolas"/>
              </a:rPr>
              <a:t>35</a:t>
            </a:r>
          </a:p>
          <a:p>
            <a:pPr algn="r">
              <a:lnSpc>
                <a:spcPct val="100000"/>
              </a:lnSpc>
            </a:pPr>
            <a:r>
              <a:rPr sz="1800">
                <a:solidFill>
                  <a:srgbClr val="4F5D6A"/>
                </a:solidFill>
                <a:latin typeface="Consolas"/>
              </a:rPr>
              <a:t>36</a:t>
            </a:r>
          </a:p>
          <a:p>
            <a:pPr algn="r">
              <a:lnSpc>
                <a:spcPct val="100000"/>
              </a:lnSpc>
            </a:pPr>
            <a:r>
              <a:rPr sz="1800">
                <a:solidFill>
                  <a:srgbClr val="4F5D6A"/>
                </a:solidFill>
                <a:latin typeface="Consolas"/>
              </a:rPr>
              <a:t>37</a:t>
            </a:r>
          </a:p>
          <a:p>
            <a:pPr algn="r">
              <a:lnSpc>
                <a:spcPct val="100000"/>
              </a:lnSpc>
            </a:pPr>
            <a:r>
              <a:rPr sz="1800">
                <a:solidFill>
                  <a:srgbClr val="4F5D6A"/>
                </a:solidFill>
                <a:latin typeface="Consolas"/>
              </a:rPr>
              <a:t>38</a:t>
            </a:r>
          </a:p>
          <a:p>
            <a:pPr algn="r">
              <a:lnSpc>
                <a:spcPct val="100000"/>
              </a:lnSpc>
            </a:pPr>
            <a:r>
              <a:rPr sz="1800">
                <a:solidFill>
                  <a:srgbClr val="4F5D6A"/>
                </a:solidFill>
                <a:latin typeface="Consolas"/>
              </a:rPr>
              <a:t>39</a:t>
            </a:r>
          </a:p>
          <a:p>
            <a:pPr algn="r">
              <a:lnSpc>
                <a:spcPct val="100000"/>
              </a:lnSpc>
            </a:pPr>
            <a:r>
              <a:rPr sz="1800">
                <a:solidFill>
                  <a:srgbClr val="4F5D6A"/>
                </a:solidFill>
                <a:latin typeface="Consolas"/>
              </a:rPr>
              <a:t>40</a:t>
            </a:r>
          </a:p>
          <a:p>
            <a:pPr algn="r">
              <a:lnSpc>
                <a:spcPct val="100000"/>
              </a:lnSpc>
            </a:pPr>
            <a:r>
              <a:rPr sz="1800">
                <a:solidFill>
                  <a:srgbClr val="4F5D6A"/>
                </a:solidFill>
                <a:latin typeface="Consolas"/>
              </a:rPr>
              <a:t>41</a:t>
            </a:r>
          </a:p>
          <a:p>
            <a:pPr algn="r">
              <a:lnSpc>
                <a:spcPct val="100000"/>
              </a:lnSpc>
            </a:pPr>
            <a:r>
              <a:rPr sz="1800">
                <a:solidFill>
                  <a:srgbClr val="4F5D6A"/>
                </a:solidFill>
                <a:latin typeface="Consolas"/>
              </a:rPr>
              <a:t>42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85687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Building a Container by Hand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§8.4  ·  Handout p. 65     </a:t>
            </a:r>
            <a:fld id="{67944B2F-2A22-48B2-9938-C74CCD50FD1B}"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Now cross the memory limit, and watch it be killed.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340863"/>
          </a:xfrm>
          <a:prstGeom prst="roundRect">
            <a:avLst>
              <a:gd name="adj" fmla="val 390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6. Now cross the memory limit, and watch it be killed. ----------- # CPU throttles; memory kills. This is the asymmetry of section 8.3. sudo bash -c 'echo $$ &gt; /sys/fs/cgroup/vsdemo/cgroup.procs; \ head -c 200M /dev/zero | tail -c 1' || \ echo &quot;killed, exit $? -- 137 is 128+9, the OOM killer&quot; dmesg | tail -3 | grep -i 'out of memory' || true"/>
          <p:cNvSpPr txBox="1"/>
          <p:nvPr/>
        </p:nvSpPr>
        <p:spPr>
          <a:xfrm>
            <a:off x="1362456" y="2523744"/>
            <a:ext cx="9987991" cy="18470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--- 6. Now cross the memory limit, and watch it be killed. -----------</a:t>
            </a:r>
          </a:p>
          <a:p>
            <a:pPr>
              <a:lnSpc>
                <a:spcPct val="100000"/>
              </a:lnSpc>
              <a:spcAft>
                <a:spcPts val="0"/>
              </a:spcAft>
            </a:pPr>
            <a:r>
              <a:rPr sz="1900" i="1">
                <a:solidFill>
                  <a:srgbClr val="8795A1"/>
                </a:solidFill>
                <a:latin typeface="Consolas"/>
              </a:rPr>
              <a:t># CPU throttles; memory kills. This is the asymmetry of section 8.3.</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bash</a:t>
            </a:r>
            <a:r>
              <a:rPr sz="1900" i="0">
                <a:solidFill>
                  <a:srgbClr val="E8EDF2"/>
                </a:solidFill>
                <a:latin typeface="Consolas"/>
              </a:rPr>
              <a:t> </a:t>
            </a:r>
            <a:r>
              <a:rPr sz="1900" i="0">
                <a:solidFill>
                  <a:srgbClr val="E8EDF2"/>
                </a:solidFill>
                <a:latin typeface="Consolas"/>
              </a:rPr>
              <a:t>-c</a:t>
            </a:r>
            <a:r>
              <a:rPr sz="1900" i="0">
                <a:solidFill>
                  <a:srgbClr val="E8EDF2"/>
                </a:solidFill>
                <a:latin typeface="Consolas"/>
              </a:rPr>
              <a:t> </a:t>
            </a:r>
            <a:r>
              <a:rPr sz="1900" i="0">
                <a:solidFill>
                  <a:srgbClr val="7DCEA0"/>
                </a:solidFill>
                <a:latin typeface="Consolas"/>
              </a:rPr>
              <a:t>'echo $$ &gt; /sys/fs/cgroup/vsdemo/cgroup.procs; \</a:t>
            </a:r>
          </a:p>
          <a:p>
            <a:pPr>
              <a:lnSpc>
                <a:spcPct val="100000"/>
              </a:lnSpc>
              <a:spcAft>
                <a:spcPts val="0"/>
              </a:spcAft>
            </a:pPr>
            <a:r>
              <a:rPr sz="1900" i="0">
                <a:solidFill>
                  <a:srgbClr val="7DCEA0"/>
                </a:solidFill>
                <a:latin typeface="Consolas"/>
              </a:rPr>
              <a:t>              head -c 200M /dev/zero | tail -c 1'</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killed, exit </a:t>
            </a:r>
            <a:r>
              <a:rPr sz="1900" i="0">
                <a:solidFill>
                  <a:srgbClr val="E8EDF2"/>
                </a:solidFill>
                <a:latin typeface="Consolas"/>
              </a:rPr>
              <a:t>$?</a:t>
            </a:r>
            <a:r>
              <a:rPr sz="1900" i="0">
                <a:solidFill>
                  <a:srgbClr val="7DCEA0"/>
                </a:solidFill>
                <a:latin typeface="Consolas"/>
              </a:rPr>
              <a:t> -- 137 is 128+9, the OOM killer</a:t>
            </a:r>
            <a:r>
              <a:rPr sz="1900" i="0">
                <a:solidFill>
                  <a:srgbClr val="7DCEA0"/>
                </a:solidFill>
                <a:latin typeface="Consolas"/>
              </a:rPr>
              <a:t>"</a:t>
            </a:r>
          </a:p>
          <a:p>
            <a:pPr>
              <a:lnSpc>
                <a:spcPct val="100000"/>
              </a:lnSpc>
              <a:spcAft>
                <a:spcPts val="0"/>
              </a:spcAft>
            </a:pPr>
            <a:r>
              <a:rPr sz="1900" i="0">
                <a:solidFill>
                  <a:srgbClr val="E8EDF2"/>
                </a:solidFill>
                <a:latin typeface="Consolas"/>
              </a:rPr>
              <a:t>dmesg</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tail</a:t>
            </a:r>
            <a:r>
              <a:rPr sz="1900" i="0">
                <a:solidFill>
                  <a:srgbClr val="E8EDF2"/>
                </a:solidFill>
                <a:latin typeface="Consolas"/>
              </a:rPr>
              <a:t> </a:t>
            </a:r>
            <a:r>
              <a:rPr sz="1900" i="0">
                <a:solidFill>
                  <a:srgbClr val="E8EDF2"/>
                </a:solidFill>
                <a:latin typeface="Consolas"/>
              </a:rPr>
              <a:t>-3</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grep</a:t>
            </a:r>
            <a:r>
              <a:rPr sz="1900" i="0">
                <a:solidFill>
                  <a:srgbClr val="E8EDF2"/>
                </a:solidFill>
                <a:latin typeface="Consolas"/>
              </a:rPr>
              <a:t> </a:t>
            </a:r>
            <a:r>
              <a:rPr sz="1900" i="0">
                <a:solidFill>
                  <a:srgbClr val="E8EDF2"/>
                </a:solidFill>
                <a:latin typeface="Consolas"/>
              </a:rPr>
              <a:t>-i</a:t>
            </a:r>
            <a:r>
              <a:rPr sz="1900" i="0">
                <a:solidFill>
                  <a:srgbClr val="E8EDF2"/>
                </a:solidFill>
                <a:latin typeface="Consolas"/>
              </a:rPr>
              <a:t> </a:t>
            </a:r>
            <a:r>
              <a:rPr sz="1900" i="0">
                <a:solidFill>
                  <a:srgbClr val="7DCEA0"/>
                </a:solidFill>
                <a:latin typeface="Consolas"/>
              </a:rPr>
              <a:t>'out of memory'</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p:txBody>
      </p:sp>
      <p:sp>
        <p:nvSpPr>
          <p:cNvPr id="15" name="!!code-num"/>
          <p:cNvSpPr txBox="1"/>
          <p:nvPr/>
        </p:nvSpPr>
        <p:spPr>
          <a:xfrm>
            <a:off x="768096" y="2523744"/>
            <a:ext cx="393192" cy="18470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44</a:t>
            </a:r>
          </a:p>
          <a:p>
            <a:pPr algn="r">
              <a:lnSpc>
                <a:spcPct val="100000"/>
              </a:lnSpc>
            </a:pPr>
            <a:r>
              <a:rPr sz="1900">
                <a:solidFill>
                  <a:srgbClr val="4F5D6A"/>
                </a:solidFill>
                <a:latin typeface="Consolas"/>
              </a:rPr>
              <a:t>45</a:t>
            </a:r>
          </a:p>
          <a:p>
            <a:pPr algn="r">
              <a:lnSpc>
                <a:spcPct val="100000"/>
              </a:lnSpc>
            </a:pPr>
            <a:r>
              <a:rPr sz="1900">
                <a:solidFill>
                  <a:srgbClr val="4F5D6A"/>
                </a:solidFill>
                <a:latin typeface="Consolas"/>
              </a:rPr>
              <a:t>46</a:t>
            </a:r>
          </a:p>
          <a:p>
            <a:pPr algn="r">
              <a:lnSpc>
                <a:spcPct val="100000"/>
              </a:lnSpc>
            </a:pPr>
            <a:r>
              <a:rPr sz="1900">
                <a:solidFill>
                  <a:srgbClr val="4F5D6A"/>
                </a:solidFill>
                <a:latin typeface="Consolas"/>
              </a:rPr>
              <a:t>47</a:t>
            </a:r>
          </a:p>
          <a:p>
            <a:pPr algn="r">
              <a:lnSpc>
                <a:spcPct val="100000"/>
              </a:lnSpc>
            </a:pPr>
            <a:r>
              <a:rPr sz="1900">
                <a:solidFill>
                  <a:srgbClr val="4F5D6A"/>
                </a:solidFill>
                <a:latin typeface="Consolas"/>
              </a:rPr>
              <a:t>48</a:t>
            </a:r>
          </a:p>
          <a:p>
            <a:pPr algn="r">
              <a:lnSpc>
                <a:spcPct val="100000"/>
              </a:lnSpc>
            </a:pPr>
            <a:r>
              <a:rPr sz="1900">
                <a:solidFill>
                  <a:srgbClr val="4F5D6A"/>
                </a:solidFill>
                <a:latin typeface="Consolas"/>
              </a:rPr>
              <a:t>49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Building a Container by Hand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§8.4  ·  Handout p. 65     </a:t>
            </a:r>
            <a:fld id="{9FEB1292-E17D-4042-A20C-8E1EC256D523}"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Share one root between two containers with overlayfs.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895344"/>
          </a:xfrm>
          <a:prstGeom prst="roundRect">
            <a:avLst>
              <a:gd name="adj" fmla="val 234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7. Share one root between two containers with overlayfs. --------- sudo mkdir -p /tmp/ovl/{upper1,upper2,work1,work2,m1,m2} for i in 1 2; do sudo mount -t overlay overlay \ -o lowerdir=&quot;$ROOT&quot;,upperdir=/tmp/ovl/upper$i,workdir=/tmp/ovl/work$i \ /tmp/ovl/m$i done # Write in one; the other and the shared lower layer are untouched. sudo touch /tmp/ovl/m1/etc/only-in-one ls /tmp/ovl/m1/etc/only-in-one ls /tmp/ovl/m2/etc/only-in-one 2&gt;&amp;1 | tail -1 sudo du -sh /tmp/ovl/upper1 /tmp/ovl/upper2 &quot;$ROOT&quot;"/>
          <p:cNvSpPr txBox="1"/>
          <p:nvPr/>
        </p:nvSpPr>
        <p:spPr>
          <a:xfrm>
            <a:off x="1362456" y="2523744"/>
            <a:ext cx="9987991" cy="340156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--- 7. Share one root between two containers with overlayfs. ---------</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mkdir</a:t>
            </a:r>
            <a:r>
              <a:rPr sz="1800" i="0">
                <a:solidFill>
                  <a:srgbClr val="E8EDF2"/>
                </a:solidFill>
                <a:latin typeface="Consolas"/>
              </a:rPr>
              <a:t> </a:t>
            </a:r>
            <a:r>
              <a:rPr sz="1800" i="0">
                <a:solidFill>
                  <a:srgbClr val="E8EDF2"/>
                </a:solidFill>
                <a:latin typeface="Consolas"/>
              </a:rPr>
              <a:t>-p</a:t>
            </a:r>
            <a:r>
              <a:rPr sz="1800" i="0">
                <a:solidFill>
                  <a:srgbClr val="E8EDF2"/>
                </a:solidFill>
                <a:latin typeface="Consolas"/>
              </a:rPr>
              <a:t> </a:t>
            </a:r>
            <a:r>
              <a:rPr sz="1800" i="0">
                <a:solidFill>
                  <a:srgbClr val="E8EDF2"/>
                </a:solidFill>
                <a:latin typeface="Consolas"/>
              </a:rPr>
              <a:t>/tmp/ovl/</a:t>
            </a:r>
            <a:r>
              <a:rPr sz="1800" i="0">
                <a:solidFill>
                  <a:srgbClr val="AEB6BF"/>
                </a:solidFill>
                <a:latin typeface="Consolas"/>
              </a:rPr>
              <a:t>{</a:t>
            </a:r>
            <a:r>
              <a:rPr sz="1800" i="0">
                <a:solidFill>
                  <a:srgbClr val="E8EDF2"/>
                </a:solidFill>
                <a:latin typeface="Consolas"/>
              </a:rPr>
              <a:t>upper1,upper2,work1,work2,m1,m2</a:t>
            </a:r>
            <a:r>
              <a:rPr sz="1800" i="0">
                <a:solidFill>
                  <a:srgbClr val="AEB6BF"/>
                </a:solidFill>
                <a:latin typeface="Consolas"/>
              </a:rPr>
              <a:t>}</a:t>
            </a:r>
          </a:p>
          <a:p>
            <a:pPr>
              <a:lnSpc>
                <a:spcPct val="100000"/>
              </a:lnSpc>
              <a:spcAft>
                <a:spcPts val="0"/>
              </a:spcAft>
            </a:pP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i</a:t>
            </a:r>
            <a:r>
              <a:rPr sz="1800" i="0">
                <a:solidFill>
                  <a:srgbClr val="E8EDF2"/>
                </a:solidFill>
                <a:latin typeface="Consolas"/>
              </a:rPr>
              <a:t> </a:t>
            </a:r>
            <a:r>
              <a:rPr sz="1800" i="0">
                <a:solidFill>
                  <a:srgbClr val="5DADE2"/>
                </a:solidFill>
                <a:latin typeface="Consolas"/>
              </a:rPr>
              <a:t>in</a:t>
            </a:r>
            <a:r>
              <a:rPr sz="1800" i="0">
                <a:solidFill>
                  <a:srgbClr val="E8EDF2"/>
                </a:solidFill>
                <a:latin typeface="Consolas"/>
              </a:rPr>
              <a:t> </a:t>
            </a:r>
            <a:r>
              <a:rPr sz="1800" i="0">
                <a:solidFill>
                  <a:srgbClr val="F7DC6F"/>
                </a:solidFill>
                <a:latin typeface="Consolas"/>
              </a:rPr>
              <a:t>1</a:t>
            </a:r>
            <a:r>
              <a:rPr sz="1800" i="0">
                <a:solidFill>
                  <a:srgbClr val="E8EDF2"/>
                </a:solidFill>
                <a:latin typeface="Consolas"/>
              </a:rPr>
              <a:t> </a:t>
            </a:r>
            <a:r>
              <a:rPr sz="1800" i="0">
                <a:solidFill>
                  <a:srgbClr val="F7DC6F"/>
                </a:solidFill>
                <a:latin typeface="Consolas"/>
              </a:rPr>
              <a:t>2</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do</a:t>
            </a:r>
          </a:p>
          <a:p>
            <a:pPr>
              <a:lnSpc>
                <a:spcPct val="100000"/>
              </a:lnSpc>
              <a:spcAft>
                <a:spcPts val="0"/>
              </a:spcAft>
            </a:pPr>
            <a:r>
              <a:rPr sz="1800" i="0">
                <a:solidFill>
                  <a:srgbClr val="E8EDF2"/>
                </a:solidFill>
                <a:latin typeface="Consolas"/>
              </a:rPr>
              <a:t>  </a:t>
            </a: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mount</a:t>
            </a:r>
            <a:r>
              <a:rPr sz="1800" i="0">
                <a:solidFill>
                  <a:srgbClr val="E8EDF2"/>
                </a:solidFill>
                <a:latin typeface="Consolas"/>
              </a:rPr>
              <a:t> </a:t>
            </a:r>
            <a:r>
              <a:rPr sz="1800" i="0">
                <a:solidFill>
                  <a:srgbClr val="E8EDF2"/>
                </a:solidFill>
                <a:latin typeface="Consolas"/>
              </a:rPr>
              <a:t>-t</a:t>
            </a:r>
            <a:r>
              <a:rPr sz="1800" i="0">
                <a:solidFill>
                  <a:srgbClr val="E8EDF2"/>
                </a:solidFill>
                <a:latin typeface="Consolas"/>
              </a:rPr>
              <a:t> </a:t>
            </a:r>
            <a:r>
              <a:rPr sz="1800" i="0">
                <a:solidFill>
                  <a:srgbClr val="E8EDF2"/>
                </a:solidFill>
                <a:latin typeface="Consolas"/>
              </a:rPr>
              <a:t>overlay</a:t>
            </a:r>
            <a:r>
              <a:rPr sz="1800" i="0">
                <a:solidFill>
                  <a:srgbClr val="E8EDF2"/>
                </a:solidFill>
                <a:latin typeface="Consolas"/>
              </a:rPr>
              <a:t> </a:t>
            </a:r>
            <a:r>
              <a:rPr sz="1800" i="0">
                <a:solidFill>
                  <a:srgbClr val="E8EDF2"/>
                </a:solidFill>
                <a:latin typeface="Consolas"/>
              </a:rPr>
              <a:t>overlay</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-o</a:t>
            </a:r>
            <a:r>
              <a:rPr sz="1800" i="0">
                <a:solidFill>
                  <a:srgbClr val="E8EDF2"/>
                </a:solidFill>
                <a:latin typeface="Consolas"/>
              </a:rPr>
              <a:t> </a:t>
            </a:r>
            <a:r>
              <a:rPr sz="1800" i="0">
                <a:solidFill>
                  <a:srgbClr val="E8EDF2"/>
                </a:solidFill>
                <a:latin typeface="Consolas"/>
              </a:rPr>
              <a:t>lowerdir</a:t>
            </a:r>
            <a:r>
              <a:rPr sz="1800" i="0">
                <a:solidFill>
                  <a:srgbClr val="AEB6BF"/>
                </a:solidFill>
                <a:latin typeface="Consolas"/>
              </a:rPr>
              <a:t>=</a:t>
            </a:r>
            <a:r>
              <a:rPr sz="1800" i="0">
                <a:solidFill>
                  <a:srgbClr val="7DCEA0"/>
                </a:solidFill>
                <a:latin typeface="Consolas"/>
              </a:rPr>
              <a:t>"</a:t>
            </a:r>
            <a:r>
              <a:rPr sz="1800" i="0">
                <a:solidFill>
                  <a:srgbClr val="E8EDF2"/>
                </a:solidFill>
                <a:latin typeface="Consolas"/>
              </a:rPr>
              <a:t>$ROOT</a:t>
            </a:r>
            <a:r>
              <a:rPr sz="1800" i="0">
                <a:solidFill>
                  <a:srgbClr val="7DCEA0"/>
                </a:solidFill>
                <a:latin typeface="Consolas"/>
              </a:rPr>
              <a:t>"</a:t>
            </a:r>
            <a:r>
              <a:rPr sz="1800" i="0">
                <a:solidFill>
                  <a:srgbClr val="E8EDF2"/>
                </a:solidFill>
                <a:latin typeface="Consolas"/>
              </a:rPr>
              <a:t>,upperdir</a:t>
            </a:r>
            <a:r>
              <a:rPr sz="1800" i="0">
                <a:solidFill>
                  <a:srgbClr val="AEB6BF"/>
                </a:solidFill>
                <a:latin typeface="Consolas"/>
              </a:rPr>
              <a:t>=</a:t>
            </a:r>
            <a:r>
              <a:rPr sz="1800" i="0">
                <a:solidFill>
                  <a:srgbClr val="E8EDF2"/>
                </a:solidFill>
                <a:latin typeface="Consolas"/>
              </a:rPr>
              <a:t>/tmp/ovl/upper</a:t>
            </a:r>
            <a:r>
              <a:rPr sz="1800" i="0">
                <a:solidFill>
                  <a:srgbClr val="E8EDF2"/>
                </a:solidFill>
                <a:latin typeface="Consolas"/>
              </a:rPr>
              <a:t>$i</a:t>
            </a:r>
            <a:r>
              <a:rPr sz="1800" i="0">
                <a:solidFill>
                  <a:srgbClr val="E8EDF2"/>
                </a:solidFill>
                <a:latin typeface="Consolas"/>
              </a:rPr>
              <a:t>,workdir</a:t>
            </a:r>
            <a:r>
              <a:rPr sz="1800" i="0">
                <a:solidFill>
                  <a:srgbClr val="AEB6BF"/>
                </a:solidFill>
                <a:latin typeface="Consolas"/>
              </a:rPr>
              <a:t>=</a:t>
            </a:r>
            <a:r>
              <a:rPr sz="1800" i="0">
                <a:solidFill>
                  <a:srgbClr val="E8EDF2"/>
                </a:solidFill>
                <a:latin typeface="Consolas"/>
              </a:rPr>
              <a:t>/tmp/ovl/work</a:t>
            </a:r>
            <a:r>
              <a:rPr sz="1800" i="0">
                <a:solidFill>
                  <a:srgbClr val="E8EDF2"/>
                </a:solidFill>
                <a:latin typeface="Consolas"/>
              </a:rPr>
              <a:t>$i</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/tmp/ovl/m</a:t>
            </a:r>
            <a:r>
              <a:rPr sz="1800" i="0">
                <a:solidFill>
                  <a:srgbClr val="E8EDF2"/>
                </a:solidFill>
                <a:latin typeface="Consolas"/>
              </a:rPr>
              <a:t>$i</a:t>
            </a:r>
          </a:p>
          <a:p>
            <a:pPr>
              <a:lnSpc>
                <a:spcPct val="100000"/>
              </a:lnSpc>
              <a:spcAft>
                <a:spcPts val="0"/>
              </a:spcAft>
            </a:pPr>
            <a:r>
              <a:rPr sz="1800" i="0">
                <a:solidFill>
                  <a:srgbClr val="5DADE2"/>
                </a:solidFill>
                <a:latin typeface="Consolas"/>
              </a:rPr>
              <a:t>done</a:t>
            </a:r>
          </a:p>
          <a:p>
            <a:pPr>
              <a:lnSpc>
                <a:spcPct val="100000"/>
              </a:lnSpc>
              <a:spcAft>
                <a:spcPts val="0"/>
              </a:spcAft>
            </a:pPr>
            <a:r>
              <a:rPr sz="1800" i="1">
                <a:solidFill>
                  <a:srgbClr val="8795A1"/>
                </a:solidFill>
                <a:latin typeface="Consolas"/>
              </a:rPr>
              <a:t># Write in one; the other and the shared lower layer are untouched.</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touch</a:t>
            </a:r>
            <a:r>
              <a:rPr sz="1800" i="0">
                <a:solidFill>
                  <a:srgbClr val="E8EDF2"/>
                </a:solidFill>
                <a:latin typeface="Consolas"/>
              </a:rPr>
              <a:t> </a:t>
            </a:r>
            <a:r>
              <a:rPr sz="1800" i="0">
                <a:solidFill>
                  <a:srgbClr val="E8EDF2"/>
                </a:solidFill>
                <a:latin typeface="Consolas"/>
              </a:rPr>
              <a:t>/tmp/ovl/m1/etc/only-in-one</a:t>
            </a:r>
          </a:p>
          <a:p>
            <a:pPr>
              <a:lnSpc>
                <a:spcPct val="100000"/>
              </a:lnSpc>
              <a:spcAft>
                <a:spcPts val="0"/>
              </a:spcAft>
            </a:pPr>
            <a:r>
              <a:rPr sz="1800" i="0">
                <a:solidFill>
                  <a:srgbClr val="E8EDF2"/>
                </a:solidFill>
                <a:latin typeface="Consolas"/>
              </a:rPr>
              <a:t>ls</a:t>
            </a:r>
            <a:r>
              <a:rPr sz="1800" i="0">
                <a:solidFill>
                  <a:srgbClr val="E8EDF2"/>
                </a:solidFill>
                <a:latin typeface="Consolas"/>
              </a:rPr>
              <a:t> </a:t>
            </a:r>
            <a:r>
              <a:rPr sz="1800" i="0">
                <a:solidFill>
                  <a:srgbClr val="E8EDF2"/>
                </a:solidFill>
                <a:latin typeface="Consolas"/>
              </a:rPr>
              <a:t>/tmp/ovl/m1/etc/only-in-one</a:t>
            </a:r>
          </a:p>
          <a:p>
            <a:pPr>
              <a:lnSpc>
                <a:spcPct val="100000"/>
              </a:lnSpc>
              <a:spcAft>
                <a:spcPts val="0"/>
              </a:spcAft>
            </a:pPr>
            <a:r>
              <a:rPr sz="1800" i="0">
                <a:solidFill>
                  <a:srgbClr val="E8EDF2"/>
                </a:solidFill>
                <a:latin typeface="Consolas"/>
              </a:rPr>
              <a:t>ls</a:t>
            </a:r>
            <a:r>
              <a:rPr sz="1800" i="0">
                <a:solidFill>
                  <a:srgbClr val="E8EDF2"/>
                </a:solidFill>
                <a:latin typeface="Consolas"/>
              </a:rPr>
              <a:t> </a:t>
            </a:r>
            <a:r>
              <a:rPr sz="1800" i="0">
                <a:solidFill>
                  <a:srgbClr val="E8EDF2"/>
                </a:solidFill>
                <a:latin typeface="Consolas"/>
              </a:rPr>
              <a:t>/tmp/ovl/m2/etc/only-in-one</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&gt;</a:t>
            </a:r>
            <a:r>
              <a:rPr sz="1800" i="0">
                <a:solidFill>
                  <a:srgbClr val="AEB6BF"/>
                </a:solidFill>
                <a:latin typeface="Consolas"/>
              </a:rPr>
              <a:t>&amp;</a:t>
            </a:r>
            <a:r>
              <a:rPr sz="1800" i="0">
                <a:solidFill>
                  <a:srgbClr val="F7DC6F"/>
                </a:solidFill>
                <a:latin typeface="Consolas"/>
              </a:rPr>
              <a:t>1</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tail</a:t>
            </a:r>
            <a:r>
              <a:rPr sz="1800" i="0">
                <a:solidFill>
                  <a:srgbClr val="E8EDF2"/>
                </a:solidFill>
                <a:latin typeface="Consolas"/>
              </a:rPr>
              <a:t> </a:t>
            </a:r>
            <a:r>
              <a:rPr sz="1800" i="0">
                <a:solidFill>
                  <a:srgbClr val="E8EDF2"/>
                </a:solidFill>
                <a:latin typeface="Consolas"/>
              </a:rPr>
              <a:t>-1</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du</a:t>
            </a:r>
            <a:r>
              <a:rPr sz="1800" i="0">
                <a:solidFill>
                  <a:srgbClr val="E8EDF2"/>
                </a:solidFill>
                <a:latin typeface="Consolas"/>
              </a:rPr>
              <a:t> </a:t>
            </a:r>
            <a:r>
              <a:rPr sz="1800" i="0">
                <a:solidFill>
                  <a:srgbClr val="E8EDF2"/>
                </a:solidFill>
                <a:latin typeface="Consolas"/>
              </a:rPr>
              <a:t>-sh</a:t>
            </a:r>
            <a:r>
              <a:rPr sz="1800" i="0">
                <a:solidFill>
                  <a:srgbClr val="E8EDF2"/>
                </a:solidFill>
                <a:latin typeface="Consolas"/>
              </a:rPr>
              <a:t> </a:t>
            </a:r>
            <a:r>
              <a:rPr sz="1800" i="0">
                <a:solidFill>
                  <a:srgbClr val="E8EDF2"/>
                </a:solidFill>
                <a:latin typeface="Consolas"/>
              </a:rPr>
              <a:t>/tmp/ovl/upper1</a:t>
            </a:r>
            <a:r>
              <a:rPr sz="1800" i="0">
                <a:solidFill>
                  <a:srgbClr val="E8EDF2"/>
                </a:solidFill>
                <a:latin typeface="Consolas"/>
              </a:rPr>
              <a:t> </a:t>
            </a:r>
            <a:r>
              <a:rPr sz="1800" i="0">
                <a:solidFill>
                  <a:srgbClr val="E8EDF2"/>
                </a:solidFill>
                <a:latin typeface="Consolas"/>
              </a:rPr>
              <a:t>/tmp/ovl/upper2</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$ROOT</a:t>
            </a:r>
            <a:r>
              <a:rPr sz="1800" i="0">
                <a:solidFill>
                  <a:srgbClr val="7DCEA0"/>
                </a:solidFill>
                <a:latin typeface="Consolas"/>
              </a:rPr>
              <a:t>"</a:t>
            </a:r>
          </a:p>
        </p:txBody>
      </p:sp>
      <p:sp>
        <p:nvSpPr>
          <p:cNvPr id="15" name="!!code-num"/>
          <p:cNvSpPr txBox="1"/>
          <p:nvPr/>
        </p:nvSpPr>
        <p:spPr>
          <a:xfrm>
            <a:off x="768096" y="2523744"/>
            <a:ext cx="393192" cy="340156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51</a:t>
            </a:r>
          </a:p>
          <a:p>
            <a:pPr algn="r">
              <a:lnSpc>
                <a:spcPct val="100000"/>
              </a:lnSpc>
            </a:pPr>
            <a:r>
              <a:rPr sz="1800">
                <a:solidFill>
                  <a:srgbClr val="4F5D6A"/>
                </a:solidFill>
                <a:latin typeface="Consolas"/>
              </a:rPr>
              <a:t>52</a:t>
            </a:r>
          </a:p>
          <a:p>
            <a:pPr algn="r">
              <a:lnSpc>
                <a:spcPct val="100000"/>
              </a:lnSpc>
            </a:pPr>
            <a:r>
              <a:rPr sz="1800">
                <a:solidFill>
                  <a:srgbClr val="4F5D6A"/>
                </a:solidFill>
                <a:latin typeface="Consolas"/>
              </a:rPr>
              <a:t>53</a:t>
            </a:r>
          </a:p>
          <a:p>
            <a:pPr algn="r">
              <a:lnSpc>
                <a:spcPct val="100000"/>
              </a:lnSpc>
            </a:pPr>
            <a:r>
              <a:rPr sz="1800">
                <a:solidFill>
                  <a:srgbClr val="4F5D6A"/>
                </a:solidFill>
                <a:latin typeface="Consolas"/>
              </a:rPr>
              <a:t>54</a:t>
            </a:r>
          </a:p>
          <a:p>
            <a:pPr algn="r">
              <a:lnSpc>
                <a:spcPct val="100000"/>
              </a:lnSpc>
            </a:pPr>
            <a:r>
              <a:rPr sz="1800">
                <a:solidFill>
                  <a:srgbClr val="4F5D6A"/>
                </a:solidFill>
                <a:latin typeface="Consolas"/>
              </a:rPr>
              <a:t>55</a:t>
            </a:r>
          </a:p>
          <a:p>
            <a:pPr algn="r">
              <a:lnSpc>
                <a:spcPct val="100000"/>
              </a:lnSpc>
            </a:pPr>
            <a:r>
              <a:rPr sz="1800">
                <a:solidFill>
                  <a:srgbClr val="4F5D6A"/>
                </a:solidFill>
                <a:latin typeface="Consolas"/>
              </a:rPr>
              <a:t>56</a:t>
            </a:r>
          </a:p>
          <a:p>
            <a:pPr algn="r">
              <a:lnSpc>
                <a:spcPct val="100000"/>
              </a:lnSpc>
            </a:pPr>
            <a:r>
              <a:rPr sz="1800">
                <a:solidFill>
                  <a:srgbClr val="4F5D6A"/>
                </a:solidFill>
                <a:latin typeface="Consolas"/>
              </a:rPr>
              <a:t>57</a:t>
            </a:r>
          </a:p>
          <a:p>
            <a:pPr algn="r">
              <a:lnSpc>
                <a:spcPct val="100000"/>
              </a:lnSpc>
            </a:pPr>
            <a:r>
              <a:rPr sz="1800">
                <a:solidFill>
                  <a:srgbClr val="4F5D6A"/>
                </a:solidFill>
                <a:latin typeface="Consolas"/>
              </a:rPr>
              <a:t>58</a:t>
            </a:r>
          </a:p>
          <a:p>
            <a:pPr algn="r">
              <a:lnSpc>
                <a:spcPct val="100000"/>
              </a:lnSpc>
            </a:pPr>
            <a:r>
              <a:rPr sz="1800">
                <a:solidFill>
                  <a:srgbClr val="4F5D6A"/>
                </a:solidFill>
                <a:latin typeface="Consolas"/>
              </a:rPr>
              <a:t>59</a:t>
            </a:r>
          </a:p>
          <a:p>
            <a:pPr algn="r">
              <a:lnSpc>
                <a:spcPct val="100000"/>
              </a:lnSpc>
            </a:pPr>
            <a:r>
              <a:rPr sz="1800">
                <a:solidFill>
                  <a:srgbClr val="4F5D6A"/>
                </a:solidFill>
                <a:latin typeface="Consolas"/>
              </a:rPr>
              <a:t>60</a:t>
            </a:r>
          </a:p>
          <a:p>
            <a:pPr algn="r">
              <a:lnSpc>
                <a:spcPct val="100000"/>
              </a:lnSpc>
            </a:pPr>
            <a:r>
              <a:rPr sz="1800">
                <a:solidFill>
                  <a:srgbClr val="4F5D6A"/>
                </a:solidFill>
                <a:latin typeface="Consolas"/>
              </a:rPr>
              <a:t>61</a:t>
            </a:r>
          </a:p>
          <a:p>
            <a:pPr algn="r">
              <a:lnSpc>
                <a:spcPct val="100000"/>
              </a:lnSpc>
            </a:pPr>
            <a:r>
              <a:rPr sz="1800">
                <a:solidFill>
                  <a:srgbClr val="4F5D6A"/>
                </a:solidFill>
                <a:latin typeface="Consolas"/>
              </a:rPr>
              <a:t>62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9872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Building a Container by Hand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9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§8.4  ·  Handout p. 65     </a:t>
            </a:r>
            <a:fld id="{DDFCD610-F383-45EF-8224-4BA5ACDC04EA}"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Tear down.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8. Tear down. ---------------------------------------------------- for i in 1 2; do sudo umount /tmp/ovl/m$i || true; done sudo rmdir /sys/fs/cgroup/vsdemo || true sudo rm -rf /tmp/ovl &quot;$ROOT&quot;"/>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--- 8. Tear down. ----------------------------------------------------</a:t>
            </a:r>
          </a:p>
          <a:p>
            <a:pPr>
              <a:lnSpc>
                <a:spcPct val="100000"/>
              </a:lnSpc>
              <a:spcAft>
                <a:spcPts val="0"/>
              </a:spcAft>
            </a:pPr>
            <a:r>
              <a:rPr sz="1900" i="0">
                <a:solidFill>
                  <a:srgbClr val="5DADE2"/>
                </a:solidFill>
                <a:latin typeface="Consolas"/>
              </a:rPr>
              <a:t>for</a:t>
            </a:r>
            <a:r>
              <a:rPr sz="1900" i="0">
                <a:solidFill>
                  <a:srgbClr val="E8EDF2"/>
                </a:solidFill>
                <a:latin typeface="Consolas"/>
              </a:rPr>
              <a:t> </a:t>
            </a:r>
            <a:r>
              <a:rPr sz="1900" i="0">
                <a:solidFill>
                  <a:srgbClr val="E8EDF2"/>
                </a:solidFill>
                <a:latin typeface="Consolas"/>
              </a:rPr>
              <a:t>i</a:t>
            </a:r>
            <a:r>
              <a:rPr sz="1900" i="0">
                <a:solidFill>
                  <a:srgbClr val="E8EDF2"/>
                </a:solidFill>
                <a:latin typeface="Consolas"/>
              </a:rPr>
              <a:t> </a:t>
            </a:r>
            <a:r>
              <a:rPr sz="1900" i="0">
                <a:solidFill>
                  <a:srgbClr val="5DADE2"/>
                </a:solidFill>
                <a:latin typeface="Consolas"/>
              </a:rPr>
              <a:t>in</a:t>
            </a:r>
            <a:r>
              <a:rPr sz="1900" i="0">
                <a:solidFill>
                  <a:srgbClr val="E8EDF2"/>
                </a:solidFill>
                <a:latin typeface="Consolas"/>
              </a:rPr>
              <a:t> </a:t>
            </a:r>
            <a:r>
              <a:rPr sz="1900" i="0">
                <a:solidFill>
                  <a:srgbClr val="F7DC6F"/>
                </a:solidFill>
                <a:latin typeface="Consolas"/>
              </a:rPr>
              <a:t>1</a:t>
            </a:r>
            <a:r>
              <a:rPr sz="1900" i="0">
                <a:solidFill>
                  <a:srgbClr val="E8EDF2"/>
                </a:solidFill>
                <a:latin typeface="Consolas"/>
              </a:rPr>
              <a:t> </a:t>
            </a:r>
            <a:r>
              <a:rPr sz="1900" i="0">
                <a:solidFill>
                  <a:srgbClr val="F7DC6F"/>
                </a:solidFill>
                <a:latin typeface="Consolas"/>
              </a:rPr>
              <a:t>2</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do</a:t>
            </a:r>
            <a:r>
              <a:rPr sz="1900" i="0">
                <a:solidFill>
                  <a:srgbClr val="E8EDF2"/>
                </a:solidFill>
                <a:latin typeface="Consolas"/>
              </a:rPr>
              <a:t> </a:t>
            </a: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umount</a:t>
            </a:r>
            <a:r>
              <a:rPr sz="1900" i="0">
                <a:solidFill>
                  <a:srgbClr val="E8EDF2"/>
                </a:solidFill>
                <a:latin typeface="Consolas"/>
              </a:rPr>
              <a:t> </a:t>
            </a:r>
            <a:r>
              <a:rPr sz="1900" i="0">
                <a:solidFill>
                  <a:srgbClr val="E8EDF2"/>
                </a:solidFill>
                <a:latin typeface="Consolas"/>
              </a:rPr>
              <a:t>/tmp/ovl/m</a:t>
            </a:r>
            <a:r>
              <a:rPr sz="1900" i="0">
                <a:solidFill>
                  <a:srgbClr val="E8EDF2"/>
                </a:solidFill>
                <a:latin typeface="Consolas"/>
              </a:rPr>
              <a:t>$i</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true</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done</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rmdir</a:t>
            </a:r>
            <a:r>
              <a:rPr sz="1900" i="0">
                <a:solidFill>
                  <a:srgbClr val="E8EDF2"/>
                </a:solidFill>
                <a:latin typeface="Consolas"/>
              </a:rPr>
              <a:t> </a:t>
            </a:r>
            <a:r>
              <a:rPr sz="1900" i="0">
                <a:solidFill>
                  <a:srgbClr val="E8EDF2"/>
                </a:solidFill>
                <a:latin typeface="Consolas"/>
              </a:rPr>
              <a:t>/sys/fs/cgroup/vsdemo</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rm</a:t>
            </a:r>
            <a:r>
              <a:rPr sz="1900" i="0">
                <a:solidFill>
                  <a:srgbClr val="E8EDF2"/>
                </a:solidFill>
                <a:latin typeface="Consolas"/>
              </a:rPr>
              <a:t> </a:t>
            </a:r>
            <a:r>
              <a:rPr sz="1900" i="0">
                <a:solidFill>
                  <a:srgbClr val="E8EDF2"/>
                </a:solidFill>
                <a:latin typeface="Consolas"/>
              </a:rPr>
              <a:t>-rf</a:t>
            </a:r>
            <a:r>
              <a:rPr sz="1900" i="0">
                <a:solidFill>
                  <a:srgbClr val="E8EDF2"/>
                </a:solidFill>
                <a:latin typeface="Consolas"/>
              </a:rPr>
              <a:t> </a:t>
            </a:r>
            <a:r>
              <a:rPr sz="1900" i="0">
                <a:solidFill>
                  <a:srgbClr val="E8EDF2"/>
                </a:solidFill>
                <a:latin typeface="Consolas"/>
              </a:rPr>
              <a:t>/tmp/ovl</a:t>
            </a:r>
            <a:r>
              <a:rPr sz="1900" i="0">
                <a:solidFill>
                  <a:srgbClr val="E8EDF2"/>
                </a:solidFill>
                <a:latin typeface="Consolas"/>
              </a:rPr>
              <a:t> </a:t>
            </a:r>
            <a:r>
              <a:rPr sz="1900" i="0">
                <a:solidFill>
                  <a:srgbClr val="7DCEA0"/>
                </a:solidFill>
                <a:latin typeface="Consolas"/>
              </a:rPr>
              <a:t>"</a:t>
            </a:r>
            <a:r>
              <a:rPr sz="1900" i="0">
                <a:solidFill>
                  <a:srgbClr val="E8EDF2"/>
                </a:solidFill>
                <a:latin typeface="Consolas"/>
              </a:rPr>
              <a:t>$ROOT</a:t>
            </a:r>
            <a:r>
              <a:rPr sz="1900" i="0">
                <a:solidFill>
                  <a:srgbClr val="7DCEA0"/>
                </a:solidFill>
                <a:latin typeface="Consolas"/>
              </a:rPr>
              <a:t>"</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64</a:t>
            </a:r>
          </a:p>
          <a:p>
            <a:pPr algn="r">
              <a:lnSpc>
                <a:spcPct val="100000"/>
              </a:lnSpc>
            </a:pPr>
            <a:r>
              <a:rPr sz="1900">
                <a:solidFill>
                  <a:srgbClr val="4F5D6A"/>
                </a:solidFill>
                <a:latin typeface="Consolas"/>
              </a:rPr>
              <a:t>65</a:t>
            </a:r>
          </a:p>
          <a:p>
            <a:pPr algn="r">
              <a:lnSpc>
                <a:spcPct val="100000"/>
              </a:lnSpc>
            </a:pPr>
            <a:r>
              <a:rPr sz="1900">
                <a:solidFill>
                  <a:srgbClr val="4F5D6A"/>
                </a:solidFill>
                <a:latin typeface="Consolas"/>
              </a:rPr>
              <a:t>66</a:t>
            </a:r>
          </a:p>
          <a:p>
            <a:pPr algn="r">
              <a:lnSpc>
                <a:spcPct val="100000"/>
              </a:lnSpc>
            </a:pPr>
            <a:r>
              <a:rPr sz="1900">
                <a:solidFill>
                  <a:srgbClr val="4F5D6A"/>
                </a:solidFill>
                <a:latin typeface="Consolas"/>
              </a:rPr>
              <a:t>67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66964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§8.4  ·  Handout p. 65     </a:t>
            </a:r>
            <a:fld id="{355634BE-9C92-4325-916C-29C461C53CE8}" type="slidenum">
              <a:rPr lang="en-GB" sz="1000">
                <a:solidFill>
                  <a:srgbClr val="8795A1"/>
                </a:solidFill>
                <a:latin typeface="Segoe UI"/>
              </a:rPr>
              <a:t>33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15414"/>
          </a:xfrm>
          <a:prstGeom prst="roundRect">
            <a:avLst>
              <a:gd name="adj" fmla="val 533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1541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Step 3 is a container. There is no daemon, no image format and no runtime — one command, five flags and a directory. Everything Chapter 9 adds is packaging and distribution on top of exactly this.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94057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container restarts every few hours with exit code 137. Say what that code means, which limit is responsible, and why the symptom is a kill rather than a slowdown.</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8  ·  From Virtual Machines to Containers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68  ·  answers in Appendix D     </a:t>
            </a:r>
            <a:fld id="{40BE8F92-8C0C-49D6-9747-E627DB70D40A}" type="slidenum">
              <a:rPr lang="en-GB" sz="1000">
                <a:solidFill>
                  <a:srgbClr val="D5DEE5"/>
                </a:solidFill>
                <a:latin typeface="Segoe UI"/>
              </a:rPr>
              <a:t>34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container restarts every few hours with exit code 137. Say what that code means, which limit is responsible, and why the symptom is a kill rather than a slowdown.</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137 is </a:t>
            </a:r>
            <a:r>
              <a:rPr sz="2200" b="0" i="0">
                <a:solidFill>
                  <a:srgbClr val="1C252B"/>
                </a:solidFill>
                <a:latin typeface="Cambria"/>
              </a:rPr>
              <a:t>128 + 9</a:t>
            </a:r>
            <a:r>
              <a:rPr sz="2200" b="0" i="0">
                <a:solidFill>
                  <a:srgbClr val="1C252B"/>
                </a:solidFill>
                <a:latin typeface="Segoe UI"/>
              </a:rPr>
              <a:t>: the process was terminated by signal 9, </a:t>
            </a:r>
            <a:r>
              <a:rPr sz="2050" b="0" i="0">
                <a:solidFill>
                  <a:srgbClr val="1F4E79"/>
                </a:solidFill>
                <a:latin typeface="Consolas"/>
              </a:rPr>
              <a:t>SIGKILL</a:t>
            </a:r>
            <a:r>
              <a:rPr sz="2200" b="0" i="0">
                <a:solidFill>
                  <a:srgbClr val="1C252B"/>
                </a:solidFill>
                <a:latin typeface="Segoe UI"/>
              </a:rPr>
              <a:t>, which here means the </a:t>
            </a:r>
            <a:r>
              <a:rPr sz="2200" b="1" i="0">
                <a:solidFill>
                  <a:srgbClr val="1C252B"/>
                </a:solidFill>
                <a:latin typeface="Segoe UI"/>
              </a:rPr>
              <a:t>memory limit</a:t>
            </a:r>
            <a:r>
              <a:rPr sz="2200" b="0" i="0">
                <a:solidFill>
                  <a:srgbClr val="1C252B"/>
                </a:solidFill>
                <a:latin typeface="Segoe UI"/>
              </a:rPr>
              <a:t> and the kernel’s OOM killer. The symptom is a kill rather than a slowdown because memory is not divisible in time: a page is either available or it is not, so there is nothing to degrade. A CPU limit, by contrast, throttles — the container simply runs more slowly and nothing fails.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68  ·  answers in Appendix D     </a:t>
            </a:r>
            <a:fld id="{6114FA04-6385-4BBD-86D3-9515BBAF4BE4}" type="slidenum">
              <a:rPr lang="en-GB" sz="1000">
                <a:solidFill>
                  <a:srgbClr val="8795A1"/>
                </a:solidFill>
                <a:latin typeface="Segoe UI"/>
              </a:rPr>
              <a:t>35</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48242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team wants to run a container that loads a kernel module for a custom device. Explain why this cannot work as stated, and give the two options available to them.</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8  ·  From Virtual Machines to Containers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68  ·  answers in Appendix D     </a:t>
            </a:r>
            <a:fld id="{3D3A1ABD-086C-4CE5-985E-43129F18DA01}" type="slidenum">
              <a:rPr lang="en-GB" sz="1000">
                <a:solidFill>
                  <a:srgbClr val="D5DEE5"/>
                </a:solidFill>
                <a:latin typeface="Segoe UI"/>
              </a:rPr>
              <a:t>36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team wants to run a container that loads a kernel module for a custom device. Explain why this cannot work as stated, and give the two options available to them.</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container shares the host’s kernel, so there is no guest kernel to load a module into; loading one would mean loading it into the </a:t>
            </a:r>
            <a:r>
              <a:rPr sz="2200" b="0" i="1">
                <a:solidFill>
                  <a:srgbClr val="1C252B"/>
                </a:solidFill>
                <a:latin typeface="Segoe UI"/>
              </a:rPr>
              <a:t>host</a:t>
            </a:r>
            <a:r>
              <a:rPr sz="2200" b="0" i="0">
                <a:solidFill>
                  <a:srgbClr val="1C252B"/>
                </a:solidFill>
                <a:latin typeface="Segoe UI"/>
              </a:rPr>
              <a:t>, which is both a privilege escalation and shared with every other container. The two options are (i) load the module on the host and expose the resulting device to the container, accepting that the module is now host-wide, or (ii) use a </a:t>
            </a:r>
            <a:r>
              <a:rPr sz="2200" b="1" i="0">
                <a:solidFill>
                  <a:srgbClr val="1C252B"/>
                </a:solidFill>
                <a:latin typeface="Segoe UI"/>
              </a:rPr>
              <a:t>virtual machine</a:t>
            </a:r>
            <a:r>
              <a:rPr sz="2200" b="0" i="0">
                <a:solidFill>
                  <a:srgbClr val="1C252B"/>
                </a:solidFill>
                <a:latin typeface="Segoe UI"/>
              </a:rPr>
              <a:t>, or a microVM from Chapter 11, which has a kernel of its own.</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68  ·  answers in Appendix D     </a:t>
            </a:r>
            <a:fld id="{B552BB40-A422-435C-A19F-EE68988F89A4}" type="slidenum">
              <a:rPr lang="en-GB" sz="1000">
                <a:solidFill>
                  <a:srgbClr val="8795A1"/>
                </a:solidFill>
                <a:latin typeface="Segoe UI"/>
              </a:rPr>
              <a:t>37</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02428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Three containers run from the same 400 MB image, and each writes 50 MB of logs into its own filesystem. How much disk is used, and what single change would stop the logs counting at all?</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8  ·  From Virtual Machines to Containers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68  ·  answers in Appendix D     </a:t>
            </a:r>
            <a:fld id="{47187D82-D3ED-45CB-AEF3-B40A2BADDC7A}" type="slidenum">
              <a:rPr lang="en-GB" sz="1000">
                <a:solidFill>
                  <a:srgbClr val="D5DEE5"/>
                </a:solidFill>
                <a:latin typeface="Segoe UI"/>
              </a:rPr>
              <a:t>38</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Three containers run from the same 400 MB image, and each writes 50 MB of logs into its own filesystem. How much disk is used, and what single change would stop the logs counting at all?</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image is stored once and shared: </a:t>
            </a:r>
            <a:r>
              <a:rPr sz="2200" b="0" i="0">
                <a:solidFill>
                  <a:srgbClr val="1C252B"/>
                </a:solidFill>
                <a:latin typeface="Cambria"/>
              </a:rPr>
              <a:t>400 + 3 × 50 = </a:t>
            </a:r>
            <a:r>
              <a:rPr sz="2200" b="1" i="0">
                <a:solidFill>
                  <a:srgbClr val="1C252B"/>
                </a:solidFill>
                <a:latin typeface="Cambria"/>
              </a:rPr>
              <a:t>550</a:t>
            </a:r>
            <a:r>
              <a:rPr sz="2200" b="0" i="0">
                <a:solidFill>
                  <a:srgbClr val="1C252B"/>
                </a:solidFill>
                <a:latin typeface="Segoe UI"/>
              </a:rPr>
              <a:t> MB. The logs are in each container’s writable layer, so they count three times and are lost when the containers are replaced. The change is to </a:t>
            </a:r>
            <a:r>
              <a:rPr sz="2200" b="1" i="0">
                <a:solidFill>
                  <a:srgbClr val="1C252B"/>
                </a:solidFill>
                <a:latin typeface="Segoe UI"/>
              </a:rPr>
              <a:t>write logs to stdout</a:t>
            </a:r>
            <a:r>
              <a:rPr sz="2200" b="0" i="0">
                <a:solidFill>
                  <a:srgbClr val="1C252B"/>
                </a:solidFill>
                <a:latin typeface="Segoe UI"/>
              </a:rPr>
              <a:t> and let the runtime collect them, or mount a volume — either removes them from the copy-on-write layer entirely.</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68  ·  answers in Appendix D     </a:t>
            </a:r>
            <a:fld id="{A1C92210-51A4-46E8-A586-F5950121D5E0}" type="slidenum">
              <a:rPr lang="en-GB" sz="1000">
                <a:solidFill>
                  <a:srgbClr val="8795A1"/>
                </a:solidFill>
                <a:latin typeface="Segoe UI"/>
              </a:rPr>
              <a:t>39</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56613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68     </a:t>
            </a:r>
            <a:fld id="{B7D9888F-3A35-422A-906C-48904D82B172}" type="slidenum">
              <a:rPr lang="en-GB" sz="1000">
                <a:solidFill>
                  <a:srgbClr val="8795A1"/>
                </a:solidFill>
                <a:latin typeface="Segoe UI"/>
              </a:rPr>
              <a:t>40</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container cuts the stack above the kernel instead of below it: one kernel, many private views of it. Everything else follows from that.</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Eight namespaces isolate what a process can see — mount, UTS, IPC, PID, network, user, cgroup, time. The user namespace is what makes rootless containers possible.</a:t>
            </a:r>
          </a:p>
        </p:txBody>
      </p:sp>
      <p:sp>
        <p:nvSpPr>
          <p:cNvPr id="13" name="!!sb2">
            <a:extLst>
              <a:ext uri="{C183D7F6-B498-43B3-948B-1728B52AA6E4}">
                <adec:decorative xmlns:adec="http://schemas.microsoft.com/office/drawing/2017/decorative" val="1"/>
              </a:ext>
            </a:extLst>
          </p:cNvPr>
          <p:cNvSpPr/>
          <p:nvPr/>
        </p:nvSpPr>
        <p:spPr>
          <a:xfrm>
            <a:off x="658368" y="31900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449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8089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PID 1 is special: it must reap orphans and ignores default-action signals. Run an init unless you have handled both.</a:t>
            </a:r>
          </a:p>
        </p:txBody>
      </p:sp>
      <p:sp>
        <p:nvSpPr>
          <p:cNvPr id="16" name="!!sb3">
            <a:extLst>
              <a:ext uri="{C183D7F6-B498-43B3-948B-1728B52AA6E4}">
                <adec:decorative xmlns:adec="http://schemas.microsoft.com/office/drawing/2017/decorative" val="1"/>
              </a:ext>
            </a:extLst>
          </p:cNvPr>
          <p:cNvSpPr/>
          <p:nvPr/>
        </p:nvSpPr>
        <p:spPr>
          <a:xfrm>
            <a:off x="658368" y="391180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96666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02659"/>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Control groups bound what a process tree may use. CPU limits throttle; memory limits kill. The asymmetry is the same one as in Chapter 6.</a:t>
            </a:r>
          </a:p>
        </p:txBody>
      </p:sp>
      <p:sp>
        <p:nvSpPr>
          <p:cNvPr id="19" name="!!sb4">
            <a:extLst>
              <a:ext uri="{C183D7F6-B498-43B3-948B-1728B52AA6E4}">
                <adec:decorative xmlns:adec="http://schemas.microsoft.com/office/drawing/2017/decorative" val="1"/>
              </a:ext>
            </a:extLst>
          </p:cNvPr>
          <p:cNvSpPr/>
          <p:nvPr/>
        </p:nvSpPr>
        <p:spPr>
          <a:xfrm>
            <a:off x="658368" y="463356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68843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624425"/>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Overlayfs stacks read-only layers under one writable layer, with copy-up on write, so many containers share one image.</a:t>
            </a:r>
          </a:p>
        </p:txBody>
      </p:sp>
      <p:sp>
        <p:nvSpPr>
          <p:cNvPr id="22" name="!!sb5">
            <a:extLst>
              <a:ext uri="{C183D7F6-B498-43B3-948B-1728B52AA6E4}">
                <adec:decorative xmlns:adec="http://schemas.microsoft.com/office/drawing/2017/decorative" val="1"/>
              </a:ext>
            </a:extLst>
          </p:cNvPr>
          <p:cNvSpPr/>
          <p:nvPr/>
        </p:nvSpPr>
        <p:spPr>
          <a:xfrm>
            <a:off x="658368" y="53553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4102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34619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Measured against virtual machines: roughly 3:1 on memory, 58:1 on disk, 300:1 on start-up. The last two are what changed how software is deployed.</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83706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68     </a:t>
            </a:r>
            <a:fld id="{5E1FDDC1-B768-4E16-B2FD-39F547D4947B}" type="slidenum">
              <a:rPr lang="en-GB" sz="1000">
                <a:solidFill>
                  <a:srgbClr val="8795A1"/>
                </a:solidFill>
                <a:latin typeface="Segoe UI"/>
              </a:rPr>
              <a:t>41</a:t>
            </a:fld>
          </a:p>
        </p:txBody>
      </p:sp>
      <p:sp>
        <p:nvSpPr>
          <p:cNvPr id="7" name="!!sb6">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6"/>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9" name="!!st6"/>
          <p:cNvSpPr txBox="1"/>
          <p:nvPr/>
        </p:nvSpPr>
        <p:spPr>
          <a:xfrm>
            <a:off x="1298448" y="1737360"/>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cost is a single shared kernel and a 350-call attack surface.</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110798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68     </a:t>
            </a:r>
            <a:fld id="{16D7BB6D-EF07-4162-BA30-FDDB5E10252D}" type="slidenum">
              <a:rPr lang="en-GB" sz="1000">
                <a:solidFill>
                  <a:srgbClr val="8795A1"/>
                </a:solidFill>
                <a:latin typeface="Segoe UI"/>
              </a:rPr>
              <a:t>42</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namespace that gives a container its own filesystem tree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PID</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mount</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UTS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user</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7891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68     </a:t>
            </a:r>
            <a:fld id="{CB4C8F89-D431-4D6F-9E75-ADC55176241F}" type="slidenum">
              <a:rPr lang="en-GB" sz="1000">
                <a:solidFill>
                  <a:srgbClr val="8795A1"/>
                </a:solidFill>
                <a:latin typeface="Segoe UI"/>
              </a:rPr>
              <a:t>43</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container exceeding its memory limit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throttled</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swapped by the host</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has a process killed by the OOM killer</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39020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given memory from another container</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4984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8  ·  From Virtual Machines to Containers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68     </a:t>
            </a:r>
            <a:fld id="{7DA7D898-75F6-4A84-A35A-935428F09728}" type="slidenum">
              <a:rPr lang="en-GB" sz="1000">
                <a:solidFill>
                  <a:srgbClr val="8795A1"/>
                </a:solidFill>
                <a:latin typeface="Segoe UI"/>
              </a:rPr>
              <a:t>44</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copy-up, and say what it implies about writing large files inside a container.</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can a container not run a different kernel from its host, and what is actually different about a “CentOS container” on an Ubuntu host?</a:t>
            </a:r>
          </a:p>
        </p:txBody>
      </p:sp>
      <p:sp>
        <p:nvSpPr>
          <p:cNvPr id="13" name="!!rt2">
            <a:extLst>
              <a:ext uri="{C183D7F6-B498-43B3-948B-1728B52AA6E4}">
                <adec:decorative xmlns:adec="http://schemas.microsoft.com/office/drawing/2017/decorative" val="1"/>
              </a:ext>
            </a:extLst>
          </p:cNvPr>
          <p:cNvSpPr/>
          <p:nvPr/>
        </p:nvSpPr>
        <p:spPr>
          <a:xfrm>
            <a:off x="658368" y="3097987"/>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1391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79699"/>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State the two behaviours that make PID 1 special, and the symptom each produces when ignored.</a:t>
            </a:r>
          </a:p>
        </p:txBody>
      </p:sp>
      <p:sp>
        <p:nvSpPr>
          <p:cNvPr id="16" name="!!rt3">
            <a:extLst>
              <a:ext uri="{C183D7F6-B498-43B3-948B-1728B52AA6E4}">
                <adec:decorative xmlns:adec="http://schemas.microsoft.com/office/drawing/2017/decorative" val="1"/>
              </a:ext>
            </a:extLst>
          </p:cNvPr>
          <p:cNvSpPr/>
          <p:nvPr/>
        </p:nvSpPr>
        <p:spPr>
          <a:xfrm>
            <a:off x="658368" y="391972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96087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901440"/>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Repeat the worked example for a service needing 2 GB rather than 256 MB, on the same host. Give the three ratios and explain why the memory ratio changed so much while the start-up ratio did not.</a:t>
            </a:r>
          </a:p>
        </p:txBody>
      </p:sp>
      <p:sp>
        <p:nvSpPr>
          <p:cNvPr id="19" name="!!rt4">
            <a:extLst>
              <a:ext uri="{C183D7F6-B498-43B3-948B-1728B52AA6E4}">
                <adec:decorative xmlns:adec="http://schemas.microsoft.com/office/drawing/2017/decorative" val="1"/>
              </a:ext>
            </a:extLst>
          </p:cNvPr>
          <p:cNvSpPr/>
          <p:nvPr/>
        </p:nvSpPr>
        <p:spPr>
          <a:xfrm>
            <a:off x="658368" y="5042611"/>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5083759"/>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5024323"/>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team proposes moving forty internal services from virtual machines to containers on shared hosts. Write the three questions you would ask before agreeing, and say what answer to each would make you recommend Chapter 11’s approach instead.</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2076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D8552"/>
                </a:solidFill>
                <a:latin typeface="Segoe UI Black"/>
              </a:rPr>
              <a:t>08</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8</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9 — Docker and the Container Ecosystem</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8, pages 62–68</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Build a container by hand; then measure the build cache</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Assignment 1 set</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8  ·  From Virtual Machines to Containers</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93432E26-BC9B-404E-BCBC-BDC0C0692759}" type="slidenum">
              <a:rPr lang="en-GB" sz="1000">
                <a:solidFill>
                  <a:srgbClr val="D5DEE5"/>
                </a:solidFill>
                <a:latin typeface="Segoe UI"/>
              </a:rPr>
              <a:t>45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Virtual Systems and Services Fall 2026">
  <a:themeElements>
    <a:clrScheme name="Virtual Systems and Service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Virtual Systems and Service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 From Virtual Machines to Containers</dc:title>
  <dc:subject>Virtual Systems and Services — From Hypervisors to the Cloud-Native Stack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