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1.svg" ContentType="image/svg+xml"/>
  <Override PartName="/ppt/media/image13.svg" ContentType="image/svg+xml"/>
  <Override PartName="/ppt/media/image15.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0.svg" ContentType="image/svg+xml"/>
  <Override PartName="/ppt/media/image32.svg" ContentType="image/svg+xml"/>
  <Override PartName="/ppt/media/image34.svg" ContentType="image/svg+xml"/>
  <Override PartName="/ppt/media/image35.svg" ContentType="image/svg+xml"/>
  <Override PartName="/ppt/media/image36.svg" ContentType="image/svg+xml"/>
  <Override PartName="/ppt/media/image37.svg" ContentType="image/svg+xml"/>
  <Override PartName="/ppt/media/image39.svg" ContentType="image/svg+xml"/>
  <Override PartName="/ppt/media/image4.svg" ContentType="image/svg+xml"/>
  <Override PartName="/ppt/media/image41.svg" ContentType="image/svg+xml"/>
  <Override PartName="/ppt/media/image42.svg" ContentType="image/svg+xml"/>
  <Override PartName="/ppt/media/image43.svg" ContentType="image/svg+xml"/>
  <Override PartName="/ppt/media/image44.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0.svg" ContentType="image/svg+xml"/>
  <Override PartName="/ppt/media/image51.svg" ContentType="image/svg+xml"/>
  <Override PartName="/ppt/media/image52.svg" ContentType="image/svg+xml"/>
  <Override PartName="/ppt/media/image54.svg" ContentType="image/svg+xml"/>
  <Override PartName="/ppt/media/image56.svg" ContentType="image/svg+xml"/>
  <Override PartName="/ppt/media/image57.svg" ContentType="image/svg+xml"/>
  <Override PartName="/ppt/media/image58.svg" ContentType="image/svg+xml"/>
  <Override PartName="/ppt/media/image59.svg" ContentType="image/svg+xml"/>
  <Override PartName="/ppt/media/image6.svg" ContentType="image/svg+xml"/>
  <Override PartName="/ppt/media/image60.svg" ContentType="image/svg+xml"/>
  <Override PartName="/ppt/media/image62.svg" ContentType="image/svg+xml"/>
  <Override PartName="/ppt/media/image64.svg" ContentType="image/svg+xml"/>
  <Override PartName="/ppt/media/image65.svg" ContentType="image/svg+xml"/>
  <Override PartName="/ppt/media/image6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B6AE968-19A1-450C-8D4B-5AC8B20F1A2B}">
          <p14:sldIdLst>
            <p14:sldId id="256"/>
            <p14:sldId id="257"/>
            <p14:sldId id="258"/>
            <p14:sldId id="259"/>
            <p14:sldId id="260"/>
          </p14:sldIdLst>
        </p14:section>
        <p14:section name="9.1 What Docker Actually Added" id="{8983E99D-001C-4057-B5A8-D8DEFEFBB1AE}">
          <p14:sldIdLst>
            <p14:sldId id="261"/>
            <p14:sldId id="262"/>
            <p14:sldId id="263"/>
          </p14:sldIdLst>
        </p14:section>
        <p14:section name="9.2 Images, Layers and Digests" id="{7F0087A1-3D47-4287-AEC4-EFBEE7015EE7}">
          <p14:sldIdLst>
            <p14:sldId id="264"/>
          </p14:sldIdLst>
        </p14:section>
        <p14:section name="9.3 The OCI Stack" id="{06C548E0-86D2-4BB8-96F9-1D6E2D2E9D88}">
          <p14:sldIdLst>
            <p14:sldId id="265"/>
            <p14:sldId id="266"/>
            <p14:sldId id="267"/>
          </p14:sldIdLst>
        </p14:section>
        <p14:section name="9.4 The Build Cache, and the Mistake Everyone Makes" id="{E51428F4-D780-43B7-AE23-9101625EE0D4}">
          <p14:sldIdLst>
            <p14:sldId id="268"/>
            <p14:sldId id="269"/>
            <p14:sldId id="270"/>
            <p14:sldId id="271"/>
          </p14:sldIdLst>
        </p14:section>
        <p14:section name="9.5 A Dockerfile That Holds Up" id="{3429B801-68C7-4ECE-9B62-F7A375BAB039}">
          <p14:sldIdLst>
            <p14:sldId id="272"/>
            <p14:sldId id="273"/>
            <p14:sldId id="274"/>
            <p14:sldId id="275"/>
          </p14:sldIdLst>
        </p14:section>
        <p14:section name="Pitfalls" id="{65A16622-F9D9-49D7-B966-1CC12ACE6387}">
          <p14:sldIdLst>
            <p14:sldId id="276"/>
          </p14:sldIdLst>
        </p14:section>
        <p14:section name="Lab" id="{7FA5820A-C743-4C54-BBE4-BD5C27C8B967}">
          <p14:sldIdLst>
            <p14:sldId id="277"/>
            <p14:sldId id="278"/>
            <p14:sldId id="279"/>
            <p14:sldId id="280"/>
            <p14:sldId id="281"/>
            <p14:sldId id="282"/>
            <p14:sldId id="283"/>
            <p14:sldId id="284"/>
            <p14:sldId id="285"/>
            <p14:sldId id="286"/>
            <p14:sldId id="287"/>
            <p14:sldId id="288"/>
          </p14:sldIdLst>
        </p14:section>
        <p14:section name="Checkpoint" id="{1B573CE1-13AB-4CE5-9CFF-B32042CE596A}">
          <p14:sldIdLst>
            <p14:sldId id="289"/>
            <p14:sldId id="290"/>
            <p14:sldId id="291"/>
            <p14:sldId id="292"/>
            <p14:sldId id="293"/>
            <p14:sldId id="294"/>
          </p14:sldIdLst>
        </p14:section>
        <p14:section name="Wrap-up" id="{5E22064F-FB55-4009-8138-BAFB7CA42164}">
          <p14:sldIdLst>
            <p14:sldId id="295"/>
            <p14:sldId id="296"/>
            <p14:sldId id="297"/>
            <p14:sldId id="298"/>
            <p14:sldId id="29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9: Docker and the Container Ecosystem. Part 3 — Containers and Lightweight Virtualization. Week 7: From machines to containers; Docker. Handout pages 69–76.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8 entire — namespaces, cgroups and especially overlayfs, since an image is layers and a layer is an overlayfs directory. The lab in that chapter built a container by hand; this one is about everything that was missing from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image; layer; manifest; image index; digest; content addressing; tag; registry; Dockerfile; build cache; cache invalidation; multi-stage build; distroless; OCI image specification; OCI runtime specification; containerd; runc; shim; BuildKit; SBOM; volume.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in Chapter 8 existed before Docker. Namespaces had been in Linux for a decade, cgroups for six years, and LXC had been packaging both since 2008. Google was running billions of containers a week.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image is not a file. It is a manifest — a small JSON document — listing a configuration object and an ordered set of layers, each referenced by the SHA-256 hash of its contents.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2015 the format mattered enough that it needed an owner who was not a company. Docker donated it, and the Open Container Initiative now maintains three specifications — image, runtime and distribution — which is why containers built with Docker run under containerd, CRI-O, Podman and Kubernetes without anyone negotiating. The implementation split up at the same time.</a:t>
            </a:r>
          </a:p>
          <a:p/>
          <a:p>
            <a:r>
              <a:t>Figure 9.1 (handout p. 71): The runtime stack. Each layer was split out of the one above it as the ecosystem matured; the bottom two rows are the only ones that are not replaceable.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instruction in a Dockerfile produces a layer. On rebuild, Docker reuses a cached layer if the instruction and all the layers beneath it are unchanged — and crucially, once one layer is invalidated, every layer above it is rebuilt too. That single rule decides whether a build takes four seconds or ninety-five, and almost every slow build in existence gets it wrong the same way.</a:t>
            </a:r>
          </a:p>
          <a:p/>
          <a:p>
            <a:r>
              <a:t>Figure 9.2 (handout p. 71): The same four instructions in two orders. Nothing else differs, and the rebuild costs differ by a factor of 300.</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properties, each with a reason.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Builds the same application both ways and measures the difference; then makes it multi-stage and non-root. Needs Docker. Expect thirty minutes.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A small application with real dependencies..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The wrong order: source copied before dependencies..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The right order: dependency list first, then source..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Change one character of source and time both rebuilds..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Look at the layers, and at what is shared..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7: Multi-stage and non-root..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8: Prove it is not running as root, and cannot write its root..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9: A secret deleted in a later layer is still in the image..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10: Tear down..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node:20 is a tag, which is a mutable pointer. The publisher republished it during the week — a patch release, a new base layer — so Friday’s build used different bytes. The change that prevents it is to pin the digest: FROM node:20@sha256:…, which identifies exact content for ever. Pair it with an automated job that proposes digest updates as reviewable changes, so security fixes are still applied deliberately.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Same RUN: no. Only the layer’s final state is committed, and the key was deleted before the layer closed. Separate RUN: yes. The first layer contains the key, the second records its deletion, and both layers ship. Anyone who pulls the image can extract the earlier layer and read it. This is why secrets belong in build secrets or a mount, never in a layer at all.</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Stating assumptions: say the dependency layer is 1.0 GB, the application layer 20 MB, and there are 20 builds a day. Wrong order: each build rebuilds and pushes about 1.02 GB, and 40 nodes pull it: 20 × 1.02 + 40 × 20 × 1.02 ≈ 836 GB a day. Right order: only the 20 MB layer changes: 20 × 0.02 + 40 × 20 × 0.02 = 16.4 GB a day. A saving of roughly 820 GB a day in transfer alone, before counting the build time.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10 — Container Orchestration with Kubernetes. READ: Handout Chapter 9, pages 69–76. THIS WEEK'S LAB: Build a container by hand; then measure the build cache. ASSESSMENT: Assignment 1 set.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9.xml"/><Relationship Id="rId7" Type="http://schemas.openxmlformats.org/officeDocument/2006/relationships/slide" Target="slide10.xml"/><Relationship Id="rId8" Type="http://schemas.openxmlformats.org/officeDocument/2006/relationships/slide" Target="slide13.xml"/><Relationship Id="rId9" Type="http://schemas.openxmlformats.org/officeDocument/2006/relationships/slide" Target="slide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1.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image" Target="../media/image13.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image" Target="../media/image15.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image" Target="../media/image17.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21.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image" Target="../media/image24.png"/><Relationship Id="rId5" Type="http://schemas.openxmlformats.org/officeDocument/2006/relationships/image" Target="../media/image25.svg"/><Relationship Id="rId6" Type="http://schemas.openxmlformats.org/officeDocument/2006/relationships/image" Target="../media/image26.png"/><Relationship Id="rId7" Type="http://schemas.openxmlformats.org/officeDocument/2006/relationships/image" Target="../media/image27.svg"/><Relationship Id="rId8" Type="http://schemas.openxmlformats.org/officeDocument/2006/relationships/image" Target="../media/image28.png"/><Relationship Id="rId9" Type="http://schemas.openxmlformats.org/officeDocument/2006/relationships/image" Target="../media/image29.svg"/><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30.svg"/><Relationship Id="rId4" Type="http://schemas.openxmlformats.org/officeDocument/2006/relationships/image" Target="../media/image31.png"/><Relationship Id="rId5" Type="http://schemas.openxmlformats.org/officeDocument/2006/relationships/image" Target="../media/image32.svg"/><Relationship Id="rId6" Type="http://schemas.openxmlformats.org/officeDocument/2006/relationships/image" Target="../media/image33.png"/><Relationship Id="rId7" Type="http://schemas.openxmlformats.org/officeDocument/2006/relationships/image" Target="../media/image34.svg"/><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image" Target="../media/image35.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image" Target="../media/image36.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image" Target="../media/image37.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39.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1.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2.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3.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4.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5.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6.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7.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8.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9.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50.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51.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52.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 Id="rId3" Type="http://schemas.openxmlformats.org/officeDocument/2006/relationships/image" Target="../media/image54.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5.png"/><Relationship Id="rId3" Type="http://schemas.openxmlformats.org/officeDocument/2006/relationships/image" Target="../media/image56.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 Id="rId3" Type="http://schemas.openxmlformats.org/officeDocument/2006/relationships/image" Target="../media/image57.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5.png"/><Relationship Id="rId3" Type="http://schemas.openxmlformats.org/officeDocument/2006/relationships/image" Target="../media/image58.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 Id="rId3" Type="http://schemas.openxmlformats.org/officeDocument/2006/relationships/image" Target="../media/image59.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5.png"/><Relationship Id="rId3" Type="http://schemas.openxmlformats.org/officeDocument/2006/relationships/image" Target="../media/image60.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1.png"/><Relationship Id="rId3" Type="http://schemas.openxmlformats.org/officeDocument/2006/relationships/image" Target="../media/image62.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image" Target="../media/image64.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image" Target="../media/image65.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image" Target="../media/image66.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7A43"/>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28756"/>
                </a:solidFill>
                <a:latin typeface="Segoe UI Black"/>
              </a:rPr>
              <a:t>09</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Docker and the Container Ecosystem</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DACA"/>
                </a:solidFill>
                <a:latin typeface="Segoe UI"/>
              </a:rPr>
              <a:t>PART III  ·  CONTAINERS AND LIGHTWEIGHT VIRTUALIZATION</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DACA"/>
                </a:solidFill>
                <a:latin typeface="Segoe UI"/>
              </a:rPr>
              <a:t>CHAPTER 9  ·  WEEK 7</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1E4D9"/>
                </a:solidFill>
                <a:latin typeface="Segoe UI"/>
              </a:rPr>
              <a:t>From Hypervisors to the Cloud-Native Stack</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358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5C0B0"/>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DD0C5"/>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5C0B0"/>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9  ·  Docker and the Container Ecosystem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69     </a:t>
            </a:r>
            <a:fld id="{64436753-F7BF-48B8-B9E7-2D98818936E6}" type="slidenum">
              <a:rPr lang="en-GB" sz="1000">
                <a:solidFill>
                  <a:srgbClr val="8795A1"/>
                </a:solidFill>
                <a:latin typeface="Segoe UI"/>
              </a:rPr>
              <a:t>2</a:t>
            </a:fld>
          </a:p>
        </p:txBody>
      </p:sp>
      <p:sp>
        <p:nvSpPr>
          <p:cNvPr id="7" name="!!rp1"/>
          <p:cNvSpPr txBox="1"/>
          <p:nvPr/>
        </p:nvSpPr>
        <p:spPr>
          <a:xfrm>
            <a:off x="777240" y="1755648"/>
            <a:ext cx="112029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12029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226723"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226723"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067927" y="1755648"/>
            <a:ext cx="1822916"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B7A43"/>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067927" y="2029967"/>
            <a:ext cx="1822916" cy="4572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6220027"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6220027"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061231"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061231"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9902435"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9902435"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08508"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1706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00229"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0878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59195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0051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257991"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21665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649712"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5582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041433"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94999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433154"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3417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409919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400775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500060" y="2112264"/>
            <a:ext cx="566928" cy="566928"/>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500060"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9</a:t>
            </a:r>
          </a:p>
        </p:txBody>
      </p:sp>
      <p:sp>
        <p:nvSpPr>
          <p:cNvPr id="37" name="!!dot10">
            <a:extLst>
              <a:ext uri="{C183D7F6-B498-43B3-948B-1728B52AA6E4}">
                <adec:decorative xmlns:adec="http://schemas.microsoft.com/office/drawing/2017/decorative" val="1"/>
              </a:ext>
            </a:extLst>
          </p:cNvPr>
          <p:cNvSpPr/>
          <p:nvPr/>
        </p:nvSpPr>
        <p:spPr>
          <a:xfrm>
            <a:off x="5193533"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510209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585254"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4938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6251295"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615985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643016"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5515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7034737"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9432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42645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3350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8092499"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800105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8484220"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39278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8875941"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878450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267662"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17622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993370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84226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32542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23398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0717145"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062570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11108866"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1101742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23</a:t>
            </a:r>
          </a:p>
        </p:txBody>
      </p:sp>
      <p:sp>
        <p:nvSpPr>
          <p:cNvPr id="65" name="!!dotlabel"/>
          <p:cNvSpPr txBox="1"/>
          <p:nvPr/>
        </p:nvSpPr>
        <p:spPr>
          <a:xfrm>
            <a:off x="1857444"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1B7A43"/>
                </a:solidFill>
                <a:latin typeface="Segoe UI"/>
              </a:rPr>
              <a:t>Docker and the Container Ecosystem</a:t>
            </a:r>
          </a:p>
        </p:txBody>
      </p:sp>
      <p:sp>
        <p:nvSpPr>
          <p:cNvPr id="66"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7" name="!!chipBU8">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chipbBU8">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tBU8"/>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8  </a:t>
            </a:r>
            <a:r>
              <a:rPr sz="1400" b="0" i="0">
                <a:solidFill>
                  <a:srgbClr val="1C252B"/>
                </a:solidFill>
                <a:latin typeface="Segoe UI"/>
              </a:rPr>
              <a:t>From Virtual Machines to Containers</a:t>
            </a:r>
          </a:p>
        </p:txBody>
      </p:sp>
      <p:sp>
        <p:nvSpPr>
          <p:cNvPr id="70"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1" name="!!chipUS10">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chipbUS10">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3" name="!!chiptUS10"/>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10  </a:t>
            </a:r>
            <a:r>
              <a:rPr sz="1400" b="0" i="0">
                <a:solidFill>
                  <a:srgbClr val="1C252B"/>
                </a:solidFill>
                <a:latin typeface="Segoe UI"/>
              </a:rPr>
              <a:t>Container Orchestration with Kubernetes</a:t>
            </a:r>
          </a:p>
        </p:txBody>
      </p:sp>
      <p:sp>
        <p:nvSpPr>
          <p:cNvPr id="74" name="!!chipUS19">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5" name="!!chipbUS19">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chiptUS19"/>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19  </a:t>
            </a:r>
            <a:r>
              <a:rPr sz="1400" b="0" i="0">
                <a:solidFill>
                  <a:srgbClr val="1C252B"/>
                </a:solidFill>
                <a:latin typeface="Segoe UI"/>
              </a:rPr>
              <a:t>Security in Virtualized Environments</a:t>
            </a:r>
          </a:p>
        </p:txBody>
      </p:sp>
      <p:sp>
        <p:nvSpPr>
          <p:cNvPr id="7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pfill">
            <a:extLst>
              <a:ext uri="{C183D7F6-B498-43B3-948B-1728B52AA6E4}">
                <adec:decorative xmlns:adec="http://schemas.microsoft.com/office/drawing/2017/decorative" val="1"/>
              </a:ext>
            </a:extLst>
          </p:cNvPr>
          <p:cNvSpPr/>
          <p:nvPr/>
        </p:nvSpPr>
        <p:spPr>
          <a:xfrm>
            <a:off x="0" y="0"/>
            <a:ext cx="55416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9  ·  Docker and the Container Ecosystem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69     </a:t>
            </a:r>
            <a:fld id="{5D901B95-552E-4AE4-8A1C-6F75C7BE37F4}"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Explain</a:t>
            </a:r>
            <a:r>
              <a:rPr sz="2100" b="0" i="0">
                <a:solidFill>
                  <a:srgbClr val="1C252B"/>
                </a:solidFill>
                <a:latin typeface="Segoe UI"/>
              </a:rPr>
              <a:t> what Docker added to the kernel features of Chapter 8, and why that — rather than isolation — is what changed the industry.</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06141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Describe</a:t>
            </a:r>
            <a:r>
              <a:rPr sz="2100" b="0" i="0">
                <a:solidFill>
                  <a:srgbClr val="1C252B"/>
                </a:solidFill>
                <a:latin typeface="Segoe UI"/>
              </a:rPr>
              <a:t> an image as a stack of content-addressed layers plus a manifest, and </a:t>
            </a:r>
            <a:r>
              <a:rPr sz="2100" b="1" i="0">
                <a:solidFill>
                  <a:srgbClr val="1C252B"/>
                </a:solidFill>
                <a:latin typeface="Segoe UI"/>
              </a:rPr>
              <a:t>explain</a:t>
            </a:r>
            <a:r>
              <a:rPr sz="2100" b="0" i="0">
                <a:solidFill>
                  <a:srgbClr val="1C252B"/>
                </a:solidFill>
                <a:latin typeface="Segoe UI"/>
              </a:rPr>
              <a:t> what a digest guarantees.</a:t>
            </a:r>
          </a:p>
        </p:txBody>
      </p:sp>
      <p:sp>
        <p:nvSpPr>
          <p:cNvPr id="14" name="!!ob2">
            <a:extLst>
              <a:ext uri="{C183D7F6-B498-43B3-948B-1728B52AA6E4}">
                <adec:decorative xmlns:adec="http://schemas.microsoft.com/office/drawing/2017/decorative" val="1"/>
              </a:ext>
            </a:extLst>
          </p:cNvPr>
          <p:cNvSpPr/>
          <p:nvPr/>
        </p:nvSpPr>
        <p:spPr>
          <a:xfrm>
            <a:off x="658368" y="3919118"/>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97855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960266"/>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Name</a:t>
            </a:r>
            <a:r>
              <a:rPr sz="2100" b="0" i="0">
                <a:solidFill>
                  <a:srgbClr val="1C252B"/>
                </a:solidFill>
                <a:latin typeface="Segoe UI"/>
              </a:rPr>
              <a:t> the components of the OCI runtime stack and </a:t>
            </a:r>
            <a:r>
              <a:rPr sz="2100" b="1" i="0">
                <a:solidFill>
                  <a:srgbClr val="1C252B"/>
                </a:solidFill>
                <a:latin typeface="Segoe UI"/>
              </a:rPr>
              <a:t>say</a:t>
            </a:r>
            <a:r>
              <a:rPr sz="2100" b="0" i="0">
                <a:solidFill>
                  <a:srgbClr val="1C252B"/>
                </a:solidFill>
                <a:latin typeface="Segoe UI"/>
              </a:rPr>
              <a:t> what each one does.</a:t>
            </a:r>
          </a:p>
        </p:txBody>
      </p:sp>
      <p:sp>
        <p:nvSpPr>
          <p:cNvPr id="17" name="!!ob3">
            <a:extLst>
              <a:ext uri="{C183D7F6-B498-43B3-948B-1728B52AA6E4}">
                <adec:decorative xmlns:adec="http://schemas.microsoft.com/office/drawing/2017/decorative" val="1"/>
              </a:ext>
            </a:extLst>
          </p:cNvPr>
          <p:cNvSpPr/>
          <p:nvPr/>
        </p:nvSpPr>
        <p:spPr>
          <a:xfrm>
            <a:off x="658368" y="4522622"/>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58205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51347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Order</a:t>
            </a:r>
            <a:r>
              <a:rPr sz="2100" b="0" i="0">
                <a:solidFill>
                  <a:srgbClr val="1C252B"/>
                </a:solidFill>
                <a:latin typeface="Segoe UI"/>
              </a:rPr>
              <a:t> the instructions in a Dockerfile so that the build cache is not needlessly invalidated, and </a:t>
            </a:r>
            <a:r>
              <a:rPr sz="2100" b="1" i="0">
                <a:solidFill>
                  <a:srgbClr val="1C252B"/>
                </a:solidFill>
                <a:latin typeface="Segoe UI"/>
              </a:rPr>
              <a:t>quantify</a:t>
            </a:r>
            <a:r>
              <a:rPr sz="2100" b="0" i="0">
                <a:solidFill>
                  <a:srgbClr val="1C252B"/>
                </a:solidFill>
                <a:latin typeface="Segoe UI"/>
              </a:rPr>
              <a:t> what the wrong order costs.</a:t>
            </a:r>
          </a:p>
        </p:txBody>
      </p:sp>
      <p:sp>
        <p:nvSpPr>
          <p:cNvPr id="20" name="!!ob4">
            <a:extLst>
              <a:ext uri="{C183D7F6-B498-43B3-948B-1728B52AA6E4}">
                <adec:decorative xmlns:adec="http://schemas.microsoft.com/office/drawing/2017/decorative" val="1"/>
              </a:ext>
            </a:extLst>
          </p:cNvPr>
          <p:cNvSpPr/>
          <p:nvPr/>
        </p:nvSpPr>
        <p:spPr>
          <a:xfrm>
            <a:off x="658368" y="5371185"/>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43062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36204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Write</a:t>
            </a:r>
            <a:r>
              <a:rPr sz="2100" b="0" i="0">
                <a:solidFill>
                  <a:srgbClr val="1C252B"/>
                </a:solidFill>
                <a:latin typeface="Segoe UI"/>
              </a:rPr>
              <a:t> a Dockerfile that is multi-stage, pinned and non-root, and </a:t>
            </a:r>
            <a:r>
              <a:rPr sz="2100" b="1" i="0">
                <a:solidFill>
                  <a:srgbClr val="1C252B"/>
                </a:solidFill>
                <a:latin typeface="Segoe UI"/>
              </a:rPr>
              <a:t>justify</a:t>
            </a:r>
            <a:r>
              <a:rPr sz="2100" b="0" i="0">
                <a:solidFill>
                  <a:srgbClr val="1C252B"/>
                </a:solidFill>
                <a:latin typeface="Segoe UI"/>
              </a:rPr>
              <a:t> each of those three properties.</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83125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9  ·  Docker and the Container Ecosystem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69     </a:t>
            </a:r>
            <a:fld id="{CC9343BC-2D70-412B-B671-E59214146514}" type="slidenum">
              <a:rPr lang="en-GB" sz="1000">
                <a:solidFill>
                  <a:srgbClr val="8795A1"/>
                </a:solidFill>
                <a:latin typeface="Segoe UI"/>
              </a:rPr>
              <a:t>4</a:t>
            </a:fld>
          </a:p>
        </p:txBody>
      </p:sp>
      <p:sp>
        <p:nvSpPr>
          <p:cNvPr id="7" name="!!term-image">
            <a:extLst>
              <a:ext uri="{C183D7F6-B498-43B3-948B-1728B52AA6E4}">
                <adec:decorative xmlns:adec="http://schemas.microsoft.com/office/drawing/2017/decorative" val="1"/>
              </a:ext>
            </a:extLst>
          </p:cNvPr>
          <p:cNvSpPr/>
          <p:nvPr/>
        </p:nvSpPr>
        <p:spPr>
          <a:xfrm>
            <a:off x="658368" y="1847088"/>
            <a:ext cx="96821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image">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image"/>
          <p:cNvSpPr txBox="1"/>
          <p:nvPr/>
        </p:nvSpPr>
        <p:spPr>
          <a:xfrm>
            <a:off x="950976" y="1970532"/>
            <a:ext cx="78533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image</a:t>
            </a:r>
          </a:p>
        </p:txBody>
      </p:sp>
      <p:sp>
        <p:nvSpPr>
          <p:cNvPr id="10" name="!!term-layer">
            <a:extLst>
              <a:ext uri="{C183D7F6-B498-43B3-948B-1728B52AA6E4}">
                <adec:decorative xmlns:adec="http://schemas.microsoft.com/office/drawing/2017/decorative" val="1"/>
              </a:ext>
            </a:extLst>
          </p:cNvPr>
          <p:cNvSpPr/>
          <p:nvPr/>
        </p:nvSpPr>
        <p:spPr>
          <a:xfrm>
            <a:off x="1772884" y="1847088"/>
            <a:ext cx="84811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layer">
            <a:extLst>
              <a:ext uri="{C183D7F6-B498-43B3-948B-1728B52AA6E4}">
                <adec:decorative xmlns:adec="http://schemas.microsoft.com/office/drawing/2017/decorative" val="1"/>
              </a:ext>
            </a:extLst>
          </p:cNvPr>
          <p:cNvSpPr/>
          <p:nvPr/>
        </p:nvSpPr>
        <p:spPr>
          <a:xfrm>
            <a:off x="1900900"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layer"/>
          <p:cNvSpPr txBox="1"/>
          <p:nvPr/>
        </p:nvSpPr>
        <p:spPr>
          <a:xfrm>
            <a:off x="2065492" y="1970532"/>
            <a:ext cx="66523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layer</a:t>
            </a:r>
          </a:p>
        </p:txBody>
      </p:sp>
      <p:sp>
        <p:nvSpPr>
          <p:cNvPr id="13" name="!!term-manifest">
            <a:extLst>
              <a:ext uri="{C183D7F6-B498-43B3-948B-1728B52AA6E4}">
                <adec:decorative xmlns:adec="http://schemas.microsoft.com/office/drawing/2017/decorative" val="1"/>
              </a:ext>
            </a:extLst>
          </p:cNvPr>
          <p:cNvSpPr/>
          <p:nvPr/>
        </p:nvSpPr>
        <p:spPr>
          <a:xfrm>
            <a:off x="2767302" y="1847088"/>
            <a:ext cx="117282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manifest">
            <a:extLst>
              <a:ext uri="{C183D7F6-B498-43B3-948B-1728B52AA6E4}">
                <adec:decorative xmlns:adec="http://schemas.microsoft.com/office/drawing/2017/decorative" val="1"/>
              </a:ext>
            </a:extLst>
          </p:cNvPr>
          <p:cNvSpPr/>
          <p:nvPr/>
        </p:nvSpPr>
        <p:spPr>
          <a:xfrm>
            <a:off x="289531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manifest"/>
          <p:cNvSpPr txBox="1"/>
          <p:nvPr/>
        </p:nvSpPr>
        <p:spPr>
          <a:xfrm>
            <a:off x="3059910" y="1970532"/>
            <a:ext cx="98994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manifest</a:t>
            </a:r>
          </a:p>
        </p:txBody>
      </p:sp>
      <p:sp>
        <p:nvSpPr>
          <p:cNvPr id="16" name="!!term-image index">
            <a:extLst>
              <a:ext uri="{C183D7F6-B498-43B3-948B-1728B52AA6E4}">
                <adec:decorative xmlns:adec="http://schemas.microsoft.com/office/drawing/2017/decorative" val="1"/>
              </a:ext>
            </a:extLst>
          </p:cNvPr>
          <p:cNvSpPr/>
          <p:nvPr/>
        </p:nvSpPr>
        <p:spPr>
          <a:xfrm>
            <a:off x="4086426" y="1847088"/>
            <a:ext cx="148371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image index">
            <a:extLst>
              <a:ext uri="{C183D7F6-B498-43B3-948B-1728B52AA6E4}">
                <adec:decorative xmlns:adec="http://schemas.microsoft.com/office/drawing/2017/decorative" val="1"/>
              </a:ext>
            </a:extLst>
          </p:cNvPr>
          <p:cNvSpPr/>
          <p:nvPr/>
        </p:nvSpPr>
        <p:spPr>
          <a:xfrm>
            <a:off x="4214442"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image index"/>
          <p:cNvSpPr txBox="1"/>
          <p:nvPr/>
        </p:nvSpPr>
        <p:spPr>
          <a:xfrm>
            <a:off x="4379034" y="1970532"/>
            <a:ext cx="130083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image index</a:t>
            </a:r>
          </a:p>
        </p:txBody>
      </p:sp>
      <p:sp>
        <p:nvSpPr>
          <p:cNvPr id="19" name="!!term-digest">
            <a:extLst>
              <a:ext uri="{C183D7F6-B498-43B3-948B-1728B52AA6E4}">
                <adec:decorative xmlns:adec="http://schemas.microsoft.com/office/drawing/2017/decorative" val="1"/>
              </a:ext>
            </a:extLst>
          </p:cNvPr>
          <p:cNvSpPr/>
          <p:nvPr/>
        </p:nvSpPr>
        <p:spPr>
          <a:xfrm>
            <a:off x="5716447" y="1847088"/>
            <a:ext cx="96471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digest">
            <a:extLst>
              <a:ext uri="{C183D7F6-B498-43B3-948B-1728B52AA6E4}">
                <adec:decorative xmlns:adec="http://schemas.microsoft.com/office/drawing/2017/decorative" val="1"/>
              </a:ext>
            </a:extLst>
          </p:cNvPr>
          <p:cNvSpPr/>
          <p:nvPr/>
        </p:nvSpPr>
        <p:spPr>
          <a:xfrm>
            <a:off x="5844463"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digest"/>
          <p:cNvSpPr txBox="1"/>
          <p:nvPr/>
        </p:nvSpPr>
        <p:spPr>
          <a:xfrm>
            <a:off x="6009055" y="1970532"/>
            <a:ext cx="78183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digest</a:t>
            </a:r>
          </a:p>
        </p:txBody>
      </p:sp>
      <p:sp>
        <p:nvSpPr>
          <p:cNvPr id="22" name="!!term-content addres">
            <a:extLst>
              <a:ext uri="{C183D7F6-B498-43B3-948B-1728B52AA6E4}">
                <adec:decorative xmlns:adec="http://schemas.microsoft.com/office/drawing/2017/decorative" val="1"/>
              </a:ext>
            </a:extLst>
          </p:cNvPr>
          <p:cNvSpPr/>
          <p:nvPr/>
        </p:nvSpPr>
        <p:spPr>
          <a:xfrm>
            <a:off x="6827466" y="1847088"/>
            <a:ext cx="208232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content addres">
            <a:extLst>
              <a:ext uri="{C183D7F6-B498-43B3-948B-1728B52AA6E4}">
                <adec:decorative xmlns:adec="http://schemas.microsoft.com/office/drawing/2017/decorative" val="1"/>
              </a:ext>
            </a:extLst>
          </p:cNvPr>
          <p:cNvSpPr/>
          <p:nvPr/>
        </p:nvSpPr>
        <p:spPr>
          <a:xfrm>
            <a:off x="6955482"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content addres"/>
          <p:cNvSpPr txBox="1"/>
          <p:nvPr/>
        </p:nvSpPr>
        <p:spPr>
          <a:xfrm>
            <a:off x="7120074" y="1970532"/>
            <a:ext cx="189944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content addressing</a:t>
            </a:r>
          </a:p>
        </p:txBody>
      </p:sp>
      <p:sp>
        <p:nvSpPr>
          <p:cNvPr id="25" name="!!term-tag">
            <a:extLst>
              <a:ext uri="{C183D7F6-B498-43B3-948B-1728B52AA6E4}">
                <adec:decorative xmlns:adec="http://schemas.microsoft.com/office/drawing/2017/decorative" val="1"/>
              </a:ext>
            </a:extLst>
          </p:cNvPr>
          <p:cNvSpPr/>
          <p:nvPr/>
        </p:nvSpPr>
        <p:spPr>
          <a:xfrm>
            <a:off x="9056092" y="1847088"/>
            <a:ext cx="71813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tag">
            <a:extLst>
              <a:ext uri="{C183D7F6-B498-43B3-948B-1728B52AA6E4}">
                <adec:decorative xmlns:adec="http://schemas.microsoft.com/office/drawing/2017/decorative" val="1"/>
              </a:ext>
            </a:extLst>
          </p:cNvPr>
          <p:cNvSpPr/>
          <p:nvPr/>
        </p:nvSpPr>
        <p:spPr>
          <a:xfrm>
            <a:off x="918410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tag"/>
          <p:cNvSpPr txBox="1"/>
          <p:nvPr/>
        </p:nvSpPr>
        <p:spPr>
          <a:xfrm>
            <a:off x="9348700" y="1970532"/>
            <a:ext cx="53525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tag</a:t>
            </a:r>
          </a:p>
        </p:txBody>
      </p:sp>
      <p:sp>
        <p:nvSpPr>
          <p:cNvPr id="28" name="!!term-registry">
            <a:extLst>
              <a:ext uri="{C183D7F6-B498-43B3-948B-1728B52AA6E4}">
                <adec:decorative xmlns:adec="http://schemas.microsoft.com/office/drawing/2017/decorative" val="1"/>
              </a:ext>
            </a:extLst>
          </p:cNvPr>
          <p:cNvSpPr/>
          <p:nvPr/>
        </p:nvSpPr>
        <p:spPr>
          <a:xfrm>
            <a:off x="9920532" y="1847088"/>
            <a:ext cx="107963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registry">
            <a:extLst>
              <a:ext uri="{C183D7F6-B498-43B3-948B-1728B52AA6E4}">
                <adec:decorative xmlns:adec="http://schemas.microsoft.com/office/drawing/2017/decorative" val="1"/>
              </a:ext>
            </a:extLst>
          </p:cNvPr>
          <p:cNvSpPr/>
          <p:nvPr/>
        </p:nvSpPr>
        <p:spPr>
          <a:xfrm>
            <a:off x="1004854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registry"/>
          <p:cNvSpPr txBox="1"/>
          <p:nvPr/>
        </p:nvSpPr>
        <p:spPr>
          <a:xfrm>
            <a:off x="10213140" y="1970532"/>
            <a:ext cx="89675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registry</a:t>
            </a:r>
          </a:p>
        </p:txBody>
      </p:sp>
      <p:sp>
        <p:nvSpPr>
          <p:cNvPr id="31" name="!!term-Dockerfile">
            <a:extLst>
              <a:ext uri="{C183D7F6-B498-43B3-948B-1728B52AA6E4}">
                <adec:decorative xmlns:adec="http://schemas.microsoft.com/office/drawing/2017/decorative" val="1"/>
              </a:ext>
            </a:extLst>
          </p:cNvPr>
          <p:cNvSpPr/>
          <p:nvPr/>
        </p:nvSpPr>
        <p:spPr>
          <a:xfrm>
            <a:off x="658368" y="2468880"/>
            <a:ext cx="130106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Dockerfile">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Dockerfile"/>
          <p:cNvSpPr txBox="1"/>
          <p:nvPr/>
        </p:nvSpPr>
        <p:spPr>
          <a:xfrm>
            <a:off x="950976" y="2592324"/>
            <a:ext cx="111818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Dockerfile</a:t>
            </a:r>
          </a:p>
        </p:txBody>
      </p:sp>
      <p:sp>
        <p:nvSpPr>
          <p:cNvPr id="34" name="!!term-build cache">
            <a:extLst>
              <a:ext uri="{C183D7F6-B498-43B3-948B-1728B52AA6E4}">
                <adec:decorative xmlns:adec="http://schemas.microsoft.com/office/drawing/2017/decorative" val="1"/>
              </a:ext>
            </a:extLst>
          </p:cNvPr>
          <p:cNvSpPr/>
          <p:nvPr/>
        </p:nvSpPr>
        <p:spPr>
          <a:xfrm>
            <a:off x="2105734" y="2468880"/>
            <a:ext cx="141493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build cache">
            <a:extLst>
              <a:ext uri="{C183D7F6-B498-43B3-948B-1728B52AA6E4}">
                <adec:decorative xmlns:adec="http://schemas.microsoft.com/office/drawing/2017/decorative" val="1"/>
              </a:ext>
            </a:extLst>
          </p:cNvPr>
          <p:cNvSpPr/>
          <p:nvPr/>
        </p:nvSpPr>
        <p:spPr>
          <a:xfrm>
            <a:off x="2233750"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build cache"/>
          <p:cNvSpPr txBox="1"/>
          <p:nvPr/>
        </p:nvSpPr>
        <p:spPr>
          <a:xfrm>
            <a:off x="2398342" y="2592324"/>
            <a:ext cx="123205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build cache</a:t>
            </a:r>
          </a:p>
        </p:txBody>
      </p:sp>
      <p:sp>
        <p:nvSpPr>
          <p:cNvPr id="37" name="!!term-cache invalida">
            <a:extLst>
              <a:ext uri="{C183D7F6-B498-43B3-948B-1728B52AA6E4}">
                <adec:decorative xmlns:adec="http://schemas.microsoft.com/office/drawing/2017/decorative" val="1"/>
              </a:ext>
            </a:extLst>
          </p:cNvPr>
          <p:cNvSpPr/>
          <p:nvPr/>
        </p:nvSpPr>
        <p:spPr>
          <a:xfrm>
            <a:off x="3666969" y="2468880"/>
            <a:ext cx="197526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cache invalida">
            <a:extLst>
              <a:ext uri="{C183D7F6-B498-43B3-948B-1728B52AA6E4}">
                <adec:decorative xmlns:adec="http://schemas.microsoft.com/office/drawing/2017/decorative" val="1"/>
              </a:ext>
            </a:extLst>
          </p:cNvPr>
          <p:cNvSpPr/>
          <p:nvPr/>
        </p:nvSpPr>
        <p:spPr>
          <a:xfrm>
            <a:off x="3794985"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cache invalida"/>
          <p:cNvSpPr txBox="1"/>
          <p:nvPr/>
        </p:nvSpPr>
        <p:spPr>
          <a:xfrm>
            <a:off x="3959577" y="2592324"/>
            <a:ext cx="179238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cache invalidation</a:t>
            </a:r>
          </a:p>
        </p:txBody>
      </p:sp>
      <p:sp>
        <p:nvSpPr>
          <p:cNvPr id="40" name="!!term-multi-stage bu">
            <a:extLst>
              <a:ext uri="{C183D7F6-B498-43B3-948B-1728B52AA6E4}">
                <adec:decorative xmlns:adec="http://schemas.microsoft.com/office/drawing/2017/decorative" val="1"/>
              </a:ext>
            </a:extLst>
          </p:cNvPr>
          <p:cNvSpPr/>
          <p:nvPr/>
        </p:nvSpPr>
        <p:spPr>
          <a:xfrm>
            <a:off x="5788540" y="2468880"/>
            <a:ext cx="190303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multi-stage bu">
            <a:extLst>
              <a:ext uri="{C183D7F6-B498-43B3-948B-1728B52AA6E4}">
                <adec:decorative xmlns:adec="http://schemas.microsoft.com/office/drawing/2017/decorative" val="1"/>
              </a:ext>
            </a:extLst>
          </p:cNvPr>
          <p:cNvSpPr/>
          <p:nvPr/>
        </p:nvSpPr>
        <p:spPr>
          <a:xfrm>
            <a:off x="5916556"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multi-stage bu"/>
          <p:cNvSpPr txBox="1"/>
          <p:nvPr/>
        </p:nvSpPr>
        <p:spPr>
          <a:xfrm>
            <a:off x="6081148" y="2592324"/>
            <a:ext cx="172015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multi-stage build</a:t>
            </a:r>
          </a:p>
        </p:txBody>
      </p:sp>
      <p:sp>
        <p:nvSpPr>
          <p:cNvPr id="43" name="!!term-distroless">
            <a:extLst>
              <a:ext uri="{C183D7F6-B498-43B3-948B-1728B52AA6E4}">
                <adec:decorative xmlns:adec="http://schemas.microsoft.com/office/drawing/2017/decorative" val="1"/>
              </a:ext>
            </a:extLst>
          </p:cNvPr>
          <p:cNvSpPr/>
          <p:nvPr/>
        </p:nvSpPr>
        <p:spPr>
          <a:xfrm>
            <a:off x="7837881" y="2468880"/>
            <a:ext cx="124351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distroless">
            <a:extLst>
              <a:ext uri="{C183D7F6-B498-43B3-948B-1728B52AA6E4}">
                <adec:decorative xmlns:adec="http://schemas.microsoft.com/office/drawing/2017/decorative" val="1"/>
              </a:ext>
            </a:extLst>
          </p:cNvPr>
          <p:cNvSpPr/>
          <p:nvPr/>
        </p:nvSpPr>
        <p:spPr>
          <a:xfrm>
            <a:off x="7965897"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distroless"/>
          <p:cNvSpPr txBox="1"/>
          <p:nvPr/>
        </p:nvSpPr>
        <p:spPr>
          <a:xfrm>
            <a:off x="8130489" y="2592324"/>
            <a:ext cx="106063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distroless</a:t>
            </a:r>
          </a:p>
        </p:txBody>
      </p:sp>
      <p:sp>
        <p:nvSpPr>
          <p:cNvPr id="46" name="!!term-OCI image spec">
            <a:extLst>
              <a:ext uri="{C183D7F6-B498-43B3-948B-1728B52AA6E4}">
                <adec:decorative xmlns:adec="http://schemas.microsoft.com/office/drawing/2017/decorative" val="1"/>
              </a:ext>
            </a:extLst>
          </p:cNvPr>
          <p:cNvSpPr/>
          <p:nvPr/>
        </p:nvSpPr>
        <p:spPr>
          <a:xfrm>
            <a:off x="658368" y="3090672"/>
            <a:ext cx="246148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OCI image spec">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OCI image spec"/>
          <p:cNvSpPr txBox="1"/>
          <p:nvPr/>
        </p:nvSpPr>
        <p:spPr>
          <a:xfrm>
            <a:off x="950976" y="3214116"/>
            <a:ext cx="227860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OCI image specification</a:t>
            </a:r>
          </a:p>
        </p:txBody>
      </p:sp>
      <p:sp>
        <p:nvSpPr>
          <p:cNvPr id="49" name="!!term-OCI runtime sp">
            <a:extLst>
              <a:ext uri="{C183D7F6-B498-43B3-948B-1728B52AA6E4}">
                <adec:decorative xmlns:adec="http://schemas.microsoft.com/office/drawing/2017/decorative" val="1"/>
              </a:ext>
            </a:extLst>
          </p:cNvPr>
          <p:cNvSpPr/>
          <p:nvPr/>
        </p:nvSpPr>
        <p:spPr>
          <a:xfrm>
            <a:off x="3266156" y="3090672"/>
            <a:ext cx="260158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OCI runtime sp">
            <a:extLst>
              <a:ext uri="{C183D7F6-B498-43B3-948B-1728B52AA6E4}">
                <adec:decorative xmlns:adec="http://schemas.microsoft.com/office/drawing/2017/decorative" val="1"/>
              </a:ext>
            </a:extLst>
          </p:cNvPr>
          <p:cNvSpPr/>
          <p:nvPr/>
        </p:nvSpPr>
        <p:spPr>
          <a:xfrm>
            <a:off x="3394172"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OCI runtime sp"/>
          <p:cNvSpPr txBox="1"/>
          <p:nvPr/>
        </p:nvSpPr>
        <p:spPr>
          <a:xfrm>
            <a:off x="3558764" y="3214116"/>
            <a:ext cx="241870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OCI runtime specification</a:t>
            </a:r>
          </a:p>
        </p:txBody>
      </p:sp>
      <p:sp>
        <p:nvSpPr>
          <p:cNvPr id="52" name="!!term-containerd">
            <a:extLst>
              <a:ext uri="{C183D7F6-B498-43B3-948B-1728B52AA6E4}">
                <adec:decorative xmlns:adec="http://schemas.microsoft.com/office/drawing/2017/decorative" val="1"/>
              </a:ext>
            </a:extLst>
          </p:cNvPr>
          <p:cNvSpPr/>
          <p:nvPr/>
        </p:nvSpPr>
        <p:spPr>
          <a:xfrm>
            <a:off x="6014043" y="3090672"/>
            <a:ext cx="135795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rmd-containerd">
            <a:extLst>
              <a:ext uri="{C183D7F6-B498-43B3-948B-1728B52AA6E4}">
                <adec:decorative xmlns:adec="http://schemas.microsoft.com/office/drawing/2017/decorative" val="1"/>
              </a:ext>
            </a:extLst>
          </p:cNvPr>
          <p:cNvSpPr/>
          <p:nvPr/>
        </p:nvSpPr>
        <p:spPr>
          <a:xfrm>
            <a:off x="6142059"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termt-containerd"/>
          <p:cNvSpPr txBox="1"/>
          <p:nvPr/>
        </p:nvSpPr>
        <p:spPr>
          <a:xfrm>
            <a:off x="6306651" y="3214116"/>
            <a:ext cx="117507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containerd</a:t>
            </a:r>
          </a:p>
        </p:txBody>
      </p:sp>
      <p:sp>
        <p:nvSpPr>
          <p:cNvPr id="55" name="!!term-runc">
            <a:extLst>
              <a:ext uri="{C183D7F6-B498-43B3-948B-1728B52AA6E4}">
                <adec:decorative xmlns:adec="http://schemas.microsoft.com/office/drawing/2017/decorative" val="1"/>
              </a:ext>
            </a:extLst>
          </p:cNvPr>
          <p:cNvSpPr/>
          <p:nvPr/>
        </p:nvSpPr>
        <p:spPr>
          <a:xfrm>
            <a:off x="7518305" y="3090672"/>
            <a:ext cx="81626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termd-runc">
            <a:extLst>
              <a:ext uri="{C183D7F6-B498-43B3-948B-1728B52AA6E4}">
                <adec:decorative xmlns:adec="http://schemas.microsoft.com/office/drawing/2017/decorative" val="1"/>
              </a:ext>
            </a:extLst>
          </p:cNvPr>
          <p:cNvSpPr/>
          <p:nvPr/>
        </p:nvSpPr>
        <p:spPr>
          <a:xfrm>
            <a:off x="7646321"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7" name="!!termt-runc"/>
          <p:cNvSpPr txBox="1"/>
          <p:nvPr/>
        </p:nvSpPr>
        <p:spPr>
          <a:xfrm>
            <a:off x="7810913" y="3214116"/>
            <a:ext cx="63338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runc</a:t>
            </a:r>
          </a:p>
        </p:txBody>
      </p:sp>
      <p:sp>
        <p:nvSpPr>
          <p:cNvPr id="58" name="!!term-shim">
            <a:extLst>
              <a:ext uri="{C183D7F6-B498-43B3-948B-1728B52AA6E4}">
                <adec:decorative xmlns:adec="http://schemas.microsoft.com/office/drawing/2017/decorative" val="1"/>
              </a:ext>
            </a:extLst>
          </p:cNvPr>
          <p:cNvSpPr/>
          <p:nvPr/>
        </p:nvSpPr>
        <p:spPr>
          <a:xfrm>
            <a:off x="8480871" y="3090672"/>
            <a:ext cx="84560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9" name="!!termd-shim">
            <a:extLst>
              <a:ext uri="{C183D7F6-B498-43B3-948B-1728B52AA6E4}">
                <adec:decorative xmlns:adec="http://schemas.microsoft.com/office/drawing/2017/decorative" val="1"/>
              </a:ext>
            </a:extLst>
          </p:cNvPr>
          <p:cNvSpPr/>
          <p:nvPr/>
        </p:nvSpPr>
        <p:spPr>
          <a:xfrm>
            <a:off x="8608887"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termt-shim"/>
          <p:cNvSpPr txBox="1"/>
          <p:nvPr/>
        </p:nvSpPr>
        <p:spPr>
          <a:xfrm>
            <a:off x="8773479" y="3214116"/>
            <a:ext cx="66272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shim</a:t>
            </a:r>
          </a:p>
        </p:txBody>
      </p:sp>
      <p:sp>
        <p:nvSpPr>
          <p:cNvPr id="61" name="!!term-BuildKit">
            <a:extLst>
              <a:ext uri="{C183D7F6-B498-43B3-948B-1728B52AA6E4}">
                <adec:decorative xmlns:adec="http://schemas.microsoft.com/office/drawing/2017/decorative" val="1"/>
              </a:ext>
            </a:extLst>
          </p:cNvPr>
          <p:cNvSpPr/>
          <p:nvPr/>
        </p:nvSpPr>
        <p:spPr>
          <a:xfrm>
            <a:off x="9472778" y="3090672"/>
            <a:ext cx="109431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termd-BuildKit">
            <a:extLst>
              <a:ext uri="{C183D7F6-B498-43B3-948B-1728B52AA6E4}">
                <adec:decorative xmlns:adec="http://schemas.microsoft.com/office/drawing/2017/decorative" val="1"/>
              </a:ext>
            </a:extLst>
          </p:cNvPr>
          <p:cNvSpPr/>
          <p:nvPr/>
        </p:nvSpPr>
        <p:spPr>
          <a:xfrm>
            <a:off x="960079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3" name="!!termt-BuildKit"/>
          <p:cNvSpPr txBox="1"/>
          <p:nvPr/>
        </p:nvSpPr>
        <p:spPr>
          <a:xfrm>
            <a:off x="9765386" y="3214116"/>
            <a:ext cx="91143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BuildKit</a:t>
            </a:r>
          </a:p>
        </p:txBody>
      </p:sp>
      <p:sp>
        <p:nvSpPr>
          <p:cNvPr id="64" name="!!term-SBOM">
            <a:extLst>
              <a:ext uri="{C183D7F6-B498-43B3-948B-1728B52AA6E4}">
                <adec:decorative xmlns:adec="http://schemas.microsoft.com/office/drawing/2017/decorative" val="1"/>
              </a:ext>
            </a:extLst>
          </p:cNvPr>
          <p:cNvSpPr/>
          <p:nvPr/>
        </p:nvSpPr>
        <p:spPr>
          <a:xfrm>
            <a:off x="658368" y="3712464"/>
            <a:ext cx="97443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5" name="!!termd-SBOM">
            <a:extLst>
              <a:ext uri="{C183D7F6-B498-43B3-948B-1728B52AA6E4}">
                <adec:decorative xmlns:adec="http://schemas.microsoft.com/office/drawing/2017/decorative" val="1"/>
              </a:ext>
            </a:extLst>
          </p:cNvPr>
          <p:cNvSpPr/>
          <p:nvPr/>
        </p:nvSpPr>
        <p:spPr>
          <a:xfrm>
            <a:off x="786384"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termt-SBOM"/>
          <p:cNvSpPr txBox="1"/>
          <p:nvPr/>
        </p:nvSpPr>
        <p:spPr>
          <a:xfrm>
            <a:off x="950976" y="3835908"/>
            <a:ext cx="79155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SBOM</a:t>
            </a:r>
          </a:p>
        </p:txBody>
      </p:sp>
      <p:sp>
        <p:nvSpPr>
          <p:cNvPr id="67" name="!!term-volume">
            <a:extLst>
              <a:ext uri="{C183D7F6-B498-43B3-948B-1728B52AA6E4}">
                <adec:decorative xmlns:adec="http://schemas.microsoft.com/office/drawing/2017/decorative" val="1"/>
              </a:ext>
            </a:extLst>
          </p:cNvPr>
          <p:cNvSpPr/>
          <p:nvPr/>
        </p:nvSpPr>
        <p:spPr>
          <a:xfrm>
            <a:off x="1779102" y="3712464"/>
            <a:ext cx="107176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termd-volume">
            <a:extLst>
              <a:ext uri="{C183D7F6-B498-43B3-948B-1728B52AA6E4}">
                <adec:decorative xmlns:adec="http://schemas.microsoft.com/office/drawing/2017/decorative" val="1"/>
              </a:ext>
            </a:extLst>
          </p:cNvPr>
          <p:cNvSpPr/>
          <p:nvPr/>
        </p:nvSpPr>
        <p:spPr>
          <a:xfrm>
            <a:off x="1907118"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termt-volume"/>
          <p:cNvSpPr txBox="1"/>
          <p:nvPr/>
        </p:nvSpPr>
        <p:spPr>
          <a:xfrm>
            <a:off x="2071710" y="3835908"/>
            <a:ext cx="88888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volume</a:t>
            </a:r>
          </a:p>
        </p:txBody>
      </p:sp>
      <p:sp>
        <p:nvSpPr>
          <p:cNvPr id="70" name="!!termnote"/>
          <p:cNvSpPr txBox="1"/>
          <p:nvPr/>
        </p:nvSpPr>
        <p:spPr>
          <a:xfrm>
            <a:off x="658368" y="4535424"/>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7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pfill">
            <a:extLst>
              <a:ext uri="{C183D7F6-B498-43B3-948B-1728B52AA6E4}">
                <adec:decorative xmlns:adec="http://schemas.microsoft.com/office/drawing/2017/decorative" val="1"/>
              </a:ext>
            </a:extLst>
          </p:cNvPr>
          <p:cNvSpPr/>
          <p:nvPr/>
        </p:nvSpPr>
        <p:spPr>
          <a:xfrm>
            <a:off x="0" y="0"/>
            <a:ext cx="110833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9  ·  Docker and the Container Ecosystem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69–76     </a:t>
            </a:r>
            <a:fld id="{8AF9E5D9-65F5-4769-99F0-A1CEAE4B1F61}" type="slidenum">
              <a:rPr lang="en-GB" sz="1000">
                <a:solidFill>
                  <a:srgbClr val="8795A1"/>
                </a:solidFill>
                <a:latin typeface="Segoe UI"/>
              </a:rPr>
              <a:t>5</a:t>
            </a:fld>
          </a:p>
        </p:txBody>
      </p:sp>
      <p:sp>
        <p:nvSpPr>
          <p:cNvPr id="7" name="!!ag0" descr="Go to section 9.1 What Docker Actually Added">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9.1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What Docker Actually Added</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69  ›</a:t>
            </a:r>
          </a:p>
        </p:txBody>
      </p:sp>
      <p:sp>
        <p:nvSpPr>
          <p:cNvPr id="12" name="!!ag1" descr="Go to section 9.2 Images, Layers and Digests">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9.2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Images, Layers and Digests</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70  ›</a:t>
            </a:r>
          </a:p>
        </p:txBody>
      </p:sp>
      <p:sp>
        <p:nvSpPr>
          <p:cNvPr id="17" name="!!ag2" descr="Go to section 9.3 The OCI Stack">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9.3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OCI Stack</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70  ›</a:t>
            </a:r>
          </a:p>
        </p:txBody>
      </p:sp>
      <p:sp>
        <p:nvSpPr>
          <p:cNvPr id="22" name="!!ag3" descr="Go to section 9.4 The Build Cache, and the Mistake Everyone Makes">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9.4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Build Cache, and the Mistake Everyone Makes</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71  ›</a:t>
            </a:r>
          </a:p>
        </p:txBody>
      </p:sp>
      <p:sp>
        <p:nvSpPr>
          <p:cNvPr id="27" name="!!ag4" descr="Go to section 9.5 A Dockerfile That Holds Up">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9.5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A Dockerfile That Holds Up</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72  ›</a:t>
            </a:r>
          </a:p>
        </p:txBody>
      </p:sp>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138541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What Docker Actually Added</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1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9.1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9.1   What Docker Actually Added</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9.2   Images, Layers and Digests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9.3   The OCI Stack</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9.4   The Build Cache, and the Mistake Everyone Makes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9.5   A Dockerfile That Holds Up</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9</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§9.1     </a:t>
            </a:r>
            <a:fld id="{ECC1D313-2B91-4EE3-919C-43885F21C650}" type="slidenum">
              <a:rPr lang="en-GB" sz="1000">
                <a:solidFill>
                  <a:srgbClr val="8795A1"/>
                </a:solidFill>
                <a:latin typeface="Segoe UI"/>
              </a:rPr>
              <a:t>6</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166250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Docker Actually Added</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9  ·  Docker and the Container Ecosystem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§9.1  ·  Handout p. 69     </a:t>
            </a:r>
            <a:fld id="{394D02AA-31FC-47A9-8E22-D09854805A4D}" type="slidenum">
              <a:rPr lang="en-GB" sz="1000">
                <a:solidFill>
                  <a:srgbClr val="8795A1"/>
                </a:solidFill>
                <a:latin typeface="Segoe UI"/>
              </a:rPr>
              <a:t>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640937"/>
          </a:xfrm>
          <a:prstGeom prst="roundRect">
            <a:avLst>
              <a:gd name="adj" fmla="val 2511"/>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640937"/>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Docker’s 2013 release added almost nothing to the kernel. What it added was a </a:t>
            </a:r>
            <a:r>
              <a:rPr sz="2300" b="0" i="1">
                <a:solidFill>
                  <a:srgbClr val="1C252B"/>
                </a:solidFill>
                <a:latin typeface="Segoe UI"/>
              </a:rPr>
              <a:t>format</a:t>
            </a:r>
            <a:r>
              <a:rPr sz="2300" b="0" i="0">
                <a:solidFill>
                  <a:srgbClr val="1C252B"/>
                </a:solidFill>
                <a:latin typeface="Segoe UI"/>
              </a:rPr>
              <a:t> and a </a:t>
            </a:r>
            <a:r>
              <a:rPr sz="2300" b="0" i="1">
                <a:solidFill>
                  <a:srgbClr val="1C252B"/>
                </a:solidFill>
                <a:latin typeface="Segoe UI"/>
              </a:rPr>
              <a:t>workflow</a:t>
            </a:r>
            <a:r>
              <a:rPr sz="2300" b="0" i="0">
                <a:solidFill>
                  <a:srgbClr val="1C252B"/>
                </a:solidFill>
                <a:latin typeface="Segoe UI"/>
              </a:rPr>
              <a:t>:</a:t>
            </a:r>
          </a:p>
        </p:txBody>
      </p:sp>
      <p:sp>
        <p:nvSpPr>
          <p:cNvPr id="10" name="body-1"/>
          <p:cNvSpPr txBox="1"/>
          <p:nvPr/>
        </p:nvSpPr>
        <p:spPr>
          <a:xfrm>
            <a:off x="1060704" y="2937992"/>
            <a:ext cx="10161727" cy="2175128"/>
          </a:xfrm>
          <a:prstGeom prst="rect">
            <a:avLst/>
          </a:prstGeom>
          <a:noFill/>
        </p:spPr>
        <p:txBody>
          <a:bodyPr wrap="square" anchor="t" lIns="0" rIns="0" tIns="0" bIns="0">
            <a:noAutofit/>
          </a:bodyPr>
          <a:lstStyle/>
          <a:p>
            <a:pPr algn="l" marL="257176" indent="-257176">
              <a:lnSpc>
                <a:spcPct val="104000"/>
              </a:lnSpc>
              <a:spcBef>
                <a:spcPts val="0"/>
              </a:spcBef>
              <a:spcAft>
                <a:spcPts val="804"/>
              </a:spcAft>
            </a:pPr>
            <a:r>
              <a:rPr sz="2300" b="1">
                <a:solidFill>
                  <a:srgbClr val="1A5276"/>
                </a:solidFill>
                <a:latin typeface="Segoe UI"/>
              </a:rPr>
              <a:t>•	</a:t>
            </a:r>
            <a:r>
              <a:rPr sz="2300" b="0" i="0">
                <a:solidFill>
                  <a:srgbClr val="1C252B"/>
                </a:solidFill>
                <a:latin typeface="Segoe UI"/>
              </a:rPr>
              <a:t>a declarative build file producing a reproducible artefact;</a:t>
            </a:r>
          </a:p>
          <a:p>
            <a:pPr algn="l" marL="257176" indent="-257176">
              <a:lnSpc>
                <a:spcPct val="104000"/>
              </a:lnSpc>
              <a:spcBef>
                <a:spcPts val="0"/>
              </a:spcBef>
              <a:spcAft>
                <a:spcPts val="804"/>
              </a:spcAft>
            </a:pPr>
            <a:r>
              <a:rPr sz="2300" b="1">
                <a:solidFill>
                  <a:srgbClr val="1A5276"/>
                </a:solidFill>
                <a:latin typeface="Segoe UI"/>
              </a:rPr>
              <a:t>•	</a:t>
            </a:r>
            <a:r>
              <a:rPr sz="2300" b="0" i="0">
                <a:solidFill>
                  <a:srgbClr val="1C252B"/>
                </a:solidFill>
                <a:latin typeface="Segoe UI"/>
              </a:rPr>
              <a:t>an image format that is layered, so sharing and incremental transfer are free;</a:t>
            </a:r>
          </a:p>
          <a:p>
            <a:pPr algn="l" marL="257176" indent="-257176">
              <a:lnSpc>
                <a:spcPct val="104000"/>
              </a:lnSpc>
              <a:spcBef>
                <a:spcPts val="0"/>
              </a:spcBef>
              <a:spcAft>
                <a:spcPts val="804"/>
              </a:spcAft>
            </a:pPr>
            <a:r>
              <a:rPr sz="2300" b="1">
                <a:solidFill>
                  <a:srgbClr val="1A5276"/>
                </a:solidFill>
                <a:latin typeface="Segoe UI"/>
              </a:rPr>
              <a:t>•	</a:t>
            </a:r>
            <a:r>
              <a:rPr sz="2300" b="0" i="0">
                <a:solidFill>
                  <a:srgbClr val="1C252B"/>
                </a:solidFill>
                <a:latin typeface="Segoe UI"/>
              </a:rPr>
              <a:t>a registry protocol, so an image could be published and pulled by name;</a:t>
            </a:r>
          </a:p>
          <a:p>
            <a:pPr algn="l" marL="257176" indent="-257176">
              <a:lnSpc>
                <a:spcPct val="104000"/>
              </a:lnSpc>
              <a:spcBef>
                <a:spcPts val="0"/>
              </a:spcBef>
              <a:spcAft>
                <a:spcPts val="0"/>
              </a:spcAft>
            </a:pPr>
            <a:r>
              <a:rPr sz="2300" b="1">
                <a:solidFill>
                  <a:srgbClr val="1A5276"/>
                </a:solidFill>
                <a:latin typeface="Segoe UI"/>
              </a:rPr>
              <a:t>•	</a:t>
            </a:r>
            <a:r>
              <a:rPr sz="2300" b="0" i="0">
                <a:solidFill>
                  <a:srgbClr val="1C252B"/>
                </a:solidFill>
                <a:latin typeface="Segoe UI"/>
              </a:rPr>
              <a:t>one command to run any of it.</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93958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xEl>
                                              <p:pRg st="3" end="3"/>
                                            </p:txEl>
                                          </p:spTgt>
                                        </p:tgtEl>
                                        <p:attrNameLst>
                                          <p:attrName>style.visibility</p:attrName>
                                        </p:attrNameLst>
                                      </p:cBhvr>
                                      <p:to>
                                        <p:strVal val="visible"/>
                                      </p:to>
                                    </p:set>
                                    <p:animEffect transition="in" filter="fade">
                                      <p:cBhvr>
                                        <p:cTn id="23" dur="38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Problem It Solved Was Not Isolation</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9  ·  Docker and the Container Ecosystem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§9.1  ·  Handout p. 69     </a:t>
            </a:r>
            <a:fld id="{D53D9A03-4A98-4DBD-B728-D0BF74CF025E}"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43578"/>
          </a:xfrm>
          <a:prstGeom prst="roundRect">
            <a:avLst>
              <a:gd name="adj" fmla="val 2154"/>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4357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1140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LXC already isolated things perfectly well. What it did not do was let a developer hand an operator something that would behave identically on both machines.</a:t>
            </a:r>
          </a:p>
        </p:txBody>
      </p:sp>
      <p:sp>
        <p:nvSpPr>
          <p:cNvPr id="10" name="body-1"/>
          <p:cNvSpPr txBox="1"/>
          <p:nvPr/>
        </p:nvSpPr>
        <p:spPr>
          <a:xfrm>
            <a:off x="1060704" y="2860624"/>
            <a:ext cx="10161727" cy="1709928"/>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The before-and-after is the whole story. Before: a wiki page saying “install Python 3.9, these fourteen packages, this version of libxml2, set these three environment variables” — a procedure that worked on the author’s laptop and drifted everywhere else. After: a file that </a:t>
            </a:r>
            <a:r>
              <a:rPr sz="2100" b="0" i="1">
                <a:solidFill>
                  <a:srgbClr val="1C252B"/>
                </a:solidFill>
                <a:latin typeface="Segoe UI"/>
              </a:rPr>
              <a:t>is</a:t>
            </a:r>
            <a:r>
              <a:rPr sz="2100" b="0" i="0">
                <a:solidFill>
                  <a:srgbClr val="1C252B"/>
                </a:solidFill>
                <a:latin typeface="Segoe UI"/>
              </a:rPr>
              <a:t> the procedure, executed in a defined base, producing an artefact identified by a hash that either matches or does not.</a:t>
            </a:r>
          </a:p>
        </p:txBody>
      </p:sp>
      <p:sp>
        <p:nvSpPr>
          <p:cNvPr id="11" name="body-2"/>
          <p:cNvSpPr txBox="1"/>
          <p:nvPr/>
        </p:nvSpPr>
        <p:spPr>
          <a:xfrm>
            <a:off x="1060704" y="4671517"/>
            <a:ext cx="10161727" cy="1044244"/>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This is </a:t>
            </a:r>
            <a:r>
              <a:rPr sz="2100" b="1" i="0">
                <a:solidFill>
                  <a:srgbClr val="1A5276"/>
                </a:solidFill>
                <a:latin typeface="Segoe UI"/>
              </a:rPr>
              <a:t>encapsulation</a:t>
            </a:r>
            <a:r>
              <a:rPr sz="2100" b="0" i="0">
                <a:solidFill>
                  <a:srgbClr val="1C252B"/>
                </a:solidFill>
                <a:latin typeface="Segoe UI"/>
              </a:rPr>
              <a:t> — the third motive of Chapter 1 — applied to an application rather than a machine, and it is why the format won against better-engineered rivals. The density of Chapter 8 was discovered to be a bonus afterwards.</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21667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Content Addressing, Digest and Tag</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9  ·  Docker and the Container Ecosystem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§9.2  ·  Handout p. 70     </a:t>
            </a:r>
            <a:fld id="{7288B761-71F9-4394-8E00-17953449FC87}" type="slidenum">
              <a:rPr lang="en-GB" sz="1000">
                <a:solidFill>
                  <a:srgbClr val="8795A1"/>
                </a:solidFill>
                <a:latin typeface="Segoe UI"/>
              </a:rPr>
              <a:t>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067556"/>
          </a:xfrm>
          <a:prstGeom prst="roundRect">
            <a:avLst>
              <a:gd name="adj" fmla="val 2248"/>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067556"/>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Every layer, configuration and manifest is identified by a </a:t>
            </a:r>
            <a:r>
              <a:rPr sz="1900" b="1" i="0">
                <a:solidFill>
                  <a:srgbClr val="1A5276"/>
                </a:solidFill>
                <a:latin typeface="Segoe UI"/>
              </a:rPr>
              <a:t>digest</a:t>
            </a:r>
            <a:r>
              <a:rPr sz="1900" b="0" i="0">
                <a:solidFill>
                  <a:srgbClr val="1C252B"/>
                </a:solidFill>
                <a:latin typeface="Segoe UI"/>
              </a:rPr>
              <a:t>: the SHA-256 of the bytes themselves. Content addressing has three consequences the whole ecosystem rests on:</a:t>
            </a:r>
          </a:p>
        </p:txBody>
      </p:sp>
      <p:sp>
        <p:nvSpPr>
          <p:cNvPr id="10" name="body-1"/>
          <p:cNvSpPr txBox="1"/>
          <p:nvPr/>
        </p:nvSpPr>
        <p:spPr>
          <a:xfrm>
            <a:off x="1060704" y="2783255"/>
            <a:ext cx="10161727" cy="1419199"/>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8A4500"/>
                </a:solidFill>
                <a:latin typeface="Segoe UI"/>
              </a:rPr>
              <a:t>•	</a:t>
            </a:r>
            <a:r>
              <a:rPr sz="1900" b="1" i="0">
                <a:solidFill>
                  <a:srgbClr val="8A4500"/>
                </a:solidFill>
                <a:latin typeface="Segoe UI"/>
              </a:rPr>
              <a:t>Deduplication is automatic.</a:t>
            </a:r>
            <a:r>
              <a:rPr sz="1900" b="0" i="0">
                <a:solidFill>
                  <a:srgbClr val="1C252B"/>
                </a:solidFill>
                <a:latin typeface="Segoe UI"/>
              </a:rPr>
              <a:t> Two images sharing a base share its layer digest, so it is stored and transferred once.</a:t>
            </a:r>
          </a:p>
          <a:p>
            <a:pPr algn="l" marL="212450" indent="-212450">
              <a:lnSpc>
                <a:spcPct val="104000"/>
              </a:lnSpc>
              <a:spcBef>
                <a:spcPts val="0"/>
              </a:spcBef>
              <a:spcAft>
                <a:spcPts val="665"/>
              </a:spcAft>
            </a:pPr>
            <a:r>
              <a:rPr sz="1900" b="1">
                <a:solidFill>
                  <a:srgbClr val="8A4500"/>
                </a:solidFill>
                <a:latin typeface="Segoe UI"/>
              </a:rPr>
              <a:t>•	</a:t>
            </a:r>
            <a:r>
              <a:rPr sz="1900" b="1" i="0">
                <a:solidFill>
                  <a:srgbClr val="8A4500"/>
                </a:solidFill>
                <a:latin typeface="Segoe UI"/>
              </a:rPr>
              <a:t>Integrity is free.</a:t>
            </a:r>
            <a:r>
              <a:rPr sz="1900" b="0" i="0">
                <a:solidFill>
                  <a:srgbClr val="1C252B"/>
                </a:solidFill>
                <a:latin typeface="Segoe UI"/>
              </a:rPr>
              <a:t> If the bytes are intact the digest matches; if anything changed, it does not.</a:t>
            </a:r>
          </a:p>
          <a:p>
            <a:pPr algn="l" marL="212450" indent="-212450">
              <a:lnSpc>
                <a:spcPct val="104000"/>
              </a:lnSpc>
              <a:spcBef>
                <a:spcPts val="0"/>
              </a:spcBef>
              <a:spcAft>
                <a:spcPts val="0"/>
              </a:spcAft>
            </a:pPr>
            <a:r>
              <a:rPr sz="1900" b="1">
                <a:solidFill>
                  <a:srgbClr val="8A4500"/>
                </a:solidFill>
                <a:latin typeface="Segoe UI"/>
              </a:rPr>
              <a:t>•	</a:t>
            </a:r>
            <a:r>
              <a:rPr sz="1900" b="1" i="0">
                <a:solidFill>
                  <a:srgbClr val="8A4500"/>
                </a:solidFill>
                <a:latin typeface="Segoe UI"/>
              </a:rPr>
              <a:t>Identity is exact.</a:t>
            </a:r>
            <a:r>
              <a:rPr sz="1900" b="0" i="0">
                <a:solidFill>
                  <a:srgbClr val="1C252B"/>
                </a:solidFill>
                <a:latin typeface="Segoe UI"/>
              </a:rPr>
              <a:t> </a:t>
            </a:r>
            <a:r>
              <a:rPr sz="1800" b="0" i="0">
                <a:solidFill>
                  <a:srgbClr val="1F4E79"/>
                </a:solidFill>
                <a:latin typeface="Consolas"/>
              </a:rPr>
              <a:t>ubuntu@sha256:9b8c…</a:t>
            </a:r>
            <a:r>
              <a:rPr sz="1900" b="0" i="0">
                <a:solidFill>
                  <a:srgbClr val="1C252B"/>
                </a:solidFill>
                <a:latin typeface="Segoe UI"/>
              </a:rPr>
              <a:t> is one specific image, for ever.</a:t>
            </a:r>
          </a:p>
        </p:txBody>
      </p:sp>
      <p:sp>
        <p:nvSpPr>
          <p:cNvPr id="11" name="body-2"/>
          <p:cNvSpPr txBox="1"/>
          <p:nvPr/>
        </p:nvSpPr>
        <p:spPr>
          <a:xfrm>
            <a:off x="1060704" y="4289450"/>
            <a:ext cx="10161727"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a:t>
            </a:r>
            <a:r>
              <a:rPr sz="1900" b="1" i="0">
                <a:solidFill>
                  <a:srgbClr val="1A5276"/>
                </a:solidFill>
                <a:latin typeface="Segoe UI"/>
              </a:rPr>
              <a:t>tag</a:t>
            </a:r>
            <a:r>
              <a:rPr sz="1900" b="0" i="0">
                <a:solidFill>
                  <a:srgbClr val="1C252B"/>
                </a:solidFill>
                <a:latin typeface="Segoe UI"/>
              </a:rPr>
              <a:t> — </a:t>
            </a:r>
            <a:r>
              <a:rPr sz="1800" b="0" i="0">
                <a:solidFill>
                  <a:srgbClr val="1F4E79"/>
                </a:solidFill>
                <a:latin typeface="Consolas"/>
              </a:rPr>
              <a:t>ubuntu:22.04</a:t>
            </a:r>
            <a:r>
              <a:rPr sz="1900" b="0" i="0">
                <a:solidFill>
                  <a:srgbClr val="1C252B"/>
                </a:solidFill>
                <a:latin typeface="Segoe UI"/>
              </a:rPr>
              <a:t> — is not identity. It is a mutable pointer that the publisher may move whenever they like, and routinely does. Two builds a week apart from the same tag may use different bytes, which is precisely the reproducibility problem Docker was invented to solve, reappearing one level up. Pin digests where reproducibility matters.</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249375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OCI Stack</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3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9.3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9.1   What Docker Actually Added</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9.2   Images, Layers and Digests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9.3   The OCI Stack</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9.4   The Build Cache, and the Mistake Everyone Makes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9.5   A Dockerfile That Holds Up</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9</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§9.3     </a:t>
            </a:r>
            <a:fld id="{D884B04C-8138-465B-A26C-EB842A741BA5}" type="slidenum">
              <a:rPr lang="en-GB" sz="1000">
                <a:solidFill>
                  <a:srgbClr val="8795A1"/>
                </a:solidFill>
                <a:latin typeface="Segoe UI"/>
              </a:rPr>
              <a:t>10</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277083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runtime stack</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B7A43"/>
                </a:solidFill>
                <a:latin typeface="Segoe UI"/>
              </a:rPr>
              <a:t>FIGURE 9.1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9  ·  Docker and the Container Ecosystem</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§9.3  ·  Handout p. 70     </a:t>
            </a:r>
            <a:fld id="{5D703348-5005-43C2-B0B8-06C52C2013EA}" type="slidenum">
              <a:rPr lang="en-GB" sz="1000">
                <a:solidFill>
                  <a:srgbClr val="8795A1"/>
                </a:solidFill>
                <a:latin typeface="Segoe UI"/>
              </a:rPr>
              <a:t>11</a:t>
            </a:fld>
          </a:p>
        </p:txBody>
      </p:sp>
      <p:pic>
        <p:nvPicPr>
          <p:cNvPr id="6" name="!!figure" descr="Figure 9.1. The runtime stack. Each layer was split out of the one above it as the ecosystem matured; the bottom two rows are the only ones that are not replaceabl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730138" y="1737360"/>
            <a:ext cx="4731418"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Each layer was split out of the one above it as the ecosystem matured; the bottom two rows are the only ones that are not replaceable.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04792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“Kubernetes deprecated Docker” was widely misread</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9  ·  Docker and the Container Ecosystem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§9.3  ·  Handout p. 70     </a:t>
            </a:r>
            <a:fld id="{B0F9F671-241B-4D2B-AE8E-1BC0B60F622E}"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23969"/>
          </a:xfrm>
          <a:prstGeom prst="roundRect">
            <a:avLst>
              <a:gd name="adj" fmla="val 2164"/>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23969"/>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In 2022 Kubernetes removed </a:t>
            </a:r>
            <a:r>
              <a:rPr sz="2150" b="0" i="0">
                <a:solidFill>
                  <a:srgbClr val="1F4E79"/>
                </a:solidFill>
                <a:latin typeface="Consolas"/>
              </a:rPr>
              <a:t>dockershim</a:t>
            </a:r>
            <a:r>
              <a:rPr sz="2300" b="0" i="0">
                <a:solidFill>
                  <a:srgbClr val="1C252B"/>
                </a:solidFill>
                <a:latin typeface="Segoe UI"/>
              </a:rPr>
              <a:t>, the adapter that let the kubelet drive </a:t>
            </a:r>
            <a:r>
              <a:rPr sz="2150" b="0" i="0">
                <a:solidFill>
                  <a:srgbClr val="1F4E79"/>
                </a:solidFill>
                <a:latin typeface="Consolas"/>
              </a:rPr>
              <a:t>dockerd</a:t>
            </a:r>
            <a:r>
              <a:rPr sz="2300" b="0" i="0">
                <a:solidFill>
                  <a:srgbClr val="1C252B"/>
                </a:solidFill>
                <a:latin typeface="Segoe UI"/>
              </a:rPr>
              <a:t>. Headlines announced that Docker was dead, and a great many teams rebuilt images they did not need to rebuild.</a:t>
            </a:r>
          </a:p>
        </p:txBody>
      </p:sp>
      <p:sp>
        <p:nvSpPr>
          <p:cNvPr id="10" name="body-1"/>
          <p:cNvSpPr txBox="1"/>
          <p:nvPr/>
        </p:nvSpPr>
        <p:spPr>
          <a:xfrm>
            <a:off x="1060704" y="3302533"/>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What was removed was one </a:t>
            </a:r>
            <a:r>
              <a:rPr sz="2300" b="0" i="1">
                <a:solidFill>
                  <a:srgbClr val="1C252B"/>
                </a:solidFill>
                <a:latin typeface="Segoe UI"/>
              </a:rPr>
              <a:t>adapter</a:t>
            </a:r>
            <a:r>
              <a:rPr sz="2300" b="0" i="0">
                <a:solidFill>
                  <a:srgbClr val="1C252B"/>
                </a:solidFill>
                <a:latin typeface="Segoe UI"/>
              </a:rPr>
              <a:t>. Kubernetes now talks to containerd directly — which is what </a:t>
            </a:r>
            <a:r>
              <a:rPr sz="2150" b="0" i="0">
                <a:solidFill>
                  <a:srgbClr val="1F4E79"/>
                </a:solidFill>
                <a:latin typeface="Consolas"/>
              </a:rPr>
              <a:t>dockerd</a:t>
            </a:r>
            <a:r>
              <a:rPr sz="2300" b="0" i="0">
                <a:solidFill>
                  <a:srgbClr val="1C252B"/>
                </a:solidFill>
                <a:latin typeface="Segoe UI"/>
              </a:rPr>
              <a:t> was talking to anyway, so a layer was deleted rather than a capability. Images built with Docker are OCI images and run unchanged, because that is what standardising the format was for.</a:t>
            </a:r>
          </a:p>
        </p:txBody>
      </p:sp>
      <p:sp>
        <p:nvSpPr>
          <p:cNvPr id="11" name="body-2"/>
          <p:cNvSpPr txBox="1"/>
          <p:nvPr/>
        </p:nvSpPr>
        <p:spPr>
          <a:xfrm>
            <a:off x="1060704" y="4921351"/>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Worth remembering as a general lesson: in this ecosystem the </a:t>
            </a:r>
            <a:r>
              <a:rPr sz="2300" b="0" i="1">
                <a:solidFill>
                  <a:srgbClr val="1C252B"/>
                </a:solidFill>
                <a:latin typeface="Segoe UI"/>
              </a:rPr>
              <a:t>format</a:t>
            </a:r>
            <a:r>
              <a:rPr sz="2300" b="0" i="0">
                <a:solidFill>
                  <a:srgbClr val="1C252B"/>
                </a:solidFill>
                <a:latin typeface="Segoe UI"/>
              </a:rPr>
              <a:t> is the durable thing and the tooling is not.</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32500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Build Cache, and the Mistake Everyone Makes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4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9.4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9.1   What Docker Actually Added</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9.2   Images, Layers and Digests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9.3   The OCI Stack</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9.4   The Build Cache, and the Mistake Everyone Makes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9.5   A Dockerfile That Holds Up</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9</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§9.4     </a:t>
            </a:r>
            <a:fld id="{347C9411-C1F2-4A6C-8C9F-2E7BB08767CD}" type="slidenum">
              <a:rPr lang="en-GB" sz="1000">
                <a:solidFill>
                  <a:srgbClr val="8795A1"/>
                </a:solidFill>
                <a:latin typeface="Segoe UI"/>
              </a:rPr>
              <a:t>13</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360209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same four instructions in two orders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B7A43"/>
                </a:solidFill>
                <a:latin typeface="Segoe UI"/>
              </a:rPr>
              <a:t>FIGURE 9.2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9  ·  Docker and the Container Ecosystem</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§9.4  ·  Handout p. 71     </a:t>
            </a:r>
            <a:fld id="{F34C03A0-35E4-4A70-9BA3-C5D1364DA6EC}" type="slidenum">
              <a:rPr lang="en-GB" sz="1000">
                <a:solidFill>
                  <a:srgbClr val="8795A1"/>
                </a:solidFill>
                <a:latin typeface="Segoe UI"/>
              </a:rPr>
              <a:t>14</a:t>
            </a:fld>
          </a:p>
        </p:txBody>
      </p:sp>
      <p:pic>
        <p:nvPicPr>
          <p:cNvPr id="6" name="!!figure" descr="Figure 9.2. The same four instructions in two orders. Nothing else differs, and the rebuild costs differ by a factor of 300."/>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845146"/>
            <a:ext cx="10874959" cy="3394026"/>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Nothing else differs, and the rebuild costs differ by a factor of 300.</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87917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Wrong Order Costs a Team</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9  ·  Docker and the Container Ecosystem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§9.4  ·  Handout p. 71     </a:t>
            </a:r>
            <a:fld id="{09ED5C54-FA13-4500-9B68-087C2318D3FB}"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25346"/>
          </a:xfrm>
          <a:prstGeom prst="roundRect">
            <a:avLst>
              <a:gd name="adj" fmla="val 2216"/>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2534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team of six rebuilds this image about 30 times a day between them. Measure the cost of the left-hand order against the right-hand one.</a:t>
            </a:r>
          </a:p>
        </p:txBody>
      </p:sp>
      <p:sp>
        <p:nvSpPr>
          <p:cNvPr id="10" name="body-1"/>
          <p:cNvSpPr txBox="1"/>
          <p:nvPr/>
        </p:nvSpPr>
        <p:spPr>
          <a:xfrm>
            <a:off x="1042416" y="2746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1 — per-build time.</a:t>
            </a:r>
            <a:r>
              <a:rPr sz="1900" b="0" i="0">
                <a:solidFill>
                  <a:srgbClr val="1C252B"/>
                </a:solidFill>
                <a:latin typeface="Segoe UI"/>
              </a:rPr>
              <a:t> From the figure:</a:t>
            </a:r>
          </a:p>
        </p:txBody>
      </p:sp>
      <p:pic>
        <p:nvPicPr>
          <p:cNvPr id="11" name="body-2" descr="\text{wrong} = 0.2 + 94 + 0.1 = 94.3 \text{ s} \qquad \text{right} = 0.3 \text{ 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3180537"/>
            <a:ext cx="10234879" cy="324520"/>
          </a:xfrm>
          <a:prstGeom prst="rect">
            <a:avLst/>
          </a:prstGeom>
        </p:spPr>
      </p:pic>
      <p:sp>
        <p:nvSpPr>
          <p:cNvPr id="12" name="body-3"/>
          <p:cNvSpPr txBox="1"/>
          <p:nvPr/>
        </p:nvSpPr>
        <p:spPr>
          <a:xfrm>
            <a:off x="1042416" y="3637772"/>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2 — per day.</a:t>
            </a:r>
          </a:p>
        </p:txBody>
      </p:sp>
      <p:sp>
        <p:nvSpPr>
          <p:cNvPr id="13" name="body-3bar">
            <a:extLst>
              <a:ext uri="{C183D7F6-B498-43B3-948B-1728B52AA6E4}">
                <adec:decorative xmlns:adec="http://schemas.microsoft.com/office/drawing/2017/decorative" val="1"/>
              </a:ext>
            </a:extLst>
          </p:cNvPr>
          <p:cNvSpPr/>
          <p:nvPr/>
        </p:nvSpPr>
        <p:spPr>
          <a:xfrm>
            <a:off x="841248" y="3656060"/>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4" name="body-4" descr="30 \times 94.3 = 2{,}829 \text{ s} = \mathbf{47 \text{ minutes}} \qquad 30 \times 0.3 = 9 \text{ 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416" y="4071630"/>
            <a:ext cx="10234879" cy="324520"/>
          </a:xfrm>
          <a:prstGeom prst="rect">
            <a:avLst/>
          </a:prstGeom>
        </p:spPr>
      </p:pic>
      <p:sp>
        <p:nvSpPr>
          <p:cNvPr id="15" name="body-5"/>
          <p:cNvSpPr txBox="1"/>
          <p:nvPr/>
        </p:nvSpPr>
        <p:spPr>
          <a:xfrm>
            <a:off x="1042416" y="4528865"/>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3 — the bytes pushed.</a:t>
            </a:r>
            <a:r>
              <a:rPr sz="1900" b="0" i="0">
                <a:solidFill>
                  <a:srgbClr val="1C252B"/>
                </a:solidFill>
                <a:latin typeface="Segoe UI"/>
              </a:rPr>
              <a:t> A rebuilt layer must be uploaded; a cached one need not. The dependency layer is 180 MB and the application layer is 2 MB:</a:t>
            </a:r>
          </a:p>
        </p:txBody>
      </p:sp>
      <p:sp>
        <p:nvSpPr>
          <p:cNvPr id="16" name="body-5bar">
            <a:extLst>
              <a:ext uri="{C183D7F6-B498-43B3-948B-1728B52AA6E4}">
                <adec:decorative xmlns:adec="http://schemas.microsoft.com/office/drawing/2017/decorative" val="1"/>
              </a:ext>
            </a:extLst>
          </p:cNvPr>
          <p:cNvSpPr/>
          <p:nvPr/>
        </p:nvSpPr>
        <p:spPr>
          <a:xfrm>
            <a:off x="841248" y="4547153"/>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7" name="body-6" descr="\text{wrong} = 30 \times 182 = 5{,}460 \text{ MB} = \mathbf{5.3 \text{ GB a day}}"/>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42416" y="5263865"/>
            <a:ext cx="10234879" cy="324520"/>
          </a:xfrm>
          <a:prstGeom prst="rect">
            <a:avLst/>
          </a:prstGeom>
        </p:spPr>
      </p:pic>
      <p:sp>
        <p:nvSpPr>
          <p:cNvPr id="4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pfill">
            <a:extLst>
              <a:ext uri="{C183D7F6-B498-43B3-948B-1728B52AA6E4}">
                <adec:decorative xmlns:adec="http://schemas.microsoft.com/office/drawing/2017/decorative" val="1"/>
              </a:ext>
            </a:extLst>
          </p:cNvPr>
          <p:cNvSpPr/>
          <p:nvPr/>
        </p:nvSpPr>
        <p:spPr>
          <a:xfrm>
            <a:off x="0" y="0"/>
            <a:ext cx="415625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right)">
                                      <p:cBhvr>
                                        <p:cTn id="18" dur="420"/>
                                        <p:tgtEl>
                                          <p:spTgt spid="1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2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wipe(right)">
                                      <p:cBhvr>
                                        <p:cTn id="26" dur="42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wipe(right)">
                                      <p:cBhvr>
                                        <p:cTn id="31" dur="420"/>
                                        <p:tgtEl>
                                          <p:spTgt spid="1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20"/>
                                        <p:tgtEl>
                                          <p:spTgt spid="15"/>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wipe(right)">
                                      <p:cBhvr>
                                        <p:cTn id="39" dur="42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Wrong Order Costs a Team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9  ·  Docker and the Container Ecosystem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§9.4  ·  Handout p. 71     </a:t>
            </a:r>
            <a:fld id="{2452C124-7681-431F-9995-13266D7288A8}"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38822"/>
          </a:xfrm>
          <a:prstGeom prst="roundRect">
            <a:avLst>
              <a:gd name="adj" fmla="val 2060"/>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38822"/>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9" name="body-0" descr="\text{right} = 30 \times 2 = 60 \text{ MB a day}"/>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2011679"/>
            <a:ext cx="10234879" cy="324520"/>
          </a:xfrm>
          <a:prstGeom prst="rect">
            <a:avLst/>
          </a:prstGeom>
        </p:spPr>
      </p:pic>
      <p:sp>
        <p:nvSpPr>
          <p:cNvPr id="10" name="body-1"/>
          <p:cNvSpPr txBox="1"/>
          <p:nvPr/>
        </p:nvSpPr>
        <p:spPr>
          <a:xfrm>
            <a:off x="1042416" y="2468915"/>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4 — and the pulls.</a:t>
            </a:r>
            <a:r>
              <a:rPr sz="1900" b="0" i="0">
                <a:solidFill>
                  <a:srgbClr val="1C252B"/>
                </a:solidFill>
                <a:latin typeface="Segoe UI"/>
              </a:rPr>
              <a:t> Every deployment target pulls what changed. With 12 nodes and 30 deployments:</a:t>
            </a:r>
          </a:p>
        </p:txBody>
      </p:sp>
      <p:sp>
        <p:nvSpPr>
          <p:cNvPr id="11" name="body-1bar">
            <a:extLst>
              <a:ext uri="{C183D7F6-B498-43B3-948B-1728B52AA6E4}">
                <adec:decorative xmlns:adec="http://schemas.microsoft.com/office/drawing/2017/decorative" val="1"/>
              </a:ext>
            </a:extLst>
          </p:cNvPr>
          <p:cNvSpPr/>
          <p:nvPr/>
        </p:nvSpPr>
        <p:spPr>
          <a:xfrm>
            <a:off x="841248" y="2487203"/>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2" name="body-2" descr="\text{wrong} = 12 \times 30 \times 182 \text{ MB} = \mathbf{65 \text{ GB a day}} \qquad \text{right} = 12 \times 30 \times 2 = 0.7 \text{ GB}"/>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416" y="3203915"/>
            <a:ext cx="10234879" cy="324520"/>
          </a:xfrm>
          <a:prstGeom prst="rect">
            <a:avLst/>
          </a:prstGeom>
        </p:spPr>
      </p:pic>
      <p:sp>
        <p:nvSpPr>
          <p:cNvPr id="13" name="body-3"/>
          <p:cNvSpPr txBox="1"/>
          <p:nvPr/>
        </p:nvSpPr>
        <p:spPr>
          <a:xfrm>
            <a:off x="1042416" y="3661150"/>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5 — read the result.</a:t>
            </a:r>
            <a:r>
              <a:rPr sz="1900" b="0" i="0">
                <a:solidFill>
                  <a:srgbClr val="1C252B"/>
                </a:solidFill>
                <a:latin typeface="Segoe UI"/>
              </a:rPr>
              <a:t> Reordering two lines saves 47 minutes of engineer waiting, 5.3 GB of upload and 64 GB of download, every day. Over a working year that is roughly 190 hours and 17 TB.</a:t>
            </a:r>
          </a:p>
        </p:txBody>
      </p:sp>
      <p:sp>
        <p:nvSpPr>
          <p:cNvPr id="14" name="body-3bar">
            <a:extLst>
              <a:ext uri="{C183D7F6-B498-43B3-948B-1728B52AA6E4}">
                <adec:decorative xmlns:adec="http://schemas.microsoft.com/office/drawing/2017/decorative" val="1"/>
              </a:ext>
            </a:extLst>
          </p:cNvPr>
          <p:cNvSpPr/>
          <p:nvPr/>
        </p:nvSpPr>
        <p:spPr>
          <a:xfrm>
            <a:off x="841248" y="3679438"/>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body-4"/>
          <p:cNvSpPr txBox="1"/>
          <p:nvPr/>
        </p:nvSpPr>
        <p:spPr>
          <a:xfrm>
            <a:off x="1042416" y="4697293"/>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What the arithmetic does not capture.</a:t>
            </a:r>
            <a:r>
              <a:rPr sz="1900" b="0" i="0">
                <a:solidFill>
                  <a:srgbClr val="1C252B"/>
                </a:solidFill>
                <a:latin typeface="Segoe UI"/>
              </a:rPr>
              <a:t> The 47 minutes are not spread evenly: they are 94 seconds at a time, which is exactly long enough to lose concentration and not long enough to do anything else. That cost is larger than the number, and it is the real argument for getting the order right.</a:t>
            </a:r>
          </a:p>
        </p:txBody>
      </p:sp>
      <p:sp>
        <p:nvSpPr>
          <p:cNvPr id="16" name="body-4bar">
            <a:extLst>
              <a:ext uri="{C183D7F6-B498-43B3-948B-1728B52AA6E4}">
                <adec:decorative xmlns:adec="http://schemas.microsoft.com/office/drawing/2017/decorative" val="1"/>
              </a:ext>
            </a:extLst>
          </p:cNvPr>
          <p:cNvSpPr/>
          <p:nvPr/>
        </p:nvSpPr>
        <p:spPr>
          <a:xfrm>
            <a:off x="841248" y="4715581"/>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pfill">
            <a:extLst>
              <a:ext uri="{C183D7F6-B498-43B3-948B-1728B52AA6E4}">
                <adec:decorative xmlns:adec="http://schemas.microsoft.com/office/drawing/2017/decorative" val="1"/>
              </a:ext>
            </a:extLst>
          </p:cNvPr>
          <p:cNvSpPr/>
          <p:nvPr/>
        </p:nvSpPr>
        <p:spPr>
          <a:xfrm>
            <a:off x="0" y="0"/>
            <a:ext cx="443334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2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right)">
                                      <p:cBhvr>
                                        <p:cTn id="21" dur="42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wipe(right)">
                                      <p:cBhvr>
                                        <p:cTn id="26" dur="420"/>
                                        <p:tgtEl>
                                          <p:spTgt spid="1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2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wipe(right)">
                                      <p:cBhvr>
                                        <p:cTn id="34" dur="420"/>
                                        <p:tgtEl>
                                          <p:spTgt spid="1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42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A Dockerfile That Holds Up</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5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9.5</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9.1   What Docker Actually Added</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9.2   Images, Layers and Digests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9.3   The OCI Stack</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9.4   The Build Cache, and the Mistake Everyone Makes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9.5   A Dockerfile That Holds Up</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9</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§9.5     </a:t>
            </a:r>
            <a:fld id="{D3FD0081-6C21-4719-93DF-6204E4FC61AE}" type="slidenum">
              <a:rPr lang="en-GB" sz="1000">
                <a:solidFill>
                  <a:srgbClr val="8795A1"/>
                </a:solidFill>
                <a:latin typeface="Segoe UI"/>
              </a:rPr>
              <a:t>17</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471042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Multi-Stage: Build Tools Are Not Runtime Dependencies</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9  ·  Docker and the Container Ecosystem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72     </a:t>
            </a:r>
            <a:fld id="{B271FF99-5D49-42DF-B9BC-88290F6091C1}"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16958"/>
          </a:xfrm>
          <a:prstGeom prst="roundRect">
            <a:avLst>
              <a:gd name="adj" fmla="val 2070"/>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1695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compiler, a package manager and a full toolchain are needed to </a:t>
            </a:r>
            <a:r>
              <a:rPr sz="1900" b="0" i="1">
                <a:solidFill>
                  <a:srgbClr val="1C252B"/>
                </a:solidFill>
                <a:latin typeface="Segoe UI"/>
              </a:rPr>
              <a:t>build</a:t>
            </a:r>
            <a:r>
              <a:rPr sz="1900" b="0" i="0">
                <a:solidFill>
                  <a:srgbClr val="1C252B"/>
                </a:solidFill>
                <a:latin typeface="Segoe UI"/>
              </a:rPr>
              <a:t> and are liabilities at </a:t>
            </a:r>
            <a:r>
              <a:rPr sz="1900" b="0" i="1">
                <a:solidFill>
                  <a:srgbClr val="1C252B"/>
                </a:solidFill>
                <a:latin typeface="Segoe UI"/>
              </a:rPr>
              <a:t>run time</a:t>
            </a:r>
            <a:r>
              <a:rPr sz="1900" b="0" i="0">
                <a:solidFill>
                  <a:srgbClr val="1C252B"/>
                </a:solidFill>
                <a:latin typeface="Segoe UI"/>
              </a:rPr>
              <a:t>: they are weight, and they are attack surface for anyone who gets a shell.</a:t>
            </a:r>
          </a:p>
        </p:txBody>
      </p:sp>
      <p:sp>
        <p:nvSpPr>
          <p:cNvPr id="10" name="body-1"/>
          <p:cNvSpPr txBox="1"/>
          <p:nvPr/>
        </p:nvSpPr>
        <p:spPr>
          <a:xfrm>
            <a:off x="1060704" y="2783255"/>
            <a:ext cx="10161727"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a:t>
            </a:r>
            <a:r>
              <a:rPr sz="1900" b="1" i="0">
                <a:solidFill>
                  <a:srgbClr val="1A5276"/>
                </a:solidFill>
                <a:latin typeface="Segoe UI"/>
              </a:rPr>
              <a:t>multi-stage build</a:t>
            </a:r>
            <a:r>
              <a:rPr sz="1900" b="0" i="0">
                <a:solidFill>
                  <a:srgbClr val="1C252B"/>
                </a:solidFill>
                <a:latin typeface="Segoe UI"/>
              </a:rPr>
              <a:t> uses one stage with the toolchain and a second containing only the artefact:</a:t>
            </a:r>
          </a:p>
        </p:txBody>
      </p:sp>
      <p:sp>
        <p:nvSpPr>
          <p:cNvPr id="11" name="body-2"/>
          <p:cNvSpPr txBox="1"/>
          <p:nvPr/>
        </p:nvSpPr>
        <p:spPr>
          <a:xfrm>
            <a:off x="1060704" y="3518255"/>
            <a:ext cx="10161727" cy="1334744"/>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1F618D"/>
                </a:solidFill>
                <a:latin typeface="Segoe UI"/>
              </a:rPr>
              <a:t>•	</a:t>
            </a:r>
            <a:r>
              <a:rPr sz="1900" b="0" i="0">
                <a:solidFill>
                  <a:srgbClr val="1C252B"/>
                </a:solidFill>
                <a:latin typeface="Segoe UI"/>
              </a:rPr>
              <a:t>A Go service: builder stage with the Go toolchain, about 900 MB; final stage </a:t>
            </a:r>
            <a:r>
              <a:rPr sz="1800" b="0" i="0">
                <a:solidFill>
                  <a:srgbClr val="1F4E79"/>
                </a:solidFill>
                <a:latin typeface="Consolas"/>
              </a:rPr>
              <a:t>FROM scratch</a:t>
            </a:r>
            <a:r>
              <a:rPr sz="1900" b="0" i="0">
                <a:solidFill>
                  <a:srgbClr val="1C252B"/>
                </a:solidFill>
                <a:latin typeface="Segoe UI"/>
              </a:rPr>
              <a:t> with one static binary, about 15 MB. A </a:t>
            </a:r>
            <a:r>
              <a:rPr sz="1900" b="1" i="0">
                <a:solidFill>
                  <a:srgbClr val="1C252B"/>
                </a:solidFill>
                <a:latin typeface="Segoe UI"/>
              </a:rPr>
              <a:t>60:1</a:t>
            </a:r>
            <a:r>
              <a:rPr sz="1900" b="0" i="0">
                <a:solidFill>
                  <a:srgbClr val="1C252B"/>
                </a:solidFill>
                <a:latin typeface="Segoe UI"/>
              </a:rPr>
              <a:t> reduction.</a:t>
            </a:r>
          </a:p>
          <a:p>
            <a:pPr algn="l" marL="212450" indent="-212450">
              <a:lnSpc>
                <a:spcPct val="104000"/>
              </a:lnSpc>
              <a:spcBef>
                <a:spcPts val="0"/>
              </a:spcBef>
              <a:spcAft>
                <a:spcPts val="0"/>
              </a:spcAft>
            </a:pPr>
            <a:r>
              <a:rPr sz="1900" b="1">
                <a:solidFill>
                  <a:srgbClr val="1F618D"/>
                </a:solidFill>
                <a:latin typeface="Segoe UI"/>
              </a:rPr>
              <a:t>•	</a:t>
            </a:r>
            <a:r>
              <a:rPr sz="1900" b="0" i="0">
                <a:solidFill>
                  <a:srgbClr val="1C252B"/>
                </a:solidFill>
                <a:latin typeface="Segoe UI"/>
              </a:rPr>
              <a:t>A Python service: compilers for the C extensions in the builder stage; only the slim base and the installed packages in the final one. Typically 1.1 GB down to 210 MB.</a:t>
            </a:r>
          </a:p>
        </p:txBody>
      </p:sp>
      <p:sp>
        <p:nvSpPr>
          <p:cNvPr id="12" name="body-3"/>
          <p:cNvSpPr txBox="1"/>
          <p:nvPr/>
        </p:nvSpPr>
        <p:spPr>
          <a:xfrm>
            <a:off x="1060704" y="4939995"/>
            <a:ext cx="10161727"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1A5276"/>
                </a:solidFill>
                <a:latin typeface="Segoe UI"/>
              </a:rPr>
              <a:t>Distroless</a:t>
            </a:r>
            <a:r>
              <a:rPr sz="1900" b="0" i="0">
                <a:solidFill>
                  <a:srgbClr val="1C252B"/>
                </a:solidFill>
                <a:latin typeface="Segoe UI"/>
              </a:rPr>
              <a:t> images go further — a language runtime and no shell, no package manager, no </a:t>
            </a:r>
            <a:r>
              <a:rPr sz="1800" b="0" i="0">
                <a:solidFill>
                  <a:srgbClr val="1F4E79"/>
                </a:solidFill>
                <a:latin typeface="Consolas"/>
              </a:rPr>
              <a:t>ls</a:t>
            </a:r>
            <a:r>
              <a:rPr sz="1900" b="0" i="0">
                <a:solidFill>
                  <a:srgbClr val="1C252B"/>
                </a:solidFill>
                <a:latin typeface="Segoe UI"/>
              </a:rPr>
              <a:t>. An attacker with code execution has nothing to run. The cost is that you cannot </a:t>
            </a:r>
            <a:r>
              <a:rPr sz="1800" b="0" i="0">
                <a:solidFill>
                  <a:srgbClr val="1F4E79"/>
                </a:solidFill>
                <a:latin typeface="Consolas"/>
              </a:rPr>
              <a:t>exec</a:t>
            </a:r>
            <a:r>
              <a:rPr sz="1900" b="0" i="0">
                <a:solidFill>
                  <a:srgbClr val="1C252B"/>
                </a:solidFill>
                <a:latin typeface="Segoe UI"/>
              </a:rPr>
              <a:t> into it to debug, which is a real operational trade and not everyone’s.</a:t>
            </a:r>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498751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1">
                                            <p:txEl>
                                              <p:pRg st="0" end="0"/>
                                            </p:txEl>
                                          </p:spTgt>
                                        </p:tgtEl>
                                        <p:attrNameLst>
                                          <p:attrName>style.visibility</p:attrName>
                                        </p:attrNameLst>
                                      </p:cBhvr>
                                      <p:to>
                                        <p:strVal val="visible"/>
                                      </p:to>
                                    </p:set>
                                    <p:animEffect transition="in" filter="fade">
                                      <p:cBhvr>
                                        <p:cTn id="8" dur="380"/>
                                        <p:tgtEl>
                                          <p:spTgt spid="11">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xEl>
                                              <p:pRg st="1" end="1"/>
                                            </p:txEl>
                                          </p:spTgt>
                                        </p:tgtEl>
                                        <p:attrNameLst>
                                          <p:attrName>style.visibility</p:attrName>
                                        </p:attrNameLst>
                                      </p:cBhvr>
                                      <p:to>
                                        <p:strVal val="visible"/>
                                      </p:to>
                                    </p:set>
                                    <p:animEffect transition="in" filter="fade">
                                      <p:cBhvr>
                                        <p:cTn id="13" dur="380"/>
                                        <p:tgtEl>
                                          <p:spTgt spid="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Pin the base, and know what :latest promises</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9  ·  Docker and the Container Ecosystem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72     </a:t>
            </a:r>
            <a:fld id="{9A706FB0-3EED-4665-A737-67FB6A27DB3A}"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16043"/>
          </a:xfrm>
          <a:prstGeom prst="roundRect">
            <a:avLst>
              <a:gd name="adj" fmla="val 2070"/>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16043"/>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091793"/>
          </a:xfrm>
          <a:prstGeom prst="rect">
            <a:avLst/>
          </a:prstGeom>
          <a:noFill/>
        </p:spPr>
        <p:txBody>
          <a:bodyPr wrap="square" anchor="t" lIns="0" rIns="0" tIns="0" bIns="0">
            <a:noAutofit/>
          </a:bodyPr>
          <a:lstStyle/>
          <a:p>
            <a:pPr algn="l">
              <a:lnSpc>
                <a:spcPct val="104000"/>
              </a:lnSpc>
              <a:spcBef>
                <a:spcPts val="0"/>
              </a:spcBef>
              <a:spcAft>
                <a:spcPts val="0"/>
              </a:spcAft>
            </a:pPr>
            <a:r>
              <a:rPr sz="2050" b="0" i="0">
                <a:solidFill>
                  <a:srgbClr val="1F4E79"/>
                </a:solidFill>
                <a:latin typeface="Consolas"/>
              </a:rPr>
              <a:t>FROM ubuntu:latest</a:t>
            </a:r>
            <a:r>
              <a:rPr sz="2200" b="0" i="0">
                <a:solidFill>
                  <a:srgbClr val="1C252B"/>
                </a:solidFill>
                <a:latin typeface="Segoe UI"/>
              </a:rPr>
              <a:t> promises nothing. It resolves to whatever the publisher last pushed, so a build that worked this morning may not this afternoon, and the failure appears in CI with no change in your repository.</a:t>
            </a:r>
          </a:p>
        </p:txBody>
      </p:sp>
      <p:sp>
        <p:nvSpPr>
          <p:cNvPr id="10" name="body-1"/>
          <p:cNvSpPr txBox="1"/>
          <p:nvPr/>
        </p:nvSpPr>
        <p:spPr>
          <a:xfrm>
            <a:off x="1060704" y="3247999"/>
            <a:ext cx="10161727" cy="1440484"/>
          </a:xfrm>
          <a:prstGeom prst="rect">
            <a:avLst/>
          </a:prstGeom>
          <a:noFill/>
        </p:spPr>
        <p:txBody>
          <a:bodyPr wrap="square" anchor="t" lIns="0" rIns="0" tIns="0" bIns="0">
            <a:noAutofit/>
          </a:bodyPr>
          <a:lstStyle/>
          <a:p>
            <a:pPr algn="l">
              <a:lnSpc>
                <a:spcPct val="104000"/>
              </a:lnSpc>
              <a:spcBef>
                <a:spcPts val="0"/>
              </a:spcBef>
              <a:spcAft>
                <a:spcPts val="0"/>
              </a:spcAft>
            </a:pPr>
            <a:r>
              <a:rPr sz="2050" b="0" i="0">
                <a:solidFill>
                  <a:srgbClr val="1F4E79"/>
                </a:solidFill>
                <a:latin typeface="Consolas"/>
              </a:rPr>
              <a:t>FROM ubuntu:22.04</a:t>
            </a:r>
            <a:r>
              <a:rPr sz="2200" b="0" i="0">
                <a:solidFill>
                  <a:srgbClr val="1C252B"/>
                </a:solidFill>
                <a:latin typeface="Segoe UI"/>
              </a:rPr>
              <a:t> is better and is still a moving pointer — the tag is republished with security updates, which you usually want. </a:t>
            </a:r>
            <a:r>
              <a:rPr sz="2050" b="0" i="0">
                <a:solidFill>
                  <a:srgbClr val="1F4E79"/>
                </a:solidFill>
                <a:latin typeface="Consolas"/>
              </a:rPr>
              <a:t>FROM ubuntu@sha256:9b8c…</a:t>
            </a:r>
            <a:r>
              <a:rPr sz="2200" b="0" i="0">
                <a:solidFill>
                  <a:srgbClr val="1C252B"/>
                </a:solidFill>
                <a:latin typeface="Segoe UI"/>
              </a:rPr>
              <a:t> is exact and never changes, which means you must update it deliberately to get security fixes.</a:t>
            </a:r>
          </a:p>
        </p:txBody>
      </p:sp>
      <p:sp>
        <p:nvSpPr>
          <p:cNvPr id="11" name="body-2"/>
          <p:cNvSpPr txBox="1"/>
          <p:nvPr/>
        </p:nvSpPr>
        <p:spPr>
          <a:xfrm>
            <a:off x="1060704" y="4796434"/>
            <a:ext cx="10161727"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usual resolution: pin digests in production manifests, and run an automated job that proposes digest updates as reviewable changes. Choosing between reproducibility and patching by accident is the only wrong answer.</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526459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Do Not Run as Root</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9  ·  Docker and the Container Ecosystem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72     </a:t>
            </a:r>
            <a:fld id="{4422B06E-DB11-489B-BE6F-59F8D58ADFF0}"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334232"/>
          </a:xfrm>
          <a:prstGeom prst="roundRect">
            <a:avLst>
              <a:gd name="adj" fmla="val 2742"/>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334232"/>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container process running as UID 0 is, without a user namespace (Chapter 8), really root — and a kernel bug then yields the host rather than a container.</a:t>
            </a:r>
          </a:p>
        </p:txBody>
      </p:sp>
      <p:sp>
        <p:nvSpPr>
          <p:cNvPr id="10" name="body-1"/>
          <p:cNvSpPr txBox="1"/>
          <p:nvPr/>
        </p:nvSpPr>
        <p:spPr>
          <a:xfrm>
            <a:off x="1060704" y="3302533"/>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150" b="0" i="0">
                <a:solidFill>
                  <a:srgbClr val="1F4E79"/>
                </a:solidFill>
                <a:latin typeface="Consolas"/>
              </a:rPr>
              <a:t>USER</a:t>
            </a:r>
            <a:r>
              <a:rPr sz="2300" b="0" i="0">
                <a:solidFill>
                  <a:srgbClr val="1C252B"/>
                </a:solidFill>
                <a:latin typeface="Segoe UI"/>
              </a:rPr>
              <a:t> in the Dockerfile costs nothing and removes the whole class. Combine it with a read-only root filesystem and dropped capabilities at run time, and an attacker who achieves code execution has an unprivileged process in a filesystem it cannot write. Chapter 19 covers the rest of the hardening set.</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554167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9  ·  Docker and the Container Ecosystem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72     </a:t>
            </a:r>
            <a:fld id="{829B774A-6C0D-4EE1-958E-C88CC4562834}" type="slidenum">
              <a:rPr lang="en-GB" sz="1000">
                <a:solidFill>
                  <a:srgbClr val="8795A1"/>
                </a:solidFill>
                <a:latin typeface="Segoe UI"/>
              </a:rPr>
              <a:t>21</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570585"/>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A93226"/>
                </a:solidFill>
                <a:latin typeface="Segoe UI"/>
              </a:rPr>
              <a:t>Copying source before installing dependencies.</a:t>
            </a:r>
            <a:r>
              <a:rPr sz="1800" b="0" i="0">
                <a:solidFill>
                  <a:srgbClr val="1C252B"/>
                </a:solidFill>
                <a:latin typeface="Segoe UI"/>
              </a:rPr>
              <a:t> The worked example above. Reordering two lines is the single highest-return change available in most repositories.</a:t>
            </a:r>
          </a:p>
        </p:txBody>
      </p:sp>
      <p:sp>
        <p:nvSpPr>
          <p:cNvPr id="10" name="!!pb1">
            <a:extLst>
              <a:ext uri="{C183D7F6-B498-43B3-948B-1728B52AA6E4}">
                <adec:decorative xmlns:adec="http://schemas.microsoft.com/office/drawing/2017/decorative" val="1"/>
              </a:ext>
            </a:extLst>
          </p:cNvPr>
          <p:cNvSpPr/>
          <p:nvPr/>
        </p:nvSpPr>
        <p:spPr>
          <a:xfrm>
            <a:off x="658368" y="2527401"/>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550261"/>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509113"/>
            <a:ext cx="10271455" cy="570585"/>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A93226"/>
                </a:solidFill>
                <a:latin typeface="Segoe UI"/>
              </a:rPr>
              <a:t>Running </a:t>
            </a:r>
            <a:r>
              <a:rPr sz="1700" b="1" i="0">
                <a:solidFill>
                  <a:srgbClr val="1F4E79"/>
                </a:solidFill>
                <a:latin typeface="Consolas"/>
              </a:rPr>
              <a:t>apt-get update</a:t>
            </a:r>
            <a:r>
              <a:rPr sz="1800" b="1" i="0">
                <a:solidFill>
                  <a:srgbClr val="1C252B"/>
                </a:solidFill>
                <a:latin typeface="Segoe UI"/>
              </a:rPr>
              <a:t> in a separate layer from </a:t>
            </a:r>
            <a:r>
              <a:rPr sz="1700" b="1" i="0">
                <a:solidFill>
                  <a:srgbClr val="1F4E79"/>
                </a:solidFill>
                <a:latin typeface="Consolas"/>
              </a:rPr>
              <a:t>install</a:t>
            </a:r>
            <a:r>
              <a:rPr sz="1800" b="1" i="0">
                <a:solidFill>
                  <a:srgbClr val="1C252B"/>
                </a:solidFill>
                <a:latin typeface="Segoe UI"/>
              </a:rPr>
              <a:t>.</a:t>
            </a:r>
            <a:r>
              <a:rPr sz="1800" b="0" i="0">
                <a:solidFill>
                  <a:srgbClr val="1C252B"/>
                </a:solidFill>
                <a:latin typeface="Segoe UI"/>
              </a:rPr>
              <a:t> The update layer caches, so a later install can fetch a package list months out of date. Always one </a:t>
            </a:r>
            <a:r>
              <a:rPr sz="1700" b="0" i="0">
                <a:solidFill>
                  <a:srgbClr val="1F4E79"/>
                </a:solidFill>
                <a:latin typeface="Consolas"/>
              </a:rPr>
              <a:t>RUN</a:t>
            </a:r>
            <a:r>
              <a:rPr sz="1800" b="0" i="0">
                <a:solidFill>
                  <a:srgbClr val="1C252B"/>
                </a:solidFill>
                <a:latin typeface="Segoe UI"/>
              </a:rPr>
              <a:t>.</a:t>
            </a:r>
          </a:p>
        </p:txBody>
      </p:sp>
      <p:sp>
        <p:nvSpPr>
          <p:cNvPr id="13" name="!!pb2">
            <a:extLst>
              <a:ext uri="{C183D7F6-B498-43B3-948B-1728B52AA6E4}">
                <adec:decorative xmlns:adec="http://schemas.microsoft.com/office/drawing/2017/decorative" val="1"/>
              </a:ext>
            </a:extLst>
          </p:cNvPr>
          <p:cNvSpPr/>
          <p:nvPr/>
        </p:nvSpPr>
        <p:spPr>
          <a:xfrm>
            <a:off x="658368" y="3299155"/>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322015"/>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280867"/>
            <a:ext cx="10271455" cy="570585"/>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A93226"/>
                </a:solidFill>
                <a:latin typeface="Segoe UI"/>
              </a:rPr>
              <a:t>Leaving secrets in a build.</a:t>
            </a:r>
            <a:r>
              <a:rPr sz="1800" b="0" i="0">
                <a:solidFill>
                  <a:srgbClr val="1C252B"/>
                </a:solidFill>
                <a:latin typeface="Segoe UI"/>
              </a:rPr>
              <a:t> Deleting a file in a later layer does not remove it — the earlier layer still contains it, and anyone who pulls the image can read it. Use build secrets or a mount.</a:t>
            </a:r>
          </a:p>
        </p:txBody>
      </p:sp>
      <p:sp>
        <p:nvSpPr>
          <p:cNvPr id="16" name="!!pb3">
            <a:extLst>
              <a:ext uri="{C183D7F6-B498-43B3-948B-1728B52AA6E4}">
                <adec:decorative xmlns:adec="http://schemas.microsoft.com/office/drawing/2017/decorative" val="1"/>
              </a:ext>
            </a:extLst>
          </p:cNvPr>
          <p:cNvSpPr/>
          <p:nvPr/>
        </p:nvSpPr>
        <p:spPr>
          <a:xfrm>
            <a:off x="658368" y="407090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4093768"/>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4052620"/>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A93226"/>
                </a:solidFill>
                <a:latin typeface="Segoe UI"/>
              </a:rPr>
              <a:t>Treating a tag as an identity.</a:t>
            </a:r>
            <a:r>
              <a:rPr sz="1800" b="0" i="0">
                <a:solidFill>
                  <a:srgbClr val="1C252B"/>
                </a:solidFill>
                <a:latin typeface="Segoe UI"/>
              </a:rPr>
              <a:t> It is a mutable pointer. Only a digest identifies an image.</a:t>
            </a:r>
          </a:p>
        </p:txBody>
      </p:sp>
      <p:sp>
        <p:nvSpPr>
          <p:cNvPr id="19" name="!!pb4">
            <a:extLst>
              <a:ext uri="{C183D7F6-B498-43B3-948B-1728B52AA6E4}">
                <adec:decorative xmlns:adec="http://schemas.microsoft.com/office/drawing/2017/decorative" val="1"/>
              </a:ext>
            </a:extLst>
          </p:cNvPr>
          <p:cNvSpPr/>
          <p:nvPr/>
        </p:nvSpPr>
        <p:spPr>
          <a:xfrm>
            <a:off x="658368" y="463783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466069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619548"/>
            <a:ext cx="10271455" cy="570585"/>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A93226"/>
                </a:solidFill>
                <a:latin typeface="Segoe UI"/>
              </a:rPr>
              <a:t>Storing data in the container.</a:t>
            </a:r>
            <a:r>
              <a:rPr sz="1800" b="0" i="0">
                <a:solidFill>
                  <a:srgbClr val="1C252B"/>
                </a:solidFill>
                <a:latin typeface="Segoe UI"/>
              </a:rPr>
              <a:t> The writable layer dies with the container and copy-up is slow. Use a volume.</a:t>
            </a:r>
          </a:p>
        </p:txBody>
      </p:sp>
      <p:sp>
        <p:nvSpPr>
          <p:cNvPr id="22" name="!!pb5">
            <a:extLst>
              <a:ext uri="{C183D7F6-B498-43B3-948B-1728B52AA6E4}">
                <adec:decorative xmlns:adec="http://schemas.microsoft.com/office/drawing/2017/decorative" val="1"/>
              </a:ext>
            </a:extLst>
          </p:cNvPr>
          <p:cNvSpPr/>
          <p:nvPr/>
        </p:nvSpPr>
        <p:spPr>
          <a:xfrm>
            <a:off x="658368" y="5409590"/>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x5"/>
          <p:cNvSpPr txBox="1"/>
          <p:nvPr/>
        </p:nvSpPr>
        <p:spPr>
          <a:xfrm>
            <a:off x="658368" y="5432450"/>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4" name="!!pt5"/>
          <p:cNvSpPr txBox="1"/>
          <p:nvPr/>
        </p:nvSpPr>
        <p:spPr>
          <a:xfrm>
            <a:off x="1261872" y="5391302"/>
            <a:ext cx="10271455" cy="570585"/>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A93226"/>
                </a:solidFill>
                <a:latin typeface="Segoe UI"/>
              </a:rPr>
              <a:t>Equating image size with security.</a:t>
            </a:r>
            <a:r>
              <a:rPr sz="1800" b="0" i="0">
                <a:solidFill>
                  <a:srgbClr val="1C252B"/>
                </a:solidFill>
                <a:latin typeface="Segoe UI"/>
              </a:rPr>
              <a:t> A 50 MB image with an unpatched library is worse than a 400 MB patched one. Size reduces attack surface and transfer cost; it does not replace patching.</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581876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Measuring the Build Cache, and Fixing 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9  ·  Docker and the Container Ecosystem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72     </a:t>
            </a:r>
            <a:fld id="{F3FFB461-1251-4572-BAD3-61BF0AB96193}" type="slidenum">
              <a:rPr lang="en-GB" sz="1000">
                <a:solidFill>
                  <a:srgbClr val="8795A1"/>
                </a:solidFill>
                <a:latin typeface="Segoe UI"/>
              </a:rPr>
              <a:t>22</a:t>
            </a:fld>
          </a:p>
        </p:txBody>
      </p:sp>
      <p:sp>
        <p:nvSpPr>
          <p:cNvPr id="7" name="body-0"/>
          <p:cNvSpPr txBox="1"/>
          <p:nvPr/>
        </p:nvSpPr>
        <p:spPr>
          <a:xfrm>
            <a:off x="658368" y="1737360"/>
            <a:ext cx="1087495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Builds the same application both ways and measures the difference; then makes it multi-stage and non-root. Needs Docker. Expect thirty minutes.</a:t>
            </a:r>
          </a:p>
        </p:txBody>
      </p:sp>
      <p:sp>
        <p:nvSpPr>
          <p:cNvPr id="8" name="!!labsteps-h"/>
          <p:cNvSpPr txBox="1"/>
          <p:nvPr/>
        </p:nvSpPr>
        <p:spPr>
          <a:xfrm>
            <a:off x="658368" y="268224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9" name="!!labsteps"/>
          <p:cNvSpPr txBox="1"/>
          <p:nvPr/>
        </p:nvSpPr>
        <p:spPr>
          <a:xfrm>
            <a:off x="658368" y="3066288"/>
            <a:ext cx="10874959" cy="2438400"/>
          </a:xfrm>
          <a:prstGeom prst="rect">
            <a:avLst/>
          </a:prstGeom>
          <a:noFill/>
        </p:spPr>
        <p:txBody>
          <a:bodyPr wrap="square" anchor="t" lIns="0" rIns="0" tIns="0" bIns="0">
            <a:noAutofit/>
          </a:bodyPr>
          <a:lstStyle/>
          <a:p>
            <a:pPr algn="l" marL="367434" indent="-367434">
              <a:lnSpc>
                <a:spcPct val="100000"/>
              </a:lnSpc>
              <a:spcBef>
                <a:spcPts val="0"/>
              </a:spcBef>
              <a:spcAft>
                <a:spcPts val="420"/>
              </a:spcAft>
            </a:pPr>
            <a:r>
              <a:rPr sz="1400" b="1">
                <a:solidFill>
                  <a:srgbClr val="117A65"/>
                </a:solidFill>
                <a:latin typeface="Segoe UI"/>
              </a:rPr>
              <a:t>1.	</a:t>
            </a:r>
            <a:r>
              <a:rPr sz="1400" b="0" i="0">
                <a:solidFill>
                  <a:srgbClr val="1C252B"/>
                </a:solidFill>
                <a:latin typeface="Segoe UI"/>
              </a:rPr>
              <a:t>A small application with real dependencies.</a:t>
            </a:r>
          </a:p>
          <a:p>
            <a:pPr algn="l" marL="367434" indent="-367434">
              <a:lnSpc>
                <a:spcPct val="100000"/>
              </a:lnSpc>
              <a:spcBef>
                <a:spcPts val="0"/>
              </a:spcBef>
              <a:spcAft>
                <a:spcPts val="420"/>
              </a:spcAft>
            </a:pPr>
            <a:r>
              <a:rPr sz="1400" b="1">
                <a:solidFill>
                  <a:srgbClr val="117A65"/>
                </a:solidFill>
                <a:latin typeface="Segoe UI"/>
              </a:rPr>
              <a:t>2.	</a:t>
            </a:r>
            <a:r>
              <a:rPr sz="1400" b="0" i="0">
                <a:solidFill>
                  <a:srgbClr val="1C252B"/>
                </a:solidFill>
                <a:latin typeface="Segoe UI"/>
              </a:rPr>
              <a:t>The wrong order: source copied before dependencies.</a:t>
            </a:r>
          </a:p>
          <a:p>
            <a:pPr algn="l" marL="367434" indent="-367434">
              <a:lnSpc>
                <a:spcPct val="100000"/>
              </a:lnSpc>
              <a:spcBef>
                <a:spcPts val="0"/>
              </a:spcBef>
              <a:spcAft>
                <a:spcPts val="420"/>
              </a:spcAft>
            </a:pPr>
            <a:r>
              <a:rPr sz="1400" b="1">
                <a:solidFill>
                  <a:srgbClr val="117A65"/>
                </a:solidFill>
                <a:latin typeface="Segoe UI"/>
              </a:rPr>
              <a:t>3.	</a:t>
            </a:r>
            <a:r>
              <a:rPr sz="1400" b="0" i="0">
                <a:solidFill>
                  <a:srgbClr val="1C252B"/>
                </a:solidFill>
                <a:latin typeface="Segoe UI"/>
              </a:rPr>
              <a:t>The right order: dependency list first, then source.</a:t>
            </a:r>
          </a:p>
          <a:p>
            <a:pPr algn="l" marL="367434" indent="-367434">
              <a:lnSpc>
                <a:spcPct val="100000"/>
              </a:lnSpc>
              <a:spcBef>
                <a:spcPts val="0"/>
              </a:spcBef>
              <a:spcAft>
                <a:spcPts val="420"/>
              </a:spcAft>
            </a:pPr>
            <a:r>
              <a:rPr sz="1400" b="1">
                <a:solidFill>
                  <a:srgbClr val="117A65"/>
                </a:solidFill>
                <a:latin typeface="Segoe UI"/>
              </a:rPr>
              <a:t>4.	</a:t>
            </a:r>
            <a:r>
              <a:rPr sz="1400" b="0" i="0">
                <a:solidFill>
                  <a:srgbClr val="1C252B"/>
                </a:solidFill>
                <a:latin typeface="Segoe UI"/>
              </a:rPr>
              <a:t>Change one character of source and time both rebuilds.</a:t>
            </a:r>
          </a:p>
          <a:p>
            <a:pPr algn="l" marL="367434" indent="-367434">
              <a:lnSpc>
                <a:spcPct val="100000"/>
              </a:lnSpc>
              <a:spcBef>
                <a:spcPts val="0"/>
              </a:spcBef>
              <a:spcAft>
                <a:spcPts val="420"/>
              </a:spcAft>
            </a:pPr>
            <a:r>
              <a:rPr sz="1400" b="1">
                <a:solidFill>
                  <a:srgbClr val="117A65"/>
                </a:solidFill>
                <a:latin typeface="Segoe UI"/>
              </a:rPr>
              <a:t>5.	</a:t>
            </a:r>
            <a:r>
              <a:rPr sz="1400" b="0" i="0">
                <a:solidFill>
                  <a:srgbClr val="1C252B"/>
                </a:solidFill>
                <a:latin typeface="Segoe UI"/>
              </a:rPr>
              <a:t>Look at the layers, and at what is shared.</a:t>
            </a:r>
          </a:p>
          <a:p>
            <a:pPr algn="l" marL="367434" indent="-367434">
              <a:lnSpc>
                <a:spcPct val="100000"/>
              </a:lnSpc>
              <a:spcBef>
                <a:spcPts val="0"/>
              </a:spcBef>
              <a:spcAft>
                <a:spcPts val="420"/>
              </a:spcAft>
            </a:pPr>
            <a:r>
              <a:rPr sz="1400" b="1">
                <a:solidFill>
                  <a:srgbClr val="117A65"/>
                </a:solidFill>
                <a:latin typeface="Segoe UI"/>
              </a:rPr>
              <a:t>6.	</a:t>
            </a:r>
            <a:r>
              <a:rPr sz="1400" b="0" i="0">
                <a:solidFill>
                  <a:srgbClr val="1C252B"/>
                </a:solidFill>
                <a:latin typeface="Segoe UI"/>
              </a:rPr>
              <a:t>Multi-stage and non-root.</a:t>
            </a:r>
          </a:p>
          <a:p>
            <a:pPr algn="l" marL="367434" indent="-367434">
              <a:lnSpc>
                <a:spcPct val="100000"/>
              </a:lnSpc>
              <a:spcBef>
                <a:spcPts val="0"/>
              </a:spcBef>
              <a:spcAft>
                <a:spcPts val="420"/>
              </a:spcAft>
            </a:pPr>
            <a:r>
              <a:rPr sz="1400" b="1">
                <a:solidFill>
                  <a:srgbClr val="117A65"/>
                </a:solidFill>
                <a:latin typeface="Segoe UI"/>
              </a:rPr>
              <a:t>7.	</a:t>
            </a:r>
            <a:r>
              <a:rPr sz="1400" b="0" i="0">
                <a:solidFill>
                  <a:srgbClr val="1C252B"/>
                </a:solidFill>
                <a:latin typeface="Segoe UI"/>
              </a:rPr>
              <a:t>Prove it is not running as root, and cannot write its root.</a:t>
            </a:r>
          </a:p>
          <a:p>
            <a:pPr algn="l" marL="367434" indent="-367434">
              <a:lnSpc>
                <a:spcPct val="100000"/>
              </a:lnSpc>
              <a:spcBef>
                <a:spcPts val="0"/>
              </a:spcBef>
              <a:spcAft>
                <a:spcPts val="420"/>
              </a:spcAft>
            </a:pPr>
            <a:r>
              <a:rPr sz="1400" b="1">
                <a:solidFill>
                  <a:srgbClr val="117A65"/>
                </a:solidFill>
                <a:latin typeface="Segoe UI"/>
              </a:rPr>
              <a:t>8.	</a:t>
            </a:r>
            <a:r>
              <a:rPr sz="1400" b="0" i="0">
                <a:solidFill>
                  <a:srgbClr val="1C252B"/>
                </a:solidFill>
                <a:latin typeface="Segoe UI"/>
              </a:rPr>
              <a:t>A secret deleted in a later layer is still in the image.</a:t>
            </a:r>
          </a:p>
          <a:p>
            <a:pPr algn="l" marL="367434" indent="-367434">
              <a:lnSpc>
                <a:spcPct val="100000"/>
              </a:lnSpc>
              <a:spcBef>
                <a:spcPts val="0"/>
              </a:spcBef>
              <a:spcAft>
                <a:spcPts val="0"/>
              </a:spcAft>
            </a:pPr>
            <a:r>
              <a:rPr sz="1400" b="1">
                <a:solidFill>
                  <a:srgbClr val="117A65"/>
                </a:solidFill>
                <a:latin typeface="Segoe UI"/>
              </a:rPr>
              <a:t>9.	</a:t>
            </a:r>
            <a:r>
              <a:rPr sz="1400" b="0" i="0">
                <a:solidFill>
                  <a:srgbClr val="1C252B"/>
                </a:solidFill>
                <a:latin typeface="Segoe UI"/>
              </a:rPr>
              <a:t>Tear down.</a:t>
            </a:r>
          </a:p>
        </p:txBody>
      </p:sp>
      <p:sp>
        <p:nvSpPr>
          <p:cNvPr id="49" name="!!lfTHIS">
            <a:extLst>
              <a:ext uri="{C183D7F6-B498-43B3-948B-1728B52AA6E4}">
                <adec:decorative xmlns:adec="http://schemas.microsoft.com/office/drawing/2017/decorative" val="1"/>
              </a:ext>
            </a:extLst>
          </p:cNvPr>
          <p:cNvSpPr/>
          <p:nvPr/>
        </p:nvSpPr>
        <p:spPr>
          <a:xfrm>
            <a:off x="658368" y="5230368"/>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lfbTHIS">
            <a:extLst>
              <a:ext uri="{C183D7F6-B498-43B3-948B-1728B52AA6E4}">
                <adec:decorative xmlns:adec="http://schemas.microsoft.com/office/drawing/2017/decorative" val="1"/>
              </a:ext>
            </a:extLst>
          </p:cNvPr>
          <p:cNvSpPr/>
          <p:nvPr/>
        </p:nvSpPr>
        <p:spPr>
          <a:xfrm>
            <a:off x="658368" y="5230368"/>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lflTHIS"/>
          <p:cNvSpPr txBox="1"/>
          <p:nvPr/>
        </p:nvSpPr>
        <p:spPr>
          <a:xfrm>
            <a:off x="932688" y="5394960"/>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52" name="!!lfvTHIS"/>
          <p:cNvSpPr txBox="1"/>
          <p:nvPr/>
        </p:nvSpPr>
        <p:spPr>
          <a:xfrm>
            <a:off x="932688" y="5687568"/>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7: Build a container by hand; then measure the build cache</a:t>
            </a:r>
          </a:p>
        </p:txBody>
      </p:sp>
      <p:sp>
        <p:nvSpPr>
          <p:cNvPr id="53" name="!!lfWHAT">
            <a:extLst>
              <a:ext uri="{C183D7F6-B498-43B3-948B-1728B52AA6E4}">
                <adec:decorative xmlns:adec="http://schemas.microsoft.com/office/drawing/2017/decorative" val="1"/>
              </a:ext>
            </a:extLst>
          </p:cNvPr>
          <p:cNvSpPr/>
          <p:nvPr/>
        </p:nvSpPr>
        <p:spPr>
          <a:xfrm>
            <a:off x="6233007" y="5230368"/>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lfbWHAT">
            <a:extLst>
              <a:ext uri="{C183D7F6-B498-43B3-948B-1728B52AA6E4}">
                <adec:decorative xmlns:adec="http://schemas.microsoft.com/office/drawing/2017/decorative" val="1"/>
              </a:ext>
            </a:extLst>
          </p:cNvPr>
          <p:cNvSpPr/>
          <p:nvPr/>
        </p:nvSpPr>
        <p:spPr>
          <a:xfrm>
            <a:off x="6233007" y="5230368"/>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5" name="!!lflWHAT"/>
          <p:cNvSpPr txBox="1"/>
          <p:nvPr/>
        </p:nvSpPr>
        <p:spPr>
          <a:xfrm>
            <a:off x="6507327" y="5394960"/>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56" name="!!lfvWHAT"/>
          <p:cNvSpPr txBox="1"/>
          <p:nvPr/>
        </p:nvSpPr>
        <p:spPr>
          <a:xfrm>
            <a:off x="6507327" y="5687568"/>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84 lines of Shell</a:t>
            </a:r>
          </a:p>
        </p:txBody>
      </p:sp>
      <p:sp>
        <p:nvSpPr>
          <p:cNvPr id="5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pfill">
            <a:extLst>
              <a:ext uri="{C183D7F6-B498-43B3-948B-1728B52AA6E4}">
                <adec:decorative xmlns:adec="http://schemas.microsoft.com/office/drawing/2017/decorative" val="1"/>
              </a:ext>
            </a:extLst>
          </p:cNvPr>
          <p:cNvSpPr/>
          <p:nvPr/>
        </p:nvSpPr>
        <p:spPr>
          <a:xfrm>
            <a:off x="0" y="0"/>
            <a:ext cx="609584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0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0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00"/>
                                        <p:tgtEl>
                                          <p:spTgt spid="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fade">
                                      <p:cBhvr>
                                        <p:cTn id="28" dur="300"/>
                                        <p:tgtEl>
                                          <p:spTgt spid="9">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xEl>
                                              <p:pRg st="5" end="5"/>
                                            </p:txEl>
                                          </p:spTgt>
                                        </p:tgtEl>
                                        <p:attrNameLst>
                                          <p:attrName>style.visibility</p:attrName>
                                        </p:attrNameLst>
                                      </p:cBhvr>
                                      <p:to>
                                        <p:strVal val="visible"/>
                                      </p:to>
                                    </p:set>
                                    <p:animEffect transition="in" filter="fade">
                                      <p:cBhvr>
                                        <p:cTn id="33" dur="300"/>
                                        <p:tgtEl>
                                          <p:spTgt spid="9">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9">
                                            <p:txEl>
                                              <p:pRg st="6" end="6"/>
                                            </p:txEl>
                                          </p:spTgt>
                                        </p:tgtEl>
                                        <p:attrNameLst>
                                          <p:attrName>style.visibility</p:attrName>
                                        </p:attrNameLst>
                                      </p:cBhvr>
                                      <p:to>
                                        <p:strVal val="visible"/>
                                      </p:to>
                                    </p:set>
                                    <p:animEffect transition="in" filter="fade">
                                      <p:cBhvr>
                                        <p:cTn id="38" dur="300"/>
                                        <p:tgtEl>
                                          <p:spTgt spid="9">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9">
                                            <p:txEl>
                                              <p:pRg st="7" end="7"/>
                                            </p:txEl>
                                          </p:spTgt>
                                        </p:tgtEl>
                                        <p:attrNameLst>
                                          <p:attrName>style.visibility</p:attrName>
                                        </p:attrNameLst>
                                      </p:cBhvr>
                                      <p:to>
                                        <p:strVal val="visible"/>
                                      </p:to>
                                    </p:set>
                                    <p:animEffect transition="in" filter="fade">
                                      <p:cBhvr>
                                        <p:cTn id="43" dur="300"/>
                                        <p:tgtEl>
                                          <p:spTgt spid="9">
                                            <p:txEl>
                                              <p:pRg st="7" end="7"/>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9">
                                            <p:txEl>
                                              <p:pRg st="8" end="8"/>
                                            </p:txEl>
                                          </p:spTgt>
                                        </p:tgtEl>
                                        <p:attrNameLst>
                                          <p:attrName>style.visibility</p:attrName>
                                        </p:attrNameLst>
                                      </p:cBhvr>
                                      <p:to>
                                        <p:strVal val="visible"/>
                                      </p:to>
                                    </p:set>
                                    <p:animEffect transition="in" filter="fade">
                                      <p:cBhvr>
                                        <p:cTn id="48" dur="300"/>
                                        <p:tgtEl>
                                          <p:spTgt spid="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Measuring the Build Cache, and Fixing 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10</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9  ·  Docker and the Container Ecosystem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72     </a:t>
            </a:r>
            <a:fld id="{22B680B9-3FDE-4C3C-8422-31CAABFE49A9}" type="slidenum">
              <a:rPr lang="en-GB" sz="1000">
                <a:solidFill>
                  <a:srgbClr val="8795A1"/>
                </a:solidFill>
                <a:latin typeface="Segoe UI"/>
              </a:rPr>
              <a:t>23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822703"/>
          </a:xfrm>
          <a:prstGeom prst="roundRect">
            <a:avLst>
              <a:gd name="adj" fmla="val 501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usr/bin/env bash # ch09_build.sh -- the build cache, measured, then a sound image. set -euo pipefail mkdir -p ~/vsapp &amp;&amp; cd ~/vsapp"/>
          <p:cNvSpPr txBox="1"/>
          <p:nvPr/>
        </p:nvSpPr>
        <p:spPr>
          <a:xfrm>
            <a:off x="1362456" y="2523744"/>
            <a:ext cx="9987991" cy="1328928"/>
          </a:xfrm>
          <a:prstGeom prst="rect">
            <a:avLst/>
          </a:prstGeom>
          <a:noFill/>
        </p:spPr>
        <p:txBody>
          <a:bodyPr wrap="none" anchor="t" lIns="0" rIns="0" tIns="0" bIns="0">
            <a:noAutofit/>
          </a:bodyPr>
          <a:lstStyle/>
          <a:p>
            <a:pPr>
              <a:lnSpc>
                <a:spcPct val="100000"/>
              </a:lnSpc>
              <a:spcAft>
                <a:spcPts val="0"/>
              </a:spcAft>
            </a:pPr>
            <a:r>
              <a:rPr sz="2000" i="1">
                <a:solidFill>
                  <a:srgbClr val="8795A1"/>
                </a:solidFill>
                <a:latin typeface="Consolas"/>
              </a:rPr>
              <a:t>#!/usr/bin/env bash</a:t>
            </a:r>
          </a:p>
          <a:p>
            <a:pPr>
              <a:lnSpc>
                <a:spcPct val="100000"/>
              </a:lnSpc>
              <a:spcAft>
                <a:spcPts val="0"/>
              </a:spcAft>
            </a:pPr>
            <a:r>
              <a:rPr sz="2000" i="1">
                <a:solidFill>
                  <a:srgbClr val="8795A1"/>
                </a:solidFill>
                <a:latin typeface="Consolas"/>
              </a:rPr>
              <a:t># ch09_build.sh -- the build cache, measured, then a sound image.</a:t>
            </a:r>
          </a:p>
          <a:p>
            <a:pPr>
              <a:lnSpc>
                <a:spcPct val="100000"/>
              </a:lnSpc>
              <a:spcAft>
                <a:spcPts val="0"/>
              </a:spcAft>
            </a:pPr>
            <a:r>
              <a:rPr sz="2000" i="0">
                <a:solidFill>
                  <a:srgbClr val="C39BD3"/>
                </a:solidFill>
                <a:latin typeface="Consolas"/>
              </a:rPr>
              <a:t>set</a:t>
            </a:r>
            <a:r>
              <a:rPr sz="2000" i="0">
                <a:solidFill>
                  <a:srgbClr val="E8EDF2"/>
                </a:solidFill>
                <a:latin typeface="Consolas"/>
              </a:rPr>
              <a:t> </a:t>
            </a:r>
            <a:r>
              <a:rPr sz="2000" i="0">
                <a:solidFill>
                  <a:srgbClr val="E8EDF2"/>
                </a:solidFill>
                <a:latin typeface="Consolas"/>
              </a:rPr>
              <a:t>-euo</a:t>
            </a:r>
            <a:r>
              <a:rPr sz="2000" i="0">
                <a:solidFill>
                  <a:srgbClr val="E8EDF2"/>
                </a:solidFill>
                <a:latin typeface="Consolas"/>
              </a:rPr>
              <a:t> </a:t>
            </a:r>
            <a:r>
              <a:rPr sz="2000" i="0">
                <a:solidFill>
                  <a:srgbClr val="E8EDF2"/>
                </a:solidFill>
                <a:latin typeface="Consolas"/>
              </a:rPr>
              <a:t>pipefail</a:t>
            </a:r>
          </a:p>
          <a:p>
            <a:pPr>
              <a:lnSpc>
                <a:spcPct val="100000"/>
              </a:lnSpc>
              <a:spcAft>
                <a:spcPts val="0"/>
              </a:spcAft>
            </a:pPr>
            <a:r>
              <a:rPr sz="2000" i="0">
                <a:solidFill>
                  <a:srgbClr val="E8EDF2"/>
                </a:solidFill>
                <a:latin typeface="Consolas"/>
              </a:rPr>
              <a:t>mkdir</a:t>
            </a:r>
            <a:r>
              <a:rPr sz="2000" i="0">
                <a:solidFill>
                  <a:srgbClr val="E8EDF2"/>
                </a:solidFill>
                <a:latin typeface="Consolas"/>
              </a:rPr>
              <a:t> </a:t>
            </a:r>
            <a:r>
              <a:rPr sz="2000" i="0">
                <a:solidFill>
                  <a:srgbClr val="E8EDF2"/>
                </a:solidFill>
                <a:latin typeface="Consolas"/>
              </a:rPr>
              <a:t>-p</a:t>
            </a:r>
            <a:r>
              <a:rPr sz="2000" i="0">
                <a:solidFill>
                  <a:srgbClr val="E8EDF2"/>
                </a:solidFill>
                <a:latin typeface="Consolas"/>
              </a:rPr>
              <a:t> </a:t>
            </a:r>
            <a:r>
              <a:rPr sz="2000" i="0">
                <a:solidFill>
                  <a:srgbClr val="E8EDF2"/>
                </a:solidFill>
                <a:latin typeface="Consolas"/>
              </a:rPr>
              <a:t>~/vsapp</a:t>
            </a:r>
            <a:r>
              <a:rPr sz="2000" i="0">
                <a:solidFill>
                  <a:srgbClr val="E8EDF2"/>
                </a:solidFill>
                <a:latin typeface="Consolas"/>
              </a:rPr>
              <a:t> </a:t>
            </a:r>
            <a:r>
              <a:rPr sz="2000" i="0">
                <a:solidFill>
                  <a:srgbClr val="AEB6BF"/>
                </a:solidFill>
                <a:latin typeface="Consolas"/>
              </a:rPr>
              <a:t>&amp;&amp;</a:t>
            </a:r>
            <a:r>
              <a:rPr sz="2000" i="0">
                <a:solidFill>
                  <a:srgbClr val="E8EDF2"/>
                </a:solidFill>
                <a:latin typeface="Consolas"/>
              </a:rPr>
              <a:t> </a:t>
            </a:r>
            <a:r>
              <a:rPr sz="2000" i="0">
                <a:solidFill>
                  <a:srgbClr val="C39BD3"/>
                </a:solidFill>
                <a:latin typeface="Consolas"/>
              </a:rPr>
              <a:t>cd</a:t>
            </a:r>
            <a:r>
              <a:rPr sz="2000" i="0">
                <a:solidFill>
                  <a:srgbClr val="E8EDF2"/>
                </a:solidFill>
                <a:latin typeface="Consolas"/>
              </a:rPr>
              <a:t> </a:t>
            </a:r>
            <a:r>
              <a:rPr sz="2000" i="0">
                <a:solidFill>
                  <a:srgbClr val="E8EDF2"/>
                </a:solidFill>
                <a:latin typeface="Consolas"/>
              </a:rPr>
              <a:t>~/vsapp</a:t>
            </a:r>
          </a:p>
        </p:txBody>
      </p:sp>
      <p:sp>
        <p:nvSpPr>
          <p:cNvPr id="15" name="!!code-num"/>
          <p:cNvSpPr txBox="1"/>
          <p:nvPr/>
        </p:nvSpPr>
        <p:spPr>
          <a:xfrm>
            <a:off x="768096" y="2523744"/>
            <a:ext cx="393192" cy="13289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1</a:t>
            </a:r>
          </a:p>
          <a:p>
            <a:pPr algn="r">
              <a:lnSpc>
                <a:spcPct val="100000"/>
              </a:lnSpc>
            </a:pPr>
            <a:r>
              <a:rPr sz="2000">
                <a:solidFill>
                  <a:srgbClr val="4F5D6A"/>
                </a:solidFill>
                <a:latin typeface="Consolas"/>
              </a:rPr>
              <a:t>2</a:t>
            </a:r>
          </a:p>
          <a:p>
            <a:pPr algn="r">
              <a:lnSpc>
                <a:spcPct val="100000"/>
              </a:lnSpc>
            </a:pPr>
            <a:r>
              <a:rPr sz="2000">
                <a:solidFill>
                  <a:srgbClr val="4F5D6A"/>
                </a:solidFill>
                <a:latin typeface="Consolas"/>
              </a:rPr>
              <a:t>3</a:t>
            </a:r>
          </a:p>
          <a:p>
            <a:pPr algn="r">
              <a:lnSpc>
                <a:spcPct val="100000"/>
              </a:lnSpc>
            </a:pPr>
            <a:r>
              <a:rPr sz="2000">
                <a:solidFill>
                  <a:srgbClr val="4F5D6A"/>
                </a:solidFill>
                <a:latin typeface="Consolas"/>
              </a:rPr>
              <a:t>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37293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Measuring the Build Cache, and Fixing 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10</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9  ·  Docker and the Container Ecosystem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72     </a:t>
            </a:r>
            <a:fld id="{5A4B3243-FA72-4E54-BF70-590B944FABBD}" type="slidenum">
              <a:rPr lang="en-GB" sz="1000">
                <a:solidFill>
                  <a:srgbClr val="8795A1"/>
                </a:solidFill>
                <a:latin typeface="Segoe UI"/>
              </a:rPr>
              <a:t>24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 small application with real dependencies.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169664"/>
          </a:xfrm>
          <a:prstGeom prst="roundRect">
            <a:avLst>
              <a:gd name="adj" fmla="val 219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1. A small application with real dependencies. -------------------- cat &gt; requirements.txt &lt;&lt;'REQ' flask==3.0.3 requests==2.32.3 REQ cat &gt; main.py &lt;&lt;'PY' from flask import Flask app = Flask(__name__) @app.route(&quot;/&quot;) def index(): return &quot;virtual systems and services\n&quot; PY"/>
          <p:cNvSpPr txBox="1"/>
          <p:nvPr/>
        </p:nvSpPr>
        <p:spPr>
          <a:xfrm>
            <a:off x="1362456" y="2523744"/>
            <a:ext cx="9987991" cy="367588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--- 1. A small application with real dependencies. --------------------</a:t>
            </a:r>
          </a:p>
          <a:p>
            <a:pPr>
              <a:lnSpc>
                <a:spcPct val="100000"/>
              </a:lnSpc>
              <a:spcAft>
                <a:spcPts val="0"/>
              </a:spcAft>
            </a:pPr>
            <a:r>
              <a:rPr sz="1800" i="0">
                <a:solidFill>
                  <a:srgbClr val="E8EDF2"/>
                </a:solidFill>
                <a:latin typeface="Consolas"/>
              </a:rPr>
              <a:t>cat</a:t>
            </a:r>
            <a:r>
              <a:rPr sz="1800" i="0">
                <a:solidFill>
                  <a:srgbClr val="E8EDF2"/>
                </a:solidFill>
                <a:latin typeface="Consolas"/>
              </a:rPr>
              <a:t> </a:t>
            </a:r>
            <a:r>
              <a:rPr sz="1800" i="0">
                <a:solidFill>
                  <a:srgbClr val="E8EDF2"/>
                </a:solidFill>
                <a:latin typeface="Consolas"/>
              </a:rPr>
              <a:t>&gt;</a:t>
            </a:r>
            <a:r>
              <a:rPr sz="1800" i="0">
                <a:solidFill>
                  <a:srgbClr val="E8EDF2"/>
                </a:solidFill>
                <a:latin typeface="Consolas"/>
              </a:rPr>
              <a:t> </a:t>
            </a:r>
            <a:r>
              <a:rPr sz="1800" i="0">
                <a:solidFill>
                  <a:srgbClr val="E8EDF2"/>
                </a:solidFill>
                <a:latin typeface="Consolas"/>
              </a:rPr>
              <a:t>requirements.txt</a:t>
            </a:r>
            <a:r>
              <a:rPr sz="1800" i="0">
                <a:solidFill>
                  <a:srgbClr val="E8EDF2"/>
                </a:solidFill>
                <a:latin typeface="Consolas"/>
              </a:rPr>
              <a:t> </a:t>
            </a:r>
            <a:r>
              <a:rPr sz="1800" i="0">
                <a:solidFill>
                  <a:srgbClr val="7DCEA0"/>
                </a:solidFill>
                <a:latin typeface="Consolas"/>
              </a:rPr>
              <a:t>&lt;&lt;'REQ'</a:t>
            </a:r>
          </a:p>
          <a:p>
            <a:pPr>
              <a:lnSpc>
                <a:spcPct val="100000"/>
              </a:lnSpc>
              <a:spcAft>
                <a:spcPts val="0"/>
              </a:spcAft>
            </a:pPr>
            <a:r>
              <a:rPr sz="1800" i="0">
                <a:solidFill>
                  <a:srgbClr val="7DCEA0"/>
                </a:solidFill>
                <a:latin typeface="Consolas"/>
              </a:rPr>
              <a:t>flask==3.0.3</a:t>
            </a:r>
          </a:p>
          <a:p>
            <a:pPr>
              <a:lnSpc>
                <a:spcPct val="100000"/>
              </a:lnSpc>
              <a:spcAft>
                <a:spcPts val="0"/>
              </a:spcAft>
            </a:pPr>
            <a:r>
              <a:rPr sz="1800" i="0">
                <a:solidFill>
                  <a:srgbClr val="7DCEA0"/>
                </a:solidFill>
                <a:latin typeface="Consolas"/>
              </a:rPr>
              <a:t>requests==2.32.3</a:t>
            </a:r>
          </a:p>
          <a:p>
            <a:pPr>
              <a:lnSpc>
                <a:spcPct val="100000"/>
              </a:lnSpc>
              <a:spcAft>
                <a:spcPts val="0"/>
              </a:spcAft>
            </a:pPr>
            <a:r>
              <a:rPr sz="1800" i="0">
                <a:solidFill>
                  <a:srgbClr val="7DCEA0"/>
                </a:solidFill>
                <a:latin typeface="Consolas"/>
              </a:rPr>
              <a:t>REQ</a:t>
            </a:r>
          </a:p>
          <a:p>
            <a:pPr>
              <a:lnSpc>
                <a:spcPct val="100000"/>
              </a:lnSpc>
              <a:spcAft>
                <a:spcPts val="0"/>
              </a:spcAft>
            </a:pPr>
            <a:r>
              <a:rPr sz="1800" i="0">
                <a:solidFill>
                  <a:srgbClr val="E8EDF2"/>
                </a:solidFill>
                <a:latin typeface="Consolas"/>
              </a:rPr>
              <a:t>cat</a:t>
            </a:r>
            <a:r>
              <a:rPr sz="1800" i="0">
                <a:solidFill>
                  <a:srgbClr val="E8EDF2"/>
                </a:solidFill>
                <a:latin typeface="Consolas"/>
              </a:rPr>
              <a:t> </a:t>
            </a:r>
            <a:r>
              <a:rPr sz="1800" i="0">
                <a:solidFill>
                  <a:srgbClr val="E8EDF2"/>
                </a:solidFill>
                <a:latin typeface="Consolas"/>
              </a:rPr>
              <a:t>&gt;</a:t>
            </a:r>
            <a:r>
              <a:rPr sz="1800" i="0">
                <a:solidFill>
                  <a:srgbClr val="E8EDF2"/>
                </a:solidFill>
                <a:latin typeface="Consolas"/>
              </a:rPr>
              <a:t> </a:t>
            </a:r>
            <a:r>
              <a:rPr sz="1800" i="0">
                <a:solidFill>
                  <a:srgbClr val="E8EDF2"/>
                </a:solidFill>
                <a:latin typeface="Consolas"/>
              </a:rPr>
              <a:t>main.py</a:t>
            </a:r>
            <a:r>
              <a:rPr sz="1800" i="0">
                <a:solidFill>
                  <a:srgbClr val="E8EDF2"/>
                </a:solidFill>
                <a:latin typeface="Consolas"/>
              </a:rPr>
              <a:t> </a:t>
            </a:r>
            <a:r>
              <a:rPr sz="1800" i="0">
                <a:solidFill>
                  <a:srgbClr val="7DCEA0"/>
                </a:solidFill>
                <a:latin typeface="Consolas"/>
              </a:rPr>
              <a:t>&lt;&lt;'PY'</a:t>
            </a:r>
          </a:p>
          <a:p>
            <a:pPr>
              <a:lnSpc>
                <a:spcPct val="100000"/>
              </a:lnSpc>
              <a:spcAft>
                <a:spcPts val="0"/>
              </a:spcAft>
            </a:pPr>
            <a:r>
              <a:rPr sz="1800" i="0">
                <a:solidFill>
                  <a:srgbClr val="7DCEA0"/>
                </a:solidFill>
                <a:latin typeface="Consolas"/>
              </a:rPr>
              <a:t>from flask import Flask</a:t>
            </a:r>
          </a:p>
          <a:p>
            <a:pPr>
              <a:lnSpc>
                <a:spcPct val="100000"/>
              </a:lnSpc>
              <a:spcAft>
                <a:spcPts val="0"/>
              </a:spcAft>
            </a:pPr>
            <a:r>
              <a:rPr sz="1800" i="0">
                <a:solidFill>
                  <a:srgbClr val="7DCEA0"/>
                </a:solidFill>
                <a:latin typeface="Consolas"/>
              </a:rPr>
              <a:t>app = Flask(__name__)</a:t>
            </a:r>
          </a:p>
          <a:p>
            <a:pPr>
              <a:lnSpc>
                <a:spcPct val="100000"/>
              </a:lnSpc>
              <a:spcAft>
                <a:spcPts val="0"/>
              </a:spcAft>
            </a:pPr>
            <a:r>
              <a:rPr sz="1800">
                <a:latin typeface="Consolas"/>
              </a:rPr>
              <a:t> </a:t>
            </a:r>
          </a:p>
          <a:p>
            <a:pPr>
              <a:lnSpc>
                <a:spcPct val="100000"/>
              </a:lnSpc>
              <a:spcAft>
                <a:spcPts val="0"/>
              </a:spcAft>
            </a:pPr>
            <a:r>
              <a:rPr sz="1800" i="0">
                <a:solidFill>
                  <a:srgbClr val="7DCEA0"/>
                </a:solidFill>
                <a:latin typeface="Consolas"/>
              </a:rPr>
              <a:t>@app.route("/")</a:t>
            </a:r>
          </a:p>
          <a:p>
            <a:pPr>
              <a:lnSpc>
                <a:spcPct val="100000"/>
              </a:lnSpc>
              <a:spcAft>
                <a:spcPts val="0"/>
              </a:spcAft>
            </a:pPr>
            <a:r>
              <a:rPr sz="1800" i="0">
                <a:solidFill>
                  <a:srgbClr val="7DCEA0"/>
                </a:solidFill>
                <a:latin typeface="Consolas"/>
              </a:rPr>
              <a:t>def index():</a:t>
            </a:r>
          </a:p>
          <a:p>
            <a:pPr>
              <a:lnSpc>
                <a:spcPct val="100000"/>
              </a:lnSpc>
              <a:spcAft>
                <a:spcPts val="0"/>
              </a:spcAft>
            </a:pPr>
            <a:r>
              <a:rPr sz="1800" i="0">
                <a:solidFill>
                  <a:srgbClr val="7DCEA0"/>
                </a:solidFill>
                <a:latin typeface="Consolas"/>
              </a:rPr>
              <a:t>    return "virtual systems and services\n"</a:t>
            </a:r>
          </a:p>
          <a:p>
            <a:pPr>
              <a:lnSpc>
                <a:spcPct val="100000"/>
              </a:lnSpc>
              <a:spcAft>
                <a:spcPts val="0"/>
              </a:spcAft>
            </a:pPr>
            <a:r>
              <a:rPr sz="1800" i="0">
                <a:solidFill>
                  <a:srgbClr val="7DCEA0"/>
                </a:solidFill>
                <a:latin typeface="Consolas"/>
              </a:rPr>
              <a:t>PY</a:t>
            </a:r>
          </a:p>
        </p:txBody>
      </p:sp>
      <p:sp>
        <p:nvSpPr>
          <p:cNvPr id="15" name="!!code-num"/>
          <p:cNvSpPr txBox="1"/>
          <p:nvPr/>
        </p:nvSpPr>
        <p:spPr>
          <a:xfrm>
            <a:off x="768096" y="2523744"/>
            <a:ext cx="393192" cy="367588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6</a:t>
            </a:r>
          </a:p>
          <a:p>
            <a:pPr algn="r">
              <a:lnSpc>
                <a:spcPct val="100000"/>
              </a:lnSpc>
            </a:pPr>
            <a:r>
              <a:rPr sz="1800">
                <a:solidFill>
                  <a:srgbClr val="4F5D6A"/>
                </a:solidFill>
                <a:latin typeface="Consolas"/>
              </a:rPr>
              <a:t>7</a:t>
            </a:r>
          </a:p>
          <a:p>
            <a:pPr algn="r">
              <a:lnSpc>
                <a:spcPct val="100000"/>
              </a:lnSpc>
            </a:pPr>
            <a:r>
              <a:rPr sz="1800">
                <a:solidFill>
                  <a:srgbClr val="4F5D6A"/>
                </a:solidFill>
                <a:latin typeface="Consolas"/>
              </a:rPr>
              <a:t>8</a:t>
            </a:r>
          </a:p>
          <a:p>
            <a:pPr algn="r">
              <a:lnSpc>
                <a:spcPct val="100000"/>
              </a:lnSpc>
            </a:pPr>
            <a:r>
              <a:rPr sz="1800">
                <a:solidFill>
                  <a:srgbClr val="4F5D6A"/>
                </a:solidFill>
                <a:latin typeface="Consolas"/>
              </a:rPr>
              <a:t>9</a:t>
            </a:r>
          </a:p>
          <a:p>
            <a:pPr algn="r">
              <a:lnSpc>
                <a:spcPct val="100000"/>
              </a:lnSpc>
            </a:pPr>
            <a:r>
              <a:rPr sz="1800">
                <a:solidFill>
                  <a:srgbClr val="4F5D6A"/>
                </a:solidFill>
                <a:latin typeface="Consolas"/>
              </a:rPr>
              <a:t>10</a:t>
            </a:r>
          </a:p>
          <a:p>
            <a:pPr algn="r">
              <a:lnSpc>
                <a:spcPct val="100000"/>
              </a:lnSpc>
            </a:pPr>
            <a:r>
              <a:rPr sz="1800">
                <a:solidFill>
                  <a:srgbClr val="4F5D6A"/>
                </a:solidFill>
                <a:latin typeface="Consolas"/>
              </a:rPr>
              <a:t>11</a:t>
            </a:r>
          </a:p>
          <a:p>
            <a:pPr algn="r">
              <a:lnSpc>
                <a:spcPct val="100000"/>
              </a:lnSpc>
            </a:pPr>
            <a:r>
              <a:rPr sz="1800">
                <a:solidFill>
                  <a:srgbClr val="4F5D6A"/>
                </a:solidFill>
                <a:latin typeface="Consolas"/>
              </a:rPr>
              <a:t>12</a:t>
            </a:r>
          </a:p>
          <a:p>
            <a:pPr algn="r">
              <a:lnSpc>
                <a:spcPct val="100000"/>
              </a:lnSpc>
            </a:pPr>
            <a:r>
              <a:rPr sz="1800">
                <a:solidFill>
                  <a:srgbClr val="4F5D6A"/>
                </a:solidFill>
                <a:latin typeface="Consolas"/>
              </a:rPr>
              <a:t>13</a:t>
            </a:r>
          </a:p>
          <a:p>
            <a:pPr algn="r">
              <a:lnSpc>
                <a:spcPct val="100000"/>
              </a:lnSpc>
            </a:pPr>
            <a:r>
              <a:rPr sz="1800">
                <a:solidFill>
                  <a:srgbClr val="4F5D6A"/>
                </a:solidFill>
                <a:latin typeface="Consolas"/>
              </a:rPr>
              <a:t>14</a:t>
            </a:r>
          </a:p>
          <a:p>
            <a:pPr algn="r">
              <a:lnSpc>
                <a:spcPct val="100000"/>
              </a:lnSpc>
            </a:pPr>
            <a:r>
              <a:rPr sz="1800">
                <a:solidFill>
                  <a:srgbClr val="4F5D6A"/>
                </a:solidFill>
                <a:latin typeface="Consolas"/>
              </a:rPr>
              <a:t>15</a:t>
            </a:r>
          </a:p>
          <a:p>
            <a:pPr algn="r">
              <a:lnSpc>
                <a:spcPct val="100000"/>
              </a:lnSpc>
            </a:pPr>
            <a:r>
              <a:rPr sz="1800">
                <a:solidFill>
                  <a:srgbClr val="4F5D6A"/>
                </a:solidFill>
                <a:latin typeface="Consolas"/>
              </a:rPr>
              <a:t>16</a:t>
            </a:r>
          </a:p>
          <a:p>
            <a:pPr algn="r">
              <a:lnSpc>
                <a:spcPct val="100000"/>
              </a:lnSpc>
            </a:pPr>
            <a:r>
              <a:rPr sz="1800">
                <a:solidFill>
                  <a:srgbClr val="4F5D6A"/>
                </a:solidFill>
                <a:latin typeface="Consolas"/>
              </a:rPr>
              <a:t>17</a:t>
            </a:r>
          </a:p>
          <a:p>
            <a:pPr algn="r">
              <a:lnSpc>
                <a:spcPct val="100000"/>
              </a:lnSpc>
            </a:pPr>
            <a:r>
              <a:rPr sz="1800">
                <a:solidFill>
                  <a:srgbClr val="4F5D6A"/>
                </a:solidFill>
                <a:latin typeface="Consolas"/>
              </a:rPr>
              <a:t>18</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65001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Measuring the Build Cache, and Fixing 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10</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9  ·  Docker and the Container Ecosystem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72     </a:t>
            </a:r>
            <a:fld id="{DC5F6977-88B9-42FA-810F-7440C4BA18B2}" type="slidenum">
              <a:rPr lang="en-GB" sz="1000">
                <a:solidFill>
                  <a:srgbClr val="8795A1"/>
                </a:solidFill>
                <a:latin typeface="Segoe UI"/>
              </a:rPr>
              <a:t>25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wrong order: source copied before dependencies.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209544"/>
          </a:xfrm>
          <a:prstGeom prst="roundRect">
            <a:avLst>
              <a:gd name="adj" fmla="val 2849"/>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2. The wrong order: source copied before dependencies. ----------- cat &gt; Dockerfile.wrong &lt;&lt;'DF' FROM python:3.12-slim WORKDIR /app COPY . /app RUN pip install --no-cache-dir -r requirements.txt CMD [&quot;python&quot;, &quot;-m&quot;, &quot;flask&quot;, &quot;run&quot;, &quot;--host=0.0.0.0&quot;] DF docker build -q -f Dockerfile.wrong -t vsapp:wrong . &gt; /dev/null"/>
          <p:cNvSpPr txBox="1"/>
          <p:nvPr/>
        </p:nvSpPr>
        <p:spPr>
          <a:xfrm>
            <a:off x="1362456" y="2523744"/>
            <a:ext cx="9987991" cy="271576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--- 2. The wrong order: source copied before dependencies. -----------</a:t>
            </a:r>
          </a:p>
          <a:p>
            <a:pPr>
              <a:lnSpc>
                <a:spcPct val="100000"/>
              </a:lnSpc>
              <a:spcAft>
                <a:spcPts val="0"/>
              </a:spcAft>
            </a:pPr>
            <a:r>
              <a:rPr sz="1900" i="0">
                <a:solidFill>
                  <a:srgbClr val="E8EDF2"/>
                </a:solidFill>
                <a:latin typeface="Consolas"/>
              </a:rPr>
              <a:t>cat</a:t>
            </a:r>
            <a:r>
              <a:rPr sz="1900" i="0">
                <a:solidFill>
                  <a:srgbClr val="E8EDF2"/>
                </a:solidFill>
                <a:latin typeface="Consolas"/>
              </a:rPr>
              <a:t> </a:t>
            </a:r>
            <a:r>
              <a:rPr sz="1900" i="0">
                <a:solidFill>
                  <a:srgbClr val="E8EDF2"/>
                </a:solidFill>
                <a:latin typeface="Consolas"/>
              </a:rPr>
              <a:t>&gt;</a:t>
            </a:r>
            <a:r>
              <a:rPr sz="1900" i="0">
                <a:solidFill>
                  <a:srgbClr val="E8EDF2"/>
                </a:solidFill>
                <a:latin typeface="Consolas"/>
              </a:rPr>
              <a:t> </a:t>
            </a:r>
            <a:r>
              <a:rPr sz="1900" i="0">
                <a:solidFill>
                  <a:srgbClr val="E8EDF2"/>
                </a:solidFill>
                <a:latin typeface="Consolas"/>
              </a:rPr>
              <a:t>Dockerfile.wrong</a:t>
            </a:r>
            <a:r>
              <a:rPr sz="1900" i="0">
                <a:solidFill>
                  <a:srgbClr val="E8EDF2"/>
                </a:solidFill>
                <a:latin typeface="Consolas"/>
              </a:rPr>
              <a:t> </a:t>
            </a:r>
            <a:r>
              <a:rPr sz="1900" i="0">
                <a:solidFill>
                  <a:srgbClr val="7DCEA0"/>
                </a:solidFill>
                <a:latin typeface="Consolas"/>
              </a:rPr>
              <a:t>&lt;&lt;'DF'</a:t>
            </a:r>
          </a:p>
          <a:p>
            <a:pPr>
              <a:lnSpc>
                <a:spcPct val="100000"/>
              </a:lnSpc>
              <a:spcAft>
                <a:spcPts val="0"/>
              </a:spcAft>
            </a:pPr>
            <a:r>
              <a:rPr sz="1900" i="0">
                <a:solidFill>
                  <a:srgbClr val="7DCEA0"/>
                </a:solidFill>
                <a:latin typeface="Consolas"/>
              </a:rPr>
              <a:t>FROM python:3.12-slim</a:t>
            </a:r>
          </a:p>
          <a:p>
            <a:pPr>
              <a:lnSpc>
                <a:spcPct val="100000"/>
              </a:lnSpc>
              <a:spcAft>
                <a:spcPts val="0"/>
              </a:spcAft>
            </a:pPr>
            <a:r>
              <a:rPr sz="1900" i="0">
                <a:solidFill>
                  <a:srgbClr val="7DCEA0"/>
                </a:solidFill>
                <a:latin typeface="Consolas"/>
              </a:rPr>
              <a:t>WORKDIR /app</a:t>
            </a:r>
          </a:p>
          <a:p>
            <a:pPr>
              <a:lnSpc>
                <a:spcPct val="100000"/>
              </a:lnSpc>
              <a:spcAft>
                <a:spcPts val="0"/>
              </a:spcAft>
            </a:pPr>
            <a:r>
              <a:rPr sz="1900" i="0">
                <a:solidFill>
                  <a:srgbClr val="7DCEA0"/>
                </a:solidFill>
                <a:latin typeface="Consolas"/>
              </a:rPr>
              <a:t>COPY . /app</a:t>
            </a:r>
          </a:p>
          <a:p>
            <a:pPr>
              <a:lnSpc>
                <a:spcPct val="100000"/>
              </a:lnSpc>
              <a:spcAft>
                <a:spcPts val="0"/>
              </a:spcAft>
            </a:pPr>
            <a:r>
              <a:rPr sz="1900" i="0">
                <a:solidFill>
                  <a:srgbClr val="7DCEA0"/>
                </a:solidFill>
                <a:latin typeface="Consolas"/>
              </a:rPr>
              <a:t>RUN pip install --no-cache-dir -r requirements.txt</a:t>
            </a:r>
          </a:p>
          <a:p>
            <a:pPr>
              <a:lnSpc>
                <a:spcPct val="100000"/>
              </a:lnSpc>
              <a:spcAft>
                <a:spcPts val="0"/>
              </a:spcAft>
            </a:pPr>
            <a:r>
              <a:rPr sz="1900" i="0">
                <a:solidFill>
                  <a:srgbClr val="7DCEA0"/>
                </a:solidFill>
                <a:latin typeface="Consolas"/>
              </a:rPr>
              <a:t>CMD ["python", "-m", "flask", "run", "--host=0.0.0.0"]</a:t>
            </a:r>
          </a:p>
          <a:p>
            <a:pPr>
              <a:lnSpc>
                <a:spcPct val="100000"/>
              </a:lnSpc>
              <a:spcAft>
                <a:spcPts val="0"/>
              </a:spcAft>
            </a:pPr>
            <a:r>
              <a:rPr sz="1900" i="0">
                <a:solidFill>
                  <a:srgbClr val="7DCEA0"/>
                </a:solidFill>
                <a:latin typeface="Consolas"/>
              </a:rPr>
              <a:t>DF</a:t>
            </a:r>
          </a:p>
          <a:p>
            <a:pPr>
              <a:lnSpc>
                <a:spcPct val="100000"/>
              </a:lnSpc>
              <a:spcAft>
                <a:spcPts val="0"/>
              </a:spcAft>
            </a:pPr>
            <a:r>
              <a:rPr sz="1900" i="0">
                <a:solidFill>
                  <a:srgbClr val="E8EDF2"/>
                </a:solidFill>
                <a:latin typeface="Consolas"/>
              </a:rPr>
              <a:t>docker</a:t>
            </a:r>
            <a:r>
              <a:rPr sz="1900" i="0">
                <a:solidFill>
                  <a:srgbClr val="E8EDF2"/>
                </a:solidFill>
                <a:latin typeface="Consolas"/>
              </a:rPr>
              <a:t> </a:t>
            </a:r>
            <a:r>
              <a:rPr sz="1900" i="0">
                <a:solidFill>
                  <a:srgbClr val="E8EDF2"/>
                </a:solidFill>
                <a:latin typeface="Consolas"/>
              </a:rPr>
              <a:t>build</a:t>
            </a:r>
            <a:r>
              <a:rPr sz="1900" i="0">
                <a:solidFill>
                  <a:srgbClr val="E8EDF2"/>
                </a:solidFill>
                <a:latin typeface="Consolas"/>
              </a:rPr>
              <a:t> </a:t>
            </a:r>
            <a:r>
              <a:rPr sz="1900" i="0">
                <a:solidFill>
                  <a:srgbClr val="E8EDF2"/>
                </a:solidFill>
                <a:latin typeface="Consolas"/>
              </a:rPr>
              <a:t>-q</a:t>
            </a:r>
            <a:r>
              <a:rPr sz="1900" i="0">
                <a:solidFill>
                  <a:srgbClr val="E8EDF2"/>
                </a:solidFill>
                <a:latin typeface="Consolas"/>
              </a:rPr>
              <a:t> </a:t>
            </a:r>
            <a:r>
              <a:rPr sz="1900" i="0">
                <a:solidFill>
                  <a:srgbClr val="E8EDF2"/>
                </a:solidFill>
                <a:latin typeface="Consolas"/>
              </a:rPr>
              <a:t>-f</a:t>
            </a:r>
            <a:r>
              <a:rPr sz="1900" i="0">
                <a:solidFill>
                  <a:srgbClr val="E8EDF2"/>
                </a:solidFill>
                <a:latin typeface="Consolas"/>
              </a:rPr>
              <a:t> </a:t>
            </a:r>
            <a:r>
              <a:rPr sz="1900" i="0">
                <a:solidFill>
                  <a:srgbClr val="E8EDF2"/>
                </a:solidFill>
                <a:latin typeface="Consolas"/>
              </a:rPr>
              <a:t>Dockerfile.wrong</a:t>
            </a:r>
            <a:r>
              <a:rPr sz="1900" i="0">
                <a:solidFill>
                  <a:srgbClr val="E8EDF2"/>
                </a:solidFill>
                <a:latin typeface="Consolas"/>
              </a:rPr>
              <a:t> </a:t>
            </a:r>
            <a:r>
              <a:rPr sz="1900" i="0">
                <a:solidFill>
                  <a:srgbClr val="E8EDF2"/>
                </a:solidFill>
                <a:latin typeface="Consolas"/>
              </a:rPr>
              <a:t>-t</a:t>
            </a:r>
            <a:r>
              <a:rPr sz="1900" i="0">
                <a:solidFill>
                  <a:srgbClr val="E8EDF2"/>
                </a:solidFill>
                <a:latin typeface="Consolas"/>
              </a:rPr>
              <a:t> </a:t>
            </a:r>
            <a:r>
              <a:rPr sz="1900" i="0">
                <a:solidFill>
                  <a:srgbClr val="E8EDF2"/>
                </a:solidFill>
                <a:latin typeface="Consolas"/>
              </a:rPr>
              <a:t>vsapp:wrong</a:t>
            </a:r>
            <a:r>
              <a:rPr sz="1900" i="0">
                <a:solidFill>
                  <a:srgbClr val="E8EDF2"/>
                </a:solidFill>
                <a:latin typeface="Consolas"/>
              </a:rPr>
              <a:t> </a:t>
            </a:r>
            <a:r>
              <a:rPr sz="1900" i="0">
                <a:solidFill>
                  <a:srgbClr val="E8EDF2"/>
                </a:solidFill>
                <a:latin typeface="Consolas"/>
              </a:rPr>
              <a:t>.</a:t>
            </a:r>
            <a:r>
              <a:rPr sz="1900" i="0">
                <a:solidFill>
                  <a:srgbClr val="E8EDF2"/>
                </a:solidFill>
                <a:latin typeface="Consolas"/>
              </a:rPr>
              <a:t> </a:t>
            </a:r>
            <a:r>
              <a:rPr sz="1900" i="0">
                <a:solidFill>
                  <a:srgbClr val="E8EDF2"/>
                </a:solidFill>
                <a:latin typeface="Consolas"/>
              </a:rPr>
              <a:t>&gt;</a:t>
            </a:r>
            <a:r>
              <a:rPr sz="1900" i="0">
                <a:solidFill>
                  <a:srgbClr val="E8EDF2"/>
                </a:solidFill>
                <a:latin typeface="Consolas"/>
              </a:rPr>
              <a:t> </a:t>
            </a:r>
            <a:r>
              <a:rPr sz="1900" i="0">
                <a:solidFill>
                  <a:srgbClr val="E8EDF2"/>
                </a:solidFill>
                <a:latin typeface="Consolas"/>
              </a:rPr>
              <a:t>/dev/null</a:t>
            </a:r>
          </a:p>
        </p:txBody>
      </p:sp>
      <p:sp>
        <p:nvSpPr>
          <p:cNvPr id="15" name="!!code-num"/>
          <p:cNvSpPr txBox="1"/>
          <p:nvPr/>
        </p:nvSpPr>
        <p:spPr>
          <a:xfrm>
            <a:off x="768096" y="2523744"/>
            <a:ext cx="393192" cy="271576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20</a:t>
            </a:r>
          </a:p>
          <a:p>
            <a:pPr algn="r">
              <a:lnSpc>
                <a:spcPct val="100000"/>
              </a:lnSpc>
            </a:pPr>
            <a:r>
              <a:rPr sz="1900">
                <a:solidFill>
                  <a:srgbClr val="4F5D6A"/>
                </a:solidFill>
                <a:latin typeface="Consolas"/>
              </a:rPr>
              <a:t>21</a:t>
            </a:r>
          </a:p>
          <a:p>
            <a:pPr algn="r">
              <a:lnSpc>
                <a:spcPct val="100000"/>
              </a:lnSpc>
            </a:pPr>
            <a:r>
              <a:rPr sz="1900">
                <a:solidFill>
                  <a:srgbClr val="4F5D6A"/>
                </a:solidFill>
                <a:latin typeface="Consolas"/>
              </a:rPr>
              <a:t>22</a:t>
            </a:r>
          </a:p>
          <a:p>
            <a:pPr algn="r">
              <a:lnSpc>
                <a:spcPct val="100000"/>
              </a:lnSpc>
            </a:pPr>
            <a:r>
              <a:rPr sz="1900">
                <a:solidFill>
                  <a:srgbClr val="4F5D6A"/>
                </a:solidFill>
                <a:latin typeface="Consolas"/>
              </a:rPr>
              <a:t>23</a:t>
            </a:r>
          </a:p>
          <a:p>
            <a:pPr algn="r">
              <a:lnSpc>
                <a:spcPct val="100000"/>
              </a:lnSpc>
            </a:pPr>
            <a:r>
              <a:rPr sz="1900">
                <a:solidFill>
                  <a:srgbClr val="4F5D6A"/>
                </a:solidFill>
                <a:latin typeface="Consolas"/>
              </a:rPr>
              <a:t>24</a:t>
            </a:r>
          </a:p>
          <a:p>
            <a:pPr algn="r">
              <a:lnSpc>
                <a:spcPct val="100000"/>
              </a:lnSpc>
            </a:pPr>
            <a:r>
              <a:rPr sz="1900">
                <a:solidFill>
                  <a:srgbClr val="4F5D6A"/>
                </a:solidFill>
                <a:latin typeface="Consolas"/>
              </a:rPr>
              <a:t>25</a:t>
            </a:r>
          </a:p>
          <a:p>
            <a:pPr algn="r">
              <a:lnSpc>
                <a:spcPct val="100000"/>
              </a:lnSpc>
            </a:pPr>
            <a:r>
              <a:rPr sz="1900">
                <a:solidFill>
                  <a:srgbClr val="4F5D6A"/>
                </a:solidFill>
                <a:latin typeface="Consolas"/>
              </a:rPr>
              <a:t>26</a:t>
            </a:r>
          </a:p>
          <a:p>
            <a:pPr algn="r">
              <a:lnSpc>
                <a:spcPct val="100000"/>
              </a:lnSpc>
            </a:pPr>
            <a:r>
              <a:rPr sz="1900">
                <a:solidFill>
                  <a:srgbClr val="4F5D6A"/>
                </a:solidFill>
                <a:latin typeface="Consolas"/>
              </a:rPr>
              <a:t>27</a:t>
            </a:r>
          </a:p>
          <a:p>
            <a:pPr algn="r">
              <a:lnSpc>
                <a:spcPct val="100000"/>
              </a:lnSpc>
            </a:pPr>
            <a:r>
              <a:rPr sz="1900">
                <a:solidFill>
                  <a:srgbClr val="4F5D6A"/>
                </a:solidFill>
                <a:latin typeface="Consolas"/>
              </a:rPr>
              <a:t>28</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92709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Measuring the Build Cache, and Fixing 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10</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9  ·  Docker and the Container Ecosystem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72     </a:t>
            </a:r>
            <a:fld id="{EE85F9A1-8055-4F95-AE86-25FDFA87C336}" type="slidenum">
              <a:rPr lang="en-GB" sz="1000">
                <a:solidFill>
                  <a:srgbClr val="8795A1"/>
                </a:solidFill>
                <a:latin typeface="Segoe UI"/>
              </a:rPr>
              <a:t>26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right order: dependency list first, then source.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499103"/>
          </a:xfrm>
          <a:prstGeom prst="roundRect">
            <a:avLst>
              <a:gd name="adj" fmla="val 261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3. The right order: dependency list first, then source. ---------- cat &gt; Dockerfile.right &lt;&lt;'DF' FROM python:3.12-slim WORKDIR /app COPY requirements.txt /app/ RUN pip install --no-cache-dir -r requirements.txt COPY . /app CMD [&quot;python&quot;, &quot;-m&quot;, &quot;flask&quot;, &quot;run&quot;, &quot;--host=0.0.0.0&quot;] DF docker build -q -f Dockerfile.right -t vsapp:right . &gt; /dev/null"/>
          <p:cNvSpPr txBox="1"/>
          <p:nvPr/>
        </p:nvSpPr>
        <p:spPr>
          <a:xfrm>
            <a:off x="1362456" y="2523744"/>
            <a:ext cx="9987991" cy="300532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--- 3. The right order: dependency list first, then source. ----------</a:t>
            </a:r>
          </a:p>
          <a:p>
            <a:pPr>
              <a:lnSpc>
                <a:spcPct val="100000"/>
              </a:lnSpc>
              <a:spcAft>
                <a:spcPts val="0"/>
              </a:spcAft>
            </a:pPr>
            <a:r>
              <a:rPr sz="1900" i="0">
                <a:solidFill>
                  <a:srgbClr val="E8EDF2"/>
                </a:solidFill>
                <a:latin typeface="Consolas"/>
              </a:rPr>
              <a:t>cat</a:t>
            </a:r>
            <a:r>
              <a:rPr sz="1900" i="0">
                <a:solidFill>
                  <a:srgbClr val="E8EDF2"/>
                </a:solidFill>
                <a:latin typeface="Consolas"/>
              </a:rPr>
              <a:t> </a:t>
            </a:r>
            <a:r>
              <a:rPr sz="1900" i="0">
                <a:solidFill>
                  <a:srgbClr val="E8EDF2"/>
                </a:solidFill>
                <a:latin typeface="Consolas"/>
              </a:rPr>
              <a:t>&gt;</a:t>
            </a:r>
            <a:r>
              <a:rPr sz="1900" i="0">
                <a:solidFill>
                  <a:srgbClr val="E8EDF2"/>
                </a:solidFill>
                <a:latin typeface="Consolas"/>
              </a:rPr>
              <a:t> </a:t>
            </a:r>
            <a:r>
              <a:rPr sz="1900" i="0">
                <a:solidFill>
                  <a:srgbClr val="E8EDF2"/>
                </a:solidFill>
                <a:latin typeface="Consolas"/>
              </a:rPr>
              <a:t>Dockerfile.right</a:t>
            </a:r>
            <a:r>
              <a:rPr sz="1900" i="0">
                <a:solidFill>
                  <a:srgbClr val="E8EDF2"/>
                </a:solidFill>
                <a:latin typeface="Consolas"/>
              </a:rPr>
              <a:t> </a:t>
            </a:r>
            <a:r>
              <a:rPr sz="1900" i="0">
                <a:solidFill>
                  <a:srgbClr val="7DCEA0"/>
                </a:solidFill>
                <a:latin typeface="Consolas"/>
              </a:rPr>
              <a:t>&lt;&lt;'DF'</a:t>
            </a:r>
          </a:p>
          <a:p>
            <a:pPr>
              <a:lnSpc>
                <a:spcPct val="100000"/>
              </a:lnSpc>
              <a:spcAft>
                <a:spcPts val="0"/>
              </a:spcAft>
            </a:pPr>
            <a:r>
              <a:rPr sz="1900" i="0">
                <a:solidFill>
                  <a:srgbClr val="7DCEA0"/>
                </a:solidFill>
                <a:latin typeface="Consolas"/>
              </a:rPr>
              <a:t>FROM python:3.12-slim</a:t>
            </a:r>
          </a:p>
          <a:p>
            <a:pPr>
              <a:lnSpc>
                <a:spcPct val="100000"/>
              </a:lnSpc>
              <a:spcAft>
                <a:spcPts val="0"/>
              </a:spcAft>
            </a:pPr>
            <a:r>
              <a:rPr sz="1900" i="0">
                <a:solidFill>
                  <a:srgbClr val="7DCEA0"/>
                </a:solidFill>
                <a:latin typeface="Consolas"/>
              </a:rPr>
              <a:t>WORKDIR /app</a:t>
            </a:r>
          </a:p>
          <a:p>
            <a:pPr>
              <a:lnSpc>
                <a:spcPct val="100000"/>
              </a:lnSpc>
              <a:spcAft>
                <a:spcPts val="0"/>
              </a:spcAft>
            </a:pPr>
            <a:r>
              <a:rPr sz="1900" i="0">
                <a:solidFill>
                  <a:srgbClr val="7DCEA0"/>
                </a:solidFill>
                <a:latin typeface="Consolas"/>
              </a:rPr>
              <a:t>COPY requirements.txt /app/</a:t>
            </a:r>
          </a:p>
          <a:p>
            <a:pPr>
              <a:lnSpc>
                <a:spcPct val="100000"/>
              </a:lnSpc>
              <a:spcAft>
                <a:spcPts val="0"/>
              </a:spcAft>
            </a:pPr>
            <a:r>
              <a:rPr sz="1900" i="0">
                <a:solidFill>
                  <a:srgbClr val="7DCEA0"/>
                </a:solidFill>
                <a:latin typeface="Consolas"/>
              </a:rPr>
              <a:t>RUN pip install --no-cache-dir -r requirements.txt</a:t>
            </a:r>
          </a:p>
          <a:p>
            <a:pPr>
              <a:lnSpc>
                <a:spcPct val="100000"/>
              </a:lnSpc>
              <a:spcAft>
                <a:spcPts val="0"/>
              </a:spcAft>
            </a:pPr>
            <a:r>
              <a:rPr sz="1900" i="0">
                <a:solidFill>
                  <a:srgbClr val="7DCEA0"/>
                </a:solidFill>
                <a:latin typeface="Consolas"/>
              </a:rPr>
              <a:t>COPY . /app</a:t>
            </a:r>
          </a:p>
          <a:p>
            <a:pPr>
              <a:lnSpc>
                <a:spcPct val="100000"/>
              </a:lnSpc>
              <a:spcAft>
                <a:spcPts val="0"/>
              </a:spcAft>
            </a:pPr>
            <a:r>
              <a:rPr sz="1900" i="0">
                <a:solidFill>
                  <a:srgbClr val="7DCEA0"/>
                </a:solidFill>
                <a:latin typeface="Consolas"/>
              </a:rPr>
              <a:t>CMD ["python", "-m", "flask", "run", "--host=0.0.0.0"]</a:t>
            </a:r>
          </a:p>
          <a:p>
            <a:pPr>
              <a:lnSpc>
                <a:spcPct val="100000"/>
              </a:lnSpc>
              <a:spcAft>
                <a:spcPts val="0"/>
              </a:spcAft>
            </a:pPr>
            <a:r>
              <a:rPr sz="1900" i="0">
                <a:solidFill>
                  <a:srgbClr val="7DCEA0"/>
                </a:solidFill>
                <a:latin typeface="Consolas"/>
              </a:rPr>
              <a:t>DF</a:t>
            </a:r>
          </a:p>
          <a:p>
            <a:pPr>
              <a:lnSpc>
                <a:spcPct val="100000"/>
              </a:lnSpc>
              <a:spcAft>
                <a:spcPts val="0"/>
              </a:spcAft>
            </a:pPr>
            <a:r>
              <a:rPr sz="1900" i="0">
                <a:solidFill>
                  <a:srgbClr val="E8EDF2"/>
                </a:solidFill>
                <a:latin typeface="Consolas"/>
              </a:rPr>
              <a:t>docker</a:t>
            </a:r>
            <a:r>
              <a:rPr sz="1900" i="0">
                <a:solidFill>
                  <a:srgbClr val="E8EDF2"/>
                </a:solidFill>
                <a:latin typeface="Consolas"/>
              </a:rPr>
              <a:t> </a:t>
            </a:r>
            <a:r>
              <a:rPr sz="1900" i="0">
                <a:solidFill>
                  <a:srgbClr val="E8EDF2"/>
                </a:solidFill>
                <a:latin typeface="Consolas"/>
              </a:rPr>
              <a:t>build</a:t>
            </a:r>
            <a:r>
              <a:rPr sz="1900" i="0">
                <a:solidFill>
                  <a:srgbClr val="E8EDF2"/>
                </a:solidFill>
                <a:latin typeface="Consolas"/>
              </a:rPr>
              <a:t> </a:t>
            </a:r>
            <a:r>
              <a:rPr sz="1900" i="0">
                <a:solidFill>
                  <a:srgbClr val="E8EDF2"/>
                </a:solidFill>
                <a:latin typeface="Consolas"/>
              </a:rPr>
              <a:t>-q</a:t>
            </a:r>
            <a:r>
              <a:rPr sz="1900" i="0">
                <a:solidFill>
                  <a:srgbClr val="E8EDF2"/>
                </a:solidFill>
                <a:latin typeface="Consolas"/>
              </a:rPr>
              <a:t> </a:t>
            </a:r>
            <a:r>
              <a:rPr sz="1900" i="0">
                <a:solidFill>
                  <a:srgbClr val="E8EDF2"/>
                </a:solidFill>
                <a:latin typeface="Consolas"/>
              </a:rPr>
              <a:t>-f</a:t>
            </a:r>
            <a:r>
              <a:rPr sz="1900" i="0">
                <a:solidFill>
                  <a:srgbClr val="E8EDF2"/>
                </a:solidFill>
                <a:latin typeface="Consolas"/>
              </a:rPr>
              <a:t> </a:t>
            </a:r>
            <a:r>
              <a:rPr sz="1900" i="0">
                <a:solidFill>
                  <a:srgbClr val="E8EDF2"/>
                </a:solidFill>
                <a:latin typeface="Consolas"/>
              </a:rPr>
              <a:t>Dockerfile.right</a:t>
            </a:r>
            <a:r>
              <a:rPr sz="1900" i="0">
                <a:solidFill>
                  <a:srgbClr val="E8EDF2"/>
                </a:solidFill>
                <a:latin typeface="Consolas"/>
              </a:rPr>
              <a:t> </a:t>
            </a:r>
            <a:r>
              <a:rPr sz="1900" i="0">
                <a:solidFill>
                  <a:srgbClr val="E8EDF2"/>
                </a:solidFill>
                <a:latin typeface="Consolas"/>
              </a:rPr>
              <a:t>-t</a:t>
            </a:r>
            <a:r>
              <a:rPr sz="1900" i="0">
                <a:solidFill>
                  <a:srgbClr val="E8EDF2"/>
                </a:solidFill>
                <a:latin typeface="Consolas"/>
              </a:rPr>
              <a:t> </a:t>
            </a:r>
            <a:r>
              <a:rPr sz="1900" i="0">
                <a:solidFill>
                  <a:srgbClr val="E8EDF2"/>
                </a:solidFill>
                <a:latin typeface="Consolas"/>
              </a:rPr>
              <a:t>vsapp:right</a:t>
            </a:r>
            <a:r>
              <a:rPr sz="1900" i="0">
                <a:solidFill>
                  <a:srgbClr val="E8EDF2"/>
                </a:solidFill>
                <a:latin typeface="Consolas"/>
              </a:rPr>
              <a:t> </a:t>
            </a:r>
            <a:r>
              <a:rPr sz="1900" i="0">
                <a:solidFill>
                  <a:srgbClr val="E8EDF2"/>
                </a:solidFill>
                <a:latin typeface="Consolas"/>
              </a:rPr>
              <a:t>.</a:t>
            </a:r>
            <a:r>
              <a:rPr sz="1900" i="0">
                <a:solidFill>
                  <a:srgbClr val="E8EDF2"/>
                </a:solidFill>
                <a:latin typeface="Consolas"/>
              </a:rPr>
              <a:t> </a:t>
            </a:r>
            <a:r>
              <a:rPr sz="1900" i="0">
                <a:solidFill>
                  <a:srgbClr val="E8EDF2"/>
                </a:solidFill>
                <a:latin typeface="Consolas"/>
              </a:rPr>
              <a:t>&gt;</a:t>
            </a:r>
            <a:r>
              <a:rPr sz="1900" i="0">
                <a:solidFill>
                  <a:srgbClr val="E8EDF2"/>
                </a:solidFill>
                <a:latin typeface="Consolas"/>
              </a:rPr>
              <a:t> </a:t>
            </a:r>
            <a:r>
              <a:rPr sz="1900" i="0">
                <a:solidFill>
                  <a:srgbClr val="E8EDF2"/>
                </a:solidFill>
                <a:latin typeface="Consolas"/>
              </a:rPr>
              <a:t>/dev/null</a:t>
            </a:r>
          </a:p>
        </p:txBody>
      </p:sp>
      <p:sp>
        <p:nvSpPr>
          <p:cNvPr id="15" name="!!code-num"/>
          <p:cNvSpPr txBox="1"/>
          <p:nvPr/>
        </p:nvSpPr>
        <p:spPr>
          <a:xfrm>
            <a:off x="768096" y="2523744"/>
            <a:ext cx="393192" cy="300532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30</a:t>
            </a:r>
          </a:p>
          <a:p>
            <a:pPr algn="r">
              <a:lnSpc>
                <a:spcPct val="100000"/>
              </a:lnSpc>
            </a:pPr>
            <a:r>
              <a:rPr sz="1900">
                <a:solidFill>
                  <a:srgbClr val="4F5D6A"/>
                </a:solidFill>
                <a:latin typeface="Consolas"/>
              </a:rPr>
              <a:t>31</a:t>
            </a:r>
          </a:p>
          <a:p>
            <a:pPr algn="r">
              <a:lnSpc>
                <a:spcPct val="100000"/>
              </a:lnSpc>
            </a:pPr>
            <a:r>
              <a:rPr sz="1900">
                <a:solidFill>
                  <a:srgbClr val="4F5D6A"/>
                </a:solidFill>
                <a:latin typeface="Consolas"/>
              </a:rPr>
              <a:t>32</a:t>
            </a:r>
          </a:p>
          <a:p>
            <a:pPr algn="r">
              <a:lnSpc>
                <a:spcPct val="100000"/>
              </a:lnSpc>
            </a:pPr>
            <a:r>
              <a:rPr sz="1900">
                <a:solidFill>
                  <a:srgbClr val="4F5D6A"/>
                </a:solidFill>
                <a:latin typeface="Consolas"/>
              </a:rPr>
              <a:t>33</a:t>
            </a:r>
          </a:p>
          <a:p>
            <a:pPr algn="r">
              <a:lnSpc>
                <a:spcPct val="100000"/>
              </a:lnSpc>
            </a:pPr>
            <a:r>
              <a:rPr sz="1900">
                <a:solidFill>
                  <a:srgbClr val="4F5D6A"/>
                </a:solidFill>
                <a:latin typeface="Consolas"/>
              </a:rPr>
              <a:t>34</a:t>
            </a:r>
          </a:p>
          <a:p>
            <a:pPr algn="r">
              <a:lnSpc>
                <a:spcPct val="100000"/>
              </a:lnSpc>
            </a:pPr>
            <a:r>
              <a:rPr sz="1900">
                <a:solidFill>
                  <a:srgbClr val="4F5D6A"/>
                </a:solidFill>
                <a:latin typeface="Consolas"/>
              </a:rPr>
              <a:t>35</a:t>
            </a:r>
          </a:p>
          <a:p>
            <a:pPr algn="r">
              <a:lnSpc>
                <a:spcPct val="100000"/>
              </a:lnSpc>
            </a:pPr>
            <a:r>
              <a:rPr sz="1900">
                <a:solidFill>
                  <a:srgbClr val="4F5D6A"/>
                </a:solidFill>
                <a:latin typeface="Consolas"/>
              </a:rPr>
              <a:t>36</a:t>
            </a:r>
          </a:p>
          <a:p>
            <a:pPr algn="r">
              <a:lnSpc>
                <a:spcPct val="100000"/>
              </a:lnSpc>
            </a:pPr>
            <a:r>
              <a:rPr sz="1900">
                <a:solidFill>
                  <a:srgbClr val="4F5D6A"/>
                </a:solidFill>
                <a:latin typeface="Consolas"/>
              </a:rPr>
              <a:t>37</a:t>
            </a:r>
          </a:p>
          <a:p>
            <a:pPr algn="r">
              <a:lnSpc>
                <a:spcPct val="100000"/>
              </a:lnSpc>
            </a:pPr>
            <a:r>
              <a:rPr sz="1900">
                <a:solidFill>
                  <a:srgbClr val="4F5D6A"/>
                </a:solidFill>
                <a:latin typeface="Consolas"/>
              </a:rPr>
              <a:t>38</a:t>
            </a:r>
          </a:p>
          <a:p>
            <a:pPr algn="r">
              <a:lnSpc>
                <a:spcPct val="100000"/>
              </a:lnSpc>
            </a:pPr>
            <a:r>
              <a:rPr sz="1900">
                <a:solidFill>
                  <a:srgbClr val="4F5D6A"/>
                </a:solidFill>
                <a:latin typeface="Consolas"/>
              </a:rPr>
              <a:t>39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20418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Measuring the Build Cache, and Fixing 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10</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9  ·  Docker and the Container Ecosystem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72     </a:t>
            </a:r>
            <a:fld id="{99D4291E-AAA9-4335-AA91-B1D448163E97}" type="slidenum">
              <a:rPr lang="en-GB" sz="1000">
                <a:solidFill>
                  <a:srgbClr val="8795A1"/>
                </a:solidFill>
                <a:latin typeface="Segoe UI"/>
              </a:rPr>
              <a:t>27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Change one character of source and time both rebuilds.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340863"/>
          </a:xfrm>
          <a:prstGeom prst="roundRect">
            <a:avLst>
              <a:gd name="adj" fmla="val 390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4. Change one character of source and time both rebuilds. -------- sed -i 's/services/services!/' main.py echo &quot;=== wrong order ===&quot; ; time docker build -q -f Dockerfile.wrong \ -t vsapp:wrong . &gt; /dev/null echo &quot;=== right order ===&quot; ; time docker build -q -f Dockerfile.right \ -t vsapp:right . &gt; /dev/null"/>
          <p:cNvSpPr txBox="1"/>
          <p:nvPr/>
        </p:nvSpPr>
        <p:spPr>
          <a:xfrm>
            <a:off x="1362456" y="2523744"/>
            <a:ext cx="9987991" cy="184708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--- 4. Change one character of source and time both rebuilds. --------</a:t>
            </a:r>
          </a:p>
          <a:p>
            <a:pPr>
              <a:lnSpc>
                <a:spcPct val="100000"/>
              </a:lnSpc>
              <a:spcAft>
                <a:spcPts val="0"/>
              </a:spcAft>
            </a:pPr>
            <a:r>
              <a:rPr sz="1900" i="0">
                <a:solidFill>
                  <a:srgbClr val="E8EDF2"/>
                </a:solidFill>
                <a:latin typeface="Consolas"/>
              </a:rPr>
              <a:t>sed</a:t>
            </a:r>
            <a:r>
              <a:rPr sz="1900" i="0">
                <a:solidFill>
                  <a:srgbClr val="E8EDF2"/>
                </a:solidFill>
                <a:latin typeface="Consolas"/>
              </a:rPr>
              <a:t> </a:t>
            </a:r>
            <a:r>
              <a:rPr sz="1900" i="0">
                <a:solidFill>
                  <a:srgbClr val="E8EDF2"/>
                </a:solidFill>
                <a:latin typeface="Consolas"/>
              </a:rPr>
              <a:t>-i</a:t>
            </a:r>
            <a:r>
              <a:rPr sz="1900" i="0">
                <a:solidFill>
                  <a:srgbClr val="E8EDF2"/>
                </a:solidFill>
                <a:latin typeface="Consolas"/>
              </a:rPr>
              <a:t> </a:t>
            </a:r>
            <a:r>
              <a:rPr sz="1900" i="0">
                <a:solidFill>
                  <a:srgbClr val="7DCEA0"/>
                </a:solidFill>
                <a:latin typeface="Consolas"/>
              </a:rPr>
              <a:t>'s/services/services!/'</a:t>
            </a:r>
            <a:r>
              <a:rPr sz="1900" i="0">
                <a:solidFill>
                  <a:srgbClr val="E8EDF2"/>
                </a:solidFill>
                <a:latin typeface="Consolas"/>
              </a:rPr>
              <a:t> </a:t>
            </a:r>
            <a:r>
              <a:rPr sz="1900" i="0">
                <a:solidFill>
                  <a:srgbClr val="E8EDF2"/>
                </a:solidFill>
                <a:latin typeface="Consolas"/>
              </a:rPr>
              <a:t>main.py</a:t>
            </a:r>
          </a:p>
          <a:p>
            <a:pPr>
              <a:lnSpc>
                <a:spcPct val="100000"/>
              </a:lnSpc>
              <a:spcAft>
                <a:spcPts val="0"/>
              </a:spcAft>
            </a:pPr>
            <a:r>
              <a:rPr sz="1900" i="0">
                <a:solidFill>
                  <a:srgbClr val="C39BD3"/>
                </a:solidFill>
                <a:latin typeface="Consolas"/>
              </a:rPr>
              <a:t>echo</a:t>
            </a:r>
            <a:r>
              <a:rPr sz="1900" i="0">
                <a:solidFill>
                  <a:srgbClr val="E8EDF2"/>
                </a:solidFill>
                <a:latin typeface="Consolas"/>
              </a:rPr>
              <a:t> </a:t>
            </a:r>
            <a:r>
              <a:rPr sz="1900" i="0">
                <a:solidFill>
                  <a:srgbClr val="7DCEA0"/>
                </a:solidFill>
                <a:latin typeface="Consolas"/>
              </a:rPr>
              <a:t>"=== wrong order ==="</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time</a:t>
            </a:r>
            <a:r>
              <a:rPr sz="1900" i="0">
                <a:solidFill>
                  <a:srgbClr val="E8EDF2"/>
                </a:solidFill>
                <a:latin typeface="Consolas"/>
              </a:rPr>
              <a:t> </a:t>
            </a:r>
            <a:r>
              <a:rPr sz="1900" i="0">
                <a:solidFill>
                  <a:srgbClr val="E8EDF2"/>
                </a:solidFill>
                <a:latin typeface="Consolas"/>
              </a:rPr>
              <a:t>docker</a:t>
            </a:r>
            <a:r>
              <a:rPr sz="1900" i="0">
                <a:solidFill>
                  <a:srgbClr val="E8EDF2"/>
                </a:solidFill>
                <a:latin typeface="Consolas"/>
              </a:rPr>
              <a:t> </a:t>
            </a:r>
            <a:r>
              <a:rPr sz="1900" i="0">
                <a:solidFill>
                  <a:srgbClr val="E8EDF2"/>
                </a:solidFill>
                <a:latin typeface="Consolas"/>
              </a:rPr>
              <a:t>build</a:t>
            </a:r>
            <a:r>
              <a:rPr sz="1900" i="0">
                <a:solidFill>
                  <a:srgbClr val="E8EDF2"/>
                </a:solidFill>
                <a:latin typeface="Consolas"/>
              </a:rPr>
              <a:t> </a:t>
            </a:r>
            <a:r>
              <a:rPr sz="1900" i="0">
                <a:solidFill>
                  <a:srgbClr val="E8EDF2"/>
                </a:solidFill>
                <a:latin typeface="Consolas"/>
              </a:rPr>
              <a:t>-q</a:t>
            </a:r>
            <a:r>
              <a:rPr sz="1900" i="0">
                <a:solidFill>
                  <a:srgbClr val="E8EDF2"/>
                </a:solidFill>
                <a:latin typeface="Consolas"/>
              </a:rPr>
              <a:t> </a:t>
            </a:r>
            <a:r>
              <a:rPr sz="1900" i="0">
                <a:solidFill>
                  <a:srgbClr val="E8EDF2"/>
                </a:solidFill>
                <a:latin typeface="Consolas"/>
              </a:rPr>
              <a:t>-f</a:t>
            </a:r>
            <a:r>
              <a:rPr sz="1900" i="0">
                <a:solidFill>
                  <a:srgbClr val="E8EDF2"/>
                </a:solidFill>
                <a:latin typeface="Consolas"/>
              </a:rPr>
              <a:t> </a:t>
            </a:r>
            <a:r>
              <a:rPr sz="1900" i="0">
                <a:solidFill>
                  <a:srgbClr val="E8EDF2"/>
                </a:solidFill>
                <a:latin typeface="Consolas"/>
              </a:rPr>
              <a:t>Dockerfile.wrong</a:t>
            </a:r>
            <a:r>
              <a:rPr sz="1900" i="0">
                <a:solidFill>
                  <a:srgbClr val="E8EDF2"/>
                </a:solidFill>
                <a:latin typeface="Consolas"/>
              </a:rPr>
              <a:t> </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-t</a:t>
            </a:r>
            <a:r>
              <a:rPr sz="1900" i="0">
                <a:solidFill>
                  <a:srgbClr val="E8EDF2"/>
                </a:solidFill>
                <a:latin typeface="Consolas"/>
              </a:rPr>
              <a:t> </a:t>
            </a:r>
            <a:r>
              <a:rPr sz="1900" i="0">
                <a:solidFill>
                  <a:srgbClr val="E8EDF2"/>
                </a:solidFill>
                <a:latin typeface="Consolas"/>
              </a:rPr>
              <a:t>vsapp:wrong</a:t>
            </a:r>
            <a:r>
              <a:rPr sz="1900" i="0">
                <a:solidFill>
                  <a:srgbClr val="E8EDF2"/>
                </a:solidFill>
                <a:latin typeface="Consolas"/>
              </a:rPr>
              <a:t> </a:t>
            </a:r>
            <a:r>
              <a:rPr sz="1900" i="0">
                <a:solidFill>
                  <a:srgbClr val="E8EDF2"/>
                </a:solidFill>
                <a:latin typeface="Consolas"/>
              </a:rPr>
              <a:t>.</a:t>
            </a:r>
            <a:r>
              <a:rPr sz="1900" i="0">
                <a:solidFill>
                  <a:srgbClr val="E8EDF2"/>
                </a:solidFill>
                <a:latin typeface="Consolas"/>
              </a:rPr>
              <a:t> </a:t>
            </a:r>
            <a:r>
              <a:rPr sz="1900" i="0">
                <a:solidFill>
                  <a:srgbClr val="E8EDF2"/>
                </a:solidFill>
                <a:latin typeface="Consolas"/>
              </a:rPr>
              <a:t>&gt;</a:t>
            </a:r>
            <a:r>
              <a:rPr sz="1900" i="0">
                <a:solidFill>
                  <a:srgbClr val="E8EDF2"/>
                </a:solidFill>
                <a:latin typeface="Consolas"/>
              </a:rPr>
              <a:t> </a:t>
            </a:r>
            <a:r>
              <a:rPr sz="1900" i="0">
                <a:solidFill>
                  <a:srgbClr val="E8EDF2"/>
                </a:solidFill>
                <a:latin typeface="Consolas"/>
              </a:rPr>
              <a:t>/dev/null</a:t>
            </a:r>
          </a:p>
          <a:p>
            <a:pPr>
              <a:lnSpc>
                <a:spcPct val="100000"/>
              </a:lnSpc>
              <a:spcAft>
                <a:spcPts val="0"/>
              </a:spcAft>
            </a:pPr>
            <a:r>
              <a:rPr sz="1900" i="0">
                <a:solidFill>
                  <a:srgbClr val="C39BD3"/>
                </a:solidFill>
                <a:latin typeface="Consolas"/>
              </a:rPr>
              <a:t>echo</a:t>
            </a:r>
            <a:r>
              <a:rPr sz="1900" i="0">
                <a:solidFill>
                  <a:srgbClr val="E8EDF2"/>
                </a:solidFill>
                <a:latin typeface="Consolas"/>
              </a:rPr>
              <a:t> </a:t>
            </a:r>
            <a:r>
              <a:rPr sz="1900" i="0">
                <a:solidFill>
                  <a:srgbClr val="7DCEA0"/>
                </a:solidFill>
                <a:latin typeface="Consolas"/>
              </a:rPr>
              <a:t>"=== right order ==="</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time</a:t>
            </a:r>
            <a:r>
              <a:rPr sz="1900" i="0">
                <a:solidFill>
                  <a:srgbClr val="E8EDF2"/>
                </a:solidFill>
                <a:latin typeface="Consolas"/>
              </a:rPr>
              <a:t> </a:t>
            </a:r>
            <a:r>
              <a:rPr sz="1900" i="0">
                <a:solidFill>
                  <a:srgbClr val="E8EDF2"/>
                </a:solidFill>
                <a:latin typeface="Consolas"/>
              </a:rPr>
              <a:t>docker</a:t>
            </a:r>
            <a:r>
              <a:rPr sz="1900" i="0">
                <a:solidFill>
                  <a:srgbClr val="E8EDF2"/>
                </a:solidFill>
                <a:latin typeface="Consolas"/>
              </a:rPr>
              <a:t> </a:t>
            </a:r>
            <a:r>
              <a:rPr sz="1900" i="0">
                <a:solidFill>
                  <a:srgbClr val="E8EDF2"/>
                </a:solidFill>
                <a:latin typeface="Consolas"/>
              </a:rPr>
              <a:t>build</a:t>
            </a:r>
            <a:r>
              <a:rPr sz="1900" i="0">
                <a:solidFill>
                  <a:srgbClr val="E8EDF2"/>
                </a:solidFill>
                <a:latin typeface="Consolas"/>
              </a:rPr>
              <a:t> </a:t>
            </a:r>
            <a:r>
              <a:rPr sz="1900" i="0">
                <a:solidFill>
                  <a:srgbClr val="E8EDF2"/>
                </a:solidFill>
                <a:latin typeface="Consolas"/>
              </a:rPr>
              <a:t>-q</a:t>
            </a:r>
            <a:r>
              <a:rPr sz="1900" i="0">
                <a:solidFill>
                  <a:srgbClr val="E8EDF2"/>
                </a:solidFill>
                <a:latin typeface="Consolas"/>
              </a:rPr>
              <a:t> </a:t>
            </a:r>
            <a:r>
              <a:rPr sz="1900" i="0">
                <a:solidFill>
                  <a:srgbClr val="E8EDF2"/>
                </a:solidFill>
                <a:latin typeface="Consolas"/>
              </a:rPr>
              <a:t>-f</a:t>
            </a:r>
            <a:r>
              <a:rPr sz="1900" i="0">
                <a:solidFill>
                  <a:srgbClr val="E8EDF2"/>
                </a:solidFill>
                <a:latin typeface="Consolas"/>
              </a:rPr>
              <a:t> </a:t>
            </a:r>
            <a:r>
              <a:rPr sz="1900" i="0">
                <a:solidFill>
                  <a:srgbClr val="E8EDF2"/>
                </a:solidFill>
                <a:latin typeface="Consolas"/>
              </a:rPr>
              <a:t>Dockerfile.right</a:t>
            </a:r>
            <a:r>
              <a:rPr sz="1900" i="0">
                <a:solidFill>
                  <a:srgbClr val="E8EDF2"/>
                </a:solidFill>
                <a:latin typeface="Consolas"/>
              </a:rPr>
              <a:t> </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-t</a:t>
            </a:r>
            <a:r>
              <a:rPr sz="1900" i="0">
                <a:solidFill>
                  <a:srgbClr val="E8EDF2"/>
                </a:solidFill>
                <a:latin typeface="Consolas"/>
              </a:rPr>
              <a:t> </a:t>
            </a:r>
            <a:r>
              <a:rPr sz="1900" i="0">
                <a:solidFill>
                  <a:srgbClr val="E8EDF2"/>
                </a:solidFill>
                <a:latin typeface="Consolas"/>
              </a:rPr>
              <a:t>vsapp:right</a:t>
            </a:r>
            <a:r>
              <a:rPr sz="1900" i="0">
                <a:solidFill>
                  <a:srgbClr val="E8EDF2"/>
                </a:solidFill>
                <a:latin typeface="Consolas"/>
              </a:rPr>
              <a:t> </a:t>
            </a:r>
            <a:r>
              <a:rPr sz="1900" i="0">
                <a:solidFill>
                  <a:srgbClr val="E8EDF2"/>
                </a:solidFill>
                <a:latin typeface="Consolas"/>
              </a:rPr>
              <a:t>.</a:t>
            </a:r>
            <a:r>
              <a:rPr sz="1900" i="0">
                <a:solidFill>
                  <a:srgbClr val="E8EDF2"/>
                </a:solidFill>
                <a:latin typeface="Consolas"/>
              </a:rPr>
              <a:t> </a:t>
            </a:r>
            <a:r>
              <a:rPr sz="1900" i="0">
                <a:solidFill>
                  <a:srgbClr val="E8EDF2"/>
                </a:solidFill>
                <a:latin typeface="Consolas"/>
              </a:rPr>
              <a:t>&gt;</a:t>
            </a:r>
            <a:r>
              <a:rPr sz="1900" i="0">
                <a:solidFill>
                  <a:srgbClr val="E8EDF2"/>
                </a:solidFill>
                <a:latin typeface="Consolas"/>
              </a:rPr>
              <a:t> </a:t>
            </a:r>
            <a:r>
              <a:rPr sz="1900" i="0">
                <a:solidFill>
                  <a:srgbClr val="E8EDF2"/>
                </a:solidFill>
                <a:latin typeface="Consolas"/>
              </a:rPr>
              <a:t>/dev/null</a:t>
            </a:r>
          </a:p>
        </p:txBody>
      </p:sp>
      <p:sp>
        <p:nvSpPr>
          <p:cNvPr id="15" name="!!code-num"/>
          <p:cNvSpPr txBox="1"/>
          <p:nvPr/>
        </p:nvSpPr>
        <p:spPr>
          <a:xfrm>
            <a:off x="768096" y="2523744"/>
            <a:ext cx="393192" cy="184708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41</a:t>
            </a:r>
          </a:p>
          <a:p>
            <a:pPr algn="r">
              <a:lnSpc>
                <a:spcPct val="100000"/>
              </a:lnSpc>
            </a:pPr>
            <a:r>
              <a:rPr sz="1900">
                <a:solidFill>
                  <a:srgbClr val="4F5D6A"/>
                </a:solidFill>
                <a:latin typeface="Consolas"/>
              </a:rPr>
              <a:t>42</a:t>
            </a:r>
          </a:p>
          <a:p>
            <a:pPr algn="r">
              <a:lnSpc>
                <a:spcPct val="100000"/>
              </a:lnSpc>
            </a:pPr>
            <a:r>
              <a:rPr sz="1900">
                <a:solidFill>
                  <a:srgbClr val="4F5D6A"/>
                </a:solidFill>
                <a:latin typeface="Consolas"/>
              </a:rPr>
              <a:t>43</a:t>
            </a:r>
          </a:p>
          <a:p>
            <a:pPr algn="r">
              <a:lnSpc>
                <a:spcPct val="100000"/>
              </a:lnSpc>
            </a:pPr>
            <a:r>
              <a:rPr sz="1900">
                <a:solidFill>
                  <a:srgbClr val="4F5D6A"/>
                </a:solidFill>
                <a:latin typeface="Consolas"/>
              </a:rPr>
              <a:t>44</a:t>
            </a:r>
          </a:p>
          <a:p>
            <a:pPr algn="r">
              <a:lnSpc>
                <a:spcPct val="100000"/>
              </a:lnSpc>
            </a:pPr>
            <a:r>
              <a:rPr sz="1900">
                <a:solidFill>
                  <a:srgbClr val="4F5D6A"/>
                </a:solidFill>
                <a:latin typeface="Consolas"/>
              </a:rPr>
              <a:t>45</a:t>
            </a:r>
          </a:p>
          <a:p>
            <a:pPr algn="r">
              <a:lnSpc>
                <a:spcPct val="100000"/>
              </a:lnSpc>
            </a:pPr>
            <a:r>
              <a:rPr sz="1900">
                <a:solidFill>
                  <a:srgbClr val="4F5D6A"/>
                </a:solidFill>
                <a:latin typeface="Consolas"/>
              </a:rPr>
              <a:t>46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48126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Measuring the Build Cache, and Fixing 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6 OF 10</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9  ·  Docker and the Container Ecosystem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72     </a:t>
            </a:r>
            <a:fld id="{CE99D386-72D3-4605-9DB0-76E4C322E249}" type="slidenum">
              <a:rPr lang="en-GB" sz="1000">
                <a:solidFill>
                  <a:srgbClr val="8795A1"/>
                </a:solidFill>
                <a:latin typeface="Segoe UI"/>
              </a:rPr>
              <a:t>28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Look at the layers, and at what is shared.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975104"/>
          </a:xfrm>
          <a:prstGeom prst="roundRect">
            <a:avLst>
              <a:gd name="adj" fmla="val 4629"/>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5. Look at the layers, and at what is shared. -------------------- docker history vsapp:right --format '{{.Size}}\t{{.CreatedBy}}' | head -8 docker image inspect vsapp:right \ --format '{{json .RootFS.Layers}}' | tr ',' '\n' # Both images share the python:3.12-slim layers: content addressing at work."/>
          <p:cNvSpPr txBox="1"/>
          <p:nvPr/>
        </p:nvSpPr>
        <p:spPr>
          <a:xfrm>
            <a:off x="1362456" y="2523744"/>
            <a:ext cx="9987991" cy="148132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--- 5. Look at the layers, and at what is shared. --------------------</a:t>
            </a:r>
          </a:p>
          <a:p>
            <a:pPr>
              <a:lnSpc>
                <a:spcPct val="100000"/>
              </a:lnSpc>
              <a:spcAft>
                <a:spcPts val="0"/>
              </a:spcAft>
            </a:pPr>
            <a:r>
              <a:rPr sz="1800" i="0">
                <a:solidFill>
                  <a:srgbClr val="E8EDF2"/>
                </a:solidFill>
                <a:latin typeface="Consolas"/>
              </a:rPr>
              <a:t>docker</a:t>
            </a:r>
            <a:r>
              <a:rPr sz="1800" i="0">
                <a:solidFill>
                  <a:srgbClr val="E8EDF2"/>
                </a:solidFill>
                <a:latin typeface="Consolas"/>
              </a:rPr>
              <a:t> </a:t>
            </a:r>
            <a:r>
              <a:rPr sz="1800" i="0">
                <a:solidFill>
                  <a:srgbClr val="C39BD3"/>
                </a:solidFill>
                <a:latin typeface="Consolas"/>
              </a:rPr>
              <a:t>history</a:t>
            </a:r>
            <a:r>
              <a:rPr sz="1800" i="0">
                <a:solidFill>
                  <a:srgbClr val="E8EDF2"/>
                </a:solidFill>
                <a:latin typeface="Consolas"/>
              </a:rPr>
              <a:t> </a:t>
            </a:r>
            <a:r>
              <a:rPr sz="1800" i="0">
                <a:solidFill>
                  <a:srgbClr val="E8EDF2"/>
                </a:solidFill>
                <a:latin typeface="Consolas"/>
              </a:rPr>
              <a:t>vsapp:right</a:t>
            </a:r>
            <a:r>
              <a:rPr sz="1800" i="0">
                <a:solidFill>
                  <a:srgbClr val="E8EDF2"/>
                </a:solidFill>
                <a:latin typeface="Consolas"/>
              </a:rPr>
              <a:t> </a:t>
            </a:r>
            <a:r>
              <a:rPr sz="1800" i="0">
                <a:solidFill>
                  <a:srgbClr val="E8EDF2"/>
                </a:solidFill>
                <a:latin typeface="Consolas"/>
              </a:rPr>
              <a:t>--format</a:t>
            </a:r>
            <a:r>
              <a:rPr sz="1800" i="0">
                <a:solidFill>
                  <a:srgbClr val="E8EDF2"/>
                </a:solidFill>
                <a:latin typeface="Consolas"/>
              </a:rPr>
              <a:t> </a:t>
            </a:r>
            <a:r>
              <a:rPr sz="1800" i="0">
                <a:solidFill>
                  <a:srgbClr val="7DCEA0"/>
                </a:solidFill>
                <a:latin typeface="Consolas"/>
              </a:rPr>
              <a:t>'{{.Size}}\t{{.CreatedBy}}'</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head</a:t>
            </a:r>
            <a:r>
              <a:rPr sz="1800" i="0">
                <a:solidFill>
                  <a:srgbClr val="E8EDF2"/>
                </a:solidFill>
                <a:latin typeface="Consolas"/>
              </a:rPr>
              <a:t> </a:t>
            </a:r>
            <a:r>
              <a:rPr sz="1800" i="0">
                <a:solidFill>
                  <a:srgbClr val="E8EDF2"/>
                </a:solidFill>
                <a:latin typeface="Consolas"/>
              </a:rPr>
              <a:t>-8</a:t>
            </a:r>
          </a:p>
          <a:p>
            <a:pPr>
              <a:lnSpc>
                <a:spcPct val="100000"/>
              </a:lnSpc>
              <a:spcAft>
                <a:spcPts val="0"/>
              </a:spcAft>
            </a:pPr>
            <a:r>
              <a:rPr sz="1800" i="0">
                <a:solidFill>
                  <a:srgbClr val="E8EDF2"/>
                </a:solidFill>
                <a:latin typeface="Consolas"/>
              </a:rPr>
              <a:t>docker</a:t>
            </a:r>
            <a:r>
              <a:rPr sz="1800" i="0">
                <a:solidFill>
                  <a:srgbClr val="E8EDF2"/>
                </a:solidFill>
                <a:latin typeface="Consolas"/>
              </a:rPr>
              <a:t> </a:t>
            </a:r>
            <a:r>
              <a:rPr sz="1800" i="0">
                <a:solidFill>
                  <a:srgbClr val="E8EDF2"/>
                </a:solidFill>
                <a:latin typeface="Consolas"/>
              </a:rPr>
              <a:t>image</a:t>
            </a:r>
            <a:r>
              <a:rPr sz="1800" i="0">
                <a:solidFill>
                  <a:srgbClr val="E8EDF2"/>
                </a:solidFill>
                <a:latin typeface="Consolas"/>
              </a:rPr>
              <a:t> </a:t>
            </a:r>
            <a:r>
              <a:rPr sz="1800" i="0">
                <a:solidFill>
                  <a:srgbClr val="E8EDF2"/>
                </a:solidFill>
                <a:latin typeface="Consolas"/>
              </a:rPr>
              <a:t>inspect</a:t>
            </a:r>
            <a:r>
              <a:rPr sz="1800" i="0">
                <a:solidFill>
                  <a:srgbClr val="E8EDF2"/>
                </a:solidFill>
                <a:latin typeface="Consolas"/>
              </a:rPr>
              <a:t> </a:t>
            </a:r>
            <a:r>
              <a:rPr sz="1800" i="0">
                <a:solidFill>
                  <a:srgbClr val="E8EDF2"/>
                </a:solidFill>
                <a:latin typeface="Consolas"/>
              </a:rPr>
              <a:t>vsapp:right</a:t>
            </a:r>
            <a:r>
              <a:rPr sz="1800" i="0">
                <a:solidFill>
                  <a:srgbClr val="E8EDF2"/>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--format</a:t>
            </a:r>
            <a:r>
              <a:rPr sz="1800" i="0">
                <a:solidFill>
                  <a:srgbClr val="E8EDF2"/>
                </a:solidFill>
                <a:latin typeface="Consolas"/>
              </a:rPr>
              <a:t> </a:t>
            </a:r>
            <a:r>
              <a:rPr sz="1800" i="0">
                <a:solidFill>
                  <a:srgbClr val="7DCEA0"/>
                </a:solidFill>
                <a:latin typeface="Consolas"/>
              </a:rPr>
              <a:t>'{{json .RootFS.Layers}}'</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tr</a:t>
            </a:r>
            <a:r>
              <a:rPr sz="1800" i="0">
                <a:solidFill>
                  <a:srgbClr val="E8EDF2"/>
                </a:solidFill>
                <a:latin typeface="Consolas"/>
              </a:rPr>
              <a:t> </a:t>
            </a:r>
            <a:r>
              <a:rPr sz="1800" i="0">
                <a:solidFill>
                  <a:srgbClr val="7DCEA0"/>
                </a:solidFill>
                <a:latin typeface="Consolas"/>
              </a:rPr>
              <a:t>','</a:t>
            </a:r>
            <a:r>
              <a:rPr sz="1800" i="0">
                <a:solidFill>
                  <a:srgbClr val="E8EDF2"/>
                </a:solidFill>
                <a:latin typeface="Consolas"/>
              </a:rPr>
              <a:t> </a:t>
            </a:r>
            <a:r>
              <a:rPr sz="1800" i="0">
                <a:solidFill>
                  <a:srgbClr val="7DCEA0"/>
                </a:solidFill>
                <a:latin typeface="Consolas"/>
              </a:rPr>
              <a:t>'\n'</a:t>
            </a:r>
          </a:p>
          <a:p>
            <a:pPr>
              <a:lnSpc>
                <a:spcPct val="100000"/>
              </a:lnSpc>
              <a:spcAft>
                <a:spcPts val="0"/>
              </a:spcAft>
            </a:pPr>
            <a:r>
              <a:rPr sz="1800" i="1">
                <a:solidFill>
                  <a:srgbClr val="8795A1"/>
                </a:solidFill>
                <a:latin typeface="Consolas"/>
              </a:rPr>
              <a:t># Both images share the python:3.12-slim layers: content addressing at work.</a:t>
            </a:r>
          </a:p>
        </p:txBody>
      </p:sp>
      <p:sp>
        <p:nvSpPr>
          <p:cNvPr id="15" name="!!code-num"/>
          <p:cNvSpPr txBox="1"/>
          <p:nvPr/>
        </p:nvSpPr>
        <p:spPr>
          <a:xfrm>
            <a:off x="768096" y="2523744"/>
            <a:ext cx="393192" cy="148132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48</a:t>
            </a:r>
          </a:p>
          <a:p>
            <a:pPr algn="r">
              <a:lnSpc>
                <a:spcPct val="100000"/>
              </a:lnSpc>
            </a:pPr>
            <a:r>
              <a:rPr sz="1800">
                <a:solidFill>
                  <a:srgbClr val="4F5D6A"/>
                </a:solidFill>
                <a:latin typeface="Consolas"/>
              </a:rPr>
              <a:t>49</a:t>
            </a:r>
          </a:p>
          <a:p>
            <a:pPr algn="r">
              <a:lnSpc>
                <a:spcPct val="100000"/>
              </a:lnSpc>
            </a:pPr>
            <a:r>
              <a:rPr sz="1800">
                <a:solidFill>
                  <a:srgbClr val="4F5D6A"/>
                </a:solidFill>
                <a:latin typeface="Consolas"/>
              </a:rPr>
              <a:t>50</a:t>
            </a:r>
          </a:p>
          <a:p>
            <a:pPr algn="r">
              <a:lnSpc>
                <a:spcPct val="100000"/>
              </a:lnSpc>
            </a:pPr>
            <a:r>
              <a:rPr sz="1800">
                <a:solidFill>
                  <a:srgbClr val="4F5D6A"/>
                </a:solidFill>
                <a:latin typeface="Consolas"/>
              </a:rPr>
              <a:t>51</a:t>
            </a:r>
          </a:p>
          <a:p>
            <a:pPr algn="r">
              <a:lnSpc>
                <a:spcPct val="100000"/>
              </a:lnSpc>
            </a:pPr>
            <a:r>
              <a:rPr sz="1800">
                <a:solidFill>
                  <a:srgbClr val="4F5D6A"/>
                </a:solidFill>
                <a:latin typeface="Consolas"/>
              </a:rPr>
              <a:t>52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75835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Measuring the Build Cache, and Fixing 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7 OF 10</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9  ·  Docker and the Container Ecosystem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72     </a:t>
            </a:r>
            <a:fld id="{4E5C33BC-2FF5-4EC5-9678-4DD82064B90A}" type="slidenum">
              <a:rPr lang="en-GB" sz="1000">
                <a:solidFill>
                  <a:srgbClr val="8795A1"/>
                </a:solidFill>
                <a:latin typeface="Segoe UI"/>
              </a:rPr>
              <a:t>29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Multi-stage and non-root.</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169663"/>
          </a:xfrm>
          <a:prstGeom prst="roundRect">
            <a:avLst>
              <a:gd name="adj" fmla="val 219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6. Multi-stage and non-root. ------------------------------------- cat &gt; Dockerfile.good &lt;&lt;'DF' FROM python:3.12-slim AS build WORKDIR /app COPY requirements.txt /app/ RUN pip install --no-cache-dir --target=/deps -r requirements.txt FROM python:3.12-slim RUN useradd --create-home --uid 10001 app WORKDIR /app COPY --from=build /deps /deps COPY --chown=app:app . /app ENV PYTHONPATH=/deps USER app CMD [&quot;python&quot;, &quot;-m&quot;, &quot;flask&quot;, &quot;run&quot;, &quot;--host=0.0.0.0&quot;] DF docker build -q -f Dockerfile.good -t vsapp:good . &gt; /dev/null docker images vsapp --format '{{.Tag}}\t{{.Size}}'"/>
          <p:cNvSpPr txBox="1"/>
          <p:nvPr/>
        </p:nvSpPr>
        <p:spPr>
          <a:xfrm>
            <a:off x="1362456" y="2523744"/>
            <a:ext cx="9987991" cy="3675887"/>
          </a:xfrm>
          <a:prstGeom prst="rect">
            <a:avLst/>
          </a:prstGeom>
          <a:noFill/>
        </p:spPr>
        <p:txBody>
          <a:bodyPr wrap="none" anchor="t" lIns="0" rIns="0" tIns="0" bIns="0">
            <a:noAutofit/>
          </a:bodyPr>
          <a:lstStyle/>
          <a:p>
            <a:pPr>
              <a:lnSpc>
                <a:spcPct val="100000"/>
              </a:lnSpc>
              <a:spcAft>
                <a:spcPts val="0"/>
              </a:spcAft>
            </a:pPr>
            <a:r>
              <a:rPr sz="1300" i="1">
                <a:solidFill>
                  <a:srgbClr val="8795A1"/>
                </a:solidFill>
                <a:latin typeface="Consolas"/>
              </a:rPr>
              <a:t># --- 6. Multi-stage and non-root. -------------------------------------</a:t>
            </a:r>
          </a:p>
          <a:p>
            <a:pPr>
              <a:lnSpc>
                <a:spcPct val="100000"/>
              </a:lnSpc>
              <a:spcAft>
                <a:spcPts val="0"/>
              </a:spcAft>
            </a:pPr>
            <a:r>
              <a:rPr sz="1300" i="0">
                <a:solidFill>
                  <a:srgbClr val="E8EDF2"/>
                </a:solidFill>
                <a:latin typeface="Consolas"/>
              </a:rPr>
              <a:t>cat</a:t>
            </a:r>
            <a:r>
              <a:rPr sz="1300" i="0">
                <a:solidFill>
                  <a:srgbClr val="E8EDF2"/>
                </a:solidFill>
                <a:latin typeface="Consolas"/>
              </a:rPr>
              <a:t> </a:t>
            </a:r>
            <a:r>
              <a:rPr sz="1300" i="0">
                <a:solidFill>
                  <a:srgbClr val="E8EDF2"/>
                </a:solidFill>
                <a:latin typeface="Consolas"/>
              </a:rPr>
              <a:t>&gt;</a:t>
            </a:r>
            <a:r>
              <a:rPr sz="1300" i="0">
                <a:solidFill>
                  <a:srgbClr val="E8EDF2"/>
                </a:solidFill>
                <a:latin typeface="Consolas"/>
              </a:rPr>
              <a:t> </a:t>
            </a:r>
            <a:r>
              <a:rPr sz="1300" i="0">
                <a:solidFill>
                  <a:srgbClr val="E8EDF2"/>
                </a:solidFill>
                <a:latin typeface="Consolas"/>
              </a:rPr>
              <a:t>Dockerfile.good</a:t>
            </a:r>
            <a:r>
              <a:rPr sz="1300" i="0">
                <a:solidFill>
                  <a:srgbClr val="E8EDF2"/>
                </a:solidFill>
                <a:latin typeface="Consolas"/>
              </a:rPr>
              <a:t> </a:t>
            </a:r>
            <a:r>
              <a:rPr sz="1300" i="0">
                <a:solidFill>
                  <a:srgbClr val="7DCEA0"/>
                </a:solidFill>
                <a:latin typeface="Consolas"/>
              </a:rPr>
              <a:t>&lt;&lt;'DF'</a:t>
            </a:r>
          </a:p>
          <a:p>
            <a:pPr>
              <a:lnSpc>
                <a:spcPct val="100000"/>
              </a:lnSpc>
              <a:spcAft>
                <a:spcPts val="0"/>
              </a:spcAft>
            </a:pPr>
            <a:r>
              <a:rPr sz="1300" i="0">
                <a:solidFill>
                  <a:srgbClr val="7DCEA0"/>
                </a:solidFill>
                <a:latin typeface="Consolas"/>
              </a:rPr>
              <a:t>FROM python:3.12-slim AS build</a:t>
            </a:r>
          </a:p>
          <a:p>
            <a:pPr>
              <a:lnSpc>
                <a:spcPct val="100000"/>
              </a:lnSpc>
              <a:spcAft>
                <a:spcPts val="0"/>
              </a:spcAft>
            </a:pPr>
            <a:r>
              <a:rPr sz="1300" i="0">
                <a:solidFill>
                  <a:srgbClr val="7DCEA0"/>
                </a:solidFill>
                <a:latin typeface="Consolas"/>
              </a:rPr>
              <a:t>WORKDIR /app</a:t>
            </a:r>
          </a:p>
          <a:p>
            <a:pPr>
              <a:lnSpc>
                <a:spcPct val="100000"/>
              </a:lnSpc>
              <a:spcAft>
                <a:spcPts val="0"/>
              </a:spcAft>
            </a:pPr>
            <a:r>
              <a:rPr sz="1300" i="0">
                <a:solidFill>
                  <a:srgbClr val="7DCEA0"/>
                </a:solidFill>
                <a:latin typeface="Consolas"/>
              </a:rPr>
              <a:t>COPY requirements.txt /app/</a:t>
            </a:r>
          </a:p>
          <a:p>
            <a:pPr>
              <a:lnSpc>
                <a:spcPct val="100000"/>
              </a:lnSpc>
              <a:spcAft>
                <a:spcPts val="0"/>
              </a:spcAft>
            </a:pPr>
            <a:r>
              <a:rPr sz="1300" i="0">
                <a:solidFill>
                  <a:srgbClr val="7DCEA0"/>
                </a:solidFill>
                <a:latin typeface="Consolas"/>
              </a:rPr>
              <a:t>RUN pip install --no-cache-dir --target=/deps -r requirements.txt</a:t>
            </a:r>
          </a:p>
          <a:p>
            <a:pPr>
              <a:lnSpc>
                <a:spcPct val="100000"/>
              </a:lnSpc>
              <a:spcAft>
                <a:spcPts val="0"/>
              </a:spcAft>
            </a:pPr>
            <a:r>
              <a:rPr sz="1300">
                <a:latin typeface="Consolas"/>
              </a:rPr>
              <a:t> </a:t>
            </a:r>
          </a:p>
          <a:p>
            <a:pPr>
              <a:lnSpc>
                <a:spcPct val="100000"/>
              </a:lnSpc>
              <a:spcAft>
                <a:spcPts val="0"/>
              </a:spcAft>
            </a:pPr>
            <a:r>
              <a:rPr sz="1300" i="0">
                <a:solidFill>
                  <a:srgbClr val="7DCEA0"/>
                </a:solidFill>
                <a:latin typeface="Consolas"/>
              </a:rPr>
              <a:t>FROM python:3.12-slim</a:t>
            </a:r>
          </a:p>
          <a:p>
            <a:pPr>
              <a:lnSpc>
                <a:spcPct val="100000"/>
              </a:lnSpc>
              <a:spcAft>
                <a:spcPts val="0"/>
              </a:spcAft>
            </a:pPr>
            <a:r>
              <a:rPr sz="1300" i="0">
                <a:solidFill>
                  <a:srgbClr val="7DCEA0"/>
                </a:solidFill>
                <a:latin typeface="Consolas"/>
              </a:rPr>
              <a:t>RUN useradd --create-home --uid 10001 app</a:t>
            </a:r>
          </a:p>
          <a:p>
            <a:pPr>
              <a:lnSpc>
                <a:spcPct val="100000"/>
              </a:lnSpc>
              <a:spcAft>
                <a:spcPts val="0"/>
              </a:spcAft>
            </a:pPr>
            <a:r>
              <a:rPr sz="1300" i="0">
                <a:solidFill>
                  <a:srgbClr val="7DCEA0"/>
                </a:solidFill>
                <a:latin typeface="Consolas"/>
              </a:rPr>
              <a:t>WORKDIR /app</a:t>
            </a:r>
          </a:p>
          <a:p>
            <a:pPr>
              <a:lnSpc>
                <a:spcPct val="100000"/>
              </a:lnSpc>
              <a:spcAft>
                <a:spcPts val="0"/>
              </a:spcAft>
            </a:pPr>
            <a:r>
              <a:rPr sz="1300" i="0">
                <a:solidFill>
                  <a:srgbClr val="7DCEA0"/>
                </a:solidFill>
                <a:latin typeface="Consolas"/>
              </a:rPr>
              <a:t>COPY --from=build /deps /deps</a:t>
            </a:r>
          </a:p>
          <a:p>
            <a:pPr>
              <a:lnSpc>
                <a:spcPct val="100000"/>
              </a:lnSpc>
              <a:spcAft>
                <a:spcPts val="0"/>
              </a:spcAft>
            </a:pPr>
            <a:r>
              <a:rPr sz="1300" i="0">
                <a:solidFill>
                  <a:srgbClr val="7DCEA0"/>
                </a:solidFill>
                <a:latin typeface="Consolas"/>
              </a:rPr>
              <a:t>COPY --chown=app:app . /app</a:t>
            </a:r>
          </a:p>
          <a:p>
            <a:pPr>
              <a:lnSpc>
                <a:spcPct val="100000"/>
              </a:lnSpc>
              <a:spcAft>
                <a:spcPts val="0"/>
              </a:spcAft>
            </a:pPr>
            <a:r>
              <a:rPr sz="1300" i="0">
                <a:solidFill>
                  <a:srgbClr val="7DCEA0"/>
                </a:solidFill>
                <a:latin typeface="Consolas"/>
              </a:rPr>
              <a:t>ENV PYTHONPATH=/deps</a:t>
            </a:r>
          </a:p>
          <a:p>
            <a:pPr>
              <a:lnSpc>
                <a:spcPct val="100000"/>
              </a:lnSpc>
              <a:spcAft>
                <a:spcPts val="0"/>
              </a:spcAft>
            </a:pPr>
            <a:r>
              <a:rPr sz="1300" i="0">
                <a:solidFill>
                  <a:srgbClr val="7DCEA0"/>
                </a:solidFill>
                <a:latin typeface="Consolas"/>
              </a:rPr>
              <a:t>USER app</a:t>
            </a:r>
          </a:p>
          <a:p>
            <a:pPr>
              <a:lnSpc>
                <a:spcPct val="100000"/>
              </a:lnSpc>
              <a:spcAft>
                <a:spcPts val="0"/>
              </a:spcAft>
            </a:pPr>
            <a:r>
              <a:rPr sz="1300" i="0">
                <a:solidFill>
                  <a:srgbClr val="7DCEA0"/>
                </a:solidFill>
                <a:latin typeface="Consolas"/>
              </a:rPr>
              <a:t>CMD ["python", "-m", "flask", "run", "--host=0.0.0.0"]</a:t>
            </a:r>
          </a:p>
          <a:p>
            <a:pPr>
              <a:lnSpc>
                <a:spcPct val="100000"/>
              </a:lnSpc>
              <a:spcAft>
                <a:spcPts val="0"/>
              </a:spcAft>
            </a:pPr>
            <a:r>
              <a:rPr sz="1300" i="0">
                <a:solidFill>
                  <a:srgbClr val="7DCEA0"/>
                </a:solidFill>
                <a:latin typeface="Consolas"/>
              </a:rPr>
              <a:t>DF</a:t>
            </a:r>
          </a:p>
          <a:p>
            <a:pPr>
              <a:lnSpc>
                <a:spcPct val="100000"/>
              </a:lnSpc>
              <a:spcAft>
                <a:spcPts val="0"/>
              </a:spcAft>
            </a:pPr>
            <a:r>
              <a:rPr sz="1300" i="0">
                <a:solidFill>
                  <a:srgbClr val="E8EDF2"/>
                </a:solidFill>
                <a:latin typeface="Consolas"/>
              </a:rPr>
              <a:t>docker</a:t>
            </a:r>
            <a:r>
              <a:rPr sz="1300" i="0">
                <a:solidFill>
                  <a:srgbClr val="E8EDF2"/>
                </a:solidFill>
                <a:latin typeface="Consolas"/>
              </a:rPr>
              <a:t> </a:t>
            </a:r>
            <a:r>
              <a:rPr sz="1300" i="0">
                <a:solidFill>
                  <a:srgbClr val="E8EDF2"/>
                </a:solidFill>
                <a:latin typeface="Consolas"/>
              </a:rPr>
              <a:t>build</a:t>
            </a:r>
            <a:r>
              <a:rPr sz="1300" i="0">
                <a:solidFill>
                  <a:srgbClr val="E8EDF2"/>
                </a:solidFill>
                <a:latin typeface="Consolas"/>
              </a:rPr>
              <a:t> </a:t>
            </a:r>
            <a:r>
              <a:rPr sz="1300" i="0">
                <a:solidFill>
                  <a:srgbClr val="E8EDF2"/>
                </a:solidFill>
                <a:latin typeface="Consolas"/>
              </a:rPr>
              <a:t>-q</a:t>
            </a:r>
            <a:r>
              <a:rPr sz="1300" i="0">
                <a:solidFill>
                  <a:srgbClr val="E8EDF2"/>
                </a:solidFill>
                <a:latin typeface="Consolas"/>
              </a:rPr>
              <a:t> </a:t>
            </a:r>
            <a:r>
              <a:rPr sz="1300" i="0">
                <a:solidFill>
                  <a:srgbClr val="E8EDF2"/>
                </a:solidFill>
                <a:latin typeface="Consolas"/>
              </a:rPr>
              <a:t>-f</a:t>
            </a:r>
            <a:r>
              <a:rPr sz="1300" i="0">
                <a:solidFill>
                  <a:srgbClr val="E8EDF2"/>
                </a:solidFill>
                <a:latin typeface="Consolas"/>
              </a:rPr>
              <a:t> </a:t>
            </a:r>
            <a:r>
              <a:rPr sz="1300" i="0">
                <a:solidFill>
                  <a:srgbClr val="E8EDF2"/>
                </a:solidFill>
                <a:latin typeface="Consolas"/>
              </a:rPr>
              <a:t>Dockerfile.good</a:t>
            </a:r>
            <a:r>
              <a:rPr sz="1300" i="0">
                <a:solidFill>
                  <a:srgbClr val="E8EDF2"/>
                </a:solidFill>
                <a:latin typeface="Consolas"/>
              </a:rPr>
              <a:t> </a:t>
            </a:r>
            <a:r>
              <a:rPr sz="1300" i="0">
                <a:solidFill>
                  <a:srgbClr val="E8EDF2"/>
                </a:solidFill>
                <a:latin typeface="Consolas"/>
              </a:rPr>
              <a:t>-t</a:t>
            </a:r>
            <a:r>
              <a:rPr sz="1300" i="0">
                <a:solidFill>
                  <a:srgbClr val="E8EDF2"/>
                </a:solidFill>
                <a:latin typeface="Consolas"/>
              </a:rPr>
              <a:t> </a:t>
            </a:r>
            <a:r>
              <a:rPr sz="1300" i="0">
                <a:solidFill>
                  <a:srgbClr val="E8EDF2"/>
                </a:solidFill>
                <a:latin typeface="Consolas"/>
              </a:rPr>
              <a:t>vsapp:good</a:t>
            </a:r>
            <a:r>
              <a:rPr sz="1300" i="0">
                <a:solidFill>
                  <a:srgbClr val="E8EDF2"/>
                </a:solidFill>
                <a:latin typeface="Consolas"/>
              </a:rPr>
              <a:t> </a:t>
            </a:r>
            <a:r>
              <a:rPr sz="1300" i="0">
                <a:solidFill>
                  <a:srgbClr val="E8EDF2"/>
                </a:solidFill>
                <a:latin typeface="Consolas"/>
              </a:rPr>
              <a:t>.</a:t>
            </a:r>
            <a:r>
              <a:rPr sz="1300" i="0">
                <a:solidFill>
                  <a:srgbClr val="E8EDF2"/>
                </a:solidFill>
                <a:latin typeface="Consolas"/>
              </a:rPr>
              <a:t> </a:t>
            </a:r>
            <a:r>
              <a:rPr sz="1300" i="0">
                <a:solidFill>
                  <a:srgbClr val="E8EDF2"/>
                </a:solidFill>
                <a:latin typeface="Consolas"/>
              </a:rPr>
              <a:t>&gt;</a:t>
            </a:r>
            <a:r>
              <a:rPr sz="1300" i="0">
                <a:solidFill>
                  <a:srgbClr val="E8EDF2"/>
                </a:solidFill>
                <a:latin typeface="Consolas"/>
              </a:rPr>
              <a:t> </a:t>
            </a:r>
            <a:r>
              <a:rPr sz="1300" i="0">
                <a:solidFill>
                  <a:srgbClr val="E8EDF2"/>
                </a:solidFill>
                <a:latin typeface="Consolas"/>
              </a:rPr>
              <a:t>/dev/null</a:t>
            </a:r>
          </a:p>
          <a:p>
            <a:pPr>
              <a:lnSpc>
                <a:spcPct val="100000"/>
              </a:lnSpc>
              <a:spcAft>
                <a:spcPts val="0"/>
              </a:spcAft>
            </a:pPr>
            <a:r>
              <a:rPr sz="1300" i="0">
                <a:solidFill>
                  <a:srgbClr val="E8EDF2"/>
                </a:solidFill>
                <a:latin typeface="Consolas"/>
              </a:rPr>
              <a:t>docker</a:t>
            </a:r>
            <a:r>
              <a:rPr sz="1300" i="0">
                <a:solidFill>
                  <a:srgbClr val="E8EDF2"/>
                </a:solidFill>
                <a:latin typeface="Consolas"/>
              </a:rPr>
              <a:t> </a:t>
            </a:r>
            <a:r>
              <a:rPr sz="1300" i="0">
                <a:solidFill>
                  <a:srgbClr val="E8EDF2"/>
                </a:solidFill>
                <a:latin typeface="Consolas"/>
              </a:rPr>
              <a:t>images</a:t>
            </a:r>
            <a:r>
              <a:rPr sz="1300" i="0">
                <a:solidFill>
                  <a:srgbClr val="E8EDF2"/>
                </a:solidFill>
                <a:latin typeface="Consolas"/>
              </a:rPr>
              <a:t> </a:t>
            </a:r>
            <a:r>
              <a:rPr sz="1300" i="0">
                <a:solidFill>
                  <a:srgbClr val="E8EDF2"/>
                </a:solidFill>
                <a:latin typeface="Consolas"/>
              </a:rPr>
              <a:t>vsapp</a:t>
            </a:r>
            <a:r>
              <a:rPr sz="1300" i="0">
                <a:solidFill>
                  <a:srgbClr val="E8EDF2"/>
                </a:solidFill>
                <a:latin typeface="Consolas"/>
              </a:rPr>
              <a:t> </a:t>
            </a:r>
            <a:r>
              <a:rPr sz="1300" i="0">
                <a:solidFill>
                  <a:srgbClr val="E8EDF2"/>
                </a:solidFill>
                <a:latin typeface="Consolas"/>
              </a:rPr>
              <a:t>--format</a:t>
            </a:r>
            <a:r>
              <a:rPr sz="1300" i="0">
                <a:solidFill>
                  <a:srgbClr val="E8EDF2"/>
                </a:solidFill>
                <a:latin typeface="Consolas"/>
              </a:rPr>
              <a:t> </a:t>
            </a:r>
            <a:r>
              <a:rPr sz="1300" i="0">
                <a:solidFill>
                  <a:srgbClr val="7DCEA0"/>
                </a:solidFill>
                <a:latin typeface="Consolas"/>
              </a:rPr>
              <a:t>'{{.Tag}}\t{{.Size}}'</a:t>
            </a:r>
          </a:p>
        </p:txBody>
      </p:sp>
      <p:sp>
        <p:nvSpPr>
          <p:cNvPr id="15" name="!!code-num"/>
          <p:cNvSpPr txBox="1"/>
          <p:nvPr/>
        </p:nvSpPr>
        <p:spPr>
          <a:xfrm>
            <a:off x="768096" y="2523744"/>
            <a:ext cx="393192" cy="3675887"/>
          </a:xfrm>
          <a:prstGeom prst="rect">
            <a:avLst/>
          </a:prstGeom>
          <a:noFill/>
        </p:spPr>
        <p:txBody>
          <a:bodyPr wrap="none" anchor="t" lIns="0" rIns="0" tIns="0" bIns="0">
            <a:noAutofit/>
          </a:bodyPr>
          <a:lstStyle/>
          <a:p>
            <a:pPr algn="r">
              <a:lnSpc>
                <a:spcPct val="100000"/>
              </a:lnSpc>
            </a:pPr>
            <a:r>
              <a:rPr sz="1300">
                <a:solidFill>
                  <a:srgbClr val="4F5D6A"/>
                </a:solidFill>
                <a:latin typeface="Consolas"/>
              </a:rPr>
              <a:t>54</a:t>
            </a:r>
          </a:p>
          <a:p>
            <a:pPr algn="r">
              <a:lnSpc>
                <a:spcPct val="100000"/>
              </a:lnSpc>
            </a:pPr>
            <a:r>
              <a:rPr sz="1300">
                <a:solidFill>
                  <a:srgbClr val="4F5D6A"/>
                </a:solidFill>
                <a:latin typeface="Consolas"/>
              </a:rPr>
              <a:t>55</a:t>
            </a:r>
          </a:p>
          <a:p>
            <a:pPr algn="r">
              <a:lnSpc>
                <a:spcPct val="100000"/>
              </a:lnSpc>
            </a:pPr>
            <a:r>
              <a:rPr sz="1300">
                <a:solidFill>
                  <a:srgbClr val="4F5D6A"/>
                </a:solidFill>
                <a:latin typeface="Consolas"/>
              </a:rPr>
              <a:t>56</a:t>
            </a:r>
          </a:p>
          <a:p>
            <a:pPr algn="r">
              <a:lnSpc>
                <a:spcPct val="100000"/>
              </a:lnSpc>
            </a:pPr>
            <a:r>
              <a:rPr sz="1300">
                <a:solidFill>
                  <a:srgbClr val="4F5D6A"/>
                </a:solidFill>
                <a:latin typeface="Consolas"/>
              </a:rPr>
              <a:t>57</a:t>
            </a:r>
          </a:p>
          <a:p>
            <a:pPr algn="r">
              <a:lnSpc>
                <a:spcPct val="100000"/>
              </a:lnSpc>
            </a:pPr>
            <a:r>
              <a:rPr sz="1300">
                <a:solidFill>
                  <a:srgbClr val="4F5D6A"/>
                </a:solidFill>
                <a:latin typeface="Consolas"/>
              </a:rPr>
              <a:t>58</a:t>
            </a:r>
          </a:p>
          <a:p>
            <a:pPr algn="r">
              <a:lnSpc>
                <a:spcPct val="100000"/>
              </a:lnSpc>
            </a:pPr>
            <a:r>
              <a:rPr sz="1300">
                <a:solidFill>
                  <a:srgbClr val="4F5D6A"/>
                </a:solidFill>
                <a:latin typeface="Consolas"/>
              </a:rPr>
              <a:t>59</a:t>
            </a:r>
          </a:p>
          <a:p>
            <a:pPr algn="r">
              <a:lnSpc>
                <a:spcPct val="100000"/>
              </a:lnSpc>
            </a:pPr>
            <a:r>
              <a:rPr sz="1300">
                <a:solidFill>
                  <a:srgbClr val="4F5D6A"/>
                </a:solidFill>
                <a:latin typeface="Consolas"/>
              </a:rPr>
              <a:t>60</a:t>
            </a:r>
          </a:p>
          <a:p>
            <a:pPr algn="r">
              <a:lnSpc>
                <a:spcPct val="100000"/>
              </a:lnSpc>
            </a:pPr>
            <a:r>
              <a:rPr sz="1300">
                <a:solidFill>
                  <a:srgbClr val="4F5D6A"/>
                </a:solidFill>
                <a:latin typeface="Consolas"/>
              </a:rPr>
              <a:t>61</a:t>
            </a:r>
          </a:p>
          <a:p>
            <a:pPr algn="r">
              <a:lnSpc>
                <a:spcPct val="100000"/>
              </a:lnSpc>
            </a:pPr>
            <a:r>
              <a:rPr sz="1300">
                <a:solidFill>
                  <a:srgbClr val="4F5D6A"/>
                </a:solidFill>
                <a:latin typeface="Consolas"/>
              </a:rPr>
              <a:t>62</a:t>
            </a:r>
          </a:p>
          <a:p>
            <a:pPr algn="r">
              <a:lnSpc>
                <a:spcPct val="100000"/>
              </a:lnSpc>
            </a:pPr>
            <a:r>
              <a:rPr sz="1300">
                <a:solidFill>
                  <a:srgbClr val="4F5D6A"/>
                </a:solidFill>
                <a:latin typeface="Consolas"/>
              </a:rPr>
              <a:t>63</a:t>
            </a:r>
          </a:p>
          <a:p>
            <a:pPr algn="r">
              <a:lnSpc>
                <a:spcPct val="100000"/>
              </a:lnSpc>
            </a:pPr>
            <a:r>
              <a:rPr sz="1300">
                <a:solidFill>
                  <a:srgbClr val="4F5D6A"/>
                </a:solidFill>
                <a:latin typeface="Consolas"/>
              </a:rPr>
              <a:t>64</a:t>
            </a:r>
          </a:p>
          <a:p>
            <a:pPr algn="r">
              <a:lnSpc>
                <a:spcPct val="100000"/>
              </a:lnSpc>
            </a:pPr>
            <a:r>
              <a:rPr sz="1300">
                <a:solidFill>
                  <a:srgbClr val="4F5D6A"/>
                </a:solidFill>
                <a:latin typeface="Consolas"/>
              </a:rPr>
              <a:t>65</a:t>
            </a:r>
          </a:p>
          <a:p>
            <a:pPr algn="r">
              <a:lnSpc>
                <a:spcPct val="100000"/>
              </a:lnSpc>
            </a:pPr>
            <a:r>
              <a:rPr sz="1300">
                <a:solidFill>
                  <a:srgbClr val="4F5D6A"/>
                </a:solidFill>
                <a:latin typeface="Consolas"/>
              </a:rPr>
              <a:t>66</a:t>
            </a:r>
          </a:p>
          <a:p>
            <a:pPr algn="r">
              <a:lnSpc>
                <a:spcPct val="100000"/>
              </a:lnSpc>
            </a:pPr>
            <a:r>
              <a:rPr sz="1300">
                <a:solidFill>
                  <a:srgbClr val="4F5D6A"/>
                </a:solidFill>
                <a:latin typeface="Consolas"/>
              </a:rPr>
              <a:t>67</a:t>
            </a:r>
          </a:p>
          <a:p>
            <a:pPr algn="r">
              <a:lnSpc>
                <a:spcPct val="100000"/>
              </a:lnSpc>
            </a:pPr>
            <a:r>
              <a:rPr sz="1300">
                <a:solidFill>
                  <a:srgbClr val="4F5D6A"/>
                </a:solidFill>
                <a:latin typeface="Consolas"/>
              </a:rPr>
              <a:t>68</a:t>
            </a:r>
          </a:p>
          <a:p>
            <a:pPr algn="r">
              <a:lnSpc>
                <a:spcPct val="100000"/>
              </a:lnSpc>
            </a:pPr>
            <a:r>
              <a:rPr sz="1300">
                <a:solidFill>
                  <a:srgbClr val="4F5D6A"/>
                </a:solidFill>
                <a:latin typeface="Consolas"/>
              </a:rPr>
              <a:t>69</a:t>
            </a:r>
          </a:p>
          <a:p>
            <a:pPr algn="r">
              <a:lnSpc>
                <a:spcPct val="100000"/>
              </a:lnSpc>
            </a:pPr>
            <a:r>
              <a:rPr sz="1300">
                <a:solidFill>
                  <a:srgbClr val="4F5D6A"/>
                </a:solidFill>
                <a:latin typeface="Consolas"/>
              </a:rPr>
              <a:t>70</a:t>
            </a:r>
          </a:p>
          <a:p>
            <a:pPr algn="r">
              <a:lnSpc>
                <a:spcPct val="100000"/>
              </a:lnSpc>
            </a:pPr>
            <a:r>
              <a:rPr sz="1300">
                <a:solidFill>
                  <a:srgbClr val="4F5D6A"/>
                </a:solidFill>
                <a:latin typeface="Consolas"/>
              </a:rPr>
              <a:t>71</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03543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Measuring the Build Cache, and Fixing 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8 OF 10</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9  ·  Docker and the Container Ecosystem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72     </a:t>
            </a:r>
            <a:fld id="{8E7DE596-5E9A-4D42-A202-302D111C08DF}" type="slidenum">
              <a:rPr lang="en-GB" sz="1000">
                <a:solidFill>
                  <a:srgbClr val="8795A1"/>
                </a:solidFill>
                <a:latin typeface="Segoe UI"/>
              </a:rPr>
              <a:t>30</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Prove it is not running as root, and cannot write its root.</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426463"/>
          </a:xfrm>
          <a:prstGeom prst="roundRect">
            <a:avLst>
              <a:gd name="adj" fmla="val 641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7. Prove it is not running as root, and cannot write its root. --- docker run --rm vsapp:good id docker run --rm --read-only vsapp:good sh -c 'touch /nope' 2&gt;&amp;1 | tail -1"/>
          <p:cNvSpPr txBox="1"/>
          <p:nvPr/>
        </p:nvSpPr>
        <p:spPr>
          <a:xfrm>
            <a:off x="1362456" y="2523744"/>
            <a:ext cx="9987991" cy="93268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--- 7. Prove it is not running as root, and cannot write its root. ---</a:t>
            </a:r>
          </a:p>
          <a:p>
            <a:pPr>
              <a:lnSpc>
                <a:spcPct val="100000"/>
              </a:lnSpc>
              <a:spcAft>
                <a:spcPts val="0"/>
              </a:spcAft>
            </a:pPr>
            <a:r>
              <a:rPr sz="1800" i="0">
                <a:solidFill>
                  <a:srgbClr val="E8EDF2"/>
                </a:solidFill>
                <a:latin typeface="Consolas"/>
              </a:rPr>
              <a:t>docker</a:t>
            </a:r>
            <a:r>
              <a:rPr sz="1800" i="0">
                <a:solidFill>
                  <a:srgbClr val="E8EDF2"/>
                </a:solidFill>
                <a:latin typeface="Consolas"/>
              </a:rPr>
              <a:t> </a:t>
            </a:r>
            <a:r>
              <a:rPr sz="1800" i="0">
                <a:solidFill>
                  <a:srgbClr val="E8EDF2"/>
                </a:solidFill>
                <a:latin typeface="Consolas"/>
              </a:rPr>
              <a:t>run</a:t>
            </a:r>
            <a:r>
              <a:rPr sz="1800" i="0">
                <a:solidFill>
                  <a:srgbClr val="E8EDF2"/>
                </a:solidFill>
                <a:latin typeface="Consolas"/>
              </a:rPr>
              <a:t> </a:t>
            </a:r>
            <a:r>
              <a:rPr sz="1800" i="0">
                <a:solidFill>
                  <a:srgbClr val="E8EDF2"/>
                </a:solidFill>
                <a:latin typeface="Consolas"/>
              </a:rPr>
              <a:t>--rm</a:t>
            </a:r>
            <a:r>
              <a:rPr sz="1800" i="0">
                <a:solidFill>
                  <a:srgbClr val="E8EDF2"/>
                </a:solidFill>
                <a:latin typeface="Consolas"/>
              </a:rPr>
              <a:t> </a:t>
            </a:r>
            <a:r>
              <a:rPr sz="1800" i="0">
                <a:solidFill>
                  <a:srgbClr val="E8EDF2"/>
                </a:solidFill>
                <a:latin typeface="Consolas"/>
              </a:rPr>
              <a:t>vsapp:good</a:t>
            </a:r>
            <a:r>
              <a:rPr sz="1800" i="0">
                <a:solidFill>
                  <a:srgbClr val="E8EDF2"/>
                </a:solidFill>
                <a:latin typeface="Consolas"/>
              </a:rPr>
              <a:t> </a:t>
            </a:r>
            <a:r>
              <a:rPr sz="1800" i="0">
                <a:solidFill>
                  <a:srgbClr val="E8EDF2"/>
                </a:solidFill>
                <a:latin typeface="Consolas"/>
              </a:rPr>
              <a:t>id</a:t>
            </a:r>
          </a:p>
          <a:p>
            <a:pPr>
              <a:lnSpc>
                <a:spcPct val="100000"/>
              </a:lnSpc>
              <a:spcAft>
                <a:spcPts val="0"/>
              </a:spcAft>
            </a:pPr>
            <a:r>
              <a:rPr sz="1800" i="0">
                <a:solidFill>
                  <a:srgbClr val="E8EDF2"/>
                </a:solidFill>
                <a:latin typeface="Consolas"/>
              </a:rPr>
              <a:t>docker</a:t>
            </a:r>
            <a:r>
              <a:rPr sz="1800" i="0">
                <a:solidFill>
                  <a:srgbClr val="E8EDF2"/>
                </a:solidFill>
                <a:latin typeface="Consolas"/>
              </a:rPr>
              <a:t> </a:t>
            </a:r>
            <a:r>
              <a:rPr sz="1800" i="0">
                <a:solidFill>
                  <a:srgbClr val="E8EDF2"/>
                </a:solidFill>
                <a:latin typeface="Consolas"/>
              </a:rPr>
              <a:t>run</a:t>
            </a:r>
            <a:r>
              <a:rPr sz="1800" i="0">
                <a:solidFill>
                  <a:srgbClr val="E8EDF2"/>
                </a:solidFill>
                <a:latin typeface="Consolas"/>
              </a:rPr>
              <a:t> </a:t>
            </a:r>
            <a:r>
              <a:rPr sz="1800" i="0">
                <a:solidFill>
                  <a:srgbClr val="E8EDF2"/>
                </a:solidFill>
                <a:latin typeface="Consolas"/>
              </a:rPr>
              <a:t>--rm</a:t>
            </a:r>
            <a:r>
              <a:rPr sz="1800" i="0">
                <a:solidFill>
                  <a:srgbClr val="E8EDF2"/>
                </a:solidFill>
                <a:latin typeface="Consolas"/>
              </a:rPr>
              <a:t> </a:t>
            </a:r>
            <a:r>
              <a:rPr sz="1800" i="0">
                <a:solidFill>
                  <a:srgbClr val="E8EDF2"/>
                </a:solidFill>
                <a:latin typeface="Consolas"/>
              </a:rPr>
              <a:t>--read-only</a:t>
            </a:r>
            <a:r>
              <a:rPr sz="1800" i="0">
                <a:solidFill>
                  <a:srgbClr val="E8EDF2"/>
                </a:solidFill>
                <a:latin typeface="Consolas"/>
              </a:rPr>
              <a:t> </a:t>
            </a:r>
            <a:r>
              <a:rPr sz="1800" i="0">
                <a:solidFill>
                  <a:srgbClr val="E8EDF2"/>
                </a:solidFill>
                <a:latin typeface="Consolas"/>
              </a:rPr>
              <a:t>vsapp:good</a:t>
            </a:r>
            <a:r>
              <a:rPr sz="1800" i="0">
                <a:solidFill>
                  <a:srgbClr val="E8EDF2"/>
                </a:solidFill>
                <a:latin typeface="Consolas"/>
              </a:rPr>
              <a:t> </a:t>
            </a:r>
            <a:r>
              <a:rPr sz="1800" i="0">
                <a:solidFill>
                  <a:srgbClr val="E8EDF2"/>
                </a:solidFill>
                <a:latin typeface="Consolas"/>
              </a:rPr>
              <a:t>sh</a:t>
            </a:r>
            <a:r>
              <a:rPr sz="1800" i="0">
                <a:solidFill>
                  <a:srgbClr val="E8EDF2"/>
                </a:solidFill>
                <a:latin typeface="Consolas"/>
              </a:rPr>
              <a:t> </a:t>
            </a:r>
            <a:r>
              <a:rPr sz="1800" i="0">
                <a:solidFill>
                  <a:srgbClr val="E8EDF2"/>
                </a:solidFill>
                <a:latin typeface="Consolas"/>
              </a:rPr>
              <a:t>-c</a:t>
            </a:r>
            <a:r>
              <a:rPr sz="1800" i="0">
                <a:solidFill>
                  <a:srgbClr val="E8EDF2"/>
                </a:solidFill>
                <a:latin typeface="Consolas"/>
              </a:rPr>
              <a:t> </a:t>
            </a:r>
            <a:r>
              <a:rPr sz="1800" i="0">
                <a:solidFill>
                  <a:srgbClr val="7DCEA0"/>
                </a:solidFill>
                <a:latin typeface="Consolas"/>
              </a:rPr>
              <a:t>'touch /nope'</a:t>
            </a:r>
            <a:r>
              <a:rPr sz="1800" i="0">
                <a:solidFill>
                  <a:srgbClr val="E8EDF2"/>
                </a:solidFill>
                <a:latin typeface="Consolas"/>
              </a:rPr>
              <a:t> </a:t>
            </a:r>
            <a:r>
              <a:rPr sz="1800" i="0">
                <a:solidFill>
                  <a:srgbClr val="F7DC6F"/>
                </a:solidFill>
                <a:latin typeface="Consolas"/>
              </a:rPr>
              <a:t>2</a:t>
            </a:r>
            <a:r>
              <a:rPr sz="1800" i="0">
                <a:solidFill>
                  <a:srgbClr val="E8EDF2"/>
                </a:solidFill>
                <a:latin typeface="Consolas"/>
              </a:rPr>
              <a:t>&gt;</a:t>
            </a:r>
            <a:r>
              <a:rPr sz="1800" i="0">
                <a:solidFill>
                  <a:srgbClr val="AEB6BF"/>
                </a:solidFill>
                <a:latin typeface="Consolas"/>
              </a:rPr>
              <a:t>&amp;</a:t>
            </a:r>
            <a:r>
              <a:rPr sz="1800" i="0">
                <a:solidFill>
                  <a:srgbClr val="F7DC6F"/>
                </a:solidFill>
                <a:latin typeface="Consolas"/>
              </a:rPr>
              <a:t>1</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tail</a:t>
            </a:r>
            <a:r>
              <a:rPr sz="1800" i="0">
                <a:solidFill>
                  <a:srgbClr val="E8EDF2"/>
                </a:solidFill>
                <a:latin typeface="Consolas"/>
              </a:rPr>
              <a:t> </a:t>
            </a:r>
            <a:r>
              <a:rPr sz="1800" i="0">
                <a:solidFill>
                  <a:srgbClr val="E8EDF2"/>
                </a:solidFill>
                <a:latin typeface="Consolas"/>
              </a:rPr>
              <a:t>-1</a:t>
            </a:r>
          </a:p>
        </p:txBody>
      </p:sp>
      <p:sp>
        <p:nvSpPr>
          <p:cNvPr id="15" name="!!code-num"/>
          <p:cNvSpPr txBox="1"/>
          <p:nvPr/>
        </p:nvSpPr>
        <p:spPr>
          <a:xfrm>
            <a:off x="768096" y="2523744"/>
            <a:ext cx="393192" cy="93268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73</a:t>
            </a:r>
          </a:p>
          <a:p>
            <a:pPr algn="r">
              <a:lnSpc>
                <a:spcPct val="100000"/>
              </a:lnSpc>
            </a:pPr>
            <a:r>
              <a:rPr sz="1800">
                <a:solidFill>
                  <a:srgbClr val="4F5D6A"/>
                </a:solidFill>
                <a:latin typeface="Consolas"/>
              </a:rPr>
              <a:t>74</a:t>
            </a:r>
          </a:p>
          <a:p>
            <a:pPr algn="r">
              <a:lnSpc>
                <a:spcPct val="100000"/>
              </a:lnSpc>
            </a:pPr>
            <a:r>
              <a:rPr sz="1800">
                <a:solidFill>
                  <a:srgbClr val="4F5D6A"/>
                </a:solidFill>
                <a:latin typeface="Consolas"/>
              </a:rPr>
              <a:t>75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31251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Measuring the Build Cache, and Fixing 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9 OF 10</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9  ·  Docker and the Container Ecosystem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72     </a:t>
            </a:r>
            <a:fld id="{98ECBD5C-ED18-4D50-8F69-69BECDD727E5}" type="slidenum">
              <a:rPr lang="en-GB" sz="1000">
                <a:solidFill>
                  <a:srgbClr val="8795A1"/>
                </a:solidFill>
                <a:latin typeface="Segoe UI"/>
              </a:rPr>
              <a:t>31</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 secret deleted in a later layer is still in the image.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051303"/>
          </a:xfrm>
          <a:prstGeom prst="roundRect">
            <a:avLst>
              <a:gd name="adj" fmla="val 445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8. A secret deleted in a later layer is still in the image. ------ printf 'FROM alpine\nRUN echo hunter2 &gt; /k &amp;&amp; rm /k\n' &gt; Dockerfile.leak docker build -q -f Dockerfile.leak -t vsapp:leak . &gt; /dev/null docker save vsapp:leak | tar -xO 2&gt;/dev/null | grep -ac hunter2 || \ echo &quot;search the layer tarballs: the secret is in one of them&quot;"/>
          <p:cNvSpPr txBox="1"/>
          <p:nvPr/>
        </p:nvSpPr>
        <p:spPr>
          <a:xfrm>
            <a:off x="1362456" y="2523744"/>
            <a:ext cx="9987991" cy="155752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--- 8. A secret deleted in a later layer is still in the image. ------</a:t>
            </a:r>
          </a:p>
          <a:p>
            <a:pPr>
              <a:lnSpc>
                <a:spcPct val="100000"/>
              </a:lnSpc>
              <a:spcAft>
                <a:spcPts val="0"/>
              </a:spcAft>
            </a:pPr>
            <a:r>
              <a:rPr sz="1900" i="0">
                <a:solidFill>
                  <a:srgbClr val="C39BD3"/>
                </a:solidFill>
                <a:latin typeface="Consolas"/>
              </a:rPr>
              <a:t>printf</a:t>
            </a:r>
            <a:r>
              <a:rPr sz="1900" i="0">
                <a:solidFill>
                  <a:srgbClr val="E8EDF2"/>
                </a:solidFill>
                <a:latin typeface="Consolas"/>
              </a:rPr>
              <a:t> </a:t>
            </a:r>
            <a:r>
              <a:rPr sz="1900" i="0">
                <a:solidFill>
                  <a:srgbClr val="7DCEA0"/>
                </a:solidFill>
                <a:latin typeface="Consolas"/>
              </a:rPr>
              <a:t>'FROM alpine\nRUN echo hunter2 &gt; /k &amp;&amp; rm /k\n'</a:t>
            </a:r>
            <a:r>
              <a:rPr sz="1900" i="0">
                <a:solidFill>
                  <a:srgbClr val="E8EDF2"/>
                </a:solidFill>
                <a:latin typeface="Consolas"/>
              </a:rPr>
              <a:t> </a:t>
            </a:r>
            <a:r>
              <a:rPr sz="1900" i="0">
                <a:solidFill>
                  <a:srgbClr val="E8EDF2"/>
                </a:solidFill>
                <a:latin typeface="Consolas"/>
              </a:rPr>
              <a:t>&gt;</a:t>
            </a:r>
            <a:r>
              <a:rPr sz="1900" i="0">
                <a:solidFill>
                  <a:srgbClr val="E8EDF2"/>
                </a:solidFill>
                <a:latin typeface="Consolas"/>
              </a:rPr>
              <a:t> </a:t>
            </a:r>
            <a:r>
              <a:rPr sz="1900" i="0">
                <a:solidFill>
                  <a:srgbClr val="E8EDF2"/>
                </a:solidFill>
                <a:latin typeface="Consolas"/>
              </a:rPr>
              <a:t>Dockerfile.leak</a:t>
            </a:r>
          </a:p>
          <a:p>
            <a:pPr>
              <a:lnSpc>
                <a:spcPct val="100000"/>
              </a:lnSpc>
              <a:spcAft>
                <a:spcPts val="0"/>
              </a:spcAft>
            </a:pPr>
            <a:r>
              <a:rPr sz="1900" i="0">
                <a:solidFill>
                  <a:srgbClr val="E8EDF2"/>
                </a:solidFill>
                <a:latin typeface="Consolas"/>
              </a:rPr>
              <a:t>docker</a:t>
            </a:r>
            <a:r>
              <a:rPr sz="1900" i="0">
                <a:solidFill>
                  <a:srgbClr val="E8EDF2"/>
                </a:solidFill>
                <a:latin typeface="Consolas"/>
              </a:rPr>
              <a:t> </a:t>
            </a:r>
            <a:r>
              <a:rPr sz="1900" i="0">
                <a:solidFill>
                  <a:srgbClr val="E8EDF2"/>
                </a:solidFill>
                <a:latin typeface="Consolas"/>
              </a:rPr>
              <a:t>build</a:t>
            </a:r>
            <a:r>
              <a:rPr sz="1900" i="0">
                <a:solidFill>
                  <a:srgbClr val="E8EDF2"/>
                </a:solidFill>
                <a:latin typeface="Consolas"/>
              </a:rPr>
              <a:t> </a:t>
            </a:r>
            <a:r>
              <a:rPr sz="1900" i="0">
                <a:solidFill>
                  <a:srgbClr val="E8EDF2"/>
                </a:solidFill>
                <a:latin typeface="Consolas"/>
              </a:rPr>
              <a:t>-q</a:t>
            </a:r>
            <a:r>
              <a:rPr sz="1900" i="0">
                <a:solidFill>
                  <a:srgbClr val="E8EDF2"/>
                </a:solidFill>
                <a:latin typeface="Consolas"/>
              </a:rPr>
              <a:t> </a:t>
            </a:r>
            <a:r>
              <a:rPr sz="1900" i="0">
                <a:solidFill>
                  <a:srgbClr val="E8EDF2"/>
                </a:solidFill>
                <a:latin typeface="Consolas"/>
              </a:rPr>
              <a:t>-f</a:t>
            </a:r>
            <a:r>
              <a:rPr sz="1900" i="0">
                <a:solidFill>
                  <a:srgbClr val="E8EDF2"/>
                </a:solidFill>
                <a:latin typeface="Consolas"/>
              </a:rPr>
              <a:t> </a:t>
            </a:r>
            <a:r>
              <a:rPr sz="1900" i="0">
                <a:solidFill>
                  <a:srgbClr val="E8EDF2"/>
                </a:solidFill>
                <a:latin typeface="Consolas"/>
              </a:rPr>
              <a:t>Dockerfile.leak</a:t>
            </a:r>
            <a:r>
              <a:rPr sz="1900" i="0">
                <a:solidFill>
                  <a:srgbClr val="E8EDF2"/>
                </a:solidFill>
                <a:latin typeface="Consolas"/>
              </a:rPr>
              <a:t> </a:t>
            </a:r>
            <a:r>
              <a:rPr sz="1900" i="0">
                <a:solidFill>
                  <a:srgbClr val="E8EDF2"/>
                </a:solidFill>
                <a:latin typeface="Consolas"/>
              </a:rPr>
              <a:t>-t</a:t>
            </a:r>
            <a:r>
              <a:rPr sz="1900" i="0">
                <a:solidFill>
                  <a:srgbClr val="E8EDF2"/>
                </a:solidFill>
                <a:latin typeface="Consolas"/>
              </a:rPr>
              <a:t> </a:t>
            </a:r>
            <a:r>
              <a:rPr sz="1900" i="0">
                <a:solidFill>
                  <a:srgbClr val="E8EDF2"/>
                </a:solidFill>
                <a:latin typeface="Consolas"/>
              </a:rPr>
              <a:t>vsapp:leak</a:t>
            </a:r>
            <a:r>
              <a:rPr sz="1900" i="0">
                <a:solidFill>
                  <a:srgbClr val="E8EDF2"/>
                </a:solidFill>
                <a:latin typeface="Consolas"/>
              </a:rPr>
              <a:t> </a:t>
            </a:r>
            <a:r>
              <a:rPr sz="1900" i="0">
                <a:solidFill>
                  <a:srgbClr val="E8EDF2"/>
                </a:solidFill>
                <a:latin typeface="Consolas"/>
              </a:rPr>
              <a:t>.</a:t>
            </a:r>
            <a:r>
              <a:rPr sz="1900" i="0">
                <a:solidFill>
                  <a:srgbClr val="E8EDF2"/>
                </a:solidFill>
                <a:latin typeface="Consolas"/>
              </a:rPr>
              <a:t> </a:t>
            </a:r>
            <a:r>
              <a:rPr sz="1900" i="0">
                <a:solidFill>
                  <a:srgbClr val="E8EDF2"/>
                </a:solidFill>
                <a:latin typeface="Consolas"/>
              </a:rPr>
              <a:t>&gt;</a:t>
            </a:r>
            <a:r>
              <a:rPr sz="1900" i="0">
                <a:solidFill>
                  <a:srgbClr val="E8EDF2"/>
                </a:solidFill>
                <a:latin typeface="Consolas"/>
              </a:rPr>
              <a:t> </a:t>
            </a:r>
            <a:r>
              <a:rPr sz="1900" i="0">
                <a:solidFill>
                  <a:srgbClr val="E8EDF2"/>
                </a:solidFill>
                <a:latin typeface="Consolas"/>
              </a:rPr>
              <a:t>/dev/null</a:t>
            </a:r>
          </a:p>
          <a:p>
            <a:pPr>
              <a:lnSpc>
                <a:spcPct val="100000"/>
              </a:lnSpc>
              <a:spcAft>
                <a:spcPts val="0"/>
              </a:spcAft>
            </a:pPr>
            <a:r>
              <a:rPr sz="1900" i="0">
                <a:solidFill>
                  <a:srgbClr val="E8EDF2"/>
                </a:solidFill>
                <a:latin typeface="Consolas"/>
              </a:rPr>
              <a:t>docker</a:t>
            </a:r>
            <a:r>
              <a:rPr sz="1900" i="0">
                <a:solidFill>
                  <a:srgbClr val="E8EDF2"/>
                </a:solidFill>
                <a:latin typeface="Consolas"/>
              </a:rPr>
              <a:t> </a:t>
            </a:r>
            <a:r>
              <a:rPr sz="1900" i="0">
                <a:solidFill>
                  <a:srgbClr val="E8EDF2"/>
                </a:solidFill>
                <a:latin typeface="Consolas"/>
              </a:rPr>
              <a:t>save</a:t>
            </a:r>
            <a:r>
              <a:rPr sz="1900" i="0">
                <a:solidFill>
                  <a:srgbClr val="E8EDF2"/>
                </a:solidFill>
                <a:latin typeface="Consolas"/>
              </a:rPr>
              <a:t> </a:t>
            </a:r>
            <a:r>
              <a:rPr sz="1900" i="0">
                <a:solidFill>
                  <a:srgbClr val="E8EDF2"/>
                </a:solidFill>
                <a:latin typeface="Consolas"/>
              </a:rPr>
              <a:t>vsapp:leak</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tar</a:t>
            </a:r>
            <a:r>
              <a:rPr sz="1900" i="0">
                <a:solidFill>
                  <a:srgbClr val="E8EDF2"/>
                </a:solidFill>
                <a:latin typeface="Consolas"/>
              </a:rPr>
              <a:t> </a:t>
            </a:r>
            <a:r>
              <a:rPr sz="1900" i="0">
                <a:solidFill>
                  <a:srgbClr val="E8EDF2"/>
                </a:solidFill>
                <a:latin typeface="Consolas"/>
              </a:rPr>
              <a:t>-xO</a:t>
            </a:r>
            <a:r>
              <a:rPr sz="1900" i="0">
                <a:solidFill>
                  <a:srgbClr val="E8EDF2"/>
                </a:solidFill>
                <a:latin typeface="Consolas"/>
              </a:rPr>
              <a:t> </a:t>
            </a:r>
            <a:r>
              <a:rPr sz="1900" i="0">
                <a:solidFill>
                  <a:srgbClr val="F7DC6F"/>
                </a:solidFill>
                <a:latin typeface="Consolas"/>
              </a:rPr>
              <a:t>2</a:t>
            </a:r>
            <a:r>
              <a:rPr sz="1900" i="0">
                <a:solidFill>
                  <a:srgbClr val="E8EDF2"/>
                </a:solidFill>
                <a:latin typeface="Consolas"/>
              </a:rPr>
              <a:t>&gt;/dev/null</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grep</a:t>
            </a:r>
            <a:r>
              <a:rPr sz="1900" i="0">
                <a:solidFill>
                  <a:srgbClr val="E8EDF2"/>
                </a:solidFill>
                <a:latin typeface="Consolas"/>
              </a:rPr>
              <a:t> </a:t>
            </a:r>
            <a:r>
              <a:rPr sz="1900" i="0">
                <a:solidFill>
                  <a:srgbClr val="E8EDF2"/>
                </a:solidFill>
                <a:latin typeface="Consolas"/>
              </a:rPr>
              <a:t>-ac</a:t>
            </a:r>
            <a:r>
              <a:rPr sz="1900" i="0">
                <a:solidFill>
                  <a:srgbClr val="E8EDF2"/>
                </a:solidFill>
                <a:latin typeface="Consolas"/>
              </a:rPr>
              <a:t> </a:t>
            </a:r>
            <a:r>
              <a:rPr sz="1900" i="0">
                <a:solidFill>
                  <a:srgbClr val="E8EDF2"/>
                </a:solidFill>
                <a:latin typeface="Consolas"/>
              </a:rPr>
              <a:t>hunter2</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C39BD3"/>
                </a:solidFill>
                <a:latin typeface="Consolas"/>
              </a:rPr>
              <a:t>echo</a:t>
            </a:r>
            <a:r>
              <a:rPr sz="1900" i="0">
                <a:solidFill>
                  <a:srgbClr val="E8EDF2"/>
                </a:solidFill>
                <a:latin typeface="Consolas"/>
              </a:rPr>
              <a:t> </a:t>
            </a:r>
            <a:r>
              <a:rPr sz="1900" i="0">
                <a:solidFill>
                  <a:srgbClr val="7DCEA0"/>
                </a:solidFill>
                <a:latin typeface="Consolas"/>
              </a:rPr>
              <a:t>"search the layer tarballs: the secret is in one of them"</a:t>
            </a:r>
          </a:p>
        </p:txBody>
      </p:sp>
      <p:sp>
        <p:nvSpPr>
          <p:cNvPr id="15" name="!!code-num"/>
          <p:cNvSpPr txBox="1"/>
          <p:nvPr/>
        </p:nvSpPr>
        <p:spPr>
          <a:xfrm>
            <a:off x="768096" y="2523744"/>
            <a:ext cx="393192" cy="155752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77</a:t>
            </a:r>
          </a:p>
          <a:p>
            <a:pPr algn="r">
              <a:lnSpc>
                <a:spcPct val="100000"/>
              </a:lnSpc>
            </a:pPr>
            <a:r>
              <a:rPr sz="1900">
                <a:solidFill>
                  <a:srgbClr val="4F5D6A"/>
                </a:solidFill>
                <a:latin typeface="Consolas"/>
              </a:rPr>
              <a:t>78</a:t>
            </a:r>
          </a:p>
          <a:p>
            <a:pPr algn="r">
              <a:lnSpc>
                <a:spcPct val="100000"/>
              </a:lnSpc>
            </a:pPr>
            <a:r>
              <a:rPr sz="1900">
                <a:solidFill>
                  <a:srgbClr val="4F5D6A"/>
                </a:solidFill>
                <a:latin typeface="Consolas"/>
              </a:rPr>
              <a:t>79</a:t>
            </a:r>
          </a:p>
          <a:p>
            <a:pPr algn="r">
              <a:lnSpc>
                <a:spcPct val="100000"/>
              </a:lnSpc>
            </a:pPr>
            <a:r>
              <a:rPr sz="1900">
                <a:solidFill>
                  <a:srgbClr val="4F5D6A"/>
                </a:solidFill>
                <a:latin typeface="Consolas"/>
              </a:rPr>
              <a:t>80</a:t>
            </a:r>
          </a:p>
          <a:p>
            <a:pPr algn="r">
              <a:lnSpc>
                <a:spcPct val="100000"/>
              </a:lnSpc>
            </a:pPr>
            <a:r>
              <a:rPr sz="1900">
                <a:solidFill>
                  <a:srgbClr val="4F5D6A"/>
                </a:solidFill>
                <a:latin typeface="Consolas"/>
              </a:rPr>
              <a:t>81</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58960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Measuring the Build Cache, and Fixing 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10 OF 10</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9  ·  Docker and the Container Ecosystem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72     </a:t>
            </a:r>
            <a:fld id="{838E09F1-390D-4CDD-AE5C-FBD06CEE5153}" type="slidenum">
              <a:rPr lang="en-GB" sz="1000">
                <a:solidFill>
                  <a:srgbClr val="8795A1"/>
                </a:solidFill>
                <a:latin typeface="Segoe UI"/>
              </a:rPr>
              <a:t>32</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Tear down.</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182624"/>
          </a:xfrm>
          <a:prstGeom prst="roundRect">
            <a:avLst>
              <a:gd name="adj" fmla="val 773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9. Tear down. ---------------------------------------------------- docker rmi -f vsapp:wrong vsapp:right vsapp:good vsapp:leak || true"/>
          <p:cNvSpPr txBox="1"/>
          <p:nvPr/>
        </p:nvSpPr>
        <p:spPr>
          <a:xfrm>
            <a:off x="1362456" y="2523744"/>
            <a:ext cx="9987991" cy="68884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--- 9. Tear down. ----------------------------------------------------</a:t>
            </a:r>
          </a:p>
          <a:p>
            <a:pPr>
              <a:lnSpc>
                <a:spcPct val="100000"/>
              </a:lnSpc>
              <a:spcAft>
                <a:spcPts val="0"/>
              </a:spcAft>
            </a:pPr>
            <a:r>
              <a:rPr sz="1900" i="0">
                <a:solidFill>
                  <a:srgbClr val="E8EDF2"/>
                </a:solidFill>
                <a:latin typeface="Consolas"/>
              </a:rPr>
              <a:t>docker</a:t>
            </a:r>
            <a:r>
              <a:rPr sz="1900" i="0">
                <a:solidFill>
                  <a:srgbClr val="E8EDF2"/>
                </a:solidFill>
                <a:latin typeface="Consolas"/>
              </a:rPr>
              <a:t> </a:t>
            </a:r>
            <a:r>
              <a:rPr sz="1900" i="0">
                <a:solidFill>
                  <a:srgbClr val="E8EDF2"/>
                </a:solidFill>
                <a:latin typeface="Consolas"/>
              </a:rPr>
              <a:t>rmi</a:t>
            </a:r>
            <a:r>
              <a:rPr sz="1900" i="0">
                <a:solidFill>
                  <a:srgbClr val="E8EDF2"/>
                </a:solidFill>
                <a:latin typeface="Consolas"/>
              </a:rPr>
              <a:t> </a:t>
            </a:r>
            <a:r>
              <a:rPr sz="1900" i="0">
                <a:solidFill>
                  <a:srgbClr val="E8EDF2"/>
                </a:solidFill>
                <a:latin typeface="Consolas"/>
              </a:rPr>
              <a:t>-f</a:t>
            </a:r>
            <a:r>
              <a:rPr sz="1900" i="0">
                <a:solidFill>
                  <a:srgbClr val="E8EDF2"/>
                </a:solidFill>
                <a:latin typeface="Consolas"/>
              </a:rPr>
              <a:t> </a:t>
            </a:r>
            <a:r>
              <a:rPr sz="1900" i="0">
                <a:solidFill>
                  <a:srgbClr val="E8EDF2"/>
                </a:solidFill>
                <a:latin typeface="Consolas"/>
              </a:rPr>
              <a:t>vsapp:wrong</a:t>
            </a:r>
            <a:r>
              <a:rPr sz="1900" i="0">
                <a:solidFill>
                  <a:srgbClr val="E8EDF2"/>
                </a:solidFill>
                <a:latin typeface="Consolas"/>
              </a:rPr>
              <a:t> </a:t>
            </a:r>
            <a:r>
              <a:rPr sz="1900" i="0">
                <a:solidFill>
                  <a:srgbClr val="E8EDF2"/>
                </a:solidFill>
                <a:latin typeface="Consolas"/>
              </a:rPr>
              <a:t>vsapp:right</a:t>
            </a:r>
            <a:r>
              <a:rPr sz="1900" i="0">
                <a:solidFill>
                  <a:srgbClr val="E8EDF2"/>
                </a:solidFill>
                <a:latin typeface="Consolas"/>
              </a:rPr>
              <a:t> </a:t>
            </a:r>
            <a:r>
              <a:rPr sz="1900" i="0">
                <a:solidFill>
                  <a:srgbClr val="E8EDF2"/>
                </a:solidFill>
                <a:latin typeface="Consolas"/>
              </a:rPr>
              <a:t>vsapp:good</a:t>
            </a:r>
            <a:r>
              <a:rPr sz="1900" i="0">
                <a:solidFill>
                  <a:srgbClr val="E8EDF2"/>
                </a:solidFill>
                <a:latin typeface="Consolas"/>
              </a:rPr>
              <a:t> </a:t>
            </a:r>
            <a:r>
              <a:rPr sz="1900" i="0">
                <a:solidFill>
                  <a:srgbClr val="E8EDF2"/>
                </a:solidFill>
                <a:latin typeface="Consolas"/>
              </a:rPr>
              <a:t>vsapp:leak</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true</a:t>
            </a:r>
          </a:p>
        </p:txBody>
      </p:sp>
      <p:sp>
        <p:nvSpPr>
          <p:cNvPr id="15" name="!!code-num"/>
          <p:cNvSpPr txBox="1"/>
          <p:nvPr/>
        </p:nvSpPr>
        <p:spPr>
          <a:xfrm>
            <a:off x="768096" y="2523744"/>
            <a:ext cx="393192" cy="68884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83</a:t>
            </a:r>
          </a:p>
          <a:p>
            <a:pPr algn="r">
              <a:lnSpc>
                <a:spcPct val="100000"/>
              </a:lnSpc>
            </a:pPr>
            <a:r>
              <a:rPr sz="1900">
                <a:solidFill>
                  <a:srgbClr val="4F5D6A"/>
                </a:solidFill>
                <a:latin typeface="Consolas"/>
              </a:rPr>
              <a:t>84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86668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9  ·  Docker and the Container Ecosystem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72     </a:t>
            </a:r>
            <a:fld id="{DCC5E758-A7E7-4C1E-A0B3-E272558F2BE4}" type="slidenum">
              <a:rPr lang="en-GB" sz="1000">
                <a:solidFill>
                  <a:srgbClr val="8795A1"/>
                </a:solidFill>
                <a:latin typeface="Segoe UI"/>
              </a:rPr>
              <a:t>33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What to notice.</a:t>
            </a:r>
            <a:r>
              <a:rPr sz="2300" b="0" i="0">
                <a:solidFill>
                  <a:srgbClr val="1C252B"/>
                </a:solidFill>
                <a:latin typeface="Segoe UI"/>
              </a:rPr>
              <a:t> Step 4 gives you the worked example’s two numbers on your own machine. Step 8 is the one worth remembering: </a:t>
            </a:r>
            <a:r>
              <a:rPr sz="2150" b="0" i="0">
                <a:solidFill>
                  <a:srgbClr val="1F4E79"/>
                </a:solidFill>
                <a:latin typeface="Consolas"/>
              </a:rPr>
              <a:t>rm</a:t>
            </a:r>
            <a:r>
              <a:rPr sz="2300" b="0" i="0">
                <a:solidFill>
                  <a:srgbClr val="1C252B"/>
                </a:solidFill>
                <a:latin typeface="Segoe UI"/>
              </a:rPr>
              <a:t> in a Dockerfile removes a file from the </a:t>
            </a:r>
            <a:r>
              <a:rPr sz="2300" b="0" i="1">
                <a:solidFill>
                  <a:srgbClr val="1C252B"/>
                </a:solidFill>
                <a:latin typeface="Segoe UI"/>
              </a:rPr>
              <a:t>view</a:t>
            </a:r>
            <a:r>
              <a:rPr sz="2300" b="0" i="0">
                <a:solidFill>
                  <a:srgbClr val="1C252B"/>
                </a:solidFill>
                <a:latin typeface="Segoe UI"/>
              </a:rPr>
              <a:t>, not from the image, and everything you ever put in a layer is still there for whoever pulls it.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914377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An image is built from </a:t>
            </a:r>
            <a:r>
              <a:rPr sz="3200" b="0" i="0">
                <a:solidFill>
                  <a:srgbClr val="FFFFFF"/>
                </a:solidFill>
                <a:latin typeface="Consolas"/>
              </a:rPr>
              <a:t>FROM node:20</a:t>
            </a:r>
            <a:r>
              <a:rPr sz="3400" b="0" i="0">
                <a:solidFill>
                  <a:srgbClr val="FFFFFF"/>
                </a:solidFill>
                <a:latin typeface="Segoe UI Semibold"/>
              </a:rPr>
              <a:t> on Monday and again on Friday with no repository changes, and the two behave differently. Explain how, and give the change that prevents it.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9  ·  Docker and the Container Ecosystem</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76  ·  answers in Appendix D     </a:t>
            </a:r>
            <a:fld id="{8A117227-C053-4D7B-9901-48C6D25ED347}" type="slidenum">
              <a:rPr lang="en-GB" sz="1000">
                <a:solidFill>
                  <a:srgbClr val="D5DEE5"/>
                </a:solidFill>
                <a:latin typeface="Segoe UI"/>
              </a:rPr>
              <a:t>34</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An image is built from </a:t>
            </a:r>
            <a:r>
              <a:rPr sz="2250" b="0" i="0">
                <a:solidFill>
                  <a:srgbClr val="1A5276"/>
                </a:solidFill>
                <a:latin typeface="Consolas"/>
              </a:rPr>
              <a:t>FROM node:20</a:t>
            </a:r>
            <a:r>
              <a:rPr sz="2400" b="0" i="0">
                <a:solidFill>
                  <a:srgbClr val="1A5276"/>
                </a:solidFill>
                <a:latin typeface="Segoe UI Semibold"/>
              </a:rPr>
              <a:t> on Monday and again on Friday with no repository changes, and the two behave differently. Explain how, and give the change that prevents it.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174345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1789176"/>
          </a:xfrm>
          <a:prstGeom prst="rect">
            <a:avLst/>
          </a:prstGeom>
          <a:noFill/>
        </p:spPr>
        <p:txBody>
          <a:bodyPr wrap="square" anchor="t" lIns="0" rIns="0" tIns="0" bIns="0">
            <a:noAutofit/>
          </a:bodyPr>
          <a:lstStyle/>
          <a:p>
            <a:pPr algn="l">
              <a:lnSpc>
                <a:spcPct val="104000"/>
              </a:lnSpc>
              <a:spcBef>
                <a:spcPts val="0"/>
              </a:spcBef>
              <a:spcAft>
                <a:spcPts val="0"/>
              </a:spcAft>
            </a:pPr>
            <a:r>
              <a:rPr sz="2050" b="0" i="0">
                <a:solidFill>
                  <a:srgbClr val="1F4E79"/>
                </a:solidFill>
                <a:latin typeface="Consolas"/>
              </a:rPr>
              <a:t>node:20</a:t>
            </a:r>
            <a:r>
              <a:rPr sz="2200" b="0" i="0">
                <a:solidFill>
                  <a:srgbClr val="1C252B"/>
                </a:solidFill>
                <a:latin typeface="Segoe UI"/>
              </a:rPr>
              <a:t> is a </a:t>
            </a:r>
            <a:r>
              <a:rPr sz="2200" b="0" i="1">
                <a:solidFill>
                  <a:srgbClr val="1C252B"/>
                </a:solidFill>
                <a:latin typeface="Segoe UI"/>
              </a:rPr>
              <a:t>tag</a:t>
            </a:r>
            <a:r>
              <a:rPr sz="2200" b="0" i="0">
                <a:solidFill>
                  <a:srgbClr val="1C252B"/>
                </a:solidFill>
                <a:latin typeface="Segoe UI"/>
              </a:rPr>
              <a:t>, which is a mutable pointer. The publisher republished it during the week — a patch release, a new base layer — so Friday’s build used different bytes. The change that prevents it is to </a:t>
            </a:r>
            <a:r>
              <a:rPr sz="2200" b="1" i="0">
                <a:solidFill>
                  <a:srgbClr val="1C252B"/>
                </a:solidFill>
                <a:latin typeface="Segoe UI"/>
              </a:rPr>
              <a:t>pin the digest</a:t>
            </a:r>
            <a:r>
              <a:rPr sz="2200" b="0" i="0">
                <a:solidFill>
                  <a:srgbClr val="1C252B"/>
                </a:solidFill>
                <a:latin typeface="Segoe UI"/>
              </a:rPr>
              <a:t>: </a:t>
            </a:r>
            <a:r>
              <a:rPr sz="2050" b="0" i="0">
                <a:solidFill>
                  <a:srgbClr val="1F4E79"/>
                </a:solidFill>
                <a:latin typeface="Consolas"/>
              </a:rPr>
              <a:t>FROM node:20@sha256:…</a:t>
            </a:r>
            <a:r>
              <a:rPr sz="2200" b="0" i="0">
                <a:solidFill>
                  <a:srgbClr val="1C252B"/>
                </a:solidFill>
                <a:latin typeface="Segoe UI"/>
              </a:rPr>
              <a:t>, which identifies exact content for ever. Pair it with an automated job that proposes digest updates as reviewable changes, so security fixes are still applied deliberately.</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9  ·  Docker and the Container Ecosystem</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76  ·  answers in Appendix D     </a:t>
            </a:r>
            <a:fld id="{C60B6085-C55D-4E3D-B458-6250767AB865}" type="slidenum">
              <a:rPr lang="en-GB" sz="1000">
                <a:solidFill>
                  <a:srgbClr val="8795A1"/>
                </a:solidFill>
                <a:latin typeface="Segoe UI"/>
              </a:rPr>
              <a:t>35</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69793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Dockerfile copies a private key, uses it to clone a repository, then deletes it in the same </a:t>
            </a:r>
            <a:r>
              <a:rPr sz="3200" b="0" i="0">
                <a:solidFill>
                  <a:srgbClr val="FFFFFF"/>
                </a:solidFill>
                <a:latin typeface="Consolas"/>
              </a:rPr>
              <a:t>RUN</a:t>
            </a:r>
            <a:r>
              <a:rPr sz="3400" b="0" i="0">
                <a:solidFill>
                  <a:srgbClr val="FFFFFF"/>
                </a:solidFill>
                <a:latin typeface="Segoe UI Semibold"/>
              </a:rPr>
              <a:t>. Is the key in the image? What if the delete is a separate </a:t>
            </a:r>
            <a:r>
              <a:rPr sz="3200" b="0" i="0">
                <a:solidFill>
                  <a:srgbClr val="FFFFFF"/>
                </a:solidFill>
                <a:latin typeface="Consolas"/>
              </a:rPr>
              <a:t>RUN</a:t>
            </a:r>
            <a:r>
              <a:rPr sz="3400" b="0" i="0">
                <a:solidFill>
                  <a:srgbClr val="FFFFFF"/>
                </a:solidFill>
                <a:latin typeface="Segoe UI Semibold"/>
              </a:rPr>
              <a: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9  ·  Docker and the Container Ecosystem</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76  ·  answers in Appendix D     </a:t>
            </a:r>
            <a:fld id="{9DD46691-93EB-419C-A394-83C9B623844D}" type="slidenum">
              <a:rPr lang="en-GB" sz="1000">
                <a:solidFill>
                  <a:srgbClr val="D5DEE5"/>
                </a:solidFill>
                <a:latin typeface="Segoe UI"/>
              </a:rPr>
              <a:t>36</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A Dockerfile copies a private key, uses it to clone a repository, then deletes it in the same </a:t>
            </a:r>
            <a:r>
              <a:rPr sz="2250" b="0" i="0">
                <a:solidFill>
                  <a:srgbClr val="1A5276"/>
                </a:solidFill>
                <a:latin typeface="Consolas"/>
              </a:rPr>
              <a:t>RUN</a:t>
            </a:r>
            <a:r>
              <a:rPr sz="2400" b="0" i="0">
                <a:solidFill>
                  <a:srgbClr val="1A5276"/>
                </a:solidFill>
                <a:latin typeface="Segoe UI Semibold"/>
              </a:rPr>
              <a:t>. Is the key in the image? What if the delete is a separate </a:t>
            </a:r>
            <a:r>
              <a:rPr sz="2250" b="0" i="0">
                <a:solidFill>
                  <a:srgbClr val="1A5276"/>
                </a:solidFill>
                <a:latin typeface="Consolas"/>
              </a:rPr>
              <a:t>RUN</a:t>
            </a:r>
            <a:r>
              <a:rPr sz="2400" b="0" i="0">
                <a:solidFill>
                  <a:srgbClr val="1A5276"/>
                </a:solidFill>
                <a:latin typeface="Segoe UI Semibold"/>
              </a:rPr>
              <a: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74345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1" i="0">
                <a:solidFill>
                  <a:srgbClr val="256B9A"/>
                </a:solidFill>
                <a:latin typeface="Segoe UI"/>
              </a:rPr>
              <a:t>Same </a:t>
            </a:r>
            <a:r>
              <a:rPr sz="2050" b="1" i="0">
                <a:solidFill>
                  <a:srgbClr val="1F4E79"/>
                </a:solidFill>
                <a:latin typeface="Consolas"/>
              </a:rPr>
              <a:t>RUN</a:t>
            </a:r>
            <a:r>
              <a:rPr sz="2200" b="1" i="0">
                <a:solidFill>
                  <a:srgbClr val="1C252B"/>
                </a:solidFill>
                <a:latin typeface="Segoe UI"/>
              </a:rPr>
              <a:t>: no.</a:t>
            </a:r>
            <a:r>
              <a:rPr sz="2200" b="0" i="0">
                <a:solidFill>
                  <a:srgbClr val="1C252B"/>
                </a:solidFill>
                <a:latin typeface="Segoe UI"/>
              </a:rPr>
              <a:t> Only the layer’s final state is committed, and the key was deleted before the layer closed. </a:t>
            </a:r>
            <a:r>
              <a:rPr sz="2200" b="1" i="0">
                <a:solidFill>
                  <a:srgbClr val="1C252B"/>
                </a:solidFill>
                <a:latin typeface="Segoe UI"/>
              </a:rPr>
              <a:t>Separate </a:t>
            </a:r>
            <a:r>
              <a:rPr sz="2050" b="1" i="0">
                <a:solidFill>
                  <a:srgbClr val="1F4E79"/>
                </a:solidFill>
                <a:latin typeface="Consolas"/>
              </a:rPr>
              <a:t>RUN</a:t>
            </a:r>
            <a:r>
              <a:rPr sz="2200" b="1" i="0">
                <a:solidFill>
                  <a:srgbClr val="1C252B"/>
                </a:solidFill>
                <a:latin typeface="Segoe UI"/>
              </a:rPr>
              <a:t>: yes.</a:t>
            </a:r>
            <a:r>
              <a:rPr sz="2200" b="0" i="0">
                <a:solidFill>
                  <a:srgbClr val="1C252B"/>
                </a:solidFill>
                <a:latin typeface="Segoe UI"/>
              </a:rPr>
              <a:t> The first layer contains the key, the second records its deletion, and both layers ship. Anyone who pulls the image can extract the earlier layer and read it. This is why secrets belong in build secrets or a mount, never in a layer at all.</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9  ·  Docker and the Container Ecosystem</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76  ·  answers in Appendix D     </a:t>
            </a:r>
            <a:fld id="{AFE8317F-E059-47D8-AB06-D1FAD8A17B06}" type="slidenum">
              <a:rPr lang="en-GB" sz="1000">
                <a:solidFill>
                  <a:srgbClr val="8795A1"/>
                </a:solidFill>
                <a:latin typeface="Segoe UI"/>
              </a:rPr>
              <a:t>37</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25210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team’s CI rebuilds a 1.2 GB image on every commit and deploys it to 40 nodes. Using the worked example’s method, estimate what reordering the Dockerfile would save per day in transfer alone, stating your assumptions.</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9  ·  Docker and the Container Ecosystem</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76  ·  answers in Appendix D     </a:t>
            </a:r>
            <a:fld id="{934BFA5D-232B-46E1-9402-ABF46E517E6B}" type="slidenum">
              <a:rPr lang="en-GB" sz="1000">
                <a:solidFill>
                  <a:srgbClr val="D5DEE5"/>
                </a:solidFill>
                <a:latin typeface="Segoe UI"/>
              </a:rPr>
              <a:t>38</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A team’s CI rebuilds a 1.2 GB image on every commit and deploys it to 40 nodes. Using the worked example’s method, estimate what reordering the Dockerfile would save per day in transfer alone, stating your assumptions.</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174345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Stating assumptions: say the dependency layer is 1.0 GB, the application layer 20 MB, and there are 20 builds a day. </a:t>
            </a:r>
            <a:r>
              <a:rPr sz="2200" b="0" i="1">
                <a:solidFill>
                  <a:srgbClr val="1C252B"/>
                </a:solidFill>
                <a:latin typeface="Segoe UI"/>
              </a:rPr>
              <a:t>Wrong order:</a:t>
            </a:r>
            <a:r>
              <a:rPr sz="2200" b="0" i="0">
                <a:solidFill>
                  <a:srgbClr val="1C252B"/>
                </a:solidFill>
                <a:latin typeface="Segoe UI"/>
              </a:rPr>
              <a:t> each build rebuilds and pushes about 1.02 GB, and 40 nodes pull it: </a:t>
            </a:r>
            <a:r>
              <a:rPr sz="2200" b="0" i="0">
                <a:solidFill>
                  <a:srgbClr val="1C252B"/>
                </a:solidFill>
                <a:latin typeface="Cambria"/>
              </a:rPr>
              <a:t>20 × 1.02 + 40 × 20 × 1.02 ≈ </a:t>
            </a:r>
            <a:r>
              <a:rPr sz="2200" b="1" i="0">
                <a:solidFill>
                  <a:srgbClr val="1C252B"/>
                </a:solidFill>
                <a:latin typeface="Cambria"/>
              </a:rPr>
              <a:t>836</a:t>
            </a:r>
            <a:r>
              <a:rPr sz="2200" b="0" i="0">
                <a:solidFill>
                  <a:srgbClr val="1C252B"/>
                </a:solidFill>
                <a:latin typeface="Segoe UI"/>
              </a:rPr>
              <a:t> GB a day. </a:t>
            </a:r>
            <a:r>
              <a:rPr sz="2200" b="0" i="1">
                <a:solidFill>
                  <a:srgbClr val="1C252B"/>
                </a:solidFill>
                <a:latin typeface="Segoe UI"/>
              </a:rPr>
              <a:t>Right order:</a:t>
            </a:r>
            <a:r>
              <a:rPr sz="2200" b="0" i="0">
                <a:solidFill>
                  <a:srgbClr val="1C252B"/>
                </a:solidFill>
                <a:latin typeface="Segoe UI"/>
              </a:rPr>
              <a:t> only the 20 MB layer changes: </a:t>
            </a:r>
            <a:r>
              <a:rPr sz="2200" b="0" i="0">
                <a:solidFill>
                  <a:srgbClr val="1C252B"/>
                </a:solidFill>
                <a:latin typeface="Cambria"/>
              </a:rPr>
              <a:t>20 × 0.02 + 40 × 20 × 0.02 = </a:t>
            </a:r>
            <a:r>
              <a:rPr sz="2200" b="1" i="0">
                <a:solidFill>
                  <a:srgbClr val="1C252B"/>
                </a:solidFill>
                <a:latin typeface="Cambria"/>
              </a:rPr>
              <a:t>16.4</a:t>
            </a:r>
            <a:r>
              <a:rPr sz="2200" b="0" i="0">
                <a:solidFill>
                  <a:srgbClr val="1C252B"/>
                </a:solidFill>
                <a:latin typeface="Segoe UI"/>
              </a:rPr>
              <a:t> GB a day. A saving of roughly </a:t>
            </a:r>
            <a:r>
              <a:rPr sz="2200" b="1" i="0">
                <a:solidFill>
                  <a:srgbClr val="1C252B"/>
                </a:solidFill>
                <a:latin typeface="Segoe UI"/>
              </a:rPr>
              <a:t>820 GB a day</a:t>
            </a:r>
            <a:r>
              <a:rPr sz="2200" b="0" i="0">
                <a:solidFill>
                  <a:srgbClr val="1C252B"/>
                </a:solidFill>
                <a:latin typeface="Segoe UI"/>
              </a:rPr>
              <a:t> in transfer alone, before counting the build time.</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9  ·  Docker and the Container Ecosystem</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76  ·  answers in Appendix D     </a:t>
            </a:r>
            <a:fld id="{270377C4-5D9A-4086-A6E6-F6BDA8DCB1BD}" type="slidenum">
              <a:rPr lang="en-GB" sz="1000">
                <a:solidFill>
                  <a:srgbClr val="8795A1"/>
                </a:solidFill>
                <a:latin typeface="Segoe UI"/>
              </a:rPr>
              <a:t>39</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80627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9  ·  Docker and the Container Ecosystem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76     </a:t>
            </a:r>
            <a:fld id="{2AEFDB43-0BF7-4655-A33B-9B237D641419}" type="slidenum">
              <a:rPr lang="en-GB" sz="1000">
                <a:solidFill>
                  <a:srgbClr val="8795A1"/>
                </a:solidFill>
                <a:latin typeface="Segoe UI"/>
              </a:rPr>
              <a:t>40</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Docker added a build file, a layered image format, a registry protocol and one command — not isolation, which already existed. The problem it solved was reproducible delivery.</a:t>
            </a:r>
          </a:p>
        </p:txBody>
      </p:sp>
      <p:sp>
        <p:nvSpPr>
          <p:cNvPr id="10" name="!!sb1">
            <a:extLst>
              <a:ext uri="{C183D7F6-B498-43B3-948B-1728B52AA6E4}">
                <adec:decorative xmlns:adec="http://schemas.microsoft.com/office/drawing/2017/decorative" val="1"/>
              </a:ext>
            </a:extLst>
          </p:cNvPr>
          <p:cNvSpPr/>
          <p:nvPr/>
        </p:nvSpPr>
        <p:spPr>
          <a:xfrm>
            <a:off x="658368" y="249996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5483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490825"/>
            <a:ext cx="102348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An image is a manifest plus content-addressed layers. A digest is identity and integrity; a tag is a mutable pointer and neither.</a:t>
            </a:r>
          </a:p>
        </p:txBody>
      </p:sp>
      <p:sp>
        <p:nvSpPr>
          <p:cNvPr id="13" name="!!sb2">
            <a:extLst>
              <a:ext uri="{C183D7F6-B498-43B3-948B-1728B52AA6E4}">
                <adec:decorative xmlns:adec="http://schemas.microsoft.com/office/drawing/2017/decorative" val="1"/>
              </a:ext>
            </a:extLst>
          </p:cNvPr>
          <p:cNvSpPr/>
          <p:nvPr/>
        </p:nvSpPr>
        <p:spPr>
          <a:xfrm>
            <a:off x="658368" y="3253435"/>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308299"/>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244291"/>
            <a:ext cx="102348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The OCI specifications made the format portable, which is why the tooling could be replaced underneath it without breaking anything.</a:t>
            </a:r>
          </a:p>
        </p:txBody>
      </p:sp>
      <p:sp>
        <p:nvSpPr>
          <p:cNvPr id="16" name="!!sb3">
            <a:extLst>
              <a:ext uri="{C183D7F6-B498-43B3-948B-1728B52AA6E4}">
                <adec:decorative xmlns:adec="http://schemas.microsoft.com/office/drawing/2017/decorative" val="1"/>
              </a:ext>
            </a:extLst>
          </p:cNvPr>
          <p:cNvSpPr/>
          <p:nvPr/>
        </p:nvSpPr>
        <p:spPr>
          <a:xfrm>
            <a:off x="658368" y="400690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06176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3997756"/>
            <a:ext cx="102348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The runtime stack is CLI, daemon, containerd, shim, runc, kernel. runc exits after setting the container up; the shim is why restarting the daemon does not kill running containers.</a:t>
            </a:r>
          </a:p>
        </p:txBody>
      </p:sp>
      <p:sp>
        <p:nvSpPr>
          <p:cNvPr id="19" name="!!sb4">
            <a:extLst>
              <a:ext uri="{C183D7F6-B498-43B3-948B-1728B52AA6E4}">
                <adec:decorative xmlns:adec="http://schemas.microsoft.com/office/drawing/2017/decorative" val="1"/>
              </a:ext>
            </a:extLst>
          </p:cNvPr>
          <p:cNvSpPr/>
          <p:nvPr/>
        </p:nvSpPr>
        <p:spPr>
          <a:xfrm>
            <a:off x="658368" y="476036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81523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751222"/>
            <a:ext cx="102348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A cache miss invalidates every layer above it. Put what changes least at the bottom: dependency lists before source. The wrong order cost the worked example’s team 47 minutes and 70 GB a day.</a:t>
            </a:r>
          </a:p>
        </p:txBody>
      </p:sp>
      <p:sp>
        <p:nvSpPr>
          <p:cNvPr id="22" name="!!sb5">
            <a:extLst>
              <a:ext uri="{C183D7F6-B498-43B3-948B-1728B52AA6E4}">
                <adec:decorative xmlns:adec="http://schemas.microsoft.com/office/drawing/2017/decorative" val="1"/>
              </a:ext>
            </a:extLst>
          </p:cNvPr>
          <p:cNvSpPr/>
          <p:nvPr/>
        </p:nvSpPr>
        <p:spPr>
          <a:xfrm>
            <a:off x="658368" y="5513831"/>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568696"/>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504688"/>
            <a:ext cx="102348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Multi-stage, pinned and non-root are the three properties a Dockerfile should have. A file deleted in a later layer is still in the image.</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108335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9  ·  Docker and the Container Ecosystem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76     </a:t>
            </a:r>
            <a:fld id="{18E56E14-727A-4975-8B89-274612667BF6}" type="slidenum">
              <a:rPr lang="en-GB" sz="1000">
                <a:solidFill>
                  <a:srgbClr val="8795A1"/>
                </a:solidFill>
                <a:latin typeface="Segoe UI"/>
              </a:rPr>
              <a:t>41</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 digest identifies an image by:</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its tag</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SHA-256 of its contents</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its creation date</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its registry URL</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36044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9  ·  Docker and the Container Ecosystem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76     </a:t>
            </a:r>
            <a:fld id="{893931C9-51D4-444E-9A2C-256D9814240E}" type="slidenum">
              <a:rPr lang="en-GB" sz="1000">
                <a:solidFill>
                  <a:srgbClr val="8795A1"/>
                </a:solidFill>
                <a:latin typeface="Segoe UI"/>
              </a:rPr>
              <a:t>42</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450" b="0" i="0">
                <a:solidFill>
                  <a:srgbClr val="1F4E79"/>
                </a:solidFill>
                <a:latin typeface="Consolas"/>
              </a:rPr>
              <a:t>runc</a:t>
            </a:r>
            <a:r>
              <a:rPr sz="2600" b="0" i="0">
                <a:solidFill>
                  <a:srgbClr val="1C252B"/>
                </a:solidFill>
                <a:latin typeface="Segoe UI"/>
              </a:rPr>
              <a:t>, after setting up a container:</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supervises it until exit</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7133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exits, having replaced itself with the application</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39020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becomes the container’s PID 1 wrapper</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restarts the daemon</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63752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9  ·  Docker and the Container Ecosystem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76     </a:t>
            </a:r>
            <a:fld id="{223ABC8E-4DAF-45E0-93A9-E63EA3161475}" type="slidenum">
              <a:rPr lang="en-GB" sz="1000">
                <a:solidFill>
                  <a:srgbClr val="8795A1"/>
                </a:solidFill>
                <a:latin typeface="Segoe UI"/>
              </a:rPr>
              <a:t>43</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State the build-cache rule in one sentence, and give the ordering principle that follows from it.</a:t>
            </a:r>
          </a:p>
        </p:txBody>
      </p:sp>
      <p:sp>
        <p:nvSpPr>
          <p:cNvPr id="10" name="!!rt1">
            <a:extLst>
              <a:ext uri="{C183D7F6-B498-43B3-948B-1728B52AA6E4}">
                <adec:decorative xmlns:adec="http://schemas.microsoft.com/office/drawing/2017/decorative" val="1"/>
              </a:ext>
            </a:extLst>
          </p:cNvPr>
          <p:cNvSpPr/>
          <p:nvPr/>
        </p:nvSpPr>
        <p:spPr>
          <a:xfrm>
            <a:off x="658368" y="257738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61853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55910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why a secret removed in a later layer is still recoverable from the image.</a:t>
            </a:r>
          </a:p>
        </p:txBody>
      </p:sp>
      <p:sp>
        <p:nvSpPr>
          <p:cNvPr id="13" name="!!rt2">
            <a:extLst>
              <a:ext uri="{C183D7F6-B498-43B3-948B-1728B52AA6E4}">
                <adec:decorative xmlns:adec="http://schemas.microsoft.com/office/drawing/2017/decorative" val="1"/>
              </a:ext>
            </a:extLst>
          </p:cNvPr>
          <p:cNvSpPr/>
          <p:nvPr/>
        </p:nvSpPr>
        <p:spPr>
          <a:xfrm>
            <a:off x="658368" y="3097987"/>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13913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079699"/>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Give the two reasons a multi-stage build is preferred, and the operational cost of going all the way to distroless.</a:t>
            </a:r>
          </a:p>
        </p:txBody>
      </p:sp>
      <p:sp>
        <p:nvSpPr>
          <p:cNvPr id="16" name="!!rt3">
            <a:extLst>
              <a:ext uri="{C183D7F6-B498-43B3-948B-1728B52AA6E4}">
                <adec:decorative xmlns:adec="http://schemas.microsoft.com/office/drawing/2017/decorative" val="1"/>
              </a:ext>
            </a:extLst>
          </p:cNvPr>
          <p:cNvSpPr/>
          <p:nvPr/>
        </p:nvSpPr>
        <p:spPr>
          <a:xfrm>
            <a:off x="658368" y="3919727"/>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96087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901440"/>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You inherit a repository whose image is 1.4 GB, builds in four minutes, runs as root and uses </a:t>
            </a:r>
            <a:r>
              <a:rPr sz="1800" b="0" i="0">
                <a:solidFill>
                  <a:srgbClr val="1F4E79"/>
                </a:solidFill>
                <a:latin typeface="Consolas"/>
              </a:rPr>
              <a:t>FROM         python:latest</a:t>
            </a:r>
            <a:r>
              <a:rPr sz="1900" b="0" i="0">
                <a:solidFill>
                  <a:srgbClr val="1C252B"/>
                </a:solidFill>
                <a:latin typeface="Segoe UI"/>
              </a:rPr>
              <a:t>. Write the four changes you would make in priority order, with the measurable improvement you expect from each.</a:t>
            </a:r>
          </a:p>
        </p:txBody>
      </p:sp>
      <p:sp>
        <p:nvSpPr>
          <p:cNvPr id="19" name="!!rt4">
            <a:extLst>
              <a:ext uri="{C183D7F6-B498-43B3-948B-1728B52AA6E4}">
                <adec:decorative xmlns:adec="http://schemas.microsoft.com/office/drawing/2017/decorative" val="1"/>
              </a:ext>
            </a:extLst>
          </p:cNvPr>
          <p:cNvSpPr/>
          <p:nvPr/>
        </p:nvSpPr>
        <p:spPr>
          <a:xfrm>
            <a:off x="658368" y="5042611"/>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5083759"/>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5024323"/>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regulated client requires that any deployed image can be reproduced exactly two years later. Describe what you would pin, what you would store, and what you would automate so that security patching still happens.</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1461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B7A43"/>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D8552"/>
                </a:solidFill>
                <a:latin typeface="Segoe UI Black"/>
              </a:rPr>
              <a:t>09</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9</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10 — Container Orchestration with Kubernetes</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9, pages 69–76</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Build a container by hand; then measure the build cache</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Assignment 1 set</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9  ·  Docker and the Container Ecosystem</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DD60F8C8-D425-4C85-9177-014D504E8B43}" type="slidenum">
              <a:rPr lang="en-GB" sz="1000">
                <a:solidFill>
                  <a:srgbClr val="D5DEE5"/>
                </a:solidFill>
                <a:latin typeface="Segoe UI"/>
              </a:rPr>
              <a:t>44</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Virtual Systems and Services Fall 2026">
  <a:themeElements>
    <a:clrScheme name="Virtual Systems and Services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Virtual Systems and Services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9: Docker and the Container Ecosystem</dc:title>
  <dc:subject>Virtual Systems and Services — From Hypervisors to the Cloud-Native Stack · BSIT · Fall 2026</dc:subject>
  <dc:creator>Dr. Mustafa Hameed</dc:creator>
  <cp:keywords>artificial intelligence;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