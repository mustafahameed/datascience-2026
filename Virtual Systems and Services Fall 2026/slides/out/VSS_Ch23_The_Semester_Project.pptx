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1.svg" ContentType="image/svg+xml"/>
  <Override PartName="/ppt/media/image13.svg" ContentType="image/svg+xml"/>
  <Override PartName="/ppt/media/image15.svg" ContentType="image/svg+xml"/>
  <Override PartName="/ppt/media/image16.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7.svg" ContentType="image/svg+xml"/>
  <Override PartName="/ppt/media/image28.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93E7F59-ADBC-4B26-B9AF-421A4BCA2229}">
          <p14:sldIdLst>
            <p14:sldId id="256"/>
            <p14:sldId id="257"/>
            <p14:sldId id="258"/>
            <p14:sldId id="259"/>
            <p14:sldId id="260"/>
          </p14:sldIdLst>
        </p14:section>
        <p14:section name="23.1 What the Project Is" id="{83EBBA69-DE9B-4763-9DC6-E14C44A9CF9E}">
          <p14:sldIdLst>
            <p14:sldId id="261"/>
            <p14:sldId id="262"/>
            <p14:sldId id="263"/>
          </p14:sldIdLst>
        </p14:section>
        <p14:section name="23.2 Choosing One" id="{F10D915E-4C17-40B3-ADFC-D1516B5256FF}">
          <p14:sldIdLst>
            <p14:sldId id="264"/>
            <p14:sldId id="265"/>
            <p14:sldId id="266"/>
            <p14:sldId id="267"/>
          </p14:sldIdLst>
        </p14:section>
        <p14:section name="23.3 Measuring Honestly" id="{C806049F-5AC7-4727-B3C9-E45822295943}">
          <p14:sldIdLst>
            <p14:sldId id="268"/>
            <p14:sldId id="269"/>
            <p14:sldId id="270"/>
          </p14:sldIdLst>
        </p14:section>
        <p14:section name="23.4 The Report" id="{5AC306EF-6D10-4DD5-B31D-FA335AB31AE0}">
          <p14:sldIdLst>
            <p14:sldId id="271"/>
            <p14:sldId id="272"/>
            <p14:sldId id="273"/>
          </p14:sldIdLst>
        </p14:section>
        <p14:section name="23.5 The Presentation" id="{E92CBABD-88D5-443B-9E5D-5E6F0B51E16A}">
          <p14:sldIdLst>
            <p14:sldId id="274"/>
          </p14:sldIdLst>
        </p14:section>
        <p14:section name="23.6 Marking" id="{FBC875B8-F3FA-4193-B6E4-C0CF6E1FEE92}">
          <p14:sldIdLst>
            <p14:sldId id="275"/>
            <p14:sldId id="276"/>
            <p14:sldId id="277"/>
          </p14:sldIdLst>
        </p14:section>
        <p14:section name="Pitfalls" id="{E51A6A87-B6BA-4C73-888F-806484C1CF69}">
          <p14:sldIdLst>
            <p14:sldId id="278"/>
            <p14:sldId id="279"/>
          </p14:sldIdLst>
        </p14:section>
        <p14:section name="Lab" id="{EA59D8B1-3F0E-4FEF-B905-DCA4B137091B}">
          <p14:sldIdLst>
            <p14:sldId id="280"/>
            <p14:sldId id="281"/>
            <p14:sldId id="282"/>
            <p14:sldId id="283"/>
            <p14:sldId id="284"/>
            <p14:sldId id="285"/>
            <p14:sldId id="286"/>
            <p14:sldId id="287"/>
            <p14:sldId id="288"/>
            <p14:sldId id="289"/>
            <p14:sldId id="290"/>
          </p14:sldIdLst>
        </p14:section>
        <p14:section name="Checkpoint" id="{AF06F382-3994-4869-9293-62E620FCD91B}">
          <p14:sldIdLst>
            <p14:sldId id="291"/>
            <p14:sldId id="292"/>
            <p14:sldId id="293"/>
            <p14:sldId id="294"/>
            <p14:sldId id="295"/>
            <p14:sldId id="296"/>
          </p14:sldIdLst>
        </p14:section>
        <p14:section name="Wrap-up" id="{83A60120-1FFA-4B7E-8A12-B529B0A14606}">
          <p14:sldIdLst>
            <p14:sldId id="297"/>
            <p14:sldId id="298"/>
            <p14:sldId id="299"/>
            <p14:sldId id="300"/>
            <p14:sldId id="30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23: The Semester Project. Part 6 — Emerging Hardware and Practice. Week 16: Case studies; project. Handout pages 180–187.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The whole book. The project is assessed on whether you can apply it, and the strongest projects are the ones that use the arithmetic of Chapter 6, Chapter 12 and Chapter 18 on something the student built themselves.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hypothesis; baseline; control; confounder; repeatability; percentile; teardown; reproducibility; scope; deliverable; rubric; peer review.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a virtualized or containerized service, measure something about it that you did not know before you started, and report what you found.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is set in Week 9 and due in Week 16 (Appendix G). Teams of two or three; individual work is permitted but not encouraged, because the defence is easier when somebody has already argued with you about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project has a hypothesis — a statement that could turn out to be false — and a measurement that settles it. Here are examples at the right scale; your own, if it has the same shape, is better.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most of the marks are, and Chapter 18 is the chapter to re-read. Five controls, and your report must state how you handled each.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Roughly this shape. Marks follow the rubric below, not the word count.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five for questions. Expect to be asked: how do you know?, what else could explain that?, and what would change your conclusion? Peer review is part of Week 16: each team reviews another’s deployment against the rubric and submits half a page. It is marked on the quality of the review, not on how generous it 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page, submitted in Week 9, and the thing most likely to determine your final mark. Expect ninety minutes, and do it with your team.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The hypothesis.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What would refute 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apparatus.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measurement.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The controls.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The baseline.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Weekly plan.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What could go wrong.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Teardown.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Any hypothesis containing a number and capable of being false, for example: “Migrating our six internal services from virtual machines to Kubernetes reduces mean deployment time from 25 minutes to under 5, without increasing p99 request latency by more than 10%.” It names two measurable quantities, states thresholds, and could come out either way — which the original could not, because no result would have contradicted “is good for our department”.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That the measurement does not support any claim: the spread of the three runs (7%, 24%, −2%) is far larger than the 9% mean effect, and one run has the opposite sign. Reporting “a 9% improvement” would be reporting noise. The report should say so. Next: find the source of the variance — neighbours, caching, burst credits, nesting — control it, and repeat with enough runs to separate the effect from the spread; and if the variance cannot be controlled, report that as the finding.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Switch to the captured output shipped in code/. The hypothesis is about partitioning policy and its effect on predictability, which can be tested against recorded measurements from a partitioned card: the analysis, the percentiles and the comparison with the unpartitioned baseline are all still yours to do. State in the method section that the figures are from captured runs rather than your own hardware, and treat them as comparative. What you must not do is quietly change the hypothesis to fit what is available.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23 chapters  ·  six parts  ·  one project. READ: Handout Chapter 23, pages 180–187. THIS WEEK'S LAB: Peer walkthroughs of each team’s service. ASSESSMENT: Project report and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3.xml"/><Relationship Id="rId8" Type="http://schemas.openxmlformats.org/officeDocument/2006/relationships/slide" Target="slide16.xml"/><Relationship Id="rId9" Type="http://schemas.openxmlformats.org/officeDocument/2006/relationships/slide" Target="slide19.xml"/><Relationship Id="rId10"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1.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6.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9.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0.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1.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22.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3.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24.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5.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8.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1.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2.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3.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4.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5.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4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6.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7.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8.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3.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4.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23</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The Semester Project</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EMERGING HARDWARE AND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23  ·  WEEK 16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a:t>
            </a:r>
            <a:fld id="{FB0A68C4-6B90-4179-9C90-626AFB83974B}"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7503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7503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591539"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591539" y="2029967"/>
            <a:ext cx="1667468"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32120"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406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1603"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01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73324"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0818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6504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4736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8956766"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88653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22807"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3136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01452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992308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406249"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31480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0807114"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080711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The Semester Project</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6">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6">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6"/>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CPU and Memory Virtualization</a:t>
            </a:r>
          </a:p>
        </p:txBody>
      </p:sp>
      <p:sp>
        <p:nvSpPr>
          <p:cNvPr id="70" name="!!chipBU12">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2">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2"/>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12  </a:t>
            </a:r>
            <a:r>
              <a:rPr sz="1400" b="0" i="0">
                <a:solidFill>
                  <a:srgbClr val="1C252B"/>
                </a:solidFill>
                <a:latin typeface="Segoe UI"/>
              </a:rPr>
              <a:t>Storage Virtualization</a:t>
            </a:r>
          </a:p>
        </p:txBody>
      </p:sp>
      <p:sp>
        <p:nvSpPr>
          <p:cNvPr id="73" name="!!chipBU18">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18">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18"/>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Performance Monitoring and Capacity Planning</a:t>
            </a:r>
          </a:p>
        </p:txBody>
      </p:sp>
      <p:sp>
        <p:nvSpPr>
          <p:cNvPr id="7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7"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7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pfill">
            <a:extLst>
              <a:ext uri="{C183D7F6-B498-43B3-948B-1728B52AA6E4}">
                <adec:decorative xmlns:adec="http://schemas.microsoft.com/office/drawing/2017/decorative" val="1"/>
              </a:ext>
            </a:extLst>
          </p:cNvPr>
          <p:cNvSpPr/>
          <p:nvPr/>
        </p:nvSpPr>
        <p:spPr>
          <a:xfrm>
            <a:off x="0" y="0"/>
            <a:ext cx="53007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a:t>
            </a:r>
            <a:fld id="{175A7EC0-BF75-4C3B-A0DD-90334E1FC0E7}"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Choose</a:t>
            </a:r>
            <a:r>
              <a:rPr sz="2100" b="0" i="0">
                <a:solidFill>
                  <a:srgbClr val="1C252B"/>
                </a:solidFill>
                <a:latin typeface="Segoe UI"/>
              </a:rPr>
              <a:t> a project that can be built, measured and defended in the time available.</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State</a:t>
            </a:r>
            <a:r>
              <a:rPr sz="2100" b="0" i="0">
                <a:solidFill>
                  <a:srgbClr val="1C252B"/>
                </a:solidFill>
                <a:latin typeface="Segoe UI"/>
              </a:rPr>
              <a:t> a hypothesis your deployment will test, with the measurement that settles it.</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19856"/>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Build</a:t>
            </a:r>
            <a:r>
              <a:rPr sz="2100" b="0" i="0">
                <a:solidFill>
                  <a:srgbClr val="1C252B"/>
                </a:solidFill>
                <a:latin typeface="Segoe UI"/>
              </a:rPr>
              <a:t> a virtualized service and </a:t>
            </a:r>
            <a:r>
              <a:rPr sz="2100" b="1" i="0">
                <a:solidFill>
                  <a:srgbClr val="1C252B"/>
                </a:solidFill>
                <a:latin typeface="Segoe UI"/>
              </a:rPr>
              <a:t>measure</a:t>
            </a:r>
            <a:r>
              <a:rPr sz="2100" b="0" i="0">
                <a:solidFill>
                  <a:srgbClr val="1C252B"/>
                </a:solidFill>
                <a:latin typeface="Segoe UI"/>
              </a:rPr>
              <a:t> it honestly, controlling for the five ways a virtualized benchmark lies.</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Write</a:t>
            </a:r>
            <a:r>
              <a:rPr sz="2100" b="0" i="0">
                <a:solidFill>
                  <a:srgbClr val="1C252B"/>
                </a:solidFill>
                <a:latin typeface="Segoe UI"/>
              </a:rPr>
              <a:t> a report whose conclusions are supported by your own figures.</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Present</a:t>
            </a:r>
            <a:r>
              <a:rPr sz="2100" b="0" i="0">
                <a:solidFill>
                  <a:srgbClr val="1C252B"/>
                </a:solidFill>
                <a:latin typeface="Segoe UI"/>
              </a:rPr>
              <a:t> and </a:t>
            </a:r>
            <a:r>
              <a:rPr sz="2100" b="1" i="0">
                <a:solidFill>
                  <a:srgbClr val="1C252B"/>
                </a:solidFill>
                <a:latin typeface="Segoe UI"/>
              </a:rPr>
              <a:t>defend</a:t>
            </a:r>
            <a:r>
              <a:rPr sz="2100" b="0" i="0">
                <a:solidFill>
                  <a:srgbClr val="1C252B"/>
                </a:solidFill>
                <a:latin typeface="Segoe UI"/>
              </a:rPr>
              <a:t> the work, including what did not work.</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9511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a:t>
            </a:r>
            <a:fld id="{7F05C916-4C58-44DB-BC13-6DCBE2CE5BA9}" type="slidenum">
              <a:rPr lang="en-GB" sz="1000">
                <a:solidFill>
                  <a:srgbClr val="8795A1"/>
                </a:solidFill>
                <a:latin typeface="Segoe UI"/>
              </a:rPr>
              <a:t>4</a:t>
            </a:fld>
          </a:p>
        </p:txBody>
      </p:sp>
      <p:sp>
        <p:nvSpPr>
          <p:cNvPr id="7" name="!!term-hypothesis">
            <a:extLst>
              <a:ext uri="{C183D7F6-B498-43B3-948B-1728B52AA6E4}">
                <adec:decorative xmlns:adec="http://schemas.microsoft.com/office/drawing/2017/decorative" val="1"/>
              </a:ext>
            </a:extLst>
          </p:cNvPr>
          <p:cNvSpPr/>
          <p:nvPr/>
        </p:nvSpPr>
        <p:spPr>
          <a:xfrm>
            <a:off x="658368" y="1847088"/>
            <a:ext cx="148318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hypothesis">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hypothesis"/>
          <p:cNvSpPr txBox="1"/>
          <p:nvPr/>
        </p:nvSpPr>
        <p:spPr>
          <a:xfrm>
            <a:off x="950976" y="1955291"/>
            <a:ext cx="130030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hypothesis</a:t>
            </a:r>
          </a:p>
        </p:txBody>
      </p:sp>
      <p:sp>
        <p:nvSpPr>
          <p:cNvPr id="10" name="!!term-baseline">
            <a:extLst>
              <a:ext uri="{C183D7F6-B498-43B3-948B-1728B52AA6E4}">
                <adec:decorative xmlns:adec="http://schemas.microsoft.com/office/drawing/2017/decorative" val="1"/>
              </a:ext>
            </a:extLst>
          </p:cNvPr>
          <p:cNvSpPr/>
          <p:nvPr/>
        </p:nvSpPr>
        <p:spPr>
          <a:xfrm>
            <a:off x="2287857" y="1847088"/>
            <a:ext cx="12353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baseline">
            <a:extLst>
              <a:ext uri="{C183D7F6-B498-43B3-948B-1728B52AA6E4}">
                <adec:decorative xmlns:adec="http://schemas.microsoft.com/office/drawing/2017/decorative" val="1"/>
              </a:ext>
            </a:extLst>
          </p:cNvPr>
          <p:cNvSpPr/>
          <p:nvPr/>
        </p:nvSpPr>
        <p:spPr>
          <a:xfrm>
            <a:off x="241587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baseline"/>
          <p:cNvSpPr txBox="1"/>
          <p:nvPr/>
        </p:nvSpPr>
        <p:spPr>
          <a:xfrm>
            <a:off x="2580465" y="1955291"/>
            <a:ext cx="10525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baseline</a:t>
            </a:r>
          </a:p>
        </p:txBody>
      </p:sp>
      <p:sp>
        <p:nvSpPr>
          <p:cNvPr id="13" name="!!term-control">
            <a:extLst>
              <a:ext uri="{C183D7F6-B498-43B3-948B-1728B52AA6E4}">
                <adec:decorative xmlns:adec="http://schemas.microsoft.com/office/drawing/2017/decorative" val="1"/>
              </a:ext>
            </a:extLst>
          </p:cNvPr>
          <p:cNvSpPr/>
          <p:nvPr/>
        </p:nvSpPr>
        <p:spPr>
          <a:xfrm>
            <a:off x="3669557" y="1847088"/>
            <a:ext cx="11279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control">
            <a:extLst>
              <a:ext uri="{C183D7F6-B498-43B3-948B-1728B52AA6E4}">
                <adec:decorative xmlns:adec="http://schemas.microsoft.com/office/drawing/2017/decorative" val="1"/>
              </a:ext>
            </a:extLst>
          </p:cNvPr>
          <p:cNvSpPr/>
          <p:nvPr/>
        </p:nvSpPr>
        <p:spPr>
          <a:xfrm>
            <a:off x="379757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control"/>
          <p:cNvSpPr txBox="1"/>
          <p:nvPr/>
        </p:nvSpPr>
        <p:spPr>
          <a:xfrm>
            <a:off x="3962165" y="1955291"/>
            <a:ext cx="94504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control</a:t>
            </a:r>
          </a:p>
        </p:txBody>
      </p:sp>
      <p:sp>
        <p:nvSpPr>
          <p:cNvPr id="16" name="!!term-confounder">
            <a:extLst>
              <a:ext uri="{C183D7F6-B498-43B3-948B-1728B52AA6E4}">
                <adec:decorative xmlns:adec="http://schemas.microsoft.com/office/drawing/2017/decorative" val="1"/>
              </a:ext>
            </a:extLst>
          </p:cNvPr>
          <p:cNvSpPr/>
          <p:nvPr/>
        </p:nvSpPr>
        <p:spPr>
          <a:xfrm>
            <a:off x="4943790" y="1847088"/>
            <a:ext cx="15631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confounder">
            <a:extLst>
              <a:ext uri="{C183D7F6-B498-43B3-948B-1728B52AA6E4}">
                <adec:decorative xmlns:adec="http://schemas.microsoft.com/office/drawing/2017/decorative" val="1"/>
              </a:ext>
            </a:extLst>
          </p:cNvPr>
          <p:cNvSpPr/>
          <p:nvPr/>
        </p:nvSpPr>
        <p:spPr>
          <a:xfrm>
            <a:off x="507180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confounder"/>
          <p:cNvSpPr txBox="1"/>
          <p:nvPr/>
        </p:nvSpPr>
        <p:spPr>
          <a:xfrm>
            <a:off x="5236398" y="1955291"/>
            <a:ext cx="138024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confounder</a:t>
            </a:r>
          </a:p>
        </p:txBody>
      </p:sp>
      <p:sp>
        <p:nvSpPr>
          <p:cNvPr id="19" name="!!term-repeatability">
            <a:extLst>
              <a:ext uri="{C183D7F6-B498-43B3-948B-1728B52AA6E4}">
                <adec:decorative xmlns:adec="http://schemas.microsoft.com/office/drawing/2017/decorative" val="1"/>
              </a:ext>
            </a:extLst>
          </p:cNvPr>
          <p:cNvSpPr/>
          <p:nvPr/>
        </p:nvSpPr>
        <p:spPr>
          <a:xfrm>
            <a:off x="6653219" y="1847088"/>
            <a:ext cx="164478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epeatability">
            <a:extLst>
              <a:ext uri="{C183D7F6-B498-43B3-948B-1728B52AA6E4}">
                <adec:decorative xmlns:adec="http://schemas.microsoft.com/office/drawing/2017/decorative" val="1"/>
              </a:ext>
            </a:extLst>
          </p:cNvPr>
          <p:cNvSpPr/>
          <p:nvPr/>
        </p:nvSpPr>
        <p:spPr>
          <a:xfrm>
            <a:off x="678123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epeatability"/>
          <p:cNvSpPr txBox="1"/>
          <p:nvPr/>
        </p:nvSpPr>
        <p:spPr>
          <a:xfrm>
            <a:off x="6945827" y="1955291"/>
            <a:ext cx="146190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repeatability</a:t>
            </a:r>
          </a:p>
        </p:txBody>
      </p:sp>
      <p:sp>
        <p:nvSpPr>
          <p:cNvPr id="22" name="!!term-percentile">
            <a:extLst>
              <a:ext uri="{C183D7F6-B498-43B3-948B-1728B52AA6E4}">
                <adec:decorative xmlns:adec="http://schemas.microsoft.com/office/drawing/2017/decorative" val="1"/>
              </a:ext>
            </a:extLst>
          </p:cNvPr>
          <p:cNvSpPr/>
          <p:nvPr/>
        </p:nvSpPr>
        <p:spPr>
          <a:xfrm>
            <a:off x="8444304" y="1847088"/>
            <a:ext cx="13981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percentile">
            <a:extLst>
              <a:ext uri="{C183D7F6-B498-43B3-948B-1728B52AA6E4}">
                <adec:decorative xmlns:adec="http://schemas.microsoft.com/office/drawing/2017/decorative" val="1"/>
              </a:ext>
            </a:extLst>
          </p:cNvPr>
          <p:cNvSpPr/>
          <p:nvPr/>
        </p:nvSpPr>
        <p:spPr>
          <a:xfrm>
            <a:off x="857232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percentile"/>
          <p:cNvSpPr txBox="1"/>
          <p:nvPr/>
        </p:nvSpPr>
        <p:spPr>
          <a:xfrm>
            <a:off x="8736912" y="1955291"/>
            <a:ext cx="121525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percentile</a:t>
            </a:r>
          </a:p>
        </p:txBody>
      </p:sp>
      <p:sp>
        <p:nvSpPr>
          <p:cNvPr id="25" name="!!term-teardown">
            <a:extLst>
              <a:ext uri="{C183D7F6-B498-43B3-948B-1728B52AA6E4}">
                <adec:decorative xmlns:adec="http://schemas.microsoft.com/office/drawing/2017/decorative" val="1"/>
              </a:ext>
            </a:extLst>
          </p:cNvPr>
          <p:cNvSpPr/>
          <p:nvPr/>
        </p:nvSpPr>
        <p:spPr>
          <a:xfrm>
            <a:off x="9988745" y="1847088"/>
            <a:ext cx="13600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teardown">
            <a:extLst>
              <a:ext uri="{C183D7F6-B498-43B3-948B-1728B52AA6E4}">
                <adec:decorative xmlns:adec="http://schemas.microsoft.com/office/drawing/2017/decorative" val="1"/>
              </a:ext>
            </a:extLst>
          </p:cNvPr>
          <p:cNvSpPr/>
          <p:nvPr/>
        </p:nvSpPr>
        <p:spPr>
          <a:xfrm>
            <a:off x="1011676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teardown"/>
          <p:cNvSpPr txBox="1"/>
          <p:nvPr/>
        </p:nvSpPr>
        <p:spPr>
          <a:xfrm>
            <a:off x="10281353" y="1955291"/>
            <a:ext cx="117713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teardown</a:t>
            </a:r>
          </a:p>
        </p:txBody>
      </p:sp>
      <p:sp>
        <p:nvSpPr>
          <p:cNvPr id="28" name="!!term-reproducibilit">
            <a:extLst>
              <a:ext uri="{C183D7F6-B498-43B3-948B-1728B52AA6E4}">
                <adec:decorative xmlns:adec="http://schemas.microsoft.com/office/drawing/2017/decorative" val="1"/>
              </a:ext>
            </a:extLst>
          </p:cNvPr>
          <p:cNvSpPr/>
          <p:nvPr/>
        </p:nvSpPr>
        <p:spPr>
          <a:xfrm>
            <a:off x="658368" y="2468880"/>
            <a:ext cx="18457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eproducibilit">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eproducibilit"/>
          <p:cNvSpPr txBox="1"/>
          <p:nvPr/>
        </p:nvSpPr>
        <p:spPr>
          <a:xfrm>
            <a:off x="950976" y="2577084"/>
            <a:ext cx="16629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reproducibility</a:t>
            </a:r>
          </a:p>
        </p:txBody>
      </p:sp>
      <p:sp>
        <p:nvSpPr>
          <p:cNvPr id="31" name="!!term-scope">
            <a:extLst>
              <a:ext uri="{C183D7F6-B498-43B3-948B-1728B52AA6E4}">
                <adec:decorative xmlns:adec="http://schemas.microsoft.com/office/drawing/2017/decorative" val="1"/>
              </a:ext>
            </a:extLst>
          </p:cNvPr>
          <p:cNvSpPr/>
          <p:nvPr/>
        </p:nvSpPr>
        <p:spPr>
          <a:xfrm>
            <a:off x="2650467" y="2468880"/>
            <a:ext cx="10077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scope">
            <a:extLst>
              <a:ext uri="{C183D7F6-B498-43B3-948B-1728B52AA6E4}">
                <adec:decorative xmlns:adec="http://schemas.microsoft.com/office/drawing/2017/decorative" val="1"/>
              </a:ext>
            </a:extLst>
          </p:cNvPr>
          <p:cNvSpPr/>
          <p:nvPr/>
        </p:nvSpPr>
        <p:spPr>
          <a:xfrm>
            <a:off x="277848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scope"/>
          <p:cNvSpPr txBox="1"/>
          <p:nvPr/>
        </p:nvSpPr>
        <p:spPr>
          <a:xfrm>
            <a:off x="2943075" y="2577084"/>
            <a:ext cx="82485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scope</a:t>
            </a:r>
          </a:p>
        </p:txBody>
      </p:sp>
      <p:sp>
        <p:nvSpPr>
          <p:cNvPr id="34" name="!!term-deliverable">
            <a:extLst>
              <a:ext uri="{C183D7F6-B498-43B3-948B-1728B52AA6E4}">
                <adec:decorative xmlns:adec="http://schemas.microsoft.com/office/drawing/2017/decorative" val="1"/>
              </a:ext>
            </a:extLst>
          </p:cNvPr>
          <p:cNvSpPr/>
          <p:nvPr/>
        </p:nvSpPr>
        <p:spPr>
          <a:xfrm>
            <a:off x="3804506" y="2468880"/>
            <a:ext cx="14976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deliverable">
            <a:extLst>
              <a:ext uri="{C183D7F6-B498-43B3-948B-1728B52AA6E4}">
                <adec:decorative xmlns:adec="http://schemas.microsoft.com/office/drawing/2017/decorative" val="1"/>
              </a:ext>
            </a:extLst>
          </p:cNvPr>
          <p:cNvSpPr/>
          <p:nvPr/>
        </p:nvSpPr>
        <p:spPr>
          <a:xfrm>
            <a:off x="393252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deliverable"/>
          <p:cNvSpPr txBox="1"/>
          <p:nvPr/>
        </p:nvSpPr>
        <p:spPr>
          <a:xfrm>
            <a:off x="4097114" y="2577084"/>
            <a:ext cx="131481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deliverable</a:t>
            </a:r>
          </a:p>
        </p:txBody>
      </p:sp>
      <p:sp>
        <p:nvSpPr>
          <p:cNvPr id="37" name="!!term-rubric">
            <a:extLst>
              <a:ext uri="{C183D7F6-B498-43B3-948B-1728B52AA6E4}">
                <adec:decorative xmlns:adec="http://schemas.microsoft.com/office/drawing/2017/decorative" val="1"/>
              </a:ext>
            </a:extLst>
          </p:cNvPr>
          <p:cNvSpPr/>
          <p:nvPr/>
        </p:nvSpPr>
        <p:spPr>
          <a:xfrm>
            <a:off x="5448509" y="2468880"/>
            <a:ext cx="10013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rubric">
            <a:extLst>
              <a:ext uri="{C183D7F6-B498-43B3-948B-1728B52AA6E4}">
                <adec:decorative xmlns:adec="http://schemas.microsoft.com/office/drawing/2017/decorative" val="1"/>
              </a:ext>
            </a:extLst>
          </p:cNvPr>
          <p:cNvSpPr/>
          <p:nvPr/>
        </p:nvSpPr>
        <p:spPr>
          <a:xfrm>
            <a:off x="557652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rubric"/>
          <p:cNvSpPr txBox="1"/>
          <p:nvPr/>
        </p:nvSpPr>
        <p:spPr>
          <a:xfrm>
            <a:off x="5741117" y="2577084"/>
            <a:ext cx="81846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rubric</a:t>
            </a:r>
          </a:p>
        </p:txBody>
      </p:sp>
      <p:sp>
        <p:nvSpPr>
          <p:cNvPr id="40" name="!!term-peer review">
            <a:extLst>
              <a:ext uri="{C183D7F6-B498-43B3-948B-1728B52AA6E4}">
                <adec:decorative xmlns:adec="http://schemas.microsoft.com/office/drawing/2017/decorative" val="1"/>
              </a:ext>
            </a:extLst>
          </p:cNvPr>
          <p:cNvSpPr/>
          <p:nvPr/>
        </p:nvSpPr>
        <p:spPr>
          <a:xfrm>
            <a:off x="6596162" y="2468880"/>
            <a:ext cx="15606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peer review">
            <a:extLst>
              <a:ext uri="{C183D7F6-B498-43B3-948B-1728B52AA6E4}">
                <adec:decorative xmlns:adec="http://schemas.microsoft.com/office/drawing/2017/decorative" val="1"/>
              </a:ext>
            </a:extLst>
          </p:cNvPr>
          <p:cNvSpPr/>
          <p:nvPr/>
        </p:nvSpPr>
        <p:spPr>
          <a:xfrm>
            <a:off x="672417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peer review"/>
          <p:cNvSpPr txBox="1"/>
          <p:nvPr/>
        </p:nvSpPr>
        <p:spPr>
          <a:xfrm>
            <a:off x="6888770" y="2577084"/>
            <a:ext cx="137777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peer review</a:t>
            </a:r>
          </a:p>
        </p:txBody>
      </p:sp>
      <p:sp>
        <p:nvSpPr>
          <p:cNvPr id="43"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106014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180–187     </a:t>
            </a:r>
            <a:fld id="{389F22C3-8DD2-45C5-B4D5-86EC064B74E8}" type="slidenum">
              <a:rPr lang="en-GB" sz="1000">
                <a:solidFill>
                  <a:srgbClr val="8795A1"/>
                </a:solidFill>
                <a:latin typeface="Segoe UI"/>
              </a:rPr>
              <a:t>5</a:t>
            </a:fld>
          </a:p>
        </p:txBody>
      </p:sp>
      <p:sp>
        <p:nvSpPr>
          <p:cNvPr id="7" name="!!ag0" descr="Go to section 23.1 What the Project I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the Project Is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180  ›</a:t>
            </a:r>
          </a:p>
        </p:txBody>
      </p:sp>
      <p:sp>
        <p:nvSpPr>
          <p:cNvPr id="12" name="!!ag1" descr="Go to section 23.2 Choosing On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 One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181  ›</a:t>
            </a:r>
          </a:p>
        </p:txBody>
      </p:sp>
      <p:sp>
        <p:nvSpPr>
          <p:cNvPr id="17" name="!!ag2" descr="Go to section 23.3 Measuring Honestly">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Measuring Honestly</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182  ›</a:t>
            </a:r>
          </a:p>
        </p:txBody>
      </p:sp>
      <p:sp>
        <p:nvSpPr>
          <p:cNvPr id="22" name="!!ag3" descr="Go to section 23.4 The Report">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Report</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182  ›</a:t>
            </a:r>
          </a:p>
        </p:txBody>
      </p:sp>
      <p:sp>
        <p:nvSpPr>
          <p:cNvPr id="27" name="!!ag4" descr="Go to section 23.5 The Presentation">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Presentation</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183  ›</a:t>
            </a:r>
          </a:p>
        </p:txBody>
      </p:sp>
      <p:sp>
        <p:nvSpPr>
          <p:cNvPr id="32" name="!!ag5" descr="Go to section 23.6 Marking">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Marking</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183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3251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the Project Is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1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23.1   What the Project Is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Choosing One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Measuring Honestly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The Report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The Presentation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23.6   Marking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§23.1     </a:t>
            </a:r>
            <a:fld id="{51022B3C-DF31-4608-99D1-AA8267731217}" type="slidenum">
              <a:rPr lang="en-GB" sz="1000">
                <a:solidFill>
                  <a:srgbClr val="8795A1"/>
                </a:solidFill>
                <a:latin typeface="Segoe UI"/>
              </a:rPr>
              <a:t>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5902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Project Is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§23.1  ·  Handout p. 180     </a:t>
            </a:r>
            <a:fld id="{332AC431-E911-4B76-A411-8516798D28E7}"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5080"/>
          </a:xfrm>
          <a:prstGeom prst="roundRect">
            <a:avLst>
              <a:gd name="adj" fmla="val 3739"/>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508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Three deliverables, listed in the order they are worth marks:</a:t>
            </a:r>
          </a:p>
        </p:txBody>
      </p:sp>
      <p:sp>
        <p:nvSpPr>
          <p:cNvPr id="10" name="body-1"/>
          <p:cNvSpPr txBox="1"/>
          <p:nvPr/>
        </p:nvSpPr>
        <p:spPr>
          <a:xfrm>
            <a:off x="1060704" y="2573451"/>
            <a:ext cx="10161727" cy="1343812"/>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0" i="0">
                <a:solidFill>
                  <a:srgbClr val="1C252B"/>
                </a:solidFill>
                <a:latin typeface="Segoe UI"/>
              </a:rPr>
              <a:t>a </a:t>
            </a:r>
            <a:r>
              <a:rPr sz="2300" b="1" i="0">
                <a:solidFill>
                  <a:srgbClr val="1C252B"/>
                </a:solidFill>
                <a:latin typeface="Segoe UI"/>
              </a:rPr>
              <a:t>working deployment</a:t>
            </a:r>
            <a:r>
              <a:rPr sz="2300" b="0" i="0">
                <a:solidFill>
                  <a:srgbClr val="1C252B"/>
                </a:solidFill>
                <a:latin typeface="Segoe UI"/>
              </a:rPr>
              <a:t>, demonstrated live in Week 16;</a:t>
            </a:r>
          </a:p>
          <a:p>
            <a:pPr algn="l" marL="257176" indent="-257176">
              <a:lnSpc>
                <a:spcPct val="104000"/>
              </a:lnSpc>
              <a:spcBef>
                <a:spcPts val="0"/>
              </a:spcBef>
              <a:spcAft>
                <a:spcPts val="804"/>
              </a:spcAft>
            </a:pPr>
            <a:r>
              <a:rPr sz="2300" b="1">
                <a:solidFill>
                  <a:srgbClr val="1A5276"/>
                </a:solidFill>
                <a:latin typeface="Segoe UI"/>
              </a:rPr>
              <a:t>•	</a:t>
            </a:r>
            <a:r>
              <a:rPr sz="2300" b="0" i="0">
                <a:solidFill>
                  <a:srgbClr val="1C252B"/>
                </a:solidFill>
                <a:latin typeface="Segoe UI"/>
              </a:rPr>
              <a:t>a </a:t>
            </a:r>
            <a:r>
              <a:rPr sz="2300" b="1" i="0">
                <a:solidFill>
                  <a:srgbClr val="1C252B"/>
                </a:solidFill>
                <a:latin typeface="Segoe UI"/>
              </a:rPr>
              <a:t>report</a:t>
            </a:r>
            <a:r>
              <a:rPr sz="2300" b="0" i="0">
                <a:solidFill>
                  <a:srgbClr val="1C252B"/>
                </a:solidFill>
                <a:latin typeface="Segoe UI"/>
              </a:rPr>
              <a:t> of 2,500–3,500 words containing your own measurements;</a:t>
            </a:r>
          </a:p>
          <a:p>
            <a:pPr algn="l" marL="257176" indent="-257176">
              <a:lnSpc>
                <a:spcPct val="104000"/>
              </a:lnSpc>
              <a:spcBef>
                <a:spcPts val="0"/>
              </a:spcBef>
              <a:spcAft>
                <a:spcPts val="0"/>
              </a:spcAft>
            </a:pPr>
            <a:r>
              <a:rPr sz="2300" b="1">
                <a:solidFill>
                  <a:srgbClr val="1A5276"/>
                </a:solidFill>
                <a:latin typeface="Segoe UI"/>
              </a:rPr>
              <a:t>•	</a:t>
            </a:r>
            <a:r>
              <a:rPr sz="2300" b="0" i="0">
                <a:solidFill>
                  <a:srgbClr val="1C252B"/>
                </a:solidFill>
                <a:latin typeface="Segoe UI"/>
              </a:rPr>
              <a:t>a </a:t>
            </a:r>
            <a:r>
              <a:rPr sz="2300" b="1" i="0">
                <a:solidFill>
                  <a:srgbClr val="1C252B"/>
                </a:solidFill>
                <a:latin typeface="Segoe UI"/>
              </a:rPr>
              <a:t>ten-minute presentation</a:t>
            </a:r>
            <a:r>
              <a:rPr sz="2300" b="0" i="0">
                <a:solidFill>
                  <a:srgbClr val="1C252B"/>
                </a:solidFill>
                <a:latin typeface="Segoe UI"/>
              </a:rPr>
              <a:t> with five minutes of questions.</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85525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commonest way to lose marks is scope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§23.1  ·  Handout p. 180     </a:t>
            </a:r>
            <a:fld id="{E86F9D49-2857-4750-B2CC-CB41F437C575}"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strongest projects in this course are narrow. “Measure the throughput cost of three virtio queue configurations” earns more than “build a private cloud”, because the first can be finished, measured and defended in seven weeks and the second cannot.</a:t>
            </a:r>
          </a:p>
        </p:txBody>
      </p:sp>
      <p:sp>
        <p:nvSpPr>
          <p:cNvPr id="10" name="body-1"/>
          <p:cNvSpPr txBox="1"/>
          <p:nvPr/>
        </p:nvSpPr>
        <p:spPr>
          <a:xfrm>
            <a:off x="1060704" y="366707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project that builds a great deal and measures nothing is the single most common failure mode. The deployment is the apparatus; the measurement is the work.</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12029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Choosing One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What the Project Is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23.2   Choosing One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Measuring Honestly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The Report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The Presentation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23.6   Marking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§23.2     </a:t>
            </a:r>
            <a:fld id="{48700E1A-66B0-4C27-8A8C-FD3FA7530F9E}" type="slidenum">
              <a:rPr lang="en-GB" sz="1000">
                <a:solidFill>
                  <a:srgbClr val="8795A1"/>
                </a:solidFill>
                <a:latin typeface="Segoe UI"/>
              </a:rPr>
              <a:t>9</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38533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One</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§23.2  ·  Handout p. 181     </a:t>
            </a:r>
            <a:fld id="{A7DA9970-0917-445D-83EC-E22E6079014F}" type="slidenum">
              <a:rPr lang="en-GB" sz="1000">
                <a:solidFill>
                  <a:srgbClr val="8795A1"/>
                </a:solidFill>
                <a:latin typeface="Segoe UI"/>
              </a:rPr>
              <a:t>10</a:t>
            </a:fld>
          </a:p>
        </p:txBody>
      </p:sp>
      <p:graphicFrame>
        <p:nvGraphicFramePr>
          <p:cNvPr id="7" name="!!table"/>
          <p:cNvGraphicFramePr>
            <a:graphicFrameLocks noGrp="1"/>
          </p:cNvGraphicFramePr>
          <p:nvPr/>
        </p:nvGraphicFramePr>
        <p:xfrm>
          <a:off x="658368" y="1737360"/>
          <a:ext cx="10874957" cy="4279387"/>
        </p:xfrm>
        <a:graphic>
          <a:graphicData uri="http://schemas.openxmlformats.org/drawingml/2006/table">
            <a:tbl>
              <a:tblPr firstRow="0" bandRow="0" firstCol="0" lastRow="0" lastCol="0" bandCol="0">
                <a:tableStyleId>{2D5ABB26-0587-4C30-8999-92F81FD0307C}</a:tableStyleId>
              </a:tblPr>
              <a:tblGrid>
                <a:gridCol w="3346141"/>
                <a:gridCol w="4106627"/>
                <a:gridCol w="3422189"/>
              </a:tblGrid>
              <a:tr h="329184">
                <a:tc>
                  <a:txBody>
                    <a:bodyPr wrap="square"/>
                    <a:lstStyle/>
                    <a:p>
                      <a:pPr algn="l"/>
                      <a:r>
                        <a:rPr sz="1200" b="1" i="0">
                          <a:solidFill>
                            <a:srgbClr val="1A5276"/>
                          </a:solidFill>
                          <a:latin typeface="Segoe UI"/>
                        </a:rPr>
                        <a:t>Project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The hypothesis it tests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Chapters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94944">
                <a:tc>
                  <a:txBody>
                    <a:bodyPr wrap="square"/>
                    <a:lstStyle/>
                    <a:p>
                      <a:pPr algn="l"/>
                      <a:r>
                        <a:rPr sz="1200" b="0" i="0">
                          <a:solidFill>
                            <a:srgbClr val="1C252B"/>
                          </a:solidFill>
                          <a:latin typeface="Segoe UI"/>
                        </a:rPr>
                        <a:t>Device model throughput</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Paravirtualized devices cost less host CPU per unit of work than emulated ones, and the ratio depends on request size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Chapter 7, Chapter 18</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Container density ceiling</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Memory, not CPU, limits container density, and the ratio to VMs depends on the workload’s own footprint</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Chapter 8</a:t>
                      </a:r>
                      <a:endParaRPr sz="1200"/>
                    </a:p>
                  </a:txBody>
                  <a:tcPr marL="109728" marR="109728" marT="64008" marB="45720" anchor="t">
                    <a:lnL w="0" cmpd="sng">
                      <a:noFill/>
                    </a:lnL>
                    <a:lnR w="0" cmpd="sng">
                      <a:noFill/>
                    </a:lnR>
                    <a:lnT w="9525" cmpd="sng">
                      <a:noFill/>
                    </a:lnT>
                    <a:lnB w="9525" cmpd="sng">
                      <a:noFill/>
                    </a:lnB>
                    <a:solidFill>
                      <a:srgbClr val="F2F8FC"/>
                    </a:solidFill>
                  </a:tcPr>
                </a:tc>
              </a:tr>
              <a:tr h="694944">
                <a:tc>
                  <a:txBody>
                    <a:bodyPr wrap="square"/>
                    <a:lstStyle/>
                    <a:p>
                      <a:pPr algn="l"/>
                      <a:r>
                        <a:rPr sz="1200" b="0" i="0">
                          <a:solidFill>
                            <a:srgbClr val="1C252B"/>
                          </a:solidFill>
                          <a:latin typeface="Segoe UI"/>
                        </a:rPr>
                        <a:t>Live migration convergence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Migration succeeds iff the dirty rate is below the transfer rate, and auto-convergence buys success with guest performance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Chapter 17</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Thin pool behaviour at exhaustion</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Guest filesystems fail together, not individually, and </a:t>
                      </a:r>
                      <a:r>
                        <a:rPr sz="1150" b="0" i="0">
                          <a:solidFill>
                            <a:srgbClr val="1F4E79"/>
                          </a:solidFill>
                          <a:latin typeface="Consolas"/>
                        </a:rPr>
                        <a:t>discard</a:t>
                      </a:r>
                      <a:r>
                        <a:rPr sz="1200" b="0" i="0">
                          <a:solidFill>
                            <a:srgbClr val="1C252B"/>
                          </a:solidFill>
                          <a:latin typeface="Segoe UI"/>
                        </a:rPr>
                        <a:t> measurably changes the time to exhaustion</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Chapter 12</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Overlay MTU and throughput</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The cost of each of the three MTU fixes, measured, including the one that only helps TCP</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Chapter 13</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Isolation overhead</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gVisor’s cost is proportional to system-call rate, not to CPU work</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Chapter 11</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Right-sizing an estate</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A measured estate needs materially less than it was allocated, and %RDY falls when vCPUs are removed</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Chapter 6, Chapter 18</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6503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One (continued)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§23.2  ·  Handout p. 181     </a:t>
            </a:r>
            <a:fld id="{63ED2B75-8817-4A08-BCED-A820DC75B9E8}" type="slidenum">
              <a:rPr lang="en-GB" sz="1000">
                <a:solidFill>
                  <a:srgbClr val="8795A1"/>
                </a:solidFill>
                <a:latin typeface="Segoe UI"/>
              </a:rPr>
              <a:t>11</a:t>
            </a:fld>
          </a:p>
        </p:txBody>
      </p:sp>
      <p:graphicFrame>
        <p:nvGraphicFramePr>
          <p:cNvPr id="7" name="!!table"/>
          <p:cNvGraphicFramePr>
            <a:graphicFrameLocks noGrp="1"/>
          </p:cNvGraphicFramePr>
          <p:nvPr/>
        </p:nvGraphicFramePr>
        <p:xfrm>
          <a:off x="658368" y="1737360"/>
          <a:ext cx="10874957" cy="1024128"/>
        </p:xfrm>
        <a:graphic>
          <a:graphicData uri="http://schemas.openxmlformats.org/drawingml/2006/table">
            <a:tbl>
              <a:tblPr firstRow="0" bandRow="0" firstCol="0" lastRow="0" lastCol="0" bandCol="0">
                <a:tableStyleId>{2D5ABB26-0587-4C30-8999-92F81FD0307C}</a:tableStyleId>
              </a:tblPr>
              <a:tblGrid>
                <a:gridCol w="3346141"/>
                <a:gridCol w="4106627"/>
                <a:gridCol w="3422189"/>
              </a:tblGrid>
              <a:tr h="329184">
                <a:tc>
                  <a:txBody>
                    <a:bodyPr wrap="square"/>
                    <a:lstStyle/>
                    <a:p>
                      <a:pPr algn="l"/>
                      <a:r>
                        <a:rPr sz="1200" b="1" i="0">
                          <a:solidFill>
                            <a:srgbClr val="1A5276"/>
                          </a:solidFill>
                          <a:latin typeface="Segoe UI"/>
                        </a:rPr>
                        <a:t>Project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The hypothesis it tests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Chapters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94944">
                <a:tc>
                  <a:txBody>
                    <a:bodyPr wrap="square"/>
                    <a:lstStyle/>
                    <a:p>
                      <a:pPr algn="l"/>
                      <a:r>
                        <a:rPr sz="1200" b="0" i="0">
                          <a:solidFill>
                            <a:srgbClr val="1C252B"/>
                          </a:solidFill>
                          <a:latin typeface="Segoe UI"/>
                        </a:rPr>
                        <a:t>Cloud cost model</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The three-year TCO of a real workload, on premises and in two clouds, with the assumption that dominates identified</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Chapter 14</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91540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test for a hypothesis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§23.2  ·  Handout p. 181     </a:t>
            </a:r>
            <a:fld id="{ED9EC4DB-3B06-4C26-9520-C1B7C08A7AC3}"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969"/>
          </a:xfrm>
          <a:prstGeom prst="roundRect">
            <a:avLst>
              <a:gd name="adj" fmla="val 216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96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Write your hypothesis down and then ask: </a:t>
            </a:r>
            <a:r>
              <a:rPr sz="2300" b="0" i="1">
                <a:solidFill>
                  <a:srgbClr val="1C252B"/>
                </a:solidFill>
                <a:latin typeface="Segoe UI"/>
              </a:rPr>
              <a:t>what result would prove this wrong?</a:t>
            </a:r>
          </a:p>
        </p:txBody>
      </p:sp>
      <p:sp>
        <p:nvSpPr>
          <p:cNvPr id="10" name="body-1"/>
          <p:cNvSpPr txBox="1"/>
          <p:nvPr/>
        </p:nvSpPr>
        <p:spPr>
          <a:xfrm>
            <a:off x="1060704" y="2937992"/>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you cannot answer, it is not a hypothesis — it is a plan to build something. “Containers are lighter than VMs” fails the test, because no measurement could contradict it. “On this workload, the container-to-VM memory density ratio is under 4:1 because the application’s own footprint dominates” passes: it names a number, and the number could come out at 20:1 and refute you.</a:t>
            </a:r>
          </a:p>
        </p:txBody>
      </p:sp>
      <p:sp>
        <p:nvSpPr>
          <p:cNvPr id="11" name="body-2"/>
          <p:cNvSpPr txBox="1"/>
          <p:nvPr/>
        </p:nvSpPr>
        <p:spPr>
          <a:xfrm>
            <a:off x="1060704" y="4921351"/>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refuted hypothesis, honestly reported, earns full marks. A confirmed one you could not have refuted earns few.</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1804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Measuring Honestly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What the Project Is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Choosing One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23.3   Measuring Honestly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The Report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The Presentation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23.6   Marking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§23.3     </a:t>
            </a:r>
            <a:fld id="{A4EEBF3A-7F5B-4163-B83A-E579EBCD1CB2}" type="slidenum">
              <a:rPr lang="en-GB" sz="1000">
                <a:solidFill>
                  <a:srgbClr val="8795A1"/>
                </a:solidFill>
                <a:latin typeface="Segoe UI"/>
              </a:rPr>
              <a:t>13</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44547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Measuring Honestly</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§23.3  ·  Handout p. 182     </a:t>
            </a:r>
            <a:fld id="{7E67B409-1C7A-446F-A4A6-EB4890F62CA2}" type="slidenum">
              <a:rPr lang="en-GB" sz="1000">
                <a:solidFill>
                  <a:srgbClr val="8795A1"/>
                </a:solidFill>
                <a:latin typeface="Segoe UI"/>
              </a:rPr>
              <a:t>14</a:t>
            </a:fld>
          </a:p>
        </p:txBody>
      </p:sp>
      <p:graphicFrame>
        <p:nvGraphicFramePr>
          <p:cNvPr id="7" name="!!table"/>
          <p:cNvGraphicFramePr>
            <a:graphicFrameLocks noGrp="1"/>
          </p:cNvGraphicFramePr>
          <p:nvPr/>
        </p:nvGraphicFramePr>
        <p:xfrm>
          <a:off x="658368" y="1737360"/>
          <a:ext cx="10874957" cy="3727704"/>
        </p:xfrm>
        <a:graphic>
          <a:graphicData uri="http://schemas.openxmlformats.org/drawingml/2006/table">
            <a:tbl>
              <a:tblPr firstRow="0" bandRow="0" firstCol="0" lastRow="0" lastCol="0" bandCol="0">
                <a:tableStyleId>{2D5ABB26-0587-4C30-8999-92F81FD0307C}</a:tableStyleId>
              </a:tblPr>
              <a:tblGrid>
                <a:gridCol w="2433557"/>
                <a:gridCol w="3878481"/>
                <a:gridCol w="4562919"/>
              </a:tblGrid>
              <a:tr h="405384">
                <a:tc>
                  <a:txBody>
                    <a:bodyPr wrap="square"/>
                    <a:lstStyle/>
                    <a:p>
                      <a:pPr algn="l"/>
                      <a:r>
                        <a:rPr sz="1700" b="1" i="0">
                          <a:solidFill>
                            <a:srgbClr val="1A5276"/>
                          </a:solidFill>
                          <a:latin typeface="Segoe UI"/>
                        </a:rPr>
                        <a:t>Threat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it does to your result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to do about it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Neighbours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host is shared, so your figure includes everyone else’s work</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Run at several times of day; report the distribution; state what else was running</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Timekeeping</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 descheduled guest’s own clock drifts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Time from the host where possible; use a paravirtual clock source</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Caching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host page cache serves your “disk” reads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Use files larger than host RAM, or </a:t>
                      </a:r>
                      <a:r>
                        <a:rPr sz="1600" b="0" i="0">
                          <a:solidFill>
                            <a:srgbClr val="1F4E79"/>
                          </a:solidFill>
                          <a:latin typeface="Consolas"/>
                        </a:rPr>
                        <a:t>direct=1</a:t>
                      </a:r>
                      <a:r>
                        <a:rPr sz="1700" b="0" i="0">
                          <a:solidFill>
                            <a:srgbClr val="1C252B"/>
                          </a:solidFill>
                          <a:latin typeface="Segoe UI"/>
                        </a:rPr>
                        <a:t>; state which</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Burst credits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 short cloud benchmark runs on credits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Never use burstable instances; say which family you used</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Nesting</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The outer hypervisor inflates everything, variably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Measure on bare metal, or state clearly that figures are nested and comparative only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71051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rules that separate a good report from a weak one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§23.3  ·  Handout p. 182     </a:t>
            </a:r>
            <a:fld id="{48859D0E-0015-46E6-A087-9ED7C1A0752E}"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969"/>
          </a:xfrm>
          <a:prstGeom prst="roundRect">
            <a:avLst>
              <a:gd name="adj" fmla="val 216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96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Report percentiles, not means.</a:t>
            </a:r>
            <a:r>
              <a:rPr sz="2300" b="0" i="0">
                <a:solidFill>
                  <a:srgbClr val="1C252B"/>
                </a:solidFill>
                <a:latin typeface="Segoe UI"/>
              </a:rPr>
              <a:t> Chapter 18 showed why: the mean sits below almost all the mass. Give p50, p95 and p99, and say how many samples.</a:t>
            </a:r>
          </a:p>
        </p:txBody>
      </p:sp>
      <p:sp>
        <p:nvSpPr>
          <p:cNvPr id="10" name="body-1"/>
          <p:cNvSpPr txBox="1"/>
          <p:nvPr/>
        </p:nvSpPr>
        <p:spPr>
          <a:xfrm>
            <a:off x="1060704" y="3302533"/>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Report the baseline.</a:t>
            </a:r>
            <a:r>
              <a:rPr sz="2300" b="0" i="0">
                <a:solidFill>
                  <a:srgbClr val="1C252B"/>
                </a:solidFill>
                <a:latin typeface="Segoe UI"/>
              </a:rPr>
              <a:t> A number with nothing to compare it to is not a measurement. Every result should be </a:t>
            </a:r>
            <a:r>
              <a:rPr sz="2300" b="0" i="1">
                <a:solidFill>
                  <a:srgbClr val="1C252B"/>
                </a:solidFill>
                <a:latin typeface="Segoe UI"/>
              </a:rPr>
              <a:t>against native</a:t>
            </a:r>
            <a:r>
              <a:rPr sz="2300" b="0" i="0">
                <a:solidFill>
                  <a:srgbClr val="1C252B"/>
                </a:solidFill>
                <a:latin typeface="Segoe UI"/>
              </a:rPr>
              <a:t>, </a:t>
            </a:r>
            <a:r>
              <a:rPr sz="2300" b="0" i="1">
                <a:solidFill>
                  <a:srgbClr val="1C252B"/>
                </a:solidFill>
                <a:latin typeface="Segoe UI"/>
              </a:rPr>
              <a:t>against the default configuration</a:t>
            </a:r>
            <a:r>
              <a:rPr sz="2300" b="0" i="0">
                <a:solidFill>
                  <a:srgbClr val="1C252B"/>
                </a:solidFill>
                <a:latin typeface="Segoe UI"/>
              </a:rPr>
              <a:t>, or </a:t>
            </a:r>
            <a:r>
              <a:rPr sz="2300" b="0" i="1">
                <a:solidFill>
                  <a:srgbClr val="1C252B"/>
                </a:solidFill>
                <a:latin typeface="Segoe UI"/>
              </a:rPr>
              <a:t>against the other arm</a:t>
            </a:r>
            <a:r>
              <a:rPr sz="2300" b="0" i="0">
                <a:solidFill>
                  <a:srgbClr val="1C252B"/>
                </a:solidFill>
                <a:latin typeface="Segoe UI"/>
              </a:rPr>
              <a:t>.</a:t>
            </a:r>
          </a:p>
        </p:txBody>
      </p:sp>
      <p:sp>
        <p:nvSpPr>
          <p:cNvPr id="11" name="body-2"/>
          <p:cNvSpPr txBox="1"/>
          <p:nvPr/>
        </p:nvSpPr>
        <p:spPr>
          <a:xfrm>
            <a:off x="1060704" y="4556810"/>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Repeat, and show the spread.</a:t>
            </a:r>
            <a:r>
              <a:rPr sz="2300" b="0" i="0">
                <a:solidFill>
                  <a:srgbClr val="1C252B"/>
                </a:solidFill>
                <a:latin typeface="Segoe UI"/>
              </a:rPr>
              <a:t> Three runs minimum. If your three runs differ by more than the effect you are claiming, you have not measured the effect — you have measured the noise, and saying so is a legitimate finding.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97555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Report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What the Project Is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Choosing One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Measuring Honestly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23.4   The Report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The Presentation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23.6   Marking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§23.4     </a:t>
            </a:r>
            <a:fld id="{5F97F0D8-307D-477F-8232-4AA6DFA998B6}" type="slidenum">
              <a:rPr lang="en-GB" sz="1000">
                <a:solidFill>
                  <a:srgbClr val="8795A1"/>
                </a:solidFill>
                <a:latin typeface="Segoe UI"/>
              </a:rPr>
              <a:t>16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24058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Report</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§23.4  ·  Handout p. 182     </a:t>
            </a:r>
            <a:fld id="{C21ECC54-EF93-4DD6-A110-55AF3F84FAF7}"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348"/>
          </a:xfrm>
          <a:prstGeom prst="roundRect">
            <a:avLst>
              <a:gd name="adj" fmla="val 207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34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840276"/>
          </a:xfrm>
          <a:prstGeom prst="rect">
            <a:avLst/>
          </a:prstGeom>
          <a:noFill/>
        </p:spPr>
        <p:txBody>
          <a:bodyPr wrap="square" anchor="t" lIns="0" rIns="0" tIns="0" bIns="0">
            <a:noAutofit/>
          </a:bodyPr>
          <a:lstStyle/>
          <a:p>
            <a:pPr algn="l" marL="385962" indent="-385962">
              <a:lnSpc>
                <a:spcPct val="104000"/>
              </a:lnSpc>
              <a:spcBef>
                <a:spcPts val="0"/>
              </a:spcBef>
              <a:spcAft>
                <a:spcPts val="560"/>
              </a:spcAft>
            </a:pPr>
            <a:r>
              <a:rPr sz="1600" b="1">
                <a:solidFill>
                  <a:srgbClr val="1A5276"/>
                </a:solidFill>
                <a:latin typeface="Segoe UI"/>
              </a:rPr>
              <a:t>1.	</a:t>
            </a:r>
            <a:r>
              <a:rPr sz="1600" b="1" i="0">
                <a:solidFill>
                  <a:srgbClr val="1A5276"/>
                </a:solidFill>
                <a:latin typeface="Segoe UI"/>
              </a:rPr>
              <a:t>The question</a:t>
            </a:r>
            <a:r>
              <a:rPr sz="1600" b="0" i="0">
                <a:solidFill>
                  <a:srgbClr val="1C252B"/>
                </a:solidFill>
                <a:latin typeface="Segoe UI"/>
              </a:rPr>
              <a:t> (200 words). The hypothesis, and why it is worth testing. Name the chapter it comes from.</a:t>
            </a:r>
          </a:p>
          <a:p>
            <a:pPr algn="l" marL="385962" indent="-385962">
              <a:lnSpc>
                <a:spcPct val="104000"/>
              </a:lnSpc>
              <a:spcBef>
                <a:spcPts val="0"/>
              </a:spcBef>
              <a:spcAft>
                <a:spcPts val="560"/>
              </a:spcAft>
            </a:pPr>
            <a:r>
              <a:rPr sz="1600" b="1">
                <a:solidFill>
                  <a:srgbClr val="1A5276"/>
                </a:solidFill>
                <a:latin typeface="Segoe UI"/>
              </a:rPr>
              <a:t>2.	</a:t>
            </a:r>
            <a:r>
              <a:rPr sz="1600" b="1" i="0">
                <a:solidFill>
                  <a:srgbClr val="1A5276"/>
                </a:solidFill>
                <a:latin typeface="Segoe UI"/>
              </a:rPr>
              <a:t>Background</a:t>
            </a:r>
            <a:r>
              <a:rPr sz="1600" b="0" i="0">
                <a:solidFill>
                  <a:srgbClr val="1C252B"/>
                </a:solidFill>
                <a:latin typeface="Segoe UI"/>
              </a:rPr>
              <a:t> (400). What the reader needs from this book to follow you. Cite chapters rather than re-explaining them.</a:t>
            </a:r>
          </a:p>
          <a:p>
            <a:pPr algn="l" marL="385962" indent="-385962">
              <a:lnSpc>
                <a:spcPct val="104000"/>
              </a:lnSpc>
              <a:spcBef>
                <a:spcPts val="0"/>
              </a:spcBef>
              <a:spcAft>
                <a:spcPts val="560"/>
              </a:spcAft>
            </a:pPr>
            <a:r>
              <a:rPr sz="1600" b="1">
                <a:solidFill>
                  <a:srgbClr val="1A5276"/>
                </a:solidFill>
                <a:latin typeface="Segoe UI"/>
              </a:rPr>
              <a:t>3.	</a:t>
            </a:r>
            <a:r>
              <a:rPr sz="1600" b="1" i="0">
                <a:solidFill>
                  <a:srgbClr val="1A5276"/>
                </a:solidFill>
                <a:latin typeface="Segoe UI"/>
              </a:rPr>
              <a:t>Method</a:t>
            </a:r>
            <a:r>
              <a:rPr sz="1600" b="0" i="0">
                <a:solidFill>
                  <a:srgbClr val="1C252B"/>
                </a:solidFill>
                <a:latin typeface="Segoe UI"/>
              </a:rPr>
              <a:t> (600). The apparatus, in enough detail that somebody else could rebuild it. Hardware, versions, configuration. The five controls above, each addressed explicitly.</a:t>
            </a:r>
          </a:p>
          <a:p>
            <a:pPr algn="l" marL="385962" indent="-385962">
              <a:lnSpc>
                <a:spcPct val="104000"/>
              </a:lnSpc>
              <a:spcBef>
                <a:spcPts val="0"/>
              </a:spcBef>
              <a:spcAft>
                <a:spcPts val="560"/>
              </a:spcAft>
            </a:pPr>
            <a:r>
              <a:rPr sz="1600" b="1">
                <a:solidFill>
                  <a:srgbClr val="1A5276"/>
                </a:solidFill>
                <a:latin typeface="Segoe UI"/>
              </a:rPr>
              <a:t>4.	</a:t>
            </a:r>
            <a:r>
              <a:rPr sz="1600" b="1" i="0">
                <a:solidFill>
                  <a:srgbClr val="1A5276"/>
                </a:solidFill>
                <a:latin typeface="Segoe UI"/>
              </a:rPr>
              <a:t>Results</a:t>
            </a:r>
            <a:r>
              <a:rPr sz="1600" b="0" i="0">
                <a:solidFill>
                  <a:srgbClr val="1C252B"/>
                </a:solidFill>
                <a:latin typeface="Segoe UI"/>
              </a:rPr>
              <a:t> (700). Your figures. Tables and plots with units and sample counts. No interpretation in this section.</a:t>
            </a:r>
          </a:p>
          <a:p>
            <a:pPr algn="l" marL="385962" indent="-385962">
              <a:lnSpc>
                <a:spcPct val="104000"/>
              </a:lnSpc>
              <a:spcBef>
                <a:spcPts val="0"/>
              </a:spcBef>
              <a:spcAft>
                <a:spcPts val="560"/>
              </a:spcAft>
            </a:pPr>
            <a:r>
              <a:rPr sz="1600" b="1">
                <a:solidFill>
                  <a:srgbClr val="1A5276"/>
                </a:solidFill>
                <a:latin typeface="Segoe UI"/>
              </a:rPr>
              <a:t>5.	</a:t>
            </a:r>
            <a:r>
              <a:rPr sz="1600" b="1" i="0">
                <a:solidFill>
                  <a:srgbClr val="1A5276"/>
                </a:solidFill>
                <a:latin typeface="Segoe UI"/>
              </a:rPr>
              <a:t>Discussion</a:t>
            </a:r>
            <a:r>
              <a:rPr sz="1600" b="0" i="0">
                <a:solidFill>
                  <a:srgbClr val="1C252B"/>
                </a:solidFill>
                <a:latin typeface="Segoe UI"/>
              </a:rPr>
              <a:t> (800). What the figures mean. Whether the hypothesis survived. What surprised you. What you would do differently.</a:t>
            </a:r>
          </a:p>
          <a:p>
            <a:pPr algn="l" marL="385962" indent="-385962">
              <a:lnSpc>
                <a:spcPct val="104000"/>
              </a:lnSpc>
              <a:spcBef>
                <a:spcPts val="0"/>
              </a:spcBef>
              <a:spcAft>
                <a:spcPts val="560"/>
              </a:spcAft>
            </a:pPr>
            <a:r>
              <a:rPr sz="1600" b="1">
                <a:solidFill>
                  <a:srgbClr val="1A5276"/>
                </a:solidFill>
                <a:latin typeface="Segoe UI"/>
              </a:rPr>
              <a:t>6.	</a:t>
            </a:r>
            <a:r>
              <a:rPr sz="1600" b="1" i="0">
                <a:solidFill>
                  <a:srgbClr val="1A5276"/>
                </a:solidFill>
                <a:latin typeface="Segoe UI"/>
              </a:rPr>
              <a:t>Threats to validity</a:t>
            </a:r>
            <a:r>
              <a:rPr sz="1600" b="0" i="0">
                <a:solidFill>
                  <a:srgbClr val="1C252B"/>
                </a:solidFill>
                <a:latin typeface="Segoe UI"/>
              </a:rPr>
              <a:t> (300). What could make your conclusion wrong. Every honest report has this section and it costs no marks to write — omitting it costs several.</a:t>
            </a:r>
          </a:p>
          <a:p>
            <a:pPr algn="l" marL="385962" indent="-385962">
              <a:lnSpc>
                <a:spcPct val="104000"/>
              </a:lnSpc>
              <a:spcBef>
                <a:spcPts val="0"/>
              </a:spcBef>
              <a:spcAft>
                <a:spcPts val="560"/>
              </a:spcAft>
            </a:pPr>
            <a:r>
              <a:rPr sz="1600" b="1">
                <a:solidFill>
                  <a:srgbClr val="1A5276"/>
                </a:solidFill>
                <a:latin typeface="Segoe UI"/>
              </a:rPr>
              <a:t>7.	</a:t>
            </a:r>
            <a:r>
              <a:rPr sz="1600" b="1" i="0">
                <a:solidFill>
                  <a:srgbClr val="1A5276"/>
                </a:solidFill>
                <a:latin typeface="Segoe UI"/>
              </a:rPr>
              <a:t>Conclusion and further work</a:t>
            </a:r>
            <a:r>
              <a:rPr sz="1600" b="0" i="0">
                <a:solidFill>
                  <a:srgbClr val="1C252B"/>
                </a:solidFill>
                <a:latin typeface="Segoe UI"/>
              </a:rPr>
              <a:t> (200).</a:t>
            </a:r>
          </a:p>
          <a:p>
            <a:pPr algn="l" marL="385962" indent="-385962">
              <a:lnSpc>
                <a:spcPct val="104000"/>
              </a:lnSpc>
              <a:spcBef>
                <a:spcPts val="0"/>
              </a:spcBef>
              <a:spcAft>
                <a:spcPts val="0"/>
              </a:spcAft>
            </a:pPr>
            <a:r>
              <a:rPr sz="1600" b="1">
                <a:solidFill>
                  <a:srgbClr val="1A5276"/>
                </a:solidFill>
                <a:latin typeface="Segoe UI"/>
              </a:rPr>
              <a:t>8.	</a:t>
            </a:r>
            <a:r>
              <a:rPr sz="1600" b="1" i="0">
                <a:solidFill>
                  <a:srgbClr val="1A5276"/>
                </a:solidFill>
                <a:latin typeface="Segoe UI"/>
              </a:rPr>
              <a:t>Appendix</a:t>
            </a:r>
            <a:r>
              <a:rPr sz="1600" b="0" i="0">
                <a:solidFill>
                  <a:srgbClr val="1C252B"/>
                </a:solidFill>
                <a:latin typeface="Segoe UI"/>
              </a:rPr>
              <a:t>: your scripts, your raw data, your teardown procedure.</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450562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8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8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8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Negative and inconclusive results are full-mark results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§23.4  ·  Handout p. 182     </a:t>
            </a:r>
            <a:fld id="{6E598DFD-4764-48B4-B7EB-7CDF710CEBAA}"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your measurement shows no difference where you expected one, report that. If your three runs disagreed and you ran out of time to find out why, report that too, with what you would do next.</a:t>
            </a:r>
          </a:p>
        </p:txBody>
      </p:sp>
      <p:sp>
        <p:nvSpPr>
          <p:cNvPr id="10" name="body-1"/>
          <p:cNvSpPr txBox="1"/>
          <p:nvPr/>
        </p:nvSpPr>
        <p:spPr>
          <a:xfrm>
            <a:off x="1060704" y="3302533"/>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What loses marks is a conclusion the figures do not support — claiming a 12% improvement from runs that varied by 30%, or reporting a mean that hides the tail. The examiners can read your appendix.</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77066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Demonstrate live, and have a recording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183     </a:t>
            </a:r>
            <a:fld id="{3AACD7BA-30BB-4751-917B-D300A775C86D}"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deployment is demonstrated running. Things fail in front of audiences, so record a working run beforehand and have it ready — using it costs nothing, and having nothing to show costs a great deal.</a:t>
            </a:r>
          </a:p>
        </p:txBody>
      </p:sp>
      <p:sp>
        <p:nvSpPr>
          <p:cNvPr id="10" name="body-1"/>
          <p:cNvSpPr txBox="1"/>
          <p:nvPr/>
        </p:nvSpPr>
        <p:spPr>
          <a:xfrm>
            <a:off x="1060704" y="3302533"/>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something breaks live, say what you think happened. Diagnosing a failure in front of the room, out loud, using the counters from Chapter 18, is the single most convincing thing that can happen in a project presentation.</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03570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Marking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What the Project Is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Choosing One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Measuring Honestly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The Report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The Presentation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23.6   Marking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§23.6     </a:t>
            </a:r>
            <a:fld id="{F549D911-6DB7-4E0C-9528-E55374871B80}" type="slidenum">
              <a:rPr lang="en-GB" sz="1000">
                <a:solidFill>
                  <a:srgbClr val="8795A1"/>
                </a:solidFill>
                <a:latin typeface="Segoe UI"/>
              </a:rPr>
              <a:t>20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30073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Marking</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BFD0077C-B3B5-4D07-B56C-A6C918D3D95D}" type="slidenum">
              <a:rPr lang="en-GB" sz="1000">
                <a:solidFill>
                  <a:srgbClr val="8795A1"/>
                </a:solidFill>
                <a:latin typeface="Segoe UI"/>
              </a:rPr>
              <a:t>21</a:t>
            </a:fld>
          </a:p>
        </p:txBody>
      </p:sp>
      <p:graphicFrame>
        <p:nvGraphicFramePr>
          <p:cNvPr id="7" name="!!table"/>
          <p:cNvGraphicFramePr>
            <a:graphicFrameLocks noGrp="1"/>
          </p:cNvGraphicFramePr>
          <p:nvPr/>
        </p:nvGraphicFramePr>
        <p:xfrm>
          <a:off x="658368" y="1737360"/>
          <a:ext cx="10874958" cy="3468624"/>
        </p:xfrm>
        <a:graphic>
          <a:graphicData uri="http://schemas.openxmlformats.org/drawingml/2006/table">
            <a:tbl>
              <a:tblPr firstRow="0" bandRow="0" firstCol="0" lastRow="0" lastCol="0" bandCol="0">
                <a:tableStyleId>{2D5ABB26-0587-4C30-8999-92F81FD0307C}</a:tableStyleId>
              </a:tblPr>
              <a:tblGrid>
                <a:gridCol w="2663255"/>
                <a:gridCol w="1183669"/>
                <a:gridCol w="7028034"/>
              </a:tblGrid>
              <a:tr h="405384">
                <a:tc>
                  <a:txBody>
                    <a:bodyPr wrap="square"/>
                    <a:lstStyle/>
                    <a:p>
                      <a:pPr algn="l"/>
                      <a:r>
                        <a:rPr sz="1700" b="1" i="0">
                          <a:solidFill>
                            <a:srgbClr val="1A5276"/>
                          </a:solidFill>
                          <a:latin typeface="Segoe UI"/>
                        </a:rPr>
                        <a:t>Component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Weight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earns the marks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Deployment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25%</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It works, it is reproducible from your own instructions, and it is torn down cleanly. Complexity earns nothing by itself</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Measurement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30%</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 real hypothesis; controls addressed; percentiles; baseline; repetition. </a:t>
                      </a:r>
                      <a:r>
                        <a:rPr sz="1700" b="1" i="0">
                          <a:solidFill>
                            <a:srgbClr val="1C252B"/>
                          </a:solidFill>
                          <a:latin typeface="Segoe UI"/>
                        </a:rPr>
                        <a:t>The largest single component</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Report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25%</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Clear, structured, conclusions supported by the figures, honest threats-to-validity section</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Presentation and defence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15%</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Explained clearly; questions answered; failures discussed rather than hidden</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Peer review</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5%</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A specific, useful, fair review of another team</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56577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distinguishes a first from a pass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C56900AE-68AD-40A1-972A-D15EFA6338E0}"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94887"/>
          </a:xfrm>
          <a:prstGeom prst="roundRect">
            <a:avLst>
              <a:gd name="adj" fmla="val 261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94887"/>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passing project builds something that works and reports what it did.</a:t>
            </a:r>
          </a:p>
        </p:txBody>
      </p:sp>
      <p:sp>
        <p:nvSpPr>
          <p:cNvPr id="10" name="body-1"/>
          <p:cNvSpPr txBox="1"/>
          <p:nvPr/>
        </p:nvSpPr>
        <p:spPr>
          <a:xfrm>
            <a:off x="1060704" y="2573451"/>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first-class project does three further things. It states a hypothesis that could have been refuted. It controls for at least three of the five threats and says so. And it reaches a conclusion the author did not expect at the start — which is only possible if the measurement was capable of surprising them.</a:t>
            </a:r>
          </a:p>
        </p:txBody>
      </p:sp>
      <p:sp>
        <p:nvSpPr>
          <p:cNvPr id="11" name="body-2"/>
          <p:cNvSpPr txBox="1"/>
          <p:nvPr/>
        </p:nvSpPr>
        <p:spPr>
          <a:xfrm>
            <a:off x="1060704" y="4192270"/>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Notice that none of the three requires more building. They require deciding, at the outset, what you are trying to find out.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83081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4E94E051-0E2C-48DA-81F6-133C1681FB11}" type="slidenum">
              <a:rPr lang="en-GB" sz="1000">
                <a:solidFill>
                  <a:srgbClr val="8795A1"/>
                </a:solidFill>
                <a:latin typeface="Segoe UI"/>
              </a:rPr>
              <a:t>23</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Building for six weeks and measuring in the last one.</a:t>
            </a:r>
            <a:r>
              <a:rPr sz="1700" b="0" i="0">
                <a:solidFill>
                  <a:srgbClr val="1C252B"/>
                </a:solidFill>
                <a:latin typeface="Segoe UI"/>
              </a:rPr>
              <a:t> Build for two, measure for four. The measurement is where the marks are.</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 scope that cannot be finished.</a:t>
            </a:r>
            <a:r>
              <a:rPr sz="1700" b="0" i="0">
                <a:solidFill>
                  <a:srgbClr val="1C252B"/>
                </a:solidFill>
                <a:latin typeface="Segoe UI"/>
              </a:rPr>
              <a:t> “Build a private cloud” is not a project; one measured property of one is.</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Measuring once.</a:t>
            </a:r>
            <a:r>
              <a:rPr sz="1700" b="0" i="0">
                <a:solidFill>
                  <a:srgbClr val="1C252B"/>
                </a:solidFill>
                <a:latin typeface="Segoe UI"/>
              </a:rPr>
              <a:t> One run is an anecdote.</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Reporting means.</a:t>
            </a:r>
            <a:r>
              <a:rPr sz="1700" b="0" i="0">
                <a:solidFill>
                  <a:srgbClr val="1C252B"/>
                </a:solidFill>
                <a:latin typeface="Segoe UI"/>
              </a:rPr>
              <a:t> Percentiles, always.</a:t>
            </a:r>
          </a:p>
        </p:txBody>
      </p:sp>
      <p:sp>
        <p:nvSpPr>
          <p:cNvPr id="19" name="!!pb4">
            <a:extLst>
              <a:ext uri="{C183D7F6-B498-43B3-948B-1728B52AA6E4}">
                <adec:decorative xmlns:adec="http://schemas.microsoft.com/office/drawing/2017/decorative" val="1"/>
              </a:ext>
            </a:extLst>
          </p:cNvPr>
          <p:cNvSpPr/>
          <p:nvPr/>
        </p:nvSpPr>
        <p:spPr>
          <a:xfrm>
            <a:off x="658368" y="436961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39247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35132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No baseline.</a:t>
            </a:r>
            <a:r>
              <a:rPr sz="1700" b="0" i="0">
                <a:solidFill>
                  <a:srgbClr val="1C252B"/>
                </a:solidFill>
                <a:latin typeface="Segoe UI"/>
              </a:rPr>
              <a:t> A figure with nothing to compare it to says nothing.</a:t>
            </a:r>
          </a:p>
        </p:txBody>
      </p:sp>
      <p:sp>
        <p:nvSpPr>
          <p:cNvPr id="22" name="!!pb5">
            <a:extLst>
              <a:ext uri="{C183D7F6-B498-43B3-948B-1728B52AA6E4}">
                <adec:decorative xmlns:adec="http://schemas.microsoft.com/office/drawing/2017/decorative" val="1"/>
              </a:ext>
            </a:extLst>
          </p:cNvPr>
          <p:cNvSpPr/>
          <p:nvPr/>
        </p:nvSpPr>
        <p:spPr>
          <a:xfrm>
            <a:off x="658368" y="493654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495940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4918252"/>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Benchmarking in a nested guest without saying so.</a:t>
            </a:r>
            <a:r>
              <a:rPr sz="1700" b="0" i="0">
                <a:solidFill>
                  <a:srgbClr val="1C252B"/>
                </a:solidFill>
                <a:latin typeface="Segoe UI"/>
              </a:rPr>
              <a:t> State it, and treat the figures as comparative only.</a:t>
            </a:r>
          </a:p>
        </p:txBody>
      </p:sp>
      <p:sp>
        <p:nvSpPr>
          <p:cNvPr id="25" name="!!pb6">
            <a:extLst>
              <a:ext uri="{C183D7F6-B498-43B3-948B-1728B52AA6E4}">
                <adec:decorative xmlns:adec="http://schemas.microsoft.com/office/drawing/2017/decorative" val="1"/>
              </a:ext>
            </a:extLst>
          </p:cNvPr>
          <p:cNvSpPr/>
          <p:nvPr/>
        </p:nvSpPr>
        <p:spPr>
          <a:xfrm>
            <a:off x="658368" y="550346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x6"/>
          <p:cNvSpPr txBox="1"/>
          <p:nvPr/>
        </p:nvSpPr>
        <p:spPr>
          <a:xfrm>
            <a:off x="658368" y="552632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7" name="!!pt6"/>
          <p:cNvSpPr txBox="1"/>
          <p:nvPr/>
        </p:nvSpPr>
        <p:spPr>
          <a:xfrm>
            <a:off x="1261872" y="548518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Hiding what failed.</a:t>
            </a:r>
            <a:r>
              <a:rPr sz="1700" b="0" i="0">
                <a:solidFill>
                  <a:srgbClr val="1C252B"/>
                </a:solidFill>
                <a:latin typeface="Segoe UI"/>
              </a:rPr>
              <a:t> The failure is usually the most interesting part, and the examiners will ask.</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93692EAE-DFEE-40FC-9BD9-AD1CA6A18238}" type="slidenum">
              <a:rPr lang="en-GB" sz="1000">
                <a:solidFill>
                  <a:srgbClr val="8795A1"/>
                </a:solidFill>
                <a:latin typeface="Segoe UI"/>
              </a:rPr>
              <a:t>24</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Leaving cloud resources running.</a:t>
            </a:r>
            <a:r>
              <a:rPr sz="1700" b="0" i="0">
                <a:solidFill>
                  <a:srgbClr val="1C252B"/>
                </a:solidFill>
                <a:latin typeface="Segoe UI"/>
              </a:rPr>
              <a:t> Every lab in this book ends with a teardown step for a reason. A forgotten instance bills until somebody notices.</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3608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Week 9: Your Proposal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FDDE2606-DED2-43D4-892C-DA488EF8184D}" type="slidenum">
              <a:rPr lang="en-GB" sz="1000">
                <a:solidFill>
                  <a:srgbClr val="8795A1"/>
                </a:solidFill>
                <a:latin typeface="Segoe UI"/>
              </a:rPr>
              <a:t>25</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One page, submitted in Week 9, and the thing most likely to determine your final mark. Expect ninety minutes, and do it with your team.</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4384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The hypothesis</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What would refute it</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The apparatus</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The measurement</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The controls</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The baseline</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Weekly plan</a:t>
            </a:r>
          </a:p>
          <a:p>
            <a:pPr algn="l" marL="367434" indent="-367434">
              <a:lnSpc>
                <a:spcPct val="100000"/>
              </a:lnSpc>
              <a:spcBef>
                <a:spcPts val="0"/>
              </a:spcBef>
              <a:spcAft>
                <a:spcPts val="420"/>
              </a:spcAft>
            </a:pPr>
            <a:r>
              <a:rPr sz="1400" b="1">
                <a:solidFill>
                  <a:srgbClr val="117A65"/>
                </a:solidFill>
                <a:latin typeface="Segoe UI"/>
              </a:rPr>
              <a:t>8.	</a:t>
            </a:r>
            <a:r>
              <a:rPr sz="1400" b="0" i="0">
                <a:solidFill>
                  <a:srgbClr val="1C252B"/>
                </a:solidFill>
                <a:latin typeface="Segoe UI"/>
              </a:rPr>
              <a:t>What could go wrong</a:t>
            </a:r>
          </a:p>
          <a:p>
            <a:pPr algn="l" marL="367434" indent="-367434">
              <a:lnSpc>
                <a:spcPct val="100000"/>
              </a:lnSpc>
              <a:spcBef>
                <a:spcPts val="0"/>
              </a:spcBef>
              <a:spcAft>
                <a:spcPts val="0"/>
              </a:spcAft>
            </a:pPr>
            <a:r>
              <a:rPr sz="1400" b="1">
                <a:solidFill>
                  <a:srgbClr val="117A65"/>
                </a:solidFill>
                <a:latin typeface="Segoe UI"/>
              </a:rPr>
              <a:t>9.	</a:t>
            </a:r>
            <a:r>
              <a:rPr sz="1400" b="0" i="0">
                <a:solidFill>
                  <a:srgbClr val="1C252B"/>
                </a:solidFill>
                <a:latin typeface="Segoe UI"/>
              </a:rPr>
              <a:t>Teardown</a:t>
            </a:r>
          </a:p>
        </p:txBody>
      </p:sp>
      <p:sp>
        <p:nvSpPr>
          <p:cNvPr id="49"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52"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16: Peer walkthroughs of each team’s service</a:t>
            </a:r>
          </a:p>
        </p:txBody>
      </p:sp>
      <p:sp>
        <p:nvSpPr>
          <p:cNvPr id="53"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6"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57 lines of Shell</a:t>
            </a:r>
          </a:p>
        </p:txBody>
      </p:sp>
      <p:sp>
        <p:nvSpPr>
          <p:cNvPr id="5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pfill">
            <a:extLst>
              <a:ext uri="{C183D7F6-B498-43B3-948B-1728B52AA6E4}">
                <adec:decorative xmlns:adec="http://schemas.microsoft.com/office/drawing/2017/decorative" val="1"/>
              </a:ext>
            </a:extLst>
          </p:cNvPr>
          <p:cNvSpPr/>
          <p:nvPr/>
        </p:nvSpPr>
        <p:spPr>
          <a:xfrm>
            <a:off x="0" y="0"/>
            <a:ext cx="66259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8" end="8"/>
                                            </p:txEl>
                                          </p:spTgt>
                                        </p:tgtEl>
                                        <p:attrNameLst>
                                          <p:attrName>style.visibility</p:attrName>
                                        </p:attrNameLst>
                                      </p:cBhvr>
                                      <p:to>
                                        <p:strVal val="visible"/>
                                      </p:to>
                                    </p:set>
                                    <p:animEffect transition="in" filter="fade">
                                      <p:cBhvr>
                                        <p:cTn id="48" dur="3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Week 9: Your Proposal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B726C3AC-99F9-43B8-B9DF-F6512E62DA78}"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hypothesis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ch23_proposal.md -- one page, submitted in Week 9. # Fill in every section. If you cannot fill one in, that is the # section to work on, not the one to delete. # --- 1. The hypothesis -------------------------------------------- # One sentence, containing a number or a comparison, that could turn # out to be FALSE. # Bad : &quot;Containers are more efficient than virtual machines.&quot; # Good: &quot;On a 256 MB Flask service, container-to-VM memory density # is below 4:1, because the application footprint dominates # the per-instance overhead.&quot;"/>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ch23_proposal.md -- one page, submitted in Week 9.</a:t>
            </a:r>
          </a:p>
          <a:p>
            <a:pPr>
              <a:lnSpc>
                <a:spcPct val="100000"/>
              </a:lnSpc>
              <a:spcAft>
                <a:spcPts val="0"/>
              </a:spcAft>
            </a:pPr>
            <a:r>
              <a:rPr sz="2000" i="1">
                <a:solidFill>
                  <a:srgbClr val="8795A1"/>
                </a:solidFill>
                <a:latin typeface="Consolas"/>
              </a:rPr>
              <a:t># Fill in every section. If you cannot fill one in, that is the</a:t>
            </a:r>
          </a:p>
          <a:p>
            <a:pPr>
              <a:lnSpc>
                <a:spcPct val="100000"/>
              </a:lnSpc>
              <a:spcAft>
                <a:spcPts val="0"/>
              </a:spcAft>
            </a:pPr>
            <a:r>
              <a:rPr sz="2000" i="1">
                <a:solidFill>
                  <a:srgbClr val="8795A1"/>
                </a:solidFill>
                <a:latin typeface="Consolas"/>
              </a:rPr>
              <a:t># section to work on, not the one to delete.</a:t>
            </a:r>
          </a:p>
          <a:p>
            <a:pPr>
              <a:lnSpc>
                <a:spcPct val="100000"/>
              </a:lnSpc>
              <a:spcAft>
                <a:spcPts val="0"/>
              </a:spcAft>
            </a:pPr>
            <a:r>
              <a:rPr sz="2000">
                <a:latin typeface="Consolas"/>
              </a:rPr>
              <a:t> </a:t>
            </a:r>
          </a:p>
          <a:p>
            <a:pPr>
              <a:lnSpc>
                <a:spcPct val="100000"/>
              </a:lnSpc>
              <a:spcAft>
                <a:spcPts val="0"/>
              </a:spcAft>
            </a:pPr>
            <a:r>
              <a:rPr sz="2000" i="1">
                <a:solidFill>
                  <a:srgbClr val="8795A1"/>
                </a:solidFill>
                <a:latin typeface="Consolas"/>
              </a:rPr>
              <a:t># --- 1. The hypothesis --------------------------------------------</a:t>
            </a:r>
          </a:p>
          <a:p>
            <a:pPr>
              <a:lnSpc>
                <a:spcPct val="100000"/>
              </a:lnSpc>
              <a:spcAft>
                <a:spcPts val="0"/>
              </a:spcAft>
            </a:pPr>
            <a:r>
              <a:rPr sz="2000" i="1">
                <a:solidFill>
                  <a:srgbClr val="8795A1"/>
                </a:solidFill>
                <a:latin typeface="Consolas"/>
              </a:rPr>
              <a:t># One sentence, containing a number or a comparison, that could turn</a:t>
            </a:r>
          </a:p>
          <a:p>
            <a:pPr>
              <a:lnSpc>
                <a:spcPct val="100000"/>
              </a:lnSpc>
              <a:spcAft>
                <a:spcPts val="0"/>
              </a:spcAft>
            </a:pPr>
            <a:r>
              <a:rPr sz="2000" i="1">
                <a:solidFill>
                  <a:srgbClr val="8795A1"/>
                </a:solidFill>
                <a:latin typeface="Consolas"/>
              </a:rPr>
              <a:t># out to be FALSE.</a:t>
            </a:r>
          </a:p>
          <a:p>
            <a:pPr>
              <a:lnSpc>
                <a:spcPct val="100000"/>
              </a:lnSpc>
              <a:spcAft>
                <a:spcPts val="0"/>
              </a:spcAft>
            </a:pPr>
            <a:r>
              <a:rPr sz="2000" i="1">
                <a:solidFill>
                  <a:srgbClr val="8795A1"/>
                </a:solidFill>
                <a:latin typeface="Consolas"/>
              </a:rPr>
              <a:t>#   Bad : "Containers are more efficient than virtual machines."</a:t>
            </a:r>
          </a:p>
          <a:p>
            <a:pPr>
              <a:lnSpc>
                <a:spcPct val="100000"/>
              </a:lnSpc>
              <a:spcAft>
                <a:spcPts val="0"/>
              </a:spcAft>
            </a:pPr>
            <a:r>
              <a:rPr sz="2000" i="1">
                <a:solidFill>
                  <a:srgbClr val="8795A1"/>
                </a:solidFill>
                <a:latin typeface="Consolas"/>
              </a:rPr>
              <a:t>#   Good: "On a 256 MB Flask service, container-to-VM memory density</a:t>
            </a:r>
          </a:p>
          <a:p>
            <a:pPr>
              <a:lnSpc>
                <a:spcPct val="100000"/>
              </a:lnSpc>
              <a:spcAft>
                <a:spcPts val="0"/>
              </a:spcAft>
            </a:pPr>
            <a:r>
              <a:rPr sz="2000" i="1">
                <a:solidFill>
                  <a:srgbClr val="8795A1"/>
                </a:solidFill>
                <a:latin typeface="Consolas"/>
              </a:rPr>
              <a:t>#          is below 4:1, because the application footprint dominates</a:t>
            </a:r>
          </a:p>
          <a:p>
            <a:pPr>
              <a:lnSpc>
                <a:spcPct val="100000"/>
              </a:lnSpc>
              <a:spcAft>
                <a:spcPts val="0"/>
              </a:spcAft>
            </a:pPr>
            <a:r>
              <a:rPr sz="2000" i="1">
                <a:solidFill>
                  <a:srgbClr val="8795A1"/>
                </a:solidFill>
                <a:latin typeface="Consolas"/>
              </a:rPr>
              <a:t>#          the per-instance overhead."</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a:p>
            <a:pPr algn="r">
              <a:lnSpc>
                <a:spcPct val="100000"/>
              </a:lnSpc>
            </a:pPr>
            <a:r>
              <a:rPr sz="2000">
                <a:solidFill>
                  <a:srgbClr val="4F5D6A"/>
                </a:solidFill>
                <a:latin typeface="Consolas"/>
              </a:rPr>
              <a:t>9</a:t>
            </a:r>
          </a:p>
          <a:p>
            <a:pPr algn="r">
              <a:lnSpc>
                <a:spcPct val="100000"/>
              </a:lnSpc>
            </a:pPr>
            <a:r>
              <a:rPr sz="2000">
                <a:solidFill>
                  <a:srgbClr val="4F5D6A"/>
                </a:solidFill>
                <a:latin typeface="Consolas"/>
              </a:rPr>
              <a:t>10</a:t>
            </a:r>
          </a:p>
          <a:p>
            <a:pPr algn="r">
              <a:lnSpc>
                <a:spcPct val="100000"/>
              </a:lnSpc>
            </a:pPr>
            <a:r>
              <a:rPr sz="2000">
                <a:solidFill>
                  <a:srgbClr val="4F5D6A"/>
                </a:solidFill>
                <a:latin typeface="Consolas"/>
              </a:rPr>
              <a:t>11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9095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Week 9: Your Proposal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79BA6F6F-1F9F-46FE-AD27-9660FEFBF857}"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What would refute 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517904"/>
          </a:xfrm>
          <a:prstGeom prst="roundRect">
            <a:avLst>
              <a:gd name="adj" fmla="val 60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What would refute it -------------------------------------- # State the result that would prove you wrong. If you cannot, go # back to 1."/>
          <p:cNvSpPr txBox="1"/>
          <p:nvPr/>
        </p:nvSpPr>
        <p:spPr>
          <a:xfrm>
            <a:off x="1362456" y="2523744"/>
            <a:ext cx="9987991" cy="10241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--- 2. What would refute it --------------------------------------</a:t>
            </a:r>
          </a:p>
          <a:p>
            <a:pPr>
              <a:lnSpc>
                <a:spcPct val="100000"/>
              </a:lnSpc>
              <a:spcAft>
                <a:spcPts val="0"/>
              </a:spcAft>
            </a:pPr>
            <a:r>
              <a:rPr sz="2000" i="1">
                <a:solidFill>
                  <a:srgbClr val="8795A1"/>
                </a:solidFill>
                <a:latin typeface="Consolas"/>
              </a:rPr>
              <a:t># State the result that would prove you wrong. If you cannot, go</a:t>
            </a:r>
          </a:p>
          <a:p>
            <a:pPr>
              <a:lnSpc>
                <a:spcPct val="100000"/>
              </a:lnSpc>
              <a:spcAft>
                <a:spcPts val="0"/>
              </a:spcAft>
            </a:pPr>
            <a:r>
              <a:rPr sz="2000" i="1">
                <a:solidFill>
                  <a:srgbClr val="8795A1"/>
                </a:solidFill>
                <a:latin typeface="Consolas"/>
              </a:rPr>
              <a:t># back to 1.</a:t>
            </a:r>
          </a:p>
        </p:txBody>
      </p:sp>
      <p:sp>
        <p:nvSpPr>
          <p:cNvPr id="15" name="!!code-num"/>
          <p:cNvSpPr txBox="1"/>
          <p:nvPr/>
        </p:nvSpPr>
        <p:spPr>
          <a:xfrm>
            <a:off x="768096" y="2523744"/>
            <a:ext cx="393192" cy="1024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13</a:t>
            </a:r>
          </a:p>
          <a:p>
            <a:pPr algn="r">
              <a:lnSpc>
                <a:spcPct val="100000"/>
              </a:lnSpc>
            </a:pPr>
            <a:r>
              <a:rPr sz="2000">
                <a:solidFill>
                  <a:srgbClr val="4F5D6A"/>
                </a:solidFill>
                <a:latin typeface="Consolas"/>
              </a:rPr>
              <a:t>14</a:t>
            </a:r>
          </a:p>
          <a:p>
            <a:pPr algn="r">
              <a:lnSpc>
                <a:spcPct val="100000"/>
              </a:lnSpc>
            </a:pPr>
            <a:r>
              <a:rPr sz="20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5599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Week 9: Your Proposal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7CADBEFF-7293-4EFB-9E0B-156EEC687234}"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apparatus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517904"/>
          </a:xfrm>
          <a:prstGeom prst="roundRect">
            <a:avLst>
              <a:gd name="adj" fmla="val 60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The apparatus --------------------------------------------- # Hardware you will use. Hypervisor and versions. How many guests. # What you will install. Say explicitly whether it is nested."/>
          <p:cNvSpPr txBox="1"/>
          <p:nvPr/>
        </p:nvSpPr>
        <p:spPr>
          <a:xfrm>
            <a:off x="1362456" y="2523744"/>
            <a:ext cx="9987991" cy="10241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--- 3. The apparatus ---------------------------------------------</a:t>
            </a:r>
          </a:p>
          <a:p>
            <a:pPr>
              <a:lnSpc>
                <a:spcPct val="100000"/>
              </a:lnSpc>
              <a:spcAft>
                <a:spcPts val="0"/>
              </a:spcAft>
            </a:pPr>
            <a:r>
              <a:rPr sz="2000" i="1">
                <a:solidFill>
                  <a:srgbClr val="8795A1"/>
                </a:solidFill>
                <a:latin typeface="Consolas"/>
              </a:rPr>
              <a:t># Hardware you will use. Hypervisor and versions. How many guests.</a:t>
            </a:r>
          </a:p>
          <a:p>
            <a:pPr>
              <a:lnSpc>
                <a:spcPct val="100000"/>
              </a:lnSpc>
              <a:spcAft>
                <a:spcPts val="0"/>
              </a:spcAft>
            </a:pPr>
            <a:r>
              <a:rPr sz="2000" i="1">
                <a:solidFill>
                  <a:srgbClr val="8795A1"/>
                </a:solidFill>
                <a:latin typeface="Consolas"/>
              </a:rPr>
              <a:t># What you will install. Say explicitly whether it is nested.</a:t>
            </a:r>
          </a:p>
        </p:txBody>
      </p:sp>
      <p:sp>
        <p:nvSpPr>
          <p:cNvPr id="15" name="!!code-num"/>
          <p:cNvSpPr txBox="1"/>
          <p:nvPr/>
        </p:nvSpPr>
        <p:spPr>
          <a:xfrm>
            <a:off x="768096" y="2523744"/>
            <a:ext cx="393192" cy="1024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17</a:t>
            </a:r>
          </a:p>
          <a:p>
            <a:pPr algn="r">
              <a:lnSpc>
                <a:spcPct val="100000"/>
              </a:lnSpc>
            </a:pPr>
            <a:r>
              <a:rPr sz="2000">
                <a:solidFill>
                  <a:srgbClr val="4F5D6A"/>
                </a:solidFill>
                <a:latin typeface="Consolas"/>
              </a:rPr>
              <a:t>18</a:t>
            </a:r>
          </a:p>
          <a:p>
            <a:pPr algn="r">
              <a:lnSpc>
                <a:spcPct val="100000"/>
              </a:lnSpc>
            </a:pPr>
            <a:r>
              <a:rPr sz="2000">
                <a:solidFill>
                  <a:srgbClr val="4F5D6A"/>
                </a:solidFill>
                <a:latin typeface="Consolas"/>
              </a:rPr>
              <a:t>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2103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Week 9: Your Proposal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DB4E4C58-8A74-419B-9326-0EE609A1B52E}"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measurement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37104"/>
          </a:xfrm>
          <a:prstGeom prst="roundRect">
            <a:avLst>
              <a:gd name="adj" fmla="val 334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The measurement ------------------------------------------- # What exactly you will measure, with which tool, how many times, # and which percentiles you will report. # metric: ... # tool: ... # repetitions: at least 3 # report: p50, p95, p99 and the spread"/>
          <p:cNvSpPr txBox="1"/>
          <p:nvPr/>
        </p:nvSpPr>
        <p:spPr>
          <a:xfrm>
            <a:off x="1362456" y="2523744"/>
            <a:ext cx="9987991" cy="2243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--- 4. The measurement -------------------------------------------</a:t>
            </a:r>
          </a:p>
          <a:p>
            <a:pPr>
              <a:lnSpc>
                <a:spcPct val="100000"/>
              </a:lnSpc>
              <a:spcAft>
                <a:spcPts val="0"/>
              </a:spcAft>
            </a:pPr>
            <a:r>
              <a:rPr sz="2000" i="1">
                <a:solidFill>
                  <a:srgbClr val="8795A1"/>
                </a:solidFill>
                <a:latin typeface="Consolas"/>
              </a:rPr>
              <a:t># What exactly you will measure, with which tool, how many times,</a:t>
            </a:r>
          </a:p>
          <a:p>
            <a:pPr>
              <a:lnSpc>
                <a:spcPct val="100000"/>
              </a:lnSpc>
              <a:spcAft>
                <a:spcPts val="0"/>
              </a:spcAft>
            </a:pPr>
            <a:r>
              <a:rPr sz="2000" i="1">
                <a:solidFill>
                  <a:srgbClr val="8795A1"/>
                </a:solidFill>
                <a:latin typeface="Consolas"/>
              </a:rPr>
              <a:t># and which percentiles you will report.</a:t>
            </a:r>
          </a:p>
          <a:p>
            <a:pPr>
              <a:lnSpc>
                <a:spcPct val="100000"/>
              </a:lnSpc>
              <a:spcAft>
                <a:spcPts val="0"/>
              </a:spcAft>
            </a:pPr>
            <a:r>
              <a:rPr sz="2000" i="1">
                <a:solidFill>
                  <a:srgbClr val="8795A1"/>
                </a:solidFill>
                <a:latin typeface="Consolas"/>
              </a:rPr>
              <a:t>#   metric:      ...</a:t>
            </a:r>
          </a:p>
          <a:p>
            <a:pPr>
              <a:lnSpc>
                <a:spcPct val="100000"/>
              </a:lnSpc>
              <a:spcAft>
                <a:spcPts val="0"/>
              </a:spcAft>
            </a:pPr>
            <a:r>
              <a:rPr sz="2000" i="1">
                <a:solidFill>
                  <a:srgbClr val="8795A1"/>
                </a:solidFill>
                <a:latin typeface="Consolas"/>
              </a:rPr>
              <a:t>#   tool:        ...</a:t>
            </a:r>
          </a:p>
          <a:p>
            <a:pPr>
              <a:lnSpc>
                <a:spcPct val="100000"/>
              </a:lnSpc>
              <a:spcAft>
                <a:spcPts val="0"/>
              </a:spcAft>
            </a:pPr>
            <a:r>
              <a:rPr sz="2000" i="1">
                <a:solidFill>
                  <a:srgbClr val="8795A1"/>
                </a:solidFill>
                <a:latin typeface="Consolas"/>
              </a:rPr>
              <a:t>#   repetitions: at least 3</a:t>
            </a:r>
          </a:p>
          <a:p>
            <a:pPr>
              <a:lnSpc>
                <a:spcPct val="100000"/>
              </a:lnSpc>
              <a:spcAft>
                <a:spcPts val="0"/>
              </a:spcAft>
            </a:pPr>
            <a:r>
              <a:rPr sz="2000" i="1">
                <a:solidFill>
                  <a:srgbClr val="8795A1"/>
                </a:solidFill>
                <a:latin typeface="Consolas"/>
              </a:rPr>
              <a:t>#   report:      p50, p95, p99 and the spread</a:t>
            </a:r>
          </a:p>
        </p:txBody>
      </p:sp>
      <p:sp>
        <p:nvSpPr>
          <p:cNvPr id="15" name="!!code-num"/>
          <p:cNvSpPr txBox="1"/>
          <p:nvPr/>
        </p:nvSpPr>
        <p:spPr>
          <a:xfrm>
            <a:off x="768096" y="2523744"/>
            <a:ext cx="393192" cy="2243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21</a:t>
            </a:r>
          </a:p>
          <a:p>
            <a:pPr algn="r">
              <a:lnSpc>
                <a:spcPct val="100000"/>
              </a:lnSpc>
            </a:pPr>
            <a:r>
              <a:rPr sz="2000">
                <a:solidFill>
                  <a:srgbClr val="4F5D6A"/>
                </a:solidFill>
                <a:latin typeface="Consolas"/>
              </a:rPr>
              <a:t>22</a:t>
            </a:r>
          </a:p>
          <a:p>
            <a:pPr algn="r">
              <a:lnSpc>
                <a:spcPct val="100000"/>
              </a:lnSpc>
            </a:pPr>
            <a:r>
              <a:rPr sz="2000">
                <a:solidFill>
                  <a:srgbClr val="4F5D6A"/>
                </a:solidFill>
                <a:latin typeface="Consolas"/>
              </a:rPr>
              <a:t>23</a:t>
            </a:r>
          </a:p>
          <a:p>
            <a:pPr algn="r">
              <a:lnSpc>
                <a:spcPct val="100000"/>
              </a:lnSpc>
            </a:pPr>
            <a:r>
              <a:rPr sz="2000">
                <a:solidFill>
                  <a:srgbClr val="4F5D6A"/>
                </a:solidFill>
                <a:latin typeface="Consolas"/>
              </a:rPr>
              <a:t>24</a:t>
            </a:r>
          </a:p>
          <a:p>
            <a:pPr algn="r">
              <a:lnSpc>
                <a:spcPct val="100000"/>
              </a:lnSpc>
            </a:pPr>
            <a:r>
              <a:rPr sz="2000">
                <a:solidFill>
                  <a:srgbClr val="4F5D6A"/>
                </a:solidFill>
                <a:latin typeface="Consolas"/>
              </a:rPr>
              <a:t>25</a:t>
            </a:r>
          </a:p>
          <a:p>
            <a:pPr algn="r">
              <a:lnSpc>
                <a:spcPct val="100000"/>
              </a:lnSpc>
            </a:pPr>
            <a:r>
              <a:rPr sz="2000">
                <a:solidFill>
                  <a:srgbClr val="4F5D6A"/>
                </a:solidFill>
                <a:latin typeface="Consolas"/>
              </a:rPr>
              <a:t>26</a:t>
            </a:r>
          </a:p>
          <a:p>
            <a:pPr algn="r">
              <a:lnSpc>
                <a:spcPct val="100000"/>
              </a:lnSpc>
            </a:pPr>
            <a:r>
              <a:rPr sz="2000">
                <a:solidFill>
                  <a:srgbClr val="4F5D6A"/>
                </a:solidFill>
                <a:latin typeface="Consolas"/>
              </a:rPr>
              <a:t>27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860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Week 9: Your Proposal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BCE96815-9069-4ECF-8AC0-A2189AF306BB}"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controls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37104"/>
          </a:xfrm>
          <a:prstGeom prst="roundRect">
            <a:avLst>
              <a:gd name="adj" fmla="val 334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The controls ---------------------------------------------- # One line each on the five threats of section 23.3: # neighbours: ... # timekeeping: ... # caching: ... # burst credits:... # nesting: ..."/>
          <p:cNvSpPr txBox="1"/>
          <p:nvPr/>
        </p:nvSpPr>
        <p:spPr>
          <a:xfrm>
            <a:off x="1362456" y="2523744"/>
            <a:ext cx="9987991" cy="2243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--- 5. The controls ----------------------------------------------</a:t>
            </a:r>
          </a:p>
          <a:p>
            <a:pPr>
              <a:lnSpc>
                <a:spcPct val="100000"/>
              </a:lnSpc>
              <a:spcAft>
                <a:spcPts val="0"/>
              </a:spcAft>
            </a:pPr>
            <a:r>
              <a:rPr sz="2000" i="1">
                <a:solidFill>
                  <a:srgbClr val="8795A1"/>
                </a:solidFill>
                <a:latin typeface="Consolas"/>
              </a:rPr>
              <a:t># One line each on the five threats of section 23.3:</a:t>
            </a:r>
          </a:p>
          <a:p>
            <a:pPr>
              <a:lnSpc>
                <a:spcPct val="100000"/>
              </a:lnSpc>
              <a:spcAft>
                <a:spcPts val="0"/>
              </a:spcAft>
            </a:pPr>
            <a:r>
              <a:rPr sz="2000" i="1">
                <a:solidFill>
                  <a:srgbClr val="8795A1"/>
                </a:solidFill>
                <a:latin typeface="Consolas"/>
              </a:rPr>
              <a:t>#   neighbours:   ...</a:t>
            </a:r>
          </a:p>
          <a:p>
            <a:pPr>
              <a:lnSpc>
                <a:spcPct val="100000"/>
              </a:lnSpc>
              <a:spcAft>
                <a:spcPts val="0"/>
              </a:spcAft>
            </a:pPr>
            <a:r>
              <a:rPr sz="2000" i="1">
                <a:solidFill>
                  <a:srgbClr val="8795A1"/>
                </a:solidFill>
                <a:latin typeface="Consolas"/>
              </a:rPr>
              <a:t>#   timekeeping:  ...</a:t>
            </a:r>
          </a:p>
          <a:p>
            <a:pPr>
              <a:lnSpc>
                <a:spcPct val="100000"/>
              </a:lnSpc>
              <a:spcAft>
                <a:spcPts val="0"/>
              </a:spcAft>
            </a:pPr>
            <a:r>
              <a:rPr sz="2000" i="1">
                <a:solidFill>
                  <a:srgbClr val="8795A1"/>
                </a:solidFill>
                <a:latin typeface="Consolas"/>
              </a:rPr>
              <a:t>#   caching:      ...</a:t>
            </a:r>
          </a:p>
          <a:p>
            <a:pPr>
              <a:lnSpc>
                <a:spcPct val="100000"/>
              </a:lnSpc>
              <a:spcAft>
                <a:spcPts val="0"/>
              </a:spcAft>
            </a:pPr>
            <a:r>
              <a:rPr sz="2000" i="1">
                <a:solidFill>
                  <a:srgbClr val="8795A1"/>
                </a:solidFill>
                <a:latin typeface="Consolas"/>
              </a:rPr>
              <a:t>#   burst credits:...</a:t>
            </a:r>
          </a:p>
          <a:p>
            <a:pPr>
              <a:lnSpc>
                <a:spcPct val="100000"/>
              </a:lnSpc>
              <a:spcAft>
                <a:spcPts val="0"/>
              </a:spcAft>
            </a:pPr>
            <a:r>
              <a:rPr sz="2000" i="1">
                <a:solidFill>
                  <a:srgbClr val="8795A1"/>
                </a:solidFill>
                <a:latin typeface="Consolas"/>
              </a:rPr>
              <a:t>#   nesting:      ...</a:t>
            </a:r>
          </a:p>
        </p:txBody>
      </p:sp>
      <p:sp>
        <p:nvSpPr>
          <p:cNvPr id="15" name="!!code-num"/>
          <p:cNvSpPr txBox="1"/>
          <p:nvPr/>
        </p:nvSpPr>
        <p:spPr>
          <a:xfrm>
            <a:off x="768096" y="2523744"/>
            <a:ext cx="393192" cy="2243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29</a:t>
            </a:r>
          </a:p>
          <a:p>
            <a:pPr algn="r">
              <a:lnSpc>
                <a:spcPct val="100000"/>
              </a:lnSpc>
            </a:pPr>
            <a:r>
              <a:rPr sz="2000">
                <a:solidFill>
                  <a:srgbClr val="4F5D6A"/>
                </a:solidFill>
                <a:latin typeface="Consolas"/>
              </a:rPr>
              <a:t>30</a:t>
            </a:r>
          </a:p>
          <a:p>
            <a:pPr algn="r">
              <a:lnSpc>
                <a:spcPct val="100000"/>
              </a:lnSpc>
            </a:pPr>
            <a:r>
              <a:rPr sz="2000">
                <a:solidFill>
                  <a:srgbClr val="4F5D6A"/>
                </a:solidFill>
                <a:latin typeface="Consolas"/>
              </a:rPr>
              <a:t>31</a:t>
            </a:r>
          </a:p>
          <a:p>
            <a:pPr algn="r">
              <a:lnSpc>
                <a:spcPct val="100000"/>
              </a:lnSpc>
            </a:pPr>
            <a:r>
              <a:rPr sz="2000">
                <a:solidFill>
                  <a:srgbClr val="4F5D6A"/>
                </a:solidFill>
                <a:latin typeface="Consolas"/>
              </a:rPr>
              <a:t>32</a:t>
            </a:r>
          </a:p>
          <a:p>
            <a:pPr algn="r">
              <a:lnSpc>
                <a:spcPct val="100000"/>
              </a:lnSpc>
            </a:pPr>
            <a:r>
              <a:rPr sz="2000">
                <a:solidFill>
                  <a:srgbClr val="4F5D6A"/>
                </a:solidFill>
                <a:latin typeface="Consolas"/>
              </a:rPr>
              <a:t>33</a:t>
            </a:r>
          </a:p>
          <a:p>
            <a:pPr algn="r">
              <a:lnSpc>
                <a:spcPct val="100000"/>
              </a:lnSpc>
            </a:pPr>
            <a:r>
              <a:rPr sz="2000">
                <a:solidFill>
                  <a:srgbClr val="4F5D6A"/>
                </a:solidFill>
                <a:latin typeface="Consolas"/>
              </a:rPr>
              <a:t>34</a:t>
            </a:r>
          </a:p>
          <a:p>
            <a:pPr algn="r">
              <a:lnSpc>
                <a:spcPct val="100000"/>
              </a:lnSpc>
            </a:pPr>
            <a:r>
              <a:rPr sz="20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5110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Week 9: Your Proposal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0998F345-5905-4403-A7DB-CB7A2443C6E5}"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baseline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517904"/>
          </a:xfrm>
          <a:prstGeom prst="roundRect">
            <a:avLst>
              <a:gd name="adj" fmla="val 60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The baseline ---------------------------------------------- # What are you comparing against? Native? Default configuration? # The other arm?"/>
          <p:cNvSpPr txBox="1"/>
          <p:nvPr/>
        </p:nvSpPr>
        <p:spPr>
          <a:xfrm>
            <a:off x="1362456" y="2523744"/>
            <a:ext cx="9987991" cy="10241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--- 6. The baseline ----------------------------------------------</a:t>
            </a:r>
          </a:p>
          <a:p>
            <a:pPr>
              <a:lnSpc>
                <a:spcPct val="100000"/>
              </a:lnSpc>
              <a:spcAft>
                <a:spcPts val="0"/>
              </a:spcAft>
            </a:pPr>
            <a:r>
              <a:rPr sz="2000" i="1">
                <a:solidFill>
                  <a:srgbClr val="8795A1"/>
                </a:solidFill>
                <a:latin typeface="Consolas"/>
              </a:rPr>
              <a:t># What are you comparing against? Native? Default configuration?</a:t>
            </a:r>
          </a:p>
          <a:p>
            <a:pPr>
              <a:lnSpc>
                <a:spcPct val="100000"/>
              </a:lnSpc>
              <a:spcAft>
                <a:spcPts val="0"/>
              </a:spcAft>
            </a:pPr>
            <a:r>
              <a:rPr sz="2000" i="1">
                <a:solidFill>
                  <a:srgbClr val="8795A1"/>
                </a:solidFill>
                <a:latin typeface="Consolas"/>
              </a:rPr>
              <a:t># The other arm?</a:t>
            </a:r>
          </a:p>
        </p:txBody>
      </p:sp>
      <p:sp>
        <p:nvSpPr>
          <p:cNvPr id="15" name="!!code-num"/>
          <p:cNvSpPr txBox="1"/>
          <p:nvPr/>
        </p:nvSpPr>
        <p:spPr>
          <a:xfrm>
            <a:off x="768096" y="2523744"/>
            <a:ext cx="393192" cy="1024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37</a:t>
            </a:r>
          </a:p>
          <a:p>
            <a:pPr algn="r">
              <a:lnSpc>
                <a:spcPct val="100000"/>
              </a:lnSpc>
            </a:pPr>
            <a:r>
              <a:rPr sz="2000">
                <a:solidFill>
                  <a:srgbClr val="4F5D6A"/>
                </a:solidFill>
                <a:latin typeface="Consolas"/>
              </a:rPr>
              <a:t>38</a:t>
            </a:r>
          </a:p>
          <a:p>
            <a:pPr algn="r">
              <a:lnSpc>
                <a:spcPct val="100000"/>
              </a:lnSpc>
            </a:pPr>
            <a:r>
              <a:rPr sz="20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161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Week 9: Your Proposal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A1E3CD53-3BE9-4171-8869-CC6E31F1C51A}"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Weekly plan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51504"/>
          </a:xfrm>
          <a:prstGeom prst="roundRect">
            <a:avLst>
              <a:gd name="adj" fmla="val 250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Weekly plan ----------------------------------------------- # wk 10 proposal agreed; apparatus specified # wk 11 deployment built; first measurement attempted # wk 12 measurement working; baseline captured &lt;-- gate # wk 13 full runs; experiments FROZEN at the end of this week # wk 14 analysis; report drafted # wk 15 report finished; presentation rehearsed # wk 16 demonstrate, present, peer review # The week 13 freeze is not a suggestion. Teams that are still # changing the apparatus in week 15 have no time to analyse it."/>
          <p:cNvSpPr txBox="1"/>
          <p:nvPr/>
        </p:nvSpPr>
        <p:spPr>
          <a:xfrm>
            <a:off x="1362456" y="2523744"/>
            <a:ext cx="9987991" cy="31577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--- 7. Weekly plan -----------------------------------------------</a:t>
            </a:r>
          </a:p>
          <a:p>
            <a:pPr>
              <a:lnSpc>
                <a:spcPct val="100000"/>
              </a:lnSpc>
              <a:spcAft>
                <a:spcPts val="0"/>
              </a:spcAft>
            </a:pPr>
            <a:r>
              <a:rPr sz="2000" i="1">
                <a:solidFill>
                  <a:srgbClr val="8795A1"/>
                </a:solidFill>
                <a:latin typeface="Consolas"/>
              </a:rPr>
              <a:t>#   wk 10  proposal agreed; apparatus specified</a:t>
            </a:r>
          </a:p>
          <a:p>
            <a:pPr>
              <a:lnSpc>
                <a:spcPct val="100000"/>
              </a:lnSpc>
              <a:spcAft>
                <a:spcPts val="0"/>
              </a:spcAft>
            </a:pPr>
            <a:r>
              <a:rPr sz="2000" i="1">
                <a:solidFill>
                  <a:srgbClr val="8795A1"/>
                </a:solidFill>
                <a:latin typeface="Consolas"/>
              </a:rPr>
              <a:t>#   wk 11  deployment built; first measurement attempted</a:t>
            </a:r>
          </a:p>
          <a:p>
            <a:pPr>
              <a:lnSpc>
                <a:spcPct val="100000"/>
              </a:lnSpc>
              <a:spcAft>
                <a:spcPts val="0"/>
              </a:spcAft>
            </a:pPr>
            <a:r>
              <a:rPr sz="2000" i="1">
                <a:solidFill>
                  <a:srgbClr val="8795A1"/>
                </a:solidFill>
                <a:latin typeface="Consolas"/>
              </a:rPr>
              <a:t>#   wk 12  measurement working; baseline captured   &lt;-- gate</a:t>
            </a:r>
          </a:p>
          <a:p>
            <a:pPr>
              <a:lnSpc>
                <a:spcPct val="100000"/>
              </a:lnSpc>
              <a:spcAft>
                <a:spcPts val="0"/>
              </a:spcAft>
            </a:pPr>
            <a:r>
              <a:rPr sz="2000" i="1">
                <a:solidFill>
                  <a:srgbClr val="8795A1"/>
                </a:solidFill>
                <a:latin typeface="Consolas"/>
              </a:rPr>
              <a:t>#   wk 13  full runs; experiments FROZEN at the end of this week</a:t>
            </a:r>
          </a:p>
          <a:p>
            <a:pPr>
              <a:lnSpc>
                <a:spcPct val="100000"/>
              </a:lnSpc>
              <a:spcAft>
                <a:spcPts val="0"/>
              </a:spcAft>
            </a:pPr>
            <a:r>
              <a:rPr sz="2000" i="1">
                <a:solidFill>
                  <a:srgbClr val="8795A1"/>
                </a:solidFill>
                <a:latin typeface="Consolas"/>
              </a:rPr>
              <a:t>#   wk 14  analysis; report drafted</a:t>
            </a:r>
          </a:p>
          <a:p>
            <a:pPr>
              <a:lnSpc>
                <a:spcPct val="100000"/>
              </a:lnSpc>
              <a:spcAft>
                <a:spcPts val="0"/>
              </a:spcAft>
            </a:pPr>
            <a:r>
              <a:rPr sz="2000" i="1">
                <a:solidFill>
                  <a:srgbClr val="8795A1"/>
                </a:solidFill>
                <a:latin typeface="Consolas"/>
              </a:rPr>
              <a:t>#   wk 15  report finished; presentation rehearsed</a:t>
            </a:r>
          </a:p>
          <a:p>
            <a:pPr>
              <a:lnSpc>
                <a:spcPct val="100000"/>
              </a:lnSpc>
              <a:spcAft>
                <a:spcPts val="0"/>
              </a:spcAft>
            </a:pPr>
            <a:r>
              <a:rPr sz="2000" i="1">
                <a:solidFill>
                  <a:srgbClr val="8795A1"/>
                </a:solidFill>
                <a:latin typeface="Consolas"/>
              </a:rPr>
              <a:t>#   wk 16  demonstrate, present, peer review</a:t>
            </a:r>
          </a:p>
          <a:p>
            <a:pPr>
              <a:lnSpc>
                <a:spcPct val="100000"/>
              </a:lnSpc>
              <a:spcAft>
                <a:spcPts val="0"/>
              </a:spcAft>
            </a:pPr>
            <a:r>
              <a:rPr sz="2000" i="1">
                <a:solidFill>
                  <a:srgbClr val="8795A1"/>
                </a:solidFill>
                <a:latin typeface="Consolas"/>
              </a:rPr>
              <a:t># The week 13 freeze is not a suggestion. Teams that are still</a:t>
            </a:r>
          </a:p>
          <a:p>
            <a:pPr>
              <a:lnSpc>
                <a:spcPct val="100000"/>
              </a:lnSpc>
              <a:spcAft>
                <a:spcPts val="0"/>
              </a:spcAft>
            </a:pPr>
            <a:r>
              <a:rPr sz="2000" i="1">
                <a:solidFill>
                  <a:srgbClr val="8795A1"/>
                </a:solidFill>
                <a:latin typeface="Consolas"/>
              </a:rPr>
              <a:t># changing the apparatus in week 15 have no time to analyse it.</a:t>
            </a:r>
          </a:p>
        </p:txBody>
      </p:sp>
      <p:sp>
        <p:nvSpPr>
          <p:cNvPr id="15" name="!!code-num"/>
          <p:cNvSpPr txBox="1"/>
          <p:nvPr/>
        </p:nvSpPr>
        <p:spPr>
          <a:xfrm>
            <a:off x="768096" y="2523744"/>
            <a:ext cx="393192" cy="3157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41</a:t>
            </a:r>
          </a:p>
          <a:p>
            <a:pPr algn="r">
              <a:lnSpc>
                <a:spcPct val="100000"/>
              </a:lnSpc>
            </a:pPr>
            <a:r>
              <a:rPr sz="2000">
                <a:solidFill>
                  <a:srgbClr val="4F5D6A"/>
                </a:solidFill>
                <a:latin typeface="Consolas"/>
              </a:rPr>
              <a:t>42</a:t>
            </a:r>
          </a:p>
          <a:p>
            <a:pPr algn="r">
              <a:lnSpc>
                <a:spcPct val="100000"/>
              </a:lnSpc>
            </a:pPr>
            <a:r>
              <a:rPr sz="2000">
                <a:solidFill>
                  <a:srgbClr val="4F5D6A"/>
                </a:solidFill>
                <a:latin typeface="Consolas"/>
              </a:rPr>
              <a:t>43</a:t>
            </a:r>
          </a:p>
          <a:p>
            <a:pPr algn="r">
              <a:lnSpc>
                <a:spcPct val="100000"/>
              </a:lnSpc>
            </a:pPr>
            <a:r>
              <a:rPr sz="2000">
                <a:solidFill>
                  <a:srgbClr val="4F5D6A"/>
                </a:solidFill>
                <a:latin typeface="Consolas"/>
              </a:rPr>
              <a:t>44</a:t>
            </a:r>
          </a:p>
          <a:p>
            <a:pPr algn="r">
              <a:lnSpc>
                <a:spcPct val="100000"/>
              </a:lnSpc>
            </a:pPr>
            <a:r>
              <a:rPr sz="2000">
                <a:solidFill>
                  <a:srgbClr val="4F5D6A"/>
                </a:solidFill>
                <a:latin typeface="Consolas"/>
              </a:rPr>
              <a:t>45</a:t>
            </a:r>
          </a:p>
          <a:p>
            <a:pPr algn="r">
              <a:lnSpc>
                <a:spcPct val="100000"/>
              </a:lnSpc>
            </a:pPr>
            <a:r>
              <a:rPr sz="2000">
                <a:solidFill>
                  <a:srgbClr val="4F5D6A"/>
                </a:solidFill>
                <a:latin typeface="Consolas"/>
              </a:rPr>
              <a:t>46</a:t>
            </a:r>
          </a:p>
          <a:p>
            <a:pPr algn="r">
              <a:lnSpc>
                <a:spcPct val="100000"/>
              </a:lnSpc>
            </a:pPr>
            <a:r>
              <a:rPr sz="2000">
                <a:solidFill>
                  <a:srgbClr val="4F5D6A"/>
                </a:solidFill>
                <a:latin typeface="Consolas"/>
              </a:rPr>
              <a:t>47</a:t>
            </a:r>
          </a:p>
          <a:p>
            <a:pPr algn="r">
              <a:lnSpc>
                <a:spcPct val="100000"/>
              </a:lnSpc>
            </a:pPr>
            <a:r>
              <a:rPr sz="2000">
                <a:solidFill>
                  <a:srgbClr val="4F5D6A"/>
                </a:solidFill>
                <a:latin typeface="Consolas"/>
              </a:rPr>
              <a:t>48</a:t>
            </a:r>
          </a:p>
          <a:p>
            <a:pPr algn="r">
              <a:lnSpc>
                <a:spcPct val="100000"/>
              </a:lnSpc>
            </a:pPr>
            <a:r>
              <a:rPr sz="2000">
                <a:solidFill>
                  <a:srgbClr val="4F5D6A"/>
                </a:solidFill>
                <a:latin typeface="Consolas"/>
              </a:rPr>
              <a:t>49</a:t>
            </a:r>
          </a:p>
          <a:p>
            <a:pPr algn="r">
              <a:lnSpc>
                <a:spcPct val="100000"/>
              </a:lnSpc>
            </a:pPr>
            <a:r>
              <a:rPr sz="2000">
                <a:solidFill>
                  <a:srgbClr val="4F5D6A"/>
                </a:solidFill>
                <a:latin typeface="Consolas"/>
              </a:rPr>
              <a:t>50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8117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Week 9: Your Proposal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6E2C57EE-C5D4-4751-BEEC-3C1F9699A0E5}"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What could go wrong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517904"/>
          </a:xfrm>
          <a:prstGeom prst="roundRect">
            <a:avLst>
              <a:gd name="adj" fmla="val 60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What could go wrong --------------------------------------- # Name the two most likely failures and what you will do instead. # &quot;The GPU is unavailable&quot; -&gt; &quot;use the captured output in code/&quot;."/>
          <p:cNvSpPr txBox="1"/>
          <p:nvPr/>
        </p:nvSpPr>
        <p:spPr>
          <a:xfrm>
            <a:off x="1362456" y="2523744"/>
            <a:ext cx="9987991" cy="10241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--- 8. What could go wrong ---------------------------------------</a:t>
            </a:r>
          </a:p>
          <a:p>
            <a:pPr>
              <a:lnSpc>
                <a:spcPct val="100000"/>
              </a:lnSpc>
              <a:spcAft>
                <a:spcPts val="0"/>
              </a:spcAft>
            </a:pPr>
            <a:r>
              <a:rPr sz="2000" i="1">
                <a:solidFill>
                  <a:srgbClr val="8795A1"/>
                </a:solidFill>
                <a:latin typeface="Consolas"/>
              </a:rPr>
              <a:t># Name the two most likely failures and what you will do instead.</a:t>
            </a:r>
          </a:p>
          <a:p>
            <a:pPr>
              <a:lnSpc>
                <a:spcPct val="100000"/>
              </a:lnSpc>
              <a:spcAft>
                <a:spcPts val="0"/>
              </a:spcAft>
            </a:pPr>
            <a:r>
              <a:rPr sz="2000" i="1">
                <a:solidFill>
                  <a:srgbClr val="8795A1"/>
                </a:solidFill>
                <a:latin typeface="Consolas"/>
              </a:rPr>
              <a:t># "The GPU is unavailable" -&gt; "use the captured output in code/".</a:t>
            </a:r>
          </a:p>
        </p:txBody>
      </p:sp>
      <p:sp>
        <p:nvSpPr>
          <p:cNvPr id="15" name="!!code-num"/>
          <p:cNvSpPr txBox="1"/>
          <p:nvPr/>
        </p:nvSpPr>
        <p:spPr>
          <a:xfrm>
            <a:off x="768096" y="2523744"/>
            <a:ext cx="393192" cy="1024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52</a:t>
            </a:r>
          </a:p>
          <a:p>
            <a:pPr algn="r">
              <a:lnSpc>
                <a:spcPct val="100000"/>
              </a:lnSpc>
            </a:pPr>
            <a:r>
              <a:rPr sz="2000">
                <a:solidFill>
                  <a:srgbClr val="4F5D6A"/>
                </a:solidFill>
                <a:latin typeface="Consolas"/>
              </a:rPr>
              <a:t>53</a:t>
            </a:r>
          </a:p>
          <a:p>
            <a:pPr algn="r">
              <a:lnSpc>
                <a:spcPct val="100000"/>
              </a:lnSpc>
            </a:pPr>
            <a:r>
              <a:rPr sz="2000">
                <a:solidFill>
                  <a:srgbClr val="4F5D6A"/>
                </a:solidFill>
                <a:latin typeface="Consolas"/>
              </a:rPr>
              <a:t>54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4621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Week 9: Your Proposal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53D308F8-2E3D-4E70-A37B-5D117C3C3FB2}"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213104"/>
          </a:xfrm>
          <a:prstGeom prst="roundRect">
            <a:avLst>
              <a:gd name="adj" fmla="val 75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9. Teardown -------------------------------------------------- # How every resource you create will be destroyed, and when."/>
          <p:cNvSpPr txBox="1"/>
          <p:nvPr/>
        </p:nvSpPr>
        <p:spPr>
          <a:xfrm>
            <a:off x="1362456" y="2523744"/>
            <a:ext cx="9987991" cy="719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--- 9. Teardown --------------------------------------------------</a:t>
            </a:r>
          </a:p>
          <a:p>
            <a:pPr>
              <a:lnSpc>
                <a:spcPct val="100000"/>
              </a:lnSpc>
              <a:spcAft>
                <a:spcPts val="0"/>
              </a:spcAft>
            </a:pPr>
            <a:r>
              <a:rPr sz="2000" i="1">
                <a:solidFill>
                  <a:srgbClr val="8795A1"/>
                </a:solidFill>
                <a:latin typeface="Consolas"/>
              </a:rPr>
              <a:t># How every resource you create will be destroyed, and when.</a:t>
            </a:r>
          </a:p>
        </p:txBody>
      </p:sp>
      <p:sp>
        <p:nvSpPr>
          <p:cNvPr id="15" name="!!code-num"/>
          <p:cNvSpPr txBox="1"/>
          <p:nvPr/>
        </p:nvSpPr>
        <p:spPr>
          <a:xfrm>
            <a:off x="768096" y="2523744"/>
            <a:ext cx="393192" cy="719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56</a:t>
            </a:r>
          </a:p>
          <a:p>
            <a:pPr algn="r">
              <a:lnSpc>
                <a:spcPct val="100000"/>
              </a:lnSpc>
            </a:pPr>
            <a:r>
              <a:rPr sz="2000">
                <a:solidFill>
                  <a:srgbClr val="4F5D6A"/>
                </a:solidFill>
                <a:latin typeface="Consolas"/>
              </a:rPr>
              <a:t>57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1125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§23.6  ·  Handout p. 183     </a:t>
            </a:r>
            <a:fld id="{18499DD6-5F6F-4F96-8395-A5072DF0C283}" type="slidenum">
              <a:rPr lang="en-GB" sz="1000">
                <a:solidFill>
                  <a:srgbClr val="8795A1"/>
                </a:solidFill>
                <a:latin typeface="Segoe UI"/>
              </a:rPr>
              <a:t>35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Sections 1, 2 and 5 are the ones that decide the mark, and they are the ones with no building in them. A proposal that is strong on 3 and weak on 1 describes a deployment, not a project.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27628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Rewrite this as a testable hypothesis: “We will investigate whether Kubernetes is good for our department.”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23  ·  The Semester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187  ·  answers in Appendix D     </a:t>
            </a:r>
            <a:fld id="{9B57F9FD-7E65-4692-B94D-B809EB23D4D3}"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Rewrite this as a testable hypothesis: “We will investigate whether Kubernetes is good for our department.”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Any hypothesis containing a number and capable of being false, for example: </a:t>
            </a:r>
            <a:r>
              <a:rPr sz="2200" b="0" i="1">
                <a:solidFill>
                  <a:srgbClr val="1C252B"/>
                </a:solidFill>
                <a:latin typeface="Segoe UI"/>
              </a:rPr>
              <a:t>“Migrating our six internal services from virtual machines to Kubernetes reduces mean deployment time from 25 minutes to under 5, without increasing p99 request latency by more than 10%.”</a:t>
            </a:r>
            <a:r>
              <a:rPr sz="2200" b="0" i="0">
                <a:solidFill>
                  <a:srgbClr val="1C252B"/>
                </a:solidFill>
                <a:latin typeface="Segoe UI"/>
              </a:rPr>
              <a:t> It names two measurable quantities, states thresholds, and could come out either way — which the original could not, because no result would have contradicted “is good for our department”.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187  ·  answers in Appendix D     </a:t>
            </a:r>
            <a:fld id="{DC5DFBAB-F205-498B-9CD9-927CDC8D5A55}"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0636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team reports a 9% throughput improvement from a configuration change. Their three runs gave 7%, 24% and </a:t>
            </a:r>
            <a:r>
              <a:rPr sz="3400" b="0" i="0">
                <a:solidFill>
                  <a:srgbClr val="FFFFFF"/>
                </a:solidFill>
                <a:latin typeface="Cambria"/>
              </a:rPr>
              <a:t>−2</a:t>
            </a:r>
            <a:r>
              <a:rPr sz="3400" b="0" i="0">
                <a:solidFill>
                  <a:srgbClr val="FFFFFF"/>
                </a:solidFill>
                <a:latin typeface="Segoe UI Semibold"/>
              </a:rPr>
              <a:t>%. What should the report conclude, and what should they do next?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23  ·  The Semester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187  ·  answers in Appendix D     </a:t>
            </a:r>
            <a:fld id="{D1678A97-DF2B-4702-B92A-49024DF908F0}"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team reports a 9% throughput improvement from a configuration change. Their three runs gave 7%, 24% and </a:t>
            </a:r>
            <a:r>
              <a:rPr sz="2400" b="0" i="0">
                <a:solidFill>
                  <a:srgbClr val="1A5276"/>
                </a:solidFill>
                <a:latin typeface="Cambria"/>
              </a:rPr>
              <a:t>−2</a:t>
            </a:r>
            <a:r>
              <a:rPr sz="2400" b="0" i="0">
                <a:solidFill>
                  <a:srgbClr val="1A5276"/>
                </a:solidFill>
                <a:latin typeface="Segoe UI Semibold"/>
              </a:rPr>
              <a:t>%. What should the report conclude, and what should they do next?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That </a:t>
            </a:r>
            <a:r>
              <a:rPr sz="2200" b="1" i="0">
                <a:solidFill>
                  <a:srgbClr val="1C252B"/>
                </a:solidFill>
                <a:latin typeface="Segoe UI"/>
              </a:rPr>
              <a:t>the measurement does not support any claim</a:t>
            </a:r>
            <a:r>
              <a:rPr sz="2200" b="0" i="0">
                <a:solidFill>
                  <a:srgbClr val="1C252B"/>
                </a:solidFill>
                <a:latin typeface="Segoe UI"/>
              </a:rPr>
              <a:t>: the spread of the three runs (7%, 24%, </a:t>
            </a:r>
            <a:r>
              <a:rPr sz="2200" b="0" i="0">
                <a:solidFill>
                  <a:srgbClr val="1C252B"/>
                </a:solidFill>
                <a:latin typeface="Cambria"/>
              </a:rPr>
              <a:t>−2</a:t>
            </a:r>
            <a:r>
              <a:rPr sz="2200" b="0" i="0">
                <a:solidFill>
                  <a:srgbClr val="1C252B"/>
                </a:solidFill>
                <a:latin typeface="Segoe UI"/>
              </a:rPr>
              <a:t>%) is far larger than the 9% mean effect, and one run has the opposite sign. Reporting “a 9% improvement” would be reporting noise. The report should say so. Next: find the source of the variance — neighbours, caching, burst credits, nesting — control it, and repeat with enough runs to separate the effect from the spread; and if the variance cannot be controlled, report that as the finding.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187  ·  answers in Appendix D     </a:t>
            </a:r>
            <a:fld id="{93B81B1F-D037-44FE-9217-6A26B731F3D6}"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3643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project needs a GPU and none is available in Week 12. Using the proposal’s section 8, write what you would do instead, without changing the hypothesis.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23  ·  The Semester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187  ·  answers in Appendix D     </a:t>
            </a:r>
            <a:fld id="{8454C05C-F835-4874-91E0-C956182ABD45}"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Your project needs a GPU and none is available in Week 12. Using the proposal’s section 8, write what you would do instead, without changing the hypothesis.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Switch to the captured output shipped in </a:t>
            </a:r>
            <a:r>
              <a:rPr sz="2050" b="0" i="0">
                <a:solidFill>
                  <a:srgbClr val="1F4E79"/>
                </a:solidFill>
                <a:latin typeface="Consolas"/>
              </a:rPr>
              <a:t>code/</a:t>
            </a:r>
            <a:r>
              <a:rPr sz="2200" b="0" i="0">
                <a:solidFill>
                  <a:srgbClr val="1C252B"/>
                </a:solidFill>
                <a:latin typeface="Segoe UI"/>
              </a:rPr>
              <a:t>. The hypothesis is about </a:t>
            </a:r>
            <a:r>
              <a:rPr sz="2200" b="0" i="1">
                <a:solidFill>
                  <a:srgbClr val="1C252B"/>
                </a:solidFill>
                <a:latin typeface="Segoe UI"/>
              </a:rPr>
              <a:t>partitioning policy and its effect on predictability</a:t>
            </a:r>
            <a:r>
              <a:rPr sz="2200" b="0" i="0">
                <a:solidFill>
                  <a:srgbClr val="1C252B"/>
                </a:solidFill>
                <a:latin typeface="Segoe UI"/>
              </a:rPr>
              <a:t>, which can be tested against recorded measurements from a partitioned card: the analysis, the percentiles and the comparison with the unpartitioned baseline are all still yours to do. State in the method section that the figures are from captured runs rather than your own hardware, and treat them as comparative. What you must </a:t>
            </a:r>
            <a:r>
              <a:rPr sz="2200" b="0" i="1">
                <a:solidFill>
                  <a:srgbClr val="1C252B"/>
                </a:solidFill>
                <a:latin typeface="Segoe UI"/>
              </a:rPr>
              <a:t>not</a:t>
            </a:r>
            <a:r>
              <a:rPr sz="2200" b="0" i="0">
                <a:solidFill>
                  <a:srgbClr val="1C252B"/>
                </a:solidFill>
                <a:latin typeface="Segoe UI"/>
              </a:rPr>
              <a:t> do is quietly change the hypothesis to fit what is available.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187  ·  answers in Appendix D     </a:t>
            </a:r>
            <a:fld id="{80EEF736-2F83-4889-AB81-AD1C9338DA54}"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6651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187     </a:t>
            </a:r>
            <a:fld id="{2E3B3F86-D65A-4429-BD61-55B9382AF935}" type="slidenum">
              <a:rPr lang="en-GB" sz="1000">
                <a:solidFill>
                  <a:srgbClr val="8795A1"/>
                </a:solidFill>
                <a:latin typeface="Segoe UI"/>
              </a:rPr>
              <a:t>42</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Build a service, measure something you did not know, report it. The measurement is 30% of the mark and the deployment 25%.</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hypothesis is a statement that could be refuted. If no result would prove you wrong, you have a build plan, not a project.</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Narrow scope beats ambition. Build for two weeks, measure for four.</a:t>
            </a:r>
          </a:p>
        </p:txBody>
      </p:sp>
      <p:sp>
        <p:nvSpPr>
          <p:cNvPr id="16" name="!!sb3">
            <a:extLst>
              <a:ext uri="{C183D7F6-B498-43B3-948B-1728B52AA6E4}">
                <adec:decorative xmlns:adec="http://schemas.microsoft.com/office/drawing/2017/decorative" val="1"/>
              </a:ext>
            </a:extLst>
          </p:cNvPr>
          <p:cNvSpPr/>
          <p:nvPr/>
        </p:nvSpPr>
        <p:spPr>
          <a:xfrm>
            <a:off x="658368" y="377525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83011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76610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Control for neighbours, timekeeping, caching, burst credits and nesting, and say in the report how you did.</a:t>
            </a:r>
          </a:p>
        </p:txBody>
      </p:sp>
      <p:sp>
        <p:nvSpPr>
          <p:cNvPr id="19" name="!!sb4">
            <a:extLst>
              <a:ext uri="{C183D7F6-B498-43B3-948B-1728B52AA6E4}">
                <adec:decorative xmlns:adec="http://schemas.microsoft.com/office/drawing/2017/decorative" val="1"/>
              </a:ext>
            </a:extLst>
          </p:cNvPr>
          <p:cNvSpPr/>
          <p:nvPr/>
        </p:nvSpPr>
        <p:spPr>
          <a:xfrm>
            <a:off x="658368" y="449701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55188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48787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Percentiles, a baseline, and at least three repetitions. If the runs vary more than the effect, you measured noise — and saying so is a result.</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Negative and inconclusive results earn full marks. Conclusions the figures do not support do not.</a:t>
            </a:r>
          </a:p>
        </p:txBody>
      </p:sp>
      <p:sp>
        <p:nvSpPr>
          <p:cNvPr id="25" name="!!sb6">
            <a:extLst>
              <a:ext uri="{C183D7F6-B498-43B3-948B-1728B52AA6E4}">
                <adec:decorative xmlns:adec="http://schemas.microsoft.com/office/drawing/2017/decorative" val="1"/>
              </a:ext>
            </a:extLst>
          </p:cNvPr>
          <p:cNvSpPr/>
          <p:nvPr/>
        </p:nvSpPr>
        <p:spPr>
          <a:xfrm>
            <a:off x="658368" y="580400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sbn6"/>
          <p:cNvSpPr txBox="1"/>
          <p:nvPr/>
        </p:nvSpPr>
        <p:spPr>
          <a:xfrm>
            <a:off x="658368" y="585886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27" name="!!st6"/>
          <p:cNvSpPr txBox="1"/>
          <p:nvPr/>
        </p:nvSpPr>
        <p:spPr>
          <a:xfrm>
            <a:off x="1298448" y="5794857"/>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Freeze the apparatus in Week 13. Teams still changing it in Week 15 have no time to analyse anything.</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1113154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187     </a:t>
            </a:r>
            <a:fld id="{61A3AB62-D85B-46D8-950A-4C0682F014C8}"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largest single component of the project mark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deployment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measurement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report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presentation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965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187     </a:t>
            </a:r>
            <a:fld id="{DF89FF26-C6A1-4BDC-8160-192C0EC726C6}"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hypothesis is testable if: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is about a popular technology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some possible result would prove it false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can be built in seven weeks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cites three chapters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616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187     </a:t>
            </a:r>
            <a:fld id="{AF5DD157-A30E-4F56-BC93-77F2EE5C2E92}" type="slidenum">
              <a:rPr lang="en-GB" sz="1000">
                <a:solidFill>
                  <a:srgbClr val="8795A1"/>
                </a:solidFill>
                <a:latin typeface="Segoe UI"/>
              </a:rPr>
              <a:t>45</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five threats to a virtualized measurement and one control for each.</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 refuted hypothesis can earn full marks and a confirmed one may not.</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the Week 13 experiment freeze in the plan?</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Take any one project from the table in Section 23.2 and write its proposal sections 1, 2, 4 and 6 in full.</a:t>
            </a:r>
          </a:p>
        </p:txBody>
      </p:sp>
      <p:sp>
        <p:nvSpPr>
          <p:cNvPr id="19" name="!!rt4">
            <a:extLst>
              <a:ext uri="{C183D7F6-B498-43B3-948B-1728B52AA6E4}">
                <adec:decorative xmlns:adec="http://schemas.microsoft.com/office/drawing/2017/decorative" val="1"/>
              </a:ext>
            </a:extLst>
          </p:cNvPr>
          <p:cNvSpPr/>
          <p:nvPr/>
        </p:nvSpPr>
        <p:spPr>
          <a:xfrm>
            <a:off x="658368" y="413918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18033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120895"/>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are peer-reviewing a team whose report claims containers start 300 times faster than virtual machines, from one measurement of each, taken on a shared laboratory machine during a lecture. Write the half-page review: what is sound, what is not, and the two changes that would most improve it.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665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23</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the course</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THE COURSE</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23 chapters  ·  six parts  ·  one project</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23, pages 180–187</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Peer walkthroughs of each team’s service</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report and presentation</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23  ·  The Semester Project</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E920968B-BF86-4AE2-842A-95FCBB8C0CBD}"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23: The Semester Project</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