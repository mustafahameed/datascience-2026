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0F68F8-E4ED-4D98-927E-FCCEB37A9AEA}">
          <p14:sldIdLst>
            <p14:sldId id="256"/>
            <p14:sldId id="257"/>
            <p14:sldId id="258"/>
            <p14:sldId id="259"/>
            <p14:sldId id="260"/>
          </p14:sldIdLst>
        </p14:section>
        <p14:section name="3.1 What a Monitor Must Guarantee" id="{0DEECE4D-5FEB-4D2F-BD20-4591406EBF36}">
          <p14:sldIdLst>
            <p14:sldId id="261"/>
            <p14:sldId id="262"/>
            <p14:sldId id="263"/>
          </p14:sldIdLst>
        </p14:section>
        <p14:section name="3.2 Privileged, Sensitive, and the Difference" id="{BC29B439-453E-4FEF-8D4C-82C6F30302D2}">
          <p14:sldIdLst>
            <p14:sldId id="264"/>
            <p14:sldId id="265"/>
            <p14:sldId id="266"/>
            <p14:sldId id="267"/>
            <p14:sldId id="268"/>
          </p14:sldIdLst>
        </p14:section>
        <p14:section name="3.3 Why x86 Failed" id="{B3D402F7-2ACD-4B9D-BEE0-01A6A0793BC6}">
          <p14:sldIdLst>
            <p14:sldId id="269"/>
            <p14:sldId id="270"/>
            <p14:sldId id="271"/>
            <p14:sldId id="272"/>
            <p14:sldId id="273"/>
          </p14:sldIdLst>
        </p14:section>
        <p14:section name="3.4 Two Ways Round" id="{2E450432-20D5-43FB-8CBB-F1D0CEE14518}">
          <p14:sldIdLst>
            <p14:sldId id="274"/>
            <p14:sldId id="275"/>
            <p14:sldId id="276"/>
            <p14:sldId id="277"/>
            <p14:sldId id="278"/>
          </p14:sldIdLst>
        </p14:section>
        <p14:section name="Pitfalls" id="{88780737-8FA8-4A54-BF73-5741A3758BA3}">
          <p14:sldIdLst>
            <p14:sldId id="279"/>
          </p14:sldIdLst>
        </p14:section>
        <p14:section name="Lab" id="{B16513EE-8D80-4567-BFC5-DB505BCAB6C0}">
          <p14:sldIdLst>
            <p14:sldId id="280"/>
            <p14:sldId id="281"/>
            <p14:sldId id="282"/>
            <p14:sldId id="283"/>
            <p14:sldId id="284"/>
          </p14:sldIdLst>
        </p14:section>
        <p14:section name="Checkpoint" id="{5BF7BABE-BDE2-429D-96D7-40BEC7640DEE}">
          <p14:sldIdLst>
            <p14:sldId id="285"/>
            <p14:sldId id="286"/>
            <p14:sldId id="287"/>
            <p14:sldId id="288"/>
            <p14:sldId id="289"/>
            <p14:sldId id="290"/>
          </p14:sldIdLst>
        </p14:section>
        <p14:section name="Wrap-up" id="{3344F85A-4D1D-4D93-A1FD-EB95F1433811}">
          <p14:sldIdLst>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The Virtual Machine Monitor. Part 1 — Foundations of Virtualization. Week 2: The virtual machine monitor. Handout pages 20–29.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(the layer and what it promises) and Chapter 2 (the three techniques, named but not yet justified). You also need, from Operating Systems, what a privilege level is and what happens on a trap. If that is shaky, read the first page of Section 3.1 slowly; everything after it depends on the idea that the processor behaves differently according to who is asking.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virtual machine monitor; equivalence; resource control; efficiency; privileged instruction; sensitive instruction; control-sensitive; behaviour-sensitive; trap; trap-and-emulate; Popek–Goldberg theorem; silent failure; ring deprivileging; ring aliasing; binary translation; translation cache; hybrid virtualization.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1974 Gerald Popek and Robert Goldberg asked a question that had not been asked precisely before: what has to be true of a processor for it to be possible to write a correct virtual machine monitor for it? Their answer is the only theorem in this book, and it explains the twenty-five-year gap in Figure 1.3. They begin by saying what a monitor is for. Three properties, all three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classical way to build a monitor is trap-and-emulate: run the guest at a reduced privilege level, let the hardware trap anything it may not do, and have the monitor emulate the trapped instruction in a way consistent with the guest’s virtual machine.</a:t>
            </a:r>
          </a:p>
          <a:p/>
          <a:p>
            <a:r>
              <a:t>Figure 3.1 (handout p. 21): Trap-and-emulate. The design is sound and was old by 1974; the whole question is whether the processor traps everything the monitor needs it to trap.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to work, the processor must trap every instruction whose behaviour the monitor needs to control. Popek and Goldberg made that precise with two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3.2 (handout p. 22): The condition, and the architecture that failed it. The seventeen instructions on the right are not exotic: several are ordinary, unprivileged instructions a compiler emits without comment.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2000 John Robin and Cynthia Irvine went through the Pentium instruction set against Popek and Goldberg’s condition and found seventeen instructions that are sensitive but not privileged. The IBM System/370 had satisfied the condition; x86, designed for a single operating system on a desktop, had never needed to. The clearest of the seventeen is POPF.</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VMware’s answer, and the one that founded the industry. The monitor never lets the guest kernel’s instructions reach the processor unexamined. Instead it reads the kernel’s code a basic block at a time, translates it — copying ordinary instructions unchanged and replacing each of the seventeen with a call into the monitor — and executes the translated block. Translations are cached, so a hot loop is translated once and then runs many times. Guest user code is not translated at all. It runs directly, at full speed, because an application executing POPF and losing the write to IF is exactly what would happen on real hardware: equivalence is preserved for free.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Xen’s answer. x86 provides four privilege levels — rings 0 to 3 — of which operating systems historically used only two. Xen put the hypervisor in ring 0, moved the guest kernel to ring 1, and left applications in ring 3.</a:t>
            </a:r>
          </a:p>
          <a:p/>
          <a:p>
            <a:r>
              <a:t>Figure 3.3 (handout p. 24): Ring deprivileging. Moving the guest kernel down one ring makes the hardware trap most of what the monitor needs; the instructions that still slip through are removed from the guest’s source instead.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Deprivileging alone does not solve the problem — POPF still fails silently in ring 1 — so Xen took the second step: it modified the guest kernel. Where Linux would have executed one of the seventeen, the Xen port issues a hypercall instead. That is paravirtualization, and the price is exactly the one named in Chapter 2: you need the guest’s source. Xen ran Linux and NetBSD from the first release and could not run Windows at all.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hypervisor needed: this runs on the host and shows the hardware behaviour the whole chapter rests on. Needs gcc. Expect 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RDCFG is behaviour-sensitive: its result depends on the privilege configuration, which the monitor must control. It is not privileged: it does not fault in user mode. So there is a sensitive instruction outside the privileged set, the condition sensitive ⊆ privileged fails, and the architecture is not virtualizable by trap-and-emulate alone. A guest would read the deprivileged level and could detect, or misbehave in, virtualization.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crash is a signal. The monitor author would learn immediately, at the offending instruction, with a stack trace. What x86 does instead is accept the instruction, update the arithmetic flags and silently discard the write to IF: the guest believes it disabled interrupts and did not. The resulting corruption is intermittent, unreproducible and traceable to nothing. Silent incorrect behaviour is far harder to engineer around than a loud failure.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When you control the guest and want the lowest overhead — for example a cloud provider shipping its own Linux images, or an appliance vendor building both halves. A hypercall costs tens of cycles where a trap costs hundreds, the monitor is far simpler, and the guest’s source is available by construction. The requirement that makes paravirtualization unusable in general is precisely the one that does not bind here.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4 — Hardware Support for Virtualization. READ: Handout Chapter 3, pages 20–29. THIS WEEK'S LAB: Catch a sensitive instruction failing silently.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4.xml"/><Relationship Id="rId8"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3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Virtual Machine Monitor</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3  ·  WEEK 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     </a:t>
            </a:r>
            <a:fld id="{46AB874D-AFB5-495B-930F-F7B9FFFC4438}" type="slidenum">
              <a:rPr lang="en-GB" sz="1000">
                <a:solidFill>
                  <a:srgbClr val="8795A1"/>
                </a:solidFill>
                <a:latin typeface="Segoe UI"/>
              </a:rPr>
              <a:t>2</a:t>
            </a:fld>
          </a:p>
        </p:txBody>
      </p:sp>
      <p:sp>
        <p:nvSpPr>
          <p:cNvPr id="7" name="!!rp1"/>
          <p:cNvSpPr txBox="1"/>
          <p:nvPr/>
        </p:nvSpPr>
        <p:spPr>
          <a:xfrm>
            <a:off x="777240" y="1755648"/>
            <a:ext cx="127574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275747"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3761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3761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01094"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60109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25" name="!!dot4">
            <a:extLst>
              <a:ext uri="{C183D7F6-B498-43B3-948B-1728B52AA6E4}">
                <adec:decorative xmlns:adec="http://schemas.microsoft.com/office/drawing/2017/decorative" val="1"/>
              </a:ext>
            </a:extLst>
          </p:cNvPr>
          <p:cNvSpPr/>
          <p:nvPr/>
        </p:nvSpPr>
        <p:spPr>
          <a:xfrm>
            <a:off x="2568887"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4774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Virtual Machine Monitor</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Virtualization Is</a:t>
            </a:r>
          </a:p>
        </p:txBody>
      </p:sp>
      <p:sp>
        <p:nvSpPr>
          <p:cNvPr id="70" name="!!chipBU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Virtualization Architectures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7" name="!!chipUS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80" name="!!chipUS19">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9">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9"/>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3" name="!!chipUS21">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1">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1"/>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Confidential Computing and Emerging Hardware</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     </a:t>
            </a:r>
            <a:fld id="{C608F460-F7BE-4B63-B6D8-37DFB1090450}"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State</a:t>
            </a:r>
            <a:r>
              <a:rPr sz="2100" b="0" i="0">
                <a:solidFill>
                  <a:srgbClr val="1C252B"/>
                </a:solidFill>
                <a:latin typeface="Segoe UI"/>
              </a:rPr>
              <a:t> the three properties Popek and Goldberg require of a virtual machine monitor, and </a:t>
            </a:r>
            <a:r>
              <a:rPr sz="2100" b="1" i="0">
                <a:solidFill>
                  <a:srgbClr val="1C252B"/>
                </a:solidFill>
                <a:latin typeface="Segoe UI"/>
              </a:rPr>
              <a:t>explain</a:t>
            </a:r>
            <a:r>
              <a:rPr sz="2100" b="0" i="0">
                <a:solidFill>
                  <a:srgbClr val="1C252B"/>
                </a:solidFill>
                <a:latin typeface="Segoe UI"/>
              </a:rPr>
              <a:t> what each one rules out.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privileged from sensitive instructions, and </a:t>
            </a:r>
            <a:r>
              <a:rPr sz="2100" b="1" i="0">
                <a:solidFill>
                  <a:srgbClr val="1C252B"/>
                </a:solidFill>
                <a:latin typeface="Segoe UI"/>
              </a:rPr>
              <a:t>state</a:t>
            </a:r>
            <a:r>
              <a:rPr sz="2100" b="0" i="0">
                <a:solidFill>
                  <a:srgbClr val="1C252B"/>
                </a:solidFill>
                <a:latin typeface="Segoe UI"/>
              </a:rPr>
              <a:t> the theorem that connects them to virtualizability.</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x86 failed the theorem’s condition, using </a:t>
            </a:r>
            <a:r>
              <a:rPr sz="1950" b="0" i="0">
                <a:solidFill>
                  <a:srgbClr val="1F4E79"/>
                </a:solidFill>
                <a:latin typeface="Consolas"/>
              </a:rPr>
              <a:t>POPF</a:t>
            </a:r>
            <a:r>
              <a:rPr sz="2100" b="0" i="0">
                <a:solidFill>
                  <a:srgbClr val="1C252B"/>
                </a:solidFill>
                <a:latin typeface="Segoe UI"/>
              </a:rPr>
              <a:t> as the worked case, and </a:t>
            </a:r>
            <a:r>
              <a:rPr sz="2100" b="1" i="0">
                <a:solidFill>
                  <a:srgbClr val="1C252B"/>
                </a:solidFill>
                <a:latin typeface="Segoe UI"/>
              </a:rPr>
              <a:t>say</a:t>
            </a:r>
            <a:r>
              <a:rPr sz="2100" b="0" i="0">
                <a:solidFill>
                  <a:srgbClr val="1C252B"/>
                </a:solidFill>
                <a:latin typeface="Segoe UI"/>
              </a:rPr>
              <a:t> precisely what goes wrong — which is not a crash.</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binary translation and ring deprivileging as the two software answers, and </a:t>
            </a:r>
            <a:r>
              <a:rPr sz="2100" b="1" i="0">
                <a:solidFill>
                  <a:srgbClr val="1C252B"/>
                </a:solidFill>
                <a:latin typeface="Segoe UI"/>
              </a:rPr>
              <a:t>compare</a:t>
            </a:r>
            <a:r>
              <a:rPr sz="2100" b="0" i="0">
                <a:solidFill>
                  <a:srgbClr val="1C252B"/>
                </a:solidFill>
                <a:latin typeface="Segoe UI"/>
              </a:rPr>
              <a:t> what each costs.</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Apply</a:t>
            </a:r>
            <a:r>
              <a:rPr sz="2100" b="0" i="0">
                <a:solidFill>
                  <a:srgbClr val="1C252B"/>
                </a:solidFill>
                <a:latin typeface="Segoe UI"/>
              </a:rPr>
              <a:t> the theorem to an architecture you are given a specification for, and decide whether trap-and-emulate alone would suffice.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     </a:t>
            </a:r>
            <a:fld id="{071ED737-A1F0-455C-94B0-B4ED51892281}" type="slidenum">
              <a:rPr lang="en-GB" sz="1000">
                <a:solidFill>
                  <a:srgbClr val="8795A1"/>
                </a:solidFill>
                <a:latin typeface="Segoe UI"/>
              </a:rPr>
              <a:t>4</a:t>
            </a:fld>
          </a:p>
        </p:txBody>
      </p:sp>
      <p:sp>
        <p:nvSpPr>
          <p:cNvPr id="7" name="!!term-virtual machin">
            <a:extLst>
              <a:ext uri="{C183D7F6-B498-43B3-948B-1728B52AA6E4}">
                <adec:decorative xmlns:adec="http://schemas.microsoft.com/office/drawing/2017/decorative" val="1"/>
              </a:ext>
            </a:extLst>
          </p:cNvPr>
          <p:cNvSpPr/>
          <p:nvPr/>
        </p:nvSpPr>
        <p:spPr>
          <a:xfrm>
            <a:off x="658368" y="1847088"/>
            <a:ext cx="24850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irtual machi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irtual machin"/>
          <p:cNvSpPr txBox="1"/>
          <p:nvPr/>
        </p:nvSpPr>
        <p:spPr>
          <a:xfrm>
            <a:off x="950976" y="1970532"/>
            <a:ext cx="23021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machine monitor</a:t>
            </a:r>
          </a:p>
        </p:txBody>
      </p:sp>
      <p:sp>
        <p:nvSpPr>
          <p:cNvPr id="10" name="!!term-equivalence">
            <a:extLst>
              <a:ext uri="{C183D7F6-B498-43B3-948B-1728B52AA6E4}">
                <adec:decorative xmlns:adec="http://schemas.microsoft.com/office/drawing/2017/decorative" val="1"/>
              </a:ext>
            </a:extLst>
          </p:cNvPr>
          <p:cNvSpPr/>
          <p:nvPr/>
        </p:nvSpPr>
        <p:spPr>
          <a:xfrm>
            <a:off x="3289732" y="1847088"/>
            <a:ext cx="14539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equivalence">
            <a:extLst>
              <a:ext uri="{C183D7F6-B498-43B3-948B-1728B52AA6E4}">
                <adec:decorative xmlns:adec="http://schemas.microsoft.com/office/drawing/2017/decorative" val="1"/>
              </a:ext>
            </a:extLst>
          </p:cNvPr>
          <p:cNvSpPr/>
          <p:nvPr/>
        </p:nvSpPr>
        <p:spPr>
          <a:xfrm>
            <a:off x="34177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equivalence"/>
          <p:cNvSpPr txBox="1"/>
          <p:nvPr/>
        </p:nvSpPr>
        <p:spPr>
          <a:xfrm>
            <a:off x="3582340" y="1970532"/>
            <a:ext cx="12710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equivalence</a:t>
            </a:r>
          </a:p>
        </p:txBody>
      </p:sp>
      <p:sp>
        <p:nvSpPr>
          <p:cNvPr id="13" name="!!term-resource contr">
            <a:extLst>
              <a:ext uri="{C183D7F6-B498-43B3-948B-1728B52AA6E4}">
                <adec:decorative xmlns:adec="http://schemas.microsoft.com/office/drawing/2017/decorative" val="1"/>
              </a:ext>
            </a:extLst>
          </p:cNvPr>
          <p:cNvSpPr/>
          <p:nvPr/>
        </p:nvSpPr>
        <p:spPr>
          <a:xfrm>
            <a:off x="4889968" y="1847088"/>
            <a:ext cx="18345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resource contr">
            <a:extLst>
              <a:ext uri="{C183D7F6-B498-43B3-948B-1728B52AA6E4}">
                <adec:decorative xmlns:adec="http://schemas.microsoft.com/office/drawing/2017/decorative" val="1"/>
              </a:ext>
            </a:extLst>
          </p:cNvPr>
          <p:cNvSpPr/>
          <p:nvPr/>
        </p:nvSpPr>
        <p:spPr>
          <a:xfrm>
            <a:off x="50179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resource contr"/>
          <p:cNvSpPr txBox="1"/>
          <p:nvPr/>
        </p:nvSpPr>
        <p:spPr>
          <a:xfrm>
            <a:off x="5182576" y="1970532"/>
            <a:ext cx="16516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resource control</a:t>
            </a:r>
          </a:p>
        </p:txBody>
      </p:sp>
      <p:sp>
        <p:nvSpPr>
          <p:cNvPr id="16" name="!!term-efficiency">
            <a:extLst>
              <a:ext uri="{C183D7F6-B498-43B3-948B-1728B52AA6E4}">
                <adec:decorative xmlns:adec="http://schemas.microsoft.com/office/drawing/2017/decorative" val="1"/>
              </a:ext>
            </a:extLst>
          </p:cNvPr>
          <p:cNvSpPr/>
          <p:nvPr/>
        </p:nvSpPr>
        <p:spPr>
          <a:xfrm>
            <a:off x="6870795" y="1847088"/>
            <a:ext cx="12414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fficiency">
            <a:extLst>
              <a:ext uri="{C183D7F6-B498-43B3-948B-1728B52AA6E4}">
                <adec:decorative xmlns:adec="http://schemas.microsoft.com/office/drawing/2017/decorative" val="1"/>
              </a:ext>
            </a:extLst>
          </p:cNvPr>
          <p:cNvSpPr/>
          <p:nvPr/>
        </p:nvSpPr>
        <p:spPr>
          <a:xfrm>
            <a:off x="699881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fficiency"/>
          <p:cNvSpPr txBox="1"/>
          <p:nvPr/>
        </p:nvSpPr>
        <p:spPr>
          <a:xfrm>
            <a:off x="7163403" y="1970532"/>
            <a:ext cx="10585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efficiency</a:t>
            </a:r>
          </a:p>
        </p:txBody>
      </p:sp>
      <p:sp>
        <p:nvSpPr>
          <p:cNvPr id="19" name="!!term-privileged ins">
            <a:extLst>
              <a:ext uri="{C183D7F6-B498-43B3-948B-1728B52AA6E4}">
                <adec:decorative xmlns:adec="http://schemas.microsoft.com/office/drawing/2017/decorative" val="1"/>
              </a:ext>
            </a:extLst>
          </p:cNvPr>
          <p:cNvSpPr/>
          <p:nvPr/>
        </p:nvSpPr>
        <p:spPr>
          <a:xfrm>
            <a:off x="8258511" y="1847088"/>
            <a:ext cx="22496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rivileged ins">
            <a:extLst>
              <a:ext uri="{C183D7F6-B498-43B3-948B-1728B52AA6E4}">
                <adec:decorative xmlns:adec="http://schemas.microsoft.com/office/drawing/2017/decorative" val="1"/>
              </a:ext>
            </a:extLst>
          </p:cNvPr>
          <p:cNvSpPr/>
          <p:nvPr/>
        </p:nvSpPr>
        <p:spPr>
          <a:xfrm>
            <a:off x="83865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rivileged ins"/>
          <p:cNvSpPr txBox="1"/>
          <p:nvPr/>
        </p:nvSpPr>
        <p:spPr>
          <a:xfrm>
            <a:off x="8551119" y="1970532"/>
            <a:ext cx="20668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privileged instruction</a:t>
            </a:r>
          </a:p>
        </p:txBody>
      </p:sp>
      <p:sp>
        <p:nvSpPr>
          <p:cNvPr id="22" name="!!term-sensitive inst">
            <a:extLst>
              <a:ext uri="{C183D7F6-B498-43B3-948B-1728B52AA6E4}">
                <adec:decorative xmlns:adec="http://schemas.microsoft.com/office/drawing/2017/decorative" val="1"/>
              </a:ext>
            </a:extLst>
          </p:cNvPr>
          <p:cNvSpPr/>
          <p:nvPr/>
        </p:nvSpPr>
        <p:spPr>
          <a:xfrm>
            <a:off x="658368" y="2468880"/>
            <a:ext cx="2132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ensitive ins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ensitive inst"/>
          <p:cNvSpPr txBox="1"/>
          <p:nvPr/>
        </p:nvSpPr>
        <p:spPr>
          <a:xfrm>
            <a:off x="950976" y="2592324"/>
            <a:ext cx="19496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sensitive instruction</a:t>
            </a:r>
          </a:p>
        </p:txBody>
      </p:sp>
      <p:sp>
        <p:nvSpPr>
          <p:cNvPr id="25" name="!!term-control-sensit">
            <a:extLst>
              <a:ext uri="{C183D7F6-B498-43B3-948B-1728B52AA6E4}">
                <adec:decorative xmlns:adec="http://schemas.microsoft.com/office/drawing/2017/decorative" val="1"/>
              </a:ext>
            </a:extLst>
          </p:cNvPr>
          <p:cNvSpPr/>
          <p:nvPr/>
        </p:nvSpPr>
        <p:spPr>
          <a:xfrm>
            <a:off x="2937171" y="2468880"/>
            <a:ext cx="18555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ntrol-sensit">
            <a:extLst>
              <a:ext uri="{C183D7F6-B498-43B3-948B-1728B52AA6E4}">
                <adec:decorative xmlns:adec="http://schemas.microsoft.com/office/drawing/2017/decorative" val="1"/>
              </a:ext>
            </a:extLst>
          </p:cNvPr>
          <p:cNvSpPr/>
          <p:nvPr/>
        </p:nvSpPr>
        <p:spPr>
          <a:xfrm>
            <a:off x="306518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ntrol-sensit"/>
          <p:cNvSpPr txBox="1"/>
          <p:nvPr/>
        </p:nvSpPr>
        <p:spPr>
          <a:xfrm>
            <a:off x="3229779" y="2592324"/>
            <a:ext cx="16726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control-sensitive</a:t>
            </a:r>
          </a:p>
        </p:txBody>
      </p:sp>
      <p:sp>
        <p:nvSpPr>
          <p:cNvPr id="28" name="!!term-behaviour-sens">
            <a:extLst>
              <a:ext uri="{C183D7F6-B498-43B3-948B-1728B52AA6E4}">
                <adec:decorative xmlns:adec="http://schemas.microsoft.com/office/drawing/2017/decorative" val="1"/>
              </a:ext>
            </a:extLst>
          </p:cNvPr>
          <p:cNvSpPr/>
          <p:nvPr/>
        </p:nvSpPr>
        <p:spPr>
          <a:xfrm>
            <a:off x="4939044" y="2468880"/>
            <a:ext cx="21037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behaviour-sens">
            <a:extLst>
              <a:ext uri="{C183D7F6-B498-43B3-948B-1728B52AA6E4}">
                <adec:decorative xmlns:adec="http://schemas.microsoft.com/office/drawing/2017/decorative" val="1"/>
              </a:ext>
            </a:extLst>
          </p:cNvPr>
          <p:cNvSpPr/>
          <p:nvPr/>
        </p:nvSpPr>
        <p:spPr>
          <a:xfrm>
            <a:off x="506706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behaviour-sens"/>
          <p:cNvSpPr txBox="1"/>
          <p:nvPr/>
        </p:nvSpPr>
        <p:spPr>
          <a:xfrm>
            <a:off x="5231652" y="2592324"/>
            <a:ext cx="19208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behaviour-sensitive</a:t>
            </a:r>
          </a:p>
        </p:txBody>
      </p:sp>
      <p:sp>
        <p:nvSpPr>
          <p:cNvPr id="31" name="!!term-trap">
            <a:extLst>
              <a:ext uri="{C183D7F6-B498-43B3-948B-1728B52AA6E4}">
                <adec:decorative xmlns:adec="http://schemas.microsoft.com/office/drawing/2017/decorative" val="1"/>
              </a:ext>
            </a:extLst>
          </p:cNvPr>
          <p:cNvSpPr/>
          <p:nvPr/>
        </p:nvSpPr>
        <p:spPr>
          <a:xfrm>
            <a:off x="7189093" y="2468880"/>
            <a:ext cx="7855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rap">
            <a:extLst>
              <a:ext uri="{C183D7F6-B498-43B3-948B-1728B52AA6E4}">
                <adec:decorative xmlns:adec="http://schemas.microsoft.com/office/drawing/2017/decorative" val="1"/>
              </a:ext>
            </a:extLst>
          </p:cNvPr>
          <p:cNvSpPr/>
          <p:nvPr/>
        </p:nvSpPr>
        <p:spPr>
          <a:xfrm>
            <a:off x="73171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rap"/>
          <p:cNvSpPr txBox="1"/>
          <p:nvPr/>
        </p:nvSpPr>
        <p:spPr>
          <a:xfrm>
            <a:off x="7481701" y="2592324"/>
            <a:ext cx="6026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trap</a:t>
            </a:r>
          </a:p>
        </p:txBody>
      </p:sp>
      <p:sp>
        <p:nvSpPr>
          <p:cNvPr id="34" name="!!term-trap-and-emula">
            <a:extLst>
              <a:ext uri="{C183D7F6-B498-43B3-948B-1728B52AA6E4}">
                <adec:decorative xmlns:adec="http://schemas.microsoft.com/office/drawing/2017/decorative" val="1"/>
              </a:ext>
            </a:extLst>
          </p:cNvPr>
          <p:cNvSpPr/>
          <p:nvPr/>
        </p:nvSpPr>
        <p:spPr>
          <a:xfrm>
            <a:off x="8120958" y="2468880"/>
            <a:ext cx="19566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trap-and-emula">
            <a:extLst>
              <a:ext uri="{C183D7F6-B498-43B3-948B-1728B52AA6E4}">
                <adec:decorative xmlns:adec="http://schemas.microsoft.com/office/drawing/2017/decorative" val="1"/>
              </a:ext>
            </a:extLst>
          </p:cNvPr>
          <p:cNvSpPr/>
          <p:nvPr/>
        </p:nvSpPr>
        <p:spPr>
          <a:xfrm>
            <a:off x="824897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trap-and-emula"/>
          <p:cNvSpPr txBox="1"/>
          <p:nvPr/>
        </p:nvSpPr>
        <p:spPr>
          <a:xfrm>
            <a:off x="8413566" y="2592324"/>
            <a:ext cx="17737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trap-and-emulate</a:t>
            </a:r>
          </a:p>
        </p:txBody>
      </p:sp>
      <p:sp>
        <p:nvSpPr>
          <p:cNvPr id="37" name="!!term-Popek–Goldberg">
            <a:extLst>
              <a:ext uri="{C183D7F6-B498-43B3-948B-1728B52AA6E4}">
                <adec:decorative xmlns:adec="http://schemas.microsoft.com/office/drawing/2017/decorative" val="1"/>
              </a:ext>
            </a:extLst>
          </p:cNvPr>
          <p:cNvSpPr/>
          <p:nvPr/>
        </p:nvSpPr>
        <p:spPr>
          <a:xfrm>
            <a:off x="658368" y="3090672"/>
            <a:ext cx="26587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opek–Goldber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opek–Goldberg"/>
          <p:cNvSpPr txBox="1"/>
          <p:nvPr/>
        </p:nvSpPr>
        <p:spPr>
          <a:xfrm>
            <a:off x="950976" y="3214116"/>
            <a:ext cx="24758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Popek–Goldberg theorem</a:t>
            </a:r>
          </a:p>
        </p:txBody>
      </p:sp>
      <p:sp>
        <p:nvSpPr>
          <p:cNvPr id="40" name="!!term-silent failure">
            <a:extLst>
              <a:ext uri="{C183D7F6-B498-43B3-948B-1728B52AA6E4}">
                <adec:decorative xmlns:adec="http://schemas.microsoft.com/office/drawing/2017/decorative" val="1"/>
              </a:ext>
            </a:extLst>
          </p:cNvPr>
          <p:cNvSpPr/>
          <p:nvPr/>
        </p:nvSpPr>
        <p:spPr>
          <a:xfrm>
            <a:off x="3463384" y="3090672"/>
            <a:ext cx="14790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ilent failure">
            <a:extLst>
              <a:ext uri="{C183D7F6-B498-43B3-948B-1728B52AA6E4}">
                <adec:decorative xmlns:adec="http://schemas.microsoft.com/office/drawing/2017/decorative" val="1"/>
              </a:ext>
            </a:extLst>
          </p:cNvPr>
          <p:cNvSpPr/>
          <p:nvPr/>
        </p:nvSpPr>
        <p:spPr>
          <a:xfrm>
            <a:off x="359140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ilent failure"/>
          <p:cNvSpPr txBox="1"/>
          <p:nvPr/>
        </p:nvSpPr>
        <p:spPr>
          <a:xfrm>
            <a:off x="3755992" y="3214116"/>
            <a:ext cx="129613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silent failure</a:t>
            </a:r>
          </a:p>
        </p:txBody>
      </p:sp>
      <p:sp>
        <p:nvSpPr>
          <p:cNvPr id="43" name="!!term-ring deprivile">
            <a:extLst>
              <a:ext uri="{C183D7F6-B498-43B3-948B-1728B52AA6E4}">
                <adec:decorative xmlns:adec="http://schemas.microsoft.com/office/drawing/2017/decorative" val="1"/>
              </a:ext>
            </a:extLst>
          </p:cNvPr>
          <p:cNvSpPr/>
          <p:nvPr/>
        </p:nvSpPr>
        <p:spPr>
          <a:xfrm>
            <a:off x="5088702" y="3090672"/>
            <a:ext cx="19508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ing deprivile">
            <a:extLst>
              <a:ext uri="{C183D7F6-B498-43B3-948B-1728B52AA6E4}">
                <adec:decorative xmlns:adec="http://schemas.microsoft.com/office/drawing/2017/decorative" val="1"/>
              </a:ext>
            </a:extLst>
          </p:cNvPr>
          <p:cNvSpPr/>
          <p:nvPr/>
        </p:nvSpPr>
        <p:spPr>
          <a:xfrm>
            <a:off x="521671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ing deprivile"/>
          <p:cNvSpPr txBox="1"/>
          <p:nvPr/>
        </p:nvSpPr>
        <p:spPr>
          <a:xfrm>
            <a:off x="5381310" y="3214116"/>
            <a:ext cx="17679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ring deprivileging</a:t>
            </a:r>
          </a:p>
        </p:txBody>
      </p:sp>
      <p:sp>
        <p:nvSpPr>
          <p:cNvPr id="46" name="!!term-ring aliasing">
            <a:extLst>
              <a:ext uri="{C183D7F6-B498-43B3-948B-1728B52AA6E4}">
                <adec:decorative xmlns:adec="http://schemas.microsoft.com/office/drawing/2017/decorative" val="1"/>
              </a:ext>
            </a:extLst>
          </p:cNvPr>
          <p:cNvSpPr/>
          <p:nvPr/>
        </p:nvSpPr>
        <p:spPr>
          <a:xfrm>
            <a:off x="7185844" y="3090672"/>
            <a:ext cx="14769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ring aliasing">
            <a:extLst>
              <a:ext uri="{C183D7F6-B498-43B3-948B-1728B52AA6E4}">
                <adec:decorative xmlns:adec="http://schemas.microsoft.com/office/drawing/2017/decorative" val="1"/>
              </a:ext>
            </a:extLst>
          </p:cNvPr>
          <p:cNvSpPr/>
          <p:nvPr/>
        </p:nvSpPr>
        <p:spPr>
          <a:xfrm>
            <a:off x="731386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ring aliasing"/>
          <p:cNvSpPr txBox="1"/>
          <p:nvPr/>
        </p:nvSpPr>
        <p:spPr>
          <a:xfrm>
            <a:off x="7478452" y="3214116"/>
            <a:ext cx="12940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ring aliasing</a:t>
            </a:r>
          </a:p>
        </p:txBody>
      </p:sp>
      <p:sp>
        <p:nvSpPr>
          <p:cNvPr id="49" name="!!term-binary transla">
            <a:extLst>
              <a:ext uri="{C183D7F6-B498-43B3-948B-1728B52AA6E4}">
                <adec:decorative xmlns:adec="http://schemas.microsoft.com/office/drawing/2017/decorative" val="1"/>
              </a:ext>
            </a:extLst>
          </p:cNvPr>
          <p:cNvSpPr/>
          <p:nvPr/>
        </p:nvSpPr>
        <p:spPr>
          <a:xfrm>
            <a:off x="8809064" y="3090672"/>
            <a:ext cx="19315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binary transla">
            <a:extLst>
              <a:ext uri="{C183D7F6-B498-43B3-948B-1728B52AA6E4}">
                <adec:decorative xmlns:adec="http://schemas.microsoft.com/office/drawing/2017/decorative" val="1"/>
              </a:ext>
            </a:extLst>
          </p:cNvPr>
          <p:cNvSpPr/>
          <p:nvPr/>
        </p:nvSpPr>
        <p:spPr>
          <a:xfrm>
            <a:off x="893708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binary transla"/>
          <p:cNvSpPr txBox="1"/>
          <p:nvPr/>
        </p:nvSpPr>
        <p:spPr>
          <a:xfrm>
            <a:off x="9101672" y="3214116"/>
            <a:ext cx="17486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binary translation</a:t>
            </a:r>
          </a:p>
        </p:txBody>
      </p:sp>
      <p:sp>
        <p:nvSpPr>
          <p:cNvPr id="52" name="!!term-translation ca">
            <a:extLst>
              <a:ext uri="{C183D7F6-B498-43B3-948B-1728B52AA6E4}">
                <adec:decorative xmlns:adec="http://schemas.microsoft.com/office/drawing/2017/decorative" val="1"/>
              </a:ext>
            </a:extLst>
          </p:cNvPr>
          <p:cNvSpPr/>
          <p:nvPr/>
        </p:nvSpPr>
        <p:spPr>
          <a:xfrm>
            <a:off x="658368" y="3712464"/>
            <a:ext cx="18896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translation c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translation ca"/>
          <p:cNvSpPr txBox="1"/>
          <p:nvPr/>
        </p:nvSpPr>
        <p:spPr>
          <a:xfrm>
            <a:off x="950976" y="3835908"/>
            <a:ext cx="17067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translation cache</a:t>
            </a:r>
          </a:p>
        </p:txBody>
      </p:sp>
      <p:sp>
        <p:nvSpPr>
          <p:cNvPr id="55" name="!!term-hybrid virtual">
            <a:extLst>
              <a:ext uri="{C183D7F6-B498-43B3-948B-1728B52AA6E4}">
                <adec:decorative xmlns:adec="http://schemas.microsoft.com/office/drawing/2017/decorative" val="1"/>
              </a:ext>
            </a:extLst>
          </p:cNvPr>
          <p:cNvSpPr/>
          <p:nvPr/>
        </p:nvSpPr>
        <p:spPr>
          <a:xfrm>
            <a:off x="2694302" y="3712464"/>
            <a:ext cx="21396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hybrid virtual">
            <a:extLst>
              <a:ext uri="{C183D7F6-B498-43B3-948B-1728B52AA6E4}">
                <adec:decorative xmlns:adec="http://schemas.microsoft.com/office/drawing/2017/decorative" val="1"/>
              </a:ext>
            </a:extLst>
          </p:cNvPr>
          <p:cNvSpPr/>
          <p:nvPr/>
        </p:nvSpPr>
        <p:spPr>
          <a:xfrm>
            <a:off x="28223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hybrid virtual"/>
          <p:cNvSpPr txBox="1"/>
          <p:nvPr/>
        </p:nvSpPr>
        <p:spPr>
          <a:xfrm>
            <a:off x="2986910" y="3835908"/>
            <a:ext cx="195672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hybrid virtualization</a:t>
            </a:r>
          </a:p>
        </p:txBody>
      </p:sp>
      <p:sp>
        <p:nvSpPr>
          <p:cNvPr id="58"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20–29     </a:t>
            </a:r>
            <a:fld id="{414C45E5-6AE0-493F-97DE-8384A7EAF828}" type="slidenum">
              <a:rPr lang="en-GB" sz="1000">
                <a:solidFill>
                  <a:srgbClr val="8795A1"/>
                </a:solidFill>
                <a:latin typeface="Segoe UI"/>
              </a:rPr>
              <a:t>5</a:t>
            </a:fld>
          </a:p>
        </p:txBody>
      </p:sp>
      <p:sp>
        <p:nvSpPr>
          <p:cNvPr id="7" name="!!ag0" descr="Go to section 3.1 What a Monitor Must Guarante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a Monitor Must Guarantee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  ›</a:t>
            </a:r>
          </a:p>
        </p:txBody>
      </p:sp>
      <p:sp>
        <p:nvSpPr>
          <p:cNvPr id="12" name="!!ag1" descr="Go to section 3.2 Privileged, Sensitive, and the Differenc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Privileged, Sensitive, and the Difference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21  ›</a:t>
            </a:r>
          </a:p>
        </p:txBody>
      </p:sp>
      <p:sp>
        <p:nvSpPr>
          <p:cNvPr id="17" name="!!ag2" descr="Go to section 3.3 Why x86 Faile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x86 Failed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  ›</a:t>
            </a:r>
          </a:p>
        </p:txBody>
      </p:sp>
      <p:sp>
        <p:nvSpPr>
          <p:cNvPr id="22" name="!!ag3" descr="Go to section 3.4 Two Ways Roun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Ways Round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a Monitor Must Guarantee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3.1   What a Monitor Must Guarantee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Privileged, Sensitive, and the Difference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Why x86 Failed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Two Ways Round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§3.1     </a:t>
            </a:r>
            <a:fld id="{B3AF2675-29FE-4B24-BBBE-54AD0785A81E}"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Properties of a Virtual Machine Monitor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  ·  Handout p. 20     </a:t>
            </a:r>
            <a:fld id="{0FD29BBE-108D-4D4F-ABA2-A90341F76B48}"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7129"/>
          </a:xfrm>
          <a:prstGeom prst="roundRect">
            <a:avLst>
              <a:gd name="adj" fmla="val 222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712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53105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Equivalence</a:t>
            </a:r>
            <a:r>
              <a:rPr sz="2300" b="0" i="0">
                <a:solidFill>
                  <a:srgbClr val="1C252B"/>
                </a:solidFill>
                <a:latin typeface="Segoe UI"/>
              </a:rPr>
              <a:t>. A program running under the monitor behaves identically to the same program running directly on the hardware, except for timing and for resources that are genuinely absent. This is the “preserved interface” of Chapter 1, stated formally.</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Resource control</a:t>
            </a:r>
            <a:r>
              <a:rPr sz="2300" b="0" i="0">
                <a:solidFill>
                  <a:srgbClr val="1C252B"/>
                </a:solidFill>
                <a:latin typeface="Segoe UI"/>
              </a:rPr>
              <a:t>. The monitor is in complete control of the resources it virtualizes. A guest cannot reach memory it was not given, cannot affect another guest, and cannot take control away from the monitor.</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1A5276"/>
                </a:solidFill>
                <a:latin typeface="Segoe UI"/>
              </a:rPr>
              <a:t>Efficiency</a:t>
            </a:r>
            <a:r>
              <a:rPr sz="2300" b="0" i="0">
                <a:solidFill>
                  <a:srgbClr val="1C252B"/>
                </a:solidFill>
                <a:latin typeface="Segoe UI"/>
              </a:rPr>
              <a:t>. A </a:t>
            </a:r>
            <a:r>
              <a:rPr sz="2300" b="0" i="1">
                <a:solidFill>
                  <a:srgbClr val="1C252B"/>
                </a:solidFill>
                <a:latin typeface="Segoe UI"/>
              </a:rPr>
              <a:t>statistically dominant</a:t>
            </a:r>
            <a:r>
              <a:rPr sz="2300" b="0" i="0">
                <a:solidFill>
                  <a:srgbClr val="1C252B"/>
                </a:solidFill>
                <a:latin typeface="Segoe UI"/>
              </a:rPr>
              <a:t> subset of the guest’s instructions executes directly on the real processor, with no intervention.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Efficiency Is the Clause That Does the Work</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  ·  Handout p. 20     </a:t>
            </a:r>
            <a:fld id="{8DE1FE13-C9A3-4E56-95D9-F3DD5B446F85}"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26180"/>
          </a:xfrm>
          <a:prstGeom prst="roundRect">
            <a:avLst>
              <a:gd name="adj" fmla="val 245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2618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Drop the third property and the problem becomes trivial: write an interpreter. An emulator satisfies equivalence and resource control perfectly, because it never lets the guest touch the processor at all. It is also fifty times slower, which is why nobody consolidates a data centre with one.</a:t>
            </a:r>
          </a:p>
        </p:txBody>
      </p:sp>
      <p:sp>
        <p:nvSpPr>
          <p:cNvPr id="10" name="body-1"/>
          <p:cNvSpPr txBox="1"/>
          <p:nvPr/>
        </p:nvSpPr>
        <p:spPr>
          <a:xfrm>
            <a:off x="1060704" y="3029864"/>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So the entire difficulty of this chapter lives in the word </a:t>
            </a:r>
            <a:r>
              <a:rPr sz="1800" b="0" i="1">
                <a:solidFill>
                  <a:srgbClr val="1C252B"/>
                </a:solidFill>
                <a:latin typeface="Segoe UI"/>
              </a:rPr>
              <a:t>dominant</a:t>
            </a:r>
            <a:r>
              <a:rPr sz="1800" b="0" i="0">
                <a:solidFill>
                  <a:srgbClr val="1C252B"/>
                </a:solidFill>
                <a:latin typeface="Segoe UI"/>
              </a:rPr>
              <a:t>. The monitor must let the guest run on the real silicon almost all of the time, and must nevertheless remain in control — and those two demands pull in opposite directions. The rest of the chapter is about where exactly they tear.</a:t>
            </a:r>
          </a:p>
        </p:txBody>
      </p:sp>
      <p:sp>
        <p:nvSpPr>
          <p:cNvPr id="11" name="body-2"/>
          <p:cNvSpPr txBox="1"/>
          <p:nvPr/>
        </p:nvSpPr>
        <p:spPr>
          <a:xfrm>
            <a:off x="1060704" y="4011472"/>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Notice also what equivalence </a:t>
            </a:r>
            <a:r>
              <a:rPr sz="1800" b="0" i="1">
                <a:solidFill>
                  <a:srgbClr val="1C252B"/>
                </a:solidFill>
                <a:latin typeface="Segoe UI"/>
              </a:rPr>
              <a:t>excludes</a:t>
            </a:r>
            <a:r>
              <a:rPr sz="1800" b="0" i="0">
                <a:solidFill>
                  <a:srgbClr val="1C252B"/>
                </a:solidFill>
                <a:latin typeface="Segoe UI"/>
              </a:rPr>
              <a:t>: timing. A guest may legitimately observe that it is running slower, and a guest that reads the cycle counter can often tell it is virtualized. Popek and Goldberg were explicit that this is allowed. Software that uses timing to </a:t>
            </a:r>
            <a:r>
              <a:rPr sz="1800" b="0" i="1">
                <a:solidFill>
                  <a:srgbClr val="1C252B"/>
                </a:solidFill>
                <a:latin typeface="Segoe UI"/>
              </a:rPr>
              <a:t>detect</a:t>
            </a:r>
            <a:r>
              <a:rPr sz="1800" b="0" i="0">
                <a:solidFill>
                  <a:srgbClr val="1C252B"/>
                </a:solidFill>
                <a:latin typeface="Segoe UI"/>
              </a:rPr>
              <a:t> a hypervisor — malware avoiding analysis, licence enforcement — is exploiting a gap the theorem deliberately left open.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Privileged, Sensitive, and the Difference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What a Monitor Must Guarantee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3.2   Privileged, Sensitive, and the Difference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Why x86 Failed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Two Ways Round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§3.2     </a:t>
            </a:r>
            <a:fld id="{D611157B-31CF-45C2-9431-45816C262EAB}"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Trap-and-emulate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21     </a:t>
            </a:r>
            <a:fld id="{F423250B-5F84-4B4F-BC9D-EF712484D01A}" type="slidenum">
              <a:rPr lang="en-GB" sz="1000">
                <a:solidFill>
                  <a:srgbClr val="8795A1"/>
                </a:solidFill>
                <a:latin typeface="Segoe UI"/>
              </a:rPr>
              <a:t>10</a:t>
            </a:fld>
          </a:p>
        </p:txBody>
      </p:sp>
      <p:pic>
        <p:nvPicPr>
          <p:cNvPr id="6" name="!!figure" descr="Figure 3.1. Trap-and-emulate. The design is sound and was old by 1974; the whole question is whether the processor traps everything the monitor needs it to tra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01211" y="1737360"/>
            <a:ext cx="818927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design is sound and was old by 1974; the whole question is whether the processor traps everything the monitor needs it to trap.</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Privileged and Sensitive Instructions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21     </a:t>
            </a:r>
            <a:fld id="{830AA2D1-9FC3-461A-9C21-A22A3ECA2056}"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99712"/>
          </a:xfrm>
          <a:prstGeom prst="roundRect">
            <a:avLst>
              <a:gd name="adj" fmla="val 212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9971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instruction is </a:t>
            </a:r>
            <a:r>
              <a:rPr sz="2000" b="1" i="0">
                <a:solidFill>
                  <a:srgbClr val="1A5276"/>
                </a:solidFill>
                <a:latin typeface="Segoe UI"/>
              </a:rPr>
              <a:t>privileged</a:t>
            </a:r>
            <a:r>
              <a:rPr sz="2000" b="0" i="0">
                <a:solidFill>
                  <a:srgbClr val="1C252B"/>
                </a:solidFill>
                <a:latin typeface="Segoe UI"/>
              </a:rPr>
              <a:t> if it traps when executed in user mode and does not trap in supervisor mode. This is a property of the </a:t>
            </a:r>
            <a:r>
              <a:rPr sz="2000" b="0" i="1">
                <a:solidFill>
                  <a:srgbClr val="1C252B"/>
                </a:solidFill>
                <a:latin typeface="Segoe UI"/>
              </a:rPr>
              <a:t>hardware</a:t>
            </a:r>
            <a:r>
              <a:rPr sz="2000" b="0" i="0">
                <a:solidFill>
                  <a:srgbClr val="1C252B"/>
                </a:solidFill>
                <a:latin typeface="Segoe UI"/>
              </a:rPr>
              <a:t>: the processor is built to refuse it.</a:t>
            </a:r>
          </a:p>
        </p:txBody>
      </p:sp>
      <p:sp>
        <p:nvSpPr>
          <p:cNvPr id="10" name="body-1"/>
          <p:cNvSpPr txBox="1"/>
          <p:nvPr/>
        </p:nvSpPr>
        <p:spPr>
          <a:xfrm>
            <a:off x="1060704" y="2821939"/>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instruction is </a:t>
            </a:r>
            <a:r>
              <a:rPr sz="2000" b="1" i="0">
                <a:solidFill>
                  <a:srgbClr val="1A5276"/>
                </a:solidFill>
                <a:latin typeface="Segoe UI"/>
              </a:rPr>
              <a:t>sensitive</a:t>
            </a:r>
            <a:r>
              <a:rPr sz="2000" b="0" i="0">
                <a:solidFill>
                  <a:srgbClr val="1C252B"/>
                </a:solidFill>
                <a:latin typeface="Segoe UI"/>
              </a:rPr>
              <a:t> if it is one the monitor must know about. There are two kinds:</a:t>
            </a:r>
          </a:p>
        </p:txBody>
      </p:sp>
      <p:sp>
        <p:nvSpPr>
          <p:cNvPr id="11" name="body-2"/>
          <p:cNvSpPr txBox="1"/>
          <p:nvPr/>
        </p:nvSpPr>
        <p:spPr>
          <a:xfrm>
            <a:off x="1060704" y="3278631"/>
            <a:ext cx="10161727" cy="1719580"/>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8A4500"/>
                </a:solidFill>
                <a:latin typeface="Segoe UI"/>
              </a:rPr>
              <a:t>•	</a:t>
            </a:r>
            <a:r>
              <a:rPr sz="2000" b="1" i="0">
                <a:solidFill>
                  <a:srgbClr val="1A5276"/>
                </a:solidFill>
                <a:latin typeface="Segoe UI"/>
              </a:rPr>
              <a:t>control-sensitive</a:t>
            </a:r>
            <a:r>
              <a:rPr sz="2000" b="0" i="0">
                <a:solidFill>
                  <a:srgbClr val="1C252B"/>
                </a:solidFill>
                <a:latin typeface="Segoe UI"/>
              </a:rPr>
              <a:t> — it changes the configuration of resources: the page tables, the interrupt mask, the privilege level.</a:t>
            </a:r>
          </a:p>
          <a:p>
            <a:pPr algn="l" marL="223631" indent="-223631">
              <a:lnSpc>
                <a:spcPct val="104000"/>
              </a:lnSpc>
              <a:spcBef>
                <a:spcPts val="0"/>
              </a:spcBef>
              <a:spcAft>
                <a:spcPts val="0"/>
              </a:spcAft>
            </a:pPr>
            <a:r>
              <a:rPr sz="2000" b="1">
                <a:solidFill>
                  <a:srgbClr val="8A4500"/>
                </a:solidFill>
                <a:latin typeface="Segoe UI"/>
              </a:rPr>
              <a:t>•	</a:t>
            </a:r>
            <a:r>
              <a:rPr sz="2000" b="1" i="0">
                <a:solidFill>
                  <a:srgbClr val="1A5276"/>
                </a:solidFill>
                <a:latin typeface="Segoe UI"/>
              </a:rPr>
              <a:t>behaviour-sensitive</a:t>
            </a:r>
            <a:r>
              <a:rPr sz="2000" b="0" i="0">
                <a:solidFill>
                  <a:srgbClr val="1C252B"/>
                </a:solidFill>
                <a:latin typeface="Segoe UI"/>
              </a:rPr>
              <a:t> — its </a:t>
            </a:r>
            <a:r>
              <a:rPr sz="2000" b="0" i="1">
                <a:solidFill>
                  <a:srgbClr val="1C252B"/>
                </a:solidFill>
                <a:latin typeface="Segoe UI"/>
              </a:rPr>
              <a:t>result</a:t>
            </a:r>
            <a:r>
              <a:rPr sz="2000" b="0" i="0">
                <a:solidFill>
                  <a:srgbClr val="1C252B"/>
                </a:solidFill>
                <a:latin typeface="Segoe UI"/>
              </a:rPr>
              <a:t> depends on the configuration: it reads a register whose value differs between privilege levels, or depends on where in memory it is running.</a:t>
            </a:r>
          </a:p>
        </p:txBody>
      </p:sp>
      <p:sp>
        <p:nvSpPr>
          <p:cNvPr id="12" name="body-3"/>
          <p:cNvSpPr txBox="1"/>
          <p:nvPr/>
        </p:nvSpPr>
        <p:spPr>
          <a:xfrm>
            <a:off x="1060704" y="5092192"/>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Sensitivity is a property of what the </a:t>
            </a:r>
            <a:r>
              <a:rPr sz="2000" b="0" i="1">
                <a:solidFill>
                  <a:srgbClr val="1C252B"/>
                </a:solidFill>
                <a:latin typeface="Segoe UI"/>
              </a:rPr>
              <a:t>monitor needs</a:t>
            </a:r>
            <a:r>
              <a:rPr sz="2000" b="0" i="0">
                <a:solidFill>
                  <a:srgbClr val="1C252B"/>
                </a:solidFill>
                <a:latin typeface="Segoe UI"/>
              </a:rPr>
              <a:t>; privilege is a property of what the </a:t>
            </a:r>
            <a:r>
              <a:rPr sz="2000" b="0" i="1">
                <a:solidFill>
                  <a:srgbClr val="1C252B"/>
                </a:solidFill>
                <a:latin typeface="Segoe UI"/>
              </a:rPr>
              <a:t>hardware does</a:t>
            </a:r>
            <a:r>
              <a:rPr sz="2000" b="0" i="0">
                <a:solidFill>
                  <a:srgbClr val="1C252B"/>
                </a:solidFill>
                <a:latin typeface="Segoe UI"/>
              </a:rPr>
              <a:t>. Nothing guarantees that they coincide.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Theorem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21     </a:t>
            </a:r>
            <a:fld id="{CCA5CF2D-CF14-43B7-99D9-55B19D7E747C}"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F618D"/>
                </a:solidFill>
                <a:latin typeface="Segoe UI"/>
              </a:rPr>
              <a:t>Popek and Goldberg, 1974.</a:t>
            </a:r>
            <a:r>
              <a:rPr sz="2200" b="0" i="0">
                <a:solidFill>
                  <a:srgbClr val="1C252B"/>
                </a:solidFill>
                <a:latin typeface="Segoe UI"/>
              </a:rPr>
              <a:t> For any conventional third-generation computer, a virtual machine monitor may be constructed if the set of sensitive instructions is a </a:t>
            </a:r>
            <a:r>
              <a:rPr sz="2200" b="0" i="1">
                <a:solidFill>
                  <a:srgbClr val="1C252B"/>
                </a:solidFill>
                <a:latin typeface="Segoe UI"/>
              </a:rPr>
              <a:t>subset</a:t>
            </a:r>
            <a:r>
              <a:rPr sz="2200" b="0" i="0">
                <a:solidFill>
                  <a:srgbClr val="1C252B"/>
                </a:solidFill>
                <a:latin typeface="Segoe UI"/>
              </a:rPr>
              <a:t> of the set of privileged instructions.</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is the whole condition. Every instruction the monitor needs to know about must be one the hardware will trap. If so, trap-and-emulate works: run the guest unprivileged, catch the sensitive instructions as traps, emulate them, and everything else runs at full speed — equivalence, control and efficiency together.</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And the contrapositive is the interesting half. If even one instruction is sensitive but </a:t>
            </a:r>
            <a:r>
              <a:rPr sz="2200" b="0" i="1">
                <a:solidFill>
                  <a:srgbClr val="1C252B"/>
                </a:solidFill>
                <a:latin typeface="Segoe UI"/>
              </a:rPr>
              <a:t>not</a:t>
            </a:r>
            <a:r>
              <a:rPr sz="2200" b="0" i="0">
                <a:solidFill>
                  <a:srgbClr val="1C252B"/>
                </a:solidFill>
                <a:latin typeface="Segoe UI"/>
              </a:rPr>
              <a:t> privileged, the guest can execute it, the hardware will not trap it, and the monitor will never find out.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condition, and the architecture that failed 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21     </a:t>
            </a:r>
            <a:fld id="{63AE0D12-C619-4A64-8FB2-9D2EE704D308}" type="slidenum">
              <a:rPr lang="en-GB" sz="1000">
                <a:solidFill>
                  <a:srgbClr val="8795A1"/>
                </a:solidFill>
                <a:latin typeface="Segoe UI"/>
              </a:rPr>
              <a:t>13</a:t>
            </a:fld>
          </a:p>
        </p:txBody>
      </p:sp>
      <p:pic>
        <p:nvPicPr>
          <p:cNvPr id="6" name="!!figure" descr="Figure 3.2. The condition, and the architecture that failed it. The seventeen instructions on the right are not exotic: several are ordinary, unprivileged instructions a compiler emits without comm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50467"/>
            <a:ext cx="10874959" cy="252274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seventeen instructions on the right are not exotic: several are ordinary, unprivileged instructions a compiler emits without comment.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x86 Failed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What a Monitor Must Guarantee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Privileged, Sensitive, and the Difference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3.3   Why x86 Failed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Two Ways Round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§3.3     </a:t>
            </a:r>
            <a:fld id="{F876A61F-EEBE-45A0-BD9D-DFE93E775FB0}" type="slidenum">
              <a:rPr lang="en-GB" sz="1000">
                <a:solidFill>
                  <a:srgbClr val="8795A1"/>
                </a:solidFill>
                <a:latin typeface="Segoe UI"/>
              </a:rPr>
              <a:t>14</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POPF Breaks a Hypervisor Without Crashing It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22     </a:t>
            </a:r>
            <a:fld id="{4248C84D-F1AC-40C4-A609-922DDF003EC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7119"/>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71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POPF</a:t>
            </a:r>
            <a:r>
              <a:rPr sz="1900" b="0" i="0">
                <a:solidFill>
                  <a:srgbClr val="1C252B"/>
                </a:solidFill>
                <a:latin typeface="Segoe UI"/>
              </a:rPr>
              <a:t> pops a word off the stack into the </a:t>
            </a:r>
            <a:r>
              <a:rPr sz="1800" b="0" i="0">
                <a:solidFill>
                  <a:srgbClr val="1F4E79"/>
                </a:solidFill>
                <a:latin typeface="Consolas"/>
              </a:rPr>
              <a:t>EFLAGS</a:t>
            </a:r>
            <a:r>
              <a:rPr sz="1900" b="0" i="0">
                <a:solidFill>
                  <a:srgbClr val="1C252B"/>
                </a:solidFill>
                <a:latin typeface="Segoe UI"/>
              </a:rPr>
              <a:t> register. </a:t>
            </a:r>
            <a:r>
              <a:rPr sz="1800" b="0" i="0">
                <a:solidFill>
                  <a:srgbClr val="1F4E79"/>
                </a:solidFill>
                <a:latin typeface="Consolas"/>
              </a:rPr>
              <a:t>EFLAGS</a:t>
            </a:r>
            <a:r>
              <a:rPr sz="1900" b="0" i="0">
                <a:solidFill>
                  <a:srgbClr val="1C252B"/>
                </a:solidFill>
                <a:latin typeface="Segoe UI"/>
              </a:rPr>
              <a:t> holds ordinary arithmetic flags — carry, zero, sign — and also the </a:t>
            </a:r>
            <a:r>
              <a:rPr sz="1900" b="1" i="0">
                <a:solidFill>
                  <a:srgbClr val="1A5276"/>
                </a:solidFill>
                <a:latin typeface="Segoe UI"/>
              </a:rPr>
              <a:t>interrupt flag</a:t>
            </a:r>
            <a:r>
              <a:rPr sz="1900" b="0" i="0">
                <a:solidFill>
                  <a:srgbClr val="1C252B"/>
                </a:solidFill>
                <a:latin typeface="Segoe UI"/>
              </a:rPr>
              <a:t> </a:t>
            </a:r>
            <a:r>
              <a:rPr sz="1800" b="0" i="0">
                <a:solidFill>
                  <a:srgbClr val="1F4E79"/>
                </a:solidFill>
                <a:latin typeface="Consolas"/>
              </a:rPr>
              <a:t>IF</a:t>
            </a:r>
            <a:r>
              <a:rPr sz="1900" b="0" i="0">
                <a:solidFill>
                  <a:srgbClr val="1C252B"/>
                </a:solidFill>
                <a:latin typeface="Segoe UI"/>
              </a:rPr>
              <a:t>, which controls whether the processor accepts hardware interrupts.</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the guest kernel intends.</a:t>
            </a:r>
            <a:r>
              <a:rPr sz="1900" b="0" i="0">
                <a:solidFill>
                  <a:srgbClr val="1C252B"/>
                </a:solidFill>
                <a:latin typeface="Segoe UI"/>
              </a:rPr>
              <a:t> It is entering a critical section and wants interrupts off:</a:t>
            </a:r>
          </a:p>
        </p:txBody>
      </p:sp>
      <p:sp>
        <p:nvSpPr>
          <p:cNvPr id="11" name="body-2"/>
          <p:cNvSpPr txBox="1"/>
          <p:nvPr/>
        </p:nvSpPr>
        <p:spPr>
          <a:xfrm>
            <a:off x="1042416" y="3481679"/>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push a flags word with </a:t>
            </a:r>
            <a:r>
              <a:rPr sz="1800" b="0" i="0">
                <a:solidFill>
                  <a:srgbClr val="1F4E79"/>
                </a:solidFill>
                <a:latin typeface="Consolas"/>
              </a:rPr>
              <a:t>IF = 0</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execute </a:t>
            </a:r>
            <a:r>
              <a:rPr sz="1800" b="0" i="0">
                <a:solidFill>
                  <a:srgbClr val="1F4E79"/>
                </a:solidFill>
                <a:latin typeface="Consolas"/>
              </a:rPr>
              <a:t>POPF</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expect interrupts to be disabled.</a:t>
            </a:r>
          </a:p>
        </p:txBody>
      </p:sp>
      <p:sp>
        <p:nvSpPr>
          <p:cNvPr id="12" name="body-3"/>
          <p:cNvSpPr txBox="1"/>
          <p:nvPr/>
        </p:nvSpPr>
        <p:spPr>
          <a:xfrm>
            <a:off x="1042416" y="468673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is </a:t>
            </a:r>
            <a:r>
              <a:rPr sz="1800" b="1" i="0">
                <a:solidFill>
                  <a:srgbClr val="1F4E79"/>
                </a:solidFill>
                <a:latin typeface="Consolas"/>
              </a:rPr>
              <a:t>POPF</a:t>
            </a:r>
            <a:r>
              <a:rPr sz="1900" b="1" i="0">
                <a:solidFill>
                  <a:srgbClr val="1C252B"/>
                </a:solidFill>
                <a:latin typeface="Segoe UI"/>
              </a:rPr>
              <a:t> sensitive?</a:t>
            </a:r>
            <a:r>
              <a:rPr sz="1900" b="0" i="0">
                <a:solidFill>
                  <a:srgbClr val="1C252B"/>
                </a:solidFill>
                <a:latin typeface="Segoe UI"/>
              </a:rPr>
              <a:t> Yes, control-sensitive: it changes the interrupt configuration, which the monitor must control. If a guest could really disable interrupts, it could refuse to give the processor back, destroying resource control.</a:t>
            </a:r>
          </a:p>
        </p:txBody>
      </p:sp>
      <p:sp>
        <p:nvSpPr>
          <p:cNvPr id="13" name="body-3bar">
            <a:extLst>
              <a:ext uri="{C183D7F6-B498-43B3-948B-1728B52AA6E4}">
                <adec:decorative xmlns:adec="http://schemas.microsoft.com/office/drawing/2017/decorative" val="1"/>
              </a:ext>
            </a:extLst>
          </p:cNvPr>
          <p:cNvSpPr/>
          <p:nvPr/>
        </p:nvSpPr>
        <p:spPr>
          <a:xfrm>
            <a:off x="841248" y="4705019"/>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POPF Breaks a Hypervisor Without Crashing It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22     </a:t>
            </a:r>
            <a:fld id="{595A3518-3B8E-474C-92DA-F41D371EA3DB}"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77716"/>
          </a:xfrm>
          <a:prstGeom prst="roundRect">
            <a:avLst>
              <a:gd name="adj" fmla="val 24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7771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is </a:t>
            </a:r>
            <a:r>
              <a:rPr sz="1800" b="1" i="0">
                <a:solidFill>
                  <a:srgbClr val="1F4E79"/>
                </a:solidFill>
                <a:latin typeface="Consolas"/>
              </a:rPr>
              <a:t>POPF</a:t>
            </a:r>
            <a:r>
              <a:rPr sz="1900" b="1" i="0">
                <a:solidFill>
                  <a:srgbClr val="1C252B"/>
                </a:solidFill>
                <a:latin typeface="Segoe UI"/>
              </a:rPr>
              <a:t> privileged?</a:t>
            </a:r>
            <a:r>
              <a:rPr sz="1900" b="0" i="0">
                <a:solidFill>
                  <a:srgbClr val="1C252B"/>
                </a:solidFill>
                <a:latin typeface="Segoe UI"/>
              </a:rPr>
              <a:t> </a:t>
            </a:r>
            <a:r>
              <a:rPr sz="1900" b="1" i="0">
                <a:solidFill>
                  <a:srgbClr val="1C252B"/>
                </a:solidFill>
                <a:latin typeface="Segoe UI"/>
              </a:rPr>
              <a:t>No.</a:t>
            </a:r>
            <a:r>
              <a:rPr sz="1900" b="0" i="0">
                <a:solidFill>
                  <a:srgbClr val="1C252B"/>
                </a:solidFill>
                <a:latin typeface="Segoe UI"/>
              </a:rPr>
              <a:t> In user mode the x86 </a:t>
            </a:r>
            <a:r>
              <a:rPr sz="1800" b="0" i="0">
                <a:solidFill>
                  <a:srgbClr val="1F4E79"/>
                </a:solidFill>
                <a:latin typeface="Consolas"/>
              </a:rPr>
              <a:t>POPF</a:t>
            </a:r>
            <a:r>
              <a:rPr sz="1900" b="0" i="0">
                <a:solidFill>
                  <a:srgbClr val="1C252B"/>
                </a:solidFill>
                <a:latin typeface="Segoe UI"/>
              </a:rPr>
              <a:t> does not fault. It updates the arithmetic flags and </a:t>
            </a:r>
            <a:r>
              <a:rPr sz="1900" b="0" i="1">
                <a:solidFill>
                  <a:srgbClr val="1C252B"/>
                </a:solidFill>
                <a:latin typeface="Segoe UI"/>
              </a:rPr>
              <a:t>silently ignores the write to</a:t>
            </a:r>
            <a:r>
              <a:rPr sz="1900" b="0" i="0">
                <a:solidFill>
                  <a:srgbClr val="1C252B"/>
                </a:solidFill>
                <a:latin typeface="Segoe UI"/>
              </a:rPr>
              <a:t> </a:t>
            </a:r>
            <a:r>
              <a:rPr sz="1800" b="0" i="0">
                <a:solidFill>
                  <a:srgbClr val="1F4E79"/>
                </a:solidFill>
                <a:latin typeface="Consolas"/>
              </a:rPr>
              <a:t>IF</a:t>
            </a:r>
            <a:r>
              <a:rPr sz="1900" b="0" i="0">
                <a:solidFill>
                  <a:srgbClr val="1C252B"/>
                </a:solidFill>
                <a:latin typeface="Segoe UI"/>
              </a:rPr>
              <a:t>. The designers chose this deliberately in 1985, so that user programs manipulating arithmetic flags would not need to care about </a:t>
            </a:r>
            <a:r>
              <a:rPr sz="1800" b="0" i="0">
                <a:solidFill>
                  <a:srgbClr val="1F4E79"/>
                </a:solidFill>
                <a:latin typeface="Consolas"/>
              </a:rPr>
              <a:t>IF</a:t>
            </a:r>
            <a:r>
              <a:rPr sz="1900" b="0" i="0">
                <a:solidFill>
                  <a:srgbClr val="1C252B"/>
                </a:solidFill>
                <a:latin typeface="Segoe UI"/>
              </a:rPr>
              <a: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so what happens under a monitor?</a:t>
            </a:r>
            <a:r>
              <a:rPr sz="1900" b="0" i="0">
                <a:solidFill>
                  <a:srgbClr val="1C252B"/>
                </a:solidFill>
                <a:latin typeface="Segoe UI"/>
              </a:rPr>
              <a:t> The guest kernel runs unprivileged. It executes </a:t>
            </a:r>
            <a:r>
              <a:rPr sz="1800" b="0" i="0">
                <a:solidFill>
                  <a:srgbClr val="1F4E79"/>
                </a:solidFill>
                <a:latin typeface="Consolas"/>
              </a:rPr>
              <a:t>POPF</a:t>
            </a:r>
            <a:r>
              <a:rPr sz="1900" b="0" i="0">
                <a:solidFill>
                  <a:srgbClr val="1C252B"/>
                </a:solidFill>
                <a:latin typeface="Segoe UI"/>
              </a:rPr>
              <a:t>:</a:t>
            </a:r>
          </a:p>
        </p:txBody>
      </p:sp>
      <p:sp>
        <p:nvSpPr>
          <p:cNvPr id="12" name="body-1bar">
            <a:extLst>
              <a:ext uri="{C183D7F6-B498-43B3-948B-1728B52AA6E4}">
                <adec:decorative xmlns:adec="http://schemas.microsoft.com/office/drawing/2017/decorative" val="1"/>
              </a:ext>
            </a:extLst>
          </p:cNvPr>
          <p:cNvSpPr/>
          <p:nvPr/>
        </p:nvSpPr>
        <p:spPr>
          <a:xfrm>
            <a:off x="841248" y="306611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3782822"/>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no trap occurs — the monitor is never told;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the arithmetic flags are updated, so the instruction appears to work;</a:t>
            </a:r>
          </a:p>
          <a:p>
            <a:pPr algn="l" marL="212450" indent="-212450">
              <a:lnSpc>
                <a:spcPct val="104000"/>
              </a:lnSpc>
              <a:spcBef>
                <a:spcPts val="0"/>
              </a:spcBef>
              <a:spcAft>
                <a:spcPts val="665"/>
              </a:spcAft>
            </a:pPr>
            <a:r>
              <a:rPr sz="1900" b="1">
                <a:solidFill>
                  <a:srgbClr val="7D6608"/>
                </a:solidFill>
                <a:latin typeface="Segoe UI"/>
              </a:rPr>
              <a:t>•	</a:t>
            </a:r>
            <a:r>
              <a:rPr sz="1800" b="0" i="0">
                <a:solidFill>
                  <a:srgbClr val="1F4E79"/>
                </a:solidFill>
                <a:latin typeface="Consolas"/>
              </a:rPr>
              <a:t>IF</a:t>
            </a:r>
            <a:r>
              <a:rPr sz="1900" b="0" i="0">
                <a:solidFill>
                  <a:srgbClr val="1C252B"/>
                </a:solidFill>
                <a:latin typeface="Segoe UI"/>
              </a:rPr>
              <a:t> is unchanged, so interrupts remain </a:t>
            </a:r>
            <a:r>
              <a:rPr sz="1900" b="0" i="1">
                <a:solidFill>
                  <a:srgbClr val="1C252B"/>
                </a:solidFill>
                <a:latin typeface="Segoe UI"/>
              </a:rPr>
              <a:t>enabled</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the instruction completes and the guest proceeds, believing it is in a critical section.</a:t>
            </a: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animEffect transition="in" filter="fade">
                                      <p:cBhvr>
                                        <p:cTn id="24" dur="350"/>
                                        <p:tgtEl>
                                          <p:spTgt spid="1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animEffect transition="in" filter="fade">
                                      <p:cBhvr>
                                        <p:cTn id="29" dur="350"/>
                                        <p:tgtEl>
                                          <p:spTgt spid="1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Effect transition="in" filter="fade">
                                      <p:cBhvr>
                                        <p:cTn id="34" dur="350"/>
                                        <p:tgtEl>
                                          <p:spTgt spid="1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xEl>
                                              <p:pRg st="3" end="3"/>
                                            </p:txEl>
                                          </p:spTgt>
                                        </p:tgtEl>
                                        <p:attrNameLst>
                                          <p:attrName>style.visibility</p:attrName>
                                        </p:attrNameLst>
                                      </p:cBhvr>
                                      <p:to>
                                        <p:strVal val="visible"/>
                                      </p:to>
                                    </p:set>
                                    <p:animEffect transition="in" filter="fade">
                                      <p:cBhvr>
                                        <p:cTn id="39" dur="35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POPF Breaks a Hypervisor Without Crashing It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22     </a:t>
            </a:r>
            <a:fld id="{E155E49A-7F54-429C-AAFE-F5486B17EBDD}"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1636"/>
          </a:xfrm>
          <a:prstGeom prst="roundRect">
            <a:avLst>
              <a:gd name="adj" fmla="val 26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1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what the failure looks like.</a:t>
            </a:r>
            <a:r>
              <a:rPr sz="1900" b="0" i="0">
                <a:solidFill>
                  <a:srgbClr val="1C252B"/>
                </a:solidFill>
                <a:latin typeface="Segoe UI"/>
              </a:rPr>
              <a:t> Not a crash. An interrupt arrives during the critical section the guest believes it has protected. A data structure is modified halfway through an update. Perhaps nothing happens. Perhaps the guest’s scheduler corrupts its run queue, at a rate of once a fortnight, in a way that is not reproducible and cannot be traced to the instruction that caused it.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point.</a:t>
            </a:r>
            <a:r>
              <a:rPr sz="1900" b="0" i="0">
                <a:solidFill>
                  <a:srgbClr val="1C252B"/>
                </a:solidFill>
                <a:latin typeface="Segoe UI"/>
              </a:rPr>
              <a:t> A </a:t>
            </a:r>
            <a:r>
              <a:rPr sz="1900" b="0" i="1">
                <a:solidFill>
                  <a:srgbClr val="1C252B"/>
                </a:solidFill>
                <a:latin typeface="Segoe UI"/>
              </a:rPr>
              <a:t>crash</a:t>
            </a:r>
            <a:r>
              <a:rPr sz="1900" b="0" i="0">
                <a:solidFill>
                  <a:srgbClr val="1C252B"/>
                </a:solidFill>
                <a:latin typeface="Segoe UI"/>
              </a:rPr>
              <a:t> would be a gift — it is a signal. The seventeen instructions do something far worse: they make the equivalence property fail </a:t>
            </a:r>
            <a:r>
              <a:rPr sz="1900" b="0" i="1">
                <a:solidFill>
                  <a:srgbClr val="1C252B"/>
                </a:solidFill>
                <a:latin typeface="Segoe UI"/>
              </a:rPr>
              <a:t>quietly</a:t>
            </a:r>
            <a:r>
              <a:rPr sz="1900" b="0" i="0">
                <a:solidFill>
                  <a:srgbClr val="1C252B"/>
                </a:solidFill>
                <a:latin typeface="Segoe UI"/>
              </a:rPr>
              <a:t>. The guest cannot detect it, the monitor cannot detect it, and the resulting bug reports are unfalsifiable. This, and not performance, is why x86 was called non-virtualizable for twenty-five years.</a:t>
            </a:r>
          </a:p>
        </p:txBody>
      </p:sp>
      <p:sp>
        <p:nvSpPr>
          <p:cNvPr id="12" name="body-1bar">
            <a:extLst>
              <a:ext uri="{C183D7F6-B498-43B3-948B-1728B52AA6E4}">
                <adec:decorative xmlns:adec="http://schemas.microsoft.com/office/drawing/2017/decorative" val="1"/>
              </a:ext>
            </a:extLst>
          </p:cNvPr>
          <p:cNvSpPr/>
          <p:nvPr/>
        </p:nvSpPr>
        <p:spPr>
          <a:xfrm>
            <a:off x="841248" y="3668394"/>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“Non-virtualizable” never meant impossible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22     </a:t>
            </a:r>
            <a:fld id="{214D19AC-97D9-4091-A7F1-38F138BFAB08}"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meant that </a:t>
            </a:r>
            <a:r>
              <a:rPr sz="2300" b="0" i="1">
                <a:solidFill>
                  <a:srgbClr val="1C252B"/>
                </a:solidFill>
                <a:latin typeface="Segoe UI"/>
              </a:rPr>
              <a:t>trap-and-emulate alone</a:t>
            </a:r>
            <a:r>
              <a:rPr sz="2300" b="0" i="0">
                <a:solidFill>
                  <a:srgbClr val="1C252B"/>
                </a:solidFill>
                <a:latin typeface="Segoe UI"/>
              </a:rPr>
              <a:t> is not sufficient — that no correct monitor can be built the classical way. VMware shipped a correct x86 hypervisor in 1999 and Xen in 2003, so clearly monitors could be built. What the theorem denies is that they can be built cheaply and simply. Both products are, in effect, elaborate workarounds for seventeen instructions, and both workarounds cost something the next section quantifies.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Two Ways Round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What a Monitor Must Guarantee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Privileged, Sensitive, and the Difference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Why x86 Failed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3.4   Two Ways Round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§3.4     </a:t>
            </a:r>
            <a:fld id="{E3CC944A-5F1C-483E-82C8-E316DDEC28DD}" type="slidenum">
              <a:rPr lang="en-GB" sz="1000">
                <a:solidFill>
                  <a:srgbClr val="8795A1"/>
                </a:solidFill>
                <a:latin typeface="Segoe UI"/>
              </a:rPr>
              <a:t>19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Translation Was Fast Enough to Sell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§3.4.1  ·  Handout p. 23     </a:t>
            </a:r>
            <a:fld id="{781661E2-7E71-4037-85CA-2DFA35633E3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352"/>
          </a:xfrm>
          <a:prstGeom prst="roundRect">
            <a:avLst>
              <a:gd name="adj" fmla="val 224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35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sounds ruinous and it was not, for two reasons.</a:t>
            </a:r>
          </a:p>
        </p:txBody>
      </p:sp>
      <p:sp>
        <p:nvSpPr>
          <p:cNvPr id="10" name="body-1"/>
          <p:cNvSpPr txBox="1"/>
          <p:nvPr/>
        </p:nvSpPr>
        <p:spPr>
          <a:xfrm>
            <a:off x="1060704" y="2550617"/>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First, the ratio. A kernel is a small fraction of what runs on a busy machine, and the translation cost is paid once per block rather than once per execution.</a:t>
            </a:r>
          </a:p>
        </p:txBody>
      </p:sp>
      <p:sp>
        <p:nvSpPr>
          <p:cNvPr id="11" name="body-2"/>
          <p:cNvSpPr txBox="1"/>
          <p:nvPr/>
        </p:nvSpPr>
        <p:spPr>
          <a:xfrm>
            <a:off x="1060704" y="3401669"/>
            <a:ext cx="10161727"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Second — and this surprised people — a translator can be </a:t>
            </a:r>
            <a:r>
              <a:rPr sz="2200" b="0" i="1">
                <a:solidFill>
                  <a:srgbClr val="1C252B"/>
                </a:solidFill>
                <a:latin typeface="Segoe UI"/>
              </a:rPr>
              <a:t>faster</a:t>
            </a:r>
            <a:r>
              <a:rPr sz="2200" b="0" i="0">
                <a:solidFill>
                  <a:srgbClr val="1C252B"/>
                </a:solidFill>
                <a:latin typeface="Segoe UI"/>
              </a:rPr>
              <a:t> than the hardware trap it replaces. A trap on 2005-era x86 cost well over a thousand cycles of saving and restoring state. A translated call into the monitor cost tens. For several years after hardware assistance arrived, VMware’s translator beat the first generation of VT-x on system-call-heavy workloads, and VMware said so publicly. Chapter 4 is the story of Intel and AMD closing that gap.</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Ring deprivileging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07334919-D1CA-410A-91E4-66FE1BDECA93}" type="slidenum">
              <a:rPr lang="en-GB" sz="1000">
                <a:solidFill>
                  <a:srgbClr val="8795A1"/>
                </a:solidFill>
                <a:latin typeface="Segoe UI"/>
              </a:rPr>
              <a:t>21</a:t>
            </a:fld>
          </a:p>
        </p:txBody>
      </p:sp>
      <p:pic>
        <p:nvPicPr>
          <p:cNvPr id="6" name="!!figure" descr="Figure 3.3. Ring deprivileging. Moving the guest kernel down one ring makes the hardware trap most of what the monitor needs; the instructions that still slip through are removed from the guest’s source instea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36161"/>
            <a:ext cx="10874959" cy="317592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Moving the guest kernel down one ring makes the hardware trap most of what the monitor needs; the instructions that still slip through are removed from the guest’s source instead.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Ring aliasing: the guest can tell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5495A8B7-FD87-455E-9118-1F48DCD3866C}"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Deprivileging breaks equivalence in a second, subtler way. The unprivileged instruction </a:t>
            </a:r>
            <a:r>
              <a:rPr sz="2150" b="0" i="0">
                <a:solidFill>
                  <a:srgbClr val="1F4E79"/>
                </a:solidFill>
                <a:latin typeface="Consolas"/>
              </a:rPr>
              <a:t>PUSHF</a:t>
            </a:r>
            <a:r>
              <a:rPr sz="2300" b="0" i="0">
                <a:solidFill>
                  <a:srgbClr val="1C252B"/>
                </a:solidFill>
                <a:latin typeface="Segoe UI"/>
              </a:rPr>
              <a:t> pushes </a:t>
            </a:r>
            <a:r>
              <a:rPr sz="2150" b="0" i="0">
                <a:solidFill>
                  <a:srgbClr val="1F4E79"/>
                </a:solidFill>
                <a:latin typeface="Consolas"/>
              </a:rPr>
              <a:t>EFLAGS</a:t>
            </a:r>
            <a:r>
              <a:rPr sz="2300" b="0" i="0">
                <a:solidFill>
                  <a:srgbClr val="1C252B"/>
                </a:solidFill>
                <a:latin typeface="Segoe UI"/>
              </a:rPr>
              <a:t> — including the current privilege level — onto the stack, and </a:t>
            </a:r>
            <a:r>
              <a:rPr sz="2150" b="0" i="0">
                <a:solidFill>
                  <a:srgbClr val="1F4E79"/>
                </a:solidFill>
                <a:latin typeface="Consolas"/>
              </a:rPr>
              <a:t>SGDT</a:t>
            </a:r>
            <a:r>
              <a:rPr sz="2300" b="0" i="0">
                <a:solidFill>
                  <a:srgbClr val="1C252B"/>
                </a:solidFill>
                <a:latin typeface="Segoe UI"/>
              </a:rPr>
              <a:t> and </a:t>
            </a:r>
            <a:r>
              <a:rPr sz="2150" b="0" i="0">
                <a:solidFill>
                  <a:srgbClr val="1F4E79"/>
                </a:solidFill>
                <a:latin typeface="Consolas"/>
              </a:rPr>
              <a:t>SIDT</a:t>
            </a:r>
            <a:r>
              <a:rPr sz="2300" b="0" i="0">
                <a:solidFill>
                  <a:srgbClr val="1C252B"/>
                </a:solidFill>
                <a:latin typeface="Segoe UI"/>
              </a:rPr>
              <a:t> read descriptor-table registers. None of them traps. A guest kernel that executes any of them sees ring 1 where it expects ring 0, and a descriptor table that is not its own.</a:t>
            </a:r>
          </a:p>
        </p:txBody>
      </p:sp>
      <p:sp>
        <p:nvSpPr>
          <p:cNvPr id="10" name="body-1"/>
          <p:cNvSpPr txBox="1"/>
          <p:nvPr/>
        </p:nvSpPr>
        <p:spPr>
          <a:xfrm>
            <a:off x="1060704" y="403161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a:t>
            </a:r>
            <a:r>
              <a:rPr sz="2300" b="1" i="0">
                <a:solidFill>
                  <a:srgbClr val="1A5276"/>
                </a:solidFill>
                <a:latin typeface="Segoe UI"/>
              </a:rPr>
              <a:t>ring aliasing</a:t>
            </a:r>
            <a:r>
              <a:rPr sz="2300" b="0" i="0">
                <a:solidFill>
                  <a:srgbClr val="1C252B"/>
                </a:solidFill>
                <a:latin typeface="Segoe UI"/>
              </a:rPr>
              <a:t>, and it is why </a:t>
            </a:r>
            <a:r>
              <a:rPr sz="2150" b="0" i="0">
                <a:solidFill>
                  <a:srgbClr val="1F4E79"/>
                </a:solidFill>
                <a:latin typeface="Consolas"/>
              </a:rPr>
              <a:t>SGDT</a:t>
            </a:r>
            <a:r>
              <a:rPr sz="2300" b="0" i="0">
                <a:solidFill>
                  <a:srgbClr val="1C252B"/>
                </a:solidFill>
                <a:latin typeface="Segoe UI"/>
              </a:rPr>
              <a:t> is on the list of seventeen. It also makes hypervisor detection trivial: a few unprivileged instructions and the guest knows. Chapter 21 is where that question comes back inverted — there, the guest </a:t>
            </a:r>
            <a:r>
              <a:rPr sz="2300" b="0" i="1">
                <a:solidFill>
                  <a:srgbClr val="1C252B"/>
                </a:solidFill>
                <a:latin typeface="Segoe UI"/>
              </a:rPr>
              <a:t>wants</a:t>
            </a:r>
            <a:r>
              <a:rPr sz="2300" b="0" i="0">
                <a:solidFill>
                  <a:srgbClr val="1C252B"/>
                </a:solidFill>
                <a:latin typeface="Segoe UI"/>
              </a:rPr>
              <a:t> to prove what it is running on.</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Ring deprivileging and paravirtualization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3A0E0600-FD9F-44A8-8B7B-8326E18DC3EC}" type="slidenum">
              <a:rPr lang="en-GB" sz="1000">
                <a:solidFill>
                  <a:srgbClr val="8795A1"/>
                </a:solidFill>
                <a:latin typeface="Segoe UI"/>
              </a:rPr>
              <a:t>23</a:t>
            </a:fld>
          </a:p>
        </p:txBody>
      </p:sp>
      <p:graphicFrame>
        <p:nvGraphicFramePr>
          <p:cNvPr id="7" name="!!table"/>
          <p:cNvGraphicFramePr>
            <a:graphicFrameLocks noGrp="1"/>
          </p:cNvGraphicFramePr>
          <p:nvPr/>
        </p:nvGraphicFramePr>
        <p:xfrm>
          <a:off x="658368" y="1737360"/>
          <a:ext cx="10874956" cy="3950208"/>
        </p:xfrm>
        <a:graphic>
          <a:graphicData uri="http://schemas.openxmlformats.org/drawingml/2006/table">
            <a:tbl>
              <a:tblPr firstRow="0" bandRow="0" firstCol="0" lastRow="0" lastCol="0" bandCol="0">
                <a:tableStyleId>{2D5ABB26-0587-4C30-8999-92F81FD0307C}</a:tableStyleId>
              </a:tblPr>
              <a:tblGrid>
                <a:gridCol w="2441317"/>
                <a:gridCol w="2811213"/>
                <a:gridCol w="2811213"/>
                <a:gridCol w="2811213"/>
              </a:tblGrid>
              <a:tr h="390144">
                <a:tc>
                  <a:txBody>
                    <a:bodyPr wrap="square"/>
                    <a:lstStyle/>
                    <a:p>
                      <a:pPr algn="l"/>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Binary translation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Paravirtualization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Hardware assistance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Who changes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monitor, at run time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guest, at compile time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processor, at design time</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Unmodified guests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Yes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1" i="0">
                          <a:solidFill>
                            <a:srgbClr val="1C252B"/>
                          </a:solidFill>
                          <a:latin typeface="Segoe UI"/>
                        </a:rPr>
                        <a:t>No</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Yes</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Where the cost falls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Translating, and a cache to maintain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Nothing at run time; everything at porting time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 trap per sensitive instruction</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Monitor complexity</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Very high — a working x86 translator</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Low</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Low</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Shipped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VMware, 1999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Xen, 2003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Intel VT-x 2005, AMD-V 2006</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Still used</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Where hardware assistance is absent or slower</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As </a:t>
                      </a:r>
                      <a:r>
                        <a:rPr sz="1600" b="0" i="1">
                          <a:solidFill>
                            <a:srgbClr val="1C252B"/>
                          </a:solidFill>
                          <a:latin typeface="Segoe UI"/>
                        </a:rPr>
                        <a:t>drivers</a:t>
                      </a:r>
                      <a:r>
                        <a:rPr sz="1600" b="0" i="0">
                          <a:solidFill>
                            <a:srgbClr val="1C252B"/>
                          </a:solidFill>
                          <a:latin typeface="Segoe UI"/>
                        </a:rPr>
                        <a:t>, almost universally (Chapter 7)</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Everywhere (Chapter 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806DB167-AB89-463E-A1C6-B080B17EE686}"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Saying that non-virtualizable means “cannot be virtualized”.</a:t>
            </a:r>
            <a:r>
              <a:rPr sz="1800" b="0" i="0">
                <a:solidFill>
                  <a:srgbClr val="1C252B"/>
                </a:solidFill>
                <a:latin typeface="Segoe UI"/>
              </a:rPr>
              <a:t> It means trap-and-emulate alone is insufficient. Two companies built correct monitors anyway, at considerable cost.</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85587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Expecting the failure to be a crash.</a:t>
            </a:r>
            <a:r>
              <a:rPr sz="1800" b="0" i="0">
                <a:solidFill>
                  <a:srgbClr val="1C252B"/>
                </a:solidFill>
                <a:latin typeface="Segoe UI"/>
              </a:rPr>
              <a:t> The </a:t>
            </a:r>
            <a:r>
              <a:rPr sz="1700" b="0" i="0">
                <a:solidFill>
                  <a:srgbClr val="1F4E79"/>
                </a:solidFill>
                <a:latin typeface="Consolas"/>
              </a:rPr>
              <a:t>POPF</a:t>
            </a:r>
            <a:r>
              <a:rPr sz="1800" b="0" i="0">
                <a:solidFill>
                  <a:srgbClr val="1C252B"/>
                </a:solidFill>
                <a:latin typeface="Segoe UI"/>
              </a:rPr>
              <a:t> failure is silent and intermittent. Students who look for an exception in the worked example have missed what makes those seventeen instructions dangerous.</a:t>
            </a:r>
          </a:p>
        </p:txBody>
      </p:sp>
      <p:sp>
        <p:nvSpPr>
          <p:cNvPr id="13" name="!!pb2">
            <a:extLst>
              <a:ext uri="{C183D7F6-B498-43B3-948B-1728B52AA6E4}">
                <adec:decorative xmlns:adec="http://schemas.microsoft.com/office/drawing/2017/decorative" val="1"/>
              </a:ext>
            </a:extLst>
          </p:cNvPr>
          <p:cNvSpPr/>
          <p:nvPr/>
        </p:nvSpPr>
        <p:spPr>
          <a:xfrm>
            <a:off x="658368" y="358444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6073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566159"/>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Confusing privileged with sensitive.</a:t>
            </a:r>
            <a:r>
              <a:rPr sz="1800" b="0" i="0">
                <a:solidFill>
                  <a:srgbClr val="1C252B"/>
                </a:solidFill>
                <a:latin typeface="Segoe UI"/>
              </a:rPr>
              <a:t> Privileged is what the hardware traps; sensitive is what the monitor needs. The theorem is precisely the claim that the first set must contain the second.</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85587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Believing hardware assistance made the theorem obsolete.</a:t>
            </a:r>
            <a:r>
              <a:rPr sz="1800" b="0" i="0">
                <a:solidFill>
                  <a:srgbClr val="1C252B"/>
                </a:solidFill>
                <a:latin typeface="Segoe UI"/>
              </a:rPr>
              <a:t> It made x86 satisfy the condition. The theorem is what tells you </a:t>
            </a:r>
            <a:r>
              <a:rPr sz="1800" b="0" i="1">
                <a:solidFill>
                  <a:srgbClr val="1C252B"/>
                </a:solidFill>
                <a:latin typeface="Segoe UI"/>
              </a:rPr>
              <a:t>why</a:t>
            </a:r>
            <a:r>
              <a:rPr sz="1800" b="0" i="0">
                <a:solidFill>
                  <a:srgbClr val="1C252B"/>
                </a:solidFill>
                <a:latin typeface="Segoe UI"/>
              </a:rPr>
              <a:t> VT-x was needed and what it had to do — and it still decides the question for any new architecture, which is why RISC-V designers argued about exactly this.</a:t>
            </a:r>
          </a:p>
        </p:txBody>
      </p:sp>
      <p:sp>
        <p:nvSpPr>
          <p:cNvPr id="19" name="!!pb4">
            <a:extLst>
              <a:ext uri="{C183D7F6-B498-43B3-948B-1728B52AA6E4}">
                <adec:decorative xmlns:adec="http://schemas.microsoft.com/office/drawing/2017/decorative" val="1"/>
              </a:ext>
            </a:extLst>
          </p:cNvPr>
          <p:cNvSpPr/>
          <p:nvPr/>
        </p:nvSpPr>
        <p:spPr>
          <a:xfrm>
            <a:off x="658368" y="541324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4361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394959"/>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Assuming efficiency means “fast”.</a:t>
            </a:r>
            <a:r>
              <a:rPr sz="1800" b="0" i="0">
                <a:solidFill>
                  <a:srgbClr val="1C252B"/>
                </a:solidFill>
                <a:latin typeface="Segoe UI"/>
              </a:rPr>
              <a:t> It is a formal property: a statistically dominant subset of instructions runs natively. An emulator fails it at any speed.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Catching a Sensitive Instruction in the Act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1DADFAF1-F9B9-461E-9433-64DE89D7DF06}" type="slidenum">
              <a:rPr lang="en-GB" sz="1000">
                <a:solidFill>
                  <a:srgbClr val="8795A1"/>
                </a:solidFill>
                <a:latin typeface="Segoe UI"/>
              </a:rPr>
              <a:t>25</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No hypervisor needed: this runs on the host and shows the hardware behaviour the whole chapter rests on. Needs </a:t>
            </a:r>
            <a:r>
              <a:rPr sz="1900" b="0" i="0">
                <a:solidFill>
                  <a:srgbClr val="1F4E79"/>
                </a:solidFill>
                <a:latin typeface="Consolas"/>
              </a:rPr>
              <a:t>gcc</a:t>
            </a:r>
            <a:r>
              <a:rPr sz="2000" b="0" i="0">
                <a:solidFill>
                  <a:srgbClr val="1C252B"/>
                </a:solidFill>
                <a:latin typeface="Segoe UI"/>
              </a:rPr>
              <a:t>. Expect twenty minutes.</a:t>
            </a:r>
          </a:p>
        </p:txBody>
      </p:sp>
      <p:sp>
        <p:nvSpPr>
          <p:cNvPr id="8" name="!!lfTHIS">
            <a:extLst>
              <a:ext uri="{C183D7F6-B498-43B3-948B-1728B52AA6E4}">
                <adec:decorative xmlns:adec="http://schemas.microsoft.com/office/drawing/2017/decorative" val="1"/>
              </a:ext>
            </a:extLst>
          </p:cNvPr>
          <p:cNvSpPr/>
          <p:nvPr/>
        </p:nvSpPr>
        <p:spPr>
          <a:xfrm>
            <a:off x="658368"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2: Catch a sensitive instruction failing silently</a:t>
            </a:r>
          </a:p>
        </p:txBody>
      </p:sp>
      <p:sp>
        <p:nvSpPr>
          <p:cNvPr id="12" name="!!lfWHAT">
            <a:extLst>
              <a:ext uri="{C183D7F6-B498-43B3-948B-1728B52AA6E4}">
                <adec:decorative xmlns:adec="http://schemas.microsoft.com/office/drawing/2017/decorative" val="1"/>
              </a:ext>
            </a:extLst>
          </p:cNvPr>
          <p:cNvSpPr/>
          <p:nvPr/>
        </p:nvSpPr>
        <p:spPr>
          <a:xfrm>
            <a:off x="6233007"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6507327"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40 lines of C</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Catching a Sensitive Instruction in the Act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828E7B83-D64F-4060-9B44-27A823CE941E}"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a:t>
            </a:r>
          </a:p>
        </p:txBody>
      </p:sp>
      <p:sp>
        <p:nvSpPr>
          <p:cNvPr id="13" name="!!code-text" descr="/* ch03_popf.c -- show that POPF fails silently in user mode. Build: gcc -O0 -o ch03_popf ch03_popf.c Run: ./ch03_popf */ #include &lt;stdio.h&gt; /* --- 1. Read EFLAGS, so we can see what the processor really did. */ static unsigned long read_flags(void) { unsigned long f; __asm__ volatile (&quot;pushfq ; popq %0&quot; : &quot;=r&quot;(f)); return f; } /* --- 2. Try to write EFLAGS, clearing the interrupt flag (bit 9). */ static void write_flags(unsigned long f) { __asm__ volatile (&quot;pushq %0 ; popfq&quot; : : &quot;r&quot;(f) : &quot;cc&quot;); }"/>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ch03_popf.c -- show that POPF fails silently in user mode.</a:t>
            </a:r>
          </a:p>
          <a:p>
            <a:pPr>
              <a:lnSpc>
                <a:spcPct val="100000"/>
              </a:lnSpc>
              <a:spcAft>
                <a:spcPts val="0"/>
              </a:spcAft>
            </a:pPr>
            <a:r>
              <a:rPr sz="1700" i="1">
                <a:solidFill>
                  <a:srgbClr val="8795A1"/>
                </a:solidFill>
                <a:latin typeface="Consolas"/>
              </a:rPr>
              <a:t>   Build: gcc -O0 -o ch03_popf ch03_popf.c     Run: ./ch03_popf   */</a:t>
            </a:r>
          </a:p>
          <a:p>
            <a:pPr>
              <a:lnSpc>
                <a:spcPct val="100000"/>
              </a:lnSpc>
              <a:spcAft>
                <a:spcPts val="0"/>
              </a:spcAft>
            </a:pPr>
            <a:r>
              <a:rPr sz="1700" i="1">
                <a:solidFill>
                  <a:srgbClr val="8795A1"/>
                </a:solidFill>
                <a:latin typeface="Consolas"/>
              </a:rPr>
              <a:t>#</a:t>
            </a:r>
            <a:r>
              <a:rPr sz="1700" i="1">
                <a:solidFill>
                  <a:srgbClr val="8795A1"/>
                </a:solidFill>
                <a:latin typeface="Consolas"/>
              </a:rPr>
              <a:t>include</a:t>
            </a:r>
            <a:r>
              <a:rPr sz="1700" i="0">
                <a:solidFill>
                  <a:srgbClr val="E8EDF2"/>
                </a:solidFill>
                <a:latin typeface="Consolas"/>
              </a:rPr>
              <a:t> </a:t>
            </a:r>
            <a:r>
              <a:rPr sz="1700" i="1">
                <a:solidFill>
                  <a:srgbClr val="8795A1"/>
                </a:solidFill>
                <a:latin typeface="Consolas"/>
              </a:rPr>
              <a:t>&lt;stdio.h&gt;</a:t>
            </a:r>
          </a:p>
          <a:p>
            <a:pPr>
              <a:lnSpc>
                <a:spcPct val="100000"/>
              </a:lnSpc>
              <a:spcAft>
                <a:spcPts val="0"/>
              </a:spcAft>
            </a:pPr>
            <a:r>
              <a:rPr sz="1700">
                <a:latin typeface="Consolas"/>
              </a:rPr>
              <a:t> </a:t>
            </a:r>
          </a:p>
          <a:p>
            <a:pPr>
              <a:lnSpc>
                <a:spcPct val="100000"/>
              </a:lnSpc>
              <a:spcAft>
                <a:spcPts val="0"/>
              </a:spcAft>
            </a:pPr>
            <a:r>
              <a:rPr sz="1700" i="1">
                <a:solidFill>
                  <a:srgbClr val="8795A1"/>
                </a:solidFill>
                <a:latin typeface="Consolas"/>
              </a:rPr>
              <a:t>/* --- 1. Read EFLAGS, so we can see what the processor really did. */</a:t>
            </a:r>
          </a:p>
          <a:p>
            <a:pPr>
              <a:lnSpc>
                <a:spcPct val="100000"/>
              </a:lnSpc>
              <a:spcAft>
                <a:spcPts val="0"/>
              </a:spcAft>
            </a:pPr>
            <a:r>
              <a:rPr sz="1700" i="0">
                <a:solidFill>
                  <a:srgbClr val="5DADE2"/>
                </a:solidFill>
                <a:latin typeface="Consolas"/>
              </a:rPr>
              <a:t>static</a:t>
            </a:r>
            <a:r>
              <a:rPr sz="1700" i="0">
                <a:solidFill>
                  <a:srgbClr val="E8EDF2"/>
                </a:solidFill>
                <a:latin typeface="Consolas"/>
              </a:rPr>
              <a:t> </a:t>
            </a:r>
            <a:r>
              <a:rPr sz="1700" i="0">
                <a:solidFill>
                  <a:srgbClr val="5DADE2"/>
                </a:solidFill>
                <a:latin typeface="Consolas"/>
              </a:rPr>
              <a:t>unsigned</a:t>
            </a:r>
            <a:r>
              <a:rPr sz="1700" i="0">
                <a:solidFill>
                  <a:srgbClr val="E8EDF2"/>
                </a:solidFill>
                <a:latin typeface="Consolas"/>
              </a:rPr>
              <a:t> </a:t>
            </a:r>
            <a:r>
              <a:rPr sz="1700" i="0">
                <a:solidFill>
                  <a:srgbClr val="5DADE2"/>
                </a:solidFill>
                <a:latin typeface="Consolas"/>
              </a:rPr>
              <a:t>long</a:t>
            </a:r>
            <a:r>
              <a:rPr sz="1700" i="0">
                <a:solidFill>
                  <a:srgbClr val="E8EDF2"/>
                </a:solidFill>
                <a:latin typeface="Consolas"/>
              </a:rPr>
              <a:t> </a:t>
            </a:r>
            <a:r>
              <a:rPr sz="1700" i="0">
                <a:solidFill>
                  <a:srgbClr val="C39BD3"/>
                </a:solidFill>
                <a:latin typeface="Consolas"/>
              </a:rPr>
              <a:t>read_flags</a:t>
            </a:r>
            <a:r>
              <a:rPr sz="1700" i="0">
                <a:solidFill>
                  <a:srgbClr val="AEB6BF"/>
                </a:solidFill>
                <a:latin typeface="Consolas"/>
              </a:rPr>
              <a:t>(</a:t>
            </a:r>
            <a:r>
              <a:rPr sz="1700" i="0">
                <a:solidFill>
                  <a:srgbClr val="5DADE2"/>
                </a:solidFill>
                <a:latin typeface="Consolas"/>
              </a:rPr>
              <a:t>void</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unsigned</a:t>
            </a:r>
            <a:r>
              <a:rPr sz="1700" i="0">
                <a:solidFill>
                  <a:srgbClr val="E8EDF2"/>
                </a:solidFill>
                <a:latin typeface="Consolas"/>
              </a:rPr>
              <a:t> </a:t>
            </a:r>
            <a:r>
              <a:rPr sz="1700" i="0">
                <a:solidFill>
                  <a:srgbClr val="5DADE2"/>
                </a:solidFill>
                <a:latin typeface="Consolas"/>
              </a:rPr>
              <a:t>long</a:t>
            </a:r>
            <a:r>
              <a:rPr sz="1700" i="0">
                <a:solidFill>
                  <a:srgbClr val="E8EDF2"/>
                </a:solidFill>
                <a:latin typeface="Consolas"/>
              </a:rPr>
              <a:t> </a:t>
            </a:r>
            <a:r>
              <a:rPr sz="1700" i="0">
                <a:solidFill>
                  <a:srgbClr val="E8EDF2"/>
                </a:solidFill>
                <a:latin typeface="Consolas"/>
              </a:rPr>
              <a:t>f</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__asm__</a:t>
            </a:r>
            <a:r>
              <a:rPr sz="1700" i="0">
                <a:solidFill>
                  <a:srgbClr val="E8EDF2"/>
                </a:solidFill>
                <a:latin typeface="Consolas"/>
              </a:rPr>
              <a:t> </a:t>
            </a:r>
            <a:r>
              <a:rPr sz="1700" i="0">
                <a:solidFill>
                  <a:srgbClr val="5DADE2"/>
                </a:solidFill>
                <a:latin typeface="Consolas"/>
              </a:rPr>
              <a:t>volatile</a:t>
            </a:r>
            <a:r>
              <a:rPr sz="1700" i="0">
                <a:solidFill>
                  <a:srgbClr val="E8EDF2"/>
                </a:solidFill>
                <a:latin typeface="Consolas"/>
              </a:rPr>
              <a:t> </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pushfq ; popq %0</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=r</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f</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E8EDF2"/>
                </a:solidFill>
                <a:latin typeface="Consolas"/>
              </a:rPr>
              <a:t>f</a:t>
            </a:r>
            <a:r>
              <a:rPr sz="1700" i="0">
                <a:solidFill>
                  <a:srgbClr val="AEB6BF"/>
                </a:solidFill>
                <a:latin typeface="Consolas"/>
              </a:rPr>
              <a:t>;</a:t>
            </a:r>
          </a:p>
          <a:p>
            <a:pPr>
              <a:lnSpc>
                <a:spcPct val="100000"/>
              </a:lnSpc>
              <a:spcAft>
                <a:spcPts val="0"/>
              </a:spcAft>
            </a:pP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1">
                <a:solidFill>
                  <a:srgbClr val="8795A1"/>
                </a:solidFill>
                <a:latin typeface="Consolas"/>
              </a:rPr>
              <a:t>/* --- 2. Try to write EFLAGS, clearing the interrupt flag (bit 9). */</a:t>
            </a:r>
          </a:p>
          <a:p>
            <a:pPr>
              <a:lnSpc>
                <a:spcPct val="100000"/>
              </a:lnSpc>
              <a:spcAft>
                <a:spcPts val="0"/>
              </a:spcAft>
            </a:pPr>
            <a:r>
              <a:rPr sz="1700" i="0">
                <a:solidFill>
                  <a:srgbClr val="5DADE2"/>
                </a:solidFill>
                <a:latin typeface="Consolas"/>
              </a:rPr>
              <a:t>static</a:t>
            </a:r>
            <a:r>
              <a:rPr sz="1700" i="0">
                <a:solidFill>
                  <a:srgbClr val="E8EDF2"/>
                </a:solidFill>
                <a:latin typeface="Consolas"/>
              </a:rPr>
              <a:t> </a:t>
            </a:r>
            <a:r>
              <a:rPr sz="1700" i="0">
                <a:solidFill>
                  <a:srgbClr val="5DADE2"/>
                </a:solidFill>
                <a:latin typeface="Consolas"/>
              </a:rPr>
              <a:t>void</a:t>
            </a:r>
            <a:r>
              <a:rPr sz="1700" i="0">
                <a:solidFill>
                  <a:srgbClr val="E8EDF2"/>
                </a:solidFill>
                <a:latin typeface="Consolas"/>
              </a:rPr>
              <a:t> </a:t>
            </a:r>
            <a:r>
              <a:rPr sz="1700" i="0">
                <a:solidFill>
                  <a:srgbClr val="C39BD3"/>
                </a:solidFill>
                <a:latin typeface="Consolas"/>
              </a:rPr>
              <a:t>write_flags</a:t>
            </a:r>
            <a:r>
              <a:rPr sz="1700" i="0">
                <a:solidFill>
                  <a:srgbClr val="AEB6BF"/>
                </a:solidFill>
                <a:latin typeface="Consolas"/>
              </a:rPr>
              <a:t>(</a:t>
            </a:r>
            <a:r>
              <a:rPr sz="1700" i="0">
                <a:solidFill>
                  <a:srgbClr val="5DADE2"/>
                </a:solidFill>
                <a:latin typeface="Consolas"/>
              </a:rPr>
              <a:t>unsigned</a:t>
            </a:r>
            <a:r>
              <a:rPr sz="1700" i="0">
                <a:solidFill>
                  <a:srgbClr val="E8EDF2"/>
                </a:solidFill>
                <a:latin typeface="Consolas"/>
              </a:rPr>
              <a:t> </a:t>
            </a:r>
            <a:r>
              <a:rPr sz="1700" i="0">
                <a:solidFill>
                  <a:srgbClr val="5DADE2"/>
                </a:solidFill>
                <a:latin typeface="Consolas"/>
              </a:rPr>
              <a:t>long</a:t>
            </a:r>
            <a:r>
              <a:rPr sz="1700" i="0">
                <a:solidFill>
                  <a:srgbClr val="E8EDF2"/>
                </a:solidFill>
                <a:latin typeface="Consolas"/>
              </a:rPr>
              <a:t> </a:t>
            </a:r>
            <a:r>
              <a:rPr sz="1700" i="0">
                <a:solidFill>
                  <a:srgbClr val="E8EDF2"/>
                </a:solidFill>
                <a:latin typeface="Consolas"/>
              </a:rPr>
              <a:t>f</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__asm__</a:t>
            </a:r>
            <a:r>
              <a:rPr sz="1700" i="0">
                <a:solidFill>
                  <a:srgbClr val="E8EDF2"/>
                </a:solidFill>
                <a:latin typeface="Consolas"/>
              </a:rPr>
              <a:t> </a:t>
            </a:r>
            <a:r>
              <a:rPr sz="1700" i="0">
                <a:solidFill>
                  <a:srgbClr val="5DADE2"/>
                </a:solidFill>
                <a:latin typeface="Consolas"/>
              </a:rPr>
              <a:t>volatile</a:t>
            </a:r>
            <a:r>
              <a:rPr sz="1700" i="0">
                <a:solidFill>
                  <a:srgbClr val="E8EDF2"/>
                </a:solidFill>
                <a:latin typeface="Consolas"/>
              </a:rPr>
              <a:t> </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pushq %0 ; popfq</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r</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f</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cc</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a:t>
            </a:r>
          </a:p>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a:p>
            <a:pPr algn="r">
              <a:lnSpc>
                <a:spcPct val="100000"/>
              </a:lnSpc>
            </a:pPr>
            <a:r>
              <a:rPr sz="1700">
                <a:solidFill>
                  <a:srgbClr val="4F5D6A"/>
                </a:solidFill>
                <a:latin typeface="Consolas"/>
              </a:rPr>
              <a:t>12</a:t>
            </a:r>
          </a:p>
          <a:p>
            <a:pPr algn="r">
              <a:lnSpc>
                <a:spcPct val="100000"/>
              </a:lnSpc>
            </a:pPr>
            <a:r>
              <a:rPr sz="1700">
                <a:solidFill>
                  <a:srgbClr val="4F5D6A"/>
                </a:solidFill>
                <a:latin typeface="Consolas"/>
              </a:rPr>
              <a:t>13</a:t>
            </a:r>
          </a:p>
          <a:p>
            <a:pPr algn="r">
              <a:lnSpc>
                <a:spcPct val="100000"/>
              </a:lnSpc>
            </a:pPr>
            <a:r>
              <a:rPr sz="1700">
                <a:solidFill>
                  <a:srgbClr val="4F5D6A"/>
                </a:solidFill>
                <a:latin typeface="Consolas"/>
              </a:rPr>
              <a:t>14</a:t>
            </a:r>
          </a:p>
          <a:p>
            <a:pPr algn="r">
              <a:lnSpc>
                <a:spcPct val="100000"/>
              </a:lnSpc>
            </a:pPr>
            <a:r>
              <a:rPr sz="1700">
                <a:solidFill>
                  <a:srgbClr val="4F5D6A"/>
                </a:solidFill>
                <a:latin typeface="Consolas"/>
              </a:rPr>
              <a:t>15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Catching a Sensitive Instruction in the Act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584372E4-84E8-49A0-92BE-B3C0CF2FF4D5}"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a:t>
            </a:r>
          </a:p>
        </p:txBody>
      </p:sp>
      <p:sp>
        <p:nvSpPr>
          <p:cNvPr id="13" name="!!code-text" descr="int main(void) { unsigned long before = read_flags(); printf(&quot;before : EFLAGS=0x%08lx IF=%lu\n&quot;, before, (before &gt;&gt; 9) &amp; 1); /* --- 3. Ask for interrupts off, and for the carry flag on. A kernel entering a critical section does exactly this. */ unsigned long want = (before &amp; ~(1UL &lt;&lt; 9)) | 1UL; /* IF=0, CF=1 */ write_flags(want); /* --- 4. Look at what we actually got. */ unsigned long after = read_flags(); printf(&quot;wanted : EFLAGS=0x%08lx IF=%lu CF=%lu\n&quot;, want, (want &gt;&gt; 9) &amp; 1, want &amp; 1); printf(&quot;after : EFLAGS=0x%08lx IF=%lu CF=%lu\n&quot;, after, (after &gt;&gt; 9) &amp; 1, after &amp; 1); /* --- 5. The verdict. No signal was raised; nothing faulted. */ printf(&quot;\ncarry flag taken? %s\n&quot;, (after &amp; 1) ? &quot;yes -- the instruction 'worked'&quot; : &quot;no&quot;); printf(&quot;interrupt flag taken? %s\n&quo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int</a:t>
            </a:r>
            <a:r>
              <a:rPr sz="1300" i="0">
                <a:solidFill>
                  <a:srgbClr val="E8EDF2"/>
                </a:solidFill>
                <a:latin typeface="Consolas"/>
              </a:rPr>
              <a:t> </a:t>
            </a:r>
            <a:r>
              <a:rPr sz="1300" i="0">
                <a:solidFill>
                  <a:srgbClr val="C39BD3"/>
                </a:solidFill>
                <a:latin typeface="Consolas"/>
              </a:rPr>
              <a:t>main</a:t>
            </a:r>
            <a:r>
              <a:rPr sz="1300" i="0">
                <a:solidFill>
                  <a:srgbClr val="AEB6BF"/>
                </a:solidFill>
                <a:latin typeface="Consolas"/>
              </a:rPr>
              <a:t>(</a:t>
            </a:r>
            <a:r>
              <a:rPr sz="1300" i="0">
                <a:solidFill>
                  <a:srgbClr val="5DADE2"/>
                </a:solidFill>
                <a:latin typeface="Consolas"/>
              </a:rPr>
              <a:t>void</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unsigned</a:t>
            </a:r>
            <a:r>
              <a:rPr sz="1300" i="0">
                <a:solidFill>
                  <a:srgbClr val="E8EDF2"/>
                </a:solidFill>
                <a:latin typeface="Consolas"/>
              </a:rPr>
              <a:t> </a:t>
            </a:r>
            <a:r>
              <a:rPr sz="1300" i="0">
                <a:solidFill>
                  <a:srgbClr val="5DADE2"/>
                </a:solidFill>
                <a:latin typeface="Consolas"/>
              </a:rPr>
              <a:t>long</a:t>
            </a:r>
            <a:r>
              <a:rPr sz="1300" i="0">
                <a:solidFill>
                  <a:srgbClr val="E8EDF2"/>
                </a:solidFill>
                <a:latin typeface="Consolas"/>
              </a:rPr>
              <a:t> </a:t>
            </a:r>
            <a:r>
              <a:rPr sz="1300" i="0">
                <a:solidFill>
                  <a:srgbClr val="E8EDF2"/>
                </a:solidFill>
                <a:latin typeface="Consolas"/>
              </a:rPr>
              <a:t>before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read_flags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printf</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before : EFLAGS=0x%08lx  IF=%lu</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before</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before</a:t>
            </a:r>
            <a:r>
              <a:rPr sz="1300" i="0">
                <a:solidFill>
                  <a:srgbClr val="E8EDF2"/>
                </a:solidFill>
                <a:latin typeface="Consolas"/>
              </a:rPr>
              <a:t> </a:t>
            </a:r>
            <a:r>
              <a:rPr sz="1300" i="0">
                <a:solidFill>
                  <a:srgbClr val="AEB6BF"/>
                </a:solidFill>
                <a:latin typeface="Consolas"/>
              </a:rPr>
              <a:t>&gt;</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9</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--- 3. Ask for interrupts off, and for the carry flag on.</a:t>
            </a:r>
          </a:p>
          <a:p>
            <a:pPr>
              <a:lnSpc>
                <a:spcPct val="100000"/>
              </a:lnSpc>
              <a:spcAft>
                <a:spcPts val="0"/>
              </a:spcAft>
            </a:pPr>
            <a:r>
              <a:rPr sz="1300" i="1">
                <a:solidFill>
                  <a:srgbClr val="8795A1"/>
                </a:solidFill>
                <a:latin typeface="Consolas"/>
              </a:rPr>
              <a:t>       A kernel entering a critical section does exactly this. */</a:t>
            </a:r>
          </a:p>
          <a:p>
            <a:pPr>
              <a:lnSpc>
                <a:spcPct val="100000"/>
              </a:lnSpc>
              <a:spcAft>
                <a:spcPts val="0"/>
              </a:spcAft>
            </a:pPr>
            <a:r>
              <a:rPr sz="1300" i="0">
                <a:solidFill>
                  <a:srgbClr val="E8EDF2"/>
                </a:solidFill>
                <a:latin typeface="Consolas"/>
              </a:rPr>
              <a:t>    </a:t>
            </a:r>
            <a:r>
              <a:rPr sz="1300" i="0">
                <a:solidFill>
                  <a:srgbClr val="5DADE2"/>
                </a:solidFill>
                <a:latin typeface="Consolas"/>
              </a:rPr>
              <a:t>unsigned</a:t>
            </a:r>
            <a:r>
              <a:rPr sz="1300" i="0">
                <a:solidFill>
                  <a:srgbClr val="E8EDF2"/>
                </a:solidFill>
                <a:latin typeface="Consolas"/>
              </a:rPr>
              <a:t> </a:t>
            </a:r>
            <a:r>
              <a:rPr sz="1300" i="0">
                <a:solidFill>
                  <a:srgbClr val="5DADE2"/>
                </a:solidFill>
                <a:latin typeface="Consolas"/>
              </a:rPr>
              <a:t>long</a:t>
            </a:r>
            <a:r>
              <a:rPr sz="1300" i="0">
                <a:solidFill>
                  <a:srgbClr val="E8EDF2"/>
                </a:solidFill>
                <a:latin typeface="Consolas"/>
              </a:rPr>
              <a:t> </a:t>
            </a:r>
            <a:r>
              <a:rPr sz="1300" i="0">
                <a:solidFill>
                  <a:srgbClr val="E8EDF2"/>
                </a:solidFill>
                <a:latin typeface="Consolas"/>
              </a:rPr>
              <a:t>want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before</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1UL</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&lt;</a:t>
            </a:r>
            <a:r>
              <a:rPr sz="1300" i="0">
                <a:solidFill>
                  <a:srgbClr val="E8EDF2"/>
                </a:solidFill>
                <a:latin typeface="Consolas"/>
              </a:rPr>
              <a:t> </a:t>
            </a:r>
            <a:r>
              <a:rPr sz="1300" i="0">
                <a:solidFill>
                  <a:srgbClr val="F7DC6F"/>
                </a:solidFill>
                <a:latin typeface="Consolas"/>
              </a:rPr>
              <a:t>9</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1UL</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IF=0, CF=1 */</a:t>
            </a:r>
          </a:p>
          <a:p>
            <a:pPr>
              <a:lnSpc>
                <a:spcPct val="100000"/>
              </a:lnSpc>
              <a:spcAft>
                <a:spcPts val="0"/>
              </a:spcAft>
            </a:pPr>
            <a:r>
              <a:rPr sz="1300" i="0">
                <a:solidFill>
                  <a:srgbClr val="E8EDF2"/>
                </a:solidFill>
                <a:latin typeface="Consolas"/>
              </a:rPr>
              <a:t>    </a:t>
            </a:r>
            <a:r>
              <a:rPr sz="1300" i="0">
                <a:solidFill>
                  <a:srgbClr val="E8EDF2"/>
                </a:solidFill>
                <a:latin typeface="Consolas"/>
              </a:rPr>
              <a:t>write_flags</a:t>
            </a:r>
            <a:r>
              <a:rPr sz="1300" i="0">
                <a:solidFill>
                  <a:srgbClr val="AEB6BF"/>
                </a:solidFill>
                <a:latin typeface="Consolas"/>
              </a:rPr>
              <a:t>(</a:t>
            </a:r>
            <a:r>
              <a:rPr sz="1300" i="0">
                <a:solidFill>
                  <a:srgbClr val="E8EDF2"/>
                </a:solidFill>
                <a:latin typeface="Consolas"/>
              </a:rPr>
              <a:t>want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--- 4. Look at what we actually got. */</a:t>
            </a:r>
          </a:p>
          <a:p>
            <a:pPr>
              <a:lnSpc>
                <a:spcPct val="100000"/>
              </a:lnSpc>
              <a:spcAft>
                <a:spcPts val="0"/>
              </a:spcAft>
            </a:pPr>
            <a:r>
              <a:rPr sz="1300" i="0">
                <a:solidFill>
                  <a:srgbClr val="E8EDF2"/>
                </a:solidFill>
                <a:latin typeface="Consolas"/>
              </a:rPr>
              <a:t>    </a:t>
            </a:r>
            <a:r>
              <a:rPr sz="1300" i="0">
                <a:solidFill>
                  <a:srgbClr val="5DADE2"/>
                </a:solidFill>
                <a:latin typeface="Consolas"/>
              </a:rPr>
              <a:t>unsigned</a:t>
            </a:r>
            <a:r>
              <a:rPr sz="1300" i="0">
                <a:solidFill>
                  <a:srgbClr val="E8EDF2"/>
                </a:solidFill>
                <a:latin typeface="Consolas"/>
              </a:rPr>
              <a:t> </a:t>
            </a:r>
            <a:r>
              <a:rPr sz="1300" i="0">
                <a:solidFill>
                  <a:srgbClr val="5DADE2"/>
                </a:solidFill>
                <a:latin typeface="Consolas"/>
              </a:rPr>
              <a:t>long</a:t>
            </a:r>
            <a:r>
              <a:rPr sz="1300" i="0">
                <a:solidFill>
                  <a:srgbClr val="E8EDF2"/>
                </a:solidFill>
                <a:latin typeface="Consolas"/>
              </a:rPr>
              <a:t> </a:t>
            </a:r>
            <a:r>
              <a:rPr sz="1300" i="0">
                <a:solidFill>
                  <a:srgbClr val="E8EDF2"/>
                </a:solidFill>
                <a:latin typeface="Consolas"/>
              </a:rPr>
              <a:t>after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read_flags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printf</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wanted : EFLAGS=0x%08lx  IF=%lu  CF=%lu</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want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want</a:t>
            </a:r>
            <a:r>
              <a:rPr sz="1300" i="0">
                <a:solidFill>
                  <a:srgbClr val="E8EDF2"/>
                </a:solidFill>
                <a:latin typeface="Consolas"/>
              </a:rPr>
              <a:t> </a:t>
            </a:r>
            <a:r>
              <a:rPr sz="1300" i="0">
                <a:solidFill>
                  <a:srgbClr val="AEB6BF"/>
                </a:solidFill>
                <a:latin typeface="Consolas"/>
              </a:rPr>
              <a:t>&gt;</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9</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want</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printf</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after  : EFLAGS=0x%08lx  IF=%lu  CF=%lu</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after</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after</a:t>
            </a:r>
            <a:r>
              <a:rPr sz="1300" i="0">
                <a:solidFill>
                  <a:srgbClr val="E8EDF2"/>
                </a:solidFill>
                <a:latin typeface="Consolas"/>
              </a:rPr>
              <a:t> </a:t>
            </a:r>
            <a:r>
              <a:rPr sz="1300" i="0">
                <a:solidFill>
                  <a:srgbClr val="AEB6BF"/>
                </a:solidFill>
                <a:latin typeface="Consolas"/>
              </a:rPr>
              <a:t>&gt;</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9</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after</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--- 5. The verdict. No signal was raised; nothing faulted. */</a:t>
            </a:r>
          </a:p>
          <a:p>
            <a:pPr>
              <a:lnSpc>
                <a:spcPct val="100000"/>
              </a:lnSpc>
              <a:spcAft>
                <a:spcPts val="0"/>
              </a:spcAft>
            </a:pPr>
            <a:r>
              <a:rPr sz="1300" i="0">
                <a:solidFill>
                  <a:srgbClr val="E8EDF2"/>
                </a:solidFill>
                <a:latin typeface="Consolas"/>
              </a:rPr>
              <a:t>    </a:t>
            </a:r>
            <a:r>
              <a:rPr sz="1300" i="0">
                <a:solidFill>
                  <a:srgbClr val="E8EDF2"/>
                </a:solidFill>
                <a:latin typeface="Consolas"/>
              </a:rPr>
              <a:t>printf</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\n</a:t>
            </a:r>
            <a:r>
              <a:rPr sz="1300" i="0">
                <a:solidFill>
                  <a:srgbClr val="7DCEA0"/>
                </a:solidFill>
                <a:latin typeface="Consolas"/>
              </a:rPr>
              <a:t>carry flag taken?     %s</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after</a:t>
            </a:r>
            <a:r>
              <a:rPr sz="1300" i="0">
                <a:solidFill>
                  <a:srgbClr val="E8EDF2"/>
                </a:solidFill>
                <a:latin typeface="Consolas"/>
              </a:rPr>
              <a:t> </a:t>
            </a:r>
            <a:r>
              <a:rPr sz="1300" i="0">
                <a:solidFill>
                  <a:srgbClr val="AEB6BF"/>
                </a:solidFill>
                <a:latin typeface="Consolas"/>
              </a:rPr>
              <a:t>&amp;</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 -- the instruction 'worked'</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printf</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interrupt flag taken? %s</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a:p>
            <a:pPr algn="r">
              <a:lnSpc>
                <a:spcPct val="100000"/>
              </a:lnSpc>
            </a:pPr>
            <a:r>
              <a:rPr sz="1300">
                <a:solidFill>
                  <a:srgbClr val="4F5D6A"/>
                </a:solidFill>
                <a:latin typeface="Consolas"/>
              </a:rPr>
              <a:t>36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Catching a Sensitive Instruction in the Act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A2FBCFCA-D2F4-4EF7-8DA7-E078818A3D6B}"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a:t>
            </a:r>
          </a:p>
        </p:txBody>
      </p:sp>
      <p:sp>
        <p:nvSpPr>
          <p:cNvPr id="13" name="!!code-text" descr="(((after &gt;&gt; 9) &amp; 1) == 0) ? &quot;yes&quot; : &quot;NO -- written, ignored, and no trap. This is the bug.&quot;); return 0; }"/>
          <p:cNvSpPr txBox="1"/>
          <p:nvPr/>
        </p:nvSpPr>
        <p:spPr>
          <a:xfrm>
            <a:off x="1362456" y="2066543"/>
            <a:ext cx="9987991" cy="13289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after</a:t>
            </a:r>
            <a:r>
              <a:rPr sz="2000" i="0">
                <a:solidFill>
                  <a:srgbClr val="E8EDF2"/>
                </a:solidFill>
                <a:latin typeface="Consolas"/>
              </a:rPr>
              <a:t> </a:t>
            </a:r>
            <a:r>
              <a:rPr sz="2000" i="0">
                <a:solidFill>
                  <a:srgbClr val="AEB6BF"/>
                </a:solidFill>
                <a:latin typeface="Consolas"/>
              </a:rPr>
              <a:t>&gt;</a:t>
            </a:r>
            <a:r>
              <a:rPr sz="2000" i="0">
                <a:solidFill>
                  <a:srgbClr val="AEB6BF"/>
                </a:solidFill>
                <a:latin typeface="Consolas"/>
              </a:rPr>
              <a:t>&gt;</a:t>
            </a:r>
            <a:r>
              <a:rPr sz="2000" i="0">
                <a:solidFill>
                  <a:srgbClr val="E8EDF2"/>
                </a:solidFill>
                <a:latin typeface="Consolas"/>
              </a:rPr>
              <a:t> </a:t>
            </a:r>
            <a:r>
              <a:rPr sz="2000" i="0">
                <a:solidFill>
                  <a:srgbClr val="F7DC6F"/>
                </a:solidFill>
                <a:latin typeface="Consolas"/>
              </a:rPr>
              <a:t>9</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&amp;</a:t>
            </a:r>
            <a:r>
              <a:rPr sz="2000" i="0">
                <a:solidFill>
                  <a:srgbClr val="E8EDF2"/>
                </a:solidFill>
                <a:latin typeface="Consolas"/>
              </a:rPr>
              <a:t> </a:t>
            </a:r>
            <a:r>
              <a:rPr sz="2000" i="0">
                <a:solidFill>
                  <a:srgbClr val="F7DC6F"/>
                </a:solidFill>
                <a:latin typeface="Consolas"/>
              </a:rPr>
              <a:t>1</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yes</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NO -- written, ignored, and no trap. This is the bug.</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AEB6BF"/>
                </a:solidFill>
                <a:latin typeface="Consolas"/>
              </a:rPr>
              <a:t>}</a:t>
            </a:r>
          </a:p>
        </p:txBody>
      </p:sp>
      <p:sp>
        <p:nvSpPr>
          <p:cNvPr id="14" name="!!code-num"/>
          <p:cNvSpPr txBox="1"/>
          <p:nvPr/>
        </p:nvSpPr>
        <p:spPr>
          <a:xfrm>
            <a:off x="768096" y="2066543"/>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a:p>
            <a:pPr algn="r">
              <a:lnSpc>
                <a:spcPct val="100000"/>
              </a:lnSpc>
            </a:pPr>
            <a:r>
              <a:rPr sz="2000">
                <a:solidFill>
                  <a:srgbClr val="4F5D6A"/>
                </a:solidFill>
                <a:latin typeface="Consolas"/>
              </a:rPr>
              <a:t>40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§3.4.2  ·  Handout p. 24     </a:t>
            </a:r>
            <a:fld id="{F8BF9A02-F1E1-4FB8-AA8A-CE46EDF301E7}"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program does not crash and reports no error. The carry flag changed, so by every signal available to the program the instruction succeeded — and the interrupt flag did not change. Now reread Step 4 of the worked example: a guest kernel in this position believes it holds a lock it does not hold.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architecture has an instruction </a:t>
            </a:r>
            <a:r>
              <a:rPr sz="3200" b="0" i="0">
                <a:solidFill>
                  <a:srgbClr val="FFFFFF"/>
                </a:solidFill>
                <a:latin typeface="Consolas"/>
              </a:rPr>
              <a:t>RDCFG</a:t>
            </a:r>
            <a:r>
              <a:rPr sz="3400" b="0" i="0">
                <a:solidFill>
                  <a:srgbClr val="FFFFFF"/>
                </a:solidFill>
                <a:latin typeface="Segoe UI Semibold"/>
              </a:rPr>
              <a:t> that returns the current privilege level and does not fault in user mode. Classify it using the two definitions, and say whether this architecture satisfies the Popek–Goldberg condition.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3  ·  The Virtual Machine Monitor</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29  ·  answers in Appendix D     </a:t>
            </a:r>
            <a:fld id="{40CC6F98-D3D8-4863-870D-6176F893890F}"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architecture has an instruction </a:t>
            </a:r>
            <a:r>
              <a:rPr sz="2250" b="0" i="0">
                <a:solidFill>
                  <a:srgbClr val="1A5276"/>
                </a:solidFill>
                <a:latin typeface="Consolas"/>
              </a:rPr>
              <a:t>RDCFG</a:t>
            </a:r>
            <a:r>
              <a:rPr sz="2400" b="0" i="0">
                <a:solidFill>
                  <a:srgbClr val="1A5276"/>
                </a:solidFill>
                <a:latin typeface="Segoe UI Semibold"/>
              </a:rPr>
              <a:t> that returns the current privilege level and does not fault in user mode. Classify it using the two definitions, and say whether this architecture satisfies the Popek–Goldberg condition.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RDCFG</a:t>
            </a:r>
            <a:r>
              <a:rPr sz="2200" b="0" i="0">
                <a:solidFill>
                  <a:srgbClr val="1C252B"/>
                </a:solidFill>
                <a:latin typeface="Segoe UI"/>
              </a:rPr>
              <a:t> is </a:t>
            </a:r>
            <a:r>
              <a:rPr sz="2200" b="1" i="0">
                <a:solidFill>
                  <a:srgbClr val="1C252B"/>
                </a:solidFill>
                <a:latin typeface="Segoe UI"/>
              </a:rPr>
              <a:t>behaviour-sensitive</a:t>
            </a:r>
            <a:r>
              <a:rPr sz="2200" b="0" i="0">
                <a:solidFill>
                  <a:srgbClr val="1C252B"/>
                </a:solidFill>
                <a:latin typeface="Segoe UI"/>
              </a:rPr>
              <a:t>: its result depends on the privilege configuration, which the monitor must control. It is </a:t>
            </a:r>
            <a:r>
              <a:rPr sz="2200" b="1" i="0">
                <a:solidFill>
                  <a:srgbClr val="1C252B"/>
                </a:solidFill>
                <a:latin typeface="Segoe UI"/>
              </a:rPr>
              <a:t>not privileged</a:t>
            </a:r>
            <a:r>
              <a:rPr sz="2200" b="0" i="0">
                <a:solidFill>
                  <a:srgbClr val="1C252B"/>
                </a:solidFill>
                <a:latin typeface="Segoe UI"/>
              </a:rPr>
              <a:t>: it does not fault in user mode. So there is a sensitive instruction outside the privileged set, the condition </a:t>
            </a:r>
            <a:r>
              <a:rPr sz="2200" b="0" i="1">
                <a:solidFill>
                  <a:srgbClr val="1C252B"/>
                </a:solidFill>
                <a:latin typeface="Segoe UI"/>
              </a:rPr>
              <a:t>sensitive </a:t>
            </a:r>
            <a:r>
              <a:rPr sz="2200" b="0" i="0">
                <a:solidFill>
                  <a:srgbClr val="1C252B"/>
                </a:solidFill>
                <a:latin typeface="Cambria"/>
              </a:rPr>
              <a:t>⊆</a:t>
            </a:r>
            <a:r>
              <a:rPr sz="2200" b="0" i="1">
                <a:solidFill>
                  <a:srgbClr val="1C252B"/>
                </a:solidFill>
                <a:latin typeface="Segoe UI"/>
              </a:rPr>
              <a:t> privileged</a:t>
            </a:r>
            <a:r>
              <a:rPr sz="2200" b="0" i="0">
                <a:solidFill>
                  <a:srgbClr val="1C252B"/>
                </a:solidFill>
                <a:latin typeface="Segoe UI"/>
              </a:rPr>
              <a:t> fails, and </a:t>
            </a:r>
            <a:r>
              <a:rPr sz="2200" b="1" i="0">
                <a:solidFill>
                  <a:srgbClr val="1C252B"/>
                </a:solidFill>
                <a:latin typeface="Segoe UI"/>
              </a:rPr>
              <a:t>the architecture is not virtualizable by trap-and-emulate alone</a:t>
            </a:r>
            <a:r>
              <a:rPr sz="2200" b="0" i="0">
                <a:solidFill>
                  <a:srgbClr val="1C252B"/>
                </a:solidFill>
                <a:latin typeface="Segoe UI"/>
              </a:rPr>
              <a:t>. A guest would read the deprivileged level and could detect, or misbehave in, virtualization.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  answers in Appendix D     </a:t>
            </a:r>
            <a:fld id="{EFFC66A7-A59A-45D3-ACC1-9167F7141369}"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18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would a </a:t>
            </a:r>
            <a:r>
              <a:rPr sz="3400" b="0" i="1">
                <a:solidFill>
                  <a:srgbClr val="FFFFFF"/>
                </a:solidFill>
                <a:latin typeface="Segoe UI Semibold"/>
              </a:rPr>
              <a:t>crash</a:t>
            </a:r>
            <a:r>
              <a:rPr sz="3400" b="0" i="0">
                <a:solidFill>
                  <a:srgbClr val="FFFFFF"/>
                </a:solidFill>
                <a:latin typeface="Segoe UI Semibold"/>
              </a:rPr>
              <a:t> on executing </a:t>
            </a:r>
            <a:r>
              <a:rPr sz="3200" b="0" i="0">
                <a:solidFill>
                  <a:srgbClr val="FFFFFF"/>
                </a:solidFill>
                <a:latin typeface="Consolas"/>
              </a:rPr>
              <a:t>POPF</a:t>
            </a:r>
            <a:r>
              <a:rPr sz="3400" b="0" i="0">
                <a:solidFill>
                  <a:srgbClr val="FFFFFF"/>
                </a:solidFill>
                <a:latin typeface="Segoe UI Semibold"/>
              </a:rPr>
              <a:t> in a guest have been a better outcome for hypervisor authors than what x86 actually does?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3  ·  The Virtual Machine Monitor</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29  ·  answers in Appendix D     </a:t>
            </a:r>
            <a:fld id="{4B4BA693-BAEA-4B9D-9CF5-EB8AE5614944}"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would a </a:t>
            </a:r>
            <a:r>
              <a:rPr sz="2400" b="0" i="1">
                <a:solidFill>
                  <a:srgbClr val="1A5276"/>
                </a:solidFill>
                <a:latin typeface="Segoe UI Semibold"/>
              </a:rPr>
              <a:t>crash</a:t>
            </a:r>
            <a:r>
              <a:rPr sz="2400" b="0" i="0">
                <a:solidFill>
                  <a:srgbClr val="1A5276"/>
                </a:solidFill>
                <a:latin typeface="Segoe UI Semibold"/>
              </a:rPr>
              <a:t> on executing </a:t>
            </a:r>
            <a:r>
              <a:rPr sz="2250" b="0" i="0">
                <a:solidFill>
                  <a:srgbClr val="1A5276"/>
                </a:solidFill>
                <a:latin typeface="Consolas"/>
              </a:rPr>
              <a:t>POPF</a:t>
            </a:r>
            <a:r>
              <a:rPr sz="2400" b="0" i="0">
                <a:solidFill>
                  <a:srgbClr val="1A5276"/>
                </a:solidFill>
                <a:latin typeface="Segoe UI Semibold"/>
              </a:rPr>
              <a:t> in a guest have been a better outcome for hypervisor authors than what x86 actually does?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crash is a </a:t>
            </a:r>
            <a:r>
              <a:rPr sz="2200" b="0" i="1">
                <a:solidFill>
                  <a:srgbClr val="1C252B"/>
                </a:solidFill>
                <a:latin typeface="Segoe UI"/>
              </a:rPr>
              <a:t>signal</a:t>
            </a:r>
            <a:r>
              <a:rPr sz="2200" b="0" i="0">
                <a:solidFill>
                  <a:srgbClr val="1C252B"/>
                </a:solidFill>
                <a:latin typeface="Segoe UI"/>
              </a:rPr>
              <a:t>. The monitor author would learn immediately, at the offending instruction, with a stack trace. What x86 does instead is accept the instruction, update the arithmetic flags and silently discard the write to </a:t>
            </a:r>
            <a:r>
              <a:rPr sz="2050" b="0" i="0">
                <a:solidFill>
                  <a:srgbClr val="1F4E79"/>
                </a:solidFill>
                <a:latin typeface="Consolas"/>
              </a:rPr>
              <a:t>IF</a:t>
            </a:r>
            <a:r>
              <a:rPr sz="2200" b="0" i="0">
                <a:solidFill>
                  <a:srgbClr val="1C252B"/>
                </a:solidFill>
                <a:latin typeface="Segoe UI"/>
              </a:rPr>
              <a:t>: the guest believes it disabled interrupts and did not. The resulting corruption is intermittent, unreproducible and traceable to nothing. Silent incorrect behaviour is far harder to engineer around than a loud failure.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  answers in Appendix D     </a:t>
            </a:r>
            <a:fld id="{6526894D-D8BA-4C61-9D64-1E1A8D586404}"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128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Binary translation needs no cooperation from the guest, and paravirtualization needs the guest’s source code. Give one situation where the second is nevertheless the better engineering choice, and say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3  ·  The Virtual Machine Monitor</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29  ·  answers in Appendix D     </a:t>
            </a:r>
            <a:fld id="{9D309B49-5F4E-4FC1-A097-F80DE2DAB38D}"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Binary translation needs no cooperation from the guest, and paravirtualization needs the guest’s source code. Give one situation where the second is nevertheless the better engineering choice, and say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When you control the guest and want the lowest overhead — for example a cloud provider shipping its own Linux images, or an appliance vendor building both halves. A hypercall costs tens of cycles where a trap costs hundreds, the monitor is far simpler, and the guest’s source is available by construction. The requirement that makes paravirtualization unusable in general is precisely the one that does not bind here.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  answers in Appendix D     </a:t>
            </a:r>
            <a:fld id="{D3AFB346-19C3-42F9-9A8E-8E18ABAD06DC}"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0754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E49C04C4-65D0-446F-814A-886AE23BE5AC}"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virtual machine monitor must provide equivalence, resource control and efficiency. Efficiency — a statistically dominant subset running natively — is what rules out an emulator and makes the problem hard.</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Privileged means the hardware traps it; sensitive means the monitor needs to know about it. They are different properties of different things.</a:t>
            </a:r>
          </a:p>
        </p:txBody>
      </p:sp>
      <p:sp>
        <p:nvSpPr>
          <p:cNvPr id="13" name="!!sb2">
            <a:extLst>
              <a:ext uri="{C183D7F6-B498-43B3-948B-1728B52AA6E4}">
                <adec:decorative xmlns:adec="http://schemas.microsoft.com/office/drawing/2017/decorative" val="1"/>
              </a:ext>
            </a:extLst>
          </p:cNvPr>
          <p:cNvSpPr/>
          <p:nvPr/>
        </p:nvSpPr>
        <p:spPr>
          <a:xfrm>
            <a:off x="658368" y="345948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Popek and Goldberg: a monitor can be built by trap-and-emulate if the sensitive instructions are a subset of the privileged ones.</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x86 had seventeen instructions that are sensitive and not privileged. </a:t>
            </a:r>
            <a:r>
              <a:rPr sz="1600" b="0" i="0">
                <a:solidFill>
                  <a:srgbClr val="1F4E79"/>
                </a:solidFill>
                <a:latin typeface="Consolas"/>
              </a:rPr>
              <a:t>POPF</a:t>
            </a:r>
            <a:r>
              <a:rPr sz="1700" b="0" i="0">
                <a:solidFill>
                  <a:srgbClr val="1C252B"/>
                </a:solidFill>
                <a:latin typeface="Segoe UI"/>
              </a:rPr>
              <a:t> silently discards a write to the interrupt flag in user mode, so the guest believes it disabled interrupts and did not.</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failure is silent, intermittent and untraceable — which is worse than a crash, and is why x86 was called non-virtualizable.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BDFCAF46-4225-4267-BF57-0AC6C5379D30}" type="slidenum">
              <a:rPr lang="en-GB" sz="1000">
                <a:solidFill>
                  <a:srgbClr val="8795A1"/>
                </a:solidFill>
                <a:latin typeface="Segoe UI"/>
              </a:rPr>
              <a:t>37</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Binary translation rewrites the guest’s kernel code at run time, needs no guest changes, and was for some years faster than the first hardware assistance. Ring deprivileging plus paravirtualization is simpler and needs the guest’s source.</a:t>
            </a:r>
          </a:p>
        </p:txBody>
      </p:sp>
      <p:sp>
        <p:nvSpPr>
          <p:cNvPr id="10" name="!!sb6">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6"/>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12" name="!!st6"/>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theorem is not obsolete. It is what Chapter 4 is an answer to, and it still decides the question for any new architecture.</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5A8E8592-8BDD-4CAA-8ECF-26C98D5C3A4E}"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Popek and Goldberg’s efficiency property requires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monitor adds less than 5% overhead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6066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statistically dominant subset of guest instructions executes directly on the processor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guest boots in under a minute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instruction is ever trapped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64809F29-1A8A-4767-9240-779D62DEE232}"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instruction that is sensitive but not privileged causes: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general protection fault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guest to crash</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monitor to lose control or correctness with no notification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performance penalty only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3  ·  The Virtual Machine Monitor</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5B2D1B5B-B56C-4559-974A-AFFF7D28FF6D}"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State the Popek–Goldberg condition in one sentence, and explain what each of the two instruction sets is a property of.</a:t>
            </a:r>
          </a:p>
        </p:txBody>
      </p:sp>
      <p:sp>
        <p:nvSpPr>
          <p:cNvPr id="10" name="!!rt1">
            <a:extLst>
              <a:ext uri="{C183D7F6-B498-43B3-948B-1728B52AA6E4}">
                <adec:decorative xmlns:adec="http://schemas.microsoft.com/office/drawing/2017/decorative" val="1"/>
              </a:ext>
            </a:extLst>
          </p:cNvPr>
          <p:cNvSpPr/>
          <p:nvPr/>
        </p:nvSpPr>
        <p:spPr>
          <a:xfrm>
            <a:off x="658368" y="248229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2343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464003"/>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Describe what </a:t>
            </a:r>
            <a:r>
              <a:rPr sz="1500" b="0" i="0">
                <a:solidFill>
                  <a:srgbClr val="1F4E79"/>
                </a:solidFill>
                <a:latin typeface="Consolas"/>
              </a:rPr>
              <a:t>POPF</a:t>
            </a:r>
            <a:r>
              <a:rPr sz="1600" b="0" i="0">
                <a:solidFill>
                  <a:srgbClr val="1C252B"/>
                </a:solidFill>
                <a:latin typeface="Segoe UI"/>
              </a:rPr>
              <a:t> does in user mode on x86 and why that single design decision cost the industry twenty-five years.</a:t>
            </a:r>
          </a:p>
        </p:txBody>
      </p:sp>
      <p:sp>
        <p:nvSpPr>
          <p:cNvPr id="13" name="!!rt2">
            <a:extLst>
              <a:ext uri="{C183D7F6-B498-43B3-948B-1728B52AA6E4}">
                <adec:decorative xmlns:adec="http://schemas.microsoft.com/office/drawing/2017/decorative" val="1"/>
              </a:ext>
            </a:extLst>
          </p:cNvPr>
          <p:cNvSpPr/>
          <p:nvPr/>
        </p:nvSpPr>
        <p:spPr>
          <a:xfrm>
            <a:off x="658368" y="320893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25008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190646"/>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Explain how binary translation could outperform hardware-assisted virtualization on a system-call-heavy workload in 2006, even though the hardware was doing the same job.</a:t>
            </a:r>
          </a:p>
        </p:txBody>
      </p:sp>
      <p:sp>
        <p:nvSpPr>
          <p:cNvPr id="16" name="!!rt3">
            <a:extLst>
              <a:ext uri="{C183D7F6-B498-43B3-948B-1728B52AA6E4}">
                <adec:decorative xmlns:adec="http://schemas.microsoft.com/office/drawing/2017/decorative" val="1"/>
              </a:ext>
            </a:extLst>
          </p:cNvPr>
          <p:cNvSpPr/>
          <p:nvPr/>
        </p:nvSpPr>
        <p:spPr>
          <a:xfrm>
            <a:off x="658368" y="393557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7672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17289"/>
            <a:ext cx="9549079" cy="76078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You are reviewing the specification of a new 64-bit architecture. Write the procedure you would follow to decide whether it can be virtualized by trap-and-emulate alone, say what evidence you would need from the vendor, and state what you would recommend if you found three offending instructions.</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76078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colleague proposes to run an unmodified legacy operating system, whose vendor no longer exists, on current hardware. Using this chapter and Chapter 2, set out which architectures are available to them, which are ruled out and why, and what you would check first.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4 — Hardware Support for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 pages 20–29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Catch a sensitive instruction failing silently</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3  ·  The Virtual Machine Monitor</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AFC20F7E-E2D2-46A8-A45D-5FE31B0FE86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The Virtual Machine Monitor</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