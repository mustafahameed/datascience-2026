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7294BA9-8188-4387-B2BA-BD8331876B1D}">
          <p14:sldIdLst>
            <p14:sldId id="256"/>
            <p14:sldId id="257"/>
            <p14:sldId id="258"/>
            <p14:sldId id="259"/>
            <p14:sldId id="260"/>
          </p14:sldIdLst>
        </p14:section>
        <p14:section name="13.1 The Switch That Is Not There" id="{B524DC28-30A0-48E8-9378-6DB578D135D0}">
          <p14:sldIdLst>
            <p14:sldId id="261"/>
          </p14:sldIdLst>
        </p14:section>
        <p14:section name="13.2 VLANs, and the Number 4094" id="{358A5AB2-F4B8-4324-B430-7E09FAB1C8E1}">
          <p14:sldIdLst>
            <p14:sldId id="262"/>
          </p14:sldIdLst>
        </p14:section>
        <p14:section name="13.3 Overlays" id="{44960CF7-1711-4065-A386-9C262D021A8C}">
          <p14:sldIdLst>
            <p14:sldId id="263"/>
            <p14:sldId id="264"/>
            <p14:sldId id="265"/>
            <p14:sldId id="266"/>
            <p14:sldId id="267"/>
            <p14:sldId id="268"/>
            <p14:sldId id="269"/>
          </p14:sldIdLst>
        </p14:section>
        <p14:section name="13.4 Separating the Planes" id="{793889EA-8B44-4108-BBED-47C9E5E3F66E}">
          <p14:sldIdLst>
            <p14:sldId id="270"/>
            <p14:sldId id="271"/>
            <p14:sldId id="272"/>
          </p14:sldIdLst>
        </p14:section>
        <p14:section name="13.5 NFV and Container Networking" id="{EB5642A6-63BC-4513-97FD-5F798671382C}">
          <p14:sldIdLst>
            <p14:sldId id="273"/>
          </p14:sldIdLst>
        </p14:section>
        <p14:section name="Pitfalls" id="{188F17FF-FE2F-4018-B11E-42530BDB1EF5}">
          <p14:sldIdLst>
            <p14:sldId id="274"/>
          </p14:sldIdLst>
        </p14:section>
        <p14:section name="Lab" id="{CB538222-61E6-453E-9DE9-E09B7E887975}">
          <p14:sldIdLst>
            <p14:sldId id="275"/>
            <p14:sldId id="276"/>
            <p14:sldId id="277"/>
            <p14:sldId id="278"/>
            <p14:sldId id="279"/>
            <p14:sldId id="280"/>
            <p14:sldId id="281"/>
            <p14:sldId id="282"/>
            <p14:sldId id="283"/>
            <p14:sldId id="284"/>
            <p14:sldId id="285"/>
          </p14:sldIdLst>
        </p14:section>
        <p14:section name="Checkpoint" id="{13267265-8B3C-4809-B24F-CBAEDCE76EE9}">
          <p14:sldIdLst>
            <p14:sldId id="286"/>
            <p14:sldId id="287"/>
            <p14:sldId id="288"/>
            <p14:sldId id="289"/>
            <p14:sldId id="290"/>
            <p14:sldId id="291"/>
          </p14:sldIdLst>
        </p14:section>
        <p14:section name="Wrap-up" id="{A410E021-6D7F-4549-A601-E9D794525354}">
          <p14:sldIdLst>
            <p14:sldId id="292"/>
            <p14:sldId id="293"/>
            <p14:sldId id="294"/>
            <p14:sldId id="295"/>
            <p14:sldId id="296"/>
            <p14:sldId id="29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Network Virtualization and SDN. Part 4 — Storage, Network and Cloud Virtualization. Week 10: Storage and network virtualization. Handout pages 101–107.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7 (virtio-net, SR-IOV, and the fact that VF-to-VF traffic never reaches the host) and Chapter 8 (the network namespace, which is what a container’s “own interface” actually is). From networking you need Ethernet frames, IP, MTU and what a switch does with a MAC address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virtual switch; Linux bridge; Open vSwitch; tap device; veth pair; uplink; VLAN; 802.1Q; trunk; overlay; underlay; VXLAN; VNI; VTEP; Geneve; encapsulation; MTU; MSS clamping; path MTU discovery; control plane; data plane; SDN; OpenFlow; NFV; VNF; service chaining; CNI; micro-segmentation.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host with thirty guests has one or two physical network ports. Something must decide which frame belongs to which guest, and that something is a virtual switch in software. Each guest’s virtual NIC terminates in a tap device on the host — a virtual interface whose other end is the guest. The switch learns MAC addresses and forwards between taps and the physical uplink, exactly as a physical switch forwards between ports. Linux offers two: the simple bridge, and Open vSwitch, which adds flow tables, tunnelling and a remote control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overlay solves both by putting the tenant’s Ethernet frame inside an ordinary IP packet. The physical network — the underlay — carries IP between hosts and knows nothing about tenants. The virtual network — the overlay — lives entirely in the encapsulation.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13.1 (handout p. 102): VXLAN encapsulation, to scale. The 24-bit VNI in those eight bytes is what replaces the 12-bit VLAN tag; the 50 bytes are what causes the fault in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switch does two different jobs. The data plane forwards frames, at line rate, millions per second. The control plane decides how they should be forwarded — learning addresses, running routing protocols, holding the policy. Traditionally both live in every switch, so policy is configured box by box and the network’s behaviour is an emergent property of several hundred configurations nobody can read at once.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switch can be software, so can a firewall, a load balancer and a router. Network function virtualization replaces purpose-built appliances with virtual machines or containers — VNFs — running the same function. A chain of them, traffic steered through in order, is service chaining, and the economics are the ones from Chapter 1: appliances sized for peak and idle most of the time, consolidated. In containers the same job is done by CNI, the Container Network Interface. When a Pod starts, the kubelet calls a CNI plugin, which creates the veth pair, assigns an address and installs routes. Which plugin you choose decides whether you get an overlay (Flannel’s VXLAN), routed addresses without encapsulation (Calico in BGP mode), or an eBPF data path with policy (Cilium).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a VXLAN overlay between two network namespaces, then reproduces the black hole of the worked example and fixes it three ways. Needs one Linux host.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virtual switch, and two "guests" as namespaces..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Now the underlay: two more namespaces playing "hosts"..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VXLAN tunnel across it: VNI 100..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Small packets work..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the black hole: large packets, don't-fragment set..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Fix 1: lower the overlay MTU to the arithmetic..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Fix 2: raise the underlay instead, and keep 1500 inside..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Watch the encapsulation on the wire..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14 + 40 + 8 + (8+16) = 86 bytes of overhead, so the largest inner frame is 1500 − 86 = 1414 bytes. Note that IPv6 and Geneve options together cost 36 bytes more than the VXLAN-over-IPv4 case in the chapter — the arithmetic must be redone for each encapsulation, never assumed at 50.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oversized packet is dropped and an ICMP “fragmentation needed” message is returned to tell the sender to use a smaller size. Path MTU discovery depends on that message arriving — and ICMP is very commonly filtered, so the sender never learns, retransmits the same segment and stalls for ever. The handshake succeeded because its packets were small. The firewall change is to permit ICMP type 3 code 4 (destination unreachable, fragmentation needed), which turns a silent hang into a connection that corrects itself.</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VLAN is a tag within a single layer-2 domain: it does not survive being routed, so it cannot span three buildings on different IP subnets. It is also limited to 4094 identifiers. Use an overlay — VXLAN or Geneve — which puts the tenant’s Ethernet frame inside an ordinary IP packet, so it crosses any routed network, and whose 24-bit identifier gives about 16.7 million isolated networks.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14 — Cloud Service and Deployment Models. READ: Handout Chapter 13, pages 101–107. THIS WEEK'S LAB: A thin pool to exhaustion; an overlay and its MTU. ASSESSMENT: Project proposal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5.xml"/><Relationship Id="rId9"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image" Target="../media/image23.png"/><Relationship Id="rId7" Type="http://schemas.openxmlformats.org/officeDocument/2006/relationships/image" Target="../media/image24.sv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8.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4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Network Virtualization and SDN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STORAGE, NETWORK AND CLOUD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13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E0D85994-1AED-4BB4-970C-D78394E7DFBB}"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822916"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41264"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34126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369864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Network Virtualization and SDN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7">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7">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7"/>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0" name="!!chipBU8">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8">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8"/>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77" name="!!chipUS1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0" name="!!chipUS20">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0">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0"/>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GPU and Accelerator Virtualization</a:t>
            </a:r>
          </a:p>
        </p:txBody>
      </p:sp>
      <p:sp>
        <p:nvSpPr>
          <p:cNvPr id="83" name="!!chipUS22">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2">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2"/>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Case Studies in Enterprise and Cloud Virtualization</a:t>
            </a:r>
          </a:p>
        </p:txBody>
      </p:sp>
      <p:sp>
        <p:nvSpPr>
          <p:cNvPr id="86" name="!!chipUS23">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23">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23"/>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805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BEB0ACE4-D829-47B2-9E81-2C69A9ECA52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a virtual switch and </a:t>
            </a:r>
            <a:r>
              <a:rPr sz="2100" b="1" i="0">
                <a:solidFill>
                  <a:srgbClr val="1C252B"/>
                </a:solidFill>
                <a:latin typeface="Segoe UI"/>
              </a:rPr>
              <a:t>explain</a:t>
            </a:r>
            <a:r>
              <a:rPr sz="2100" b="0" i="0">
                <a:solidFill>
                  <a:srgbClr val="1C252B"/>
                </a:solidFill>
                <a:latin typeface="Segoe UI"/>
              </a:rPr>
              <a:t> what it does that a physical switch cannot.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State</a:t>
            </a:r>
            <a:r>
              <a:rPr sz="2100" b="0" i="0">
                <a:solidFill>
                  <a:srgbClr val="1C252B"/>
                </a:solidFill>
                <a:latin typeface="Segoe UI"/>
              </a:rPr>
              <a:t> the limit that VLANs reach, and </a:t>
            </a:r>
            <a:r>
              <a:rPr sz="2100" b="1" i="0">
                <a:solidFill>
                  <a:srgbClr val="1C252B"/>
                </a:solidFill>
                <a:latin typeface="Segoe UI"/>
              </a:rPr>
              <a:t>explain</a:t>
            </a:r>
            <a:r>
              <a:rPr sz="2100" b="0" i="0">
                <a:solidFill>
                  <a:srgbClr val="1C252B"/>
                </a:solidFill>
                <a:latin typeface="Segoe UI"/>
              </a:rPr>
              <a:t> how an overlay removes it.</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19856"/>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the encapsulation overhead of VXLAN and </a:t>
            </a:r>
            <a:r>
              <a:rPr sz="2100" b="1" i="0">
                <a:solidFill>
                  <a:srgbClr val="1C252B"/>
                </a:solidFill>
                <a:latin typeface="Segoe UI"/>
              </a:rPr>
              <a:t>predict</a:t>
            </a:r>
            <a:r>
              <a:rPr sz="2100" b="0" i="0">
                <a:solidFill>
                  <a:srgbClr val="1C252B"/>
                </a:solidFill>
                <a:latin typeface="Segoe UI"/>
              </a:rPr>
              <a:t> the MTU failure it causes.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the control-plane/data-plane split and </a:t>
            </a:r>
            <a:r>
              <a:rPr sz="2100" b="1" i="0">
                <a:solidFill>
                  <a:srgbClr val="1C252B"/>
                </a:solidFill>
                <a:latin typeface="Segoe UI"/>
              </a:rPr>
              <a:t>say</a:t>
            </a:r>
            <a:r>
              <a:rPr sz="2100" b="0" i="0">
                <a:solidFill>
                  <a:srgbClr val="1C252B"/>
                </a:solidFill>
                <a:latin typeface="Segoe UI"/>
              </a:rPr>
              <a:t> what software-defined networking actually moved.</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Diagnose</a:t>
            </a:r>
            <a:r>
              <a:rPr sz="2100" b="0" i="0">
                <a:solidFill>
                  <a:srgbClr val="1C252B"/>
                </a:solidFill>
                <a:latin typeface="Segoe UI"/>
              </a:rPr>
              <a:t> a network fault in which small packets succeed and large transfers hang.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708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101     </a:t>
            </a:r>
            <a:fld id="{3603F5F7-D418-47EB-8D16-499801EC7539}" type="slidenum">
              <a:rPr lang="en-GB" sz="1000">
                <a:solidFill>
                  <a:srgbClr val="8795A1"/>
                </a:solidFill>
                <a:latin typeface="Segoe UI"/>
              </a:rPr>
              <a:t>4</a:t>
            </a:fld>
          </a:p>
        </p:txBody>
      </p:sp>
      <p:sp>
        <p:nvSpPr>
          <p:cNvPr id="7" name="!!term-virtual switch">
            <a:extLst>
              <a:ext uri="{C183D7F6-B498-43B3-948B-1728B52AA6E4}">
                <adec:decorative xmlns:adec="http://schemas.microsoft.com/office/drawing/2017/decorative" val="1"/>
              </a:ext>
            </a:extLst>
          </p:cNvPr>
          <p:cNvSpPr/>
          <p:nvPr/>
        </p:nvSpPr>
        <p:spPr>
          <a:xfrm>
            <a:off x="658368" y="1847088"/>
            <a:ext cx="15572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irtual switch">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irtual switch"/>
          <p:cNvSpPr txBox="1"/>
          <p:nvPr/>
        </p:nvSpPr>
        <p:spPr>
          <a:xfrm>
            <a:off x="950976" y="1970532"/>
            <a:ext cx="13743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switch</a:t>
            </a:r>
          </a:p>
        </p:txBody>
      </p:sp>
      <p:sp>
        <p:nvSpPr>
          <p:cNvPr id="10" name="!!term-Linux bridge">
            <a:extLst>
              <a:ext uri="{C183D7F6-B498-43B3-948B-1728B52AA6E4}">
                <adec:decorative xmlns:adec="http://schemas.microsoft.com/office/drawing/2017/decorative" val="1"/>
              </a:ext>
            </a:extLst>
          </p:cNvPr>
          <p:cNvSpPr/>
          <p:nvPr/>
        </p:nvSpPr>
        <p:spPr>
          <a:xfrm>
            <a:off x="2361886" y="1847088"/>
            <a:ext cx="14992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inux bridge">
            <a:extLst>
              <a:ext uri="{C183D7F6-B498-43B3-948B-1728B52AA6E4}">
                <adec:decorative xmlns:adec="http://schemas.microsoft.com/office/drawing/2017/decorative" val="1"/>
              </a:ext>
            </a:extLst>
          </p:cNvPr>
          <p:cNvSpPr/>
          <p:nvPr/>
        </p:nvSpPr>
        <p:spPr>
          <a:xfrm>
            <a:off x="248990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inux bridge"/>
          <p:cNvSpPr txBox="1"/>
          <p:nvPr/>
        </p:nvSpPr>
        <p:spPr>
          <a:xfrm>
            <a:off x="2654494" y="1970532"/>
            <a:ext cx="13163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Linux bridge</a:t>
            </a:r>
          </a:p>
        </p:txBody>
      </p:sp>
      <p:sp>
        <p:nvSpPr>
          <p:cNvPr id="13" name="!!term-Open vSwitch">
            <a:extLst>
              <a:ext uri="{C183D7F6-B498-43B3-948B-1728B52AA6E4}">
                <adec:decorative xmlns:adec="http://schemas.microsoft.com/office/drawing/2017/decorative" val="1"/>
              </a:ext>
            </a:extLst>
          </p:cNvPr>
          <p:cNvSpPr/>
          <p:nvPr/>
        </p:nvSpPr>
        <p:spPr>
          <a:xfrm>
            <a:off x="4007452" y="1847088"/>
            <a:ext cx="16138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pen vSwitch">
            <a:extLst>
              <a:ext uri="{C183D7F6-B498-43B3-948B-1728B52AA6E4}">
                <adec:decorative xmlns:adec="http://schemas.microsoft.com/office/drawing/2017/decorative" val="1"/>
              </a:ext>
            </a:extLst>
          </p:cNvPr>
          <p:cNvSpPr/>
          <p:nvPr/>
        </p:nvSpPr>
        <p:spPr>
          <a:xfrm>
            <a:off x="41354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pen vSwitch"/>
          <p:cNvSpPr txBox="1"/>
          <p:nvPr/>
        </p:nvSpPr>
        <p:spPr>
          <a:xfrm>
            <a:off x="4300060" y="1970532"/>
            <a:ext cx="14309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Open vSwitch</a:t>
            </a:r>
          </a:p>
        </p:txBody>
      </p:sp>
      <p:sp>
        <p:nvSpPr>
          <p:cNvPr id="16" name="!!term-tap device">
            <a:extLst>
              <a:ext uri="{C183D7F6-B498-43B3-948B-1728B52AA6E4}">
                <adec:decorative xmlns:adec="http://schemas.microsoft.com/office/drawing/2017/decorative" val="1"/>
              </a:ext>
            </a:extLst>
          </p:cNvPr>
          <p:cNvSpPr/>
          <p:nvPr/>
        </p:nvSpPr>
        <p:spPr>
          <a:xfrm>
            <a:off x="5767581" y="1847088"/>
            <a:ext cx="13187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ap device">
            <a:extLst>
              <a:ext uri="{C183D7F6-B498-43B3-948B-1728B52AA6E4}">
                <adec:decorative xmlns:adec="http://schemas.microsoft.com/office/drawing/2017/decorative" val="1"/>
              </a:ext>
            </a:extLst>
          </p:cNvPr>
          <p:cNvSpPr/>
          <p:nvPr/>
        </p:nvSpPr>
        <p:spPr>
          <a:xfrm>
            <a:off x="58955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ap device"/>
          <p:cNvSpPr txBox="1"/>
          <p:nvPr/>
        </p:nvSpPr>
        <p:spPr>
          <a:xfrm>
            <a:off x="6060189" y="1970532"/>
            <a:ext cx="113586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tap device</a:t>
            </a:r>
          </a:p>
        </p:txBody>
      </p:sp>
      <p:sp>
        <p:nvSpPr>
          <p:cNvPr id="19" name="!!term-veth pair">
            <a:extLst>
              <a:ext uri="{C183D7F6-B498-43B3-948B-1728B52AA6E4}">
                <adec:decorative xmlns:adec="http://schemas.microsoft.com/office/drawing/2017/decorative" val="1"/>
              </a:ext>
            </a:extLst>
          </p:cNvPr>
          <p:cNvSpPr/>
          <p:nvPr/>
        </p:nvSpPr>
        <p:spPr>
          <a:xfrm>
            <a:off x="7232633" y="1847088"/>
            <a:ext cx="11904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veth pair">
            <a:extLst>
              <a:ext uri="{C183D7F6-B498-43B3-948B-1728B52AA6E4}">
                <adec:decorative xmlns:adec="http://schemas.microsoft.com/office/drawing/2017/decorative" val="1"/>
              </a:ext>
            </a:extLst>
          </p:cNvPr>
          <p:cNvSpPr/>
          <p:nvPr/>
        </p:nvSpPr>
        <p:spPr>
          <a:xfrm>
            <a:off x="73606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veth pair"/>
          <p:cNvSpPr txBox="1"/>
          <p:nvPr/>
        </p:nvSpPr>
        <p:spPr>
          <a:xfrm>
            <a:off x="7525241" y="1970532"/>
            <a:ext cx="10075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veth pair</a:t>
            </a:r>
          </a:p>
        </p:txBody>
      </p:sp>
      <p:sp>
        <p:nvSpPr>
          <p:cNvPr id="22" name="!!term-uplink">
            <a:extLst>
              <a:ext uri="{C183D7F6-B498-43B3-948B-1728B52AA6E4}">
                <adec:decorative xmlns:adec="http://schemas.microsoft.com/office/drawing/2017/decorative" val="1"/>
              </a:ext>
            </a:extLst>
          </p:cNvPr>
          <p:cNvSpPr/>
          <p:nvPr/>
        </p:nvSpPr>
        <p:spPr>
          <a:xfrm>
            <a:off x="8569383" y="1847088"/>
            <a:ext cx="9637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uplink">
            <a:extLst>
              <a:ext uri="{C183D7F6-B498-43B3-948B-1728B52AA6E4}">
                <adec:decorative xmlns:adec="http://schemas.microsoft.com/office/drawing/2017/decorative" val="1"/>
              </a:ext>
            </a:extLst>
          </p:cNvPr>
          <p:cNvSpPr/>
          <p:nvPr/>
        </p:nvSpPr>
        <p:spPr>
          <a:xfrm>
            <a:off x="869739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uplink"/>
          <p:cNvSpPr txBox="1"/>
          <p:nvPr/>
        </p:nvSpPr>
        <p:spPr>
          <a:xfrm>
            <a:off x="8861991" y="1970532"/>
            <a:ext cx="7808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uplink</a:t>
            </a:r>
          </a:p>
        </p:txBody>
      </p:sp>
      <p:sp>
        <p:nvSpPr>
          <p:cNvPr id="25" name="!!term-VLAN">
            <a:extLst>
              <a:ext uri="{C183D7F6-B498-43B3-948B-1728B52AA6E4}">
                <adec:decorative xmlns:adec="http://schemas.microsoft.com/office/drawing/2017/decorative" val="1"/>
              </a:ext>
            </a:extLst>
          </p:cNvPr>
          <p:cNvSpPr/>
          <p:nvPr/>
        </p:nvSpPr>
        <p:spPr>
          <a:xfrm>
            <a:off x="9679430" y="1847088"/>
            <a:ext cx="9218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VLAN">
            <a:extLst>
              <a:ext uri="{C183D7F6-B498-43B3-948B-1728B52AA6E4}">
                <adec:decorative xmlns:adec="http://schemas.microsoft.com/office/drawing/2017/decorative" val="1"/>
              </a:ext>
            </a:extLst>
          </p:cNvPr>
          <p:cNvSpPr/>
          <p:nvPr/>
        </p:nvSpPr>
        <p:spPr>
          <a:xfrm>
            <a:off x="980744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VLAN"/>
          <p:cNvSpPr txBox="1"/>
          <p:nvPr/>
        </p:nvSpPr>
        <p:spPr>
          <a:xfrm>
            <a:off x="9972038" y="1970532"/>
            <a:ext cx="7389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VLAN</a:t>
            </a:r>
          </a:p>
        </p:txBody>
      </p:sp>
      <p:sp>
        <p:nvSpPr>
          <p:cNvPr id="28" name="!!term-802.1Q">
            <a:extLst>
              <a:ext uri="{C183D7F6-B498-43B3-948B-1728B52AA6E4}">
                <adec:decorative xmlns:adec="http://schemas.microsoft.com/office/drawing/2017/decorative" val="1"/>
              </a:ext>
            </a:extLst>
          </p:cNvPr>
          <p:cNvSpPr/>
          <p:nvPr/>
        </p:nvSpPr>
        <p:spPr>
          <a:xfrm>
            <a:off x="658368" y="2468880"/>
            <a:ext cx="10465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802.1Q">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802.1Q"/>
          <p:cNvSpPr txBox="1"/>
          <p:nvPr/>
        </p:nvSpPr>
        <p:spPr>
          <a:xfrm>
            <a:off x="950976" y="2592324"/>
            <a:ext cx="8636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802.1Q</a:t>
            </a:r>
          </a:p>
        </p:txBody>
      </p:sp>
      <p:sp>
        <p:nvSpPr>
          <p:cNvPr id="31" name="!!term-trunk">
            <a:extLst>
              <a:ext uri="{C183D7F6-B498-43B3-948B-1728B52AA6E4}">
                <adec:decorative xmlns:adec="http://schemas.microsoft.com/office/drawing/2017/decorative" val="1"/>
              </a:ext>
            </a:extLst>
          </p:cNvPr>
          <p:cNvSpPr/>
          <p:nvPr/>
        </p:nvSpPr>
        <p:spPr>
          <a:xfrm>
            <a:off x="1851191" y="2468880"/>
            <a:ext cx="8889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runk">
            <a:extLst>
              <a:ext uri="{C183D7F6-B498-43B3-948B-1728B52AA6E4}">
                <adec:decorative xmlns:adec="http://schemas.microsoft.com/office/drawing/2017/decorative" val="1"/>
              </a:ext>
            </a:extLst>
          </p:cNvPr>
          <p:cNvSpPr/>
          <p:nvPr/>
        </p:nvSpPr>
        <p:spPr>
          <a:xfrm>
            <a:off x="197920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runk"/>
          <p:cNvSpPr txBox="1"/>
          <p:nvPr/>
        </p:nvSpPr>
        <p:spPr>
          <a:xfrm>
            <a:off x="2143799" y="2592324"/>
            <a:ext cx="7060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trunk</a:t>
            </a:r>
          </a:p>
        </p:txBody>
      </p:sp>
      <p:sp>
        <p:nvSpPr>
          <p:cNvPr id="34" name="!!term-overlay">
            <a:extLst>
              <a:ext uri="{C183D7F6-B498-43B3-948B-1728B52AA6E4}">
                <adec:decorative xmlns:adec="http://schemas.microsoft.com/office/drawing/2017/decorative" val="1"/>
              </a:ext>
            </a:extLst>
          </p:cNvPr>
          <p:cNvSpPr/>
          <p:nvPr/>
        </p:nvSpPr>
        <p:spPr>
          <a:xfrm>
            <a:off x="2886429" y="2468880"/>
            <a:ext cx="10550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overlay">
            <a:extLst>
              <a:ext uri="{C183D7F6-B498-43B3-948B-1728B52AA6E4}">
                <adec:decorative xmlns:adec="http://schemas.microsoft.com/office/drawing/2017/decorative" val="1"/>
              </a:ext>
            </a:extLst>
          </p:cNvPr>
          <p:cNvSpPr/>
          <p:nvPr/>
        </p:nvSpPr>
        <p:spPr>
          <a:xfrm>
            <a:off x="301444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overlay"/>
          <p:cNvSpPr txBox="1"/>
          <p:nvPr/>
        </p:nvSpPr>
        <p:spPr>
          <a:xfrm>
            <a:off x="3179037" y="2592324"/>
            <a:ext cx="8721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overlay</a:t>
            </a:r>
          </a:p>
        </p:txBody>
      </p:sp>
      <p:sp>
        <p:nvSpPr>
          <p:cNvPr id="37" name="!!term-underlay">
            <a:extLst>
              <a:ext uri="{C183D7F6-B498-43B3-948B-1728B52AA6E4}">
                <adec:decorative xmlns:adec="http://schemas.microsoft.com/office/drawing/2017/decorative" val="1"/>
              </a:ext>
            </a:extLst>
          </p:cNvPr>
          <p:cNvSpPr/>
          <p:nvPr/>
        </p:nvSpPr>
        <p:spPr>
          <a:xfrm>
            <a:off x="4087784" y="2468880"/>
            <a:ext cx="11825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underlay">
            <a:extLst>
              <a:ext uri="{C183D7F6-B498-43B3-948B-1728B52AA6E4}">
                <adec:decorative xmlns:adec="http://schemas.microsoft.com/office/drawing/2017/decorative" val="1"/>
              </a:ext>
            </a:extLst>
          </p:cNvPr>
          <p:cNvSpPr/>
          <p:nvPr/>
        </p:nvSpPr>
        <p:spPr>
          <a:xfrm>
            <a:off x="42158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underlay"/>
          <p:cNvSpPr txBox="1"/>
          <p:nvPr/>
        </p:nvSpPr>
        <p:spPr>
          <a:xfrm>
            <a:off x="4380392" y="2592324"/>
            <a:ext cx="9996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underlay</a:t>
            </a:r>
          </a:p>
        </p:txBody>
      </p:sp>
      <p:sp>
        <p:nvSpPr>
          <p:cNvPr id="40" name="!!term-VXLAN">
            <a:extLst>
              <a:ext uri="{C183D7F6-B498-43B3-948B-1728B52AA6E4}">
                <adec:decorative xmlns:adec="http://schemas.microsoft.com/office/drawing/2017/decorative" val="1"/>
              </a:ext>
            </a:extLst>
          </p:cNvPr>
          <p:cNvSpPr/>
          <p:nvPr/>
        </p:nvSpPr>
        <p:spPr>
          <a:xfrm>
            <a:off x="5416624" y="2468880"/>
            <a:ext cx="10365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VXLAN">
            <a:extLst>
              <a:ext uri="{C183D7F6-B498-43B3-948B-1728B52AA6E4}">
                <adec:decorative xmlns:adec="http://schemas.microsoft.com/office/drawing/2017/decorative" val="1"/>
              </a:ext>
            </a:extLst>
          </p:cNvPr>
          <p:cNvSpPr/>
          <p:nvPr/>
        </p:nvSpPr>
        <p:spPr>
          <a:xfrm>
            <a:off x="554464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VXLAN"/>
          <p:cNvSpPr txBox="1"/>
          <p:nvPr/>
        </p:nvSpPr>
        <p:spPr>
          <a:xfrm>
            <a:off x="5709232" y="2592324"/>
            <a:ext cx="85362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VXLAN</a:t>
            </a:r>
          </a:p>
        </p:txBody>
      </p:sp>
      <p:sp>
        <p:nvSpPr>
          <p:cNvPr id="43" name="!!term-VNI">
            <a:extLst>
              <a:ext uri="{C183D7F6-B498-43B3-948B-1728B52AA6E4}">
                <adec:decorative xmlns:adec="http://schemas.microsoft.com/office/drawing/2017/decorative" val="1"/>
              </a:ext>
            </a:extLst>
          </p:cNvPr>
          <p:cNvSpPr/>
          <p:nvPr/>
        </p:nvSpPr>
        <p:spPr>
          <a:xfrm>
            <a:off x="6599431" y="2468880"/>
            <a:ext cx="7566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VNI">
            <a:extLst>
              <a:ext uri="{C183D7F6-B498-43B3-948B-1728B52AA6E4}">
                <adec:decorative xmlns:adec="http://schemas.microsoft.com/office/drawing/2017/decorative" val="1"/>
              </a:ext>
            </a:extLst>
          </p:cNvPr>
          <p:cNvSpPr/>
          <p:nvPr/>
        </p:nvSpPr>
        <p:spPr>
          <a:xfrm>
            <a:off x="67274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VNI"/>
          <p:cNvSpPr txBox="1"/>
          <p:nvPr/>
        </p:nvSpPr>
        <p:spPr>
          <a:xfrm>
            <a:off x="6892039" y="2592324"/>
            <a:ext cx="5737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VNI</a:t>
            </a:r>
          </a:p>
        </p:txBody>
      </p:sp>
      <p:sp>
        <p:nvSpPr>
          <p:cNvPr id="46" name="!!term-VTEP">
            <a:extLst>
              <a:ext uri="{C183D7F6-B498-43B3-948B-1728B52AA6E4}">
                <adec:decorative xmlns:adec="http://schemas.microsoft.com/office/drawing/2017/decorative" val="1"/>
              </a:ext>
            </a:extLst>
          </p:cNvPr>
          <p:cNvSpPr/>
          <p:nvPr/>
        </p:nvSpPr>
        <p:spPr>
          <a:xfrm>
            <a:off x="7502344" y="2468880"/>
            <a:ext cx="8685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VTEP">
            <a:extLst>
              <a:ext uri="{C183D7F6-B498-43B3-948B-1728B52AA6E4}">
                <adec:decorative xmlns:adec="http://schemas.microsoft.com/office/drawing/2017/decorative" val="1"/>
              </a:ext>
            </a:extLst>
          </p:cNvPr>
          <p:cNvSpPr/>
          <p:nvPr/>
        </p:nvSpPr>
        <p:spPr>
          <a:xfrm>
            <a:off x="763036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VTEP"/>
          <p:cNvSpPr txBox="1"/>
          <p:nvPr/>
        </p:nvSpPr>
        <p:spPr>
          <a:xfrm>
            <a:off x="7794952" y="2592324"/>
            <a:ext cx="6857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VTEP</a:t>
            </a:r>
          </a:p>
        </p:txBody>
      </p:sp>
      <p:sp>
        <p:nvSpPr>
          <p:cNvPr id="49" name="!!term-Geneve">
            <a:extLst>
              <a:ext uri="{C183D7F6-B498-43B3-948B-1728B52AA6E4}">
                <adec:decorative xmlns:adec="http://schemas.microsoft.com/office/drawing/2017/decorative" val="1"/>
              </a:ext>
            </a:extLst>
          </p:cNvPr>
          <p:cNvSpPr/>
          <p:nvPr/>
        </p:nvSpPr>
        <p:spPr>
          <a:xfrm>
            <a:off x="8517237" y="2468880"/>
            <a:ext cx="10801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Geneve">
            <a:extLst>
              <a:ext uri="{C183D7F6-B498-43B3-948B-1728B52AA6E4}">
                <adec:decorative xmlns:adec="http://schemas.microsoft.com/office/drawing/2017/decorative" val="1"/>
              </a:ext>
            </a:extLst>
          </p:cNvPr>
          <p:cNvSpPr/>
          <p:nvPr/>
        </p:nvSpPr>
        <p:spPr>
          <a:xfrm>
            <a:off x="86452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Geneve"/>
          <p:cNvSpPr txBox="1"/>
          <p:nvPr/>
        </p:nvSpPr>
        <p:spPr>
          <a:xfrm>
            <a:off x="8809845" y="2592324"/>
            <a:ext cx="8972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Geneve</a:t>
            </a:r>
          </a:p>
        </p:txBody>
      </p:sp>
      <p:sp>
        <p:nvSpPr>
          <p:cNvPr id="52" name="!!term-encapsulation">
            <a:extLst>
              <a:ext uri="{C183D7F6-B498-43B3-948B-1728B52AA6E4}">
                <adec:decorative xmlns:adec="http://schemas.microsoft.com/office/drawing/2017/decorative" val="1"/>
              </a:ext>
            </a:extLst>
          </p:cNvPr>
          <p:cNvSpPr/>
          <p:nvPr/>
        </p:nvSpPr>
        <p:spPr>
          <a:xfrm>
            <a:off x="9743658" y="2468880"/>
            <a:ext cx="1628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encapsulation">
            <a:extLst>
              <a:ext uri="{C183D7F6-B498-43B3-948B-1728B52AA6E4}">
                <adec:decorative xmlns:adec="http://schemas.microsoft.com/office/drawing/2017/decorative" val="1"/>
              </a:ext>
            </a:extLst>
          </p:cNvPr>
          <p:cNvSpPr/>
          <p:nvPr/>
        </p:nvSpPr>
        <p:spPr>
          <a:xfrm>
            <a:off x="987167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encapsulation"/>
          <p:cNvSpPr txBox="1"/>
          <p:nvPr/>
        </p:nvSpPr>
        <p:spPr>
          <a:xfrm>
            <a:off x="10036266" y="2592324"/>
            <a:ext cx="14455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encapsulation</a:t>
            </a:r>
          </a:p>
        </p:txBody>
      </p:sp>
      <p:sp>
        <p:nvSpPr>
          <p:cNvPr id="55" name="!!term-MTU">
            <a:extLst>
              <a:ext uri="{C183D7F6-B498-43B3-948B-1728B52AA6E4}">
                <adec:decorative xmlns:adec="http://schemas.microsoft.com/office/drawing/2017/decorative" val="1"/>
              </a:ext>
            </a:extLst>
          </p:cNvPr>
          <p:cNvSpPr/>
          <p:nvPr/>
        </p:nvSpPr>
        <p:spPr>
          <a:xfrm>
            <a:off x="658368" y="3090672"/>
            <a:ext cx="8487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MTU">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MTU"/>
          <p:cNvSpPr txBox="1"/>
          <p:nvPr/>
        </p:nvSpPr>
        <p:spPr>
          <a:xfrm>
            <a:off x="950976" y="3214116"/>
            <a:ext cx="66583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MTU</a:t>
            </a:r>
          </a:p>
        </p:txBody>
      </p:sp>
      <p:sp>
        <p:nvSpPr>
          <p:cNvPr id="58" name="!!term-MSS clamping">
            <a:extLst>
              <a:ext uri="{C183D7F6-B498-43B3-948B-1728B52AA6E4}">
                <adec:decorative xmlns:adec="http://schemas.microsoft.com/office/drawing/2017/decorative" val="1"/>
              </a:ext>
            </a:extLst>
          </p:cNvPr>
          <p:cNvSpPr/>
          <p:nvPr/>
        </p:nvSpPr>
        <p:spPr>
          <a:xfrm>
            <a:off x="1653383" y="3090672"/>
            <a:ext cx="16617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MSS clamping">
            <a:extLst>
              <a:ext uri="{C183D7F6-B498-43B3-948B-1728B52AA6E4}">
                <adec:decorative xmlns:adec="http://schemas.microsoft.com/office/drawing/2017/decorative" val="1"/>
              </a:ext>
            </a:extLst>
          </p:cNvPr>
          <p:cNvSpPr/>
          <p:nvPr/>
        </p:nvSpPr>
        <p:spPr>
          <a:xfrm>
            <a:off x="178139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MSS clamping"/>
          <p:cNvSpPr txBox="1"/>
          <p:nvPr/>
        </p:nvSpPr>
        <p:spPr>
          <a:xfrm>
            <a:off x="1945991" y="3214116"/>
            <a:ext cx="147882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MSS clamping</a:t>
            </a:r>
          </a:p>
        </p:txBody>
      </p:sp>
      <p:sp>
        <p:nvSpPr>
          <p:cNvPr id="61" name="!!term-path MTU disco">
            <a:extLst>
              <a:ext uri="{C183D7F6-B498-43B3-948B-1728B52AA6E4}">
                <adec:decorative xmlns:adec="http://schemas.microsoft.com/office/drawing/2017/decorative" val="1"/>
              </a:ext>
            </a:extLst>
          </p:cNvPr>
          <p:cNvSpPr/>
          <p:nvPr/>
        </p:nvSpPr>
        <p:spPr>
          <a:xfrm>
            <a:off x="3461392" y="3090672"/>
            <a:ext cx="21481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path MTU disco">
            <a:extLst>
              <a:ext uri="{C183D7F6-B498-43B3-948B-1728B52AA6E4}">
                <adec:decorative xmlns:adec="http://schemas.microsoft.com/office/drawing/2017/decorative" val="1"/>
              </a:ext>
            </a:extLst>
          </p:cNvPr>
          <p:cNvSpPr/>
          <p:nvPr/>
        </p:nvSpPr>
        <p:spPr>
          <a:xfrm>
            <a:off x="358940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path MTU disco"/>
          <p:cNvSpPr txBox="1"/>
          <p:nvPr/>
        </p:nvSpPr>
        <p:spPr>
          <a:xfrm>
            <a:off x="3754000" y="3214116"/>
            <a:ext cx="19652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path MTU discovery</a:t>
            </a:r>
          </a:p>
        </p:txBody>
      </p:sp>
      <p:sp>
        <p:nvSpPr>
          <p:cNvPr id="64" name="!!term-control plane">
            <a:extLst>
              <a:ext uri="{C183D7F6-B498-43B3-948B-1728B52AA6E4}">
                <adec:decorative xmlns:adec="http://schemas.microsoft.com/office/drawing/2017/decorative" val="1"/>
              </a:ext>
            </a:extLst>
          </p:cNvPr>
          <p:cNvSpPr/>
          <p:nvPr/>
        </p:nvSpPr>
        <p:spPr>
          <a:xfrm>
            <a:off x="5755823" y="3090672"/>
            <a:ext cx="15718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control plane">
            <a:extLst>
              <a:ext uri="{C183D7F6-B498-43B3-948B-1728B52AA6E4}">
                <adec:decorative xmlns:adec="http://schemas.microsoft.com/office/drawing/2017/decorative" val="1"/>
              </a:ext>
            </a:extLst>
          </p:cNvPr>
          <p:cNvSpPr/>
          <p:nvPr/>
        </p:nvSpPr>
        <p:spPr>
          <a:xfrm>
            <a:off x="58838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control plane"/>
          <p:cNvSpPr txBox="1"/>
          <p:nvPr/>
        </p:nvSpPr>
        <p:spPr>
          <a:xfrm>
            <a:off x="6048431" y="3214116"/>
            <a:ext cx="13890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control plane</a:t>
            </a:r>
          </a:p>
        </p:txBody>
      </p:sp>
      <p:sp>
        <p:nvSpPr>
          <p:cNvPr id="67" name="!!term-data plane">
            <a:extLst>
              <a:ext uri="{C183D7F6-B498-43B3-948B-1728B52AA6E4}">
                <adec:decorative xmlns:adec="http://schemas.microsoft.com/office/drawing/2017/decorative" val="1"/>
              </a:ext>
            </a:extLst>
          </p:cNvPr>
          <p:cNvSpPr/>
          <p:nvPr/>
        </p:nvSpPr>
        <p:spPr>
          <a:xfrm>
            <a:off x="7474021" y="3090672"/>
            <a:ext cx="13420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data plane">
            <a:extLst>
              <a:ext uri="{C183D7F6-B498-43B3-948B-1728B52AA6E4}">
                <adec:decorative xmlns:adec="http://schemas.microsoft.com/office/drawing/2017/decorative" val="1"/>
              </a:ext>
            </a:extLst>
          </p:cNvPr>
          <p:cNvSpPr/>
          <p:nvPr/>
        </p:nvSpPr>
        <p:spPr>
          <a:xfrm>
            <a:off x="760203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data plane"/>
          <p:cNvSpPr txBox="1"/>
          <p:nvPr/>
        </p:nvSpPr>
        <p:spPr>
          <a:xfrm>
            <a:off x="7766629" y="3214116"/>
            <a:ext cx="11591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data plane</a:t>
            </a:r>
          </a:p>
        </p:txBody>
      </p:sp>
      <p:sp>
        <p:nvSpPr>
          <p:cNvPr id="70" name="!!term-SDN">
            <a:extLst>
              <a:ext uri="{C183D7F6-B498-43B3-948B-1728B52AA6E4}">
                <adec:decorative xmlns:adec="http://schemas.microsoft.com/office/drawing/2017/decorative" val="1"/>
              </a:ext>
            </a:extLst>
          </p:cNvPr>
          <p:cNvSpPr/>
          <p:nvPr/>
        </p:nvSpPr>
        <p:spPr>
          <a:xfrm>
            <a:off x="8962390" y="3090672"/>
            <a:ext cx="8236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SDN">
            <a:extLst>
              <a:ext uri="{C183D7F6-B498-43B3-948B-1728B52AA6E4}">
                <adec:decorative xmlns:adec="http://schemas.microsoft.com/office/drawing/2017/decorative" val="1"/>
              </a:ext>
            </a:extLst>
          </p:cNvPr>
          <p:cNvSpPr/>
          <p:nvPr/>
        </p:nvSpPr>
        <p:spPr>
          <a:xfrm>
            <a:off x="909040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SDN"/>
          <p:cNvSpPr txBox="1"/>
          <p:nvPr/>
        </p:nvSpPr>
        <p:spPr>
          <a:xfrm>
            <a:off x="9254998" y="3214116"/>
            <a:ext cx="6407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SDN</a:t>
            </a:r>
          </a:p>
        </p:txBody>
      </p:sp>
      <p:sp>
        <p:nvSpPr>
          <p:cNvPr id="73" name="!!term-OpenFlow">
            <a:extLst>
              <a:ext uri="{C183D7F6-B498-43B3-948B-1728B52AA6E4}">
                <adec:decorative xmlns:adec="http://schemas.microsoft.com/office/drawing/2017/decorative" val="1"/>
              </a:ext>
            </a:extLst>
          </p:cNvPr>
          <p:cNvSpPr/>
          <p:nvPr/>
        </p:nvSpPr>
        <p:spPr>
          <a:xfrm>
            <a:off x="9932339" y="3090672"/>
            <a:ext cx="1307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OpenFlow">
            <a:extLst>
              <a:ext uri="{C183D7F6-B498-43B3-948B-1728B52AA6E4}">
                <adec:decorative xmlns:adec="http://schemas.microsoft.com/office/drawing/2017/decorative" val="1"/>
              </a:ext>
            </a:extLst>
          </p:cNvPr>
          <p:cNvSpPr/>
          <p:nvPr/>
        </p:nvSpPr>
        <p:spPr>
          <a:xfrm>
            <a:off x="1006035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OpenFlow"/>
          <p:cNvSpPr txBox="1"/>
          <p:nvPr/>
        </p:nvSpPr>
        <p:spPr>
          <a:xfrm>
            <a:off x="10224947" y="3214116"/>
            <a:ext cx="11245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OpenFlow</a:t>
            </a:r>
          </a:p>
        </p:txBody>
      </p:sp>
      <p:sp>
        <p:nvSpPr>
          <p:cNvPr id="76" name="!!term-NFV">
            <a:extLst>
              <a:ext uri="{C183D7F6-B498-43B3-948B-1728B52AA6E4}">
                <adec:decorative xmlns:adec="http://schemas.microsoft.com/office/drawing/2017/decorative" val="1"/>
              </a:ext>
            </a:extLst>
          </p:cNvPr>
          <p:cNvSpPr/>
          <p:nvPr/>
        </p:nvSpPr>
        <p:spPr>
          <a:xfrm>
            <a:off x="658368" y="3712464"/>
            <a:ext cx="7997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termd-NFV">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termt-NFV"/>
          <p:cNvSpPr txBox="1"/>
          <p:nvPr/>
        </p:nvSpPr>
        <p:spPr>
          <a:xfrm>
            <a:off x="950976" y="3835908"/>
            <a:ext cx="6168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NFV</a:t>
            </a:r>
          </a:p>
        </p:txBody>
      </p:sp>
      <p:sp>
        <p:nvSpPr>
          <p:cNvPr id="79" name="!!term-VNF">
            <a:extLst>
              <a:ext uri="{C183D7F6-B498-43B3-948B-1728B52AA6E4}">
                <adec:decorative xmlns:adec="http://schemas.microsoft.com/office/drawing/2017/decorative" val="1"/>
              </a:ext>
            </a:extLst>
          </p:cNvPr>
          <p:cNvSpPr/>
          <p:nvPr/>
        </p:nvSpPr>
        <p:spPr>
          <a:xfrm>
            <a:off x="1604417" y="3712464"/>
            <a:ext cx="7997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termd-VNF">
            <a:extLst>
              <a:ext uri="{C183D7F6-B498-43B3-948B-1728B52AA6E4}">
                <adec:decorative xmlns:adec="http://schemas.microsoft.com/office/drawing/2017/decorative" val="1"/>
              </a:ext>
            </a:extLst>
          </p:cNvPr>
          <p:cNvSpPr/>
          <p:nvPr/>
        </p:nvSpPr>
        <p:spPr>
          <a:xfrm>
            <a:off x="173243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termt-VNF"/>
          <p:cNvSpPr txBox="1"/>
          <p:nvPr/>
        </p:nvSpPr>
        <p:spPr>
          <a:xfrm>
            <a:off x="1897025" y="3835908"/>
            <a:ext cx="6168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VNF</a:t>
            </a:r>
          </a:p>
        </p:txBody>
      </p:sp>
      <p:sp>
        <p:nvSpPr>
          <p:cNvPr id="82" name="!!term-service chaini">
            <a:extLst>
              <a:ext uri="{C183D7F6-B498-43B3-948B-1728B52AA6E4}">
                <adec:decorative xmlns:adec="http://schemas.microsoft.com/office/drawing/2017/decorative" val="1"/>
              </a:ext>
            </a:extLst>
          </p:cNvPr>
          <p:cNvSpPr/>
          <p:nvPr/>
        </p:nvSpPr>
        <p:spPr>
          <a:xfrm>
            <a:off x="2550467" y="3712464"/>
            <a:ext cx="18025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termd-service chaini">
            <a:extLst>
              <a:ext uri="{C183D7F6-B498-43B3-948B-1728B52AA6E4}">
                <adec:decorative xmlns:adec="http://schemas.microsoft.com/office/drawing/2017/decorative" val="1"/>
              </a:ext>
            </a:extLst>
          </p:cNvPr>
          <p:cNvSpPr/>
          <p:nvPr/>
        </p:nvSpPr>
        <p:spPr>
          <a:xfrm>
            <a:off x="267848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rmt-service chaini"/>
          <p:cNvSpPr txBox="1"/>
          <p:nvPr/>
        </p:nvSpPr>
        <p:spPr>
          <a:xfrm>
            <a:off x="2843075" y="3835908"/>
            <a:ext cx="16196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service chaining</a:t>
            </a:r>
          </a:p>
        </p:txBody>
      </p:sp>
      <p:sp>
        <p:nvSpPr>
          <p:cNvPr id="85" name="!!term-CNI">
            <a:extLst>
              <a:ext uri="{C183D7F6-B498-43B3-948B-1728B52AA6E4}">
                <adec:decorative xmlns:adec="http://schemas.microsoft.com/office/drawing/2017/decorative" val="1"/>
              </a:ext>
            </a:extLst>
          </p:cNvPr>
          <p:cNvSpPr/>
          <p:nvPr/>
        </p:nvSpPr>
        <p:spPr>
          <a:xfrm>
            <a:off x="4499278" y="3712464"/>
            <a:ext cx="7562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termd-CNI">
            <a:extLst>
              <a:ext uri="{C183D7F6-B498-43B3-948B-1728B52AA6E4}">
                <adec:decorative xmlns:adec="http://schemas.microsoft.com/office/drawing/2017/decorative" val="1"/>
              </a:ext>
            </a:extLst>
          </p:cNvPr>
          <p:cNvSpPr/>
          <p:nvPr/>
        </p:nvSpPr>
        <p:spPr>
          <a:xfrm>
            <a:off x="462729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termt-CNI"/>
          <p:cNvSpPr txBox="1"/>
          <p:nvPr/>
        </p:nvSpPr>
        <p:spPr>
          <a:xfrm>
            <a:off x="4791886" y="3835908"/>
            <a:ext cx="5733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CNI</a:t>
            </a:r>
          </a:p>
        </p:txBody>
      </p:sp>
      <p:sp>
        <p:nvSpPr>
          <p:cNvPr id="88" name="!!term-micro-segmenta">
            <a:extLst>
              <a:ext uri="{C183D7F6-B498-43B3-948B-1728B52AA6E4}">
                <adec:decorative xmlns:adec="http://schemas.microsoft.com/office/drawing/2017/decorative" val="1"/>
              </a:ext>
            </a:extLst>
          </p:cNvPr>
          <p:cNvSpPr/>
          <p:nvPr/>
        </p:nvSpPr>
        <p:spPr>
          <a:xfrm>
            <a:off x="5401802" y="3712464"/>
            <a:ext cx="21810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termd-micro-segmenta">
            <a:extLst>
              <a:ext uri="{C183D7F6-B498-43B3-948B-1728B52AA6E4}">
                <adec:decorative xmlns:adec="http://schemas.microsoft.com/office/drawing/2017/decorative" val="1"/>
              </a:ext>
            </a:extLst>
          </p:cNvPr>
          <p:cNvSpPr/>
          <p:nvPr/>
        </p:nvSpPr>
        <p:spPr>
          <a:xfrm>
            <a:off x="55298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termt-micro-segmenta"/>
          <p:cNvSpPr txBox="1"/>
          <p:nvPr/>
        </p:nvSpPr>
        <p:spPr>
          <a:xfrm>
            <a:off x="5694410" y="3835908"/>
            <a:ext cx="199817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micro-segmentation</a:t>
            </a:r>
          </a:p>
        </p:txBody>
      </p:sp>
      <p:sp>
        <p:nvSpPr>
          <p:cNvPr id="91"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9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101–107     </a:t>
            </a:r>
            <a:fld id="{BF87EB3B-DF3F-4CC2-803A-3A90D64CF914}" type="slidenum">
              <a:rPr lang="en-GB" sz="1000">
                <a:solidFill>
                  <a:srgbClr val="8795A1"/>
                </a:solidFill>
                <a:latin typeface="Segoe UI"/>
              </a:rPr>
              <a:t>5</a:t>
            </a:fld>
          </a:p>
        </p:txBody>
      </p:sp>
      <p:sp>
        <p:nvSpPr>
          <p:cNvPr id="7" name="!!ag0" descr="Go to section 13.1 The Switch That Is Not Ther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Switch That Is Not There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101  ›</a:t>
            </a:r>
          </a:p>
        </p:txBody>
      </p:sp>
      <p:sp>
        <p:nvSpPr>
          <p:cNvPr id="12" name="!!ag1" descr="Go to section 13.2 VLANs, and the Number 4094">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VLANs, and the Number 4094</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102  ›</a:t>
            </a:r>
          </a:p>
        </p:txBody>
      </p:sp>
      <p:sp>
        <p:nvSpPr>
          <p:cNvPr id="17" name="!!ag2" descr="Go to section 13.3 Overlay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Overlays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102  ›</a:t>
            </a:r>
          </a:p>
        </p:txBody>
      </p:sp>
      <p:sp>
        <p:nvSpPr>
          <p:cNvPr id="22" name="!!ag3" descr="Go to section 13.4 Separating the Plan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Separating the Planes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103  ›</a:t>
            </a:r>
          </a:p>
        </p:txBody>
      </p:sp>
      <p:sp>
        <p:nvSpPr>
          <p:cNvPr id="27" name="!!ag4" descr="Go to section 13.5 NFV and Container Network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NFV and Container Networking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104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5139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 Virtual Switch Can Do That Steel Cannot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101     </a:t>
            </a:r>
            <a:fld id="{71DAE567-4886-4F74-BEAC-62D834AC58A2}"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0090"/>
          </a:xfrm>
          <a:prstGeom prst="roundRect">
            <a:avLst>
              <a:gd name="adj" fmla="val 211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009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It is not merely a cheaper switch. Three things follow from being software inside the hypervisor.</a:t>
            </a:r>
          </a:p>
        </p:txBody>
      </p:sp>
      <p:sp>
        <p:nvSpPr>
          <p:cNvPr id="10" name="body-1"/>
          <p:cNvSpPr txBox="1"/>
          <p:nvPr/>
        </p:nvSpPr>
        <p:spPr>
          <a:xfrm>
            <a:off x="1060704" y="2436444"/>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It knows what each port is.</a:t>
            </a:r>
            <a:r>
              <a:rPr sz="1700" b="0" i="0">
                <a:solidFill>
                  <a:srgbClr val="1C252B"/>
                </a:solidFill>
                <a:latin typeface="Segoe UI"/>
              </a:rPr>
              <a:t> A physical switch sees a MAC address. A virtual switch knows that this port is </a:t>
            </a:r>
            <a:r>
              <a:rPr sz="1700" b="0" i="1">
                <a:solidFill>
                  <a:srgbClr val="1C252B"/>
                </a:solidFill>
                <a:latin typeface="Segoe UI"/>
              </a:rPr>
              <a:t>the web server of tenant 14</a:t>
            </a:r>
            <a:r>
              <a:rPr sz="1700" b="0" i="0">
                <a:solidFill>
                  <a:srgbClr val="1C252B"/>
                </a:solidFill>
                <a:latin typeface="Segoe UI"/>
              </a:rPr>
              <a:t>, and can apply a rule written in those terms. This is what makes </a:t>
            </a:r>
            <a:r>
              <a:rPr sz="1700" b="1" i="0">
                <a:solidFill>
                  <a:srgbClr val="1A5276"/>
                </a:solidFill>
                <a:latin typeface="Segoe UI"/>
              </a:rPr>
              <a:t>micro-segmentation</a:t>
            </a:r>
            <a:r>
              <a:rPr sz="1700" b="0" i="0">
                <a:solidFill>
                  <a:srgbClr val="1C252B"/>
                </a:solidFill>
                <a:latin typeface="Segoe UI"/>
              </a:rPr>
              <a:t> possible: a firewall rule enforced at every guest’s own interface, instead of at a choke point the traffic may never cross.</a:t>
            </a:r>
          </a:p>
        </p:txBody>
      </p:sp>
      <p:sp>
        <p:nvSpPr>
          <p:cNvPr id="11" name="body-2"/>
          <p:cNvSpPr txBox="1"/>
          <p:nvPr/>
        </p:nvSpPr>
        <p:spPr>
          <a:xfrm>
            <a:off x="1060704" y="3632961"/>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It moves with the guest.</a:t>
            </a:r>
            <a:r>
              <a:rPr sz="1700" b="0" i="0">
                <a:solidFill>
                  <a:srgbClr val="1C252B"/>
                </a:solidFill>
                <a:latin typeface="Segoe UI"/>
              </a:rPr>
              <a:t> Live-migrate a guest (Chapter 17) and its port, its rules and its counters are recreated on the destination. No cable is patched and no switch port is reconfigured.</a:t>
            </a:r>
          </a:p>
        </p:txBody>
      </p:sp>
      <p:sp>
        <p:nvSpPr>
          <p:cNvPr id="12" name="body-3"/>
          <p:cNvSpPr txBox="1"/>
          <p:nvPr/>
        </p:nvSpPr>
        <p:spPr>
          <a:xfrm>
            <a:off x="1060704" y="4290593"/>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It is created and destroyed in milliseconds.</a:t>
            </a:r>
            <a:r>
              <a:rPr sz="1700" b="0" i="0">
                <a:solidFill>
                  <a:srgbClr val="1C252B"/>
                </a:solidFill>
                <a:latin typeface="Segoe UI"/>
              </a:rPr>
              <a:t> A Kubernetes node starting a Pod creates a </a:t>
            </a:r>
            <a:r>
              <a:rPr sz="1700" b="1" i="0">
                <a:solidFill>
                  <a:srgbClr val="1A5276"/>
                </a:solidFill>
                <a:latin typeface="Segoe UI"/>
              </a:rPr>
              <a:t>veth pair</a:t>
            </a:r>
            <a:r>
              <a:rPr sz="1700" b="0" i="0">
                <a:solidFill>
                  <a:srgbClr val="1C252B"/>
                </a:solidFill>
                <a:latin typeface="Segoe UI"/>
              </a:rPr>
              <a:t>, attaches one end to a bridge and moves the other into the Pod’s network namespace. That is the whole of container networking, and it happens hundreds of times a minute.</a:t>
            </a:r>
          </a:p>
        </p:txBody>
      </p:sp>
      <p:sp>
        <p:nvSpPr>
          <p:cNvPr id="13" name="body-4"/>
          <p:cNvSpPr txBox="1"/>
          <p:nvPr/>
        </p:nvSpPr>
        <p:spPr>
          <a:xfrm>
            <a:off x="1060704" y="5217667"/>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cost: it is a switch made of your host’s CPU. At high packet rates it competes with the guests, which is the measurement Chapter 7 made and the reason SR-IOV exists.</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VLANs, and the Number 4094</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102     </a:t>
            </a:r>
            <a:fld id="{3764A41E-4A35-417F-AF84-C2CE194B4671}" type="slidenum">
              <a:rPr lang="en-GB" sz="1000">
                <a:solidFill>
                  <a:srgbClr val="8795A1"/>
                </a:solidFill>
                <a:latin typeface="Segoe UI"/>
              </a:rPr>
              <a:t>7</a:t>
            </a:fld>
          </a:p>
        </p:txBody>
      </p:sp>
      <p:sp>
        <p:nvSpPr>
          <p:cNvPr id="7" name="!!stbar">
            <a:extLst>
              <a:ext uri="{C183D7F6-B498-43B3-948B-1728B52AA6E4}">
                <adec:decorative xmlns:adec="http://schemas.microsoft.com/office/drawing/2017/decorative" val="1"/>
              </a:ext>
            </a:extLst>
          </p:cNvPr>
          <p:cNvSpPr/>
          <p:nvPr/>
        </p:nvSpPr>
        <p:spPr>
          <a:xfrm>
            <a:off x="658368" y="1810512"/>
            <a:ext cx="73152" cy="3930141"/>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Separating tenants on a shared network is an old problem with an old answer. A </a:t>
            </a:r>
            <a:r>
              <a:rPr sz="2300" b="1" i="0">
                <a:solidFill>
                  <a:srgbClr val="1A5276"/>
                </a:solidFill>
                <a:latin typeface="Segoe UI"/>
              </a:rPr>
              <a:t>VLAN</a:t>
            </a:r>
            <a:r>
              <a:rPr sz="2300" b="0" i="0">
                <a:solidFill>
                  <a:srgbClr val="1C252B"/>
                </a:solidFill>
                <a:latin typeface="Segoe UI"/>
              </a:rPr>
              <a:t> tag — 802.1Q — is four bytes inserted into the Ethernet header, and switches treat differently-tagged frames as if they were on different wires.</a:t>
            </a:r>
          </a:p>
        </p:txBody>
      </p:sp>
      <p:sp>
        <p:nvSpPr>
          <p:cNvPr id="9" name="body-1"/>
          <p:cNvSpPr txBox="1"/>
          <p:nvPr/>
        </p:nvSpPr>
        <p:spPr>
          <a:xfrm>
            <a:off x="1042415" y="3046501"/>
            <a:ext cx="10417759"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tag contains a 12-bit VLAN identifier. That is </a:t>
            </a:r>
            <a:r>
              <a:rPr sz="2300" b="0" i="0">
                <a:solidFill>
                  <a:srgbClr val="1C252B"/>
                </a:solidFill>
                <a:latin typeface="Cambria"/>
              </a:rPr>
              <a:t>2</a:t>
            </a:r>
            <a:r>
              <a:rPr sz="1500" b="0" i="0" baseline="30000">
                <a:solidFill>
                  <a:srgbClr val="1C252B"/>
                </a:solidFill>
                <a:latin typeface="Cambria"/>
              </a:rPr>
              <a:t>12</a:t>
            </a:r>
            <a:r>
              <a:rPr sz="2300" b="0" i="0">
                <a:solidFill>
                  <a:srgbClr val="1C252B"/>
                </a:solidFill>
                <a:latin typeface="Cambria"/>
              </a:rPr>
              <a:t> = 4096</a:t>
            </a:r>
            <a:r>
              <a:rPr sz="2300" b="0" i="0">
                <a:solidFill>
                  <a:srgbClr val="1C252B"/>
                </a:solidFill>
                <a:latin typeface="Segoe UI"/>
              </a:rPr>
              <a:t> values, of which 0 and 4095 are reserved: </a:t>
            </a:r>
            <a:r>
              <a:rPr sz="2300" b="1" i="0">
                <a:solidFill>
                  <a:srgbClr val="1C252B"/>
                </a:solidFill>
                <a:latin typeface="Segoe UI"/>
              </a:rPr>
              <a:t>4094 usable networks</a:t>
            </a:r>
            <a:r>
              <a:rPr sz="2300" b="0" i="0">
                <a:solidFill>
                  <a:srgbClr val="1C252B"/>
                </a:solidFill>
                <a:latin typeface="Segoe UI"/>
              </a:rPr>
              <a:t>, per layer-2 domain, for ever.</a:t>
            </a:r>
          </a:p>
        </p:txBody>
      </p:sp>
      <p:sp>
        <p:nvSpPr>
          <p:cNvPr id="10" name="body-2"/>
          <p:cNvSpPr txBox="1"/>
          <p:nvPr/>
        </p:nvSpPr>
        <p:spPr>
          <a:xfrm>
            <a:off x="1042415" y="3936237"/>
            <a:ext cx="10417759"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one company that is ample. For a cloud provider with fifty thousand customers it is not a limit to be worked around; it is a wall. And there is a second problem that bites even small estates: a VLAN exists only within one layer-2 domain, so a guest cannot keep its address when it migrates to a host in another building.</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Overlays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The Switch That Is Not There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VLANs, and the Number 4094</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13.3   Overlays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Separating the Planes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13.5   NFV and Container Networking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§13.3     </a:t>
            </a:r>
            <a:fld id="{07B95F8E-F2AE-4430-85AD-BF44701F83FD}" type="slidenum">
              <a:rPr lang="en-GB" sz="1000">
                <a:solidFill>
                  <a:srgbClr val="8795A1"/>
                </a:solidFill>
                <a:latin typeface="Segoe UI"/>
              </a:rPr>
              <a:t>8</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VXLAN, VNI and VTEP</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ED382354-63D3-418D-912A-48D7A8B3211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VXLAN</a:t>
            </a:r>
            <a:r>
              <a:rPr sz="2200" b="0" i="0">
                <a:solidFill>
                  <a:srgbClr val="1C252B"/>
                </a:solidFill>
                <a:latin typeface="Segoe UI"/>
              </a:rPr>
              <a:t> wraps a guest’s complete Ethernet frame in UDP, and sends it to the host where the destination guest lives.</a:t>
            </a:r>
          </a:p>
        </p:txBody>
      </p:sp>
      <p:sp>
        <p:nvSpPr>
          <p:cNvPr id="10" name="body-1"/>
          <p:cNvSpPr txBox="1"/>
          <p:nvPr/>
        </p:nvSpPr>
        <p:spPr>
          <a:xfrm>
            <a:off x="1060704" y="2899308"/>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VNI</a:t>
            </a:r>
            <a:r>
              <a:rPr sz="2200" b="0" i="0">
                <a:solidFill>
                  <a:srgbClr val="1C252B"/>
                </a:solidFill>
                <a:latin typeface="Segoe UI"/>
              </a:rPr>
              <a:t> — VXLAN network identifier — is </a:t>
            </a:r>
            <a:r>
              <a:rPr sz="2200" b="1" i="0">
                <a:solidFill>
                  <a:srgbClr val="1C252B"/>
                </a:solidFill>
                <a:latin typeface="Segoe UI"/>
              </a:rPr>
              <a:t>24 bits</a:t>
            </a:r>
            <a:r>
              <a:rPr sz="2200" b="0" i="0">
                <a:solidFill>
                  <a:srgbClr val="1C252B"/>
                </a:solidFill>
                <a:latin typeface="Segoe UI"/>
              </a:rPr>
              <a:t>, so </a:t>
            </a:r>
            <a:r>
              <a:rPr sz="2200" b="0" i="0">
                <a:solidFill>
                  <a:srgbClr val="1C252B"/>
                </a:solidFill>
                <a:latin typeface="Cambria"/>
              </a:rPr>
              <a:t>2</a:t>
            </a:r>
            <a:r>
              <a:rPr sz="1450" b="0" i="0" baseline="30000">
                <a:solidFill>
                  <a:srgbClr val="1C252B"/>
                </a:solidFill>
                <a:latin typeface="Cambria"/>
              </a:rPr>
              <a:t>24</a:t>
            </a:r>
            <a:r>
              <a:rPr sz="2200" b="0" i="0">
                <a:solidFill>
                  <a:srgbClr val="1C252B"/>
                </a:solidFill>
                <a:latin typeface="Cambria"/>
              </a:rPr>
              <a:t> = 16,777,216</a:t>
            </a:r>
            <a:r>
              <a:rPr sz="2200" b="0" i="0">
                <a:solidFill>
                  <a:srgbClr val="1C252B"/>
                </a:solidFill>
                <a:latin typeface="Segoe UI"/>
              </a:rPr>
              <a:t> virtual networks instead of 4094. A </a:t>
            </a:r>
            <a:r>
              <a:rPr sz="2200" b="1" i="0">
                <a:solidFill>
                  <a:srgbClr val="1A5276"/>
                </a:solidFill>
                <a:latin typeface="Segoe UI"/>
              </a:rPr>
              <a:t>VTEP</a:t>
            </a:r>
            <a:r>
              <a:rPr sz="2200" b="0" i="0">
                <a:solidFill>
                  <a:srgbClr val="1C252B"/>
                </a:solidFill>
                <a:latin typeface="Segoe UI"/>
              </a:rPr>
              <a:t> (VXLAN tunnel endpoint) is the component that encapsulates and decapsulates; on a virtualization host it is the virtual switch.</a:t>
            </a:r>
          </a:p>
        </p:txBody>
      </p:sp>
      <p:sp>
        <p:nvSpPr>
          <p:cNvPr id="11" name="body-2"/>
          <p:cNvSpPr txBox="1"/>
          <p:nvPr/>
        </p:nvSpPr>
        <p:spPr>
          <a:xfrm>
            <a:off x="1060704" y="4447743"/>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outer packet is ordinary IP, the overlay crosses any routed network — another rack, another building, another data centre — without that network being told anything. </a:t>
            </a:r>
            <a:r>
              <a:rPr sz="2200" b="1" i="0">
                <a:solidFill>
                  <a:srgbClr val="1A5276"/>
                </a:solidFill>
                <a:latin typeface="Segoe UI"/>
              </a:rPr>
              <a:t>Geneve</a:t>
            </a:r>
            <a:r>
              <a:rPr sz="2200" b="0" i="0">
                <a:solidFill>
                  <a:srgbClr val="1C252B"/>
                </a:solidFill>
                <a:latin typeface="Segoe UI"/>
              </a:rPr>
              <a:t> is the newer, extensible version and is what most recent stacks use; the arithmetic below is the same.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125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VXLAN encapsulation, to scale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736BAB11-4310-483A-A7BB-687CF1A2702D}" type="slidenum">
              <a:rPr lang="en-GB" sz="1000">
                <a:solidFill>
                  <a:srgbClr val="8795A1"/>
                </a:solidFill>
                <a:latin typeface="Segoe UI"/>
              </a:rPr>
              <a:t>10</a:t>
            </a:fld>
          </a:p>
        </p:txBody>
      </p:sp>
      <p:pic>
        <p:nvPicPr>
          <p:cNvPr id="6" name="!!figure" descr="Figure 13.1. VXLAN encapsulation, to scale. The 24-bit VNI in those eight bytes is what replaces the 12-bit VLAN tag; the 50 bytes are what causes the fault in the worked examp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32946" y="1737360"/>
            <a:ext cx="872580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24-bit VNI in those eight bytes is what replaces the 12-bit VLAN tag; the 50 bytes are what causes the fault in the worked example.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Small Packets Work, Large Transfers Hang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91F431DF-A913-4FF5-9425-9ECDB5C00D45}"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28698"/>
          </a:xfrm>
          <a:prstGeom prst="roundRect">
            <a:avLst>
              <a:gd name="adj" fmla="val 211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2869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tenant reports: SSH logs in and then freezes on the first command with any output. </a:t>
            </a:r>
            <a:r>
              <a:rPr sz="1800" b="0" i="0">
                <a:solidFill>
                  <a:srgbClr val="1F4E79"/>
                </a:solidFill>
                <a:latin typeface="Consolas"/>
              </a:rPr>
              <a:t>ping</a:t>
            </a:r>
            <a:r>
              <a:rPr sz="1900" b="0" i="0">
                <a:solidFill>
                  <a:srgbClr val="1C252B"/>
                </a:solidFill>
                <a:latin typeface="Segoe UI"/>
              </a:rPr>
              <a:t> succeeds. Database queries returning one row work; queries returning a thousand rows time out. Backups never complete. The network team reports no errors and no packet loss.</a:t>
            </a:r>
          </a:p>
        </p:txBody>
      </p:sp>
      <p:sp>
        <p:nvSpPr>
          <p:cNvPr id="10" name="body-1"/>
          <p:cNvSpPr txBox="1"/>
          <p:nvPr/>
        </p:nvSpPr>
        <p:spPr>
          <a:xfrm>
            <a:off x="1042416" y="304782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what the two working cases have in common.</a:t>
            </a:r>
            <a:r>
              <a:rPr sz="1900" b="0" i="0">
                <a:solidFill>
                  <a:srgbClr val="1C252B"/>
                </a:solidFill>
                <a:latin typeface="Segoe UI"/>
              </a:rPr>
              <a:t> </a:t>
            </a:r>
            <a:r>
              <a:rPr sz="1800" b="0" i="0">
                <a:solidFill>
                  <a:srgbClr val="1F4E79"/>
                </a:solidFill>
                <a:latin typeface="Consolas"/>
              </a:rPr>
              <a:t>ping</a:t>
            </a:r>
            <a:r>
              <a:rPr sz="1900" b="0" i="0">
                <a:solidFill>
                  <a:srgbClr val="1C252B"/>
                </a:solidFill>
                <a:latin typeface="Segoe UI"/>
              </a:rPr>
              <a:t> sends 64-byte packets. An SSH login exchanges a few hundred bytes. A one-row query is small. Everything that </a:t>
            </a:r>
            <a:r>
              <a:rPr sz="1900" b="0" i="1">
                <a:solidFill>
                  <a:srgbClr val="1C252B"/>
                </a:solidFill>
                <a:latin typeface="Segoe UI"/>
              </a:rPr>
              <a:t>works</a:t>
            </a:r>
            <a:r>
              <a:rPr sz="1900" b="0" i="0">
                <a:solidFill>
                  <a:srgbClr val="1C252B"/>
                </a:solidFill>
                <a:latin typeface="Segoe UI"/>
              </a:rPr>
              <a:t> is small, and everything that fails is large. That is an MTU fault, and it is almost the only thing that produces this exact pattern.</a:t>
            </a:r>
          </a:p>
        </p:txBody>
      </p:sp>
      <p:sp>
        <p:nvSpPr>
          <p:cNvPr id="11" name="body-2"/>
          <p:cNvSpPr txBox="1"/>
          <p:nvPr/>
        </p:nvSpPr>
        <p:spPr>
          <a:xfrm>
            <a:off x="1042416" y="438510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the arithmetic.</a:t>
            </a:r>
            <a:r>
              <a:rPr sz="1900" b="0" i="0">
                <a:solidFill>
                  <a:srgbClr val="1C252B"/>
                </a:solidFill>
                <a:latin typeface="Segoe UI"/>
              </a:rPr>
              <a:t> The overlay is VXLAN over a standard network:</a:t>
            </a:r>
          </a:p>
        </p:txBody>
      </p:sp>
      <p:pic>
        <p:nvPicPr>
          <p:cNvPr id="12" name="body-3" descr="\underbrace{14}_{\text{outer Eth}} + \underbrace{20}_{\text{outer IP}} + \underbrace{8}_{\text{UDP}} + \underbrace{8}_{\text{VXLAN}} = 50 \text{ byt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818964"/>
            <a:ext cx="10234879" cy="515538"/>
          </a:xfrm>
          <a:prstGeom prst="rect">
            <a:avLst/>
          </a:prstGeom>
        </p:spPr>
      </p:pic>
      <p:pic>
        <p:nvPicPr>
          <p:cNvPr id="13" name="body-4" descr="\text{largest inner frame} = 1500 - 50 = \mathbf{1450 \text{ byt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467217"/>
            <a:ext cx="10234879" cy="324520"/>
          </a:xfrm>
          <a:prstGeom prst="rect">
            <a:avLst/>
          </a:prstGeom>
        </p:spPr>
      </p:pic>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1930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Small Packets Work, Large Transfers Hang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938261E9-DD33-4F32-99D9-15B3231B5774}"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71462"/>
          </a:xfrm>
          <a:prstGeom prst="roundRect">
            <a:avLst>
              <a:gd name="adj" fmla="val 236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71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what the guest believes.</a:t>
            </a:r>
            <a:r>
              <a:rPr sz="1900" b="0" i="0">
                <a:solidFill>
                  <a:srgbClr val="1C252B"/>
                </a:solidFill>
                <a:latin typeface="Segoe UI"/>
              </a:rPr>
              <a:t> Its interface is still at the default MTU of 1500. TCP therefore negotiates a maximum segment size of</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1500 - \underbrace{20}_{\text{IP}} - \underbrace{20}_{\text{TCP}} = 1460 \text{ byt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746679"/>
            <a:ext cx="10234879" cy="515538"/>
          </a:xfrm>
          <a:prstGeom prst="rect">
            <a:avLst/>
          </a:prstGeom>
        </p:spPr>
      </p:pic>
      <p:sp>
        <p:nvSpPr>
          <p:cNvPr id="12" name="body-2"/>
          <p:cNvSpPr txBox="1"/>
          <p:nvPr/>
        </p:nvSpPr>
        <p:spPr>
          <a:xfrm>
            <a:off x="1042416" y="339493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 a full segment becomes a 1500-byte inner frame, which becomes a 1550-byte packet on a wire that carries 1500.</a:t>
            </a:r>
          </a:p>
        </p:txBody>
      </p:sp>
      <p:sp>
        <p:nvSpPr>
          <p:cNvPr id="13" name="body-3"/>
          <p:cNvSpPr txBox="1"/>
          <p:nvPr/>
        </p:nvSpPr>
        <p:spPr>
          <a:xfrm>
            <a:off x="1042416" y="4129933"/>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why it hangs rather than fails.</a:t>
            </a:r>
            <a:r>
              <a:rPr sz="1900" b="0" i="0">
                <a:solidFill>
                  <a:srgbClr val="1C252B"/>
                </a:solidFill>
                <a:latin typeface="Segoe UI"/>
              </a:rPr>
              <a:t> The VTEP sets the </a:t>
            </a:r>
            <a:r>
              <a:rPr sz="1900" b="0" i="1">
                <a:solidFill>
                  <a:srgbClr val="1C252B"/>
                </a:solidFill>
                <a:latin typeface="Segoe UI"/>
              </a:rPr>
              <a:t>don’t fragment</a:t>
            </a:r>
            <a:r>
              <a:rPr sz="1900" b="0" i="0">
                <a:solidFill>
                  <a:srgbClr val="1C252B"/>
                </a:solidFill>
                <a:latin typeface="Segoe UI"/>
              </a:rPr>
              <a:t> bit, so the oversized packet is dropped and an ICMP “fragmentation needed” message is returned to tell the sender to use a smaller size. That mechanism — path MTU discovery — is how this is supposed to self-correct.</a:t>
            </a:r>
          </a:p>
        </p:txBody>
      </p:sp>
      <p:sp>
        <p:nvSpPr>
          <p:cNvPr id="14" name="body-3bar">
            <a:extLst>
              <a:ext uri="{C183D7F6-B498-43B3-948B-1728B52AA6E4}">
                <adec:decorative xmlns:adec="http://schemas.microsoft.com/office/drawing/2017/decorative" val="1"/>
              </a:ext>
            </a:extLst>
          </p:cNvPr>
          <p:cNvSpPr/>
          <p:nvPr/>
        </p:nvSpPr>
        <p:spPr>
          <a:xfrm>
            <a:off x="841248" y="4148221"/>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Small Packets Work, Large Transfers Hang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FEB7D02B-9383-41A6-943A-26697EEA8CA1}"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08806"/>
          </a:xfrm>
          <a:prstGeom prst="roundRect">
            <a:avLst>
              <a:gd name="adj" fmla="val 253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0880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It does not self-correct, because ICMP is very commonly filtered. The sender never learns, retransmits the same oversized segment, and the connection stalls for ever. This is a </a:t>
            </a:r>
            <a:r>
              <a:rPr sz="1900" b="1" i="0">
                <a:solidFill>
                  <a:srgbClr val="1A5276"/>
                </a:solidFill>
                <a:latin typeface="Segoe UI"/>
              </a:rPr>
              <a:t>PMTUD black hole</a:t>
            </a:r>
            <a:r>
              <a:rPr sz="1900" b="0" i="0">
                <a:solidFill>
                  <a:srgbClr val="1C252B"/>
                </a:solidFill>
                <a:latin typeface="Segoe UI"/>
              </a:rPr>
              <a:t>, and the handshake succeeded only because the handshake packets were small.</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three fixes, in order of preference.</a:t>
            </a:r>
          </a:p>
        </p:txBody>
      </p:sp>
      <p:sp>
        <p:nvSpPr>
          <p:cNvPr id="11" name="body-1bar">
            <a:extLst>
              <a:ext uri="{C183D7F6-B498-43B3-948B-1728B52AA6E4}">
                <adec:decorative xmlns:adec="http://schemas.microsoft.com/office/drawing/2017/decorative" val="1"/>
              </a:ext>
            </a:extLst>
          </p:cNvPr>
          <p:cNvSpPr/>
          <p:nvPr/>
        </p:nvSpPr>
        <p:spPr>
          <a:xfrm>
            <a:off x="841248" y="30661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481679"/>
            <a:ext cx="10234879" cy="163588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Raise the underlay.</a:t>
            </a:r>
            <a:r>
              <a:rPr sz="1900" b="0" i="0">
                <a:solidFill>
                  <a:srgbClr val="1C252B"/>
                </a:solidFill>
                <a:latin typeface="Segoe UI"/>
              </a:rPr>
              <a:t> Set the physical network to jumbo frames, 9000 bytes, giving an inner MTU of 8950. Guests keep 1500 and nothing else changes. Best answer, and it requires every switch on the path.</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Lower the guest.</a:t>
            </a:r>
            <a:r>
              <a:rPr sz="1900" b="0" i="0">
                <a:solidFill>
                  <a:srgbClr val="1C252B"/>
                </a:solidFill>
                <a:latin typeface="Segoe UI"/>
              </a:rPr>
              <a:t> Set guest interfaces to 1450. Correct, free, and requires touching every guest — and every guest anyone adds later.</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377361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35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35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Small Packets Work, Large Transfers Hang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102     </a:t>
            </a:r>
            <a:fld id="{CC94A006-2F7B-457A-ACCD-0391625F4E75}"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Clamp the MSS.</a:t>
            </a:r>
            <a:r>
              <a:rPr sz="1900" b="0" i="0">
                <a:solidFill>
                  <a:srgbClr val="1C252B"/>
                </a:solidFill>
                <a:latin typeface="Segoe UI"/>
              </a:rPr>
              <a:t> Have the virtual switch rewrite the MSS in passing SYN packets to 1410. Works without touching guests, and only helps TCP: UDP and anything tunnelled stays broken.</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what to take from it.</a:t>
            </a:r>
            <a:r>
              <a:rPr sz="1900" b="0" i="0">
                <a:solidFill>
                  <a:srgbClr val="1C252B"/>
                </a:solidFill>
                <a:latin typeface="Segoe UI"/>
              </a:rPr>
              <a:t> The encapsulation of this chapter is invisible until it is not, and when it becomes visible the symptom points nowhere near the cause. “Small works, large hangs” should go straight to arithmetic: add up the headers.</a:t>
            </a:r>
          </a:p>
        </p:txBody>
      </p:sp>
      <p:sp>
        <p:nvSpPr>
          <p:cNvPr id="11" name="body-1bar">
            <a:extLst>
              <a:ext uri="{C183D7F6-B498-43B3-948B-1728B52AA6E4}">
                <adec:decorative xmlns:adec="http://schemas.microsoft.com/office/drawing/2017/decorative" val="1"/>
              </a:ext>
            </a:extLst>
          </p:cNvPr>
          <p:cNvSpPr/>
          <p:nvPr/>
        </p:nvSpPr>
        <p:spPr>
          <a:xfrm>
            <a:off x="841248" y="306611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Separating the Planes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The Switch That Is Not There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VLANs, and the Number 4094</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Overlays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13.4   Separating the Planes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13.5   NFV and Container Networking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§13.4     </a:t>
            </a:r>
            <a:fld id="{967EDED2-A4B0-457B-8E1C-9B7857594160}" type="slidenum">
              <a:rPr lang="en-GB" sz="1000">
                <a:solidFill>
                  <a:srgbClr val="8795A1"/>
                </a:solidFill>
                <a:latin typeface="Segoe UI"/>
              </a:rPr>
              <a:t>15</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35417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Software-Defined Networking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103     </a:t>
            </a:r>
            <a:fld id="{06C86654-B93B-4C76-941B-CB44D1693017}"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SDN</a:t>
            </a:r>
            <a:r>
              <a:rPr sz="2300" b="0" i="0">
                <a:solidFill>
                  <a:srgbClr val="1C252B"/>
                </a:solidFill>
                <a:latin typeface="Segoe UI"/>
              </a:rPr>
              <a:t> separates the two: the data plane stays in the switches, and the control plane is lifted out into a </a:t>
            </a:r>
            <a:r>
              <a:rPr sz="2300" b="1" i="0">
                <a:solidFill>
                  <a:srgbClr val="1A5276"/>
                </a:solidFill>
                <a:latin typeface="Segoe UI"/>
              </a:rPr>
              <a:t>controller</a:t>
            </a:r>
            <a:r>
              <a:rPr sz="2300" b="0" i="0">
                <a:solidFill>
                  <a:srgbClr val="1C252B"/>
                </a:solidFill>
                <a:latin typeface="Segoe UI"/>
              </a:rPr>
              <a:t> with a view of the whole network. It programmes each device’s forwarding tables through an open interface — </a:t>
            </a:r>
            <a:r>
              <a:rPr sz="2300" b="1" i="0">
                <a:solidFill>
                  <a:srgbClr val="1A5276"/>
                </a:solidFill>
                <a:latin typeface="Segoe UI"/>
              </a:rPr>
              <a:t>OpenFlow</a:t>
            </a:r>
            <a:r>
              <a:rPr sz="2300" b="0" i="0">
                <a:solidFill>
                  <a:srgbClr val="1C252B"/>
                </a:solidFill>
                <a:latin typeface="Segoe UI"/>
              </a:rPr>
              <a:t> being the first and best known.</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change is in where policy lives. “Tenant 14 may not reach tenant 9” stops being a set of access lists on twelve switches and becomes one statement to one controller, which works out the consequences everywhere. Networks become programmable in the way that Chapter 16’s infrastructure-as-code makes servers programmable.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Actually Happened to SDN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103     </a:t>
            </a:r>
            <a:fld id="{E9FCEDF1-228E-4DFE-9AC8-E47D3DBF47D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98646"/>
          </a:xfrm>
          <a:prstGeom prst="roundRect">
            <a:avLst>
              <a:gd name="adj" fmla="val 234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9864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It is worth being honest about this, because the textbook account and the industry’s experience differ.</a:t>
            </a:r>
          </a:p>
        </p:txBody>
      </p:sp>
      <p:sp>
        <p:nvSpPr>
          <p:cNvPr id="10" name="body-1"/>
          <p:cNvSpPr txBox="1"/>
          <p:nvPr/>
        </p:nvSpPr>
        <p:spPr>
          <a:xfrm>
            <a:off x="1060704" y="2783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Pure OpenFlow — dumb switches, one central controller — did not take over. The controller became a scaling and availability problem, hardware support was uneven, and operators were unwilling to put every forwarding decision behind a single piece of software.</a:t>
            </a:r>
          </a:p>
        </p:txBody>
      </p:sp>
      <p:sp>
        <p:nvSpPr>
          <p:cNvPr id="11" name="body-2"/>
          <p:cNvSpPr txBox="1"/>
          <p:nvPr/>
        </p:nvSpPr>
        <p:spPr>
          <a:xfrm>
            <a:off x="1060704" y="3819398"/>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did take over is the </a:t>
            </a:r>
            <a:r>
              <a:rPr sz="1900" b="0" i="1">
                <a:solidFill>
                  <a:srgbClr val="1C252B"/>
                </a:solidFill>
                <a:latin typeface="Segoe UI"/>
              </a:rPr>
              <a:t>idea</a:t>
            </a:r>
            <a:r>
              <a:rPr sz="1900" b="0" i="0">
                <a:solidFill>
                  <a:srgbClr val="1C252B"/>
                </a:solidFill>
                <a:latin typeface="Segoe UI"/>
              </a:rPr>
              <a:t>: a central place that holds intent, and devices programmed from it. It is everywhere in virtualization — NSX, ACI, every cloud’s virtual network, every Kubernetes CNI plugin — usually with distributed agents rather than one controller, and usually with the overlay doing the heavy lifting. The vocabulary survived better than the protocol, which is a common pattern and worth recognising when you meet the next one.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934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packets you cannot see go</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2BCA18AD-6B71-42E9-94F3-32BD5DE86AD0}"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0511"/>
          </a:xfrm>
          <a:prstGeom prst="roundRect">
            <a:avLst>
              <a:gd name="adj" fmla="val 210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051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Three places in this book where traffic exists and your monitoring does not see it, each with a different cause:</a:t>
            </a:r>
          </a:p>
        </p:txBody>
      </p:sp>
      <p:sp>
        <p:nvSpPr>
          <p:cNvPr id="10" name="body-1"/>
          <p:cNvSpPr txBox="1"/>
          <p:nvPr/>
        </p:nvSpPr>
        <p:spPr>
          <a:xfrm>
            <a:off x="1060704" y="2821939"/>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Guest to guest on one host.</a:t>
            </a:r>
            <a:r>
              <a:rPr sz="2000" b="0" i="0">
                <a:solidFill>
                  <a:srgbClr val="1C252B"/>
                </a:solidFill>
                <a:latin typeface="Segoe UI"/>
              </a:rPr>
              <a:t> The frame goes guest </a:t>
            </a:r>
            <a:r>
              <a:rPr sz="2000" b="0" i="0">
                <a:solidFill>
                  <a:srgbClr val="1C252B"/>
                </a:solidFill>
                <a:latin typeface="Cambria"/>
              </a:rPr>
              <a:t>→</a:t>
            </a:r>
            <a:r>
              <a:rPr sz="2000" b="0" i="0">
                <a:solidFill>
                  <a:srgbClr val="1C252B"/>
                </a:solidFill>
                <a:latin typeface="Segoe UI"/>
              </a:rPr>
              <a:t> virtual switch </a:t>
            </a:r>
            <a:r>
              <a:rPr sz="2000" b="0" i="0">
                <a:solidFill>
                  <a:srgbClr val="1C252B"/>
                </a:solidFill>
                <a:latin typeface="Cambria"/>
              </a:rPr>
              <a:t>→</a:t>
            </a:r>
            <a:r>
              <a:rPr sz="2000" b="0" i="0">
                <a:solidFill>
                  <a:srgbClr val="1C252B"/>
                </a:solidFill>
                <a:latin typeface="Segoe UI"/>
              </a:rPr>
              <a:t> guest and never touches the uplink. A physical tap or a switch SPAN port sees nothing.</a:t>
            </a:r>
          </a:p>
        </p:txBody>
      </p:sp>
      <p:sp>
        <p:nvSpPr>
          <p:cNvPr id="11" name="body-2"/>
          <p:cNvSpPr txBox="1"/>
          <p:nvPr/>
        </p:nvSpPr>
        <p:spPr>
          <a:xfrm>
            <a:off x="1060704" y="3595623"/>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VF to VF on one SR-IOV card</a:t>
            </a:r>
            <a:r>
              <a:rPr sz="2000" b="0" i="0">
                <a:solidFill>
                  <a:srgbClr val="1C252B"/>
                </a:solidFill>
                <a:latin typeface="Segoe UI"/>
              </a:rPr>
              <a:t> (Chapter 7). The card’s internal switch forwards it, so even the hypervisor is not involved.</a:t>
            </a:r>
          </a:p>
        </p:txBody>
      </p:sp>
      <p:sp>
        <p:nvSpPr>
          <p:cNvPr id="12" name="body-3"/>
          <p:cNvSpPr txBox="1"/>
          <p:nvPr/>
        </p:nvSpPr>
        <p:spPr>
          <a:xfrm>
            <a:off x="1060704" y="4369308"/>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Pod to Pod on one node.</a:t>
            </a:r>
            <a:r>
              <a:rPr sz="2000" b="0" i="0">
                <a:solidFill>
                  <a:srgbClr val="1C252B"/>
                </a:solidFill>
                <a:latin typeface="Segoe UI"/>
              </a:rPr>
              <a:t> The veth pair and the node’s bridge handle it entirely.</a:t>
            </a:r>
          </a:p>
        </p:txBody>
      </p:sp>
      <p:sp>
        <p:nvSpPr>
          <p:cNvPr id="13" name="body-4"/>
          <p:cNvSpPr txBox="1"/>
          <p:nvPr/>
        </p:nvSpPr>
        <p:spPr>
          <a:xfrm>
            <a:off x="1060704" y="4826000"/>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 each case the fix is the same in principle — the observation point must be the virtual switch, not the wire — and it is the reason Chapter 19’s detection chapter cares so much about where sensors are placed.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A750C01E-89DF-49DD-AD0F-C5B192687A11}"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Deploying an overlay without fixing MTU.</a:t>
            </a:r>
            <a:r>
              <a:rPr sz="1700" b="0" i="0">
                <a:solidFill>
                  <a:srgbClr val="1C252B"/>
                </a:solidFill>
                <a:latin typeface="Segoe UI"/>
              </a:rPr>
              <a:t> The worked example. Decide between jumbo underlay, lowered guest MTU and MSS clamping </a:t>
            </a:r>
            <a:r>
              <a:rPr sz="1700" b="0" i="1">
                <a:solidFill>
                  <a:srgbClr val="1C252B"/>
                </a:solidFill>
                <a:latin typeface="Segoe UI"/>
              </a:rPr>
              <a:t>before</a:t>
            </a:r>
            <a:r>
              <a:rPr sz="1700" b="0" i="0">
                <a:solidFill>
                  <a:srgbClr val="1C252B"/>
                </a:solidFill>
                <a:latin typeface="Segoe UI"/>
              </a:rPr>
              <a:t> the first tenant, not after the first backup fails.</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Filtering ICMP wholesale.</a:t>
            </a:r>
            <a:r>
              <a:rPr sz="1700" b="0" i="0">
                <a:solidFill>
                  <a:srgbClr val="1C252B"/>
                </a:solidFill>
                <a:latin typeface="Segoe UI"/>
              </a:rPr>
              <a:t> It breaks path MTU discovery and turns a clean error into a silent hang. Permit type 3 code 4.</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the overlay is free.</a:t>
            </a:r>
            <a:r>
              <a:rPr sz="1700" b="0" i="0">
                <a:solidFill>
                  <a:srgbClr val="1C252B"/>
                </a:solidFill>
                <a:latin typeface="Segoe UI"/>
              </a:rPr>
              <a:t> Encapsulation costs CPU on every packet in both directions. Check whether your NIC offloads VXLAN; the difference is large.</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physical network monitoring to see virtual traffic.</a:t>
            </a:r>
            <a:r>
              <a:rPr sz="1700" b="0" i="0">
                <a:solidFill>
                  <a:srgbClr val="1C252B"/>
                </a:solidFill>
                <a:latin typeface="Segoe UI"/>
              </a:rPr>
              <a:t> Most east–west traffic never reaches a physical port.</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4094 as a comfortable number.</a:t>
            </a:r>
            <a:r>
              <a:rPr sz="1700" b="0" i="0">
                <a:solidFill>
                  <a:srgbClr val="1C252B"/>
                </a:solidFill>
                <a:latin typeface="Segoe UI"/>
              </a:rPr>
              <a:t> It is per layer-2 domain and it also constrains the </a:t>
            </a:r>
            <a:r>
              <a:rPr sz="1700" b="0" i="1">
                <a:solidFill>
                  <a:srgbClr val="1C252B"/>
                </a:solidFill>
                <a:latin typeface="Segoe UI"/>
              </a:rPr>
              <a:t>underlay</a:t>
            </a:r>
            <a:r>
              <a:rPr sz="1700" b="0" i="0">
                <a:solidFill>
                  <a:srgbClr val="1C252B"/>
                </a:solidFill>
                <a:latin typeface="Segoe UI"/>
              </a:rPr>
              <a:t> design, not just tenant count.</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a CNI plugin by popularity.</a:t>
            </a:r>
            <a:r>
              <a:rPr sz="1700" b="0" i="0">
                <a:solidFill>
                  <a:srgbClr val="1C252B"/>
                </a:solidFill>
                <a:latin typeface="Segoe UI"/>
              </a:rPr>
              <a:t> Overlay, routed and eBPF plugins differ in MTU behaviour, in policy support and in how they fail. That choice is harder to change than any other in a cluster.</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51529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816C1331-A613-469F-9E4E-DD594A79B4C9}" type="slidenum">
              <a:rPr lang="en-GB" sz="1000">
                <a:solidFill>
                  <a:srgbClr val="8795A1"/>
                </a:solidFill>
                <a:latin typeface="Segoe UI"/>
              </a:rPr>
              <a:t>20</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a VXLAN overlay between two network namespaces, then reproduces the black hole of the worked example and fixes it three ways. Needs one Linux host.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 virtual switch, and two "guests" as namespaces.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Now the underlay: two more namespaces playing "hosts".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A VXLAN tunnel across it: VNI 100.</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Small packets work.</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Now the black hole: large packets, don't-fragment set.</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Fix 1: lower the overlay MTU to the arithmetic.</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Fix 2: raise the underlay instead, and keep 1500 inside.</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Watch the encapsulation on the wire.</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Tear down.</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10: A thin pool to exhaustion; an overlay and its MTU</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78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5316A7A5-5E07-44E1-921F-DCD5CBDECC92}" type="slidenum">
              <a:rPr lang="en-GB" sz="1000">
                <a:solidFill>
                  <a:srgbClr val="8795A1"/>
                </a:solidFill>
                <a:latin typeface="Segoe UI"/>
              </a:rPr>
              <a:t>21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virtual switch, and two "guests" as namespaces.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3_overlay.sh -- a virtual switch, a VXLAN tunnel and an MTU black hole. set -euo pipefail # --- 1. A virtual switch, and two &quot;guests&quot; as namespaces. -------------- sudo ip link add br-vss type bridge sudo ip link set br-vss up for n in 1 2; do sudo ip netns add &quot;g$n&quot; sudo ip link add &quot;veth$n&quot; type veth peer name &quot;in$n&quot; sudo ip link set &quot;veth$n&quot; master br-vss sudo ip link set &quot;veth$n&quot; up sudo ip link set &quot;in$n&quot; netns &quot;g$n&quot; sudo ip netns exec &quot;g$n&quot; ip addr add &quot;10.10.0.$n/24&quot; dev &quot;in$n&quot; sudo ip netns exec &quot;g$n&quot; ip link set &quot;in$n&quot; up sudo ip netns exec &quot;g$n&quot; ip link set lo up done # This is container networking, in nine lines. sudo ip netns exec g1 ping -c 2 10.10.0.2 bridge fdb show br br-vss | head -4 # the switch has learned MACs"/>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1">
                <a:solidFill>
                  <a:srgbClr val="8795A1"/>
                </a:solidFill>
                <a:latin typeface="Consolas"/>
              </a:rPr>
              <a:t>#!/usr/bin/env bash</a:t>
            </a:r>
          </a:p>
          <a:p>
            <a:pPr>
              <a:lnSpc>
                <a:spcPct val="100000"/>
              </a:lnSpc>
              <a:spcAft>
                <a:spcPts val="0"/>
              </a:spcAft>
            </a:pPr>
            <a:r>
              <a:rPr sz="1100" i="1">
                <a:solidFill>
                  <a:srgbClr val="8795A1"/>
                </a:solidFill>
                <a:latin typeface="Consolas"/>
              </a:rPr>
              <a:t># ch13_overlay.sh -- a virtual switch, a VXLAN tunnel and an MTU black hole.</a:t>
            </a:r>
          </a:p>
          <a:p>
            <a:pPr>
              <a:lnSpc>
                <a:spcPct val="100000"/>
              </a:lnSpc>
              <a:spcAft>
                <a:spcPts val="0"/>
              </a:spcAft>
            </a:pPr>
            <a:r>
              <a:rPr sz="1100" i="0">
                <a:solidFill>
                  <a:srgbClr val="C39BD3"/>
                </a:solidFill>
                <a:latin typeface="Consolas"/>
              </a:rPr>
              <a:t>set</a:t>
            </a:r>
            <a:r>
              <a:rPr sz="1100" i="0">
                <a:solidFill>
                  <a:srgbClr val="E8EDF2"/>
                </a:solidFill>
                <a:latin typeface="Consolas"/>
              </a:rPr>
              <a:t> </a:t>
            </a:r>
            <a:r>
              <a:rPr sz="1100" i="0">
                <a:solidFill>
                  <a:srgbClr val="E8EDF2"/>
                </a:solidFill>
                <a:latin typeface="Consolas"/>
              </a:rPr>
              <a:t>-euo</a:t>
            </a:r>
            <a:r>
              <a:rPr sz="1100" i="0">
                <a:solidFill>
                  <a:srgbClr val="E8EDF2"/>
                </a:solidFill>
                <a:latin typeface="Consolas"/>
              </a:rPr>
              <a:t> </a:t>
            </a:r>
            <a:r>
              <a:rPr sz="1100" i="0">
                <a:solidFill>
                  <a:srgbClr val="E8EDF2"/>
                </a:solidFill>
                <a:latin typeface="Consolas"/>
              </a:rPr>
              <a:t>pipefail</a:t>
            </a:r>
          </a:p>
          <a:p>
            <a:pPr>
              <a:lnSpc>
                <a:spcPct val="100000"/>
              </a:lnSpc>
              <a:spcAft>
                <a:spcPts val="0"/>
              </a:spcAft>
            </a:pPr>
            <a:r>
              <a:rPr sz="1100">
                <a:latin typeface="Consolas"/>
              </a:rPr>
              <a:t> </a:t>
            </a:r>
          </a:p>
          <a:p>
            <a:pPr>
              <a:lnSpc>
                <a:spcPct val="100000"/>
              </a:lnSpc>
              <a:spcAft>
                <a:spcPts val="0"/>
              </a:spcAft>
            </a:pPr>
            <a:r>
              <a:rPr sz="1100" i="1">
                <a:solidFill>
                  <a:srgbClr val="8795A1"/>
                </a:solidFill>
                <a:latin typeface="Consolas"/>
              </a:rPr>
              <a:t># --- 1. A virtual switch, and two "guests" as namespaces. --------------</a:t>
            </a:r>
          </a:p>
          <a:p>
            <a:pPr>
              <a:lnSpc>
                <a:spcPct val="100000"/>
              </a:lnSpc>
              <a:spcAft>
                <a:spcPts val="0"/>
              </a:spcAft>
            </a:pP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E8EDF2"/>
                </a:solidFill>
                <a:latin typeface="Consolas"/>
              </a:rPr>
              <a:t>add</a:t>
            </a:r>
            <a:r>
              <a:rPr sz="1100" i="0">
                <a:solidFill>
                  <a:srgbClr val="E8EDF2"/>
                </a:solidFill>
                <a:latin typeface="Consolas"/>
              </a:rPr>
              <a:t> </a:t>
            </a:r>
            <a:r>
              <a:rPr sz="1100" i="0">
                <a:solidFill>
                  <a:srgbClr val="E8EDF2"/>
                </a:solidFill>
                <a:latin typeface="Consolas"/>
              </a:rPr>
              <a:t>br-vss</a:t>
            </a:r>
            <a:r>
              <a:rPr sz="1100" i="0">
                <a:solidFill>
                  <a:srgbClr val="E8EDF2"/>
                </a:solidFill>
                <a:latin typeface="Consolas"/>
              </a:rPr>
              <a:t> </a:t>
            </a:r>
            <a:r>
              <a:rPr sz="1100" i="0">
                <a:solidFill>
                  <a:srgbClr val="C39BD3"/>
                </a:solidFill>
                <a:latin typeface="Consolas"/>
              </a:rPr>
              <a:t>type</a:t>
            </a:r>
            <a:r>
              <a:rPr sz="1100" i="0">
                <a:solidFill>
                  <a:srgbClr val="E8EDF2"/>
                </a:solidFill>
                <a:latin typeface="Consolas"/>
              </a:rPr>
              <a:t> </a:t>
            </a:r>
            <a:r>
              <a:rPr sz="1100" i="0">
                <a:solidFill>
                  <a:srgbClr val="E8EDF2"/>
                </a:solidFill>
                <a:latin typeface="Consolas"/>
              </a:rPr>
              <a:t>bridge</a:t>
            </a:r>
          </a:p>
          <a:p>
            <a:pPr>
              <a:lnSpc>
                <a:spcPct val="100000"/>
              </a:lnSpc>
              <a:spcAft>
                <a:spcPts val="0"/>
              </a:spcAft>
            </a:pP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E8EDF2"/>
                </a:solidFill>
                <a:latin typeface="Consolas"/>
              </a:rPr>
              <a:t>br-vss</a:t>
            </a:r>
            <a:r>
              <a:rPr sz="1100" i="0">
                <a:solidFill>
                  <a:srgbClr val="E8EDF2"/>
                </a:solidFill>
                <a:latin typeface="Consolas"/>
              </a:rPr>
              <a:t> </a:t>
            </a:r>
            <a:r>
              <a:rPr sz="1100" i="0">
                <a:solidFill>
                  <a:srgbClr val="E8EDF2"/>
                </a:solidFill>
                <a:latin typeface="Consolas"/>
              </a:rPr>
              <a:t>up</a:t>
            </a:r>
          </a:p>
          <a:p>
            <a:pPr>
              <a:lnSpc>
                <a:spcPct val="100000"/>
              </a:lnSpc>
              <a:spcAft>
                <a:spcPts val="0"/>
              </a:spcAft>
            </a:pP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n</a:t>
            </a:r>
            <a:r>
              <a:rPr sz="1100" i="0">
                <a:solidFill>
                  <a:srgbClr val="E8EDF2"/>
                </a:solidFill>
                <a:latin typeface="Consolas"/>
              </a:rPr>
              <a:t> </a:t>
            </a:r>
            <a:r>
              <a:rPr sz="1100" i="0">
                <a:solidFill>
                  <a:srgbClr val="5DADE2"/>
                </a:solidFill>
                <a:latin typeface="Consolas"/>
              </a:rPr>
              <a:t>in</a:t>
            </a:r>
            <a:r>
              <a:rPr sz="1100" i="0">
                <a:solidFill>
                  <a:srgbClr val="E8EDF2"/>
                </a:solidFill>
                <a:latin typeface="Consolas"/>
              </a:rPr>
              <a:t> </a:t>
            </a:r>
            <a:r>
              <a:rPr sz="1100" i="0">
                <a:solidFill>
                  <a:srgbClr val="F7DC6F"/>
                </a:solidFill>
                <a:latin typeface="Consolas"/>
              </a:rPr>
              <a:t>1</a:t>
            </a:r>
            <a:r>
              <a:rPr sz="1100" i="0">
                <a:solidFill>
                  <a:srgbClr val="E8EDF2"/>
                </a:solidFill>
                <a:latin typeface="Consolas"/>
              </a:rPr>
              <a:t> </a:t>
            </a:r>
            <a:r>
              <a:rPr sz="1100" i="0">
                <a:solidFill>
                  <a:srgbClr val="F7DC6F"/>
                </a:solidFill>
                <a:latin typeface="Consolas"/>
              </a:rPr>
              <a:t>2</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do</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E8EDF2"/>
                </a:solidFill>
                <a:latin typeface="Consolas"/>
              </a:rPr>
              <a:t>add</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a:t>
            </a:r>
            <a:r>
              <a:rPr sz="1100" i="0">
                <a:solidFill>
                  <a:srgbClr val="E8EDF2"/>
                </a:solidFill>
                <a:latin typeface="Consolas"/>
              </a:rPr>
              <a:t>$n</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E8EDF2"/>
                </a:solidFill>
                <a:latin typeface="Consolas"/>
              </a:rPr>
              <a:t>add</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veth</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C39BD3"/>
                </a:solidFill>
                <a:latin typeface="Consolas"/>
              </a:rPr>
              <a:t>type</a:t>
            </a:r>
            <a:r>
              <a:rPr sz="1100" i="0">
                <a:solidFill>
                  <a:srgbClr val="E8EDF2"/>
                </a:solidFill>
                <a:latin typeface="Consolas"/>
              </a:rPr>
              <a:t> </a:t>
            </a:r>
            <a:r>
              <a:rPr sz="1100" i="0">
                <a:solidFill>
                  <a:srgbClr val="E8EDF2"/>
                </a:solidFill>
                <a:latin typeface="Consolas"/>
              </a:rPr>
              <a:t>veth</a:t>
            </a:r>
            <a:r>
              <a:rPr sz="1100" i="0">
                <a:solidFill>
                  <a:srgbClr val="E8EDF2"/>
                </a:solidFill>
                <a:latin typeface="Consolas"/>
              </a:rPr>
              <a:t> </a:t>
            </a:r>
            <a:r>
              <a:rPr sz="1100" i="0">
                <a:solidFill>
                  <a:srgbClr val="E8EDF2"/>
                </a:solidFill>
                <a:latin typeface="Consolas"/>
              </a:rPr>
              <a:t>peer</a:t>
            </a:r>
            <a:r>
              <a:rPr sz="1100" i="0">
                <a:solidFill>
                  <a:srgbClr val="E8EDF2"/>
                </a:solidFill>
                <a:latin typeface="Consolas"/>
              </a:rPr>
              <a:t> </a:t>
            </a:r>
            <a:r>
              <a:rPr sz="1100" i="0">
                <a:solidFill>
                  <a:srgbClr val="E8EDF2"/>
                </a:solidFill>
                <a:latin typeface="Consolas"/>
              </a:rPr>
              <a:t>name</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in</a:t>
            </a:r>
            <a:r>
              <a:rPr sz="1100" i="0">
                <a:solidFill>
                  <a:srgbClr val="E8EDF2"/>
                </a:solidFill>
                <a:latin typeface="Consolas"/>
              </a:rPr>
              <a:t>$n</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veth</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master</a:t>
            </a:r>
            <a:r>
              <a:rPr sz="1100" i="0">
                <a:solidFill>
                  <a:srgbClr val="E8EDF2"/>
                </a:solidFill>
                <a:latin typeface="Consolas"/>
              </a:rPr>
              <a:t> </a:t>
            </a:r>
            <a:r>
              <a:rPr sz="1100" i="0">
                <a:solidFill>
                  <a:srgbClr val="E8EDF2"/>
                </a:solidFill>
                <a:latin typeface="Consolas"/>
              </a:rPr>
              <a:t>br-vss</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veth</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up</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in</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a:t>
            </a:r>
            <a:r>
              <a:rPr sz="1100" i="0">
                <a:solidFill>
                  <a:srgbClr val="E8EDF2"/>
                </a:solidFill>
                <a:latin typeface="Consolas"/>
              </a:rPr>
              <a:t>$n</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C39BD3"/>
                </a:solidFill>
                <a:latin typeface="Consolas"/>
              </a:rPr>
              <a:t>exec</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addr</a:t>
            </a:r>
            <a:r>
              <a:rPr sz="1100" i="0">
                <a:solidFill>
                  <a:srgbClr val="E8EDF2"/>
                </a:solidFill>
                <a:latin typeface="Consolas"/>
              </a:rPr>
              <a:t> </a:t>
            </a:r>
            <a:r>
              <a:rPr sz="1100" i="0">
                <a:solidFill>
                  <a:srgbClr val="E8EDF2"/>
                </a:solidFill>
                <a:latin typeface="Consolas"/>
              </a:rPr>
              <a:t>add</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10.10.0.</a:t>
            </a:r>
            <a:r>
              <a:rPr sz="1100" i="0">
                <a:solidFill>
                  <a:srgbClr val="E8EDF2"/>
                </a:solidFill>
                <a:latin typeface="Consolas"/>
              </a:rPr>
              <a:t>$n</a:t>
            </a:r>
            <a:r>
              <a:rPr sz="1100" i="0">
                <a:solidFill>
                  <a:srgbClr val="7DCEA0"/>
                </a:solidFill>
                <a:latin typeface="Consolas"/>
              </a:rPr>
              <a:t>/24</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dev</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in</a:t>
            </a:r>
            <a:r>
              <a:rPr sz="1100" i="0">
                <a:solidFill>
                  <a:srgbClr val="E8EDF2"/>
                </a:solidFill>
                <a:latin typeface="Consolas"/>
              </a:rPr>
              <a:t>$n</a:t>
            </a:r>
            <a:r>
              <a:rPr sz="1100" i="0">
                <a:solidFill>
                  <a:srgbClr val="7DCEA0"/>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C39BD3"/>
                </a:solidFill>
                <a:latin typeface="Consolas"/>
              </a:rPr>
              <a:t>exec</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in</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up</a:t>
            </a:r>
          </a:p>
          <a:p>
            <a:pPr>
              <a:lnSpc>
                <a:spcPct val="100000"/>
              </a:lnSpc>
              <a:spcAft>
                <a:spcPts val="0"/>
              </a:spcAft>
            </a:pPr>
            <a:r>
              <a:rPr sz="1100" i="0">
                <a:solidFill>
                  <a:srgbClr val="E8EDF2"/>
                </a:solidFill>
                <a:latin typeface="Consolas"/>
              </a:rPr>
              <a:t>  </a:t>
            </a: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C39BD3"/>
                </a:solidFill>
                <a:latin typeface="Consolas"/>
              </a:rPr>
              <a:t>exec</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a:t>
            </a:r>
            <a:r>
              <a:rPr sz="1100" i="0">
                <a:solidFill>
                  <a:srgbClr val="E8EDF2"/>
                </a:solidFill>
                <a:latin typeface="Consolas"/>
              </a:rPr>
              <a:t>$n</a:t>
            </a:r>
            <a:r>
              <a:rPr sz="1100" i="0">
                <a:solidFill>
                  <a:srgbClr val="7DCEA0"/>
                </a:solidFill>
                <a:latin typeface="Consolas"/>
              </a:rPr>
              <a:t>"</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link</a:t>
            </a:r>
            <a:r>
              <a:rPr sz="1100" i="0">
                <a:solidFill>
                  <a:srgbClr val="E8EDF2"/>
                </a:solidFill>
                <a:latin typeface="Consolas"/>
              </a:rPr>
              <a:t> </a:t>
            </a:r>
            <a:r>
              <a:rPr sz="1100" i="0">
                <a:solidFill>
                  <a:srgbClr val="C39BD3"/>
                </a:solidFill>
                <a:latin typeface="Consolas"/>
              </a:rPr>
              <a:t>set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E8EDF2"/>
                </a:solidFill>
                <a:latin typeface="Consolas"/>
              </a:rPr>
              <a:t>up</a:t>
            </a:r>
          </a:p>
          <a:p>
            <a:pPr>
              <a:lnSpc>
                <a:spcPct val="100000"/>
              </a:lnSpc>
              <a:spcAft>
                <a:spcPts val="0"/>
              </a:spcAft>
            </a:pPr>
            <a:r>
              <a:rPr sz="1100" i="0">
                <a:solidFill>
                  <a:srgbClr val="5DADE2"/>
                </a:solidFill>
                <a:latin typeface="Consolas"/>
              </a:rPr>
              <a:t>done</a:t>
            </a:r>
          </a:p>
          <a:p>
            <a:pPr>
              <a:lnSpc>
                <a:spcPct val="100000"/>
              </a:lnSpc>
              <a:spcAft>
                <a:spcPts val="0"/>
              </a:spcAft>
            </a:pPr>
            <a:r>
              <a:rPr sz="1100" i="1">
                <a:solidFill>
                  <a:srgbClr val="8795A1"/>
                </a:solidFill>
                <a:latin typeface="Consolas"/>
              </a:rPr>
              <a:t># This is container networking, in nine lines.</a:t>
            </a:r>
          </a:p>
          <a:p>
            <a:pPr>
              <a:lnSpc>
                <a:spcPct val="100000"/>
              </a:lnSpc>
              <a:spcAft>
                <a:spcPts val="0"/>
              </a:spcAft>
            </a:pPr>
            <a:r>
              <a:rPr sz="1100" i="0">
                <a:solidFill>
                  <a:srgbClr val="E8EDF2"/>
                </a:solidFill>
                <a:latin typeface="Consolas"/>
              </a:rPr>
              <a:t>sudo</a:t>
            </a:r>
            <a:r>
              <a:rPr sz="1100" i="0">
                <a:solidFill>
                  <a:srgbClr val="E8EDF2"/>
                </a:solidFill>
                <a:latin typeface="Consolas"/>
              </a:rPr>
              <a:t> </a:t>
            </a:r>
            <a:r>
              <a:rPr sz="1100" i="0">
                <a:solidFill>
                  <a:srgbClr val="E8EDF2"/>
                </a:solidFill>
                <a:latin typeface="Consolas"/>
              </a:rPr>
              <a:t>ip</a:t>
            </a:r>
            <a:r>
              <a:rPr sz="1100" i="0">
                <a:solidFill>
                  <a:srgbClr val="E8EDF2"/>
                </a:solidFill>
                <a:latin typeface="Consolas"/>
              </a:rPr>
              <a:t> </a:t>
            </a:r>
            <a:r>
              <a:rPr sz="1100" i="0">
                <a:solidFill>
                  <a:srgbClr val="E8EDF2"/>
                </a:solidFill>
                <a:latin typeface="Consolas"/>
              </a:rPr>
              <a:t>netns</a:t>
            </a:r>
            <a:r>
              <a:rPr sz="1100" i="0">
                <a:solidFill>
                  <a:srgbClr val="E8EDF2"/>
                </a:solidFill>
                <a:latin typeface="Consolas"/>
              </a:rPr>
              <a:t> </a:t>
            </a:r>
            <a:r>
              <a:rPr sz="1100" i="0">
                <a:solidFill>
                  <a:srgbClr val="C39BD3"/>
                </a:solidFill>
                <a:latin typeface="Consolas"/>
              </a:rPr>
              <a:t>exec</a:t>
            </a:r>
            <a:r>
              <a:rPr sz="1100" i="0">
                <a:solidFill>
                  <a:srgbClr val="E8EDF2"/>
                </a:solidFill>
                <a:latin typeface="Consolas"/>
              </a:rPr>
              <a:t> </a:t>
            </a:r>
            <a:r>
              <a:rPr sz="1100" i="0">
                <a:solidFill>
                  <a:srgbClr val="E8EDF2"/>
                </a:solidFill>
                <a:latin typeface="Consolas"/>
              </a:rPr>
              <a:t>g1</a:t>
            </a:r>
            <a:r>
              <a:rPr sz="1100" i="0">
                <a:solidFill>
                  <a:srgbClr val="E8EDF2"/>
                </a:solidFill>
                <a:latin typeface="Consolas"/>
              </a:rPr>
              <a:t> </a:t>
            </a:r>
            <a:r>
              <a:rPr sz="1100" i="0">
                <a:solidFill>
                  <a:srgbClr val="E8EDF2"/>
                </a:solidFill>
                <a:latin typeface="Consolas"/>
              </a:rPr>
              <a:t>ping</a:t>
            </a:r>
            <a:r>
              <a:rPr sz="1100" i="0">
                <a:solidFill>
                  <a:srgbClr val="E8EDF2"/>
                </a:solidFill>
                <a:latin typeface="Consolas"/>
              </a:rPr>
              <a:t> </a:t>
            </a:r>
            <a:r>
              <a:rPr sz="1100" i="0">
                <a:solidFill>
                  <a:srgbClr val="E8EDF2"/>
                </a:solidFill>
                <a:latin typeface="Consolas"/>
              </a:rPr>
              <a:t>-c</a:t>
            </a:r>
            <a:r>
              <a:rPr sz="1100" i="0">
                <a:solidFill>
                  <a:srgbClr val="E8EDF2"/>
                </a:solidFill>
                <a:latin typeface="Consolas"/>
              </a:rPr>
              <a:t> </a:t>
            </a:r>
            <a:r>
              <a:rPr sz="1100" i="0">
                <a:solidFill>
                  <a:srgbClr val="F7DC6F"/>
                </a:solidFill>
                <a:latin typeface="Consolas"/>
              </a:rPr>
              <a:t>2</a:t>
            </a:r>
            <a:r>
              <a:rPr sz="1100" i="0">
                <a:solidFill>
                  <a:srgbClr val="E8EDF2"/>
                </a:solidFill>
                <a:latin typeface="Consolas"/>
              </a:rPr>
              <a:t> </a:t>
            </a:r>
            <a:r>
              <a:rPr sz="1100" i="0">
                <a:solidFill>
                  <a:srgbClr val="F7DC6F"/>
                </a:solidFill>
                <a:latin typeface="Consolas"/>
              </a:rPr>
              <a:t>10</a:t>
            </a:r>
            <a:r>
              <a:rPr sz="1100" i="0">
                <a:solidFill>
                  <a:srgbClr val="E8EDF2"/>
                </a:solidFill>
                <a:latin typeface="Consolas"/>
              </a:rPr>
              <a:t>.10.0.2</a:t>
            </a:r>
          </a:p>
          <a:p>
            <a:pPr>
              <a:lnSpc>
                <a:spcPct val="100000"/>
              </a:lnSpc>
              <a:spcAft>
                <a:spcPts val="0"/>
              </a:spcAft>
            </a:pPr>
            <a:r>
              <a:rPr sz="1100" i="0">
                <a:solidFill>
                  <a:srgbClr val="E8EDF2"/>
                </a:solidFill>
                <a:latin typeface="Consolas"/>
              </a:rPr>
              <a:t>bridge</a:t>
            </a:r>
            <a:r>
              <a:rPr sz="1100" i="0">
                <a:solidFill>
                  <a:srgbClr val="E8EDF2"/>
                </a:solidFill>
                <a:latin typeface="Consolas"/>
              </a:rPr>
              <a:t> </a:t>
            </a:r>
            <a:r>
              <a:rPr sz="1100" i="0">
                <a:solidFill>
                  <a:srgbClr val="E8EDF2"/>
                </a:solidFill>
                <a:latin typeface="Consolas"/>
              </a:rPr>
              <a:t>fdb</a:t>
            </a:r>
            <a:r>
              <a:rPr sz="1100" i="0">
                <a:solidFill>
                  <a:srgbClr val="E8EDF2"/>
                </a:solidFill>
                <a:latin typeface="Consolas"/>
              </a:rPr>
              <a:t> </a:t>
            </a:r>
            <a:r>
              <a:rPr sz="1100" i="0">
                <a:solidFill>
                  <a:srgbClr val="E8EDF2"/>
                </a:solidFill>
                <a:latin typeface="Consolas"/>
              </a:rPr>
              <a:t>show</a:t>
            </a:r>
            <a:r>
              <a:rPr sz="1100" i="0">
                <a:solidFill>
                  <a:srgbClr val="E8EDF2"/>
                </a:solidFill>
                <a:latin typeface="Consolas"/>
              </a:rPr>
              <a:t> </a:t>
            </a:r>
            <a:r>
              <a:rPr sz="1100" i="0">
                <a:solidFill>
                  <a:srgbClr val="E8EDF2"/>
                </a:solidFill>
                <a:latin typeface="Consolas"/>
              </a:rPr>
              <a:t>br</a:t>
            </a:r>
            <a:r>
              <a:rPr sz="1100" i="0">
                <a:solidFill>
                  <a:srgbClr val="E8EDF2"/>
                </a:solidFill>
                <a:latin typeface="Consolas"/>
              </a:rPr>
              <a:t> </a:t>
            </a:r>
            <a:r>
              <a:rPr sz="1100" i="0">
                <a:solidFill>
                  <a:srgbClr val="E8EDF2"/>
                </a:solidFill>
                <a:latin typeface="Consolas"/>
              </a:rPr>
              <a:t>br-vss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head</a:t>
            </a:r>
            <a:r>
              <a:rPr sz="1100" i="0">
                <a:solidFill>
                  <a:srgbClr val="E8EDF2"/>
                </a:solidFill>
                <a:latin typeface="Consolas"/>
              </a:rPr>
              <a:t> </a:t>
            </a:r>
            <a:r>
              <a:rPr sz="1100" i="0">
                <a:solidFill>
                  <a:srgbClr val="E8EDF2"/>
                </a:solidFill>
                <a:latin typeface="Consolas"/>
              </a:rPr>
              <a:t>-4</a:t>
            </a:r>
            <a:r>
              <a:rPr sz="1100" i="0">
                <a:solidFill>
                  <a:srgbClr val="E8EDF2"/>
                </a:solidFill>
                <a:latin typeface="Consolas"/>
              </a:rPr>
              <a:t>     </a:t>
            </a:r>
            <a:r>
              <a:rPr sz="1100" i="1">
                <a:solidFill>
                  <a:srgbClr val="8795A1"/>
                </a:solidFill>
                <a:latin typeface="Consolas"/>
              </a:rPr>
              <a:t># the switch has learned MACs</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1</a:t>
            </a:r>
          </a:p>
          <a:p>
            <a:pPr algn="r">
              <a:lnSpc>
                <a:spcPct val="100000"/>
              </a:lnSpc>
            </a:pPr>
            <a:r>
              <a:rPr sz="1100">
                <a:solidFill>
                  <a:srgbClr val="4F5D6A"/>
                </a:solidFill>
                <a:latin typeface="Consolas"/>
              </a:rPr>
              <a:t>2</a:t>
            </a:r>
          </a:p>
          <a:p>
            <a:pPr algn="r">
              <a:lnSpc>
                <a:spcPct val="100000"/>
              </a:lnSpc>
            </a:pPr>
            <a:r>
              <a:rPr sz="1100">
                <a:solidFill>
                  <a:srgbClr val="4F5D6A"/>
                </a:solidFill>
                <a:latin typeface="Consolas"/>
              </a:rPr>
              <a:t>3</a:t>
            </a:r>
          </a:p>
          <a:p>
            <a:pPr algn="r">
              <a:lnSpc>
                <a:spcPct val="100000"/>
              </a:lnSpc>
            </a:pPr>
            <a:r>
              <a:rPr sz="1100">
                <a:solidFill>
                  <a:srgbClr val="4F5D6A"/>
                </a:solidFill>
                <a:latin typeface="Consolas"/>
              </a:rPr>
              <a:t>4</a:t>
            </a:r>
          </a:p>
          <a:p>
            <a:pPr algn="r">
              <a:lnSpc>
                <a:spcPct val="100000"/>
              </a:lnSpc>
            </a:pPr>
            <a:r>
              <a:rPr sz="1100">
                <a:solidFill>
                  <a:srgbClr val="4F5D6A"/>
                </a:solidFill>
                <a:latin typeface="Consolas"/>
              </a:rPr>
              <a:t>5</a:t>
            </a:r>
          </a:p>
          <a:p>
            <a:pPr algn="r">
              <a:lnSpc>
                <a:spcPct val="100000"/>
              </a:lnSpc>
            </a:pPr>
            <a:r>
              <a:rPr sz="1100">
                <a:solidFill>
                  <a:srgbClr val="4F5D6A"/>
                </a:solidFill>
                <a:latin typeface="Consolas"/>
              </a:rPr>
              <a:t>6</a:t>
            </a:r>
          </a:p>
          <a:p>
            <a:pPr algn="r">
              <a:lnSpc>
                <a:spcPct val="100000"/>
              </a:lnSpc>
            </a:pPr>
            <a:r>
              <a:rPr sz="1100">
                <a:solidFill>
                  <a:srgbClr val="4F5D6A"/>
                </a:solidFill>
                <a:latin typeface="Consolas"/>
              </a:rPr>
              <a:t>7</a:t>
            </a:r>
          </a:p>
          <a:p>
            <a:pPr algn="r">
              <a:lnSpc>
                <a:spcPct val="100000"/>
              </a:lnSpc>
            </a:pPr>
            <a:r>
              <a:rPr sz="1100">
                <a:solidFill>
                  <a:srgbClr val="4F5D6A"/>
                </a:solidFill>
                <a:latin typeface="Consolas"/>
              </a:rPr>
              <a:t>8</a:t>
            </a:r>
          </a:p>
          <a:p>
            <a:pPr algn="r">
              <a:lnSpc>
                <a:spcPct val="100000"/>
              </a:lnSpc>
            </a:pPr>
            <a:r>
              <a:rPr sz="1100">
                <a:solidFill>
                  <a:srgbClr val="4F5D6A"/>
                </a:solidFill>
                <a:latin typeface="Consolas"/>
              </a:rPr>
              <a:t>9</a:t>
            </a:r>
          </a:p>
          <a:p>
            <a:pPr algn="r">
              <a:lnSpc>
                <a:spcPct val="100000"/>
              </a:lnSpc>
            </a:pPr>
            <a:r>
              <a:rPr sz="1100">
                <a:solidFill>
                  <a:srgbClr val="4F5D6A"/>
                </a:solidFill>
                <a:latin typeface="Consolas"/>
              </a:rPr>
              <a:t>10</a:t>
            </a:r>
          </a:p>
          <a:p>
            <a:pPr algn="r">
              <a:lnSpc>
                <a:spcPct val="100000"/>
              </a:lnSpc>
            </a:pPr>
            <a:r>
              <a:rPr sz="1100">
                <a:solidFill>
                  <a:srgbClr val="4F5D6A"/>
                </a:solidFill>
                <a:latin typeface="Consolas"/>
              </a:rPr>
              <a:t>11</a:t>
            </a:r>
          </a:p>
          <a:p>
            <a:pPr algn="r">
              <a:lnSpc>
                <a:spcPct val="100000"/>
              </a:lnSpc>
            </a:pPr>
            <a:r>
              <a:rPr sz="1100">
                <a:solidFill>
                  <a:srgbClr val="4F5D6A"/>
                </a:solidFill>
                <a:latin typeface="Consolas"/>
              </a:rPr>
              <a:t>12</a:t>
            </a:r>
          </a:p>
          <a:p>
            <a:pPr algn="r">
              <a:lnSpc>
                <a:spcPct val="100000"/>
              </a:lnSpc>
            </a:pPr>
            <a:r>
              <a:rPr sz="1100">
                <a:solidFill>
                  <a:srgbClr val="4F5D6A"/>
                </a:solidFill>
                <a:latin typeface="Consolas"/>
              </a:rPr>
              <a:t>13</a:t>
            </a:r>
          </a:p>
          <a:p>
            <a:pPr algn="r">
              <a:lnSpc>
                <a:spcPct val="100000"/>
              </a:lnSpc>
            </a:pPr>
            <a:r>
              <a:rPr sz="1100">
                <a:solidFill>
                  <a:srgbClr val="4F5D6A"/>
                </a:solidFill>
                <a:latin typeface="Consolas"/>
              </a:rPr>
              <a:t>14</a:t>
            </a:r>
          </a:p>
          <a:p>
            <a:pPr algn="r">
              <a:lnSpc>
                <a:spcPct val="100000"/>
              </a:lnSpc>
            </a:pPr>
            <a:r>
              <a:rPr sz="1100">
                <a:solidFill>
                  <a:srgbClr val="4F5D6A"/>
                </a:solidFill>
                <a:latin typeface="Consolas"/>
              </a:rPr>
              <a:t>15</a:t>
            </a:r>
          </a:p>
          <a:p>
            <a:pPr algn="r">
              <a:lnSpc>
                <a:spcPct val="100000"/>
              </a:lnSpc>
            </a:pPr>
            <a:r>
              <a:rPr sz="1100">
                <a:solidFill>
                  <a:srgbClr val="4F5D6A"/>
                </a:solidFill>
                <a:latin typeface="Consolas"/>
              </a:rPr>
              <a:t>16</a:t>
            </a:r>
          </a:p>
          <a:p>
            <a:pPr algn="r">
              <a:lnSpc>
                <a:spcPct val="100000"/>
              </a:lnSpc>
            </a:pPr>
            <a:r>
              <a:rPr sz="1100">
                <a:solidFill>
                  <a:srgbClr val="4F5D6A"/>
                </a:solidFill>
                <a:latin typeface="Consolas"/>
              </a:rPr>
              <a:t>17</a:t>
            </a:r>
          </a:p>
          <a:p>
            <a:pPr algn="r">
              <a:lnSpc>
                <a:spcPct val="100000"/>
              </a:lnSpc>
            </a:pPr>
            <a:r>
              <a:rPr sz="1100">
                <a:solidFill>
                  <a:srgbClr val="4F5D6A"/>
                </a:solidFill>
                <a:latin typeface="Consolas"/>
              </a:rPr>
              <a:t>18</a:t>
            </a:r>
          </a:p>
          <a:p>
            <a:pPr algn="r">
              <a:lnSpc>
                <a:spcPct val="100000"/>
              </a:lnSpc>
            </a:pPr>
            <a:r>
              <a:rPr sz="1100">
                <a:solidFill>
                  <a:srgbClr val="4F5D6A"/>
                </a:solidFill>
                <a:latin typeface="Consolas"/>
              </a:rPr>
              <a:t>19</a:t>
            </a:r>
          </a:p>
          <a:p>
            <a:pPr algn="r">
              <a:lnSpc>
                <a:spcPct val="100000"/>
              </a:lnSpc>
            </a:pPr>
            <a:r>
              <a:rPr sz="11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F99336F1-45B3-4D8D-95E4-B9DDEE7F31E4}"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the underlay: two more namespaces playing "hosts".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Now the underlay: two more namespaces playing &quot;hosts&quot;. -------- sudo ip netns add h1 ; sudo ip netns add h2 sudo ip link add u1 type veth peer name u2 sudo ip link set u1 netns h1 ; sudo ip link set u2 netns h2 sudo ip netns exec h1 ip addr add 192.168.50.1/24 dev u1 sudo ip netns exec h2 ip addr add 192.168.50.2/24 dev u2 for h in h1 h2; do sudo ip netns exec &quot;$h&quot; ip link set lo up done sudo ip netns exec h1 ip link set u1 up sudo ip netns exec h2 ip link set u2 up sudo ip netns exec h1 ping -c 2 192.168.50.2"/>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Now the underlay: two more namespaces playing "hosts".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h2</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u1</a:t>
            </a:r>
            <a:r>
              <a:rPr sz="1900" i="0">
                <a:solidFill>
                  <a:srgbClr val="E8EDF2"/>
                </a:solidFill>
                <a:latin typeface="Consolas"/>
              </a:rPr>
              <a:t> </a:t>
            </a:r>
            <a:r>
              <a:rPr sz="1900" i="0">
                <a:solidFill>
                  <a:srgbClr val="C39BD3"/>
                </a:solidFill>
                <a:latin typeface="Consolas"/>
              </a:rPr>
              <a:t>type</a:t>
            </a:r>
            <a:r>
              <a:rPr sz="1900" i="0">
                <a:solidFill>
                  <a:srgbClr val="E8EDF2"/>
                </a:solidFill>
                <a:latin typeface="Consolas"/>
              </a:rPr>
              <a:t> </a:t>
            </a:r>
            <a:r>
              <a:rPr sz="1900" i="0">
                <a:solidFill>
                  <a:srgbClr val="E8EDF2"/>
                </a:solidFill>
                <a:latin typeface="Consolas"/>
              </a:rPr>
              <a:t>veth</a:t>
            </a:r>
            <a:r>
              <a:rPr sz="1900" i="0">
                <a:solidFill>
                  <a:srgbClr val="E8EDF2"/>
                </a:solidFill>
                <a:latin typeface="Consolas"/>
              </a:rPr>
              <a:t> </a:t>
            </a:r>
            <a:r>
              <a:rPr sz="1900" i="0">
                <a:solidFill>
                  <a:srgbClr val="E8EDF2"/>
                </a:solidFill>
                <a:latin typeface="Consolas"/>
              </a:rPr>
              <a:t>peer</a:t>
            </a:r>
            <a:r>
              <a:rPr sz="1900" i="0">
                <a:solidFill>
                  <a:srgbClr val="E8EDF2"/>
                </a:solidFill>
                <a:latin typeface="Consolas"/>
              </a:rPr>
              <a:t> </a:t>
            </a:r>
            <a:r>
              <a:rPr sz="1900" i="0">
                <a:solidFill>
                  <a:srgbClr val="E8EDF2"/>
                </a:solidFill>
                <a:latin typeface="Consolas"/>
              </a:rPr>
              <a:t>name</a:t>
            </a:r>
            <a:r>
              <a:rPr sz="1900" i="0">
                <a:solidFill>
                  <a:srgbClr val="E8EDF2"/>
                </a:solidFill>
                <a:latin typeface="Consolas"/>
              </a:rPr>
              <a:t> </a:t>
            </a:r>
            <a:r>
              <a:rPr sz="1900" i="0">
                <a:solidFill>
                  <a:srgbClr val="E8EDF2"/>
                </a:solidFill>
                <a:latin typeface="Consolas"/>
              </a:rPr>
              <a:t>u2</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u1</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u2</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E8EDF2"/>
                </a:solidFill>
                <a:latin typeface="Consolas"/>
              </a:rPr>
              <a:t>h2</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addr</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.168.50.1/24</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u1</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addr</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.168.50.2/24</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u2</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h</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h2</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$h</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lo</a:t>
            </a:r>
            <a:r>
              <a:rPr sz="1900" i="0">
                <a:solidFill>
                  <a:srgbClr val="E8EDF2"/>
                </a:solidFill>
                <a:latin typeface="Consolas"/>
              </a:rPr>
              <a:t> </a:t>
            </a:r>
            <a:r>
              <a:rPr sz="1900" i="0">
                <a:solidFill>
                  <a:srgbClr val="E8EDF2"/>
                </a:solidFill>
                <a:latin typeface="Consolas"/>
              </a:rPr>
              <a:t>up</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u1</a:t>
            </a:r>
            <a:r>
              <a:rPr sz="1900" i="0">
                <a:solidFill>
                  <a:srgbClr val="E8EDF2"/>
                </a:solidFill>
                <a:latin typeface="Consolas"/>
              </a:rPr>
              <a:t> </a:t>
            </a:r>
            <a:r>
              <a:rPr sz="1900" i="0">
                <a:solidFill>
                  <a:srgbClr val="E8EDF2"/>
                </a:solidFill>
                <a:latin typeface="Consolas"/>
              </a:rPr>
              <a:t>up</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u2</a:t>
            </a:r>
            <a:r>
              <a:rPr sz="1900" i="0">
                <a:solidFill>
                  <a:srgbClr val="E8EDF2"/>
                </a:solidFill>
                <a:latin typeface="Consolas"/>
              </a:rPr>
              <a:t> </a:t>
            </a:r>
            <a:r>
              <a:rPr sz="1900" i="0">
                <a:solidFill>
                  <a:srgbClr val="E8EDF2"/>
                </a:solidFill>
                <a:latin typeface="Consolas"/>
              </a:rPr>
              <a:t>up</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.168.50.2</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00536293-EB35-4C59-B811-A18494FC0B4B}"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VXLAN tunnel across it: VNI 100.</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A VXLAN tunnel across it: VNI 100. ---------------------------- sudo ip netns exec h1 ip link add vx0 type vxlan id 100 \ remote 192.168.50.2 local 192.168.50.1 dstport 4789 dev u1 sudo ip netns exec h2 ip link add vx0 type vxlan id 100 \ remote 192.168.50.1 local 192.168.50.2 dstport 4789 dev u2 sudo ip netns exec h1 ip addr add 172.16.0.1/24 dev vx0 sudo ip netns exec h2 ip addr add 172.16.0.2/24 dev vx0 sudo ip netns exec h1 ip link set vx0 up sudo ip netns exec h2 ip link set vx0 up sudo ip netns exec h1 ip -d link show vx0 | grep -o 'vxlan id 100'"/>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A VXLAN tunnel across it: VNI 100.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C39BD3"/>
                </a:solidFill>
                <a:latin typeface="Consolas"/>
              </a:rPr>
              <a:t>type</a:t>
            </a:r>
            <a:r>
              <a:rPr sz="1900" i="0">
                <a:solidFill>
                  <a:srgbClr val="E8EDF2"/>
                </a:solidFill>
                <a:latin typeface="Consolas"/>
              </a:rPr>
              <a:t> </a:t>
            </a:r>
            <a:r>
              <a:rPr sz="1900" i="0">
                <a:solidFill>
                  <a:srgbClr val="E8EDF2"/>
                </a:solidFill>
                <a:latin typeface="Consolas"/>
              </a:rPr>
              <a:t>vxlan</a:t>
            </a:r>
            <a:r>
              <a:rPr sz="1900" i="0">
                <a:solidFill>
                  <a:srgbClr val="E8EDF2"/>
                </a:solidFill>
                <a:latin typeface="Consolas"/>
              </a:rPr>
              <a:t> </a:t>
            </a:r>
            <a:r>
              <a:rPr sz="1900" i="0">
                <a:solidFill>
                  <a:srgbClr val="E8EDF2"/>
                </a:solidFill>
                <a:latin typeface="Consolas"/>
              </a:rPr>
              <a:t>id</a:t>
            </a:r>
            <a:r>
              <a:rPr sz="1900" i="0">
                <a:solidFill>
                  <a:srgbClr val="E8EDF2"/>
                </a:solidFill>
                <a:latin typeface="Consolas"/>
              </a:rPr>
              <a:t> </a:t>
            </a:r>
            <a:r>
              <a:rPr sz="1900" i="0">
                <a:solidFill>
                  <a:srgbClr val="F7DC6F"/>
                </a:solidFill>
                <a:latin typeface="Consolas"/>
              </a:rPr>
              <a:t>100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remote</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.168.50.2</a:t>
            </a:r>
            <a:r>
              <a:rPr sz="1900" i="0">
                <a:solidFill>
                  <a:srgbClr val="E8EDF2"/>
                </a:solidFill>
                <a:latin typeface="Consolas"/>
              </a:rPr>
              <a:t> </a:t>
            </a:r>
            <a:r>
              <a:rPr sz="1900" i="0">
                <a:solidFill>
                  <a:srgbClr val="C39BD3"/>
                </a:solidFill>
                <a:latin typeface="Consolas"/>
              </a:rPr>
              <a:t>local</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.168.50.1</a:t>
            </a:r>
            <a:r>
              <a:rPr sz="1900" i="0">
                <a:solidFill>
                  <a:srgbClr val="E8EDF2"/>
                </a:solidFill>
                <a:latin typeface="Consolas"/>
              </a:rPr>
              <a:t> </a:t>
            </a:r>
            <a:r>
              <a:rPr sz="1900" i="0">
                <a:solidFill>
                  <a:srgbClr val="E8EDF2"/>
                </a:solidFill>
                <a:latin typeface="Consolas"/>
              </a:rPr>
              <a:t>dstport</a:t>
            </a:r>
            <a:r>
              <a:rPr sz="1900" i="0">
                <a:solidFill>
                  <a:srgbClr val="E8EDF2"/>
                </a:solidFill>
                <a:latin typeface="Consolas"/>
              </a:rPr>
              <a:t> </a:t>
            </a:r>
            <a:r>
              <a:rPr sz="1900" i="0">
                <a:solidFill>
                  <a:srgbClr val="F7DC6F"/>
                </a:solidFill>
                <a:latin typeface="Consolas"/>
              </a:rPr>
              <a:t>4789</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u1</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C39BD3"/>
                </a:solidFill>
                <a:latin typeface="Consolas"/>
              </a:rPr>
              <a:t>type</a:t>
            </a:r>
            <a:r>
              <a:rPr sz="1900" i="0">
                <a:solidFill>
                  <a:srgbClr val="E8EDF2"/>
                </a:solidFill>
                <a:latin typeface="Consolas"/>
              </a:rPr>
              <a:t> </a:t>
            </a:r>
            <a:r>
              <a:rPr sz="1900" i="0">
                <a:solidFill>
                  <a:srgbClr val="E8EDF2"/>
                </a:solidFill>
                <a:latin typeface="Consolas"/>
              </a:rPr>
              <a:t>vxlan</a:t>
            </a:r>
            <a:r>
              <a:rPr sz="1900" i="0">
                <a:solidFill>
                  <a:srgbClr val="E8EDF2"/>
                </a:solidFill>
                <a:latin typeface="Consolas"/>
              </a:rPr>
              <a:t> </a:t>
            </a:r>
            <a:r>
              <a:rPr sz="1900" i="0">
                <a:solidFill>
                  <a:srgbClr val="E8EDF2"/>
                </a:solidFill>
                <a:latin typeface="Consolas"/>
              </a:rPr>
              <a:t>id</a:t>
            </a:r>
            <a:r>
              <a:rPr sz="1900" i="0">
                <a:solidFill>
                  <a:srgbClr val="E8EDF2"/>
                </a:solidFill>
                <a:latin typeface="Consolas"/>
              </a:rPr>
              <a:t> </a:t>
            </a:r>
            <a:r>
              <a:rPr sz="1900" i="0">
                <a:solidFill>
                  <a:srgbClr val="F7DC6F"/>
                </a:solidFill>
                <a:latin typeface="Consolas"/>
              </a:rPr>
              <a:t>100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remote</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.168.50.1</a:t>
            </a:r>
            <a:r>
              <a:rPr sz="1900" i="0">
                <a:solidFill>
                  <a:srgbClr val="E8EDF2"/>
                </a:solidFill>
                <a:latin typeface="Consolas"/>
              </a:rPr>
              <a:t> </a:t>
            </a:r>
            <a:r>
              <a:rPr sz="1900" i="0">
                <a:solidFill>
                  <a:srgbClr val="C39BD3"/>
                </a:solidFill>
                <a:latin typeface="Consolas"/>
              </a:rPr>
              <a:t>local</a:t>
            </a:r>
            <a:r>
              <a:rPr sz="1900" i="0">
                <a:solidFill>
                  <a:srgbClr val="E8EDF2"/>
                </a:solidFill>
                <a:latin typeface="Consolas"/>
              </a:rPr>
              <a:t> </a:t>
            </a:r>
            <a:r>
              <a:rPr sz="1900" i="0">
                <a:solidFill>
                  <a:srgbClr val="F7DC6F"/>
                </a:solidFill>
                <a:latin typeface="Consolas"/>
              </a:rPr>
              <a:t>192</a:t>
            </a:r>
            <a:r>
              <a:rPr sz="1900" i="0">
                <a:solidFill>
                  <a:srgbClr val="E8EDF2"/>
                </a:solidFill>
                <a:latin typeface="Consolas"/>
              </a:rPr>
              <a:t>.168.50.2</a:t>
            </a:r>
            <a:r>
              <a:rPr sz="1900" i="0">
                <a:solidFill>
                  <a:srgbClr val="E8EDF2"/>
                </a:solidFill>
                <a:latin typeface="Consolas"/>
              </a:rPr>
              <a:t> </a:t>
            </a:r>
            <a:r>
              <a:rPr sz="1900" i="0">
                <a:solidFill>
                  <a:srgbClr val="E8EDF2"/>
                </a:solidFill>
                <a:latin typeface="Consolas"/>
              </a:rPr>
              <a:t>dstport</a:t>
            </a:r>
            <a:r>
              <a:rPr sz="1900" i="0">
                <a:solidFill>
                  <a:srgbClr val="E8EDF2"/>
                </a:solidFill>
                <a:latin typeface="Consolas"/>
              </a:rPr>
              <a:t> </a:t>
            </a:r>
            <a:r>
              <a:rPr sz="1900" i="0">
                <a:solidFill>
                  <a:srgbClr val="F7DC6F"/>
                </a:solidFill>
                <a:latin typeface="Consolas"/>
              </a:rPr>
              <a:t>4789</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u2</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addr</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.16.0.1/24</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vx0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addr</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.16.0.2/24</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vx0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up</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up</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E8EDF2"/>
                </a:solidFill>
                <a:latin typeface="Consolas"/>
              </a:rPr>
              <a:t>show</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7DCEA0"/>
                </a:solidFill>
                <a:latin typeface="Consolas"/>
              </a:rPr>
              <a:t>'vxlan id 100'</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7640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436BF696-5399-44E3-BF41-91BB191229C9}"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Small packets work.</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Small packets work. ------------------------------------------ sudo ip netns exec h1 ping -c 2 172.16.0.2"/>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Small packets work.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955D0E70-FDC6-4103-9A51-F3AF5CE482AF}"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the black hole: large packets, don't-fragment set.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19984"/>
          </a:xfrm>
          <a:prstGeom prst="roundRect">
            <a:avLst>
              <a:gd name="adj" fmla="val 31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Now the black hole: large packets, don't-fragment set. -------- # The underlay is 1500; VXLAN needs 50; so 1450 is the real limit. sudo ip netns exec h1 ip link set vx0 mtu 1500 # deliberately wrong echo &quot;--- 1400 bytes: fits ---&quot; sudo ip netns exec h1 ping -c 2 -M do -s 1400 172.16.0.2 || true echo &quot;--- 1472 bytes: does not fit, and will not say so ---&quot; sudo ip netns exec h1 ping -c 2 -W 2 -M do -s 1472 172.16.0.2 || \ echo &quot;no reply -- exactly the worked example's symptom&quot;"/>
          <p:cNvSpPr txBox="1"/>
          <p:nvPr/>
        </p:nvSpPr>
        <p:spPr>
          <a:xfrm>
            <a:off x="1362456" y="2523744"/>
            <a:ext cx="9987991" cy="24262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Now the black hole: large packets, don't-fragment set. --------</a:t>
            </a:r>
          </a:p>
          <a:p>
            <a:pPr>
              <a:lnSpc>
                <a:spcPct val="100000"/>
              </a:lnSpc>
              <a:spcAft>
                <a:spcPts val="0"/>
              </a:spcAft>
            </a:pPr>
            <a:r>
              <a:rPr sz="1900" i="1">
                <a:solidFill>
                  <a:srgbClr val="8795A1"/>
                </a:solidFill>
                <a:latin typeface="Consolas"/>
              </a:rPr>
              <a:t># The underlay is 1500; VXLAN needs 50; so 1450 is the real limit.</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1500</a:t>
            </a:r>
            <a:r>
              <a:rPr sz="1900" i="0">
                <a:solidFill>
                  <a:srgbClr val="E8EDF2"/>
                </a:solidFill>
                <a:latin typeface="Consolas"/>
              </a:rPr>
              <a:t>    </a:t>
            </a:r>
            <a:r>
              <a:rPr sz="1900" i="1">
                <a:solidFill>
                  <a:srgbClr val="8795A1"/>
                </a:solidFill>
                <a:latin typeface="Consolas"/>
              </a:rPr>
              <a:t># deliberately wrong</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"--- 1400 bytes: fits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F7DC6F"/>
                </a:solidFill>
                <a:latin typeface="Consolas"/>
              </a:rPr>
              <a:t>1400</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"--- 1472 bytes: does not fit, and will not say so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-W</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F7DC6F"/>
                </a:solidFill>
                <a:latin typeface="Consolas"/>
              </a:rPr>
              <a:t>1472</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"no reply -- exactly the worked example's symptom"</a:t>
            </a:r>
          </a:p>
        </p:txBody>
      </p:sp>
      <p:sp>
        <p:nvSpPr>
          <p:cNvPr id="15" name="!!code-num"/>
          <p:cNvSpPr txBox="1"/>
          <p:nvPr/>
        </p:nvSpPr>
        <p:spPr>
          <a:xfrm>
            <a:off x="768096" y="2523744"/>
            <a:ext cx="393192" cy="24262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a:p>
            <a:pPr algn="r">
              <a:lnSpc>
                <a:spcPct val="100000"/>
              </a:lnSpc>
            </a:pPr>
            <a:r>
              <a:rPr sz="19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56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C33C7CA0-3CF8-469C-A1C2-0CDE24A04A57}"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Fix 1: lower the overlay MTU to the arithmetic.</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Fix 1: lower the overlay MTU to the arithmetic. --------------- sudo ip netns exec h1 ip link set vx0 mtu 1450 sudo ip netns exec h2 ip link set vx0 mtu 1450 sudo ip netns exec h1 ping -c 2 -M do -s 1422 172.16.0.2"/>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Fix 1: lower the overlay MTU to the arithmetic.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1450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1450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F7DC6F"/>
                </a:solidFill>
                <a:latin typeface="Consolas"/>
              </a:rPr>
              <a:t>1422</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8F8494FE-9315-4AA8-A417-C0E4D688D81F}"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Fix 2: raise the underlay instead, and keep 1500 inside.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Fix 2: raise the underlay instead, and keep 1500 inside. ------ sudo ip netns exec h1 ip link set u1 mtu 9000 sudo ip netns exec h2 ip link set u2 mtu 9000 sudo ip netns exec h1 ip link set vx0 mtu 8950 sudo ip netns exec h2 ip link set vx0 mtu 8950 sudo ip netns exec h1 ping -c 2 -M do -s 8000 172.16.0.2"/>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Fix 2: raise the underlay instead, and keep 1500 inside.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u1</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9000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u2</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9000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8950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link</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vx0</a:t>
            </a:r>
            <a:r>
              <a:rPr sz="1900" i="0">
                <a:solidFill>
                  <a:srgbClr val="E8EDF2"/>
                </a:solidFill>
                <a:latin typeface="Consolas"/>
              </a:rPr>
              <a:t> </a:t>
            </a:r>
            <a:r>
              <a:rPr sz="1900" i="0">
                <a:solidFill>
                  <a:srgbClr val="E8EDF2"/>
                </a:solidFill>
                <a:latin typeface="Consolas"/>
              </a:rPr>
              <a:t>mtu</a:t>
            </a:r>
            <a:r>
              <a:rPr sz="1900" i="0">
                <a:solidFill>
                  <a:srgbClr val="E8EDF2"/>
                </a:solidFill>
                <a:latin typeface="Consolas"/>
              </a:rPr>
              <a:t> </a:t>
            </a:r>
            <a:r>
              <a:rPr sz="1900" i="0">
                <a:solidFill>
                  <a:srgbClr val="F7DC6F"/>
                </a:solidFill>
                <a:latin typeface="Consolas"/>
              </a:rPr>
              <a:t>8950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F7DC6F"/>
                </a:solidFill>
                <a:latin typeface="Consolas"/>
              </a:rPr>
              <a:t>8000</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63</a:t>
            </a:r>
          </a:p>
          <a:p>
            <a:pPr algn="r">
              <a:lnSpc>
                <a:spcPct val="100000"/>
              </a:lnSpc>
            </a:pPr>
            <a:r>
              <a:rPr sz="1900">
                <a:solidFill>
                  <a:srgbClr val="4F5D6A"/>
                </a:solidFill>
                <a:latin typeface="Consolas"/>
              </a:rPr>
              <a:t>64</a:t>
            </a:r>
          </a:p>
          <a:p>
            <a:pPr algn="r">
              <a:lnSpc>
                <a:spcPct val="100000"/>
              </a:lnSpc>
            </a:pPr>
            <a:r>
              <a:rPr sz="1900">
                <a:solidFill>
                  <a:srgbClr val="4F5D6A"/>
                </a:solidFill>
                <a:latin typeface="Consolas"/>
              </a:rPr>
              <a:t>65</a:t>
            </a:r>
          </a:p>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375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BE4C2CB0-3E88-47CE-AC8D-B5236BFFF047}"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Watch the encapsulation on the wire.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Watch the encapsulation on the wire. ------------------------- sudo timeout 6 ip netns exec h2 tcpdump -ni u2 -c 4 udp port 4789 &amp; sleep 1 sudo ip netns exec h1 ping -c 3 172.16.0.2 &gt;/dev/null ; wait || true # Each capture line is one outer packet carrying one whole inner frame."/>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Watch the encapsulation on the wire.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timeout</a:t>
            </a:r>
            <a:r>
              <a:rPr sz="1900" i="0">
                <a:solidFill>
                  <a:srgbClr val="E8EDF2"/>
                </a:solidFill>
                <a:latin typeface="Consolas"/>
              </a:rPr>
              <a:t> </a:t>
            </a:r>
            <a:r>
              <a:rPr sz="1900" i="0">
                <a:solidFill>
                  <a:srgbClr val="F7DC6F"/>
                </a:solidFill>
                <a:latin typeface="Consolas"/>
              </a:rPr>
              <a:t>6</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h2</a:t>
            </a:r>
            <a:r>
              <a:rPr sz="1900" i="0">
                <a:solidFill>
                  <a:srgbClr val="E8EDF2"/>
                </a:solidFill>
                <a:latin typeface="Consolas"/>
              </a:rPr>
              <a:t> </a:t>
            </a:r>
            <a:r>
              <a:rPr sz="1900" i="0">
                <a:solidFill>
                  <a:srgbClr val="E8EDF2"/>
                </a:solidFill>
                <a:latin typeface="Consolas"/>
              </a:rPr>
              <a:t>tcpdump</a:t>
            </a:r>
            <a:r>
              <a:rPr sz="1900" i="0">
                <a:solidFill>
                  <a:srgbClr val="E8EDF2"/>
                </a:solidFill>
                <a:latin typeface="Consolas"/>
              </a:rPr>
              <a:t> </a:t>
            </a:r>
            <a:r>
              <a:rPr sz="1900" i="0">
                <a:solidFill>
                  <a:srgbClr val="E8EDF2"/>
                </a:solidFill>
                <a:latin typeface="Consolas"/>
              </a:rPr>
              <a:t>-ni</a:t>
            </a:r>
            <a:r>
              <a:rPr sz="1900" i="0">
                <a:solidFill>
                  <a:srgbClr val="E8EDF2"/>
                </a:solidFill>
                <a:latin typeface="Consolas"/>
              </a:rPr>
              <a:t> </a:t>
            </a:r>
            <a:r>
              <a:rPr sz="1900" i="0">
                <a:solidFill>
                  <a:srgbClr val="E8EDF2"/>
                </a:solidFill>
                <a:latin typeface="Consolas"/>
              </a:rPr>
              <a:t>u2</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4</a:t>
            </a:r>
            <a:r>
              <a:rPr sz="1900" i="0">
                <a:solidFill>
                  <a:srgbClr val="E8EDF2"/>
                </a:solidFill>
                <a:latin typeface="Consolas"/>
              </a:rPr>
              <a:t> </a:t>
            </a:r>
            <a:r>
              <a:rPr sz="1900" i="0">
                <a:solidFill>
                  <a:srgbClr val="E8EDF2"/>
                </a:solidFill>
                <a:latin typeface="Consolas"/>
              </a:rPr>
              <a:t>udp</a:t>
            </a:r>
            <a:r>
              <a:rPr sz="1900" i="0">
                <a:solidFill>
                  <a:srgbClr val="E8EDF2"/>
                </a:solidFill>
                <a:latin typeface="Consolas"/>
              </a:rPr>
              <a:t> </a:t>
            </a:r>
            <a:r>
              <a:rPr sz="1900" i="0">
                <a:solidFill>
                  <a:srgbClr val="E8EDF2"/>
                </a:solidFill>
                <a:latin typeface="Consolas"/>
              </a:rPr>
              <a:t>port</a:t>
            </a:r>
            <a:r>
              <a:rPr sz="1900" i="0">
                <a:solidFill>
                  <a:srgbClr val="E8EDF2"/>
                </a:solidFill>
                <a:latin typeface="Consolas"/>
              </a:rPr>
              <a:t> </a:t>
            </a:r>
            <a:r>
              <a:rPr sz="1900" i="0">
                <a:solidFill>
                  <a:srgbClr val="F7DC6F"/>
                </a:solidFill>
                <a:latin typeface="Consolas"/>
              </a:rPr>
              <a:t>4789</a:t>
            </a:r>
            <a:r>
              <a:rPr sz="1900" i="0">
                <a:solidFill>
                  <a:srgbClr val="E8EDF2"/>
                </a:solidFill>
                <a:latin typeface="Consolas"/>
              </a:rPr>
              <a:t> </a:t>
            </a:r>
            <a:r>
              <a:rPr sz="1900" i="0">
                <a:solidFill>
                  <a:srgbClr val="AEB6BF"/>
                </a:solidFill>
                <a:latin typeface="Consolas"/>
              </a:rPr>
              <a:t>&amp;</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1</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ip</a:t>
            </a:r>
            <a:r>
              <a:rPr sz="1900" i="0">
                <a:solidFill>
                  <a:srgbClr val="E8EDF2"/>
                </a:solidFill>
                <a:latin typeface="Consolas"/>
              </a:rPr>
              <a:t> </a:t>
            </a:r>
            <a:r>
              <a:rPr sz="1900" i="0">
                <a:solidFill>
                  <a:srgbClr val="E8EDF2"/>
                </a:solidFill>
                <a:latin typeface="Consolas"/>
              </a:rPr>
              <a:t>netns</a:t>
            </a:r>
            <a:r>
              <a:rPr sz="1900" i="0">
                <a:solidFill>
                  <a:srgbClr val="E8EDF2"/>
                </a:solidFill>
                <a:latin typeface="Consolas"/>
              </a:rPr>
              <a:t> </a:t>
            </a:r>
            <a:r>
              <a:rPr sz="1900" i="0">
                <a:solidFill>
                  <a:srgbClr val="C39BD3"/>
                </a:solidFill>
                <a:latin typeface="Consolas"/>
              </a:rPr>
              <a:t>exec</a:t>
            </a:r>
            <a:r>
              <a:rPr sz="1900" i="0">
                <a:solidFill>
                  <a:srgbClr val="E8EDF2"/>
                </a:solidFill>
                <a:latin typeface="Consolas"/>
              </a:rPr>
              <a:t> </a:t>
            </a:r>
            <a:r>
              <a:rPr sz="1900" i="0">
                <a:solidFill>
                  <a:srgbClr val="E8EDF2"/>
                </a:solidFill>
                <a:latin typeface="Consolas"/>
              </a:rPr>
              <a:t>h1</a:t>
            </a:r>
            <a:r>
              <a:rPr sz="1900" i="0">
                <a:solidFill>
                  <a:srgbClr val="E8EDF2"/>
                </a:solidFill>
                <a:latin typeface="Consolas"/>
              </a:rPr>
              <a:t> </a:t>
            </a: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172</a:t>
            </a:r>
            <a:r>
              <a:rPr sz="1900" i="0">
                <a:solidFill>
                  <a:srgbClr val="E8EDF2"/>
                </a:solidFill>
                <a:latin typeface="Consolas"/>
              </a:rPr>
              <a:t>.16.0.2</a:t>
            </a:r>
            <a:r>
              <a:rPr sz="1900" i="0">
                <a:solidFill>
                  <a:srgbClr val="E8EDF2"/>
                </a:solidFill>
                <a:latin typeface="Consolas"/>
              </a:rPr>
              <a:t> </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wait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1">
                <a:solidFill>
                  <a:srgbClr val="8795A1"/>
                </a:solidFill>
                <a:latin typeface="Consolas"/>
              </a:rPr>
              <a:t># Each capture line is one outer packet carrying one whole inner frame.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70</a:t>
            </a:r>
          </a:p>
          <a:p>
            <a:pPr algn="r">
              <a:lnSpc>
                <a:spcPct val="100000"/>
              </a:lnSpc>
            </a:pPr>
            <a:r>
              <a:rPr sz="1900">
                <a:solidFill>
                  <a:srgbClr val="4F5D6A"/>
                </a:solidFill>
                <a:latin typeface="Consolas"/>
              </a:rPr>
              <a:t>71</a:t>
            </a:r>
          </a:p>
          <a:p>
            <a:pPr algn="r">
              <a:lnSpc>
                <a:spcPct val="100000"/>
              </a:lnSpc>
            </a:pPr>
            <a:r>
              <a:rPr sz="1900">
                <a:solidFill>
                  <a:srgbClr val="4F5D6A"/>
                </a:solidFill>
                <a:latin typeface="Consolas"/>
              </a:rPr>
              <a:t>72</a:t>
            </a:r>
          </a:p>
          <a:p>
            <a:pPr algn="r">
              <a:lnSpc>
                <a:spcPct val="100000"/>
              </a:lnSpc>
            </a:pPr>
            <a:r>
              <a:rPr sz="1900">
                <a:solidFill>
                  <a:srgbClr val="4F5D6A"/>
                </a:solidFill>
                <a:latin typeface="Consolas"/>
              </a:rPr>
              <a:t>73</a:t>
            </a:r>
          </a:p>
          <a:p>
            <a:pPr algn="r">
              <a:lnSpc>
                <a:spcPct val="100000"/>
              </a:lnSpc>
            </a:pPr>
            <a:r>
              <a:rPr sz="1900">
                <a:solidFill>
                  <a:srgbClr val="4F5D6A"/>
                </a:solidFill>
                <a:latin typeface="Consolas"/>
              </a:rPr>
              <a:t>74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an Overlay, and Breaking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07D1285F-86C8-4903-B953-19E2098C0573}"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Tear down. --------------------------------------------------- for n in g1 g2 h1 h2; do sudo ip netns del &quot;$n&quot; 2&gt;/dev/null || true; done sudo ip link del br-vss 2&gt;/dev/null || true"/>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--- 9. Tear down.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E8EDF2"/>
                </a:solidFill>
                <a:latin typeface="Consolas"/>
              </a:rPr>
              <a:t>g1</a:t>
            </a:r>
            <a:r>
              <a:rPr sz="1800" i="0">
                <a:solidFill>
                  <a:srgbClr val="E8EDF2"/>
                </a:solidFill>
                <a:latin typeface="Consolas"/>
              </a:rPr>
              <a:t> </a:t>
            </a:r>
            <a:r>
              <a:rPr sz="1800" i="0">
                <a:solidFill>
                  <a:srgbClr val="E8EDF2"/>
                </a:solidFill>
                <a:latin typeface="Consolas"/>
              </a:rPr>
              <a:t>g2</a:t>
            </a:r>
            <a:r>
              <a:rPr sz="1800" i="0">
                <a:solidFill>
                  <a:srgbClr val="E8EDF2"/>
                </a:solidFill>
                <a:latin typeface="Consolas"/>
              </a:rPr>
              <a:t> </a:t>
            </a:r>
            <a:r>
              <a:rPr sz="1800" i="0">
                <a:solidFill>
                  <a:srgbClr val="E8EDF2"/>
                </a:solidFill>
                <a:latin typeface="Consolas"/>
              </a:rPr>
              <a:t>h1</a:t>
            </a:r>
            <a:r>
              <a:rPr sz="1800" i="0">
                <a:solidFill>
                  <a:srgbClr val="E8EDF2"/>
                </a:solidFill>
                <a:latin typeface="Consolas"/>
              </a:rPr>
              <a:t> </a:t>
            </a:r>
            <a:r>
              <a:rPr sz="1800" i="0">
                <a:solidFill>
                  <a:srgbClr val="E8EDF2"/>
                </a:solidFill>
                <a:latin typeface="Consolas"/>
              </a:rPr>
              <a:t>h2</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ip</a:t>
            </a:r>
            <a:r>
              <a:rPr sz="1800" i="0">
                <a:solidFill>
                  <a:srgbClr val="E8EDF2"/>
                </a:solidFill>
                <a:latin typeface="Consolas"/>
              </a:rPr>
              <a:t> </a:t>
            </a:r>
            <a:r>
              <a:rPr sz="1800" i="0">
                <a:solidFill>
                  <a:srgbClr val="E8EDF2"/>
                </a:solidFill>
                <a:latin typeface="Consolas"/>
              </a:rPr>
              <a:t>netns</a:t>
            </a:r>
            <a:r>
              <a:rPr sz="1800" i="0">
                <a:solidFill>
                  <a:srgbClr val="E8EDF2"/>
                </a:solidFill>
                <a:latin typeface="Consolas"/>
              </a:rPr>
              <a:t> </a:t>
            </a:r>
            <a:r>
              <a:rPr sz="1800" i="0">
                <a:solidFill>
                  <a:srgbClr val="E8EDF2"/>
                </a:solidFill>
                <a:latin typeface="Consolas"/>
              </a:rPr>
              <a:t>del</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true</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done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ip</a:t>
            </a:r>
            <a:r>
              <a:rPr sz="1800" i="0">
                <a:solidFill>
                  <a:srgbClr val="E8EDF2"/>
                </a:solidFill>
                <a:latin typeface="Consolas"/>
              </a:rPr>
              <a:t> </a:t>
            </a:r>
            <a:r>
              <a:rPr sz="1800" i="0">
                <a:solidFill>
                  <a:srgbClr val="E8EDF2"/>
                </a:solidFill>
                <a:latin typeface="Consolas"/>
              </a:rPr>
              <a:t>link</a:t>
            </a:r>
            <a:r>
              <a:rPr sz="1800" i="0">
                <a:solidFill>
                  <a:srgbClr val="E8EDF2"/>
                </a:solidFill>
                <a:latin typeface="Consolas"/>
              </a:rPr>
              <a:t> </a:t>
            </a:r>
            <a:r>
              <a:rPr sz="1800" i="0">
                <a:solidFill>
                  <a:srgbClr val="E8EDF2"/>
                </a:solidFill>
                <a:latin typeface="Consolas"/>
              </a:rPr>
              <a:t>del</a:t>
            </a:r>
            <a:r>
              <a:rPr sz="1800" i="0">
                <a:solidFill>
                  <a:srgbClr val="E8EDF2"/>
                </a:solidFill>
                <a:latin typeface="Consolas"/>
              </a:rPr>
              <a:t> </a:t>
            </a:r>
            <a:r>
              <a:rPr sz="1800" i="0">
                <a:solidFill>
                  <a:srgbClr val="E8EDF2"/>
                </a:solidFill>
                <a:latin typeface="Consolas"/>
              </a:rPr>
              <a:t>br-vss</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76</a:t>
            </a:r>
          </a:p>
          <a:p>
            <a:pPr algn="r">
              <a:lnSpc>
                <a:spcPct val="100000"/>
              </a:lnSpc>
            </a:pPr>
            <a:r>
              <a:rPr sz="1800">
                <a:solidFill>
                  <a:srgbClr val="4F5D6A"/>
                </a:solidFill>
                <a:latin typeface="Consolas"/>
              </a:rPr>
              <a:t>77</a:t>
            </a:r>
          </a:p>
          <a:p>
            <a:pPr algn="r">
              <a:lnSpc>
                <a:spcPct val="100000"/>
              </a:lnSpc>
            </a:pPr>
            <a:r>
              <a:rPr sz="1800">
                <a:solidFill>
                  <a:srgbClr val="4F5D6A"/>
                </a:solidFill>
                <a:latin typeface="Consolas"/>
              </a:rPr>
              <a:t>78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1807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§13.5  ·  Handout p. 104     </a:t>
            </a:r>
            <a:fld id="{4C223298-049C-4902-936B-42F411858156}"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 is the fault that costs the most time in production, reproduced in two commands, and the difference between the working and failing case is 72 bytes. Step 8 shows why: the capture is full-size outer packets, each carrying a frame that was never meant to be carried.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overlay uses Geneve with 16 bytes of options, over IPv6. Outer headers are Ethernet 14, IPv6 40, UDP 8, Geneve </a:t>
            </a:r>
            <a:r>
              <a:rPr sz="3400" b="0" i="0">
                <a:solidFill>
                  <a:srgbClr val="FFFFFF"/>
                </a:solidFill>
                <a:latin typeface="Cambria"/>
              </a:rPr>
              <a:t>8 + 16</a:t>
            </a:r>
            <a:r>
              <a:rPr sz="3400" b="0" i="0">
                <a:solidFill>
                  <a:srgbClr val="FFFFFF"/>
                </a:solidFill>
                <a:latin typeface="Segoe UI Semibold"/>
              </a:rPr>
              <a:t>. Give the total overhead and the largest inner frame on a 1500-byte underlay.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13  ·  Network Virtualization and SDN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107  ·  answers in Appendix D     </a:t>
            </a:r>
            <a:fld id="{24192F43-475F-415B-9152-A4F7F72A9BDE}"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overlay uses Geneve with 16 bytes of options, over IPv6. Outer headers are Ethernet 14, IPv6 40, UDP 8, Geneve </a:t>
            </a:r>
            <a:r>
              <a:rPr sz="2400" b="0" i="0">
                <a:solidFill>
                  <a:srgbClr val="1A5276"/>
                </a:solidFill>
                <a:latin typeface="Cambria"/>
              </a:rPr>
              <a:t>8 + 16</a:t>
            </a:r>
            <a:r>
              <a:rPr sz="2400" b="0" i="0">
                <a:solidFill>
                  <a:srgbClr val="1A5276"/>
                </a:solidFill>
                <a:latin typeface="Segoe UI Semibold"/>
              </a:rPr>
              <a:t>. Give the total overhead and the largest inner frame on a 1500-byte underlay.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14 + 40 + 8 + (8+16) = </a:t>
            </a:r>
            <a:r>
              <a:rPr sz="2200" b="1" i="0">
                <a:solidFill>
                  <a:srgbClr val="1C252B"/>
                </a:solidFill>
                <a:latin typeface="Cambria"/>
              </a:rPr>
              <a:t>86</a:t>
            </a:r>
            <a:r>
              <a:rPr sz="2200" b="0" i="0">
                <a:solidFill>
                  <a:srgbClr val="1C252B"/>
                </a:solidFill>
                <a:latin typeface="Segoe UI"/>
              </a:rPr>
              <a:t> bytes of overhead, so the largest inner frame is </a:t>
            </a:r>
            <a:r>
              <a:rPr sz="2200" b="0" i="0">
                <a:solidFill>
                  <a:srgbClr val="1C252B"/>
                </a:solidFill>
                <a:latin typeface="Cambria"/>
              </a:rPr>
              <a:t>1500 − 86 = </a:t>
            </a:r>
            <a:r>
              <a:rPr sz="2200" b="1" i="0">
                <a:solidFill>
                  <a:srgbClr val="1C252B"/>
                </a:solidFill>
                <a:latin typeface="Cambria"/>
              </a:rPr>
              <a:t>1414</a:t>
            </a:r>
            <a:r>
              <a:rPr sz="2200" b="0" i="0">
                <a:solidFill>
                  <a:srgbClr val="1C252B"/>
                </a:solidFill>
                <a:latin typeface="Segoe UI"/>
              </a:rPr>
              <a:t> bytes. Note that IPv6 and Geneve options together cost 36 bytes more than the VXLAN-over-IPv4 case in the chapter — the arithmetic must be redone for each encapsulation, never assumed at 50.</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  answers in Appendix D     </a:t>
            </a:r>
            <a:fld id="{8775E73C-5832-4B0B-BA6E-C27462C80A15}"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889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 PMTUD black hole present as a hang rather than an error, and what single firewall change makes it present honestly?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13  ·  Network Virtualization and SDN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107  ·  answers in Appendix D     </a:t>
            </a:r>
            <a:fld id="{ED241BFD-6B2F-4BE4-ABA5-827BCB2E92BF}"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a PMTUD black hole present as a hang rather than an error, and what single firewall change makes it present honestly?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oversized packet is dropped and an ICMP “fragmentation needed” message is returned to tell the sender to use a smaller size. Path MTU discovery depends on that message arriving — and ICMP is very commonly filtered, so the sender never learns, retransmits the same segment and stalls for ever. The handshake succeeded because its packets were small. The firewall change is to </a:t>
            </a:r>
            <a:r>
              <a:rPr sz="2200" b="1" i="0">
                <a:solidFill>
                  <a:srgbClr val="1C252B"/>
                </a:solidFill>
                <a:latin typeface="Segoe UI"/>
              </a:rPr>
              <a:t>permit ICMP type 3 code 4</a:t>
            </a:r>
            <a:r>
              <a:rPr sz="2200" b="0" i="0">
                <a:solidFill>
                  <a:srgbClr val="1C252B"/>
                </a:solidFill>
                <a:latin typeface="Segoe UI"/>
              </a:rPr>
              <a:t> (destination unreachable, fragmentation needed), which turns a silent hang into a connection that corrects itself.</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  answers in Appendix D     </a:t>
            </a:r>
            <a:fld id="{FE37AF44-7F98-4A53-A8C0-7C5A100B1F19}"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694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tenant must be isolated from all others, and their guests are spread over three buildings on different IP subnets. Explain why VLANs cannot do this and what you would use.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13  ·  Network Virtualization and SDN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107  ·  answers in Appendix D     </a:t>
            </a:r>
            <a:fld id="{1B44758C-4BE2-43F3-A0D1-BC78E5D10BAD}"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tenant must be isolated from all others, and their guests are spread over three buildings on different IP subnets. Explain why VLANs cannot do this and what you would use.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VLAN is a tag within a single layer-2 domain: it does not survive being routed, so it cannot span three buildings on different IP subnets. It is also limited to 4094 identifiers. Use an </a:t>
            </a:r>
            <a:r>
              <a:rPr sz="2200" b="1" i="0">
                <a:solidFill>
                  <a:srgbClr val="1C252B"/>
                </a:solidFill>
                <a:latin typeface="Segoe UI"/>
              </a:rPr>
              <a:t>overlay</a:t>
            </a:r>
            <a:r>
              <a:rPr sz="2200" b="0" i="0">
                <a:solidFill>
                  <a:srgbClr val="1C252B"/>
                </a:solidFill>
                <a:latin typeface="Segoe UI"/>
              </a:rPr>
              <a:t> — VXLAN or Geneve — which puts the tenant’s Ethernet frame inside an ordinary IP packet, so it crosses any routed network, and whose 24-bit identifier gives about 16.7 million isolated networks.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  answers in Appendix D     </a:t>
            </a:r>
            <a:fld id="{37C3F637-E435-4205-AE1C-73E6F733FAEF}"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a:t>
            </a:r>
            <a:fld id="{987BCE4C-F476-4A89-ABCF-DB3B609FEEBE}"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virtual switch forwards between guests in software. It can express rules about identity rather than MAC addresses, it moves with the guest, and it is made of your host’s CPU.</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VLAN tag is 12 bits: 4094 networks, confined to one layer-2 domain.</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VXLAN puts the guest’s whole frame inside UDP. The VNI is 24 bits — 16.7 million networks — and the outer packet is ordinary IP, so the overlay crosses any routed network.</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Encapsulation costs 50 bytes, so the inner MTU is 1450 on a 1500-byte underlay. Leave the guest at 1500 and large transfers hang silently.</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Fix it by raising the underlay to jumbo frames, lowering guest MTU, or clamping MSS — in that order of preference.</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SDN separates the control plane from the data plane. Pure OpenFlow did not win; the idea of central intent with programmed devices did.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403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a:t>
            </a:r>
            <a:fld id="{95881006-B446-45B5-8315-08A63A37CA0E}" type="slidenum">
              <a:rPr lang="en-GB" sz="1000">
                <a:solidFill>
                  <a:srgbClr val="8795A1"/>
                </a:solidFill>
                <a:latin typeface="Segoe UI"/>
              </a:rPr>
              <a:t>38</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Most east–west traffic never reaches a physical port, so monitoring must sit at the virtual switch.</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a:t>
            </a:r>
            <a:fld id="{EC45E0A4-6FB9-452E-AAD1-C07F6D91A371}"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VXLAN network identifier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12 bits, giving 4094 networks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16 bits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24 bits, giving about 16.7 million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32 bits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208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a:t>
            </a:r>
            <a:fld id="{A4E95EE5-8F8C-4FED-904E-FA9687367BD8}"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VXLAN encapsulation on an Ethernet/IPv4 underlay adds: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 bytes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24 bytes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50 bytes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100 bytes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13  ·  Network Virtualization and SDN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107     </a:t>
            </a:r>
            <a:fld id="{A54C98F4-56EC-405E-B4F6-0E6A100589B5}" type="slidenum">
              <a:rPr lang="en-GB" sz="1000">
                <a:solidFill>
                  <a:srgbClr val="8795A1"/>
                </a:solidFill>
                <a:latin typeface="Segoe UI"/>
              </a:rPr>
              <a:t>41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Give two things a virtual switch can do that a physical switch cannot, with the reason each is possible.</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a VLAN cannot stretch a tenant’s network across two routed sites, and how an overlay can.</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the three MTU fixes in order of preference, with the drawback of each.</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cluster is being built on a network whose switches cannot do jumbo frames, with guests managed by a team that will not change their images. Choose an approach, state exactly what you would configure and where, and name the traffic your choice will not protect.</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security team asks why their intrusion sensor on the top-of-rack switch sees almost no traffic between application servers that are known to be busy. Explain the three mechanisms that could be responsible and say how you would confirm which it is.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14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14 — Cloud Service and Deployment Models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13, pages 101–107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thin pool to exhaustion; an overlay and its MTU</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proposal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13  ·  Network Virtualization and SDN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638225C0-5B99-46AC-98C9-1BA8B40F8756}"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Network Virtualization and SDN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