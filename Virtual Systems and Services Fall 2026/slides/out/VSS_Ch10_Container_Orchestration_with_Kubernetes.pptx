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9.svg" ContentType="image/svg+xml"/>
  <Override PartName="/ppt/media/image70.svg" ContentType="image/svg+xml"/>
  <Override PartName="/ppt/media/image7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2E5832-2C21-4C06-9EED-3010177853B9}">
          <p14:sldIdLst>
            <p14:sldId id="256"/>
            <p14:sldId id="257"/>
            <p14:sldId id="258"/>
            <p14:sldId id="259"/>
            <p14:sldId id="260"/>
          </p14:sldIdLst>
        </p14:section>
        <p14:section name="10.1 The Problem Containers Created" id="{78AC34E5-0E71-42A6-8EF4-CABFC6D6C010}">
          <p14:sldIdLst>
            <p14:sldId id="261"/>
            <p14:sldId id="262"/>
            <p14:sldId id="263"/>
          </p14:sldIdLst>
        </p14:section>
        <p14:section name="10.2 What the Cluster Is Made Of" id="{B10EBB8A-12FC-4A30-9CCF-A4E3F27D5AB2}">
          <p14:sldIdLst>
            <p14:sldId id="264"/>
            <p14:sldId id="265"/>
            <p14:sldId id="266"/>
            <p14:sldId id="267"/>
          </p14:sldIdLst>
        </p14:section>
        <p14:section name="10.3 Pods, Deployments and Services" id="{D18A8703-F46B-485E-86F4-CF2BB9684851}">
          <p14:sldIdLst>
            <p14:sldId id="268"/>
            <p14:sldId id="269"/>
            <p14:sldId id="270"/>
          </p14:sldIdLst>
        </p14:section>
        <p14:section name="10.4 Requests, Limits and What the Scheduler Does With Them" id="{566F1054-3DF0-40D7-8D4D-1F9BFE161565}">
          <p14:sldIdLst>
            <p14:sldId id="271"/>
            <p14:sldId id="272"/>
            <p14:sldId id="273"/>
            <p14:sldId id="274"/>
            <p14:sldId id="275"/>
            <p14:sldId id="276"/>
            <p14:sldId id="277"/>
            <p14:sldId id="278"/>
          </p14:sldIdLst>
        </p14:section>
        <p14:section name="Pitfalls" id="{691F0AD3-0B69-4E72-B6DC-6BC5FC1A1B41}">
          <p14:sldIdLst>
            <p14:sldId id="279"/>
            <p14:sldId id="280"/>
          </p14:sldIdLst>
        </p14:section>
        <p14:section name="Lab" id="{3D0DA391-617B-4F47-BF6C-A646EFFAEA35}">
          <p14:sldIdLst>
            <p14:sldId id="281"/>
            <p14:sldId id="282"/>
            <p14:sldId id="283"/>
            <p14:sldId id="284"/>
            <p14:sldId id="285"/>
            <p14:sldId id="286"/>
            <p14:sldId id="287"/>
            <p14:sldId id="288"/>
            <p14:sldId id="289"/>
            <p14:sldId id="290"/>
          </p14:sldIdLst>
        </p14:section>
        <p14:section name="Checkpoint" id="{455F8218-8E47-4113-9969-132E8C3BEF19}">
          <p14:sldIdLst>
            <p14:sldId id="291"/>
            <p14:sldId id="292"/>
            <p14:sldId id="293"/>
            <p14:sldId id="294"/>
            <p14:sldId id="295"/>
            <p14:sldId id="296"/>
          </p14:sldIdLst>
        </p14:section>
        <p14:section name="Wrap-up" id="{E90B0C79-E8E6-4D47-B1DB-005FAC8B98C6}">
          <p14:sldIdLst>
            <p14:sldId id="297"/>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Container Orchestration with Kubernetes. Part 3 — Containers and Lightweight Virtualization. Week 8: Kubernetes. Handout pages 77–84.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(namespaces, cgroups, and above all that CPU limits throttle while memory limits kill — Kubernetes inherits both) and Chapter 9 (images, digests, and the OCI runtime stack the kubelet drives).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orchestration; declarative; reconciliation; control loop; desired state; API server; etcd; scheduler; controller manager; kubelet; kube-proxy; Pod; sidecar; ReplicaSet; Deployment; Service; ClusterIP; Ingress; request; limit; QoS class; eviction; liveness probe; readiness probe; taint; toleration.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gave us an artefact that starts in a tenth of a second and costs ten megabytes. Chapter 8 showed a host could hold two thousand of them. Neither says anything about the questions that follow immediately: Which host should this container run on? What happens when it dies at three in the morning? When the host dies? How does traffic find it, given that its address changes every restart? How do you replace all sixty copies with a new version without dropping a request — and undo that in forty seconds when it is wrong? Answering those by hand is possible for ten containers and impossible for a thousand. Orchestration is the automation of those answers, and Kubernetes is the one that won.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10.1 (handout p. 78): A cluster. The arrows all point at the API server, which is the architectural claim: components do not coordinate with each other, they each reconcile against one shared record.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container may declare a request and a limit for CPU and memory. They do completely different jobs and conflating them is the commonest source of Kubernetes capacity trouble.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 a real cluster with kind — a real API server, scheduler and kubelet; only the node count is a pretence — and produces each failure mode above on purpose. Expect forty-five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three-node cluster in containers on this machine..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Declare a desired state and watch six loops reach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Reconciliation: delete a Pod and time the replacement..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 Service: a stable address in front of changing Pods..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Make a Pod unschedulable, and read why..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QoS classes, derived from what you declared..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The cascading-restart outage, on purpose..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Cluster totals are 6 × 12 = 72 cores and 6 × 48 = 288 GB; after existing requests, 32 cores and 98 GB remain. In aggregate the new Deployment’s 15 cores and 90 GB would fit — but Pods are placed on individual nodes. Each node has 12 − 40/6 = 5.3 cores and 48 − 190/6 = 16.3 GB free, giving min(⌊ 5.3/1 ⌋, ⌊ 16.3/6 ⌋) = 2 Pods per node. So 2 × 6 = 12 schedule and 3 stay Pending. The binding resource is memory.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BestEffort, which is evicted first whenever a node comes under memory pressure. The symptom is that the workloads run perfectly for weeks and then are killed — apparently at random, but in fact only when the cluster is busy, which is exactly when they are most needed. Declaring nothing is not neutral; it is choosing to be first in the eviction queue.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liveness probe kills the container when it fails. If the probe checks a shared database and the database slows, every replica fails the probe at the same moment, so Kubernetes kills them all. They restart, reconnect simultaneously in a thundering herd, overload the already-slow database and fail again. Use a readiness probe: it removes the Pod from the Service’s endpoints without killing it, so the replicas stop taking traffic, the database recovers, and they return.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11 — Lightweight and Secure Virtualization. READ: Handout Chapter 10, pages 77–84. THIS WEEK'S LAB: Midterm, then a cluster on one laptop. ASSESSMENT: Midterm (Ch 1–9).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3.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4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0.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1.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Container Orchestration with Kubernetes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CONTAINERS AND LIGHTWEIGHT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10  ·  WEEK 8</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77     </a:t>
            </a:r>
            <a:fld id="{C96840D0-D54B-4D52-BACE-3CB198DB1D1D}"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822916"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91781"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89178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2249165"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Container Orchestration with Kubernetes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0"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Docker and the Container Ecosystem</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Virtualization Management Platforms</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77     </a:t>
            </a:r>
            <a:fld id="{A252131C-EC32-4D0F-B417-7668F198AC0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the control loop and </a:t>
            </a:r>
            <a:r>
              <a:rPr sz="2100" b="1" i="0">
                <a:solidFill>
                  <a:srgbClr val="1C252B"/>
                </a:solidFill>
                <a:latin typeface="Segoe UI"/>
              </a:rPr>
              <a:t>distinguish</a:t>
            </a:r>
            <a:r>
              <a:rPr sz="2100" b="0" i="0">
                <a:solidFill>
                  <a:srgbClr val="1C252B"/>
                </a:solidFill>
                <a:latin typeface="Segoe UI"/>
              </a:rPr>
              <a:t> declarative from imperative management.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Name</a:t>
            </a:r>
            <a:r>
              <a:rPr sz="2100" b="0" i="0">
                <a:solidFill>
                  <a:srgbClr val="1C252B"/>
                </a:solidFill>
                <a:latin typeface="Segoe UI"/>
              </a:rPr>
              <a:t> the control-plane and node components and </a:t>
            </a:r>
            <a:r>
              <a:rPr sz="2100" b="1" i="0">
                <a:solidFill>
                  <a:srgbClr val="1C252B"/>
                </a:solidFill>
                <a:latin typeface="Segoe UI"/>
              </a:rPr>
              <a:t>trace</a:t>
            </a:r>
            <a:r>
              <a:rPr sz="2100" b="0" i="0">
                <a:solidFill>
                  <a:srgbClr val="1C252B"/>
                </a:solidFill>
                <a:latin typeface="Segoe UI"/>
              </a:rPr>
              <a:t> what each does when a Deployment is created.</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a Pod, a Deployment and a Service, and </a:t>
            </a:r>
            <a:r>
              <a:rPr sz="2100" b="1" i="0">
                <a:solidFill>
                  <a:srgbClr val="1C252B"/>
                </a:solidFill>
                <a:latin typeface="Segoe UI"/>
              </a:rPr>
              <a:t>say</a:t>
            </a:r>
            <a:r>
              <a:rPr sz="2100" b="0" i="0">
                <a:solidFill>
                  <a:srgbClr val="1C252B"/>
                </a:solidFill>
                <a:latin typeface="Segoe UI"/>
              </a:rPr>
              <a:t> which problem each one solves.</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Write</a:t>
            </a:r>
            <a:r>
              <a:rPr sz="2100" b="0" i="0">
                <a:solidFill>
                  <a:srgbClr val="1C252B"/>
                </a:solidFill>
                <a:latin typeface="Segoe UI"/>
              </a:rPr>
              <a:t> requests and limits for a workload, and </a:t>
            </a:r>
            <a:r>
              <a:rPr sz="2100" b="1" i="0">
                <a:solidFill>
                  <a:srgbClr val="1C252B"/>
                </a:solidFill>
                <a:latin typeface="Segoe UI"/>
              </a:rPr>
              <a:t>predict</a:t>
            </a:r>
            <a:r>
              <a:rPr sz="2100" b="0" i="0">
                <a:solidFill>
                  <a:srgbClr val="1C252B"/>
                </a:solidFill>
                <a:latin typeface="Segoe UI"/>
              </a:rPr>
              <a:t> the scheduling and eviction behaviour that follows.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Diagnose</a:t>
            </a:r>
            <a:r>
              <a:rPr sz="2100" b="0" i="0">
                <a:solidFill>
                  <a:srgbClr val="1C252B"/>
                </a:solidFill>
                <a:latin typeface="Segoe UI"/>
              </a:rPr>
              <a:t> a workload that will not schedule or will not stay running, from the resource arithmetic and the probe configuration.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77     </a:t>
            </a:r>
            <a:fld id="{0096ACB1-30A8-49FC-A054-726126CF4B56}" type="slidenum">
              <a:rPr lang="en-GB" sz="1000">
                <a:solidFill>
                  <a:srgbClr val="8795A1"/>
                </a:solidFill>
                <a:latin typeface="Segoe UI"/>
              </a:rPr>
              <a:t>4</a:t>
            </a:fld>
          </a:p>
        </p:txBody>
      </p:sp>
      <p:sp>
        <p:nvSpPr>
          <p:cNvPr id="7" name="!!term-orchestration">
            <a:extLst>
              <a:ext uri="{C183D7F6-B498-43B3-948B-1728B52AA6E4}">
                <adec:decorative xmlns:adec="http://schemas.microsoft.com/office/drawing/2017/decorative" val="1"/>
              </a:ext>
            </a:extLst>
          </p:cNvPr>
          <p:cNvSpPr/>
          <p:nvPr/>
        </p:nvSpPr>
        <p:spPr>
          <a:xfrm>
            <a:off x="658368" y="1847088"/>
            <a:ext cx="15732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orchestratio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orchestration"/>
          <p:cNvSpPr txBox="1"/>
          <p:nvPr/>
        </p:nvSpPr>
        <p:spPr>
          <a:xfrm>
            <a:off x="950976" y="1970532"/>
            <a:ext cx="13903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orchestration</a:t>
            </a:r>
          </a:p>
        </p:txBody>
      </p:sp>
      <p:sp>
        <p:nvSpPr>
          <p:cNvPr id="10" name="!!term-declarative">
            <a:extLst>
              <a:ext uri="{C183D7F6-B498-43B3-948B-1728B52AA6E4}">
                <adec:decorative xmlns:adec="http://schemas.microsoft.com/office/drawing/2017/decorative" val="1"/>
              </a:ext>
            </a:extLst>
          </p:cNvPr>
          <p:cNvSpPr/>
          <p:nvPr/>
        </p:nvSpPr>
        <p:spPr>
          <a:xfrm>
            <a:off x="2377926" y="1847088"/>
            <a:ext cx="13647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declarative">
            <a:extLst>
              <a:ext uri="{C183D7F6-B498-43B3-948B-1728B52AA6E4}">
                <adec:decorative xmlns:adec="http://schemas.microsoft.com/office/drawing/2017/decorative" val="1"/>
              </a:ext>
            </a:extLst>
          </p:cNvPr>
          <p:cNvSpPr/>
          <p:nvPr/>
        </p:nvSpPr>
        <p:spPr>
          <a:xfrm>
            <a:off x="250594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declarative"/>
          <p:cNvSpPr txBox="1"/>
          <p:nvPr/>
        </p:nvSpPr>
        <p:spPr>
          <a:xfrm>
            <a:off x="2670534" y="1970532"/>
            <a:ext cx="11819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declarative</a:t>
            </a:r>
          </a:p>
        </p:txBody>
      </p:sp>
      <p:sp>
        <p:nvSpPr>
          <p:cNvPr id="13" name="!!term-reconciliation">
            <a:extLst>
              <a:ext uri="{C183D7F6-B498-43B3-948B-1728B52AA6E4}">
                <adec:decorative xmlns:adec="http://schemas.microsoft.com/office/drawing/2017/decorative" val="1"/>
              </a:ext>
            </a:extLst>
          </p:cNvPr>
          <p:cNvSpPr/>
          <p:nvPr/>
        </p:nvSpPr>
        <p:spPr>
          <a:xfrm>
            <a:off x="3889011" y="1847088"/>
            <a:ext cx="158821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reconciliation">
            <a:extLst>
              <a:ext uri="{C183D7F6-B498-43B3-948B-1728B52AA6E4}">
                <adec:decorative xmlns:adec="http://schemas.microsoft.com/office/drawing/2017/decorative" val="1"/>
              </a:ext>
            </a:extLst>
          </p:cNvPr>
          <p:cNvSpPr/>
          <p:nvPr/>
        </p:nvSpPr>
        <p:spPr>
          <a:xfrm>
            <a:off x="401702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reconciliation"/>
          <p:cNvSpPr txBox="1"/>
          <p:nvPr/>
        </p:nvSpPr>
        <p:spPr>
          <a:xfrm>
            <a:off x="4181619" y="1970532"/>
            <a:ext cx="140533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reconciliation</a:t>
            </a:r>
          </a:p>
        </p:txBody>
      </p:sp>
      <p:sp>
        <p:nvSpPr>
          <p:cNvPr id="16" name="!!term-control loop">
            <a:extLst>
              <a:ext uri="{C183D7F6-B498-43B3-948B-1728B52AA6E4}">
                <adec:decorative xmlns:adec="http://schemas.microsoft.com/office/drawing/2017/decorative" val="1"/>
              </a:ext>
            </a:extLst>
          </p:cNvPr>
          <p:cNvSpPr/>
          <p:nvPr/>
        </p:nvSpPr>
        <p:spPr>
          <a:xfrm>
            <a:off x="5623531" y="1847088"/>
            <a:ext cx="14891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ontrol loop">
            <a:extLst>
              <a:ext uri="{C183D7F6-B498-43B3-948B-1728B52AA6E4}">
                <adec:decorative xmlns:adec="http://schemas.microsoft.com/office/drawing/2017/decorative" val="1"/>
              </a:ext>
            </a:extLst>
          </p:cNvPr>
          <p:cNvSpPr/>
          <p:nvPr/>
        </p:nvSpPr>
        <p:spPr>
          <a:xfrm>
            <a:off x="575154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ontrol loop"/>
          <p:cNvSpPr txBox="1"/>
          <p:nvPr/>
        </p:nvSpPr>
        <p:spPr>
          <a:xfrm>
            <a:off x="5916139" y="1970532"/>
            <a:ext cx="130623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control loop</a:t>
            </a:r>
          </a:p>
        </p:txBody>
      </p:sp>
      <p:sp>
        <p:nvSpPr>
          <p:cNvPr id="19" name="!!term-desired state">
            <a:extLst>
              <a:ext uri="{C183D7F6-B498-43B3-948B-1728B52AA6E4}">
                <adec:decorative xmlns:adec="http://schemas.microsoft.com/office/drawing/2017/decorative" val="1"/>
              </a:ext>
            </a:extLst>
          </p:cNvPr>
          <p:cNvSpPr/>
          <p:nvPr/>
        </p:nvSpPr>
        <p:spPr>
          <a:xfrm>
            <a:off x="7258953" y="1847088"/>
            <a:ext cx="15359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desired state">
            <a:extLst>
              <a:ext uri="{C183D7F6-B498-43B3-948B-1728B52AA6E4}">
                <adec:decorative xmlns:adec="http://schemas.microsoft.com/office/drawing/2017/decorative" val="1"/>
              </a:ext>
            </a:extLst>
          </p:cNvPr>
          <p:cNvSpPr/>
          <p:nvPr/>
        </p:nvSpPr>
        <p:spPr>
          <a:xfrm>
            <a:off x="738696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desired state"/>
          <p:cNvSpPr txBox="1"/>
          <p:nvPr/>
        </p:nvSpPr>
        <p:spPr>
          <a:xfrm>
            <a:off x="7551561" y="1970532"/>
            <a:ext cx="13530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desired state</a:t>
            </a:r>
          </a:p>
        </p:txBody>
      </p:sp>
      <p:sp>
        <p:nvSpPr>
          <p:cNvPr id="22" name="!!term-API server">
            <a:extLst>
              <a:ext uri="{C183D7F6-B498-43B3-948B-1728B52AA6E4}">
                <adec:decorative xmlns:adec="http://schemas.microsoft.com/office/drawing/2017/decorative" val="1"/>
              </a:ext>
            </a:extLst>
          </p:cNvPr>
          <p:cNvSpPr/>
          <p:nvPr/>
        </p:nvSpPr>
        <p:spPr>
          <a:xfrm>
            <a:off x="8941180" y="1847088"/>
            <a:ext cx="12920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API server">
            <a:extLst>
              <a:ext uri="{C183D7F6-B498-43B3-948B-1728B52AA6E4}">
                <adec:decorative xmlns:adec="http://schemas.microsoft.com/office/drawing/2017/decorative" val="1"/>
              </a:ext>
            </a:extLst>
          </p:cNvPr>
          <p:cNvSpPr/>
          <p:nvPr/>
        </p:nvSpPr>
        <p:spPr>
          <a:xfrm>
            <a:off x="906919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API server"/>
          <p:cNvSpPr txBox="1"/>
          <p:nvPr/>
        </p:nvSpPr>
        <p:spPr>
          <a:xfrm>
            <a:off x="9233788" y="1970532"/>
            <a:ext cx="11091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API server</a:t>
            </a:r>
          </a:p>
        </p:txBody>
      </p:sp>
      <p:sp>
        <p:nvSpPr>
          <p:cNvPr id="25" name="!!term-etcd">
            <a:extLst>
              <a:ext uri="{C183D7F6-B498-43B3-948B-1728B52AA6E4}">
                <adec:decorative xmlns:adec="http://schemas.microsoft.com/office/drawing/2017/decorative" val="1"/>
              </a:ext>
            </a:extLst>
          </p:cNvPr>
          <p:cNvSpPr/>
          <p:nvPr/>
        </p:nvSpPr>
        <p:spPr>
          <a:xfrm>
            <a:off x="10379520" y="1847088"/>
            <a:ext cx="8105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etcd">
            <a:extLst>
              <a:ext uri="{C183D7F6-B498-43B3-948B-1728B52AA6E4}">
                <adec:decorative xmlns:adec="http://schemas.microsoft.com/office/drawing/2017/decorative" val="1"/>
              </a:ext>
            </a:extLst>
          </p:cNvPr>
          <p:cNvSpPr/>
          <p:nvPr/>
        </p:nvSpPr>
        <p:spPr>
          <a:xfrm>
            <a:off x="105075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etcd"/>
          <p:cNvSpPr txBox="1"/>
          <p:nvPr/>
        </p:nvSpPr>
        <p:spPr>
          <a:xfrm>
            <a:off x="10672128" y="1970532"/>
            <a:ext cx="6277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etcd</a:t>
            </a:r>
          </a:p>
        </p:txBody>
      </p:sp>
      <p:sp>
        <p:nvSpPr>
          <p:cNvPr id="28" name="!!term-scheduler">
            <a:extLst>
              <a:ext uri="{C183D7F6-B498-43B3-948B-1728B52AA6E4}">
                <adec:decorative xmlns:adec="http://schemas.microsoft.com/office/drawing/2017/decorative" val="1"/>
              </a:ext>
            </a:extLst>
          </p:cNvPr>
          <p:cNvSpPr/>
          <p:nvPr/>
        </p:nvSpPr>
        <p:spPr>
          <a:xfrm>
            <a:off x="658368" y="2468880"/>
            <a:ext cx="12633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cheduler">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cheduler"/>
          <p:cNvSpPr txBox="1"/>
          <p:nvPr/>
        </p:nvSpPr>
        <p:spPr>
          <a:xfrm>
            <a:off x="950976" y="2592324"/>
            <a:ext cx="10804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scheduler</a:t>
            </a:r>
          </a:p>
        </p:txBody>
      </p:sp>
      <p:sp>
        <p:nvSpPr>
          <p:cNvPr id="31" name="!!term-controller man">
            <a:extLst>
              <a:ext uri="{C183D7F6-B498-43B3-948B-1728B52AA6E4}">
                <adec:decorative xmlns:adec="http://schemas.microsoft.com/office/drawing/2017/decorative" val="1"/>
              </a:ext>
            </a:extLst>
          </p:cNvPr>
          <p:cNvSpPr/>
          <p:nvPr/>
        </p:nvSpPr>
        <p:spPr>
          <a:xfrm>
            <a:off x="2068041" y="2468880"/>
            <a:ext cx="20751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ontroller man">
            <a:extLst>
              <a:ext uri="{C183D7F6-B498-43B3-948B-1728B52AA6E4}">
                <adec:decorative xmlns:adec="http://schemas.microsoft.com/office/drawing/2017/decorative" val="1"/>
              </a:ext>
            </a:extLst>
          </p:cNvPr>
          <p:cNvSpPr/>
          <p:nvPr/>
        </p:nvSpPr>
        <p:spPr>
          <a:xfrm>
            <a:off x="21960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ontroller man"/>
          <p:cNvSpPr txBox="1"/>
          <p:nvPr/>
        </p:nvSpPr>
        <p:spPr>
          <a:xfrm>
            <a:off x="2360649" y="2592324"/>
            <a:ext cx="18922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controller manager</a:t>
            </a:r>
          </a:p>
        </p:txBody>
      </p:sp>
      <p:sp>
        <p:nvSpPr>
          <p:cNvPr id="34" name="!!term-kubelet">
            <a:extLst>
              <a:ext uri="{C183D7F6-B498-43B3-948B-1728B52AA6E4}">
                <adec:decorative xmlns:adec="http://schemas.microsoft.com/office/drawing/2017/decorative" val="1"/>
              </a:ext>
            </a:extLst>
          </p:cNvPr>
          <p:cNvSpPr/>
          <p:nvPr/>
        </p:nvSpPr>
        <p:spPr>
          <a:xfrm>
            <a:off x="4289502" y="2468880"/>
            <a:ext cx="10758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kubelet">
            <a:extLst>
              <a:ext uri="{C183D7F6-B498-43B3-948B-1728B52AA6E4}">
                <adec:decorative xmlns:adec="http://schemas.microsoft.com/office/drawing/2017/decorative" val="1"/>
              </a:ext>
            </a:extLst>
          </p:cNvPr>
          <p:cNvSpPr/>
          <p:nvPr/>
        </p:nvSpPr>
        <p:spPr>
          <a:xfrm>
            <a:off x="44175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kubelet"/>
          <p:cNvSpPr txBox="1"/>
          <p:nvPr/>
        </p:nvSpPr>
        <p:spPr>
          <a:xfrm>
            <a:off x="4582110" y="2592324"/>
            <a:ext cx="8929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kubelet</a:t>
            </a:r>
          </a:p>
        </p:txBody>
      </p:sp>
      <p:sp>
        <p:nvSpPr>
          <p:cNvPr id="37" name="!!term-kube-proxy">
            <a:extLst>
              <a:ext uri="{C183D7F6-B498-43B3-948B-1728B52AA6E4}">
                <adec:decorative xmlns:adec="http://schemas.microsoft.com/office/drawing/2017/decorative" val="1"/>
              </a:ext>
            </a:extLst>
          </p:cNvPr>
          <p:cNvSpPr/>
          <p:nvPr/>
        </p:nvSpPr>
        <p:spPr>
          <a:xfrm>
            <a:off x="5511666" y="2468880"/>
            <a:ext cx="14179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kube-proxy">
            <a:extLst>
              <a:ext uri="{C183D7F6-B498-43B3-948B-1728B52AA6E4}">
                <adec:decorative xmlns:adec="http://schemas.microsoft.com/office/drawing/2017/decorative" val="1"/>
              </a:ext>
            </a:extLst>
          </p:cNvPr>
          <p:cNvSpPr/>
          <p:nvPr/>
        </p:nvSpPr>
        <p:spPr>
          <a:xfrm>
            <a:off x="563968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kube-proxy"/>
          <p:cNvSpPr txBox="1"/>
          <p:nvPr/>
        </p:nvSpPr>
        <p:spPr>
          <a:xfrm>
            <a:off x="5804274" y="2592324"/>
            <a:ext cx="123508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kube-proxy</a:t>
            </a:r>
          </a:p>
        </p:txBody>
      </p:sp>
      <p:sp>
        <p:nvSpPr>
          <p:cNvPr id="40" name="!!term-Pod">
            <a:extLst>
              <a:ext uri="{C183D7F6-B498-43B3-948B-1728B52AA6E4}">
                <adec:decorative xmlns:adec="http://schemas.microsoft.com/office/drawing/2017/decorative" val="1"/>
              </a:ext>
            </a:extLst>
          </p:cNvPr>
          <p:cNvSpPr/>
          <p:nvPr/>
        </p:nvSpPr>
        <p:spPr>
          <a:xfrm>
            <a:off x="7075934" y="2468880"/>
            <a:ext cx="7759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Pod">
            <a:extLst>
              <a:ext uri="{C183D7F6-B498-43B3-948B-1728B52AA6E4}">
                <adec:decorative xmlns:adec="http://schemas.microsoft.com/office/drawing/2017/decorative" val="1"/>
              </a:ext>
            </a:extLst>
          </p:cNvPr>
          <p:cNvSpPr/>
          <p:nvPr/>
        </p:nvSpPr>
        <p:spPr>
          <a:xfrm>
            <a:off x="72039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Pod"/>
          <p:cNvSpPr txBox="1"/>
          <p:nvPr/>
        </p:nvSpPr>
        <p:spPr>
          <a:xfrm>
            <a:off x="7368542" y="2592324"/>
            <a:ext cx="5930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Pod</a:t>
            </a:r>
          </a:p>
        </p:txBody>
      </p:sp>
      <p:sp>
        <p:nvSpPr>
          <p:cNvPr id="43" name="!!term-sidecar">
            <a:extLst>
              <a:ext uri="{C183D7F6-B498-43B3-948B-1728B52AA6E4}">
                <adec:decorative xmlns:adec="http://schemas.microsoft.com/office/drawing/2017/decorative" val="1"/>
              </a:ext>
            </a:extLst>
          </p:cNvPr>
          <p:cNvSpPr/>
          <p:nvPr/>
        </p:nvSpPr>
        <p:spPr>
          <a:xfrm>
            <a:off x="7998166" y="2468880"/>
            <a:ext cx="10406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idecar">
            <a:extLst>
              <a:ext uri="{C183D7F6-B498-43B3-948B-1728B52AA6E4}">
                <adec:decorative xmlns:adec="http://schemas.microsoft.com/office/drawing/2017/decorative" val="1"/>
              </a:ext>
            </a:extLst>
          </p:cNvPr>
          <p:cNvSpPr/>
          <p:nvPr/>
        </p:nvSpPr>
        <p:spPr>
          <a:xfrm>
            <a:off x="812618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idecar"/>
          <p:cNvSpPr txBox="1"/>
          <p:nvPr/>
        </p:nvSpPr>
        <p:spPr>
          <a:xfrm>
            <a:off x="8290774" y="2592324"/>
            <a:ext cx="85781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sidecar</a:t>
            </a:r>
          </a:p>
        </p:txBody>
      </p:sp>
      <p:sp>
        <p:nvSpPr>
          <p:cNvPr id="46" name="!!term-ReplicaSet">
            <a:extLst>
              <a:ext uri="{C183D7F6-B498-43B3-948B-1728B52AA6E4}">
                <adec:decorative xmlns:adec="http://schemas.microsoft.com/office/drawing/2017/decorative" val="1"/>
              </a:ext>
            </a:extLst>
          </p:cNvPr>
          <p:cNvSpPr/>
          <p:nvPr/>
        </p:nvSpPr>
        <p:spPr>
          <a:xfrm>
            <a:off x="9185160" y="2468880"/>
            <a:ext cx="13242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ReplicaSet">
            <a:extLst>
              <a:ext uri="{C183D7F6-B498-43B3-948B-1728B52AA6E4}">
                <adec:decorative xmlns:adec="http://schemas.microsoft.com/office/drawing/2017/decorative" val="1"/>
              </a:ext>
            </a:extLst>
          </p:cNvPr>
          <p:cNvSpPr/>
          <p:nvPr/>
        </p:nvSpPr>
        <p:spPr>
          <a:xfrm>
            <a:off x="931317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ReplicaSet"/>
          <p:cNvSpPr txBox="1"/>
          <p:nvPr/>
        </p:nvSpPr>
        <p:spPr>
          <a:xfrm>
            <a:off x="9477768" y="2592324"/>
            <a:ext cx="114141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ReplicaSet</a:t>
            </a:r>
          </a:p>
        </p:txBody>
      </p:sp>
      <p:sp>
        <p:nvSpPr>
          <p:cNvPr id="49" name="!!term-Deployment">
            <a:extLst>
              <a:ext uri="{C183D7F6-B498-43B3-948B-1728B52AA6E4}">
                <adec:decorative xmlns:adec="http://schemas.microsoft.com/office/drawing/2017/decorative" val="1"/>
              </a:ext>
            </a:extLst>
          </p:cNvPr>
          <p:cNvSpPr/>
          <p:nvPr/>
        </p:nvSpPr>
        <p:spPr>
          <a:xfrm>
            <a:off x="658368" y="3090672"/>
            <a:ext cx="14907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eploymen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eployment"/>
          <p:cNvSpPr txBox="1"/>
          <p:nvPr/>
        </p:nvSpPr>
        <p:spPr>
          <a:xfrm>
            <a:off x="950976" y="3214116"/>
            <a:ext cx="130783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Deployment</a:t>
            </a:r>
          </a:p>
        </p:txBody>
      </p:sp>
      <p:sp>
        <p:nvSpPr>
          <p:cNvPr id="52" name="!!term-Service">
            <a:extLst>
              <a:ext uri="{C183D7F6-B498-43B3-948B-1728B52AA6E4}">
                <adec:decorative xmlns:adec="http://schemas.microsoft.com/office/drawing/2017/decorative" val="1"/>
              </a:ext>
            </a:extLst>
          </p:cNvPr>
          <p:cNvSpPr/>
          <p:nvPr/>
        </p:nvSpPr>
        <p:spPr>
          <a:xfrm>
            <a:off x="2295384" y="3090672"/>
            <a:ext cx="10429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Service">
            <a:extLst>
              <a:ext uri="{C183D7F6-B498-43B3-948B-1728B52AA6E4}">
                <adec:decorative xmlns:adec="http://schemas.microsoft.com/office/drawing/2017/decorative" val="1"/>
              </a:ext>
            </a:extLst>
          </p:cNvPr>
          <p:cNvSpPr/>
          <p:nvPr/>
        </p:nvSpPr>
        <p:spPr>
          <a:xfrm>
            <a:off x="242340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Service"/>
          <p:cNvSpPr txBox="1"/>
          <p:nvPr/>
        </p:nvSpPr>
        <p:spPr>
          <a:xfrm>
            <a:off x="2587992" y="3214116"/>
            <a:ext cx="8600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Service</a:t>
            </a:r>
          </a:p>
        </p:txBody>
      </p:sp>
      <p:sp>
        <p:nvSpPr>
          <p:cNvPr id="55" name="!!term-ClusterIP">
            <a:extLst>
              <a:ext uri="{C183D7F6-B498-43B3-948B-1728B52AA6E4}">
                <adec:decorative xmlns:adec="http://schemas.microsoft.com/office/drawing/2017/decorative" val="1"/>
              </a:ext>
            </a:extLst>
          </p:cNvPr>
          <p:cNvSpPr/>
          <p:nvPr/>
        </p:nvSpPr>
        <p:spPr>
          <a:xfrm>
            <a:off x="3484636" y="3090672"/>
            <a:ext cx="11941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ClusterIP">
            <a:extLst>
              <a:ext uri="{C183D7F6-B498-43B3-948B-1728B52AA6E4}">
                <adec:decorative xmlns:adec="http://schemas.microsoft.com/office/drawing/2017/decorative" val="1"/>
              </a:ext>
            </a:extLst>
          </p:cNvPr>
          <p:cNvSpPr/>
          <p:nvPr/>
        </p:nvSpPr>
        <p:spPr>
          <a:xfrm>
            <a:off x="361265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ClusterIP"/>
          <p:cNvSpPr txBox="1"/>
          <p:nvPr/>
        </p:nvSpPr>
        <p:spPr>
          <a:xfrm>
            <a:off x="3777244" y="3214116"/>
            <a:ext cx="10112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ClusterIP</a:t>
            </a:r>
          </a:p>
        </p:txBody>
      </p:sp>
      <p:sp>
        <p:nvSpPr>
          <p:cNvPr id="58" name="!!term-Ingress">
            <a:extLst>
              <a:ext uri="{C183D7F6-B498-43B3-948B-1728B52AA6E4}">
                <adec:decorative xmlns:adec="http://schemas.microsoft.com/office/drawing/2017/decorative" val="1"/>
              </a:ext>
            </a:extLst>
          </p:cNvPr>
          <p:cNvSpPr/>
          <p:nvPr/>
        </p:nvSpPr>
        <p:spPr>
          <a:xfrm>
            <a:off x="4825111" y="3090672"/>
            <a:ext cx="10490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Ingress">
            <a:extLst>
              <a:ext uri="{C183D7F6-B498-43B3-948B-1728B52AA6E4}">
                <adec:decorative xmlns:adec="http://schemas.microsoft.com/office/drawing/2017/decorative" val="1"/>
              </a:ext>
            </a:extLst>
          </p:cNvPr>
          <p:cNvSpPr/>
          <p:nvPr/>
        </p:nvSpPr>
        <p:spPr>
          <a:xfrm>
            <a:off x="495312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Ingress"/>
          <p:cNvSpPr txBox="1"/>
          <p:nvPr/>
        </p:nvSpPr>
        <p:spPr>
          <a:xfrm>
            <a:off x="5117719" y="3214116"/>
            <a:ext cx="8661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Ingress</a:t>
            </a:r>
          </a:p>
        </p:txBody>
      </p:sp>
      <p:sp>
        <p:nvSpPr>
          <p:cNvPr id="61" name="!!term-request">
            <a:extLst>
              <a:ext uri="{C183D7F6-B498-43B3-948B-1728B52AA6E4}">
                <adec:decorative xmlns:adec="http://schemas.microsoft.com/office/drawing/2017/decorative" val="1"/>
              </a:ext>
            </a:extLst>
          </p:cNvPr>
          <p:cNvSpPr/>
          <p:nvPr/>
        </p:nvSpPr>
        <p:spPr>
          <a:xfrm>
            <a:off x="6020421" y="3090672"/>
            <a:ext cx="10824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request">
            <a:extLst>
              <a:ext uri="{C183D7F6-B498-43B3-948B-1728B52AA6E4}">
                <adec:decorative xmlns:adec="http://schemas.microsoft.com/office/drawing/2017/decorative" val="1"/>
              </a:ext>
            </a:extLst>
          </p:cNvPr>
          <p:cNvSpPr/>
          <p:nvPr/>
        </p:nvSpPr>
        <p:spPr>
          <a:xfrm>
            <a:off x="614843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request"/>
          <p:cNvSpPr txBox="1"/>
          <p:nvPr/>
        </p:nvSpPr>
        <p:spPr>
          <a:xfrm>
            <a:off x="6313029" y="3214116"/>
            <a:ext cx="8995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request</a:t>
            </a:r>
          </a:p>
        </p:txBody>
      </p:sp>
      <p:sp>
        <p:nvSpPr>
          <p:cNvPr id="64" name="!!term-limit">
            <a:extLst>
              <a:ext uri="{C183D7F6-B498-43B3-948B-1728B52AA6E4}">
                <adec:decorative xmlns:adec="http://schemas.microsoft.com/office/drawing/2017/decorative" val="1"/>
              </a:ext>
            </a:extLst>
          </p:cNvPr>
          <p:cNvSpPr/>
          <p:nvPr/>
        </p:nvSpPr>
        <p:spPr>
          <a:xfrm>
            <a:off x="7249152" y="3090672"/>
            <a:ext cx="8131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limit">
            <a:extLst>
              <a:ext uri="{C183D7F6-B498-43B3-948B-1728B52AA6E4}">
                <adec:decorative xmlns:adec="http://schemas.microsoft.com/office/drawing/2017/decorative" val="1"/>
              </a:ext>
            </a:extLst>
          </p:cNvPr>
          <p:cNvSpPr/>
          <p:nvPr/>
        </p:nvSpPr>
        <p:spPr>
          <a:xfrm>
            <a:off x="737716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limit"/>
          <p:cNvSpPr txBox="1"/>
          <p:nvPr/>
        </p:nvSpPr>
        <p:spPr>
          <a:xfrm>
            <a:off x="7541760" y="3214116"/>
            <a:ext cx="63027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limit</a:t>
            </a:r>
          </a:p>
        </p:txBody>
      </p:sp>
      <p:sp>
        <p:nvSpPr>
          <p:cNvPr id="67" name="!!term-QoS class">
            <a:extLst>
              <a:ext uri="{C183D7F6-B498-43B3-948B-1728B52AA6E4}">
                <adec:decorative xmlns:adec="http://schemas.microsoft.com/office/drawing/2017/decorative" val="1"/>
              </a:ext>
            </a:extLst>
          </p:cNvPr>
          <p:cNvSpPr/>
          <p:nvPr/>
        </p:nvSpPr>
        <p:spPr>
          <a:xfrm>
            <a:off x="8208609" y="3090672"/>
            <a:ext cx="12561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QoS class">
            <a:extLst>
              <a:ext uri="{C183D7F6-B498-43B3-948B-1728B52AA6E4}">
                <adec:decorative xmlns:adec="http://schemas.microsoft.com/office/drawing/2017/decorative" val="1"/>
              </a:ext>
            </a:extLst>
          </p:cNvPr>
          <p:cNvSpPr/>
          <p:nvPr/>
        </p:nvSpPr>
        <p:spPr>
          <a:xfrm>
            <a:off x="833662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QoS class"/>
          <p:cNvSpPr txBox="1"/>
          <p:nvPr/>
        </p:nvSpPr>
        <p:spPr>
          <a:xfrm>
            <a:off x="8501217" y="3214116"/>
            <a:ext cx="107329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QoS class</a:t>
            </a:r>
          </a:p>
        </p:txBody>
      </p:sp>
      <p:sp>
        <p:nvSpPr>
          <p:cNvPr id="70" name="!!term-eviction">
            <a:extLst>
              <a:ext uri="{C183D7F6-B498-43B3-948B-1728B52AA6E4}">
                <adec:decorative xmlns:adec="http://schemas.microsoft.com/office/drawing/2017/decorative" val="1"/>
              </a:ext>
            </a:extLst>
          </p:cNvPr>
          <p:cNvSpPr/>
          <p:nvPr/>
        </p:nvSpPr>
        <p:spPr>
          <a:xfrm>
            <a:off x="9611093" y="3090672"/>
            <a:ext cx="11071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eviction">
            <a:extLst>
              <a:ext uri="{C183D7F6-B498-43B3-948B-1728B52AA6E4}">
                <adec:decorative xmlns:adec="http://schemas.microsoft.com/office/drawing/2017/decorative" val="1"/>
              </a:ext>
            </a:extLst>
          </p:cNvPr>
          <p:cNvSpPr/>
          <p:nvPr/>
        </p:nvSpPr>
        <p:spPr>
          <a:xfrm>
            <a:off x="973910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eviction"/>
          <p:cNvSpPr txBox="1"/>
          <p:nvPr/>
        </p:nvSpPr>
        <p:spPr>
          <a:xfrm>
            <a:off x="9903701" y="3214116"/>
            <a:ext cx="9242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eviction</a:t>
            </a:r>
          </a:p>
        </p:txBody>
      </p:sp>
      <p:sp>
        <p:nvSpPr>
          <p:cNvPr id="73" name="!!term-liveness probe">
            <a:extLst>
              <a:ext uri="{C183D7F6-B498-43B3-948B-1728B52AA6E4}">
                <adec:decorative xmlns:adec="http://schemas.microsoft.com/office/drawing/2017/decorative" val="1"/>
              </a:ext>
            </a:extLst>
          </p:cNvPr>
          <p:cNvSpPr/>
          <p:nvPr/>
        </p:nvSpPr>
        <p:spPr>
          <a:xfrm>
            <a:off x="658368" y="3712464"/>
            <a:ext cx="16688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liveness probe">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liveness probe"/>
          <p:cNvSpPr txBox="1"/>
          <p:nvPr/>
        </p:nvSpPr>
        <p:spPr>
          <a:xfrm>
            <a:off x="950976" y="3835908"/>
            <a:ext cx="14859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liveness probe</a:t>
            </a:r>
          </a:p>
        </p:txBody>
      </p:sp>
      <p:sp>
        <p:nvSpPr>
          <p:cNvPr id="76" name="!!term-readiness prob">
            <a:extLst>
              <a:ext uri="{C183D7F6-B498-43B3-948B-1728B52AA6E4}">
                <adec:decorative xmlns:adec="http://schemas.microsoft.com/office/drawing/2017/decorative" val="1"/>
              </a:ext>
            </a:extLst>
          </p:cNvPr>
          <p:cNvSpPr/>
          <p:nvPr/>
        </p:nvSpPr>
        <p:spPr>
          <a:xfrm>
            <a:off x="2473508" y="3712464"/>
            <a:ext cx="18096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termd-readiness prob">
            <a:extLst>
              <a:ext uri="{C183D7F6-B498-43B3-948B-1728B52AA6E4}">
                <adec:decorative xmlns:adec="http://schemas.microsoft.com/office/drawing/2017/decorative" val="1"/>
              </a:ext>
            </a:extLst>
          </p:cNvPr>
          <p:cNvSpPr/>
          <p:nvPr/>
        </p:nvSpPr>
        <p:spPr>
          <a:xfrm>
            <a:off x="260152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termt-readiness prob"/>
          <p:cNvSpPr txBox="1"/>
          <p:nvPr/>
        </p:nvSpPr>
        <p:spPr>
          <a:xfrm>
            <a:off x="2766116" y="3835908"/>
            <a:ext cx="162681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readiness probe</a:t>
            </a:r>
          </a:p>
        </p:txBody>
      </p:sp>
      <p:sp>
        <p:nvSpPr>
          <p:cNvPr id="79" name="!!term-taint">
            <a:extLst>
              <a:ext uri="{C183D7F6-B498-43B3-948B-1728B52AA6E4}">
                <adec:decorative xmlns:adec="http://schemas.microsoft.com/office/drawing/2017/decorative" val="1"/>
              </a:ext>
            </a:extLst>
          </p:cNvPr>
          <p:cNvSpPr/>
          <p:nvPr/>
        </p:nvSpPr>
        <p:spPr>
          <a:xfrm>
            <a:off x="4429502" y="3712464"/>
            <a:ext cx="8265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termd-taint">
            <a:extLst>
              <a:ext uri="{C183D7F6-B498-43B3-948B-1728B52AA6E4}">
                <adec:decorative xmlns:adec="http://schemas.microsoft.com/office/drawing/2017/decorative" val="1"/>
              </a:ext>
            </a:extLst>
          </p:cNvPr>
          <p:cNvSpPr/>
          <p:nvPr/>
        </p:nvSpPr>
        <p:spPr>
          <a:xfrm>
            <a:off x="45575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termt-taint"/>
          <p:cNvSpPr txBox="1"/>
          <p:nvPr/>
        </p:nvSpPr>
        <p:spPr>
          <a:xfrm>
            <a:off x="4722110" y="3835908"/>
            <a:ext cx="6436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taint</a:t>
            </a:r>
          </a:p>
        </p:txBody>
      </p:sp>
      <p:sp>
        <p:nvSpPr>
          <p:cNvPr id="82" name="!!term-toleration">
            <a:extLst>
              <a:ext uri="{C183D7F6-B498-43B3-948B-1728B52AA6E4}">
                <adec:decorative xmlns:adec="http://schemas.microsoft.com/office/drawing/2017/decorative" val="1"/>
              </a:ext>
            </a:extLst>
          </p:cNvPr>
          <p:cNvSpPr/>
          <p:nvPr/>
        </p:nvSpPr>
        <p:spPr>
          <a:xfrm>
            <a:off x="5402367" y="3712464"/>
            <a:ext cx="127053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termd-toleration">
            <a:extLst>
              <a:ext uri="{C183D7F6-B498-43B3-948B-1728B52AA6E4}">
                <adec:decorative xmlns:adec="http://schemas.microsoft.com/office/drawing/2017/decorative" val="1"/>
              </a:ext>
            </a:extLst>
          </p:cNvPr>
          <p:cNvSpPr/>
          <p:nvPr/>
        </p:nvSpPr>
        <p:spPr>
          <a:xfrm>
            <a:off x="553038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termt-toleration"/>
          <p:cNvSpPr txBox="1"/>
          <p:nvPr/>
        </p:nvSpPr>
        <p:spPr>
          <a:xfrm>
            <a:off x="5694975" y="3835908"/>
            <a:ext cx="108765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toleration</a:t>
            </a:r>
          </a:p>
        </p:txBody>
      </p:sp>
      <p:sp>
        <p:nvSpPr>
          <p:cNvPr id="85"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77–84     </a:t>
            </a:r>
            <a:fld id="{14952210-6FC8-4DF8-8411-1EFC02FAB1EB}" type="slidenum">
              <a:rPr lang="en-GB" sz="1000">
                <a:solidFill>
                  <a:srgbClr val="8795A1"/>
                </a:solidFill>
                <a:latin typeface="Segoe UI"/>
              </a:rPr>
              <a:t>5</a:t>
            </a:fld>
          </a:p>
        </p:txBody>
      </p:sp>
      <p:sp>
        <p:nvSpPr>
          <p:cNvPr id="7" name="!!ag0" descr="Go to section 10.1 The Problem Containers Create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Problem Containers Created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77  ›</a:t>
            </a:r>
          </a:p>
        </p:txBody>
      </p:sp>
      <p:sp>
        <p:nvSpPr>
          <p:cNvPr id="12" name="!!ag1" descr="Go to section 10.2 What the Cluster Is Made Of">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Cluster Is Made Of</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78  ›</a:t>
            </a:r>
          </a:p>
        </p:txBody>
      </p:sp>
      <p:sp>
        <p:nvSpPr>
          <p:cNvPr id="17" name="!!ag2" descr="Go to section 10.3 Pods, Deployments and Service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Pods, Deployments and Services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22" name="!!ag3" descr="Go to section 10.4 Requests, Limits and What the Scheduler Does With The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Requests, Limits and What the Scheduler Does With Them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Problem Containers Created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10.1   The Problem Containers Created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What the Cluster Is Made Of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Pods, Deployments and Services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Requests, Limits and What the Scheduler Does With Them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§10.1     </a:t>
            </a:r>
            <a:fld id="{7EE62E3A-99E5-4F53-A36C-DF7D02B926B8}"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Declarative Management and the Control Loop</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§10.1  ·  Handout p. 77     </a:t>
            </a:r>
            <a:fld id="{F30E2949-413A-4B67-980F-5FBB2BC1C482}"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7232"/>
          </a:xfrm>
          <a:prstGeom prst="roundRect">
            <a:avLst>
              <a:gd name="adj" fmla="val 208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723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You do not tell Kubernetes what to </a:t>
            </a:r>
            <a:r>
              <a:rPr sz="1800" b="0" i="1">
                <a:solidFill>
                  <a:srgbClr val="1C252B"/>
                </a:solidFill>
                <a:latin typeface="Segoe UI"/>
              </a:rPr>
              <a:t>do</a:t>
            </a:r>
            <a:r>
              <a:rPr sz="1800" b="0" i="0">
                <a:solidFill>
                  <a:srgbClr val="1C252B"/>
                </a:solidFill>
                <a:latin typeface="Segoe UI"/>
              </a:rPr>
              <a:t>. You tell it what you </a:t>
            </a:r>
            <a:r>
              <a:rPr sz="1800" b="0" i="1">
                <a:solidFill>
                  <a:srgbClr val="1C252B"/>
                </a:solidFill>
                <a:latin typeface="Segoe UI"/>
              </a:rPr>
              <a:t>want</a:t>
            </a:r>
            <a:r>
              <a:rPr sz="1800" b="0" i="0">
                <a:solidFill>
                  <a:srgbClr val="1C252B"/>
                </a:solidFill>
                <a:latin typeface="Segoe UI"/>
              </a:rPr>
              <a:t>, and it works continuously to make reality match.</a:t>
            </a:r>
          </a:p>
        </p:txBody>
      </p:sp>
      <p:sp>
        <p:nvSpPr>
          <p:cNvPr id="10" name="body-1"/>
          <p:cNvSpPr txBox="1"/>
          <p:nvPr/>
        </p:nvSpPr>
        <p:spPr>
          <a:xfrm>
            <a:off x="1060704" y="2744571"/>
            <a:ext cx="10161727"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a:t>
            </a:r>
            <a:r>
              <a:rPr sz="1800" b="1" i="0">
                <a:solidFill>
                  <a:srgbClr val="1A5276"/>
                </a:solidFill>
                <a:latin typeface="Segoe UI"/>
              </a:rPr>
              <a:t>controller</a:t>
            </a:r>
            <a:r>
              <a:rPr sz="1800" b="0" i="0">
                <a:solidFill>
                  <a:srgbClr val="1C252B"/>
                </a:solidFill>
                <a:latin typeface="Segoe UI"/>
              </a:rPr>
              <a:t> is a loop that:</a:t>
            </a:r>
          </a:p>
        </p:txBody>
      </p:sp>
      <p:sp>
        <p:nvSpPr>
          <p:cNvPr id="11" name="body-2"/>
          <p:cNvSpPr txBox="1"/>
          <p:nvPr/>
        </p:nvSpPr>
        <p:spPr>
          <a:xfrm>
            <a:off x="1060704" y="3155594"/>
            <a:ext cx="10161727" cy="1426921"/>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8A4500"/>
                </a:solidFill>
                <a:latin typeface="Segoe UI"/>
              </a:rPr>
              <a:t>•	</a:t>
            </a:r>
            <a:r>
              <a:rPr sz="1800" b="0" i="0">
                <a:solidFill>
                  <a:srgbClr val="1C252B"/>
                </a:solidFill>
                <a:latin typeface="Segoe UI"/>
              </a:rPr>
              <a:t>reads the </a:t>
            </a:r>
            <a:r>
              <a:rPr sz="1800" b="1" i="0">
                <a:solidFill>
                  <a:srgbClr val="1A5276"/>
                </a:solidFill>
                <a:latin typeface="Segoe UI"/>
              </a:rPr>
              <a:t>desired state</a:t>
            </a:r>
            <a:r>
              <a:rPr sz="1800" b="0" i="0">
                <a:solidFill>
                  <a:srgbClr val="1C252B"/>
                </a:solidFill>
                <a:latin typeface="Segoe UI"/>
              </a:rPr>
              <a:t> — what you declared;</a:t>
            </a:r>
          </a:p>
          <a:p>
            <a:pPr algn="l" marL="201268" indent="-201268">
              <a:lnSpc>
                <a:spcPct val="104000"/>
              </a:lnSpc>
              <a:spcBef>
                <a:spcPts val="0"/>
              </a:spcBef>
              <a:spcAft>
                <a:spcPts val="630"/>
              </a:spcAft>
            </a:pPr>
            <a:r>
              <a:rPr sz="1800" b="1">
                <a:solidFill>
                  <a:srgbClr val="8A4500"/>
                </a:solidFill>
                <a:latin typeface="Segoe UI"/>
              </a:rPr>
              <a:t>•	</a:t>
            </a:r>
            <a:r>
              <a:rPr sz="1800" b="0" i="0">
                <a:solidFill>
                  <a:srgbClr val="1C252B"/>
                </a:solidFill>
                <a:latin typeface="Segoe UI"/>
              </a:rPr>
              <a:t>observes the </a:t>
            </a:r>
            <a:r>
              <a:rPr sz="1800" b="1" i="0">
                <a:solidFill>
                  <a:srgbClr val="1A5276"/>
                </a:solidFill>
                <a:latin typeface="Segoe UI"/>
              </a:rPr>
              <a:t>actual state</a:t>
            </a:r>
            <a:r>
              <a:rPr sz="1800" b="0" i="0">
                <a:solidFill>
                  <a:srgbClr val="1C252B"/>
                </a:solidFill>
                <a:latin typeface="Segoe UI"/>
              </a:rPr>
              <a:t> — what exists;</a:t>
            </a:r>
          </a:p>
          <a:p>
            <a:pPr algn="l" marL="201268" indent="-201268">
              <a:lnSpc>
                <a:spcPct val="104000"/>
              </a:lnSpc>
              <a:spcBef>
                <a:spcPts val="0"/>
              </a:spcBef>
              <a:spcAft>
                <a:spcPts val="630"/>
              </a:spcAft>
            </a:pPr>
            <a:r>
              <a:rPr sz="1800" b="1">
                <a:solidFill>
                  <a:srgbClr val="8A4500"/>
                </a:solidFill>
                <a:latin typeface="Segoe UI"/>
              </a:rPr>
              <a:t>•	</a:t>
            </a:r>
            <a:r>
              <a:rPr sz="1800" b="0" i="0">
                <a:solidFill>
                  <a:srgbClr val="1C252B"/>
                </a:solidFill>
                <a:latin typeface="Segoe UI"/>
              </a:rPr>
              <a:t>takes one step to reduce the difference;</a:t>
            </a:r>
          </a:p>
          <a:p>
            <a:pPr algn="l" marL="201268" indent="-201268">
              <a:lnSpc>
                <a:spcPct val="104000"/>
              </a:lnSpc>
              <a:spcBef>
                <a:spcPts val="0"/>
              </a:spcBef>
              <a:spcAft>
                <a:spcPts val="0"/>
              </a:spcAft>
            </a:pPr>
            <a:r>
              <a:rPr sz="1800" b="1">
                <a:solidFill>
                  <a:srgbClr val="8A4500"/>
                </a:solidFill>
                <a:latin typeface="Segoe UI"/>
              </a:rPr>
              <a:t>•	</a:t>
            </a:r>
            <a:r>
              <a:rPr sz="1800" b="0" i="0">
                <a:solidFill>
                  <a:srgbClr val="1C252B"/>
                </a:solidFill>
                <a:latin typeface="Segoe UI"/>
              </a:rPr>
              <a:t>repeats, for ever.</a:t>
            </a:r>
          </a:p>
        </p:txBody>
      </p:sp>
      <p:sp>
        <p:nvSpPr>
          <p:cNvPr id="12" name="body-3"/>
          <p:cNvSpPr txBox="1"/>
          <p:nvPr/>
        </p:nvSpPr>
        <p:spPr>
          <a:xfrm>
            <a:off x="1060704" y="4662525"/>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This is </a:t>
            </a:r>
            <a:r>
              <a:rPr sz="1800" b="1" i="0">
                <a:solidFill>
                  <a:srgbClr val="1A5276"/>
                </a:solidFill>
                <a:latin typeface="Segoe UI"/>
              </a:rPr>
              <a:t>reconciliation</a:t>
            </a:r>
            <a:r>
              <a:rPr sz="1800" b="0" i="0">
                <a:solidFill>
                  <a:srgbClr val="1C252B"/>
                </a:solidFill>
                <a:latin typeface="Segoe UI"/>
              </a:rPr>
              <a:t>, and it is the single idea the whole system is built from. “Run five copies” is not a command executed once; it is a condition continuously enforced. Kill one and a controller notices the difference and creates another — not because anything handled a failure, but because four is not five.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3" end="3"/>
                                            </p:txEl>
                                          </p:spTgt>
                                        </p:tgtEl>
                                        <p:attrNameLst>
                                          <p:attrName>style.visibility</p:attrName>
                                        </p:attrNameLst>
                                      </p:cBhvr>
                                      <p:to>
                                        <p:strVal val="visible"/>
                                      </p:to>
                                    </p:set>
                                    <p:animEffect transition="in" filter="fade">
                                      <p:cBhvr>
                                        <p:cTn id="23" dur="38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Declarative Beats Imperative Here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§10.1  ·  Handout p. 77     </a:t>
            </a:r>
            <a:fld id="{677E11AD-C5DB-4FFD-9DC0-2A4E46E51E4F}"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imperative system executes instructions: </a:t>
            </a:r>
            <a:r>
              <a:rPr sz="2000" b="0" i="1">
                <a:solidFill>
                  <a:srgbClr val="1C252B"/>
                </a:solidFill>
                <a:latin typeface="Segoe UI"/>
              </a:rPr>
              <a:t>start a container</a:t>
            </a:r>
            <a:r>
              <a:rPr sz="2000" b="0" i="0">
                <a:solidFill>
                  <a:srgbClr val="1C252B"/>
                </a:solidFill>
                <a:latin typeface="Segoe UI"/>
              </a:rPr>
              <a:t>, </a:t>
            </a:r>
            <a:r>
              <a:rPr sz="2000" b="0" i="1">
                <a:solidFill>
                  <a:srgbClr val="1C252B"/>
                </a:solidFill>
                <a:latin typeface="Segoe UI"/>
              </a:rPr>
              <a:t>stop that one</a:t>
            </a:r>
            <a:r>
              <a:rPr sz="2000" b="0" i="0">
                <a:solidFill>
                  <a:srgbClr val="1C252B"/>
                </a:solidFill>
                <a:latin typeface="Segoe UI"/>
              </a:rPr>
              <a:t>. It must therefore anticipate every way reality can diverge — a node rebooting, a network partition healing, a half-finished rollout — and have an instruction for each. The failure modes multiply faster than anyone can enumerate them.</a:t>
            </a:r>
          </a:p>
        </p:txBody>
      </p:sp>
      <p:sp>
        <p:nvSpPr>
          <p:cNvPr id="10" name="body-1"/>
          <p:cNvSpPr txBox="1"/>
          <p:nvPr/>
        </p:nvSpPr>
        <p:spPr>
          <a:xfrm>
            <a:off x="1060704" y="3455923"/>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declarative system has one failure mode: the difference between desired and actual is not shrinking. Every problem reduces to that, and every recovery is the same loop running again. It is why a Kubernetes cluster can be left alone over a weekend and why </a:t>
            </a:r>
            <a:r>
              <a:rPr sz="1900" b="0" i="0">
                <a:solidFill>
                  <a:srgbClr val="1F4E79"/>
                </a:solidFill>
                <a:latin typeface="Consolas"/>
              </a:rPr>
              <a:t>kubectl apply</a:t>
            </a:r>
            <a:r>
              <a:rPr sz="2000" b="0" i="0">
                <a:solidFill>
                  <a:srgbClr val="1C252B"/>
                </a:solidFill>
                <a:latin typeface="Segoe UI"/>
              </a:rPr>
              <a:t> is safe to run twice.</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cost is that you give up knowing exactly </a:t>
            </a:r>
            <a:r>
              <a:rPr sz="2000" b="0" i="1">
                <a:solidFill>
                  <a:srgbClr val="1C252B"/>
                </a:solidFill>
                <a:latin typeface="Segoe UI"/>
              </a:rPr>
              <a:t>when</a:t>
            </a:r>
            <a:r>
              <a:rPr sz="2000" b="0" i="0">
                <a:solidFill>
                  <a:srgbClr val="1C252B"/>
                </a:solidFill>
                <a:latin typeface="Segoe UI"/>
              </a:rPr>
              <a:t> things happen. The system converges; it does not promise a schedule. Operators used to imperative tooling find this unnerving, and the answer is to watch the difference, not the steps.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Cluster Is Made Of</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Problem Containers Created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10.2   What the Cluster Is Made Of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Pods, Deployments and Services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Requests, Limits and What the Scheduler Does With Them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§10.2     </a:t>
            </a:r>
            <a:fld id="{DE622976-38DF-4A70-BA14-32B07685856A}"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Cluster Is Made Of</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78     </a:t>
            </a:r>
            <a:fld id="{AA5C5C09-5143-4F5A-B6C8-1AC36AEDC7A7}" type="slidenum">
              <a:rPr lang="en-GB" sz="1000">
                <a:solidFill>
                  <a:srgbClr val="8795A1"/>
                </a:solidFill>
                <a:latin typeface="Segoe UI"/>
              </a:rPr>
              <a:t>10</a:t>
            </a:fld>
          </a:p>
        </p:txBody>
      </p:sp>
      <p:pic>
        <p:nvPicPr>
          <p:cNvPr id="6" name="!!figure" descr="Figure 10.1. A cluster. The arrows all point at the API server, which is the architectural claim: components do not coordinate with each other, they each reconcile against one shared recor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76291"/>
            <a:ext cx="10874959" cy="351803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cluster. The arrows all point at the API server, which is the architectural claim: components do not coordinate with each other, they each reconcile against one shared record.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Trace a Deployment Through the Loops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78     </a:t>
            </a:r>
            <a:fld id="{D7B8BDBD-7183-4BFD-AE14-0364EF2C541B}"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76928"/>
          </a:xfrm>
          <a:prstGeom prst="roundRect">
            <a:avLst>
              <a:gd name="adj" fmla="val 2089"/>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7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1950" b="0" i="0">
                <a:solidFill>
                  <a:srgbClr val="1F4E79"/>
                </a:solidFill>
                <a:latin typeface="Consolas"/>
              </a:rPr>
              <a:t>kubectl apply</a:t>
            </a:r>
            <a:r>
              <a:rPr sz="2100" b="0" i="0">
                <a:solidFill>
                  <a:srgbClr val="1C252B"/>
                </a:solidFill>
                <a:latin typeface="Segoe UI"/>
              </a:rPr>
              <a:t> a Deployment asking for three replicas. Nothing is started by the thing that handled your request.</a:t>
            </a:r>
          </a:p>
        </p:txBody>
      </p:sp>
      <p:sp>
        <p:nvSpPr>
          <p:cNvPr id="10" name="body-1"/>
          <p:cNvSpPr txBox="1"/>
          <p:nvPr/>
        </p:nvSpPr>
        <p:spPr>
          <a:xfrm>
            <a:off x="1060704" y="2860624"/>
            <a:ext cx="10161727" cy="2988487"/>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0" i="0">
                <a:solidFill>
                  <a:srgbClr val="1C252B"/>
                </a:solidFill>
                <a:latin typeface="Segoe UI"/>
              </a:rPr>
              <a:t>The </a:t>
            </a:r>
            <a:r>
              <a:rPr sz="2100" b="1" i="0">
                <a:solidFill>
                  <a:srgbClr val="1C252B"/>
                </a:solidFill>
                <a:latin typeface="Segoe UI"/>
              </a:rPr>
              <a:t>API server</a:t>
            </a:r>
            <a:r>
              <a:rPr sz="2100" b="0" i="0">
                <a:solidFill>
                  <a:srgbClr val="1C252B"/>
                </a:solidFill>
                <a:latin typeface="Segoe UI"/>
              </a:rPr>
              <a:t> validates it and writes it to </a:t>
            </a:r>
            <a:r>
              <a:rPr sz="2100" b="1" i="0">
                <a:solidFill>
                  <a:srgbClr val="1C252B"/>
                </a:solidFill>
                <a:latin typeface="Segoe UI"/>
              </a:rPr>
              <a:t>etcd</a:t>
            </a:r>
            <a:r>
              <a:rPr sz="2100" b="0" i="0">
                <a:solidFill>
                  <a:srgbClr val="1C252B"/>
                </a:solidFill>
                <a:latin typeface="Segoe UI"/>
              </a:rPr>
              <a:t>. Your command returns. Nothing is running.</a:t>
            </a:r>
          </a:p>
          <a:p>
            <a:pPr algn="l" marL="234813" indent="-234813">
              <a:lnSpc>
                <a:spcPct val="104000"/>
              </a:lnSpc>
              <a:spcBef>
                <a:spcPts val="0"/>
              </a:spcBef>
              <a:spcAft>
                <a:spcPts val="735"/>
              </a:spcAft>
            </a:pPr>
            <a:r>
              <a:rPr sz="2100" b="1">
                <a:solidFill>
                  <a:srgbClr val="1F618D"/>
                </a:solidFill>
                <a:latin typeface="Segoe UI"/>
              </a:rPr>
              <a:t>•	</a:t>
            </a:r>
            <a:r>
              <a:rPr sz="2100" b="0" i="0">
                <a:solidFill>
                  <a:srgbClr val="1C252B"/>
                </a:solidFill>
                <a:latin typeface="Segoe UI"/>
              </a:rPr>
              <a:t>The </a:t>
            </a:r>
            <a:r>
              <a:rPr sz="2100" b="1" i="0">
                <a:solidFill>
                  <a:srgbClr val="1C252B"/>
                </a:solidFill>
                <a:latin typeface="Segoe UI"/>
              </a:rPr>
              <a:t>Deployment controller</a:t>
            </a:r>
            <a:r>
              <a:rPr sz="2100" b="0" i="0">
                <a:solidFill>
                  <a:srgbClr val="1C252B"/>
                </a:solidFill>
                <a:latin typeface="Segoe UI"/>
              </a:rPr>
              <a:t> notices a Deployment with no ReplicaSet and creates one.</a:t>
            </a:r>
          </a:p>
          <a:p>
            <a:pPr algn="l" marL="234813" indent="-234813">
              <a:lnSpc>
                <a:spcPct val="104000"/>
              </a:lnSpc>
              <a:spcBef>
                <a:spcPts val="0"/>
              </a:spcBef>
              <a:spcAft>
                <a:spcPts val="735"/>
              </a:spcAft>
            </a:pPr>
            <a:r>
              <a:rPr sz="2100" b="1">
                <a:solidFill>
                  <a:srgbClr val="1F618D"/>
                </a:solidFill>
                <a:latin typeface="Segoe UI"/>
              </a:rPr>
              <a:t>•	</a:t>
            </a:r>
            <a:r>
              <a:rPr sz="2100" b="0" i="0">
                <a:solidFill>
                  <a:srgbClr val="1C252B"/>
                </a:solidFill>
                <a:latin typeface="Segoe UI"/>
              </a:rPr>
              <a:t>The </a:t>
            </a:r>
            <a:r>
              <a:rPr sz="2100" b="1" i="0">
                <a:solidFill>
                  <a:srgbClr val="1C252B"/>
                </a:solidFill>
                <a:latin typeface="Segoe UI"/>
              </a:rPr>
              <a:t>ReplicaSet controller</a:t>
            </a:r>
            <a:r>
              <a:rPr sz="2100" b="0" i="0">
                <a:solidFill>
                  <a:srgbClr val="1C252B"/>
                </a:solidFill>
                <a:latin typeface="Segoe UI"/>
              </a:rPr>
              <a:t> notices a ReplicaSet wanting three Pods and zero existing, and creates three Pod objects — with no node assigned.</a:t>
            </a:r>
          </a:p>
          <a:p>
            <a:pPr algn="l" marL="234813" indent="-234813">
              <a:lnSpc>
                <a:spcPct val="104000"/>
              </a:lnSpc>
              <a:spcBef>
                <a:spcPts val="0"/>
              </a:spcBef>
              <a:spcAft>
                <a:spcPts val="0"/>
              </a:spcAft>
            </a:pPr>
            <a:r>
              <a:rPr sz="2100" b="1">
                <a:solidFill>
                  <a:srgbClr val="1F618D"/>
                </a:solidFill>
                <a:latin typeface="Segoe UI"/>
              </a:rPr>
              <a:t>•	</a:t>
            </a:r>
            <a:r>
              <a:rPr sz="2100" b="0" i="0">
                <a:solidFill>
                  <a:srgbClr val="1C252B"/>
                </a:solidFill>
                <a:latin typeface="Segoe UI"/>
              </a:rPr>
              <a:t>The </a:t>
            </a:r>
            <a:r>
              <a:rPr sz="2100" b="1" i="0">
                <a:solidFill>
                  <a:srgbClr val="1C252B"/>
                </a:solidFill>
                <a:latin typeface="Segoe UI"/>
              </a:rPr>
              <a:t>scheduler</a:t>
            </a:r>
            <a:r>
              <a:rPr sz="2100" b="0" i="0">
                <a:solidFill>
                  <a:srgbClr val="1C252B"/>
                </a:solidFill>
                <a:latin typeface="Segoe UI"/>
              </a:rPr>
              <a:t> notices three unassigned Pods, scores the nodes on free resources and constraints, and writes a node name into each. It still has not started anything.</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Trace a Deployment Through the Loops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78     </a:t>
            </a:r>
            <a:fld id="{22002FF0-FDA6-498B-9297-9C578B1C4F4A}"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554"/>
          </a:xfrm>
          <a:prstGeom prst="roundRect">
            <a:avLst>
              <a:gd name="adj" fmla="val 259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55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7043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0" i="0">
                <a:solidFill>
                  <a:srgbClr val="1C252B"/>
                </a:solidFill>
                <a:latin typeface="Segoe UI"/>
              </a:rPr>
              <a:t>Each </a:t>
            </a:r>
            <a:r>
              <a:rPr sz="2100" b="1" i="0">
                <a:solidFill>
                  <a:srgbClr val="1C252B"/>
                </a:solidFill>
                <a:latin typeface="Segoe UI"/>
              </a:rPr>
              <a:t>kubelet</a:t>
            </a:r>
            <a:r>
              <a:rPr sz="2100" b="0" i="0">
                <a:solidFill>
                  <a:srgbClr val="1C252B"/>
                </a:solidFill>
                <a:latin typeface="Segoe UI"/>
              </a:rPr>
              <a:t> notices a Pod assigned to its node, pulls the image and asks containerd to run it.</a:t>
            </a:r>
          </a:p>
          <a:p>
            <a:pPr algn="l" marL="234813" indent="-234813">
              <a:lnSpc>
                <a:spcPct val="104000"/>
              </a:lnSpc>
              <a:spcBef>
                <a:spcPts val="0"/>
              </a:spcBef>
              <a:spcAft>
                <a:spcPts val="0"/>
              </a:spcAft>
            </a:pPr>
            <a:r>
              <a:rPr sz="2100" b="1">
                <a:solidFill>
                  <a:srgbClr val="1F618D"/>
                </a:solidFill>
                <a:latin typeface="Segoe UI"/>
              </a:rPr>
              <a:t>•	</a:t>
            </a:r>
            <a:r>
              <a:rPr sz="2100" b="0" i="0">
                <a:solidFill>
                  <a:srgbClr val="1C252B"/>
                </a:solidFill>
                <a:latin typeface="Segoe UI"/>
              </a:rPr>
              <a:t>The </a:t>
            </a:r>
            <a:r>
              <a:rPr sz="2100" b="1" i="0">
                <a:solidFill>
                  <a:srgbClr val="1C252B"/>
                </a:solidFill>
                <a:latin typeface="Segoe UI"/>
              </a:rPr>
              <a:t>endpoints controller</a:t>
            </a:r>
            <a:r>
              <a:rPr sz="2100" b="0" i="0">
                <a:solidFill>
                  <a:srgbClr val="1C252B"/>
                </a:solidFill>
                <a:latin typeface="Segoe UI"/>
              </a:rPr>
              <a:t> notices Pods that match a Service’s selector and adds their addresses; </a:t>
            </a:r>
            <a:r>
              <a:rPr sz="2100" b="1" i="0">
                <a:solidFill>
                  <a:srgbClr val="1C252B"/>
                </a:solidFill>
                <a:latin typeface="Segoe UI"/>
              </a:rPr>
              <a:t>kube-proxy</a:t>
            </a:r>
            <a:r>
              <a:rPr sz="2100" b="0" i="0">
                <a:solidFill>
                  <a:srgbClr val="1C252B"/>
                </a:solidFill>
                <a:latin typeface="Segoe UI"/>
              </a:rPr>
              <a:t> programmes the routing.</a:t>
            </a:r>
          </a:p>
        </p:txBody>
      </p:sp>
      <p:sp>
        <p:nvSpPr>
          <p:cNvPr id="10" name="body-1"/>
          <p:cNvSpPr txBox="1"/>
          <p:nvPr/>
        </p:nvSpPr>
        <p:spPr>
          <a:xfrm>
            <a:off x="1060704" y="3619652"/>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Six independent loops, none of which called another. Each noticed a difference and reduced it. Now kill a Pod: step 3’s controller sees two where three are wanted, and the same sequence runs from there. </a:t>
            </a:r>
            <a:r>
              <a:rPr sz="2100" b="0" i="1">
                <a:solidFill>
                  <a:srgbClr val="1C252B"/>
                </a:solidFill>
                <a:latin typeface="Segoe UI"/>
              </a:rPr>
              <a:t>Failure recovery is not a feature; it is the ordinary behaviour of the system.</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Pods, Deployments and Services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Problem Containers Created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What the Cluster Is Made Of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10.3   Pods, Deployments and Services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Requests, Limits and What the Scheduler Does With Them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§10.3     </a:t>
            </a:r>
            <a:fld id="{9D796AF2-8C62-46DF-9F22-F67AF1F14F55}" type="slidenum">
              <a:rPr lang="en-GB" sz="1000">
                <a:solidFill>
                  <a:srgbClr val="8795A1"/>
                </a:solidFill>
                <a:latin typeface="Segoe UI"/>
              </a:rPr>
              <a:t>13</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Pods, Deployments and Services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79     </a:t>
            </a:r>
            <a:fld id="{EFFC2D35-A3B1-45CA-BFA0-C7E608839135}"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8" cy="4078221"/>
        </p:xfrm>
        <a:graphic>
          <a:graphicData uri="http://schemas.openxmlformats.org/drawingml/2006/table">
            <a:tbl>
              <a:tblPr firstRow="0" bandRow="0" firstCol="0" lastRow="0" lastCol="0" bandCol="0">
                <a:tableStyleId>{2D5ABB26-0587-4C30-8999-92F81FD0307C}</a:tableStyleId>
              </a:tblPr>
              <a:tblGrid>
                <a:gridCol w="1923462"/>
                <a:gridCol w="3994882"/>
                <a:gridCol w="4956614"/>
              </a:tblGrid>
              <a:tr h="374904">
                <a:tc>
                  <a:txBody>
                    <a:bodyPr wrap="square"/>
                    <a:lstStyle/>
                    <a:p>
                      <a:pPr algn="l"/>
                      <a:r>
                        <a:rPr sz="1500" b="1" i="0">
                          <a:solidFill>
                            <a:srgbClr val="1A5276"/>
                          </a:solidFill>
                          <a:latin typeface="Segoe UI"/>
                        </a:rPr>
                        <a:t>Object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What it is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The problem it solves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832103">
                <a:tc>
                  <a:txBody>
                    <a:bodyPr wrap="square"/>
                    <a:lstStyle/>
                    <a:p>
                      <a:pPr algn="l"/>
                      <a:r>
                        <a:rPr sz="1500" b="1" i="0">
                          <a:solidFill>
                            <a:srgbClr val="1A5276"/>
                          </a:solidFill>
                          <a:latin typeface="Segoe UI"/>
                        </a:rPr>
                        <a:t>Pod</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One or more containers sharing a network namespace, IP address and storage volumes. The smallest schedulable unit</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Some containers must be co-located and share </a:t>
                      </a:r>
                      <a:r>
                        <a:rPr sz="1400" b="0" i="0">
                          <a:solidFill>
                            <a:srgbClr val="1F4E79"/>
                          </a:solidFill>
                          <a:latin typeface="Consolas"/>
                        </a:rPr>
                        <a:t>localhost</a:t>
                      </a:r>
                      <a:r>
                        <a:rPr sz="1500" b="0" i="0">
                          <a:solidFill>
                            <a:srgbClr val="1C252B"/>
                          </a:solidFill>
                          <a:latin typeface="Segoe UI"/>
                        </a:rPr>
                        <a:t> — an application and its log shipper, or a </a:t>
                      </a:r>
                      <a:r>
                        <a:rPr sz="1500" b="1" i="0">
                          <a:solidFill>
                            <a:srgbClr val="1A5276"/>
                          </a:solidFill>
                          <a:latin typeface="Segoe UI"/>
                        </a:rPr>
                        <a:t>sidecar</a:t>
                      </a:r>
                      <a:r>
                        <a:rPr sz="1500" b="0" i="0">
                          <a:solidFill>
                            <a:srgbClr val="1C252B"/>
                          </a:solidFill>
                          <a:latin typeface="Segoe UI"/>
                        </a:rPr>
                        <a:t> proxy. You almost never create one directly</a:t>
                      </a:r>
                      <a:endParaRPr sz="1500"/>
                    </a:p>
                  </a:txBody>
                  <a:tcPr marL="109728" marR="109728" marT="64008" marB="45720" anchor="t">
                    <a:lnL w="0" cmpd="sng">
                      <a:noFill/>
                    </a:lnL>
                    <a:lnR w="0" cmpd="sng">
                      <a:noFill/>
                    </a:lnR>
                    <a:lnT w="9525" cmpd="sng">
                      <a:noFill/>
                    </a:lnT>
                    <a:lnB w="9525" cmpd="sng">
                      <a:noFill/>
                    </a:lnB>
                    <a:solidFill>
                      <a:srgbClr val="FFFFFF"/>
                    </a:solidFill>
                  </a:tcPr>
                </a:tc>
              </a:tr>
              <a:tr h="603504">
                <a:tc>
                  <a:txBody>
                    <a:bodyPr wrap="square"/>
                    <a:lstStyle/>
                    <a:p>
                      <a:pPr algn="l"/>
                      <a:r>
                        <a:rPr sz="1500" b="1" i="0">
                          <a:solidFill>
                            <a:srgbClr val="1A5276"/>
                          </a:solidFill>
                          <a:latin typeface="Segoe UI"/>
                        </a:rPr>
                        <a:t>ReplicaSet</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Keeps </a:t>
                      </a:r>
                      <a:r>
                        <a:rPr sz="1500" b="0" i="1">
                          <a:solidFill>
                            <a:srgbClr val="1C252B"/>
                          </a:solidFill>
                          <a:latin typeface="Cambria"/>
                        </a:rPr>
                        <a:t>n</a:t>
                      </a:r>
                      <a:r>
                        <a:rPr sz="1500" b="0" i="0">
                          <a:solidFill>
                            <a:srgbClr val="1C252B"/>
                          </a:solidFill>
                          <a:latin typeface="Segoe UI"/>
                        </a:rPr>
                        <a:t> identical Pods running</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The reconciliation loop for “how many”. You almost never create one directly either</a:t>
                      </a:r>
                      <a:endParaRPr sz="1500"/>
                    </a:p>
                  </a:txBody>
                  <a:tcPr marL="109728" marR="109728" marT="64008" marB="45720" anchor="t">
                    <a:lnL w="0" cmpd="sng">
                      <a:noFill/>
                    </a:lnL>
                    <a:lnR w="0" cmpd="sng">
                      <a:noFill/>
                    </a:lnR>
                    <a:lnT w="9525" cmpd="sng">
                      <a:noFill/>
                    </a:lnT>
                    <a:lnB w="9525" cmpd="sng">
                      <a:noFill/>
                    </a:lnB>
                    <a:solidFill>
                      <a:srgbClr val="F2F8FC"/>
                    </a:solidFill>
                  </a:tcPr>
                </a:tc>
              </a:tr>
              <a:tr h="832103">
                <a:tc>
                  <a:txBody>
                    <a:bodyPr wrap="square"/>
                    <a:lstStyle/>
                    <a:p>
                      <a:pPr algn="l"/>
                      <a:r>
                        <a:rPr sz="1500" b="1" i="0">
                          <a:solidFill>
                            <a:srgbClr val="1A5276"/>
                          </a:solidFill>
                          <a:latin typeface="Segoe UI"/>
                        </a:rPr>
                        <a:t>Deployment</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Manages ReplicaSets to roll out and roll back versions</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Changing the image without an outage. It creates a second ReplicaSet, shifts Pods across gradually, and keeps the old one so a rollback is one command</a:t>
                      </a:r>
                      <a:endParaRPr sz="1500"/>
                    </a:p>
                  </a:txBody>
                  <a:tcPr marL="109728" marR="109728" marT="64008" marB="45720" anchor="t">
                    <a:lnL w="0" cmpd="sng">
                      <a:noFill/>
                    </a:lnL>
                    <a:lnR w="0" cmpd="sng">
                      <a:noFill/>
                    </a:lnR>
                    <a:lnT w="9525" cmpd="sng">
                      <a:noFill/>
                    </a:lnT>
                    <a:lnB w="9525" cmpd="sng">
                      <a:noFill/>
                    </a:lnB>
                    <a:solidFill>
                      <a:srgbClr val="FFFFFF"/>
                    </a:solidFill>
                  </a:tcPr>
                </a:tc>
              </a:tr>
              <a:tr h="832103">
                <a:tc>
                  <a:txBody>
                    <a:bodyPr wrap="square"/>
                    <a:lstStyle/>
                    <a:p>
                      <a:pPr algn="l"/>
                      <a:r>
                        <a:rPr sz="1500" b="1" i="0">
                          <a:solidFill>
                            <a:srgbClr val="1A5276"/>
                          </a:solidFill>
                          <a:latin typeface="Segoe UI"/>
                        </a:rPr>
                        <a:t>Service</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A stable virtual IP and DNS name in front of a changing set of Pods</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Pod addresses change on every restart. A </a:t>
                      </a:r>
                      <a:r>
                        <a:rPr sz="1500" b="1" i="0">
                          <a:solidFill>
                            <a:srgbClr val="1A5276"/>
                          </a:solidFill>
                          <a:latin typeface="Segoe UI"/>
                        </a:rPr>
                        <a:t>ClusterIP</a:t>
                      </a:r>
                      <a:r>
                        <a:rPr sz="1500" b="0" i="0">
                          <a:solidFill>
                            <a:srgbClr val="1C252B"/>
                          </a:solidFill>
                          <a:latin typeface="Segoe UI"/>
                        </a:rPr>
                        <a:t> does not, and kube-proxy keeps its backend list current</a:t>
                      </a:r>
                      <a:endParaRPr sz="1500"/>
                    </a:p>
                  </a:txBody>
                  <a:tcPr marL="109728" marR="109728" marT="64008" marB="45720" anchor="t">
                    <a:lnL w="0" cmpd="sng">
                      <a:noFill/>
                    </a:lnL>
                    <a:lnR w="0" cmpd="sng">
                      <a:noFill/>
                    </a:lnR>
                    <a:lnT w="9525" cmpd="sng">
                      <a:noFill/>
                    </a:lnT>
                    <a:lnB w="9525" cmpd="sng">
                      <a:noFill/>
                    </a:lnB>
                    <a:solidFill>
                      <a:srgbClr val="F2F8FC"/>
                    </a:solidFill>
                  </a:tcPr>
                </a:tc>
              </a:tr>
              <a:tr h="603504">
                <a:tc>
                  <a:txBody>
                    <a:bodyPr wrap="square"/>
                    <a:lstStyle/>
                    <a:p>
                      <a:pPr algn="l"/>
                      <a:r>
                        <a:rPr sz="1500" b="1" i="0">
                          <a:solidFill>
                            <a:srgbClr val="1A5276"/>
                          </a:solidFill>
                          <a:latin typeface="Segoe UI"/>
                        </a:rPr>
                        <a:t>Ingress</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HTTP routing from outside the cluster to Services</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A Service is reachable inside the cluster; this is how the world gets in, with host and path rules and TLS</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Pod is not a container, and the difference bites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79     </a:t>
            </a:r>
            <a:fld id="{97EB13CA-2E0D-4A49-94D0-533C89853122}"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Pod is the unit of </a:t>
            </a:r>
            <a:r>
              <a:rPr sz="2300" b="0" i="1">
                <a:solidFill>
                  <a:srgbClr val="1C252B"/>
                </a:solidFill>
                <a:latin typeface="Segoe UI"/>
              </a:rPr>
              <a:t>scheduling</a:t>
            </a:r>
            <a:r>
              <a:rPr sz="2300" b="0" i="0">
                <a:solidFill>
                  <a:srgbClr val="1C252B"/>
                </a:solidFill>
                <a:latin typeface="Segoe UI"/>
              </a:rPr>
              <a:t> and of </a:t>
            </a:r>
            <a:r>
              <a:rPr sz="2300" b="0" i="1">
                <a:solidFill>
                  <a:srgbClr val="1C252B"/>
                </a:solidFill>
                <a:latin typeface="Segoe UI"/>
              </a:rPr>
              <a:t>IP address</a:t>
            </a:r>
            <a:r>
              <a:rPr sz="2300" b="0" i="0">
                <a:solidFill>
                  <a:srgbClr val="1C252B"/>
                </a:solidFill>
                <a:latin typeface="Segoe UI"/>
              </a:rPr>
              <a:t>. Every container in it runs on the same node, shares one network namespace — so they reach each other on </a:t>
            </a:r>
            <a:r>
              <a:rPr sz="2150" b="0" i="0">
                <a:solidFill>
                  <a:srgbClr val="1F4E79"/>
                </a:solidFill>
                <a:latin typeface="Consolas"/>
              </a:rPr>
              <a:t>localhost</a:t>
            </a:r>
            <a:r>
              <a:rPr sz="2300" b="0" i="0">
                <a:solidFill>
                  <a:srgbClr val="1C252B"/>
                </a:solidFill>
                <a:latin typeface="Segoe UI"/>
              </a:rPr>
              <a:t> and cannot both bind port 8080 — and can share volumes.</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error this produces is putting an application and its database in one Pod because they belong together. They do not: they scale differently, fail differently and are updated differently, and now they cannot be scheduled separately or scaled separately. The test is whether the two must be on the same machine and share a lifetime. A log shipper must. A database must not.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Requests, Limits and What the Scheduler Does With Them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The Problem Containers Created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What the Cluster Is Made Of</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Pods, Deployments and Services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10.4   Requests, Limits and What the Scheduler Does With Them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§10.4     </a:t>
            </a:r>
            <a:fld id="{C9CAB7C8-A9E4-45B6-8D92-B5CCB5744D9D}" type="slidenum">
              <a:rPr lang="en-GB" sz="1000">
                <a:solidFill>
                  <a:srgbClr val="8795A1"/>
                </a:solidFill>
                <a:latin typeface="Segoe UI"/>
              </a:rPr>
              <a:t>16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Request and Limit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4D7DA42D-E93D-4029-9CC1-A0EA8743C8A7}"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request</a:t>
            </a:r>
            <a:r>
              <a:rPr sz="2200" b="0" i="0">
                <a:solidFill>
                  <a:srgbClr val="1C252B"/>
                </a:solidFill>
                <a:latin typeface="Segoe UI"/>
              </a:rPr>
              <a:t> is what the </a:t>
            </a:r>
            <a:r>
              <a:rPr sz="2200" b="1" i="0">
                <a:solidFill>
                  <a:srgbClr val="1C252B"/>
                </a:solidFill>
                <a:latin typeface="Segoe UI"/>
              </a:rPr>
              <a:t>scheduler</a:t>
            </a:r>
            <a:r>
              <a:rPr sz="2200" b="0" i="0">
                <a:solidFill>
                  <a:srgbClr val="1C252B"/>
                </a:solidFill>
                <a:latin typeface="Segoe UI"/>
              </a:rPr>
              <a:t> uses. It reserves that much on the node, and a node whose remaining allocatable capacity is less than the request will not be chosen. The request is a claim on </a:t>
            </a:r>
            <a:r>
              <a:rPr sz="2200" b="0" i="1">
                <a:solidFill>
                  <a:srgbClr val="1C252B"/>
                </a:solidFill>
                <a:latin typeface="Segoe UI"/>
              </a:rPr>
              <a:t>placement</a:t>
            </a:r>
            <a:r>
              <a:rPr sz="2200" b="0" i="0">
                <a:solidFill>
                  <a:srgbClr val="1C252B"/>
                </a:solidFill>
                <a:latin typeface="Segoe UI"/>
              </a:rPr>
              <a:t> and is reserved whether or not the container uses it.</a:t>
            </a:r>
          </a:p>
        </p:txBody>
      </p:sp>
      <p:sp>
        <p:nvSpPr>
          <p:cNvPr id="10" name="body-1"/>
          <p:cNvSpPr txBox="1"/>
          <p:nvPr/>
        </p:nvSpPr>
        <p:spPr>
          <a:xfrm>
            <a:off x="1060704" y="3596690"/>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limit</a:t>
            </a:r>
            <a:r>
              <a:rPr sz="2200" b="0" i="0">
                <a:solidFill>
                  <a:srgbClr val="1C252B"/>
                </a:solidFill>
                <a:latin typeface="Segoe UI"/>
              </a:rPr>
              <a:t> is what the </a:t>
            </a:r>
            <a:r>
              <a:rPr sz="2200" b="1" i="0">
                <a:solidFill>
                  <a:srgbClr val="1C252B"/>
                </a:solidFill>
                <a:latin typeface="Segoe UI"/>
              </a:rPr>
              <a:t>kernel</a:t>
            </a:r>
            <a:r>
              <a:rPr sz="2200" b="0" i="0">
                <a:solidFill>
                  <a:srgbClr val="1C252B"/>
                </a:solidFill>
                <a:latin typeface="Segoe UI"/>
              </a:rPr>
              <a:t> enforces, through the cgroups of Chapter 8. CPU above the limit is throttled; memory above it is an OOM kill.</a:t>
            </a:r>
          </a:p>
        </p:txBody>
      </p:sp>
      <p:sp>
        <p:nvSpPr>
          <p:cNvPr id="11" name="body-2"/>
          <p:cNvSpPr txBox="1"/>
          <p:nvPr/>
        </p:nvSpPr>
        <p:spPr>
          <a:xfrm>
            <a:off x="1060704" y="4447743"/>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gap between them is where a workload may burst, and where the cluster is oversubscribed. A Pod requesting 100m of CPU with a 2-core limit is scheduled as if it were tiny and may consume twenty times that — from capacity the scheduler has promised to somebody else.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Pod Will Not Schedule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018AAA2C-D14C-4738-B568-0F89C0E6BD9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395"/>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39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cluster has four nodes of 16 cores and 64 GB. A team reports that their new Deployment sits in </a:t>
            </a:r>
            <a:r>
              <a:rPr sz="1800" b="0" i="0">
                <a:solidFill>
                  <a:srgbClr val="1F4E79"/>
                </a:solidFill>
                <a:latin typeface="Consolas"/>
              </a:rPr>
              <a:t>Pending</a:t>
            </a:r>
            <a:r>
              <a:rPr sz="1900" b="0" i="0">
                <a:solidFill>
                  <a:srgbClr val="1C252B"/>
                </a:solidFill>
                <a:latin typeface="Segoe UI"/>
              </a:rPr>
              <a:t> and asks for more nodes. Decide whether they need any.</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is declared.</a:t>
            </a:r>
            <a:r>
              <a:rPr sz="1900" b="0" i="0">
                <a:solidFill>
                  <a:srgbClr val="1C252B"/>
                </a:solidFill>
                <a:latin typeface="Segoe UI"/>
              </a:rPr>
              <a:t> 20 replicas, each requesting 2 cores and 8 GB.</a:t>
            </a:r>
          </a:p>
        </p:txBody>
      </p:sp>
      <p:sp>
        <p:nvSpPr>
          <p:cNvPr id="11" name="body-2"/>
          <p:cNvSpPr txBox="1"/>
          <p:nvPr/>
        </p:nvSpPr>
        <p:spPr>
          <a:xfrm>
            <a:off x="1042416" y="3180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what the nodes actually offer.</a:t>
            </a:r>
            <a:r>
              <a:rPr sz="1900" b="0" i="0">
                <a:solidFill>
                  <a:srgbClr val="1C252B"/>
                </a:solidFill>
                <a:latin typeface="Segoe UI"/>
              </a:rPr>
              <a:t> Allocatable capacity is not total capacity: the kubelet, the container runtime and the operating system are reserved first. Typically about 10% of CPU and 15% of memory:</a:t>
            </a:r>
          </a:p>
        </p:txBody>
      </p:sp>
      <p:pic>
        <p:nvPicPr>
          <p:cNvPr id="12" name="body-3" descr="\text{per node} \approx 16 \times 0.90 = 14.4 \text{ cores}, \qquad 64 \times 0.85 = 54.4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216679"/>
            <a:ext cx="10234879" cy="324520"/>
          </a:xfrm>
          <a:prstGeom prst="rect">
            <a:avLst/>
          </a:prstGeom>
        </p:spPr>
      </p:pic>
      <p:pic>
        <p:nvPicPr>
          <p:cNvPr id="13" name="body-4" descr="\text{cluster} = 4 \times 14.4 = 57.6 \text{ cores}, \qquad 4 \times 54.4 = 217.6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673914"/>
            <a:ext cx="10234879" cy="324520"/>
          </a:xfrm>
          <a:prstGeom prst="rect">
            <a:avLst/>
          </a:prstGeom>
        </p:spPr>
      </p:pic>
      <p:sp>
        <p:nvSpPr>
          <p:cNvPr id="14" name="body-5"/>
          <p:cNvSpPr txBox="1"/>
          <p:nvPr/>
        </p:nvSpPr>
        <p:spPr>
          <a:xfrm>
            <a:off x="1042416" y="513115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what is already running.</a:t>
            </a:r>
            <a:r>
              <a:rPr sz="1900" b="0" i="0">
                <a:solidFill>
                  <a:srgbClr val="1C252B"/>
                </a:solidFill>
                <a:latin typeface="Segoe UI"/>
              </a:rPr>
              <a:t> Existing workloads request 30 cores and 120 GB. Remaining:</a:t>
            </a:r>
          </a:p>
        </p:txBody>
      </p:sp>
      <p:sp>
        <p:nvSpPr>
          <p:cNvPr id="15" name="body-5bar">
            <a:extLst>
              <a:ext uri="{C183D7F6-B498-43B3-948B-1728B52AA6E4}">
                <adec:decorative xmlns:adec="http://schemas.microsoft.com/office/drawing/2017/decorative" val="1"/>
              </a:ext>
            </a:extLst>
          </p:cNvPr>
          <p:cNvSpPr/>
          <p:nvPr/>
        </p:nvSpPr>
        <p:spPr>
          <a:xfrm>
            <a:off x="841248" y="514943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Pod Will Not Schedule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B730DDF3-05B3-465E-8DAD-27FCCCE7A52F}"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22135"/>
          </a:xfrm>
          <a:prstGeom prst="roundRect">
            <a:avLst>
              <a:gd name="adj" fmla="val 2273"/>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2213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57.6 - 30 = 27.6 \text{ cores} \qquad 217.6 - 120 = 97.6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324520"/>
          </a:xfrm>
          <a:prstGeom prst="rect">
            <a:avLst/>
          </a:prstGeom>
        </p:spPr>
      </p:pic>
      <p:sp>
        <p:nvSpPr>
          <p:cNvPr id="10" name="body-1"/>
          <p:cNvSpPr txBox="1"/>
          <p:nvPr/>
        </p:nvSpPr>
        <p:spPr>
          <a:xfrm>
            <a:off x="1042416" y="246891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what the new Deployment asks for.</a:t>
            </a:r>
          </a:p>
        </p:txBody>
      </p:sp>
      <p:sp>
        <p:nvSpPr>
          <p:cNvPr id="11" name="body-1bar">
            <a:extLst>
              <a:ext uri="{C183D7F6-B498-43B3-948B-1728B52AA6E4}">
                <adec:decorative xmlns:adec="http://schemas.microsoft.com/office/drawing/2017/decorative" val="1"/>
              </a:ext>
            </a:extLst>
          </p:cNvPr>
          <p:cNvSpPr/>
          <p:nvPr/>
        </p:nvSpPr>
        <p:spPr>
          <a:xfrm>
            <a:off x="841248" y="2487203"/>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20 \times 2 = 40 \text{ cores} \qquad 20 \times 8 = 160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902772"/>
            <a:ext cx="10234879" cy="324520"/>
          </a:xfrm>
          <a:prstGeom prst="rect">
            <a:avLst/>
          </a:prstGeom>
        </p:spPr>
      </p:pic>
      <p:sp>
        <p:nvSpPr>
          <p:cNvPr id="13" name="body-3"/>
          <p:cNvSpPr txBox="1"/>
          <p:nvPr/>
        </p:nvSpPr>
        <p:spPr>
          <a:xfrm>
            <a:off x="1042416" y="3360008"/>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Both exceed what is left. It cannot schedule, and the team is right that something must change.</a:t>
            </a:r>
          </a:p>
        </p:txBody>
      </p:sp>
      <p:sp>
        <p:nvSpPr>
          <p:cNvPr id="14" name="body-4"/>
          <p:cNvSpPr txBox="1"/>
          <p:nvPr/>
        </p:nvSpPr>
        <p:spPr>
          <a:xfrm>
            <a:off x="1042416" y="4095008"/>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how many </a:t>
            </a:r>
            <a:r>
              <a:rPr sz="1900" b="1" i="1">
                <a:solidFill>
                  <a:srgbClr val="1C252B"/>
                </a:solidFill>
                <a:latin typeface="Segoe UI"/>
              </a:rPr>
              <a:t>will</a:t>
            </a:r>
            <a:r>
              <a:rPr sz="1900" b="1" i="0">
                <a:solidFill>
                  <a:srgbClr val="1C252B"/>
                </a:solidFill>
                <a:latin typeface="Segoe UI"/>
              </a:rPr>
              <a:t> fit?</a:t>
            </a:r>
            <a:r>
              <a:rPr sz="1900" b="0" i="0">
                <a:solidFill>
                  <a:srgbClr val="1C252B"/>
                </a:solidFill>
                <a:latin typeface="Segoe UI"/>
              </a:rPr>
              <a:t> The scheduler places Pods one at a time, so some will run. The binding constraint is memory:</a:t>
            </a:r>
          </a:p>
        </p:txBody>
      </p:sp>
      <p:sp>
        <p:nvSpPr>
          <p:cNvPr id="15" name="body-4bar">
            <a:extLst>
              <a:ext uri="{C183D7F6-B498-43B3-948B-1728B52AA6E4}">
                <adec:decorative xmlns:adec="http://schemas.microsoft.com/office/drawing/2017/decorative" val="1"/>
              </a:ext>
            </a:extLst>
          </p:cNvPr>
          <p:cNvSpPr/>
          <p:nvPr/>
        </p:nvSpPr>
        <p:spPr>
          <a:xfrm>
            <a:off x="841248" y="4113296"/>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body-5" descr="\left\lfloor \frac{97.6}{8} \right\rfloor = 12 \text{ Pod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830008"/>
            <a:ext cx="10234879" cy="655167"/>
          </a:xfrm>
          <a:prstGeom prst="rect">
            <a:avLst/>
          </a:prstGeom>
        </p:spPr>
      </p:pic>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Pod Will Not Schedule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946E8BA0-5B14-430D-B3B6-53D5FE57633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13159"/>
          </a:xfrm>
          <a:prstGeom prst="roundRect">
            <a:avLst>
              <a:gd name="adj" fmla="val 239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131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but Pods cannot be split across nodes, so compute it per node. If the existing load is even, each node has </a:t>
            </a:r>
            <a:r>
              <a:rPr sz="1900" b="0" i="0">
                <a:solidFill>
                  <a:srgbClr val="1C252B"/>
                </a:solidFill>
                <a:latin typeface="Cambria"/>
              </a:rPr>
              <a:t>54.4 − 30 = 24.4</a:t>
            </a:r>
            <a:r>
              <a:rPr sz="1900" b="0" i="0">
                <a:solidFill>
                  <a:srgbClr val="1C252B"/>
                </a:solidFill>
                <a:latin typeface="Segoe UI"/>
              </a:rPr>
              <a:t> GB free, giving </a:t>
            </a:r>
            <a:r>
              <a:rPr sz="1900" b="0" i="0">
                <a:solidFill>
                  <a:srgbClr val="1C252B"/>
                </a:solidFill>
                <a:latin typeface="Cambria"/>
              </a:rPr>
              <a:t>⌊ 24.4/8 ⌋ = 3</a:t>
            </a:r>
            <a:r>
              <a:rPr sz="1900" b="0" i="0">
                <a:solidFill>
                  <a:srgbClr val="1C252B"/>
                </a:solidFill>
                <a:latin typeface="Segoe UI"/>
              </a:rPr>
              <a:t> Pods per node </a:t>
            </a:r>
            <a:r>
              <a:rPr sz="1900" b="0" i="0">
                <a:solidFill>
                  <a:srgbClr val="1C252B"/>
                </a:solidFill>
                <a:latin typeface="Cambria"/>
              </a:rPr>
              <a:t>= </a:t>
            </a:r>
            <a:r>
              <a:rPr sz="1900" b="1" i="0">
                <a:solidFill>
                  <a:srgbClr val="1C252B"/>
                </a:solidFill>
                <a:latin typeface="Cambria"/>
              </a:rPr>
              <a:t>12</a:t>
            </a:r>
            <a:r>
              <a:rPr sz="1900" b="0" i="0">
                <a:solidFill>
                  <a:srgbClr val="1C252B"/>
                </a:solidFill>
                <a:latin typeface="Segoe UI"/>
              </a:rPr>
              <a:t>. Eight stay </a:t>
            </a:r>
            <a:r>
              <a:rPr sz="1800" b="0" i="0">
                <a:solidFill>
                  <a:srgbClr val="1F4E79"/>
                </a:solidFill>
                <a:latin typeface="Consolas"/>
              </a:rPr>
              <a:t>Pending</a:t>
            </a:r>
            <a:r>
              <a:rPr sz="1900" b="0" i="0">
                <a:solidFill>
                  <a:srgbClr val="1C252B"/>
                </a:solidFill>
                <a:latin typeface="Segoe UI"/>
              </a:rPr>
              <a:t> — which matches what they are seeing.</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are the requests honest?</a:t>
            </a:r>
            <a:r>
              <a:rPr sz="1900" b="0" i="0">
                <a:solidFill>
                  <a:srgbClr val="1C252B"/>
                </a:solidFill>
                <a:latin typeface="Segoe UI"/>
              </a:rPr>
              <a:t> This is the question nobody asks, and it is usually the answer. Measured over the previous week the same application used 0.3 cores and 1.2 GB at the 95th percentile. The request of 2 cores and 8 GB is roughly </a:t>
            </a:r>
            <a:r>
              <a:rPr sz="1900" b="1" i="0">
                <a:solidFill>
                  <a:srgbClr val="1C252B"/>
                </a:solidFill>
                <a:latin typeface="Segoe UI"/>
              </a:rPr>
              <a:t>seven times</a:t>
            </a:r>
            <a:r>
              <a:rPr sz="1900" b="0" i="0">
                <a:solidFill>
                  <a:srgbClr val="1C252B"/>
                </a:solidFill>
                <a:latin typeface="Segoe UI"/>
              </a:rPr>
              <a:t> its actual demand.</a:t>
            </a:r>
          </a:p>
        </p:txBody>
      </p:sp>
      <p:sp>
        <p:nvSpPr>
          <p:cNvPr id="11" name="body-1bar">
            <a:extLst>
              <a:ext uri="{C183D7F6-B498-43B3-948B-1728B52AA6E4}">
                <adec:decorative xmlns:adec="http://schemas.microsoft.com/office/drawing/2017/decorative" val="1"/>
              </a:ext>
            </a:extLst>
          </p:cNvPr>
          <p:cNvSpPr/>
          <p:nvPr/>
        </p:nvSpPr>
        <p:spPr>
          <a:xfrm>
            <a:off x="841248" y="306611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08396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Set requests to p95 plus a margin — say 0.5 cores and 2 GB — and limits somewhat above:</a:t>
            </a:r>
          </a:p>
        </p:txBody>
      </p:sp>
      <p:pic>
        <p:nvPicPr>
          <p:cNvPr id="13" name="body-3" descr="20 \times 0.5 = 10 \text{ cores} \qquad 20 \times 2 = 40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517821"/>
            <a:ext cx="10234879" cy="324520"/>
          </a:xfrm>
          <a:prstGeom prst="rect">
            <a:avLst/>
          </a:prstGeom>
        </p:spPr>
      </p:pic>
      <p:sp>
        <p:nvSpPr>
          <p:cNvPr id="14" name="body-4"/>
          <p:cNvSpPr txBox="1"/>
          <p:nvPr/>
        </p:nvSpPr>
        <p:spPr>
          <a:xfrm>
            <a:off x="1042416" y="497505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Against 27.6 cores and 97.6 GB free, all twenty schedule with room to spare.</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Pod Will Not Schedule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7A0EE9ED-6E32-424C-A200-8CD6ACF78D75}"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the recommendation.</a:t>
            </a:r>
            <a:r>
              <a:rPr sz="1900" b="0" i="0">
                <a:solidFill>
                  <a:srgbClr val="1C252B"/>
                </a:solidFill>
                <a:latin typeface="Segoe UI"/>
              </a:rPr>
              <a:t> No new nodes. The cluster was not full; it was </a:t>
            </a:r>
            <a:r>
              <a:rPr sz="1900" b="0" i="1">
                <a:solidFill>
                  <a:srgbClr val="1C252B"/>
                </a:solidFill>
                <a:latin typeface="Segoe UI"/>
              </a:rPr>
              <a:t>reserved</a:t>
            </a:r>
            <a:r>
              <a:rPr sz="1900" b="0" i="0">
                <a:solidFill>
                  <a:srgbClr val="1C252B"/>
                </a:solidFill>
                <a:latin typeface="Segoe UI"/>
              </a:rPr>
              <a:t>. A request is a promise the scheduler keeps whether the workload uses it or not, so inflated requests buy hardware that then sits idle — the server sprawl of Chapter 1, re-created inside a cluster that was bought to prevent it.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QoS Classes: Who Gets Evicted First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BDF692F0-8672-4A4C-A39E-4EA2E9FBE3C8}"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2932"/>
          </a:xfrm>
          <a:prstGeom prst="roundRect">
            <a:avLst>
              <a:gd name="adj" fmla="val 214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293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From the requests and limits, Kubernetes derives a </a:t>
            </a:r>
            <a:r>
              <a:rPr sz="2200" b="1" i="0">
                <a:solidFill>
                  <a:srgbClr val="1A5276"/>
                </a:solidFill>
                <a:latin typeface="Segoe UI"/>
              </a:rPr>
              <a:t>QoS class</a:t>
            </a:r>
            <a:r>
              <a:rPr sz="2200" b="0" i="0">
                <a:solidFill>
                  <a:srgbClr val="1C252B"/>
                </a:solidFill>
                <a:latin typeface="Segoe UI"/>
              </a:rPr>
              <a:t> that decides what happens when a node runs out of memory.</a:t>
            </a:r>
          </a:p>
        </p:txBody>
      </p:sp>
      <p:sp>
        <p:nvSpPr>
          <p:cNvPr id="10" name="body-1"/>
          <p:cNvSpPr txBox="1"/>
          <p:nvPr/>
        </p:nvSpPr>
        <p:spPr>
          <a:xfrm>
            <a:off x="1060704" y="2899308"/>
            <a:ext cx="10161727" cy="1636064"/>
          </a:xfrm>
          <a:prstGeom prst="rect">
            <a:avLst/>
          </a:prstGeom>
          <a:noFill/>
        </p:spPr>
        <p:txBody>
          <a:bodyPr wrap="square" anchor="t" lIns="0" rIns="0" tIns="0" bIns="0">
            <a:noAutofit/>
          </a:bodyPr>
          <a:lstStyle/>
          <a:p>
            <a:pPr algn="l" marL="245994" indent="-245994">
              <a:lnSpc>
                <a:spcPct val="104000"/>
              </a:lnSpc>
              <a:spcBef>
                <a:spcPts val="0"/>
              </a:spcBef>
              <a:spcAft>
                <a:spcPts val="769"/>
              </a:spcAft>
            </a:pPr>
            <a:r>
              <a:rPr sz="2200" b="1">
                <a:solidFill>
                  <a:srgbClr val="1F618D"/>
                </a:solidFill>
                <a:latin typeface="Segoe UI"/>
              </a:rPr>
              <a:t>•	</a:t>
            </a:r>
            <a:r>
              <a:rPr sz="2200" b="1" i="0">
                <a:solidFill>
                  <a:srgbClr val="1F618D"/>
                </a:solidFill>
                <a:latin typeface="Segoe UI"/>
              </a:rPr>
              <a:t>Guaranteed</a:t>
            </a:r>
            <a:r>
              <a:rPr sz="2200" b="0" i="0">
                <a:solidFill>
                  <a:srgbClr val="1C252B"/>
                </a:solidFill>
                <a:latin typeface="Segoe UI"/>
              </a:rPr>
              <a:t> — every container has limits equal to requests. Evicted last.</a:t>
            </a:r>
          </a:p>
          <a:p>
            <a:pPr algn="l" marL="245994" indent="-245994">
              <a:lnSpc>
                <a:spcPct val="104000"/>
              </a:lnSpc>
              <a:spcBef>
                <a:spcPts val="0"/>
              </a:spcBef>
              <a:spcAft>
                <a:spcPts val="769"/>
              </a:spcAft>
            </a:pPr>
            <a:r>
              <a:rPr sz="2200" b="1">
                <a:solidFill>
                  <a:srgbClr val="1F618D"/>
                </a:solidFill>
                <a:latin typeface="Segoe UI"/>
              </a:rPr>
              <a:t>•	</a:t>
            </a:r>
            <a:r>
              <a:rPr sz="2200" b="1" i="0">
                <a:solidFill>
                  <a:srgbClr val="1F618D"/>
                </a:solidFill>
                <a:latin typeface="Segoe UI"/>
              </a:rPr>
              <a:t>Burstable</a:t>
            </a:r>
            <a:r>
              <a:rPr sz="2200" b="0" i="0">
                <a:solidFill>
                  <a:srgbClr val="1C252B"/>
                </a:solidFill>
                <a:latin typeface="Segoe UI"/>
              </a:rPr>
              <a:t> — requests set, limits higher or absent. Evicted in the middle, worst offender against its request first.</a:t>
            </a:r>
          </a:p>
          <a:p>
            <a:pPr algn="l" marL="245994" indent="-245994">
              <a:lnSpc>
                <a:spcPct val="104000"/>
              </a:lnSpc>
              <a:spcBef>
                <a:spcPts val="0"/>
              </a:spcBef>
              <a:spcAft>
                <a:spcPts val="0"/>
              </a:spcAft>
            </a:pPr>
            <a:r>
              <a:rPr sz="2200" b="1">
                <a:solidFill>
                  <a:srgbClr val="1F618D"/>
                </a:solidFill>
                <a:latin typeface="Segoe UI"/>
              </a:rPr>
              <a:t>•	</a:t>
            </a:r>
            <a:r>
              <a:rPr sz="2200" b="1" i="0">
                <a:solidFill>
                  <a:srgbClr val="1F618D"/>
                </a:solidFill>
                <a:latin typeface="Segoe UI"/>
              </a:rPr>
              <a:t>BestEffort</a:t>
            </a:r>
            <a:r>
              <a:rPr sz="2200" b="0" i="0">
                <a:solidFill>
                  <a:srgbClr val="1C252B"/>
                </a:solidFill>
                <a:latin typeface="Segoe UI"/>
              </a:rPr>
              <a:t> — nothing set at all. Evicted first, always.</a:t>
            </a:r>
          </a:p>
        </p:txBody>
      </p:sp>
      <p:sp>
        <p:nvSpPr>
          <p:cNvPr id="11" name="body-2"/>
          <p:cNvSpPr txBox="1"/>
          <p:nvPr/>
        </p:nvSpPr>
        <p:spPr>
          <a:xfrm>
            <a:off x="1060704" y="4643323"/>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So omitting requests and limits is not neutral — it is choosing to be killed first. This surprises teams who leave them out to “keep it simple”, and the symptom arrives weeks later as a workload that dies only when the cluster is busy.</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Liveness and Readiness Are Not the Same Question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A557A3CD-72C3-4FC4-AAC3-1F9D6066DF81}"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0812"/>
          </a:xfrm>
          <a:prstGeom prst="roundRect">
            <a:avLst>
              <a:gd name="adj" fmla="val 217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081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Two probes, routinely confused, with opposite consequences.</a:t>
            </a:r>
          </a:p>
        </p:txBody>
      </p:sp>
      <p:sp>
        <p:nvSpPr>
          <p:cNvPr id="10" name="body-1"/>
          <p:cNvSpPr txBox="1"/>
          <p:nvPr/>
        </p:nvSpPr>
        <p:spPr>
          <a:xfrm>
            <a:off x="1060704" y="2504947"/>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readiness</a:t>
            </a:r>
            <a:r>
              <a:rPr sz="2000" b="0" i="0">
                <a:solidFill>
                  <a:srgbClr val="1C252B"/>
                </a:solidFill>
                <a:latin typeface="Segoe UI"/>
              </a:rPr>
              <a:t> probe asks </a:t>
            </a:r>
            <a:r>
              <a:rPr sz="2000" b="0" i="1">
                <a:solidFill>
                  <a:srgbClr val="1C252B"/>
                </a:solidFill>
                <a:latin typeface="Segoe UI"/>
              </a:rPr>
              <a:t>should traffic go here?</a:t>
            </a:r>
            <a:r>
              <a:rPr sz="2000" b="0" i="0">
                <a:solidFill>
                  <a:srgbClr val="1C252B"/>
                </a:solidFill>
                <a:latin typeface="Segoe UI"/>
              </a:rPr>
              <a:t> Failing it removes the Pod from its Service’s endpoints. Nothing is killed; the Pod is simply left alone until it recovers. Use it for warm-up, for a lost database connection, for shedding load.</a:t>
            </a:r>
          </a:p>
        </p:txBody>
      </p:sp>
      <p:sp>
        <p:nvSpPr>
          <p:cNvPr id="11" name="body-2"/>
          <p:cNvSpPr txBox="1"/>
          <p:nvPr/>
        </p:nvSpPr>
        <p:spPr>
          <a:xfrm>
            <a:off x="1060704" y="3595623"/>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liveness</a:t>
            </a:r>
            <a:r>
              <a:rPr sz="2000" b="0" i="0">
                <a:solidFill>
                  <a:srgbClr val="1C252B"/>
                </a:solidFill>
                <a:latin typeface="Segoe UI"/>
              </a:rPr>
              <a:t> probe asks </a:t>
            </a:r>
            <a:r>
              <a:rPr sz="2000" b="0" i="1">
                <a:solidFill>
                  <a:srgbClr val="1C252B"/>
                </a:solidFill>
                <a:latin typeface="Segoe UI"/>
              </a:rPr>
              <a:t>is this process broken beyond recovery?</a:t>
            </a:r>
            <a:r>
              <a:rPr sz="2000" b="0" i="0">
                <a:solidFill>
                  <a:srgbClr val="1C252B"/>
                </a:solidFill>
                <a:latin typeface="Segoe UI"/>
              </a:rPr>
              <a:t> Failing it </a:t>
            </a:r>
            <a:r>
              <a:rPr sz="2000" b="1" i="0">
                <a:solidFill>
                  <a:srgbClr val="1C252B"/>
                </a:solidFill>
                <a:latin typeface="Segoe UI"/>
              </a:rPr>
              <a:t>kills the container</a:t>
            </a:r>
            <a:r>
              <a:rPr sz="2000" b="0" i="0">
                <a:solidFill>
                  <a:srgbClr val="1C252B"/>
                </a:solidFill>
                <a:latin typeface="Segoe UI"/>
              </a:rPr>
              <a:t>. Use it only for genuine deadlock.</a:t>
            </a:r>
          </a:p>
        </p:txBody>
      </p:sp>
      <p:sp>
        <p:nvSpPr>
          <p:cNvPr id="12" name="body-3"/>
          <p:cNvSpPr txBox="1"/>
          <p:nvPr/>
        </p:nvSpPr>
        <p:spPr>
          <a:xfrm>
            <a:off x="1060704" y="4369308"/>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classic outage: a liveness probe that hits an endpoint which also checks the database. The database slows, every replica fails liveness, Kubernetes kills all of them, they restart, reconnect in a thundering herd and fail again. A readiness probe there would have removed them from rotation and let them recover. </a:t>
            </a:r>
            <a:r>
              <a:rPr sz="2000" b="0" i="1">
                <a:solidFill>
                  <a:srgbClr val="1C252B"/>
                </a:solidFill>
                <a:latin typeface="Segoe UI"/>
              </a:rPr>
              <a:t>If in doubt, use readiness.</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BB41DBAD-BD91-4BF5-AEBB-C228841E92D4}"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Setting requests from the limit, or from a guess.</a:t>
            </a:r>
            <a:r>
              <a:rPr sz="1700" b="0" i="0">
                <a:solidFill>
                  <a:srgbClr val="1C252B"/>
                </a:solidFill>
                <a:latin typeface="Segoe UI"/>
              </a:rPr>
              <a:t> The scheduler reserves the request. Inflated requests waste the cluster exactly as oversized virtual machines waste a host.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Omitting requests entirely.</a:t>
            </a:r>
            <a:r>
              <a:rPr sz="1700" b="0" i="0">
                <a:solidFill>
                  <a:srgbClr val="1C252B"/>
                </a:solidFill>
                <a:latin typeface="Segoe UI"/>
              </a:rPr>
              <a:t> That is BestEffort, which is evicted first. Not setting them is a decision.</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a liveness probe where readiness is meant.</a:t>
            </a:r>
            <a:r>
              <a:rPr sz="1700" b="0" i="0">
                <a:solidFill>
                  <a:srgbClr val="1C252B"/>
                </a:solidFill>
                <a:latin typeface="Segoe UI"/>
              </a:rPr>
              <a:t> Liveness kills. The cascading restart above is the single most common self-inflicted Kubernetes outage.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Setting CPU limits aggressively.</a:t>
            </a:r>
            <a:r>
              <a:rPr sz="1700" b="0" i="0">
                <a:solidFill>
                  <a:srgbClr val="1C252B"/>
                </a:solidFill>
                <a:latin typeface="Segoe UI"/>
              </a:rPr>
              <a:t> CPU throttling is invisible in most dashboards and shows up as latency. Many teams set CPU requests and no CPU limit deliberately; check </a:t>
            </a:r>
            <a:r>
              <a:rPr sz="1600" b="0" i="0">
                <a:solidFill>
                  <a:srgbClr val="1F4E79"/>
                </a:solidFill>
                <a:latin typeface="Consolas"/>
              </a:rPr>
              <a:t>throttled_usec</a:t>
            </a:r>
            <a:r>
              <a:rPr sz="1700" b="0" i="0">
                <a:solidFill>
                  <a:srgbClr val="1C252B"/>
                </a:solidFill>
                <a:latin typeface="Segoe UI"/>
              </a:rPr>
              <a:t> before deciding.</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Putting unrelated containers in one Pod.</a:t>
            </a:r>
            <a:r>
              <a:rPr sz="1700" b="0" i="0">
                <a:solidFill>
                  <a:srgbClr val="1C252B"/>
                </a:solidFill>
                <a:latin typeface="Segoe UI"/>
              </a:rPr>
              <a:t> They now share a lifetime, a node and a scaling decision.</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a:t>
            </a:r>
            <a:r>
              <a:rPr sz="1600" b="1" i="0">
                <a:solidFill>
                  <a:srgbClr val="1F4E79"/>
                </a:solidFill>
                <a:latin typeface="Consolas"/>
              </a:rPr>
              <a:t>:latest</a:t>
            </a:r>
            <a:r>
              <a:rPr sz="1700" b="1" i="0">
                <a:solidFill>
                  <a:srgbClr val="1C252B"/>
                </a:solidFill>
                <a:latin typeface="Segoe UI"/>
              </a:rPr>
              <a:t> in a manifest.</a:t>
            </a:r>
            <a:r>
              <a:rPr sz="1700" b="0" i="0">
                <a:solidFill>
                  <a:srgbClr val="1C252B"/>
                </a:solidFill>
                <a:latin typeface="Segoe UI"/>
              </a:rPr>
              <a:t> The rollout is not reproducible and a rollback may not roll anything back (Chapter 9).</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165B3EE9-E055-4354-9789-EFD41CCB872F}"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Kubernetes as a hypervisor.</a:t>
            </a:r>
            <a:r>
              <a:rPr sz="1700" b="0" i="0">
                <a:solidFill>
                  <a:srgbClr val="1C252B"/>
                </a:solidFill>
                <a:latin typeface="Segoe UI"/>
              </a:rPr>
              <a:t> It schedules containers on a shared kernel. Every isolation caveat in Chapter 8 still applies, and Chapter 11 is what to do about it.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3650FA40-3454-49F0-8B38-D60CE27234A8}" type="slidenum">
              <a:rPr lang="en-GB" sz="1000">
                <a:solidFill>
                  <a:srgbClr val="8795A1"/>
                </a:solidFill>
                <a:latin typeface="Segoe UI"/>
              </a:rPr>
              <a:t>26</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Builds a real cluster with </a:t>
            </a:r>
            <a:r>
              <a:rPr sz="1900" b="0" i="0">
                <a:solidFill>
                  <a:srgbClr val="1F4E79"/>
                </a:solidFill>
                <a:latin typeface="Consolas"/>
              </a:rPr>
              <a:t>kind</a:t>
            </a:r>
            <a:r>
              <a:rPr sz="2000" b="0" i="0">
                <a:solidFill>
                  <a:srgbClr val="1C252B"/>
                </a:solidFill>
                <a:latin typeface="Segoe UI"/>
              </a:rPr>
              <a:t> — a real API server, scheduler and kubelet; only the node count is a pretence — and produces each failure mode above on purpose. Expect forty-five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 three-node cluster in containers on this machine.</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Declare a desired state and watch six loops reach it.</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Reconciliation: delete a Pod and time the replacement.</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A Service: a stable address in front of changing Pods.</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Make a Pod unschedulable, and read why.</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QoS classes, derived from what you declared.</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The cascading-restart outage, on purpose.</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Tear down.</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8: Midterm, then a cluster on one laptop</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68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5B33D0A1-8FE1-42EC-B587-410225337036}"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three-node cluster in containers on this machine.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0_kind.sh -- reconciliation, scheduling and probes, observed. set -euo pipefail # --- 1. A three-node cluster in containers on this machine. ------------ kind create cluster --name vss --config - &lt;&lt;'YAML' kind: Cluster apiVersion: kind.x-k8s.io/v1alpha4 nodes: - role: control-plane - role: worker - role: worker YAML kubectl get nodes -o wide # Each &quot;node&quot; is a container (Chapter 9) running a kubelet. Containers # all the way down."/>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#!/usr/bin/env bash</a:t>
            </a:r>
          </a:p>
          <a:p>
            <a:pPr>
              <a:lnSpc>
                <a:spcPct val="100000"/>
              </a:lnSpc>
              <a:spcAft>
                <a:spcPts val="0"/>
              </a:spcAft>
            </a:pPr>
            <a:r>
              <a:rPr sz="1400" i="1">
                <a:solidFill>
                  <a:srgbClr val="8795A1"/>
                </a:solidFill>
                <a:latin typeface="Consolas"/>
              </a:rPr>
              <a:t># ch10_kind.sh -- reconciliation, scheduling and probes, observed.</a:t>
            </a:r>
          </a:p>
          <a:p>
            <a:pPr>
              <a:lnSpc>
                <a:spcPct val="100000"/>
              </a:lnSpc>
              <a:spcAft>
                <a:spcPts val="0"/>
              </a:spcAft>
            </a:pPr>
            <a:r>
              <a:rPr sz="1400" i="0">
                <a:solidFill>
                  <a:srgbClr val="C39BD3"/>
                </a:solidFill>
                <a:latin typeface="Consolas"/>
              </a:rPr>
              <a:t>set</a:t>
            </a:r>
            <a:r>
              <a:rPr sz="1400" i="0">
                <a:solidFill>
                  <a:srgbClr val="E8EDF2"/>
                </a:solidFill>
                <a:latin typeface="Consolas"/>
              </a:rPr>
              <a:t> </a:t>
            </a:r>
            <a:r>
              <a:rPr sz="1400" i="0">
                <a:solidFill>
                  <a:srgbClr val="E8EDF2"/>
                </a:solidFill>
                <a:latin typeface="Consolas"/>
              </a:rPr>
              <a:t>-euo</a:t>
            </a:r>
            <a:r>
              <a:rPr sz="1400" i="0">
                <a:solidFill>
                  <a:srgbClr val="E8EDF2"/>
                </a:solidFill>
                <a:latin typeface="Consolas"/>
              </a:rPr>
              <a:t> </a:t>
            </a:r>
            <a:r>
              <a:rPr sz="1400" i="0">
                <a:solidFill>
                  <a:srgbClr val="E8EDF2"/>
                </a:solidFill>
                <a:latin typeface="Consolas"/>
              </a:rPr>
              <a:t>pipefail</a:t>
            </a:r>
          </a:p>
          <a:p>
            <a:pPr>
              <a:lnSpc>
                <a:spcPct val="100000"/>
              </a:lnSpc>
              <a:spcAft>
                <a:spcPts val="0"/>
              </a:spcAft>
            </a:pPr>
            <a:r>
              <a:rPr sz="1400">
                <a:latin typeface="Consolas"/>
              </a:rPr>
              <a:t> </a:t>
            </a:r>
          </a:p>
          <a:p>
            <a:pPr>
              <a:lnSpc>
                <a:spcPct val="100000"/>
              </a:lnSpc>
              <a:spcAft>
                <a:spcPts val="0"/>
              </a:spcAft>
            </a:pPr>
            <a:r>
              <a:rPr sz="1400" i="1">
                <a:solidFill>
                  <a:srgbClr val="8795A1"/>
                </a:solidFill>
                <a:latin typeface="Consolas"/>
              </a:rPr>
              <a:t># --- 1. A three-node cluster in containers on this machine. ------------</a:t>
            </a:r>
          </a:p>
          <a:p>
            <a:pPr>
              <a:lnSpc>
                <a:spcPct val="100000"/>
              </a:lnSpc>
              <a:spcAft>
                <a:spcPts val="0"/>
              </a:spcAft>
            </a:pPr>
            <a:r>
              <a:rPr sz="1400" i="0">
                <a:solidFill>
                  <a:srgbClr val="E8EDF2"/>
                </a:solidFill>
                <a:latin typeface="Consolas"/>
              </a:rPr>
              <a:t>kind</a:t>
            </a:r>
            <a:r>
              <a:rPr sz="1400" i="0">
                <a:solidFill>
                  <a:srgbClr val="E8EDF2"/>
                </a:solidFill>
                <a:latin typeface="Consolas"/>
              </a:rPr>
              <a:t> </a:t>
            </a:r>
            <a:r>
              <a:rPr sz="1400" i="0">
                <a:solidFill>
                  <a:srgbClr val="E8EDF2"/>
                </a:solidFill>
                <a:latin typeface="Consolas"/>
              </a:rPr>
              <a:t>create</a:t>
            </a:r>
            <a:r>
              <a:rPr sz="1400" i="0">
                <a:solidFill>
                  <a:srgbClr val="E8EDF2"/>
                </a:solidFill>
                <a:latin typeface="Consolas"/>
              </a:rPr>
              <a:t> </a:t>
            </a:r>
            <a:r>
              <a:rPr sz="1400" i="0">
                <a:solidFill>
                  <a:srgbClr val="E8EDF2"/>
                </a:solidFill>
                <a:latin typeface="Consolas"/>
              </a:rPr>
              <a:t>cluster</a:t>
            </a:r>
            <a:r>
              <a:rPr sz="1400" i="0">
                <a:solidFill>
                  <a:srgbClr val="E8EDF2"/>
                </a:solidFill>
                <a:latin typeface="Consolas"/>
              </a:rPr>
              <a:t> </a:t>
            </a:r>
            <a:r>
              <a:rPr sz="1400" i="0">
                <a:solidFill>
                  <a:srgbClr val="E8EDF2"/>
                </a:solidFill>
                <a:latin typeface="Consolas"/>
              </a:rPr>
              <a:t>--name</a:t>
            </a:r>
            <a:r>
              <a:rPr sz="1400" i="0">
                <a:solidFill>
                  <a:srgbClr val="E8EDF2"/>
                </a:solidFill>
                <a:latin typeface="Consolas"/>
              </a:rPr>
              <a:t> </a:t>
            </a:r>
            <a:r>
              <a:rPr sz="1400" i="0">
                <a:solidFill>
                  <a:srgbClr val="E8EDF2"/>
                </a:solidFill>
                <a:latin typeface="Consolas"/>
              </a:rPr>
              <a:t>vss</a:t>
            </a:r>
            <a:r>
              <a:rPr sz="1400" i="0">
                <a:solidFill>
                  <a:srgbClr val="E8EDF2"/>
                </a:solidFill>
                <a:latin typeface="Consolas"/>
              </a:rPr>
              <a:t> </a:t>
            </a:r>
            <a:r>
              <a:rPr sz="1400" i="0">
                <a:solidFill>
                  <a:srgbClr val="E8EDF2"/>
                </a:solidFill>
                <a:latin typeface="Consolas"/>
              </a:rPr>
              <a:t>--config</a:t>
            </a:r>
            <a:r>
              <a:rPr sz="1400" i="0">
                <a:solidFill>
                  <a:srgbClr val="E8EDF2"/>
                </a:solidFill>
                <a:latin typeface="Consolas"/>
              </a:rPr>
              <a:t> </a:t>
            </a:r>
            <a:r>
              <a:rPr sz="1400" i="0">
                <a:solidFill>
                  <a:srgbClr val="E8EDF2"/>
                </a:solidFill>
                <a:latin typeface="Consolas"/>
              </a:rPr>
              <a:t>-</a:t>
            </a:r>
            <a:r>
              <a:rPr sz="1400" i="0">
                <a:solidFill>
                  <a:srgbClr val="E8EDF2"/>
                </a:solidFill>
                <a:latin typeface="Consolas"/>
              </a:rPr>
              <a:t> </a:t>
            </a:r>
            <a:r>
              <a:rPr sz="1400" i="0">
                <a:solidFill>
                  <a:srgbClr val="7DCEA0"/>
                </a:solidFill>
                <a:latin typeface="Consolas"/>
              </a:rPr>
              <a:t>&lt;&lt;'YAML'</a:t>
            </a:r>
          </a:p>
          <a:p>
            <a:pPr>
              <a:lnSpc>
                <a:spcPct val="100000"/>
              </a:lnSpc>
              <a:spcAft>
                <a:spcPts val="0"/>
              </a:spcAft>
            </a:pPr>
            <a:r>
              <a:rPr sz="1400" i="0">
                <a:solidFill>
                  <a:srgbClr val="7DCEA0"/>
                </a:solidFill>
                <a:latin typeface="Consolas"/>
              </a:rPr>
              <a:t>kind: Cluster</a:t>
            </a:r>
          </a:p>
          <a:p>
            <a:pPr>
              <a:lnSpc>
                <a:spcPct val="100000"/>
              </a:lnSpc>
              <a:spcAft>
                <a:spcPts val="0"/>
              </a:spcAft>
            </a:pPr>
            <a:r>
              <a:rPr sz="1400" i="0">
                <a:solidFill>
                  <a:srgbClr val="7DCEA0"/>
                </a:solidFill>
                <a:latin typeface="Consolas"/>
              </a:rPr>
              <a:t>apiVersion: kind.x-k8s.io/v1alpha4</a:t>
            </a:r>
          </a:p>
          <a:p>
            <a:pPr>
              <a:lnSpc>
                <a:spcPct val="100000"/>
              </a:lnSpc>
              <a:spcAft>
                <a:spcPts val="0"/>
              </a:spcAft>
            </a:pPr>
            <a:r>
              <a:rPr sz="1400" i="0">
                <a:solidFill>
                  <a:srgbClr val="7DCEA0"/>
                </a:solidFill>
                <a:latin typeface="Consolas"/>
              </a:rPr>
              <a:t>nodes:</a:t>
            </a:r>
          </a:p>
          <a:p>
            <a:pPr>
              <a:lnSpc>
                <a:spcPct val="100000"/>
              </a:lnSpc>
              <a:spcAft>
                <a:spcPts val="0"/>
              </a:spcAft>
            </a:pPr>
            <a:r>
              <a:rPr sz="1400" i="0">
                <a:solidFill>
                  <a:srgbClr val="7DCEA0"/>
                </a:solidFill>
                <a:latin typeface="Consolas"/>
              </a:rPr>
              <a:t>  - role: control-plane</a:t>
            </a:r>
          </a:p>
          <a:p>
            <a:pPr>
              <a:lnSpc>
                <a:spcPct val="100000"/>
              </a:lnSpc>
              <a:spcAft>
                <a:spcPts val="0"/>
              </a:spcAft>
            </a:pPr>
            <a:r>
              <a:rPr sz="1400" i="0">
                <a:solidFill>
                  <a:srgbClr val="7DCEA0"/>
                </a:solidFill>
                <a:latin typeface="Consolas"/>
              </a:rPr>
              <a:t>  - role: worker</a:t>
            </a:r>
          </a:p>
          <a:p>
            <a:pPr>
              <a:lnSpc>
                <a:spcPct val="100000"/>
              </a:lnSpc>
              <a:spcAft>
                <a:spcPts val="0"/>
              </a:spcAft>
            </a:pPr>
            <a:r>
              <a:rPr sz="1400" i="0">
                <a:solidFill>
                  <a:srgbClr val="7DCEA0"/>
                </a:solidFill>
                <a:latin typeface="Consolas"/>
              </a:rPr>
              <a:t>  - role: worker</a:t>
            </a:r>
          </a:p>
          <a:p>
            <a:pPr>
              <a:lnSpc>
                <a:spcPct val="100000"/>
              </a:lnSpc>
              <a:spcAft>
                <a:spcPts val="0"/>
              </a:spcAft>
            </a:pPr>
            <a:r>
              <a:rPr sz="1400" i="0">
                <a:solidFill>
                  <a:srgbClr val="7DCEA0"/>
                </a:solidFill>
                <a:latin typeface="Consolas"/>
              </a:rPr>
              <a:t>YAML</a:t>
            </a:r>
          </a:p>
          <a:p>
            <a:pPr>
              <a:lnSpc>
                <a:spcPct val="100000"/>
              </a:lnSpc>
              <a:spcAft>
                <a:spcPts val="0"/>
              </a:spcAft>
            </a:pPr>
            <a:r>
              <a:rPr sz="1400" i="0">
                <a:solidFill>
                  <a:srgbClr val="E8EDF2"/>
                </a:solidFill>
                <a:latin typeface="Consolas"/>
              </a:rPr>
              <a:t>kubectl</a:t>
            </a:r>
            <a:r>
              <a:rPr sz="1400" i="0">
                <a:solidFill>
                  <a:srgbClr val="E8EDF2"/>
                </a:solidFill>
                <a:latin typeface="Consolas"/>
              </a:rPr>
              <a:t> </a:t>
            </a:r>
            <a:r>
              <a:rPr sz="1400" i="0">
                <a:solidFill>
                  <a:srgbClr val="E8EDF2"/>
                </a:solidFill>
                <a:latin typeface="Consolas"/>
              </a:rPr>
              <a:t>get</a:t>
            </a:r>
            <a:r>
              <a:rPr sz="1400" i="0">
                <a:solidFill>
                  <a:srgbClr val="E8EDF2"/>
                </a:solidFill>
                <a:latin typeface="Consolas"/>
              </a:rPr>
              <a:t> </a:t>
            </a:r>
            <a:r>
              <a:rPr sz="1400" i="0">
                <a:solidFill>
                  <a:srgbClr val="E8EDF2"/>
                </a:solidFill>
                <a:latin typeface="Consolas"/>
              </a:rPr>
              <a:t>nodes</a:t>
            </a:r>
            <a:r>
              <a:rPr sz="1400" i="0">
                <a:solidFill>
                  <a:srgbClr val="E8EDF2"/>
                </a:solidFill>
                <a:latin typeface="Consolas"/>
              </a:rPr>
              <a:t> </a:t>
            </a:r>
            <a:r>
              <a:rPr sz="1400" i="0">
                <a:solidFill>
                  <a:srgbClr val="E8EDF2"/>
                </a:solidFill>
                <a:latin typeface="Consolas"/>
              </a:rPr>
              <a:t>-o</a:t>
            </a:r>
            <a:r>
              <a:rPr sz="1400" i="0">
                <a:solidFill>
                  <a:srgbClr val="E8EDF2"/>
                </a:solidFill>
                <a:latin typeface="Consolas"/>
              </a:rPr>
              <a:t> </a:t>
            </a:r>
            <a:r>
              <a:rPr sz="1400" i="0">
                <a:solidFill>
                  <a:srgbClr val="E8EDF2"/>
                </a:solidFill>
                <a:latin typeface="Consolas"/>
              </a:rPr>
              <a:t>wide</a:t>
            </a:r>
          </a:p>
          <a:p>
            <a:pPr>
              <a:lnSpc>
                <a:spcPct val="100000"/>
              </a:lnSpc>
              <a:spcAft>
                <a:spcPts val="0"/>
              </a:spcAft>
            </a:pPr>
            <a:r>
              <a:rPr sz="1400" i="1">
                <a:solidFill>
                  <a:srgbClr val="8795A1"/>
                </a:solidFill>
                <a:latin typeface="Consolas"/>
              </a:rPr>
              <a:t># Each "node" is a container (Chapter 9) running a kubelet. Containers</a:t>
            </a:r>
          </a:p>
          <a:p>
            <a:pPr>
              <a:lnSpc>
                <a:spcPct val="100000"/>
              </a:lnSpc>
              <a:spcAft>
                <a:spcPts val="0"/>
              </a:spcAft>
            </a:pPr>
            <a:r>
              <a:rPr sz="1400" i="1">
                <a:solidFill>
                  <a:srgbClr val="8795A1"/>
                </a:solidFill>
                <a:latin typeface="Consolas"/>
              </a:rPr>
              <a:t># all the way down.</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AFEB7396-8DA1-467B-9D60-733E9E108066}"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Declare a desired state and watch six loops reach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Declare a desired state and watch six loops reach it. ---------- kubectl create deployment web --image=nginx:1.27 --replicas=3 kubectl get deploy,rs,pods -o wide kubectl get events --sort-by=.lastTimestamp | tail -12 # Read the events bottom-up: scheduled, pulling, created, started."/>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Declare a desired state and watch six loops reach it. ----------</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create</a:t>
            </a:r>
            <a:r>
              <a:rPr sz="1800" i="0">
                <a:solidFill>
                  <a:srgbClr val="E8EDF2"/>
                </a:solidFill>
                <a:latin typeface="Consolas"/>
              </a:rPr>
              <a:t> </a:t>
            </a:r>
            <a:r>
              <a:rPr sz="1800" i="0">
                <a:solidFill>
                  <a:srgbClr val="E8EDF2"/>
                </a:solidFill>
                <a:latin typeface="Consolas"/>
              </a:rPr>
              <a:t>deployment</a:t>
            </a:r>
            <a:r>
              <a:rPr sz="1800" i="0">
                <a:solidFill>
                  <a:srgbClr val="E8EDF2"/>
                </a:solidFill>
                <a:latin typeface="Consolas"/>
              </a:rPr>
              <a:t> </a:t>
            </a:r>
            <a:r>
              <a:rPr sz="1800" i="0">
                <a:solidFill>
                  <a:srgbClr val="E8EDF2"/>
                </a:solidFill>
                <a:latin typeface="Consolas"/>
              </a:rPr>
              <a:t>web</a:t>
            </a:r>
            <a:r>
              <a:rPr sz="1800" i="0">
                <a:solidFill>
                  <a:srgbClr val="E8EDF2"/>
                </a:solidFill>
                <a:latin typeface="Consolas"/>
              </a:rPr>
              <a:t> </a:t>
            </a:r>
            <a:r>
              <a:rPr sz="1800" i="0">
                <a:solidFill>
                  <a:srgbClr val="E8EDF2"/>
                </a:solidFill>
                <a:latin typeface="Consolas"/>
              </a:rPr>
              <a:t>--image</a:t>
            </a:r>
            <a:r>
              <a:rPr sz="1800" i="0">
                <a:solidFill>
                  <a:srgbClr val="AEB6BF"/>
                </a:solidFill>
                <a:latin typeface="Consolas"/>
              </a:rPr>
              <a:t>=</a:t>
            </a:r>
            <a:r>
              <a:rPr sz="1800" i="0">
                <a:solidFill>
                  <a:srgbClr val="E8EDF2"/>
                </a:solidFill>
                <a:latin typeface="Consolas"/>
              </a:rPr>
              <a:t>nginx:1.27</a:t>
            </a:r>
            <a:r>
              <a:rPr sz="1800" i="0">
                <a:solidFill>
                  <a:srgbClr val="E8EDF2"/>
                </a:solidFill>
                <a:latin typeface="Consolas"/>
              </a:rPr>
              <a:t> </a:t>
            </a:r>
            <a:r>
              <a:rPr sz="1800" i="0">
                <a:solidFill>
                  <a:srgbClr val="E8EDF2"/>
                </a:solidFill>
                <a:latin typeface="Consolas"/>
              </a:rPr>
              <a:t>--replicas</a:t>
            </a:r>
            <a:r>
              <a:rPr sz="1800" i="0">
                <a:solidFill>
                  <a:srgbClr val="AEB6BF"/>
                </a:solidFill>
                <a:latin typeface="Consolas"/>
              </a:rPr>
              <a:t>=</a:t>
            </a:r>
            <a:r>
              <a:rPr sz="1800" i="0">
                <a:solidFill>
                  <a:srgbClr val="F7DC6F"/>
                </a:solidFill>
                <a:latin typeface="Consolas"/>
              </a:rPr>
              <a:t>3</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deploy,rs,pods</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wide</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events</a:t>
            </a:r>
            <a:r>
              <a:rPr sz="1800" i="0">
                <a:solidFill>
                  <a:srgbClr val="E8EDF2"/>
                </a:solidFill>
                <a:latin typeface="Consolas"/>
              </a:rPr>
              <a:t> </a:t>
            </a:r>
            <a:r>
              <a:rPr sz="1800" i="0">
                <a:solidFill>
                  <a:srgbClr val="E8EDF2"/>
                </a:solidFill>
                <a:latin typeface="Consolas"/>
              </a:rPr>
              <a:t>--sort-by</a:t>
            </a:r>
            <a:r>
              <a:rPr sz="1800" i="0">
                <a:solidFill>
                  <a:srgbClr val="AEB6BF"/>
                </a:solidFill>
                <a:latin typeface="Consolas"/>
              </a:rPr>
              <a:t>=</a:t>
            </a:r>
            <a:r>
              <a:rPr sz="1800" i="0">
                <a:solidFill>
                  <a:srgbClr val="E8EDF2"/>
                </a:solidFill>
                <a:latin typeface="Consolas"/>
              </a:rPr>
              <a:t>.lastTimestamp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-12</a:t>
            </a:r>
          </a:p>
          <a:p>
            <a:pPr>
              <a:lnSpc>
                <a:spcPct val="100000"/>
              </a:lnSpc>
              <a:spcAft>
                <a:spcPts val="0"/>
              </a:spcAft>
            </a:pPr>
            <a:r>
              <a:rPr sz="1800" i="1">
                <a:solidFill>
                  <a:srgbClr val="8795A1"/>
                </a:solidFill>
                <a:latin typeface="Consolas"/>
              </a:rPr>
              <a:t># Read the events bottom-up: scheduled, pulling, created, started.</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A068FC74-AFE3-4BB2-A818-1DAF1527371C}"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Reconciliation: delete a Pod and time the replacement.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Reconciliation: delete a Pod and time the replacement. --------- kubectl get pods -l app=web kubectl delete pod -l app=web --field-selector status.phase=Running \ --wait=false | head -1 sleep 3 ; kubectl get pods -l app=web # Nothing &quot;handled&quot; the deletion. Two is not three, so a loop acted."/>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Reconciliation: delete a Pod and time the replacement. ---------</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pods</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web</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delete</a:t>
            </a:r>
            <a:r>
              <a:rPr sz="1800" i="0">
                <a:solidFill>
                  <a:srgbClr val="E8EDF2"/>
                </a:solidFill>
                <a:latin typeface="Consolas"/>
              </a:rPr>
              <a:t> </a:t>
            </a:r>
            <a:r>
              <a:rPr sz="1800" i="0">
                <a:solidFill>
                  <a:srgbClr val="E8EDF2"/>
                </a:solidFill>
                <a:latin typeface="Consolas"/>
              </a:rPr>
              <a:t>pod</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web</a:t>
            </a:r>
            <a:r>
              <a:rPr sz="1800" i="0">
                <a:solidFill>
                  <a:srgbClr val="E8EDF2"/>
                </a:solidFill>
                <a:latin typeface="Consolas"/>
              </a:rPr>
              <a:t> </a:t>
            </a:r>
            <a:r>
              <a:rPr sz="1800" i="0">
                <a:solidFill>
                  <a:srgbClr val="E8EDF2"/>
                </a:solidFill>
                <a:latin typeface="Consolas"/>
              </a:rPr>
              <a:t>--field-selector</a:t>
            </a:r>
            <a:r>
              <a:rPr sz="1800" i="0">
                <a:solidFill>
                  <a:srgbClr val="E8EDF2"/>
                </a:solidFill>
                <a:latin typeface="Consolas"/>
              </a:rPr>
              <a:t> </a:t>
            </a:r>
            <a:r>
              <a:rPr sz="1800" i="0">
                <a:solidFill>
                  <a:srgbClr val="E8EDF2"/>
                </a:solidFill>
                <a:latin typeface="Consolas"/>
              </a:rPr>
              <a:t>status.phase</a:t>
            </a:r>
            <a:r>
              <a:rPr sz="1800" i="0">
                <a:solidFill>
                  <a:srgbClr val="AEB6BF"/>
                </a:solidFill>
                <a:latin typeface="Consolas"/>
              </a:rPr>
              <a:t>=</a:t>
            </a:r>
            <a:r>
              <a:rPr sz="1800" i="0">
                <a:solidFill>
                  <a:srgbClr val="E8EDF2"/>
                </a:solidFill>
                <a:latin typeface="Consolas"/>
              </a:rPr>
              <a:t>Running</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--wait</a:t>
            </a:r>
            <a:r>
              <a:rPr sz="1800" i="0">
                <a:solidFill>
                  <a:srgbClr val="AEB6BF"/>
                </a:solidFill>
                <a:latin typeface="Consolas"/>
              </a:rPr>
              <a:t>=</a:t>
            </a:r>
            <a:r>
              <a:rPr sz="1800" i="0">
                <a:solidFill>
                  <a:srgbClr val="C39BD3"/>
                </a:solidFill>
                <a:latin typeface="Consolas"/>
              </a:rPr>
              <a:t>false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-1</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pods</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web</a:t>
            </a:r>
          </a:p>
          <a:p>
            <a:pPr>
              <a:lnSpc>
                <a:spcPct val="100000"/>
              </a:lnSpc>
              <a:spcAft>
                <a:spcPts val="0"/>
              </a:spcAft>
            </a:pPr>
            <a:r>
              <a:rPr sz="1800" i="1">
                <a:solidFill>
                  <a:srgbClr val="8795A1"/>
                </a:solidFill>
                <a:latin typeface="Consolas"/>
              </a:rPr>
              <a:t># Nothing "handled" the deletion. Two is not three, so a loop acted.</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F6CD7600-4969-4BEA-A310-44438F97F801}"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Service: a stable address in front of changing Pods.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A Service: a stable address in front of changing Pods. -------- kubectl expose deployment web --port=80 --target-port=80 kubectl get svc web kubectl get endpoints web # the Pod IPs, maintained by a controller kubectl delete pod -l app=web --wait=false | head -1 sleep 5 ; kubectl get endpoints web # different Pod IPs, same Service IP"/>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A Service: a stable address in front of changing Pods. --------</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expose</a:t>
            </a:r>
            <a:r>
              <a:rPr sz="1800" i="0">
                <a:solidFill>
                  <a:srgbClr val="E8EDF2"/>
                </a:solidFill>
                <a:latin typeface="Consolas"/>
              </a:rPr>
              <a:t> </a:t>
            </a:r>
            <a:r>
              <a:rPr sz="1800" i="0">
                <a:solidFill>
                  <a:srgbClr val="E8EDF2"/>
                </a:solidFill>
                <a:latin typeface="Consolas"/>
              </a:rPr>
              <a:t>deployment</a:t>
            </a:r>
            <a:r>
              <a:rPr sz="1800" i="0">
                <a:solidFill>
                  <a:srgbClr val="E8EDF2"/>
                </a:solidFill>
                <a:latin typeface="Consolas"/>
              </a:rPr>
              <a:t> </a:t>
            </a:r>
            <a:r>
              <a:rPr sz="1800" i="0">
                <a:solidFill>
                  <a:srgbClr val="E8EDF2"/>
                </a:solidFill>
                <a:latin typeface="Consolas"/>
              </a:rPr>
              <a:t>web</a:t>
            </a:r>
            <a:r>
              <a:rPr sz="1800" i="0">
                <a:solidFill>
                  <a:srgbClr val="E8EDF2"/>
                </a:solidFill>
                <a:latin typeface="Consolas"/>
              </a:rPr>
              <a:t> </a:t>
            </a:r>
            <a:r>
              <a:rPr sz="1800" i="0">
                <a:solidFill>
                  <a:srgbClr val="E8EDF2"/>
                </a:solidFill>
                <a:latin typeface="Consolas"/>
              </a:rPr>
              <a:t>--port</a:t>
            </a:r>
            <a:r>
              <a:rPr sz="1800" i="0">
                <a:solidFill>
                  <a:srgbClr val="AEB6BF"/>
                </a:solidFill>
                <a:latin typeface="Consolas"/>
              </a:rPr>
              <a:t>=</a:t>
            </a:r>
            <a:r>
              <a:rPr sz="1800" i="0">
                <a:solidFill>
                  <a:srgbClr val="F7DC6F"/>
                </a:solidFill>
                <a:latin typeface="Consolas"/>
              </a:rPr>
              <a:t>80</a:t>
            </a:r>
            <a:r>
              <a:rPr sz="1800" i="0">
                <a:solidFill>
                  <a:srgbClr val="E8EDF2"/>
                </a:solidFill>
                <a:latin typeface="Consolas"/>
              </a:rPr>
              <a:t> </a:t>
            </a:r>
            <a:r>
              <a:rPr sz="1800" i="0">
                <a:solidFill>
                  <a:srgbClr val="E8EDF2"/>
                </a:solidFill>
                <a:latin typeface="Consolas"/>
              </a:rPr>
              <a:t>--target-port</a:t>
            </a:r>
            <a:r>
              <a:rPr sz="1800" i="0">
                <a:solidFill>
                  <a:srgbClr val="AEB6BF"/>
                </a:solidFill>
                <a:latin typeface="Consolas"/>
              </a:rPr>
              <a:t>=</a:t>
            </a:r>
            <a:r>
              <a:rPr sz="1800" i="0">
                <a:solidFill>
                  <a:srgbClr val="F7DC6F"/>
                </a:solidFill>
                <a:latin typeface="Consolas"/>
              </a:rPr>
              <a:t>80</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svc</a:t>
            </a:r>
            <a:r>
              <a:rPr sz="1800" i="0">
                <a:solidFill>
                  <a:srgbClr val="E8EDF2"/>
                </a:solidFill>
                <a:latin typeface="Consolas"/>
              </a:rPr>
              <a:t> </a:t>
            </a:r>
            <a:r>
              <a:rPr sz="1800" i="0">
                <a:solidFill>
                  <a:srgbClr val="E8EDF2"/>
                </a:solidFill>
                <a:latin typeface="Consolas"/>
              </a:rPr>
              <a:t>web</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endpoints</a:t>
            </a:r>
            <a:r>
              <a:rPr sz="1800" i="0">
                <a:solidFill>
                  <a:srgbClr val="E8EDF2"/>
                </a:solidFill>
                <a:latin typeface="Consolas"/>
              </a:rPr>
              <a:t> </a:t>
            </a:r>
            <a:r>
              <a:rPr sz="1800" i="0">
                <a:solidFill>
                  <a:srgbClr val="E8EDF2"/>
                </a:solidFill>
                <a:latin typeface="Consolas"/>
              </a:rPr>
              <a:t>web</a:t>
            </a:r>
            <a:r>
              <a:rPr sz="1800" i="0">
                <a:solidFill>
                  <a:srgbClr val="E8EDF2"/>
                </a:solidFill>
                <a:latin typeface="Consolas"/>
              </a:rPr>
              <a:t>          </a:t>
            </a:r>
            <a:r>
              <a:rPr sz="1800" i="1">
                <a:solidFill>
                  <a:srgbClr val="8795A1"/>
                </a:solidFill>
                <a:latin typeface="Consolas"/>
              </a:rPr>
              <a:t># the Pod IPs, maintained by a controller</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delete</a:t>
            </a:r>
            <a:r>
              <a:rPr sz="1800" i="0">
                <a:solidFill>
                  <a:srgbClr val="E8EDF2"/>
                </a:solidFill>
                <a:latin typeface="Consolas"/>
              </a:rPr>
              <a:t> </a:t>
            </a:r>
            <a:r>
              <a:rPr sz="1800" i="0">
                <a:solidFill>
                  <a:srgbClr val="E8EDF2"/>
                </a:solidFill>
                <a:latin typeface="Consolas"/>
              </a:rPr>
              <a:t>pod</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web</a:t>
            </a:r>
            <a:r>
              <a:rPr sz="1800" i="0">
                <a:solidFill>
                  <a:srgbClr val="E8EDF2"/>
                </a:solidFill>
                <a:latin typeface="Consolas"/>
              </a:rPr>
              <a:t> </a:t>
            </a:r>
            <a:r>
              <a:rPr sz="1800" i="0">
                <a:solidFill>
                  <a:srgbClr val="E8EDF2"/>
                </a:solidFill>
                <a:latin typeface="Consolas"/>
              </a:rPr>
              <a:t>--wait</a:t>
            </a:r>
            <a:r>
              <a:rPr sz="1800" i="0">
                <a:solidFill>
                  <a:srgbClr val="AEB6BF"/>
                </a:solidFill>
                <a:latin typeface="Consolas"/>
              </a:rPr>
              <a:t>=</a:t>
            </a:r>
            <a:r>
              <a:rPr sz="1800" i="0">
                <a:solidFill>
                  <a:srgbClr val="C39BD3"/>
                </a:solidFill>
                <a:latin typeface="Consolas"/>
              </a:rPr>
              <a:t>false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-1</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5</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endpoints</a:t>
            </a:r>
            <a:r>
              <a:rPr sz="1800" i="0">
                <a:solidFill>
                  <a:srgbClr val="E8EDF2"/>
                </a:solidFill>
                <a:latin typeface="Consolas"/>
              </a:rPr>
              <a:t> </a:t>
            </a:r>
            <a:r>
              <a:rPr sz="1800" i="0">
                <a:solidFill>
                  <a:srgbClr val="E8EDF2"/>
                </a:solidFill>
                <a:latin typeface="Consolas"/>
              </a:rPr>
              <a:t>web</a:t>
            </a:r>
            <a:r>
              <a:rPr sz="1800" i="0">
                <a:solidFill>
                  <a:srgbClr val="E8EDF2"/>
                </a:solidFill>
                <a:latin typeface="Consolas"/>
              </a:rPr>
              <a:t>   </a:t>
            </a:r>
            <a:r>
              <a:rPr sz="1800" i="1">
                <a:solidFill>
                  <a:srgbClr val="8795A1"/>
                </a:solidFill>
                <a:latin typeface="Consolas"/>
              </a:rPr>
              <a:t># different Pod IPs, same Service IP</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37FAA02B-3086-428C-B9BF-08964D5CC897}"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Make a Pod unschedulable, and read why.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Make a Pod unschedulable, and read why. ----------------------- kubectl create deployment big --image=nginx:1.27 kubectl set resources deployment big --requests=cpu=8,memory=32Gi kubectl get pods -l app=big kubectl describe pod -l app=big | sed -n '/Events/,$p' | tail -6 # &quot;0/3 nodes are available: Insufficient cpu&quot; -- the worked example, # reported by the scheduler itself."/>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Make a Pod unschedulable, and read why. -----------------------</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create</a:t>
            </a:r>
            <a:r>
              <a:rPr sz="1900" i="0">
                <a:solidFill>
                  <a:srgbClr val="E8EDF2"/>
                </a:solidFill>
                <a:latin typeface="Consolas"/>
              </a:rPr>
              <a:t> </a:t>
            </a:r>
            <a:r>
              <a:rPr sz="1900" i="0">
                <a:solidFill>
                  <a:srgbClr val="E8EDF2"/>
                </a:solidFill>
                <a:latin typeface="Consolas"/>
              </a:rPr>
              <a:t>deployment</a:t>
            </a:r>
            <a:r>
              <a:rPr sz="1900" i="0">
                <a:solidFill>
                  <a:srgbClr val="E8EDF2"/>
                </a:solidFill>
                <a:latin typeface="Consolas"/>
              </a:rPr>
              <a:t> </a:t>
            </a:r>
            <a:r>
              <a:rPr sz="1900" i="0">
                <a:solidFill>
                  <a:srgbClr val="E8EDF2"/>
                </a:solidFill>
                <a:latin typeface="Consolas"/>
              </a:rPr>
              <a:t>big</a:t>
            </a:r>
            <a:r>
              <a:rPr sz="1900" i="0">
                <a:solidFill>
                  <a:srgbClr val="E8EDF2"/>
                </a:solidFill>
                <a:latin typeface="Consolas"/>
              </a:rPr>
              <a:t> </a:t>
            </a:r>
            <a:r>
              <a:rPr sz="1900" i="0">
                <a:solidFill>
                  <a:srgbClr val="E8EDF2"/>
                </a:solidFill>
                <a:latin typeface="Consolas"/>
              </a:rPr>
              <a:t>--image</a:t>
            </a:r>
            <a:r>
              <a:rPr sz="1900" i="0">
                <a:solidFill>
                  <a:srgbClr val="AEB6BF"/>
                </a:solidFill>
                <a:latin typeface="Consolas"/>
              </a:rPr>
              <a:t>=</a:t>
            </a:r>
            <a:r>
              <a:rPr sz="1900" i="0">
                <a:solidFill>
                  <a:srgbClr val="E8EDF2"/>
                </a:solidFill>
                <a:latin typeface="Consolas"/>
              </a:rPr>
              <a:t>nginx:1.27</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resources</a:t>
            </a:r>
            <a:r>
              <a:rPr sz="1900" i="0">
                <a:solidFill>
                  <a:srgbClr val="E8EDF2"/>
                </a:solidFill>
                <a:latin typeface="Consolas"/>
              </a:rPr>
              <a:t> </a:t>
            </a:r>
            <a:r>
              <a:rPr sz="1900" i="0">
                <a:solidFill>
                  <a:srgbClr val="E8EDF2"/>
                </a:solidFill>
                <a:latin typeface="Consolas"/>
              </a:rPr>
              <a:t>deployment</a:t>
            </a:r>
            <a:r>
              <a:rPr sz="1900" i="0">
                <a:solidFill>
                  <a:srgbClr val="E8EDF2"/>
                </a:solidFill>
                <a:latin typeface="Consolas"/>
              </a:rPr>
              <a:t> </a:t>
            </a:r>
            <a:r>
              <a:rPr sz="1900" i="0">
                <a:solidFill>
                  <a:srgbClr val="E8EDF2"/>
                </a:solidFill>
                <a:latin typeface="Consolas"/>
              </a:rPr>
              <a:t>big</a:t>
            </a:r>
            <a:r>
              <a:rPr sz="1900" i="0">
                <a:solidFill>
                  <a:srgbClr val="E8EDF2"/>
                </a:solidFill>
                <a:latin typeface="Consolas"/>
              </a:rPr>
              <a:t> </a:t>
            </a:r>
            <a:r>
              <a:rPr sz="1900" i="0">
                <a:solidFill>
                  <a:srgbClr val="E8EDF2"/>
                </a:solidFill>
                <a:latin typeface="Consolas"/>
              </a:rPr>
              <a:t>--requests</a:t>
            </a:r>
            <a:r>
              <a:rPr sz="1900" i="0">
                <a:solidFill>
                  <a:srgbClr val="AEB6BF"/>
                </a:solidFill>
                <a:latin typeface="Consolas"/>
              </a:rPr>
              <a:t>=</a:t>
            </a:r>
            <a:r>
              <a:rPr sz="1900" i="0">
                <a:solidFill>
                  <a:srgbClr val="E8EDF2"/>
                </a:solidFill>
                <a:latin typeface="Consolas"/>
              </a:rPr>
              <a:t>cpu</a:t>
            </a:r>
            <a:r>
              <a:rPr sz="1900" i="0">
                <a:solidFill>
                  <a:srgbClr val="AEB6BF"/>
                </a:solidFill>
                <a:latin typeface="Consolas"/>
              </a:rPr>
              <a:t>=</a:t>
            </a:r>
            <a:r>
              <a:rPr sz="1900" i="0">
                <a:solidFill>
                  <a:srgbClr val="F7DC6F"/>
                </a:solidFill>
                <a:latin typeface="Consolas"/>
              </a:rPr>
              <a:t>8</a:t>
            </a:r>
            <a:r>
              <a:rPr sz="1900" i="0">
                <a:solidFill>
                  <a:srgbClr val="E8EDF2"/>
                </a:solidFill>
                <a:latin typeface="Consolas"/>
              </a:rPr>
              <a:t>,memory</a:t>
            </a:r>
            <a:r>
              <a:rPr sz="1900" i="0">
                <a:solidFill>
                  <a:srgbClr val="AEB6BF"/>
                </a:solidFill>
                <a:latin typeface="Consolas"/>
              </a:rPr>
              <a:t>=</a:t>
            </a:r>
            <a:r>
              <a:rPr sz="1900" i="0">
                <a:solidFill>
                  <a:srgbClr val="E8EDF2"/>
                </a:solidFill>
                <a:latin typeface="Consolas"/>
              </a:rPr>
              <a:t>32Gi</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get</a:t>
            </a:r>
            <a:r>
              <a:rPr sz="1900" i="0">
                <a:solidFill>
                  <a:srgbClr val="E8EDF2"/>
                </a:solidFill>
                <a:latin typeface="Consolas"/>
              </a:rPr>
              <a:t> </a:t>
            </a:r>
            <a:r>
              <a:rPr sz="1900" i="0">
                <a:solidFill>
                  <a:srgbClr val="E8EDF2"/>
                </a:solidFill>
                <a:latin typeface="Consolas"/>
              </a:rPr>
              <a:t>pods</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E8EDF2"/>
                </a:solidFill>
                <a:latin typeface="Consolas"/>
              </a:rPr>
              <a:t>app</a:t>
            </a:r>
            <a:r>
              <a:rPr sz="1900" i="0">
                <a:solidFill>
                  <a:srgbClr val="AEB6BF"/>
                </a:solidFill>
                <a:latin typeface="Consolas"/>
              </a:rPr>
              <a:t>=</a:t>
            </a:r>
            <a:r>
              <a:rPr sz="1900" i="0">
                <a:solidFill>
                  <a:srgbClr val="E8EDF2"/>
                </a:solidFill>
                <a:latin typeface="Consolas"/>
              </a:rPr>
              <a:t>big</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describe</a:t>
            </a:r>
            <a:r>
              <a:rPr sz="1900" i="0">
                <a:solidFill>
                  <a:srgbClr val="E8EDF2"/>
                </a:solidFill>
                <a:latin typeface="Consolas"/>
              </a:rPr>
              <a:t> </a:t>
            </a:r>
            <a:r>
              <a:rPr sz="1900" i="0">
                <a:solidFill>
                  <a:srgbClr val="E8EDF2"/>
                </a:solidFill>
                <a:latin typeface="Consolas"/>
              </a:rPr>
              <a:t>pod</a:t>
            </a:r>
            <a:r>
              <a:rPr sz="1900" i="0">
                <a:solidFill>
                  <a:srgbClr val="E8EDF2"/>
                </a:solidFill>
                <a:latin typeface="Consolas"/>
              </a:rPr>
              <a:t> </a:t>
            </a:r>
            <a:r>
              <a:rPr sz="1900" i="0">
                <a:solidFill>
                  <a:srgbClr val="E8EDF2"/>
                </a:solidFill>
                <a:latin typeface="Consolas"/>
              </a:rPr>
              <a:t>-l</a:t>
            </a:r>
            <a:r>
              <a:rPr sz="1900" i="0">
                <a:solidFill>
                  <a:srgbClr val="E8EDF2"/>
                </a:solidFill>
                <a:latin typeface="Consolas"/>
              </a:rPr>
              <a:t> </a:t>
            </a:r>
            <a:r>
              <a:rPr sz="1900" i="0">
                <a:solidFill>
                  <a:srgbClr val="E8EDF2"/>
                </a:solidFill>
                <a:latin typeface="Consolas"/>
              </a:rPr>
              <a:t>app</a:t>
            </a:r>
            <a:r>
              <a:rPr sz="1900" i="0">
                <a:solidFill>
                  <a:srgbClr val="AEB6BF"/>
                </a:solidFill>
                <a:latin typeface="Consolas"/>
              </a:rPr>
              <a:t>=</a:t>
            </a:r>
            <a:r>
              <a:rPr sz="1900" i="0">
                <a:solidFill>
                  <a:srgbClr val="E8EDF2"/>
                </a:solidFill>
                <a:latin typeface="Consolas"/>
              </a:rPr>
              <a:t>big</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sed</a:t>
            </a:r>
            <a:r>
              <a:rPr sz="1900" i="0">
                <a:solidFill>
                  <a:srgbClr val="E8EDF2"/>
                </a:solidFill>
                <a:latin typeface="Consolas"/>
              </a:rPr>
              <a:t> </a:t>
            </a:r>
            <a:r>
              <a:rPr sz="1900" i="0">
                <a:solidFill>
                  <a:srgbClr val="E8EDF2"/>
                </a:solidFill>
                <a:latin typeface="Consolas"/>
              </a:rPr>
              <a:t>-n</a:t>
            </a:r>
            <a:r>
              <a:rPr sz="1900" i="0">
                <a:solidFill>
                  <a:srgbClr val="E8EDF2"/>
                </a:solidFill>
                <a:latin typeface="Consolas"/>
              </a:rPr>
              <a:t> </a:t>
            </a:r>
            <a:r>
              <a:rPr sz="1900" i="0">
                <a:solidFill>
                  <a:srgbClr val="7DCEA0"/>
                </a:solidFill>
                <a:latin typeface="Consolas"/>
              </a:rPr>
              <a:t>'/Events/,$p'</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-6</a:t>
            </a:r>
          </a:p>
          <a:p>
            <a:pPr>
              <a:lnSpc>
                <a:spcPct val="100000"/>
              </a:lnSpc>
              <a:spcAft>
                <a:spcPts val="0"/>
              </a:spcAft>
            </a:pPr>
            <a:r>
              <a:rPr sz="1900" i="1">
                <a:solidFill>
                  <a:srgbClr val="8795A1"/>
                </a:solidFill>
                <a:latin typeface="Consolas"/>
              </a:rPr>
              <a:t># "0/3 nodes are available: Insufficient cpu" -- the worked example,</a:t>
            </a:r>
          </a:p>
          <a:p>
            <a:pPr>
              <a:lnSpc>
                <a:spcPct val="100000"/>
              </a:lnSpc>
              <a:spcAft>
                <a:spcPts val="0"/>
              </a:spcAft>
            </a:pPr>
            <a:r>
              <a:rPr sz="1900" i="1">
                <a:solidFill>
                  <a:srgbClr val="8795A1"/>
                </a:solidFill>
                <a:latin typeface="Consolas"/>
              </a:rPr>
              <a:t># reported by the scheduler itself.</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A284E37D-1557-4A17-847A-118371A3015F}"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QoS classes, derived from what you declared.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QoS classes, derived from what you declared. ------------------ kubectl run guaranteed --image=nginx:1.27 \ --overrides='{&quot;spec&quot;:{&quot;containers&quot;:[{&quot;name&quot;:&quot;c&quot;,&quot;image&quot;:&quot;nginx:1.27&quot;, &quot;resources&quot;:{&quot;requests&quot;:{&quot;cpu&quot;:&quot;100m&quot;,&quot;memory&quot;:&quot;64Mi&quot;}, &quot;limits&quot;:{&quot;cpu&quot;:&quot;100m&quot;,&quot;memory&quot;:&quot;64Mi&quot;}}}]}}' kubectl run besteffort --image=nginx:1.27 sleep 5 kubectl get pod guaranteed besteffort \ -o custom-columns=NAME:.metadata.name,QOS:.status.qosClass"/>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QoS classes, derived from what you declared. ------------------</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guaranteed</a:t>
            </a:r>
            <a:r>
              <a:rPr sz="1900" i="0">
                <a:solidFill>
                  <a:srgbClr val="E8EDF2"/>
                </a:solidFill>
                <a:latin typeface="Consolas"/>
              </a:rPr>
              <a:t> </a:t>
            </a:r>
            <a:r>
              <a:rPr sz="1900" i="0">
                <a:solidFill>
                  <a:srgbClr val="E8EDF2"/>
                </a:solidFill>
                <a:latin typeface="Consolas"/>
              </a:rPr>
              <a:t>--image</a:t>
            </a:r>
            <a:r>
              <a:rPr sz="1900" i="0">
                <a:solidFill>
                  <a:srgbClr val="AEB6BF"/>
                </a:solidFill>
                <a:latin typeface="Consolas"/>
              </a:rPr>
              <a:t>=</a:t>
            </a:r>
            <a:r>
              <a:rPr sz="1900" i="0">
                <a:solidFill>
                  <a:srgbClr val="E8EDF2"/>
                </a:solidFill>
                <a:latin typeface="Consolas"/>
              </a:rPr>
              <a:t>nginx:1.27</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--overrides</a:t>
            </a:r>
            <a:r>
              <a:rPr sz="1900" i="0">
                <a:solidFill>
                  <a:srgbClr val="AEB6BF"/>
                </a:solidFill>
                <a:latin typeface="Consolas"/>
              </a:rPr>
              <a:t>=</a:t>
            </a:r>
            <a:r>
              <a:rPr sz="1900" i="0">
                <a:solidFill>
                  <a:srgbClr val="7DCEA0"/>
                </a:solidFill>
                <a:latin typeface="Consolas"/>
              </a:rPr>
              <a:t>'{"spec":{"containers":[{"name":"c","image":"nginx:1.27",</a:t>
            </a:r>
          </a:p>
          <a:p>
            <a:pPr>
              <a:lnSpc>
                <a:spcPct val="100000"/>
              </a:lnSpc>
              <a:spcAft>
                <a:spcPts val="0"/>
              </a:spcAft>
            </a:pPr>
            <a:r>
              <a:rPr sz="1900" i="0">
                <a:solidFill>
                  <a:srgbClr val="7DCEA0"/>
                </a:solidFill>
                <a:latin typeface="Consolas"/>
              </a:rPr>
              <a:t>  "resources":{"requests":{"cpu":"100m","memory":"64Mi"},</a:t>
            </a:r>
          </a:p>
          <a:p>
            <a:pPr>
              <a:lnSpc>
                <a:spcPct val="100000"/>
              </a:lnSpc>
              <a:spcAft>
                <a:spcPts val="0"/>
              </a:spcAft>
            </a:pPr>
            <a:r>
              <a:rPr sz="1900" i="0">
                <a:solidFill>
                  <a:srgbClr val="7DCEA0"/>
                </a:solidFill>
                <a:latin typeface="Consolas"/>
              </a:rPr>
              <a:t>  "limits":{"cpu":"100m","memory":"64Mi"}}}]}}'</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besteffort</a:t>
            </a:r>
            <a:r>
              <a:rPr sz="1900" i="0">
                <a:solidFill>
                  <a:srgbClr val="E8EDF2"/>
                </a:solidFill>
                <a:latin typeface="Consolas"/>
              </a:rPr>
              <a:t> </a:t>
            </a:r>
            <a:r>
              <a:rPr sz="1900" i="0">
                <a:solidFill>
                  <a:srgbClr val="E8EDF2"/>
                </a:solidFill>
                <a:latin typeface="Consolas"/>
              </a:rPr>
              <a:t>--image</a:t>
            </a:r>
            <a:r>
              <a:rPr sz="1900" i="0">
                <a:solidFill>
                  <a:srgbClr val="AEB6BF"/>
                </a:solidFill>
                <a:latin typeface="Consolas"/>
              </a:rPr>
              <a:t>=</a:t>
            </a:r>
            <a:r>
              <a:rPr sz="1900" i="0">
                <a:solidFill>
                  <a:srgbClr val="E8EDF2"/>
                </a:solidFill>
                <a:latin typeface="Consolas"/>
              </a:rPr>
              <a:t>nginx:1.27</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5</a:t>
            </a:r>
          </a:p>
          <a:p>
            <a:pPr>
              <a:lnSpc>
                <a:spcPct val="100000"/>
              </a:lnSpc>
              <a:spcAft>
                <a:spcPts val="0"/>
              </a:spcAft>
            </a:pPr>
            <a:r>
              <a:rPr sz="1900" i="0">
                <a:solidFill>
                  <a:srgbClr val="E8EDF2"/>
                </a:solidFill>
                <a:latin typeface="Consolas"/>
              </a:rPr>
              <a:t>kubectl</a:t>
            </a:r>
            <a:r>
              <a:rPr sz="1900" i="0">
                <a:solidFill>
                  <a:srgbClr val="E8EDF2"/>
                </a:solidFill>
                <a:latin typeface="Consolas"/>
              </a:rPr>
              <a:t> </a:t>
            </a:r>
            <a:r>
              <a:rPr sz="1900" i="0">
                <a:solidFill>
                  <a:srgbClr val="E8EDF2"/>
                </a:solidFill>
                <a:latin typeface="Consolas"/>
              </a:rPr>
              <a:t>get</a:t>
            </a:r>
            <a:r>
              <a:rPr sz="1900" i="0">
                <a:solidFill>
                  <a:srgbClr val="E8EDF2"/>
                </a:solidFill>
                <a:latin typeface="Consolas"/>
              </a:rPr>
              <a:t> </a:t>
            </a:r>
            <a:r>
              <a:rPr sz="1900" i="0">
                <a:solidFill>
                  <a:srgbClr val="E8EDF2"/>
                </a:solidFill>
                <a:latin typeface="Consolas"/>
              </a:rPr>
              <a:t>pod</a:t>
            </a:r>
            <a:r>
              <a:rPr sz="1900" i="0">
                <a:solidFill>
                  <a:srgbClr val="E8EDF2"/>
                </a:solidFill>
                <a:latin typeface="Consolas"/>
              </a:rPr>
              <a:t> </a:t>
            </a:r>
            <a:r>
              <a:rPr sz="1900" i="0">
                <a:solidFill>
                  <a:srgbClr val="E8EDF2"/>
                </a:solidFill>
                <a:latin typeface="Consolas"/>
              </a:rPr>
              <a:t>guaranteed</a:t>
            </a:r>
            <a:r>
              <a:rPr sz="1900" i="0">
                <a:solidFill>
                  <a:srgbClr val="E8EDF2"/>
                </a:solidFill>
                <a:latin typeface="Consolas"/>
              </a:rPr>
              <a:t> </a:t>
            </a:r>
            <a:r>
              <a:rPr sz="1900" i="0">
                <a:solidFill>
                  <a:srgbClr val="E8EDF2"/>
                </a:solidFill>
                <a:latin typeface="Consolas"/>
              </a:rPr>
              <a:t>besteffort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custom-columns</a:t>
            </a:r>
            <a:r>
              <a:rPr sz="1900" i="0">
                <a:solidFill>
                  <a:srgbClr val="AEB6BF"/>
                </a:solidFill>
                <a:latin typeface="Consolas"/>
              </a:rPr>
              <a:t>=</a:t>
            </a:r>
            <a:r>
              <a:rPr sz="1900" i="0">
                <a:solidFill>
                  <a:srgbClr val="E8EDF2"/>
                </a:solidFill>
                <a:latin typeface="Consolas"/>
              </a:rPr>
              <a:t>NAME:.metadata.name,QOS:.status.qosClass</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D38B517C-7E16-44D4-BB66-22D39876AB0F}"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cascading-restart outage, on purpose.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he cascading-restart outage, on purpose. --------------------- # A liveness probe pointing at something that will fail. kubectl create deployment fragile --image=nginx:1.27 --replicas=3 kubectl patch deployment fragile --type=json -p='[{&quot;op&quot;:&quot;add&quot;, &quot;path&quot;:&quot;/spec/template/spec/containers/0/livenessProbe&quot;, &quot;value&quot;:{&quot;httpGet&quot;:{&quot;path&quot;:&quot;/nope&quot;,&quot;port&quot;:80},&quot;periodSeconds&quot;:5}}]' sleep 45 kubectl get pods -l app=fragile # RESTARTS climbing on every replica kubectl describe pod -l app=fragile | grep -A2 'Liveness' | head -6 # Now imagine /nope were a real endpoint that checks a slow database."/>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The cascading-restart outage, on purpose. ---------------------</a:t>
            </a:r>
          </a:p>
          <a:p>
            <a:pPr>
              <a:lnSpc>
                <a:spcPct val="100000"/>
              </a:lnSpc>
              <a:spcAft>
                <a:spcPts val="0"/>
              </a:spcAft>
            </a:pPr>
            <a:r>
              <a:rPr sz="1800" i="1">
                <a:solidFill>
                  <a:srgbClr val="8795A1"/>
                </a:solidFill>
                <a:latin typeface="Consolas"/>
              </a:rPr>
              <a:t># A liveness probe pointing at something that will fail.</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create</a:t>
            </a:r>
            <a:r>
              <a:rPr sz="1800" i="0">
                <a:solidFill>
                  <a:srgbClr val="E8EDF2"/>
                </a:solidFill>
                <a:latin typeface="Consolas"/>
              </a:rPr>
              <a:t> </a:t>
            </a:r>
            <a:r>
              <a:rPr sz="1800" i="0">
                <a:solidFill>
                  <a:srgbClr val="E8EDF2"/>
                </a:solidFill>
                <a:latin typeface="Consolas"/>
              </a:rPr>
              <a:t>deployment</a:t>
            </a:r>
            <a:r>
              <a:rPr sz="1800" i="0">
                <a:solidFill>
                  <a:srgbClr val="E8EDF2"/>
                </a:solidFill>
                <a:latin typeface="Consolas"/>
              </a:rPr>
              <a:t> </a:t>
            </a:r>
            <a:r>
              <a:rPr sz="1800" i="0">
                <a:solidFill>
                  <a:srgbClr val="E8EDF2"/>
                </a:solidFill>
                <a:latin typeface="Consolas"/>
              </a:rPr>
              <a:t>fragile</a:t>
            </a:r>
            <a:r>
              <a:rPr sz="1800" i="0">
                <a:solidFill>
                  <a:srgbClr val="E8EDF2"/>
                </a:solidFill>
                <a:latin typeface="Consolas"/>
              </a:rPr>
              <a:t> </a:t>
            </a:r>
            <a:r>
              <a:rPr sz="1800" i="0">
                <a:solidFill>
                  <a:srgbClr val="E8EDF2"/>
                </a:solidFill>
                <a:latin typeface="Consolas"/>
              </a:rPr>
              <a:t>--image</a:t>
            </a:r>
            <a:r>
              <a:rPr sz="1800" i="0">
                <a:solidFill>
                  <a:srgbClr val="AEB6BF"/>
                </a:solidFill>
                <a:latin typeface="Consolas"/>
              </a:rPr>
              <a:t>=</a:t>
            </a:r>
            <a:r>
              <a:rPr sz="1800" i="0">
                <a:solidFill>
                  <a:srgbClr val="E8EDF2"/>
                </a:solidFill>
                <a:latin typeface="Consolas"/>
              </a:rPr>
              <a:t>nginx:1.27</a:t>
            </a:r>
            <a:r>
              <a:rPr sz="1800" i="0">
                <a:solidFill>
                  <a:srgbClr val="E8EDF2"/>
                </a:solidFill>
                <a:latin typeface="Consolas"/>
              </a:rPr>
              <a:t> </a:t>
            </a:r>
            <a:r>
              <a:rPr sz="1800" i="0">
                <a:solidFill>
                  <a:srgbClr val="E8EDF2"/>
                </a:solidFill>
                <a:latin typeface="Consolas"/>
              </a:rPr>
              <a:t>--replicas</a:t>
            </a:r>
            <a:r>
              <a:rPr sz="1800" i="0">
                <a:solidFill>
                  <a:srgbClr val="AEB6BF"/>
                </a:solidFill>
                <a:latin typeface="Consolas"/>
              </a:rPr>
              <a:t>=</a:t>
            </a:r>
            <a:r>
              <a:rPr sz="1800" i="0">
                <a:solidFill>
                  <a:srgbClr val="F7DC6F"/>
                </a:solidFill>
                <a:latin typeface="Consolas"/>
              </a:rPr>
              <a:t>3</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patch</a:t>
            </a:r>
            <a:r>
              <a:rPr sz="1800" i="0">
                <a:solidFill>
                  <a:srgbClr val="E8EDF2"/>
                </a:solidFill>
                <a:latin typeface="Consolas"/>
              </a:rPr>
              <a:t> </a:t>
            </a:r>
            <a:r>
              <a:rPr sz="1800" i="0">
                <a:solidFill>
                  <a:srgbClr val="E8EDF2"/>
                </a:solidFill>
                <a:latin typeface="Consolas"/>
              </a:rPr>
              <a:t>deployment</a:t>
            </a:r>
            <a:r>
              <a:rPr sz="1800" i="0">
                <a:solidFill>
                  <a:srgbClr val="E8EDF2"/>
                </a:solidFill>
                <a:latin typeface="Consolas"/>
              </a:rPr>
              <a:t> </a:t>
            </a:r>
            <a:r>
              <a:rPr sz="1800" i="0">
                <a:solidFill>
                  <a:srgbClr val="E8EDF2"/>
                </a:solidFill>
                <a:latin typeface="Consolas"/>
              </a:rPr>
              <a:t>fragile</a:t>
            </a:r>
            <a:r>
              <a:rPr sz="1800" i="0">
                <a:solidFill>
                  <a:srgbClr val="E8EDF2"/>
                </a:solidFill>
                <a:latin typeface="Consolas"/>
              </a:rPr>
              <a:t> </a:t>
            </a:r>
            <a:r>
              <a:rPr sz="1800" i="0">
                <a:solidFill>
                  <a:srgbClr val="E8EDF2"/>
                </a:solidFill>
                <a:latin typeface="Consolas"/>
              </a:rPr>
              <a:t>--type</a:t>
            </a:r>
            <a:r>
              <a:rPr sz="1800" i="0">
                <a:solidFill>
                  <a:srgbClr val="AEB6BF"/>
                </a:solidFill>
                <a:latin typeface="Consolas"/>
              </a:rPr>
              <a:t>=</a:t>
            </a:r>
            <a:r>
              <a:rPr sz="1800" i="0">
                <a:solidFill>
                  <a:srgbClr val="E8EDF2"/>
                </a:solidFill>
                <a:latin typeface="Consolas"/>
              </a:rPr>
              <a:t>json</a:t>
            </a:r>
            <a:r>
              <a:rPr sz="1800" i="0">
                <a:solidFill>
                  <a:srgbClr val="E8EDF2"/>
                </a:solidFill>
                <a:latin typeface="Consolas"/>
              </a:rPr>
              <a:t> </a:t>
            </a:r>
            <a:r>
              <a:rPr sz="1800" i="0">
                <a:solidFill>
                  <a:srgbClr val="E8EDF2"/>
                </a:solidFill>
                <a:latin typeface="Consolas"/>
              </a:rPr>
              <a:t>-p</a:t>
            </a:r>
            <a:r>
              <a:rPr sz="1800" i="0">
                <a:solidFill>
                  <a:srgbClr val="AEB6BF"/>
                </a:solidFill>
                <a:latin typeface="Consolas"/>
              </a:rPr>
              <a:t>=</a:t>
            </a:r>
            <a:r>
              <a:rPr sz="1800" i="0">
                <a:solidFill>
                  <a:srgbClr val="7DCEA0"/>
                </a:solidFill>
                <a:latin typeface="Consolas"/>
              </a:rPr>
              <a:t>'[{"op":"add",</a:t>
            </a:r>
          </a:p>
          <a:p>
            <a:pPr>
              <a:lnSpc>
                <a:spcPct val="100000"/>
              </a:lnSpc>
              <a:spcAft>
                <a:spcPts val="0"/>
              </a:spcAft>
            </a:pPr>
            <a:r>
              <a:rPr sz="1800" i="0">
                <a:solidFill>
                  <a:srgbClr val="7DCEA0"/>
                </a:solidFill>
                <a:latin typeface="Consolas"/>
              </a:rPr>
              <a:t>  "path":"/spec/template/spec/containers/0/livenessProbe",</a:t>
            </a:r>
          </a:p>
          <a:p>
            <a:pPr>
              <a:lnSpc>
                <a:spcPct val="100000"/>
              </a:lnSpc>
              <a:spcAft>
                <a:spcPts val="0"/>
              </a:spcAft>
            </a:pPr>
            <a:r>
              <a:rPr sz="1800" i="0">
                <a:solidFill>
                  <a:srgbClr val="7DCEA0"/>
                </a:solidFill>
                <a:latin typeface="Consolas"/>
              </a:rPr>
              <a:t>  "value":{"httpGet":{"path":"/nope","port":80},"periodSeconds":5}}]'</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45</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get</a:t>
            </a:r>
            <a:r>
              <a:rPr sz="1800" i="0">
                <a:solidFill>
                  <a:srgbClr val="E8EDF2"/>
                </a:solidFill>
                <a:latin typeface="Consolas"/>
              </a:rPr>
              <a:t> </a:t>
            </a:r>
            <a:r>
              <a:rPr sz="1800" i="0">
                <a:solidFill>
                  <a:srgbClr val="E8EDF2"/>
                </a:solidFill>
                <a:latin typeface="Consolas"/>
              </a:rPr>
              <a:t>pods</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fragile</a:t>
            </a:r>
            <a:r>
              <a:rPr sz="1800" i="0">
                <a:solidFill>
                  <a:srgbClr val="E8EDF2"/>
                </a:solidFill>
                <a:latin typeface="Consolas"/>
              </a:rPr>
              <a:t>      </a:t>
            </a:r>
            <a:r>
              <a:rPr sz="1800" i="1">
                <a:solidFill>
                  <a:srgbClr val="8795A1"/>
                </a:solidFill>
                <a:latin typeface="Consolas"/>
              </a:rPr>
              <a:t># RESTARTS climbing on every replica</a:t>
            </a:r>
          </a:p>
          <a:p>
            <a:pPr>
              <a:lnSpc>
                <a:spcPct val="100000"/>
              </a:lnSpc>
              <a:spcAft>
                <a:spcPts val="0"/>
              </a:spcAft>
            </a:pPr>
            <a:r>
              <a:rPr sz="1800" i="0">
                <a:solidFill>
                  <a:srgbClr val="E8EDF2"/>
                </a:solidFill>
                <a:latin typeface="Consolas"/>
              </a:rPr>
              <a:t>kubectl</a:t>
            </a:r>
            <a:r>
              <a:rPr sz="1800" i="0">
                <a:solidFill>
                  <a:srgbClr val="E8EDF2"/>
                </a:solidFill>
                <a:latin typeface="Consolas"/>
              </a:rPr>
              <a:t> </a:t>
            </a:r>
            <a:r>
              <a:rPr sz="1800" i="0">
                <a:solidFill>
                  <a:srgbClr val="E8EDF2"/>
                </a:solidFill>
                <a:latin typeface="Consolas"/>
              </a:rPr>
              <a:t>describe</a:t>
            </a:r>
            <a:r>
              <a:rPr sz="1800" i="0">
                <a:solidFill>
                  <a:srgbClr val="E8EDF2"/>
                </a:solidFill>
                <a:latin typeface="Consolas"/>
              </a:rPr>
              <a:t> </a:t>
            </a:r>
            <a:r>
              <a:rPr sz="1800" i="0">
                <a:solidFill>
                  <a:srgbClr val="E8EDF2"/>
                </a:solidFill>
                <a:latin typeface="Consolas"/>
              </a:rPr>
              <a:t>pod</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app</a:t>
            </a:r>
            <a:r>
              <a:rPr sz="1800" i="0">
                <a:solidFill>
                  <a:srgbClr val="AEB6BF"/>
                </a:solidFill>
                <a:latin typeface="Consolas"/>
              </a:rPr>
              <a:t>=</a:t>
            </a:r>
            <a:r>
              <a:rPr sz="1800" i="0">
                <a:solidFill>
                  <a:srgbClr val="E8EDF2"/>
                </a:solidFill>
                <a:latin typeface="Consolas"/>
              </a:rPr>
              <a:t>fragile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-A2</a:t>
            </a:r>
            <a:r>
              <a:rPr sz="1800" i="0">
                <a:solidFill>
                  <a:srgbClr val="E8EDF2"/>
                </a:solidFill>
                <a:latin typeface="Consolas"/>
              </a:rPr>
              <a:t> </a:t>
            </a:r>
            <a:r>
              <a:rPr sz="1800" i="0">
                <a:solidFill>
                  <a:srgbClr val="7DCEA0"/>
                </a:solidFill>
                <a:latin typeface="Consolas"/>
              </a:rPr>
              <a:t>'Liveness'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head</a:t>
            </a:r>
            <a:r>
              <a:rPr sz="1800" i="0">
                <a:solidFill>
                  <a:srgbClr val="E8EDF2"/>
                </a:solidFill>
                <a:latin typeface="Consolas"/>
              </a:rPr>
              <a:t> </a:t>
            </a:r>
            <a:r>
              <a:rPr sz="1800" i="0">
                <a:solidFill>
                  <a:srgbClr val="E8EDF2"/>
                </a:solidFill>
                <a:latin typeface="Consolas"/>
              </a:rPr>
              <a:t>-6</a:t>
            </a:r>
          </a:p>
          <a:p>
            <a:pPr>
              <a:lnSpc>
                <a:spcPct val="100000"/>
              </a:lnSpc>
              <a:spcAft>
                <a:spcPts val="0"/>
              </a:spcAft>
            </a:pPr>
            <a:r>
              <a:rPr sz="1800" i="1">
                <a:solidFill>
                  <a:srgbClr val="8795A1"/>
                </a:solidFill>
                <a:latin typeface="Consolas"/>
              </a:rPr>
              <a:t># Now imagine /nope were a real endpoint that checks a slow database.</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a:p>
            <a:pPr algn="r">
              <a:lnSpc>
                <a:spcPct val="100000"/>
              </a:lnSpc>
            </a:pPr>
            <a:r>
              <a:rPr sz="1800">
                <a:solidFill>
                  <a:srgbClr val="4F5D6A"/>
                </a:solidFill>
                <a:latin typeface="Consolas"/>
              </a:rPr>
              <a:t>65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Cluster on One Laptop</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9B3DDF6C-DA61-4B3B-A4E2-BF2576F58B90}"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Tear down. ---------------------------------------------------- kind delete cluster --name vss"/>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Tear down. ----------------------------------------------------</a:t>
            </a:r>
          </a:p>
          <a:p>
            <a:pPr>
              <a:lnSpc>
                <a:spcPct val="100000"/>
              </a:lnSpc>
              <a:spcAft>
                <a:spcPts val="0"/>
              </a:spcAft>
            </a:pPr>
            <a:r>
              <a:rPr sz="1900" i="0">
                <a:solidFill>
                  <a:srgbClr val="E8EDF2"/>
                </a:solidFill>
                <a:latin typeface="Consolas"/>
              </a:rPr>
              <a:t>kind</a:t>
            </a:r>
            <a:r>
              <a:rPr sz="1900" i="0">
                <a:solidFill>
                  <a:srgbClr val="E8EDF2"/>
                </a:solidFill>
                <a:latin typeface="Consolas"/>
              </a:rPr>
              <a:t> </a:t>
            </a:r>
            <a:r>
              <a:rPr sz="1900" i="0">
                <a:solidFill>
                  <a:srgbClr val="E8EDF2"/>
                </a:solidFill>
                <a:latin typeface="Consolas"/>
              </a:rPr>
              <a:t>delete</a:t>
            </a:r>
            <a:r>
              <a:rPr sz="1900" i="0">
                <a:solidFill>
                  <a:srgbClr val="E8EDF2"/>
                </a:solidFill>
                <a:latin typeface="Consolas"/>
              </a:rPr>
              <a:t> </a:t>
            </a:r>
            <a:r>
              <a:rPr sz="1900" i="0">
                <a:solidFill>
                  <a:srgbClr val="E8EDF2"/>
                </a:solidFill>
                <a:latin typeface="Consolas"/>
              </a:rPr>
              <a:t>cluster</a:t>
            </a:r>
            <a:r>
              <a:rPr sz="1900" i="0">
                <a:solidFill>
                  <a:srgbClr val="E8EDF2"/>
                </a:solidFill>
                <a:latin typeface="Consolas"/>
              </a:rPr>
              <a:t> </a:t>
            </a:r>
            <a:r>
              <a:rPr sz="1900" i="0">
                <a:solidFill>
                  <a:srgbClr val="E8EDF2"/>
                </a:solidFill>
                <a:latin typeface="Consolas"/>
              </a:rPr>
              <a:t>--name</a:t>
            </a:r>
            <a:r>
              <a:rPr sz="1900" i="0">
                <a:solidFill>
                  <a:srgbClr val="E8EDF2"/>
                </a:solidFill>
                <a:latin typeface="Consolas"/>
              </a:rPr>
              <a:t> </a:t>
            </a:r>
            <a:r>
              <a:rPr sz="1900" i="0">
                <a:solidFill>
                  <a:srgbClr val="E8EDF2"/>
                </a:solidFill>
                <a:latin typeface="Consolas"/>
              </a:rPr>
              <a:t>vss</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67</a:t>
            </a:r>
          </a:p>
          <a:p>
            <a:pPr algn="r">
              <a:lnSpc>
                <a:spcPct val="100000"/>
              </a:lnSpc>
            </a:pPr>
            <a:r>
              <a:rPr sz="1900">
                <a:solidFill>
                  <a:srgbClr val="4F5D6A"/>
                </a:solidFill>
                <a:latin typeface="Consolas"/>
              </a:rPr>
              <a:t>68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79     </a:t>
            </a:r>
            <a:fld id="{E4D87434-1D06-4E54-8396-166CEDA1A033}"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3 is the whole chapter: nothing detected a failure or ran a recovery procedure. A controller compared two numbers and acted. Step 7 is the chapter’s warning, reproduced in forty-five seconds.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cluster of six nodes has 12 allocatable cores and 48 GB each. Existing workloads request 40 cores and 190 GB. A Deployment of 15 replicas requesting 1 core and 6 GB each is created. How many schedule, and what is the binding resource?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10  ·  Container Orchestration with Kubernetes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84  ·  answers in Appendix D     </a:t>
            </a:r>
            <a:fld id="{5332A2E1-9AC9-436C-8B6B-E1512729B596}"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11326"/>
          </a:xfrm>
        </p:spPr>
        <p:txBody>
          <a:bodyPr wrap="square" lIns="0" rIns="0" tIns="0" bIns="0" anchor="t">
            <a:noAutofit/>
          </a:bodyPr>
          <a:lstStyle/>
          <a:p>
            <a:pPr algn="l">
              <a:lnSpc>
                <a:spcPct val="96000"/>
              </a:lnSpc>
            </a:pPr>
            <a:r>
              <a:rPr sz="2200" b="0" i="0">
                <a:solidFill>
                  <a:srgbClr val="1A5276"/>
                </a:solidFill>
                <a:latin typeface="Segoe UI Semibold"/>
              </a:rPr>
              <a:t>A cluster of six nodes has 12 allocatable cores and 48 GB each. Existing workloads request 40 cores and 190 GB. A Deployment of 15 replicas requesting 1 core and 6 GB each is created. How many schedule, and what is the binding resource?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026310"/>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026310"/>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Cluster totals are </a:t>
            </a:r>
            <a:r>
              <a:rPr sz="2200" b="0" i="0">
                <a:solidFill>
                  <a:srgbClr val="1C252B"/>
                </a:solidFill>
                <a:latin typeface="Cambria"/>
              </a:rPr>
              <a:t>6 × 12 = 72</a:t>
            </a:r>
            <a:r>
              <a:rPr sz="2200" b="0" i="0">
                <a:solidFill>
                  <a:srgbClr val="1C252B"/>
                </a:solidFill>
                <a:latin typeface="Segoe UI"/>
              </a:rPr>
              <a:t> cores and </a:t>
            </a:r>
            <a:r>
              <a:rPr sz="2200" b="0" i="0">
                <a:solidFill>
                  <a:srgbClr val="1C252B"/>
                </a:solidFill>
                <a:latin typeface="Cambria"/>
              </a:rPr>
              <a:t>6 × 48 = 288</a:t>
            </a:r>
            <a:r>
              <a:rPr sz="2200" b="0" i="0">
                <a:solidFill>
                  <a:srgbClr val="1C252B"/>
                </a:solidFill>
                <a:latin typeface="Segoe UI"/>
              </a:rPr>
              <a:t> GB; after existing requests, 32 cores and 98 GB remain. In aggregate the new Deployment’s 15 cores and 90 GB would fit — but Pods are placed on individual nodes. Each node has </a:t>
            </a:r>
            <a:r>
              <a:rPr sz="2200" b="0" i="0">
                <a:solidFill>
                  <a:srgbClr val="1C252B"/>
                </a:solidFill>
                <a:latin typeface="Cambria"/>
              </a:rPr>
              <a:t>12 − 40/6 = 5.3</a:t>
            </a:r>
            <a:r>
              <a:rPr sz="2200" b="0" i="0">
                <a:solidFill>
                  <a:srgbClr val="1C252B"/>
                </a:solidFill>
                <a:latin typeface="Segoe UI"/>
              </a:rPr>
              <a:t> cores and </a:t>
            </a:r>
            <a:r>
              <a:rPr sz="2200" b="0" i="0">
                <a:solidFill>
                  <a:srgbClr val="1C252B"/>
                </a:solidFill>
                <a:latin typeface="Cambria"/>
              </a:rPr>
              <a:t>48 − 190/6 = 16.3</a:t>
            </a:r>
            <a:r>
              <a:rPr sz="2200" b="0" i="0">
                <a:solidFill>
                  <a:srgbClr val="1C252B"/>
                </a:solidFill>
                <a:latin typeface="Segoe UI"/>
              </a:rPr>
              <a:t> GB free, giving </a:t>
            </a:r>
            <a:r>
              <a:rPr sz="2200" b="0" i="0">
                <a:solidFill>
                  <a:srgbClr val="1C252B"/>
                </a:solidFill>
                <a:latin typeface="Cambria"/>
              </a:rPr>
              <a:t>min(⌊ 5.3/1 ⌋, ⌊ 16.3/6 ⌋) = 2</a:t>
            </a:r>
            <a:r>
              <a:rPr sz="2200" b="0" i="0">
                <a:solidFill>
                  <a:srgbClr val="1C252B"/>
                </a:solidFill>
                <a:latin typeface="Segoe UI"/>
              </a:rPr>
              <a:t> Pods per node. So </a:t>
            </a:r>
            <a:r>
              <a:rPr sz="2200" b="0" i="0">
                <a:solidFill>
                  <a:srgbClr val="1C252B"/>
                </a:solidFill>
                <a:latin typeface="Cambria"/>
              </a:rPr>
              <a:t>2 × 6 = </a:t>
            </a:r>
            <a:r>
              <a:rPr sz="2200" b="1" i="0">
                <a:solidFill>
                  <a:srgbClr val="1C252B"/>
                </a:solidFill>
                <a:latin typeface="Cambria"/>
              </a:rPr>
              <a:t>12</a:t>
            </a:r>
            <a:r>
              <a:rPr sz="2200" b="0" i="0">
                <a:solidFill>
                  <a:srgbClr val="1C252B"/>
                </a:solidFill>
                <a:latin typeface="Segoe UI"/>
              </a:rPr>
              <a:t> schedule and 3 stay </a:t>
            </a:r>
            <a:r>
              <a:rPr sz="2050" b="0" i="0">
                <a:solidFill>
                  <a:srgbClr val="1F4E79"/>
                </a:solidFill>
                <a:latin typeface="Consolas"/>
              </a:rPr>
              <a:t>Pending</a:t>
            </a:r>
            <a:r>
              <a:rPr sz="2200" b="0" i="0">
                <a:solidFill>
                  <a:srgbClr val="1C252B"/>
                </a:solidFill>
                <a:latin typeface="Segoe UI"/>
              </a:rPr>
              <a:t>. The binding resource is </a:t>
            </a:r>
            <a:r>
              <a:rPr sz="2200" b="1" i="0">
                <a:solidFill>
                  <a:srgbClr val="1C252B"/>
                </a:solidFill>
                <a:latin typeface="Segoe UI"/>
              </a:rPr>
              <a:t>memory</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  answers in Appendix D     </a:t>
            </a:r>
            <a:fld id="{70405E74-B7F4-4CE3-80F7-291EBDC76E7C}"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977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sets no requests or limits anywhere “to keep things simple”. Name the QoS class this produces and describe the symptom they will eventually see, including when.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10  ·  Container Orchestration with Kubernetes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84  ·  answers in Appendix D     </a:t>
            </a:r>
            <a:fld id="{3E679DB8-E696-4AB6-B4FC-C36781FEDB50}"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 sets no requests or limits anywhere “to keep things simple”. Name the QoS class this produces and describe the symptom they will eventually see, including when.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BestEffort</a:t>
            </a:r>
            <a:r>
              <a:rPr sz="2200" b="0" i="0">
                <a:solidFill>
                  <a:srgbClr val="1C252B"/>
                </a:solidFill>
                <a:latin typeface="Segoe UI"/>
              </a:rPr>
              <a:t>, which is evicted first whenever a node comes under memory pressure. The symptom is that the workloads run perfectly for weeks and then are killed — apparently at random, but in fact </a:t>
            </a:r>
            <a:r>
              <a:rPr sz="2200" b="0" i="1">
                <a:solidFill>
                  <a:srgbClr val="1C252B"/>
                </a:solidFill>
                <a:latin typeface="Segoe UI"/>
              </a:rPr>
              <a:t>only when the cluster is busy</a:t>
            </a:r>
            <a:r>
              <a:rPr sz="2200" b="0" i="0">
                <a:solidFill>
                  <a:srgbClr val="1C252B"/>
                </a:solidFill>
                <a:latin typeface="Segoe UI"/>
              </a:rPr>
              <a:t>, which is exactly when they are most needed. Declaring nothing is not neutral; it is choosing to be first in the eviction queue.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  answers in Appendix D     </a:t>
            </a:r>
            <a:fld id="{E882EB91-D0CF-4BE6-8EAE-BA6BC787B7F8}"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65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pointing a liveness probe at an endpoint that checks a shared database can take down every replica at once, and what to use instead.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10  ·  Container Orchestration with Kubernetes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84  ·  answers in Appendix D     </a:t>
            </a:r>
            <a:fld id="{8F8631EE-2A72-411F-8FA0-32628B2E2641}"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pointing a liveness probe at an endpoint that checks a shared database can take down every replica at once, and what to use instead.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liveness probe </a:t>
            </a:r>
            <a:r>
              <a:rPr sz="2200" b="0" i="1">
                <a:solidFill>
                  <a:srgbClr val="1C252B"/>
                </a:solidFill>
                <a:latin typeface="Segoe UI"/>
              </a:rPr>
              <a:t>kills</a:t>
            </a:r>
            <a:r>
              <a:rPr sz="2200" b="0" i="0">
                <a:solidFill>
                  <a:srgbClr val="1C252B"/>
                </a:solidFill>
                <a:latin typeface="Segoe UI"/>
              </a:rPr>
              <a:t> the container when it fails. If the probe checks a shared database and the database slows, every replica fails the probe at the same moment, so Kubernetes kills them all. They restart, reconnect simultaneously in a thundering herd, overload the already-slow database and fail again. Use a </a:t>
            </a:r>
            <a:r>
              <a:rPr sz="2200" b="1" i="0">
                <a:solidFill>
                  <a:srgbClr val="1C252B"/>
                </a:solidFill>
                <a:latin typeface="Segoe UI"/>
              </a:rPr>
              <a:t>readiness</a:t>
            </a:r>
            <a:r>
              <a:rPr sz="2200" b="0" i="0">
                <a:solidFill>
                  <a:srgbClr val="1C252B"/>
                </a:solidFill>
                <a:latin typeface="Segoe UI"/>
              </a:rPr>
              <a:t> probe: it removes the Pod from the Service’s endpoints without killing it, so the replicas stop taking traffic, the database recovers, and they return.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  answers in Appendix D     </a:t>
            </a:r>
            <a:fld id="{719A4CD2-EF82-4CC6-B190-BA3A634E8452}"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353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a:t>
            </a:r>
            <a:fld id="{15895D75-1AD8-4DB7-83CF-A6002090CBD7}"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Kubernetes is declarative: you state desired state and controllers reconcile towards it for ever. Failure recovery is not a feature but the ordinary behaviour of a loop comparing two numbers.</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Everything talks to the API server and nothing talks to anything else. etcd holds the entire cluster state.</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Creating a Deployment runs six independent loops; none calls another.</a:t>
            </a:r>
          </a:p>
        </p:txBody>
      </p:sp>
      <p:sp>
        <p:nvSpPr>
          <p:cNvPr id="16" name="!!sb3">
            <a:extLst>
              <a:ext uri="{C183D7F6-B498-43B3-948B-1728B52AA6E4}">
                <adec:decorative xmlns:adec="http://schemas.microsoft.com/office/drawing/2017/decorative" val="1"/>
              </a:ext>
            </a:extLst>
          </p:cNvPr>
          <p:cNvSpPr/>
          <p:nvPr/>
        </p:nvSpPr>
        <p:spPr>
          <a:xfrm>
            <a:off x="658368" y="363870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69356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62955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Pod is the unit of scheduling and of IP address. Put containers together only if they must share a node and a lifetime.</a:t>
            </a:r>
          </a:p>
        </p:txBody>
      </p:sp>
      <p:sp>
        <p:nvSpPr>
          <p:cNvPr id="19" name="!!sb4">
            <a:extLst>
              <a:ext uri="{C183D7F6-B498-43B3-948B-1728B52AA6E4}">
                <adec:decorative xmlns:adec="http://schemas.microsoft.com/office/drawing/2017/decorative" val="1"/>
              </a:ext>
            </a:extLst>
          </p:cNvPr>
          <p:cNvSpPr/>
          <p:nvPr/>
        </p:nvSpPr>
        <p:spPr>
          <a:xfrm>
            <a:off x="658368" y="43604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4153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351324"/>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Requests are for the scheduler and are reserved whether used or not; limits are enforced by cgroups, throttling CPU and killing on memory.</a:t>
            </a:r>
          </a:p>
        </p:txBody>
      </p:sp>
      <p:sp>
        <p:nvSpPr>
          <p:cNvPr id="22" name="!!sb5">
            <a:extLst>
              <a:ext uri="{C183D7F6-B498-43B3-948B-1728B52AA6E4}">
                <adec:decorative xmlns:adec="http://schemas.microsoft.com/office/drawing/2017/decorative" val="1"/>
              </a:ext>
            </a:extLst>
          </p:cNvPr>
          <p:cNvSpPr/>
          <p:nvPr/>
        </p:nvSpPr>
        <p:spPr>
          <a:xfrm>
            <a:off x="658368" y="50822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1370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07309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QoS class follows from requests and limits, and decides eviction order. Declaring nothing means being evicted first.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a:t>
            </a:r>
            <a:fld id="{93D22C54-2F4C-41E2-812A-AFF2F26F90EC}" type="slidenum">
              <a:rPr lang="en-GB" sz="1000">
                <a:solidFill>
                  <a:srgbClr val="8795A1"/>
                </a:solidFill>
                <a:latin typeface="Segoe UI"/>
              </a:rPr>
              <a:t>43</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Readiness removes traffic; liveness kills the container. Using liveness where readiness was meant is the commonest self-inflicted outage.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a:t>
            </a:r>
            <a:fld id="{6EFE4DEA-4EF5-4908-9863-58BB00707314}" type="slidenum">
              <a:rPr lang="en-GB" sz="1000">
                <a:solidFill>
                  <a:srgbClr val="8795A1"/>
                </a:solidFill>
                <a:latin typeface="Segoe UI"/>
              </a:rPr>
              <a:t>44</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component that decides which node a Pod runs on, and then does nothing further,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kubelet</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scheduler</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kube-proxy</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API server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a:t>
            </a:r>
            <a:fld id="{DA2E47C9-1444-4389-934F-C752FBAB94DC}"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container with no requests or limits is in QoS class: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Guaranteed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Burstable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BestEffort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none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10  ·  Container Orchestration with Kubernetes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84     </a:t>
            </a:r>
            <a:fld id="{7271A194-E531-4714-BB6E-E0B34DE238BF}"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the control loop in four steps and explain why it makes </a:t>
            </a:r>
            <a:r>
              <a:rPr sz="1700" b="0" i="0">
                <a:solidFill>
                  <a:srgbClr val="1F4E79"/>
                </a:solidFill>
                <a:latin typeface="Consolas"/>
              </a:rPr>
              <a:t>kubectl apply</a:t>
            </a:r>
            <a:r>
              <a:rPr sz="1800" b="0" i="0">
                <a:solidFill>
                  <a:srgbClr val="1C252B"/>
                </a:solidFill>
                <a:latin typeface="Segoe UI"/>
              </a:rPr>
              <a:t> safe to run twice.</a:t>
            </a:r>
          </a:p>
        </p:txBody>
      </p:sp>
      <p:sp>
        <p:nvSpPr>
          <p:cNvPr id="10" name="!!rt1">
            <a:extLst>
              <a:ext uri="{C183D7F6-B498-43B3-948B-1728B52AA6E4}">
                <adec:decorative xmlns:adec="http://schemas.microsoft.com/office/drawing/2017/decorative" val="1"/>
              </a:ext>
            </a:extLst>
          </p:cNvPr>
          <p:cNvSpPr/>
          <p:nvPr/>
        </p:nvSpPr>
        <p:spPr>
          <a:xfrm>
            <a:off x="658368" y="254568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8683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27401"/>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the difference between a request and a limit, naming which component enforces each.</a:t>
            </a:r>
          </a:p>
        </p:txBody>
      </p:sp>
      <p:sp>
        <p:nvSpPr>
          <p:cNvPr id="13" name="!!rt2">
            <a:extLst>
              <a:ext uri="{C183D7F6-B498-43B3-948B-1728B52AA6E4}">
                <adec:decorative xmlns:adec="http://schemas.microsoft.com/office/drawing/2017/decorative" val="1"/>
              </a:ext>
            </a:extLst>
          </p:cNvPr>
          <p:cNvSpPr/>
          <p:nvPr/>
        </p:nvSpPr>
        <p:spPr>
          <a:xfrm>
            <a:off x="658368" y="333573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7687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17443"/>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Give a workload for which two containers genuinely belong in one Pod, and one where they do not, with the reason.</a:t>
            </a:r>
          </a:p>
        </p:txBody>
      </p:sp>
      <p:sp>
        <p:nvSpPr>
          <p:cNvPr id="16" name="!!rt3">
            <a:extLst>
              <a:ext uri="{C183D7F6-B498-43B3-948B-1728B52AA6E4}">
                <adec:decorative xmlns:adec="http://schemas.microsoft.com/office/drawing/2017/decorative" val="1"/>
              </a:ext>
            </a:extLst>
          </p:cNvPr>
          <p:cNvSpPr/>
          <p:nvPr/>
        </p:nvSpPr>
        <p:spPr>
          <a:xfrm>
            <a:off x="658368" y="412577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16692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107484"/>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10-node cluster of 32 cores and 128 GB each is reported “full” at 40% measured utilisation. Explain how both facts can be true, describe what you would measure, and set out the change you would propose and its risk.</a:t>
            </a:r>
          </a:p>
        </p:txBody>
      </p:sp>
      <p:sp>
        <p:nvSpPr>
          <p:cNvPr id="19" name="!!rt4">
            <a:extLst>
              <a:ext uri="{C183D7F6-B498-43B3-948B-1728B52AA6E4}">
                <adec:decorative xmlns:adec="http://schemas.microsoft.com/office/drawing/2017/decorative" val="1"/>
              </a:ext>
            </a:extLst>
          </p:cNvPr>
          <p:cNvSpPr/>
          <p:nvPr/>
        </p:nvSpPr>
        <p:spPr>
          <a:xfrm>
            <a:off x="658368" y="520110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24225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18281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During a database slowdown, every replica of three different services restarted repeatedly and the outage lasted far longer than the database problem. Explain the mechanism, and write the probe configuration you would have had in place.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11 — Lightweight and Secure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10, pages 77–84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Midterm, then a cluster on one laptop</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Midterm (Ch 1–9)</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10  ·  Container Orchestration with Kubernetes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1CB360C4-212B-41E8-9EF0-8908966995B0}"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Container Orchestration with Kubernetes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