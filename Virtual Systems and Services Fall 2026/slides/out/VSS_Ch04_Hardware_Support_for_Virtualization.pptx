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6.svg" ContentType="image/svg+xml"/>
  <Override PartName="/ppt/media/image27.svg" ContentType="image/svg+xml"/>
  <Override PartName="/ppt/media/image29.svg" ContentType="image/svg+xml"/>
  <Override PartName="/ppt/media/image30.svg" ContentType="image/svg+xml"/>
  <Override PartName="/ppt/media/image31.svg" ContentType="image/svg+xml"/>
  <Override PartName="/ppt/media/image32.svg" ContentType="image/svg+xml"/>
  <Override PartName="/ppt/media/image34.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6.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4.svg" ContentType="image/svg+xml"/>
  <Override PartName="/ppt/media/image55.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0A0AB9A-44E2-4155-B8F9-C8E1C29670E8}">
          <p14:sldIdLst>
            <p14:sldId id="256"/>
            <p14:sldId id="257"/>
            <p14:sldId id="258"/>
            <p14:sldId id="259"/>
            <p14:sldId id="260"/>
          </p14:sldIdLst>
        </p14:section>
        <p14:section name="4.1 What Intel and AMD Had to Fix" id="{35BF3AC4-C43D-414D-9D41-C9560670BBC2}">
          <p14:sldIdLst>
            <p14:sldId id="261"/>
            <p14:sldId id="262"/>
            <p14:sldId id="263"/>
            <p14:sldId id="264"/>
          </p14:sldIdLst>
        </p14:section>
        <p14:section name="4.2 The VMCS, and What a Transition Costs" id="{DE0FFEDE-1127-4EF0-8C57-230C16606F7A}">
          <p14:sldIdLst>
            <p14:sldId id="265"/>
            <p14:sldId id="266"/>
            <p14:sldId id="267"/>
            <p14:sldId id="268"/>
          </p14:sldIdLst>
        </p14:section>
        <p14:section name="4.3 Two-Dimensional Paging" id="{BB1325F6-C0AB-4747-938A-7DAC4AF914BD}">
          <p14:sldIdLst>
            <p14:sldId id="269"/>
            <p14:sldId id="270"/>
            <p14:sldId id="271"/>
            <p14:sldId id="272"/>
            <p14:sldId id="273"/>
            <p14:sldId id="274"/>
          </p14:sldIdLst>
        </p14:section>
        <p14:section name="4.4 The IOMMU" id="{0CE154C8-8711-407D-A5AB-3A91AAA93EFA}">
          <p14:sldIdLst>
            <p14:sldId id="275"/>
            <p14:sldId id="276"/>
            <p14:sldId id="277"/>
          </p14:sldIdLst>
        </p14:section>
        <p14:section name="Pitfalls" id="{8E9BA7D5-1D12-46F4-832D-D5ADAFC36B9D}">
          <p14:sldIdLst>
            <p14:sldId id="278"/>
          </p14:sldIdLst>
        </p14:section>
        <p14:section name="Lab" id="{CECA42C5-CE39-4CDF-9FED-45E93C159F69}">
          <p14:sldIdLst>
            <p14:sldId id="279"/>
            <p14:sldId id="280"/>
            <p14:sldId id="281"/>
            <p14:sldId id="282"/>
            <p14:sldId id="283"/>
            <p14:sldId id="284"/>
            <p14:sldId id="285"/>
            <p14:sldId id="286"/>
            <p14:sldId id="287"/>
          </p14:sldIdLst>
        </p14:section>
        <p14:section name="Checkpoint" id="{930907F0-6BE8-4B32-8160-D5B24A530DE5}">
          <p14:sldIdLst>
            <p14:sldId id="288"/>
            <p14:sldId id="289"/>
            <p14:sldId id="290"/>
            <p14:sldId id="291"/>
            <p14:sldId id="292"/>
            <p14:sldId id="293"/>
          </p14:sldIdLst>
        </p14:section>
        <p14:section name="Wrap-up" id="{2718C361-384D-4182-933B-9E695CEBEFB3}">
          <p14:sldIdLst>
            <p14:sldId id="294"/>
            <p14:sldId id="295"/>
            <p14:sldId id="296"/>
            <p14:sldId id="297"/>
            <p14:sldId id="298"/>
            <p14:sldId id="29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Hardware Support for Virtualization. Part 2 — Hypervisors and Compute Virtualization. Week 3: Hardware support. Handout pages 30–37.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3 above all — the Popek–Goldberg condition, the seventeen offending instructions, and why trap-and-emulate could not be used. This chapter is the hardware answer to that chapter’s problem, and almost nothing in it makes sense without it. You also need virtual memory and page tables from Operating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VT-x; AMD-V; SVM; VMX root operation; VMX non-root operation; VMCS; VMCB; VM entry; VM exit; exit reason; world switch; shadow page table; extended page tables; nested page tables; two-dimensional paging; nested page walk; VPID; IOMMU; VT-d; DMA remapping; interrupt remapping.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 left the architecture in an awkward position. Seventeen instructions were sensitive but not privileged, so trap-and-emulate was unsound; the two workarounds — binary translation and paravirtualization — each cost something substantial. Intel shipped VT-x in 2005 and AMD shipped AMD-V in 2006, and both took the same approach. The obvious fix would have been to make the seventeen instructions privileged. Both vendors rejected it, for a reason worth understanding: it would break existing software. A user program that executes POPF today and has its write to IF quietly ignored would begin faulting, and backward compatibility is the entire commercial basis of the x86 architecture. So instead of changing what the instructions do, they changed the mode the processor can be 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4.1 (handout p. 31): VT-x in one picture. The guest runs in ring 0 of a second operating mode, so nothing it executes behaves unexpectedly; the hypervisor regains control through a hardware transition rather than a trap it had to arrange.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VMCS — virtual machine control structure — exists per virtual CPU and holds everything needed to switch between the two worlds.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Virtualizing the processor was half the problem. The other half is memory, and it is harder. A guest kernel maintains page tables mapping guest virtual addresses to what it believes are physical addresses. They are not physical: they are guest physical addresses, which the hypervisor must in turn map to host physical addresses. Two translations, and the hardware originally performed only one. The hypervisor builds its own page tables mapping guest virtual directly to host physical — shadow page tables — and points the real CR3 at those. The processor walks them normally, so a TLB miss costs exactly what it costs natively. The price is keeping them consistent. The hypervisor must trap every guest write to its own page tables, which means write-protecting them and taking a VM exit on each modification. A process fork, which rewrites a great many page table entries, becomes thousands of exits. Extended page tables (Intel) and nested page tables (AMD) add a second, hardware-walked translation. The guest’s own page tables stay in charge of guest-virtual to guest-physical, and the guest may edit them freely with no exits at all. A second set of tables, owned by the hypervisor, maps guest-physical to host-physical, and the processor walks both.</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4.2 (handout p. 34): A nested page walk, and the trade it represents. Shadow paging is cheaper on a TLB miss and ruinous on every guest page-table edit; extended page tables invert both, and edits are the more frequent event.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processor is virtualized and memory is virtualized. Devices are not, and devices are dangerous, because a device performing DMA writes to physical addresses and knows nothing about any of this. Hand a network card directly to a guest — which Chapter 7 will want to do for speed — and the guest’s driver programs it with addresses from its own guest-physical space. The card would write wherever those happen to land in real memory: another guest, or the hypervisor. A single passthrough device without protection destroys the resource-control property for the entire host.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real VM exits on a real guest and shows what changes them. Needs KVM and a Linux host; perf comes from linux-tools. Expect thirty minutes.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Does this processor have the features this chapter describes?.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Is nested virtualization on? Every later lab wants it..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Start the guest from Chapter 1 and find its thread..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Count exits by reason, for ten seconds of an idle guest..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Now give the guest work that forces exits, and compare..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Watch EPT doing its job: no exit for a guest page-table edit..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Tear 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Backward compatibility. Making POPF and the others privileged would change the behaviour of existing, correct user programs that rely on the write to IF being silently ignored — they would begin faulting. x86’s commercial value rests on not breaking old software, so both vendors added a new processor mode in which existing instructions behave as before and the hardware decides when to hand control to the hypervisor.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For each of the 5 guest levels: 5 EPT accesses to translate that level’s address, plus 1 read of the guest entry = 6, so 5 × 6 = 30; plus 5 to translate the final guest-physical address: 35 memory accesses. In general, for n levels: n(n+1) + n = n2 + 2n. Checking against the chapter, n = 4 gives 16 + 8 = 24.</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Device passthrough is lost — assigning a physical device directly to a guest, including SR-IOV virtual functions. It must be refused rather than warned about because a device performs DMA to physical addresses: without an IOMMU to translate and confine them, the guest’s driver can direct the device to write anywhere in host memory, including the hypervisor and other guests. That is not a degraded configuration; it is the complete loss of the resource-control property of Chapter 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5 — Major Hypervisor Platforms. READ: Handout Chapter 4, pages 30–37. THIS WEEK'S LAB: VT-x and EPT; count VM exits under load.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4.xml"/><Relationship Id="rId8" Type="http://schemas.openxmlformats.org/officeDocument/2006/relationships/slide" Target="slide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7.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0.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31.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32.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7.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8.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9.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0.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1.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2.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3.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4.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9.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0.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1.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2.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5.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8.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9.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04</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Hardware Support for Virtualization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HYPERVISORS AND COMPUTE VIRTUALIZATION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4  ·  WEEK 3</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30     </a:t>
            </a:r>
            <a:fld id="{3596B757-C10C-4869-B86D-F8AD919BB46A}"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382171" y="1755648"/>
            <a:ext cx="166746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382171" y="2029967"/>
            <a:ext cx="1667468"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3788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3788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2200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2200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12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12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67135"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267135"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27" name="!!dot5">
            <a:extLst>
              <a:ext uri="{C183D7F6-B498-43B3-948B-1728B52AA6E4}">
                <adec:decorative xmlns:adec="http://schemas.microsoft.com/office/drawing/2017/decorative" val="1"/>
              </a:ext>
            </a:extLst>
          </p:cNvPr>
          <p:cNvSpPr/>
          <p:nvPr/>
        </p:nvSpPr>
        <p:spPr>
          <a:xfrm>
            <a:off x="2960608"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8691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35232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2608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744050"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6526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4100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3186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8018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7103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19353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1020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585254"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4938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25129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1598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643016"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5515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2499"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10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Hardware Support for Virtualization</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3">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3">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3"/>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The Virtual Machine Monitor</a:t>
            </a:r>
          </a:p>
        </p:txBody>
      </p:sp>
      <p:sp>
        <p:nvSpPr>
          <p:cNvPr id="70"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1" name="!!chipUS5">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US5">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US5"/>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Major Hypervisor Platforms</a:t>
            </a:r>
          </a:p>
        </p:txBody>
      </p:sp>
      <p:sp>
        <p:nvSpPr>
          <p:cNvPr id="74" name="!!chipUS6">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6">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6"/>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CPU and Memory Virtualization</a:t>
            </a:r>
          </a:p>
        </p:txBody>
      </p:sp>
      <p:sp>
        <p:nvSpPr>
          <p:cNvPr id="77" name="!!chipUS7">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7">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7"/>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Paravirtualization and Device Virtualization</a:t>
            </a:r>
          </a:p>
        </p:txBody>
      </p:sp>
      <p:sp>
        <p:nvSpPr>
          <p:cNvPr id="80" name="!!chipUS18">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18">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18"/>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18  </a:t>
            </a:r>
            <a:r>
              <a:rPr sz="1400" b="0" i="0">
                <a:solidFill>
                  <a:srgbClr val="1C252B"/>
                </a:solidFill>
                <a:latin typeface="Segoe UI"/>
              </a:rPr>
              <a:t>Performance Monitoring and Capacity Planning</a:t>
            </a:r>
          </a:p>
        </p:txBody>
      </p:sp>
      <p:sp>
        <p:nvSpPr>
          <p:cNvPr id="83" name="!!chipUS21">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chipbUS21">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tUS21"/>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Confidential Computing and Emerging Hardware</a:t>
            </a:r>
          </a:p>
        </p:txBody>
      </p:sp>
      <p:sp>
        <p:nvSpPr>
          <p:cNvPr id="8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pfill">
            <a:extLst>
              <a:ext uri="{C183D7F6-B498-43B3-948B-1728B52AA6E4}">
                <adec:decorative xmlns:adec="http://schemas.microsoft.com/office/drawing/2017/decorative" val="1"/>
              </a:ext>
            </a:extLst>
          </p:cNvPr>
          <p:cNvSpPr/>
          <p:nvPr/>
        </p:nvSpPr>
        <p:spPr>
          <a:xfrm>
            <a:off x="0" y="0"/>
            <a:ext cx="55416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30     </a:t>
            </a:r>
            <a:fld id="{B74F5065-CC91-4843-BC7F-B0F5FE033EC2}"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236794"/>
                </a:solidFill>
                <a:latin typeface="Segoe UI"/>
              </a:rPr>
              <a:t>Explain</a:t>
            </a:r>
            <a:r>
              <a:rPr sz="2000" b="0" i="0">
                <a:solidFill>
                  <a:srgbClr val="1C252B"/>
                </a:solidFill>
                <a:latin typeface="Segoe UI"/>
              </a:rPr>
              <a:t> how VMX root and non-root operation make x86 satisfy the Popek–Goldberg condition without changing a single instruction’s encoding.</a:t>
            </a:r>
          </a:p>
        </p:txBody>
      </p:sp>
      <p:sp>
        <p:nvSpPr>
          <p:cNvPr id="11" name="!!ob1">
            <a:extLst>
              <a:ext uri="{C183D7F6-B498-43B3-948B-1728B52AA6E4}">
                <adec:decorative xmlns:adec="http://schemas.microsoft.com/office/drawing/2017/decorative" val="1"/>
              </a:ext>
            </a:extLst>
          </p:cNvPr>
          <p:cNvSpPr/>
          <p:nvPr/>
        </p:nvSpPr>
        <p:spPr>
          <a:xfrm>
            <a:off x="658368" y="3038856"/>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09829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29712"/>
            <a:ext cx="10216591"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236794"/>
                </a:solidFill>
                <a:latin typeface="Segoe UI"/>
              </a:rPr>
              <a:t>Describe</a:t>
            </a:r>
            <a:r>
              <a:rPr sz="2000" b="0" i="0">
                <a:solidFill>
                  <a:srgbClr val="1C252B"/>
                </a:solidFill>
                <a:latin typeface="Segoe UI"/>
              </a:rPr>
              <a:t> what the VMCS holds and </a:t>
            </a:r>
            <a:r>
              <a:rPr sz="2000" b="1" i="0">
                <a:solidFill>
                  <a:srgbClr val="1C252B"/>
                </a:solidFill>
                <a:latin typeface="Segoe UI"/>
              </a:rPr>
              <a:t>account</a:t>
            </a:r>
            <a:r>
              <a:rPr sz="2000" b="0" i="0">
                <a:solidFill>
                  <a:srgbClr val="1C252B"/>
                </a:solidFill>
                <a:latin typeface="Segoe UI"/>
              </a:rPr>
              <a:t> for the cost of a VM exit in terms of the work the processor must do.</a:t>
            </a:r>
          </a:p>
        </p:txBody>
      </p:sp>
      <p:sp>
        <p:nvSpPr>
          <p:cNvPr id="14" name="!!ob2">
            <a:extLst>
              <a:ext uri="{C183D7F6-B498-43B3-948B-1728B52AA6E4}">
                <adec:decorative xmlns:adec="http://schemas.microsoft.com/office/drawing/2017/decorative" val="1"/>
              </a:ext>
            </a:extLst>
          </p:cNvPr>
          <p:cNvSpPr/>
          <p:nvPr/>
        </p:nvSpPr>
        <p:spPr>
          <a:xfrm>
            <a:off x="658368" y="3855720"/>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1515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846576"/>
            <a:ext cx="10216591"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236794"/>
                </a:solidFill>
                <a:latin typeface="Segoe UI"/>
              </a:rPr>
              <a:t>Count</a:t>
            </a:r>
            <a:r>
              <a:rPr sz="2000" b="0" i="0">
                <a:solidFill>
                  <a:srgbClr val="1C252B"/>
                </a:solidFill>
                <a:latin typeface="Segoe UI"/>
              </a:rPr>
              <a:t> the memory accesses in a nested page walk, and </a:t>
            </a:r>
            <a:r>
              <a:rPr sz="2000" b="1" i="0">
                <a:solidFill>
                  <a:srgbClr val="1C252B"/>
                </a:solidFill>
                <a:latin typeface="Segoe UI"/>
              </a:rPr>
              <a:t>explain</a:t>
            </a:r>
            <a:r>
              <a:rPr sz="2000" b="0" i="0">
                <a:solidFill>
                  <a:srgbClr val="1C252B"/>
                </a:solidFill>
                <a:latin typeface="Segoe UI"/>
              </a:rPr>
              <a:t> why two-dimensional paging replaced shadow page tables despite being slower on a TLB miss.</a:t>
            </a:r>
          </a:p>
        </p:txBody>
      </p:sp>
      <p:sp>
        <p:nvSpPr>
          <p:cNvPr id="17" name="!!ob3">
            <a:extLst>
              <a:ext uri="{C183D7F6-B498-43B3-948B-1728B52AA6E4}">
                <adec:decorative xmlns:adec="http://schemas.microsoft.com/office/drawing/2017/decorative" val="1"/>
              </a:ext>
            </a:extLst>
          </p:cNvPr>
          <p:cNvSpPr/>
          <p:nvPr/>
        </p:nvSpPr>
        <p:spPr>
          <a:xfrm>
            <a:off x="658368" y="4672584"/>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73202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21352"/>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236794"/>
                </a:solidFill>
                <a:latin typeface="Segoe UI"/>
              </a:rPr>
              <a:t>State</a:t>
            </a:r>
            <a:r>
              <a:rPr sz="2000" b="0" i="0">
                <a:solidFill>
                  <a:srgbClr val="1C252B"/>
                </a:solidFill>
                <a:latin typeface="Segoe UI"/>
              </a:rPr>
              <a:t> what an IOMMU does and why device passthrough is unsafe without one.</a:t>
            </a:r>
          </a:p>
        </p:txBody>
      </p:sp>
      <p:sp>
        <p:nvSpPr>
          <p:cNvPr id="20" name="!!ob4">
            <a:extLst>
              <a:ext uri="{C183D7F6-B498-43B3-948B-1728B52AA6E4}">
                <adec:decorative xmlns:adec="http://schemas.microsoft.com/office/drawing/2017/decorative" val="1"/>
              </a:ext>
            </a:extLst>
          </p:cNvPr>
          <p:cNvSpPr/>
          <p:nvPr/>
        </p:nvSpPr>
        <p:spPr>
          <a:xfrm>
            <a:off x="658368" y="5276088"/>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33552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266944"/>
            <a:ext cx="10216591"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236794"/>
                </a:solidFill>
                <a:latin typeface="Segoe UI"/>
              </a:rPr>
              <a:t>Diagnose</a:t>
            </a:r>
            <a:r>
              <a:rPr sz="2000" b="0" i="0">
                <a:solidFill>
                  <a:srgbClr val="1C252B"/>
                </a:solidFill>
                <a:latin typeface="Segoe UI"/>
              </a:rPr>
              <a:t> a performance problem as an exit-rate problem from measured counters, and </a:t>
            </a:r>
            <a:r>
              <a:rPr sz="2000" b="1" i="0">
                <a:solidFill>
                  <a:srgbClr val="1C252B"/>
                </a:solidFill>
                <a:latin typeface="Segoe UI"/>
              </a:rPr>
              <a:t>name</a:t>
            </a:r>
            <a:r>
              <a:rPr sz="2000" b="0" i="0">
                <a:solidFill>
                  <a:srgbClr val="1C252B"/>
                </a:solidFill>
                <a:latin typeface="Segoe UI"/>
              </a:rPr>
              <a:t> the feature that addresses it.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3125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30     </a:t>
            </a:r>
            <a:fld id="{C430AEC3-A8DD-47F3-9EDD-C9ED2B05EB7C}" type="slidenum">
              <a:rPr lang="en-GB" sz="1000">
                <a:solidFill>
                  <a:srgbClr val="8795A1"/>
                </a:solidFill>
                <a:latin typeface="Segoe UI"/>
              </a:rPr>
              <a:t>4</a:t>
            </a:fld>
          </a:p>
        </p:txBody>
      </p:sp>
      <p:sp>
        <p:nvSpPr>
          <p:cNvPr id="7" name="!!term-VT-x">
            <a:extLst>
              <a:ext uri="{C183D7F6-B498-43B3-948B-1728B52AA6E4}">
                <adec:decorative xmlns:adec="http://schemas.microsoft.com/office/drawing/2017/decorative" val="1"/>
              </a:ext>
            </a:extLst>
          </p:cNvPr>
          <p:cNvSpPr/>
          <p:nvPr/>
        </p:nvSpPr>
        <p:spPr>
          <a:xfrm>
            <a:off x="658368" y="1847088"/>
            <a:ext cx="8283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VT-x">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VT-x"/>
          <p:cNvSpPr txBox="1"/>
          <p:nvPr/>
        </p:nvSpPr>
        <p:spPr>
          <a:xfrm>
            <a:off x="950976" y="1970532"/>
            <a:ext cx="64548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VT-x</a:t>
            </a:r>
          </a:p>
        </p:txBody>
      </p:sp>
      <p:sp>
        <p:nvSpPr>
          <p:cNvPr id="10" name="!!term-AMD-V">
            <a:extLst>
              <a:ext uri="{C183D7F6-B498-43B3-948B-1728B52AA6E4}">
                <adec:decorative xmlns:adec="http://schemas.microsoft.com/office/drawing/2017/decorative" val="1"/>
              </a:ext>
            </a:extLst>
          </p:cNvPr>
          <p:cNvSpPr/>
          <p:nvPr/>
        </p:nvSpPr>
        <p:spPr>
          <a:xfrm>
            <a:off x="1633038" y="1847088"/>
            <a:ext cx="107333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AMD-V">
            <a:extLst>
              <a:ext uri="{C183D7F6-B498-43B3-948B-1728B52AA6E4}">
                <adec:decorative xmlns:adec="http://schemas.microsoft.com/office/drawing/2017/decorative" val="1"/>
              </a:ext>
            </a:extLst>
          </p:cNvPr>
          <p:cNvSpPr/>
          <p:nvPr/>
        </p:nvSpPr>
        <p:spPr>
          <a:xfrm>
            <a:off x="176105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AMD-V"/>
          <p:cNvSpPr txBox="1"/>
          <p:nvPr/>
        </p:nvSpPr>
        <p:spPr>
          <a:xfrm>
            <a:off x="1925646" y="1970532"/>
            <a:ext cx="89045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AMD-V</a:t>
            </a:r>
          </a:p>
        </p:txBody>
      </p:sp>
      <p:sp>
        <p:nvSpPr>
          <p:cNvPr id="13" name="!!term-SVM">
            <a:extLst>
              <a:ext uri="{C183D7F6-B498-43B3-948B-1728B52AA6E4}">
                <adec:decorative xmlns:adec="http://schemas.microsoft.com/office/drawing/2017/decorative" val="1"/>
              </a:ext>
            </a:extLst>
          </p:cNvPr>
          <p:cNvSpPr/>
          <p:nvPr/>
        </p:nvSpPr>
        <p:spPr>
          <a:xfrm>
            <a:off x="2852677" y="1847088"/>
            <a:ext cx="83724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SVM">
            <a:extLst>
              <a:ext uri="{C183D7F6-B498-43B3-948B-1728B52AA6E4}">
                <adec:decorative xmlns:adec="http://schemas.microsoft.com/office/drawing/2017/decorative" val="1"/>
              </a:ext>
            </a:extLst>
          </p:cNvPr>
          <p:cNvSpPr/>
          <p:nvPr/>
        </p:nvSpPr>
        <p:spPr>
          <a:xfrm>
            <a:off x="298069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SVM"/>
          <p:cNvSpPr txBox="1"/>
          <p:nvPr/>
        </p:nvSpPr>
        <p:spPr>
          <a:xfrm>
            <a:off x="3145285" y="1970532"/>
            <a:ext cx="65436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SVM</a:t>
            </a:r>
          </a:p>
        </p:txBody>
      </p:sp>
      <p:sp>
        <p:nvSpPr>
          <p:cNvPr id="16" name="!!term-VMX root opera">
            <a:extLst>
              <a:ext uri="{C183D7F6-B498-43B3-948B-1728B52AA6E4}">
                <adec:decorative xmlns:adec="http://schemas.microsoft.com/office/drawing/2017/decorative" val="1"/>
              </a:ext>
            </a:extLst>
          </p:cNvPr>
          <p:cNvSpPr/>
          <p:nvPr/>
        </p:nvSpPr>
        <p:spPr>
          <a:xfrm>
            <a:off x="3836228" y="1847088"/>
            <a:ext cx="214938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VMX root opera">
            <a:extLst>
              <a:ext uri="{C183D7F6-B498-43B3-948B-1728B52AA6E4}">
                <adec:decorative xmlns:adec="http://schemas.microsoft.com/office/drawing/2017/decorative" val="1"/>
              </a:ext>
            </a:extLst>
          </p:cNvPr>
          <p:cNvSpPr/>
          <p:nvPr/>
        </p:nvSpPr>
        <p:spPr>
          <a:xfrm>
            <a:off x="396424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VMX root opera"/>
          <p:cNvSpPr txBox="1"/>
          <p:nvPr/>
        </p:nvSpPr>
        <p:spPr>
          <a:xfrm>
            <a:off x="4128836" y="1970532"/>
            <a:ext cx="196650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VMX root operation</a:t>
            </a:r>
          </a:p>
        </p:txBody>
      </p:sp>
      <p:sp>
        <p:nvSpPr>
          <p:cNvPr id="19" name="!!term-VMX non-root o">
            <a:extLst>
              <a:ext uri="{C183D7F6-B498-43B3-948B-1728B52AA6E4}">
                <adec:decorative xmlns:adec="http://schemas.microsoft.com/office/drawing/2017/decorative" val="1"/>
              </a:ext>
            </a:extLst>
          </p:cNvPr>
          <p:cNvSpPr/>
          <p:nvPr/>
        </p:nvSpPr>
        <p:spPr>
          <a:xfrm>
            <a:off x="6131916" y="1847088"/>
            <a:ext cx="25609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VMX non-root o">
            <a:extLst>
              <a:ext uri="{C183D7F6-B498-43B3-948B-1728B52AA6E4}">
                <adec:decorative xmlns:adec="http://schemas.microsoft.com/office/drawing/2017/decorative" val="1"/>
              </a:ext>
            </a:extLst>
          </p:cNvPr>
          <p:cNvSpPr/>
          <p:nvPr/>
        </p:nvSpPr>
        <p:spPr>
          <a:xfrm>
            <a:off x="625993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VMX non-root o"/>
          <p:cNvSpPr txBox="1"/>
          <p:nvPr/>
        </p:nvSpPr>
        <p:spPr>
          <a:xfrm>
            <a:off x="6424524" y="1970532"/>
            <a:ext cx="237805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VMX non-root operation</a:t>
            </a:r>
          </a:p>
        </p:txBody>
      </p:sp>
      <p:sp>
        <p:nvSpPr>
          <p:cNvPr id="22" name="!!term-VMCS">
            <a:extLst>
              <a:ext uri="{C183D7F6-B498-43B3-948B-1728B52AA6E4}">
                <adec:decorative xmlns:adec="http://schemas.microsoft.com/office/drawing/2017/decorative" val="1"/>
              </a:ext>
            </a:extLst>
          </p:cNvPr>
          <p:cNvSpPr/>
          <p:nvPr/>
        </p:nvSpPr>
        <p:spPr>
          <a:xfrm>
            <a:off x="8839152" y="1847088"/>
            <a:ext cx="9575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VMCS">
            <a:extLst>
              <a:ext uri="{C183D7F6-B498-43B3-948B-1728B52AA6E4}">
                <adec:decorative xmlns:adec="http://schemas.microsoft.com/office/drawing/2017/decorative" val="1"/>
              </a:ext>
            </a:extLst>
          </p:cNvPr>
          <p:cNvSpPr/>
          <p:nvPr/>
        </p:nvSpPr>
        <p:spPr>
          <a:xfrm>
            <a:off x="896716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VMCS"/>
          <p:cNvSpPr txBox="1"/>
          <p:nvPr/>
        </p:nvSpPr>
        <p:spPr>
          <a:xfrm>
            <a:off x="9131760" y="1970532"/>
            <a:ext cx="77464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VMCS</a:t>
            </a:r>
          </a:p>
        </p:txBody>
      </p:sp>
      <p:sp>
        <p:nvSpPr>
          <p:cNvPr id="25" name="!!term-VMCB">
            <a:extLst>
              <a:ext uri="{C183D7F6-B498-43B3-948B-1728B52AA6E4}">
                <adec:decorative xmlns:adec="http://schemas.microsoft.com/office/drawing/2017/decorative" val="1"/>
              </a:ext>
            </a:extLst>
          </p:cNvPr>
          <p:cNvSpPr/>
          <p:nvPr/>
        </p:nvSpPr>
        <p:spPr>
          <a:xfrm>
            <a:off x="9942981" y="1847088"/>
            <a:ext cx="9656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VMCB">
            <a:extLst>
              <a:ext uri="{C183D7F6-B498-43B3-948B-1728B52AA6E4}">
                <adec:decorative xmlns:adec="http://schemas.microsoft.com/office/drawing/2017/decorative" val="1"/>
              </a:ext>
            </a:extLst>
          </p:cNvPr>
          <p:cNvSpPr/>
          <p:nvPr/>
        </p:nvSpPr>
        <p:spPr>
          <a:xfrm>
            <a:off x="1007099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VMCB"/>
          <p:cNvSpPr txBox="1"/>
          <p:nvPr/>
        </p:nvSpPr>
        <p:spPr>
          <a:xfrm>
            <a:off x="10235589" y="1970532"/>
            <a:ext cx="78280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VMCB</a:t>
            </a:r>
          </a:p>
        </p:txBody>
      </p:sp>
      <p:sp>
        <p:nvSpPr>
          <p:cNvPr id="28" name="!!term-VM entry">
            <a:extLst>
              <a:ext uri="{C183D7F6-B498-43B3-948B-1728B52AA6E4}">
                <adec:decorative xmlns:adec="http://schemas.microsoft.com/office/drawing/2017/decorative" val="1"/>
              </a:ext>
            </a:extLst>
          </p:cNvPr>
          <p:cNvSpPr/>
          <p:nvPr/>
        </p:nvSpPr>
        <p:spPr>
          <a:xfrm>
            <a:off x="658368" y="2468880"/>
            <a:ext cx="12265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VM entry">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VM entry"/>
          <p:cNvSpPr txBox="1"/>
          <p:nvPr/>
        </p:nvSpPr>
        <p:spPr>
          <a:xfrm>
            <a:off x="950976" y="2592324"/>
            <a:ext cx="104369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VM entry</a:t>
            </a:r>
          </a:p>
        </p:txBody>
      </p:sp>
      <p:sp>
        <p:nvSpPr>
          <p:cNvPr id="31" name="!!term-VM exit">
            <a:extLst>
              <a:ext uri="{C183D7F6-B498-43B3-948B-1728B52AA6E4}">
                <adec:decorative xmlns:adec="http://schemas.microsoft.com/office/drawing/2017/decorative" val="1"/>
              </a:ext>
            </a:extLst>
          </p:cNvPr>
          <p:cNvSpPr/>
          <p:nvPr/>
        </p:nvSpPr>
        <p:spPr>
          <a:xfrm>
            <a:off x="2031243" y="2468880"/>
            <a:ext cx="10910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VM exit">
            <a:extLst>
              <a:ext uri="{C183D7F6-B498-43B3-948B-1728B52AA6E4}">
                <adec:decorative xmlns:adec="http://schemas.microsoft.com/office/drawing/2017/decorative" val="1"/>
              </a:ext>
            </a:extLst>
          </p:cNvPr>
          <p:cNvSpPr/>
          <p:nvPr/>
        </p:nvSpPr>
        <p:spPr>
          <a:xfrm>
            <a:off x="215925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VM exit"/>
          <p:cNvSpPr txBox="1"/>
          <p:nvPr/>
        </p:nvSpPr>
        <p:spPr>
          <a:xfrm>
            <a:off x="2323851" y="2592324"/>
            <a:ext cx="90813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VM exit</a:t>
            </a:r>
          </a:p>
        </p:txBody>
      </p:sp>
      <p:sp>
        <p:nvSpPr>
          <p:cNvPr id="34" name="!!term-exit reason">
            <a:extLst>
              <a:ext uri="{C183D7F6-B498-43B3-948B-1728B52AA6E4}">
                <adec:decorative xmlns:adec="http://schemas.microsoft.com/office/drawing/2017/decorative" val="1"/>
              </a:ext>
            </a:extLst>
          </p:cNvPr>
          <p:cNvSpPr/>
          <p:nvPr/>
        </p:nvSpPr>
        <p:spPr>
          <a:xfrm>
            <a:off x="3268564" y="2468880"/>
            <a:ext cx="13702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exit reason">
            <a:extLst>
              <a:ext uri="{C183D7F6-B498-43B3-948B-1728B52AA6E4}">
                <adec:decorative xmlns:adec="http://schemas.microsoft.com/office/drawing/2017/decorative" val="1"/>
              </a:ext>
            </a:extLst>
          </p:cNvPr>
          <p:cNvSpPr/>
          <p:nvPr/>
        </p:nvSpPr>
        <p:spPr>
          <a:xfrm>
            <a:off x="339658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exit reason"/>
          <p:cNvSpPr txBox="1"/>
          <p:nvPr/>
        </p:nvSpPr>
        <p:spPr>
          <a:xfrm>
            <a:off x="3561172" y="2592324"/>
            <a:ext cx="118732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exit reason</a:t>
            </a:r>
          </a:p>
        </p:txBody>
      </p:sp>
      <p:sp>
        <p:nvSpPr>
          <p:cNvPr id="37" name="!!term-world switch">
            <a:extLst>
              <a:ext uri="{C183D7F6-B498-43B3-948B-1728B52AA6E4}">
                <adec:decorative xmlns:adec="http://schemas.microsoft.com/office/drawing/2017/decorative" val="1"/>
              </a:ext>
            </a:extLst>
          </p:cNvPr>
          <p:cNvSpPr/>
          <p:nvPr/>
        </p:nvSpPr>
        <p:spPr>
          <a:xfrm>
            <a:off x="4785068" y="2468880"/>
            <a:ext cx="15110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world switch">
            <a:extLst>
              <a:ext uri="{C183D7F6-B498-43B3-948B-1728B52AA6E4}">
                <adec:decorative xmlns:adec="http://schemas.microsoft.com/office/drawing/2017/decorative" val="1"/>
              </a:ext>
            </a:extLst>
          </p:cNvPr>
          <p:cNvSpPr/>
          <p:nvPr/>
        </p:nvSpPr>
        <p:spPr>
          <a:xfrm>
            <a:off x="49130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world switch"/>
          <p:cNvSpPr txBox="1"/>
          <p:nvPr/>
        </p:nvSpPr>
        <p:spPr>
          <a:xfrm>
            <a:off x="5077676" y="2592324"/>
            <a:ext cx="132818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world switch</a:t>
            </a:r>
          </a:p>
        </p:txBody>
      </p:sp>
      <p:sp>
        <p:nvSpPr>
          <p:cNvPr id="40" name="!!term-shadow page ta">
            <a:extLst>
              <a:ext uri="{C183D7F6-B498-43B3-948B-1728B52AA6E4}">
                <adec:decorative xmlns:adec="http://schemas.microsoft.com/office/drawing/2017/decorative" val="1"/>
              </a:ext>
            </a:extLst>
          </p:cNvPr>
          <p:cNvSpPr/>
          <p:nvPr/>
        </p:nvSpPr>
        <p:spPr>
          <a:xfrm>
            <a:off x="6442438" y="2468880"/>
            <a:ext cx="20623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shadow page ta">
            <a:extLst>
              <a:ext uri="{C183D7F6-B498-43B3-948B-1728B52AA6E4}">
                <adec:decorative xmlns:adec="http://schemas.microsoft.com/office/drawing/2017/decorative" val="1"/>
              </a:ext>
            </a:extLst>
          </p:cNvPr>
          <p:cNvSpPr/>
          <p:nvPr/>
        </p:nvSpPr>
        <p:spPr>
          <a:xfrm>
            <a:off x="657045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shadow page ta"/>
          <p:cNvSpPr txBox="1"/>
          <p:nvPr/>
        </p:nvSpPr>
        <p:spPr>
          <a:xfrm>
            <a:off x="6735046" y="2592324"/>
            <a:ext cx="187945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shadow page table</a:t>
            </a:r>
          </a:p>
        </p:txBody>
      </p:sp>
      <p:sp>
        <p:nvSpPr>
          <p:cNvPr id="43" name="!!term-extended page ">
            <a:extLst>
              <a:ext uri="{C183D7F6-B498-43B3-948B-1728B52AA6E4}">
                <adec:decorative xmlns:adec="http://schemas.microsoft.com/office/drawing/2017/decorative" val="1"/>
              </a:ext>
            </a:extLst>
          </p:cNvPr>
          <p:cNvSpPr/>
          <p:nvPr/>
        </p:nvSpPr>
        <p:spPr>
          <a:xfrm>
            <a:off x="8651075" y="2468880"/>
            <a:ext cx="22834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extended page ">
            <a:extLst>
              <a:ext uri="{C183D7F6-B498-43B3-948B-1728B52AA6E4}">
                <adec:decorative xmlns:adec="http://schemas.microsoft.com/office/drawing/2017/decorative" val="1"/>
              </a:ext>
            </a:extLst>
          </p:cNvPr>
          <p:cNvSpPr/>
          <p:nvPr/>
        </p:nvSpPr>
        <p:spPr>
          <a:xfrm>
            <a:off x="877909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extended page "/>
          <p:cNvSpPr txBox="1"/>
          <p:nvPr/>
        </p:nvSpPr>
        <p:spPr>
          <a:xfrm>
            <a:off x="8943683" y="2592324"/>
            <a:ext cx="210055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extended page tables</a:t>
            </a:r>
          </a:p>
        </p:txBody>
      </p:sp>
      <p:sp>
        <p:nvSpPr>
          <p:cNvPr id="46" name="!!term-nested page ta">
            <a:extLst>
              <a:ext uri="{C183D7F6-B498-43B3-948B-1728B52AA6E4}">
                <adec:decorative xmlns:adec="http://schemas.microsoft.com/office/drawing/2017/decorative" val="1"/>
              </a:ext>
            </a:extLst>
          </p:cNvPr>
          <p:cNvSpPr/>
          <p:nvPr/>
        </p:nvSpPr>
        <p:spPr>
          <a:xfrm>
            <a:off x="658368" y="3090672"/>
            <a:ext cx="206055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nested page ta">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nested page ta"/>
          <p:cNvSpPr txBox="1"/>
          <p:nvPr/>
        </p:nvSpPr>
        <p:spPr>
          <a:xfrm>
            <a:off x="950976" y="3214116"/>
            <a:ext cx="187767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nested page tables</a:t>
            </a:r>
          </a:p>
        </p:txBody>
      </p:sp>
      <p:sp>
        <p:nvSpPr>
          <p:cNvPr id="49" name="!!term-two-dimensiona">
            <a:extLst>
              <a:ext uri="{C183D7F6-B498-43B3-948B-1728B52AA6E4}">
                <adec:decorative xmlns:adec="http://schemas.microsoft.com/office/drawing/2017/decorative" val="1"/>
              </a:ext>
            </a:extLst>
          </p:cNvPr>
          <p:cNvSpPr/>
          <p:nvPr/>
        </p:nvSpPr>
        <p:spPr>
          <a:xfrm>
            <a:off x="2865231" y="3090672"/>
            <a:ext cx="252866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two-dimensiona">
            <a:extLst>
              <a:ext uri="{C183D7F6-B498-43B3-948B-1728B52AA6E4}">
                <adec:decorative xmlns:adec="http://schemas.microsoft.com/office/drawing/2017/decorative" val="1"/>
              </a:ext>
            </a:extLst>
          </p:cNvPr>
          <p:cNvSpPr/>
          <p:nvPr/>
        </p:nvSpPr>
        <p:spPr>
          <a:xfrm>
            <a:off x="299324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two-dimensiona"/>
          <p:cNvSpPr txBox="1"/>
          <p:nvPr/>
        </p:nvSpPr>
        <p:spPr>
          <a:xfrm>
            <a:off x="3157839" y="3214116"/>
            <a:ext cx="234578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two-dimensional paging</a:t>
            </a:r>
          </a:p>
        </p:txBody>
      </p:sp>
      <p:sp>
        <p:nvSpPr>
          <p:cNvPr id="52" name="!!term-nested page wa">
            <a:extLst>
              <a:ext uri="{C183D7F6-B498-43B3-948B-1728B52AA6E4}">
                <adec:decorative xmlns:adec="http://schemas.microsoft.com/office/drawing/2017/decorative" val="1"/>
              </a:ext>
            </a:extLst>
          </p:cNvPr>
          <p:cNvSpPr/>
          <p:nvPr/>
        </p:nvSpPr>
        <p:spPr>
          <a:xfrm>
            <a:off x="5540202" y="3090672"/>
            <a:ext cx="19334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nested page wa">
            <a:extLst>
              <a:ext uri="{C183D7F6-B498-43B3-948B-1728B52AA6E4}">
                <adec:decorative xmlns:adec="http://schemas.microsoft.com/office/drawing/2017/decorative" val="1"/>
              </a:ext>
            </a:extLst>
          </p:cNvPr>
          <p:cNvSpPr/>
          <p:nvPr/>
        </p:nvSpPr>
        <p:spPr>
          <a:xfrm>
            <a:off x="566821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nested page wa"/>
          <p:cNvSpPr txBox="1"/>
          <p:nvPr/>
        </p:nvSpPr>
        <p:spPr>
          <a:xfrm>
            <a:off x="5832810" y="3214116"/>
            <a:ext cx="175060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nested page walk</a:t>
            </a:r>
          </a:p>
        </p:txBody>
      </p:sp>
      <p:sp>
        <p:nvSpPr>
          <p:cNvPr id="55" name="!!term-VPID">
            <a:extLst>
              <a:ext uri="{C183D7F6-B498-43B3-948B-1728B52AA6E4}">
                <adec:decorative xmlns:adec="http://schemas.microsoft.com/office/drawing/2017/decorative" val="1"/>
              </a:ext>
            </a:extLst>
          </p:cNvPr>
          <p:cNvSpPr/>
          <p:nvPr/>
        </p:nvSpPr>
        <p:spPr>
          <a:xfrm>
            <a:off x="7619987" y="3090672"/>
            <a:ext cx="8562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VPID">
            <a:extLst>
              <a:ext uri="{C183D7F6-B498-43B3-948B-1728B52AA6E4}">
                <adec:decorative xmlns:adec="http://schemas.microsoft.com/office/drawing/2017/decorative" val="1"/>
              </a:ext>
            </a:extLst>
          </p:cNvPr>
          <p:cNvSpPr/>
          <p:nvPr/>
        </p:nvSpPr>
        <p:spPr>
          <a:xfrm>
            <a:off x="774800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VPID"/>
          <p:cNvSpPr txBox="1"/>
          <p:nvPr/>
        </p:nvSpPr>
        <p:spPr>
          <a:xfrm>
            <a:off x="7912595" y="3214116"/>
            <a:ext cx="67340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VPID</a:t>
            </a:r>
          </a:p>
        </p:txBody>
      </p:sp>
      <p:sp>
        <p:nvSpPr>
          <p:cNvPr id="58" name="!!term-IOMMU">
            <a:extLst>
              <a:ext uri="{C183D7F6-B498-43B3-948B-1728B52AA6E4}">
                <adec:decorative xmlns:adec="http://schemas.microsoft.com/office/drawing/2017/decorative" val="1"/>
              </a:ext>
            </a:extLst>
          </p:cNvPr>
          <p:cNvSpPr/>
          <p:nvPr/>
        </p:nvSpPr>
        <p:spPr>
          <a:xfrm>
            <a:off x="8622581" y="3090672"/>
            <a:ext cx="111957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IOMMU">
            <a:extLst>
              <a:ext uri="{C183D7F6-B498-43B3-948B-1728B52AA6E4}">
                <adec:decorative xmlns:adec="http://schemas.microsoft.com/office/drawing/2017/decorative" val="1"/>
              </a:ext>
            </a:extLst>
          </p:cNvPr>
          <p:cNvSpPr/>
          <p:nvPr/>
        </p:nvSpPr>
        <p:spPr>
          <a:xfrm>
            <a:off x="875059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IOMMU"/>
          <p:cNvSpPr txBox="1"/>
          <p:nvPr/>
        </p:nvSpPr>
        <p:spPr>
          <a:xfrm>
            <a:off x="8915189" y="3214116"/>
            <a:ext cx="93669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IOMMU</a:t>
            </a:r>
          </a:p>
        </p:txBody>
      </p:sp>
      <p:sp>
        <p:nvSpPr>
          <p:cNvPr id="61" name="!!term-VT-d">
            <a:extLst>
              <a:ext uri="{C183D7F6-B498-43B3-948B-1728B52AA6E4}">
                <adec:decorative xmlns:adec="http://schemas.microsoft.com/office/drawing/2017/decorative" val="1"/>
              </a:ext>
            </a:extLst>
          </p:cNvPr>
          <p:cNvSpPr/>
          <p:nvPr/>
        </p:nvSpPr>
        <p:spPr>
          <a:xfrm>
            <a:off x="9888465" y="3090672"/>
            <a:ext cx="8536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VT-d">
            <a:extLst>
              <a:ext uri="{C183D7F6-B498-43B3-948B-1728B52AA6E4}">
                <adec:decorative xmlns:adec="http://schemas.microsoft.com/office/drawing/2017/decorative" val="1"/>
              </a:ext>
            </a:extLst>
          </p:cNvPr>
          <p:cNvSpPr/>
          <p:nvPr/>
        </p:nvSpPr>
        <p:spPr>
          <a:xfrm>
            <a:off x="1001648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VT-d"/>
          <p:cNvSpPr txBox="1"/>
          <p:nvPr/>
        </p:nvSpPr>
        <p:spPr>
          <a:xfrm>
            <a:off x="10181073" y="3214116"/>
            <a:ext cx="67074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VT-d</a:t>
            </a:r>
          </a:p>
        </p:txBody>
      </p:sp>
      <p:sp>
        <p:nvSpPr>
          <p:cNvPr id="64" name="!!term-DMA remapping">
            <a:extLst>
              <a:ext uri="{C183D7F6-B498-43B3-948B-1728B52AA6E4}">
                <adec:decorative xmlns:adec="http://schemas.microsoft.com/office/drawing/2017/decorative" val="1"/>
              </a:ext>
            </a:extLst>
          </p:cNvPr>
          <p:cNvSpPr/>
          <p:nvPr/>
        </p:nvSpPr>
        <p:spPr>
          <a:xfrm>
            <a:off x="658368" y="3712464"/>
            <a:ext cx="18635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DMA remapping">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DMA remapping"/>
          <p:cNvSpPr txBox="1"/>
          <p:nvPr/>
        </p:nvSpPr>
        <p:spPr>
          <a:xfrm>
            <a:off x="950976" y="3835908"/>
            <a:ext cx="168067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DMA remapping</a:t>
            </a:r>
          </a:p>
        </p:txBody>
      </p:sp>
      <p:sp>
        <p:nvSpPr>
          <p:cNvPr id="67" name="!!term-interrupt rema">
            <a:extLst>
              <a:ext uri="{C183D7F6-B498-43B3-948B-1728B52AA6E4}">
                <adec:decorative xmlns:adec="http://schemas.microsoft.com/office/drawing/2017/decorative" val="1"/>
              </a:ext>
            </a:extLst>
          </p:cNvPr>
          <p:cNvSpPr/>
          <p:nvPr/>
        </p:nvSpPr>
        <p:spPr>
          <a:xfrm>
            <a:off x="2668225" y="3712464"/>
            <a:ext cx="217733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rmd-interrupt rema">
            <a:extLst>
              <a:ext uri="{C183D7F6-B498-43B3-948B-1728B52AA6E4}">
                <adec:decorative xmlns:adec="http://schemas.microsoft.com/office/drawing/2017/decorative" val="1"/>
              </a:ext>
            </a:extLst>
          </p:cNvPr>
          <p:cNvSpPr/>
          <p:nvPr/>
        </p:nvSpPr>
        <p:spPr>
          <a:xfrm>
            <a:off x="2796241"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termt-interrupt rema"/>
          <p:cNvSpPr txBox="1"/>
          <p:nvPr/>
        </p:nvSpPr>
        <p:spPr>
          <a:xfrm>
            <a:off x="2960833" y="3835908"/>
            <a:ext cx="199445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interrupt remapping</a:t>
            </a:r>
          </a:p>
        </p:txBody>
      </p:sp>
      <p:sp>
        <p:nvSpPr>
          <p:cNvPr id="70"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7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pfill">
            <a:extLst>
              <a:ext uri="{C183D7F6-B498-43B3-948B-1728B52AA6E4}">
                <adec:decorative xmlns:adec="http://schemas.microsoft.com/office/drawing/2017/decorative" val="1"/>
              </a:ext>
            </a:extLst>
          </p:cNvPr>
          <p:cNvSpPr/>
          <p:nvPr/>
        </p:nvSpPr>
        <p:spPr>
          <a:xfrm>
            <a:off x="0" y="0"/>
            <a:ext cx="110833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30–37     </a:t>
            </a:r>
            <a:fld id="{65C7F2C6-0F43-4BA9-8333-A29EBAECBF8F}" type="slidenum">
              <a:rPr lang="en-GB" sz="1000">
                <a:solidFill>
                  <a:srgbClr val="8795A1"/>
                </a:solidFill>
                <a:latin typeface="Segoe UI"/>
              </a:rPr>
              <a:t>5</a:t>
            </a:fld>
          </a:p>
        </p:txBody>
      </p:sp>
      <p:sp>
        <p:nvSpPr>
          <p:cNvPr id="7" name="!!ag0" descr="Go to section 4.1 What Intel and AMD Had to Fix">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4.1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Intel and AMD Had to Fix</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30  ›</a:t>
            </a:r>
          </a:p>
        </p:txBody>
      </p:sp>
      <p:sp>
        <p:nvSpPr>
          <p:cNvPr id="12" name="!!ag1" descr="Go to section 4.2 The VMCS, and What a Transition Cost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4.2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VMCS, and What a Transition Costs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31  ›</a:t>
            </a:r>
          </a:p>
        </p:txBody>
      </p:sp>
      <p:sp>
        <p:nvSpPr>
          <p:cNvPr id="17" name="!!ag2" descr="Go to section 4.3 Two-Dimensional Paging">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4.3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Two-Dimensional Paging</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32  ›</a:t>
            </a:r>
          </a:p>
        </p:txBody>
      </p:sp>
      <p:sp>
        <p:nvSpPr>
          <p:cNvPr id="22" name="!!ag3" descr="Go to section 4.4 The IOMMU">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4.4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IOMMU</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34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38541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Intel and AMD Had to Fix</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4.1   What Intel and AMD Had to Fix</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The VMCS, and What a Transition Costs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Two-Dimensional Paging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The IOMMU</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§4.1     </a:t>
            </a:r>
            <a:fld id="{021FFF15-CC77-406F-8B44-C74AFAF5C4E3}" type="slidenum">
              <a:rPr lang="en-GB" sz="1000">
                <a:solidFill>
                  <a:srgbClr val="8795A1"/>
                </a:solidFill>
                <a:latin typeface="Segoe UI"/>
              </a:rPr>
              <a:t>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66250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VMX Root and Non-Root Operation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§4.1  ·  Handout p. 30     </a:t>
            </a:r>
            <a:fld id="{EB19A529-F528-4676-947A-3F23DB198C5C}"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84243"/>
          </a:xfrm>
          <a:prstGeom prst="roundRect">
            <a:avLst>
              <a:gd name="adj" fmla="val 2134"/>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8424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VT-x adds a new dimension to the privilege model. Orthogonally to rings 0–3, the processor is in one of two </a:t>
            </a:r>
            <a:r>
              <a:rPr sz="1900" b="1" i="0">
                <a:solidFill>
                  <a:srgbClr val="1A5276"/>
                </a:solidFill>
                <a:latin typeface="Segoe UI"/>
              </a:rPr>
              <a:t>operations</a:t>
            </a:r>
            <a:r>
              <a:rPr sz="1900" b="0" i="0">
                <a:solidFill>
                  <a:srgbClr val="1C252B"/>
                </a:solidFill>
                <a:latin typeface="Segoe UI"/>
              </a:rPr>
              <a:t>:</a:t>
            </a:r>
          </a:p>
        </p:txBody>
      </p:sp>
      <p:sp>
        <p:nvSpPr>
          <p:cNvPr id="10" name="body-1"/>
          <p:cNvSpPr txBox="1"/>
          <p:nvPr/>
        </p:nvSpPr>
        <p:spPr>
          <a:xfrm>
            <a:off x="1060704" y="2783255"/>
            <a:ext cx="10161727" cy="193702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8A4500"/>
                </a:solidFill>
                <a:latin typeface="Segoe UI"/>
              </a:rPr>
              <a:t>•	</a:t>
            </a:r>
            <a:r>
              <a:rPr sz="1900" b="1" i="0">
                <a:solidFill>
                  <a:srgbClr val="1A5276"/>
                </a:solidFill>
                <a:latin typeface="Segoe UI"/>
              </a:rPr>
              <a:t>VMX root operation</a:t>
            </a:r>
            <a:r>
              <a:rPr sz="1900" b="0" i="0">
                <a:solidFill>
                  <a:srgbClr val="1C252B"/>
                </a:solidFill>
                <a:latin typeface="Segoe UI"/>
              </a:rPr>
              <a:t> — what the hypervisor runs in. Behaves like an ordinary processor, plus a set of new instructions (</a:t>
            </a:r>
            <a:r>
              <a:rPr sz="1800" b="0" i="0">
                <a:solidFill>
                  <a:srgbClr val="1F4E79"/>
                </a:solidFill>
                <a:latin typeface="Consolas"/>
              </a:rPr>
              <a:t>VMXON</a:t>
            </a:r>
            <a:r>
              <a:rPr sz="1900" b="0" i="0">
                <a:solidFill>
                  <a:srgbClr val="1C252B"/>
                </a:solidFill>
                <a:latin typeface="Segoe UI"/>
              </a:rPr>
              <a:t>, </a:t>
            </a:r>
            <a:r>
              <a:rPr sz="1800" b="0" i="0">
                <a:solidFill>
                  <a:srgbClr val="1F4E79"/>
                </a:solidFill>
                <a:latin typeface="Consolas"/>
              </a:rPr>
              <a:t>VMLAUNCH</a:t>
            </a:r>
            <a:r>
              <a:rPr sz="1900" b="0" i="0">
                <a:solidFill>
                  <a:srgbClr val="1C252B"/>
                </a:solidFill>
                <a:latin typeface="Segoe UI"/>
              </a:rPr>
              <a:t>, </a:t>
            </a:r>
            <a:r>
              <a:rPr sz="1800" b="0" i="0">
                <a:solidFill>
                  <a:srgbClr val="1F4E79"/>
                </a:solidFill>
                <a:latin typeface="Consolas"/>
              </a:rPr>
              <a:t>VMRESUME</a:t>
            </a:r>
            <a:r>
              <a:rPr sz="1900" b="0" i="0">
                <a:solidFill>
                  <a:srgbClr val="1C252B"/>
                </a:solidFill>
                <a:latin typeface="Segoe UI"/>
              </a:rPr>
              <a:t>, </a:t>
            </a:r>
            <a:r>
              <a:rPr sz="1800" b="0" i="0">
                <a:solidFill>
                  <a:srgbClr val="1F4E79"/>
                </a:solidFill>
                <a:latin typeface="Consolas"/>
              </a:rPr>
              <a:t>VMREAD</a:t>
            </a:r>
            <a:r>
              <a:rPr sz="1900" b="0" i="0">
                <a:solidFill>
                  <a:srgbClr val="1C252B"/>
                </a:solidFill>
                <a:latin typeface="Segoe UI"/>
              </a:rPr>
              <a:t>, </a:t>
            </a:r>
            <a:r>
              <a:rPr sz="1800" b="0" i="0">
                <a:solidFill>
                  <a:srgbClr val="1F4E79"/>
                </a:solidFill>
                <a:latin typeface="Consolas"/>
              </a:rPr>
              <a:t>VMWRITE</a:t>
            </a:r>
            <a:r>
              <a:rPr sz="1900" b="0" i="0">
                <a:solidFill>
                  <a:srgbClr val="1C252B"/>
                </a:solidFill>
                <a:latin typeface="Segoe UI"/>
              </a:rPr>
              <a:t>) for managing guests.</a:t>
            </a:r>
          </a:p>
          <a:p>
            <a:pPr algn="l" marL="212450" indent="-212450">
              <a:lnSpc>
                <a:spcPct val="104000"/>
              </a:lnSpc>
              <a:spcBef>
                <a:spcPts val="0"/>
              </a:spcBef>
              <a:spcAft>
                <a:spcPts val="0"/>
              </a:spcAft>
            </a:pPr>
            <a:r>
              <a:rPr sz="1900" b="1">
                <a:solidFill>
                  <a:srgbClr val="8A4500"/>
                </a:solidFill>
                <a:latin typeface="Segoe UI"/>
              </a:rPr>
              <a:t>•	</a:t>
            </a:r>
            <a:r>
              <a:rPr sz="1900" b="1" i="0">
                <a:solidFill>
                  <a:srgbClr val="1A5276"/>
                </a:solidFill>
                <a:latin typeface="Segoe UI"/>
              </a:rPr>
              <a:t>VMX non-root operation</a:t>
            </a:r>
            <a:r>
              <a:rPr sz="1900" b="0" i="0">
                <a:solidFill>
                  <a:srgbClr val="1C252B"/>
                </a:solidFill>
                <a:latin typeface="Segoe UI"/>
              </a:rPr>
              <a:t> — what a guest runs in. All four rings are available, so a guest kernel runs in </a:t>
            </a:r>
            <a:r>
              <a:rPr sz="1900" b="1" i="0">
                <a:solidFill>
                  <a:srgbClr val="1C252B"/>
                </a:solidFill>
                <a:latin typeface="Segoe UI"/>
              </a:rPr>
              <a:t>ring 0</a:t>
            </a:r>
            <a:r>
              <a:rPr sz="1900" b="0" i="0">
                <a:solidFill>
                  <a:srgbClr val="1C252B"/>
                </a:solidFill>
                <a:latin typeface="Segoe UI"/>
              </a:rPr>
              <a:t> exactly as it expects. But certain instructions and events cause a </a:t>
            </a:r>
            <a:r>
              <a:rPr sz="1900" b="1" i="0">
                <a:solidFill>
                  <a:srgbClr val="1A5276"/>
                </a:solidFill>
                <a:latin typeface="Segoe UI"/>
              </a:rPr>
              <a:t>VM exit</a:t>
            </a:r>
            <a:r>
              <a:rPr sz="1900" b="0" i="0">
                <a:solidFill>
                  <a:srgbClr val="1C252B"/>
                </a:solidFill>
                <a:latin typeface="Segoe UI"/>
              </a:rPr>
              <a:t>: control transfers to the hypervisor in root operation.</a:t>
            </a:r>
          </a:p>
        </p:txBody>
      </p:sp>
      <p:sp>
        <p:nvSpPr>
          <p:cNvPr id="11" name="body-2"/>
          <p:cNvSpPr txBox="1"/>
          <p:nvPr/>
        </p:nvSpPr>
        <p:spPr>
          <a:xfrm>
            <a:off x="1060704" y="4807280"/>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guest kernel is no longer deprivileged. It runs in ring 0, reads its own privilege level as 0, and sees the descriptor tables it installed. Ring aliasing is gone, the seventeen instructions trap, and equivalence holds — without a single instruction changing its meaning.</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93958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VT-x in one picture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4.1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§4.1  ·  Handout p. 30     </a:t>
            </a:r>
            <a:fld id="{7AA8DA9E-7CD0-4832-8B54-DE74EA9CC508}" type="slidenum">
              <a:rPr lang="en-GB" sz="1000">
                <a:solidFill>
                  <a:srgbClr val="8795A1"/>
                </a:solidFill>
                <a:latin typeface="Segoe UI"/>
              </a:rPr>
              <a:t>8</a:t>
            </a:fld>
          </a:p>
        </p:txBody>
      </p:sp>
      <p:pic>
        <p:nvPicPr>
          <p:cNvPr id="6" name="!!figure" descr="Figure 4.1. VT-x in one picture. The guest runs in ring 0 of a second operating mode, so nothing it executes behaves unexpectedly; the hypervisor regains control through a hardware transition rather than a trap it had to arrang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69492"/>
            <a:ext cx="10874959" cy="355689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guest runs in ring 0 of a second operating mode, so nothing it executes behaves unexpectedly; the hypervisor regains control through a hardware transition rather than a trap it had to arrange.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21667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AMD Did the Same Thing with Different Names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§4.1  ·  Handout p. 30     </a:t>
            </a:r>
            <a:fld id="{D3E1055F-6483-4B03-B252-B8B717ECDA4D}"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99788"/>
          </a:xfrm>
          <a:prstGeom prst="roundRect">
            <a:avLst>
              <a:gd name="adj" fmla="val 2177"/>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997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AMD-V (originally </a:t>
            </a:r>
            <a:r>
              <a:rPr sz="1900" b="0" i="1">
                <a:solidFill>
                  <a:srgbClr val="1C252B"/>
                </a:solidFill>
                <a:latin typeface="Segoe UI"/>
              </a:rPr>
              <a:t>Pacifica</a:t>
            </a:r>
            <a:r>
              <a:rPr sz="1900" b="0" i="0">
                <a:solidFill>
                  <a:srgbClr val="1C252B"/>
                </a:solidFill>
                <a:latin typeface="Segoe UI"/>
              </a:rPr>
              <a:t>, architecturally </a:t>
            </a:r>
            <a:r>
              <a:rPr sz="1900" b="1" i="0">
                <a:solidFill>
                  <a:srgbClr val="1A5276"/>
                </a:solidFill>
                <a:latin typeface="Segoe UI"/>
              </a:rPr>
              <a:t>SVM</a:t>
            </a:r>
            <a:r>
              <a:rPr sz="1900" b="0" i="0">
                <a:solidFill>
                  <a:srgbClr val="1C252B"/>
                </a:solidFill>
                <a:latin typeface="Segoe UI"/>
              </a:rPr>
              <a:t>) solves the same problem with the same structure and an incompatible vocabulary. Guest mode corresponds to non-root operation; the </a:t>
            </a:r>
            <a:r>
              <a:rPr sz="1900" b="1" i="0">
                <a:solidFill>
                  <a:srgbClr val="1A5276"/>
                </a:solidFill>
                <a:latin typeface="Segoe UI"/>
              </a:rPr>
              <a:t>VMCB</a:t>
            </a:r>
            <a:r>
              <a:rPr sz="1900" b="0" i="0">
                <a:solidFill>
                  <a:srgbClr val="1C252B"/>
                </a:solidFill>
                <a:latin typeface="Segoe UI"/>
              </a:rPr>
              <a:t> (virtual machine control block) corresponds to the VMCS; </a:t>
            </a:r>
            <a:r>
              <a:rPr sz="1800" b="0" i="0">
                <a:solidFill>
                  <a:srgbClr val="1F4E79"/>
                </a:solidFill>
                <a:latin typeface="Consolas"/>
              </a:rPr>
              <a:t>VMRUN</a:t>
            </a:r>
            <a:r>
              <a:rPr sz="1900" b="0" i="0">
                <a:solidFill>
                  <a:srgbClr val="1C252B"/>
                </a:solidFill>
                <a:latin typeface="Segoe UI"/>
              </a:rPr>
              <a:t> corresponds to </a:t>
            </a:r>
            <a:r>
              <a:rPr sz="1800" b="0" i="0">
                <a:solidFill>
                  <a:srgbClr val="1F4E79"/>
                </a:solidFill>
                <a:latin typeface="Consolas"/>
              </a:rPr>
              <a:t>VMLAUNCH</a:t>
            </a:r>
            <a:r>
              <a:rPr sz="1900" b="0" i="0">
                <a:solidFill>
                  <a:srgbClr val="1C252B"/>
                </a:solidFill>
                <a:latin typeface="Segoe UI"/>
              </a:rPr>
              <a:t>; </a:t>
            </a:r>
            <a:r>
              <a:rPr sz="1900" b="1" i="0">
                <a:solidFill>
                  <a:srgbClr val="1A5276"/>
                </a:solidFill>
                <a:latin typeface="Segoe UI"/>
              </a:rPr>
              <a:t>nested page tables</a:t>
            </a:r>
            <a:r>
              <a:rPr sz="1900" b="0" i="0">
                <a:solidFill>
                  <a:srgbClr val="1C252B"/>
                </a:solidFill>
                <a:latin typeface="Segoe UI"/>
              </a:rPr>
              <a:t> correspond to </a:t>
            </a:r>
            <a:r>
              <a:rPr sz="1900" b="0" i="1">
                <a:solidFill>
                  <a:srgbClr val="1C252B"/>
                </a:solidFill>
                <a:latin typeface="Segoe UI"/>
              </a:rPr>
              <a:t>extended</a:t>
            </a:r>
            <a:r>
              <a:rPr sz="1900" b="0" i="0">
                <a:solidFill>
                  <a:srgbClr val="1C252B"/>
                </a:solidFill>
                <a:latin typeface="Segoe UI"/>
              </a:rPr>
              <a:t> page tables.</a:t>
            </a:r>
          </a:p>
        </p:txBody>
      </p:sp>
      <p:sp>
        <p:nvSpPr>
          <p:cNvPr id="10" name="body-1"/>
          <p:cNvSpPr txBox="1"/>
          <p:nvPr/>
        </p:nvSpPr>
        <p:spPr>
          <a:xfrm>
            <a:off x="1060704" y="3385540"/>
            <a:ext cx="10161727"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differences that matter in practice are small but real: the VMCB is a plain 4 KB structure a hypervisor reads and writes with ordinary memory instructions, whereas the VMCS is opaque and must be accessed through </a:t>
            </a:r>
            <a:r>
              <a:rPr sz="1800" b="0" i="0">
                <a:solidFill>
                  <a:srgbClr val="1F4E79"/>
                </a:solidFill>
                <a:latin typeface="Consolas"/>
              </a:rPr>
              <a:t>VMREAD</a:t>
            </a:r>
            <a:r>
              <a:rPr sz="1900" b="0" i="0">
                <a:solidFill>
                  <a:srgbClr val="1C252B"/>
                </a:solidFill>
                <a:latin typeface="Segoe UI"/>
              </a:rPr>
              <a:t> and </a:t>
            </a:r>
            <a:r>
              <a:rPr sz="1800" b="0" i="0">
                <a:solidFill>
                  <a:srgbClr val="1F4E79"/>
                </a:solidFill>
                <a:latin typeface="Consolas"/>
              </a:rPr>
              <a:t>VMWRITE</a:t>
            </a:r>
            <a:r>
              <a:rPr sz="1900" b="0" i="0">
                <a:solidFill>
                  <a:srgbClr val="1C252B"/>
                </a:solidFill>
                <a:latin typeface="Segoe UI"/>
              </a:rPr>
              <a:t>, which cost cycles. AMD’s design is simpler to program; Intel’s leaves the processor free to cache VMCS fields in whatever internal format it likes.</a:t>
            </a:r>
          </a:p>
        </p:txBody>
      </p:sp>
      <p:sp>
        <p:nvSpPr>
          <p:cNvPr id="11" name="body-2"/>
          <p:cNvSpPr txBox="1"/>
          <p:nvPr/>
        </p:nvSpPr>
        <p:spPr>
          <a:xfrm>
            <a:off x="1060704" y="5023967"/>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This book uses the Intel names throughout and notes the AMD equivalent where it differs. Every hypervisor in Chapter 5 supports both, through an abstraction layer written once.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49375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VMCS, and What a Transition Costs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What Intel and AMD Had to Fix</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4.2   The VMCS, and What a Transition Costs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Two-Dimensional Paging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The IOMMU</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§4.2     </a:t>
            </a:r>
            <a:fld id="{7217664D-880A-465E-BD9B-D8D304F946C7}" type="slidenum">
              <a:rPr lang="en-GB" sz="1000">
                <a:solidFill>
                  <a:srgbClr val="8795A1"/>
                </a:solidFill>
                <a:latin typeface="Segoe UI"/>
              </a:rPr>
              <a:t>10</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77083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VMCS, and What a Transition Costs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§4.2  ·  Handout p. 31     </a:t>
            </a:r>
            <a:fld id="{64A324CD-F4CF-45AE-BB90-4991D8D64219}" type="slidenum">
              <a:rPr lang="en-GB" sz="1000">
                <a:solidFill>
                  <a:srgbClr val="8795A1"/>
                </a:solidFill>
                <a:latin typeface="Segoe UI"/>
              </a:rPr>
              <a:t>11</a:t>
            </a:fld>
          </a:p>
        </p:txBody>
      </p:sp>
      <p:graphicFrame>
        <p:nvGraphicFramePr>
          <p:cNvPr id="7" name="!!table"/>
          <p:cNvGraphicFramePr>
            <a:graphicFrameLocks noGrp="1"/>
          </p:cNvGraphicFramePr>
          <p:nvPr/>
        </p:nvGraphicFramePr>
        <p:xfrm>
          <a:off x="658368" y="1737360"/>
          <a:ext cx="10874958" cy="3581400"/>
        </p:xfrm>
        <a:graphic>
          <a:graphicData uri="http://schemas.openxmlformats.org/drawingml/2006/table">
            <a:tbl>
              <a:tblPr firstRow="0" bandRow="0" firstCol="0" lastRow="0" lastCol="0" bandCol="0">
                <a:tableStyleId>{2D5ABB26-0587-4C30-8999-92F81FD0307C}</a:tableStyleId>
              </a:tblPr>
              <a:tblGrid>
                <a:gridCol w="2681496"/>
                <a:gridCol w="8193462"/>
              </a:tblGrid>
              <a:tr h="405384">
                <a:tc>
                  <a:txBody>
                    <a:bodyPr wrap="square"/>
                    <a:lstStyle/>
                    <a:p>
                      <a:pPr algn="l"/>
                      <a:r>
                        <a:rPr sz="1700" b="1" i="0">
                          <a:solidFill>
                            <a:srgbClr val="1A5276"/>
                          </a:solidFill>
                          <a:latin typeface="Segoe UI"/>
                        </a:rPr>
                        <a:t>VMCS area</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What it holds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1" i="0">
                          <a:solidFill>
                            <a:srgbClr val="1C252B"/>
                          </a:solidFill>
                          <a:latin typeface="Segoe UI"/>
                        </a:rPr>
                        <a:t>Guest-state area</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The guest’s registers, control registers, segment registers, </a:t>
                      </a:r>
                      <a:r>
                        <a:rPr sz="1600" b="0" i="0">
                          <a:solidFill>
                            <a:srgbClr val="1F4E79"/>
                          </a:solidFill>
                          <a:latin typeface="Consolas"/>
                        </a:rPr>
                        <a:t>RIP</a:t>
                      </a:r>
                      <a:r>
                        <a:rPr sz="1700" b="0" i="0">
                          <a:solidFill>
                            <a:srgbClr val="1C252B"/>
                          </a:solidFill>
                          <a:latin typeface="Segoe UI"/>
                        </a:rPr>
                        <a:t> and </a:t>
                      </a:r>
                      <a:r>
                        <a:rPr sz="1600" b="0" i="0">
                          <a:solidFill>
                            <a:srgbClr val="1F4E79"/>
                          </a:solidFill>
                          <a:latin typeface="Consolas"/>
                        </a:rPr>
                        <a:t>RSP</a:t>
                      </a:r>
                      <a:r>
                        <a:rPr sz="1700" b="0" i="0">
                          <a:solidFill>
                            <a:srgbClr val="1C252B"/>
                          </a:solidFill>
                          <a:latin typeface="Segoe UI"/>
                        </a:rPr>
                        <a:t>. Saved automatically on exit, loaded automatically on entry</a:t>
                      </a:r>
                      <a:endParaRPr sz="1700"/>
                    </a:p>
                  </a:txBody>
                  <a:tcPr marL="109728" marR="109728" marT="64008" marB="45720" anchor="t">
                    <a:lnL w="0" cmpd="sng">
                      <a:noFill/>
                    </a:lnL>
                    <a:lnR w="0" cmpd="sng">
                      <a:noFill/>
                    </a:lnR>
                    <a:lnT w="9525" cmpd="sng">
                      <a:noFill/>
                    </a:lnT>
                    <a:lnB w="9525" cmpd="sng">
                      <a:noFill/>
                    </a:lnB>
                    <a:solidFill>
                      <a:srgbClr val="FFFFFF"/>
                    </a:solidFill>
                  </a:tcPr>
                </a:tc>
              </a:tr>
              <a:tr h="923544">
                <a:tc>
                  <a:txBody>
                    <a:bodyPr wrap="square"/>
                    <a:lstStyle/>
                    <a:p>
                      <a:pPr algn="l"/>
                      <a:r>
                        <a:rPr sz="1700" b="1" i="0">
                          <a:solidFill>
                            <a:srgbClr val="1C252B"/>
                          </a:solidFill>
                          <a:latin typeface="Segoe UI"/>
                        </a:rPr>
                        <a:t>Host-state area</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The hypervisor’s corresponding state, loaded on exit. This is what makes the return to the hypervisor a single hardware operation rather than a software convention</a:t>
                      </a:r>
                      <a:endParaRPr sz="1700"/>
                    </a:p>
                  </a:txBody>
                  <a:tcPr marL="109728" marR="109728" marT="64008" marB="45720" anchor="t">
                    <a:lnL w="0" cmpd="sng">
                      <a:noFill/>
                    </a:lnL>
                    <a:lnR w="0" cmpd="sng">
                      <a:noFill/>
                    </a:lnR>
                    <a:lnT w="9525" cmpd="sng">
                      <a:noFill/>
                    </a:lnT>
                    <a:lnB w="9525" cmpd="sng">
                      <a:noFill/>
                    </a:lnB>
                    <a:solidFill>
                      <a:srgbClr val="F2F8FC"/>
                    </a:solidFill>
                  </a:tcPr>
                </a:tc>
              </a:tr>
              <a:tr h="923544">
                <a:tc>
                  <a:txBody>
                    <a:bodyPr wrap="square"/>
                    <a:lstStyle/>
                    <a:p>
                      <a:pPr algn="l"/>
                      <a:r>
                        <a:rPr sz="1700" b="1" i="0">
                          <a:solidFill>
                            <a:srgbClr val="1C252B"/>
                          </a:solidFill>
                          <a:latin typeface="Segoe UI"/>
                        </a:rPr>
                        <a:t>VM-execution controls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1">
                          <a:solidFill>
                            <a:srgbClr val="1C252B"/>
                          </a:solidFill>
                          <a:latin typeface="Segoe UI"/>
                        </a:rPr>
                        <a:t>Which events cause an exit.</a:t>
                      </a:r>
                      <a:r>
                        <a:rPr sz="1700" b="0" i="0">
                          <a:solidFill>
                            <a:srgbClr val="1C252B"/>
                          </a:solidFill>
                          <a:latin typeface="Segoe UI"/>
                        </a:rPr>
                        <a:t> A bitmap per instruction class, an exception bitmap, an I/O-port bitmap and an MSR bitmap. This is the dial the hypervisor turns to trade control against speed</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1" i="0">
                          <a:solidFill>
                            <a:srgbClr val="1C252B"/>
                          </a:solidFill>
                          <a:latin typeface="Segoe UI"/>
                        </a:rPr>
                        <a:t>VM-exit information</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Written by the processor on every exit: the </a:t>
                      </a:r>
                      <a:r>
                        <a:rPr sz="1700" b="1" i="0">
                          <a:solidFill>
                            <a:srgbClr val="1A5276"/>
                          </a:solidFill>
                          <a:latin typeface="Segoe UI"/>
                        </a:rPr>
                        <a:t>exit reason</a:t>
                      </a:r>
                      <a:r>
                        <a:rPr sz="1700" b="0" i="0">
                          <a:solidFill>
                            <a:srgbClr val="1C252B"/>
                          </a:solidFill>
                          <a:latin typeface="Segoe UI"/>
                        </a:rPr>
                        <a:t>, the faulting address, the instruction length. The hypervisor reads this first and dispatches on it</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Execution Controls Are the Real Design Surface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§4.2  ·  Handout p. 31     </a:t>
            </a:r>
            <a:fld id="{195704B0-2390-4E4F-83CE-5AC0903C7F7E}"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71111"/>
          </a:xfrm>
          <a:prstGeom prst="roundRect">
            <a:avLst>
              <a:gd name="adj" fmla="val 224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7111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novice reading of VT-x is that the processor decides what to trap. It does not: the </a:t>
            </a:r>
            <a:r>
              <a:rPr sz="2000" b="0" i="1">
                <a:solidFill>
                  <a:srgbClr val="1C252B"/>
                </a:solidFill>
                <a:latin typeface="Segoe UI"/>
              </a:rPr>
              <a:t>hypervisor</a:t>
            </a:r>
            <a:r>
              <a:rPr sz="2000" b="0" i="0">
                <a:solidFill>
                  <a:srgbClr val="1C252B"/>
                </a:solidFill>
                <a:latin typeface="Segoe UI"/>
              </a:rPr>
              <a:t> decides, by setting bits in the execution controls, and the engineering is in choosing well.</a:t>
            </a:r>
          </a:p>
        </p:txBody>
      </p:sp>
      <p:sp>
        <p:nvSpPr>
          <p:cNvPr id="10" name="body-1"/>
          <p:cNvSpPr txBox="1"/>
          <p:nvPr/>
        </p:nvSpPr>
        <p:spPr>
          <a:xfrm>
            <a:off x="1060704" y="3138931"/>
            <a:ext cx="10161727" cy="1630680"/>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Exit on every </a:t>
            </a:r>
            <a:r>
              <a:rPr sz="1900" b="0" i="0">
                <a:solidFill>
                  <a:srgbClr val="1F4E79"/>
                </a:solidFill>
                <a:latin typeface="Consolas"/>
              </a:rPr>
              <a:t>CPUID</a:t>
            </a:r>
            <a:r>
              <a:rPr sz="2000" b="0" i="0">
                <a:solidFill>
                  <a:srgbClr val="1C252B"/>
                </a:solidFill>
                <a:latin typeface="Segoe UI"/>
              </a:rPr>
              <a:t>? You must, because the guest must not see the host’s true feature set. Exit on every </a:t>
            </a:r>
            <a:r>
              <a:rPr sz="1900" b="0" i="0">
                <a:solidFill>
                  <a:srgbClr val="1F4E79"/>
                </a:solidFill>
                <a:latin typeface="Consolas"/>
              </a:rPr>
              <a:t>RDTSC</a:t>
            </a:r>
            <a:r>
              <a:rPr sz="2000" b="0" i="0">
                <a:solidFill>
                  <a:srgbClr val="1C252B"/>
                </a:solidFill>
                <a:latin typeface="Segoe UI"/>
              </a:rPr>
              <a:t>? Only if you care about hiding the passage of time, and most hypervisors do not, because the exit cost would be ruinous. Exit on every write to </a:t>
            </a:r>
            <a:r>
              <a:rPr sz="1900" b="0" i="0">
                <a:solidFill>
                  <a:srgbClr val="1F4E79"/>
                </a:solidFill>
                <a:latin typeface="Consolas"/>
              </a:rPr>
              <a:t>CR3</a:t>
            </a:r>
            <a:r>
              <a:rPr sz="2000" b="0" i="0">
                <a:solidFill>
                  <a:srgbClr val="1C252B"/>
                </a:solidFill>
                <a:latin typeface="Segoe UI"/>
              </a:rPr>
              <a:t>? With shadow page tables you must; with EPT you need not, and that single bit is most of the next section.</a:t>
            </a:r>
          </a:p>
        </p:txBody>
      </p:sp>
      <p:sp>
        <p:nvSpPr>
          <p:cNvPr id="11" name="body-2"/>
          <p:cNvSpPr txBox="1"/>
          <p:nvPr/>
        </p:nvSpPr>
        <p:spPr>
          <a:xfrm>
            <a:off x="1060704" y="4863592"/>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Every bit set buys correctness or isolation and costs an exit. Hypervisor performance work is, to a first approximation, the work of clearing bits that turn out not to be needed.</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32500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VM exit is a world switch, not a function call</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§4.2  ·  Handout p. 31     </a:t>
            </a:r>
            <a:fld id="{FC395FB0-EA4A-49CF-AC93-1E1C332D9B17}"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7855"/>
          </a:xfrm>
          <a:prstGeom prst="roundRect">
            <a:avLst>
              <a:gd name="adj" fmla="val 206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785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On exit the processor must save the guest’s entire architectural state, load the hypervisor’s, and flush or tag anything that was speculating on the guest’s address space. On the first VT-x parts this cost on the order of 1,500 cycles in each direction; a decade of optimisation brought it to a few hundred, and it has not fallen much since because the work is irreducible.</a:t>
            </a:r>
          </a:p>
        </p:txBody>
      </p:sp>
      <p:sp>
        <p:nvSpPr>
          <p:cNvPr id="10" name="body-1"/>
          <p:cNvSpPr txBox="1"/>
          <p:nvPr/>
        </p:nvSpPr>
        <p:spPr>
          <a:xfrm>
            <a:off x="1060704" y="403161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That number is why Chapter 2 could report that binary translation beat early hardware assistance: a translated call into the monitor cost tens of cycles and did not disturb the pipeline. Hardware assistance won in the end not by making exits cheap but by </a:t>
            </a:r>
            <a:r>
              <a:rPr sz="2300" b="0" i="1">
                <a:solidFill>
                  <a:srgbClr val="1C252B"/>
                </a:solidFill>
                <a:latin typeface="Segoe UI"/>
              </a:rPr>
              <a:t>removing the reasons to exit</a:t>
            </a:r>
            <a:r>
              <a:rPr sz="2300" b="0" i="0">
                <a:solidFill>
                  <a:srgbClr val="1C252B"/>
                </a:solidFill>
                <a:latin typeface="Segoe UI"/>
              </a:rPr>
              <a:t> — which is what extended page tables and the MSR bitmap are for.</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60209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Two-Dimensional Paging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What Intel and AMD Had to Fix</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The VMCS, and What a Transition Costs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4.3   Two-Dimensional Paging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The IOMMU</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§4.3     </a:t>
            </a:r>
            <a:fld id="{34C9CB95-D4C4-4C2C-B24D-6B212E757F49}" type="slidenum">
              <a:rPr lang="en-GB" sz="1000">
                <a:solidFill>
                  <a:srgbClr val="8795A1"/>
                </a:solidFill>
                <a:latin typeface="Segoe UI"/>
              </a:rPr>
              <a:t>14</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87917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Counting a Nested Page Walk</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§4.3.2  ·  Handout p. 33     </a:t>
            </a:r>
            <a:fld id="{8EE82CB3-57AB-4699-94D9-BD4858A538E1}"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12716"/>
          </a:xfrm>
          <a:prstGeom prst="roundRect">
            <a:avLst>
              <a:gd name="adj" fmla="val 202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1271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How much does the hardware actually do on a TLB miss under EPT? Count memory accesses for 4-level paging on x86-64.</a:t>
            </a:r>
          </a:p>
        </p:txBody>
      </p:sp>
      <p:sp>
        <p:nvSpPr>
          <p:cNvPr id="10"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Native, for comparison.</a:t>
            </a:r>
            <a:r>
              <a:rPr sz="1900" b="0" i="0">
                <a:solidFill>
                  <a:srgbClr val="1C252B"/>
                </a:solidFill>
                <a:latin typeface="Segoe UI"/>
              </a:rPr>
              <a:t> Four levels — PML4, PDPT, PD, PT — so a TLB miss costs </a:t>
            </a:r>
            <a:r>
              <a:rPr sz="1900" b="1" i="0">
                <a:solidFill>
                  <a:srgbClr val="1C252B"/>
                </a:solidFill>
                <a:latin typeface="Segoe UI"/>
              </a:rPr>
              <a:t>4 memory accesses</a:t>
            </a:r>
            <a:r>
              <a:rPr sz="1900" b="0" i="0">
                <a:solidFill>
                  <a:srgbClr val="1C252B"/>
                </a:solidFill>
                <a:latin typeface="Segoe UI"/>
              </a:rPr>
              <a:t>.</a:t>
            </a:r>
          </a:p>
        </p:txBody>
      </p:sp>
      <p:sp>
        <p:nvSpPr>
          <p:cNvPr id="11" name="body-2"/>
          <p:cNvSpPr txBox="1"/>
          <p:nvPr/>
        </p:nvSpPr>
        <p:spPr>
          <a:xfrm>
            <a:off x="1042416" y="348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Under EPT.</a:t>
            </a:r>
            <a:r>
              <a:rPr sz="1900" b="0" i="0">
                <a:solidFill>
                  <a:srgbClr val="1C252B"/>
                </a:solidFill>
                <a:latin typeface="Segoe UI"/>
              </a:rPr>
              <a:t> Every address the walker touches is a </a:t>
            </a:r>
            <a:r>
              <a:rPr sz="1900" b="0" i="1">
                <a:solidFill>
                  <a:srgbClr val="1C252B"/>
                </a:solidFill>
                <a:latin typeface="Segoe UI"/>
              </a:rPr>
              <a:t>guest physical</a:t>
            </a:r>
            <a:r>
              <a:rPr sz="1900" b="0" i="0">
                <a:solidFill>
                  <a:srgbClr val="1C252B"/>
                </a:solidFill>
                <a:latin typeface="Segoe UI"/>
              </a:rPr>
              <a:t> address, and each one must itself be translated by a 4-level EPT walk before it can be used.</a:t>
            </a:r>
          </a:p>
        </p:txBody>
      </p:sp>
      <p:sp>
        <p:nvSpPr>
          <p:cNvPr id="12" name="body-3"/>
          <p:cNvSpPr txBox="1"/>
          <p:nvPr/>
        </p:nvSpPr>
        <p:spPr>
          <a:xfrm>
            <a:off x="1042416" y="4216679"/>
            <a:ext cx="10234879" cy="180479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Guest </a:t>
            </a:r>
            <a:r>
              <a:rPr sz="1800" b="0" i="0">
                <a:solidFill>
                  <a:srgbClr val="1F4E79"/>
                </a:solidFill>
                <a:latin typeface="Consolas"/>
              </a:rPr>
              <a:t>CR3</a:t>
            </a:r>
            <a:r>
              <a:rPr sz="1900" b="0" i="0">
                <a:solidFill>
                  <a:srgbClr val="1C252B"/>
                </a:solidFill>
                <a:latin typeface="Segoe UI"/>
              </a:rPr>
              <a:t> holds the GPA of the guest PML4. Translate it: </a:t>
            </a:r>
            <a:r>
              <a:rPr sz="1900" b="1" i="0">
                <a:solidFill>
                  <a:srgbClr val="1C252B"/>
                </a:solidFill>
                <a:latin typeface="Segoe UI"/>
              </a:rPr>
              <a:t>4</a:t>
            </a:r>
            <a:r>
              <a:rPr sz="1900" b="0" i="0">
                <a:solidFill>
                  <a:srgbClr val="1C252B"/>
                </a:solidFill>
                <a:latin typeface="Segoe UI"/>
              </a:rPr>
              <a:t> EPT accesses. Then read the guest PML4 entry: </a:t>
            </a:r>
            <a:r>
              <a:rPr sz="1900" b="1" i="0">
                <a:solidFill>
                  <a:srgbClr val="1C252B"/>
                </a:solidFill>
                <a:latin typeface="Segoe UI"/>
              </a:rPr>
              <a:t>1</a:t>
            </a:r>
            <a:r>
              <a:rPr sz="1900" b="0" i="0">
                <a:solidFill>
                  <a:srgbClr val="1C252B"/>
                </a:solidFill>
                <a:latin typeface="Segoe UI"/>
              </a:rPr>
              <a:t>.</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That entry holds the GPA of the PDPT. Translate it: </a:t>
            </a:r>
            <a:r>
              <a:rPr sz="1900" b="1" i="0">
                <a:solidFill>
                  <a:srgbClr val="1C252B"/>
                </a:solidFill>
                <a:latin typeface="Segoe UI"/>
              </a:rPr>
              <a:t>4</a:t>
            </a:r>
            <a:r>
              <a:rPr sz="1900" b="0" i="0">
                <a:solidFill>
                  <a:srgbClr val="1C252B"/>
                </a:solidFill>
                <a:latin typeface="Segoe UI"/>
              </a:rPr>
              <a:t>. Read the PDPT entry: </a:t>
            </a:r>
            <a:r>
              <a:rPr sz="1900" b="1" i="0">
                <a:solidFill>
                  <a:srgbClr val="1C252B"/>
                </a:solidFill>
                <a:latin typeface="Segoe UI"/>
              </a:rPr>
              <a:t>1</a:t>
            </a:r>
            <a:r>
              <a:rPr sz="1900" b="0" i="0">
                <a:solidFill>
                  <a:srgbClr val="1C252B"/>
                </a:solidFill>
                <a:latin typeface="Segoe UI"/>
              </a:rPr>
              <a:t>.</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GPA of the PD. Translate: </a:t>
            </a:r>
            <a:r>
              <a:rPr sz="1900" b="1" i="0">
                <a:solidFill>
                  <a:srgbClr val="1C252B"/>
                </a:solidFill>
                <a:latin typeface="Segoe UI"/>
              </a:rPr>
              <a:t>4</a:t>
            </a:r>
            <a:r>
              <a:rPr sz="1900" b="0" i="0">
                <a:solidFill>
                  <a:srgbClr val="1C252B"/>
                </a:solidFill>
                <a:latin typeface="Segoe UI"/>
              </a:rPr>
              <a:t>. Read the PD entry: </a:t>
            </a:r>
            <a:r>
              <a:rPr sz="1900" b="1" i="0">
                <a:solidFill>
                  <a:srgbClr val="1C252B"/>
                </a:solidFill>
                <a:latin typeface="Segoe UI"/>
              </a:rPr>
              <a:t>1</a:t>
            </a:r>
            <a:r>
              <a:rPr sz="1900" b="0" i="0">
                <a:solidFill>
                  <a:srgbClr val="1C252B"/>
                </a:solidFill>
                <a:latin typeface="Segoe UI"/>
              </a:rPr>
              <a:t>.</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GPA of the PT. Translate: </a:t>
            </a:r>
            <a:r>
              <a:rPr sz="1900" b="1" i="0">
                <a:solidFill>
                  <a:srgbClr val="1C252B"/>
                </a:solidFill>
                <a:latin typeface="Segoe UI"/>
              </a:rPr>
              <a:t>4</a:t>
            </a:r>
            <a:r>
              <a:rPr sz="1900" b="0" i="0">
                <a:solidFill>
                  <a:srgbClr val="1C252B"/>
                </a:solidFill>
                <a:latin typeface="Segoe UI"/>
              </a:rPr>
              <a:t>. Read the PT entry: </a:t>
            </a:r>
            <a:r>
              <a:rPr sz="1900" b="1" i="0">
                <a:solidFill>
                  <a:srgbClr val="1C252B"/>
                </a:solidFill>
                <a:latin typeface="Segoe UI"/>
              </a:rPr>
              <a:t>1</a:t>
            </a:r>
            <a:r>
              <a:rPr sz="1900" b="0" i="0">
                <a:solidFill>
                  <a:srgbClr val="1C252B"/>
                </a:solidFill>
                <a:latin typeface="Segoe UI"/>
              </a:rPr>
              <a:t>.</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415625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Effect transition="in" filter="fade">
                                      <p:cBhvr>
                                        <p:cTn id="18" dur="350"/>
                                        <p:tgtEl>
                                          <p:spTgt spid="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Effect transition="in" filter="fade">
                                      <p:cBhvr>
                                        <p:cTn id="23" dur="350"/>
                                        <p:tgtEl>
                                          <p:spTgt spid="12">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xEl>
                                              <p:pRg st="2" end="2"/>
                                            </p:txEl>
                                          </p:spTgt>
                                        </p:tgtEl>
                                        <p:attrNameLst>
                                          <p:attrName>style.visibility</p:attrName>
                                        </p:attrNameLst>
                                      </p:cBhvr>
                                      <p:to>
                                        <p:strVal val="visible"/>
                                      </p:to>
                                    </p:set>
                                    <p:animEffect transition="in" filter="fade">
                                      <p:cBhvr>
                                        <p:cTn id="28" dur="350"/>
                                        <p:tgtEl>
                                          <p:spTgt spid="12">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
                                            <p:txEl>
                                              <p:pRg st="3" end="3"/>
                                            </p:txEl>
                                          </p:spTgt>
                                        </p:tgtEl>
                                        <p:attrNameLst>
                                          <p:attrName>style.visibility</p:attrName>
                                        </p:attrNameLst>
                                      </p:cBhvr>
                                      <p:to>
                                        <p:strVal val="visible"/>
                                      </p:to>
                                    </p:set>
                                    <p:animEffect transition="in" filter="fade">
                                      <p:cBhvr>
                                        <p:cTn id="33" dur="35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Counting a Nested Page Walk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§4.3.2  ·  Handout p. 33     </a:t>
            </a:r>
            <a:fld id="{B32C522F-D49A-45EC-A223-7775BC309F22}"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97995"/>
          </a:xfrm>
          <a:prstGeom prst="roundRect">
            <a:avLst>
              <a:gd name="adj" fmla="val 223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9799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The guest PTE yields the final GPA of the data page. Translate it: </a:t>
            </a:r>
            <a:r>
              <a:rPr sz="1900" b="1" i="0">
                <a:solidFill>
                  <a:srgbClr val="1C252B"/>
                </a:solidFill>
                <a:latin typeface="Segoe UI"/>
              </a:rPr>
              <a:t>4</a:t>
            </a:r>
            <a:r>
              <a:rPr sz="1900" b="0" i="0">
                <a:solidFill>
                  <a:srgbClr val="1C252B"/>
                </a:solidFill>
                <a:latin typeface="Segoe UI"/>
              </a:rPr>
              <a:t>.</a:t>
            </a:r>
          </a:p>
        </p:txBody>
      </p:sp>
      <p:sp>
        <p:nvSpPr>
          <p:cNvPr id="10" name="body-1"/>
          <p:cNvSpPr txBox="1"/>
          <p:nvPr/>
        </p:nvSpPr>
        <p:spPr>
          <a:xfrm>
            <a:off x="1042416" y="244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total.</a:t>
            </a:r>
          </a:p>
        </p:txBody>
      </p:sp>
      <p:sp>
        <p:nvSpPr>
          <p:cNvPr id="11" name="body-1bar">
            <a:extLst>
              <a:ext uri="{C183D7F6-B498-43B3-948B-1728B52AA6E4}">
                <adec:decorative xmlns:adec="http://schemas.microsoft.com/office/drawing/2017/decorative" val="1"/>
              </a:ext>
            </a:extLst>
          </p:cNvPr>
          <p:cNvSpPr/>
          <p:nvPr/>
        </p:nvSpPr>
        <p:spPr>
          <a:xfrm>
            <a:off x="841248" y="2463825"/>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2" name="body-2" descr="\underbrace{4 \times (4 + 1)}_{\text{four guest levels}} \;+\; \underbrace{4}_{\text{final translation}} \;=\; \mathbf{24} \text{ memory access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879394"/>
            <a:ext cx="10234879" cy="609356"/>
          </a:xfrm>
          <a:prstGeom prst="rect">
            <a:avLst/>
          </a:prstGeom>
        </p:spPr>
      </p:pic>
      <p:sp>
        <p:nvSpPr>
          <p:cNvPr id="13" name="body-3"/>
          <p:cNvSpPr txBox="1"/>
          <p:nvPr/>
        </p:nvSpPr>
        <p:spPr>
          <a:xfrm>
            <a:off x="1042416" y="3621465"/>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So EPT is six times worse than native on a TLB miss</a:t>
            </a:r>
            <a:r>
              <a:rPr sz="1900" b="0" i="0">
                <a:solidFill>
                  <a:srgbClr val="1C252B"/>
                </a:solidFill>
                <a:latin typeface="Segoe UI"/>
              </a:rPr>
              <a:t>, and worse than shadow paging, which costs 4. If that were the whole story, shadow page tables would have won.</a:t>
            </a:r>
          </a:p>
        </p:txBody>
      </p:sp>
      <p:sp>
        <p:nvSpPr>
          <p:cNvPr id="14" name="body-3bar">
            <a:extLst>
              <a:ext uri="{C183D7F6-B498-43B3-948B-1728B52AA6E4}">
                <adec:decorative xmlns:adec="http://schemas.microsoft.com/office/drawing/2017/decorative" val="1"/>
              </a:ext>
            </a:extLst>
          </p:cNvPr>
          <p:cNvSpPr/>
          <p:nvPr/>
        </p:nvSpPr>
        <p:spPr>
          <a:xfrm>
            <a:off x="841248" y="3639753"/>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body-4"/>
          <p:cNvSpPr txBox="1"/>
          <p:nvPr/>
        </p:nvSpPr>
        <p:spPr>
          <a:xfrm>
            <a:off x="1042416" y="4356465"/>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Why EPT won anyway.</a:t>
            </a:r>
            <a:r>
              <a:rPr sz="1900" b="0" i="0">
                <a:solidFill>
                  <a:srgbClr val="1C252B"/>
                </a:solidFill>
                <a:latin typeface="Segoe UI"/>
              </a:rPr>
              <a:t> Count the </a:t>
            </a:r>
            <a:r>
              <a:rPr sz="1900" b="0" i="1">
                <a:solidFill>
                  <a:srgbClr val="1C252B"/>
                </a:solidFill>
                <a:latin typeface="Segoe UI"/>
              </a:rPr>
              <a:t>other</a:t>
            </a:r>
            <a:r>
              <a:rPr sz="1900" b="0" i="0">
                <a:solidFill>
                  <a:srgbClr val="1C252B"/>
                </a:solidFill>
                <a:latin typeface="Segoe UI"/>
              </a:rPr>
              <a:t> operation. Under shadow paging every guest page-table write is a VM exit at several hundred cycles; under EPT it is an ordinary memory write at a few cycles. A workload that creates processes, maps files or frees memory does this constantly.</a:t>
            </a:r>
          </a:p>
        </p:txBody>
      </p:sp>
      <p:sp>
        <p:nvSpPr>
          <p:cNvPr id="16" name="body-4bar">
            <a:extLst>
              <a:ext uri="{C183D7F6-B498-43B3-948B-1728B52AA6E4}">
                <adec:decorative xmlns:adec="http://schemas.microsoft.com/office/drawing/2017/decorative" val="1"/>
              </a:ext>
            </a:extLst>
          </p:cNvPr>
          <p:cNvSpPr/>
          <p:nvPr/>
        </p:nvSpPr>
        <p:spPr>
          <a:xfrm>
            <a:off x="841248" y="4374753"/>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pfill">
            <a:extLst>
              <a:ext uri="{C183D7F6-B498-43B3-948B-1728B52AA6E4}">
                <adec:decorative xmlns:adec="http://schemas.microsoft.com/office/drawing/2017/decorative" val="1"/>
              </a:ext>
            </a:extLst>
          </p:cNvPr>
          <p:cNvSpPr/>
          <p:nvPr/>
        </p:nvSpPr>
        <p:spPr>
          <a:xfrm>
            <a:off x="0" y="0"/>
            <a:ext cx="443334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2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right)">
                                      <p:cBhvr>
                                        <p:cTn id="34" dur="42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Counting a Nested Page Walk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§4.3.2  ·  Handout p. 33     </a:t>
            </a:r>
            <a:fld id="{0422334A-EE42-4688-8B82-15ED4A3816B5}"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90494"/>
          </a:xfrm>
          <a:prstGeom prst="roundRect">
            <a:avLst>
              <a:gd name="adj" fmla="val 295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90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Measured on a fork-heavy build: shadow paging took tens of thousands of exits per second; EPT took almost none. The 24-access walk is also mitigated in hardware by caching the intermediate EPT translations — a page-walk cache — so the full 24 is the worst case rather than the common one.</a:t>
            </a:r>
          </a:p>
        </p:txBody>
      </p:sp>
      <p:sp>
        <p:nvSpPr>
          <p:cNvPr id="10" name="body-1"/>
          <p:cNvSpPr txBox="1"/>
          <p:nvPr/>
        </p:nvSpPr>
        <p:spPr>
          <a:xfrm>
            <a:off x="1042416" y="3348964"/>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lesson.</a:t>
            </a:r>
            <a:r>
              <a:rPr sz="1900" b="0" i="0">
                <a:solidFill>
                  <a:srgbClr val="1C252B"/>
                </a:solidFill>
                <a:latin typeface="Segoe UI"/>
              </a:rPr>
              <a:t> The right structure is not the one with the better best case; it is the one whose expensive case is rare. Shadow paging is cheaper per TLB miss and catastrophic per page-table edit. EPT is the reverse, and page-table edits are far more common than the arithmetic suggests.</a:t>
            </a:r>
          </a:p>
        </p:txBody>
      </p:sp>
      <p:sp>
        <p:nvSpPr>
          <p:cNvPr id="11" name="body-1bar">
            <a:extLst>
              <a:ext uri="{C183D7F6-B498-43B3-948B-1728B52AA6E4}">
                <adec:decorative xmlns:adec="http://schemas.microsoft.com/office/drawing/2017/decorative" val="1"/>
              </a:ext>
            </a:extLst>
          </p:cNvPr>
          <p:cNvSpPr/>
          <p:nvPr/>
        </p:nvSpPr>
        <p:spPr>
          <a:xfrm>
            <a:off x="841248" y="3367252"/>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471042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nested page walk, and the trade it represents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4.2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§4.3.2  ·  Handout p. 33     </a:t>
            </a:r>
            <a:fld id="{D8A9CBB1-AB66-4A21-B799-064E3057E342}" type="slidenum">
              <a:rPr lang="en-GB" sz="1000">
                <a:solidFill>
                  <a:srgbClr val="8795A1"/>
                </a:solidFill>
                <a:latin typeface="Segoe UI"/>
              </a:rPr>
              <a:t>18</a:t>
            </a:fld>
          </a:p>
        </p:txBody>
      </p:sp>
      <p:pic>
        <p:nvPicPr>
          <p:cNvPr id="6" name="!!figure" descr="Figure 4.2. A nested page walk, and the trade it represents. Shadow paging is cheaper on a TLB miss and ruinous on every guest page-table edit; extended page tables invert both, and edits are the more frequent even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63142"/>
            <a:ext cx="10874959" cy="2450320"/>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Shadow paging is cheaper on a TLB miss and ruinous on every guest page-table edit; extended page tables invert both, and edits are the more frequent event.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98751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VPID: Not Flushing the TLB Every Time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§4.3.2  ·  Handout p. 33     </a:t>
            </a:r>
            <a:fld id="{81332D17-7644-43F8-A220-BAA5C2B1E010}"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7854"/>
          </a:xfrm>
          <a:prstGeom prst="roundRect">
            <a:avLst>
              <a:gd name="adj" fmla="val 206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785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One more cost was hiding in the transitions. Early VT-x flushed the entire TLB on every VM entry and exit, because the hypervisor and the guest use different address spaces and the processor had no way to tell their entries apart. A busy guest therefore began every re-entry with a cold TLB.</a:t>
            </a:r>
          </a:p>
        </p:txBody>
      </p:sp>
      <p:sp>
        <p:nvSpPr>
          <p:cNvPr id="10" name="body-1"/>
          <p:cNvSpPr txBox="1"/>
          <p:nvPr/>
        </p:nvSpPr>
        <p:spPr>
          <a:xfrm>
            <a:off x="1060704" y="3667074"/>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VPID</a:t>
            </a:r>
            <a:r>
              <a:rPr sz="2300" b="0" i="0">
                <a:solidFill>
                  <a:srgbClr val="1C252B"/>
                </a:solidFill>
                <a:latin typeface="Segoe UI"/>
              </a:rPr>
              <a:t> — virtual processor identifier, AMD’s equivalent is the ASID — tags each TLB entry with the virtual CPU it belongs to. Entries survive the transition and are simply ignored while another context runs. It is a small feature with a large effect, and it is the clearest illustration of the pattern in this chapter: the exits were not made cheaper, the work done around them was removed.</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26459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IOMMU</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What Intel and AMD Had to Fix</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The VMCS, and What a Transition Costs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Two-Dimensional Paging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4.4   The IOMMU</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§4.4     </a:t>
            </a:r>
            <a:fld id="{75A2C049-BDA2-47FA-A386-A5DEDDA533D2}" type="slidenum">
              <a:rPr lang="en-GB" sz="1000">
                <a:solidFill>
                  <a:srgbClr val="8795A1"/>
                </a:solidFill>
                <a:latin typeface="Segoe UI"/>
              </a:rPr>
              <a:t>20</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54167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IOMMU, DMA Remapping, Interrupt Remapping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34     </a:t>
            </a:r>
            <a:fld id="{A76B67FB-306A-4F7B-8D45-37950206CA6F}"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31361"/>
          </a:xfrm>
          <a:prstGeom prst="roundRect">
            <a:avLst>
              <a:gd name="adj" fmla="val 2268"/>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3136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 </a:t>
            </a:r>
            <a:r>
              <a:rPr sz="1900" b="1" i="0">
                <a:solidFill>
                  <a:srgbClr val="1A5276"/>
                </a:solidFill>
                <a:latin typeface="Segoe UI"/>
              </a:rPr>
              <a:t>IOMMU</a:t>
            </a:r>
            <a:r>
              <a:rPr sz="1900" b="0" i="0">
                <a:solidFill>
                  <a:srgbClr val="1C252B"/>
                </a:solidFill>
                <a:latin typeface="Segoe UI"/>
              </a:rPr>
              <a:t> — Intel calls the feature </a:t>
            </a:r>
            <a:r>
              <a:rPr sz="1900" b="1" i="0">
                <a:solidFill>
                  <a:srgbClr val="1A5276"/>
                </a:solidFill>
                <a:latin typeface="Segoe UI"/>
              </a:rPr>
              <a:t>VT-d</a:t>
            </a:r>
            <a:r>
              <a:rPr sz="1900" b="0" i="0">
                <a:solidFill>
                  <a:srgbClr val="1C252B"/>
                </a:solidFill>
                <a:latin typeface="Segoe UI"/>
              </a:rPr>
              <a:t>, AMD calls it AMD-Vi — is a memory management unit that sits between devices and memory, as the MMU sits between the processor and memory.</a:t>
            </a:r>
          </a:p>
        </p:txBody>
      </p:sp>
      <p:sp>
        <p:nvSpPr>
          <p:cNvPr id="10" name="body-1"/>
          <p:cNvSpPr txBox="1"/>
          <p:nvPr/>
        </p:nvSpPr>
        <p:spPr>
          <a:xfrm>
            <a:off x="1060704" y="3084398"/>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A5276"/>
                </a:solidFill>
                <a:latin typeface="Segoe UI"/>
              </a:rPr>
              <a:t>DMA remapping</a:t>
            </a:r>
            <a:r>
              <a:rPr sz="1900" b="0" i="0">
                <a:solidFill>
                  <a:srgbClr val="1C252B"/>
                </a:solidFill>
                <a:latin typeface="Segoe UI"/>
              </a:rPr>
              <a:t>: every address a device emits is translated through per-device page tables that the hypervisor controls. A device assigned to a guest can reach that guest’s memory and nothing else. An address outside the mapping faults rather than being written.</a:t>
            </a:r>
          </a:p>
        </p:txBody>
      </p:sp>
      <p:sp>
        <p:nvSpPr>
          <p:cNvPr id="11" name="body-2"/>
          <p:cNvSpPr txBox="1"/>
          <p:nvPr/>
        </p:nvSpPr>
        <p:spPr>
          <a:xfrm>
            <a:off x="1060704" y="4120540"/>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A5276"/>
                </a:solidFill>
                <a:latin typeface="Segoe UI"/>
              </a:rPr>
              <a:t>Interrupt remapping</a:t>
            </a:r>
            <a:r>
              <a:rPr sz="1900" b="0" i="0">
                <a:solidFill>
                  <a:srgbClr val="1C252B"/>
                </a:solidFill>
                <a:latin typeface="Segoe UI"/>
              </a:rPr>
              <a:t>: a device cannot raise an arbitrary interrupt vector on an arbitrary core. Interrupts are translated too, and delivered only where the hypervisor allows.</a:t>
            </a:r>
          </a:p>
        </p:txBody>
      </p:sp>
      <p:sp>
        <p:nvSpPr>
          <p:cNvPr id="12" name="body-3"/>
          <p:cNvSpPr txBox="1"/>
          <p:nvPr/>
        </p:nvSpPr>
        <p:spPr>
          <a:xfrm>
            <a:off x="1060704" y="4855540"/>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Without an IOMMU, device passthrough is not merely risky; it is equivalent to giving the guest write access to all of physical memory.</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81876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Nested virtualization, and why your lab needs it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34     </a:t>
            </a:r>
            <a:fld id="{4EF7F414-C594-4B77-B2F4-8D03C99DD80E}"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43578"/>
          </a:xfrm>
          <a:prstGeom prst="roundRect">
            <a:avLst>
              <a:gd name="adj" fmla="val 2154"/>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43578"/>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709928"/>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Running a hypervisor </a:t>
            </a:r>
            <a:r>
              <a:rPr sz="2100" b="0" i="1">
                <a:solidFill>
                  <a:srgbClr val="1C252B"/>
                </a:solidFill>
                <a:latin typeface="Segoe UI"/>
              </a:rPr>
              <a:t>inside</a:t>
            </a:r>
            <a:r>
              <a:rPr sz="2100" b="0" i="0">
                <a:solidFill>
                  <a:srgbClr val="1C252B"/>
                </a:solidFill>
                <a:latin typeface="Segoe UI"/>
              </a:rPr>
              <a:t> a guest — nested virtualization — means the processor must present VMX itself as a virtualizable feature. The outer hypervisor intercepts the inner one’s </a:t>
            </a:r>
            <a:r>
              <a:rPr sz="1950" b="0" i="0">
                <a:solidFill>
                  <a:srgbClr val="1F4E79"/>
                </a:solidFill>
                <a:latin typeface="Consolas"/>
              </a:rPr>
              <a:t>VMLAUNCH</a:t>
            </a:r>
            <a:r>
              <a:rPr sz="2100" b="0" i="0">
                <a:solidFill>
                  <a:srgbClr val="1C252B"/>
                </a:solidFill>
                <a:latin typeface="Segoe UI"/>
              </a:rPr>
              <a:t>, merges the inner VMCS with its own, and runs the result. It works, and it is how the labs in this book run a Type-1 hypervisor on a machine that is already a guest.</a:t>
            </a:r>
          </a:p>
        </p:txBody>
      </p:sp>
      <p:sp>
        <p:nvSpPr>
          <p:cNvPr id="10" name="body-1"/>
          <p:cNvSpPr txBox="1"/>
          <p:nvPr/>
        </p:nvSpPr>
        <p:spPr>
          <a:xfrm>
            <a:off x="1060704" y="3859148"/>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It is also slow: every exit the inner guest takes may become several exits in the outer one. Expect a nested guest to be noticeably slower than a single-level one, and do not use nesting to measure anything.</a:t>
            </a:r>
          </a:p>
        </p:txBody>
      </p:sp>
      <p:sp>
        <p:nvSpPr>
          <p:cNvPr id="11" name="body-2"/>
          <p:cNvSpPr txBox="1"/>
          <p:nvPr/>
        </p:nvSpPr>
        <p:spPr>
          <a:xfrm>
            <a:off x="1060704" y="5004358"/>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On a laptop it must usually be enabled explicitly. Appendix A gives the commands; the lab below checks it first, because every later chapter’s lab assumes it.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34     </a:t>
            </a:r>
            <a:fld id="{1DA7CE78-7E74-45D3-979E-F70F861BC527}" type="slidenum">
              <a:rPr lang="en-GB" sz="1000">
                <a:solidFill>
                  <a:srgbClr val="8795A1"/>
                </a:solidFill>
                <a:latin typeface="Segoe UI"/>
              </a:rPr>
              <a:t>23</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Believing VT-x made virtualization fast.</a:t>
            </a:r>
            <a:r>
              <a:rPr sz="1700" b="0" i="0">
                <a:solidFill>
                  <a:srgbClr val="1C252B"/>
                </a:solidFill>
                <a:latin typeface="Segoe UI"/>
              </a:rPr>
              <a:t> It made it </a:t>
            </a:r>
            <a:r>
              <a:rPr sz="1700" b="0" i="1">
                <a:solidFill>
                  <a:srgbClr val="1C252B"/>
                </a:solidFill>
                <a:latin typeface="Segoe UI"/>
              </a:rPr>
              <a:t>correct</a:t>
            </a:r>
            <a:r>
              <a:rPr sz="1700" b="0" i="0">
                <a:solidFill>
                  <a:srgbClr val="1C252B"/>
                </a:solidFill>
                <a:latin typeface="Segoe UI"/>
              </a:rPr>
              <a:t> — the architecture now satisfies Popek–Goldberg. The first generation was often slower than binary translation. Speed came from EPT, VPID and the bitmaps, over roughly a decade.</a:t>
            </a:r>
          </a:p>
        </p:txBody>
      </p:sp>
      <p:sp>
        <p:nvSpPr>
          <p:cNvPr id="10" name="!!pb1">
            <a:extLst>
              <a:ext uri="{C183D7F6-B498-43B3-948B-1728B52AA6E4}">
                <adec:decorative xmlns:adec="http://schemas.microsoft.com/office/drawing/2017/decorative" val="1"/>
              </a:ext>
            </a:extLst>
          </p:cNvPr>
          <p:cNvSpPr/>
          <p:nvPr/>
        </p:nvSpPr>
        <p:spPr>
          <a:xfrm>
            <a:off x="658368" y="276514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78800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746857"/>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EPT is faster at everything.</a:t>
            </a:r>
            <a:r>
              <a:rPr sz="1700" b="0" i="0">
                <a:solidFill>
                  <a:srgbClr val="1C252B"/>
                </a:solidFill>
                <a:latin typeface="Segoe UI"/>
              </a:rPr>
              <a:t> It is six times slower than native on a TLB miss and six times slower than shadow paging. It wins on the workload, not on the microbenchmark, and a workload with a huge working set and few page-table edits is exactly where shadow paging would still win.</a:t>
            </a:r>
          </a:p>
        </p:txBody>
      </p:sp>
      <p:sp>
        <p:nvSpPr>
          <p:cNvPr id="13" name="!!pb2">
            <a:extLst>
              <a:ext uri="{C183D7F6-B498-43B3-948B-1728B52AA6E4}">
                <adec:decorative xmlns:adec="http://schemas.microsoft.com/office/drawing/2017/decorative" val="1"/>
              </a:ext>
            </a:extLst>
          </p:cNvPr>
          <p:cNvSpPr/>
          <p:nvPr/>
        </p:nvSpPr>
        <p:spPr>
          <a:xfrm>
            <a:off x="658368" y="377464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79750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756355"/>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Confusing the MMU with the IOMMU.</a:t>
            </a:r>
            <a:r>
              <a:rPr sz="1700" b="0" i="0">
                <a:solidFill>
                  <a:srgbClr val="1C252B"/>
                </a:solidFill>
                <a:latin typeface="Segoe UI"/>
              </a:rPr>
              <a:t> The MMU protects memory from the processor; the IOMMU protects memory from </a:t>
            </a:r>
            <a:r>
              <a:rPr sz="1700" b="0" i="1">
                <a:solidFill>
                  <a:srgbClr val="1C252B"/>
                </a:solidFill>
                <a:latin typeface="Segoe UI"/>
              </a:rPr>
              <a:t>devices</a:t>
            </a:r>
            <a:r>
              <a:rPr sz="1700" b="0" i="0">
                <a:solidFill>
                  <a:srgbClr val="1C252B"/>
                </a:solidFill>
                <a:latin typeface="Segoe UI"/>
              </a:rPr>
              <a:t>. A host with VT-x but no VT-d can virtualize fine and cannot safely pass a device through.</a:t>
            </a:r>
          </a:p>
        </p:txBody>
      </p:sp>
      <p:sp>
        <p:nvSpPr>
          <p:cNvPr id="16" name="!!pb3">
            <a:extLst>
              <a:ext uri="{C183D7F6-B498-43B3-948B-1728B52AA6E4}">
                <adec:decorative xmlns:adec="http://schemas.microsoft.com/office/drawing/2017/decorative" val="1"/>
              </a:ext>
            </a:extLst>
          </p:cNvPr>
          <p:cNvSpPr/>
          <p:nvPr/>
        </p:nvSpPr>
        <p:spPr>
          <a:xfrm>
            <a:off x="658368" y="478414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80700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765852"/>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Leaving virtualization disabled in firmware and blaming the software.</a:t>
            </a:r>
            <a:r>
              <a:rPr sz="1700" b="0" i="0">
                <a:solidFill>
                  <a:srgbClr val="1C252B"/>
                </a:solidFill>
                <a:latin typeface="Segoe UI"/>
              </a:rPr>
              <a:t> A large share of “KVM will not start” is a cleared BIOS bit. Check </a:t>
            </a:r>
            <a:r>
              <a:rPr sz="1600" b="0" i="0">
                <a:solidFill>
                  <a:srgbClr val="1F4E79"/>
                </a:solidFill>
                <a:latin typeface="Consolas"/>
              </a:rPr>
              <a:t>/proc/cpuinfo</a:t>
            </a:r>
            <a:r>
              <a:rPr sz="1700" b="0" i="0">
                <a:solidFill>
                  <a:srgbClr val="1C252B"/>
                </a:solidFill>
                <a:latin typeface="Segoe UI"/>
              </a:rPr>
              <a:t> first — the lab’s step 1 is there for this reason.</a:t>
            </a:r>
          </a:p>
        </p:txBody>
      </p:sp>
      <p:sp>
        <p:nvSpPr>
          <p:cNvPr id="19" name="!!pb4">
            <a:extLst>
              <a:ext uri="{C183D7F6-B498-43B3-948B-1728B52AA6E4}">
                <adec:decorative xmlns:adec="http://schemas.microsoft.com/office/drawing/2017/decorative" val="1"/>
              </a:ext>
            </a:extLst>
          </p:cNvPr>
          <p:cNvSpPr/>
          <p:nvPr/>
        </p:nvSpPr>
        <p:spPr>
          <a:xfrm>
            <a:off x="658368" y="552419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54705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505907"/>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Benchmarking inside a nested guest.</a:t>
            </a:r>
            <a:r>
              <a:rPr sz="1700" b="0" i="0">
                <a:solidFill>
                  <a:srgbClr val="1C252B"/>
                </a:solidFill>
                <a:latin typeface="Segoe UI"/>
              </a:rPr>
              <a:t> Every measurement is inflated by the outer hypervisor’s exits, and by a variable amount. Nesting is for learning, not for numbers.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37293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Watching the Hardware 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34     </a:t>
            </a:r>
            <a:fld id="{D1A1E1AB-BC0A-4D80-8867-38B90F4E9C8D}" type="slidenum">
              <a:rPr lang="en-GB" sz="1000">
                <a:solidFill>
                  <a:srgbClr val="8795A1"/>
                </a:solidFill>
                <a:latin typeface="Segoe UI"/>
              </a:rPr>
              <a:t>24</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Counts real VM exits on a real guest and shows what changes them. Needs KVM and a Linux host; </a:t>
            </a:r>
            <a:r>
              <a:rPr sz="1900" b="0" i="0">
                <a:solidFill>
                  <a:srgbClr val="1F4E79"/>
                </a:solidFill>
                <a:latin typeface="Consolas"/>
              </a:rPr>
              <a:t>perf</a:t>
            </a:r>
            <a:r>
              <a:rPr sz="2000" b="0" i="0">
                <a:solidFill>
                  <a:srgbClr val="1C252B"/>
                </a:solidFill>
                <a:latin typeface="Segoe UI"/>
              </a:rPr>
              <a:t> comes from </a:t>
            </a:r>
            <a:r>
              <a:rPr sz="1900" b="0" i="0">
                <a:solidFill>
                  <a:srgbClr val="1F4E79"/>
                </a:solidFill>
                <a:latin typeface="Consolas"/>
              </a:rPr>
              <a:t>linux-tools</a:t>
            </a:r>
            <a:r>
              <a:rPr sz="2000" b="0" i="0">
                <a:solidFill>
                  <a:srgbClr val="1C252B"/>
                </a:solidFill>
                <a:latin typeface="Segoe UI"/>
              </a:rPr>
              <a:t>. Expect thirty minutes.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9050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Does this processor have the features this chapter describes?</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Is nested virtualization on? Every later lab wants it.</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Start the guest from Chapter 1 and find its thread.</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Count exits by reason, for ten seconds of an idle guest.</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Now give the guest work that forces exits, and compare.</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Watch EPT doing its job: no exit for a guest page-table edit.</a:t>
            </a:r>
          </a:p>
          <a:p>
            <a:pPr algn="l" marL="367434" indent="-367434">
              <a:lnSpc>
                <a:spcPct val="100000"/>
              </a:lnSpc>
              <a:spcBef>
                <a:spcPts val="0"/>
              </a:spcBef>
              <a:spcAft>
                <a:spcPts val="0"/>
              </a:spcAft>
            </a:pPr>
            <a:r>
              <a:rPr sz="1400" b="1">
                <a:solidFill>
                  <a:srgbClr val="117A65"/>
                </a:solidFill>
                <a:latin typeface="Segoe UI"/>
              </a:rPr>
              <a:t>7.	</a:t>
            </a:r>
            <a:r>
              <a:rPr sz="1400" b="0" i="0">
                <a:solidFill>
                  <a:srgbClr val="1C252B"/>
                </a:solidFill>
                <a:latin typeface="Segoe UI"/>
              </a:rPr>
              <a:t>Tear down</a:t>
            </a:r>
          </a:p>
        </p:txBody>
      </p:sp>
      <p:sp>
        <p:nvSpPr>
          <p:cNvPr id="39"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2"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3: VT-x and EPT; count VM exits under load</a:t>
            </a:r>
          </a:p>
        </p:txBody>
      </p:sp>
      <p:sp>
        <p:nvSpPr>
          <p:cNvPr id="43"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6"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45 lines of Shell</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665001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Watching the Hardware 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34     </a:t>
            </a:r>
            <a:fld id="{E1F11A22-2ECB-4CCE-8C64-FF6405F6B028}"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Does this processor have the features this chapter describes?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346704"/>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04_exits.sh -- see VMX, EPT and the exit rate with your own eyes. set -euo pipefail # --- 1. Does this processor have the features this chapter describes? --- grep -o -m1 -E '\&lt;(vmx|svm)\&gt;' /proc/cpuinfo # VT-x or AMD-V at all grep -o -m1 -E '\&lt;ept\&gt;|\&lt;npt\&gt;' /proc/cpuinfo # two-dimensional paging grep -o -m1 '\&lt;vpid\&gt;' /proc/cpuinfo # tagged TLB entries # VT-d / AMD-Vi shows up as IOMMU groups once enabled in firmware: ls /sys/kernel/iommu_groups 2&gt;/dev/null | wc -l"/>
          <p:cNvSpPr txBox="1"/>
          <p:nvPr/>
        </p:nvSpPr>
        <p:spPr>
          <a:xfrm>
            <a:off x="1362456" y="2523744"/>
            <a:ext cx="9987991" cy="28529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#!/usr/bin/env bash</a:t>
            </a:r>
          </a:p>
          <a:p>
            <a:pPr>
              <a:lnSpc>
                <a:spcPct val="100000"/>
              </a:lnSpc>
              <a:spcAft>
                <a:spcPts val="0"/>
              </a:spcAft>
            </a:pPr>
            <a:r>
              <a:rPr sz="1800" i="1">
                <a:solidFill>
                  <a:srgbClr val="8795A1"/>
                </a:solidFill>
                <a:latin typeface="Consolas"/>
              </a:rPr>
              <a:t># ch04_exits.sh -- see VMX, EPT and the exit rate with your own eyes.</a:t>
            </a:r>
          </a:p>
          <a:p>
            <a:pPr>
              <a:lnSpc>
                <a:spcPct val="100000"/>
              </a:lnSpc>
              <a:spcAft>
                <a:spcPts val="0"/>
              </a:spcAft>
            </a:pPr>
            <a:r>
              <a:rPr sz="1800" i="0">
                <a:solidFill>
                  <a:srgbClr val="C39BD3"/>
                </a:solidFill>
                <a:latin typeface="Consolas"/>
              </a:rPr>
              <a:t>set</a:t>
            </a:r>
            <a:r>
              <a:rPr sz="1800" i="0">
                <a:solidFill>
                  <a:srgbClr val="E8EDF2"/>
                </a:solidFill>
                <a:latin typeface="Consolas"/>
              </a:rPr>
              <a:t> </a:t>
            </a:r>
            <a:r>
              <a:rPr sz="1800" i="0">
                <a:solidFill>
                  <a:srgbClr val="E8EDF2"/>
                </a:solidFill>
                <a:latin typeface="Consolas"/>
              </a:rPr>
              <a:t>-euo</a:t>
            </a:r>
            <a:r>
              <a:rPr sz="1800" i="0">
                <a:solidFill>
                  <a:srgbClr val="E8EDF2"/>
                </a:solidFill>
                <a:latin typeface="Consolas"/>
              </a:rPr>
              <a:t> </a:t>
            </a:r>
            <a:r>
              <a:rPr sz="1800" i="0">
                <a:solidFill>
                  <a:srgbClr val="E8EDF2"/>
                </a:solidFill>
                <a:latin typeface="Consolas"/>
              </a:rPr>
              <a:t>pipefail</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--- 1. Does this processor have the features this chapter describes? ---</a:t>
            </a:r>
          </a:p>
          <a:p>
            <a:pPr>
              <a:lnSpc>
                <a:spcPct val="100000"/>
              </a:lnSpc>
              <a:spcAft>
                <a:spcPts val="0"/>
              </a:spcAft>
            </a:pPr>
            <a:r>
              <a:rPr sz="1800" i="0">
                <a:solidFill>
                  <a:srgbClr val="E8EDF2"/>
                </a:solidFill>
                <a:latin typeface="Consolas"/>
              </a:rPr>
              <a:t>grep</a:t>
            </a: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E8EDF2"/>
                </a:solidFill>
                <a:latin typeface="Consolas"/>
              </a:rPr>
              <a:t>-m1</a:t>
            </a:r>
            <a:r>
              <a:rPr sz="1800" i="0">
                <a:solidFill>
                  <a:srgbClr val="E8EDF2"/>
                </a:solidFill>
                <a:latin typeface="Consolas"/>
              </a:rPr>
              <a:t> </a:t>
            </a:r>
            <a:r>
              <a:rPr sz="1800" i="0">
                <a:solidFill>
                  <a:srgbClr val="E8EDF2"/>
                </a:solidFill>
                <a:latin typeface="Consolas"/>
              </a:rPr>
              <a:t>-E</a:t>
            </a:r>
            <a:r>
              <a:rPr sz="1800" i="0">
                <a:solidFill>
                  <a:srgbClr val="E8EDF2"/>
                </a:solidFill>
                <a:latin typeface="Consolas"/>
              </a:rPr>
              <a:t> </a:t>
            </a:r>
            <a:r>
              <a:rPr sz="1800" i="0">
                <a:solidFill>
                  <a:srgbClr val="7DCEA0"/>
                </a:solidFill>
                <a:latin typeface="Consolas"/>
              </a:rPr>
              <a:t>'\&lt;(vmx|svm)\&gt;'</a:t>
            </a:r>
            <a:r>
              <a:rPr sz="1800" i="0">
                <a:solidFill>
                  <a:srgbClr val="E8EDF2"/>
                </a:solidFill>
                <a:latin typeface="Consolas"/>
              </a:rPr>
              <a:t> </a:t>
            </a:r>
            <a:r>
              <a:rPr sz="1800" i="0">
                <a:solidFill>
                  <a:srgbClr val="E8EDF2"/>
                </a:solidFill>
                <a:latin typeface="Consolas"/>
              </a:rPr>
              <a:t>/proc/cpuinfo</a:t>
            </a:r>
            <a:r>
              <a:rPr sz="1800" i="0">
                <a:solidFill>
                  <a:srgbClr val="E8EDF2"/>
                </a:solidFill>
                <a:latin typeface="Consolas"/>
              </a:rPr>
              <a:t>    </a:t>
            </a:r>
            <a:r>
              <a:rPr sz="1800" i="1">
                <a:solidFill>
                  <a:srgbClr val="8795A1"/>
                </a:solidFill>
                <a:latin typeface="Consolas"/>
              </a:rPr>
              <a:t># VT-x or AMD-V at all</a:t>
            </a:r>
          </a:p>
          <a:p>
            <a:pPr>
              <a:lnSpc>
                <a:spcPct val="100000"/>
              </a:lnSpc>
              <a:spcAft>
                <a:spcPts val="0"/>
              </a:spcAft>
            </a:pPr>
            <a:r>
              <a:rPr sz="1800" i="0">
                <a:solidFill>
                  <a:srgbClr val="E8EDF2"/>
                </a:solidFill>
                <a:latin typeface="Consolas"/>
              </a:rPr>
              <a:t>grep</a:t>
            </a: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E8EDF2"/>
                </a:solidFill>
                <a:latin typeface="Consolas"/>
              </a:rPr>
              <a:t>-m1</a:t>
            </a:r>
            <a:r>
              <a:rPr sz="1800" i="0">
                <a:solidFill>
                  <a:srgbClr val="E8EDF2"/>
                </a:solidFill>
                <a:latin typeface="Consolas"/>
              </a:rPr>
              <a:t> </a:t>
            </a:r>
            <a:r>
              <a:rPr sz="1800" i="0">
                <a:solidFill>
                  <a:srgbClr val="E8EDF2"/>
                </a:solidFill>
                <a:latin typeface="Consolas"/>
              </a:rPr>
              <a:t>-E</a:t>
            </a:r>
            <a:r>
              <a:rPr sz="1800" i="0">
                <a:solidFill>
                  <a:srgbClr val="E8EDF2"/>
                </a:solidFill>
                <a:latin typeface="Consolas"/>
              </a:rPr>
              <a:t> </a:t>
            </a:r>
            <a:r>
              <a:rPr sz="1800" i="0">
                <a:solidFill>
                  <a:srgbClr val="7DCEA0"/>
                </a:solidFill>
                <a:latin typeface="Consolas"/>
              </a:rPr>
              <a:t>'\&lt;ept\&gt;|\&lt;npt\&gt;'</a:t>
            </a:r>
            <a:r>
              <a:rPr sz="1800" i="0">
                <a:solidFill>
                  <a:srgbClr val="E8EDF2"/>
                </a:solidFill>
                <a:latin typeface="Consolas"/>
              </a:rPr>
              <a:t> </a:t>
            </a:r>
            <a:r>
              <a:rPr sz="1800" i="0">
                <a:solidFill>
                  <a:srgbClr val="E8EDF2"/>
                </a:solidFill>
                <a:latin typeface="Consolas"/>
              </a:rPr>
              <a:t>/proc/cpuinfo</a:t>
            </a:r>
            <a:r>
              <a:rPr sz="1800" i="0">
                <a:solidFill>
                  <a:srgbClr val="E8EDF2"/>
                </a:solidFill>
                <a:latin typeface="Consolas"/>
              </a:rPr>
              <a:t>  </a:t>
            </a:r>
            <a:r>
              <a:rPr sz="1800" i="1">
                <a:solidFill>
                  <a:srgbClr val="8795A1"/>
                </a:solidFill>
                <a:latin typeface="Consolas"/>
              </a:rPr>
              <a:t># two-dimensional paging</a:t>
            </a:r>
          </a:p>
          <a:p>
            <a:pPr>
              <a:lnSpc>
                <a:spcPct val="100000"/>
              </a:lnSpc>
              <a:spcAft>
                <a:spcPts val="0"/>
              </a:spcAft>
            </a:pPr>
            <a:r>
              <a:rPr sz="1800" i="0">
                <a:solidFill>
                  <a:srgbClr val="E8EDF2"/>
                </a:solidFill>
                <a:latin typeface="Consolas"/>
              </a:rPr>
              <a:t>grep</a:t>
            </a: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E8EDF2"/>
                </a:solidFill>
                <a:latin typeface="Consolas"/>
              </a:rPr>
              <a:t>-m1</a:t>
            </a:r>
            <a:r>
              <a:rPr sz="1800" i="0">
                <a:solidFill>
                  <a:srgbClr val="E8EDF2"/>
                </a:solidFill>
                <a:latin typeface="Consolas"/>
              </a:rPr>
              <a:t> </a:t>
            </a:r>
            <a:r>
              <a:rPr sz="1800" i="0">
                <a:solidFill>
                  <a:srgbClr val="7DCEA0"/>
                </a:solidFill>
                <a:latin typeface="Consolas"/>
              </a:rPr>
              <a:t>'\&lt;vpid\&gt;'</a:t>
            </a:r>
            <a:r>
              <a:rPr sz="1800" i="0">
                <a:solidFill>
                  <a:srgbClr val="E8EDF2"/>
                </a:solidFill>
                <a:latin typeface="Consolas"/>
              </a:rPr>
              <a:t> </a:t>
            </a:r>
            <a:r>
              <a:rPr sz="1800" i="0">
                <a:solidFill>
                  <a:srgbClr val="E8EDF2"/>
                </a:solidFill>
                <a:latin typeface="Consolas"/>
              </a:rPr>
              <a:t>/proc/cpuinfo</a:t>
            </a:r>
            <a:r>
              <a:rPr sz="1800" i="0">
                <a:solidFill>
                  <a:srgbClr val="E8EDF2"/>
                </a:solidFill>
                <a:latin typeface="Consolas"/>
              </a:rPr>
              <a:t>            </a:t>
            </a:r>
            <a:r>
              <a:rPr sz="1800" i="1">
                <a:solidFill>
                  <a:srgbClr val="8795A1"/>
                </a:solidFill>
                <a:latin typeface="Consolas"/>
              </a:rPr>
              <a:t># tagged TLB entries</a:t>
            </a:r>
          </a:p>
          <a:p>
            <a:pPr>
              <a:lnSpc>
                <a:spcPct val="100000"/>
              </a:lnSpc>
              <a:spcAft>
                <a:spcPts val="0"/>
              </a:spcAft>
            </a:pPr>
            <a:r>
              <a:rPr sz="1800" i="1">
                <a:solidFill>
                  <a:srgbClr val="8795A1"/>
                </a:solidFill>
                <a:latin typeface="Consolas"/>
              </a:rPr>
              <a:t># VT-d / AMD-Vi shows up as IOMMU groups once enabled in firmware:</a:t>
            </a:r>
          </a:p>
          <a:p>
            <a:pPr>
              <a:lnSpc>
                <a:spcPct val="100000"/>
              </a:lnSpc>
              <a:spcAft>
                <a:spcPts val="0"/>
              </a:spcAft>
            </a:pPr>
            <a:r>
              <a:rPr sz="1800" i="0">
                <a:solidFill>
                  <a:srgbClr val="E8EDF2"/>
                </a:solidFill>
                <a:latin typeface="Consolas"/>
              </a:rPr>
              <a:t>ls</a:t>
            </a:r>
            <a:r>
              <a:rPr sz="1800" i="0">
                <a:solidFill>
                  <a:srgbClr val="E8EDF2"/>
                </a:solidFill>
                <a:latin typeface="Consolas"/>
              </a:rPr>
              <a:t> </a:t>
            </a:r>
            <a:r>
              <a:rPr sz="1800" i="0">
                <a:solidFill>
                  <a:srgbClr val="E8EDF2"/>
                </a:solidFill>
                <a:latin typeface="Consolas"/>
              </a:rPr>
              <a:t>/sys/kernel/iommu_groups</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&gt;/dev/null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wc</a:t>
            </a:r>
            <a:r>
              <a:rPr sz="1800" i="0">
                <a:solidFill>
                  <a:srgbClr val="E8EDF2"/>
                </a:solidFill>
                <a:latin typeface="Consolas"/>
              </a:rPr>
              <a:t> </a:t>
            </a:r>
            <a:r>
              <a:rPr sz="1800" i="0">
                <a:solidFill>
                  <a:srgbClr val="E8EDF2"/>
                </a:solidFill>
                <a:latin typeface="Consolas"/>
              </a:rPr>
              <a:t>-l</a:t>
            </a:r>
          </a:p>
        </p:txBody>
      </p:sp>
      <p:sp>
        <p:nvSpPr>
          <p:cNvPr id="15" name="!!code-num"/>
          <p:cNvSpPr txBox="1"/>
          <p:nvPr/>
        </p:nvSpPr>
        <p:spPr>
          <a:xfrm>
            <a:off x="768096" y="2523744"/>
            <a:ext cx="393192" cy="28529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92709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Watching the Hardware 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34     </a:t>
            </a:r>
            <a:fld id="{2BDC0FBF-8009-4254-88D3-80C35163C828}"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Is nested virtualization on? Every later lab wants it.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00784"/>
          </a:xfrm>
          <a:prstGeom prst="roundRect">
            <a:avLst>
              <a:gd name="adj" fmla="val 53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Is nested virtualization on? Every later lab wants it. --------- cat /sys/module/kvm_intel/parameters/nested 2&gt;/dev/null \ || cat /sys/module/kvm_amd/parameters/nested 2&gt;/dev/null # If that prints N or 0, see Appendix A for how to turn it on."/>
          <p:cNvSpPr txBox="1"/>
          <p:nvPr/>
        </p:nvSpPr>
        <p:spPr>
          <a:xfrm>
            <a:off x="1362456" y="2523744"/>
            <a:ext cx="9987991" cy="120700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Is nested virtualization on? Every later lab wants it. ---------</a:t>
            </a:r>
          </a:p>
          <a:p>
            <a:pPr>
              <a:lnSpc>
                <a:spcPct val="100000"/>
              </a:lnSpc>
              <a:spcAft>
                <a:spcPts val="0"/>
              </a:spcAft>
            </a:pPr>
            <a:r>
              <a:rPr sz="1800" i="0">
                <a:solidFill>
                  <a:srgbClr val="E8EDF2"/>
                </a:solidFill>
                <a:latin typeface="Consolas"/>
              </a:rPr>
              <a:t>cat</a:t>
            </a:r>
            <a:r>
              <a:rPr sz="1800" i="0">
                <a:solidFill>
                  <a:srgbClr val="E8EDF2"/>
                </a:solidFill>
                <a:latin typeface="Consolas"/>
              </a:rPr>
              <a:t> </a:t>
            </a:r>
            <a:r>
              <a:rPr sz="1800" i="0">
                <a:solidFill>
                  <a:srgbClr val="E8EDF2"/>
                </a:solidFill>
                <a:latin typeface="Consolas"/>
              </a:rPr>
              <a:t>/sys/module/kvm_intel/parameters/nested</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&gt;/dev/null</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a:t>
            </a:r>
            <a:r>
              <a:rPr sz="1800" i="0">
                <a:solidFill>
                  <a:srgbClr val="E8EDF2"/>
                </a:solidFill>
                <a:latin typeface="Consolas"/>
              </a:rPr>
              <a:t> </a:t>
            </a:r>
            <a:r>
              <a:rPr sz="1800" i="0">
                <a:solidFill>
                  <a:srgbClr val="E8EDF2"/>
                </a:solidFill>
                <a:latin typeface="Consolas"/>
              </a:rPr>
              <a:t>/sys/module/kvm_amd/parameters/nested</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&gt;/dev/null</a:t>
            </a:r>
          </a:p>
          <a:p>
            <a:pPr>
              <a:lnSpc>
                <a:spcPct val="100000"/>
              </a:lnSpc>
              <a:spcAft>
                <a:spcPts val="0"/>
              </a:spcAft>
            </a:pPr>
            <a:r>
              <a:rPr sz="1800" i="1">
                <a:solidFill>
                  <a:srgbClr val="8795A1"/>
                </a:solidFill>
                <a:latin typeface="Consolas"/>
              </a:rPr>
              <a:t># If that prints N or 0, see Appendix A for how to turn it on.</a:t>
            </a:r>
          </a:p>
        </p:txBody>
      </p:sp>
      <p:sp>
        <p:nvSpPr>
          <p:cNvPr id="15" name="!!code-num"/>
          <p:cNvSpPr txBox="1"/>
          <p:nvPr/>
        </p:nvSpPr>
        <p:spPr>
          <a:xfrm>
            <a:off x="768096" y="2523744"/>
            <a:ext cx="393192" cy="120700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20418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Watching the Hardware 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34     </a:t>
            </a:r>
            <a:fld id="{AC4E2A68-7B75-4F15-9802-DB489DD74F71}"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Start the guest from Chapter 1 and find its thread.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Start the guest from Chapter 1 and find its thread. ------------ sudo virsh start vss1 || true sleep 25 PID=$(pgrep -f 'qemu.*vss1' | head -1) echo &quot;guest qemu pid: $PID&quot;"/>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Start the guest from Chapter 1 and find its thread. ------------</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start</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a:p>
            <a:pPr>
              <a:lnSpc>
                <a:spcPct val="100000"/>
              </a:lnSpc>
              <a:spcAft>
                <a:spcPts val="0"/>
              </a:spcAft>
            </a:pP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25</a:t>
            </a:r>
          </a:p>
          <a:p>
            <a:pPr>
              <a:lnSpc>
                <a:spcPct val="100000"/>
              </a:lnSpc>
              <a:spcAft>
                <a:spcPts val="0"/>
              </a:spcAft>
            </a:pPr>
            <a:r>
              <a:rPr sz="1800" i="0">
                <a:solidFill>
                  <a:srgbClr val="E8EDF2"/>
                </a:solidFill>
                <a:latin typeface="Consolas"/>
              </a:rPr>
              <a:t>PID</a:t>
            </a:r>
            <a:r>
              <a:rPr sz="1800" i="0">
                <a:solidFill>
                  <a:srgbClr val="AEB6BF"/>
                </a:solidFill>
                <a:latin typeface="Consolas"/>
              </a:rPr>
              <a:t>=</a:t>
            </a:r>
            <a:r>
              <a:rPr sz="1800" i="0">
                <a:solidFill>
                  <a:srgbClr val="5DADE2"/>
                </a:solidFill>
                <a:latin typeface="Consolas"/>
              </a:rPr>
              <a:t>$(</a:t>
            </a:r>
            <a:r>
              <a:rPr sz="1800" i="0">
                <a:solidFill>
                  <a:srgbClr val="E8EDF2"/>
                </a:solidFill>
                <a:latin typeface="Consolas"/>
              </a:rPr>
              <a:t>pgrep</a:t>
            </a:r>
            <a:r>
              <a:rPr sz="1800" i="0">
                <a:solidFill>
                  <a:srgbClr val="E8EDF2"/>
                </a:solidFill>
                <a:latin typeface="Consolas"/>
              </a:rPr>
              <a:t> </a:t>
            </a:r>
            <a:r>
              <a:rPr sz="1800" i="0">
                <a:solidFill>
                  <a:srgbClr val="E8EDF2"/>
                </a:solidFill>
                <a:latin typeface="Consolas"/>
              </a:rPr>
              <a:t>-f</a:t>
            </a:r>
            <a:r>
              <a:rPr sz="1800" i="0">
                <a:solidFill>
                  <a:srgbClr val="E8EDF2"/>
                </a:solidFill>
                <a:latin typeface="Consolas"/>
              </a:rPr>
              <a:t> </a:t>
            </a:r>
            <a:r>
              <a:rPr sz="1800" i="0">
                <a:solidFill>
                  <a:srgbClr val="7DCEA0"/>
                </a:solidFill>
                <a:latin typeface="Consolas"/>
              </a:rPr>
              <a:t>'qemu.*vss1'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head</a:t>
            </a:r>
            <a:r>
              <a:rPr sz="1800" i="0">
                <a:solidFill>
                  <a:srgbClr val="E8EDF2"/>
                </a:solidFill>
                <a:latin typeface="Consolas"/>
              </a:rPr>
              <a:t> </a:t>
            </a:r>
            <a:r>
              <a:rPr sz="1800" i="0">
                <a:solidFill>
                  <a:srgbClr val="E8EDF2"/>
                </a:solidFill>
                <a:latin typeface="Consolas"/>
              </a:rPr>
              <a:t>-1</a:t>
            </a:r>
            <a:r>
              <a:rPr sz="1800" i="0">
                <a:solidFill>
                  <a:srgbClr val="5DADE2"/>
                </a:solidFill>
                <a:latin typeface="Consolas"/>
              </a:rPr>
              <a:t>)</a:t>
            </a:r>
          </a:p>
          <a:p>
            <a:pPr>
              <a:lnSpc>
                <a:spcPct val="100000"/>
              </a:lnSpc>
              <a:spcAft>
                <a:spcPts val="0"/>
              </a:spcAft>
            </a:pP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guest qemu pid: </a:t>
            </a:r>
            <a:r>
              <a:rPr sz="1800" i="0">
                <a:solidFill>
                  <a:srgbClr val="E8EDF2"/>
                </a:solidFill>
                <a:latin typeface="Consolas"/>
              </a:rPr>
              <a:t>$PID</a:t>
            </a:r>
            <a:r>
              <a:rPr sz="1800" i="0">
                <a:solidFill>
                  <a:srgbClr val="7DCEA0"/>
                </a:solidFill>
                <a:latin typeface="Consolas"/>
              </a:rPr>
              <a:t>"</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8126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Watching the Hardware 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34     </a:t>
            </a:r>
            <a:fld id="{8FFC1EAD-6C96-4698-8A12-CB8418CCC3CB}"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Count exits by reason, for ten seconds of an idle guest.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523744"/>
          </a:xfrm>
          <a:prstGeom prst="roundRect">
            <a:avLst>
              <a:gd name="adj" fmla="val 362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Count exits by reason, for ten seconds of an idle guest. ------- # Every line is a different entry in the VM-execution controls. sudo perf stat -e 'kvm:kvm_exit' -p &quot;$PID&quot; -- sleep 10 sudo perf record -e 'kvm:kvm_exit' -p &quot;$PID&quot; -- sleep 10 2&gt;/dev/null sudo perf script \ | awk '{for(i=1;i&lt;=NF;i++) if($i ~ /reason/) print $(i+1)}' \ | sort | uniq -c | sort -rn | head -12"/>
          <p:cNvSpPr txBox="1"/>
          <p:nvPr/>
        </p:nvSpPr>
        <p:spPr>
          <a:xfrm>
            <a:off x="1362456" y="2523744"/>
            <a:ext cx="9987991" cy="20299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--- 4. Count exits by reason, for ten seconds of an idle guest. -------</a:t>
            </a:r>
          </a:p>
          <a:p>
            <a:pPr>
              <a:lnSpc>
                <a:spcPct val="100000"/>
              </a:lnSpc>
              <a:spcAft>
                <a:spcPts val="0"/>
              </a:spcAft>
            </a:pPr>
            <a:r>
              <a:rPr sz="1800" i="1">
                <a:solidFill>
                  <a:srgbClr val="8795A1"/>
                </a:solidFill>
                <a:latin typeface="Consolas"/>
              </a:rPr>
              <a:t># Every line is a different entry in the VM-execution controls.</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perf</a:t>
            </a:r>
            <a:r>
              <a:rPr sz="1800" i="0">
                <a:solidFill>
                  <a:srgbClr val="E8EDF2"/>
                </a:solidFill>
                <a:latin typeface="Consolas"/>
              </a:rPr>
              <a:t> </a:t>
            </a:r>
            <a:r>
              <a:rPr sz="1800" i="0">
                <a:solidFill>
                  <a:srgbClr val="E8EDF2"/>
                </a:solidFill>
                <a:latin typeface="Consolas"/>
              </a:rPr>
              <a:t>stat</a:t>
            </a:r>
            <a:r>
              <a:rPr sz="1800" i="0">
                <a:solidFill>
                  <a:srgbClr val="E8EDF2"/>
                </a:solidFill>
                <a:latin typeface="Consolas"/>
              </a:rPr>
              <a:t> </a:t>
            </a:r>
            <a:r>
              <a:rPr sz="1800" i="0">
                <a:solidFill>
                  <a:srgbClr val="E8EDF2"/>
                </a:solidFill>
                <a:latin typeface="Consolas"/>
              </a:rPr>
              <a:t>-e</a:t>
            </a:r>
            <a:r>
              <a:rPr sz="1800" i="0">
                <a:solidFill>
                  <a:srgbClr val="E8EDF2"/>
                </a:solidFill>
                <a:latin typeface="Consolas"/>
              </a:rPr>
              <a:t> </a:t>
            </a:r>
            <a:r>
              <a:rPr sz="1800" i="0">
                <a:solidFill>
                  <a:srgbClr val="7DCEA0"/>
                </a:solidFill>
                <a:latin typeface="Consolas"/>
              </a:rPr>
              <a:t>'kvm:kvm_exit'</a:t>
            </a:r>
            <a:r>
              <a:rPr sz="1800" i="0">
                <a:solidFill>
                  <a:srgbClr val="E8EDF2"/>
                </a:solidFill>
                <a:latin typeface="Consolas"/>
              </a:rPr>
              <a:t> </a:t>
            </a:r>
            <a:r>
              <a:rPr sz="1800" i="0">
                <a:solidFill>
                  <a:srgbClr val="E8EDF2"/>
                </a:solidFill>
                <a:latin typeface="Consolas"/>
              </a:rPr>
              <a:t>-p</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$PID</a:t>
            </a:r>
            <a:r>
              <a:rPr sz="1800" i="0">
                <a:solidFill>
                  <a:srgbClr val="7DCEA0"/>
                </a:solidFill>
                <a:latin typeface="Consolas"/>
              </a:rPr>
              <a:t>"</a:t>
            </a:r>
            <a:r>
              <a:rPr sz="1800" i="0">
                <a:solidFill>
                  <a:srgbClr val="E8EDF2"/>
                </a:solidFill>
                <a:latin typeface="Consolas"/>
              </a:rPr>
              <a:t> </a:t>
            </a:r>
            <a:r>
              <a:rPr sz="1800" i="0">
                <a:solidFill>
                  <a:srgbClr val="E8EDF2"/>
                </a:solidFill>
                <a:latin typeface="Consolas"/>
              </a:rPr>
              <a:t>--</a:t>
            </a:r>
            <a:r>
              <a:rPr sz="1800" i="0">
                <a:solidFill>
                  <a:srgbClr val="E8EDF2"/>
                </a:solidFill>
                <a:latin typeface="Consolas"/>
              </a:rPr>
              <a:t> </a:t>
            </a: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10</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perf</a:t>
            </a:r>
            <a:r>
              <a:rPr sz="1800" i="0">
                <a:solidFill>
                  <a:srgbClr val="E8EDF2"/>
                </a:solidFill>
                <a:latin typeface="Consolas"/>
              </a:rPr>
              <a:t> </a:t>
            </a:r>
            <a:r>
              <a:rPr sz="1800" i="0">
                <a:solidFill>
                  <a:srgbClr val="E8EDF2"/>
                </a:solidFill>
                <a:latin typeface="Consolas"/>
              </a:rPr>
              <a:t>record</a:t>
            </a:r>
            <a:r>
              <a:rPr sz="1800" i="0">
                <a:solidFill>
                  <a:srgbClr val="E8EDF2"/>
                </a:solidFill>
                <a:latin typeface="Consolas"/>
              </a:rPr>
              <a:t> </a:t>
            </a:r>
            <a:r>
              <a:rPr sz="1800" i="0">
                <a:solidFill>
                  <a:srgbClr val="E8EDF2"/>
                </a:solidFill>
                <a:latin typeface="Consolas"/>
              </a:rPr>
              <a:t>-e</a:t>
            </a:r>
            <a:r>
              <a:rPr sz="1800" i="0">
                <a:solidFill>
                  <a:srgbClr val="E8EDF2"/>
                </a:solidFill>
                <a:latin typeface="Consolas"/>
              </a:rPr>
              <a:t> </a:t>
            </a:r>
            <a:r>
              <a:rPr sz="1800" i="0">
                <a:solidFill>
                  <a:srgbClr val="7DCEA0"/>
                </a:solidFill>
                <a:latin typeface="Consolas"/>
              </a:rPr>
              <a:t>'kvm:kvm_exit'</a:t>
            </a:r>
            <a:r>
              <a:rPr sz="1800" i="0">
                <a:solidFill>
                  <a:srgbClr val="E8EDF2"/>
                </a:solidFill>
                <a:latin typeface="Consolas"/>
              </a:rPr>
              <a:t> </a:t>
            </a:r>
            <a:r>
              <a:rPr sz="1800" i="0">
                <a:solidFill>
                  <a:srgbClr val="E8EDF2"/>
                </a:solidFill>
                <a:latin typeface="Consolas"/>
              </a:rPr>
              <a:t>-p</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$PID</a:t>
            </a:r>
            <a:r>
              <a:rPr sz="1800" i="0">
                <a:solidFill>
                  <a:srgbClr val="7DCEA0"/>
                </a:solidFill>
                <a:latin typeface="Consolas"/>
              </a:rPr>
              <a:t>"</a:t>
            </a:r>
            <a:r>
              <a:rPr sz="1800" i="0">
                <a:solidFill>
                  <a:srgbClr val="E8EDF2"/>
                </a:solidFill>
                <a:latin typeface="Consolas"/>
              </a:rPr>
              <a:t> </a:t>
            </a:r>
            <a:r>
              <a:rPr sz="1800" i="0">
                <a:solidFill>
                  <a:srgbClr val="E8EDF2"/>
                </a:solidFill>
                <a:latin typeface="Consolas"/>
              </a:rPr>
              <a:t>--</a:t>
            </a:r>
            <a:r>
              <a:rPr sz="1800" i="0">
                <a:solidFill>
                  <a:srgbClr val="E8EDF2"/>
                </a:solidFill>
                <a:latin typeface="Consolas"/>
              </a:rPr>
              <a:t> </a:t>
            </a: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10</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&gt;/dev/null</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perf</a:t>
            </a:r>
            <a:r>
              <a:rPr sz="1800" i="0">
                <a:solidFill>
                  <a:srgbClr val="E8EDF2"/>
                </a:solidFill>
                <a:latin typeface="Consolas"/>
              </a:rPr>
              <a:t> </a:t>
            </a:r>
            <a:r>
              <a:rPr sz="1800" i="0">
                <a:solidFill>
                  <a:srgbClr val="E8EDF2"/>
                </a:solidFill>
                <a:latin typeface="Consolas"/>
              </a:rPr>
              <a:t>script</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awk</a:t>
            </a:r>
            <a:r>
              <a:rPr sz="1800" i="0">
                <a:solidFill>
                  <a:srgbClr val="E8EDF2"/>
                </a:solidFill>
                <a:latin typeface="Consolas"/>
              </a:rPr>
              <a:t> </a:t>
            </a:r>
            <a:r>
              <a:rPr sz="1800" i="0">
                <a:solidFill>
                  <a:srgbClr val="7DCEA0"/>
                </a:solidFill>
                <a:latin typeface="Consolas"/>
              </a:rPr>
              <a:t>'{for(i=1;i&lt;=NF;i++) if($i ~ /reason/) print $(i+1)}'</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sort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uniq</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sort</a:t>
            </a:r>
            <a:r>
              <a:rPr sz="1800" i="0">
                <a:solidFill>
                  <a:srgbClr val="E8EDF2"/>
                </a:solidFill>
                <a:latin typeface="Consolas"/>
              </a:rPr>
              <a:t> </a:t>
            </a:r>
            <a:r>
              <a:rPr sz="1800" i="0">
                <a:solidFill>
                  <a:srgbClr val="E8EDF2"/>
                </a:solidFill>
                <a:latin typeface="Consolas"/>
              </a:rPr>
              <a:t>-rn</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head</a:t>
            </a:r>
            <a:r>
              <a:rPr sz="1800" i="0">
                <a:solidFill>
                  <a:srgbClr val="E8EDF2"/>
                </a:solidFill>
                <a:latin typeface="Consolas"/>
              </a:rPr>
              <a:t> </a:t>
            </a:r>
            <a:r>
              <a:rPr sz="1800" i="0">
                <a:solidFill>
                  <a:srgbClr val="E8EDF2"/>
                </a:solidFill>
                <a:latin typeface="Consolas"/>
              </a:rPr>
              <a:t>-12</a:t>
            </a:r>
          </a:p>
        </p:txBody>
      </p:sp>
      <p:sp>
        <p:nvSpPr>
          <p:cNvPr id="15" name="!!code-num"/>
          <p:cNvSpPr txBox="1"/>
          <p:nvPr/>
        </p:nvSpPr>
        <p:spPr>
          <a:xfrm>
            <a:off x="768096" y="2523744"/>
            <a:ext cx="393192" cy="20299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a:p>
            <a:pPr algn="r">
              <a:lnSpc>
                <a:spcPct val="100000"/>
              </a:lnSpc>
            </a:pPr>
            <a:r>
              <a:rPr sz="1800">
                <a:solidFill>
                  <a:srgbClr val="4F5D6A"/>
                </a:solidFill>
                <a:latin typeface="Consolas"/>
              </a:rPr>
              <a:t>27</a:t>
            </a:r>
          </a:p>
          <a:p>
            <a:pPr algn="r">
              <a:lnSpc>
                <a:spcPct val="100000"/>
              </a:lnSpc>
            </a:pPr>
            <a:r>
              <a:rPr sz="1800">
                <a:solidFill>
                  <a:srgbClr val="4F5D6A"/>
                </a:solidFill>
                <a:latin typeface="Consolas"/>
              </a:rPr>
              <a:t>28</a:t>
            </a:r>
          </a:p>
          <a:p>
            <a:pPr algn="r">
              <a:lnSpc>
                <a:spcPct val="100000"/>
              </a:lnSpc>
            </a:pPr>
            <a:r>
              <a:rPr sz="1800">
                <a:solidFill>
                  <a:srgbClr val="4F5D6A"/>
                </a:solidFill>
                <a:latin typeface="Consolas"/>
              </a:rPr>
              <a:t>29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5835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Watching the Hardware 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34     </a:t>
            </a:r>
            <a:fld id="{2813B3C7-30A8-4E8D-890D-CAA98D2189B1}"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Now give the guest work that forces exits, and compare.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523744"/>
          </a:xfrm>
          <a:prstGeom prst="roundRect">
            <a:avLst>
              <a:gd name="adj" fmla="val 362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Now give the guest work that forces exits, and compare. -------- # Network I/O through an emulated device is an exit per register access. in_guest () { ssh -o StrictHostKeyChecking=no &quot;ubuntu@$1&quot; &quot;$2&quot;; } IP=$(sudo virsh domifaddr vss1 | awk '/ipv4/{split($4,a,&quot;/&quot;); print a[1]}') in_guest &quot;$IP&quot; &quot;ping -f -c 2000 10.0.2.2 &gt;/dev/null 2&gt;&amp;1&quot; &amp; sudo perf stat -e 'kvm:kvm_exit' -p &quot;$PID&quot; -- sleep 10 wait"/>
          <p:cNvSpPr txBox="1"/>
          <p:nvPr/>
        </p:nvSpPr>
        <p:spPr>
          <a:xfrm>
            <a:off x="1362456" y="2523744"/>
            <a:ext cx="9987991" cy="20299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--- 5. Now give the guest work that forces exits, and compare. --------</a:t>
            </a:r>
          </a:p>
          <a:p>
            <a:pPr>
              <a:lnSpc>
                <a:spcPct val="100000"/>
              </a:lnSpc>
              <a:spcAft>
                <a:spcPts val="0"/>
              </a:spcAft>
            </a:pPr>
            <a:r>
              <a:rPr sz="1800" i="1">
                <a:solidFill>
                  <a:srgbClr val="8795A1"/>
                </a:solidFill>
                <a:latin typeface="Consolas"/>
              </a:rPr>
              <a:t># Network I/O through an emulated device is an exit per register access.</a:t>
            </a:r>
          </a:p>
          <a:p>
            <a:pPr>
              <a:lnSpc>
                <a:spcPct val="100000"/>
              </a:lnSpc>
              <a:spcAft>
                <a:spcPts val="0"/>
              </a:spcAft>
            </a:pPr>
            <a:r>
              <a:rPr sz="1800" i="0">
                <a:solidFill>
                  <a:srgbClr val="E8EDF2"/>
                </a:solidFill>
                <a:latin typeface="Consolas"/>
              </a:rPr>
              <a:t>in_guest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ssh</a:t>
            </a: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E8EDF2"/>
                </a:solidFill>
                <a:latin typeface="Consolas"/>
              </a:rPr>
              <a:t>StrictHostKeyChecking</a:t>
            </a:r>
            <a:r>
              <a:rPr sz="1800" i="0">
                <a:solidFill>
                  <a:srgbClr val="AEB6BF"/>
                </a:solidFill>
                <a:latin typeface="Consolas"/>
              </a:rPr>
              <a:t>=</a:t>
            </a:r>
            <a:r>
              <a:rPr sz="1800" i="0">
                <a:solidFill>
                  <a:srgbClr val="E8EDF2"/>
                </a:solidFill>
                <a:latin typeface="Consolas"/>
              </a:rPr>
              <a:t>no</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ubuntu@</a:t>
            </a:r>
            <a:r>
              <a:rPr sz="1800" i="0">
                <a:solidFill>
                  <a:srgbClr val="E8EDF2"/>
                </a:solidFill>
                <a:latin typeface="Consolas"/>
              </a:rPr>
              <a:t>$1</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$2</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IP</a:t>
            </a:r>
            <a:r>
              <a:rPr sz="1800" i="0">
                <a:solidFill>
                  <a:srgbClr val="AEB6BF"/>
                </a:solidFill>
                <a:latin typeface="Consolas"/>
              </a:rPr>
              <a:t>=</a:t>
            </a:r>
            <a:r>
              <a:rPr sz="1800" i="0">
                <a:solidFill>
                  <a:srgbClr val="5DADE2"/>
                </a:solidFill>
                <a:latin typeface="Consolas"/>
              </a:rPr>
              <a:t>$(</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domifaddr</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awk</a:t>
            </a:r>
            <a:r>
              <a:rPr sz="1800" i="0">
                <a:solidFill>
                  <a:srgbClr val="E8EDF2"/>
                </a:solidFill>
                <a:latin typeface="Consolas"/>
              </a:rPr>
              <a:t> </a:t>
            </a:r>
            <a:r>
              <a:rPr sz="1800" i="0">
                <a:solidFill>
                  <a:srgbClr val="7DCEA0"/>
                </a:solidFill>
                <a:latin typeface="Consolas"/>
              </a:rPr>
              <a:t>'/ipv4/{split($4,a,"/"); print a[1]}'</a:t>
            </a:r>
            <a:r>
              <a:rPr sz="1800" i="0">
                <a:solidFill>
                  <a:srgbClr val="5DADE2"/>
                </a:solidFill>
                <a:latin typeface="Consolas"/>
              </a:rPr>
              <a:t>)</a:t>
            </a:r>
          </a:p>
          <a:p>
            <a:pPr>
              <a:lnSpc>
                <a:spcPct val="100000"/>
              </a:lnSpc>
              <a:spcAft>
                <a:spcPts val="0"/>
              </a:spcAft>
            </a:pPr>
            <a:r>
              <a:rPr sz="1800" i="0">
                <a:solidFill>
                  <a:srgbClr val="E8EDF2"/>
                </a:solidFill>
                <a:latin typeface="Consolas"/>
              </a:rPr>
              <a:t>in_guest</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$IP</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"ping -f -c 2000 10.0.2.2 &gt;/dev/null 2&gt;&amp;1"</a:t>
            </a:r>
            <a:r>
              <a:rPr sz="1800" i="0">
                <a:solidFill>
                  <a:srgbClr val="E8EDF2"/>
                </a:solidFill>
                <a:latin typeface="Consolas"/>
              </a:rPr>
              <a:t> </a:t>
            </a:r>
            <a:r>
              <a:rPr sz="1800" i="0">
                <a:solidFill>
                  <a:srgbClr val="AEB6BF"/>
                </a:solidFill>
                <a:latin typeface="Consolas"/>
              </a:rPr>
              <a:t>&amp;</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perf</a:t>
            </a:r>
            <a:r>
              <a:rPr sz="1800" i="0">
                <a:solidFill>
                  <a:srgbClr val="E8EDF2"/>
                </a:solidFill>
                <a:latin typeface="Consolas"/>
              </a:rPr>
              <a:t> </a:t>
            </a:r>
            <a:r>
              <a:rPr sz="1800" i="0">
                <a:solidFill>
                  <a:srgbClr val="E8EDF2"/>
                </a:solidFill>
                <a:latin typeface="Consolas"/>
              </a:rPr>
              <a:t>stat</a:t>
            </a:r>
            <a:r>
              <a:rPr sz="1800" i="0">
                <a:solidFill>
                  <a:srgbClr val="E8EDF2"/>
                </a:solidFill>
                <a:latin typeface="Consolas"/>
              </a:rPr>
              <a:t> </a:t>
            </a:r>
            <a:r>
              <a:rPr sz="1800" i="0">
                <a:solidFill>
                  <a:srgbClr val="E8EDF2"/>
                </a:solidFill>
                <a:latin typeface="Consolas"/>
              </a:rPr>
              <a:t>-e</a:t>
            </a:r>
            <a:r>
              <a:rPr sz="1800" i="0">
                <a:solidFill>
                  <a:srgbClr val="E8EDF2"/>
                </a:solidFill>
                <a:latin typeface="Consolas"/>
              </a:rPr>
              <a:t> </a:t>
            </a:r>
            <a:r>
              <a:rPr sz="1800" i="0">
                <a:solidFill>
                  <a:srgbClr val="7DCEA0"/>
                </a:solidFill>
                <a:latin typeface="Consolas"/>
              </a:rPr>
              <a:t>'kvm:kvm_exit'</a:t>
            </a:r>
            <a:r>
              <a:rPr sz="1800" i="0">
                <a:solidFill>
                  <a:srgbClr val="E8EDF2"/>
                </a:solidFill>
                <a:latin typeface="Consolas"/>
              </a:rPr>
              <a:t> </a:t>
            </a:r>
            <a:r>
              <a:rPr sz="1800" i="0">
                <a:solidFill>
                  <a:srgbClr val="E8EDF2"/>
                </a:solidFill>
                <a:latin typeface="Consolas"/>
              </a:rPr>
              <a:t>-p</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$PID</a:t>
            </a:r>
            <a:r>
              <a:rPr sz="1800" i="0">
                <a:solidFill>
                  <a:srgbClr val="7DCEA0"/>
                </a:solidFill>
                <a:latin typeface="Consolas"/>
              </a:rPr>
              <a:t>"</a:t>
            </a:r>
            <a:r>
              <a:rPr sz="1800" i="0">
                <a:solidFill>
                  <a:srgbClr val="E8EDF2"/>
                </a:solidFill>
                <a:latin typeface="Consolas"/>
              </a:rPr>
              <a:t> </a:t>
            </a:r>
            <a:r>
              <a:rPr sz="1800" i="0">
                <a:solidFill>
                  <a:srgbClr val="E8EDF2"/>
                </a:solidFill>
                <a:latin typeface="Consolas"/>
              </a:rPr>
              <a:t>--</a:t>
            </a:r>
            <a:r>
              <a:rPr sz="1800" i="0">
                <a:solidFill>
                  <a:srgbClr val="E8EDF2"/>
                </a:solidFill>
                <a:latin typeface="Consolas"/>
              </a:rPr>
              <a:t> </a:t>
            </a: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10</a:t>
            </a:r>
          </a:p>
          <a:p>
            <a:pPr>
              <a:lnSpc>
                <a:spcPct val="100000"/>
              </a:lnSpc>
              <a:spcAft>
                <a:spcPts val="0"/>
              </a:spcAft>
            </a:pPr>
            <a:r>
              <a:rPr sz="1800" i="0">
                <a:solidFill>
                  <a:srgbClr val="C39BD3"/>
                </a:solidFill>
                <a:latin typeface="Consolas"/>
              </a:rPr>
              <a:t>wait</a:t>
            </a:r>
          </a:p>
        </p:txBody>
      </p:sp>
      <p:sp>
        <p:nvSpPr>
          <p:cNvPr id="15" name="!!code-num"/>
          <p:cNvSpPr txBox="1"/>
          <p:nvPr/>
        </p:nvSpPr>
        <p:spPr>
          <a:xfrm>
            <a:off x="768096" y="2523744"/>
            <a:ext cx="393192" cy="20299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31</a:t>
            </a:r>
          </a:p>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a:p>
            <a:pPr algn="r">
              <a:lnSpc>
                <a:spcPct val="100000"/>
              </a:lnSpc>
            </a:pPr>
            <a:r>
              <a:rPr sz="1800">
                <a:solidFill>
                  <a:srgbClr val="4F5D6A"/>
                </a:solidFill>
                <a:latin typeface="Consolas"/>
              </a:rPr>
              <a:t>36</a:t>
            </a:r>
          </a:p>
          <a:p>
            <a:pPr algn="r">
              <a:lnSpc>
                <a:spcPct val="100000"/>
              </a:lnSpc>
            </a:pPr>
            <a:r>
              <a:rPr sz="1800">
                <a:solidFill>
                  <a:srgbClr val="4F5D6A"/>
                </a:solidFill>
                <a:latin typeface="Consolas"/>
              </a:rPr>
              <a:t>37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3543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Watching the Hardware 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34     </a:t>
            </a:r>
            <a:fld id="{4841EF5C-17D2-48FA-B100-E3B8C944FDAB}"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Watch EPT doing its job: no exit for a guest page-table edit.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00784"/>
          </a:xfrm>
          <a:prstGeom prst="roundRect">
            <a:avLst>
              <a:gd name="adj" fmla="val 53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Watch EPT doing its job: no exit for a guest page-table edit. -- # Fork a few thousand processes; under shadow paging this storms the host. in_guest &quot;$IP&quot; &quot;for i in \$(seq 2000); do /bin/true; done&quot; sudo perf stat -e 'kvm:kvm_exit' -p &quot;$PID&quot; -- sleep 5"/>
          <p:cNvSpPr txBox="1"/>
          <p:nvPr/>
        </p:nvSpPr>
        <p:spPr>
          <a:xfrm>
            <a:off x="1362456" y="2523744"/>
            <a:ext cx="9987991" cy="120700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--- 6. Watch EPT doing its job: no exit for a guest page-table edit. --</a:t>
            </a:r>
          </a:p>
          <a:p>
            <a:pPr>
              <a:lnSpc>
                <a:spcPct val="100000"/>
              </a:lnSpc>
              <a:spcAft>
                <a:spcPts val="0"/>
              </a:spcAft>
            </a:pPr>
            <a:r>
              <a:rPr sz="1800" i="1">
                <a:solidFill>
                  <a:srgbClr val="8795A1"/>
                </a:solidFill>
                <a:latin typeface="Consolas"/>
              </a:rPr>
              <a:t># Fork a few thousand processes; under shadow paging this storms the host.</a:t>
            </a:r>
          </a:p>
          <a:p>
            <a:pPr>
              <a:lnSpc>
                <a:spcPct val="100000"/>
              </a:lnSpc>
              <a:spcAft>
                <a:spcPts val="0"/>
              </a:spcAft>
            </a:pPr>
            <a:r>
              <a:rPr sz="1800" i="0">
                <a:solidFill>
                  <a:srgbClr val="E8EDF2"/>
                </a:solidFill>
                <a:latin typeface="Consolas"/>
              </a:rPr>
              <a:t>in_guest</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$IP</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"for i in \$(seq 2000); do /bin/true; done"</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perf</a:t>
            </a:r>
            <a:r>
              <a:rPr sz="1800" i="0">
                <a:solidFill>
                  <a:srgbClr val="E8EDF2"/>
                </a:solidFill>
                <a:latin typeface="Consolas"/>
              </a:rPr>
              <a:t> </a:t>
            </a:r>
            <a:r>
              <a:rPr sz="1800" i="0">
                <a:solidFill>
                  <a:srgbClr val="E8EDF2"/>
                </a:solidFill>
                <a:latin typeface="Consolas"/>
              </a:rPr>
              <a:t>stat</a:t>
            </a:r>
            <a:r>
              <a:rPr sz="1800" i="0">
                <a:solidFill>
                  <a:srgbClr val="E8EDF2"/>
                </a:solidFill>
                <a:latin typeface="Consolas"/>
              </a:rPr>
              <a:t> </a:t>
            </a:r>
            <a:r>
              <a:rPr sz="1800" i="0">
                <a:solidFill>
                  <a:srgbClr val="E8EDF2"/>
                </a:solidFill>
                <a:latin typeface="Consolas"/>
              </a:rPr>
              <a:t>-e</a:t>
            </a:r>
            <a:r>
              <a:rPr sz="1800" i="0">
                <a:solidFill>
                  <a:srgbClr val="E8EDF2"/>
                </a:solidFill>
                <a:latin typeface="Consolas"/>
              </a:rPr>
              <a:t> </a:t>
            </a:r>
            <a:r>
              <a:rPr sz="1800" i="0">
                <a:solidFill>
                  <a:srgbClr val="7DCEA0"/>
                </a:solidFill>
                <a:latin typeface="Consolas"/>
              </a:rPr>
              <a:t>'kvm:kvm_exit'</a:t>
            </a:r>
            <a:r>
              <a:rPr sz="1800" i="0">
                <a:solidFill>
                  <a:srgbClr val="E8EDF2"/>
                </a:solidFill>
                <a:latin typeface="Consolas"/>
              </a:rPr>
              <a:t> </a:t>
            </a:r>
            <a:r>
              <a:rPr sz="1800" i="0">
                <a:solidFill>
                  <a:srgbClr val="E8EDF2"/>
                </a:solidFill>
                <a:latin typeface="Consolas"/>
              </a:rPr>
              <a:t>-p</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$PID</a:t>
            </a:r>
            <a:r>
              <a:rPr sz="1800" i="0">
                <a:solidFill>
                  <a:srgbClr val="7DCEA0"/>
                </a:solidFill>
                <a:latin typeface="Consolas"/>
              </a:rPr>
              <a:t>"</a:t>
            </a:r>
            <a:r>
              <a:rPr sz="1800" i="0">
                <a:solidFill>
                  <a:srgbClr val="E8EDF2"/>
                </a:solidFill>
                <a:latin typeface="Consolas"/>
              </a:rPr>
              <a:t> </a:t>
            </a:r>
            <a:r>
              <a:rPr sz="1800" i="0">
                <a:solidFill>
                  <a:srgbClr val="E8EDF2"/>
                </a:solidFill>
                <a:latin typeface="Consolas"/>
              </a:rPr>
              <a:t>--</a:t>
            </a:r>
            <a:r>
              <a:rPr sz="1800" i="0">
                <a:solidFill>
                  <a:srgbClr val="E8EDF2"/>
                </a:solidFill>
                <a:latin typeface="Consolas"/>
              </a:rPr>
              <a:t> </a:t>
            </a: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5</a:t>
            </a:r>
          </a:p>
        </p:txBody>
      </p:sp>
      <p:sp>
        <p:nvSpPr>
          <p:cNvPr id="15" name="!!code-num"/>
          <p:cNvSpPr txBox="1"/>
          <p:nvPr/>
        </p:nvSpPr>
        <p:spPr>
          <a:xfrm>
            <a:off x="768096" y="2523744"/>
            <a:ext cx="393192" cy="120700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39</a:t>
            </a:r>
          </a:p>
          <a:p>
            <a:pPr algn="r">
              <a:lnSpc>
                <a:spcPct val="100000"/>
              </a:lnSpc>
            </a:pPr>
            <a:r>
              <a:rPr sz="1800">
                <a:solidFill>
                  <a:srgbClr val="4F5D6A"/>
                </a:solidFill>
                <a:latin typeface="Consolas"/>
              </a:rPr>
              <a:t>40</a:t>
            </a:r>
          </a:p>
          <a:p>
            <a:pPr algn="r">
              <a:lnSpc>
                <a:spcPct val="100000"/>
              </a:lnSpc>
            </a:pPr>
            <a:r>
              <a:rPr sz="1800">
                <a:solidFill>
                  <a:srgbClr val="4F5D6A"/>
                </a:solidFill>
                <a:latin typeface="Consolas"/>
              </a:rPr>
              <a:t>41</a:t>
            </a:r>
          </a:p>
          <a:p>
            <a:pPr algn="r">
              <a:lnSpc>
                <a:spcPct val="100000"/>
              </a:lnSpc>
            </a:pPr>
            <a:r>
              <a:rPr sz="1800">
                <a:solidFill>
                  <a:srgbClr val="4F5D6A"/>
                </a:solidFill>
                <a:latin typeface="Consolas"/>
              </a:rPr>
              <a:t>42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1251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Watching the Hardware 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34     </a:t>
            </a:r>
            <a:fld id="{2FADFF68-DB24-4621-BBE8-2583123B60A1}"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152143"/>
          </a:xfrm>
          <a:prstGeom prst="roundRect">
            <a:avLst>
              <a:gd name="adj" fmla="val 79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Tear down ------------------------------------------------------ sudo virsh destroy vss1 || true"/>
          <p:cNvSpPr txBox="1"/>
          <p:nvPr/>
        </p:nvSpPr>
        <p:spPr>
          <a:xfrm>
            <a:off x="1362456" y="2523744"/>
            <a:ext cx="9987991" cy="6583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--- 7. Tear down ------------------------------------------------------</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destroy</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p:txBody>
      </p:sp>
      <p:sp>
        <p:nvSpPr>
          <p:cNvPr id="15" name="!!code-num"/>
          <p:cNvSpPr txBox="1"/>
          <p:nvPr/>
        </p:nvSpPr>
        <p:spPr>
          <a:xfrm>
            <a:off x="768096" y="2523744"/>
            <a:ext cx="393192" cy="6583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44</a:t>
            </a:r>
          </a:p>
          <a:p>
            <a:pPr algn="r">
              <a:lnSpc>
                <a:spcPct val="100000"/>
              </a:lnSpc>
            </a:pPr>
            <a:r>
              <a:rPr sz="1800">
                <a:solidFill>
                  <a:srgbClr val="4F5D6A"/>
                </a:solidFill>
                <a:latin typeface="Consolas"/>
              </a:rPr>
              <a:t>45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8960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34     </a:t>
            </a:r>
            <a:fld id="{AFCD06F7-A9FC-4545-9F4A-70B50E0262E8}" type="slidenum">
              <a:rPr lang="en-GB" sz="1000">
                <a:solidFill>
                  <a:srgbClr val="8795A1"/>
                </a:solidFill>
                <a:latin typeface="Segoe UI"/>
              </a:rPr>
              <a:t>32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The idle guest still exits, a few thousand times a second, almost all of it timer and interrupt work. The flood ping multiplies that by a large factor, and the two thousand forks barely move it — which is the worked example’s claim, measured. Write the three numbers down.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86668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did Intel and AMD choose to add a new processor mode rather than simply making the seventeen offending instructions privileged?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4  ·  Hardware Support for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37  ·  answers in Appendix D     </a:t>
            </a:r>
            <a:fld id="{A62E4266-6CFC-4121-BD34-352D108817C8}"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did Intel and AMD choose to add a new processor mode rather than simply making the seventeen offending instructions privileged?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Backward compatibility. Making </a:t>
            </a:r>
            <a:r>
              <a:rPr sz="2050" b="0" i="0">
                <a:solidFill>
                  <a:srgbClr val="1F4E79"/>
                </a:solidFill>
                <a:latin typeface="Consolas"/>
              </a:rPr>
              <a:t>POPF</a:t>
            </a:r>
            <a:r>
              <a:rPr sz="2200" b="0" i="0">
                <a:solidFill>
                  <a:srgbClr val="1C252B"/>
                </a:solidFill>
                <a:latin typeface="Segoe UI"/>
              </a:rPr>
              <a:t> and the others privileged would change the behaviour of existing, correct user programs that rely on the write to </a:t>
            </a:r>
            <a:r>
              <a:rPr sz="2050" b="0" i="0">
                <a:solidFill>
                  <a:srgbClr val="1F4E79"/>
                </a:solidFill>
                <a:latin typeface="Consolas"/>
              </a:rPr>
              <a:t>IF</a:t>
            </a:r>
            <a:r>
              <a:rPr sz="2200" b="0" i="0">
                <a:solidFill>
                  <a:srgbClr val="1C252B"/>
                </a:solidFill>
                <a:latin typeface="Segoe UI"/>
              </a:rPr>
              <a:t> being silently ignored — they would begin faulting. x86’s commercial value rests on not breaking old software, so both vendors added a new processor </a:t>
            </a:r>
            <a:r>
              <a:rPr sz="2200" b="0" i="1">
                <a:solidFill>
                  <a:srgbClr val="1C252B"/>
                </a:solidFill>
                <a:latin typeface="Segoe UI"/>
              </a:rPr>
              <a:t>mode</a:t>
            </a:r>
            <a:r>
              <a:rPr sz="2200" b="0" i="0">
                <a:solidFill>
                  <a:srgbClr val="1C252B"/>
                </a:solidFill>
                <a:latin typeface="Segoe UI"/>
              </a:rPr>
              <a:t> in which existing instructions behave as before and the </a:t>
            </a:r>
            <a:r>
              <a:rPr sz="2200" b="0" i="1">
                <a:solidFill>
                  <a:srgbClr val="1C252B"/>
                </a:solidFill>
                <a:latin typeface="Segoe UI"/>
              </a:rPr>
              <a:t>hardware</a:t>
            </a:r>
            <a:r>
              <a:rPr sz="2200" b="0" i="0">
                <a:solidFill>
                  <a:srgbClr val="1C252B"/>
                </a:solidFill>
                <a:latin typeface="Segoe UI"/>
              </a:rPr>
              <a:t> decides when to hand control to the hypervisor.</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37  ·  answers in Appendix D     </a:t>
            </a:r>
            <a:fld id="{861748F9-ED7F-4048-B356-928AC3590B34}"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42085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Under 5-level paging, a guest page walk has five levels and so does the EPT walk. How many memory accesses does a nested walk cost, and what is the general formula for an </a:t>
            </a:r>
            <a:r>
              <a:rPr sz="3400" b="0" i="1">
                <a:solidFill>
                  <a:srgbClr val="FFFFFF"/>
                </a:solidFill>
                <a:latin typeface="Cambria"/>
              </a:rPr>
              <a:t>n</a:t>
            </a:r>
            <a:r>
              <a:rPr sz="3400" b="0" i="0">
                <a:solidFill>
                  <a:srgbClr val="FFFFFF"/>
                </a:solidFill>
                <a:latin typeface="Segoe UI Semibold"/>
              </a:rPr>
              <a:t>-level scheme?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4  ·  Hardware Support for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37  ·  answers in Appendix D     </a:t>
            </a:r>
            <a:fld id="{92A0D281-FEA3-4A14-8C78-6B4678AEABD3}"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Under 5-level paging, a guest page walk has five levels and so does the EPT walk. How many memory accesses does a nested walk cost, and what is the general formula for an </a:t>
            </a:r>
            <a:r>
              <a:rPr sz="2400" b="0" i="1">
                <a:solidFill>
                  <a:srgbClr val="1A5276"/>
                </a:solidFill>
                <a:latin typeface="Cambria"/>
              </a:rPr>
              <a:t>n</a:t>
            </a:r>
            <a:r>
              <a:rPr sz="2400" b="0" i="0">
                <a:solidFill>
                  <a:srgbClr val="1A5276"/>
                </a:solidFill>
                <a:latin typeface="Segoe UI Semibold"/>
              </a:rPr>
              <a:t>-level scheme?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For each of the 5 guest levels: 5 EPT accesses to translate that level’s address, plus 1 read of the guest entry </a:t>
            </a:r>
            <a:r>
              <a:rPr sz="2200" b="0" i="0">
                <a:solidFill>
                  <a:srgbClr val="1C252B"/>
                </a:solidFill>
                <a:latin typeface="Cambria"/>
              </a:rPr>
              <a:t>= 6</a:t>
            </a:r>
            <a:r>
              <a:rPr sz="2200" b="0" i="0">
                <a:solidFill>
                  <a:srgbClr val="1C252B"/>
                </a:solidFill>
                <a:latin typeface="Segoe UI"/>
              </a:rPr>
              <a:t>, so </a:t>
            </a:r>
            <a:r>
              <a:rPr sz="2200" b="0" i="0">
                <a:solidFill>
                  <a:srgbClr val="1C252B"/>
                </a:solidFill>
                <a:latin typeface="Cambria"/>
              </a:rPr>
              <a:t>5 × 6 = 30</a:t>
            </a:r>
            <a:r>
              <a:rPr sz="2200" b="0" i="0">
                <a:solidFill>
                  <a:srgbClr val="1C252B"/>
                </a:solidFill>
                <a:latin typeface="Segoe UI"/>
              </a:rPr>
              <a:t>; plus 5 to translate the final guest-physical address: </a:t>
            </a:r>
            <a:r>
              <a:rPr sz="2200" b="1" i="0">
                <a:solidFill>
                  <a:srgbClr val="1C252B"/>
                </a:solidFill>
                <a:latin typeface="Cambria"/>
              </a:rPr>
              <a:t>35</a:t>
            </a:r>
            <a:r>
              <a:rPr sz="2200" b="0" i="0">
                <a:solidFill>
                  <a:srgbClr val="1C252B"/>
                </a:solidFill>
                <a:latin typeface="Segoe UI"/>
              </a:rPr>
              <a:t> memory accesses. In general, for </a:t>
            </a:r>
            <a:r>
              <a:rPr sz="2200" b="0" i="1">
                <a:solidFill>
                  <a:srgbClr val="1C252B"/>
                </a:solidFill>
                <a:latin typeface="Cambria"/>
              </a:rPr>
              <a:t>n</a:t>
            </a:r>
            <a:r>
              <a:rPr sz="2200" b="0" i="0">
                <a:solidFill>
                  <a:srgbClr val="1C252B"/>
                </a:solidFill>
                <a:latin typeface="Segoe UI"/>
              </a:rPr>
              <a:t> levels: </a:t>
            </a:r>
            <a:r>
              <a:rPr sz="2200" b="0" i="1">
                <a:solidFill>
                  <a:srgbClr val="1C252B"/>
                </a:solidFill>
                <a:latin typeface="Cambria"/>
              </a:rPr>
              <a:t>n</a:t>
            </a:r>
            <a:r>
              <a:rPr sz="2200" b="0" i="0">
                <a:solidFill>
                  <a:srgbClr val="1C252B"/>
                </a:solidFill>
                <a:latin typeface="Cambria"/>
              </a:rPr>
              <a:t>(</a:t>
            </a:r>
            <a:r>
              <a:rPr sz="2200" b="0" i="1">
                <a:solidFill>
                  <a:srgbClr val="1C252B"/>
                </a:solidFill>
                <a:latin typeface="Cambria"/>
              </a:rPr>
              <a:t>n</a:t>
            </a:r>
            <a:r>
              <a:rPr sz="2200" b="0" i="0">
                <a:solidFill>
                  <a:srgbClr val="1C252B"/>
                </a:solidFill>
                <a:latin typeface="Cambria"/>
              </a:rPr>
              <a:t>+1) + </a:t>
            </a:r>
            <a:r>
              <a:rPr sz="2200" b="0" i="1">
                <a:solidFill>
                  <a:srgbClr val="1C252B"/>
                </a:solidFill>
                <a:latin typeface="Cambria"/>
              </a:rPr>
              <a:t>n</a:t>
            </a:r>
            <a:r>
              <a:rPr sz="2200" b="0" i="0">
                <a:solidFill>
                  <a:srgbClr val="1C252B"/>
                </a:solidFill>
                <a:latin typeface="Cambria"/>
              </a:rPr>
              <a:t> = </a:t>
            </a:r>
            <a:r>
              <a:rPr sz="2200" b="1" i="1">
                <a:solidFill>
                  <a:srgbClr val="1C252B"/>
                </a:solidFill>
                <a:latin typeface="Cambria"/>
              </a:rPr>
              <a:t>n</a:t>
            </a:r>
            <a:r>
              <a:rPr sz="1450" b="1" i="0" baseline="30000">
                <a:solidFill>
                  <a:srgbClr val="1C252B"/>
                </a:solidFill>
                <a:latin typeface="Cambria"/>
              </a:rPr>
              <a:t>2</a:t>
            </a:r>
            <a:r>
              <a:rPr sz="2200" b="1" i="0">
                <a:solidFill>
                  <a:srgbClr val="1C252B"/>
                </a:solidFill>
                <a:latin typeface="Cambria"/>
              </a:rPr>
              <a:t> + 2</a:t>
            </a:r>
            <a:r>
              <a:rPr sz="2200" b="1" i="1">
                <a:solidFill>
                  <a:srgbClr val="1C252B"/>
                </a:solidFill>
                <a:latin typeface="Cambria"/>
              </a:rPr>
              <a:t>n</a:t>
            </a:r>
            <a:r>
              <a:rPr sz="2200" b="0" i="0">
                <a:solidFill>
                  <a:srgbClr val="1C252B"/>
                </a:solidFill>
                <a:latin typeface="Segoe UI"/>
              </a:rPr>
              <a:t>. Checking against the chapter, </a:t>
            </a:r>
            <a:r>
              <a:rPr sz="2200" b="0" i="1">
                <a:solidFill>
                  <a:srgbClr val="1C252B"/>
                </a:solidFill>
                <a:latin typeface="Cambria"/>
              </a:rPr>
              <a:t>n</a:t>
            </a:r>
            <a:r>
              <a:rPr sz="2200" b="0" i="0">
                <a:solidFill>
                  <a:srgbClr val="1C252B"/>
                </a:solidFill>
                <a:latin typeface="Cambria"/>
              </a:rPr>
              <a:t> = 4</a:t>
            </a:r>
            <a:r>
              <a:rPr sz="2200" b="0" i="0">
                <a:solidFill>
                  <a:srgbClr val="1C252B"/>
                </a:solidFill>
                <a:latin typeface="Segoe UI"/>
              </a:rPr>
              <a:t> gives </a:t>
            </a:r>
            <a:r>
              <a:rPr sz="2200" b="0" i="0">
                <a:solidFill>
                  <a:srgbClr val="1C252B"/>
                </a:solidFill>
                <a:latin typeface="Cambria"/>
              </a:rPr>
              <a:t>16 + 8 = 24</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37  ·  answers in Appendix D     </a:t>
            </a:r>
            <a:fld id="{7B12023C-5E80-40B4-BEAA-2B5DCC837FF9}"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97502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host has VT-x and EPT but the IOMMU is disabled in firmware. State exactly which capability is lost, and why the hypervisor must refuse it rather than merely warn.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4  ·  Hardware Support for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37  ·  answers in Appendix D     </a:t>
            </a:r>
            <a:fld id="{848A8196-5A09-4904-8B38-7EE17953D57E}"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host has VT-x and EPT but the IOMMU is disabled in firmware. State exactly which capability is lost, and why the hypervisor must refuse it rather than merely warn.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Device passthrough</a:t>
            </a:r>
            <a:r>
              <a:rPr sz="2200" b="0" i="0">
                <a:solidFill>
                  <a:srgbClr val="1C252B"/>
                </a:solidFill>
                <a:latin typeface="Segoe UI"/>
              </a:rPr>
              <a:t> is lost — assigning a physical device directly to a guest, including SR-IOV virtual functions. It must be refused rather than warned about because a device performs DMA to physical addresses: without an IOMMU to translate and confine them, the guest’s driver can direct the device to write anywhere in host memory, including the hypervisor and other guests. That is not a degraded configuration; it is the complete loss of the resource-control property of Chapter 3.</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37  ·  answers in Appendix D     </a:t>
            </a:r>
            <a:fld id="{2936D5D7-58DF-4114-A448-AD6FA19AF75C}"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52919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37     </a:t>
            </a:r>
            <a:fld id="{8058BF3F-CBD4-497D-837F-340B8F1BC178}" type="slidenum">
              <a:rPr lang="en-GB" sz="1000">
                <a:solidFill>
                  <a:srgbClr val="8795A1"/>
                </a:solidFill>
                <a:latin typeface="Segoe UI"/>
              </a:rPr>
              <a:t>39</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VT-x and AMD-V add a second operating mode rather than changing any instruction, so the guest kernel runs in ring 0 and backward compatibility is preserved. x86 now satisfies the Popek–Goldberg condition.</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VMCS holds guest state, host state, the controls that decide what causes an exit, and the exit information. The controls are the design surface: every bit set buys control and costs exits.</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VM exit is a world switch — around 1,500 cycles originally, a few hundred now. Hardware assistance won by removing reasons to exit, not by making exits cheap.</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Shadow page tables cost 4 accesses per TLB miss and a VM exit per guest page-table write. Extended page tables cost 24 accesses per miss and nothing per write. Writes are commoner, so EPT won.</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VPID tags TLB entries so they survive a transition.</a:t>
            </a:r>
          </a:p>
        </p:txBody>
      </p:sp>
      <p:sp>
        <p:nvSpPr>
          <p:cNvPr id="22" name="!!sb5">
            <a:extLst>
              <a:ext uri="{C183D7F6-B498-43B3-948B-1728B52AA6E4}">
                <adec:decorative xmlns:adec="http://schemas.microsoft.com/office/drawing/2017/decorative" val="1"/>
              </a:ext>
            </a:extLst>
          </p:cNvPr>
          <p:cNvSpPr/>
          <p:nvPr/>
        </p:nvSpPr>
        <p:spPr>
          <a:xfrm>
            <a:off x="658368" y="52187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736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20964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An IOMMU translates and confines device DMA. Without one, passthrough gives a guest write access to all physical memory.</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80627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37     </a:t>
            </a:r>
            <a:fld id="{FC2C5779-8C92-4BB3-A040-E284DB9DDCE5}" type="slidenum">
              <a:rPr lang="en-GB" sz="1000">
                <a:solidFill>
                  <a:srgbClr val="8795A1"/>
                </a:solidFill>
                <a:latin typeface="Segoe UI"/>
              </a:rPr>
              <a:t>40</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Nested virtualization works and is slow. Use it to learn, never to measure.</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08335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37     </a:t>
            </a:r>
            <a:fld id="{B60B2174-04F9-4FF1-B333-5B4E8BCFB004}"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Under VT-x a guest kernel runs in: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ring 1 of root operation</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ring 0 of non-root operation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ring 3 of non-root operation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ring 0 of root operation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6044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37     </a:t>
            </a:r>
            <a:fld id="{AD959700-717C-423F-9C26-FBBCAD5B431A}"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Extended page tables principally reduce: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cost of a TLB miss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number of VM exits caused by guest memory management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size of the VMCS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interrupt latency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3752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4  ·  Hardware Support for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37     </a:t>
            </a:r>
            <a:fld id="{7658D41D-6920-49E8-B490-6790314B52F1}" type="slidenum">
              <a:rPr lang="en-GB" sz="1000">
                <a:solidFill>
                  <a:srgbClr val="8795A1"/>
                </a:solidFill>
                <a:latin typeface="Segoe UI"/>
              </a:rPr>
              <a:t>43</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Explain what the VM-execution controls are for, and give one example of a bit you would set and one you would clear, with the reason for each.</a:t>
            </a:r>
          </a:p>
        </p:txBody>
      </p:sp>
      <p:sp>
        <p:nvSpPr>
          <p:cNvPr id="10" name="!!rt1">
            <a:extLst>
              <a:ext uri="{C183D7F6-B498-43B3-948B-1728B52AA6E4}">
                <adec:decorative xmlns:adec="http://schemas.microsoft.com/office/drawing/2017/decorative" val="1"/>
              </a:ext>
            </a:extLst>
          </p:cNvPr>
          <p:cNvSpPr/>
          <p:nvPr/>
        </p:nvSpPr>
        <p:spPr>
          <a:xfrm>
            <a:off x="658368" y="254568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58683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27401"/>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Derive the 24-access figure for a nested page walk, showing where each group of accesses comes from.</a:t>
            </a:r>
          </a:p>
        </p:txBody>
      </p:sp>
      <p:sp>
        <p:nvSpPr>
          <p:cNvPr id="13" name="!!rt2">
            <a:extLst>
              <a:ext uri="{C183D7F6-B498-43B3-948B-1728B52AA6E4}">
                <adec:decorative xmlns:adec="http://schemas.microsoft.com/office/drawing/2017/decorative" val="1"/>
              </a:ext>
            </a:extLst>
          </p:cNvPr>
          <p:cNvSpPr/>
          <p:nvPr/>
        </p:nvSpPr>
        <p:spPr>
          <a:xfrm>
            <a:off x="658368" y="3335731"/>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37687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17443"/>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State what an IOMMU protects against, and describe the concrete failure that occurs without one.</a:t>
            </a:r>
          </a:p>
        </p:txBody>
      </p:sp>
      <p:sp>
        <p:nvSpPr>
          <p:cNvPr id="16" name="!!rt3">
            <a:extLst>
              <a:ext uri="{C183D7F6-B498-43B3-948B-1728B52AA6E4}">
                <adec:decorative xmlns:adec="http://schemas.microsoft.com/office/drawing/2017/decorative" val="1"/>
              </a:ext>
            </a:extLst>
          </p:cNvPr>
          <p:cNvSpPr/>
          <p:nvPr/>
        </p:nvSpPr>
        <p:spPr>
          <a:xfrm>
            <a:off x="658368" y="4125772"/>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166920"/>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107484"/>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guest is slow and </a:t>
            </a:r>
            <a:r>
              <a:rPr sz="1700" b="0" i="0">
                <a:solidFill>
                  <a:srgbClr val="1F4E79"/>
                </a:solidFill>
                <a:latin typeface="Consolas"/>
              </a:rPr>
              <a:t>perf</a:t>
            </a:r>
            <a:r>
              <a:rPr sz="1800" b="0" i="0">
                <a:solidFill>
                  <a:srgbClr val="1C252B"/>
                </a:solidFill>
                <a:latin typeface="Segoe UI"/>
              </a:rPr>
              <a:t> shows 180,000 VM exits per second, 80% of them with an I/O-instruction exit reason. Explain what the guest is most likely doing, name the change you would make, and predict what the exit count would become and why.</a:t>
            </a:r>
          </a:p>
        </p:txBody>
      </p:sp>
      <p:sp>
        <p:nvSpPr>
          <p:cNvPr id="19" name="!!rt4">
            <a:extLst>
              <a:ext uri="{C183D7F6-B498-43B3-948B-1728B52AA6E4}">
                <adec:decorative xmlns:adec="http://schemas.microsoft.com/office/drawing/2017/decorative" val="1"/>
              </a:ext>
            </a:extLst>
          </p:cNvPr>
          <p:cNvSpPr/>
          <p:nvPr/>
        </p:nvSpPr>
        <p:spPr>
          <a:xfrm>
            <a:off x="658368" y="520110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24225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182819"/>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You are asked whether a six-year-old server is suitable as a teaching host for this course. List the processor and firmware features you would check, in order, and say which lab in this book each one is needed for.</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1461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04</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4</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5 — Major Hypervisor Platforms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4, pages 30–37</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VT-x and EPT; count VM exits under load</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4  ·  Hardware Support for Virtualization</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319C5DE6-26F2-47AB-907C-0AF844A435F0}" type="slidenum">
              <a:rPr lang="en-GB" sz="1000">
                <a:solidFill>
                  <a:srgbClr val="D5DEE5"/>
                </a:solidFill>
                <a:latin typeface="Segoe UI"/>
              </a:rPr>
              <a:t>44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Hardware Support for Virtualization</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