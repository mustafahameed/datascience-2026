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1.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7.svg" ContentType="image/svg+xml"/>
  <Override PartName="/ppt/media/image29.svg" ContentType="image/svg+xml"/>
  <Override PartName="/ppt/media/image31.svg" ContentType="image/svg+xml"/>
  <Override PartName="/ppt/media/image32.svg" ContentType="image/svg+xml"/>
  <Override PartName="/ppt/media/image34.svg" ContentType="image/svg+xml"/>
  <Override PartName="/ppt/media/image35.svg" ContentType="image/svg+xml"/>
  <Override PartName="/ppt/media/image37.svg" ContentType="image/svg+xml"/>
  <Override PartName="/ppt/media/image38.svg" ContentType="image/svg+xml"/>
  <Override PartName="/ppt/media/image4.svg" ContentType="image/svg+xml"/>
  <Override PartName="/ppt/media/image40.svg" ContentType="image/svg+xml"/>
  <Override PartName="/ppt/media/image42.svg" ContentType="image/svg+xml"/>
  <Override PartName="/ppt/media/image43.svg" ContentType="image/svg+xml"/>
  <Override PartName="/ppt/media/image44.svg" ContentType="image/svg+xml"/>
  <Override PartName="/ppt/media/image45.svg" ContentType="image/svg+xml"/>
  <Override PartName="/ppt/media/image46.svg" ContentType="image/svg+xml"/>
  <Override PartName="/ppt/media/image47.svg" ContentType="image/svg+xml"/>
  <Override PartName="/ppt/media/image48.svg" ContentType="image/svg+xml"/>
  <Override PartName="/ppt/media/image49.svg" ContentType="image/svg+xml"/>
  <Override PartName="/ppt/media/image50.svg" ContentType="image/svg+xml"/>
  <Override PartName="/ppt/media/image52.svg" ContentType="image/svg+xml"/>
  <Override PartName="/ppt/media/image54.svg" ContentType="image/svg+xml"/>
  <Override PartName="/ppt/media/image55.svg" ContentType="image/svg+xml"/>
  <Override PartName="/ppt/media/image56.svg" ContentType="image/svg+xml"/>
  <Override PartName="/ppt/media/image57.svg" ContentType="image/svg+xml"/>
  <Override PartName="/ppt/media/image58.svg" ContentType="image/svg+xml"/>
  <Override PartName="/ppt/media/image6.svg" ContentType="image/svg+xml"/>
  <Override PartName="/ppt/media/image60.svg" ContentType="image/svg+xml"/>
  <Override PartName="/ppt/media/image61.svg" ContentType="image/svg+xml"/>
  <Override PartName="/ppt/media/image63.svg" ContentType="image/svg+xml"/>
  <Override PartName="/ppt/media/image64.svg" ContentType="image/svg+xml"/>
  <Override PartName="/ppt/media/image65.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B0F1048-88DE-402E-9E29-C2354A87C2FA}">
          <p14:sldIdLst>
            <p14:sldId id="256"/>
            <p14:sldId id="257"/>
            <p14:sldId id="258"/>
            <p14:sldId id="259"/>
            <p14:sldId id="260"/>
          </p14:sldIdLst>
        </p14:section>
        <p14:section name="18.1 The Guest Is an Unreliable Witness" id="{40F127D5-2080-4FCC-82E3-B01FB1FB26DF}">
          <p14:sldIdLst>
            <p14:sldId id="261"/>
          </p14:sldIdLst>
        </p14:section>
        <p14:section name="18.2 The Counters That Matter" id="{AFFD5427-D74A-4D95-B491-214A8CE51500}">
          <p14:sldIdLst>
            <p14:sldId id="262"/>
            <p14:sldId id="263"/>
            <p14:sldId id="264"/>
          </p14:sldIdLst>
        </p14:section>
        <p14:section name="18.3 Why the Mean Is the Wrong Number" id="{96F65720-8321-4920-BFB5-F5F8A5E21400}">
          <p14:sldIdLst>
            <p14:sldId id="265"/>
            <p14:sldId id="266"/>
            <p14:sldId id="267"/>
            <p14:sldId id="268"/>
            <p14:sldId id="269"/>
          </p14:sldIdLst>
        </p14:section>
        <p14:section name="18.4 Benchmarking Honestly" id="{21A2BACF-C5E3-42A0-95B4-A508C2895256}">
          <p14:sldIdLst>
            <p14:sldId id="270"/>
          </p14:sldIdLst>
        </p14:section>
        <p14:section name="18.5 Capacity Planning" id="{322A7090-B0AB-4D3F-9AF8-EB7943EC1A1B}">
          <p14:sldIdLst>
            <p14:sldId id="271"/>
            <p14:sldId id="272"/>
            <p14:sldId id="273"/>
            <p14:sldId id="274"/>
            <p14:sldId id="275"/>
            <p14:sldId id="276"/>
          </p14:sldIdLst>
        </p14:section>
        <p14:section name="Pitfalls" id="{8D4FE1E0-52F5-49EB-BEDE-E845D74AFB9C}">
          <p14:sldIdLst>
            <p14:sldId id="277"/>
          </p14:sldIdLst>
        </p14:section>
        <p14:section name="Lab" id="{5E6090BC-3E00-4CB6-A48C-D4755AF619F3}">
          <p14:sldIdLst>
            <p14:sldId id="278"/>
            <p14:sldId id="279"/>
            <p14:sldId id="280"/>
            <p14:sldId id="281"/>
            <p14:sldId id="282"/>
            <p14:sldId id="283"/>
            <p14:sldId id="284"/>
            <p14:sldId id="285"/>
            <p14:sldId id="286"/>
          </p14:sldIdLst>
        </p14:section>
        <p14:section name="Checkpoint" id="{7D95190B-F4D8-4195-882A-B704B4C96570}">
          <p14:sldIdLst>
            <p14:sldId id="287"/>
            <p14:sldId id="288"/>
            <p14:sldId id="289"/>
            <p14:sldId id="290"/>
            <p14:sldId id="291"/>
            <p14:sldId id="292"/>
          </p14:sldIdLst>
        </p14:section>
        <p14:section name="Wrap-up" id="{7CA1EA83-8894-4E6D-9D07-4D754B690DBF}">
          <p14:sldIdLst>
            <p14:sldId id="293"/>
            <p14:sldId id="294"/>
            <p14:sldId id="295"/>
            <p14:sldId id="296"/>
            <p14:sldId id="297"/>
            <p14:sldId id="298"/>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18: Performance Monitoring and Capacity Planning. Part 5 — Management, Performance and Security. Week 14: Performance; security. Handout pages 141–148.</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6 above all — ready time, co-stop, the reclamation ladder and NUMA are the quantities this chapter measures. Chapter 12 (IOPS and the thin pool) and Chapter 7 (device models) supply the rest.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%RDY; steal time; co-stop; balloon; swap-in; latency; throughput; saturation; utilisation; percentile; p95; p99; tail latency; noisy neighbour; timekeeping; tick drift; USE method; headroom; capacity plan; trigger.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tool a guest has for measuring itself assumes it owns a processor. None of them do. A guest kernel computes CPU utilisation by sampling what it was doing at each timer tick. If the hypervisor descheduled it for 30 ms, the guest did not experience 30 ms — time simply jumped, and the ticks that should have occurred did not. The guest therefore reports being busy for the time it ran, and has no idea about the time it did not. The consequence is the single most misleading observation in this subject: a guest reporting 40% CPU utilisation while being unable to keep up. It was given 50% of a core, used 40% of what it was given, and spent the rest of the time not existing.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dashboard reporting “average response time 45 ms” is reporting almost nothing useful. Latency distributions in virtualized systems are not symmetric: most requests are fast and a few are very slow, and the slow ones are what people experience and remember.</a:t>
            </a:r>
          </a:p>
          <a:p/>
          <a:p>
            <a:r>
              <a:t>Figure 18.1 (handout p. 143): A real latency distribution. The mean sits below almost all of the mass, and every pathology in this book lives to the right of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Measurements taken inside guests are easy to get wrong in ways that are not obvious.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capacity plan is three things: a measured baseline, a growth rate, and a trigger — the figure at which you act, chosen so that acting is still possible.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Produces three different bottlenecks on one host and distinguishes them using only the counters in this chapter. Expect forty minutes.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Set-up.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Baseline, with the host quiet..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Bottleneck A: CPU contention from the neighbours..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Bottleneck B: memory pressure..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Bottleneck C: storage queueing..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Percentiles, not means..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7: Tear down..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%RDY (or steal time) and balloon / host swap-in. High %RDY with no memory activity means the guest is not being given a processor — host contention, and the fix is right-sizing or rebalancing. Low %RDY with ballooning or host swap means memory pressure, and the fix is reducing overcommit. Both appear from inside the guest as “the application is slow”, and the guest’s own 35% is consistent with either.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1 − 0.9512 = 1 − 0.540 = 0.46, so about 46% of page loads contain at least one call slower than the p95. The tail is not a rare case for the user; it is close to half of their experience.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With one host down, seven remain, so the figure is 76% × 8/7 = 87%. That is above the 85% ceiling at which reclamation begins, so no — the cluster should not be reported as healthy. It has no real N+1 today, and the 76% on the dashboard conceals exactly that.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19 — Security in Virtualized Environments. READ: Handout Chapter 18, pages 141–148. THIS WEEK'S LAB: Find three bottlenecks; harden a container. ASSESSMENT: Quiz 3 (Ch 15–19) Assignment 2 due.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10.xml"/><Relationship Id="rId8" Type="http://schemas.openxmlformats.org/officeDocument/2006/relationships/slide" Target="slide15.xml"/><Relationship Id="rId9" Type="http://schemas.openxmlformats.org/officeDocument/2006/relationships/slide" Target="slide1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8.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0.sv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1.svg"/><Relationship Id="rId4" Type="http://schemas.openxmlformats.org/officeDocument/2006/relationships/image" Target="../media/image22.png"/><Relationship Id="rId5" Type="http://schemas.openxmlformats.org/officeDocument/2006/relationships/image" Target="../media/image23.svg"/><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4.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25.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26.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7.svg"/><Relationship Id="rId4" Type="http://schemas.openxmlformats.org/officeDocument/2006/relationships/image" Target="../media/image28.png"/><Relationship Id="rId5" Type="http://schemas.openxmlformats.org/officeDocument/2006/relationships/image" Target="../media/image29.svg"/><Relationship Id="rId6" Type="http://schemas.openxmlformats.org/officeDocument/2006/relationships/image" Target="../media/image30.png"/><Relationship Id="rId7" Type="http://schemas.openxmlformats.org/officeDocument/2006/relationships/image" Target="../media/image31.svg"/><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32.svg"/><Relationship Id="rId4" Type="http://schemas.openxmlformats.org/officeDocument/2006/relationships/image" Target="../media/image33.png"/><Relationship Id="rId5" Type="http://schemas.openxmlformats.org/officeDocument/2006/relationships/image" Target="../media/image34.svg"/><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35.svg"/><Relationship Id="rId4" Type="http://schemas.openxmlformats.org/officeDocument/2006/relationships/image" Target="../media/image36.png"/><Relationship Id="rId5" Type="http://schemas.openxmlformats.org/officeDocument/2006/relationships/image" Target="../media/image37.svg"/><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38.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 Id="rId3" Type="http://schemas.openxmlformats.org/officeDocument/2006/relationships/image" Target="../media/image40.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 Id="rId3" Type="http://schemas.openxmlformats.org/officeDocument/2006/relationships/image" Target="../media/image42.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 Id="rId3" Type="http://schemas.openxmlformats.org/officeDocument/2006/relationships/image" Target="../media/image43.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 Id="rId3" Type="http://schemas.openxmlformats.org/officeDocument/2006/relationships/image" Target="../media/image44.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 Id="rId3" Type="http://schemas.openxmlformats.org/officeDocument/2006/relationships/image" Target="../media/image45.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 Id="rId3" Type="http://schemas.openxmlformats.org/officeDocument/2006/relationships/image" Target="../media/image46.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 Id="rId3" Type="http://schemas.openxmlformats.org/officeDocument/2006/relationships/image" Target="../media/image47.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 Id="rId3" Type="http://schemas.openxmlformats.org/officeDocument/2006/relationships/image" Target="../media/image48.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 Id="rId3" Type="http://schemas.openxmlformats.org/officeDocument/2006/relationships/image" Target="../media/image49.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 Id="rId3" Type="http://schemas.openxmlformats.org/officeDocument/2006/relationships/image" Target="../media/image50.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1.png"/><Relationship Id="rId3" Type="http://schemas.openxmlformats.org/officeDocument/2006/relationships/image" Target="../media/image52.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3.png"/><Relationship Id="rId3" Type="http://schemas.openxmlformats.org/officeDocument/2006/relationships/image" Target="../media/image54.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1.png"/><Relationship Id="rId3" Type="http://schemas.openxmlformats.org/officeDocument/2006/relationships/image" Target="../media/image55.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3.png"/><Relationship Id="rId3" Type="http://schemas.openxmlformats.org/officeDocument/2006/relationships/image" Target="../media/image56.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1.png"/><Relationship Id="rId3" Type="http://schemas.openxmlformats.org/officeDocument/2006/relationships/image" Target="../media/image57.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3.png"/><Relationship Id="rId3" Type="http://schemas.openxmlformats.org/officeDocument/2006/relationships/image" Target="../media/image58.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9.png"/><Relationship Id="rId3" Type="http://schemas.openxmlformats.org/officeDocument/2006/relationships/image" Target="../media/image60.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9.png"/><Relationship Id="rId3" Type="http://schemas.openxmlformats.org/officeDocument/2006/relationships/image" Target="../media/image61.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2.png"/><Relationship Id="rId3" Type="http://schemas.openxmlformats.org/officeDocument/2006/relationships/image" Target="../media/image63.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2.png"/><Relationship Id="rId3" Type="http://schemas.openxmlformats.org/officeDocument/2006/relationships/image" Target="../media/image64.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2.png"/><Relationship Id="rId3" Type="http://schemas.openxmlformats.org/officeDocument/2006/relationships/image" Target="../media/image65.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7964"/>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88674"/>
                </a:solidFill>
                <a:latin typeface="Segoe UI Black"/>
              </a:rPr>
              <a:t>18</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Performance Monitoring and Capacity Planning</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CD9D4"/>
                </a:solidFill>
                <a:latin typeface="Segoe UI"/>
              </a:rPr>
              <a:t>PART V  ·  MANAGEMENT, PERFORMANCE AND SECURITY</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CD9D4"/>
                </a:solidFill>
                <a:latin typeface="Segoe UI"/>
              </a:rPr>
              <a:t>CHAPTER 18  ·  WEEK 14</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CFE4E0"/>
                </a:solidFill>
                <a:latin typeface="Segoe UI"/>
              </a:rPr>
              <a:t>From Hypervisors to the Cloud-Native Stack</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0C57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3BFB9"/>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BD0CC"/>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3BFB9"/>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18  ·  Performance Monitoring and Capacity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141     </a:t>
            </a:r>
            <a:fld id="{5EF82269-2C2F-4596-A396-206397E351A8}" type="slidenum">
              <a:rPr lang="en-GB" sz="1000">
                <a:solidFill>
                  <a:srgbClr val="8795A1"/>
                </a:solidFill>
                <a:latin typeface="Segoe UI"/>
              </a:rPr>
              <a:t>2</a:t>
            </a:fld>
          </a:p>
        </p:txBody>
      </p:sp>
      <p:sp>
        <p:nvSpPr>
          <p:cNvPr id="7" name="!!rp1"/>
          <p:cNvSpPr txBox="1"/>
          <p:nvPr/>
        </p:nvSpPr>
        <p:spPr>
          <a:xfrm>
            <a:off x="777240" y="1755648"/>
            <a:ext cx="112029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40" y="2029967"/>
            <a:ext cx="1120299"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226723"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226723"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067927"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067927"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5909131"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5909131"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7750335" y="1755648"/>
            <a:ext cx="1822916"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7750335" y="2029967"/>
            <a:ext cx="1822916" cy="45720"/>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9902435"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9902435"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08508"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1706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00229"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10878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59195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50051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2257991"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216655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2649712"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55827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041433"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294999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433154"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334171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4099195"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400775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490916"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39947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4882637"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47911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5274358"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18291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5940399"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584895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332120"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624068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6723841"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663240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115562"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02412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7781603"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769016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8173324"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808188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8574189" y="2112264"/>
            <a:ext cx="566928" cy="566928"/>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8574189"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18</a:t>
            </a:r>
          </a:p>
        </p:txBody>
      </p:sp>
      <p:sp>
        <p:nvSpPr>
          <p:cNvPr id="55" name="!!dot19">
            <a:extLst>
              <a:ext uri="{C183D7F6-B498-43B3-948B-1728B52AA6E4}">
                <adec:decorative xmlns:adec="http://schemas.microsoft.com/office/drawing/2017/decorative" val="1"/>
              </a:ext>
            </a:extLst>
          </p:cNvPr>
          <p:cNvSpPr/>
          <p:nvPr/>
        </p:nvSpPr>
        <p:spPr>
          <a:xfrm>
            <a:off x="9267662"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917622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993370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984226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32542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23398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0717145"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062570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22</a:t>
            </a:r>
          </a:p>
        </p:txBody>
      </p:sp>
      <p:sp>
        <p:nvSpPr>
          <p:cNvPr id="63" name="!!dot23">
            <a:extLst>
              <a:ext uri="{C183D7F6-B498-43B3-948B-1728B52AA6E4}">
                <adec:decorative xmlns:adec="http://schemas.microsoft.com/office/drawing/2017/decorative" val="1"/>
              </a:ext>
            </a:extLst>
          </p:cNvPr>
          <p:cNvSpPr/>
          <p:nvPr/>
        </p:nvSpPr>
        <p:spPr>
          <a:xfrm>
            <a:off x="11108866"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dotn23"/>
          <p:cNvSpPr txBox="1"/>
          <p:nvPr/>
        </p:nvSpPr>
        <p:spPr>
          <a:xfrm>
            <a:off x="1101742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23</a:t>
            </a:r>
          </a:p>
        </p:txBody>
      </p:sp>
      <p:sp>
        <p:nvSpPr>
          <p:cNvPr id="65" name="!!dotlabel"/>
          <p:cNvSpPr txBox="1"/>
          <p:nvPr/>
        </p:nvSpPr>
        <p:spPr>
          <a:xfrm>
            <a:off x="5681167"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107964"/>
                </a:solidFill>
                <a:latin typeface="Segoe UI"/>
              </a:rPr>
              <a:t>Performance Monitoring and Capacity Planning</a:t>
            </a:r>
          </a:p>
        </p:txBody>
      </p:sp>
      <p:sp>
        <p:nvSpPr>
          <p:cNvPr id="66"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7" name="!!chipBU6">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chipbBU6">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chiptBU6"/>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6  </a:t>
            </a:r>
            <a:r>
              <a:rPr sz="1400" b="0" i="0">
                <a:solidFill>
                  <a:srgbClr val="1C252B"/>
                </a:solidFill>
                <a:latin typeface="Segoe UI"/>
              </a:rPr>
              <a:t>CPU and Memory Virtualization</a:t>
            </a:r>
          </a:p>
        </p:txBody>
      </p:sp>
      <p:sp>
        <p:nvSpPr>
          <p:cNvPr id="70" name="!!chipBU7">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chipbBU7">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chiptBU7"/>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7  </a:t>
            </a:r>
            <a:r>
              <a:rPr sz="1400" b="0" i="0">
                <a:solidFill>
                  <a:srgbClr val="1C252B"/>
                </a:solidFill>
                <a:latin typeface="Segoe UI"/>
              </a:rPr>
              <a:t>Paravirtualization and Device Virtualization</a:t>
            </a:r>
          </a:p>
        </p:txBody>
      </p:sp>
      <p:sp>
        <p:nvSpPr>
          <p:cNvPr id="73" name="!!chipBU12">
            <a:extLst>
              <a:ext uri="{C183D7F6-B498-43B3-948B-1728B52AA6E4}">
                <adec:decorative xmlns:adec="http://schemas.microsoft.com/office/drawing/2017/decorative" val="1"/>
              </a:ext>
            </a:extLst>
          </p:cNvPr>
          <p:cNvSpPr/>
          <p:nvPr/>
        </p:nvSpPr>
        <p:spPr>
          <a:xfrm>
            <a:off x="658368" y="4809744"/>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4" name="!!chipbBU12">
            <a:extLst>
              <a:ext uri="{C183D7F6-B498-43B3-948B-1728B52AA6E4}">
                <adec:decorative xmlns:adec="http://schemas.microsoft.com/office/drawing/2017/decorative" val="1"/>
              </a:ext>
            </a:extLst>
          </p:cNvPr>
          <p:cNvSpPr/>
          <p:nvPr/>
        </p:nvSpPr>
        <p:spPr>
          <a:xfrm>
            <a:off x="658368" y="4809744"/>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5" name="!!chiptBU12"/>
          <p:cNvSpPr txBox="1"/>
          <p:nvPr/>
        </p:nvSpPr>
        <p:spPr>
          <a:xfrm>
            <a:off x="859536"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12  </a:t>
            </a:r>
            <a:r>
              <a:rPr sz="1400" b="0" i="0">
                <a:solidFill>
                  <a:srgbClr val="1C252B"/>
                </a:solidFill>
                <a:latin typeface="Segoe UI"/>
              </a:rPr>
              <a:t>Storage Virtualization</a:t>
            </a:r>
          </a:p>
        </p:txBody>
      </p:sp>
      <p:sp>
        <p:nvSpPr>
          <p:cNvPr id="76"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77" name="!!chipUS20">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F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chipbUS20">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9" name="!!chiptUS20"/>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05B06"/>
                </a:solidFill>
                <a:latin typeface="Segoe UI"/>
              </a:rPr>
              <a:t>Ch 20  </a:t>
            </a:r>
            <a:r>
              <a:rPr sz="1400" b="0" i="0">
                <a:solidFill>
                  <a:srgbClr val="1C252B"/>
                </a:solidFill>
                <a:latin typeface="Segoe UI"/>
              </a:rPr>
              <a:t>GPU and Accelerator Virtualization</a:t>
            </a:r>
          </a:p>
        </p:txBody>
      </p:sp>
      <p:sp>
        <p:nvSpPr>
          <p:cNvPr id="80" name="!!chipUS23">
            <a:extLst>
              <a:ext uri="{C183D7F6-B498-43B3-948B-1728B52AA6E4}">
                <adec:decorative xmlns:adec="http://schemas.microsoft.com/office/drawing/2017/decorative" val="1"/>
              </a:ext>
            </a:extLst>
          </p:cNvPr>
          <p:cNvSpPr/>
          <p:nvPr/>
        </p:nvSpPr>
        <p:spPr>
          <a:xfrm>
            <a:off x="6324447" y="4297680"/>
            <a:ext cx="5208879" cy="420624"/>
          </a:xfrm>
          <a:prstGeom prst="roundRect">
            <a:avLst>
              <a:gd name="adj" fmla="val 17391"/>
            </a:avLst>
          </a:prstGeom>
          <a:solidFill>
            <a:srgbClr val="F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1" name="!!chipbUS23">
            <a:extLst>
              <a:ext uri="{C183D7F6-B498-43B3-948B-1728B52AA6E4}">
                <adec:decorative xmlns:adec="http://schemas.microsoft.com/office/drawing/2017/decorative" val="1"/>
              </a:ext>
            </a:extLst>
          </p:cNvPr>
          <p:cNvSpPr/>
          <p:nvPr/>
        </p:nvSpPr>
        <p:spPr>
          <a:xfrm>
            <a:off x="6324447" y="4297680"/>
            <a:ext cx="64008" cy="420624"/>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chiptUS23"/>
          <p:cNvSpPr txBox="1"/>
          <p:nvPr/>
        </p:nvSpPr>
        <p:spPr>
          <a:xfrm>
            <a:off x="6525615"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05B06"/>
                </a:solidFill>
                <a:latin typeface="Segoe UI"/>
              </a:rPr>
              <a:t>Ch 23  </a:t>
            </a:r>
            <a:r>
              <a:rPr sz="1400" b="0" i="0">
                <a:solidFill>
                  <a:srgbClr val="1C252B"/>
                </a:solidFill>
                <a:latin typeface="Segoe UI"/>
              </a:rPr>
              <a:t>The Semester Project</a:t>
            </a:r>
          </a:p>
        </p:txBody>
      </p:sp>
      <p:sp>
        <p:nvSpPr>
          <p:cNvPr id="8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4" name="!!pfill">
            <a:extLst>
              <a:ext uri="{C183D7F6-B498-43B3-948B-1728B52AA6E4}">
                <adec:decorative xmlns:adec="http://schemas.microsoft.com/office/drawing/2017/decorative" val="1"/>
              </a:ext>
            </a:extLst>
          </p:cNvPr>
          <p:cNvSpPr/>
          <p:nvPr/>
        </p:nvSpPr>
        <p:spPr>
          <a:xfrm>
            <a:off x="0" y="0"/>
            <a:ext cx="567055"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18  ·  Performance Monitoring and Capacity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141     </a:t>
            </a:r>
            <a:fld id="{C153CAF6-E3D0-41AB-981A-7D2A2677FC91}"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1284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Explain</a:t>
            </a:r>
            <a:r>
              <a:rPr sz="2100" b="0" i="0">
                <a:solidFill>
                  <a:srgbClr val="1C252B"/>
                </a:solidFill>
                <a:latin typeface="Segoe UI"/>
              </a:rPr>
              <a:t> why a guest’s own metrics are untrustworthy, and </a:t>
            </a:r>
            <a:r>
              <a:rPr sz="2100" b="1" i="0">
                <a:solidFill>
                  <a:srgbClr val="1C252B"/>
                </a:solidFill>
                <a:latin typeface="Segoe UI"/>
              </a:rPr>
              <a:t>name</a:t>
            </a:r>
            <a:r>
              <a:rPr sz="2100" b="0" i="0">
                <a:solidFill>
                  <a:srgbClr val="1C252B"/>
                </a:solidFill>
                <a:latin typeface="Segoe UI"/>
              </a:rPr>
              <a:t> the host-side counters that are not.</a:t>
            </a:r>
          </a:p>
        </p:txBody>
      </p:sp>
      <p:sp>
        <p:nvSpPr>
          <p:cNvPr id="11" name="!!ob1">
            <a:extLst>
              <a:ext uri="{C183D7F6-B498-43B3-948B-1728B52AA6E4}">
                <adec:decorative xmlns:adec="http://schemas.microsoft.com/office/drawing/2017/decorative" val="1"/>
              </a:ext>
            </a:extLst>
          </p:cNvPr>
          <p:cNvSpPr/>
          <p:nvPr/>
        </p:nvSpPr>
        <p:spPr>
          <a:xfrm>
            <a:off x="658368" y="3070555"/>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312999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3061411"/>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Interpret</a:t>
            </a:r>
            <a:r>
              <a:rPr sz="2100" b="0" i="0">
                <a:solidFill>
                  <a:srgbClr val="1C252B"/>
                </a:solidFill>
                <a:latin typeface="Segoe UI"/>
              </a:rPr>
              <a:t> ready time, co-stop, balloon, swap and latency together to locate a bottleneck.</a:t>
            </a:r>
          </a:p>
        </p:txBody>
      </p:sp>
      <p:sp>
        <p:nvSpPr>
          <p:cNvPr id="14" name="!!ob2">
            <a:extLst>
              <a:ext uri="{C183D7F6-B498-43B3-948B-1728B52AA6E4}">
                <adec:decorative xmlns:adec="http://schemas.microsoft.com/office/drawing/2017/decorative" val="1"/>
              </a:ext>
            </a:extLst>
          </p:cNvPr>
          <p:cNvSpPr/>
          <p:nvPr/>
        </p:nvSpPr>
        <p:spPr>
          <a:xfrm>
            <a:off x="658368" y="3919118"/>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978554"/>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960266"/>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Explain</a:t>
            </a:r>
            <a:r>
              <a:rPr sz="2100" b="0" i="0">
                <a:solidFill>
                  <a:srgbClr val="1C252B"/>
                </a:solidFill>
                <a:latin typeface="Segoe UI"/>
              </a:rPr>
              <a:t> why a mean is the wrong statistic for latency, and </a:t>
            </a:r>
            <a:r>
              <a:rPr sz="2100" b="1" i="0">
                <a:solidFill>
                  <a:srgbClr val="1C252B"/>
                </a:solidFill>
                <a:latin typeface="Segoe UI"/>
              </a:rPr>
              <a:t>use</a:t>
            </a:r>
            <a:r>
              <a:rPr sz="2100" b="0" i="0">
                <a:solidFill>
                  <a:srgbClr val="1C252B"/>
                </a:solidFill>
                <a:latin typeface="Segoe UI"/>
              </a:rPr>
              <a:t> percentiles instead.</a:t>
            </a:r>
          </a:p>
        </p:txBody>
      </p:sp>
      <p:sp>
        <p:nvSpPr>
          <p:cNvPr id="17" name="!!ob3">
            <a:extLst>
              <a:ext uri="{C183D7F6-B498-43B3-948B-1728B52AA6E4}">
                <adec:decorative xmlns:adec="http://schemas.microsoft.com/office/drawing/2017/decorative" val="1"/>
              </a:ext>
            </a:extLst>
          </p:cNvPr>
          <p:cNvSpPr/>
          <p:nvPr/>
        </p:nvSpPr>
        <p:spPr>
          <a:xfrm>
            <a:off x="658368" y="4522622"/>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58205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563770"/>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Diagnose</a:t>
            </a:r>
            <a:r>
              <a:rPr sz="2100" b="0" i="0">
                <a:solidFill>
                  <a:srgbClr val="1C252B"/>
                </a:solidFill>
                <a:latin typeface="Segoe UI"/>
              </a:rPr>
              <a:t> a noisy-neighbour problem and </a:t>
            </a:r>
            <a:r>
              <a:rPr sz="2100" b="1" i="0">
                <a:solidFill>
                  <a:srgbClr val="1C252B"/>
                </a:solidFill>
                <a:latin typeface="Segoe UI"/>
              </a:rPr>
              <a:t>distinguish</a:t>
            </a:r>
            <a:r>
              <a:rPr sz="2100" b="0" i="0">
                <a:solidFill>
                  <a:srgbClr val="1C252B"/>
                </a:solidFill>
                <a:latin typeface="Segoe UI"/>
              </a:rPr>
              <a:t> it from a workload problem.</a:t>
            </a:r>
          </a:p>
        </p:txBody>
      </p:sp>
      <p:sp>
        <p:nvSpPr>
          <p:cNvPr id="20" name="!!ob4">
            <a:extLst>
              <a:ext uri="{C183D7F6-B498-43B3-948B-1728B52AA6E4}">
                <adec:decorative xmlns:adec="http://schemas.microsoft.com/office/drawing/2017/decorative" val="1"/>
              </a:ext>
            </a:extLst>
          </p:cNvPr>
          <p:cNvSpPr/>
          <p:nvPr/>
        </p:nvSpPr>
        <p:spPr>
          <a:xfrm>
            <a:off x="658368" y="5126126"/>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185562"/>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116982"/>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Produce</a:t>
            </a:r>
            <a:r>
              <a:rPr sz="2100" b="0" i="0">
                <a:solidFill>
                  <a:srgbClr val="1C252B"/>
                </a:solidFill>
                <a:latin typeface="Segoe UI"/>
              </a:rPr>
              <a:t> a capacity plan from measured percentiles, with a stated headroom and a stated trigger.</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85058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18  ·  Performance Monitoring and Capacity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141     </a:t>
            </a:r>
            <a:fld id="{CC297538-CC04-4EEE-AEFB-9AD431350032}" type="slidenum">
              <a:rPr lang="en-GB" sz="1000">
                <a:solidFill>
                  <a:srgbClr val="8795A1"/>
                </a:solidFill>
                <a:latin typeface="Segoe UI"/>
              </a:rPr>
              <a:t>4</a:t>
            </a:fld>
          </a:p>
        </p:txBody>
      </p:sp>
      <p:sp>
        <p:nvSpPr>
          <p:cNvPr id="7" name="!!term-%RDY">
            <a:extLst>
              <a:ext uri="{C183D7F6-B498-43B3-948B-1728B52AA6E4}">
                <adec:decorative xmlns:adec="http://schemas.microsoft.com/office/drawing/2017/decorative" val="1"/>
              </a:ext>
            </a:extLst>
          </p:cNvPr>
          <p:cNvSpPr/>
          <p:nvPr/>
        </p:nvSpPr>
        <p:spPr>
          <a:xfrm>
            <a:off x="658368" y="1847088"/>
            <a:ext cx="95771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RDY">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RDY"/>
          <p:cNvSpPr txBox="1"/>
          <p:nvPr/>
        </p:nvSpPr>
        <p:spPr>
          <a:xfrm>
            <a:off x="950976" y="1970532"/>
            <a:ext cx="77483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%RDY</a:t>
            </a:r>
          </a:p>
        </p:txBody>
      </p:sp>
      <p:sp>
        <p:nvSpPr>
          <p:cNvPr id="10" name="!!term-steal time">
            <a:extLst>
              <a:ext uri="{C183D7F6-B498-43B3-948B-1728B52AA6E4}">
                <adec:decorative xmlns:adec="http://schemas.microsoft.com/office/drawing/2017/decorative" val="1"/>
              </a:ext>
            </a:extLst>
          </p:cNvPr>
          <p:cNvSpPr/>
          <p:nvPr/>
        </p:nvSpPr>
        <p:spPr>
          <a:xfrm>
            <a:off x="1762391" y="1847088"/>
            <a:ext cx="126975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steal time">
            <a:extLst>
              <a:ext uri="{C183D7F6-B498-43B3-948B-1728B52AA6E4}">
                <adec:decorative xmlns:adec="http://schemas.microsoft.com/office/drawing/2017/decorative" val="1"/>
              </a:ext>
            </a:extLst>
          </p:cNvPr>
          <p:cNvSpPr/>
          <p:nvPr/>
        </p:nvSpPr>
        <p:spPr>
          <a:xfrm>
            <a:off x="1890407"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steal time"/>
          <p:cNvSpPr txBox="1"/>
          <p:nvPr/>
        </p:nvSpPr>
        <p:spPr>
          <a:xfrm>
            <a:off x="2054999" y="1970532"/>
            <a:ext cx="108687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steal time</a:t>
            </a:r>
          </a:p>
        </p:txBody>
      </p:sp>
      <p:sp>
        <p:nvSpPr>
          <p:cNvPr id="13" name="!!term-co-stop">
            <a:extLst>
              <a:ext uri="{C183D7F6-B498-43B3-948B-1728B52AA6E4}">
                <adec:decorative xmlns:adec="http://schemas.microsoft.com/office/drawing/2017/decorative" val="1"/>
              </a:ext>
            </a:extLst>
          </p:cNvPr>
          <p:cNvSpPr/>
          <p:nvPr/>
        </p:nvSpPr>
        <p:spPr>
          <a:xfrm>
            <a:off x="3178452" y="1847088"/>
            <a:ext cx="109662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co-stop">
            <a:extLst>
              <a:ext uri="{C183D7F6-B498-43B3-948B-1728B52AA6E4}">
                <adec:decorative xmlns:adec="http://schemas.microsoft.com/office/drawing/2017/decorative" val="1"/>
              </a:ext>
            </a:extLst>
          </p:cNvPr>
          <p:cNvSpPr/>
          <p:nvPr/>
        </p:nvSpPr>
        <p:spPr>
          <a:xfrm>
            <a:off x="330646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co-stop"/>
          <p:cNvSpPr txBox="1"/>
          <p:nvPr/>
        </p:nvSpPr>
        <p:spPr>
          <a:xfrm>
            <a:off x="3471060" y="1970532"/>
            <a:ext cx="91374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co-stop</a:t>
            </a:r>
          </a:p>
        </p:txBody>
      </p:sp>
      <p:sp>
        <p:nvSpPr>
          <p:cNvPr id="16" name="!!term-balloon">
            <a:extLst>
              <a:ext uri="{C183D7F6-B498-43B3-948B-1728B52AA6E4}">
                <adec:decorative xmlns:adec="http://schemas.microsoft.com/office/drawing/2017/decorative" val="1"/>
              </a:ext>
            </a:extLst>
          </p:cNvPr>
          <p:cNvSpPr/>
          <p:nvPr/>
        </p:nvSpPr>
        <p:spPr>
          <a:xfrm>
            <a:off x="4421384" y="1847088"/>
            <a:ext cx="108378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balloon">
            <a:extLst>
              <a:ext uri="{C183D7F6-B498-43B3-948B-1728B52AA6E4}">
                <adec:decorative xmlns:adec="http://schemas.microsoft.com/office/drawing/2017/decorative" val="1"/>
              </a:ext>
            </a:extLst>
          </p:cNvPr>
          <p:cNvSpPr/>
          <p:nvPr/>
        </p:nvSpPr>
        <p:spPr>
          <a:xfrm>
            <a:off x="4549400"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balloon"/>
          <p:cNvSpPr txBox="1"/>
          <p:nvPr/>
        </p:nvSpPr>
        <p:spPr>
          <a:xfrm>
            <a:off x="4713992" y="1970532"/>
            <a:ext cx="90090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balloon</a:t>
            </a:r>
          </a:p>
        </p:txBody>
      </p:sp>
      <p:sp>
        <p:nvSpPr>
          <p:cNvPr id="19" name="!!term-swap-in">
            <a:extLst>
              <a:ext uri="{C183D7F6-B498-43B3-948B-1728B52AA6E4}">
                <adec:decorative xmlns:adec="http://schemas.microsoft.com/office/drawing/2017/decorative" val="1"/>
              </a:ext>
            </a:extLst>
          </p:cNvPr>
          <p:cNvSpPr/>
          <p:nvPr/>
        </p:nvSpPr>
        <p:spPr>
          <a:xfrm>
            <a:off x="5651475" y="1847088"/>
            <a:ext cx="110967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swap-in">
            <a:extLst>
              <a:ext uri="{C183D7F6-B498-43B3-948B-1728B52AA6E4}">
                <adec:decorative xmlns:adec="http://schemas.microsoft.com/office/drawing/2017/decorative" val="1"/>
              </a:ext>
            </a:extLst>
          </p:cNvPr>
          <p:cNvSpPr/>
          <p:nvPr/>
        </p:nvSpPr>
        <p:spPr>
          <a:xfrm>
            <a:off x="5779491"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swap-in"/>
          <p:cNvSpPr txBox="1"/>
          <p:nvPr/>
        </p:nvSpPr>
        <p:spPr>
          <a:xfrm>
            <a:off x="5944083" y="1970532"/>
            <a:ext cx="92679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swap-in</a:t>
            </a:r>
          </a:p>
        </p:txBody>
      </p:sp>
      <p:sp>
        <p:nvSpPr>
          <p:cNvPr id="22" name="!!term-latency">
            <a:extLst>
              <a:ext uri="{C183D7F6-B498-43B3-948B-1728B52AA6E4}">
                <adec:decorative xmlns:adec="http://schemas.microsoft.com/office/drawing/2017/decorative" val="1"/>
              </a:ext>
            </a:extLst>
          </p:cNvPr>
          <p:cNvSpPr/>
          <p:nvPr/>
        </p:nvSpPr>
        <p:spPr>
          <a:xfrm>
            <a:off x="6907449" y="1847088"/>
            <a:ext cx="104610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latency">
            <a:extLst>
              <a:ext uri="{C183D7F6-B498-43B3-948B-1728B52AA6E4}">
                <adec:decorative xmlns:adec="http://schemas.microsoft.com/office/drawing/2017/decorative" val="1"/>
              </a:ext>
            </a:extLst>
          </p:cNvPr>
          <p:cNvSpPr/>
          <p:nvPr/>
        </p:nvSpPr>
        <p:spPr>
          <a:xfrm>
            <a:off x="7035465"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latency"/>
          <p:cNvSpPr txBox="1"/>
          <p:nvPr/>
        </p:nvSpPr>
        <p:spPr>
          <a:xfrm>
            <a:off x="7200057" y="1970532"/>
            <a:ext cx="86322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latency</a:t>
            </a:r>
          </a:p>
        </p:txBody>
      </p:sp>
      <p:sp>
        <p:nvSpPr>
          <p:cNvPr id="25" name="!!term-throughput">
            <a:extLst>
              <a:ext uri="{C183D7F6-B498-43B3-948B-1728B52AA6E4}">
                <adec:decorative xmlns:adec="http://schemas.microsoft.com/office/drawing/2017/decorative" val="1"/>
              </a:ext>
            </a:extLst>
          </p:cNvPr>
          <p:cNvSpPr/>
          <p:nvPr/>
        </p:nvSpPr>
        <p:spPr>
          <a:xfrm>
            <a:off x="8099860" y="1847088"/>
            <a:ext cx="142072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throughput">
            <a:extLst>
              <a:ext uri="{C183D7F6-B498-43B3-948B-1728B52AA6E4}">
                <adec:decorative xmlns:adec="http://schemas.microsoft.com/office/drawing/2017/decorative" val="1"/>
              </a:ext>
            </a:extLst>
          </p:cNvPr>
          <p:cNvSpPr/>
          <p:nvPr/>
        </p:nvSpPr>
        <p:spPr>
          <a:xfrm>
            <a:off x="8227876"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throughput"/>
          <p:cNvSpPr txBox="1"/>
          <p:nvPr/>
        </p:nvSpPr>
        <p:spPr>
          <a:xfrm>
            <a:off x="8392468" y="1970532"/>
            <a:ext cx="123784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throughput</a:t>
            </a:r>
          </a:p>
        </p:txBody>
      </p:sp>
      <p:sp>
        <p:nvSpPr>
          <p:cNvPr id="28" name="!!term-saturation">
            <a:extLst>
              <a:ext uri="{C183D7F6-B498-43B3-948B-1728B52AA6E4}">
                <adec:decorative xmlns:adec="http://schemas.microsoft.com/office/drawing/2017/decorative" val="1"/>
              </a:ext>
            </a:extLst>
          </p:cNvPr>
          <p:cNvSpPr/>
          <p:nvPr/>
        </p:nvSpPr>
        <p:spPr>
          <a:xfrm>
            <a:off x="9666884" y="1847088"/>
            <a:ext cx="129931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saturation">
            <a:extLst>
              <a:ext uri="{C183D7F6-B498-43B3-948B-1728B52AA6E4}">
                <adec:decorative xmlns:adec="http://schemas.microsoft.com/office/drawing/2017/decorative" val="1"/>
              </a:ext>
            </a:extLst>
          </p:cNvPr>
          <p:cNvSpPr/>
          <p:nvPr/>
        </p:nvSpPr>
        <p:spPr>
          <a:xfrm>
            <a:off x="9794900"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saturation"/>
          <p:cNvSpPr txBox="1"/>
          <p:nvPr/>
        </p:nvSpPr>
        <p:spPr>
          <a:xfrm>
            <a:off x="9959492" y="1970532"/>
            <a:ext cx="111643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saturation</a:t>
            </a:r>
          </a:p>
        </p:txBody>
      </p:sp>
      <p:sp>
        <p:nvSpPr>
          <p:cNvPr id="31" name="!!term-utilisation">
            <a:extLst>
              <a:ext uri="{C183D7F6-B498-43B3-948B-1728B52AA6E4}">
                <adec:decorative xmlns:adec="http://schemas.microsoft.com/office/drawing/2017/decorative" val="1"/>
              </a:ext>
            </a:extLst>
          </p:cNvPr>
          <p:cNvSpPr/>
          <p:nvPr/>
        </p:nvSpPr>
        <p:spPr>
          <a:xfrm>
            <a:off x="658368" y="2468880"/>
            <a:ext cx="127386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utilisation">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utilisation"/>
          <p:cNvSpPr txBox="1"/>
          <p:nvPr/>
        </p:nvSpPr>
        <p:spPr>
          <a:xfrm>
            <a:off x="950976" y="2592324"/>
            <a:ext cx="109098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utilisation</a:t>
            </a:r>
          </a:p>
        </p:txBody>
      </p:sp>
      <p:sp>
        <p:nvSpPr>
          <p:cNvPr id="34" name="!!term-percentile">
            <a:extLst>
              <a:ext uri="{C183D7F6-B498-43B3-948B-1728B52AA6E4}">
                <adec:decorative xmlns:adec="http://schemas.microsoft.com/office/drawing/2017/decorative" val="1"/>
              </a:ext>
            </a:extLst>
          </p:cNvPr>
          <p:cNvSpPr/>
          <p:nvPr/>
        </p:nvSpPr>
        <p:spPr>
          <a:xfrm>
            <a:off x="2078534" y="2468880"/>
            <a:ext cx="128528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percentile">
            <a:extLst>
              <a:ext uri="{C183D7F6-B498-43B3-948B-1728B52AA6E4}">
                <adec:decorative xmlns:adec="http://schemas.microsoft.com/office/drawing/2017/decorative" val="1"/>
              </a:ext>
            </a:extLst>
          </p:cNvPr>
          <p:cNvSpPr/>
          <p:nvPr/>
        </p:nvSpPr>
        <p:spPr>
          <a:xfrm>
            <a:off x="2206550"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percentile"/>
          <p:cNvSpPr txBox="1"/>
          <p:nvPr/>
        </p:nvSpPr>
        <p:spPr>
          <a:xfrm>
            <a:off x="2371142" y="2592324"/>
            <a:ext cx="110240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percentile</a:t>
            </a:r>
          </a:p>
        </p:txBody>
      </p:sp>
      <p:sp>
        <p:nvSpPr>
          <p:cNvPr id="37" name="!!term-p95">
            <a:extLst>
              <a:ext uri="{C183D7F6-B498-43B3-948B-1728B52AA6E4}">
                <adec:decorative xmlns:adec="http://schemas.microsoft.com/office/drawing/2017/decorative" val="1"/>
              </a:ext>
            </a:extLst>
          </p:cNvPr>
          <p:cNvSpPr/>
          <p:nvPr/>
        </p:nvSpPr>
        <p:spPr>
          <a:xfrm>
            <a:off x="3510124" y="2468880"/>
            <a:ext cx="76263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p95">
            <a:extLst>
              <a:ext uri="{C183D7F6-B498-43B3-948B-1728B52AA6E4}">
                <adec:decorative xmlns:adec="http://schemas.microsoft.com/office/drawing/2017/decorative" val="1"/>
              </a:ext>
            </a:extLst>
          </p:cNvPr>
          <p:cNvSpPr/>
          <p:nvPr/>
        </p:nvSpPr>
        <p:spPr>
          <a:xfrm>
            <a:off x="3638140"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p95"/>
          <p:cNvSpPr txBox="1"/>
          <p:nvPr/>
        </p:nvSpPr>
        <p:spPr>
          <a:xfrm>
            <a:off x="3802732" y="2592324"/>
            <a:ext cx="57975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p95</a:t>
            </a:r>
          </a:p>
        </p:txBody>
      </p:sp>
      <p:sp>
        <p:nvSpPr>
          <p:cNvPr id="40" name="!!term-p99">
            <a:extLst>
              <a:ext uri="{C183D7F6-B498-43B3-948B-1728B52AA6E4}">
                <adec:decorative xmlns:adec="http://schemas.microsoft.com/office/drawing/2017/decorative" val="1"/>
              </a:ext>
            </a:extLst>
          </p:cNvPr>
          <p:cNvSpPr/>
          <p:nvPr/>
        </p:nvSpPr>
        <p:spPr>
          <a:xfrm>
            <a:off x="4419061" y="2468880"/>
            <a:ext cx="76263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p99">
            <a:extLst>
              <a:ext uri="{C183D7F6-B498-43B3-948B-1728B52AA6E4}">
                <adec:decorative xmlns:adec="http://schemas.microsoft.com/office/drawing/2017/decorative" val="1"/>
              </a:ext>
            </a:extLst>
          </p:cNvPr>
          <p:cNvSpPr/>
          <p:nvPr/>
        </p:nvSpPr>
        <p:spPr>
          <a:xfrm>
            <a:off x="4547077"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p99"/>
          <p:cNvSpPr txBox="1"/>
          <p:nvPr/>
        </p:nvSpPr>
        <p:spPr>
          <a:xfrm>
            <a:off x="4711669" y="2592324"/>
            <a:ext cx="57975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p99</a:t>
            </a:r>
          </a:p>
        </p:txBody>
      </p:sp>
      <p:sp>
        <p:nvSpPr>
          <p:cNvPr id="43" name="!!term-tail latency">
            <a:extLst>
              <a:ext uri="{C183D7F6-B498-43B3-948B-1728B52AA6E4}">
                <adec:decorative xmlns:adec="http://schemas.microsoft.com/office/drawing/2017/decorative" val="1"/>
              </a:ext>
            </a:extLst>
          </p:cNvPr>
          <p:cNvSpPr/>
          <p:nvPr/>
        </p:nvSpPr>
        <p:spPr>
          <a:xfrm>
            <a:off x="5327997" y="2468880"/>
            <a:ext cx="135816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tail latency">
            <a:extLst>
              <a:ext uri="{C183D7F6-B498-43B3-948B-1728B52AA6E4}">
                <adec:decorative xmlns:adec="http://schemas.microsoft.com/office/drawing/2017/decorative" val="1"/>
              </a:ext>
            </a:extLst>
          </p:cNvPr>
          <p:cNvSpPr/>
          <p:nvPr/>
        </p:nvSpPr>
        <p:spPr>
          <a:xfrm>
            <a:off x="5456013"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tail latency"/>
          <p:cNvSpPr txBox="1"/>
          <p:nvPr/>
        </p:nvSpPr>
        <p:spPr>
          <a:xfrm>
            <a:off x="5620605" y="2592324"/>
            <a:ext cx="1175288"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tail latency</a:t>
            </a:r>
          </a:p>
        </p:txBody>
      </p:sp>
      <p:sp>
        <p:nvSpPr>
          <p:cNvPr id="46" name="!!term-noisy neighbou">
            <a:extLst>
              <a:ext uri="{C183D7F6-B498-43B3-948B-1728B52AA6E4}">
                <adec:decorative xmlns:adec="http://schemas.microsoft.com/office/drawing/2017/decorative" val="1"/>
              </a:ext>
            </a:extLst>
          </p:cNvPr>
          <p:cNvSpPr/>
          <p:nvPr/>
        </p:nvSpPr>
        <p:spPr>
          <a:xfrm>
            <a:off x="6832470" y="2468880"/>
            <a:ext cx="182822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noisy neighbou">
            <a:extLst>
              <a:ext uri="{C183D7F6-B498-43B3-948B-1728B52AA6E4}">
                <adec:decorative xmlns:adec="http://schemas.microsoft.com/office/drawing/2017/decorative" val="1"/>
              </a:ext>
            </a:extLst>
          </p:cNvPr>
          <p:cNvSpPr/>
          <p:nvPr/>
        </p:nvSpPr>
        <p:spPr>
          <a:xfrm>
            <a:off x="6960486"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noisy neighbou"/>
          <p:cNvSpPr txBox="1"/>
          <p:nvPr/>
        </p:nvSpPr>
        <p:spPr>
          <a:xfrm>
            <a:off x="7125078" y="2592324"/>
            <a:ext cx="1645348"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noisy neighbour</a:t>
            </a:r>
          </a:p>
        </p:txBody>
      </p:sp>
      <p:sp>
        <p:nvSpPr>
          <p:cNvPr id="49" name="!!term-timekeeping">
            <a:extLst>
              <a:ext uri="{C183D7F6-B498-43B3-948B-1728B52AA6E4}">
                <adec:decorative xmlns:adec="http://schemas.microsoft.com/office/drawing/2017/decorative" val="1"/>
              </a:ext>
            </a:extLst>
          </p:cNvPr>
          <p:cNvSpPr/>
          <p:nvPr/>
        </p:nvSpPr>
        <p:spPr>
          <a:xfrm>
            <a:off x="8807002" y="2468880"/>
            <a:ext cx="150619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termd-timekeeping">
            <a:extLst>
              <a:ext uri="{C183D7F6-B498-43B3-948B-1728B52AA6E4}">
                <adec:decorative xmlns:adec="http://schemas.microsoft.com/office/drawing/2017/decorative" val="1"/>
              </a:ext>
            </a:extLst>
          </p:cNvPr>
          <p:cNvSpPr/>
          <p:nvPr/>
        </p:nvSpPr>
        <p:spPr>
          <a:xfrm>
            <a:off x="8935018"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rmt-timekeeping"/>
          <p:cNvSpPr txBox="1"/>
          <p:nvPr/>
        </p:nvSpPr>
        <p:spPr>
          <a:xfrm>
            <a:off x="9099610" y="2592324"/>
            <a:ext cx="132331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timekeeping</a:t>
            </a:r>
          </a:p>
        </p:txBody>
      </p:sp>
      <p:sp>
        <p:nvSpPr>
          <p:cNvPr id="52" name="!!term-tick drift">
            <a:extLst>
              <a:ext uri="{C183D7F6-B498-43B3-948B-1728B52AA6E4}">
                <adec:decorative xmlns:adec="http://schemas.microsoft.com/office/drawing/2017/decorative" val="1"/>
              </a:ext>
            </a:extLst>
          </p:cNvPr>
          <p:cNvSpPr/>
          <p:nvPr/>
        </p:nvSpPr>
        <p:spPr>
          <a:xfrm>
            <a:off x="658368" y="3090672"/>
            <a:ext cx="114722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termd-tick drift">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termt-tick drift"/>
          <p:cNvSpPr txBox="1"/>
          <p:nvPr/>
        </p:nvSpPr>
        <p:spPr>
          <a:xfrm>
            <a:off x="950976" y="3214116"/>
            <a:ext cx="96434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tick drift</a:t>
            </a:r>
          </a:p>
        </p:txBody>
      </p:sp>
      <p:sp>
        <p:nvSpPr>
          <p:cNvPr id="55" name="!!term-USE method">
            <a:extLst>
              <a:ext uri="{C183D7F6-B498-43B3-948B-1728B52AA6E4}">
                <adec:decorative xmlns:adec="http://schemas.microsoft.com/office/drawing/2017/decorative" val="1"/>
              </a:ext>
            </a:extLst>
          </p:cNvPr>
          <p:cNvSpPr/>
          <p:nvPr/>
        </p:nvSpPr>
        <p:spPr>
          <a:xfrm>
            <a:off x="1951898" y="3090672"/>
            <a:ext cx="150023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termd-USE method">
            <a:extLst>
              <a:ext uri="{C183D7F6-B498-43B3-948B-1728B52AA6E4}">
                <adec:decorative xmlns:adec="http://schemas.microsoft.com/office/drawing/2017/decorative" val="1"/>
              </a:ext>
            </a:extLst>
          </p:cNvPr>
          <p:cNvSpPr/>
          <p:nvPr/>
        </p:nvSpPr>
        <p:spPr>
          <a:xfrm>
            <a:off x="207991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7" name="!!termt-USE method"/>
          <p:cNvSpPr txBox="1"/>
          <p:nvPr/>
        </p:nvSpPr>
        <p:spPr>
          <a:xfrm>
            <a:off x="2244506" y="3214116"/>
            <a:ext cx="1317353"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USE method</a:t>
            </a:r>
          </a:p>
        </p:txBody>
      </p:sp>
      <p:sp>
        <p:nvSpPr>
          <p:cNvPr id="58" name="!!term-headroom">
            <a:extLst>
              <a:ext uri="{C183D7F6-B498-43B3-948B-1728B52AA6E4}">
                <adec:decorative xmlns:adec="http://schemas.microsoft.com/office/drawing/2017/decorative" val="1"/>
              </a:ext>
            </a:extLst>
          </p:cNvPr>
          <p:cNvSpPr/>
          <p:nvPr/>
        </p:nvSpPr>
        <p:spPr>
          <a:xfrm>
            <a:off x="3598435" y="3090672"/>
            <a:ext cx="132648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9" name="!!termd-headroom">
            <a:extLst>
              <a:ext uri="{C183D7F6-B498-43B3-948B-1728B52AA6E4}">
                <adec:decorative xmlns:adec="http://schemas.microsoft.com/office/drawing/2017/decorative" val="1"/>
              </a:ext>
            </a:extLst>
          </p:cNvPr>
          <p:cNvSpPr/>
          <p:nvPr/>
        </p:nvSpPr>
        <p:spPr>
          <a:xfrm>
            <a:off x="3726451"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termt-headroom"/>
          <p:cNvSpPr txBox="1"/>
          <p:nvPr/>
        </p:nvSpPr>
        <p:spPr>
          <a:xfrm>
            <a:off x="3891043" y="3214116"/>
            <a:ext cx="114360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headroom</a:t>
            </a:r>
          </a:p>
        </p:txBody>
      </p:sp>
      <p:sp>
        <p:nvSpPr>
          <p:cNvPr id="61" name="!!term-capacity plan">
            <a:extLst>
              <a:ext uri="{C183D7F6-B498-43B3-948B-1728B52AA6E4}">
                <adec:decorative xmlns:adec="http://schemas.microsoft.com/office/drawing/2017/decorative" val="1"/>
              </a:ext>
            </a:extLst>
          </p:cNvPr>
          <p:cNvSpPr/>
          <p:nvPr/>
        </p:nvSpPr>
        <p:spPr>
          <a:xfrm>
            <a:off x="5071220" y="3090672"/>
            <a:ext cx="156081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termd-capacity plan">
            <a:extLst>
              <a:ext uri="{C183D7F6-B498-43B3-948B-1728B52AA6E4}">
                <adec:decorative xmlns:adec="http://schemas.microsoft.com/office/drawing/2017/decorative" val="1"/>
              </a:ext>
            </a:extLst>
          </p:cNvPr>
          <p:cNvSpPr/>
          <p:nvPr/>
        </p:nvSpPr>
        <p:spPr>
          <a:xfrm>
            <a:off x="5199236"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3" name="!!termt-capacity plan"/>
          <p:cNvSpPr txBox="1"/>
          <p:nvPr/>
        </p:nvSpPr>
        <p:spPr>
          <a:xfrm>
            <a:off x="5363828" y="3214116"/>
            <a:ext cx="1377938"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capacity plan</a:t>
            </a:r>
          </a:p>
        </p:txBody>
      </p:sp>
      <p:sp>
        <p:nvSpPr>
          <p:cNvPr id="64" name="!!term-trigger">
            <a:extLst>
              <a:ext uri="{C183D7F6-B498-43B3-948B-1728B52AA6E4}">
                <adec:decorative xmlns:adec="http://schemas.microsoft.com/office/drawing/2017/decorative" val="1"/>
              </a:ext>
            </a:extLst>
          </p:cNvPr>
          <p:cNvSpPr/>
          <p:nvPr/>
        </p:nvSpPr>
        <p:spPr>
          <a:xfrm>
            <a:off x="6778342" y="3090672"/>
            <a:ext cx="101756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5" name="!!termd-trigger">
            <a:extLst>
              <a:ext uri="{C183D7F6-B498-43B3-948B-1728B52AA6E4}">
                <adec:decorative xmlns:adec="http://schemas.microsoft.com/office/drawing/2017/decorative" val="1"/>
              </a:ext>
            </a:extLst>
          </p:cNvPr>
          <p:cNvSpPr/>
          <p:nvPr/>
        </p:nvSpPr>
        <p:spPr>
          <a:xfrm>
            <a:off x="6906358"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termt-trigger"/>
          <p:cNvSpPr txBox="1"/>
          <p:nvPr/>
        </p:nvSpPr>
        <p:spPr>
          <a:xfrm>
            <a:off x="7070950" y="3214116"/>
            <a:ext cx="83468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trigger</a:t>
            </a:r>
          </a:p>
        </p:txBody>
      </p:sp>
      <p:sp>
        <p:nvSpPr>
          <p:cNvPr id="67" name="!!termnote"/>
          <p:cNvSpPr txBox="1"/>
          <p:nvPr/>
        </p:nvSpPr>
        <p:spPr>
          <a:xfrm>
            <a:off x="658368" y="3913632"/>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6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pfill">
            <a:extLst>
              <a:ext uri="{C183D7F6-B498-43B3-948B-1728B52AA6E4}">
                <adec:decorative xmlns:adec="http://schemas.microsoft.com/office/drawing/2017/decorative" val="1"/>
              </a:ext>
            </a:extLst>
          </p:cNvPr>
          <p:cNvSpPr/>
          <p:nvPr/>
        </p:nvSpPr>
        <p:spPr>
          <a:xfrm>
            <a:off x="0" y="0"/>
            <a:ext cx="113411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18  ·  Performance Monitoring and Capacity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141–148     </a:t>
            </a:r>
            <a:fld id="{B0D823EC-A347-4E89-9B93-9D280A5ED60C}" type="slidenum">
              <a:rPr lang="en-GB" sz="1000">
                <a:solidFill>
                  <a:srgbClr val="8795A1"/>
                </a:solidFill>
                <a:latin typeface="Segoe UI"/>
              </a:rPr>
              <a:t>5</a:t>
            </a:fld>
          </a:p>
        </p:txBody>
      </p:sp>
      <p:sp>
        <p:nvSpPr>
          <p:cNvPr id="7" name="!!ag0" descr="Go to section 18.1 The Guest Is an Unreliable Witness">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18.1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Guest Is an Unreliable Witness</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141  ›</a:t>
            </a:r>
          </a:p>
        </p:txBody>
      </p:sp>
      <p:sp>
        <p:nvSpPr>
          <p:cNvPr id="12" name="!!ag1" descr="Go to section 18.2 The Counters That Matter">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18.2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Counters That Matter</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142  ›</a:t>
            </a:r>
          </a:p>
        </p:txBody>
      </p:sp>
      <p:sp>
        <p:nvSpPr>
          <p:cNvPr id="17" name="!!ag2" descr="Go to section 18.3 Why the Mean Is the Wrong Number">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18.3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Why the Mean Is the Wrong Number</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142  ›</a:t>
            </a:r>
          </a:p>
        </p:txBody>
      </p:sp>
      <p:sp>
        <p:nvSpPr>
          <p:cNvPr id="22" name="!!ag3" descr="Go to section 18.4 Benchmarking Honestly">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18.4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Benchmarking Honestly</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144  ›</a:t>
            </a:r>
          </a:p>
        </p:txBody>
      </p:sp>
      <p:sp>
        <p:nvSpPr>
          <p:cNvPr id="27" name="!!ag4" descr="Go to section 18.5 Capacity Planning">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18.5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Capacity Planning</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144  ›</a:t>
            </a:r>
          </a:p>
        </p:txBody>
      </p:sp>
      <p:sp>
        <p:nvSpPr>
          <p:cNvPr id="3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pfill">
            <a:extLst>
              <a:ext uri="{C183D7F6-B498-43B3-948B-1728B52AA6E4}">
                <adec:decorative xmlns:adec="http://schemas.microsoft.com/office/drawing/2017/decorative" val="1"/>
              </a:ext>
            </a:extLst>
          </p:cNvPr>
          <p:cNvSpPr/>
          <p:nvPr/>
        </p:nvSpPr>
        <p:spPr>
          <a:xfrm>
            <a:off x="0" y="0"/>
            <a:ext cx="1417638"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Measure From Outside, Correlate From Inside</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18  ·  Performance Monitoring and Capacity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§18.1  ·  Handout p. 141     </a:t>
            </a:r>
            <a:fld id="{C35DBBAB-0446-48B3-8E8D-D3B6A3007387}" type="slidenum">
              <a:rPr lang="en-GB" sz="1000">
                <a:solidFill>
                  <a:srgbClr val="8795A1"/>
                </a:solidFill>
                <a:latin typeface="Segoe UI"/>
              </a:rPr>
              <a:t>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071111"/>
          </a:xfrm>
          <a:prstGeom prst="roundRect">
            <a:avLst>
              <a:gd name="adj" fmla="val 2246"/>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071111"/>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The rule for this whole chapter: </a:t>
            </a:r>
            <a:r>
              <a:rPr sz="2000" b="1" i="0">
                <a:solidFill>
                  <a:srgbClr val="1C252B"/>
                </a:solidFill>
                <a:latin typeface="Segoe UI"/>
              </a:rPr>
              <a:t>the host knows what happened; the guest knows what it wanted.</a:t>
            </a:r>
          </a:p>
        </p:txBody>
      </p:sp>
      <p:sp>
        <p:nvSpPr>
          <p:cNvPr id="10" name="body-1"/>
          <p:cNvSpPr txBox="1"/>
          <p:nvPr/>
        </p:nvSpPr>
        <p:spPr>
          <a:xfrm>
            <a:off x="1060704" y="2821939"/>
            <a:ext cx="10161727" cy="1313688"/>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Only the hypervisor can report ready time, co-stop, ballooning and host swap, because only the hypervisor was present for them. Only the guest can report which process was running and which query was slow. A diagnosis needs both, in that order — host first to find the constrained resource, guest second to find out who wanted it.</a:t>
            </a:r>
          </a:p>
        </p:txBody>
      </p:sp>
      <p:sp>
        <p:nvSpPr>
          <p:cNvPr id="11" name="body-2"/>
          <p:cNvSpPr txBox="1"/>
          <p:nvPr/>
        </p:nvSpPr>
        <p:spPr>
          <a:xfrm>
            <a:off x="1060704" y="4229608"/>
            <a:ext cx="10161727" cy="1313688"/>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The one guest-side number that </a:t>
            </a:r>
            <a:r>
              <a:rPr sz="2000" b="0" i="1">
                <a:solidFill>
                  <a:srgbClr val="1C252B"/>
                </a:solidFill>
                <a:latin typeface="Segoe UI"/>
              </a:rPr>
              <a:t>is</a:t>
            </a:r>
            <a:r>
              <a:rPr sz="2000" b="0" i="0">
                <a:solidFill>
                  <a:srgbClr val="1C252B"/>
                </a:solidFill>
                <a:latin typeface="Segoe UI"/>
              </a:rPr>
              <a:t> trustworthy is steal time (</a:t>
            </a:r>
            <a:r>
              <a:rPr sz="1900" b="0" i="0">
                <a:solidFill>
                  <a:srgbClr val="1F4E79"/>
                </a:solidFill>
                <a:latin typeface="Consolas"/>
              </a:rPr>
              <a:t>%st</a:t>
            </a:r>
            <a:r>
              <a:rPr sz="2000" b="0" i="0">
                <a:solidFill>
                  <a:srgbClr val="1C252B"/>
                </a:solidFill>
                <a:latin typeface="Segoe UI"/>
              </a:rPr>
              <a:t> in </a:t>
            </a:r>
            <a:r>
              <a:rPr sz="1900" b="0" i="0">
                <a:solidFill>
                  <a:srgbClr val="1F4E79"/>
                </a:solidFill>
                <a:latin typeface="Consolas"/>
              </a:rPr>
              <a:t>top</a:t>
            </a:r>
            <a:r>
              <a:rPr sz="2000" b="0" i="0">
                <a:solidFill>
                  <a:srgbClr val="1C252B"/>
                </a:solidFill>
                <a:latin typeface="Segoe UI"/>
              </a:rPr>
              <a:t>, </a:t>
            </a:r>
            <a:r>
              <a:rPr sz="1900" b="0" i="0">
                <a:solidFill>
                  <a:srgbClr val="1F4E79"/>
                </a:solidFill>
                <a:latin typeface="Consolas"/>
              </a:rPr>
              <a:t>mpstat</a:t>
            </a:r>
            <a:r>
              <a:rPr sz="2000" b="0" i="0">
                <a:solidFill>
                  <a:srgbClr val="1C252B"/>
                </a:solidFill>
                <a:latin typeface="Segoe UI"/>
              </a:rPr>
              <a:t>), because the hypervisor tells the guest about it explicitly through a paravirtual clock. It is the same quantity as %RDY, visible from the other side, and it is the first thing to look at when you only have access to the guest.</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1701166"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The Counters That Matter</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7D7D0"/>
                </a:solidFill>
                <a:latin typeface="Segoe UI"/>
              </a:rPr>
              <a:t>SECTION 2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18.2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18.1   The Guest Is an Unreliable Witness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07964"/>
                </a:solidFill>
                <a:latin typeface="Segoe UI"/>
              </a:rPr>
              <a:t>18.2   The Counters That Matter</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18.3   Why the Mean Is the Wrong Number</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18.4   Benchmarking Honestly</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18.5   Capacity Planning</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18</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§18.2     </a:t>
            </a:r>
            <a:fld id="{8E30320F-7B0F-474F-B3C3-212979C15EA3}" type="slidenum">
              <a:rPr lang="en-GB" sz="1000">
                <a:solidFill>
                  <a:srgbClr val="8795A1"/>
                </a:solidFill>
                <a:latin typeface="Segoe UI"/>
              </a:rPr>
              <a:t>7</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1984694"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Counters That Matter</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18  ·  Performance Monitoring and Capacity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§18.2  ·  Handout p. 142     </a:t>
            </a:r>
            <a:fld id="{ED3A1DC3-E506-4ACF-ACD5-2B434893E6F1}" type="slidenum">
              <a:rPr lang="en-GB" sz="1000">
                <a:solidFill>
                  <a:srgbClr val="8795A1"/>
                </a:solidFill>
                <a:latin typeface="Segoe UI"/>
              </a:rPr>
              <a:t>8</a:t>
            </a:fld>
          </a:p>
        </p:txBody>
      </p:sp>
      <p:graphicFrame>
        <p:nvGraphicFramePr>
          <p:cNvPr id="7" name="!!table"/>
          <p:cNvGraphicFramePr>
            <a:graphicFrameLocks noGrp="1"/>
          </p:cNvGraphicFramePr>
          <p:nvPr/>
        </p:nvGraphicFramePr>
        <p:xfrm>
          <a:off x="658368" y="1737360"/>
          <a:ext cx="10874956" cy="4194048"/>
        </p:xfrm>
        <a:graphic>
          <a:graphicData uri="http://schemas.openxmlformats.org/drawingml/2006/table">
            <a:tbl>
              <a:tblPr firstRow="0" bandRow="0" firstCol="0" lastRow="0" lastCol="0" bandCol="0">
                <a:tableStyleId>{2D5ABB26-0587-4C30-8999-92F81FD0307C}</a:tableStyleId>
              </a:tblPr>
              <a:tblGrid>
                <a:gridCol w="2067773"/>
                <a:gridCol w="3446289"/>
                <a:gridCol w="1914605"/>
                <a:gridCol w="3446289"/>
              </a:tblGrid>
              <a:tr h="390144">
                <a:tc>
                  <a:txBody>
                    <a:bodyPr wrap="square"/>
                    <a:lstStyle/>
                    <a:p>
                      <a:pPr algn="l"/>
                      <a:r>
                        <a:rPr sz="1600" b="1" i="0">
                          <a:solidFill>
                            <a:srgbClr val="1A5276"/>
                          </a:solidFill>
                          <a:latin typeface="Segoe UI"/>
                        </a:rPr>
                        <a:t>Counter</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600" b="1" i="0">
                          <a:solidFill>
                            <a:srgbClr val="1A5276"/>
                          </a:solidFill>
                          <a:latin typeface="Segoe UI"/>
                        </a:rPr>
                        <a:t>What a high value means</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600" b="1" i="0">
                          <a:solidFill>
                            <a:srgbClr val="1A5276"/>
                          </a:solidFill>
                          <a:latin typeface="Segoe UI"/>
                        </a:rPr>
                        <a:t>Threshold</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600" b="1" i="0">
                          <a:solidFill>
                            <a:srgbClr val="1A5276"/>
                          </a:solidFill>
                          <a:latin typeface="Segoe UI"/>
                        </a:rPr>
                        <a:t>What to do</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633984">
                <a:tc>
                  <a:txBody>
                    <a:bodyPr wrap="square"/>
                    <a:lstStyle/>
                    <a:p>
                      <a:pPr algn="l"/>
                      <a:r>
                        <a:rPr sz="1600" b="1" i="0">
                          <a:solidFill>
                            <a:srgbClr val="1C252B"/>
                          </a:solidFill>
                          <a:latin typeface="Segoe UI"/>
                        </a:rPr>
                        <a:t>%RDY</a:t>
                      </a:r>
                      <a:r>
                        <a:rPr sz="1600" b="0" i="0">
                          <a:solidFill>
                            <a:srgbClr val="1C252B"/>
                          </a:solidFill>
                          <a:latin typeface="Segoe UI"/>
                        </a:rPr>
                        <a:t> / steal</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The vCPU wanted to run and no core was free</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Cambria"/>
                        </a:rPr>
                        <a:t>&gt;5%</a:t>
                      </a:r>
                      <a:r>
                        <a:rPr sz="1600" b="0" i="0">
                          <a:solidFill>
                            <a:srgbClr val="1C252B"/>
                          </a:solidFill>
                          <a:latin typeface="Segoe UI"/>
                        </a:rPr>
                        <a:t> look, </a:t>
                      </a:r>
                      <a:r>
                        <a:rPr sz="1600" b="0" i="0">
                          <a:solidFill>
                            <a:srgbClr val="1C252B"/>
                          </a:solidFill>
                          <a:latin typeface="Cambria"/>
                        </a:rPr>
                        <a:t>&gt;10%</a:t>
                      </a:r>
                      <a:r>
                        <a:rPr sz="1600" b="0" i="0">
                          <a:solidFill>
                            <a:srgbClr val="1C252B"/>
                          </a:solidFill>
                          <a:latin typeface="Segoe UI"/>
                        </a:rPr>
                        <a:t> act</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Right-size guests down, or add hosts (Chapter 6)</a:t>
                      </a:r>
                      <a:endParaRPr sz="1600"/>
                    </a:p>
                  </a:txBody>
                  <a:tcPr marL="109728" marR="109728" marT="64008" marB="45720" anchor="t">
                    <a:lnL w="0" cmpd="sng">
                      <a:noFill/>
                    </a:lnL>
                    <a:lnR w="0" cmpd="sng">
                      <a:noFill/>
                    </a:lnR>
                    <a:lnT w="9525" cmpd="sng">
                      <a:noFill/>
                    </a:lnT>
                    <a:lnB w="9525" cmpd="sng">
                      <a:noFill/>
                    </a:lnB>
                    <a:solidFill>
                      <a:srgbClr val="FFFFFF"/>
                    </a:solidFill>
                  </a:tcPr>
                </a:tc>
              </a:tr>
              <a:tr h="633984">
                <a:tc>
                  <a:txBody>
                    <a:bodyPr wrap="square"/>
                    <a:lstStyle/>
                    <a:p>
                      <a:pPr algn="l"/>
                      <a:r>
                        <a:rPr sz="1600" b="1" i="0">
                          <a:solidFill>
                            <a:srgbClr val="1C252B"/>
                          </a:solidFill>
                          <a:latin typeface="Segoe UI"/>
                        </a:rPr>
                        <a:t>co-stop</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A wide guest waiting for its own siblings to be scheduled together</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Cambria"/>
                        </a:rPr>
                        <a:t>&gt;3%</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Reduce that guest’s vCPU count</a:t>
                      </a:r>
                      <a:endParaRPr sz="1600"/>
                    </a:p>
                  </a:txBody>
                  <a:tcPr marL="109728" marR="109728" marT="64008" marB="45720" anchor="t">
                    <a:lnL w="0" cmpd="sng">
                      <a:noFill/>
                    </a:lnL>
                    <a:lnR w="0" cmpd="sng">
                      <a:noFill/>
                    </a:lnR>
                    <a:lnT w="9525" cmpd="sng">
                      <a:noFill/>
                    </a:lnT>
                    <a:lnB w="9525" cmpd="sng">
                      <a:noFill/>
                    </a:lnB>
                    <a:solidFill>
                      <a:srgbClr val="F2F8FC"/>
                    </a:solidFill>
                  </a:tcPr>
                </a:tc>
              </a:tr>
              <a:tr h="633984">
                <a:tc>
                  <a:txBody>
                    <a:bodyPr wrap="square"/>
                    <a:lstStyle/>
                    <a:p>
                      <a:pPr algn="l"/>
                      <a:r>
                        <a:rPr sz="1600" b="1" i="0">
                          <a:solidFill>
                            <a:srgbClr val="1C252B"/>
                          </a:solidFill>
                          <a:latin typeface="Segoe UI"/>
                        </a:rPr>
                        <a:t>balloon</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The hypervisor is reclaiming memory from this guest</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any sustained value</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Reduce overcommit before it reaches swap</a:t>
                      </a:r>
                      <a:endParaRPr sz="1600"/>
                    </a:p>
                  </a:txBody>
                  <a:tcPr marL="109728" marR="109728" marT="64008" marB="45720" anchor="t">
                    <a:lnL w="0" cmpd="sng">
                      <a:noFill/>
                    </a:lnL>
                    <a:lnR w="0" cmpd="sng">
                      <a:noFill/>
                    </a:lnR>
                    <a:lnT w="9525" cmpd="sng">
                      <a:noFill/>
                    </a:lnT>
                    <a:lnB w="9525" cmpd="sng">
                      <a:noFill/>
                    </a:lnB>
                    <a:solidFill>
                      <a:srgbClr val="FFFFFF"/>
                    </a:solidFill>
                  </a:tcPr>
                </a:tc>
              </a:tr>
              <a:tr h="633984">
                <a:tc>
                  <a:txBody>
                    <a:bodyPr wrap="square"/>
                    <a:lstStyle/>
                    <a:p>
                      <a:pPr algn="l"/>
                      <a:r>
                        <a:rPr sz="1600" b="1" i="0">
                          <a:solidFill>
                            <a:srgbClr val="1C252B"/>
                          </a:solidFill>
                          <a:latin typeface="Segoe UI"/>
                        </a:rPr>
                        <a:t>host swap-in</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The hypervisor is reading guest memory back from disk</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1" i="0">
                          <a:solidFill>
                            <a:srgbClr val="1C252B"/>
                          </a:solidFill>
                          <a:latin typeface="Segoe UI"/>
                        </a:rPr>
                        <a:t>any</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Emergency. Migrate guests off now</a:t>
                      </a:r>
                      <a:endParaRPr sz="1600"/>
                    </a:p>
                  </a:txBody>
                  <a:tcPr marL="109728" marR="109728" marT="64008" marB="45720" anchor="t">
                    <a:lnL w="0" cmpd="sng">
                      <a:noFill/>
                    </a:lnL>
                    <a:lnR w="0" cmpd="sng">
                      <a:noFill/>
                    </a:lnR>
                    <a:lnT w="9525" cmpd="sng">
                      <a:noFill/>
                    </a:lnT>
                    <a:lnB w="9525" cmpd="sng">
                      <a:noFill/>
                    </a:lnB>
                    <a:solidFill>
                      <a:srgbClr val="F2F8FC"/>
                    </a:solidFill>
                  </a:tcPr>
                </a:tc>
              </a:tr>
              <a:tr h="633984">
                <a:tc>
                  <a:txBody>
                    <a:bodyPr wrap="square"/>
                    <a:lstStyle/>
                    <a:p>
                      <a:pPr algn="l"/>
                      <a:r>
                        <a:rPr sz="1600" b="1" i="0">
                          <a:solidFill>
                            <a:srgbClr val="1C252B"/>
                          </a:solidFill>
                          <a:latin typeface="Segoe UI"/>
                        </a:rPr>
                        <a:t>device latency</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Storage or network is the constraint, not the host</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depends on media</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Look below the hypervisor</a:t>
                      </a:r>
                      <a:endParaRPr sz="1600"/>
                    </a:p>
                  </a:txBody>
                  <a:tcPr marL="109728" marR="109728" marT="64008" marB="45720" anchor="t">
                    <a:lnL w="0" cmpd="sng">
                      <a:noFill/>
                    </a:lnL>
                    <a:lnR w="0" cmpd="sng">
                      <a:noFill/>
                    </a:lnR>
                    <a:lnT w="9525" cmpd="sng">
                      <a:noFill/>
                    </a:lnT>
                    <a:lnB w="9525" cmpd="sng">
                      <a:noFill/>
                    </a:lnB>
                    <a:solidFill>
                      <a:srgbClr val="FFFFFF"/>
                    </a:solidFill>
                  </a:tcPr>
                </a:tc>
              </a:tr>
              <a:tr h="633984">
                <a:tc>
                  <a:txBody>
                    <a:bodyPr wrap="square"/>
                    <a:lstStyle/>
                    <a:p>
                      <a:pPr algn="l"/>
                      <a:r>
                        <a:rPr sz="1600" b="1" i="0">
                          <a:solidFill>
                            <a:srgbClr val="1C252B"/>
                          </a:solidFill>
                          <a:latin typeface="Segoe UI"/>
                        </a:rPr>
                        <a:t>%SYS on the host</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600" b="0" i="0">
                          <a:solidFill>
                            <a:srgbClr val="1C252B"/>
                          </a:solidFill>
                          <a:latin typeface="Segoe UI"/>
                        </a:rPr>
                        <a:t>The hypervisor itself is busy — often device emulation</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600" b="0" i="0">
                          <a:solidFill>
                            <a:srgbClr val="1C252B"/>
                          </a:solidFill>
                          <a:latin typeface="Cambria"/>
                        </a:rPr>
                        <a:t>&gt;10%</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600" b="0" i="0">
                          <a:solidFill>
                            <a:srgbClr val="1C252B"/>
                          </a:solidFill>
                          <a:latin typeface="Segoe UI"/>
                        </a:rPr>
                        <a:t>Check for emulated devices (Chapter 7)</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2268222"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Utilisation is not saturation, and the difference is the whole job</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18  ·  Performance Monitoring and Capacity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§18.2  ·  Handout p. 142     </a:t>
            </a:r>
            <a:fld id="{4C011052-6954-4E9E-AD4C-6225D1E6C64A}" type="slidenum">
              <a:rPr lang="en-GB" sz="1000">
                <a:solidFill>
                  <a:srgbClr val="8795A1"/>
                </a:solidFill>
                <a:latin typeface="Segoe UI"/>
              </a:rPr>
              <a:t>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16044"/>
          </a:xfrm>
          <a:prstGeom prst="roundRect">
            <a:avLst>
              <a:gd name="adj" fmla="val 2070"/>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16044"/>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 resource at 100% utilisation is </a:t>
            </a:r>
            <a:r>
              <a:rPr sz="2200" b="0" i="1">
                <a:solidFill>
                  <a:srgbClr val="1C252B"/>
                </a:solidFill>
                <a:latin typeface="Segoe UI"/>
              </a:rPr>
              <a:t>fully used</a:t>
            </a:r>
            <a:r>
              <a:rPr sz="2200" b="0" i="0">
                <a:solidFill>
                  <a:srgbClr val="1C252B"/>
                </a:solidFill>
                <a:latin typeface="Segoe UI"/>
              </a:rPr>
              <a:t>. A resource that is </a:t>
            </a:r>
            <a:r>
              <a:rPr sz="2200" b="0" i="1">
                <a:solidFill>
                  <a:srgbClr val="1C252B"/>
                </a:solidFill>
                <a:latin typeface="Segoe UI"/>
              </a:rPr>
              <a:t>saturated</a:t>
            </a:r>
            <a:r>
              <a:rPr sz="2200" b="0" i="0">
                <a:solidFill>
                  <a:srgbClr val="1C252B"/>
                </a:solidFill>
                <a:latin typeface="Segoe UI"/>
              </a:rPr>
              <a:t> has a queue. They are not the same, and only the second is a problem.</a:t>
            </a:r>
          </a:p>
        </p:txBody>
      </p:sp>
      <p:sp>
        <p:nvSpPr>
          <p:cNvPr id="10" name="body-1"/>
          <p:cNvSpPr txBox="1"/>
          <p:nvPr/>
        </p:nvSpPr>
        <p:spPr>
          <a:xfrm>
            <a:off x="1060704" y="2899308"/>
            <a:ext cx="10161727"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 disk at 100% utilisation with a queue depth of 1 is working perfectly — it has exactly enough work. The same disk at 100% with a queue depth of 40 has forty requests waiting, and every one of them is experiencing latency it did not have an hour ago.</a:t>
            </a:r>
          </a:p>
        </p:txBody>
      </p:sp>
      <p:sp>
        <p:nvSpPr>
          <p:cNvPr id="11" name="body-2"/>
          <p:cNvSpPr txBox="1"/>
          <p:nvPr/>
        </p:nvSpPr>
        <p:spPr>
          <a:xfrm>
            <a:off x="1060704" y="4447743"/>
            <a:ext cx="10161727"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So the useful triple for any resource is </a:t>
            </a:r>
            <a:r>
              <a:rPr sz="2200" b="1" i="0">
                <a:solidFill>
                  <a:srgbClr val="1C252B"/>
                </a:solidFill>
                <a:latin typeface="Segoe UI"/>
              </a:rPr>
              <a:t>utilisation, saturation, errors</a:t>
            </a:r>
            <a:r>
              <a:rPr sz="2200" b="0" i="0">
                <a:solidFill>
                  <a:srgbClr val="1C252B"/>
                </a:solidFill>
                <a:latin typeface="Segoe UI"/>
              </a:rPr>
              <a:t> — Brendan Gregg’s USE method. Dashboards almost always show the first, sometimes the third and rarely the second, which is why so many estates are described as healthy while the people using them disagree.</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2551750"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Why the Mean Is the Wrong Number</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7D7D0"/>
                </a:solidFill>
                <a:latin typeface="Segoe UI"/>
              </a:rPr>
              <a:t>SECTION 3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18.3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18.1   The Guest Is an Unreliable Witness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18.2   The Counters That Matter</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07964"/>
                </a:solidFill>
                <a:latin typeface="Segoe UI"/>
              </a:rPr>
              <a:t>18.3   Why the Mean Is the Wrong Number</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18.4   Benchmarking Honestly</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18.5   Capacity Planning</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18</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§18.3     </a:t>
            </a:r>
            <a:fld id="{F7D48B0A-756D-4907-9580-4C6436480CEA}" type="slidenum">
              <a:rPr lang="en-GB" sz="1000">
                <a:solidFill>
                  <a:srgbClr val="8795A1"/>
                </a:solidFill>
                <a:latin typeface="Segoe UI"/>
              </a:rPr>
              <a:t>10</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283527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 real latency distribution</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07964"/>
                </a:solidFill>
                <a:latin typeface="Segoe UI"/>
              </a:rPr>
              <a:t>FIGURE 18.1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18  ·  Performance Monitoring and Capacity Planning</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§18.3  ·  Handout p. 142     </a:t>
            </a:r>
            <a:fld id="{E600D979-6F55-4BE5-9302-CF4BEC4B3C2F}" type="slidenum">
              <a:rPr lang="en-GB" sz="1000">
                <a:solidFill>
                  <a:srgbClr val="8795A1"/>
                </a:solidFill>
                <a:latin typeface="Segoe UI"/>
              </a:rPr>
              <a:t>11</a:t>
            </a:fld>
          </a:p>
        </p:txBody>
      </p:sp>
      <p:pic>
        <p:nvPicPr>
          <p:cNvPr id="6" name="!!figure" descr="Figure 18.1. A real latency distribution. The mean sits below almost all of the mass, and every pathology in this book lives to the right of it."/>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801611" y="1737360"/>
            <a:ext cx="8588472" cy="4009948"/>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930188"/>
            <a:ext cx="54864" cy="306019"/>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911900"/>
            <a:ext cx="10600639" cy="48889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mean sits below almost all of the mass, and every pathology in this book lives to the right of it.</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3118805"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Is This the Neighbours, or Is It Us?</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18  ·  Performance Monitoring and Capacity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§18.3  ·  Handout p. 142     </a:t>
            </a:r>
            <a:fld id="{1B979B1B-6647-4D3F-B146-3352B1B5D9A6}" type="slidenum">
              <a:rPr lang="en-GB" sz="1000">
                <a:solidFill>
                  <a:srgbClr val="8795A1"/>
                </a:solidFill>
                <a:latin typeface="Segoe UI"/>
              </a:rPr>
              <a:t>12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96029"/>
          </a:xfrm>
          <a:prstGeom prst="roundRect">
            <a:avLst>
              <a:gd name="adj" fmla="val 2128"/>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9602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team reports their application has become slow. Nothing was deployed. The guest’s own dashboard shows CPU at 38%, memory at 55% and “no problems”. Decide where the fault is.</a:t>
            </a:r>
          </a:p>
        </p:txBody>
      </p:sp>
      <p:sp>
        <p:nvSpPr>
          <p:cNvPr id="10" name="body-1"/>
          <p:cNvSpPr txBox="1"/>
          <p:nvPr/>
        </p:nvSpPr>
        <p:spPr>
          <a:xfrm>
            <a:off x="1042416" y="2746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1 — the guest’s own figures are consistent with both explanations</a:t>
            </a:r>
            <a:r>
              <a:rPr sz="1900" b="0" i="0">
                <a:solidFill>
                  <a:srgbClr val="1C252B"/>
                </a:solidFill>
                <a:latin typeface="Segoe UI"/>
              </a:rPr>
              <a:t>, so they settle nothing. Go to the host.</a:t>
            </a:r>
          </a:p>
        </p:txBody>
      </p:sp>
      <p:sp>
        <p:nvSpPr>
          <p:cNvPr id="11" name="body-2"/>
          <p:cNvSpPr txBox="1"/>
          <p:nvPr/>
        </p:nvSpPr>
        <p:spPr>
          <a:xfrm>
            <a:off x="1042416" y="3481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2 — host counters for this guest.</a:t>
            </a:r>
          </a:p>
        </p:txBody>
      </p:sp>
      <p:sp>
        <p:nvSpPr>
          <p:cNvPr id="12" name="body-3"/>
          <p:cNvSpPr txBox="1"/>
          <p:nvPr/>
        </p:nvSpPr>
        <p:spPr>
          <a:xfrm>
            <a:off x="1042416" y="3915537"/>
            <a:ext cx="10234879" cy="1889251"/>
          </a:xfrm>
          <a:prstGeom prst="rect">
            <a:avLst/>
          </a:prstGeom>
          <a:noFill/>
        </p:spPr>
        <p:txBody>
          <a:bodyPr wrap="square" anchor="t" lIns="0" rIns="0" tIns="0" bIns="0">
            <a:noAutofit/>
          </a:bodyPr>
          <a:lstStyle/>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%RDY: 16% (was 3% a month ago)</a:t>
            </a:r>
          </a:p>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co-stop: 1% — not a wide-guest problem</a:t>
            </a:r>
          </a:p>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balloon: 0 — memory is not being reclaimed</a:t>
            </a:r>
          </a:p>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host swap-in: 0 — not an emergency</a:t>
            </a:r>
          </a:p>
          <a:p>
            <a:pPr algn="l" marL="212450" indent="-212450">
              <a:lnSpc>
                <a:spcPct val="104000"/>
              </a:lnSpc>
              <a:spcBef>
                <a:spcPts val="0"/>
              </a:spcBef>
              <a:spcAft>
                <a:spcPts val="0"/>
              </a:spcAft>
            </a:pPr>
            <a:r>
              <a:rPr sz="1900" b="1">
                <a:solidFill>
                  <a:srgbClr val="7D6608"/>
                </a:solidFill>
                <a:latin typeface="Segoe UI"/>
              </a:rPr>
              <a:t>•	</a:t>
            </a:r>
            <a:r>
              <a:rPr sz="1900" b="0" i="0">
                <a:solidFill>
                  <a:srgbClr val="1C252B"/>
                </a:solidFill>
                <a:latin typeface="Segoe UI"/>
              </a:rPr>
              <a:t>storage latency: 2 ms — normal</a:t>
            </a:r>
          </a:p>
        </p:txBody>
      </p:sp>
      <p:sp>
        <p:nvSpPr>
          <p:cNvPr id="3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pfill">
            <a:extLst>
              <a:ext uri="{C183D7F6-B498-43B3-948B-1728B52AA6E4}">
                <adec:decorative xmlns:adec="http://schemas.microsoft.com/office/drawing/2017/decorative" val="1"/>
              </a:ext>
            </a:extLst>
          </p:cNvPr>
          <p:cNvSpPr/>
          <p:nvPr/>
        </p:nvSpPr>
        <p:spPr>
          <a:xfrm>
            <a:off x="0" y="0"/>
            <a:ext cx="340233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2">
                                            <p:txEl>
                                              <p:pRg st="0" end="0"/>
                                            </p:txEl>
                                          </p:spTgt>
                                        </p:tgtEl>
                                        <p:attrNameLst>
                                          <p:attrName>style.visibility</p:attrName>
                                        </p:attrNameLst>
                                      </p:cBhvr>
                                      <p:to>
                                        <p:strVal val="visible"/>
                                      </p:to>
                                    </p:set>
                                    <p:animEffect transition="in" filter="fade">
                                      <p:cBhvr>
                                        <p:cTn id="18" dur="350"/>
                                        <p:tgtEl>
                                          <p:spTgt spid="12">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2">
                                            <p:txEl>
                                              <p:pRg st="1" end="1"/>
                                            </p:txEl>
                                          </p:spTgt>
                                        </p:tgtEl>
                                        <p:attrNameLst>
                                          <p:attrName>style.visibility</p:attrName>
                                        </p:attrNameLst>
                                      </p:cBhvr>
                                      <p:to>
                                        <p:strVal val="visible"/>
                                      </p:to>
                                    </p:set>
                                    <p:animEffect transition="in" filter="fade">
                                      <p:cBhvr>
                                        <p:cTn id="23" dur="350"/>
                                        <p:tgtEl>
                                          <p:spTgt spid="12">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2">
                                            <p:txEl>
                                              <p:pRg st="2" end="2"/>
                                            </p:txEl>
                                          </p:spTgt>
                                        </p:tgtEl>
                                        <p:attrNameLst>
                                          <p:attrName>style.visibility</p:attrName>
                                        </p:attrNameLst>
                                      </p:cBhvr>
                                      <p:to>
                                        <p:strVal val="visible"/>
                                      </p:to>
                                    </p:set>
                                    <p:animEffect transition="in" filter="fade">
                                      <p:cBhvr>
                                        <p:cTn id="28" dur="350"/>
                                        <p:tgtEl>
                                          <p:spTgt spid="12">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2">
                                            <p:txEl>
                                              <p:pRg st="3" end="3"/>
                                            </p:txEl>
                                          </p:spTgt>
                                        </p:tgtEl>
                                        <p:attrNameLst>
                                          <p:attrName>style.visibility</p:attrName>
                                        </p:attrNameLst>
                                      </p:cBhvr>
                                      <p:to>
                                        <p:strVal val="visible"/>
                                      </p:to>
                                    </p:set>
                                    <p:animEffect transition="in" filter="fade">
                                      <p:cBhvr>
                                        <p:cTn id="33" dur="350"/>
                                        <p:tgtEl>
                                          <p:spTgt spid="12">
                                            <p:txEl>
                                              <p:pRg st="3" end="3"/>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2">
                                            <p:txEl>
                                              <p:pRg st="4" end="4"/>
                                            </p:txEl>
                                          </p:spTgt>
                                        </p:tgtEl>
                                        <p:attrNameLst>
                                          <p:attrName>style.visibility</p:attrName>
                                        </p:attrNameLst>
                                      </p:cBhvr>
                                      <p:to>
                                        <p:strVal val="visible"/>
                                      </p:to>
                                    </p:set>
                                    <p:animEffect transition="in" filter="fade">
                                      <p:cBhvr>
                                        <p:cTn id="38" dur="350"/>
                                        <p:tgtEl>
                                          <p:spTgt spid="1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Is This the Neighbours, or Is It Us?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18  ·  Performance Monitoring and Capacity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§18.3  ·  Handout p. 142     </a:t>
            </a:r>
            <a:fld id="{4FEC8B09-223D-4875-9E15-6002B4B42157}" type="slidenum">
              <a:rPr lang="en-GB" sz="1000">
                <a:solidFill>
                  <a:srgbClr val="8795A1"/>
                </a:solidFill>
                <a:latin typeface="Segoe UI"/>
              </a:rPr>
              <a:t>13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69765"/>
          </a:xfrm>
          <a:prstGeom prst="roundRect">
            <a:avLst>
              <a:gd name="adj" fmla="val 2045"/>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69765"/>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Ready time has risen fivefold and nothing else has moved. The guest is not being given a processor.</a:t>
            </a:r>
          </a:p>
        </p:txBody>
      </p:sp>
      <p:sp>
        <p:nvSpPr>
          <p:cNvPr id="10" name="body-1"/>
          <p:cNvSpPr txBox="1"/>
          <p:nvPr/>
        </p:nvSpPr>
        <p:spPr>
          <a:xfrm>
            <a:off x="1042416" y="2746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3 — is it this guest’s fault?</a:t>
            </a:r>
            <a:r>
              <a:rPr sz="1900" b="0" i="0">
                <a:solidFill>
                  <a:srgbClr val="1C252B"/>
                </a:solidFill>
                <a:latin typeface="Segoe UI"/>
              </a:rPr>
              <a:t> Its own vCPU count has not changed. So either the host gained work, or the other guests did.</a:t>
            </a:r>
          </a:p>
        </p:txBody>
      </p:sp>
      <p:sp>
        <p:nvSpPr>
          <p:cNvPr id="11" name="body-1bar">
            <a:extLst>
              <a:ext uri="{C183D7F6-B498-43B3-948B-1728B52AA6E4}">
                <adec:decorative xmlns:adec="http://schemas.microsoft.com/office/drawing/2017/decorative" val="1"/>
              </a:ext>
            </a:extLst>
          </p:cNvPr>
          <p:cNvSpPr/>
          <p:nvPr/>
        </p:nvSpPr>
        <p:spPr>
          <a:xfrm>
            <a:off x="841248" y="2764967"/>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body-2"/>
          <p:cNvSpPr txBox="1"/>
          <p:nvPr/>
        </p:nvSpPr>
        <p:spPr>
          <a:xfrm>
            <a:off x="1042416" y="3481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4 — the host’s arithmetic, then and now.</a:t>
            </a:r>
            <a:r>
              <a:rPr sz="1900" b="0" i="0">
                <a:solidFill>
                  <a:srgbClr val="1C252B"/>
                </a:solidFill>
                <a:latin typeface="Segoe UI"/>
              </a:rPr>
              <a:t> 64 cores.</a:t>
            </a:r>
          </a:p>
        </p:txBody>
      </p:sp>
      <p:sp>
        <p:nvSpPr>
          <p:cNvPr id="13" name="body-2bar">
            <a:extLst>
              <a:ext uri="{C183D7F6-B498-43B3-948B-1728B52AA6E4}">
                <adec:decorative xmlns:adec="http://schemas.microsoft.com/office/drawing/2017/decorative" val="1"/>
              </a:ext>
            </a:extLst>
          </p:cNvPr>
          <p:cNvSpPr/>
          <p:nvPr/>
        </p:nvSpPr>
        <p:spPr>
          <a:xfrm>
            <a:off x="841248" y="3499967"/>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4" name="body-3" descr="\text{a month ago: } \sigma = \frac{112}{64} = 1.75 \qquad \text{now: } \sigma = \frac{168}{64} = \mathbf{2.63}"/>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3915537"/>
            <a:ext cx="10234879" cy="547268"/>
          </a:xfrm>
          <a:prstGeom prst="rect">
            <a:avLst/>
          </a:prstGeom>
        </p:spPr>
      </p:pic>
      <p:sp>
        <p:nvSpPr>
          <p:cNvPr id="15" name="body-4"/>
          <p:cNvSpPr txBox="1"/>
          <p:nvPr/>
        </p:nvSpPr>
        <p:spPr>
          <a:xfrm>
            <a:off x="1042416" y="4595520"/>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Fourteen guests of 4 vCPUs were added to the host since. </a:t>
            </a:r>
            <a:r>
              <a:rPr sz="1900" b="1" i="0">
                <a:solidFill>
                  <a:srgbClr val="1C252B"/>
                </a:solidFill>
                <a:latin typeface="Segoe UI"/>
              </a:rPr>
              <a:t>This is a noisy-neighbour problem</a:t>
            </a:r>
            <a:r>
              <a:rPr sz="1900" b="0" i="0">
                <a:solidFill>
                  <a:srgbClr val="1C252B"/>
                </a:solidFill>
                <a:latin typeface="Segoe UI"/>
              </a:rPr>
              <a:t>: nothing about the complaining application changed, and the resource it depends on was divided more ways.</a:t>
            </a:r>
          </a:p>
        </p:txBody>
      </p:sp>
      <p:sp>
        <p:nvSpPr>
          <p:cNvPr id="16" name="body-5"/>
          <p:cNvSpPr txBox="1"/>
          <p:nvPr/>
        </p:nvSpPr>
        <p:spPr>
          <a:xfrm>
            <a:off x="1042416" y="5631662"/>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5 — confirm it, do not assume it.</a:t>
            </a:r>
            <a:r>
              <a:rPr sz="1900" b="0" i="0">
                <a:solidFill>
                  <a:srgbClr val="1C252B"/>
                </a:solidFill>
                <a:latin typeface="Segoe UI"/>
              </a:rPr>
              <a:t> Two checks that distinguish the diagnoses:</a:t>
            </a:r>
          </a:p>
        </p:txBody>
      </p:sp>
      <p:sp>
        <p:nvSpPr>
          <p:cNvPr id="17" name="body-5bar">
            <a:extLst>
              <a:ext uri="{C183D7F6-B498-43B3-948B-1728B52AA6E4}">
                <adec:decorative xmlns:adec="http://schemas.microsoft.com/office/drawing/2017/decorative" val="1"/>
              </a:ext>
            </a:extLst>
          </p:cNvPr>
          <p:cNvSpPr/>
          <p:nvPr/>
        </p:nvSpPr>
        <p:spPr>
          <a:xfrm>
            <a:off x="841248" y="5649950"/>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pfill">
            <a:extLst>
              <a:ext uri="{C183D7F6-B498-43B3-948B-1728B52AA6E4}">
                <adec:decorative xmlns:adec="http://schemas.microsoft.com/office/drawing/2017/decorative" val="1"/>
              </a:ext>
            </a:extLst>
          </p:cNvPr>
          <p:cNvSpPr/>
          <p:nvPr/>
        </p:nvSpPr>
        <p:spPr>
          <a:xfrm>
            <a:off x="0" y="0"/>
            <a:ext cx="368586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2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wipe(right)">
                                      <p:cBhvr>
                                        <p:cTn id="21" dur="42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20"/>
                                        <p:tgtEl>
                                          <p:spTgt spid="12"/>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wipe(right)">
                                      <p:cBhvr>
                                        <p:cTn id="29" dur="420"/>
                                        <p:tgtEl>
                                          <p:spTgt spid="14"/>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wipe(right)">
                                      <p:cBhvr>
                                        <p:cTn id="34" dur="420"/>
                                        <p:tgtEl>
                                          <p:spTgt spid="15"/>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wipe(right)">
                                      <p:cBhvr>
                                        <p:cTn id="39" dur="420"/>
                                        <p:tgtEl>
                                          <p:spTgt spid="1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42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Is This the Neighbours, or Is It Us?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18  ·  Performance Monitoring and Capacity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§18.3  ·  Handout p. 142     </a:t>
            </a:r>
            <a:fld id="{BFDE3DF0-E68D-4BA3-AE41-54547C05A52F}" type="slidenum">
              <a:rPr lang="en-GB" sz="1000">
                <a:solidFill>
                  <a:srgbClr val="8795A1"/>
                </a:solidFill>
                <a:latin typeface="Segoe UI"/>
              </a:rPr>
              <a:t>14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909949"/>
          </a:xfrm>
          <a:prstGeom prst="roundRect">
            <a:avLst>
              <a:gd name="adj" fmla="val 2338"/>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90994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1334744"/>
          </a:xfrm>
          <a:prstGeom prst="rect">
            <a:avLst/>
          </a:prstGeom>
          <a:noFill/>
        </p:spPr>
        <p:txBody>
          <a:bodyPr wrap="square" anchor="t" lIns="0" rIns="0" tIns="0" bIns="0">
            <a:noAutofit/>
          </a:bodyPr>
          <a:lstStyle/>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Compare %RDY across </a:t>
            </a:r>
            <a:r>
              <a:rPr sz="1900" b="0" i="1">
                <a:solidFill>
                  <a:srgbClr val="1C252B"/>
                </a:solidFill>
                <a:latin typeface="Segoe UI"/>
              </a:rPr>
              <a:t>all</a:t>
            </a:r>
            <a:r>
              <a:rPr sz="1900" b="0" i="0">
                <a:solidFill>
                  <a:srgbClr val="1C252B"/>
                </a:solidFill>
                <a:latin typeface="Segoe UI"/>
              </a:rPr>
              <a:t> guests on the host. If only this one is high, it is the guest. If all are high, it is the host.</a:t>
            </a:r>
          </a:p>
          <a:p>
            <a:pPr algn="l" marL="212450" indent="-212450">
              <a:lnSpc>
                <a:spcPct val="104000"/>
              </a:lnSpc>
              <a:spcBef>
                <a:spcPts val="0"/>
              </a:spcBef>
              <a:spcAft>
                <a:spcPts val="0"/>
              </a:spcAft>
            </a:pPr>
            <a:r>
              <a:rPr sz="1900" b="1">
                <a:solidFill>
                  <a:srgbClr val="7D6608"/>
                </a:solidFill>
                <a:latin typeface="Segoe UI"/>
              </a:rPr>
              <a:t>•	</a:t>
            </a:r>
            <a:r>
              <a:rPr sz="1900" b="0" i="0">
                <a:solidFill>
                  <a:srgbClr val="1C252B"/>
                </a:solidFill>
                <a:latin typeface="Segoe UI"/>
              </a:rPr>
              <a:t>Migrate the guest to a quiet host and measure again. If it recovers with no other change, the question is settled.</a:t>
            </a:r>
          </a:p>
        </p:txBody>
      </p:sp>
      <p:sp>
        <p:nvSpPr>
          <p:cNvPr id="10" name="body-1"/>
          <p:cNvSpPr txBox="1"/>
          <p:nvPr/>
        </p:nvSpPr>
        <p:spPr>
          <a:xfrm>
            <a:off x="1042416" y="343341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6 — what the fix is, and what it is not.</a:t>
            </a:r>
            <a:r>
              <a:rPr sz="1900" b="0" i="0">
                <a:solidFill>
                  <a:srgbClr val="1C252B"/>
                </a:solidFill>
                <a:latin typeface="Segoe UI"/>
              </a:rPr>
              <a:t> Adding vCPUs to the complaining guest would make it worse (Chapter 6). The options are to rebalance the host, to right-size the fourteen new guests, or to add hosts.</a:t>
            </a:r>
          </a:p>
        </p:txBody>
      </p:sp>
      <p:sp>
        <p:nvSpPr>
          <p:cNvPr id="11" name="body-1bar">
            <a:extLst>
              <a:ext uri="{C183D7F6-B498-43B3-948B-1728B52AA6E4}">
                <adec:decorative xmlns:adec="http://schemas.microsoft.com/office/drawing/2017/decorative" val="1"/>
              </a:ext>
            </a:extLst>
          </p:cNvPr>
          <p:cNvSpPr/>
          <p:nvPr/>
        </p:nvSpPr>
        <p:spPr>
          <a:xfrm>
            <a:off x="841248" y="3451707"/>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body-2"/>
          <p:cNvSpPr txBox="1"/>
          <p:nvPr/>
        </p:nvSpPr>
        <p:spPr>
          <a:xfrm>
            <a:off x="1042416" y="4469561"/>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7 — the real failure.</a:t>
            </a:r>
            <a:r>
              <a:rPr sz="1900" b="0" i="0">
                <a:solidFill>
                  <a:srgbClr val="1C252B"/>
                </a:solidFill>
                <a:latin typeface="Segoe UI"/>
              </a:rPr>
              <a:t> Nobody checked the host’s %RDY before adding the fourteen guests. The capacity decision was made on </a:t>
            </a:r>
            <a:r>
              <a:rPr sz="1900" b="0" i="1">
                <a:solidFill>
                  <a:srgbClr val="1C252B"/>
                </a:solidFill>
                <a:latin typeface="Segoe UI"/>
              </a:rPr>
              <a:t>allocated</a:t>
            </a:r>
            <a:r>
              <a:rPr sz="1900" b="0" i="0">
                <a:solidFill>
                  <a:srgbClr val="1C252B"/>
                </a:solidFill>
                <a:latin typeface="Segoe UI"/>
              </a:rPr>
              <a:t> vCPUs, which looked fine, instead of on </a:t>
            </a:r>
            <a:r>
              <a:rPr sz="1900" b="0" i="1">
                <a:solidFill>
                  <a:srgbClr val="1C252B"/>
                </a:solidFill>
                <a:latin typeface="Segoe UI"/>
              </a:rPr>
              <a:t>contention</a:t>
            </a:r>
            <a:r>
              <a:rPr sz="1900" b="0" i="0">
                <a:solidFill>
                  <a:srgbClr val="1C252B"/>
                </a:solidFill>
                <a:latin typeface="Segoe UI"/>
              </a:rPr>
              <a:t>, which did not. The next section is how to not do that.</a:t>
            </a:r>
          </a:p>
        </p:txBody>
      </p:sp>
      <p:sp>
        <p:nvSpPr>
          <p:cNvPr id="13" name="body-2bar">
            <a:extLst>
              <a:ext uri="{C183D7F6-B498-43B3-948B-1728B52AA6E4}">
                <adec:decorative xmlns:adec="http://schemas.microsoft.com/office/drawing/2017/decorative" val="1"/>
              </a:ext>
            </a:extLst>
          </p:cNvPr>
          <p:cNvSpPr/>
          <p:nvPr/>
        </p:nvSpPr>
        <p:spPr>
          <a:xfrm>
            <a:off x="841248" y="4487849"/>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1" name="!!pfill">
            <a:extLst>
              <a:ext uri="{C183D7F6-B498-43B3-948B-1728B52AA6E4}">
                <adec:decorative xmlns:adec="http://schemas.microsoft.com/office/drawing/2017/decorative" val="1"/>
              </a:ext>
            </a:extLst>
          </p:cNvPr>
          <p:cNvSpPr/>
          <p:nvPr/>
        </p:nvSpPr>
        <p:spPr>
          <a:xfrm>
            <a:off x="0" y="0"/>
            <a:ext cx="396938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5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5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wipe(right)">
                                      <p:cBhvr>
                                        <p:cTn id="18" dur="420"/>
                                        <p:tgtEl>
                                          <p:spTgt spid="1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420"/>
                                        <p:tgtEl>
                                          <p:spTgt spid="1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wipe(right)">
                                      <p:cBhvr>
                                        <p:cTn id="26" dur="420"/>
                                        <p:tgtEl>
                                          <p:spTgt spid="1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42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Five Ways a Virtualized Benchmark Lies</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18  ·  Performance Monitoring and Capacity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§18.4  ·  Handout p. 144     </a:t>
            </a:r>
            <a:fld id="{1952DFE6-4054-45CE-9DAB-3DF686E83FE8}" type="slidenum">
              <a:rPr lang="en-GB" sz="1000">
                <a:solidFill>
                  <a:srgbClr val="8795A1"/>
                </a:solidFill>
                <a:latin typeface="Segoe UI"/>
              </a:rPr>
              <a:t>15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76115"/>
          </a:xfrm>
          <a:prstGeom prst="roundRect">
            <a:avLst>
              <a:gd name="adj" fmla="val 2138"/>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76115"/>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3311855"/>
          </a:xfrm>
          <a:prstGeom prst="rect">
            <a:avLst/>
          </a:prstGeom>
          <a:noFill/>
        </p:spPr>
        <p:txBody>
          <a:bodyPr wrap="square" anchor="t" lIns="0" rIns="0" tIns="0" bIns="0">
            <a:noAutofit/>
          </a:bodyPr>
          <a:lstStyle/>
          <a:p>
            <a:pPr algn="l" marL="190086" indent="-190086">
              <a:lnSpc>
                <a:spcPct val="104000"/>
              </a:lnSpc>
              <a:spcBef>
                <a:spcPts val="0"/>
              </a:spcBef>
              <a:spcAft>
                <a:spcPts val="594"/>
              </a:spcAft>
            </a:pPr>
            <a:r>
              <a:rPr sz="1700" b="1">
                <a:solidFill>
                  <a:srgbClr val="1F618D"/>
                </a:solidFill>
                <a:latin typeface="Segoe UI"/>
              </a:rPr>
              <a:t>•	</a:t>
            </a:r>
            <a:r>
              <a:rPr sz="1700" b="1" i="0">
                <a:solidFill>
                  <a:srgbClr val="1F618D"/>
                </a:solidFill>
                <a:latin typeface="Segoe UI"/>
              </a:rPr>
              <a:t>The neighbours.</a:t>
            </a:r>
            <a:r>
              <a:rPr sz="1700" b="0" i="0">
                <a:solidFill>
                  <a:srgbClr val="1C252B"/>
                </a:solidFill>
                <a:latin typeface="Segoe UI"/>
              </a:rPr>
              <a:t> The host is shared, so your result depends on what everyone else was doing. Run the measurement several times across different hours and report the distribution, not one figure.</a:t>
            </a:r>
          </a:p>
          <a:p>
            <a:pPr algn="l" marL="190086" indent="-190086">
              <a:lnSpc>
                <a:spcPct val="104000"/>
              </a:lnSpc>
              <a:spcBef>
                <a:spcPts val="0"/>
              </a:spcBef>
              <a:spcAft>
                <a:spcPts val="594"/>
              </a:spcAft>
            </a:pPr>
            <a:r>
              <a:rPr sz="1700" b="1">
                <a:solidFill>
                  <a:srgbClr val="1F618D"/>
                </a:solidFill>
                <a:latin typeface="Segoe UI"/>
              </a:rPr>
              <a:t>•	</a:t>
            </a:r>
            <a:r>
              <a:rPr sz="1700" b="1" i="0">
                <a:solidFill>
                  <a:srgbClr val="1F618D"/>
                </a:solidFill>
                <a:latin typeface="Segoe UI"/>
              </a:rPr>
              <a:t>Timekeeping.</a:t>
            </a:r>
            <a:r>
              <a:rPr sz="1700" b="0" i="0">
                <a:solidFill>
                  <a:srgbClr val="1C252B"/>
                </a:solidFill>
                <a:latin typeface="Segoe UI"/>
              </a:rPr>
              <a:t> A descheduled guest’s clock can drift, so a benchmark measuring its own elapsed time may be measuring the hypervisor’s scheduling. Use a paravirtual clock source, and prefer timing from the host where you can.</a:t>
            </a:r>
          </a:p>
          <a:p>
            <a:pPr algn="l" marL="190086" indent="-190086">
              <a:lnSpc>
                <a:spcPct val="104000"/>
              </a:lnSpc>
              <a:spcBef>
                <a:spcPts val="0"/>
              </a:spcBef>
              <a:spcAft>
                <a:spcPts val="594"/>
              </a:spcAft>
            </a:pPr>
            <a:r>
              <a:rPr sz="1700" b="1">
                <a:solidFill>
                  <a:srgbClr val="1F618D"/>
                </a:solidFill>
                <a:latin typeface="Segoe UI"/>
              </a:rPr>
              <a:t>•	</a:t>
            </a:r>
            <a:r>
              <a:rPr sz="1700" b="1" i="0">
                <a:solidFill>
                  <a:srgbClr val="1F618D"/>
                </a:solidFill>
                <a:latin typeface="Segoe UI"/>
              </a:rPr>
              <a:t>Caching you did not account for.</a:t>
            </a:r>
            <a:r>
              <a:rPr sz="1700" b="0" i="0">
                <a:solidFill>
                  <a:srgbClr val="1C252B"/>
                </a:solidFill>
                <a:latin typeface="Segoe UI"/>
              </a:rPr>
              <a:t> The host’s page cache serves the guest’s reads. A “disk benchmark” on a 2 GB file on a host with 256 GB of RAM is a memory benchmark.</a:t>
            </a:r>
          </a:p>
          <a:p>
            <a:pPr algn="l" marL="190086" indent="-190086">
              <a:lnSpc>
                <a:spcPct val="104000"/>
              </a:lnSpc>
              <a:spcBef>
                <a:spcPts val="0"/>
              </a:spcBef>
              <a:spcAft>
                <a:spcPts val="594"/>
              </a:spcAft>
            </a:pPr>
            <a:r>
              <a:rPr sz="1700" b="1">
                <a:solidFill>
                  <a:srgbClr val="1F618D"/>
                </a:solidFill>
                <a:latin typeface="Segoe UI"/>
              </a:rPr>
              <a:t>•	</a:t>
            </a:r>
            <a:r>
              <a:rPr sz="1700" b="1" i="0">
                <a:solidFill>
                  <a:srgbClr val="1F618D"/>
                </a:solidFill>
                <a:latin typeface="Segoe UI"/>
              </a:rPr>
              <a:t>Burstable instances.</a:t>
            </a:r>
            <a:r>
              <a:rPr sz="1700" b="0" i="0">
                <a:solidFill>
                  <a:srgbClr val="1C252B"/>
                </a:solidFill>
                <a:latin typeface="Segoe UI"/>
              </a:rPr>
              <a:t> In the cloud (Chapter 14), a short benchmark runs on credits and a long one does not. The two give different answers about the same machine.</a:t>
            </a:r>
          </a:p>
          <a:p>
            <a:pPr algn="l" marL="190086" indent="-190086">
              <a:lnSpc>
                <a:spcPct val="104000"/>
              </a:lnSpc>
              <a:spcBef>
                <a:spcPts val="0"/>
              </a:spcBef>
              <a:spcAft>
                <a:spcPts val="0"/>
              </a:spcAft>
            </a:pPr>
            <a:r>
              <a:rPr sz="1700" b="1">
                <a:solidFill>
                  <a:srgbClr val="1F618D"/>
                </a:solidFill>
                <a:latin typeface="Segoe UI"/>
              </a:rPr>
              <a:t>•	</a:t>
            </a:r>
            <a:r>
              <a:rPr sz="1700" b="1" i="0">
                <a:solidFill>
                  <a:srgbClr val="1F618D"/>
                </a:solidFill>
                <a:latin typeface="Segoe UI"/>
              </a:rPr>
              <a:t>Nesting.</a:t>
            </a:r>
            <a:r>
              <a:rPr sz="1700" b="0" i="0">
                <a:solidFill>
                  <a:srgbClr val="1C252B"/>
                </a:solidFill>
                <a:latin typeface="Segoe UI"/>
              </a:rPr>
              <a:t> Anything measured in a nested guest (Chapter 4) is inflated by the outer hypervisor’s exits, by a variable amount.</a:t>
            </a:r>
          </a:p>
        </p:txBody>
      </p:sp>
      <p:sp>
        <p:nvSpPr>
          <p:cNvPr id="10" name="body-1"/>
          <p:cNvSpPr txBox="1"/>
          <p:nvPr/>
        </p:nvSpPr>
        <p:spPr>
          <a:xfrm>
            <a:off x="1060704" y="5433136"/>
            <a:ext cx="10161727" cy="315163"/>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A benchmark that does not state how it handled all five should be read as an anecdote.</a:t>
            </a:r>
          </a:p>
        </p:txBody>
      </p:sp>
      <p:sp>
        <p:nvSpPr>
          <p:cNvPr id="2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pfill">
            <a:extLst>
              <a:ext uri="{C183D7F6-B498-43B3-948B-1728B52AA6E4}">
                <adec:decorative xmlns:adec="http://schemas.microsoft.com/office/drawing/2017/decorative" val="1"/>
              </a:ext>
            </a:extLst>
          </p:cNvPr>
          <p:cNvSpPr/>
          <p:nvPr/>
        </p:nvSpPr>
        <p:spPr>
          <a:xfrm>
            <a:off x="0" y="0"/>
            <a:ext cx="4252916"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8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8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8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fade">
                                      <p:cBhvr>
                                        <p:cTn id="23" dur="380"/>
                                        <p:tgtEl>
                                          <p:spTgt spid="9">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xEl>
                                              <p:pRg st="4" end="4"/>
                                            </p:txEl>
                                          </p:spTgt>
                                        </p:tgtEl>
                                        <p:attrNameLst>
                                          <p:attrName>style.visibility</p:attrName>
                                        </p:attrNameLst>
                                      </p:cBhvr>
                                      <p:to>
                                        <p:strVal val="visible"/>
                                      </p:to>
                                    </p:set>
                                    <p:animEffect transition="in" filter="fade">
                                      <p:cBhvr>
                                        <p:cTn id="28" dur="380"/>
                                        <p:tgtEl>
                                          <p:spTgt spid="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Capacity Planning</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7D7D0"/>
                </a:solidFill>
                <a:latin typeface="Segoe UI"/>
              </a:rPr>
              <a:t>SECTION 5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18.5</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18.1   The Guest Is an Unreliable Witness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18.2   The Counters That Matter</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18.3   Why the Mean Is the Wrong Number</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18.4   Benchmarking Honestly</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07964"/>
                </a:solidFill>
                <a:latin typeface="Segoe UI"/>
              </a:rPr>
              <a:t>18.5   Capacity Planning</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18</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§18.5     </a:t>
            </a:r>
            <a:fld id="{DB4C140F-0988-4C4F-9AA0-669E834FE242}" type="slidenum">
              <a:rPr lang="en-GB" sz="1000">
                <a:solidFill>
                  <a:srgbClr val="8795A1"/>
                </a:solidFill>
                <a:latin typeface="Segoe UI"/>
              </a:rPr>
              <a:t>16</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4536444"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Why the Trigger Comes Before the Target</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18  ·  Performance Monitoring and Capacity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§18.5  ·  Handout p. 144     </a:t>
            </a:r>
            <a:fld id="{3155095B-673D-4D86-9323-AF9D3F3FFBD5}"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23969"/>
          </a:xfrm>
          <a:prstGeom prst="roundRect">
            <a:avLst>
              <a:gd name="adj" fmla="val 2164"/>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23969"/>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common mistake is to plan to a utilisation target: “we will run the cluster at 80%”. That is a destination with no mechanism.</a:t>
            </a:r>
          </a:p>
        </p:txBody>
      </p:sp>
      <p:sp>
        <p:nvSpPr>
          <p:cNvPr id="10" name="body-1"/>
          <p:cNvSpPr txBox="1"/>
          <p:nvPr/>
        </p:nvSpPr>
        <p:spPr>
          <a:xfrm>
            <a:off x="1060704" y="2937992"/>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useful form is a trigger with a lead time attached. Hardware takes — say — ten weeks to specify, approve, order, receive and install. So the trigger must be the figure reached </a:t>
            </a:r>
            <a:r>
              <a:rPr sz="2300" b="0" i="1">
                <a:solidFill>
                  <a:srgbClr val="1C252B"/>
                </a:solidFill>
                <a:latin typeface="Segoe UI"/>
              </a:rPr>
              <a:t>ten weeks before</a:t>
            </a:r>
            <a:r>
              <a:rPr sz="2300" b="0" i="0">
                <a:solidFill>
                  <a:srgbClr val="1C252B"/>
                </a:solidFill>
                <a:latin typeface="Segoe UI"/>
              </a:rPr>
              <a:t> the resource would be exhausted, computed from the measured growth rate.</a:t>
            </a:r>
          </a:p>
        </p:txBody>
      </p:sp>
      <p:sp>
        <p:nvSpPr>
          <p:cNvPr id="11" name="body-2"/>
          <p:cNvSpPr txBox="1"/>
          <p:nvPr/>
        </p:nvSpPr>
        <p:spPr>
          <a:xfrm>
            <a:off x="1060704" y="4556810"/>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That single reframing is what distinguishes a plan from a dashboard. A dashboard tells you where you are; a plan tells you when the decision was supposed to have been made.</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4819972"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 Capacity Plan From Measurements</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18  ·  Performance Monitoring and Capacity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§18.5  ·  Handout p. 144     </a:t>
            </a:r>
            <a:fld id="{617211A1-44F9-41F4-AE0B-DB9A3A89A101}" type="slidenum">
              <a:rPr lang="en-GB" sz="1000">
                <a:solidFill>
                  <a:srgbClr val="8795A1"/>
                </a:solidFill>
                <a:latin typeface="Segoe UI"/>
              </a:rPr>
              <a:t>18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159234"/>
          </a:xfrm>
          <a:prstGeom prst="roundRect">
            <a:avLst>
              <a:gd name="adj" fmla="val 2198"/>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15923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six-host cluster: 64 cores and 512 GB each. Measured over three months at the 95th percentile: 1,150 vCPUs allocated, %RDY 6.2%, memory active 2,060 GB, storage 41,000 IOPS. Growth: 4% a quarter in guests. Lead time for new hardware: 10 weeks. Produce the plan.</a:t>
            </a:r>
          </a:p>
        </p:txBody>
      </p:sp>
      <p:sp>
        <p:nvSpPr>
          <p:cNvPr id="10" name="body-1"/>
          <p:cNvSpPr txBox="1"/>
          <p:nvPr/>
        </p:nvSpPr>
        <p:spPr>
          <a:xfrm>
            <a:off x="1042416" y="3047822"/>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1 — where the cluster is now.</a:t>
            </a:r>
          </a:p>
        </p:txBody>
      </p:sp>
      <p:pic>
        <p:nvPicPr>
          <p:cNvPr id="11" name="body-2" descr="\sigma_{\text{cpu}} = \frac{1{,}150}{6 \times 64} = \frac{1{,}150}{384} = 2.99 \qquad \text{memory} = \frac{2{,}060}{6 \times 512 \times 0.85} = \frac{2{,}060}{2{,}611} = 79\%"/>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3481679"/>
            <a:ext cx="10234879" cy="586587"/>
          </a:xfrm>
          <a:prstGeom prst="rect">
            <a:avLst/>
          </a:prstGeom>
        </p:spPr>
      </p:pic>
      <p:sp>
        <p:nvSpPr>
          <p:cNvPr id="12" name="body-3"/>
          <p:cNvSpPr txBox="1"/>
          <p:nvPr/>
        </p:nvSpPr>
        <p:spPr>
          <a:xfrm>
            <a:off x="1042416" y="4200982"/>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%RDY at 6.2% is already in the band that Chapter 6 says to investigate.</a:t>
            </a:r>
          </a:p>
        </p:txBody>
      </p:sp>
      <p:sp>
        <p:nvSpPr>
          <p:cNvPr id="13" name="body-4"/>
          <p:cNvSpPr txBox="1"/>
          <p:nvPr/>
        </p:nvSpPr>
        <p:spPr>
          <a:xfrm>
            <a:off x="1042416" y="463483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2 — N+1, which is not optional.</a:t>
            </a:r>
            <a:r>
              <a:rPr sz="1900" b="0" i="0">
                <a:solidFill>
                  <a:srgbClr val="1C252B"/>
                </a:solidFill>
                <a:latin typeface="Segoe UI"/>
              </a:rPr>
              <a:t> Six hosts must survive one failing, so plan against five:</a:t>
            </a:r>
          </a:p>
        </p:txBody>
      </p:sp>
      <p:sp>
        <p:nvSpPr>
          <p:cNvPr id="14" name="body-4bar">
            <a:extLst>
              <a:ext uri="{C183D7F6-B498-43B3-948B-1728B52AA6E4}">
                <adec:decorative xmlns:adec="http://schemas.microsoft.com/office/drawing/2017/decorative" val="1"/>
              </a:ext>
            </a:extLst>
          </p:cNvPr>
          <p:cNvSpPr/>
          <p:nvPr/>
        </p:nvSpPr>
        <p:spPr>
          <a:xfrm>
            <a:off x="841248" y="4653127"/>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5" name="body-5" descr="\sigma_{\text{cpu}}\big|_{N+1} = \frac{1{,}150}{5 \times 64} = 3.59 \qquad \text{memory}\big|_{N+1} = \frac{2{,}060}{5 \times 512 \times 0.85} = 95\%"/>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2416" y="5068697"/>
            <a:ext cx="10234879" cy="553577"/>
          </a:xfrm>
          <a:prstGeom prst="rect">
            <a:avLst/>
          </a:prstGeom>
        </p:spPr>
      </p:pic>
      <p:sp>
        <p:nvSpPr>
          <p:cNvPr id="3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pfill">
            <a:extLst>
              <a:ext uri="{C183D7F6-B498-43B3-948B-1728B52AA6E4}">
                <adec:decorative xmlns:adec="http://schemas.microsoft.com/office/drawing/2017/decorative" val="1"/>
              </a:ext>
            </a:extLst>
          </p:cNvPr>
          <p:cNvSpPr/>
          <p:nvPr/>
        </p:nvSpPr>
        <p:spPr>
          <a:xfrm>
            <a:off x="0" y="0"/>
            <a:ext cx="5103500"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wipe(right)">
                                      <p:cBhvr>
                                        <p:cTn id="23" dur="420"/>
                                        <p:tgtEl>
                                          <p:spTgt spid="1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2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wipe(right)">
                                      <p:cBhvr>
                                        <p:cTn id="31" dur="42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 Capacity Plan From Measurements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18  ·  Performance Monitoring and Capacity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§18.5  ·  Handout p. 144     </a:t>
            </a:r>
            <a:fld id="{F3612FBC-434B-4CC6-8D98-7EA185A7E260}" type="slidenum">
              <a:rPr lang="en-GB" sz="1000">
                <a:solidFill>
                  <a:srgbClr val="8795A1"/>
                </a:solidFill>
                <a:latin typeface="Segoe UI"/>
              </a:rPr>
              <a:t>19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945874"/>
          </a:xfrm>
          <a:prstGeom prst="roundRect">
            <a:avLst>
              <a:gd name="adj" fmla="val 2317"/>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94587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At 95% of memory with one host down, this cluster has no real N+1 today.</a:t>
            </a:r>
            <a:r>
              <a:rPr sz="1900" b="0" i="0">
                <a:solidFill>
                  <a:srgbClr val="1C252B"/>
                </a:solidFill>
                <a:latin typeface="Segoe UI"/>
              </a:rPr>
              <a:t> That is the finding, and it is invisible on any dashboard showing 79%.</a:t>
            </a:r>
          </a:p>
        </p:txBody>
      </p:sp>
      <p:sp>
        <p:nvSpPr>
          <p:cNvPr id="10" name="body-0bar">
            <a:extLst>
              <a:ext uri="{C183D7F6-B498-43B3-948B-1728B52AA6E4}">
                <adec:decorative xmlns:adec="http://schemas.microsoft.com/office/drawing/2017/decorative" val="1"/>
              </a:ext>
            </a:extLst>
          </p:cNvPr>
          <p:cNvSpPr/>
          <p:nvPr/>
        </p:nvSpPr>
        <p:spPr>
          <a:xfrm>
            <a:off x="841248" y="2029967"/>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body-1"/>
          <p:cNvSpPr txBox="1"/>
          <p:nvPr/>
        </p:nvSpPr>
        <p:spPr>
          <a:xfrm>
            <a:off x="1042416" y="2746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3 — the binding resource and the limit.</a:t>
            </a:r>
            <a:r>
              <a:rPr sz="1900" b="0" i="0">
                <a:solidFill>
                  <a:srgbClr val="1C252B"/>
                </a:solidFill>
                <a:latin typeface="Segoe UI"/>
              </a:rPr>
              <a:t> Memory. Take 85% of N+1 capacity as the ceiling — beyond it the reclamation ladder starts working:</a:t>
            </a:r>
          </a:p>
        </p:txBody>
      </p:sp>
      <p:sp>
        <p:nvSpPr>
          <p:cNvPr id="12" name="body-1bar">
            <a:extLst>
              <a:ext uri="{C183D7F6-B498-43B3-948B-1728B52AA6E4}">
                <adec:decorative xmlns:adec="http://schemas.microsoft.com/office/drawing/2017/decorative" val="1"/>
              </a:ext>
            </a:extLst>
          </p:cNvPr>
          <p:cNvSpPr/>
          <p:nvPr/>
        </p:nvSpPr>
        <p:spPr>
          <a:xfrm>
            <a:off x="841248" y="2764967"/>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3" name="body-2" descr="\text{ceiling} = 5 \times 512 \times 0.85 \times 0.85 = 1{,}850 \text{ GB}"/>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3481679"/>
            <a:ext cx="10234879" cy="324520"/>
          </a:xfrm>
          <a:prstGeom prst="rect">
            <a:avLst/>
          </a:prstGeom>
        </p:spPr>
      </p:pic>
      <p:sp>
        <p:nvSpPr>
          <p:cNvPr id="14" name="body-3"/>
          <p:cNvSpPr txBox="1"/>
          <p:nvPr/>
        </p:nvSpPr>
        <p:spPr>
          <a:xfrm>
            <a:off x="1042416" y="3938915"/>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Current 2,060 GB already exceeds it. The cluster is over its own N+1 limit now.</a:t>
            </a:r>
          </a:p>
        </p:txBody>
      </p:sp>
      <p:sp>
        <p:nvSpPr>
          <p:cNvPr id="15" name="body-4"/>
          <p:cNvSpPr txBox="1"/>
          <p:nvPr/>
        </p:nvSpPr>
        <p:spPr>
          <a:xfrm>
            <a:off x="1042416" y="4372772"/>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4 — growth.</a:t>
            </a:r>
            <a:r>
              <a:rPr sz="1900" b="0" i="0">
                <a:solidFill>
                  <a:srgbClr val="1C252B"/>
                </a:solidFill>
                <a:latin typeface="Segoe UI"/>
              </a:rPr>
              <a:t> 4% a quarter on 2,060 GB is 82 GB a quarter, about 6.3 GB a week.</a:t>
            </a:r>
          </a:p>
        </p:txBody>
      </p:sp>
      <p:sp>
        <p:nvSpPr>
          <p:cNvPr id="16" name="body-4bar">
            <a:extLst>
              <a:ext uri="{C183D7F6-B498-43B3-948B-1728B52AA6E4}">
                <adec:decorative xmlns:adec="http://schemas.microsoft.com/office/drawing/2017/decorative" val="1"/>
              </a:ext>
            </a:extLst>
          </p:cNvPr>
          <p:cNvSpPr/>
          <p:nvPr/>
        </p:nvSpPr>
        <p:spPr>
          <a:xfrm>
            <a:off x="841248" y="4391060"/>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body-5"/>
          <p:cNvSpPr txBox="1"/>
          <p:nvPr/>
        </p:nvSpPr>
        <p:spPr>
          <a:xfrm>
            <a:off x="1042416" y="480662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5 — the trigger.</a:t>
            </a:r>
            <a:r>
              <a:rPr sz="1900" b="0" i="0">
                <a:solidFill>
                  <a:srgbClr val="1C252B"/>
                </a:solidFill>
                <a:latin typeface="Segoe UI"/>
              </a:rPr>
              <a:t> Working back from the 6-host ceiling of </a:t>
            </a:r>
            <a:r>
              <a:rPr sz="1900" b="0" i="0">
                <a:solidFill>
                  <a:srgbClr val="1C252B"/>
                </a:solidFill>
                <a:latin typeface="Cambria"/>
              </a:rPr>
              <a:t>6 × 512 × 0.85 × 0.85 = 2,220</a:t>
            </a:r>
            <a:r>
              <a:rPr sz="1900" b="0" i="0">
                <a:solidFill>
                  <a:srgbClr val="1C252B"/>
                </a:solidFill>
                <a:latin typeface="Segoe UI"/>
              </a:rPr>
              <a:t> GB:</a:t>
            </a:r>
          </a:p>
        </p:txBody>
      </p:sp>
      <p:sp>
        <p:nvSpPr>
          <p:cNvPr id="18" name="body-5bar">
            <a:extLst>
              <a:ext uri="{C183D7F6-B498-43B3-948B-1728B52AA6E4}">
                <adec:decorative xmlns:adec="http://schemas.microsoft.com/office/drawing/2017/decorative" val="1"/>
              </a:ext>
            </a:extLst>
          </p:cNvPr>
          <p:cNvSpPr/>
          <p:nvPr/>
        </p:nvSpPr>
        <p:spPr>
          <a:xfrm>
            <a:off x="841248" y="4824917"/>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pfill">
            <a:extLst>
              <a:ext uri="{C183D7F6-B498-43B3-948B-1728B52AA6E4}">
                <adec:decorative xmlns:adec="http://schemas.microsoft.com/office/drawing/2017/decorative" val="1"/>
              </a:ext>
            </a:extLst>
          </p:cNvPr>
          <p:cNvSpPr/>
          <p:nvPr/>
        </p:nvSpPr>
        <p:spPr>
          <a:xfrm>
            <a:off x="0" y="0"/>
            <a:ext cx="5387028"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right)">
                                      <p:cBhvr>
                                        <p:cTn id="16" dur="42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2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wipe(right)">
                                      <p:cBhvr>
                                        <p:cTn id="24" dur="420"/>
                                        <p:tgtEl>
                                          <p:spTgt spid="13"/>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wipe(right)">
                                      <p:cBhvr>
                                        <p:cTn id="29" dur="420"/>
                                        <p:tgtEl>
                                          <p:spTgt spid="14"/>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wipe(right)">
                                      <p:cBhvr>
                                        <p:cTn id="34" dur="420"/>
                                        <p:tgtEl>
                                          <p:spTgt spid="16"/>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42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wipe(right)">
                                      <p:cBhvr>
                                        <p:cTn id="42" dur="420"/>
                                        <p:tgtEl>
                                          <p:spTgt spid="18"/>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42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 Capacity Plan From Measurements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18  ·  Performance Monitoring and Capacity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§18.5  ·  Handout p. 144     </a:t>
            </a:r>
            <a:fld id="{3B53F719-4A60-47CE-A373-3E2E5938ED14}" type="slidenum">
              <a:rPr lang="en-GB" sz="1000">
                <a:solidFill>
                  <a:srgbClr val="8795A1"/>
                </a:solidFill>
                <a:latin typeface="Segoe UI"/>
              </a:rPr>
              <a:t>20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072102"/>
          </a:xfrm>
          <a:prstGeom prst="roundRect">
            <a:avLst>
              <a:gd name="adj" fmla="val 2245"/>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072102"/>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9" name="body-0" descr="\frac{2{,}220 - 2{,}060}{6.3} = 25 \text{ weeks until the cluster is full even without N+1}"/>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2011679"/>
            <a:ext cx="10234879" cy="547268"/>
          </a:xfrm>
          <a:prstGeom prst="rect">
            <a:avLst/>
          </a:prstGeom>
        </p:spPr>
      </p:pic>
      <p:sp>
        <p:nvSpPr>
          <p:cNvPr id="10" name="body-1"/>
          <p:cNvSpPr txBox="1"/>
          <p:nvPr/>
        </p:nvSpPr>
        <p:spPr>
          <a:xfrm>
            <a:off x="1042416" y="2691663"/>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With a 10-week lead time, the order must be placed by week 15 — and the N+1 finding means it should be placed </a:t>
            </a:r>
            <a:r>
              <a:rPr sz="1900" b="1" i="0">
                <a:solidFill>
                  <a:srgbClr val="1C252B"/>
                </a:solidFill>
                <a:latin typeface="Segoe UI"/>
              </a:rPr>
              <a:t>now</a:t>
            </a:r>
            <a:r>
              <a:rPr sz="1900" b="0" i="0">
                <a:solidFill>
                  <a:srgbClr val="1C252B"/>
                </a:solidFill>
                <a:latin typeface="Segoe UI"/>
              </a:rPr>
              <a:t>.</a:t>
            </a:r>
          </a:p>
        </p:txBody>
      </p:sp>
      <p:sp>
        <p:nvSpPr>
          <p:cNvPr id="11" name="body-2"/>
          <p:cNvSpPr txBox="1"/>
          <p:nvPr/>
        </p:nvSpPr>
        <p:spPr>
          <a:xfrm>
            <a:off x="1042416" y="3426663"/>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6 — the plan, as it would be written.</a:t>
            </a:r>
          </a:p>
        </p:txBody>
      </p:sp>
      <p:sp>
        <p:nvSpPr>
          <p:cNvPr id="12" name="body-2bar">
            <a:extLst>
              <a:ext uri="{C183D7F6-B498-43B3-948B-1728B52AA6E4}">
                <adec:decorative xmlns:adec="http://schemas.microsoft.com/office/drawing/2017/decorative" val="1"/>
              </a:ext>
            </a:extLst>
          </p:cNvPr>
          <p:cNvSpPr/>
          <p:nvPr/>
        </p:nvSpPr>
        <p:spPr>
          <a:xfrm>
            <a:off x="841248" y="3444951"/>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body-3"/>
          <p:cNvSpPr txBox="1"/>
          <p:nvPr/>
        </p:nvSpPr>
        <p:spPr>
          <a:xfrm>
            <a:off x="1042416" y="3860520"/>
            <a:ext cx="10234879" cy="1720342"/>
          </a:xfrm>
          <a:prstGeom prst="rect">
            <a:avLst/>
          </a:prstGeom>
          <a:noFill/>
        </p:spPr>
        <p:txBody>
          <a:bodyPr wrap="square" anchor="t" lIns="0" rIns="0" tIns="0" bIns="0">
            <a:noAutofit/>
          </a:bodyPr>
          <a:lstStyle/>
          <a:p>
            <a:pPr algn="l" marL="212450" indent="-212450">
              <a:lnSpc>
                <a:spcPct val="104000"/>
              </a:lnSpc>
              <a:spcBef>
                <a:spcPts val="0"/>
              </a:spcBef>
              <a:spcAft>
                <a:spcPts val="665"/>
              </a:spcAft>
            </a:pPr>
            <a:r>
              <a:rPr sz="1900" b="1">
                <a:solidFill>
                  <a:srgbClr val="7D6608"/>
                </a:solidFill>
                <a:latin typeface="Segoe UI"/>
              </a:rPr>
              <a:t>•	</a:t>
            </a:r>
            <a:r>
              <a:rPr sz="1900" b="1" i="0">
                <a:solidFill>
                  <a:srgbClr val="7D6608"/>
                </a:solidFill>
                <a:latin typeface="Segoe UI"/>
              </a:rPr>
              <a:t>Immediate:</a:t>
            </a:r>
            <a:r>
              <a:rPr sz="1900" b="0" i="0">
                <a:solidFill>
                  <a:srgbClr val="1C252B"/>
                </a:solidFill>
                <a:latin typeface="Segoe UI"/>
              </a:rPr>
              <a:t> order two hosts. N+1 is already unmet, and %RDY is in the investigate band.</a:t>
            </a:r>
          </a:p>
          <a:p>
            <a:pPr algn="l" marL="212450" indent="-212450">
              <a:lnSpc>
                <a:spcPct val="104000"/>
              </a:lnSpc>
              <a:spcBef>
                <a:spcPts val="0"/>
              </a:spcBef>
              <a:spcAft>
                <a:spcPts val="665"/>
              </a:spcAft>
            </a:pPr>
            <a:r>
              <a:rPr sz="1900" b="1">
                <a:solidFill>
                  <a:srgbClr val="7D6608"/>
                </a:solidFill>
                <a:latin typeface="Segoe UI"/>
              </a:rPr>
              <a:t>•	</a:t>
            </a:r>
            <a:r>
              <a:rPr sz="1900" b="1" i="0">
                <a:solidFill>
                  <a:srgbClr val="7D6608"/>
                </a:solidFill>
                <a:latin typeface="Segoe UI"/>
              </a:rPr>
              <a:t>In parallel:</a:t>
            </a:r>
            <a:r>
              <a:rPr sz="1900" b="0" i="0">
                <a:solidFill>
                  <a:srgbClr val="1C252B"/>
                </a:solidFill>
                <a:latin typeface="Segoe UI"/>
              </a:rPr>
              <a:t> right-size. </a:t>
            </a:r>
            <a:r>
              <a:rPr sz="1900" b="0" i="0">
                <a:solidFill>
                  <a:srgbClr val="1C252B"/>
                </a:solidFill>
                <a:latin typeface="Cambria"/>
              </a:rPr>
              <a:t>σ</a:t>
            </a:r>
            <a:r>
              <a:rPr sz="1250" b="0" i="0" baseline="-25000">
                <a:solidFill>
                  <a:srgbClr val="1C252B"/>
                </a:solidFill>
                <a:latin typeface="Segoe UI"/>
              </a:rPr>
              <a:t>cpu</a:t>
            </a:r>
            <a:r>
              <a:rPr sz="1900" b="0" i="0">
                <a:solidFill>
                  <a:srgbClr val="1C252B"/>
                </a:solidFill>
                <a:latin typeface="Cambria"/>
              </a:rPr>
              <a:t> = 2.99</a:t>
            </a:r>
            <a:r>
              <a:rPr sz="1900" b="0" i="0">
                <a:solidFill>
                  <a:srgbClr val="1C252B"/>
                </a:solidFill>
                <a:latin typeface="Segoe UI"/>
              </a:rPr>
              <a:t> with 6.2% ready suggests over-allocated vCPUs; the exercise in Chapter 6 commonly recovers 30–40% and may defer the second host.</a:t>
            </a:r>
          </a:p>
          <a:p>
            <a:pPr algn="l" marL="212450" indent="-212450">
              <a:lnSpc>
                <a:spcPct val="104000"/>
              </a:lnSpc>
              <a:spcBef>
                <a:spcPts val="0"/>
              </a:spcBef>
              <a:spcAft>
                <a:spcPts val="0"/>
              </a:spcAft>
            </a:pPr>
            <a:r>
              <a:rPr sz="1900" b="1">
                <a:solidFill>
                  <a:srgbClr val="7D6608"/>
                </a:solidFill>
                <a:latin typeface="Segoe UI"/>
              </a:rPr>
              <a:t>•	</a:t>
            </a:r>
            <a:r>
              <a:rPr sz="1900" b="1" i="0">
                <a:solidFill>
                  <a:srgbClr val="7D6608"/>
                </a:solidFill>
                <a:latin typeface="Segoe UI"/>
              </a:rPr>
              <a:t>Trigger, standing:</a:t>
            </a:r>
            <a:r>
              <a:rPr sz="1900" b="0" i="0">
                <a:solidFill>
                  <a:srgbClr val="1C252B"/>
                </a:solidFill>
                <a:latin typeface="Segoe UI"/>
              </a:rPr>
              <a:t> alert when N+1 memory exceeds 85%, when %RDY p95 exceeds 8%, or when storage exceeds 80% of measured peak IOPS. Review quarterly against actual growth.</a:t>
            </a:r>
          </a:p>
        </p:txBody>
      </p:sp>
      <p:sp>
        <p:nvSpPr>
          <p:cNvPr id="3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pfill">
            <a:extLst>
              <a:ext uri="{C183D7F6-B498-43B3-948B-1728B52AA6E4}">
                <adec:decorative xmlns:adec="http://schemas.microsoft.com/office/drawing/2017/decorative" val="1"/>
              </a:ext>
            </a:extLst>
          </p:cNvPr>
          <p:cNvSpPr/>
          <p:nvPr/>
        </p:nvSpPr>
        <p:spPr>
          <a:xfrm>
            <a:off x="0" y="0"/>
            <a:ext cx="5670555"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right)">
                                      <p:cBhvr>
                                        <p:cTn id="13" dur="42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42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3">
                                            <p:txEl>
                                              <p:pRg st="0" end="0"/>
                                            </p:txEl>
                                          </p:spTgt>
                                        </p:tgtEl>
                                        <p:attrNameLst>
                                          <p:attrName>style.visibility</p:attrName>
                                        </p:attrNameLst>
                                      </p:cBhvr>
                                      <p:to>
                                        <p:strVal val="visible"/>
                                      </p:to>
                                    </p:set>
                                    <p:animEffect transition="in" filter="fade">
                                      <p:cBhvr>
                                        <p:cTn id="26" dur="350"/>
                                        <p:tgtEl>
                                          <p:spTgt spid="13">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3">
                                            <p:txEl>
                                              <p:pRg st="1" end="1"/>
                                            </p:txEl>
                                          </p:spTgt>
                                        </p:tgtEl>
                                        <p:attrNameLst>
                                          <p:attrName>style.visibility</p:attrName>
                                        </p:attrNameLst>
                                      </p:cBhvr>
                                      <p:to>
                                        <p:strVal val="visible"/>
                                      </p:to>
                                    </p:set>
                                    <p:animEffect transition="in" filter="fade">
                                      <p:cBhvr>
                                        <p:cTn id="31" dur="350"/>
                                        <p:tgtEl>
                                          <p:spTgt spid="13">
                                            <p:txEl>
                                              <p:pRg st="1" end="1"/>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3">
                                            <p:txEl>
                                              <p:pRg st="2" end="2"/>
                                            </p:txEl>
                                          </p:spTgt>
                                        </p:tgtEl>
                                        <p:attrNameLst>
                                          <p:attrName>style.visibility</p:attrName>
                                        </p:attrNameLst>
                                      </p:cBhvr>
                                      <p:to>
                                        <p:strVal val="visible"/>
                                      </p:to>
                                    </p:set>
                                    <p:animEffect transition="in" filter="fade">
                                      <p:cBhvr>
                                        <p:cTn id="36" dur="350"/>
                                        <p:tgtEl>
                                          <p:spTgt spid="1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 Capacity Plan From Measurements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18  ·  Performance Monitoring and Capacity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§18.5  ·  Handout p. 144     </a:t>
            </a:r>
            <a:fld id="{FB982B81-372C-4678-B9D7-7125B811B211}" type="slidenum">
              <a:rPr lang="en-GB" sz="1000">
                <a:solidFill>
                  <a:srgbClr val="8795A1"/>
                </a:solidFill>
                <a:latin typeface="Segoe UI"/>
              </a:rPr>
              <a:t>21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150924"/>
          </a:xfrm>
          <a:prstGeom prst="roundRect">
            <a:avLst>
              <a:gd name="adj" fmla="val 7944"/>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15092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48004"/>
          </a:xfrm>
          <a:prstGeom prst="rect">
            <a:avLst/>
          </a:prstGeom>
          <a:noFill/>
        </p:spPr>
        <p:txBody>
          <a:bodyPr wrap="square" anchor="t" lIns="0" rIns="0" tIns="0" bIns="0">
            <a:noAutofit/>
          </a:bodyPr>
          <a:lstStyle/>
          <a:p>
            <a:pPr algn="l" marL="212450" indent="-212450">
              <a:lnSpc>
                <a:spcPct val="104000"/>
              </a:lnSpc>
              <a:spcBef>
                <a:spcPts val="0"/>
              </a:spcBef>
              <a:spcAft>
                <a:spcPts val="0"/>
              </a:spcAft>
            </a:pPr>
            <a:r>
              <a:rPr sz="1900" b="1">
                <a:solidFill>
                  <a:srgbClr val="7D6608"/>
                </a:solidFill>
                <a:latin typeface="Segoe UI"/>
              </a:rPr>
              <a:t>•	</a:t>
            </a:r>
            <a:r>
              <a:rPr sz="1900" b="1" i="0">
                <a:solidFill>
                  <a:srgbClr val="7D6608"/>
                </a:solidFill>
                <a:latin typeface="Segoe UI"/>
              </a:rPr>
              <a:t>Report:</a:t>
            </a:r>
            <a:r>
              <a:rPr sz="1900" b="0" i="0">
                <a:solidFill>
                  <a:srgbClr val="1C252B"/>
                </a:solidFill>
                <a:latin typeface="Segoe UI"/>
              </a:rPr>
              <a:t> N+1 figures, not raw utilisation. The difference between 79% and 95% in step 2 is the entire finding.</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595408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18  ·  Performance Monitoring and Capacity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§18.5  ·  Handout p. 144     </a:t>
            </a:r>
            <a:fld id="{A0126881-84B2-41E7-9CFB-060A5481144E}" type="slidenum">
              <a:rPr lang="en-GB" sz="1000">
                <a:solidFill>
                  <a:srgbClr val="8795A1"/>
                </a:solidFill>
                <a:latin typeface="Segoe UI"/>
              </a:rPr>
              <a:t>22</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Trusting guest-reported CPU.</a:t>
            </a:r>
            <a:r>
              <a:rPr sz="1700" b="0" i="0">
                <a:solidFill>
                  <a:srgbClr val="1C252B"/>
                </a:solidFill>
                <a:latin typeface="Segoe UI"/>
              </a:rPr>
              <a:t> A guest at 40% may be unable to keep up. Only the host knows about the time the guest did not exist.</a:t>
            </a:r>
          </a:p>
        </p:txBody>
      </p:sp>
      <p:sp>
        <p:nvSpPr>
          <p:cNvPr id="10" name="!!pb1">
            <a:extLst>
              <a:ext uri="{C183D7F6-B498-43B3-948B-1728B52AA6E4}">
                <adec:decorative xmlns:adec="http://schemas.microsoft.com/office/drawing/2017/decorative" val="1"/>
              </a:ext>
            </a:extLst>
          </p:cNvPr>
          <p:cNvSpPr/>
          <p:nvPr/>
        </p:nvSpPr>
        <p:spPr>
          <a:xfrm>
            <a:off x="658368" y="2495702"/>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518562"/>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477414"/>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Reporting utilisation without saturation.</a:t>
            </a:r>
            <a:r>
              <a:rPr sz="1700" b="0" i="0">
                <a:solidFill>
                  <a:srgbClr val="1C252B"/>
                </a:solidFill>
                <a:latin typeface="Segoe UI"/>
              </a:rPr>
              <a:t> A queue, not a busy resource, is what users feel.</a:t>
            </a:r>
          </a:p>
        </p:txBody>
      </p:sp>
      <p:sp>
        <p:nvSpPr>
          <p:cNvPr id="13" name="!!pb2">
            <a:extLst>
              <a:ext uri="{C183D7F6-B498-43B3-948B-1728B52AA6E4}">
                <adec:decorative xmlns:adec="http://schemas.microsoft.com/office/drawing/2017/decorative" val="1"/>
              </a:ext>
            </a:extLst>
          </p:cNvPr>
          <p:cNvSpPr/>
          <p:nvPr/>
        </p:nvSpPr>
        <p:spPr>
          <a:xfrm>
            <a:off x="658368" y="3062630"/>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085490"/>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044342"/>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Planning on means.</a:t>
            </a:r>
            <a:r>
              <a:rPr sz="1700" b="0" i="0">
                <a:solidFill>
                  <a:srgbClr val="1C252B"/>
                </a:solidFill>
                <a:latin typeface="Segoe UI"/>
              </a:rPr>
              <a:t> The tail is the user experience, and a page making twenty calls meets it most of the time.</a:t>
            </a:r>
          </a:p>
        </p:txBody>
      </p:sp>
      <p:sp>
        <p:nvSpPr>
          <p:cNvPr id="16" name="!!pb3">
            <a:extLst>
              <a:ext uri="{C183D7F6-B498-43B3-948B-1728B52AA6E4}">
                <adec:decorative xmlns:adec="http://schemas.microsoft.com/office/drawing/2017/decorative" val="1"/>
              </a:ext>
            </a:extLst>
          </p:cNvPr>
          <p:cNvSpPr/>
          <p:nvPr/>
        </p:nvSpPr>
        <p:spPr>
          <a:xfrm>
            <a:off x="658368" y="3802684"/>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3825544"/>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3784396"/>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Reporting capacity without N+1.</a:t>
            </a:r>
            <a:r>
              <a:rPr sz="1700" b="0" i="0">
                <a:solidFill>
                  <a:srgbClr val="1C252B"/>
                </a:solidFill>
                <a:latin typeface="Segoe UI"/>
              </a:rPr>
              <a:t> 79% and 95% were the same cluster.</a:t>
            </a:r>
          </a:p>
        </p:txBody>
      </p:sp>
      <p:sp>
        <p:nvSpPr>
          <p:cNvPr id="19" name="!!pb4">
            <a:extLst>
              <a:ext uri="{C183D7F6-B498-43B3-948B-1728B52AA6E4}">
                <adec:decorative xmlns:adec="http://schemas.microsoft.com/office/drawing/2017/decorative" val="1"/>
              </a:ext>
            </a:extLst>
          </p:cNvPr>
          <p:cNvSpPr/>
          <p:nvPr/>
        </p:nvSpPr>
        <p:spPr>
          <a:xfrm>
            <a:off x="658368" y="4369612"/>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4392472"/>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4351324"/>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Benchmarking once, in one hour, on a shared host.</a:t>
            </a:r>
            <a:r>
              <a:rPr sz="1700" b="0" i="0">
                <a:solidFill>
                  <a:srgbClr val="1C252B"/>
                </a:solidFill>
                <a:latin typeface="Segoe UI"/>
              </a:rPr>
              <a:t> You measured the neighbours.</a:t>
            </a:r>
          </a:p>
        </p:txBody>
      </p:sp>
      <p:sp>
        <p:nvSpPr>
          <p:cNvPr id="22" name="!!pb5">
            <a:extLst>
              <a:ext uri="{C183D7F6-B498-43B3-948B-1728B52AA6E4}">
                <adec:decorative xmlns:adec="http://schemas.microsoft.com/office/drawing/2017/decorative" val="1"/>
              </a:ext>
            </a:extLst>
          </p:cNvPr>
          <p:cNvSpPr/>
          <p:nvPr/>
        </p:nvSpPr>
        <p:spPr>
          <a:xfrm>
            <a:off x="658368" y="4936540"/>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x5"/>
          <p:cNvSpPr txBox="1"/>
          <p:nvPr/>
        </p:nvSpPr>
        <p:spPr>
          <a:xfrm>
            <a:off x="658368" y="4959400"/>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4" name="!!pt5"/>
          <p:cNvSpPr txBox="1"/>
          <p:nvPr/>
        </p:nvSpPr>
        <p:spPr>
          <a:xfrm>
            <a:off x="1261872" y="4918252"/>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Setting a trigger without a lead time.</a:t>
            </a:r>
            <a:r>
              <a:rPr sz="1700" b="0" i="0">
                <a:solidFill>
                  <a:srgbClr val="1C252B"/>
                </a:solidFill>
                <a:latin typeface="Segoe UI"/>
              </a:rPr>
              <a:t> A threshold reached too late to act on is a notification, not a plan.</a:t>
            </a:r>
          </a:p>
        </p:txBody>
      </p:sp>
      <p:sp>
        <p:nvSpPr>
          <p:cNvPr id="25" name="!!pb6">
            <a:extLst>
              <a:ext uri="{C183D7F6-B498-43B3-948B-1728B52AA6E4}">
                <adec:decorative xmlns:adec="http://schemas.microsoft.com/office/drawing/2017/decorative" val="1"/>
              </a:ext>
            </a:extLst>
          </p:cNvPr>
          <p:cNvSpPr/>
          <p:nvPr/>
        </p:nvSpPr>
        <p:spPr>
          <a:xfrm>
            <a:off x="658368" y="550346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px6"/>
          <p:cNvSpPr txBox="1"/>
          <p:nvPr/>
        </p:nvSpPr>
        <p:spPr>
          <a:xfrm>
            <a:off x="658368" y="5526328"/>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7" name="!!pt6"/>
          <p:cNvSpPr txBox="1"/>
          <p:nvPr/>
        </p:nvSpPr>
        <p:spPr>
          <a:xfrm>
            <a:off x="1261872" y="5485180"/>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Adding capacity before right-sizing.</a:t>
            </a:r>
            <a:r>
              <a:rPr sz="1700" b="0" i="0">
                <a:solidFill>
                  <a:srgbClr val="1C252B"/>
                </a:solidFill>
                <a:latin typeface="Segoe UI"/>
              </a:rPr>
              <a:t> Inflated allocations are cheaper to fix than hardware is to buy, and buying first preserves the waste permanently.</a:t>
            </a:r>
          </a:p>
        </p:txBody>
      </p:sp>
      <p:sp>
        <p:nvSpPr>
          <p:cNvPr id="8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pfill">
            <a:extLst>
              <a:ext uri="{C183D7F6-B498-43B3-948B-1728B52AA6E4}">
                <adec:decorative xmlns:adec="http://schemas.microsoft.com/office/drawing/2017/decorative" val="1"/>
              </a:ext>
            </a:extLst>
          </p:cNvPr>
          <p:cNvSpPr/>
          <p:nvPr/>
        </p:nvSpPr>
        <p:spPr>
          <a:xfrm>
            <a:off x="0" y="0"/>
            <a:ext cx="623761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par>
                    <p:cTn id="70" fill="hold">
                      <p:stCondLst>
                        <p:cond delay="indefinite"/>
                      </p:stCondLst>
                      <p:childTnLst>
                        <p:par>
                          <p:cTn id="71" fill="hold">
                            <p:stCondLst>
                              <p:cond delay="0"/>
                            </p:stCondLst>
                            <p:childTnLst>
                              <p:par>
                                <p:cTn id="72" presetID="23" presetClass="entr" presetSubtype="16" fill="hold" grpId="0" nodeType="click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zoom(in)">
                                      <p:cBhvr>
                                        <p:cTn id="74" dur="260"/>
                                        <p:tgtEl>
                                          <p:spTgt spid="25"/>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260"/>
                                        <p:tgtEl>
                                          <p:spTgt spid="26"/>
                                        </p:tgtEl>
                                      </p:cBhvr>
                                    </p:animEffect>
                                  </p:childTnLst>
                                </p:cTn>
                              </p:par>
                              <p:par>
                                <p:cTn id="78" presetID="22" presetClass="entr" presetSubtype="8" fill="hold" grpId="0" nodeType="withEffect">
                                  <p:stCondLst>
                                    <p:cond delay="0"/>
                                  </p:stCondLst>
                                  <p:childTnLst>
                                    <p:set>
                                      <p:cBhvr>
                                        <p:cTn id="79" dur="1" fill="hold">
                                          <p:stCondLst>
                                            <p:cond delay="0"/>
                                          </p:stCondLst>
                                        </p:cTn>
                                        <p:tgtEl>
                                          <p:spTgt spid="27"/>
                                        </p:tgtEl>
                                        <p:attrNameLst>
                                          <p:attrName>style.visibility</p:attrName>
                                        </p:attrNameLst>
                                      </p:cBhvr>
                                      <p:to>
                                        <p:strVal val="visible"/>
                                      </p:to>
                                    </p:set>
                                    <p:animEffect transition="in" filter="wipe(right)">
                                      <p:cBhvr>
                                        <p:cTn id="80"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Finding the Bottleneck</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18  ·  Performance Monitoring and Capacity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§18.5  ·  Handout p. 144     </a:t>
            </a:r>
            <a:fld id="{C4E83124-13D0-49CA-887B-C3E49F73BF4C}" type="slidenum">
              <a:rPr lang="en-GB" sz="1000">
                <a:solidFill>
                  <a:srgbClr val="8795A1"/>
                </a:solidFill>
                <a:latin typeface="Segoe UI"/>
              </a:rPr>
              <a:t>23</a:t>
            </a:fld>
          </a:p>
        </p:txBody>
      </p:sp>
      <p:sp>
        <p:nvSpPr>
          <p:cNvPr id="7" name="body-0"/>
          <p:cNvSpPr txBox="1"/>
          <p:nvPr/>
        </p:nvSpPr>
        <p:spPr>
          <a:xfrm>
            <a:off x="658368" y="1737360"/>
            <a:ext cx="10874959"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Produces three different bottlenecks on one host and distinguishes them using only the counters in this chapter. Expect forty minutes.</a:t>
            </a:r>
          </a:p>
        </p:txBody>
      </p:sp>
      <p:sp>
        <p:nvSpPr>
          <p:cNvPr id="8" name="!!labsteps-h"/>
          <p:cNvSpPr txBox="1"/>
          <p:nvPr/>
        </p:nvSpPr>
        <p:spPr>
          <a:xfrm>
            <a:off x="658368" y="268224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9" name="!!labsteps"/>
          <p:cNvSpPr txBox="1"/>
          <p:nvPr/>
        </p:nvSpPr>
        <p:spPr>
          <a:xfrm>
            <a:off x="658368" y="3066288"/>
            <a:ext cx="10874959" cy="1859280"/>
          </a:xfrm>
          <a:prstGeom prst="rect">
            <a:avLst/>
          </a:prstGeom>
          <a:noFill/>
        </p:spPr>
        <p:txBody>
          <a:bodyPr wrap="square" anchor="t" lIns="0" rIns="0" tIns="0" bIns="0">
            <a:noAutofit/>
          </a:bodyPr>
          <a:lstStyle/>
          <a:p>
            <a:pPr algn="l" marL="404250" indent="-404250">
              <a:lnSpc>
                <a:spcPct val="100000"/>
              </a:lnSpc>
              <a:spcBef>
                <a:spcPts val="0"/>
              </a:spcBef>
              <a:spcAft>
                <a:spcPts val="480"/>
              </a:spcAft>
            </a:pPr>
            <a:r>
              <a:rPr sz="1600" b="1">
                <a:solidFill>
                  <a:srgbClr val="117A65"/>
                </a:solidFill>
                <a:latin typeface="Segoe UI"/>
              </a:rPr>
              <a:t>1.	</a:t>
            </a:r>
            <a:r>
              <a:rPr sz="1600" b="0" i="0">
                <a:solidFill>
                  <a:srgbClr val="1C252B"/>
                </a:solidFill>
                <a:latin typeface="Segoe UI"/>
              </a:rPr>
              <a:t>Baseline, with the host quiet.</a:t>
            </a:r>
          </a:p>
          <a:p>
            <a:pPr algn="l" marL="404250" indent="-404250">
              <a:lnSpc>
                <a:spcPct val="100000"/>
              </a:lnSpc>
              <a:spcBef>
                <a:spcPts val="0"/>
              </a:spcBef>
              <a:spcAft>
                <a:spcPts val="480"/>
              </a:spcAft>
            </a:pPr>
            <a:r>
              <a:rPr sz="1600" b="1">
                <a:solidFill>
                  <a:srgbClr val="117A65"/>
                </a:solidFill>
                <a:latin typeface="Segoe UI"/>
              </a:rPr>
              <a:t>2.	</a:t>
            </a:r>
            <a:r>
              <a:rPr sz="1600" b="0" i="0">
                <a:solidFill>
                  <a:srgbClr val="1C252B"/>
                </a:solidFill>
                <a:latin typeface="Segoe UI"/>
              </a:rPr>
              <a:t>Bottleneck A: CPU contention from the neighbours.</a:t>
            </a:r>
          </a:p>
          <a:p>
            <a:pPr algn="l" marL="404250" indent="-404250">
              <a:lnSpc>
                <a:spcPct val="100000"/>
              </a:lnSpc>
              <a:spcBef>
                <a:spcPts val="0"/>
              </a:spcBef>
              <a:spcAft>
                <a:spcPts val="480"/>
              </a:spcAft>
            </a:pPr>
            <a:r>
              <a:rPr sz="1600" b="1">
                <a:solidFill>
                  <a:srgbClr val="117A65"/>
                </a:solidFill>
                <a:latin typeface="Segoe UI"/>
              </a:rPr>
              <a:t>3.	</a:t>
            </a:r>
            <a:r>
              <a:rPr sz="1600" b="0" i="0">
                <a:solidFill>
                  <a:srgbClr val="1C252B"/>
                </a:solidFill>
                <a:latin typeface="Segoe UI"/>
              </a:rPr>
              <a:t>Bottleneck B: memory pressure.</a:t>
            </a:r>
          </a:p>
          <a:p>
            <a:pPr algn="l" marL="404250" indent="-404250">
              <a:lnSpc>
                <a:spcPct val="100000"/>
              </a:lnSpc>
              <a:spcBef>
                <a:spcPts val="0"/>
              </a:spcBef>
              <a:spcAft>
                <a:spcPts val="480"/>
              </a:spcAft>
            </a:pPr>
            <a:r>
              <a:rPr sz="1600" b="1">
                <a:solidFill>
                  <a:srgbClr val="117A65"/>
                </a:solidFill>
                <a:latin typeface="Segoe UI"/>
              </a:rPr>
              <a:t>4.	</a:t>
            </a:r>
            <a:r>
              <a:rPr sz="1600" b="0" i="0">
                <a:solidFill>
                  <a:srgbClr val="1C252B"/>
                </a:solidFill>
                <a:latin typeface="Segoe UI"/>
              </a:rPr>
              <a:t>Bottleneck C: storage queueing.</a:t>
            </a:r>
          </a:p>
          <a:p>
            <a:pPr algn="l" marL="404250" indent="-404250">
              <a:lnSpc>
                <a:spcPct val="100000"/>
              </a:lnSpc>
              <a:spcBef>
                <a:spcPts val="0"/>
              </a:spcBef>
              <a:spcAft>
                <a:spcPts val="480"/>
              </a:spcAft>
            </a:pPr>
            <a:r>
              <a:rPr sz="1600" b="1">
                <a:solidFill>
                  <a:srgbClr val="117A65"/>
                </a:solidFill>
                <a:latin typeface="Segoe UI"/>
              </a:rPr>
              <a:t>5.	</a:t>
            </a:r>
            <a:r>
              <a:rPr sz="1600" b="0" i="0">
                <a:solidFill>
                  <a:srgbClr val="1C252B"/>
                </a:solidFill>
                <a:latin typeface="Segoe UI"/>
              </a:rPr>
              <a:t>Percentiles, not means.</a:t>
            </a:r>
          </a:p>
          <a:p>
            <a:pPr algn="l" marL="404250" indent="-404250">
              <a:lnSpc>
                <a:spcPct val="100000"/>
              </a:lnSpc>
              <a:spcBef>
                <a:spcPts val="0"/>
              </a:spcBef>
              <a:spcAft>
                <a:spcPts val="0"/>
              </a:spcAft>
            </a:pPr>
            <a:r>
              <a:rPr sz="1600" b="1">
                <a:solidFill>
                  <a:srgbClr val="117A65"/>
                </a:solidFill>
                <a:latin typeface="Segoe UI"/>
              </a:rPr>
              <a:t>6.	</a:t>
            </a:r>
            <a:r>
              <a:rPr sz="1600" b="0" i="0">
                <a:solidFill>
                  <a:srgbClr val="1C252B"/>
                </a:solidFill>
                <a:latin typeface="Segoe UI"/>
              </a:rPr>
              <a:t>Tear down.</a:t>
            </a:r>
          </a:p>
        </p:txBody>
      </p:sp>
      <p:sp>
        <p:nvSpPr>
          <p:cNvPr id="34" name="!!lfTHIS">
            <a:extLst>
              <a:ext uri="{C183D7F6-B498-43B3-948B-1728B52AA6E4}">
                <adec:decorative xmlns:adec="http://schemas.microsoft.com/office/drawing/2017/decorative" val="1"/>
              </a:ext>
            </a:extLst>
          </p:cNvPr>
          <p:cNvSpPr/>
          <p:nvPr/>
        </p:nvSpPr>
        <p:spPr>
          <a:xfrm>
            <a:off x="658368" y="5212080"/>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lfbTHIS">
            <a:extLst>
              <a:ext uri="{C183D7F6-B498-43B3-948B-1728B52AA6E4}">
                <adec:decorative xmlns:adec="http://schemas.microsoft.com/office/drawing/2017/decorative" val="1"/>
              </a:ext>
            </a:extLst>
          </p:cNvPr>
          <p:cNvSpPr/>
          <p:nvPr/>
        </p:nvSpPr>
        <p:spPr>
          <a:xfrm>
            <a:off x="658368"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lflTHIS"/>
          <p:cNvSpPr txBox="1"/>
          <p:nvPr/>
        </p:nvSpPr>
        <p:spPr>
          <a:xfrm>
            <a:off x="932688" y="5376672"/>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37" name="!!lfvTHIS"/>
          <p:cNvSpPr txBox="1"/>
          <p:nvPr/>
        </p:nvSpPr>
        <p:spPr>
          <a:xfrm>
            <a:off x="932688" y="5669280"/>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14: Find three bottlenecks; harden a container</a:t>
            </a:r>
          </a:p>
        </p:txBody>
      </p:sp>
      <p:sp>
        <p:nvSpPr>
          <p:cNvPr id="38" name="!!lfWHAT">
            <a:extLst>
              <a:ext uri="{C183D7F6-B498-43B3-948B-1728B52AA6E4}">
                <adec:decorative xmlns:adec="http://schemas.microsoft.com/office/drawing/2017/decorative" val="1"/>
              </a:ext>
            </a:extLst>
          </p:cNvPr>
          <p:cNvSpPr/>
          <p:nvPr/>
        </p:nvSpPr>
        <p:spPr>
          <a:xfrm>
            <a:off x="6233007" y="5212080"/>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lfbWHAT">
            <a:extLst>
              <a:ext uri="{C183D7F6-B498-43B3-948B-1728B52AA6E4}">
                <adec:decorative xmlns:adec="http://schemas.microsoft.com/office/drawing/2017/decorative" val="1"/>
              </a:ext>
            </a:extLst>
          </p:cNvPr>
          <p:cNvSpPr/>
          <p:nvPr/>
        </p:nvSpPr>
        <p:spPr>
          <a:xfrm>
            <a:off x="6233007"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lflWHAT"/>
          <p:cNvSpPr txBox="1"/>
          <p:nvPr/>
        </p:nvSpPr>
        <p:spPr>
          <a:xfrm>
            <a:off x="6507327" y="5376672"/>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41" name="!!lfvWHAT"/>
          <p:cNvSpPr txBox="1"/>
          <p:nvPr/>
        </p:nvSpPr>
        <p:spPr>
          <a:xfrm>
            <a:off x="6507327" y="5669280"/>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71 lines of Shell</a:t>
            </a:r>
          </a:p>
        </p:txBody>
      </p:sp>
      <p:sp>
        <p:nvSpPr>
          <p:cNvPr id="4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3" name="!!pfill">
            <a:extLst>
              <a:ext uri="{C183D7F6-B498-43B3-948B-1728B52AA6E4}">
                <adec:decorative xmlns:adec="http://schemas.microsoft.com/office/drawing/2017/decorative" val="1"/>
              </a:ext>
            </a:extLst>
          </p:cNvPr>
          <p:cNvSpPr/>
          <p:nvPr/>
        </p:nvSpPr>
        <p:spPr>
          <a:xfrm>
            <a:off x="0" y="0"/>
            <a:ext cx="652113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0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0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0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fade">
                                      <p:cBhvr>
                                        <p:cTn id="23" dur="300"/>
                                        <p:tgtEl>
                                          <p:spTgt spid="9">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xEl>
                                              <p:pRg st="4" end="4"/>
                                            </p:txEl>
                                          </p:spTgt>
                                        </p:tgtEl>
                                        <p:attrNameLst>
                                          <p:attrName>style.visibility</p:attrName>
                                        </p:attrNameLst>
                                      </p:cBhvr>
                                      <p:to>
                                        <p:strVal val="visible"/>
                                      </p:to>
                                    </p:set>
                                    <p:animEffect transition="in" filter="fade">
                                      <p:cBhvr>
                                        <p:cTn id="28" dur="300"/>
                                        <p:tgtEl>
                                          <p:spTgt spid="9">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9">
                                            <p:txEl>
                                              <p:pRg st="5" end="5"/>
                                            </p:txEl>
                                          </p:spTgt>
                                        </p:tgtEl>
                                        <p:attrNameLst>
                                          <p:attrName>style.visibility</p:attrName>
                                        </p:attrNameLst>
                                      </p:cBhvr>
                                      <p:to>
                                        <p:strVal val="visible"/>
                                      </p:to>
                                    </p:set>
                                    <p:animEffect transition="in" filter="fade">
                                      <p:cBhvr>
                                        <p:cTn id="33" dur="300"/>
                                        <p:tgtEl>
                                          <p:spTgt spid="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Finding the Bottleneck</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18  ·  Performance Monitoring and Capacity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§18.5  ·  Handout p. 144     </a:t>
            </a:r>
            <a:fld id="{F0C9D9CB-CD1D-4D91-A2FE-D948EA4F054C}" type="slidenum">
              <a:rPr lang="en-GB" sz="1000">
                <a:solidFill>
                  <a:srgbClr val="8795A1"/>
                </a:solidFill>
                <a:latin typeface="Segoe UI"/>
              </a:rPr>
              <a:t>24</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798063"/>
          </a:xfrm>
          <a:prstGeom prst="roundRect">
            <a:avLst>
              <a:gd name="adj" fmla="val 326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usr/bin/env bash # ch18_bottleneck.sh -- CPU contention, memory pressure and I/O queueing. set -euo pipefail sudo apt-get install -y sysstat fio stress-ng ip_of () { sudo virsh domifaddr &quot;$1&quot; | awk '/ipv4/{split($4,a,&quot;/&quot;); print a[1]}' } G () { ssh -o StrictHostKeyChecking=no &quot;ubuntu@$(ip_of &quot;$1&quot;)&quot; &quot;$2&quot;; }"/>
          <p:cNvSpPr txBox="1"/>
          <p:nvPr/>
        </p:nvSpPr>
        <p:spPr>
          <a:xfrm>
            <a:off x="1362456" y="2523744"/>
            <a:ext cx="9987991" cy="2304287"/>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#!/usr/bin/env bash</a:t>
            </a:r>
          </a:p>
          <a:p>
            <a:pPr>
              <a:lnSpc>
                <a:spcPct val="100000"/>
              </a:lnSpc>
              <a:spcAft>
                <a:spcPts val="0"/>
              </a:spcAft>
            </a:pPr>
            <a:r>
              <a:rPr sz="1800" i="1">
                <a:solidFill>
                  <a:srgbClr val="8795A1"/>
                </a:solidFill>
                <a:latin typeface="Consolas"/>
              </a:rPr>
              <a:t># ch18_bottleneck.sh -- CPU contention, memory pressure and I/O queueing.</a:t>
            </a:r>
          </a:p>
          <a:p>
            <a:pPr>
              <a:lnSpc>
                <a:spcPct val="100000"/>
              </a:lnSpc>
              <a:spcAft>
                <a:spcPts val="0"/>
              </a:spcAft>
            </a:pPr>
            <a:r>
              <a:rPr sz="1800" i="0">
                <a:solidFill>
                  <a:srgbClr val="C39BD3"/>
                </a:solidFill>
                <a:latin typeface="Consolas"/>
              </a:rPr>
              <a:t>set</a:t>
            </a:r>
            <a:r>
              <a:rPr sz="1800" i="0">
                <a:solidFill>
                  <a:srgbClr val="E8EDF2"/>
                </a:solidFill>
                <a:latin typeface="Consolas"/>
              </a:rPr>
              <a:t> </a:t>
            </a:r>
            <a:r>
              <a:rPr sz="1800" i="0">
                <a:solidFill>
                  <a:srgbClr val="E8EDF2"/>
                </a:solidFill>
                <a:latin typeface="Consolas"/>
              </a:rPr>
              <a:t>-euo</a:t>
            </a:r>
            <a:r>
              <a:rPr sz="1800" i="0">
                <a:solidFill>
                  <a:srgbClr val="E8EDF2"/>
                </a:solidFill>
                <a:latin typeface="Consolas"/>
              </a:rPr>
              <a:t> </a:t>
            </a:r>
            <a:r>
              <a:rPr sz="1800" i="0">
                <a:solidFill>
                  <a:srgbClr val="E8EDF2"/>
                </a:solidFill>
                <a:latin typeface="Consolas"/>
              </a:rPr>
              <a:t>pipefail</a:t>
            </a:r>
          </a:p>
          <a:p>
            <a:pPr>
              <a:lnSpc>
                <a:spcPct val="100000"/>
              </a:lnSpc>
              <a:spcAft>
                <a:spcPts val="0"/>
              </a:spcAft>
            </a:pP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apt-get</a:t>
            </a:r>
            <a:r>
              <a:rPr sz="1800" i="0">
                <a:solidFill>
                  <a:srgbClr val="E8EDF2"/>
                </a:solidFill>
                <a:latin typeface="Consolas"/>
              </a:rPr>
              <a:t> </a:t>
            </a:r>
            <a:r>
              <a:rPr sz="1800" i="0">
                <a:solidFill>
                  <a:srgbClr val="E8EDF2"/>
                </a:solidFill>
                <a:latin typeface="Consolas"/>
              </a:rPr>
              <a:t>install</a:t>
            </a:r>
            <a:r>
              <a:rPr sz="1800" i="0">
                <a:solidFill>
                  <a:srgbClr val="E8EDF2"/>
                </a:solidFill>
                <a:latin typeface="Consolas"/>
              </a:rPr>
              <a:t> </a:t>
            </a:r>
            <a:r>
              <a:rPr sz="1800" i="0">
                <a:solidFill>
                  <a:srgbClr val="E8EDF2"/>
                </a:solidFill>
                <a:latin typeface="Consolas"/>
              </a:rPr>
              <a:t>-y</a:t>
            </a:r>
            <a:r>
              <a:rPr sz="1800" i="0">
                <a:solidFill>
                  <a:srgbClr val="E8EDF2"/>
                </a:solidFill>
                <a:latin typeface="Consolas"/>
              </a:rPr>
              <a:t> </a:t>
            </a:r>
            <a:r>
              <a:rPr sz="1800" i="0">
                <a:solidFill>
                  <a:srgbClr val="E8EDF2"/>
                </a:solidFill>
                <a:latin typeface="Consolas"/>
              </a:rPr>
              <a:t>sysstat</a:t>
            </a:r>
            <a:r>
              <a:rPr sz="1800" i="0">
                <a:solidFill>
                  <a:srgbClr val="E8EDF2"/>
                </a:solidFill>
                <a:latin typeface="Consolas"/>
              </a:rPr>
              <a:t> </a:t>
            </a:r>
            <a:r>
              <a:rPr sz="1800" i="0">
                <a:solidFill>
                  <a:srgbClr val="E8EDF2"/>
                </a:solidFill>
                <a:latin typeface="Consolas"/>
              </a:rPr>
              <a:t>fio</a:t>
            </a:r>
            <a:r>
              <a:rPr sz="1800" i="0">
                <a:solidFill>
                  <a:srgbClr val="E8EDF2"/>
                </a:solidFill>
                <a:latin typeface="Consolas"/>
              </a:rPr>
              <a:t> </a:t>
            </a:r>
            <a:r>
              <a:rPr sz="1800" i="0">
                <a:solidFill>
                  <a:srgbClr val="E8EDF2"/>
                </a:solidFill>
                <a:latin typeface="Consolas"/>
              </a:rPr>
              <a:t>stress-ng</a:t>
            </a:r>
          </a:p>
          <a:p>
            <a:pPr>
              <a:lnSpc>
                <a:spcPct val="100000"/>
              </a:lnSpc>
              <a:spcAft>
                <a:spcPts val="0"/>
              </a:spcAft>
            </a:pPr>
            <a:r>
              <a:rPr sz="1800" i="0">
                <a:solidFill>
                  <a:srgbClr val="E8EDF2"/>
                </a:solidFill>
                <a:latin typeface="Consolas"/>
              </a:rPr>
              <a:t>ip_of</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virsh</a:t>
            </a:r>
            <a:r>
              <a:rPr sz="1800" i="0">
                <a:solidFill>
                  <a:srgbClr val="E8EDF2"/>
                </a:solidFill>
                <a:latin typeface="Consolas"/>
              </a:rPr>
              <a:t> </a:t>
            </a:r>
            <a:r>
              <a:rPr sz="1800" i="0">
                <a:solidFill>
                  <a:srgbClr val="E8EDF2"/>
                </a:solidFill>
                <a:latin typeface="Consolas"/>
              </a:rPr>
              <a:t>domifaddr</a:t>
            </a:r>
            <a:r>
              <a:rPr sz="1800" i="0">
                <a:solidFill>
                  <a:srgbClr val="E8EDF2"/>
                </a:solidFill>
                <a:latin typeface="Consolas"/>
              </a:rPr>
              <a:t> </a:t>
            </a:r>
            <a:r>
              <a:rPr sz="1800" i="0">
                <a:solidFill>
                  <a:srgbClr val="7DCEA0"/>
                </a:solidFill>
                <a:latin typeface="Consolas"/>
              </a:rPr>
              <a:t>"</a:t>
            </a:r>
            <a:r>
              <a:rPr sz="1800" i="0">
                <a:solidFill>
                  <a:srgbClr val="E8EDF2"/>
                </a:solidFill>
                <a:latin typeface="Consolas"/>
              </a:rPr>
              <a:t>$1</a:t>
            </a:r>
            <a:r>
              <a:rPr sz="1800" i="0">
                <a:solidFill>
                  <a:srgbClr val="7DCEA0"/>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awk</a:t>
            </a:r>
            <a:r>
              <a:rPr sz="1800" i="0">
                <a:solidFill>
                  <a:srgbClr val="E8EDF2"/>
                </a:solidFill>
                <a:latin typeface="Consolas"/>
              </a:rPr>
              <a:t> </a:t>
            </a:r>
            <a:r>
              <a:rPr sz="1800" i="0">
                <a:solidFill>
                  <a:srgbClr val="7DCEA0"/>
                </a:solidFill>
                <a:latin typeface="Consolas"/>
              </a:rPr>
              <a:t>'/ipv4/{split($4,a,"/"); print a[1]}'</a:t>
            </a:r>
          </a:p>
          <a:p>
            <a:pPr>
              <a:lnSpc>
                <a:spcPct val="100000"/>
              </a:lnSpc>
              <a:spcAft>
                <a:spcPts val="0"/>
              </a:spcAft>
            </a:pPr>
            <a:r>
              <a:rPr sz="1800" i="0">
                <a:solidFill>
                  <a:srgbClr val="AEB6BF"/>
                </a:solidFill>
                <a:latin typeface="Consolas"/>
              </a:rPr>
              <a:t>}</a:t>
            </a:r>
          </a:p>
          <a:p>
            <a:pPr>
              <a:lnSpc>
                <a:spcPct val="100000"/>
              </a:lnSpc>
              <a:spcAft>
                <a:spcPts val="0"/>
              </a:spcAft>
            </a:pPr>
            <a:r>
              <a:rPr sz="1800" i="0">
                <a:solidFill>
                  <a:srgbClr val="E8EDF2"/>
                </a:solidFill>
                <a:latin typeface="Consolas"/>
              </a:rPr>
              <a:t>G</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ssh</a:t>
            </a:r>
            <a:r>
              <a:rPr sz="1800" i="0">
                <a:solidFill>
                  <a:srgbClr val="E8EDF2"/>
                </a:solidFill>
                <a:latin typeface="Consolas"/>
              </a:rPr>
              <a:t> </a:t>
            </a:r>
            <a:r>
              <a:rPr sz="1800" i="0">
                <a:solidFill>
                  <a:srgbClr val="E8EDF2"/>
                </a:solidFill>
                <a:latin typeface="Consolas"/>
              </a:rPr>
              <a:t>-o</a:t>
            </a:r>
            <a:r>
              <a:rPr sz="1800" i="0">
                <a:solidFill>
                  <a:srgbClr val="E8EDF2"/>
                </a:solidFill>
                <a:latin typeface="Consolas"/>
              </a:rPr>
              <a:t> </a:t>
            </a:r>
            <a:r>
              <a:rPr sz="1800" i="0">
                <a:solidFill>
                  <a:srgbClr val="E8EDF2"/>
                </a:solidFill>
                <a:latin typeface="Consolas"/>
              </a:rPr>
              <a:t>StrictHostKeyChecking</a:t>
            </a:r>
            <a:r>
              <a:rPr sz="1800" i="0">
                <a:solidFill>
                  <a:srgbClr val="AEB6BF"/>
                </a:solidFill>
                <a:latin typeface="Consolas"/>
              </a:rPr>
              <a:t>=</a:t>
            </a:r>
            <a:r>
              <a:rPr sz="1800" i="0">
                <a:solidFill>
                  <a:srgbClr val="E8EDF2"/>
                </a:solidFill>
                <a:latin typeface="Consolas"/>
              </a:rPr>
              <a:t>no</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ubuntu@</a:t>
            </a:r>
            <a:r>
              <a:rPr sz="1800" i="0">
                <a:solidFill>
                  <a:srgbClr val="5DADE2"/>
                </a:solidFill>
                <a:latin typeface="Consolas"/>
              </a:rPr>
              <a:t>$(</a:t>
            </a:r>
            <a:r>
              <a:rPr sz="1800" i="0">
                <a:solidFill>
                  <a:srgbClr val="E8EDF2"/>
                </a:solidFill>
                <a:latin typeface="Consolas"/>
              </a:rPr>
              <a:t>ip_of</a:t>
            </a:r>
            <a:r>
              <a:rPr sz="1800" i="0">
                <a:solidFill>
                  <a:srgbClr val="E8EDF2"/>
                </a:solidFill>
                <a:latin typeface="Consolas"/>
              </a:rPr>
              <a:t> </a:t>
            </a:r>
            <a:r>
              <a:rPr sz="1800" i="0">
                <a:solidFill>
                  <a:srgbClr val="7DCEA0"/>
                </a:solidFill>
                <a:latin typeface="Consolas"/>
              </a:rPr>
              <a:t>"</a:t>
            </a:r>
            <a:r>
              <a:rPr sz="1800" i="0">
                <a:solidFill>
                  <a:srgbClr val="E8EDF2"/>
                </a:solidFill>
                <a:latin typeface="Consolas"/>
              </a:rPr>
              <a:t>$1</a:t>
            </a:r>
            <a:r>
              <a:rPr sz="1800" i="0">
                <a:solidFill>
                  <a:srgbClr val="7DCEA0"/>
                </a:solidFill>
                <a:latin typeface="Consolas"/>
              </a:rPr>
              <a:t>"</a:t>
            </a:r>
            <a:r>
              <a:rPr sz="1800" i="0">
                <a:solidFill>
                  <a:srgbClr val="5DADE2"/>
                </a:solidFill>
                <a:latin typeface="Consolas"/>
              </a:rPr>
              <a:t>)</a:t>
            </a:r>
            <a:r>
              <a:rPr sz="1800" i="0">
                <a:solidFill>
                  <a:srgbClr val="7DCEA0"/>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E8EDF2"/>
                </a:solidFill>
                <a:latin typeface="Consolas"/>
              </a:rPr>
              <a:t>$2</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p>
        </p:txBody>
      </p:sp>
      <p:sp>
        <p:nvSpPr>
          <p:cNvPr id="15" name="!!code-num"/>
          <p:cNvSpPr txBox="1"/>
          <p:nvPr/>
        </p:nvSpPr>
        <p:spPr>
          <a:xfrm>
            <a:off x="768096" y="2523744"/>
            <a:ext cx="393192" cy="230428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1</a:t>
            </a:r>
          </a:p>
          <a:p>
            <a:pPr algn="r">
              <a:lnSpc>
                <a:spcPct val="100000"/>
              </a:lnSpc>
            </a:pPr>
            <a:r>
              <a:rPr sz="1800">
                <a:solidFill>
                  <a:srgbClr val="4F5D6A"/>
                </a:solidFill>
                <a:latin typeface="Consolas"/>
              </a:rPr>
              <a:t>2</a:t>
            </a:r>
          </a:p>
          <a:p>
            <a:pPr algn="r">
              <a:lnSpc>
                <a:spcPct val="100000"/>
              </a:lnSpc>
            </a:pPr>
            <a:r>
              <a:rPr sz="1800">
                <a:solidFill>
                  <a:srgbClr val="4F5D6A"/>
                </a:solidFill>
                <a:latin typeface="Consolas"/>
              </a:rPr>
              <a:t>3</a:t>
            </a:r>
          </a:p>
          <a:p>
            <a:pPr algn="r">
              <a:lnSpc>
                <a:spcPct val="100000"/>
              </a:lnSpc>
            </a:pPr>
            <a:r>
              <a:rPr sz="1800">
                <a:solidFill>
                  <a:srgbClr val="4F5D6A"/>
                </a:solidFill>
                <a:latin typeface="Consolas"/>
              </a:rPr>
              <a:t>4</a:t>
            </a:r>
          </a:p>
          <a:p>
            <a:pPr algn="r">
              <a:lnSpc>
                <a:spcPct val="100000"/>
              </a:lnSpc>
            </a:pPr>
            <a:r>
              <a:rPr sz="1800">
                <a:solidFill>
                  <a:srgbClr val="4F5D6A"/>
                </a:solidFill>
                <a:latin typeface="Consolas"/>
              </a:rPr>
              <a:t>5</a:t>
            </a:r>
          </a:p>
          <a:p>
            <a:pPr algn="r">
              <a:lnSpc>
                <a:spcPct val="100000"/>
              </a:lnSpc>
            </a:pPr>
            <a:r>
              <a:rPr sz="1800">
                <a:solidFill>
                  <a:srgbClr val="4F5D6A"/>
                </a:solidFill>
                <a:latin typeface="Consolas"/>
              </a:rPr>
              <a:t>6</a:t>
            </a:r>
          </a:p>
          <a:p>
            <a:pPr algn="r">
              <a:lnSpc>
                <a:spcPct val="100000"/>
              </a:lnSpc>
            </a:pPr>
            <a:r>
              <a:rPr sz="1800">
                <a:solidFill>
                  <a:srgbClr val="4F5D6A"/>
                </a:solidFill>
                <a:latin typeface="Consolas"/>
              </a:rPr>
              <a:t>7</a:t>
            </a:r>
          </a:p>
          <a:p>
            <a:pPr algn="r">
              <a:lnSpc>
                <a:spcPct val="100000"/>
              </a:lnSpc>
            </a:pPr>
            <a:r>
              <a:rPr sz="1800">
                <a:solidFill>
                  <a:srgbClr val="4F5D6A"/>
                </a:solidFill>
                <a:latin typeface="Consolas"/>
              </a:rPr>
              <a:t>8</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80466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Finding the Bottleneck</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18  ·  Performance Monitoring and Capacity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§18.5  ·  Handout p. 144     </a:t>
            </a:r>
            <a:fld id="{B9867628-AA5C-4D15-802C-EF2E415106F2}" type="slidenum">
              <a:rPr lang="en-GB" sz="1000">
                <a:solidFill>
                  <a:srgbClr val="8795A1"/>
                </a:solidFill>
                <a:latin typeface="Segoe UI"/>
              </a:rPr>
              <a:t>25</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Baseline, with the host quiet.</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340863"/>
          </a:xfrm>
          <a:prstGeom prst="roundRect">
            <a:avLst>
              <a:gd name="adj" fmla="val 390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1. Baseline, with the host quiet. -------------------------------- sudo virsh start vss1 || true ; sleep 25 G vss1 &quot;sudo apt-get -qq install -y sysstat fio stress-ng&quot; echo &quot;=== baseline ===&quot; G vss1 &quot;mpstat 2 3 | tail -2&quot; # %steal should be near zero sudo virsh domstats vss1 --vcpu | grep -E 'wait|delay' || true"/>
          <p:cNvSpPr txBox="1"/>
          <p:nvPr/>
        </p:nvSpPr>
        <p:spPr>
          <a:xfrm>
            <a:off x="1362456" y="2523744"/>
            <a:ext cx="9987991" cy="184708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--- 1. Baseline, with the host quiet. --------------------------------</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virsh</a:t>
            </a:r>
            <a:r>
              <a:rPr sz="1900" i="0">
                <a:solidFill>
                  <a:srgbClr val="E8EDF2"/>
                </a:solidFill>
                <a:latin typeface="Consolas"/>
              </a:rPr>
              <a:t> </a:t>
            </a:r>
            <a:r>
              <a:rPr sz="1900" i="0">
                <a:solidFill>
                  <a:srgbClr val="E8EDF2"/>
                </a:solidFill>
                <a:latin typeface="Consolas"/>
              </a:rPr>
              <a:t>start</a:t>
            </a:r>
            <a:r>
              <a:rPr sz="1900" i="0">
                <a:solidFill>
                  <a:srgbClr val="E8EDF2"/>
                </a:solidFill>
                <a:latin typeface="Consolas"/>
              </a:rPr>
              <a:t> </a:t>
            </a:r>
            <a:r>
              <a:rPr sz="1900" i="0">
                <a:solidFill>
                  <a:srgbClr val="E8EDF2"/>
                </a:solidFill>
                <a:latin typeface="Consolas"/>
              </a:rPr>
              <a:t>vss1</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C39BD3"/>
                </a:solidFill>
                <a:latin typeface="Consolas"/>
              </a:rPr>
              <a:t>true</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sleep</a:t>
            </a:r>
            <a:r>
              <a:rPr sz="1900" i="0">
                <a:solidFill>
                  <a:srgbClr val="E8EDF2"/>
                </a:solidFill>
                <a:latin typeface="Consolas"/>
              </a:rPr>
              <a:t> </a:t>
            </a:r>
            <a:r>
              <a:rPr sz="1900" i="0">
                <a:solidFill>
                  <a:srgbClr val="F7DC6F"/>
                </a:solidFill>
                <a:latin typeface="Consolas"/>
              </a:rPr>
              <a:t>25</a:t>
            </a:r>
          </a:p>
          <a:p>
            <a:pPr>
              <a:lnSpc>
                <a:spcPct val="100000"/>
              </a:lnSpc>
              <a:spcAft>
                <a:spcPts val="0"/>
              </a:spcAft>
            </a:pPr>
            <a:r>
              <a:rPr sz="1900" i="0">
                <a:solidFill>
                  <a:srgbClr val="E8EDF2"/>
                </a:solidFill>
                <a:latin typeface="Consolas"/>
              </a:rPr>
              <a:t>G</a:t>
            </a:r>
            <a:r>
              <a:rPr sz="1900" i="0">
                <a:solidFill>
                  <a:srgbClr val="E8EDF2"/>
                </a:solidFill>
                <a:latin typeface="Consolas"/>
              </a:rPr>
              <a:t> </a:t>
            </a:r>
            <a:r>
              <a:rPr sz="1900" i="0">
                <a:solidFill>
                  <a:srgbClr val="E8EDF2"/>
                </a:solidFill>
                <a:latin typeface="Consolas"/>
              </a:rPr>
              <a:t>vss1</a:t>
            </a:r>
            <a:r>
              <a:rPr sz="1900" i="0">
                <a:solidFill>
                  <a:srgbClr val="E8EDF2"/>
                </a:solidFill>
                <a:latin typeface="Consolas"/>
              </a:rPr>
              <a:t> </a:t>
            </a:r>
            <a:r>
              <a:rPr sz="1900" i="0">
                <a:solidFill>
                  <a:srgbClr val="7DCEA0"/>
                </a:solidFill>
                <a:latin typeface="Consolas"/>
              </a:rPr>
              <a:t>"sudo apt-get -qq install -y sysstat fio stress-ng"</a:t>
            </a:r>
          </a:p>
          <a:p>
            <a:pPr>
              <a:lnSpc>
                <a:spcPct val="100000"/>
              </a:lnSpc>
              <a:spcAft>
                <a:spcPts val="0"/>
              </a:spcAft>
            </a:pPr>
            <a:r>
              <a:rPr sz="1900" i="0">
                <a:solidFill>
                  <a:srgbClr val="C39BD3"/>
                </a:solidFill>
                <a:latin typeface="Consolas"/>
              </a:rPr>
              <a:t>echo</a:t>
            </a:r>
            <a:r>
              <a:rPr sz="1900" i="0">
                <a:solidFill>
                  <a:srgbClr val="E8EDF2"/>
                </a:solidFill>
                <a:latin typeface="Consolas"/>
              </a:rPr>
              <a:t> </a:t>
            </a:r>
            <a:r>
              <a:rPr sz="1900" i="0">
                <a:solidFill>
                  <a:srgbClr val="7DCEA0"/>
                </a:solidFill>
                <a:latin typeface="Consolas"/>
              </a:rPr>
              <a:t>"=== baseline ==="</a:t>
            </a:r>
          </a:p>
          <a:p>
            <a:pPr>
              <a:lnSpc>
                <a:spcPct val="100000"/>
              </a:lnSpc>
              <a:spcAft>
                <a:spcPts val="0"/>
              </a:spcAft>
            </a:pPr>
            <a:r>
              <a:rPr sz="1900" i="0">
                <a:solidFill>
                  <a:srgbClr val="E8EDF2"/>
                </a:solidFill>
                <a:latin typeface="Consolas"/>
              </a:rPr>
              <a:t>G</a:t>
            </a:r>
            <a:r>
              <a:rPr sz="1900" i="0">
                <a:solidFill>
                  <a:srgbClr val="E8EDF2"/>
                </a:solidFill>
                <a:latin typeface="Consolas"/>
              </a:rPr>
              <a:t> </a:t>
            </a:r>
            <a:r>
              <a:rPr sz="1900" i="0">
                <a:solidFill>
                  <a:srgbClr val="E8EDF2"/>
                </a:solidFill>
                <a:latin typeface="Consolas"/>
              </a:rPr>
              <a:t>vss1</a:t>
            </a:r>
            <a:r>
              <a:rPr sz="1900" i="0">
                <a:solidFill>
                  <a:srgbClr val="E8EDF2"/>
                </a:solidFill>
                <a:latin typeface="Consolas"/>
              </a:rPr>
              <a:t> </a:t>
            </a:r>
            <a:r>
              <a:rPr sz="1900" i="0">
                <a:solidFill>
                  <a:srgbClr val="7DCEA0"/>
                </a:solidFill>
                <a:latin typeface="Consolas"/>
              </a:rPr>
              <a:t>"mpstat 2 3 | tail -2"</a:t>
            </a:r>
            <a:r>
              <a:rPr sz="1900" i="0">
                <a:solidFill>
                  <a:srgbClr val="E8EDF2"/>
                </a:solidFill>
                <a:latin typeface="Consolas"/>
              </a:rPr>
              <a:t>           </a:t>
            </a:r>
            <a:r>
              <a:rPr sz="1900" i="1">
                <a:solidFill>
                  <a:srgbClr val="8795A1"/>
                </a:solidFill>
                <a:latin typeface="Consolas"/>
              </a:rPr>
              <a:t># %steal should be near zero</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virsh</a:t>
            </a:r>
            <a:r>
              <a:rPr sz="1900" i="0">
                <a:solidFill>
                  <a:srgbClr val="E8EDF2"/>
                </a:solidFill>
                <a:latin typeface="Consolas"/>
              </a:rPr>
              <a:t> </a:t>
            </a:r>
            <a:r>
              <a:rPr sz="1900" i="0">
                <a:solidFill>
                  <a:srgbClr val="E8EDF2"/>
                </a:solidFill>
                <a:latin typeface="Consolas"/>
              </a:rPr>
              <a:t>domstats</a:t>
            </a:r>
            <a:r>
              <a:rPr sz="1900" i="0">
                <a:solidFill>
                  <a:srgbClr val="E8EDF2"/>
                </a:solidFill>
                <a:latin typeface="Consolas"/>
              </a:rPr>
              <a:t> </a:t>
            </a:r>
            <a:r>
              <a:rPr sz="1900" i="0">
                <a:solidFill>
                  <a:srgbClr val="E8EDF2"/>
                </a:solidFill>
                <a:latin typeface="Consolas"/>
              </a:rPr>
              <a:t>vss1</a:t>
            </a:r>
            <a:r>
              <a:rPr sz="1900" i="0">
                <a:solidFill>
                  <a:srgbClr val="E8EDF2"/>
                </a:solidFill>
                <a:latin typeface="Consolas"/>
              </a:rPr>
              <a:t> </a:t>
            </a:r>
            <a:r>
              <a:rPr sz="1900" i="0">
                <a:solidFill>
                  <a:srgbClr val="E8EDF2"/>
                </a:solidFill>
                <a:latin typeface="Consolas"/>
              </a:rPr>
              <a:t>--vcpu</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grep</a:t>
            </a:r>
            <a:r>
              <a:rPr sz="1900" i="0">
                <a:solidFill>
                  <a:srgbClr val="E8EDF2"/>
                </a:solidFill>
                <a:latin typeface="Consolas"/>
              </a:rPr>
              <a:t> </a:t>
            </a:r>
            <a:r>
              <a:rPr sz="1900" i="0">
                <a:solidFill>
                  <a:srgbClr val="E8EDF2"/>
                </a:solidFill>
                <a:latin typeface="Consolas"/>
              </a:rPr>
              <a:t>-E</a:t>
            </a:r>
            <a:r>
              <a:rPr sz="1900" i="0">
                <a:solidFill>
                  <a:srgbClr val="E8EDF2"/>
                </a:solidFill>
                <a:latin typeface="Consolas"/>
              </a:rPr>
              <a:t> </a:t>
            </a:r>
            <a:r>
              <a:rPr sz="1900" i="0">
                <a:solidFill>
                  <a:srgbClr val="7DCEA0"/>
                </a:solidFill>
                <a:latin typeface="Consolas"/>
              </a:rPr>
              <a:t>'wait|delay'</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C39BD3"/>
                </a:solidFill>
                <a:latin typeface="Consolas"/>
              </a:rPr>
              <a:t>true</a:t>
            </a:r>
          </a:p>
        </p:txBody>
      </p:sp>
      <p:sp>
        <p:nvSpPr>
          <p:cNvPr id="15" name="!!code-num"/>
          <p:cNvSpPr txBox="1"/>
          <p:nvPr/>
        </p:nvSpPr>
        <p:spPr>
          <a:xfrm>
            <a:off x="768096" y="2523744"/>
            <a:ext cx="393192" cy="184708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10</a:t>
            </a:r>
          </a:p>
          <a:p>
            <a:pPr algn="r">
              <a:lnSpc>
                <a:spcPct val="100000"/>
              </a:lnSpc>
            </a:pPr>
            <a:r>
              <a:rPr sz="1900">
                <a:solidFill>
                  <a:srgbClr val="4F5D6A"/>
                </a:solidFill>
                <a:latin typeface="Consolas"/>
              </a:rPr>
              <a:t>11</a:t>
            </a:r>
          </a:p>
          <a:p>
            <a:pPr algn="r">
              <a:lnSpc>
                <a:spcPct val="100000"/>
              </a:lnSpc>
            </a:pPr>
            <a:r>
              <a:rPr sz="1900">
                <a:solidFill>
                  <a:srgbClr val="4F5D6A"/>
                </a:solidFill>
                <a:latin typeface="Consolas"/>
              </a:rPr>
              <a:t>12</a:t>
            </a:r>
          </a:p>
          <a:p>
            <a:pPr algn="r">
              <a:lnSpc>
                <a:spcPct val="100000"/>
              </a:lnSpc>
            </a:pPr>
            <a:r>
              <a:rPr sz="1900">
                <a:solidFill>
                  <a:srgbClr val="4F5D6A"/>
                </a:solidFill>
                <a:latin typeface="Consolas"/>
              </a:rPr>
              <a:t>13</a:t>
            </a:r>
          </a:p>
          <a:p>
            <a:pPr algn="r">
              <a:lnSpc>
                <a:spcPct val="100000"/>
              </a:lnSpc>
            </a:pPr>
            <a:r>
              <a:rPr sz="1900">
                <a:solidFill>
                  <a:srgbClr val="4F5D6A"/>
                </a:solidFill>
                <a:latin typeface="Consolas"/>
              </a:rPr>
              <a:t>14</a:t>
            </a:r>
          </a:p>
          <a:p>
            <a:pPr algn="r">
              <a:lnSpc>
                <a:spcPct val="100000"/>
              </a:lnSpc>
            </a:pPr>
            <a:r>
              <a:rPr sz="1900">
                <a:solidFill>
                  <a:srgbClr val="4F5D6A"/>
                </a:solidFill>
                <a:latin typeface="Consolas"/>
              </a:rPr>
              <a:t>15</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088194"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Finding the Bottleneck</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18  ·  Performance Monitoring and Capacity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§18.5  ·  Handout p. 144     </a:t>
            </a:r>
            <a:fld id="{3C94D223-0CEE-4683-9FB1-90FCC8BD8B10}" type="slidenum">
              <a:rPr lang="en-GB" sz="1000">
                <a:solidFill>
                  <a:srgbClr val="8795A1"/>
                </a:solidFill>
                <a:latin typeface="Segoe UI"/>
              </a:rPr>
              <a:t>26</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Bottleneck A: CPU contention from the neighbours.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169663"/>
          </a:xfrm>
          <a:prstGeom prst="roundRect">
            <a:avLst>
              <a:gd name="adj" fmla="val 219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2. Bottleneck A: CPU contention from the neighbours. ------------- # Other guests take the cores. The complaining guest changes nothing. for n in 2 3 4; do sudo virt-clone --original vss1 --name &quot;n$n&quot; \ --file &quot;/var/lib/libvirt/images/n$n.qcow2&quot; --auto-clone &gt;/dev/null sudo virsh setvcpus &quot;n$n&quot; &quot;$(nproc)&quot; --config --maximum sudo virsh setvcpus &quot;n$n&quot; &quot;$(nproc)&quot; --config sudo virsh start &quot;n$n&quot; done sleep 40 for n in 2 3 4; do G &quot;n$n&quot; &quot;nohup stress-ng --cpu \$(nproc) --timeout 120s &gt;/dev/null 2&gt;&amp;1 &amp;&quot; done sleep 10 echo &quot;=== A: CPU contention ===&quot; G vss1 &quot;mpstat 2 3 | tail -2&quot; # %steal climbs; %usr does NOT sudo virsh domstats vss1 --vcpu | grep -E 'wait|delay' || true # The signature: steal high, guest's own utilisation unchanged."/>
          <p:cNvSpPr txBox="1"/>
          <p:nvPr/>
        </p:nvSpPr>
        <p:spPr>
          <a:xfrm>
            <a:off x="1362456" y="2523744"/>
            <a:ext cx="9987991" cy="3675887"/>
          </a:xfrm>
          <a:prstGeom prst="rect">
            <a:avLst/>
          </a:prstGeom>
          <a:noFill/>
        </p:spPr>
        <p:txBody>
          <a:bodyPr wrap="none" anchor="t" lIns="0" rIns="0" tIns="0" bIns="0">
            <a:noAutofit/>
          </a:bodyPr>
          <a:lstStyle/>
          <a:p>
            <a:pPr>
              <a:lnSpc>
                <a:spcPct val="100000"/>
              </a:lnSpc>
              <a:spcAft>
                <a:spcPts val="0"/>
              </a:spcAft>
            </a:pPr>
            <a:r>
              <a:rPr sz="1300" i="1">
                <a:solidFill>
                  <a:srgbClr val="8795A1"/>
                </a:solidFill>
                <a:latin typeface="Consolas"/>
              </a:rPr>
              <a:t># --- 2. Bottleneck A: CPU contention from the neighbours. -------------</a:t>
            </a:r>
          </a:p>
          <a:p>
            <a:pPr>
              <a:lnSpc>
                <a:spcPct val="100000"/>
              </a:lnSpc>
              <a:spcAft>
                <a:spcPts val="0"/>
              </a:spcAft>
            </a:pPr>
            <a:r>
              <a:rPr sz="1300" i="1">
                <a:solidFill>
                  <a:srgbClr val="8795A1"/>
                </a:solidFill>
                <a:latin typeface="Consolas"/>
              </a:rPr>
              <a:t># Other guests take the cores. The complaining guest changes nothing.</a:t>
            </a:r>
          </a:p>
          <a:p>
            <a:pPr>
              <a:lnSpc>
                <a:spcPct val="100000"/>
              </a:lnSpc>
              <a:spcAft>
                <a:spcPts val="0"/>
              </a:spcAft>
            </a:pPr>
            <a:r>
              <a:rPr sz="1300" i="0">
                <a:solidFill>
                  <a:srgbClr val="5DADE2"/>
                </a:solidFill>
                <a:latin typeface="Consolas"/>
              </a:rPr>
              <a:t>for</a:t>
            </a:r>
            <a:r>
              <a:rPr sz="1300" i="0">
                <a:solidFill>
                  <a:srgbClr val="E8EDF2"/>
                </a:solidFill>
                <a:latin typeface="Consolas"/>
              </a:rPr>
              <a:t> </a:t>
            </a:r>
            <a:r>
              <a:rPr sz="1300" i="0">
                <a:solidFill>
                  <a:srgbClr val="E8EDF2"/>
                </a:solidFill>
                <a:latin typeface="Consolas"/>
              </a:rPr>
              <a:t>n</a:t>
            </a:r>
            <a:r>
              <a:rPr sz="1300" i="0">
                <a:solidFill>
                  <a:srgbClr val="E8EDF2"/>
                </a:solidFill>
                <a:latin typeface="Consolas"/>
              </a:rPr>
              <a:t> </a:t>
            </a:r>
            <a:r>
              <a:rPr sz="1300" i="0">
                <a:solidFill>
                  <a:srgbClr val="5DADE2"/>
                </a:solidFill>
                <a:latin typeface="Consolas"/>
              </a:rPr>
              <a:t>in</a:t>
            </a:r>
            <a:r>
              <a:rPr sz="1300" i="0">
                <a:solidFill>
                  <a:srgbClr val="E8EDF2"/>
                </a:solidFill>
                <a:latin typeface="Consolas"/>
              </a:rPr>
              <a:t> </a:t>
            </a:r>
            <a:r>
              <a:rPr sz="1300" i="0">
                <a:solidFill>
                  <a:srgbClr val="F7DC6F"/>
                </a:solidFill>
                <a:latin typeface="Consolas"/>
              </a:rPr>
              <a:t>2</a:t>
            </a:r>
            <a:r>
              <a:rPr sz="1300" i="0">
                <a:solidFill>
                  <a:srgbClr val="E8EDF2"/>
                </a:solidFill>
                <a:latin typeface="Consolas"/>
              </a:rPr>
              <a:t> </a:t>
            </a:r>
            <a:r>
              <a:rPr sz="1300" i="0">
                <a:solidFill>
                  <a:srgbClr val="F7DC6F"/>
                </a:solidFill>
                <a:latin typeface="Consolas"/>
              </a:rPr>
              <a:t>3</a:t>
            </a:r>
            <a:r>
              <a:rPr sz="1300" i="0">
                <a:solidFill>
                  <a:srgbClr val="E8EDF2"/>
                </a:solidFill>
                <a:latin typeface="Consolas"/>
              </a:rPr>
              <a:t> </a:t>
            </a:r>
            <a:r>
              <a:rPr sz="1300" i="0">
                <a:solidFill>
                  <a:srgbClr val="F7DC6F"/>
                </a:solidFill>
                <a:latin typeface="Consolas"/>
              </a:rPr>
              <a:t>4</a:t>
            </a:r>
            <a:r>
              <a:rPr sz="1300" i="0">
                <a:solidFill>
                  <a:srgbClr val="AEB6BF"/>
                </a:solidFill>
                <a:latin typeface="Consolas"/>
              </a:rPr>
              <a:t>;</a:t>
            </a:r>
            <a:r>
              <a:rPr sz="1300" i="0">
                <a:solidFill>
                  <a:srgbClr val="E8EDF2"/>
                </a:solidFill>
                <a:latin typeface="Consolas"/>
              </a:rPr>
              <a:t> </a:t>
            </a:r>
            <a:r>
              <a:rPr sz="1300" i="0">
                <a:solidFill>
                  <a:srgbClr val="5DADE2"/>
                </a:solidFill>
                <a:latin typeface="Consolas"/>
              </a:rPr>
              <a:t>do</a:t>
            </a:r>
          </a:p>
          <a:p>
            <a:pPr>
              <a:lnSpc>
                <a:spcPct val="100000"/>
              </a:lnSpc>
              <a:spcAft>
                <a:spcPts val="0"/>
              </a:spcAft>
            </a:pPr>
            <a:r>
              <a:rPr sz="1300" i="0">
                <a:solidFill>
                  <a:srgbClr val="E8EDF2"/>
                </a:solidFill>
                <a:latin typeface="Consolas"/>
              </a:rPr>
              <a:t>  </a:t>
            </a:r>
            <a:r>
              <a:rPr sz="1300" i="0">
                <a:solidFill>
                  <a:srgbClr val="E8EDF2"/>
                </a:solidFill>
                <a:latin typeface="Consolas"/>
              </a:rPr>
              <a:t>sudo</a:t>
            </a:r>
            <a:r>
              <a:rPr sz="1300" i="0">
                <a:solidFill>
                  <a:srgbClr val="E8EDF2"/>
                </a:solidFill>
                <a:latin typeface="Consolas"/>
              </a:rPr>
              <a:t> </a:t>
            </a:r>
            <a:r>
              <a:rPr sz="1300" i="0">
                <a:solidFill>
                  <a:srgbClr val="E8EDF2"/>
                </a:solidFill>
                <a:latin typeface="Consolas"/>
              </a:rPr>
              <a:t>virt-clone</a:t>
            </a:r>
            <a:r>
              <a:rPr sz="1300" i="0">
                <a:solidFill>
                  <a:srgbClr val="E8EDF2"/>
                </a:solidFill>
                <a:latin typeface="Consolas"/>
              </a:rPr>
              <a:t> </a:t>
            </a:r>
            <a:r>
              <a:rPr sz="1300" i="0">
                <a:solidFill>
                  <a:srgbClr val="E8EDF2"/>
                </a:solidFill>
                <a:latin typeface="Consolas"/>
              </a:rPr>
              <a:t>--original</a:t>
            </a:r>
            <a:r>
              <a:rPr sz="1300" i="0">
                <a:solidFill>
                  <a:srgbClr val="E8EDF2"/>
                </a:solidFill>
                <a:latin typeface="Consolas"/>
              </a:rPr>
              <a:t> </a:t>
            </a:r>
            <a:r>
              <a:rPr sz="1300" i="0">
                <a:solidFill>
                  <a:srgbClr val="E8EDF2"/>
                </a:solidFill>
                <a:latin typeface="Consolas"/>
              </a:rPr>
              <a:t>vss1</a:t>
            </a:r>
            <a:r>
              <a:rPr sz="1300" i="0">
                <a:solidFill>
                  <a:srgbClr val="E8EDF2"/>
                </a:solidFill>
                <a:latin typeface="Consolas"/>
              </a:rPr>
              <a:t> </a:t>
            </a:r>
            <a:r>
              <a:rPr sz="1300" i="0">
                <a:solidFill>
                  <a:srgbClr val="E8EDF2"/>
                </a:solidFill>
                <a:latin typeface="Consolas"/>
              </a:rPr>
              <a:t>--name</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n</a:t>
            </a:r>
            <a:r>
              <a:rPr sz="1300" i="0">
                <a:solidFill>
                  <a:srgbClr val="E8EDF2"/>
                </a:solidFill>
                <a:latin typeface="Consolas"/>
              </a:rPr>
              <a:t>$n</a:t>
            </a:r>
            <a:r>
              <a:rPr sz="1300" i="0">
                <a:solidFill>
                  <a:srgbClr val="7DCEA0"/>
                </a:solidFill>
                <a:latin typeface="Consolas"/>
              </a:rPr>
              <a:t>"</a:t>
            </a:r>
            <a:r>
              <a:rPr sz="1300" i="0">
                <a:solidFill>
                  <a:srgbClr val="E8EDF2"/>
                </a:solidFill>
                <a:latin typeface="Consolas"/>
              </a:rPr>
              <a:t> </a:t>
            </a:r>
            <a:r>
              <a:rPr sz="1300" i="0">
                <a:solidFill>
                  <a:srgbClr val="7DCEA0"/>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--file</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/var/lib/libvirt/images/n</a:t>
            </a:r>
            <a:r>
              <a:rPr sz="1300" i="0">
                <a:solidFill>
                  <a:srgbClr val="E8EDF2"/>
                </a:solidFill>
                <a:latin typeface="Consolas"/>
              </a:rPr>
              <a:t>$n</a:t>
            </a:r>
            <a:r>
              <a:rPr sz="1300" i="0">
                <a:solidFill>
                  <a:srgbClr val="7DCEA0"/>
                </a:solidFill>
                <a:latin typeface="Consolas"/>
              </a:rPr>
              <a:t>.qcow2</a:t>
            </a:r>
            <a:r>
              <a:rPr sz="1300" i="0">
                <a:solidFill>
                  <a:srgbClr val="7DCEA0"/>
                </a:solidFill>
                <a:latin typeface="Consolas"/>
              </a:rPr>
              <a:t>"</a:t>
            </a:r>
            <a:r>
              <a:rPr sz="1300" i="0">
                <a:solidFill>
                  <a:srgbClr val="E8EDF2"/>
                </a:solidFill>
                <a:latin typeface="Consolas"/>
              </a:rPr>
              <a:t> </a:t>
            </a:r>
            <a:r>
              <a:rPr sz="1300" i="0">
                <a:solidFill>
                  <a:srgbClr val="E8EDF2"/>
                </a:solidFill>
                <a:latin typeface="Consolas"/>
              </a:rPr>
              <a:t>--auto-clone</a:t>
            </a:r>
            <a:r>
              <a:rPr sz="1300" i="0">
                <a:solidFill>
                  <a:srgbClr val="E8EDF2"/>
                </a:solidFill>
                <a:latin typeface="Consolas"/>
              </a:rPr>
              <a:t> </a:t>
            </a:r>
            <a:r>
              <a:rPr sz="1300" i="0">
                <a:solidFill>
                  <a:srgbClr val="E8EDF2"/>
                </a:solidFill>
                <a:latin typeface="Consolas"/>
              </a:rPr>
              <a:t>&gt;/dev/null</a:t>
            </a:r>
          </a:p>
          <a:p>
            <a:pPr>
              <a:lnSpc>
                <a:spcPct val="100000"/>
              </a:lnSpc>
              <a:spcAft>
                <a:spcPts val="0"/>
              </a:spcAft>
            </a:pPr>
            <a:r>
              <a:rPr sz="1300" i="0">
                <a:solidFill>
                  <a:srgbClr val="E8EDF2"/>
                </a:solidFill>
                <a:latin typeface="Consolas"/>
              </a:rPr>
              <a:t>  </a:t>
            </a:r>
            <a:r>
              <a:rPr sz="1300" i="0">
                <a:solidFill>
                  <a:srgbClr val="E8EDF2"/>
                </a:solidFill>
                <a:latin typeface="Consolas"/>
              </a:rPr>
              <a:t>sudo</a:t>
            </a:r>
            <a:r>
              <a:rPr sz="1300" i="0">
                <a:solidFill>
                  <a:srgbClr val="E8EDF2"/>
                </a:solidFill>
                <a:latin typeface="Consolas"/>
              </a:rPr>
              <a:t> </a:t>
            </a:r>
            <a:r>
              <a:rPr sz="1300" i="0">
                <a:solidFill>
                  <a:srgbClr val="E8EDF2"/>
                </a:solidFill>
                <a:latin typeface="Consolas"/>
              </a:rPr>
              <a:t>virsh</a:t>
            </a:r>
            <a:r>
              <a:rPr sz="1300" i="0">
                <a:solidFill>
                  <a:srgbClr val="E8EDF2"/>
                </a:solidFill>
                <a:latin typeface="Consolas"/>
              </a:rPr>
              <a:t> </a:t>
            </a:r>
            <a:r>
              <a:rPr sz="1300" i="0">
                <a:solidFill>
                  <a:srgbClr val="E8EDF2"/>
                </a:solidFill>
                <a:latin typeface="Consolas"/>
              </a:rPr>
              <a:t>setvcpus</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n</a:t>
            </a:r>
            <a:r>
              <a:rPr sz="1300" i="0">
                <a:solidFill>
                  <a:srgbClr val="E8EDF2"/>
                </a:solidFill>
                <a:latin typeface="Consolas"/>
              </a:rPr>
              <a:t>$n</a:t>
            </a:r>
            <a:r>
              <a:rPr sz="1300" i="0">
                <a:solidFill>
                  <a:srgbClr val="7DCEA0"/>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5DADE2"/>
                </a:solidFill>
                <a:latin typeface="Consolas"/>
              </a:rPr>
              <a:t>$(</a:t>
            </a:r>
            <a:r>
              <a:rPr sz="1300" i="0">
                <a:solidFill>
                  <a:srgbClr val="E8EDF2"/>
                </a:solidFill>
                <a:latin typeface="Consolas"/>
              </a:rPr>
              <a:t>nproc</a:t>
            </a:r>
            <a:r>
              <a:rPr sz="1300" i="0">
                <a:solidFill>
                  <a:srgbClr val="5DADE2"/>
                </a:solidFill>
                <a:latin typeface="Consolas"/>
              </a:rPr>
              <a:t>)</a:t>
            </a:r>
            <a:r>
              <a:rPr sz="1300" i="0">
                <a:solidFill>
                  <a:srgbClr val="7DCEA0"/>
                </a:solidFill>
                <a:latin typeface="Consolas"/>
              </a:rPr>
              <a:t>"</a:t>
            </a:r>
            <a:r>
              <a:rPr sz="1300" i="0">
                <a:solidFill>
                  <a:srgbClr val="E8EDF2"/>
                </a:solidFill>
                <a:latin typeface="Consolas"/>
              </a:rPr>
              <a:t> </a:t>
            </a:r>
            <a:r>
              <a:rPr sz="1300" i="0">
                <a:solidFill>
                  <a:srgbClr val="E8EDF2"/>
                </a:solidFill>
                <a:latin typeface="Consolas"/>
              </a:rPr>
              <a:t>--config</a:t>
            </a:r>
            <a:r>
              <a:rPr sz="1300" i="0">
                <a:solidFill>
                  <a:srgbClr val="E8EDF2"/>
                </a:solidFill>
                <a:latin typeface="Consolas"/>
              </a:rPr>
              <a:t> </a:t>
            </a:r>
            <a:r>
              <a:rPr sz="1300" i="0">
                <a:solidFill>
                  <a:srgbClr val="E8EDF2"/>
                </a:solidFill>
                <a:latin typeface="Consolas"/>
              </a:rPr>
              <a:t>--maximum</a:t>
            </a:r>
          </a:p>
          <a:p>
            <a:pPr>
              <a:lnSpc>
                <a:spcPct val="100000"/>
              </a:lnSpc>
              <a:spcAft>
                <a:spcPts val="0"/>
              </a:spcAft>
            </a:pPr>
            <a:r>
              <a:rPr sz="1300" i="0">
                <a:solidFill>
                  <a:srgbClr val="E8EDF2"/>
                </a:solidFill>
                <a:latin typeface="Consolas"/>
              </a:rPr>
              <a:t>  </a:t>
            </a:r>
            <a:r>
              <a:rPr sz="1300" i="0">
                <a:solidFill>
                  <a:srgbClr val="E8EDF2"/>
                </a:solidFill>
                <a:latin typeface="Consolas"/>
              </a:rPr>
              <a:t>sudo</a:t>
            </a:r>
            <a:r>
              <a:rPr sz="1300" i="0">
                <a:solidFill>
                  <a:srgbClr val="E8EDF2"/>
                </a:solidFill>
                <a:latin typeface="Consolas"/>
              </a:rPr>
              <a:t> </a:t>
            </a:r>
            <a:r>
              <a:rPr sz="1300" i="0">
                <a:solidFill>
                  <a:srgbClr val="E8EDF2"/>
                </a:solidFill>
                <a:latin typeface="Consolas"/>
              </a:rPr>
              <a:t>virsh</a:t>
            </a:r>
            <a:r>
              <a:rPr sz="1300" i="0">
                <a:solidFill>
                  <a:srgbClr val="E8EDF2"/>
                </a:solidFill>
                <a:latin typeface="Consolas"/>
              </a:rPr>
              <a:t> </a:t>
            </a:r>
            <a:r>
              <a:rPr sz="1300" i="0">
                <a:solidFill>
                  <a:srgbClr val="E8EDF2"/>
                </a:solidFill>
                <a:latin typeface="Consolas"/>
              </a:rPr>
              <a:t>setvcpus</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n</a:t>
            </a:r>
            <a:r>
              <a:rPr sz="1300" i="0">
                <a:solidFill>
                  <a:srgbClr val="E8EDF2"/>
                </a:solidFill>
                <a:latin typeface="Consolas"/>
              </a:rPr>
              <a:t>$n</a:t>
            </a:r>
            <a:r>
              <a:rPr sz="1300" i="0">
                <a:solidFill>
                  <a:srgbClr val="7DCEA0"/>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5DADE2"/>
                </a:solidFill>
                <a:latin typeface="Consolas"/>
              </a:rPr>
              <a:t>$(</a:t>
            </a:r>
            <a:r>
              <a:rPr sz="1300" i="0">
                <a:solidFill>
                  <a:srgbClr val="E8EDF2"/>
                </a:solidFill>
                <a:latin typeface="Consolas"/>
              </a:rPr>
              <a:t>nproc</a:t>
            </a:r>
            <a:r>
              <a:rPr sz="1300" i="0">
                <a:solidFill>
                  <a:srgbClr val="5DADE2"/>
                </a:solidFill>
                <a:latin typeface="Consolas"/>
              </a:rPr>
              <a:t>)</a:t>
            </a:r>
            <a:r>
              <a:rPr sz="1300" i="0">
                <a:solidFill>
                  <a:srgbClr val="7DCEA0"/>
                </a:solidFill>
                <a:latin typeface="Consolas"/>
              </a:rPr>
              <a:t>"</a:t>
            </a:r>
            <a:r>
              <a:rPr sz="1300" i="0">
                <a:solidFill>
                  <a:srgbClr val="E8EDF2"/>
                </a:solidFill>
                <a:latin typeface="Consolas"/>
              </a:rPr>
              <a:t> </a:t>
            </a:r>
            <a:r>
              <a:rPr sz="1300" i="0">
                <a:solidFill>
                  <a:srgbClr val="E8EDF2"/>
                </a:solidFill>
                <a:latin typeface="Consolas"/>
              </a:rPr>
              <a:t>--config</a:t>
            </a:r>
          </a:p>
          <a:p>
            <a:pPr>
              <a:lnSpc>
                <a:spcPct val="100000"/>
              </a:lnSpc>
              <a:spcAft>
                <a:spcPts val="0"/>
              </a:spcAft>
            </a:pPr>
            <a:r>
              <a:rPr sz="1300" i="0">
                <a:solidFill>
                  <a:srgbClr val="E8EDF2"/>
                </a:solidFill>
                <a:latin typeface="Consolas"/>
              </a:rPr>
              <a:t>  </a:t>
            </a:r>
            <a:r>
              <a:rPr sz="1300" i="0">
                <a:solidFill>
                  <a:srgbClr val="E8EDF2"/>
                </a:solidFill>
                <a:latin typeface="Consolas"/>
              </a:rPr>
              <a:t>sudo</a:t>
            </a:r>
            <a:r>
              <a:rPr sz="1300" i="0">
                <a:solidFill>
                  <a:srgbClr val="E8EDF2"/>
                </a:solidFill>
                <a:latin typeface="Consolas"/>
              </a:rPr>
              <a:t> </a:t>
            </a:r>
            <a:r>
              <a:rPr sz="1300" i="0">
                <a:solidFill>
                  <a:srgbClr val="E8EDF2"/>
                </a:solidFill>
                <a:latin typeface="Consolas"/>
              </a:rPr>
              <a:t>virsh</a:t>
            </a:r>
            <a:r>
              <a:rPr sz="1300" i="0">
                <a:solidFill>
                  <a:srgbClr val="E8EDF2"/>
                </a:solidFill>
                <a:latin typeface="Consolas"/>
              </a:rPr>
              <a:t> </a:t>
            </a:r>
            <a:r>
              <a:rPr sz="1300" i="0">
                <a:solidFill>
                  <a:srgbClr val="E8EDF2"/>
                </a:solidFill>
                <a:latin typeface="Consolas"/>
              </a:rPr>
              <a:t>start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n</a:t>
            </a:r>
            <a:r>
              <a:rPr sz="1300" i="0">
                <a:solidFill>
                  <a:srgbClr val="E8EDF2"/>
                </a:solidFill>
                <a:latin typeface="Consolas"/>
              </a:rPr>
              <a:t>$n</a:t>
            </a:r>
            <a:r>
              <a:rPr sz="1300" i="0">
                <a:solidFill>
                  <a:srgbClr val="7DCEA0"/>
                </a:solidFill>
                <a:latin typeface="Consolas"/>
              </a:rPr>
              <a:t>"</a:t>
            </a:r>
          </a:p>
          <a:p>
            <a:pPr>
              <a:lnSpc>
                <a:spcPct val="100000"/>
              </a:lnSpc>
              <a:spcAft>
                <a:spcPts val="0"/>
              </a:spcAft>
            </a:pPr>
            <a:r>
              <a:rPr sz="1300" i="0">
                <a:solidFill>
                  <a:srgbClr val="5DADE2"/>
                </a:solidFill>
                <a:latin typeface="Consolas"/>
              </a:rPr>
              <a:t>done</a:t>
            </a:r>
          </a:p>
          <a:p>
            <a:pPr>
              <a:lnSpc>
                <a:spcPct val="100000"/>
              </a:lnSpc>
              <a:spcAft>
                <a:spcPts val="0"/>
              </a:spcAft>
            </a:pPr>
            <a:r>
              <a:rPr sz="1300" i="0">
                <a:solidFill>
                  <a:srgbClr val="E8EDF2"/>
                </a:solidFill>
                <a:latin typeface="Consolas"/>
              </a:rPr>
              <a:t>sleep</a:t>
            </a:r>
            <a:r>
              <a:rPr sz="1300" i="0">
                <a:solidFill>
                  <a:srgbClr val="E8EDF2"/>
                </a:solidFill>
                <a:latin typeface="Consolas"/>
              </a:rPr>
              <a:t> </a:t>
            </a:r>
            <a:r>
              <a:rPr sz="1300" i="0">
                <a:solidFill>
                  <a:srgbClr val="F7DC6F"/>
                </a:solidFill>
                <a:latin typeface="Consolas"/>
              </a:rPr>
              <a:t>40</a:t>
            </a:r>
          </a:p>
          <a:p>
            <a:pPr>
              <a:lnSpc>
                <a:spcPct val="100000"/>
              </a:lnSpc>
              <a:spcAft>
                <a:spcPts val="0"/>
              </a:spcAft>
            </a:pPr>
            <a:r>
              <a:rPr sz="1300" i="0">
                <a:solidFill>
                  <a:srgbClr val="5DADE2"/>
                </a:solidFill>
                <a:latin typeface="Consolas"/>
              </a:rPr>
              <a:t>for</a:t>
            </a:r>
            <a:r>
              <a:rPr sz="1300" i="0">
                <a:solidFill>
                  <a:srgbClr val="E8EDF2"/>
                </a:solidFill>
                <a:latin typeface="Consolas"/>
              </a:rPr>
              <a:t> </a:t>
            </a:r>
            <a:r>
              <a:rPr sz="1300" i="0">
                <a:solidFill>
                  <a:srgbClr val="E8EDF2"/>
                </a:solidFill>
                <a:latin typeface="Consolas"/>
              </a:rPr>
              <a:t>n</a:t>
            </a:r>
            <a:r>
              <a:rPr sz="1300" i="0">
                <a:solidFill>
                  <a:srgbClr val="E8EDF2"/>
                </a:solidFill>
                <a:latin typeface="Consolas"/>
              </a:rPr>
              <a:t> </a:t>
            </a:r>
            <a:r>
              <a:rPr sz="1300" i="0">
                <a:solidFill>
                  <a:srgbClr val="5DADE2"/>
                </a:solidFill>
                <a:latin typeface="Consolas"/>
              </a:rPr>
              <a:t>in</a:t>
            </a:r>
            <a:r>
              <a:rPr sz="1300" i="0">
                <a:solidFill>
                  <a:srgbClr val="E8EDF2"/>
                </a:solidFill>
                <a:latin typeface="Consolas"/>
              </a:rPr>
              <a:t> </a:t>
            </a:r>
            <a:r>
              <a:rPr sz="1300" i="0">
                <a:solidFill>
                  <a:srgbClr val="F7DC6F"/>
                </a:solidFill>
                <a:latin typeface="Consolas"/>
              </a:rPr>
              <a:t>2</a:t>
            </a:r>
            <a:r>
              <a:rPr sz="1300" i="0">
                <a:solidFill>
                  <a:srgbClr val="E8EDF2"/>
                </a:solidFill>
                <a:latin typeface="Consolas"/>
              </a:rPr>
              <a:t> </a:t>
            </a:r>
            <a:r>
              <a:rPr sz="1300" i="0">
                <a:solidFill>
                  <a:srgbClr val="F7DC6F"/>
                </a:solidFill>
                <a:latin typeface="Consolas"/>
              </a:rPr>
              <a:t>3</a:t>
            </a:r>
            <a:r>
              <a:rPr sz="1300" i="0">
                <a:solidFill>
                  <a:srgbClr val="E8EDF2"/>
                </a:solidFill>
                <a:latin typeface="Consolas"/>
              </a:rPr>
              <a:t> </a:t>
            </a:r>
            <a:r>
              <a:rPr sz="1300" i="0">
                <a:solidFill>
                  <a:srgbClr val="F7DC6F"/>
                </a:solidFill>
                <a:latin typeface="Consolas"/>
              </a:rPr>
              <a:t>4</a:t>
            </a:r>
            <a:r>
              <a:rPr sz="1300" i="0">
                <a:solidFill>
                  <a:srgbClr val="AEB6BF"/>
                </a:solidFill>
                <a:latin typeface="Consolas"/>
              </a:rPr>
              <a:t>;</a:t>
            </a:r>
            <a:r>
              <a:rPr sz="1300" i="0">
                <a:solidFill>
                  <a:srgbClr val="E8EDF2"/>
                </a:solidFill>
                <a:latin typeface="Consolas"/>
              </a:rPr>
              <a:t> </a:t>
            </a:r>
            <a:r>
              <a:rPr sz="1300" i="0">
                <a:solidFill>
                  <a:srgbClr val="5DADE2"/>
                </a:solidFill>
                <a:latin typeface="Consolas"/>
              </a:rPr>
              <a:t>do</a:t>
            </a:r>
          </a:p>
          <a:p>
            <a:pPr>
              <a:lnSpc>
                <a:spcPct val="100000"/>
              </a:lnSpc>
              <a:spcAft>
                <a:spcPts val="0"/>
              </a:spcAft>
            </a:pPr>
            <a:r>
              <a:rPr sz="1300" i="0">
                <a:solidFill>
                  <a:srgbClr val="E8EDF2"/>
                </a:solidFill>
                <a:latin typeface="Consolas"/>
              </a:rPr>
              <a:t>  </a:t>
            </a:r>
            <a:r>
              <a:rPr sz="1300" i="0">
                <a:solidFill>
                  <a:srgbClr val="E8EDF2"/>
                </a:solidFill>
                <a:latin typeface="Consolas"/>
              </a:rPr>
              <a:t>G</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n</a:t>
            </a:r>
            <a:r>
              <a:rPr sz="1300" i="0">
                <a:solidFill>
                  <a:srgbClr val="E8EDF2"/>
                </a:solidFill>
                <a:latin typeface="Consolas"/>
              </a:rPr>
              <a:t>$n</a:t>
            </a:r>
            <a:r>
              <a:rPr sz="1300" i="0">
                <a:solidFill>
                  <a:srgbClr val="7DCEA0"/>
                </a:solidFill>
                <a:latin typeface="Consolas"/>
              </a:rPr>
              <a:t>"</a:t>
            </a:r>
            <a:r>
              <a:rPr sz="1300" i="0">
                <a:solidFill>
                  <a:srgbClr val="E8EDF2"/>
                </a:solidFill>
                <a:latin typeface="Consolas"/>
              </a:rPr>
              <a:t> </a:t>
            </a:r>
            <a:r>
              <a:rPr sz="1300" i="0">
                <a:solidFill>
                  <a:srgbClr val="7DCEA0"/>
                </a:solidFill>
                <a:latin typeface="Consolas"/>
              </a:rPr>
              <a:t>"nohup stress-ng --cpu \$(nproc) --timeout 120s &gt;/dev/null 2&gt;&amp;1 &amp;"</a:t>
            </a:r>
          </a:p>
          <a:p>
            <a:pPr>
              <a:lnSpc>
                <a:spcPct val="100000"/>
              </a:lnSpc>
              <a:spcAft>
                <a:spcPts val="0"/>
              </a:spcAft>
            </a:pPr>
            <a:r>
              <a:rPr sz="1300" i="0">
                <a:solidFill>
                  <a:srgbClr val="5DADE2"/>
                </a:solidFill>
                <a:latin typeface="Consolas"/>
              </a:rPr>
              <a:t>done</a:t>
            </a:r>
          </a:p>
          <a:p>
            <a:pPr>
              <a:lnSpc>
                <a:spcPct val="100000"/>
              </a:lnSpc>
              <a:spcAft>
                <a:spcPts val="0"/>
              </a:spcAft>
            </a:pPr>
            <a:r>
              <a:rPr sz="1300" i="0">
                <a:solidFill>
                  <a:srgbClr val="E8EDF2"/>
                </a:solidFill>
                <a:latin typeface="Consolas"/>
              </a:rPr>
              <a:t>sleep</a:t>
            </a:r>
            <a:r>
              <a:rPr sz="1300" i="0">
                <a:solidFill>
                  <a:srgbClr val="E8EDF2"/>
                </a:solidFill>
                <a:latin typeface="Consolas"/>
              </a:rPr>
              <a:t> </a:t>
            </a:r>
            <a:r>
              <a:rPr sz="1300" i="0">
                <a:solidFill>
                  <a:srgbClr val="F7DC6F"/>
                </a:solidFill>
                <a:latin typeface="Consolas"/>
              </a:rPr>
              <a:t>10</a:t>
            </a:r>
          </a:p>
          <a:p>
            <a:pPr>
              <a:lnSpc>
                <a:spcPct val="100000"/>
              </a:lnSpc>
              <a:spcAft>
                <a:spcPts val="0"/>
              </a:spcAft>
            </a:pPr>
            <a:r>
              <a:rPr sz="1300" i="0">
                <a:solidFill>
                  <a:srgbClr val="C39BD3"/>
                </a:solidFill>
                <a:latin typeface="Consolas"/>
              </a:rPr>
              <a:t>echo</a:t>
            </a:r>
            <a:r>
              <a:rPr sz="1300" i="0">
                <a:solidFill>
                  <a:srgbClr val="E8EDF2"/>
                </a:solidFill>
                <a:latin typeface="Consolas"/>
              </a:rPr>
              <a:t> </a:t>
            </a:r>
            <a:r>
              <a:rPr sz="1300" i="0">
                <a:solidFill>
                  <a:srgbClr val="7DCEA0"/>
                </a:solidFill>
                <a:latin typeface="Consolas"/>
              </a:rPr>
              <a:t>"=== A: CPU contention ==="</a:t>
            </a:r>
          </a:p>
          <a:p>
            <a:pPr>
              <a:lnSpc>
                <a:spcPct val="100000"/>
              </a:lnSpc>
              <a:spcAft>
                <a:spcPts val="0"/>
              </a:spcAft>
            </a:pPr>
            <a:r>
              <a:rPr sz="1300" i="0">
                <a:solidFill>
                  <a:srgbClr val="E8EDF2"/>
                </a:solidFill>
                <a:latin typeface="Consolas"/>
              </a:rPr>
              <a:t>G</a:t>
            </a:r>
            <a:r>
              <a:rPr sz="1300" i="0">
                <a:solidFill>
                  <a:srgbClr val="E8EDF2"/>
                </a:solidFill>
                <a:latin typeface="Consolas"/>
              </a:rPr>
              <a:t> </a:t>
            </a:r>
            <a:r>
              <a:rPr sz="1300" i="0">
                <a:solidFill>
                  <a:srgbClr val="E8EDF2"/>
                </a:solidFill>
                <a:latin typeface="Consolas"/>
              </a:rPr>
              <a:t>vss1</a:t>
            </a:r>
            <a:r>
              <a:rPr sz="1300" i="0">
                <a:solidFill>
                  <a:srgbClr val="E8EDF2"/>
                </a:solidFill>
                <a:latin typeface="Consolas"/>
              </a:rPr>
              <a:t> </a:t>
            </a:r>
            <a:r>
              <a:rPr sz="1300" i="0">
                <a:solidFill>
                  <a:srgbClr val="7DCEA0"/>
                </a:solidFill>
                <a:latin typeface="Consolas"/>
              </a:rPr>
              <a:t>"mpstat 2 3 | tail -2"</a:t>
            </a:r>
            <a:r>
              <a:rPr sz="1300" i="0">
                <a:solidFill>
                  <a:srgbClr val="E8EDF2"/>
                </a:solidFill>
                <a:latin typeface="Consolas"/>
              </a:rPr>
              <a:t>           </a:t>
            </a:r>
            <a:r>
              <a:rPr sz="1300" i="1">
                <a:solidFill>
                  <a:srgbClr val="8795A1"/>
                </a:solidFill>
                <a:latin typeface="Consolas"/>
              </a:rPr>
              <a:t># %steal climbs; %usr does NOT</a:t>
            </a:r>
          </a:p>
          <a:p>
            <a:pPr>
              <a:lnSpc>
                <a:spcPct val="100000"/>
              </a:lnSpc>
              <a:spcAft>
                <a:spcPts val="0"/>
              </a:spcAft>
            </a:pPr>
            <a:r>
              <a:rPr sz="1300" i="0">
                <a:solidFill>
                  <a:srgbClr val="E8EDF2"/>
                </a:solidFill>
                <a:latin typeface="Consolas"/>
              </a:rPr>
              <a:t>sudo</a:t>
            </a:r>
            <a:r>
              <a:rPr sz="1300" i="0">
                <a:solidFill>
                  <a:srgbClr val="E8EDF2"/>
                </a:solidFill>
                <a:latin typeface="Consolas"/>
              </a:rPr>
              <a:t> </a:t>
            </a:r>
            <a:r>
              <a:rPr sz="1300" i="0">
                <a:solidFill>
                  <a:srgbClr val="E8EDF2"/>
                </a:solidFill>
                <a:latin typeface="Consolas"/>
              </a:rPr>
              <a:t>virsh</a:t>
            </a:r>
            <a:r>
              <a:rPr sz="1300" i="0">
                <a:solidFill>
                  <a:srgbClr val="E8EDF2"/>
                </a:solidFill>
                <a:latin typeface="Consolas"/>
              </a:rPr>
              <a:t> </a:t>
            </a:r>
            <a:r>
              <a:rPr sz="1300" i="0">
                <a:solidFill>
                  <a:srgbClr val="E8EDF2"/>
                </a:solidFill>
                <a:latin typeface="Consolas"/>
              </a:rPr>
              <a:t>domstats</a:t>
            </a:r>
            <a:r>
              <a:rPr sz="1300" i="0">
                <a:solidFill>
                  <a:srgbClr val="E8EDF2"/>
                </a:solidFill>
                <a:latin typeface="Consolas"/>
              </a:rPr>
              <a:t> </a:t>
            </a:r>
            <a:r>
              <a:rPr sz="1300" i="0">
                <a:solidFill>
                  <a:srgbClr val="E8EDF2"/>
                </a:solidFill>
                <a:latin typeface="Consolas"/>
              </a:rPr>
              <a:t>vss1</a:t>
            </a:r>
            <a:r>
              <a:rPr sz="1300" i="0">
                <a:solidFill>
                  <a:srgbClr val="E8EDF2"/>
                </a:solidFill>
                <a:latin typeface="Consolas"/>
              </a:rPr>
              <a:t> </a:t>
            </a:r>
            <a:r>
              <a:rPr sz="1300" i="0">
                <a:solidFill>
                  <a:srgbClr val="E8EDF2"/>
                </a:solidFill>
                <a:latin typeface="Consolas"/>
              </a:rPr>
              <a:t>--vcpu</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grep</a:t>
            </a:r>
            <a:r>
              <a:rPr sz="1300" i="0">
                <a:solidFill>
                  <a:srgbClr val="E8EDF2"/>
                </a:solidFill>
                <a:latin typeface="Consolas"/>
              </a:rPr>
              <a:t> </a:t>
            </a:r>
            <a:r>
              <a:rPr sz="1300" i="0">
                <a:solidFill>
                  <a:srgbClr val="E8EDF2"/>
                </a:solidFill>
                <a:latin typeface="Consolas"/>
              </a:rPr>
              <a:t>-E</a:t>
            </a:r>
            <a:r>
              <a:rPr sz="1300" i="0">
                <a:solidFill>
                  <a:srgbClr val="E8EDF2"/>
                </a:solidFill>
                <a:latin typeface="Consolas"/>
              </a:rPr>
              <a:t> </a:t>
            </a:r>
            <a:r>
              <a:rPr sz="1300" i="0">
                <a:solidFill>
                  <a:srgbClr val="7DCEA0"/>
                </a:solidFill>
                <a:latin typeface="Consolas"/>
              </a:rPr>
              <a:t>'wait|delay'</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true</a:t>
            </a:r>
          </a:p>
          <a:p>
            <a:pPr>
              <a:lnSpc>
                <a:spcPct val="100000"/>
              </a:lnSpc>
              <a:spcAft>
                <a:spcPts val="0"/>
              </a:spcAft>
            </a:pPr>
            <a:r>
              <a:rPr sz="1300" i="1">
                <a:solidFill>
                  <a:srgbClr val="8795A1"/>
                </a:solidFill>
                <a:latin typeface="Consolas"/>
              </a:rPr>
              <a:t># The signature: steal high, guest's own utilisation unchanged.</a:t>
            </a:r>
          </a:p>
        </p:txBody>
      </p:sp>
      <p:sp>
        <p:nvSpPr>
          <p:cNvPr id="15" name="!!code-num"/>
          <p:cNvSpPr txBox="1"/>
          <p:nvPr/>
        </p:nvSpPr>
        <p:spPr>
          <a:xfrm>
            <a:off x="768096" y="2523744"/>
            <a:ext cx="393192" cy="3675887"/>
          </a:xfrm>
          <a:prstGeom prst="rect">
            <a:avLst/>
          </a:prstGeom>
          <a:noFill/>
        </p:spPr>
        <p:txBody>
          <a:bodyPr wrap="none" anchor="t" lIns="0" rIns="0" tIns="0" bIns="0">
            <a:noAutofit/>
          </a:bodyPr>
          <a:lstStyle/>
          <a:p>
            <a:pPr algn="r">
              <a:lnSpc>
                <a:spcPct val="100000"/>
              </a:lnSpc>
            </a:pPr>
            <a:r>
              <a:rPr sz="1300">
                <a:solidFill>
                  <a:srgbClr val="4F5D6A"/>
                </a:solidFill>
                <a:latin typeface="Consolas"/>
              </a:rPr>
              <a:t>17</a:t>
            </a:r>
          </a:p>
          <a:p>
            <a:pPr algn="r">
              <a:lnSpc>
                <a:spcPct val="100000"/>
              </a:lnSpc>
            </a:pPr>
            <a:r>
              <a:rPr sz="1300">
                <a:solidFill>
                  <a:srgbClr val="4F5D6A"/>
                </a:solidFill>
                <a:latin typeface="Consolas"/>
              </a:rPr>
              <a:t>18</a:t>
            </a:r>
          </a:p>
          <a:p>
            <a:pPr algn="r">
              <a:lnSpc>
                <a:spcPct val="100000"/>
              </a:lnSpc>
            </a:pPr>
            <a:r>
              <a:rPr sz="1300">
                <a:solidFill>
                  <a:srgbClr val="4F5D6A"/>
                </a:solidFill>
                <a:latin typeface="Consolas"/>
              </a:rPr>
              <a:t>19</a:t>
            </a:r>
          </a:p>
          <a:p>
            <a:pPr algn="r">
              <a:lnSpc>
                <a:spcPct val="100000"/>
              </a:lnSpc>
            </a:pPr>
            <a:r>
              <a:rPr sz="1300">
                <a:solidFill>
                  <a:srgbClr val="4F5D6A"/>
                </a:solidFill>
                <a:latin typeface="Consolas"/>
              </a:rPr>
              <a:t>20</a:t>
            </a:r>
          </a:p>
          <a:p>
            <a:pPr algn="r">
              <a:lnSpc>
                <a:spcPct val="100000"/>
              </a:lnSpc>
            </a:pPr>
            <a:r>
              <a:rPr sz="1300">
                <a:solidFill>
                  <a:srgbClr val="4F5D6A"/>
                </a:solidFill>
                <a:latin typeface="Consolas"/>
              </a:rPr>
              <a:t>21</a:t>
            </a:r>
          </a:p>
          <a:p>
            <a:pPr algn="r">
              <a:lnSpc>
                <a:spcPct val="100000"/>
              </a:lnSpc>
            </a:pPr>
            <a:r>
              <a:rPr sz="1300">
                <a:solidFill>
                  <a:srgbClr val="4F5D6A"/>
                </a:solidFill>
                <a:latin typeface="Consolas"/>
              </a:rPr>
              <a:t>22</a:t>
            </a:r>
          </a:p>
          <a:p>
            <a:pPr algn="r">
              <a:lnSpc>
                <a:spcPct val="100000"/>
              </a:lnSpc>
            </a:pPr>
            <a:r>
              <a:rPr sz="1300">
                <a:solidFill>
                  <a:srgbClr val="4F5D6A"/>
                </a:solidFill>
                <a:latin typeface="Consolas"/>
              </a:rPr>
              <a:t>23</a:t>
            </a:r>
          </a:p>
          <a:p>
            <a:pPr algn="r">
              <a:lnSpc>
                <a:spcPct val="100000"/>
              </a:lnSpc>
            </a:pPr>
            <a:r>
              <a:rPr sz="1300">
                <a:solidFill>
                  <a:srgbClr val="4F5D6A"/>
                </a:solidFill>
                <a:latin typeface="Consolas"/>
              </a:rPr>
              <a:t>24</a:t>
            </a:r>
          </a:p>
          <a:p>
            <a:pPr algn="r">
              <a:lnSpc>
                <a:spcPct val="100000"/>
              </a:lnSpc>
            </a:pPr>
            <a:r>
              <a:rPr sz="1300">
                <a:solidFill>
                  <a:srgbClr val="4F5D6A"/>
                </a:solidFill>
                <a:latin typeface="Consolas"/>
              </a:rPr>
              <a:t>25</a:t>
            </a:r>
          </a:p>
          <a:p>
            <a:pPr algn="r">
              <a:lnSpc>
                <a:spcPct val="100000"/>
              </a:lnSpc>
            </a:pPr>
            <a:r>
              <a:rPr sz="1300">
                <a:solidFill>
                  <a:srgbClr val="4F5D6A"/>
                </a:solidFill>
                <a:latin typeface="Consolas"/>
              </a:rPr>
              <a:t>26</a:t>
            </a:r>
          </a:p>
          <a:p>
            <a:pPr algn="r">
              <a:lnSpc>
                <a:spcPct val="100000"/>
              </a:lnSpc>
            </a:pPr>
            <a:r>
              <a:rPr sz="1300">
                <a:solidFill>
                  <a:srgbClr val="4F5D6A"/>
                </a:solidFill>
                <a:latin typeface="Consolas"/>
              </a:rPr>
              <a:t>27</a:t>
            </a:r>
          </a:p>
          <a:p>
            <a:pPr algn="r">
              <a:lnSpc>
                <a:spcPct val="100000"/>
              </a:lnSpc>
            </a:pPr>
            <a:r>
              <a:rPr sz="1300">
                <a:solidFill>
                  <a:srgbClr val="4F5D6A"/>
                </a:solidFill>
                <a:latin typeface="Consolas"/>
              </a:rPr>
              <a:t>28</a:t>
            </a:r>
          </a:p>
          <a:p>
            <a:pPr algn="r">
              <a:lnSpc>
                <a:spcPct val="100000"/>
              </a:lnSpc>
            </a:pPr>
            <a:r>
              <a:rPr sz="1300">
                <a:solidFill>
                  <a:srgbClr val="4F5D6A"/>
                </a:solidFill>
                <a:latin typeface="Consolas"/>
              </a:rPr>
              <a:t>29</a:t>
            </a:r>
          </a:p>
          <a:p>
            <a:pPr algn="r">
              <a:lnSpc>
                <a:spcPct val="100000"/>
              </a:lnSpc>
            </a:pPr>
            <a:r>
              <a:rPr sz="1300">
                <a:solidFill>
                  <a:srgbClr val="4F5D6A"/>
                </a:solidFill>
                <a:latin typeface="Consolas"/>
              </a:rPr>
              <a:t>30</a:t>
            </a:r>
          </a:p>
          <a:p>
            <a:pPr algn="r">
              <a:lnSpc>
                <a:spcPct val="100000"/>
              </a:lnSpc>
            </a:pPr>
            <a:r>
              <a:rPr sz="1300">
                <a:solidFill>
                  <a:srgbClr val="4F5D6A"/>
                </a:solidFill>
                <a:latin typeface="Consolas"/>
              </a:rPr>
              <a:t>31</a:t>
            </a:r>
          </a:p>
          <a:p>
            <a:pPr algn="r">
              <a:lnSpc>
                <a:spcPct val="100000"/>
              </a:lnSpc>
            </a:pPr>
            <a:r>
              <a:rPr sz="1300">
                <a:solidFill>
                  <a:srgbClr val="4F5D6A"/>
                </a:solidFill>
                <a:latin typeface="Consolas"/>
              </a:rPr>
              <a:t>32</a:t>
            </a:r>
          </a:p>
          <a:p>
            <a:pPr algn="r">
              <a:lnSpc>
                <a:spcPct val="100000"/>
              </a:lnSpc>
            </a:pPr>
            <a:r>
              <a:rPr sz="1300">
                <a:solidFill>
                  <a:srgbClr val="4F5D6A"/>
                </a:solidFill>
                <a:latin typeface="Consolas"/>
              </a:rPr>
              <a:t>33</a:t>
            </a:r>
          </a:p>
          <a:p>
            <a:pPr algn="r">
              <a:lnSpc>
                <a:spcPct val="100000"/>
              </a:lnSpc>
            </a:pPr>
            <a:r>
              <a:rPr sz="1300">
                <a:solidFill>
                  <a:srgbClr val="4F5D6A"/>
                </a:solidFill>
                <a:latin typeface="Consolas"/>
              </a:rPr>
              <a:t>34</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371722"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Finding the Bottleneck</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18  ·  Performance Monitoring and Capacity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§18.5  ·  Handout p. 144     </a:t>
            </a:r>
            <a:fld id="{47DF3F14-BEB0-4824-B45A-8103E67E39EE}" type="slidenum">
              <a:rPr lang="en-GB" sz="1000">
                <a:solidFill>
                  <a:srgbClr val="8795A1"/>
                </a:solidFill>
                <a:latin typeface="Segoe UI"/>
              </a:rPr>
              <a:t>27</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Bottleneck B: memory pressure.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788663"/>
          </a:xfrm>
          <a:prstGeom prst="roundRect">
            <a:avLst>
              <a:gd name="adj" fmla="val 2413"/>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3. Bottleneck B: memory pressure. -------------------------------- for n in 2 3 4; do G &quot;n$n&quot; &quot;nohup stress-ng --vm 1 --vm-bytes 85% --vm-keep \ --timeout 90s &gt;/dev/null 2&gt;&amp;1 &amp;&quot; done sleep 20 echo &quot;=== B: memory pressure ===&quot; sudo virsh dommemstat vss1 | grep -E 'balloon|swap|available' vmstat 2 3 | tail -2 # host si/so columns free -m | head -2 # The signature: balloon moving, or host swap non-zero. Different fix."/>
          <p:cNvSpPr txBox="1"/>
          <p:nvPr/>
        </p:nvSpPr>
        <p:spPr>
          <a:xfrm>
            <a:off x="1362456" y="2523744"/>
            <a:ext cx="9987991" cy="329488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--- 3. Bottleneck B: memory pressure. --------------------------------</a:t>
            </a:r>
          </a:p>
          <a:p>
            <a:pPr>
              <a:lnSpc>
                <a:spcPct val="100000"/>
              </a:lnSpc>
              <a:spcAft>
                <a:spcPts val="0"/>
              </a:spcAft>
            </a:pPr>
            <a:r>
              <a:rPr sz="1900" i="0">
                <a:solidFill>
                  <a:srgbClr val="5DADE2"/>
                </a:solidFill>
                <a:latin typeface="Consolas"/>
              </a:rPr>
              <a:t>for</a:t>
            </a:r>
            <a:r>
              <a:rPr sz="1900" i="0">
                <a:solidFill>
                  <a:srgbClr val="E8EDF2"/>
                </a:solidFill>
                <a:latin typeface="Consolas"/>
              </a:rPr>
              <a:t> </a:t>
            </a:r>
            <a:r>
              <a:rPr sz="1900" i="0">
                <a:solidFill>
                  <a:srgbClr val="E8EDF2"/>
                </a:solidFill>
                <a:latin typeface="Consolas"/>
              </a:rPr>
              <a:t>n</a:t>
            </a:r>
            <a:r>
              <a:rPr sz="1900" i="0">
                <a:solidFill>
                  <a:srgbClr val="E8EDF2"/>
                </a:solidFill>
                <a:latin typeface="Consolas"/>
              </a:rPr>
              <a:t> </a:t>
            </a:r>
            <a:r>
              <a:rPr sz="1900" i="0">
                <a:solidFill>
                  <a:srgbClr val="5DADE2"/>
                </a:solidFill>
                <a:latin typeface="Consolas"/>
              </a:rPr>
              <a:t>in</a:t>
            </a:r>
            <a:r>
              <a:rPr sz="1900" i="0">
                <a:solidFill>
                  <a:srgbClr val="E8EDF2"/>
                </a:solidFill>
                <a:latin typeface="Consolas"/>
              </a:rPr>
              <a:t> </a:t>
            </a:r>
            <a:r>
              <a:rPr sz="1900" i="0">
                <a:solidFill>
                  <a:srgbClr val="F7DC6F"/>
                </a:solidFill>
                <a:latin typeface="Consolas"/>
              </a:rPr>
              <a:t>2</a:t>
            </a:r>
            <a:r>
              <a:rPr sz="1900" i="0">
                <a:solidFill>
                  <a:srgbClr val="E8EDF2"/>
                </a:solidFill>
                <a:latin typeface="Consolas"/>
              </a:rPr>
              <a:t> </a:t>
            </a:r>
            <a:r>
              <a:rPr sz="1900" i="0">
                <a:solidFill>
                  <a:srgbClr val="F7DC6F"/>
                </a:solidFill>
                <a:latin typeface="Consolas"/>
              </a:rPr>
              <a:t>3</a:t>
            </a:r>
            <a:r>
              <a:rPr sz="1900" i="0">
                <a:solidFill>
                  <a:srgbClr val="E8EDF2"/>
                </a:solidFill>
                <a:latin typeface="Consolas"/>
              </a:rPr>
              <a:t> </a:t>
            </a:r>
            <a:r>
              <a:rPr sz="1900" i="0">
                <a:solidFill>
                  <a:srgbClr val="F7DC6F"/>
                </a:solidFill>
                <a:latin typeface="Consolas"/>
              </a:rPr>
              <a:t>4</a:t>
            </a:r>
            <a:r>
              <a:rPr sz="1900" i="0">
                <a:solidFill>
                  <a:srgbClr val="AEB6BF"/>
                </a:solidFill>
                <a:latin typeface="Consolas"/>
              </a:rPr>
              <a:t>;</a:t>
            </a:r>
            <a:r>
              <a:rPr sz="1900" i="0">
                <a:solidFill>
                  <a:srgbClr val="E8EDF2"/>
                </a:solidFill>
                <a:latin typeface="Consolas"/>
              </a:rPr>
              <a:t> </a:t>
            </a:r>
            <a:r>
              <a:rPr sz="1900" i="0">
                <a:solidFill>
                  <a:srgbClr val="5DADE2"/>
                </a:solidFill>
                <a:latin typeface="Consolas"/>
              </a:rPr>
              <a:t>do</a:t>
            </a:r>
          </a:p>
          <a:p>
            <a:pPr>
              <a:lnSpc>
                <a:spcPct val="100000"/>
              </a:lnSpc>
              <a:spcAft>
                <a:spcPts val="0"/>
              </a:spcAft>
            </a:pPr>
            <a:r>
              <a:rPr sz="1900" i="0">
                <a:solidFill>
                  <a:srgbClr val="E8EDF2"/>
                </a:solidFill>
                <a:latin typeface="Consolas"/>
              </a:rPr>
              <a:t>  </a:t>
            </a:r>
            <a:r>
              <a:rPr sz="1900" i="0">
                <a:solidFill>
                  <a:srgbClr val="E8EDF2"/>
                </a:solidFill>
                <a:latin typeface="Consolas"/>
              </a:rPr>
              <a:t>G</a:t>
            </a: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n</a:t>
            </a:r>
            <a:r>
              <a:rPr sz="1900" i="0">
                <a:solidFill>
                  <a:srgbClr val="E8EDF2"/>
                </a:solidFill>
                <a:latin typeface="Consolas"/>
              </a:rPr>
              <a:t>$n</a:t>
            </a:r>
            <a:r>
              <a:rPr sz="1900" i="0">
                <a:solidFill>
                  <a:srgbClr val="7DCEA0"/>
                </a:solidFill>
                <a:latin typeface="Consolas"/>
              </a:rPr>
              <a:t>"</a:t>
            </a:r>
            <a:r>
              <a:rPr sz="1900" i="0">
                <a:solidFill>
                  <a:srgbClr val="E8EDF2"/>
                </a:solidFill>
                <a:latin typeface="Consolas"/>
              </a:rPr>
              <a:t> </a:t>
            </a:r>
            <a:r>
              <a:rPr sz="1900" i="0">
                <a:solidFill>
                  <a:srgbClr val="7DCEA0"/>
                </a:solidFill>
                <a:latin typeface="Consolas"/>
              </a:rPr>
              <a:t>"nohup stress-ng --vm 1 --vm-bytes 85% --vm-keep \</a:t>
            </a:r>
          </a:p>
          <a:p>
            <a:pPr>
              <a:lnSpc>
                <a:spcPct val="100000"/>
              </a:lnSpc>
              <a:spcAft>
                <a:spcPts val="0"/>
              </a:spcAft>
            </a:pPr>
            <a:r>
              <a:rPr sz="1900" i="0">
                <a:solidFill>
                  <a:srgbClr val="7DCEA0"/>
                </a:solidFill>
                <a:latin typeface="Consolas"/>
              </a:rPr>
              <a:t>           --timeout 90s &gt;/dev/null 2&gt;&amp;1 &amp;"</a:t>
            </a:r>
          </a:p>
          <a:p>
            <a:pPr>
              <a:lnSpc>
                <a:spcPct val="100000"/>
              </a:lnSpc>
              <a:spcAft>
                <a:spcPts val="0"/>
              </a:spcAft>
            </a:pPr>
            <a:r>
              <a:rPr sz="1900" i="0">
                <a:solidFill>
                  <a:srgbClr val="5DADE2"/>
                </a:solidFill>
                <a:latin typeface="Consolas"/>
              </a:rPr>
              <a:t>done</a:t>
            </a:r>
          </a:p>
          <a:p>
            <a:pPr>
              <a:lnSpc>
                <a:spcPct val="100000"/>
              </a:lnSpc>
              <a:spcAft>
                <a:spcPts val="0"/>
              </a:spcAft>
            </a:pPr>
            <a:r>
              <a:rPr sz="1900" i="0">
                <a:solidFill>
                  <a:srgbClr val="E8EDF2"/>
                </a:solidFill>
                <a:latin typeface="Consolas"/>
              </a:rPr>
              <a:t>sleep</a:t>
            </a:r>
            <a:r>
              <a:rPr sz="1900" i="0">
                <a:solidFill>
                  <a:srgbClr val="E8EDF2"/>
                </a:solidFill>
                <a:latin typeface="Consolas"/>
              </a:rPr>
              <a:t> </a:t>
            </a:r>
            <a:r>
              <a:rPr sz="1900" i="0">
                <a:solidFill>
                  <a:srgbClr val="F7DC6F"/>
                </a:solidFill>
                <a:latin typeface="Consolas"/>
              </a:rPr>
              <a:t>20</a:t>
            </a:r>
          </a:p>
          <a:p>
            <a:pPr>
              <a:lnSpc>
                <a:spcPct val="100000"/>
              </a:lnSpc>
              <a:spcAft>
                <a:spcPts val="0"/>
              </a:spcAft>
            </a:pPr>
            <a:r>
              <a:rPr sz="1900" i="0">
                <a:solidFill>
                  <a:srgbClr val="C39BD3"/>
                </a:solidFill>
                <a:latin typeface="Consolas"/>
              </a:rPr>
              <a:t>echo</a:t>
            </a:r>
            <a:r>
              <a:rPr sz="1900" i="0">
                <a:solidFill>
                  <a:srgbClr val="E8EDF2"/>
                </a:solidFill>
                <a:latin typeface="Consolas"/>
              </a:rPr>
              <a:t> </a:t>
            </a:r>
            <a:r>
              <a:rPr sz="1900" i="0">
                <a:solidFill>
                  <a:srgbClr val="7DCEA0"/>
                </a:solidFill>
                <a:latin typeface="Consolas"/>
              </a:rPr>
              <a:t>"=== B: memory pressure ==="</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virsh</a:t>
            </a:r>
            <a:r>
              <a:rPr sz="1900" i="0">
                <a:solidFill>
                  <a:srgbClr val="E8EDF2"/>
                </a:solidFill>
                <a:latin typeface="Consolas"/>
              </a:rPr>
              <a:t> </a:t>
            </a:r>
            <a:r>
              <a:rPr sz="1900" i="0">
                <a:solidFill>
                  <a:srgbClr val="E8EDF2"/>
                </a:solidFill>
                <a:latin typeface="Consolas"/>
              </a:rPr>
              <a:t>dommemstat</a:t>
            </a:r>
            <a:r>
              <a:rPr sz="1900" i="0">
                <a:solidFill>
                  <a:srgbClr val="E8EDF2"/>
                </a:solidFill>
                <a:latin typeface="Consolas"/>
              </a:rPr>
              <a:t> </a:t>
            </a:r>
            <a:r>
              <a:rPr sz="1900" i="0">
                <a:solidFill>
                  <a:srgbClr val="E8EDF2"/>
                </a:solidFill>
                <a:latin typeface="Consolas"/>
              </a:rPr>
              <a:t>vss1</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grep</a:t>
            </a:r>
            <a:r>
              <a:rPr sz="1900" i="0">
                <a:solidFill>
                  <a:srgbClr val="E8EDF2"/>
                </a:solidFill>
                <a:latin typeface="Consolas"/>
              </a:rPr>
              <a:t> </a:t>
            </a:r>
            <a:r>
              <a:rPr sz="1900" i="0">
                <a:solidFill>
                  <a:srgbClr val="E8EDF2"/>
                </a:solidFill>
                <a:latin typeface="Consolas"/>
              </a:rPr>
              <a:t>-E</a:t>
            </a:r>
            <a:r>
              <a:rPr sz="1900" i="0">
                <a:solidFill>
                  <a:srgbClr val="E8EDF2"/>
                </a:solidFill>
                <a:latin typeface="Consolas"/>
              </a:rPr>
              <a:t> </a:t>
            </a:r>
            <a:r>
              <a:rPr sz="1900" i="0">
                <a:solidFill>
                  <a:srgbClr val="7DCEA0"/>
                </a:solidFill>
                <a:latin typeface="Consolas"/>
              </a:rPr>
              <a:t>'balloon|swap|available'</a:t>
            </a:r>
          </a:p>
          <a:p>
            <a:pPr>
              <a:lnSpc>
                <a:spcPct val="100000"/>
              </a:lnSpc>
              <a:spcAft>
                <a:spcPts val="0"/>
              </a:spcAft>
            </a:pPr>
            <a:r>
              <a:rPr sz="1900" i="0">
                <a:solidFill>
                  <a:srgbClr val="E8EDF2"/>
                </a:solidFill>
                <a:latin typeface="Consolas"/>
              </a:rPr>
              <a:t>vmstat</a:t>
            </a:r>
            <a:r>
              <a:rPr sz="1900" i="0">
                <a:solidFill>
                  <a:srgbClr val="E8EDF2"/>
                </a:solidFill>
                <a:latin typeface="Consolas"/>
              </a:rPr>
              <a:t> </a:t>
            </a:r>
            <a:r>
              <a:rPr sz="1900" i="0">
                <a:solidFill>
                  <a:srgbClr val="F7DC6F"/>
                </a:solidFill>
                <a:latin typeface="Consolas"/>
              </a:rPr>
              <a:t>2</a:t>
            </a:r>
            <a:r>
              <a:rPr sz="1900" i="0">
                <a:solidFill>
                  <a:srgbClr val="E8EDF2"/>
                </a:solidFill>
                <a:latin typeface="Consolas"/>
              </a:rPr>
              <a:t> </a:t>
            </a:r>
            <a:r>
              <a:rPr sz="1900" i="0">
                <a:solidFill>
                  <a:srgbClr val="F7DC6F"/>
                </a:solidFill>
                <a:latin typeface="Consolas"/>
              </a:rPr>
              <a:t>3</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tail</a:t>
            </a:r>
            <a:r>
              <a:rPr sz="1900" i="0">
                <a:solidFill>
                  <a:srgbClr val="E8EDF2"/>
                </a:solidFill>
                <a:latin typeface="Consolas"/>
              </a:rPr>
              <a:t> </a:t>
            </a:r>
            <a:r>
              <a:rPr sz="1900" i="0">
                <a:solidFill>
                  <a:srgbClr val="E8EDF2"/>
                </a:solidFill>
                <a:latin typeface="Consolas"/>
              </a:rPr>
              <a:t>-2</a:t>
            </a:r>
            <a:r>
              <a:rPr sz="1900" i="0">
                <a:solidFill>
                  <a:srgbClr val="E8EDF2"/>
                </a:solidFill>
                <a:latin typeface="Consolas"/>
              </a:rPr>
              <a:t>                    </a:t>
            </a:r>
            <a:r>
              <a:rPr sz="1900" i="1">
                <a:solidFill>
                  <a:srgbClr val="8795A1"/>
                </a:solidFill>
                <a:latin typeface="Consolas"/>
              </a:rPr>
              <a:t># host si/so columns</a:t>
            </a:r>
          </a:p>
          <a:p>
            <a:pPr>
              <a:lnSpc>
                <a:spcPct val="100000"/>
              </a:lnSpc>
              <a:spcAft>
                <a:spcPts val="0"/>
              </a:spcAft>
            </a:pPr>
            <a:r>
              <a:rPr sz="1900" i="0">
                <a:solidFill>
                  <a:srgbClr val="E8EDF2"/>
                </a:solidFill>
                <a:latin typeface="Consolas"/>
              </a:rPr>
              <a:t>free</a:t>
            </a:r>
            <a:r>
              <a:rPr sz="1900" i="0">
                <a:solidFill>
                  <a:srgbClr val="E8EDF2"/>
                </a:solidFill>
                <a:latin typeface="Consolas"/>
              </a:rPr>
              <a:t> </a:t>
            </a:r>
            <a:r>
              <a:rPr sz="1900" i="0">
                <a:solidFill>
                  <a:srgbClr val="E8EDF2"/>
                </a:solidFill>
                <a:latin typeface="Consolas"/>
              </a:rPr>
              <a:t>-m</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head</a:t>
            </a:r>
            <a:r>
              <a:rPr sz="1900" i="0">
                <a:solidFill>
                  <a:srgbClr val="E8EDF2"/>
                </a:solidFill>
                <a:latin typeface="Consolas"/>
              </a:rPr>
              <a:t> </a:t>
            </a:r>
            <a:r>
              <a:rPr sz="1900" i="0">
                <a:solidFill>
                  <a:srgbClr val="E8EDF2"/>
                </a:solidFill>
                <a:latin typeface="Consolas"/>
              </a:rPr>
              <a:t>-2</a:t>
            </a:r>
          </a:p>
          <a:p>
            <a:pPr>
              <a:lnSpc>
                <a:spcPct val="100000"/>
              </a:lnSpc>
              <a:spcAft>
                <a:spcPts val="0"/>
              </a:spcAft>
            </a:pPr>
            <a:r>
              <a:rPr sz="1900" i="1">
                <a:solidFill>
                  <a:srgbClr val="8795A1"/>
                </a:solidFill>
                <a:latin typeface="Consolas"/>
              </a:rPr>
              <a:t># The signature: balloon moving, or host swap non-zero. Different fix.</a:t>
            </a:r>
          </a:p>
        </p:txBody>
      </p:sp>
      <p:sp>
        <p:nvSpPr>
          <p:cNvPr id="15" name="!!code-num"/>
          <p:cNvSpPr txBox="1"/>
          <p:nvPr/>
        </p:nvSpPr>
        <p:spPr>
          <a:xfrm>
            <a:off x="768096" y="2523744"/>
            <a:ext cx="393192" cy="329488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36</a:t>
            </a:r>
          </a:p>
          <a:p>
            <a:pPr algn="r">
              <a:lnSpc>
                <a:spcPct val="100000"/>
              </a:lnSpc>
            </a:pPr>
            <a:r>
              <a:rPr sz="1900">
                <a:solidFill>
                  <a:srgbClr val="4F5D6A"/>
                </a:solidFill>
                <a:latin typeface="Consolas"/>
              </a:rPr>
              <a:t>37</a:t>
            </a:r>
          </a:p>
          <a:p>
            <a:pPr algn="r">
              <a:lnSpc>
                <a:spcPct val="100000"/>
              </a:lnSpc>
            </a:pPr>
            <a:r>
              <a:rPr sz="1900">
                <a:solidFill>
                  <a:srgbClr val="4F5D6A"/>
                </a:solidFill>
                <a:latin typeface="Consolas"/>
              </a:rPr>
              <a:t>38</a:t>
            </a:r>
          </a:p>
          <a:p>
            <a:pPr algn="r">
              <a:lnSpc>
                <a:spcPct val="100000"/>
              </a:lnSpc>
            </a:pPr>
            <a:r>
              <a:rPr sz="1900">
                <a:solidFill>
                  <a:srgbClr val="4F5D6A"/>
                </a:solidFill>
                <a:latin typeface="Consolas"/>
              </a:rPr>
              <a:t>39</a:t>
            </a:r>
          </a:p>
          <a:p>
            <a:pPr algn="r">
              <a:lnSpc>
                <a:spcPct val="100000"/>
              </a:lnSpc>
            </a:pPr>
            <a:r>
              <a:rPr sz="1900">
                <a:solidFill>
                  <a:srgbClr val="4F5D6A"/>
                </a:solidFill>
                <a:latin typeface="Consolas"/>
              </a:rPr>
              <a:t>40</a:t>
            </a:r>
          </a:p>
          <a:p>
            <a:pPr algn="r">
              <a:lnSpc>
                <a:spcPct val="100000"/>
              </a:lnSpc>
            </a:pPr>
            <a:r>
              <a:rPr sz="1900">
                <a:solidFill>
                  <a:srgbClr val="4F5D6A"/>
                </a:solidFill>
                <a:latin typeface="Consolas"/>
              </a:rPr>
              <a:t>41</a:t>
            </a:r>
          </a:p>
          <a:p>
            <a:pPr algn="r">
              <a:lnSpc>
                <a:spcPct val="100000"/>
              </a:lnSpc>
            </a:pPr>
            <a:r>
              <a:rPr sz="1900">
                <a:solidFill>
                  <a:srgbClr val="4F5D6A"/>
                </a:solidFill>
                <a:latin typeface="Consolas"/>
              </a:rPr>
              <a:t>42</a:t>
            </a:r>
          </a:p>
          <a:p>
            <a:pPr algn="r">
              <a:lnSpc>
                <a:spcPct val="100000"/>
              </a:lnSpc>
            </a:pPr>
            <a:r>
              <a:rPr sz="1900">
                <a:solidFill>
                  <a:srgbClr val="4F5D6A"/>
                </a:solidFill>
                <a:latin typeface="Consolas"/>
              </a:rPr>
              <a:t>43</a:t>
            </a:r>
          </a:p>
          <a:p>
            <a:pPr algn="r">
              <a:lnSpc>
                <a:spcPct val="100000"/>
              </a:lnSpc>
            </a:pPr>
            <a:r>
              <a:rPr sz="1900">
                <a:solidFill>
                  <a:srgbClr val="4F5D6A"/>
                </a:solidFill>
                <a:latin typeface="Consolas"/>
              </a:rPr>
              <a:t>44</a:t>
            </a:r>
          </a:p>
          <a:p>
            <a:pPr algn="r">
              <a:lnSpc>
                <a:spcPct val="100000"/>
              </a:lnSpc>
            </a:pPr>
            <a:r>
              <a:rPr sz="1900">
                <a:solidFill>
                  <a:srgbClr val="4F5D6A"/>
                </a:solidFill>
                <a:latin typeface="Consolas"/>
              </a:rPr>
              <a:t>45</a:t>
            </a:r>
          </a:p>
          <a:p>
            <a:pPr algn="r">
              <a:lnSpc>
                <a:spcPct val="100000"/>
              </a:lnSpc>
            </a:pPr>
            <a:r>
              <a:rPr sz="1900">
                <a:solidFill>
                  <a:srgbClr val="4F5D6A"/>
                </a:solidFill>
                <a:latin typeface="Consolas"/>
              </a:rPr>
              <a:t>46</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655250"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Finding the Bottleneck</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18  ·  Performance Monitoring and Capacity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§18.5  ·  Handout p. 144     </a:t>
            </a:r>
            <a:fld id="{B6603B5F-8EB2-475D-88DC-614CA712FECB}" type="slidenum">
              <a:rPr lang="en-GB" sz="1000">
                <a:solidFill>
                  <a:srgbClr val="8795A1"/>
                </a:solidFill>
                <a:latin typeface="Segoe UI"/>
              </a:rPr>
              <a:t>28</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Bottleneck C: storage queueing.</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788663"/>
          </a:xfrm>
          <a:prstGeom prst="roundRect">
            <a:avLst>
              <a:gd name="adj" fmla="val 2413"/>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4. Bottleneck C: storage queueing. ------------------------------- pkill stress-ng 2&gt;/dev/null || true ; sleep 5 G vss1 &quot;nohup fio --name=load --rw=randwrite --bs=4k --size=512M \ --numjobs=4 --time_based --runtime=60 --direct=1 \ &gt;/dev/null 2&gt;&amp;1 &amp;&quot; sleep 10 echo &quot;=== C: storage queueing ===&quot; iostat -x 2 3 | awk '/Device|vd|sd|nvme/' | tail -6 # The signature: aqu-sz (queue depth) and await (latency) both high, # while %util may already have been 100% harmlessly before. Utilisation # against saturation, section 18.2."/>
          <p:cNvSpPr txBox="1"/>
          <p:nvPr/>
        </p:nvSpPr>
        <p:spPr>
          <a:xfrm>
            <a:off x="1362456" y="2523744"/>
            <a:ext cx="9987991" cy="329488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--- 4. Bottleneck C: storage queueing. -------------------------------</a:t>
            </a:r>
          </a:p>
          <a:p>
            <a:pPr>
              <a:lnSpc>
                <a:spcPct val="100000"/>
              </a:lnSpc>
              <a:spcAft>
                <a:spcPts val="0"/>
              </a:spcAft>
            </a:pPr>
            <a:r>
              <a:rPr sz="1900" i="0">
                <a:solidFill>
                  <a:srgbClr val="E8EDF2"/>
                </a:solidFill>
                <a:latin typeface="Consolas"/>
              </a:rPr>
              <a:t>pkill</a:t>
            </a:r>
            <a:r>
              <a:rPr sz="1900" i="0">
                <a:solidFill>
                  <a:srgbClr val="E8EDF2"/>
                </a:solidFill>
                <a:latin typeface="Consolas"/>
              </a:rPr>
              <a:t> </a:t>
            </a:r>
            <a:r>
              <a:rPr sz="1900" i="0">
                <a:solidFill>
                  <a:srgbClr val="E8EDF2"/>
                </a:solidFill>
                <a:latin typeface="Consolas"/>
              </a:rPr>
              <a:t>stress-ng</a:t>
            </a:r>
            <a:r>
              <a:rPr sz="1900" i="0">
                <a:solidFill>
                  <a:srgbClr val="E8EDF2"/>
                </a:solidFill>
                <a:latin typeface="Consolas"/>
              </a:rPr>
              <a:t> </a:t>
            </a:r>
            <a:r>
              <a:rPr sz="1900" i="0">
                <a:solidFill>
                  <a:srgbClr val="F7DC6F"/>
                </a:solidFill>
                <a:latin typeface="Consolas"/>
              </a:rPr>
              <a:t>2</a:t>
            </a:r>
            <a:r>
              <a:rPr sz="1900" i="0">
                <a:solidFill>
                  <a:srgbClr val="E8EDF2"/>
                </a:solidFill>
                <a:latin typeface="Consolas"/>
              </a:rPr>
              <a:t>&gt;/dev/null</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C39BD3"/>
                </a:solidFill>
                <a:latin typeface="Consolas"/>
              </a:rPr>
              <a:t>true</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sleep</a:t>
            </a:r>
            <a:r>
              <a:rPr sz="1900" i="0">
                <a:solidFill>
                  <a:srgbClr val="E8EDF2"/>
                </a:solidFill>
                <a:latin typeface="Consolas"/>
              </a:rPr>
              <a:t> </a:t>
            </a:r>
            <a:r>
              <a:rPr sz="1900" i="0">
                <a:solidFill>
                  <a:srgbClr val="F7DC6F"/>
                </a:solidFill>
                <a:latin typeface="Consolas"/>
              </a:rPr>
              <a:t>5</a:t>
            </a:r>
          </a:p>
          <a:p>
            <a:pPr>
              <a:lnSpc>
                <a:spcPct val="100000"/>
              </a:lnSpc>
              <a:spcAft>
                <a:spcPts val="0"/>
              </a:spcAft>
            </a:pPr>
            <a:r>
              <a:rPr sz="1900" i="0">
                <a:solidFill>
                  <a:srgbClr val="E8EDF2"/>
                </a:solidFill>
                <a:latin typeface="Consolas"/>
              </a:rPr>
              <a:t>G</a:t>
            </a:r>
            <a:r>
              <a:rPr sz="1900" i="0">
                <a:solidFill>
                  <a:srgbClr val="E8EDF2"/>
                </a:solidFill>
                <a:latin typeface="Consolas"/>
              </a:rPr>
              <a:t> </a:t>
            </a:r>
            <a:r>
              <a:rPr sz="1900" i="0">
                <a:solidFill>
                  <a:srgbClr val="E8EDF2"/>
                </a:solidFill>
                <a:latin typeface="Consolas"/>
              </a:rPr>
              <a:t>vss1</a:t>
            </a:r>
            <a:r>
              <a:rPr sz="1900" i="0">
                <a:solidFill>
                  <a:srgbClr val="E8EDF2"/>
                </a:solidFill>
                <a:latin typeface="Consolas"/>
              </a:rPr>
              <a:t> </a:t>
            </a:r>
            <a:r>
              <a:rPr sz="1900" i="0">
                <a:solidFill>
                  <a:srgbClr val="7DCEA0"/>
                </a:solidFill>
                <a:latin typeface="Consolas"/>
              </a:rPr>
              <a:t>"nohup fio --name=load --rw=randwrite --bs=4k --size=512M \</a:t>
            </a:r>
          </a:p>
          <a:p>
            <a:pPr>
              <a:lnSpc>
                <a:spcPct val="100000"/>
              </a:lnSpc>
              <a:spcAft>
                <a:spcPts val="0"/>
              </a:spcAft>
            </a:pPr>
            <a:r>
              <a:rPr sz="1900" i="0">
                <a:solidFill>
                  <a:srgbClr val="7DCEA0"/>
                </a:solidFill>
                <a:latin typeface="Consolas"/>
              </a:rPr>
              <a:t>        --numjobs=4 --time_based --runtime=60 --direct=1 \</a:t>
            </a:r>
          </a:p>
          <a:p>
            <a:pPr>
              <a:lnSpc>
                <a:spcPct val="100000"/>
              </a:lnSpc>
              <a:spcAft>
                <a:spcPts val="0"/>
              </a:spcAft>
            </a:pPr>
            <a:r>
              <a:rPr sz="1900" i="0">
                <a:solidFill>
                  <a:srgbClr val="7DCEA0"/>
                </a:solidFill>
                <a:latin typeface="Consolas"/>
              </a:rPr>
              <a:t>        &gt;/dev/null 2&gt;&amp;1 &amp;"</a:t>
            </a:r>
          </a:p>
          <a:p>
            <a:pPr>
              <a:lnSpc>
                <a:spcPct val="100000"/>
              </a:lnSpc>
              <a:spcAft>
                <a:spcPts val="0"/>
              </a:spcAft>
            </a:pPr>
            <a:r>
              <a:rPr sz="1900" i="0">
                <a:solidFill>
                  <a:srgbClr val="E8EDF2"/>
                </a:solidFill>
                <a:latin typeface="Consolas"/>
              </a:rPr>
              <a:t>sleep</a:t>
            </a:r>
            <a:r>
              <a:rPr sz="1900" i="0">
                <a:solidFill>
                  <a:srgbClr val="E8EDF2"/>
                </a:solidFill>
                <a:latin typeface="Consolas"/>
              </a:rPr>
              <a:t> </a:t>
            </a:r>
            <a:r>
              <a:rPr sz="1900" i="0">
                <a:solidFill>
                  <a:srgbClr val="F7DC6F"/>
                </a:solidFill>
                <a:latin typeface="Consolas"/>
              </a:rPr>
              <a:t>10</a:t>
            </a:r>
          </a:p>
          <a:p>
            <a:pPr>
              <a:lnSpc>
                <a:spcPct val="100000"/>
              </a:lnSpc>
              <a:spcAft>
                <a:spcPts val="0"/>
              </a:spcAft>
            </a:pPr>
            <a:r>
              <a:rPr sz="1900" i="0">
                <a:solidFill>
                  <a:srgbClr val="C39BD3"/>
                </a:solidFill>
                <a:latin typeface="Consolas"/>
              </a:rPr>
              <a:t>echo</a:t>
            </a:r>
            <a:r>
              <a:rPr sz="1900" i="0">
                <a:solidFill>
                  <a:srgbClr val="E8EDF2"/>
                </a:solidFill>
                <a:latin typeface="Consolas"/>
              </a:rPr>
              <a:t> </a:t>
            </a:r>
            <a:r>
              <a:rPr sz="1900" i="0">
                <a:solidFill>
                  <a:srgbClr val="7DCEA0"/>
                </a:solidFill>
                <a:latin typeface="Consolas"/>
              </a:rPr>
              <a:t>"=== C: storage queueing ==="</a:t>
            </a:r>
          </a:p>
          <a:p>
            <a:pPr>
              <a:lnSpc>
                <a:spcPct val="100000"/>
              </a:lnSpc>
              <a:spcAft>
                <a:spcPts val="0"/>
              </a:spcAft>
            </a:pPr>
            <a:r>
              <a:rPr sz="1900" i="0">
                <a:solidFill>
                  <a:srgbClr val="E8EDF2"/>
                </a:solidFill>
                <a:latin typeface="Consolas"/>
              </a:rPr>
              <a:t>iostat</a:t>
            </a:r>
            <a:r>
              <a:rPr sz="1900" i="0">
                <a:solidFill>
                  <a:srgbClr val="E8EDF2"/>
                </a:solidFill>
                <a:latin typeface="Consolas"/>
              </a:rPr>
              <a:t> </a:t>
            </a:r>
            <a:r>
              <a:rPr sz="1900" i="0">
                <a:solidFill>
                  <a:srgbClr val="E8EDF2"/>
                </a:solidFill>
                <a:latin typeface="Consolas"/>
              </a:rPr>
              <a:t>-x</a:t>
            </a:r>
            <a:r>
              <a:rPr sz="1900" i="0">
                <a:solidFill>
                  <a:srgbClr val="E8EDF2"/>
                </a:solidFill>
                <a:latin typeface="Consolas"/>
              </a:rPr>
              <a:t> </a:t>
            </a:r>
            <a:r>
              <a:rPr sz="1900" i="0">
                <a:solidFill>
                  <a:srgbClr val="F7DC6F"/>
                </a:solidFill>
                <a:latin typeface="Consolas"/>
              </a:rPr>
              <a:t>2</a:t>
            </a:r>
            <a:r>
              <a:rPr sz="1900" i="0">
                <a:solidFill>
                  <a:srgbClr val="E8EDF2"/>
                </a:solidFill>
                <a:latin typeface="Consolas"/>
              </a:rPr>
              <a:t> </a:t>
            </a:r>
            <a:r>
              <a:rPr sz="1900" i="0">
                <a:solidFill>
                  <a:srgbClr val="F7DC6F"/>
                </a:solidFill>
                <a:latin typeface="Consolas"/>
              </a:rPr>
              <a:t>3</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awk</a:t>
            </a:r>
            <a:r>
              <a:rPr sz="1900" i="0">
                <a:solidFill>
                  <a:srgbClr val="E8EDF2"/>
                </a:solidFill>
                <a:latin typeface="Consolas"/>
              </a:rPr>
              <a:t> </a:t>
            </a:r>
            <a:r>
              <a:rPr sz="1900" i="0">
                <a:solidFill>
                  <a:srgbClr val="7DCEA0"/>
                </a:solidFill>
                <a:latin typeface="Consolas"/>
              </a:rPr>
              <a:t>'/Device|vd|sd|nvme/'</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tail</a:t>
            </a:r>
            <a:r>
              <a:rPr sz="1900" i="0">
                <a:solidFill>
                  <a:srgbClr val="E8EDF2"/>
                </a:solidFill>
                <a:latin typeface="Consolas"/>
              </a:rPr>
              <a:t> </a:t>
            </a:r>
            <a:r>
              <a:rPr sz="1900" i="0">
                <a:solidFill>
                  <a:srgbClr val="E8EDF2"/>
                </a:solidFill>
                <a:latin typeface="Consolas"/>
              </a:rPr>
              <a:t>-6</a:t>
            </a:r>
          </a:p>
          <a:p>
            <a:pPr>
              <a:lnSpc>
                <a:spcPct val="100000"/>
              </a:lnSpc>
              <a:spcAft>
                <a:spcPts val="0"/>
              </a:spcAft>
            </a:pPr>
            <a:r>
              <a:rPr sz="1900" i="1">
                <a:solidFill>
                  <a:srgbClr val="8795A1"/>
                </a:solidFill>
                <a:latin typeface="Consolas"/>
              </a:rPr>
              <a:t># The signature: aqu-sz (queue depth) and await (latency) both high,</a:t>
            </a:r>
          </a:p>
          <a:p>
            <a:pPr>
              <a:lnSpc>
                <a:spcPct val="100000"/>
              </a:lnSpc>
              <a:spcAft>
                <a:spcPts val="0"/>
              </a:spcAft>
            </a:pPr>
            <a:r>
              <a:rPr sz="1900" i="1">
                <a:solidFill>
                  <a:srgbClr val="8795A1"/>
                </a:solidFill>
                <a:latin typeface="Consolas"/>
              </a:rPr>
              <a:t># while %util may already have been 100% harmlessly before. Utilisation</a:t>
            </a:r>
          </a:p>
          <a:p>
            <a:pPr>
              <a:lnSpc>
                <a:spcPct val="100000"/>
              </a:lnSpc>
              <a:spcAft>
                <a:spcPts val="0"/>
              </a:spcAft>
            </a:pPr>
            <a:r>
              <a:rPr sz="1900" i="1">
                <a:solidFill>
                  <a:srgbClr val="8795A1"/>
                </a:solidFill>
                <a:latin typeface="Consolas"/>
              </a:rPr>
              <a:t># against saturation, section 18.2.</a:t>
            </a:r>
          </a:p>
        </p:txBody>
      </p:sp>
      <p:sp>
        <p:nvSpPr>
          <p:cNvPr id="15" name="!!code-num"/>
          <p:cNvSpPr txBox="1"/>
          <p:nvPr/>
        </p:nvSpPr>
        <p:spPr>
          <a:xfrm>
            <a:off x="768096" y="2523744"/>
            <a:ext cx="393192" cy="329488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48</a:t>
            </a:r>
          </a:p>
          <a:p>
            <a:pPr algn="r">
              <a:lnSpc>
                <a:spcPct val="100000"/>
              </a:lnSpc>
            </a:pPr>
            <a:r>
              <a:rPr sz="1900">
                <a:solidFill>
                  <a:srgbClr val="4F5D6A"/>
                </a:solidFill>
                <a:latin typeface="Consolas"/>
              </a:rPr>
              <a:t>49</a:t>
            </a:r>
          </a:p>
          <a:p>
            <a:pPr algn="r">
              <a:lnSpc>
                <a:spcPct val="100000"/>
              </a:lnSpc>
            </a:pPr>
            <a:r>
              <a:rPr sz="1900">
                <a:solidFill>
                  <a:srgbClr val="4F5D6A"/>
                </a:solidFill>
                <a:latin typeface="Consolas"/>
              </a:rPr>
              <a:t>50</a:t>
            </a:r>
          </a:p>
          <a:p>
            <a:pPr algn="r">
              <a:lnSpc>
                <a:spcPct val="100000"/>
              </a:lnSpc>
            </a:pPr>
            <a:r>
              <a:rPr sz="1900">
                <a:solidFill>
                  <a:srgbClr val="4F5D6A"/>
                </a:solidFill>
                <a:latin typeface="Consolas"/>
              </a:rPr>
              <a:t>51</a:t>
            </a:r>
          </a:p>
          <a:p>
            <a:pPr algn="r">
              <a:lnSpc>
                <a:spcPct val="100000"/>
              </a:lnSpc>
            </a:pPr>
            <a:r>
              <a:rPr sz="1900">
                <a:solidFill>
                  <a:srgbClr val="4F5D6A"/>
                </a:solidFill>
                <a:latin typeface="Consolas"/>
              </a:rPr>
              <a:t>52</a:t>
            </a:r>
          </a:p>
          <a:p>
            <a:pPr algn="r">
              <a:lnSpc>
                <a:spcPct val="100000"/>
              </a:lnSpc>
            </a:pPr>
            <a:r>
              <a:rPr sz="1900">
                <a:solidFill>
                  <a:srgbClr val="4F5D6A"/>
                </a:solidFill>
                <a:latin typeface="Consolas"/>
              </a:rPr>
              <a:t>53</a:t>
            </a:r>
          </a:p>
          <a:p>
            <a:pPr algn="r">
              <a:lnSpc>
                <a:spcPct val="100000"/>
              </a:lnSpc>
            </a:pPr>
            <a:r>
              <a:rPr sz="1900">
                <a:solidFill>
                  <a:srgbClr val="4F5D6A"/>
                </a:solidFill>
                <a:latin typeface="Consolas"/>
              </a:rPr>
              <a:t>54</a:t>
            </a:r>
          </a:p>
          <a:p>
            <a:pPr algn="r">
              <a:lnSpc>
                <a:spcPct val="100000"/>
              </a:lnSpc>
            </a:pPr>
            <a:r>
              <a:rPr sz="1900">
                <a:solidFill>
                  <a:srgbClr val="4F5D6A"/>
                </a:solidFill>
                <a:latin typeface="Consolas"/>
              </a:rPr>
              <a:t>55</a:t>
            </a:r>
          </a:p>
          <a:p>
            <a:pPr algn="r">
              <a:lnSpc>
                <a:spcPct val="100000"/>
              </a:lnSpc>
            </a:pPr>
            <a:r>
              <a:rPr sz="1900">
                <a:solidFill>
                  <a:srgbClr val="4F5D6A"/>
                </a:solidFill>
                <a:latin typeface="Consolas"/>
              </a:rPr>
              <a:t>56</a:t>
            </a:r>
          </a:p>
          <a:p>
            <a:pPr algn="r">
              <a:lnSpc>
                <a:spcPct val="100000"/>
              </a:lnSpc>
            </a:pPr>
            <a:r>
              <a:rPr sz="1900">
                <a:solidFill>
                  <a:srgbClr val="4F5D6A"/>
                </a:solidFill>
                <a:latin typeface="Consolas"/>
              </a:rPr>
              <a:t>57</a:t>
            </a:r>
          </a:p>
          <a:p>
            <a:pPr algn="r">
              <a:lnSpc>
                <a:spcPct val="100000"/>
              </a:lnSpc>
            </a:pPr>
            <a:r>
              <a:rPr sz="1900">
                <a:solidFill>
                  <a:srgbClr val="4F5D6A"/>
                </a:solidFill>
                <a:latin typeface="Consolas"/>
              </a:rPr>
              <a:t>58</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938778"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Finding the Bottleneck</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6 OF 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18  ·  Performance Monitoring and Capacity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§18.5  ·  Handout p. 144     </a:t>
            </a:r>
            <a:fld id="{5A574DCB-A181-4411-B306-075FE1165A64}" type="slidenum">
              <a:rPr lang="en-GB" sz="1000">
                <a:solidFill>
                  <a:srgbClr val="8795A1"/>
                </a:solidFill>
                <a:latin typeface="Segoe UI"/>
              </a:rPr>
              <a:t>29</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Percentiles, not means.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051303"/>
          </a:xfrm>
          <a:prstGeom prst="roundRect">
            <a:avLst>
              <a:gd name="adj" fmla="val 445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5. Percentiles, not means. --------------------------------------- G vss1 &quot;fio --name=lat --rw=randread --bs=4k --size=256M --direct=1 \ --runtime=30 --time_based --output-format=json&quot; \ | grep -E '&quot;mean&quot;|&quot;percentile&quot;|&quot;95.000000&quot;|&quot;99.000000&quot;' | head -8 # Compare the mean with p95 and p99 on the same run."/>
          <p:cNvSpPr txBox="1"/>
          <p:nvPr/>
        </p:nvSpPr>
        <p:spPr>
          <a:xfrm>
            <a:off x="1362456" y="2523744"/>
            <a:ext cx="9987991" cy="155752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--- 5. Percentiles, not means. ---------------------------------------</a:t>
            </a:r>
          </a:p>
          <a:p>
            <a:pPr>
              <a:lnSpc>
                <a:spcPct val="100000"/>
              </a:lnSpc>
              <a:spcAft>
                <a:spcPts val="0"/>
              </a:spcAft>
            </a:pPr>
            <a:r>
              <a:rPr sz="1900" i="0">
                <a:solidFill>
                  <a:srgbClr val="E8EDF2"/>
                </a:solidFill>
                <a:latin typeface="Consolas"/>
              </a:rPr>
              <a:t>G</a:t>
            </a:r>
            <a:r>
              <a:rPr sz="1900" i="0">
                <a:solidFill>
                  <a:srgbClr val="E8EDF2"/>
                </a:solidFill>
                <a:latin typeface="Consolas"/>
              </a:rPr>
              <a:t> </a:t>
            </a:r>
            <a:r>
              <a:rPr sz="1900" i="0">
                <a:solidFill>
                  <a:srgbClr val="E8EDF2"/>
                </a:solidFill>
                <a:latin typeface="Consolas"/>
              </a:rPr>
              <a:t>vss1</a:t>
            </a:r>
            <a:r>
              <a:rPr sz="1900" i="0">
                <a:solidFill>
                  <a:srgbClr val="E8EDF2"/>
                </a:solidFill>
                <a:latin typeface="Consolas"/>
              </a:rPr>
              <a:t> </a:t>
            </a:r>
            <a:r>
              <a:rPr sz="1900" i="0">
                <a:solidFill>
                  <a:srgbClr val="7DCEA0"/>
                </a:solidFill>
                <a:latin typeface="Consolas"/>
              </a:rPr>
              <a:t>"fio --name=lat --rw=randread --bs=4k --size=256M --direct=1 \</a:t>
            </a:r>
          </a:p>
          <a:p>
            <a:pPr>
              <a:lnSpc>
                <a:spcPct val="100000"/>
              </a:lnSpc>
              <a:spcAft>
                <a:spcPts val="0"/>
              </a:spcAft>
            </a:pPr>
            <a:r>
              <a:rPr sz="1900" i="0">
                <a:solidFill>
                  <a:srgbClr val="7DCEA0"/>
                </a:solidFill>
                <a:latin typeface="Consolas"/>
              </a:rPr>
              <a:t>        --runtime=30 --time_based --output-format=json"</a:t>
            </a:r>
            <a:r>
              <a:rPr sz="1900" i="0">
                <a:solidFill>
                  <a:srgbClr val="E8EDF2"/>
                </a:solidFill>
                <a:latin typeface="Consolas"/>
              </a:rPr>
              <a:t> </a:t>
            </a:r>
            <a:r>
              <a:rPr sz="1900" i="0">
                <a:solidFill>
                  <a:srgbClr val="7DCEA0"/>
                </a:solidFill>
                <a:latin typeface="Consolas"/>
              </a:rPr>
              <a:t>\</a:t>
            </a:r>
          </a:p>
          <a:p>
            <a:pPr>
              <a:lnSpc>
                <a:spcPct val="100000"/>
              </a:lnSpc>
              <a:spcAft>
                <a:spcPts val="0"/>
              </a:spcAft>
            </a:pP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grep</a:t>
            </a:r>
            <a:r>
              <a:rPr sz="1900" i="0">
                <a:solidFill>
                  <a:srgbClr val="E8EDF2"/>
                </a:solidFill>
                <a:latin typeface="Consolas"/>
              </a:rPr>
              <a:t> </a:t>
            </a:r>
            <a:r>
              <a:rPr sz="1900" i="0">
                <a:solidFill>
                  <a:srgbClr val="E8EDF2"/>
                </a:solidFill>
                <a:latin typeface="Consolas"/>
              </a:rPr>
              <a:t>-E</a:t>
            </a:r>
            <a:r>
              <a:rPr sz="1900" i="0">
                <a:solidFill>
                  <a:srgbClr val="E8EDF2"/>
                </a:solidFill>
                <a:latin typeface="Consolas"/>
              </a:rPr>
              <a:t> </a:t>
            </a:r>
            <a:r>
              <a:rPr sz="1900" i="0">
                <a:solidFill>
                  <a:srgbClr val="7DCEA0"/>
                </a:solidFill>
                <a:latin typeface="Consolas"/>
              </a:rPr>
              <a:t>'"mean"|"percentile"|"95.000000"|"99.000000"'</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head</a:t>
            </a:r>
            <a:r>
              <a:rPr sz="1900" i="0">
                <a:solidFill>
                  <a:srgbClr val="E8EDF2"/>
                </a:solidFill>
                <a:latin typeface="Consolas"/>
              </a:rPr>
              <a:t> </a:t>
            </a:r>
            <a:r>
              <a:rPr sz="1900" i="0">
                <a:solidFill>
                  <a:srgbClr val="E8EDF2"/>
                </a:solidFill>
                <a:latin typeface="Consolas"/>
              </a:rPr>
              <a:t>-8</a:t>
            </a:r>
          </a:p>
          <a:p>
            <a:pPr>
              <a:lnSpc>
                <a:spcPct val="100000"/>
              </a:lnSpc>
              <a:spcAft>
                <a:spcPts val="0"/>
              </a:spcAft>
            </a:pPr>
            <a:r>
              <a:rPr sz="1900" i="1">
                <a:solidFill>
                  <a:srgbClr val="8795A1"/>
                </a:solidFill>
                <a:latin typeface="Consolas"/>
              </a:rPr>
              <a:t># Compare the mean with p95 and p99 on the same run.</a:t>
            </a:r>
          </a:p>
        </p:txBody>
      </p:sp>
      <p:sp>
        <p:nvSpPr>
          <p:cNvPr id="15" name="!!code-num"/>
          <p:cNvSpPr txBox="1"/>
          <p:nvPr/>
        </p:nvSpPr>
        <p:spPr>
          <a:xfrm>
            <a:off x="768096" y="2523744"/>
            <a:ext cx="393192" cy="155752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60</a:t>
            </a:r>
          </a:p>
          <a:p>
            <a:pPr algn="r">
              <a:lnSpc>
                <a:spcPct val="100000"/>
              </a:lnSpc>
            </a:pPr>
            <a:r>
              <a:rPr sz="1900">
                <a:solidFill>
                  <a:srgbClr val="4F5D6A"/>
                </a:solidFill>
                <a:latin typeface="Consolas"/>
              </a:rPr>
              <a:t>61</a:t>
            </a:r>
          </a:p>
          <a:p>
            <a:pPr algn="r">
              <a:lnSpc>
                <a:spcPct val="100000"/>
              </a:lnSpc>
            </a:pPr>
            <a:r>
              <a:rPr sz="1900">
                <a:solidFill>
                  <a:srgbClr val="4F5D6A"/>
                </a:solidFill>
                <a:latin typeface="Consolas"/>
              </a:rPr>
              <a:t>62</a:t>
            </a:r>
          </a:p>
          <a:p>
            <a:pPr algn="r">
              <a:lnSpc>
                <a:spcPct val="100000"/>
              </a:lnSpc>
            </a:pPr>
            <a:r>
              <a:rPr sz="1900">
                <a:solidFill>
                  <a:srgbClr val="4F5D6A"/>
                </a:solidFill>
                <a:latin typeface="Consolas"/>
              </a:rPr>
              <a:t>63</a:t>
            </a:r>
          </a:p>
          <a:p>
            <a:pPr algn="r">
              <a:lnSpc>
                <a:spcPct val="100000"/>
              </a:lnSpc>
            </a:pPr>
            <a:r>
              <a:rPr sz="1900">
                <a:solidFill>
                  <a:srgbClr val="4F5D6A"/>
                </a:solidFill>
                <a:latin typeface="Consolas"/>
              </a:rPr>
              <a:t>64</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222306"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Finding the Bottleneck</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7 OF 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18  ·  Performance Monitoring and Capacity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§18.5  ·  Handout p. 144     </a:t>
            </a:r>
            <a:fld id="{3D9AC666-AF18-4ED0-842E-5F6D2B14C848}" type="slidenum">
              <a:rPr lang="en-GB" sz="1000">
                <a:solidFill>
                  <a:srgbClr val="8795A1"/>
                </a:solidFill>
                <a:latin typeface="Segoe UI"/>
              </a:rPr>
              <a:t>30</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Tear down.</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340863"/>
          </a:xfrm>
          <a:prstGeom prst="roundRect">
            <a:avLst>
              <a:gd name="adj" fmla="val 390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6. Tear down. ---------------------------------------------------- for n in 2 3 4; do sudo virsh destroy &quot;n$n&quot; 2&gt;/dev/null || true sudo virsh undefine &quot;n$n&quot; --remove-all-storage 2&gt;/dev/null || true done sudo virsh destroy vss1 || true"/>
          <p:cNvSpPr txBox="1"/>
          <p:nvPr/>
        </p:nvSpPr>
        <p:spPr>
          <a:xfrm>
            <a:off x="1362456" y="2523744"/>
            <a:ext cx="9987991" cy="184708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--- 6. Tear down. ----------------------------------------------------</a:t>
            </a:r>
          </a:p>
          <a:p>
            <a:pPr>
              <a:lnSpc>
                <a:spcPct val="100000"/>
              </a:lnSpc>
              <a:spcAft>
                <a:spcPts val="0"/>
              </a:spcAft>
            </a:pPr>
            <a:r>
              <a:rPr sz="1900" i="0">
                <a:solidFill>
                  <a:srgbClr val="5DADE2"/>
                </a:solidFill>
                <a:latin typeface="Consolas"/>
              </a:rPr>
              <a:t>for</a:t>
            </a:r>
            <a:r>
              <a:rPr sz="1900" i="0">
                <a:solidFill>
                  <a:srgbClr val="E8EDF2"/>
                </a:solidFill>
                <a:latin typeface="Consolas"/>
              </a:rPr>
              <a:t> </a:t>
            </a:r>
            <a:r>
              <a:rPr sz="1900" i="0">
                <a:solidFill>
                  <a:srgbClr val="E8EDF2"/>
                </a:solidFill>
                <a:latin typeface="Consolas"/>
              </a:rPr>
              <a:t>n</a:t>
            </a:r>
            <a:r>
              <a:rPr sz="1900" i="0">
                <a:solidFill>
                  <a:srgbClr val="E8EDF2"/>
                </a:solidFill>
                <a:latin typeface="Consolas"/>
              </a:rPr>
              <a:t> </a:t>
            </a:r>
            <a:r>
              <a:rPr sz="1900" i="0">
                <a:solidFill>
                  <a:srgbClr val="5DADE2"/>
                </a:solidFill>
                <a:latin typeface="Consolas"/>
              </a:rPr>
              <a:t>in</a:t>
            </a:r>
            <a:r>
              <a:rPr sz="1900" i="0">
                <a:solidFill>
                  <a:srgbClr val="E8EDF2"/>
                </a:solidFill>
                <a:latin typeface="Consolas"/>
              </a:rPr>
              <a:t> </a:t>
            </a:r>
            <a:r>
              <a:rPr sz="1900" i="0">
                <a:solidFill>
                  <a:srgbClr val="F7DC6F"/>
                </a:solidFill>
                <a:latin typeface="Consolas"/>
              </a:rPr>
              <a:t>2</a:t>
            </a:r>
            <a:r>
              <a:rPr sz="1900" i="0">
                <a:solidFill>
                  <a:srgbClr val="E8EDF2"/>
                </a:solidFill>
                <a:latin typeface="Consolas"/>
              </a:rPr>
              <a:t> </a:t>
            </a:r>
            <a:r>
              <a:rPr sz="1900" i="0">
                <a:solidFill>
                  <a:srgbClr val="F7DC6F"/>
                </a:solidFill>
                <a:latin typeface="Consolas"/>
              </a:rPr>
              <a:t>3</a:t>
            </a:r>
            <a:r>
              <a:rPr sz="1900" i="0">
                <a:solidFill>
                  <a:srgbClr val="E8EDF2"/>
                </a:solidFill>
                <a:latin typeface="Consolas"/>
              </a:rPr>
              <a:t> </a:t>
            </a:r>
            <a:r>
              <a:rPr sz="1900" i="0">
                <a:solidFill>
                  <a:srgbClr val="F7DC6F"/>
                </a:solidFill>
                <a:latin typeface="Consolas"/>
              </a:rPr>
              <a:t>4</a:t>
            </a:r>
            <a:r>
              <a:rPr sz="1900" i="0">
                <a:solidFill>
                  <a:srgbClr val="AEB6BF"/>
                </a:solidFill>
                <a:latin typeface="Consolas"/>
              </a:rPr>
              <a:t>;</a:t>
            </a:r>
            <a:r>
              <a:rPr sz="1900" i="0">
                <a:solidFill>
                  <a:srgbClr val="E8EDF2"/>
                </a:solidFill>
                <a:latin typeface="Consolas"/>
              </a:rPr>
              <a:t> </a:t>
            </a:r>
            <a:r>
              <a:rPr sz="1900" i="0">
                <a:solidFill>
                  <a:srgbClr val="5DADE2"/>
                </a:solidFill>
                <a:latin typeface="Consolas"/>
              </a:rPr>
              <a:t>do</a:t>
            </a:r>
          </a:p>
          <a:p>
            <a:pPr>
              <a:lnSpc>
                <a:spcPct val="100000"/>
              </a:lnSpc>
              <a:spcAft>
                <a:spcPts val="0"/>
              </a:spcAft>
            </a:pPr>
            <a:r>
              <a:rPr sz="1900" i="0">
                <a:solidFill>
                  <a:srgbClr val="E8EDF2"/>
                </a:solidFill>
                <a:latin typeface="Consolas"/>
              </a:rPr>
              <a:t>  </a:t>
            </a: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virsh</a:t>
            </a:r>
            <a:r>
              <a:rPr sz="1900" i="0">
                <a:solidFill>
                  <a:srgbClr val="E8EDF2"/>
                </a:solidFill>
                <a:latin typeface="Consolas"/>
              </a:rPr>
              <a:t> </a:t>
            </a:r>
            <a:r>
              <a:rPr sz="1900" i="0">
                <a:solidFill>
                  <a:srgbClr val="E8EDF2"/>
                </a:solidFill>
                <a:latin typeface="Consolas"/>
              </a:rPr>
              <a:t>destroy</a:t>
            </a: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n</a:t>
            </a:r>
            <a:r>
              <a:rPr sz="1900" i="0">
                <a:solidFill>
                  <a:srgbClr val="E8EDF2"/>
                </a:solidFill>
                <a:latin typeface="Consolas"/>
              </a:rPr>
              <a:t>$n</a:t>
            </a:r>
            <a:r>
              <a:rPr sz="1900" i="0">
                <a:solidFill>
                  <a:srgbClr val="7DCEA0"/>
                </a:solidFill>
                <a:latin typeface="Consolas"/>
              </a:rPr>
              <a:t>"</a:t>
            </a:r>
            <a:r>
              <a:rPr sz="1900" i="0">
                <a:solidFill>
                  <a:srgbClr val="E8EDF2"/>
                </a:solidFill>
                <a:latin typeface="Consolas"/>
              </a:rPr>
              <a:t> </a:t>
            </a:r>
            <a:r>
              <a:rPr sz="1900" i="0">
                <a:solidFill>
                  <a:srgbClr val="F7DC6F"/>
                </a:solidFill>
                <a:latin typeface="Consolas"/>
              </a:rPr>
              <a:t>2</a:t>
            </a:r>
            <a:r>
              <a:rPr sz="1900" i="0">
                <a:solidFill>
                  <a:srgbClr val="E8EDF2"/>
                </a:solidFill>
                <a:latin typeface="Consolas"/>
              </a:rPr>
              <a:t>&gt;/dev/null</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C39BD3"/>
                </a:solidFill>
                <a:latin typeface="Consolas"/>
              </a:rPr>
              <a:t>true</a:t>
            </a:r>
          </a:p>
          <a:p>
            <a:pPr>
              <a:lnSpc>
                <a:spcPct val="100000"/>
              </a:lnSpc>
              <a:spcAft>
                <a:spcPts val="0"/>
              </a:spcAft>
            </a:pPr>
            <a:r>
              <a:rPr sz="1900" i="0">
                <a:solidFill>
                  <a:srgbClr val="E8EDF2"/>
                </a:solidFill>
                <a:latin typeface="Consolas"/>
              </a:rPr>
              <a:t>  </a:t>
            </a: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virsh</a:t>
            </a:r>
            <a:r>
              <a:rPr sz="1900" i="0">
                <a:solidFill>
                  <a:srgbClr val="E8EDF2"/>
                </a:solidFill>
                <a:latin typeface="Consolas"/>
              </a:rPr>
              <a:t> </a:t>
            </a:r>
            <a:r>
              <a:rPr sz="1900" i="0">
                <a:solidFill>
                  <a:srgbClr val="E8EDF2"/>
                </a:solidFill>
                <a:latin typeface="Consolas"/>
              </a:rPr>
              <a:t>undefine</a:t>
            </a: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n</a:t>
            </a:r>
            <a:r>
              <a:rPr sz="1900" i="0">
                <a:solidFill>
                  <a:srgbClr val="E8EDF2"/>
                </a:solidFill>
                <a:latin typeface="Consolas"/>
              </a:rPr>
              <a:t>$n</a:t>
            </a:r>
            <a:r>
              <a:rPr sz="1900" i="0">
                <a:solidFill>
                  <a:srgbClr val="7DCEA0"/>
                </a:solidFill>
                <a:latin typeface="Consolas"/>
              </a:rPr>
              <a:t>"</a:t>
            </a:r>
            <a:r>
              <a:rPr sz="1900" i="0">
                <a:solidFill>
                  <a:srgbClr val="E8EDF2"/>
                </a:solidFill>
                <a:latin typeface="Consolas"/>
              </a:rPr>
              <a:t> </a:t>
            </a:r>
            <a:r>
              <a:rPr sz="1900" i="0">
                <a:solidFill>
                  <a:srgbClr val="E8EDF2"/>
                </a:solidFill>
                <a:latin typeface="Consolas"/>
              </a:rPr>
              <a:t>--remove-all-storage</a:t>
            </a:r>
            <a:r>
              <a:rPr sz="1900" i="0">
                <a:solidFill>
                  <a:srgbClr val="E8EDF2"/>
                </a:solidFill>
                <a:latin typeface="Consolas"/>
              </a:rPr>
              <a:t> </a:t>
            </a:r>
            <a:r>
              <a:rPr sz="1900" i="0">
                <a:solidFill>
                  <a:srgbClr val="F7DC6F"/>
                </a:solidFill>
                <a:latin typeface="Consolas"/>
              </a:rPr>
              <a:t>2</a:t>
            </a:r>
            <a:r>
              <a:rPr sz="1900" i="0">
                <a:solidFill>
                  <a:srgbClr val="E8EDF2"/>
                </a:solidFill>
                <a:latin typeface="Consolas"/>
              </a:rPr>
              <a:t>&gt;/dev/null</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C39BD3"/>
                </a:solidFill>
                <a:latin typeface="Consolas"/>
              </a:rPr>
              <a:t>true</a:t>
            </a:r>
          </a:p>
          <a:p>
            <a:pPr>
              <a:lnSpc>
                <a:spcPct val="100000"/>
              </a:lnSpc>
              <a:spcAft>
                <a:spcPts val="0"/>
              </a:spcAft>
            </a:pPr>
            <a:r>
              <a:rPr sz="1900" i="0">
                <a:solidFill>
                  <a:srgbClr val="5DADE2"/>
                </a:solidFill>
                <a:latin typeface="Consolas"/>
              </a:rPr>
              <a:t>done</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virsh</a:t>
            </a:r>
            <a:r>
              <a:rPr sz="1900" i="0">
                <a:solidFill>
                  <a:srgbClr val="E8EDF2"/>
                </a:solidFill>
                <a:latin typeface="Consolas"/>
              </a:rPr>
              <a:t> </a:t>
            </a:r>
            <a:r>
              <a:rPr sz="1900" i="0">
                <a:solidFill>
                  <a:srgbClr val="E8EDF2"/>
                </a:solidFill>
                <a:latin typeface="Consolas"/>
              </a:rPr>
              <a:t>destroy</a:t>
            </a:r>
            <a:r>
              <a:rPr sz="1900" i="0">
                <a:solidFill>
                  <a:srgbClr val="E8EDF2"/>
                </a:solidFill>
                <a:latin typeface="Consolas"/>
              </a:rPr>
              <a:t> </a:t>
            </a:r>
            <a:r>
              <a:rPr sz="1900" i="0">
                <a:solidFill>
                  <a:srgbClr val="E8EDF2"/>
                </a:solidFill>
                <a:latin typeface="Consolas"/>
              </a:rPr>
              <a:t>vss1</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C39BD3"/>
                </a:solidFill>
                <a:latin typeface="Consolas"/>
              </a:rPr>
              <a:t>true</a:t>
            </a:r>
          </a:p>
        </p:txBody>
      </p:sp>
      <p:sp>
        <p:nvSpPr>
          <p:cNvPr id="15" name="!!code-num"/>
          <p:cNvSpPr txBox="1"/>
          <p:nvPr/>
        </p:nvSpPr>
        <p:spPr>
          <a:xfrm>
            <a:off x="768096" y="2523744"/>
            <a:ext cx="393192" cy="184708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66</a:t>
            </a:r>
          </a:p>
          <a:p>
            <a:pPr algn="r">
              <a:lnSpc>
                <a:spcPct val="100000"/>
              </a:lnSpc>
            </a:pPr>
            <a:r>
              <a:rPr sz="1900">
                <a:solidFill>
                  <a:srgbClr val="4F5D6A"/>
                </a:solidFill>
                <a:latin typeface="Consolas"/>
              </a:rPr>
              <a:t>67</a:t>
            </a:r>
          </a:p>
          <a:p>
            <a:pPr algn="r">
              <a:lnSpc>
                <a:spcPct val="100000"/>
              </a:lnSpc>
            </a:pPr>
            <a:r>
              <a:rPr sz="1900">
                <a:solidFill>
                  <a:srgbClr val="4F5D6A"/>
                </a:solidFill>
                <a:latin typeface="Consolas"/>
              </a:rPr>
              <a:t>68</a:t>
            </a:r>
          </a:p>
          <a:p>
            <a:pPr algn="r">
              <a:lnSpc>
                <a:spcPct val="100000"/>
              </a:lnSpc>
            </a:pPr>
            <a:r>
              <a:rPr sz="1900">
                <a:solidFill>
                  <a:srgbClr val="4F5D6A"/>
                </a:solidFill>
                <a:latin typeface="Consolas"/>
              </a:rPr>
              <a:t>69</a:t>
            </a:r>
          </a:p>
          <a:p>
            <a:pPr algn="r">
              <a:lnSpc>
                <a:spcPct val="100000"/>
              </a:lnSpc>
            </a:pPr>
            <a:r>
              <a:rPr sz="1900">
                <a:solidFill>
                  <a:srgbClr val="4F5D6A"/>
                </a:solidFill>
                <a:latin typeface="Consolas"/>
              </a:rPr>
              <a:t>70</a:t>
            </a:r>
          </a:p>
          <a:p>
            <a:pPr algn="r">
              <a:lnSpc>
                <a:spcPct val="100000"/>
              </a:lnSpc>
            </a:pPr>
            <a:r>
              <a:rPr sz="1900">
                <a:solidFill>
                  <a:srgbClr val="4F5D6A"/>
                </a:solidFill>
                <a:latin typeface="Consolas"/>
              </a:rPr>
              <a:t>71</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50583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18  ·  Performance Monitoring and Capacity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§18.5  ·  Handout p. 144     </a:t>
            </a:r>
            <a:fld id="{2F769FA0-33C8-49DA-9FC5-289DB52A0C27}" type="slidenum">
              <a:rPr lang="en-GB" sz="1000">
                <a:solidFill>
                  <a:srgbClr val="8795A1"/>
                </a:solidFill>
                <a:latin typeface="Segoe UI"/>
              </a:rPr>
              <a:t>31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0E6655"/>
                </a:solidFill>
                <a:latin typeface="Segoe UI"/>
              </a:rPr>
              <a:t>What to notice.</a:t>
            </a:r>
            <a:r>
              <a:rPr sz="2300" b="0" i="0">
                <a:solidFill>
                  <a:srgbClr val="1C252B"/>
                </a:solidFill>
                <a:latin typeface="Segoe UI"/>
              </a:rPr>
              <a:t> The three bottlenecks look identical from inside the guest — the application is slow — and have three different signatures and three different fixes on the host. That difference is the whole chapter, and it is why the guest’s dashboard settled nothing in the worked example.</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878936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guest reports 35% CPU utilisation and its users say it cannot keep up. Give two host-side counters that would distinguish the possible causes, and say what each value would mean.</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18  ·  Performance Monitoring and Capacity Planning</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148  ·  answers in Appendix D     </a:t>
            </a:r>
            <a:fld id="{1EA1D399-A8A2-42EC-868D-229D8B8C10AE}" type="slidenum">
              <a:rPr lang="en-GB" sz="1000">
                <a:solidFill>
                  <a:srgbClr val="D5DEE5"/>
                </a:solidFill>
                <a:latin typeface="Segoe UI"/>
              </a:rPr>
              <a:t>32</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A guest reports 35% CPU utilisation and its users say it cannot keep up. Give two host-side counters that would distinguish the possible causes, and say what each value would mean.</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1743456"/>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1" i="0">
                <a:solidFill>
                  <a:srgbClr val="256B9A"/>
                </a:solidFill>
                <a:latin typeface="Segoe UI"/>
              </a:rPr>
              <a:t>%RDY (or steal time)</a:t>
            </a:r>
            <a:r>
              <a:rPr sz="2200" b="0" i="0">
                <a:solidFill>
                  <a:srgbClr val="1C252B"/>
                </a:solidFill>
                <a:latin typeface="Segoe UI"/>
              </a:rPr>
              <a:t> and </a:t>
            </a:r>
            <a:r>
              <a:rPr sz="2200" b="1" i="0">
                <a:solidFill>
                  <a:srgbClr val="1C252B"/>
                </a:solidFill>
                <a:latin typeface="Segoe UI"/>
              </a:rPr>
              <a:t>balloon / host swap-in</a:t>
            </a:r>
            <a:r>
              <a:rPr sz="2200" b="0" i="0">
                <a:solidFill>
                  <a:srgbClr val="1C252B"/>
                </a:solidFill>
                <a:latin typeface="Segoe UI"/>
              </a:rPr>
              <a:t>. High %RDY with no memory activity means the guest is not being given a processor — host contention, and the fix is right-sizing or rebalancing. Low %RDY with ballooning or host swap means memory pressure, and the fix is reducing overcommit. Both appear from inside the guest as “the application is slow”, and the guest’s own 35% is consistent with either.</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18  ·  Performance Monitoring and Capacity Planning</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148  ·  answers in Appendix D     </a:t>
            </a:r>
            <a:fld id="{4573C94C-9B11-46AF-BAFF-26435467AA1B}" type="slidenum">
              <a:rPr lang="en-GB" sz="1000">
                <a:solidFill>
                  <a:srgbClr val="8795A1"/>
                </a:solidFill>
                <a:latin typeface="Segoe UI"/>
              </a:rPr>
              <a:t>33</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35641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page issues 12 backend calls. If each has a p95 of 200 ms, what fraction of page loads will contain at least one call slower than 200 ms?</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18  ·  Performance Monitoring and Capacity Planning</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148  ·  answers in Appendix D     </a:t>
            </a:r>
            <a:fld id="{6CD98CC2-FE4D-450D-83CE-8F90F79DEA62}" type="slidenum">
              <a:rPr lang="en-GB" sz="1000">
                <a:solidFill>
                  <a:srgbClr val="D5DEE5"/>
                </a:solidFill>
                <a:latin typeface="Segoe UI"/>
              </a:rPr>
              <a:t>34</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A page issues 12 backend calls. If each has a p95 of 200 ms, what fraction of page loads will contain at least one call slower than 200 ms?</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04607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Cambria"/>
              </a:rPr>
              <a:t>1 − 0.95</a:t>
            </a:r>
            <a:r>
              <a:rPr sz="1450" b="0" i="0" baseline="30000">
                <a:solidFill>
                  <a:srgbClr val="1C252B"/>
                </a:solidFill>
                <a:latin typeface="Cambria"/>
              </a:rPr>
              <a:t>12</a:t>
            </a:r>
            <a:r>
              <a:rPr sz="2200" b="0" i="0">
                <a:solidFill>
                  <a:srgbClr val="1C252B"/>
                </a:solidFill>
                <a:latin typeface="Cambria"/>
              </a:rPr>
              <a:t> = 1 − 0.540 = </a:t>
            </a:r>
            <a:r>
              <a:rPr sz="2200" b="1" i="0">
                <a:solidFill>
                  <a:srgbClr val="1C252B"/>
                </a:solidFill>
                <a:latin typeface="Cambria"/>
              </a:rPr>
              <a:t>0.46</a:t>
            </a:r>
            <a:r>
              <a:rPr sz="2200" b="0" i="0">
                <a:solidFill>
                  <a:srgbClr val="1C252B"/>
                </a:solidFill>
                <a:latin typeface="Segoe UI"/>
              </a:rPr>
              <a:t>, so about </a:t>
            </a:r>
            <a:r>
              <a:rPr sz="2200" b="1" i="0">
                <a:solidFill>
                  <a:srgbClr val="1C252B"/>
                </a:solidFill>
                <a:latin typeface="Segoe UI"/>
              </a:rPr>
              <a:t>46%</a:t>
            </a:r>
            <a:r>
              <a:rPr sz="2200" b="0" i="0">
                <a:solidFill>
                  <a:srgbClr val="1C252B"/>
                </a:solidFill>
                <a:latin typeface="Segoe UI"/>
              </a:rPr>
              <a:t> of page loads contain at least one call slower than the p95. The tail is not a rare case for the user; it is close to half of their experience.</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18  ·  Performance Monitoring and Capacity Planning</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148  ·  answers in Appendix D     </a:t>
            </a:r>
            <a:fld id="{DD6CB174-93AB-4F28-BDE6-76EA32504821}" type="slidenum">
              <a:rPr lang="en-GB" sz="1000">
                <a:solidFill>
                  <a:srgbClr val="8795A1"/>
                </a:solidFill>
                <a:latin typeface="Segoe UI"/>
              </a:rPr>
              <a:t>35</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923472"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cluster of 8 hosts is at 76% memory. Compute the N+1 figure and say whether you would report the cluster as healthy.</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18  ·  Performance Monitoring and Capacity Planning</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148  ·  answers in Appendix D     </a:t>
            </a:r>
            <a:fld id="{6BEB86B7-61A0-4300-93AC-7EEAF0BE1BC5}" type="slidenum">
              <a:rPr lang="en-GB" sz="1000">
                <a:solidFill>
                  <a:srgbClr val="D5DEE5"/>
                </a:solidFill>
                <a:latin typeface="Segoe UI"/>
              </a:rPr>
              <a:t>36</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A cluster of 8 hosts is at 76% memory. Compute the N+1 figure and say whether you would report the cluster as healthy.</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3947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With one host down, seven remain, so the figure is </a:t>
            </a:r>
            <a:r>
              <a:rPr sz="2200" b="0" i="0">
                <a:solidFill>
                  <a:srgbClr val="1C252B"/>
                </a:solidFill>
                <a:latin typeface="Cambria"/>
              </a:rPr>
              <a:t>76% × 8/7 = </a:t>
            </a:r>
            <a:r>
              <a:rPr sz="2200" b="1" i="0">
                <a:solidFill>
                  <a:srgbClr val="1C252B"/>
                </a:solidFill>
                <a:latin typeface="Cambria"/>
              </a:rPr>
              <a:t>87%</a:t>
            </a:r>
            <a:r>
              <a:rPr sz="2200" b="0" i="0">
                <a:solidFill>
                  <a:srgbClr val="1C252B"/>
                </a:solidFill>
                <a:latin typeface="Segoe UI"/>
              </a:rPr>
              <a:t>. That is above the 85% ceiling at which reclamation begins, so </a:t>
            </a:r>
            <a:r>
              <a:rPr sz="2200" b="1" i="0">
                <a:solidFill>
                  <a:srgbClr val="1C252B"/>
                </a:solidFill>
                <a:latin typeface="Segoe UI"/>
              </a:rPr>
              <a:t>no</a:t>
            </a:r>
            <a:r>
              <a:rPr sz="2200" b="0" i="0">
                <a:solidFill>
                  <a:srgbClr val="1C252B"/>
                </a:solidFill>
                <a:latin typeface="Segoe UI"/>
              </a:rPr>
              <a:t> — the cluster should not be reported as healthy. It has no real N+1 today, and the 76% on the dashboard conceals exactly that.</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18  ·  Performance Monitoring and Capacity Planning</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148  ·  answers in Appendix D     </a:t>
            </a:r>
            <a:fld id="{A351A9F2-6CC5-459C-8FFF-6F9A25CD13F2}" type="slidenum">
              <a:rPr lang="en-GB" sz="1000">
                <a:solidFill>
                  <a:srgbClr val="8795A1"/>
                </a:solidFill>
                <a:latin typeface="Segoe UI"/>
              </a:rPr>
              <a:t>37</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490528"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18  ·  Performance Monitoring and Capacity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148     </a:t>
            </a:r>
            <a:fld id="{23E16ADF-D002-4FA1-ACE9-47ADB039A392}" type="slidenum">
              <a:rPr lang="en-GB" sz="1000">
                <a:solidFill>
                  <a:srgbClr val="8795A1"/>
                </a:solidFill>
                <a:latin typeface="Segoe UI"/>
              </a:rPr>
              <a:t>38</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A guest cannot see the time it was not running, so its CPU figures are unreliable. The host knows what happened; the guest knows what it wanted. Steal time is the one trustworthy guest-side number.</a:t>
            </a:r>
          </a:p>
        </p:txBody>
      </p:sp>
      <p:sp>
        <p:nvSpPr>
          <p:cNvPr id="10" name="!!sb1">
            <a:extLst>
              <a:ext uri="{C183D7F6-B498-43B3-948B-1728B52AA6E4}">
                <adec:decorative xmlns:adec="http://schemas.microsoft.com/office/drawing/2017/decorative" val="1"/>
              </a:ext>
            </a:extLst>
          </p:cNvPr>
          <p:cNvSpPr/>
          <p:nvPr/>
        </p:nvSpPr>
        <p:spPr>
          <a:xfrm>
            <a:off x="658368" y="246827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52313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459126"/>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%RDY, co-stop, balloon, host swap-in and device latency each point at a different constraint with a different fix.</a:t>
            </a:r>
          </a:p>
        </p:txBody>
      </p:sp>
      <p:sp>
        <p:nvSpPr>
          <p:cNvPr id="13" name="!!sb2">
            <a:extLst>
              <a:ext uri="{C183D7F6-B498-43B3-948B-1728B52AA6E4}">
                <adec:decorative xmlns:adec="http://schemas.microsoft.com/office/drawing/2017/decorative" val="1"/>
              </a:ext>
            </a:extLst>
          </p:cNvPr>
          <p:cNvSpPr/>
          <p:nvPr/>
        </p:nvSpPr>
        <p:spPr>
          <a:xfrm>
            <a:off x="658368" y="319003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24490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180892"/>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Utilisation is not saturation. A queue is what users feel, and most dashboards do not show it.</a:t>
            </a:r>
          </a:p>
        </p:txBody>
      </p:sp>
      <p:sp>
        <p:nvSpPr>
          <p:cNvPr id="16" name="!!sb3">
            <a:extLst>
              <a:ext uri="{C183D7F6-B498-43B3-948B-1728B52AA6E4}">
                <adec:decorative xmlns:adec="http://schemas.microsoft.com/office/drawing/2017/decorative" val="1"/>
              </a:ext>
            </a:extLst>
          </p:cNvPr>
          <p:cNvSpPr/>
          <p:nvPr/>
        </p:nvSpPr>
        <p:spPr>
          <a:xfrm>
            <a:off x="658368" y="3775252"/>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3830116"/>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3766108"/>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Plan on percentiles. The mean sits below almost all the mass, and a page making twenty calls meets the p95 most of the time.</a:t>
            </a:r>
          </a:p>
        </p:txBody>
      </p:sp>
      <p:sp>
        <p:nvSpPr>
          <p:cNvPr id="19" name="!!sb4">
            <a:extLst>
              <a:ext uri="{C183D7F6-B498-43B3-948B-1728B52AA6E4}">
                <adec:decorative xmlns:adec="http://schemas.microsoft.com/office/drawing/2017/decorative" val="1"/>
              </a:ext>
            </a:extLst>
          </p:cNvPr>
          <p:cNvSpPr/>
          <p:nvPr/>
        </p:nvSpPr>
        <p:spPr>
          <a:xfrm>
            <a:off x="658368" y="4497019"/>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551883"/>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487875"/>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Distinguish a noisy neighbour from a workload problem by comparing all guests on the host, and by migrating to a quiet host.</a:t>
            </a:r>
          </a:p>
        </p:txBody>
      </p:sp>
      <p:sp>
        <p:nvSpPr>
          <p:cNvPr id="22" name="!!sb5">
            <a:extLst>
              <a:ext uri="{C183D7F6-B498-43B3-948B-1728B52AA6E4}">
                <adec:decorative xmlns:adec="http://schemas.microsoft.com/office/drawing/2017/decorative" val="1"/>
              </a:ext>
            </a:extLst>
          </p:cNvPr>
          <p:cNvSpPr/>
          <p:nvPr/>
        </p:nvSpPr>
        <p:spPr>
          <a:xfrm>
            <a:off x="658368" y="5218785"/>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273649"/>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209641"/>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A virtualized benchmark lies through neighbours, timekeeping, caching, burst credits and nesting. State how you handled all five.</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0774056"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 (continued)</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18  ·  Performance Monitoring and Capacity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148     </a:t>
            </a:r>
            <a:fld id="{C4589A49-A9C7-494B-A0D5-1261FBEE8B15}" type="slidenum">
              <a:rPr lang="en-GB" sz="1000">
                <a:solidFill>
                  <a:srgbClr val="8795A1"/>
                </a:solidFill>
                <a:latin typeface="Segoe UI"/>
              </a:rPr>
              <a:t>39</a:t>
            </a:fld>
          </a:p>
        </p:txBody>
      </p:sp>
      <p:sp>
        <p:nvSpPr>
          <p:cNvPr id="7" name="!!sb6">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6"/>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7</a:t>
            </a:r>
          </a:p>
        </p:txBody>
      </p:sp>
      <p:sp>
        <p:nvSpPr>
          <p:cNvPr id="9" name="!!st6"/>
          <p:cNvSpPr txBox="1"/>
          <p:nvPr/>
        </p:nvSpPr>
        <p:spPr>
          <a:xfrm>
            <a:off x="1298448" y="1737360"/>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Report N+1 capacity, not raw utilisation, and set triggers with the procurement lead time built in.</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11057584"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18  ·  Performance Monitoring and Capacity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148     </a:t>
            </a:r>
            <a:fld id="{690C4214-F22C-4064-9CA4-648A553E6C3B}" type="slidenum">
              <a:rPr lang="en-GB" sz="1000">
                <a:solidFill>
                  <a:srgbClr val="8795A1"/>
                </a:solidFill>
                <a:latin typeface="Segoe UI"/>
              </a:rPr>
              <a:t>40</a:t>
            </a:fld>
          </a:p>
        </p:txBody>
      </p:sp>
      <p:sp>
        <p:nvSpPr>
          <p:cNvPr id="7" name="!!mstem"/>
          <p:cNvSpPr txBox="1"/>
          <p:nvPr/>
        </p:nvSpPr>
        <p:spPr>
          <a:xfrm>
            <a:off x="658368" y="1737360"/>
            <a:ext cx="10874959" cy="86989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The one guest-side counter that reliably indicates host CPU contention is:</a:t>
            </a:r>
          </a:p>
        </p:txBody>
      </p:sp>
      <p:sp>
        <p:nvSpPr>
          <p:cNvPr id="8" name="!!mo0">
            <a:extLst>
              <a:ext uri="{C183D7F6-B498-43B3-948B-1728B52AA6E4}">
                <adec:decorative xmlns:adec="http://schemas.microsoft.com/office/drawing/2017/decorative" val="1"/>
              </a:ext>
            </a:extLst>
          </p:cNvPr>
          <p:cNvSpPr/>
          <p:nvPr/>
        </p:nvSpPr>
        <p:spPr>
          <a:xfrm>
            <a:off x="658368" y="292729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320161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328391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327781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load average</a:t>
            </a:r>
          </a:p>
        </p:txBody>
      </p:sp>
      <p:sp>
        <p:nvSpPr>
          <p:cNvPr id="12" name="!!mo1">
            <a:extLst>
              <a:ext uri="{C183D7F6-B498-43B3-948B-1728B52AA6E4}">
                <adec:decorative xmlns:adec="http://schemas.microsoft.com/office/drawing/2017/decorative" val="1"/>
              </a:ext>
            </a:extLst>
          </p:cNvPr>
          <p:cNvSpPr/>
          <p:nvPr/>
        </p:nvSpPr>
        <p:spPr>
          <a:xfrm>
            <a:off x="6214719" y="292729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320161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328391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327781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%usr</a:t>
            </a:r>
          </a:p>
        </p:txBody>
      </p:sp>
      <p:sp>
        <p:nvSpPr>
          <p:cNvPr id="16" name="!!mo2">
            <a:extLst>
              <a:ext uri="{C183D7F6-B498-43B3-948B-1728B52AA6E4}">
                <adec:decorative xmlns:adec="http://schemas.microsoft.com/office/drawing/2017/decorative" val="1"/>
              </a:ext>
            </a:extLst>
          </p:cNvPr>
          <p:cNvSpPr/>
          <p:nvPr/>
        </p:nvSpPr>
        <p:spPr>
          <a:xfrm>
            <a:off x="658368" y="411601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439033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47263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46653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%steal</a:t>
            </a:r>
          </a:p>
        </p:txBody>
      </p:sp>
      <p:sp>
        <p:nvSpPr>
          <p:cNvPr id="20" name="!!mo3">
            <a:extLst>
              <a:ext uri="{C183D7F6-B498-43B3-948B-1728B52AA6E4}">
                <adec:decorative xmlns:adec="http://schemas.microsoft.com/office/drawing/2017/decorative" val="1"/>
              </a:ext>
            </a:extLst>
          </p:cNvPr>
          <p:cNvSpPr/>
          <p:nvPr/>
        </p:nvSpPr>
        <p:spPr>
          <a:xfrm>
            <a:off x="6214719" y="411601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439033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47263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46653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context switches</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34111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18  ·  Performance Monitoring and Capacity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148     </a:t>
            </a:r>
            <a:fld id="{CE067245-3514-42F2-ADFE-341A85181903}" type="slidenum">
              <a:rPr lang="en-GB" sz="1000">
                <a:solidFill>
                  <a:srgbClr val="8795A1"/>
                </a:solidFill>
                <a:latin typeface="Segoe UI"/>
              </a:rPr>
              <a:t>41</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A disk at 100% utilisation with an average queue depth of 1 is: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saturated</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fully used but not saturated</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failing</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idle</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62463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18  ·  Performance Monitoring and Capacity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148     </a:t>
            </a:r>
            <a:fld id="{3F835180-35CC-40A0-B814-91A8BDAEAFB1}" type="slidenum">
              <a:rPr lang="en-GB" sz="1000">
                <a:solidFill>
                  <a:srgbClr val="8795A1"/>
                </a:solidFill>
                <a:latin typeface="Segoe UI"/>
              </a:rPr>
              <a:t>42</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why a guest can report 40% CPU while being unable to keep up.</a:t>
            </a:r>
          </a:p>
        </p:txBody>
      </p:sp>
      <p:sp>
        <p:nvSpPr>
          <p:cNvPr id="10" name="!!rt1">
            <a:extLst>
              <a:ext uri="{C183D7F6-B498-43B3-948B-1728B52AA6E4}">
                <adec:decorative xmlns:adec="http://schemas.microsoft.com/office/drawing/2017/decorative" val="1"/>
              </a:ext>
            </a:extLst>
          </p:cNvPr>
          <p:cNvSpPr/>
          <p:nvPr/>
        </p:nvSpPr>
        <p:spPr>
          <a:xfrm>
            <a:off x="658368" y="2276246"/>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317394"/>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257958"/>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State the USE method and explain which of its three parts dashboards usually omit.</a:t>
            </a:r>
          </a:p>
        </p:txBody>
      </p:sp>
      <p:sp>
        <p:nvSpPr>
          <p:cNvPr id="13" name="!!rt2">
            <a:extLst>
              <a:ext uri="{C183D7F6-B498-43B3-948B-1728B52AA6E4}">
                <adec:decorative xmlns:adec="http://schemas.microsoft.com/office/drawing/2017/decorative" val="1"/>
              </a:ext>
            </a:extLst>
          </p:cNvPr>
          <p:cNvSpPr/>
          <p:nvPr/>
        </p:nvSpPr>
        <p:spPr>
          <a:xfrm>
            <a:off x="658368" y="2796844"/>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2837992"/>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2778556"/>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Give three of the five ways a virtualized benchmark can mislead, with the control for each.</a:t>
            </a:r>
          </a:p>
        </p:txBody>
      </p:sp>
      <p:sp>
        <p:nvSpPr>
          <p:cNvPr id="16" name="!!rt3">
            <a:extLst>
              <a:ext uri="{C183D7F6-B498-43B3-948B-1728B52AA6E4}">
                <adec:decorative xmlns:adec="http://schemas.microsoft.com/office/drawing/2017/decorative" val="1"/>
              </a:ext>
            </a:extLst>
          </p:cNvPr>
          <p:cNvSpPr/>
          <p:nvPr/>
        </p:nvSpPr>
        <p:spPr>
          <a:xfrm>
            <a:off x="658368" y="3618585"/>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659733"/>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600297"/>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four-host cluster of 48 cores and 384 GB each measures 820 vCPUs allocated, %RDY p95 of 9%, and 1,180 GB active memory, growing 5% a quarter. Lead time is 12 weeks. Work through the worked example’s six steps and write the plan.</a:t>
            </a:r>
          </a:p>
        </p:txBody>
      </p:sp>
      <p:sp>
        <p:nvSpPr>
          <p:cNvPr id="19" name="!!rt4">
            <a:extLst>
              <a:ext uri="{C183D7F6-B498-43B3-948B-1728B52AA6E4}">
                <adec:decorative xmlns:adec="http://schemas.microsoft.com/office/drawing/2017/decorative" val="1"/>
              </a:ext>
            </a:extLst>
          </p:cNvPr>
          <p:cNvSpPr/>
          <p:nvPr/>
        </p:nvSpPr>
        <p:spPr>
          <a:xfrm>
            <a:off x="658368" y="4741468"/>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478261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723180"/>
            <a:ext cx="9549079" cy="1204569"/>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developer insists their application is slow “because virtualization is slow” and produces a benchmark run inside their guest. Write the response: what the benchmark does not control for, what you would measure instead, and what result would prove them right.</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90816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07964"/>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38470"/>
                </a:solidFill>
                <a:latin typeface="Segoe UI Black"/>
              </a:rPr>
              <a:t>18</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18</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0C5E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4CCC4"/>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19 — Security in Virtualized Environments</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0C5E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4CCC4"/>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18, pages 141–148</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0C5E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4CCC4"/>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Find three bottlenecks; harden a container</a:t>
            </a:r>
          </a:p>
        </p:txBody>
      </p:sp>
      <p:sp>
        <p:nvSpPr>
          <p:cNvPr id="14" name="!!cl3">
            <a:extLst>
              <a:ext uri="{C183D7F6-B498-43B3-948B-1728B52AA6E4}">
                <adec:decorative xmlns:adec="http://schemas.microsoft.com/office/drawing/2017/decorative" val="1"/>
              </a:ext>
            </a:extLst>
          </p:cNvPr>
          <p:cNvSpPr/>
          <p:nvPr/>
        </p:nvSpPr>
        <p:spPr>
          <a:xfrm>
            <a:off x="6233007" y="3584448"/>
            <a:ext cx="5300319" cy="1097280"/>
          </a:xfrm>
          <a:prstGeom prst="roundRect">
            <a:avLst>
              <a:gd name="adj" fmla="val 8333"/>
            </a:avLst>
          </a:prstGeom>
          <a:solidFill>
            <a:srgbClr val="0C5E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ll3"/>
          <p:cNvSpPr txBox="1"/>
          <p:nvPr/>
        </p:nvSpPr>
        <p:spPr>
          <a:xfrm>
            <a:off x="6507327"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4CCC4"/>
                </a:solidFill>
                <a:latin typeface="Segoe UI"/>
              </a:rPr>
              <a:t>ASSESSMENT</a:t>
            </a:r>
          </a:p>
        </p:txBody>
      </p:sp>
      <p:sp>
        <p:nvSpPr>
          <p:cNvPr id="16" name="!!clv3"/>
          <p:cNvSpPr txBox="1"/>
          <p:nvPr/>
        </p:nvSpPr>
        <p:spPr>
          <a:xfrm>
            <a:off x="6507327"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Quiz 3 (Ch 15–19) Assignment 2 due</a:t>
            </a:r>
          </a:p>
        </p:txBody>
      </p:sp>
      <p:sp>
        <p:nvSpPr>
          <p:cNvPr id="1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18  ·  Performance Monitoring and Capacity Planning</a:t>
            </a:r>
          </a:p>
        </p:txBody>
      </p:sp>
      <p:sp>
        <p:nvSpPr>
          <p:cNvPr id="18" name="!!footR"/>
          <p:cNvSpPr txBox="1"/>
          <p:nvPr/>
        </p:nvSpPr>
        <p:spPr>
          <a:xfrm>
            <a:off x="6639595" y="6437376"/>
            <a:ext cx="4893731" cy="237744"/>
          </a:xfrm>
          <a:prstGeom prst="rect">
            <a:avLst/>
          </a:prstGeom>
          <a:noFill/>
        </p:spPr>
        <p:txBody>
          <a:bodyPr wrap="square" anchor="t" lIns="0" rIns="0" tIns="0" bIns="0">
            <a:noAutofit/>
          </a:bodyPr>
          <a:lstStyle/>
          <a:p>
            <a:pPr algn="r"/>
            <a:fld id="{82CCF686-676C-46D6-80FD-7C964983E606}" type="slidenum">
              <a:rPr lang="en-GB" sz="1000">
                <a:solidFill>
                  <a:srgbClr val="D5DEE5"/>
                </a:solidFill>
                <a:latin typeface="Segoe UI"/>
              </a:rPr>
              <a:t>43</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Virtual Systems and Services Fall 2026">
  <a:themeElements>
    <a:clrScheme name="Virtual Systems and Services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Virtual Systems and Services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18: Performance Monitoring and Capacity Planning</dc:title>
  <dc:subject>Virtual Systems and Services — From Hypervisors to the Cloud-Native Stack · BSIT · Fall 2026</dc:subject>
  <dc:creator>Dr. Mustafa Hameed</dc:creator>
  <cp:keywords>artificial intelligence;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