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2.svg" ContentType="image/svg+xml"/>
  <Override PartName="/ppt/media/image24.svg" ContentType="image/svg+xml"/>
  <Override PartName="/ppt/media/image26.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263B45E-96B2-43B8-9E4B-EC434919FC32}">
          <p14:sldIdLst>
            <p14:sldId id="256"/>
            <p14:sldId id="257"/>
            <p14:sldId id="258"/>
          </p14:sldIdLst>
        </p14:section>
        <p14:section name="Part I" id="{0BFB2302-E58F-40AF-8112-D2C5D1C8DAF7}">
          <p14:sldIdLst>
            <p14:sldId id="259"/>
            <p14:sldId id="260"/>
          </p14:sldIdLst>
        </p14:section>
        <p14:section name="Part II" id="{E13D5B8F-0703-4509-B894-715C9F8269C2}">
          <p14:sldIdLst>
            <p14:sldId id="261"/>
            <p14:sldId id="262"/>
          </p14:sldIdLst>
        </p14:section>
        <p14:section name="Part III" id="{F8A63AA8-A05F-4F77-979E-08BD78DB37EC}">
          <p14:sldIdLst>
            <p14:sldId id="263"/>
            <p14:sldId id="264"/>
          </p14:sldIdLst>
        </p14:section>
        <p14:section name="Part IV" id="{18407513-295D-4FC9-9C5F-C9AE09E571CA}">
          <p14:sldIdLst>
            <p14:sldId id="265"/>
            <p14:sldId id="266"/>
          </p14:sldIdLst>
        </p14:section>
        <p14:section name="Part V" id="{7D522974-0E40-467C-86D7-5136426B14EE}">
          <p14:sldIdLst>
            <p14:sldId id="267"/>
            <p14:sldId id="268"/>
          </p14:sldIdLst>
        </p14:section>
        <p14:section name="Part VI" id="{7066284B-69B7-4859-ADD2-76C907D8EC70}">
          <p14:sldIdLst>
            <p14:sldId id="269"/>
            <p14:sldId id="270"/>
          </p14:sldIdLst>
        </p14:section>
        <p14:section name="Schedule and assessment" id="{A9AB72D3-A94D-48A7-AB37-3F0851EA0853}">
          <p14:sldIdLst>
            <p14:sldId id="271"/>
            <p14:sldId id="272"/>
            <p14:sldId id="273"/>
            <p14:sldId id="274"/>
            <p14:sldId id="275"/>
          </p14:sldIdLst>
        </p14:section>
        <p14:section name="Wrap-up" id="{4720397D-BF27-4E56-A768-C7A07FF74E19}">
          <p14:sldIdLst>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semester with this deck. It answers: what is this course, how is it sequenced, and how will I be assessed?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Thirty-two chapters in six parts. The two application chapters the course is built towards are 25 and 26.</a:t>
            </a:r>
          </a:p>
          <a:p/>
          <a:p>
            <a:r>
              <a:t>Figure F.1 (handout p. 0): The six parts and the chapters in each. Parts I and II teach the HEC 2017 outline close to specification; Parts III to VI carry it forward to the stack in production use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organising idea of the whole course. Each row of Chapter 1's table becomes a part or a chapter, and the same three questions are asked of each.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idea in this book is a special case of one move: put a layer underneath something, and make what sits above believe nothing has changed. Part I says what that layer is, names the ways it can be built — and then proves the uncomfortable fact that for twenty years the most widely sold processor in the world could not host one correctly.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P1.1 (handout p. 2): Reading path through Part I. Chapter 3 is the hinge: it states the conditions a correct hypervisor must meet, and every hardware feature in Part II exists because x86 did not meet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I ended with a problem: the architecture could not be virtualized, and the software workarounds were slow and fragile. Part II is the answer, in the order the industry found it — first in silicon, then in four platforms built on that silicon, then in the two resources every guest competes for, and finally in the devices the guest thinks it owns.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P2.1 (handout p. 29): Reading path through Part II. Chapter 4 is the silicon; the three that follow spend it — on platforms, on the processor and memory, and on everything plugged into the bus.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machine virtualizes the hardware, and pays for a whole operating system to do it. Part III asks a cheaper question: if the processes already share one kernel, what would it take to stop them seeing each other? The answer turns out to be two features Linux already had — and an industry grew out of combining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P3.1 (handout p. 61): Reading path through Part III. The arc runs from kernel primitives to a cluster scheduler — and then back to Part II, because Chapter 11’s answer to container isolation is to put a virtual machine underneath each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machine with no disk and no network is a thought experiment. Part IV virtualizes everything that is not a processor — storage, then the network, then the whole arrangement, sold by the hour. It ends at the cloud, which is not a new idea in this book but the previous thirteen chapters with a billing system attached.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P4.1 (handout p. 93): Reading path through Part IV. Chapters 12 and 13 complete the virtual machine; Chapter 14 is where the industry sells it, and Chapter 15 is the case where the thing virtualized is somebody’s desk.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has been how to build the layer. Part V is how to live with one. Fleets are managed, not configured; machines move between hosts while serving traffic; hosts run out of something before they run out of everything, and knowing which is a skill. And the layer that gave you all of this is also a piece of software with an attack surface.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P5.1 (handout p. 124): Reading path through Part V. Live migration is the one in the middle because it is what the rest is for: a fleet you can manage is a fleet whose machines can move without stopping.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2017 outline ends with “emerging hardware features and the future of virtualization”. Two things have emerged since. Accelerators became the scarce resource and had to be divided like processors before them; and the trust model inverted — the guest stopped trusting the host, and the hardware had to be taught to take its side.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P6.1 (handout p. 158): Reading path through Part VI. Chapters 20 and 21 are where the hardware is still moving; Chapters 22 and 23 put the whole book to work, first on other people’s decisions and then on your 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G.1 (handout p. 217): What depends on what. The spine runs left to right between parts and top to bottom within one; the references that would have crossed the grid are listed beneath the figure instead of drawn through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first session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1.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2.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5425135" y="-457200"/>
            <a:ext cx="6400800" cy="475488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23</a:t>
            </a:r>
          </a:p>
        </p:txBody>
      </p:sp>
      <p:sp>
        <p:nvSpPr>
          <p:cNvPr id="2" name="!!title"/>
          <p:cNvSpPr>
            <a:spLocks noGrp="1"/>
          </p:cNvSpPr>
          <p:nvPr>
            <p:ph type="title"/>
          </p:nvPr>
        </p:nvSpPr>
        <p:spPr>
          <a:xfrm>
            <a:off x="658368" y="1920240"/>
            <a:ext cx="10881360" cy="1188720"/>
          </a:xfrm>
        </p:spPr>
        <p:txBody>
          <a:bodyPr wrap="square" lIns="0" rIns="0" tIns="0" bIns="0" anchor="t">
            <a:noAutofit/>
          </a:bodyPr>
          <a:lstStyle/>
          <a:p>
            <a:pPr algn="l">
              <a:lnSpc>
                <a:spcPct val="96000"/>
              </a:lnSpc>
            </a:pPr>
            <a:r>
              <a:rPr sz="4600" b="0">
                <a:solidFill>
                  <a:srgbClr val="FFFFFF"/>
                </a:solidFill>
                <a:latin typeface="Segoe UI Semibold"/>
              </a:rPr>
              <a:t>Virtual Systems and Services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k"/>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BSIT  ·  FALL 2026</a:t>
            </a:r>
          </a:p>
        </p:txBody>
      </p:sp>
      <p:sp>
        <p:nvSpPr>
          <p:cNvPr id="6" name="!!tsub"/>
          <p:cNvSpPr txBox="1"/>
          <p:nvPr/>
        </p:nvSpPr>
        <p:spPr>
          <a:xfrm>
            <a:off x="658368" y="3200400"/>
            <a:ext cx="8503920" cy="457200"/>
          </a:xfrm>
          <a:prstGeom prst="rect">
            <a:avLst/>
          </a:prstGeom>
          <a:noFill/>
        </p:spPr>
        <p:txBody>
          <a:bodyPr wrap="square" anchor="t" lIns="0" rIns="0" tIns="0" bIns="0">
            <a:noAutofit/>
          </a:bodyPr>
          <a:lstStyle/>
          <a:p>
            <a:pPr algn="l">
              <a:lnSpc>
                <a:spcPct val="100000"/>
              </a:lnSpc>
              <a:spcBef>
                <a:spcPts val="0"/>
              </a:spcBef>
              <a:spcAft>
                <a:spcPts val="0"/>
              </a:spcAft>
            </a:pPr>
            <a:r>
              <a:rPr sz="2600" b="0" i="0">
                <a:solidFill>
                  <a:srgbClr val="DFE7EC"/>
                </a:solidFill>
                <a:latin typeface="Segoe UI Semibold"/>
              </a:rPr>
              <a:t>From Hypervisors to the Cloud-Native Stack</a:t>
            </a:r>
          </a:p>
        </p:txBody>
      </p:sp>
      <p:sp>
        <p:nvSpPr>
          <p:cNvPr id="7" name="!!tsub2"/>
          <p:cNvSpPr txBox="1"/>
          <p:nvPr/>
        </p:nvSpPr>
        <p:spPr>
          <a:xfrm>
            <a:off x="658368" y="4160520"/>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3D2DB"/>
                </a:solidFill>
                <a:latin typeface="Segoe UI"/>
              </a:rPr>
              <a:t>Six parts  ·  23 chapters  ·  16 weeks  ·  one project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six parts and the chapters in each</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F.1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front matter     </a:t>
            </a:r>
            <a:fld id="{F06D6019-60D0-4816-823E-7AC9BA609A4B}" type="slidenum">
              <a:rPr lang="en-GB" sz="1000">
                <a:solidFill>
                  <a:srgbClr val="8795A1"/>
                </a:solidFill>
                <a:latin typeface="Segoe UI"/>
              </a:rPr>
              <a:t>2</a:t>
            </a:fld>
          </a:p>
        </p:txBody>
      </p:sp>
      <p:pic>
        <p:nvPicPr>
          <p:cNvPr id="6" name="!!figure" descr="Figure F.1. The six parts and the chapters in each. Parts I and II teach the HEC 2017 outline close to specification; Parts III to VI carry it forward to the stack in production use toda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57364"/>
            <a:ext cx="10874959" cy="3054763"/>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Parts I and II teach the HEC 2017 outline close to specification; Parts III to VI carry it forward to the stack in production use today.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16111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idea, six times over</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THE SPINE OF 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§1.5     </a:t>
            </a:r>
            <a:fld id="{C92B52BD-9364-45DB-853D-321C63905C18}" type="slidenum">
              <a:rPr lang="en-GB" sz="1000">
                <a:solidFill>
                  <a:srgbClr val="8795A1"/>
                </a:solidFill>
                <a:latin typeface="Segoe UI"/>
              </a:rPr>
              <a:t>3</a:t>
            </a:fld>
          </a:p>
        </p:txBody>
      </p:sp>
      <p:sp>
        <p:nvSpPr>
          <p:cNvPr id="7" name="!!lay0">
            <a:extLst>
              <a:ext uri="{C183D7F6-B498-43B3-948B-1728B52AA6E4}">
                <adec:decorative xmlns:adec="http://schemas.microsoft.com/office/drawing/2017/decorative" val="1"/>
              </a:ext>
            </a:extLst>
          </p:cNvPr>
          <p:cNvSpPr/>
          <p:nvPr/>
        </p:nvSpPr>
        <p:spPr>
          <a:xfrm>
            <a:off x="658368" y="1737360"/>
            <a:ext cx="3478682" cy="1911095"/>
          </a:xfrm>
          <a:prstGeom prst="roundRect">
            <a:avLst>
              <a:gd name="adj" fmla="val 4784"/>
            </a:avLst>
          </a:prstGeom>
          <a:solidFill>
            <a:srgbClr val="F1F5F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ayb0">
            <a:extLst>
              <a:ext uri="{C183D7F6-B498-43B3-948B-1728B52AA6E4}">
                <adec:decorative xmlns:adec="http://schemas.microsoft.com/office/drawing/2017/decorative" val="1"/>
              </a:ext>
            </a:extLst>
          </p:cNvPr>
          <p:cNvSpPr/>
          <p:nvPr/>
        </p:nvSpPr>
        <p:spPr>
          <a:xfrm>
            <a:off x="658368" y="1737360"/>
            <a:ext cx="64008" cy="191109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yn0"/>
          <p:cNvSpPr txBox="1"/>
          <p:nvPr/>
        </p:nvSpPr>
        <p:spPr>
          <a:xfrm>
            <a:off x="914400" y="1883664"/>
            <a:ext cx="3021482" cy="256032"/>
          </a:xfrm>
          <a:prstGeom prst="rect">
            <a:avLst/>
          </a:prstGeom>
          <a:noFill/>
        </p:spPr>
        <p:txBody>
          <a:bodyPr wrap="square" anchor="t" lIns="0" rIns="0" tIns="0" bIns="0">
            <a:noAutofit/>
          </a:bodyPr>
          <a:lstStyle/>
          <a:p>
            <a:pPr algn="l">
              <a:lnSpc>
                <a:spcPct val="100000"/>
              </a:lnSpc>
              <a:spcBef>
                <a:spcPts val="0"/>
              </a:spcBef>
              <a:spcAft>
                <a:spcPts val="0"/>
              </a:spcAft>
            </a:pPr>
            <a:r>
              <a:rPr sz="1150" b="1" i="0" spc="120">
                <a:solidFill>
                  <a:srgbClr val="1A5276"/>
                </a:solidFill>
                <a:latin typeface="Segoe UI"/>
              </a:rPr>
              <a:t>THE WHOLE MACHINE</a:t>
            </a:r>
          </a:p>
        </p:txBody>
      </p:sp>
      <p:sp>
        <p:nvSpPr>
          <p:cNvPr id="10" name="!!layv0"/>
          <p:cNvSpPr txBox="1"/>
          <p:nvPr/>
        </p:nvSpPr>
        <p:spPr>
          <a:xfrm>
            <a:off x="914400" y="2212848"/>
            <a:ext cx="3021482" cy="1271016"/>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An unmodified operating system boots on it.
Parts I and II.</a:t>
            </a:r>
          </a:p>
        </p:txBody>
      </p:sp>
      <p:sp>
        <p:nvSpPr>
          <p:cNvPr id="11" name="!!lay1">
            <a:extLst>
              <a:ext uri="{C183D7F6-B498-43B3-948B-1728B52AA6E4}">
                <adec:decorative xmlns:adec="http://schemas.microsoft.com/office/drawing/2017/decorative" val="1"/>
              </a:ext>
            </a:extLst>
          </p:cNvPr>
          <p:cNvSpPr/>
          <p:nvPr/>
        </p:nvSpPr>
        <p:spPr>
          <a:xfrm>
            <a:off x="4356506" y="1737360"/>
            <a:ext cx="3478682" cy="1911095"/>
          </a:xfrm>
          <a:prstGeom prst="roundRect">
            <a:avLst>
              <a:gd name="adj" fmla="val 4784"/>
            </a:avLst>
          </a:prstGeom>
          <a:solidFill>
            <a:srgbClr val="F2F8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layb1">
            <a:extLst>
              <a:ext uri="{C183D7F6-B498-43B3-948B-1728B52AA6E4}">
                <adec:decorative xmlns:adec="http://schemas.microsoft.com/office/drawing/2017/decorative" val="1"/>
              </a:ext>
            </a:extLst>
          </p:cNvPr>
          <p:cNvSpPr/>
          <p:nvPr/>
        </p:nvSpPr>
        <p:spPr>
          <a:xfrm>
            <a:off x="4356506" y="1737360"/>
            <a:ext cx="64008" cy="191109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ayn1"/>
          <p:cNvSpPr txBox="1"/>
          <p:nvPr/>
        </p:nvSpPr>
        <p:spPr>
          <a:xfrm>
            <a:off x="4612538" y="1883664"/>
            <a:ext cx="3021482" cy="256032"/>
          </a:xfrm>
          <a:prstGeom prst="rect">
            <a:avLst/>
          </a:prstGeom>
          <a:noFill/>
        </p:spPr>
        <p:txBody>
          <a:bodyPr wrap="square" anchor="t" lIns="0" rIns="0" tIns="0" bIns="0">
            <a:noAutofit/>
          </a:bodyPr>
          <a:lstStyle/>
          <a:p>
            <a:pPr algn="l">
              <a:lnSpc>
                <a:spcPct val="100000"/>
              </a:lnSpc>
              <a:spcBef>
                <a:spcPts val="0"/>
              </a:spcBef>
              <a:spcAft>
                <a:spcPts val="0"/>
              </a:spcAft>
            </a:pPr>
            <a:r>
              <a:rPr sz="1150" b="1" i="0" spc="120">
                <a:solidFill>
                  <a:srgbClr val="2E86C1"/>
                </a:solidFill>
                <a:latin typeface="Segoe UI"/>
              </a:rPr>
              <a:t>THE OPERATING SYSTEM</a:t>
            </a:r>
          </a:p>
        </p:txBody>
      </p:sp>
      <p:sp>
        <p:nvSpPr>
          <p:cNvPr id="14" name="!!layv1"/>
          <p:cNvSpPr txBox="1"/>
          <p:nvPr/>
        </p:nvSpPr>
        <p:spPr>
          <a:xfrm>
            <a:off x="4612538" y="2212848"/>
            <a:ext cx="3021482" cy="1271016"/>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Processes see a private system, sharing one kernel.
Part III.</a:t>
            </a:r>
          </a:p>
        </p:txBody>
      </p:sp>
      <p:sp>
        <p:nvSpPr>
          <p:cNvPr id="15" name="!!lay2">
            <a:extLst>
              <a:ext uri="{C183D7F6-B498-43B3-948B-1728B52AA6E4}">
                <adec:decorative xmlns:adec="http://schemas.microsoft.com/office/drawing/2017/decorative" val="1"/>
              </a:ext>
            </a:extLst>
          </p:cNvPr>
          <p:cNvSpPr/>
          <p:nvPr/>
        </p:nvSpPr>
        <p:spPr>
          <a:xfrm>
            <a:off x="8054644" y="1737360"/>
            <a:ext cx="3478682" cy="1911095"/>
          </a:xfrm>
          <a:prstGeom prst="roundRect">
            <a:avLst>
              <a:gd name="adj" fmla="val 4784"/>
            </a:avLst>
          </a:prstGeom>
          <a:solidFill>
            <a:srgbClr val="F2FAF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layb2">
            <a:extLst>
              <a:ext uri="{C183D7F6-B498-43B3-948B-1728B52AA6E4}">
                <adec:decorative xmlns:adec="http://schemas.microsoft.com/office/drawing/2017/decorative" val="1"/>
              </a:ext>
            </a:extLst>
          </p:cNvPr>
          <p:cNvSpPr/>
          <p:nvPr/>
        </p:nvSpPr>
        <p:spPr>
          <a:xfrm>
            <a:off x="8054644" y="1737360"/>
            <a:ext cx="64008" cy="1911095"/>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ayn2"/>
          <p:cNvSpPr txBox="1"/>
          <p:nvPr/>
        </p:nvSpPr>
        <p:spPr>
          <a:xfrm>
            <a:off x="8310676" y="1883664"/>
            <a:ext cx="3021482" cy="256032"/>
          </a:xfrm>
          <a:prstGeom prst="rect">
            <a:avLst/>
          </a:prstGeom>
          <a:noFill/>
        </p:spPr>
        <p:txBody>
          <a:bodyPr wrap="square" anchor="t" lIns="0" rIns="0" tIns="0" bIns="0">
            <a:noAutofit/>
          </a:bodyPr>
          <a:lstStyle/>
          <a:p>
            <a:pPr algn="l">
              <a:lnSpc>
                <a:spcPct val="100000"/>
              </a:lnSpc>
              <a:spcBef>
                <a:spcPts val="0"/>
              </a:spcBef>
              <a:spcAft>
                <a:spcPts val="0"/>
              </a:spcAft>
            </a:pPr>
            <a:r>
              <a:rPr sz="1150" b="1" i="0" spc="120">
                <a:solidFill>
                  <a:srgbClr val="27AE60"/>
                </a:solidFill>
                <a:latin typeface="Segoe UI"/>
              </a:rPr>
              <a:t>STORAGE</a:t>
            </a:r>
          </a:p>
        </p:txBody>
      </p:sp>
      <p:sp>
        <p:nvSpPr>
          <p:cNvPr id="18" name="!!layv2"/>
          <p:cNvSpPr txBox="1"/>
          <p:nvPr/>
        </p:nvSpPr>
        <p:spPr>
          <a:xfrm>
            <a:off x="8310676" y="2212848"/>
            <a:ext cx="3021482" cy="1271016"/>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A file behaves as a disk; many disks behave as one.
Chapter 12.</a:t>
            </a:r>
          </a:p>
        </p:txBody>
      </p:sp>
      <p:sp>
        <p:nvSpPr>
          <p:cNvPr id="19" name="!!lay3">
            <a:extLst>
              <a:ext uri="{C183D7F6-B498-43B3-948B-1728B52AA6E4}">
                <adec:decorative xmlns:adec="http://schemas.microsoft.com/office/drawing/2017/decorative" val="1"/>
              </a:ext>
            </a:extLst>
          </p:cNvPr>
          <p:cNvSpPr/>
          <p:nvPr/>
        </p:nvSpPr>
        <p:spPr>
          <a:xfrm>
            <a:off x="658368" y="3831335"/>
            <a:ext cx="3478682" cy="1911095"/>
          </a:xfrm>
          <a:prstGeom prst="roundRect">
            <a:avLst>
              <a:gd name="adj" fmla="val 4784"/>
            </a:avLst>
          </a:prstGeom>
          <a:solidFill>
            <a:srgbClr val="F8F4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ayb3">
            <a:extLst>
              <a:ext uri="{C183D7F6-B498-43B3-948B-1728B52AA6E4}">
                <adec:decorative xmlns:adec="http://schemas.microsoft.com/office/drawing/2017/decorative" val="1"/>
              </a:ext>
            </a:extLst>
          </p:cNvPr>
          <p:cNvSpPr/>
          <p:nvPr/>
        </p:nvSpPr>
        <p:spPr>
          <a:xfrm>
            <a:off x="658368" y="3831335"/>
            <a:ext cx="64008" cy="1911095"/>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ayn3"/>
          <p:cNvSpPr txBox="1"/>
          <p:nvPr/>
        </p:nvSpPr>
        <p:spPr>
          <a:xfrm>
            <a:off x="914400" y="3977639"/>
            <a:ext cx="3021482" cy="256032"/>
          </a:xfrm>
          <a:prstGeom prst="rect">
            <a:avLst/>
          </a:prstGeom>
          <a:noFill/>
        </p:spPr>
        <p:txBody>
          <a:bodyPr wrap="square" anchor="t" lIns="0" rIns="0" tIns="0" bIns="0">
            <a:noAutofit/>
          </a:bodyPr>
          <a:lstStyle/>
          <a:p>
            <a:pPr algn="l">
              <a:lnSpc>
                <a:spcPct val="100000"/>
              </a:lnSpc>
              <a:spcBef>
                <a:spcPts val="0"/>
              </a:spcBef>
              <a:spcAft>
                <a:spcPts val="0"/>
              </a:spcAft>
            </a:pPr>
            <a:r>
              <a:rPr sz="1150" b="1" i="0" spc="120">
                <a:solidFill>
                  <a:srgbClr val="8E44AD"/>
                </a:solidFill>
                <a:latin typeface="Segoe UI"/>
              </a:rPr>
              <a:t>THE NETWORK</a:t>
            </a:r>
          </a:p>
        </p:txBody>
      </p:sp>
      <p:sp>
        <p:nvSpPr>
          <p:cNvPr id="22" name="!!layv3"/>
          <p:cNvSpPr txBox="1"/>
          <p:nvPr/>
        </p:nvSpPr>
        <p:spPr>
          <a:xfrm>
            <a:off x="914400" y="4306823"/>
            <a:ext cx="3021482" cy="1271016"/>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A switch exists in software; a LAN spans sites.
Chapter 13.</a:t>
            </a:r>
          </a:p>
        </p:txBody>
      </p:sp>
      <p:sp>
        <p:nvSpPr>
          <p:cNvPr id="23" name="!!lay4">
            <a:extLst>
              <a:ext uri="{C183D7F6-B498-43B3-948B-1728B52AA6E4}">
                <adec:decorative xmlns:adec="http://schemas.microsoft.com/office/drawing/2017/decorative" val="1"/>
              </a:ext>
            </a:extLst>
          </p:cNvPr>
          <p:cNvSpPr/>
          <p:nvPr/>
        </p:nvSpPr>
        <p:spPr>
          <a:xfrm>
            <a:off x="4356506" y="3831335"/>
            <a:ext cx="3478682" cy="1911095"/>
          </a:xfrm>
          <a:prstGeom prst="roundRect">
            <a:avLst>
              <a:gd name="adj" fmla="val 4784"/>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ayb4">
            <a:extLst>
              <a:ext uri="{C183D7F6-B498-43B3-948B-1728B52AA6E4}">
                <adec:decorative xmlns:adec="http://schemas.microsoft.com/office/drawing/2017/decorative" val="1"/>
              </a:ext>
            </a:extLst>
          </p:cNvPr>
          <p:cNvSpPr/>
          <p:nvPr/>
        </p:nvSpPr>
        <p:spPr>
          <a:xfrm>
            <a:off x="4356506" y="3831335"/>
            <a:ext cx="64008" cy="191109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ayn4"/>
          <p:cNvSpPr txBox="1"/>
          <p:nvPr/>
        </p:nvSpPr>
        <p:spPr>
          <a:xfrm>
            <a:off x="4612538" y="3977639"/>
            <a:ext cx="3021482" cy="256032"/>
          </a:xfrm>
          <a:prstGeom prst="rect">
            <a:avLst/>
          </a:prstGeom>
          <a:noFill/>
        </p:spPr>
        <p:txBody>
          <a:bodyPr wrap="square" anchor="t" lIns="0" rIns="0" tIns="0" bIns="0">
            <a:noAutofit/>
          </a:bodyPr>
          <a:lstStyle/>
          <a:p>
            <a:pPr algn="l">
              <a:lnSpc>
                <a:spcPct val="100000"/>
              </a:lnSpc>
              <a:spcBef>
                <a:spcPts val="0"/>
              </a:spcBef>
              <a:spcAft>
                <a:spcPts val="0"/>
              </a:spcAft>
            </a:pPr>
            <a:r>
              <a:rPr sz="1150" b="1" i="0" spc="120">
                <a:solidFill>
                  <a:srgbClr val="117A65"/>
                </a:solidFill>
                <a:latin typeface="Segoe UI"/>
              </a:rPr>
              <a:t>THE DESKTOP</a:t>
            </a:r>
          </a:p>
        </p:txBody>
      </p:sp>
      <p:sp>
        <p:nvSpPr>
          <p:cNvPr id="26" name="!!layv4"/>
          <p:cNvSpPr txBox="1"/>
          <p:nvPr/>
        </p:nvSpPr>
        <p:spPr>
          <a:xfrm>
            <a:off x="4612538" y="4306823"/>
            <a:ext cx="3021482" cy="1271016"/>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The screen is here and the computer is elsewhere.
Chapter 15.</a:t>
            </a:r>
          </a:p>
        </p:txBody>
      </p:sp>
      <p:sp>
        <p:nvSpPr>
          <p:cNvPr id="27" name="!!lay5">
            <a:extLst>
              <a:ext uri="{C183D7F6-B498-43B3-948B-1728B52AA6E4}">
                <adec:decorative xmlns:adec="http://schemas.microsoft.com/office/drawing/2017/decorative" val="1"/>
              </a:ext>
            </a:extLst>
          </p:cNvPr>
          <p:cNvSpPr/>
          <p:nvPr/>
        </p:nvSpPr>
        <p:spPr>
          <a:xfrm>
            <a:off x="8054644" y="3831335"/>
            <a:ext cx="3478682" cy="1911095"/>
          </a:xfrm>
          <a:prstGeom prst="roundRect">
            <a:avLst>
              <a:gd name="adj" fmla="val 4784"/>
            </a:avLst>
          </a:prstGeom>
          <a:solidFill>
            <a:srgbClr val="FBF9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ayb5">
            <a:extLst>
              <a:ext uri="{C183D7F6-B498-43B3-948B-1728B52AA6E4}">
                <adec:decorative xmlns:adec="http://schemas.microsoft.com/office/drawing/2017/decorative" val="1"/>
              </a:ext>
            </a:extLst>
          </p:cNvPr>
          <p:cNvSpPr/>
          <p:nvPr/>
        </p:nvSpPr>
        <p:spPr>
          <a:xfrm>
            <a:off x="8054644" y="3831335"/>
            <a:ext cx="64008" cy="191109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ayn5"/>
          <p:cNvSpPr txBox="1"/>
          <p:nvPr/>
        </p:nvSpPr>
        <p:spPr>
          <a:xfrm>
            <a:off x="8310676" y="3977639"/>
            <a:ext cx="3021482" cy="256032"/>
          </a:xfrm>
          <a:prstGeom prst="rect">
            <a:avLst/>
          </a:prstGeom>
          <a:noFill/>
        </p:spPr>
        <p:txBody>
          <a:bodyPr wrap="square" anchor="t" lIns="0" rIns="0" tIns="0" bIns="0">
            <a:noAutofit/>
          </a:bodyPr>
          <a:lstStyle/>
          <a:p>
            <a:pPr algn="l">
              <a:lnSpc>
                <a:spcPct val="100000"/>
              </a:lnSpc>
              <a:spcBef>
                <a:spcPts val="0"/>
              </a:spcBef>
              <a:spcAft>
                <a:spcPts val="0"/>
              </a:spcAft>
            </a:pPr>
            <a:r>
              <a:rPr sz="1150" b="1" i="0" spc="120">
                <a:solidFill>
                  <a:srgbClr val="B7950B"/>
                </a:solidFill>
                <a:latin typeface="Segoe UI"/>
              </a:rPr>
              <a:t>AN ACCELERATOR</a:t>
            </a:r>
          </a:p>
        </p:txBody>
      </p:sp>
      <p:sp>
        <p:nvSpPr>
          <p:cNvPr id="30" name="!!layv5"/>
          <p:cNvSpPr txBox="1"/>
          <p:nvPr/>
        </p:nvSpPr>
        <p:spPr>
          <a:xfrm>
            <a:off x="8310676" y="4306823"/>
            <a:ext cx="3021482" cy="1271016"/>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1C252B"/>
                </a:solidFill>
                <a:latin typeface="Segoe UI"/>
              </a:rPr>
              <a:t>One GPU serves several tenants at once.
Chapter 20.</a:t>
            </a:r>
          </a:p>
        </p:txBody>
      </p:sp>
      <p:sp>
        <p:nvSpPr>
          <p:cNvPr id="31" name="!!laynote"/>
          <p:cNvSpPr txBox="1"/>
          <p:nvPr/>
        </p:nvSpPr>
        <p:spPr>
          <a:xfrm>
            <a:off x="658368" y="5852160"/>
            <a:ext cx="10874959" cy="384048"/>
          </a:xfrm>
          <a:prstGeom prst="rect">
            <a:avLst/>
          </a:prstGeom>
          <a:noFill/>
        </p:spPr>
        <p:txBody>
          <a:bodyPr wrap="square" anchor="t" lIns="0" rIns="0" tIns="0" bIns="0">
            <a:noAutofit/>
          </a:bodyPr>
          <a:lstStyle/>
          <a:p>
            <a:pPr algn="l">
              <a:lnSpc>
                <a:spcPct val="100000"/>
              </a:lnSpc>
              <a:spcBef>
                <a:spcPts val="0"/>
              </a:spcBef>
              <a:spcAft>
                <a:spcPts val="0"/>
              </a:spcAft>
            </a:pPr>
            <a:r>
              <a:rPr sz="1500" b="0" i="0">
                <a:solidFill>
                  <a:srgbClr val="5F6F7B"/>
                </a:solidFill>
                <a:latin typeface="Segoe UI"/>
              </a:rPr>
              <a:t>In every case the question is the same: what is the lie, who maintains it, and what does maintaining it cost?</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Foundations of Virtualization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PART I</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I</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BACBD6"/>
                </a:solidFill>
                <a:latin typeface="Segoe UI"/>
              </a:rPr>
              <a:t>CHAPTERS 1–3</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1A5276"/>
                </a:solidFill>
                <a:latin typeface="Segoe UI"/>
              </a:rPr>
              <a:t>Every idea in this book is a special case of one move: put a layer underneath something, and make what sits above believe nothing has changed. Part I says what that layer is, names the ways it can be built — and then proves the uncomfortable fact that for twenty years the most widely sold processor in the world could not host one correctly.</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67E21601-2087-4156-9073-00D2FF60331D}" type="slidenum">
              <a:rPr lang="en-GB" sz="1000">
                <a:solidFill>
                  <a:srgbClr val="8795A1"/>
                </a:solidFill>
                <a:latin typeface="Segoe UI"/>
              </a:rPr>
              <a:t>4</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3222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I</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E17A8626-17F3-41B8-AA91-38832F2DEB2F}" type="slidenum">
              <a:rPr lang="en-GB" sz="1000">
                <a:solidFill>
                  <a:srgbClr val="8795A1"/>
                </a:solidFill>
                <a:latin typeface="Segoe UI"/>
              </a:rPr>
              <a:t>5</a:t>
            </a:fld>
          </a:p>
        </p:txBody>
      </p:sp>
      <p:pic>
        <p:nvPicPr>
          <p:cNvPr id="6" name="!!figure" descr="Figure P1.1. Reading path through Part I. Chapter 3 is the hinge: it states the conditions a correct hypervisor must meet, and every hardware feature in Part II exists because x86 did not meet the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025261"/>
            <a:ext cx="10874959" cy="209535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Chapter 3 is the hinge: it states the conditions a correct hypervisor must meet, and every hardware feature in Part II exists because x86 did not meet them.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027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Hypervisors and Compute Virtualization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PART II</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II</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BDD1DF"/>
                </a:solidFill>
                <a:latin typeface="Segoe UI"/>
              </a:rPr>
              <a:t>CHAPTERS 4–7</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2E86C1"/>
                </a:solidFill>
                <a:latin typeface="Segoe UI"/>
              </a:rPr>
              <a:t>Part I ended with a problem: the architecture could not be virtualized, and the software workarounds were slow and fragile. Part II is the answer, in the order the industry found it — first in silicon, then in four platforms built on that silicon, then in the two resources every guest competes for, and finally in the devices the guest thinks it owns.</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00BBA578-CA39-4AC5-8513-4217FAD92672}" type="slidenum">
              <a:rPr lang="en-GB" sz="1000">
                <a:solidFill>
                  <a:srgbClr val="8795A1"/>
                </a:solidFill>
                <a:latin typeface="Segoe UI"/>
              </a:rPr>
              <a:t>6</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II</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A808D34B-3782-403C-BE25-E1AF392DF76E}" type="slidenum">
              <a:rPr lang="en-GB" sz="1000">
                <a:solidFill>
                  <a:srgbClr val="8795A1"/>
                </a:solidFill>
                <a:latin typeface="Segoe UI"/>
              </a:rPr>
              <a:t>7</a:t>
            </a:fld>
          </a:p>
        </p:txBody>
      </p:sp>
      <p:pic>
        <p:nvPicPr>
          <p:cNvPr id="6" name="!!figure" descr="Figure P2.1. Reading path through Part II. Chapter 4 is the silicon; the three that follow spend it — on platforms, on the processor and memory, and on everything plugged into the bu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080056"/>
            <a:ext cx="10874959" cy="178223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Chapter 4 is the silicon; the three that follow spend it — on platforms, on the processor and memory, and on everything plugged into the bus.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Containers and Lightweight Virtualization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PART III</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III</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BBD7C7"/>
                </a:solidFill>
                <a:latin typeface="Segoe UI"/>
              </a:rPr>
              <a:t>CHAPTERS 8–11</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1E8449"/>
                </a:solidFill>
                <a:latin typeface="Segoe UI"/>
              </a:rPr>
              <a:t>A virtual machine virtualizes the hardware, and pays for a whole operating system to do it. Part III asks a cheaper question: if the processes already share one kernel, what would it take to stop them seeing each other? The answer turns out to be two features Linux already had — and an industry grew out of combining them.</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E297CED0-DEDD-4BA0-98E6-5DA7894EC248}" type="slidenum">
              <a:rPr lang="en-GB" sz="1000">
                <a:solidFill>
                  <a:srgbClr val="8795A1"/>
                </a:solidFill>
                <a:latin typeface="Segoe UI"/>
              </a:rPr>
              <a:t>8</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6444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III</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P3.1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45B1442F-D79C-40CB-8501-680928955663}" type="slidenum">
              <a:rPr lang="en-GB" sz="1000">
                <a:solidFill>
                  <a:srgbClr val="8795A1"/>
                </a:solidFill>
                <a:latin typeface="Segoe UI"/>
              </a:rPr>
              <a:t>9</a:t>
            </a:fld>
          </a:p>
        </p:txBody>
      </p:sp>
      <p:pic>
        <p:nvPicPr>
          <p:cNvPr id="6" name="!!figure" descr="Figure P3.1. Reading path through Part III. The arc runs from kernel primitives to a cluster scheduler — and then back to Part II, because Chapter 11’s answer to container isolation is to put a virtual machine underneath each o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041551"/>
            <a:ext cx="10874959" cy="200226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arc runs from kernel primitives to a cluster scheduler — and then back to Part II, because Chapter 11’s answer to container isolation is to put a virtual machine underneath each one.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Storage, Network and Cloud Virtualization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PART IV</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IV</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D7C4DF"/>
                </a:solidFill>
                <a:latin typeface="Segoe UI"/>
              </a:rPr>
              <a:t>CHAPTERS 12–15</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8E44AD"/>
                </a:solidFill>
                <a:latin typeface="Segoe UI"/>
              </a:rPr>
              <a:t>A virtual machine with no disk and no network is a thought experiment. Part IV virtualizes everything that is not a processor — storage, then the network, then the whole arrangement, sold by the hour. It ends at the cloud, which is not a new idea in this book but the previous thirteen chapters with a billing system attached.</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427DBBE2-1BF4-489F-98EE-F9CE26B501A5}" type="slidenum">
              <a:rPr lang="en-GB" sz="1000">
                <a:solidFill>
                  <a:srgbClr val="8795A1"/>
                </a:solidFill>
                <a:latin typeface="Segoe UI"/>
              </a:rPr>
              <a:t>10</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80556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IV</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2A4169CA-A88F-487D-81A2-537659DD1D0F}" type="slidenum">
              <a:rPr lang="en-GB" sz="1000">
                <a:solidFill>
                  <a:srgbClr val="8795A1"/>
                </a:solidFill>
                <a:latin typeface="Segoe UI"/>
              </a:rPr>
              <a:t>11</a:t>
            </a:fld>
          </a:p>
        </p:txBody>
      </p:sp>
      <p:pic>
        <p:nvPicPr>
          <p:cNvPr id="6" name="!!figure" descr="Figure P4.1. Reading path through Part IV. Chapters 12 and 13 complete the virtual machine; Chapter 14 is where the industry sells it, and Chapter 15 is the case where the thing virtualized is somebody’s desk."/>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046978"/>
            <a:ext cx="10874959" cy="197125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Chapters 12 and 13 complete the virtual machine; Chapter 14 is where the industry sells it, and Chapter 15 is the case where the thing virtualized is somebody’s desk.</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38612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Management, Performance and Security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PART V</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V</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B7D7D0"/>
                </a:solidFill>
                <a:latin typeface="Segoe UI"/>
              </a:rPr>
              <a:t>CHAPTERS 16–19</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117A65"/>
                </a:solidFill>
                <a:latin typeface="Segoe UI"/>
              </a:rPr>
              <a:t>Everything so far has been how to build the layer. Part V is how to live with one. Fleets are managed, not configured; machines move between hosts while serving traffic; hosts run out of something before they run out of everything, and knowing which is a skill. And the layer that gave you all of this is also a piece of software with an attack surface.</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8C952304-9F07-4D47-BC8B-ABCC8935C95C}" type="slidenum">
              <a:rPr lang="en-GB" sz="1000">
                <a:solidFill>
                  <a:srgbClr val="8795A1"/>
                </a:solidFill>
                <a:latin typeface="Segoe UI"/>
              </a:rPr>
              <a:t>12</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V</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157ECE99-8499-46D8-A8E2-D83539B0627F}" type="slidenum">
              <a:rPr lang="en-GB" sz="1000">
                <a:solidFill>
                  <a:srgbClr val="8795A1"/>
                </a:solidFill>
                <a:latin typeface="Segoe UI"/>
              </a:rPr>
              <a:t>13</a:t>
            </a:fld>
          </a:p>
        </p:txBody>
      </p:sp>
      <p:pic>
        <p:nvPicPr>
          <p:cNvPr id="6" name="!!figure" descr="Figure P5.1. Reading path through Part V. Live migration is the one in the middle because it is what the rest is for: a fleet you can manage is a fleet whose machines can move without stopp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057577"/>
            <a:ext cx="10874959" cy="191068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Live migration is the one in the middle because it is what the rest is for: a fleet you can manage is a fleet whose machines can move without stopping.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75472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Emerging Hardware and Practice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PART VI</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VI</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D4CEB4"/>
                </a:solidFill>
                <a:latin typeface="Segoe UI"/>
              </a:rPr>
              <a:t>CHAPTERS 20–23</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7D6608"/>
                </a:solidFill>
                <a:latin typeface="Segoe UI"/>
              </a:rPr>
              <a:t>The 2017 outline ends with “emerging hardware features and the future of virtualization”. Two things have emerged since. Accelerators became the scarce resource and had to be divided like processors before them; and the trust model inverted — the guest stopped trusting the host, and the hardware had to be taught to take its side.</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081A8A24-067E-4046-AD88-6AE185FCA63B}" type="slidenum">
              <a:rPr lang="en-GB" sz="1000">
                <a:solidFill>
                  <a:srgbClr val="8795A1"/>
                </a:solidFill>
                <a:latin typeface="Segoe UI"/>
              </a:rPr>
              <a:t>14</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VI</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9E899ABB-4945-4C49-A3D5-CAF2869F653E}" type="slidenum">
              <a:rPr lang="en-GB" sz="1000">
                <a:solidFill>
                  <a:srgbClr val="8795A1"/>
                </a:solidFill>
                <a:latin typeface="Segoe UI"/>
              </a:rPr>
              <a:t>15</a:t>
            </a:fld>
          </a:p>
        </p:txBody>
      </p:sp>
      <p:pic>
        <p:nvPicPr>
          <p:cNvPr id="6" name="!!figure" descr="Figure P6.1. Reading path through Part VI. Chapters 20 and 21 are where the hardware is still moving; Chapters 22 and 23 put the whole book to work, first on other people’s decisions and then on your ow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057577"/>
            <a:ext cx="10874959" cy="191068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Chapters 20 and 21 are where the hardware is still moving; Chapters 22 and 23 put the whole book to work, first on other people’s decisions and then on your own.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Sixteen weeks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TEACHING SCHEDULE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FD1DE26E-03FD-448B-8E4E-908147634A03}" type="slidenum">
              <a:rPr lang="en-GB" sz="1000">
                <a:solidFill>
                  <a:srgbClr val="8795A1"/>
                </a:solidFill>
                <a:latin typeface="Segoe UI"/>
              </a:rPr>
              <a:t>16</a:t>
            </a:fld>
          </a:p>
        </p:txBody>
      </p:sp>
      <p:graphicFrame>
        <p:nvGraphicFramePr>
          <p:cNvPr id="7" name="!!table"/>
          <p:cNvGraphicFramePr>
            <a:graphicFrameLocks noGrp="1"/>
          </p:cNvGraphicFramePr>
          <p:nvPr/>
        </p:nvGraphicFramePr>
        <p:xfrm>
          <a:off x="658368" y="1737360"/>
          <a:ext cx="10874957" cy="4023356"/>
        </p:xfrm>
        <a:graphic>
          <a:graphicData uri="http://schemas.openxmlformats.org/drawingml/2006/table">
            <a:tbl>
              <a:tblPr firstRow="0" bandRow="0" firstCol="0" lastRow="0" lastCol="0" bandCol="0">
                <a:tableStyleId>{2D5ABB26-0587-4C30-8999-92F81FD0307C}</a:tableStyleId>
              </a:tblPr>
              <a:tblGrid>
                <a:gridCol w="830726"/>
                <a:gridCol w="2416657"/>
                <a:gridCol w="1359369"/>
                <a:gridCol w="3322904"/>
                <a:gridCol w="2945301"/>
              </a:tblGrid>
              <a:tr h="329184">
                <a:tc>
                  <a:txBody>
                    <a:bodyPr wrap="square"/>
                    <a:lstStyle/>
                    <a:p>
                      <a:pPr algn="l"/>
                      <a:r>
                        <a:rPr sz="1200" b="1" i="0">
                          <a:solidFill>
                            <a:srgbClr val="1A5276"/>
                          </a:solidFill>
                          <a:latin typeface="Segoe UI"/>
                        </a:rPr>
                        <a:t>Wk</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Lecture topic</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Chapters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Lab</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Assessment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512063">
                <a:tc>
                  <a:txBody>
                    <a:bodyPr wrap="square"/>
                    <a:lstStyle/>
                    <a:p>
                      <a:pPr algn="l"/>
                      <a:r>
                        <a:rPr sz="1200" b="0" i="0">
                          <a:solidFill>
                            <a:srgbClr val="1C252B"/>
                          </a:solidFill>
                          <a:latin typeface="Segoe UI"/>
                        </a:rPr>
                        <a:t>1</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What virtualization is; architectures</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1, 2</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Install a hypervisor; a first guest and a snapshot</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2</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The virtual machine monitor</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3</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Catch a sensitive instruction failing silently</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r>
              <a:tr h="329184">
                <a:tc>
                  <a:txBody>
                    <a:bodyPr wrap="square"/>
                    <a:lstStyle/>
                    <a:p>
                      <a:pPr algn="l"/>
                      <a:r>
                        <a:rPr sz="1200" b="0" i="0">
                          <a:solidFill>
                            <a:srgbClr val="1C252B"/>
                          </a:solidFill>
                          <a:latin typeface="Segoe UI"/>
                        </a:rPr>
                        <a:t>3</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Hardware support</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4</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VT-x and EPT; count VM exits under load</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4</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Major hypervisor platforms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5</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One guest, two platforms, compared</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5</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CPU and memory virtualization</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6</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Drive a host into contention and read the counters</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6</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Devices and paravirtualization</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7</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Emulated, virtio and vhost, measured</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1" i="0">
                          <a:solidFill>
                            <a:srgbClr val="1C252B"/>
                          </a:solidFill>
                          <a:latin typeface="Segoe UI"/>
                        </a:rPr>
                        <a:t>Quiz 1 (Ch 1–7)</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7</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From machines to containers; Docker</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8, 9</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Build a container by hand; then measure the build cache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Assignment 1 set</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8</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Kubernetes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10</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Midterm, then a cluster on one laptop</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1" i="0">
                          <a:solidFill>
                            <a:srgbClr val="1C252B"/>
                          </a:solidFill>
                          <a:latin typeface="Segoe UI"/>
                        </a:rPr>
                        <a:t>Midterm (Ch 1–9)</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9</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Lightweight and secure virtualization</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11</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Boot a microVM and time it</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1" i="0">
                          <a:solidFill>
                            <a:srgbClr val="1C252B"/>
                          </a:solidFill>
                          <a:latin typeface="Segoe UI"/>
                        </a:rPr>
                        <a:t>Project set</a:t>
                      </a:r>
                      <a:r>
                        <a:rPr sz="1200" b="0" i="0">
                          <a:solidFill>
                            <a:srgbClr val="1C252B"/>
                          </a:solidFill>
                          <a:latin typeface="Segoe UI"/>
                        </a:rPr>
                        <a:t> </a:t>
                      </a:r>
                      <a:r>
                        <a:rPr sz="1200" b="1" i="0">
                          <a:solidFill>
                            <a:srgbClr val="1C252B"/>
                          </a:solidFill>
                          <a:latin typeface="Segoe UI"/>
                        </a:rPr>
                        <a:t>Assignment 1 due</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928891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Sixteen weeks (continued)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TEACHING SCHEDULE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10041A35-60ED-498D-AAC1-2677037E9D4B}" type="slidenum">
              <a:rPr lang="en-GB" sz="1000">
                <a:solidFill>
                  <a:srgbClr val="8795A1"/>
                </a:solidFill>
                <a:latin typeface="Segoe UI"/>
              </a:rPr>
              <a:t>17</a:t>
            </a:fld>
          </a:p>
        </p:txBody>
      </p:sp>
      <p:graphicFrame>
        <p:nvGraphicFramePr>
          <p:cNvPr id="7" name="!!table"/>
          <p:cNvGraphicFramePr>
            <a:graphicFrameLocks noGrp="1"/>
          </p:cNvGraphicFramePr>
          <p:nvPr/>
        </p:nvGraphicFramePr>
        <p:xfrm>
          <a:off x="658368" y="1737360"/>
          <a:ext cx="10874957" cy="3547867"/>
        </p:xfrm>
        <a:graphic>
          <a:graphicData uri="http://schemas.openxmlformats.org/drawingml/2006/table">
            <a:tbl>
              <a:tblPr firstRow="0" bandRow="0" firstCol="0" lastRow="0" lastCol="0" bandCol="0">
                <a:tableStyleId>{2D5ABB26-0587-4C30-8999-92F81FD0307C}</a:tableStyleId>
              </a:tblPr>
              <a:tblGrid>
                <a:gridCol w="830726"/>
                <a:gridCol w="2416657"/>
                <a:gridCol w="1359369"/>
                <a:gridCol w="3322904"/>
                <a:gridCol w="2945301"/>
              </a:tblGrid>
              <a:tr h="329184">
                <a:tc>
                  <a:txBody>
                    <a:bodyPr wrap="square"/>
                    <a:lstStyle/>
                    <a:p>
                      <a:pPr algn="l"/>
                      <a:r>
                        <a:rPr sz="1200" b="1" i="0">
                          <a:solidFill>
                            <a:srgbClr val="1A5276"/>
                          </a:solidFill>
                          <a:latin typeface="Segoe UI"/>
                        </a:rPr>
                        <a:t>Wk</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Lecture topic</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Chapters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Lab</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Assessment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512063">
                <a:tc>
                  <a:txBody>
                    <a:bodyPr wrap="square"/>
                    <a:lstStyle/>
                    <a:p>
                      <a:pPr algn="l"/>
                      <a:r>
                        <a:rPr sz="1200" b="0" i="0">
                          <a:solidFill>
                            <a:srgbClr val="1C252B"/>
                          </a:solidFill>
                          <a:latin typeface="Segoe UI"/>
                        </a:rPr>
                        <a:t>10</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Storage and network virtualization</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12, 13</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A thin pool to exhaustion; an overlay and its MTU</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Project proposal due</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11</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Cloud service and deployment models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14</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One workload on three clouds, then torn down</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1" i="0">
                          <a:solidFill>
                            <a:srgbClr val="1C252B"/>
                          </a:solidFill>
                          <a:latin typeface="Segoe UI"/>
                        </a:rPr>
                        <a:t>Quiz 2 (Ch 10–14)</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12</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Desktop virtualization; management</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15, 16</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A remote desktop measured; an estate declared in code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Assignment 2 set</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13</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HA, live migration and DR</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17</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Migrate a running guest, then make it fail to converge</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1" i="0">
                          <a:solidFill>
                            <a:srgbClr val="1C252B"/>
                          </a:solidFill>
                          <a:latin typeface="Segoe UI"/>
                        </a:rPr>
                        <a:t>Project experiments frozen</a:t>
                      </a:r>
                      <a:endParaRPr sz="1200"/>
                    </a:p>
                  </a:txBody>
                  <a:tcPr marL="109728" marR="109728" marT="64008" marB="45720" anchor="t">
                    <a:lnL w="0" cmpd="sng">
                      <a:noFill/>
                    </a:lnL>
                    <a:lnR w="0" cmpd="sng">
                      <a:noFill/>
                    </a:lnR>
                    <a:lnT w="9525" cmpd="sng">
                      <a:noFill/>
                    </a:lnT>
                    <a:lnB w="9525" cmpd="sng">
                      <a:noFill/>
                    </a:lnB>
                    <a:solidFill>
                      <a:srgbClr val="F2F8FC"/>
                    </a:solidFill>
                  </a:tcPr>
                </a:tc>
              </a:tr>
              <a:tr h="329184">
                <a:tc>
                  <a:txBody>
                    <a:bodyPr wrap="square"/>
                    <a:lstStyle/>
                    <a:p>
                      <a:pPr algn="l"/>
                      <a:r>
                        <a:rPr sz="1200" b="0" i="0">
                          <a:solidFill>
                            <a:srgbClr val="1C252B"/>
                          </a:solidFill>
                          <a:latin typeface="Segoe UI"/>
                        </a:rPr>
                        <a:t>14</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Performance; security</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18, 19</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Find three bottlenecks; harden a container</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Quiz 3 (Ch 15–19)</a:t>
                      </a:r>
                      <a:r>
                        <a:rPr sz="1200" b="0" i="0">
                          <a:solidFill>
                            <a:srgbClr val="1C252B"/>
                          </a:solidFill>
                          <a:latin typeface="Segoe UI"/>
                        </a:rPr>
                        <a:t> </a:t>
                      </a:r>
                      <a:r>
                        <a:rPr sz="1200" b="1" i="0">
                          <a:solidFill>
                            <a:srgbClr val="1C252B"/>
                          </a:solidFill>
                          <a:latin typeface="Segoe UI"/>
                        </a:rPr>
                        <a:t>Assignment 2 due</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15</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Accelerators; confidential computing</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20, 21</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Partition a GPU; verify an attestation report</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r>
              <a:tr h="329184">
                <a:tc>
                  <a:txBody>
                    <a:bodyPr wrap="square"/>
                    <a:lstStyle/>
                    <a:p>
                      <a:pPr algn="l"/>
                      <a:r>
                        <a:rPr sz="1200" b="0" i="0">
                          <a:solidFill>
                            <a:srgbClr val="1C252B"/>
                          </a:solidFill>
                          <a:latin typeface="Segoe UI"/>
                        </a:rPr>
                        <a:t>16</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Case studies; project</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22, 23</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Peer walkthroughs of each team’s service</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1" i="0">
                          <a:solidFill>
                            <a:srgbClr val="1C252B"/>
                          </a:solidFill>
                          <a:latin typeface="Segoe UI"/>
                        </a:rPr>
                        <a:t>Project report and presentation</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98694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the marks are earned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ASSESSMENT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7506E181-CE4B-4634-88BB-7664BFF2E333}"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7" cy="4242816"/>
        </p:xfrm>
        <a:graphic>
          <a:graphicData uri="http://schemas.openxmlformats.org/drawingml/2006/table">
            <a:tbl>
              <a:tblPr firstRow="0" bandRow="0" firstCol="0" lastRow="0" lastCol="0" bandCol="0">
                <a:tableStyleId>{2D5ABB26-0587-4C30-8999-92F81FD0307C}</a:tableStyleId>
              </a:tblPr>
              <a:tblGrid>
                <a:gridCol w="2681496"/>
                <a:gridCol w="1340748"/>
                <a:gridCol w="1638692"/>
                <a:gridCol w="5214021"/>
              </a:tblGrid>
              <a:tr h="390144">
                <a:tc>
                  <a:txBody>
                    <a:bodyPr wrap="square"/>
                    <a:lstStyle/>
                    <a:p>
                      <a:pPr algn="l"/>
                      <a:r>
                        <a:rPr sz="1600" b="1" i="0">
                          <a:solidFill>
                            <a:srgbClr val="1A5276"/>
                          </a:solidFill>
                          <a:latin typeface="Segoe UI"/>
                        </a:rPr>
                        <a:t>Component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Weight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Week</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Covers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Quiz 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Chapters 1–7: the layer, the theorem, the hardware</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Assignment 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7%</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set 7, due 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A measured comparison of two device models or two platforms</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1" i="0">
                          <a:solidFill>
                            <a:srgbClr val="1C252B"/>
                          </a:solidFill>
                          <a:latin typeface="Segoe UI"/>
                        </a:rPr>
                        <a:t>Midterm</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1" i="0">
                          <a:solidFill>
                            <a:srgbClr val="1C252B"/>
                          </a:solidFill>
                          <a:latin typeface="Segoe UI"/>
                        </a:rPr>
                        <a:t>30%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1" i="0">
                          <a:solidFill>
                            <a:srgbClr val="1C252B"/>
                          </a:solidFill>
                          <a:latin typeface="Segoe UI"/>
                        </a:rPr>
                        <a:t>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Chapters 1–9</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Quiz 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11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Chapters 10–14: orchestration, storage, network, cloud</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Assignment 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set 12, due 14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A capacity plan from supplied measurements, in the form of Chapter 18’s worked example</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Quiz 3</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14</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Chapters 15–19</a:t>
                      </a:r>
                      <a:endParaRPr sz="1600"/>
                    </a:p>
                  </a:txBody>
                  <a:tcPr marL="109728" marR="109728" marT="64008" marB="45720" anchor="t">
                    <a:lnL w="0" cmpd="sng">
                      <a:noFill/>
                    </a:lnL>
                    <a:lnR w="0" cmpd="sng">
                      <a:noFill/>
                    </a:lnR>
                    <a:lnT w="9525" cmpd="sng">
                      <a:noFill/>
                    </a:lnT>
                    <a:lnB w="9525" cmpd="sng">
                      <a:noFill/>
                    </a:lnB>
                    <a:solidFill>
                      <a:srgbClr val="F2F8FC"/>
                    </a:solidFill>
                  </a:tcPr>
                </a:tc>
              </a:tr>
              <a:tr h="633984">
                <a:tc>
                  <a:txBody>
                    <a:bodyPr wrap="square"/>
                    <a:lstStyle/>
                    <a:p>
                      <a:pPr algn="l"/>
                      <a:r>
                        <a:rPr sz="1600" b="0" i="0">
                          <a:solidFill>
                            <a:srgbClr val="1C252B"/>
                          </a:solidFill>
                          <a:latin typeface="Segoe UI"/>
                        </a:rPr>
                        <a:t>Project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10%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16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Chapter 23 — deployment, report, presentation, peer review</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1" i="0">
                          <a:solidFill>
                            <a:srgbClr val="1C252B"/>
                          </a:solidFill>
                          <a:latin typeface="Segoe UI"/>
                        </a:rPr>
                        <a:t>Final</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1" i="0">
                          <a:solidFill>
                            <a:srgbClr val="1C252B"/>
                          </a:solidFill>
                          <a:latin typeface="Segoe UI"/>
                        </a:rPr>
                        <a:t>50%</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after 16</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All chapters, weighted towards Parts I–III</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1045002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depends on what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G.1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A371E6A0-49D2-46A2-8C2C-CDDC3E49E561}" type="slidenum">
              <a:rPr lang="en-GB" sz="1000">
                <a:solidFill>
                  <a:srgbClr val="8795A1"/>
                </a:solidFill>
                <a:latin typeface="Segoe UI"/>
              </a:rPr>
              <a:t>19</a:t>
            </a:fld>
          </a:p>
        </p:txBody>
      </p:sp>
      <p:pic>
        <p:nvPicPr>
          <p:cNvPr id="6" name="!!figure" descr="Figure G.1. What depends on what. The spine runs left to right between parts and top to bottom within one; the references that would have crossed the grid are listed beneath the figure instead of drawn through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58645"/>
            <a:ext cx="10874959" cy="247601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spine runs left to right between parts and top to bottom within one; the references that would have crossed the grid are listed beneath the figure instead of drawn through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10305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examinations actually ask</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6F5FFC70-D4A5-4BC2-B6A1-4FB70EFD8FD4}"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Look at the review questions at the end of each chapter: the examination is written in the same proportions. Roughly 30% multiple choice on definitions and mechanisms, 30% short answers requiring an explanation, and 40% </a:t>
            </a:r>
            <a:r>
              <a:rPr sz="2300" b="1" i="0">
                <a:solidFill>
                  <a:srgbClr val="1C252B"/>
                </a:solidFill>
                <a:latin typeface="Segoe UI"/>
              </a:rPr>
              <a:t>applied</a:t>
            </a:r>
            <a:r>
              <a:rPr sz="2300" b="0" i="0">
                <a:solidFill>
                  <a:srgbClr val="1C252B"/>
                </a:solidFill>
                <a:latin typeface="Segoe UI"/>
              </a:rPr>
              <a:t> questions that give you numbers and ask for a decision.</a:t>
            </a:r>
          </a:p>
        </p:txBody>
      </p:sp>
      <p:sp>
        <p:nvSpPr>
          <p:cNvPr id="10" name="body-1"/>
          <p:cNvSpPr txBox="1"/>
          <p:nvPr/>
        </p:nvSpPr>
        <p:spPr>
          <a:xfrm>
            <a:off x="1060704" y="3667074"/>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applied questions are where the marks are lost, and they are not answerable by recall. Every worked example in this book is a template for one. Do them with a pen.</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161113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5425135" y="-457200"/>
            <a:ext cx="6400800" cy="475488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We start with Chapter 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FIRST SESSION</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1 — What Virtualization Is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BRING</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 laptop with virtualization enabled</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FIRST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Install a hypervisor; a first guest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 BEFORE WEEK 2</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Chapters 1 and 2</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Course overview</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F833E67E-7306-4977-AA1A-C17DDBBC7D68}" type="slidenum">
              <a:rPr lang="en-GB" sz="1000">
                <a:solidFill>
                  <a:srgbClr val="D5DEE5"/>
                </a:solidFill>
                <a:latin typeface="Segoe UI"/>
              </a:rPr>
              <a:t>21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Systems and Services — Course Overview</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