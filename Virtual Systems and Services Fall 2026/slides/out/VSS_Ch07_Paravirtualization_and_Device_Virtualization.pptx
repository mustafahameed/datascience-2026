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8.svg" ContentType="image/svg+xml"/>
  <Override PartName="/ppt/media/image20.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7.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1.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2.svg" ContentType="image/svg+xml"/>
  <Override PartName="/ppt/media/image63.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4DB19E6-6C20-44D7-8D7A-FAA02875FB7B}">
          <p14:sldIdLst>
            <p14:sldId id="256"/>
            <p14:sldId id="257"/>
            <p14:sldId id="258"/>
            <p14:sldId id="259"/>
            <p14:sldId id="260"/>
          </p14:sldIdLst>
        </p14:section>
        <p14:section name="7.1 Three Ways to Give a Guest a Device" id="{346DB0E1-8AD1-46DE-832B-744374D8DB94}">
          <p14:sldIdLst>
            <p14:sldId id="261"/>
            <p14:sldId id="262"/>
            <p14:sldId id="263"/>
            <p14:sldId id="264"/>
            <p14:sldId id="265"/>
            <p14:sldId id="266"/>
            <p14:sldId id="267"/>
            <p14:sldId id="268"/>
            <p14:sldId id="269"/>
          </p14:sldIdLst>
        </p14:section>
        <p14:section name="7.2 What Passthrough Costs You" id="{95E57EF8-6F43-43B2-9341-05A2CD6E59C2}">
          <p14:sldIdLst>
            <p14:sldId id="270"/>
            <p14:sldId id="271"/>
            <p14:sldId id="272"/>
          </p14:sldIdLst>
        </p14:section>
        <p14:section name="Pitfalls" id="{B2ADB376-ED35-4BF5-89EE-ECB9E380F06C}">
          <p14:sldIdLst>
            <p14:sldId id="273"/>
            <p14:sldId id="274"/>
          </p14:sldIdLst>
        </p14:section>
        <p14:section name="Lab" id="{C4410462-BDD7-4F30-9CBA-16DA4900BC6B}">
          <p14:sldIdLst>
            <p14:sldId id="275"/>
            <p14:sldId id="276"/>
            <p14:sldId id="277"/>
            <p14:sldId id="278"/>
            <p14:sldId id="279"/>
            <p14:sldId id="280"/>
            <p14:sldId id="281"/>
            <p14:sldId id="282"/>
            <p14:sldId id="283"/>
            <p14:sldId id="284"/>
            <p14:sldId id="285"/>
          </p14:sldIdLst>
        </p14:section>
        <p14:section name="Checkpoint" id="{B076CEBF-9352-49F5-90A9-F48945E683D4}">
          <p14:sldIdLst>
            <p14:sldId id="286"/>
            <p14:sldId id="287"/>
            <p14:sldId id="288"/>
            <p14:sldId id="289"/>
            <p14:sldId id="290"/>
            <p14:sldId id="291"/>
          </p14:sldIdLst>
        </p14:section>
        <p14:section name="Wrap-up" id="{C983DE0D-C965-42B1-892B-A21B55DF5C1D}">
          <p14:sldIdLst>
            <p14:sldId id="292"/>
            <p14:sldId id="293"/>
            <p14:sldId id="294"/>
            <p14:sldId id="295"/>
            <p14:sldId id="29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7: Paravirtualization and Device Virtualization. Part 2 — Hypervisors and Compute Virtualization. Week 6: Devices and paravirtualization. Handout pages 53–61.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(paravirtualization as a technique, and the worked example where an emulated disk lost 81% of its throughput) and Chapter 4 (VM exits, and the IOMMU without which passthrough is unsafe). This chapter is where that 81% is explained and removed.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device emulation; full device model; virtio; split driver; front-end driver; back-end driver; virtqueue; descriptor ring; available ring; used ring; doorbell; vhost; vhost-user; passthrough; device assignment; VFIO; SR-IOV; physical function; virtual function; DPDK; guest additions.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guest needs a disk and a network card. The hypervisor has one of each, or several, and must serve many guests. There are exactly three strategies, and they differ in how much of the real device the guest is allowed to see.</a:t>
            </a:r>
          </a:p>
          <a:p/>
          <a:p>
            <a:r>
              <a:t>Figure 7.1 (handout p. 54): The same I/O request, three ways. Reading down each lane gives the cost: the left lane crosses the boundary dozens of times per request, the middle once per batch, the right not at 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hypervisor implements, in software, a specific piece of real hardware — classically an Intel e1000 network card or an IDE controller — chosen because every operating system since the 1990s already has a driver for it. Nothing is installed in the guest and nothing is configured. It simply works. It is also catastrophic for throughput, and Chapter 2 measured why. The guest driver was written to talk to hardware, so it reads and writes device registers, and each of those is a VM exit at several hundred cycles. One packet costs dozens. Emulation survives because it is the only option that needs no cooperation: an installer booting from an unknown ISO, an appliance you cannot modify, a guest before its drivers are installed. Every platform offers it, and no platform expects you to keep using it. If the guest can be given a driver, a far better interface is available — one designed for the situation rather than inherited from it. virtio is that interface. It is a standard — an OASIS specification, not a vendor’s product — which is why one virtio driver in Linux works under KVM, and under cloud hypervisors that are not KVM at all.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option is to stop virtualizing the device at all and give it to one guest. The guest loads the vendor’s own driver and programs the real hardware; the hypervisor is not on the data path. On Linux this is done with VFIO, which unbinds the device from the host driver and exposes it to QEMU, with the IOMMU confining its DMA to that guest’s memory. Performance is native, because nothing is in the way. The limitation is arithmetic: one device, one guest. A host with two network cards can serve two guests this way.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Passthrough is the fastest option and it is rare, because speed is not the thing most estates are optimising.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Measures the throughput and the host CPU cost of an emulated NIC, a virtio NIC and virtio with vhost. SR-IOV is included as a read-only step because it needs a server NIC. Expect forty minutes.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What device model is the guest using right now?.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Set up the measurement: iperf3 on the host, client in guest..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Emulated e1000: a software imitation of a 1999 card..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Virtio: the split-driver model of section 7.2..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6: Virtio + vhost: back-end moved into the host kernel..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7: Look at the virtqueues themselves..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8: SR-IOV, if the host has a server NIC that supports it..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9: Restore and tear down..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1.6/0.2 = 8.0 host cores per Mpps, roughly twenty-five times what vhost costs. That figure, together with the very low packet rate, is the signature of an emulated network adapter — an e1000 or similar, where every device register access is a VM exit. Change the interface model to virtio, and enable vhost; expect the rate to rise by an order of magnitude and the host CPU to fall.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the exit is caused by the doorbell, not by the request. A guest places buffers in the shared virtqueue with ordinary memory writes, which cost nothing, and rings the doorbell once to say work is waiting — and one doorbell can cover a hundred queued requests. Under load the back-end is already polling the ring and finds new work without being told, so the guest can suppress notification entirely. The mechanism is batching with notification suppression, and it makes the exits-per-request ratio fall as the rate rises.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conflict: SR-IOV virtual functions are assigned devices, so those twelve guests cannot be live-migrated, and live migration is how a host is patched without downtime. Two resolutions: (i) bonded failover — give each guest a VF and a virtio interface in a bond, detach the VF before migrating and reattach it afterwards, accepting reduced throughput during the move; (ii) scheduled downtime for those twelve guests only, documented as an exception at design time rather than discovered at the first patch window.</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8 — From Virtual Machines to Containers. READ: Handout Chapter 7, pages 53–61. THIS WEEK'S LAB: Emulated, virtio and vhost, measured. ASSESSMENT: Quiz 1 (Ch 1–7).</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7.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8.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21.svg"/><Relationship Id="rId4" Type="http://schemas.openxmlformats.org/officeDocument/2006/relationships/image" Target="../media/image22.png"/><Relationship Id="rId5" Type="http://schemas.openxmlformats.org/officeDocument/2006/relationships/image" Target="../media/image23.svg"/><Relationship Id="rId6" Type="http://schemas.openxmlformats.org/officeDocument/2006/relationships/image" Target="../media/image24.png"/><Relationship Id="rId7" Type="http://schemas.openxmlformats.org/officeDocument/2006/relationships/image" Target="../media/image25.svg"/><Relationship Id="rId8" Type="http://schemas.openxmlformats.org/officeDocument/2006/relationships/image" Target="../media/image26.png"/><Relationship Id="rId9" Type="http://schemas.openxmlformats.org/officeDocument/2006/relationships/image" Target="../media/image27.svg"/><Relationship Id="rId10" Type="http://schemas.openxmlformats.org/officeDocument/2006/relationships/image" Target="../media/image28.png"/><Relationship Id="rId11" Type="http://schemas.openxmlformats.org/officeDocument/2006/relationships/image" Target="../media/image29.svg"/><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image" Target="../media/image30.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1.png"/><Relationship Id="rId3" Type="http://schemas.openxmlformats.org/officeDocument/2006/relationships/image" Target="../media/image32.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3.png"/><Relationship Id="rId3" Type="http://schemas.openxmlformats.org/officeDocument/2006/relationships/image" Target="../media/image34.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6.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5.png"/><Relationship Id="rId3" Type="http://schemas.openxmlformats.org/officeDocument/2006/relationships/image" Target="../media/image37.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39.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0.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1.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2.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3.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4.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5.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6.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7.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8.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49.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1.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3.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5.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image" Target="../media/image56.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2.png"/><Relationship Id="rId3" Type="http://schemas.openxmlformats.org/officeDocument/2006/relationships/image" Target="../media/image57.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2.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3.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9769F"/>
                </a:solidFill>
                <a:latin typeface="Segoe UI Black"/>
              </a:rPr>
              <a:t>07</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Paravirtualization and Device Virtualization</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PART II  ·  HYPERVISORS AND COMPUTE VIRTUALIZATION</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C1D4E1"/>
                </a:solidFill>
                <a:latin typeface="Segoe UI"/>
              </a:rPr>
              <a:t>CHAPTER 7  ·  WEEK 6</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3E1EA"/>
                </a:solidFill>
                <a:latin typeface="Segoe UI"/>
              </a:rPr>
              <a:t>From Hypervisors to the Cloud-Native Stack</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94A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8BAC7"/>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FCCD6"/>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8BAC7"/>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53     </a:t>
            </a:r>
            <a:fld id="{E2D272AD-4E3F-4E24-ADD5-32CF0C7C8CF2}" type="slidenum">
              <a:rPr lang="en-GB" sz="1000">
                <a:solidFill>
                  <a:srgbClr val="8795A1"/>
                </a:solidFill>
                <a:latin typeface="Segoe UI"/>
              </a:rPr>
              <a:t>2</a:t>
            </a:fld>
          </a:p>
        </p:txBody>
      </p:sp>
      <p:sp>
        <p:nvSpPr>
          <p:cNvPr id="7" name="!!rp1"/>
          <p:cNvSpPr txBox="1"/>
          <p:nvPr/>
        </p:nvSpPr>
        <p:spPr>
          <a:xfrm>
            <a:off x="777240" y="1755648"/>
            <a:ext cx="112029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12029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26723" y="1755648"/>
            <a:ext cx="1667468"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26723" y="2029967"/>
            <a:ext cx="1667468" cy="4572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378823"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378823"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220027"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220027"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1231"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1231"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902435" y="1755648"/>
            <a:ext cx="151202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902435" y="2029967"/>
            <a:ext cx="1512020"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08508"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170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00229"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0878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59195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0051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257991"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1665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649712"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5582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04143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9499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442298" y="2112264"/>
            <a:ext cx="566928" cy="566928"/>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442298"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7</a:t>
            </a:r>
          </a:p>
        </p:txBody>
      </p:sp>
      <p:sp>
        <p:nvSpPr>
          <p:cNvPr id="33" name="!!dot8">
            <a:extLst>
              <a:ext uri="{C183D7F6-B498-43B3-948B-1728B52AA6E4}">
                <adec:decorative xmlns:adec="http://schemas.microsoft.com/office/drawing/2017/decorative" val="1"/>
              </a:ext>
            </a:extLst>
          </p:cNvPr>
          <p:cNvSpPr/>
          <p:nvPr/>
        </p:nvSpPr>
        <p:spPr>
          <a:xfrm>
            <a:off x="44100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3186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801812"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71037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193533"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10209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585254"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49381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251295"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15985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643016"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5515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34737"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432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42645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3350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2499"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105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48422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3927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8875941"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87845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267662"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1762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3370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4226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25424"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3398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17145"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62570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11108866"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1101742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23</a:t>
            </a:r>
          </a:p>
        </p:txBody>
      </p:sp>
      <p:sp>
        <p:nvSpPr>
          <p:cNvPr id="65" name="!!dotlabel"/>
          <p:cNvSpPr txBox="1"/>
          <p:nvPr/>
        </p:nvSpPr>
        <p:spPr>
          <a:xfrm>
            <a:off x="799682"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236794"/>
                </a:solidFill>
                <a:latin typeface="Segoe UI"/>
              </a:rPr>
              <a:t>Paravirtualization and Device Virtualization</a:t>
            </a:r>
          </a:p>
        </p:txBody>
      </p:sp>
      <p:sp>
        <p:nvSpPr>
          <p:cNvPr id="66"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7"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Virtualization Architectures</a:t>
            </a:r>
          </a:p>
        </p:txBody>
      </p:sp>
      <p:sp>
        <p:nvSpPr>
          <p:cNvPr id="70" name="!!chipBU4">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chipbBU4">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tBU4"/>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4  </a:t>
            </a:r>
            <a:r>
              <a:rPr sz="1400" b="0" i="0">
                <a:solidFill>
                  <a:srgbClr val="1C252B"/>
                </a:solidFill>
                <a:latin typeface="Segoe UI"/>
              </a:rPr>
              <a:t>Hardware Support for Virtualization</a:t>
            </a:r>
          </a:p>
        </p:txBody>
      </p:sp>
      <p:sp>
        <p:nvSpPr>
          <p:cNvPr id="73"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4" name="!!chipUS11">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5" name="!!chipbUS11">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tUS11"/>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11  </a:t>
            </a:r>
            <a:r>
              <a:rPr sz="1400" b="0" i="0">
                <a:solidFill>
                  <a:srgbClr val="1C252B"/>
                </a:solidFill>
                <a:latin typeface="Segoe UI"/>
              </a:rPr>
              <a:t>Lightweight and Secure Virtualization</a:t>
            </a:r>
          </a:p>
        </p:txBody>
      </p:sp>
      <p:sp>
        <p:nvSpPr>
          <p:cNvPr id="77" name="!!chipUS12">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chipbUS12">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tUS12"/>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12  </a:t>
            </a:r>
            <a:r>
              <a:rPr sz="1400" b="0" i="0">
                <a:solidFill>
                  <a:srgbClr val="1C252B"/>
                </a:solidFill>
                <a:latin typeface="Segoe UI"/>
              </a:rPr>
              <a:t>Storage Virtualization</a:t>
            </a:r>
          </a:p>
        </p:txBody>
      </p:sp>
      <p:sp>
        <p:nvSpPr>
          <p:cNvPr id="80" name="!!chipUS13">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1" name="!!chipbUS13">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tUS13"/>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13  </a:t>
            </a:r>
            <a:r>
              <a:rPr sz="1400" b="0" i="0">
                <a:solidFill>
                  <a:srgbClr val="1C252B"/>
                </a:solidFill>
                <a:latin typeface="Segoe UI"/>
              </a:rPr>
              <a:t>Network Virtualization and SDN</a:t>
            </a:r>
          </a:p>
        </p:txBody>
      </p:sp>
      <p:sp>
        <p:nvSpPr>
          <p:cNvPr id="83" name="!!chipUS14">
            <a:extLst>
              <a:ext uri="{C183D7F6-B498-43B3-948B-1728B52AA6E4}">
                <adec:decorative xmlns:adec="http://schemas.microsoft.com/office/drawing/2017/decorative" val="1"/>
              </a:ext>
            </a:extLst>
          </p:cNvPr>
          <p:cNvSpPr/>
          <p:nvPr/>
        </p:nvSpPr>
        <p:spPr>
          <a:xfrm>
            <a:off x="6324447" y="5321808"/>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4" name="!!chipbUS14">
            <a:extLst>
              <a:ext uri="{C183D7F6-B498-43B3-948B-1728B52AA6E4}">
                <adec:decorative xmlns:adec="http://schemas.microsoft.com/office/drawing/2017/decorative" val="1"/>
              </a:ext>
            </a:extLst>
          </p:cNvPr>
          <p:cNvSpPr/>
          <p:nvPr/>
        </p:nvSpPr>
        <p:spPr>
          <a:xfrm>
            <a:off x="6324447" y="5321808"/>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chiptUS14"/>
          <p:cNvSpPr txBox="1"/>
          <p:nvPr/>
        </p:nvSpPr>
        <p:spPr>
          <a:xfrm>
            <a:off x="6525615" y="5413248"/>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14  </a:t>
            </a:r>
            <a:r>
              <a:rPr sz="1400" b="0" i="0">
                <a:solidFill>
                  <a:srgbClr val="1C252B"/>
                </a:solidFill>
                <a:latin typeface="Segoe UI"/>
              </a:rPr>
              <a:t>Cloud Service and Deployment Models</a:t>
            </a:r>
          </a:p>
        </p:txBody>
      </p:sp>
      <p:sp>
        <p:nvSpPr>
          <p:cNvPr id="86" name="!!chipUS17">
            <a:extLst>
              <a:ext uri="{C183D7F6-B498-43B3-948B-1728B52AA6E4}">
                <adec:decorative xmlns:adec="http://schemas.microsoft.com/office/drawing/2017/decorative" val="1"/>
              </a:ext>
            </a:extLst>
          </p:cNvPr>
          <p:cNvSpPr/>
          <p:nvPr/>
        </p:nvSpPr>
        <p:spPr>
          <a:xfrm>
            <a:off x="6324447" y="5833872"/>
            <a:ext cx="5208879" cy="420624"/>
          </a:xfrm>
          <a:prstGeom prst="roundRect">
            <a:avLst>
              <a:gd name="adj" fmla="val 17391"/>
            </a:avLst>
          </a:prstGeom>
          <a:solidFill>
            <a:srgbClr val="E7F2F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bUS17">
            <a:extLst>
              <a:ext uri="{C183D7F6-B498-43B3-948B-1728B52AA6E4}">
                <adec:decorative xmlns:adec="http://schemas.microsoft.com/office/drawing/2017/decorative" val="1"/>
              </a:ext>
            </a:extLst>
          </p:cNvPr>
          <p:cNvSpPr/>
          <p:nvPr/>
        </p:nvSpPr>
        <p:spPr>
          <a:xfrm>
            <a:off x="6324447" y="5833872"/>
            <a:ext cx="64008" cy="420624"/>
          </a:xfrm>
          <a:prstGeom prst="rect">
            <a:avLst/>
          </a:prstGeom>
          <a:solidFill>
            <a:srgbClr val="1079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8" name="!!chiptUS17"/>
          <p:cNvSpPr txBox="1"/>
          <p:nvPr/>
        </p:nvSpPr>
        <p:spPr>
          <a:xfrm>
            <a:off x="6525615" y="5925312"/>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07964"/>
                </a:solidFill>
                <a:latin typeface="Segoe UI"/>
              </a:rPr>
              <a:t>Ch 17  </a:t>
            </a:r>
            <a:r>
              <a:rPr sz="1400" b="0" i="0">
                <a:solidFill>
                  <a:srgbClr val="1C252B"/>
                </a:solidFill>
                <a:latin typeface="Segoe UI"/>
              </a:rPr>
              <a:t>High Availability, Live Migration and Disaster Recovery</a:t>
            </a:r>
          </a:p>
        </p:txBody>
      </p:sp>
      <p:sp>
        <p:nvSpPr>
          <p:cNvPr id="8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pfill">
            <a:extLst>
              <a:ext uri="{C183D7F6-B498-43B3-948B-1728B52AA6E4}">
                <adec:decorative xmlns:adec="http://schemas.microsoft.com/office/drawing/2017/decorative" val="1"/>
              </a:ext>
            </a:extLst>
          </p:cNvPr>
          <p:cNvSpPr/>
          <p:nvPr/>
        </p:nvSpPr>
        <p:spPr>
          <a:xfrm>
            <a:off x="0" y="0"/>
            <a:ext cx="59471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53     </a:t>
            </a:r>
            <a:fld id="{CCFAE4E9-CF34-41E5-9BDE-B99890AA7705}"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12848"/>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Distinguish</a:t>
            </a:r>
            <a:r>
              <a:rPr sz="2100" b="0" i="0">
                <a:solidFill>
                  <a:srgbClr val="1C252B"/>
                </a:solidFill>
                <a:latin typeface="Segoe UI"/>
              </a:rPr>
              <a:t> the three ways a guest can be given a device — emulation, paravirtualization and passthrough — by the path an I/O request takes in each.</a:t>
            </a:r>
          </a:p>
        </p:txBody>
      </p:sp>
      <p:sp>
        <p:nvSpPr>
          <p:cNvPr id="11" name="!!ob1">
            <a:extLst>
              <a:ext uri="{C183D7F6-B498-43B3-948B-1728B52AA6E4}">
                <adec:decorative xmlns:adec="http://schemas.microsoft.com/office/drawing/2017/decorative" val="1"/>
              </a:ext>
            </a:extLst>
          </p:cNvPr>
          <p:cNvSpPr/>
          <p:nvPr/>
        </p:nvSpPr>
        <p:spPr>
          <a:xfrm>
            <a:off x="658368" y="307055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312999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306141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Explain</a:t>
            </a:r>
            <a:r>
              <a:rPr sz="2100" b="0" i="0">
                <a:solidFill>
                  <a:srgbClr val="1C252B"/>
                </a:solidFill>
                <a:latin typeface="Segoe UI"/>
              </a:rPr>
              <a:t> the virtio split-driver model and the virtqueue, and </a:t>
            </a:r>
            <a:r>
              <a:rPr sz="2100" b="1" i="0">
                <a:solidFill>
                  <a:srgbClr val="1C252B"/>
                </a:solidFill>
                <a:latin typeface="Segoe UI"/>
              </a:rPr>
              <a:t>say</a:t>
            </a:r>
            <a:r>
              <a:rPr sz="2100" b="0" i="0">
                <a:solidFill>
                  <a:srgbClr val="1C252B"/>
                </a:solidFill>
                <a:latin typeface="Segoe UI"/>
              </a:rPr>
              <a:t> why batching is what makes it fast.</a:t>
            </a:r>
          </a:p>
        </p:txBody>
      </p:sp>
      <p:sp>
        <p:nvSpPr>
          <p:cNvPr id="14" name="!!ob2">
            <a:extLst>
              <a:ext uri="{C183D7F6-B498-43B3-948B-1728B52AA6E4}">
                <adec:decorative xmlns:adec="http://schemas.microsoft.com/office/drawing/2017/decorative" val="1"/>
              </a:ext>
            </a:extLst>
          </p:cNvPr>
          <p:cNvSpPr/>
          <p:nvPr/>
        </p:nvSpPr>
        <p:spPr>
          <a:xfrm>
            <a:off x="658368" y="3919118"/>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97855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909974"/>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Describe</a:t>
            </a:r>
            <a:r>
              <a:rPr sz="2100" b="0" i="0">
                <a:solidFill>
                  <a:srgbClr val="1C252B"/>
                </a:solidFill>
                <a:latin typeface="Segoe UI"/>
              </a:rPr>
              <a:t> SR-IOV in terms of physical and virtual functions, and </a:t>
            </a:r>
            <a:r>
              <a:rPr sz="2100" b="1" i="0">
                <a:solidFill>
                  <a:srgbClr val="1C252B"/>
                </a:solidFill>
                <a:latin typeface="Segoe UI"/>
              </a:rPr>
              <a:t>state</a:t>
            </a:r>
            <a:r>
              <a:rPr sz="2100" b="0" i="0">
                <a:solidFill>
                  <a:srgbClr val="1C252B"/>
                </a:solidFill>
                <a:latin typeface="Segoe UI"/>
              </a:rPr>
              <a:t> what the IOMMU contributes.</a:t>
            </a:r>
          </a:p>
        </p:txBody>
      </p:sp>
      <p:sp>
        <p:nvSpPr>
          <p:cNvPr id="17" name="!!ob3">
            <a:extLst>
              <a:ext uri="{C183D7F6-B498-43B3-948B-1728B52AA6E4}">
                <adec:decorative xmlns:adec="http://schemas.microsoft.com/office/drawing/2017/decorative" val="1"/>
              </a:ext>
            </a:extLst>
          </p:cNvPr>
          <p:cNvSpPr/>
          <p:nvPr/>
        </p:nvSpPr>
        <p:spPr>
          <a:xfrm>
            <a:off x="658368" y="4767681"/>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827117"/>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808829"/>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Quantify</a:t>
            </a:r>
            <a:r>
              <a:rPr sz="2100" b="0" i="0">
                <a:solidFill>
                  <a:srgbClr val="1C252B"/>
                </a:solidFill>
                <a:latin typeface="Segoe UI"/>
              </a:rPr>
              <a:t> the throughput and CPU cost of each option from measured figures.</a:t>
            </a:r>
          </a:p>
        </p:txBody>
      </p:sp>
      <p:sp>
        <p:nvSpPr>
          <p:cNvPr id="20" name="!!ob4">
            <a:extLst>
              <a:ext uri="{C183D7F6-B498-43B3-948B-1728B52AA6E4}">
                <adec:decorative xmlns:adec="http://schemas.microsoft.com/office/drawing/2017/decorative" val="1"/>
              </a:ext>
            </a:extLst>
          </p:cNvPr>
          <p:cNvSpPr/>
          <p:nvPr/>
        </p:nvSpPr>
        <p:spPr>
          <a:xfrm>
            <a:off x="658368" y="5371185"/>
            <a:ext cx="420624" cy="420624"/>
          </a:xfrm>
          <a:prstGeom prst="ellipse">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5430621"/>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5362041"/>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236794"/>
                </a:solidFill>
                <a:latin typeface="Segoe UI"/>
              </a:rPr>
              <a:t>Choose</a:t>
            </a:r>
            <a:r>
              <a:rPr sz="2100" b="0" i="0">
                <a:solidFill>
                  <a:srgbClr val="1C252B"/>
                </a:solidFill>
                <a:latin typeface="Segoe UI"/>
              </a:rPr>
              <a:t> a device model for a stated requirement, and </a:t>
            </a:r>
            <a:r>
              <a:rPr sz="2100" b="1" i="0">
                <a:solidFill>
                  <a:srgbClr val="1C252B"/>
                </a:solidFill>
                <a:latin typeface="Segoe UI"/>
              </a:rPr>
              <a:t>state</a:t>
            </a:r>
            <a:r>
              <a:rPr sz="2100" b="0" i="0">
                <a:solidFill>
                  <a:srgbClr val="1C252B"/>
                </a:solidFill>
                <a:latin typeface="Segoe UI"/>
              </a:rPr>
              <a:t> the capability each choice gives up.</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9207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53     </a:t>
            </a:r>
            <a:fld id="{7FDB1429-A6F5-4A28-886E-5A1D402F4D2F}" type="slidenum">
              <a:rPr lang="en-GB" sz="1000">
                <a:solidFill>
                  <a:srgbClr val="8795A1"/>
                </a:solidFill>
                <a:latin typeface="Segoe UI"/>
              </a:rPr>
              <a:t>4</a:t>
            </a:fld>
          </a:p>
        </p:txBody>
      </p:sp>
      <p:sp>
        <p:nvSpPr>
          <p:cNvPr id="7" name="!!term-device emulati">
            <a:extLst>
              <a:ext uri="{C183D7F6-B498-43B3-948B-1728B52AA6E4}">
                <adec:decorative xmlns:adec="http://schemas.microsoft.com/office/drawing/2017/decorative" val="1"/>
              </a:ext>
            </a:extLst>
          </p:cNvPr>
          <p:cNvSpPr/>
          <p:nvPr/>
        </p:nvSpPr>
        <p:spPr>
          <a:xfrm>
            <a:off x="658368" y="1847088"/>
            <a:ext cx="190128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device emulati">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device emulati"/>
          <p:cNvSpPr txBox="1"/>
          <p:nvPr/>
        </p:nvSpPr>
        <p:spPr>
          <a:xfrm>
            <a:off x="950976" y="1970532"/>
            <a:ext cx="171840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device emulation</a:t>
            </a:r>
          </a:p>
        </p:txBody>
      </p:sp>
      <p:sp>
        <p:nvSpPr>
          <p:cNvPr id="10" name="!!term-full device mo">
            <a:extLst>
              <a:ext uri="{C183D7F6-B498-43B3-948B-1728B52AA6E4}">
                <adec:decorative xmlns:adec="http://schemas.microsoft.com/office/drawing/2017/decorative" val="1"/>
              </a:ext>
            </a:extLst>
          </p:cNvPr>
          <p:cNvSpPr/>
          <p:nvPr/>
        </p:nvSpPr>
        <p:spPr>
          <a:xfrm>
            <a:off x="2705961" y="1847088"/>
            <a:ext cx="19020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full device mo">
            <a:extLst>
              <a:ext uri="{C183D7F6-B498-43B3-948B-1728B52AA6E4}">
                <adec:decorative xmlns:adec="http://schemas.microsoft.com/office/drawing/2017/decorative" val="1"/>
              </a:ext>
            </a:extLst>
          </p:cNvPr>
          <p:cNvSpPr/>
          <p:nvPr/>
        </p:nvSpPr>
        <p:spPr>
          <a:xfrm>
            <a:off x="283397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full device mo"/>
          <p:cNvSpPr txBox="1"/>
          <p:nvPr/>
        </p:nvSpPr>
        <p:spPr>
          <a:xfrm>
            <a:off x="2998569" y="1970532"/>
            <a:ext cx="171918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full device model</a:t>
            </a:r>
          </a:p>
        </p:txBody>
      </p:sp>
      <p:sp>
        <p:nvSpPr>
          <p:cNvPr id="13" name="!!term-virtio">
            <a:extLst>
              <a:ext uri="{C183D7F6-B498-43B3-948B-1728B52AA6E4}">
                <adec:decorative xmlns:adec="http://schemas.microsoft.com/office/drawing/2017/decorative" val="1"/>
              </a:ext>
            </a:extLst>
          </p:cNvPr>
          <p:cNvSpPr/>
          <p:nvPr/>
        </p:nvSpPr>
        <p:spPr>
          <a:xfrm>
            <a:off x="4754331" y="1847088"/>
            <a:ext cx="87347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virtio">
            <a:extLst>
              <a:ext uri="{C183D7F6-B498-43B3-948B-1728B52AA6E4}">
                <adec:decorative xmlns:adec="http://schemas.microsoft.com/office/drawing/2017/decorative" val="1"/>
              </a:ext>
            </a:extLst>
          </p:cNvPr>
          <p:cNvSpPr/>
          <p:nvPr/>
        </p:nvSpPr>
        <p:spPr>
          <a:xfrm>
            <a:off x="488234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virtio"/>
          <p:cNvSpPr txBox="1"/>
          <p:nvPr/>
        </p:nvSpPr>
        <p:spPr>
          <a:xfrm>
            <a:off x="5046939" y="1970532"/>
            <a:ext cx="69059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virtio</a:t>
            </a:r>
          </a:p>
        </p:txBody>
      </p:sp>
      <p:sp>
        <p:nvSpPr>
          <p:cNvPr id="16" name="!!term-split driver">
            <a:extLst>
              <a:ext uri="{C183D7F6-B498-43B3-948B-1728B52AA6E4}">
                <adec:decorative xmlns:adec="http://schemas.microsoft.com/office/drawing/2017/decorative" val="1"/>
              </a:ext>
            </a:extLst>
          </p:cNvPr>
          <p:cNvSpPr/>
          <p:nvPr/>
        </p:nvSpPr>
        <p:spPr>
          <a:xfrm>
            <a:off x="5774112" y="1847088"/>
            <a:ext cx="134010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split driver">
            <a:extLst>
              <a:ext uri="{C183D7F6-B498-43B3-948B-1728B52AA6E4}">
                <adec:decorative xmlns:adec="http://schemas.microsoft.com/office/drawing/2017/decorative" val="1"/>
              </a:ext>
            </a:extLst>
          </p:cNvPr>
          <p:cNvSpPr/>
          <p:nvPr/>
        </p:nvSpPr>
        <p:spPr>
          <a:xfrm>
            <a:off x="590212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split driver"/>
          <p:cNvSpPr txBox="1"/>
          <p:nvPr/>
        </p:nvSpPr>
        <p:spPr>
          <a:xfrm>
            <a:off x="6066720" y="1970532"/>
            <a:ext cx="115722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split driver</a:t>
            </a:r>
          </a:p>
        </p:txBody>
      </p:sp>
      <p:sp>
        <p:nvSpPr>
          <p:cNvPr id="19" name="!!term-front-end driv">
            <a:extLst>
              <a:ext uri="{C183D7F6-B498-43B3-948B-1728B52AA6E4}">
                <adec:decorative xmlns:adec="http://schemas.microsoft.com/office/drawing/2017/decorative" val="1"/>
              </a:ext>
            </a:extLst>
          </p:cNvPr>
          <p:cNvSpPr/>
          <p:nvPr/>
        </p:nvSpPr>
        <p:spPr>
          <a:xfrm>
            <a:off x="7260520" y="1847088"/>
            <a:ext cx="180526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front-end driv">
            <a:extLst>
              <a:ext uri="{C183D7F6-B498-43B3-948B-1728B52AA6E4}">
                <adec:decorative xmlns:adec="http://schemas.microsoft.com/office/drawing/2017/decorative" val="1"/>
              </a:ext>
            </a:extLst>
          </p:cNvPr>
          <p:cNvSpPr/>
          <p:nvPr/>
        </p:nvSpPr>
        <p:spPr>
          <a:xfrm>
            <a:off x="7388536"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front-end driv"/>
          <p:cNvSpPr txBox="1"/>
          <p:nvPr/>
        </p:nvSpPr>
        <p:spPr>
          <a:xfrm>
            <a:off x="7553128" y="1970532"/>
            <a:ext cx="162238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front-end driver</a:t>
            </a:r>
          </a:p>
        </p:txBody>
      </p:sp>
      <p:sp>
        <p:nvSpPr>
          <p:cNvPr id="22" name="!!term-back-end drive">
            <a:extLst>
              <a:ext uri="{C183D7F6-B498-43B3-948B-1728B52AA6E4}">
                <adec:decorative xmlns:adec="http://schemas.microsoft.com/office/drawing/2017/decorative" val="1"/>
              </a:ext>
            </a:extLst>
          </p:cNvPr>
          <p:cNvSpPr/>
          <p:nvPr/>
        </p:nvSpPr>
        <p:spPr>
          <a:xfrm>
            <a:off x="9212093" y="1847088"/>
            <a:ext cx="178657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back-end drive">
            <a:extLst>
              <a:ext uri="{C183D7F6-B498-43B3-948B-1728B52AA6E4}">
                <adec:decorative xmlns:adec="http://schemas.microsoft.com/office/drawing/2017/decorative" val="1"/>
              </a:ext>
            </a:extLst>
          </p:cNvPr>
          <p:cNvSpPr/>
          <p:nvPr/>
        </p:nvSpPr>
        <p:spPr>
          <a:xfrm>
            <a:off x="9340109"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back-end drive"/>
          <p:cNvSpPr txBox="1"/>
          <p:nvPr/>
        </p:nvSpPr>
        <p:spPr>
          <a:xfrm>
            <a:off x="9504701" y="1970532"/>
            <a:ext cx="160369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back-end driver</a:t>
            </a:r>
          </a:p>
        </p:txBody>
      </p:sp>
      <p:sp>
        <p:nvSpPr>
          <p:cNvPr id="25" name="!!term-virtqueue">
            <a:extLst>
              <a:ext uri="{C183D7F6-B498-43B3-948B-1728B52AA6E4}">
                <adec:decorative xmlns:adec="http://schemas.microsoft.com/office/drawing/2017/decorative" val="1"/>
              </a:ext>
            </a:extLst>
          </p:cNvPr>
          <p:cNvSpPr/>
          <p:nvPr/>
        </p:nvSpPr>
        <p:spPr>
          <a:xfrm>
            <a:off x="658368" y="2468880"/>
            <a:ext cx="125022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virtqueue">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virtqueue"/>
          <p:cNvSpPr txBox="1"/>
          <p:nvPr/>
        </p:nvSpPr>
        <p:spPr>
          <a:xfrm>
            <a:off x="950976" y="2592324"/>
            <a:ext cx="106734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virtqueue</a:t>
            </a:r>
          </a:p>
        </p:txBody>
      </p:sp>
      <p:sp>
        <p:nvSpPr>
          <p:cNvPr id="28" name="!!term-descriptor rin">
            <a:extLst>
              <a:ext uri="{C183D7F6-B498-43B3-948B-1728B52AA6E4}">
                <adec:decorative xmlns:adec="http://schemas.microsoft.com/office/drawing/2017/decorative" val="1"/>
              </a:ext>
            </a:extLst>
          </p:cNvPr>
          <p:cNvSpPr/>
          <p:nvPr/>
        </p:nvSpPr>
        <p:spPr>
          <a:xfrm>
            <a:off x="2054892" y="2468880"/>
            <a:ext cx="16956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descriptor rin">
            <a:extLst>
              <a:ext uri="{C183D7F6-B498-43B3-948B-1728B52AA6E4}">
                <adec:decorative xmlns:adec="http://schemas.microsoft.com/office/drawing/2017/decorative" val="1"/>
              </a:ext>
            </a:extLst>
          </p:cNvPr>
          <p:cNvSpPr/>
          <p:nvPr/>
        </p:nvSpPr>
        <p:spPr>
          <a:xfrm>
            <a:off x="2182908"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descriptor rin"/>
          <p:cNvSpPr txBox="1"/>
          <p:nvPr/>
        </p:nvSpPr>
        <p:spPr>
          <a:xfrm>
            <a:off x="2347500" y="2592324"/>
            <a:ext cx="151280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descriptor ring</a:t>
            </a:r>
          </a:p>
        </p:txBody>
      </p:sp>
      <p:sp>
        <p:nvSpPr>
          <p:cNvPr id="31" name="!!term-available ring">
            <a:extLst>
              <a:ext uri="{C183D7F6-B498-43B3-948B-1728B52AA6E4}">
                <adec:decorative xmlns:adec="http://schemas.microsoft.com/office/drawing/2017/decorative" val="1"/>
              </a:ext>
            </a:extLst>
          </p:cNvPr>
          <p:cNvSpPr/>
          <p:nvPr/>
        </p:nvSpPr>
        <p:spPr>
          <a:xfrm>
            <a:off x="3896880" y="2468880"/>
            <a:ext cx="157790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available ring">
            <a:extLst>
              <a:ext uri="{C183D7F6-B498-43B3-948B-1728B52AA6E4}">
                <adec:decorative xmlns:adec="http://schemas.microsoft.com/office/drawing/2017/decorative" val="1"/>
              </a:ext>
            </a:extLst>
          </p:cNvPr>
          <p:cNvSpPr/>
          <p:nvPr/>
        </p:nvSpPr>
        <p:spPr>
          <a:xfrm>
            <a:off x="4024896"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available ring"/>
          <p:cNvSpPr txBox="1"/>
          <p:nvPr/>
        </p:nvSpPr>
        <p:spPr>
          <a:xfrm>
            <a:off x="4189488" y="2592324"/>
            <a:ext cx="1395022"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available ring</a:t>
            </a:r>
          </a:p>
        </p:txBody>
      </p:sp>
      <p:sp>
        <p:nvSpPr>
          <p:cNvPr id="34" name="!!term-used ring">
            <a:extLst>
              <a:ext uri="{C183D7F6-B498-43B3-948B-1728B52AA6E4}">
                <adec:decorative xmlns:adec="http://schemas.microsoft.com/office/drawing/2017/decorative" val="1"/>
              </a:ext>
            </a:extLst>
          </p:cNvPr>
          <p:cNvSpPr/>
          <p:nvPr/>
        </p:nvSpPr>
        <p:spPr>
          <a:xfrm>
            <a:off x="5621087" y="2468880"/>
            <a:ext cx="123966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used ring">
            <a:extLst>
              <a:ext uri="{C183D7F6-B498-43B3-948B-1728B52AA6E4}">
                <adec:decorative xmlns:adec="http://schemas.microsoft.com/office/drawing/2017/decorative" val="1"/>
              </a:ext>
            </a:extLst>
          </p:cNvPr>
          <p:cNvSpPr/>
          <p:nvPr/>
        </p:nvSpPr>
        <p:spPr>
          <a:xfrm>
            <a:off x="574910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used ring"/>
          <p:cNvSpPr txBox="1"/>
          <p:nvPr/>
        </p:nvSpPr>
        <p:spPr>
          <a:xfrm>
            <a:off x="5913695" y="2592324"/>
            <a:ext cx="105678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used ring</a:t>
            </a:r>
          </a:p>
        </p:txBody>
      </p:sp>
      <p:sp>
        <p:nvSpPr>
          <p:cNvPr id="37" name="!!term-doorbell">
            <a:extLst>
              <a:ext uri="{C183D7F6-B498-43B3-948B-1728B52AA6E4}">
                <adec:decorative xmlns:adec="http://schemas.microsoft.com/office/drawing/2017/decorative" val="1"/>
              </a:ext>
            </a:extLst>
          </p:cNvPr>
          <p:cNvSpPr/>
          <p:nvPr/>
        </p:nvSpPr>
        <p:spPr>
          <a:xfrm>
            <a:off x="7007054" y="2468880"/>
            <a:ext cx="115863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doorbell">
            <a:extLst>
              <a:ext uri="{C183D7F6-B498-43B3-948B-1728B52AA6E4}">
                <adec:decorative xmlns:adec="http://schemas.microsoft.com/office/drawing/2017/decorative" val="1"/>
              </a:ext>
            </a:extLst>
          </p:cNvPr>
          <p:cNvSpPr/>
          <p:nvPr/>
        </p:nvSpPr>
        <p:spPr>
          <a:xfrm>
            <a:off x="713507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doorbell"/>
          <p:cNvSpPr txBox="1"/>
          <p:nvPr/>
        </p:nvSpPr>
        <p:spPr>
          <a:xfrm>
            <a:off x="7299662" y="2592324"/>
            <a:ext cx="975756"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doorbell</a:t>
            </a:r>
          </a:p>
        </p:txBody>
      </p:sp>
      <p:sp>
        <p:nvSpPr>
          <p:cNvPr id="40" name="!!term-vhost">
            <a:extLst>
              <a:ext uri="{C183D7F6-B498-43B3-948B-1728B52AA6E4}">
                <adec:decorative xmlns:adec="http://schemas.microsoft.com/office/drawing/2017/decorative" val="1"/>
              </a:ext>
            </a:extLst>
          </p:cNvPr>
          <p:cNvSpPr/>
          <p:nvPr/>
        </p:nvSpPr>
        <p:spPr>
          <a:xfrm>
            <a:off x="8311995" y="2468880"/>
            <a:ext cx="90409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vhost">
            <a:extLst>
              <a:ext uri="{C183D7F6-B498-43B3-948B-1728B52AA6E4}">
                <adec:decorative xmlns:adec="http://schemas.microsoft.com/office/drawing/2017/decorative" val="1"/>
              </a:ext>
            </a:extLst>
          </p:cNvPr>
          <p:cNvSpPr/>
          <p:nvPr/>
        </p:nvSpPr>
        <p:spPr>
          <a:xfrm>
            <a:off x="844001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vhost"/>
          <p:cNvSpPr txBox="1"/>
          <p:nvPr/>
        </p:nvSpPr>
        <p:spPr>
          <a:xfrm>
            <a:off x="8604603" y="2592324"/>
            <a:ext cx="721210"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vhost</a:t>
            </a:r>
          </a:p>
        </p:txBody>
      </p:sp>
      <p:sp>
        <p:nvSpPr>
          <p:cNvPr id="43" name="!!term-vhost-user">
            <a:extLst>
              <a:ext uri="{C183D7F6-B498-43B3-948B-1728B52AA6E4}">
                <adec:decorative xmlns:adec="http://schemas.microsoft.com/office/drawing/2017/decorative" val="1"/>
              </a:ext>
            </a:extLst>
          </p:cNvPr>
          <p:cNvSpPr/>
          <p:nvPr/>
        </p:nvSpPr>
        <p:spPr>
          <a:xfrm>
            <a:off x="9362389" y="2468880"/>
            <a:ext cx="134325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termd-vhost-user">
            <a:extLst>
              <a:ext uri="{C183D7F6-B498-43B3-948B-1728B52AA6E4}">
                <adec:decorative xmlns:adec="http://schemas.microsoft.com/office/drawing/2017/decorative" val="1"/>
              </a:ext>
            </a:extLst>
          </p:cNvPr>
          <p:cNvSpPr/>
          <p:nvPr/>
        </p:nvSpPr>
        <p:spPr>
          <a:xfrm>
            <a:off x="9490405"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termt-vhost-user"/>
          <p:cNvSpPr txBox="1"/>
          <p:nvPr/>
        </p:nvSpPr>
        <p:spPr>
          <a:xfrm>
            <a:off x="9654997" y="2592324"/>
            <a:ext cx="116037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vhost-user</a:t>
            </a:r>
          </a:p>
        </p:txBody>
      </p:sp>
      <p:sp>
        <p:nvSpPr>
          <p:cNvPr id="46" name="!!term-passthrough">
            <a:extLst>
              <a:ext uri="{C183D7F6-B498-43B3-948B-1728B52AA6E4}">
                <adec:decorative xmlns:adec="http://schemas.microsoft.com/office/drawing/2017/decorative" val="1"/>
              </a:ext>
            </a:extLst>
          </p:cNvPr>
          <p:cNvSpPr/>
          <p:nvPr/>
        </p:nvSpPr>
        <p:spPr>
          <a:xfrm>
            <a:off x="658368" y="3090672"/>
            <a:ext cx="150850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7" name="!!termd-passthrough">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termt-passthrough"/>
          <p:cNvSpPr txBox="1"/>
          <p:nvPr/>
        </p:nvSpPr>
        <p:spPr>
          <a:xfrm>
            <a:off x="950976" y="3214116"/>
            <a:ext cx="132562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passthrough</a:t>
            </a:r>
          </a:p>
        </p:txBody>
      </p:sp>
      <p:sp>
        <p:nvSpPr>
          <p:cNvPr id="49" name="!!term-device assignm">
            <a:extLst>
              <a:ext uri="{C183D7F6-B498-43B3-948B-1728B52AA6E4}">
                <adec:decorative xmlns:adec="http://schemas.microsoft.com/office/drawing/2017/decorative" val="1"/>
              </a:ext>
            </a:extLst>
          </p:cNvPr>
          <p:cNvSpPr/>
          <p:nvPr/>
        </p:nvSpPr>
        <p:spPr>
          <a:xfrm>
            <a:off x="2313181" y="3090672"/>
            <a:ext cx="201962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termd-device assignm">
            <a:extLst>
              <a:ext uri="{C183D7F6-B498-43B3-948B-1728B52AA6E4}">
                <adec:decorative xmlns:adec="http://schemas.microsoft.com/office/drawing/2017/decorative" val="1"/>
              </a:ext>
            </a:extLst>
          </p:cNvPr>
          <p:cNvSpPr/>
          <p:nvPr/>
        </p:nvSpPr>
        <p:spPr>
          <a:xfrm>
            <a:off x="244119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1" name="!!termt-device assignm"/>
          <p:cNvSpPr txBox="1"/>
          <p:nvPr/>
        </p:nvSpPr>
        <p:spPr>
          <a:xfrm>
            <a:off x="2605789" y="3214116"/>
            <a:ext cx="1836743"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device assignment</a:t>
            </a:r>
          </a:p>
        </p:txBody>
      </p:sp>
      <p:sp>
        <p:nvSpPr>
          <p:cNvPr id="52" name="!!term-VFIO">
            <a:extLst>
              <a:ext uri="{C183D7F6-B498-43B3-948B-1728B52AA6E4}">
                <adec:decorative xmlns:adec="http://schemas.microsoft.com/office/drawing/2017/decorative" val="1"/>
              </a:ext>
            </a:extLst>
          </p:cNvPr>
          <p:cNvSpPr/>
          <p:nvPr/>
        </p:nvSpPr>
        <p:spPr>
          <a:xfrm>
            <a:off x="4479109" y="3090672"/>
            <a:ext cx="85259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termd-VFIO">
            <a:extLst>
              <a:ext uri="{C183D7F6-B498-43B3-948B-1728B52AA6E4}">
                <adec:decorative xmlns:adec="http://schemas.microsoft.com/office/drawing/2017/decorative" val="1"/>
              </a:ext>
            </a:extLst>
          </p:cNvPr>
          <p:cNvSpPr/>
          <p:nvPr/>
        </p:nvSpPr>
        <p:spPr>
          <a:xfrm>
            <a:off x="4607125"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termt-VFIO"/>
          <p:cNvSpPr txBox="1"/>
          <p:nvPr/>
        </p:nvSpPr>
        <p:spPr>
          <a:xfrm>
            <a:off x="4771717" y="3214116"/>
            <a:ext cx="669717"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VFIO</a:t>
            </a:r>
          </a:p>
        </p:txBody>
      </p:sp>
      <p:sp>
        <p:nvSpPr>
          <p:cNvPr id="55" name="!!term-SR-IOV">
            <a:extLst>
              <a:ext uri="{C183D7F6-B498-43B3-948B-1728B52AA6E4}">
                <adec:decorative xmlns:adec="http://schemas.microsoft.com/office/drawing/2017/decorative" val="1"/>
              </a:ext>
            </a:extLst>
          </p:cNvPr>
          <p:cNvSpPr/>
          <p:nvPr/>
        </p:nvSpPr>
        <p:spPr>
          <a:xfrm>
            <a:off x="5478011" y="3090672"/>
            <a:ext cx="10548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termd-SR-IOV">
            <a:extLst>
              <a:ext uri="{C183D7F6-B498-43B3-948B-1728B52AA6E4}">
                <adec:decorative xmlns:adec="http://schemas.microsoft.com/office/drawing/2017/decorative" val="1"/>
              </a:ext>
            </a:extLst>
          </p:cNvPr>
          <p:cNvSpPr/>
          <p:nvPr/>
        </p:nvSpPr>
        <p:spPr>
          <a:xfrm>
            <a:off x="560602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7" name="!!termt-SR-IOV"/>
          <p:cNvSpPr txBox="1"/>
          <p:nvPr/>
        </p:nvSpPr>
        <p:spPr>
          <a:xfrm>
            <a:off x="5770619" y="3214116"/>
            <a:ext cx="87199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SR-IOV</a:t>
            </a:r>
          </a:p>
        </p:txBody>
      </p:sp>
      <p:sp>
        <p:nvSpPr>
          <p:cNvPr id="58" name="!!term-physical funct">
            <a:extLst>
              <a:ext uri="{C183D7F6-B498-43B3-948B-1728B52AA6E4}">
                <adec:decorative xmlns:adec="http://schemas.microsoft.com/office/drawing/2017/decorative" val="1"/>
              </a:ext>
            </a:extLst>
          </p:cNvPr>
          <p:cNvSpPr/>
          <p:nvPr/>
        </p:nvSpPr>
        <p:spPr>
          <a:xfrm>
            <a:off x="6679190" y="3090672"/>
            <a:ext cx="18828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9" name="!!termd-physical funct">
            <a:extLst>
              <a:ext uri="{C183D7F6-B498-43B3-948B-1728B52AA6E4}">
                <adec:decorative xmlns:adec="http://schemas.microsoft.com/office/drawing/2017/decorative" val="1"/>
              </a:ext>
            </a:extLst>
          </p:cNvPr>
          <p:cNvSpPr/>
          <p:nvPr/>
        </p:nvSpPr>
        <p:spPr>
          <a:xfrm>
            <a:off x="6807206"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termt-physical funct"/>
          <p:cNvSpPr txBox="1"/>
          <p:nvPr/>
        </p:nvSpPr>
        <p:spPr>
          <a:xfrm>
            <a:off x="6971798" y="3214116"/>
            <a:ext cx="1699949"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physical function</a:t>
            </a:r>
          </a:p>
        </p:txBody>
      </p:sp>
      <p:sp>
        <p:nvSpPr>
          <p:cNvPr id="61" name="!!term-virtual functi">
            <a:extLst>
              <a:ext uri="{C183D7F6-B498-43B3-948B-1728B52AA6E4}">
                <adec:decorative xmlns:adec="http://schemas.microsoft.com/office/drawing/2017/decorative" val="1"/>
              </a:ext>
            </a:extLst>
          </p:cNvPr>
          <p:cNvSpPr/>
          <p:nvPr/>
        </p:nvSpPr>
        <p:spPr>
          <a:xfrm>
            <a:off x="8708323" y="3090672"/>
            <a:ext cx="172902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termd-virtual functi">
            <a:extLst>
              <a:ext uri="{C183D7F6-B498-43B3-948B-1728B52AA6E4}">
                <adec:decorative xmlns:adec="http://schemas.microsoft.com/office/drawing/2017/decorative" val="1"/>
              </a:ext>
            </a:extLst>
          </p:cNvPr>
          <p:cNvSpPr/>
          <p:nvPr/>
        </p:nvSpPr>
        <p:spPr>
          <a:xfrm>
            <a:off x="8836339"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3" name="!!termt-virtual functi"/>
          <p:cNvSpPr txBox="1"/>
          <p:nvPr/>
        </p:nvSpPr>
        <p:spPr>
          <a:xfrm>
            <a:off x="9000931" y="3214116"/>
            <a:ext cx="154614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virtual function</a:t>
            </a:r>
          </a:p>
        </p:txBody>
      </p:sp>
      <p:sp>
        <p:nvSpPr>
          <p:cNvPr id="64" name="!!term-DPDK">
            <a:extLst>
              <a:ext uri="{C183D7F6-B498-43B3-948B-1728B52AA6E4}">
                <adec:decorative xmlns:adec="http://schemas.microsoft.com/office/drawing/2017/decorative" val="1"/>
              </a:ext>
            </a:extLst>
          </p:cNvPr>
          <p:cNvSpPr/>
          <p:nvPr/>
        </p:nvSpPr>
        <p:spPr>
          <a:xfrm>
            <a:off x="10583651" y="3090672"/>
            <a:ext cx="93284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5" name="!!termd-DPDK">
            <a:extLst>
              <a:ext uri="{C183D7F6-B498-43B3-948B-1728B52AA6E4}">
                <adec:decorative xmlns:adec="http://schemas.microsoft.com/office/drawing/2017/decorative" val="1"/>
              </a:ext>
            </a:extLst>
          </p:cNvPr>
          <p:cNvSpPr/>
          <p:nvPr/>
        </p:nvSpPr>
        <p:spPr>
          <a:xfrm>
            <a:off x="1071166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termt-DPDK"/>
          <p:cNvSpPr txBox="1"/>
          <p:nvPr/>
        </p:nvSpPr>
        <p:spPr>
          <a:xfrm>
            <a:off x="10876259" y="3214116"/>
            <a:ext cx="749968"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DPDK</a:t>
            </a:r>
          </a:p>
        </p:txBody>
      </p:sp>
      <p:sp>
        <p:nvSpPr>
          <p:cNvPr id="67" name="!!term-guest addition">
            <a:extLst>
              <a:ext uri="{C183D7F6-B498-43B3-948B-1728B52AA6E4}">
                <adec:decorative xmlns:adec="http://schemas.microsoft.com/office/drawing/2017/decorative" val="1"/>
              </a:ext>
            </a:extLst>
          </p:cNvPr>
          <p:cNvSpPr/>
          <p:nvPr/>
        </p:nvSpPr>
        <p:spPr>
          <a:xfrm>
            <a:off x="658368" y="3712464"/>
            <a:ext cx="17604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termd-guest addition">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termt-guest addition"/>
          <p:cNvSpPr txBox="1"/>
          <p:nvPr/>
        </p:nvSpPr>
        <p:spPr>
          <a:xfrm>
            <a:off x="950976" y="3835908"/>
            <a:ext cx="1577534" cy="310896"/>
          </a:xfrm>
          <a:prstGeom prst="rect">
            <a:avLst/>
          </a:prstGeom>
          <a:noFill/>
        </p:spPr>
        <p:txBody>
          <a:bodyPr wrap="none" anchor="t" lIns="0" rIns="0" tIns="0" bIns="0">
            <a:noAutofit/>
          </a:bodyPr>
          <a:lstStyle/>
          <a:p>
            <a:pPr algn="l">
              <a:lnSpc>
                <a:spcPct val="100000"/>
              </a:lnSpc>
              <a:spcBef>
                <a:spcPts val="0"/>
              </a:spcBef>
              <a:spcAft>
                <a:spcPts val="0"/>
              </a:spcAft>
            </a:pPr>
            <a:r>
              <a:rPr sz="1500" b="0" i="0">
                <a:solidFill>
                  <a:srgbClr val="1C252B"/>
                </a:solidFill>
                <a:latin typeface="Segoe UI"/>
              </a:rPr>
              <a:t>guest additions</a:t>
            </a:r>
          </a:p>
        </p:txBody>
      </p:sp>
      <p:sp>
        <p:nvSpPr>
          <p:cNvPr id="70"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7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pfill">
            <a:extLst>
              <a:ext uri="{C183D7F6-B498-43B3-948B-1728B52AA6E4}">
                <adec:decorative xmlns:adec="http://schemas.microsoft.com/office/drawing/2017/decorative" val="1"/>
              </a:ext>
            </a:extLst>
          </p:cNvPr>
          <p:cNvSpPr/>
          <p:nvPr/>
        </p:nvSpPr>
        <p:spPr>
          <a:xfrm>
            <a:off x="0" y="0"/>
            <a:ext cx="118943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53–61     </a:t>
            </a:r>
            <a:fld id="{D3A9ADD2-9DDB-456C-BABA-C1FD1773B053}" type="slidenum">
              <a:rPr lang="en-GB" sz="1000">
                <a:solidFill>
                  <a:srgbClr val="8795A1"/>
                </a:solidFill>
                <a:latin typeface="Segoe UI"/>
              </a:rPr>
              <a:t>5</a:t>
            </a:fld>
          </a:p>
        </p:txBody>
      </p:sp>
      <p:sp>
        <p:nvSpPr>
          <p:cNvPr id="7" name="!!ag0" descr="Go to section 7.1 Three Ways to Give a Guest a Device">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7.1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Three Ways to Give a Guest a Device</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53  ›</a:t>
            </a:r>
          </a:p>
        </p:txBody>
      </p:sp>
      <p:sp>
        <p:nvSpPr>
          <p:cNvPr id="12" name="!!ag1" descr="Go to section 7.2 What Passthrough Costs You">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236794"/>
                </a:solidFill>
                <a:latin typeface="Segoe UI Semibold"/>
              </a:rPr>
              <a:t>7.2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What Passthrough Costs You</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56  ›</a:t>
            </a: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148679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Three Ways to Give a Guest a Device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1 OF 2</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7.1</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7.1   Three Ways to Give a Guest a Device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7.2   What Passthrough Costs You</a:t>
            </a:r>
          </a:p>
        </p:txBody>
      </p:sp>
      <p:sp>
        <p:nvSpPr>
          <p:cNvPr id="8"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a:t>
            </a:r>
          </a:p>
        </p:txBody>
      </p:sp>
      <p:sp>
        <p:nvSpPr>
          <p:cNvPr id="9"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§7.1     </a:t>
            </a:r>
            <a:fld id="{3D556D40-418A-48C9-9844-8461BA421C3F}" type="slidenum">
              <a:rPr lang="en-GB" sz="1000">
                <a:solidFill>
                  <a:srgbClr val="8795A1"/>
                </a:solidFill>
                <a:latin typeface="Segoe UI"/>
              </a:rPr>
              <a:t>6</a:t>
            </a:fld>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78415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I/O request, three ways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36794"/>
                </a:solidFill>
                <a:latin typeface="Segoe UI"/>
              </a:rPr>
              <a:t>FIGURE 7.1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§7.1  ·  Handout p. 53     </a:t>
            </a:r>
            <a:fld id="{F7B99B1D-1397-4660-A629-78AB661B8D66}" type="slidenum">
              <a:rPr lang="en-GB" sz="1000">
                <a:solidFill>
                  <a:srgbClr val="8795A1"/>
                </a:solidFill>
                <a:latin typeface="Segoe UI"/>
              </a:rPr>
              <a:t>7</a:t>
            </a:fld>
          </a:p>
        </p:txBody>
      </p:sp>
      <p:pic>
        <p:nvPicPr>
          <p:cNvPr id="6" name="!!figure" descr="Figure 7.1. The same I/O request, three ways. Reading down each lane gives the cost: the left lane crosses the boundary dozens of times per request, the middle once per batch, the right not at all."/>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760847"/>
            <a:ext cx="10874959" cy="3606291"/>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Reading down each lane gives the cost: the left lane crosses the boundary dozens of times per request, the middle once per batch, the right not at all.</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08150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Split Driver Model and the Virtqueue</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§7.1.2  ·  Handout p. 54     </a:t>
            </a:r>
            <a:fld id="{DB3CE8F5-4CDB-488C-B9E9-838A1C18CBF4}"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00271"/>
          </a:xfrm>
          <a:prstGeom prst="roundRect">
            <a:avLst>
              <a:gd name="adj" fmla="val 2177"/>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00271"/>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virtio device is split in two. The </a:t>
            </a:r>
            <a:r>
              <a:rPr sz="1900" b="1" i="0">
                <a:solidFill>
                  <a:srgbClr val="1A5276"/>
                </a:solidFill>
                <a:latin typeface="Segoe UI"/>
              </a:rPr>
              <a:t>front-end driver</a:t>
            </a:r>
            <a:r>
              <a:rPr sz="1900" b="0" i="0">
                <a:solidFill>
                  <a:srgbClr val="1C252B"/>
                </a:solidFill>
                <a:latin typeface="Segoe UI"/>
              </a:rPr>
              <a:t> runs in the guest and presents a normal disk or network interface to the guest kernel. The </a:t>
            </a:r>
            <a:r>
              <a:rPr sz="1900" b="1" i="0">
                <a:solidFill>
                  <a:srgbClr val="1A5276"/>
                </a:solidFill>
                <a:latin typeface="Segoe UI"/>
              </a:rPr>
              <a:t>back-end driver</a:t>
            </a:r>
            <a:r>
              <a:rPr sz="1900" b="0" i="0">
                <a:solidFill>
                  <a:srgbClr val="1C252B"/>
                </a:solidFill>
                <a:latin typeface="Segoe UI"/>
              </a:rPr>
              <a:t> runs in the hypervisor and does the real work. Between them sits one or more </a:t>
            </a:r>
            <a:r>
              <a:rPr sz="1900" b="1" i="0">
                <a:solidFill>
                  <a:srgbClr val="1A5276"/>
                </a:solidFill>
                <a:latin typeface="Segoe UI"/>
              </a:rPr>
              <a:t>virtqueues</a:t>
            </a:r>
            <a:r>
              <a:rPr sz="1900" b="0" i="0">
                <a:solidFill>
                  <a:srgbClr val="1C252B"/>
                </a:solidFill>
                <a:latin typeface="Segoe UI"/>
              </a:rPr>
              <a:t>, in memory both can see.</a:t>
            </a:r>
          </a:p>
        </p:txBody>
      </p:sp>
      <p:sp>
        <p:nvSpPr>
          <p:cNvPr id="10" name="body-1"/>
          <p:cNvSpPr txBox="1"/>
          <p:nvPr/>
        </p:nvSpPr>
        <p:spPr>
          <a:xfrm>
            <a:off x="1060704" y="3084398"/>
            <a:ext cx="10161727" cy="34686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virtqueue is three rings in shared memory:</a:t>
            </a:r>
          </a:p>
        </p:txBody>
      </p:sp>
      <p:sp>
        <p:nvSpPr>
          <p:cNvPr id="11" name="body-2"/>
          <p:cNvSpPr txBox="1"/>
          <p:nvPr/>
        </p:nvSpPr>
        <p:spPr>
          <a:xfrm>
            <a:off x="1060704" y="3518255"/>
            <a:ext cx="10161727" cy="1118057"/>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8A4500"/>
                </a:solidFill>
                <a:latin typeface="Segoe UI"/>
              </a:rPr>
              <a:t>•	</a:t>
            </a:r>
            <a:r>
              <a:rPr sz="1900" b="0" i="0">
                <a:solidFill>
                  <a:srgbClr val="1C252B"/>
                </a:solidFill>
                <a:latin typeface="Segoe UI"/>
              </a:rPr>
              <a:t>the </a:t>
            </a:r>
            <a:r>
              <a:rPr sz="1900" b="1" i="0">
                <a:solidFill>
                  <a:srgbClr val="1A5276"/>
                </a:solidFill>
                <a:latin typeface="Segoe UI"/>
              </a:rPr>
              <a:t>descriptor table</a:t>
            </a:r>
            <a:r>
              <a:rPr sz="1900" b="0" i="0">
                <a:solidFill>
                  <a:srgbClr val="1C252B"/>
                </a:solidFill>
                <a:latin typeface="Segoe UI"/>
              </a:rPr>
              <a:t> — buffers, each an address and a length;</a:t>
            </a:r>
          </a:p>
          <a:p>
            <a:pPr algn="l" marL="212450" indent="-212450">
              <a:lnSpc>
                <a:spcPct val="104000"/>
              </a:lnSpc>
              <a:spcBef>
                <a:spcPts val="0"/>
              </a:spcBef>
              <a:spcAft>
                <a:spcPts val="665"/>
              </a:spcAft>
            </a:pPr>
            <a:r>
              <a:rPr sz="1900" b="1">
                <a:solidFill>
                  <a:srgbClr val="8A4500"/>
                </a:solidFill>
                <a:latin typeface="Segoe UI"/>
              </a:rPr>
              <a:t>•	</a:t>
            </a:r>
            <a:r>
              <a:rPr sz="1900" b="0" i="0">
                <a:solidFill>
                  <a:srgbClr val="1C252B"/>
                </a:solidFill>
                <a:latin typeface="Segoe UI"/>
              </a:rPr>
              <a:t>the </a:t>
            </a:r>
            <a:r>
              <a:rPr sz="1900" b="1" i="0">
                <a:solidFill>
                  <a:srgbClr val="1A5276"/>
                </a:solidFill>
                <a:latin typeface="Segoe UI"/>
              </a:rPr>
              <a:t>available ring</a:t>
            </a:r>
            <a:r>
              <a:rPr sz="1900" b="0" i="0">
                <a:solidFill>
                  <a:srgbClr val="1C252B"/>
                </a:solidFill>
                <a:latin typeface="Segoe UI"/>
              </a:rPr>
              <a:t> — which descriptors the guest has offered;</a:t>
            </a:r>
          </a:p>
          <a:p>
            <a:pPr algn="l" marL="212450" indent="-212450">
              <a:lnSpc>
                <a:spcPct val="104000"/>
              </a:lnSpc>
              <a:spcBef>
                <a:spcPts val="0"/>
              </a:spcBef>
              <a:spcAft>
                <a:spcPts val="0"/>
              </a:spcAft>
            </a:pPr>
            <a:r>
              <a:rPr sz="1900" b="1">
                <a:solidFill>
                  <a:srgbClr val="8A4500"/>
                </a:solidFill>
                <a:latin typeface="Segoe UI"/>
              </a:rPr>
              <a:t>•	</a:t>
            </a:r>
            <a:r>
              <a:rPr sz="1900" b="0" i="0">
                <a:solidFill>
                  <a:srgbClr val="1C252B"/>
                </a:solidFill>
                <a:latin typeface="Segoe UI"/>
              </a:rPr>
              <a:t>the </a:t>
            </a:r>
            <a:r>
              <a:rPr sz="1900" b="1" i="0">
                <a:solidFill>
                  <a:srgbClr val="1A5276"/>
                </a:solidFill>
                <a:latin typeface="Segoe UI"/>
              </a:rPr>
              <a:t>used ring</a:t>
            </a:r>
            <a:r>
              <a:rPr sz="1900" b="0" i="0">
                <a:solidFill>
                  <a:srgbClr val="1C252B"/>
                </a:solidFill>
                <a:latin typeface="Segoe UI"/>
              </a:rPr>
              <a:t> — which the host has finished with.</a:t>
            </a:r>
          </a:p>
        </p:txBody>
      </p:sp>
      <p:sp>
        <p:nvSpPr>
          <p:cNvPr id="12" name="body-3"/>
          <p:cNvSpPr txBox="1"/>
          <p:nvPr/>
        </p:nvSpPr>
        <p:spPr>
          <a:xfrm>
            <a:off x="1060704" y="4723307"/>
            <a:ext cx="10161727"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guest writes buffers and advances the available ring with </a:t>
            </a:r>
            <a:r>
              <a:rPr sz="1900" b="0" i="1">
                <a:solidFill>
                  <a:srgbClr val="1C252B"/>
                </a:solidFill>
                <a:latin typeface="Segoe UI"/>
              </a:rPr>
              <a:t>ordinary memory writes</a:t>
            </a:r>
            <a:r>
              <a:rPr sz="1900" b="0" i="0">
                <a:solidFill>
                  <a:srgbClr val="1C252B"/>
                </a:solidFill>
                <a:latin typeface="Segoe UI"/>
              </a:rPr>
              <a:t>. No exit. It then rings a </a:t>
            </a:r>
            <a:r>
              <a:rPr sz="1900" b="1" i="0">
                <a:solidFill>
                  <a:srgbClr val="1A5276"/>
                </a:solidFill>
                <a:latin typeface="Segoe UI"/>
              </a:rPr>
              <a:t>doorbell</a:t>
            </a:r>
            <a:r>
              <a:rPr sz="1900" b="0" i="0">
                <a:solidFill>
                  <a:srgbClr val="1C252B"/>
                </a:solidFill>
                <a:latin typeface="Segoe UI"/>
              </a:rPr>
              <a:t> — one write to one register, one exit — to say that work is waiting. The host takes everything in the ring, does it, and advances the used ring.</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37886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1">
                                            <p:txEl>
                                              <p:pRg st="0" end="0"/>
                                            </p:txEl>
                                          </p:spTgt>
                                        </p:tgtEl>
                                        <p:attrNameLst>
                                          <p:attrName>style.visibility</p:attrName>
                                        </p:attrNameLst>
                                      </p:cBhvr>
                                      <p:to>
                                        <p:strVal val="visible"/>
                                      </p:to>
                                    </p:set>
                                    <p:animEffect transition="in" filter="fade">
                                      <p:cBhvr>
                                        <p:cTn id="8" dur="380"/>
                                        <p:tgtEl>
                                          <p:spTgt spid="11">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animEffect transition="in" filter="fade">
                                      <p:cBhvr>
                                        <p:cTn id="13" dur="380"/>
                                        <p:tgtEl>
                                          <p:spTgt spid="11">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2" end="2"/>
                                            </p:txEl>
                                          </p:spTgt>
                                        </p:tgtEl>
                                        <p:attrNameLst>
                                          <p:attrName>style.visibility</p:attrName>
                                        </p:attrNameLst>
                                      </p:cBhvr>
                                      <p:to>
                                        <p:strVal val="visible"/>
                                      </p:to>
                                    </p:set>
                                    <p:animEffect transition="in" filter="fade">
                                      <p:cBhvr>
                                        <p:cTn id="18" dur="380"/>
                                        <p:tgtEl>
                                          <p:spTgt spid="1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Batching Is the Whole Trick</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§7.1.2  ·  Handout p. 54     </a:t>
            </a:r>
            <a:fld id="{66EEF540-2D82-4501-996E-8A1A6D6CD7E0}"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4"/>
          </a:xfrm>
          <a:prstGeom prst="roundRect">
            <a:avLst>
              <a:gd name="adj" fmla="val 207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emulated card costs an exit per register access. virtio costs an exit per </a:t>
            </a:r>
            <a:r>
              <a:rPr sz="2200" b="0" i="1">
                <a:solidFill>
                  <a:srgbClr val="1C252B"/>
                </a:solidFill>
                <a:latin typeface="Segoe UI"/>
              </a:rPr>
              <a:t>doorbell</a:t>
            </a:r>
            <a:r>
              <a:rPr sz="2200" b="0" i="0">
                <a:solidFill>
                  <a:srgbClr val="1C252B"/>
                </a:solidFill>
                <a:latin typeface="Segoe UI"/>
              </a:rPr>
              <a:t>, and one doorbell can cover a hundred queued requests.</a:t>
            </a:r>
          </a:p>
        </p:txBody>
      </p:sp>
      <p:sp>
        <p:nvSpPr>
          <p:cNvPr id="10" name="body-1"/>
          <p:cNvSpPr txBox="1"/>
          <p:nvPr/>
        </p:nvSpPr>
        <p:spPr>
          <a:xfrm>
            <a:off x="1060704" y="2899308"/>
            <a:ext cx="10161727"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Under load it gets better rather than worse, which is the opposite of the usual pattern. A busy back-end polls the ring and finds new work already waiting, so the guest can skip the doorbell entirely — the specification has an explicit flag for suppressing notifications. At high rates the exit count per request tends toward zero.</a:t>
            </a:r>
          </a:p>
        </p:txBody>
      </p:sp>
      <p:sp>
        <p:nvSpPr>
          <p:cNvPr id="11" name="body-2"/>
          <p:cNvSpPr txBox="1"/>
          <p:nvPr/>
        </p:nvSpPr>
        <p:spPr>
          <a:xfrm>
            <a:off x="1060704" y="4796434"/>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That is why Chapter 2’s disk measurement went from 81% lost to 4% lost by changing one attribute. Nothing about the hardware changed; the number of boundary crossings did.</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67622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vhost: Moving the Back-End Out of QEMU</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§7.1.2  ·  Handout p. 54     </a:t>
            </a:r>
            <a:fld id="{AD6A7EF6-C02D-423A-A0A3-895AF9D89A2A}"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4"/>
          </a:xfrm>
          <a:prstGeom prst="roundRect">
            <a:avLst>
              <a:gd name="adj" fmla="val 2070"/>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In plain KVM the virtio back-end lives in QEMU, in user space. A packet therefore crosses from the guest into the kernel, up to QEMU, back into the kernel to reach the real driver, and out.</a:t>
            </a:r>
          </a:p>
        </p:txBody>
      </p:sp>
      <p:sp>
        <p:nvSpPr>
          <p:cNvPr id="10" name="body-1"/>
          <p:cNvSpPr txBox="1"/>
          <p:nvPr/>
        </p:nvSpPr>
        <p:spPr>
          <a:xfrm>
            <a:off x="1060704" y="3247999"/>
            <a:ext cx="10161727"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1A5276"/>
                </a:solidFill>
                <a:latin typeface="Segoe UI"/>
              </a:rPr>
              <a:t>vhost</a:t>
            </a:r>
            <a:r>
              <a:rPr sz="2200" b="0" i="0">
                <a:solidFill>
                  <a:srgbClr val="1C252B"/>
                </a:solidFill>
                <a:latin typeface="Segoe UI"/>
              </a:rPr>
              <a:t> moves the back-end into the host </a:t>
            </a:r>
            <a:r>
              <a:rPr sz="2200" b="0" i="1">
                <a:solidFill>
                  <a:srgbClr val="1C252B"/>
                </a:solidFill>
                <a:latin typeface="Segoe UI"/>
              </a:rPr>
              <a:t>kernel</a:t>
            </a:r>
            <a:r>
              <a:rPr sz="2200" b="0" i="0">
                <a:solidFill>
                  <a:srgbClr val="1C252B"/>
                </a:solidFill>
                <a:latin typeface="Segoe UI"/>
              </a:rPr>
              <a:t>, so the data path never enters user space; QEMU only sets the queues up. </a:t>
            </a:r>
            <a:r>
              <a:rPr sz="2200" b="1" i="0">
                <a:solidFill>
                  <a:srgbClr val="1A5276"/>
                </a:solidFill>
                <a:latin typeface="Segoe UI"/>
              </a:rPr>
              <a:t>vhost-user</a:t>
            </a:r>
            <a:r>
              <a:rPr sz="2200" b="0" i="0">
                <a:solidFill>
                  <a:srgbClr val="1C252B"/>
                </a:solidFill>
                <a:latin typeface="Segoe UI"/>
              </a:rPr>
              <a:t> goes the other way for a different reason: it hands the back-end to a dedicated user-space process — typically a DPDK-based virtual switch — which polls the queues on a core of its own and never sleeps.</a:t>
            </a:r>
          </a:p>
        </p:txBody>
      </p:sp>
      <p:sp>
        <p:nvSpPr>
          <p:cNvPr id="11" name="body-2"/>
          <p:cNvSpPr txBox="1"/>
          <p:nvPr/>
        </p:nvSpPr>
        <p:spPr>
          <a:xfrm>
            <a:off x="1060704" y="514512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Both are the same instinct as the ladder in Chapter 6: the mechanism is settled, and all remaining performance work is removing crossings.</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297358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SR-IOV, Physical and Virtual Functions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§7.1.3  ·  Handout p. 55     </a:t>
            </a:r>
            <a:fld id="{25829F96-0780-4F37-B60D-4FD2FDB999DA}"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16044"/>
          </a:xfrm>
          <a:prstGeom prst="roundRect">
            <a:avLst>
              <a:gd name="adj" fmla="val 2070"/>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16044"/>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43102"/>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1A5276"/>
                </a:solidFill>
                <a:latin typeface="Segoe UI"/>
              </a:rPr>
              <a:t>SR-IOV</a:t>
            </a:r>
            <a:r>
              <a:rPr sz="2200" b="0" i="0">
                <a:solidFill>
                  <a:srgbClr val="1C252B"/>
                </a:solidFill>
                <a:latin typeface="Segoe UI"/>
              </a:rPr>
              <a:t> — single-root I/O virtualization — is a PCIe capability that lets one physical device present itself as many.</a:t>
            </a:r>
          </a:p>
        </p:txBody>
      </p:sp>
      <p:sp>
        <p:nvSpPr>
          <p:cNvPr id="10" name="body-1"/>
          <p:cNvSpPr txBox="1"/>
          <p:nvPr/>
        </p:nvSpPr>
        <p:spPr>
          <a:xfrm>
            <a:off x="1060704" y="2899308"/>
            <a:ext cx="10161727"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a:t>
            </a:r>
            <a:r>
              <a:rPr sz="2200" b="1" i="0">
                <a:solidFill>
                  <a:srgbClr val="1A5276"/>
                </a:solidFill>
                <a:latin typeface="Segoe UI"/>
              </a:rPr>
              <a:t>physical function</a:t>
            </a:r>
            <a:r>
              <a:rPr sz="2200" b="0" i="0">
                <a:solidFill>
                  <a:srgbClr val="1C252B"/>
                </a:solidFill>
                <a:latin typeface="Segoe UI"/>
              </a:rPr>
              <a:t> (PF) is the real device, managed by the host: it configures the card, sets rate limits, and creates the virtual functions. Each </a:t>
            </a:r>
            <a:r>
              <a:rPr sz="2200" b="1" i="0">
                <a:solidFill>
                  <a:srgbClr val="1A5276"/>
                </a:solidFill>
                <a:latin typeface="Segoe UI"/>
              </a:rPr>
              <a:t>virtual function</a:t>
            </a:r>
            <a:r>
              <a:rPr sz="2200" b="0" i="0">
                <a:solidFill>
                  <a:srgbClr val="1C252B"/>
                </a:solidFill>
                <a:latin typeface="Segoe UI"/>
              </a:rPr>
              <a:t> (VF) is a lightweight PCIe function with its own queues, its own MAC address and its own configuration space, which can be assigned to a guest exactly as a whole device would be.</a:t>
            </a:r>
          </a:p>
        </p:txBody>
      </p:sp>
      <p:sp>
        <p:nvSpPr>
          <p:cNvPr id="11" name="body-2"/>
          <p:cNvSpPr txBox="1"/>
          <p:nvPr/>
        </p:nvSpPr>
        <p:spPr>
          <a:xfrm>
            <a:off x="1060704" y="4796434"/>
            <a:ext cx="10161727"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card’s own hardware switch sorts traffic between the VFs. A modern server NIC supports 64 to 128 of them, so one card serves many guests at close to line rate, with the IOMMU keeping each VF’s DMA inside its guest.</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27094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Each Device Model Costs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§7.1.3  ·  Handout p. 55     </a:t>
            </a:r>
            <a:fld id="{5787241D-7DB9-4B2D-B1BE-A5375B23EEC6}"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92218"/>
          </a:xfrm>
          <a:prstGeom prst="roundRect">
            <a:avLst>
              <a:gd name="adj" fmla="val 203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9221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One 25 Gb/s network card, one guest, a small-packet forwarding test. Compute the throughput and the cost per unit of work.</a:t>
            </a:r>
          </a:p>
        </p:txBody>
      </p:sp>
      <p:sp>
        <p:nvSpPr>
          <p:cNvPr id="10" name="body-1"/>
          <p:cNvSpPr txBox="1"/>
          <p:nvPr/>
        </p:nvSpPr>
        <p:spPr>
          <a:xfrm>
            <a:off x="1042416" y="2746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Measured.</a:t>
            </a:r>
          </a:p>
        </p:txBody>
      </p:sp>
      <p:graphicFrame>
        <p:nvGraphicFramePr>
          <p:cNvPr id="11" name="body-2"/>
          <p:cNvGraphicFramePr>
            <a:graphicFrameLocks noGrp="1"/>
          </p:cNvGraphicFramePr>
          <p:nvPr/>
        </p:nvGraphicFramePr>
        <p:xfrm>
          <a:off x="1042416" y="3180537"/>
          <a:ext cx="6334600" cy="2340864"/>
        </p:xfrm>
        <a:graphic>
          <a:graphicData uri="http://schemas.openxmlformats.org/drawingml/2006/table">
            <a:tbl>
              <a:tblPr firstRow="0" bandRow="0" firstCol="0" lastRow="0" lastCol="0" bandCol="0">
                <a:tableStyleId>{2D5ABB26-0587-4C30-8999-92F81FD0307C}</a:tableStyleId>
              </a:tblPr>
              <a:tblGrid>
                <a:gridCol w="1828110"/>
                <a:gridCol w="802587"/>
                <a:gridCol w="1802208"/>
                <a:gridCol w="1901695"/>
              </a:tblGrid>
              <a:tr h="390144">
                <a:tc>
                  <a:txBody>
                    <a:bodyPr wrap="square"/>
                    <a:lstStyle/>
                    <a:p>
                      <a:pPr algn="l"/>
                      <a:r>
                        <a:rPr sz="1600" b="1" i="0">
                          <a:solidFill>
                            <a:srgbClr val="1A5276"/>
                          </a:solidFill>
                          <a:latin typeface="Segoe UI"/>
                        </a:rPr>
                        <a:t>Model</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Mpps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Host CPU, cores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r"/>
                      <a:r>
                        <a:rPr sz="1600" b="1" i="0">
                          <a:solidFill>
                            <a:srgbClr val="1A5276"/>
                          </a:solidFill>
                          <a:latin typeface="Segoe UI"/>
                        </a:rPr>
                        <a:t>Guest CPU, cores</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390144">
                <a:tc>
                  <a:txBody>
                    <a:bodyPr wrap="square"/>
                    <a:lstStyle/>
                    <a:p>
                      <a:pPr algn="l"/>
                      <a:r>
                        <a:rPr sz="1600" b="0" i="0">
                          <a:solidFill>
                            <a:srgbClr val="1C252B"/>
                          </a:solidFill>
                          <a:latin typeface="Segoe UI"/>
                        </a:rPr>
                        <a:t>Emulated e1000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0.12</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1.8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0.9</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virtio (in QEMU)</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1.40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1.1</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0.8</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virtio + vhost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2.90</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0.9</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r"/>
                      <a:r>
                        <a:rPr sz="1600" b="0" i="0">
                          <a:solidFill>
                            <a:srgbClr val="1C252B"/>
                          </a:solidFill>
                          <a:latin typeface="Segoe UI"/>
                        </a:rPr>
                        <a:t>0.8</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SR-IOV VF</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8.60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0.0</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r"/>
                      <a:r>
                        <a:rPr sz="1600" b="0" i="0">
                          <a:solidFill>
                            <a:srgbClr val="1C252B"/>
                          </a:solidFill>
                          <a:latin typeface="Segoe UI"/>
                        </a:rPr>
                        <a:t>0.9</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Native (no guest)</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8.90</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r"/>
                      <a:r>
                        <a:rPr sz="1600" b="0" i="0">
                          <a:solidFill>
                            <a:srgbClr val="1C252B"/>
                          </a:solidFill>
                          <a:latin typeface="Segoe UI"/>
                        </a:rPr>
                        <a:t>—</a:t>
                      </a:r>
                      <a:endParaRPr sz="16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2" name="body-3"/>
          <p:cNvSpPr txBox="1"/>
          <p:nvPr/>
        </p:nvSpPr>
        <p:spPr>
          <a:xfrm>
            <a:off x="1042416" y="5654116"/>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1 — throughput against native.</a:t>
            </a:r>
          </a:p>
        </p:txBody>
      </p:sp>
      <p:sp>
        <p:nvSpPr>
          <p:cNvPr id="13" name="body-3bar">
            <a:extLst>
              <a:ext uri="{C183D7F6-B498-43B3-948B-1728B52AA6E4}">
                <adec:decorative xmlns:adec="http://schemas.microsoft.com/office/drawing/2017/decorative" val="1"/>
              </a:ext>
            </a:extLst>
          </p:cNvPr>
          <p:cNvSpPr/>
          <p:nvPr/>
        </p:nvSpPr>
        <p:spPr>
          <a:xfrm>
            <a:off x="841248" y="5672404"/>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356830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right)">
                                      <p:cBhvr>
                                        <p:cTn id="18" dur="420"/>
                                        <p:tgtEl>
                                          <p:spTgt spid="13"/>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Each Device Model Costs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§7.1.3  ·  Handout p. 55     </a:t>
            </a:r>
            <a:fld id="{84FDCED1-0423-4AA5-B6A4-C4CF3D10A99F}"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04715"/>
          </a:xfrm>
          <a:prstGeom prst="roundRect">
            <a:avLst>
              <a:gd name="adj" fmla="val 212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04715"/>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9" name="body-0" descr="\text{emulated} = \frac{0.12}{8.90} = \mathbf{1.3\%} \qquad \text{virtio} = \frac{1.40}{8.90} = \mathbf{15.7\%}"/>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2416" y="2011679"/>
            <a:ext cx="10234879" cy="547268"/>
          </a:xfrm>
          <a:prstGeom prst="rect">
            <a:avLst/>
          </a:prstGeom>
        </p:spPr>
      </p:pic>
      <p:pic>
        <p:nvPicPr>
          <p:cNvPr id="10" name="body-1" descr="\text{vhost} = \frac{2.90}{8.90} = \mathbf{32.6\%} \qquad \text{SR-IOV} = \frac{8.60}{8.90} = \mathbf{96.6\%}"/>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42416" y="2691663"/>
            <a:ext cx="10234879" cy="547268"/>
          </a:xfrm>
          <a:prstGeom prst="rect">
            <a:avLst/>
          </a:prstGeom>
        </p:spPr>
      </p:pic>
      <p:sp>
        <p:nvSpPr>
          <p:cNvPr id="11" name="body-2"/>
          <p:cNvSpPr txBox="1"/>
          <p:nvPr/>
        </p:nvSpPr>
        <p:spPr>
          <a:xfrm>
            <a:off x="1042416" y="3371646"/>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2 — the cost of a packet, in host cores per Mpps.</a:t>
            </a:r>
          </a:p>
        </p:txBody>
      </p:sp>
      <p:sp>
        <p:nvSpPr>
          <p:cNvPr id="12" name="body-2bar">
            <a:extLst>
              <a:ext uri="{C183D7F6-B498-43B3-948B-1728B52AA6E4}">
                <adec:decorative xmlns:adec="http://schemas.microsoft.com/office/drawing/2017/decorative" val="1"/>
              </a:ext>
            </a:extLst>
          </p:cNvPr>
          <p:cNvSpPr/>
          <p:nvPr/>
        </p:nvSpPr>
        <p:spPr>
          <a:xfrm>
            <a:off x="841248" y="3389934"/>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3" name="body-3" descr="\text{emulated} = \frac{1.8}{0.12} = 15.0 \qquad \text{virtio} = \frac{1.1}{1.40} = 0.79 \qquad \text{vhost} = \frac{0.9}{2.90} = 0.31"/>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2416" y="3805504"/>
            <a:ext cx="10234879" cy="547268"/>
          </a:xfrm>
          <a:prstGeom prst="rect">
            <a:avLst/>
          </a:prstGeom>
        </p:spPr>
      </p:pic>
      <p:pic>
        <p:nvPicPr>
          <p:cNvPr id="14" name="body-4" descr="\text{SR-IOV} = \frac{0.0}{8.60} = \mathbf{0}"/>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42416" y="4485487"/>
            <a:ext cx="10234879" cy="547268"/>
          </a:xfrm>
          <a:prstGeom prst="rect">
            <a:avLst/>
          </a:prstGeom>
        </p:spPr>
      </p:pic>
      <p:sp>
        <p:nvSpPr>
          <p:cNvPr id="15" name="body-5"/>
          <p:cNvSpPr txBox="1"/>
          <p:nvPr/>
        </p:nvSpPr>
        <p:spPr>
          <a:xfrm>
            <a:off x="1042416" y="5165470"/>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Emulation is roughly </a:t>
            </a:r>
            <a:r>
              <a:rPr sz="1900" b="1" i="0">
                <a:solidFill>
                  <a:srgbClr val="1C252B"/>
                </a:solidFill>
                <a:latin typeface="Segoe UI"/>
              </a:rPr>
              <a:t>48 times</a:t>
            </a:r>
            <a:r>
              <a:rPr sz="1900" b="0" i="0">
                <a:solidFill>
                  <a:srgbClr val="1C252B"/>
                </a:solidFill>
                <a:latin typeface="Segoe UI"/>
              </a:rPr>
              <a:t> more expensive per packet than vhost, and SR-IOV spends no host processor at all because the host is not involved.</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386565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42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right)">
                                      <p:cBhvr>
                                        <p:cTn id="26" dur="42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42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Each Device Model Costs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§7.1.3  ·  Handout p. 55     </a:t>
            </a:r>
            <a:fld id="{C4E6CE79-28EE-4FD8-A3B2-8DAC7417D6AA}"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2779"/>
          </a:xfrm>
          <a:prstGeom prst="roundRect">
            <a:avLst>
              <a:gd name="adj" fmla="val 2476"/>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277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3 — the figure that decides most designs.</a:t>
            </a:r>
            <a:r>
              <a:rPr sz="1900" b="0" i="0">
                <a:solidFill>
                  <a:srgbClr val="1C252B"/>
                </a:solidFill>
                <a:latin typeface="Segoe UI"/>
              </a:rPr>
              <a:t> Look at the host-CPU column, not the throughput column. The emulated card burns 1.8 cores to move almost nothing; on a host of 64 cores running 30 guests, that is nearly 3% of the machine, per guest, spent on pretending to be a 1999 network card. The consolidation ratio of Chapter 1 is quietly destroyed by a default nobody changed.</a:t>
            </a:r>
          </a:p>
        </p:txBody>
      </p:sp>
      <p:sp>
        <p:nvSpPr>
          <p:cNvPr id="10" name="body-0bar">
            <a:extLst>
              <a:ext uri="{C183D7F6-B498-43B3-948B-1728B52AA6E4}">
                <adec:decorative xmlns:adec="http://schemas.microsoft.com/office/drawing/2017/decorative" val="1"/>
              </a:ext>
            </a:extLst>
          </p:cNvPr>
          <p:cNvSpPr/>
          <p:nvPr/>
        </p:nvSpPr>
        <p:spPr>
          <a:xfrm>
            <a:off x="841248" y="2029967"/>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3650107"/>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Step 4 — so why is SR-IOV not the answer to everything?</a:t>
            </a:r>
            <a:r>
              <a:rPr sz="1900" b="0" i="0">
                <a:solidFill>
                  <a:srgbClr val="1C252B"/>
                </a:solidFill>
                <a:latin typeface="Segoe UI"/>
              </a:rPr>
              <a:t> Because of what it gives up, which Section 7.4 sets out: that guest can no longer be live migrated, snapshotted with its device state, or overcommitted. Most estates value those more than they value the last 64% of line rate, and run virtio with vhost. SR-IOV is for the specific guests that cannot — a virtual firewall, a packet broker, a trading system.</a:t>
            </a:r>
          </a:p>
        </p:txBody>
      </p:sp>
      <p:sp>
        <p:nvSpPr>
          <p:cNvPr id="12" name="body-1bar">
            <a:extLst>
              <a:ext uri="{C183D7F6-B498-43B3-948B-1728B52AA6E4}">
                <adec:decorative xmlns:adec="http://schemas.microsoft.com/office/drawing/2017/decorative" val="1"/>
              </a:ext>
            </a:extLst>
          </p:cNvPr>
          <p:cNvSpPr/>
          <p:nvPr/>
        </p:nvSpPr>
        <p:spPr>
          <a:xfrm>
            <a:off x="841248" y="3668394"/>
            <a:ext cx="54864" cy="14874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416301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What Passthrough Costs You</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DD1DF"/>
                </a:solidFill>
                <a:latin typeface="Segoe UI"/>
              </a:rPr>
              <a:t>SECTION 2 OF 2</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7.2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7.1   Three Ways to Give a Guest a Device</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236794"/>
                </a:solidFill>
                <a:latin typeface="Segoe UI"/>
              </a:rPr>
              <a:t>7.2   What Passthrough Costs You</a:t>
            </a:r>
          </a:p>
        </p:txBody>
      </p:sp>
      <p:sp>
        <p:nvSpPr>
          <p:cNvPr id="8"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a:t>
            </a:r>
          </a:p>
        </p:txBody>
      </p:sp>
      <p:sp>
        <p:nvSpPr>
          <p:cNvPr id="9"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§7.2     </a:t>
            </a:r>
            <a:fld id="{82E9B428-8208-45DA-B9EC-ABCBE29AA633}" type="slidenum">
              <a:rPr lang="en-GB" sz="1000">
                <a:solidFill>
                  <a:srgbClr val="8795A1"/>
                </a:solidFill>
                <a:latin typeface="Segoe UI"/>
              </a:rPr>
              <a:t>15</a:t>
            </a:fld>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46037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Passthrough Costs You</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56     </a:t>
            </a:r>
            <a:fld id="{BC63C45A-65DC-40C5-BB08-1D0CEC9ABEA5}" type="slidenum">
              <a:rPr lang="en-GB" sz="1000">
                <a:solidFill>
                  <a:srgbClr val="8795A1"/>
                </a:solidFill>
                <a:latin typeface="Segoe UI"/>
              </a:rPr>
              <a:t>16</a:t>
            </a:fld>
          </a:p>
        </p:txBody>
      </p:sp>
      <p:graphicFrame>
        <p:nvGraphicFramePr>
          <p:cNvPr id="7" name="!!table"/>
          <p:cNvGraphicFramePr>
            <a:graphicFrameLocks noGrp="1"/>
          </p:cNvGraphicFramePr>
          <p:nvPr/>
        </p:nvGraphicFramePr>
        <p:xfrm>
          <a:off x="658368" y="1737360"/>
          <a:ext cx="10874958" cy="4194048"/>
        </p:xfrm>
        <a:graphic>
          <a:graphicData uri="http://schemas.openxmlformats.org/drawingml/2006/table">
            <a:tbl>
              <a:tblPr firstRow="0" bandRow="0" firstCol="0" lastRow="0" lastCol="0" bandCol="0">
                <a:tableStyleId>{2D5ABB26-0587-4C30-8999-92F81FD0307C}</a:tableStyleId>
              </a:tblPr>
              <a:tblGrid>
                <a:gridCol w="3107131"/>
                <a:gridCol w="3772945"/>
                <a:gridCol w="3994882"/>
              </a:tblGrid>
              <a:tr h="344424">
                <a:tc>
                  <a:txBody>
                    <a:bodyPr wrap="square"/>
                    <a:lstStyle/>
                    <a:p>
                      <a:pPr algn="l"/>
                      <a:r>
                        <a:rPr sz="1300" b="1" i="0">
                          <a:solidFill>
                            <a:srgbClr val="1A5276"/>
                          </a:solidFill>
                          <a:latin typeface="Segoe UI"/>
                        </a:rPr>
                        <a:t>Capability</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What happens with passthrough</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300" b="1" i="0">
                          <a:solidFill>
                            <a:srgbClr val="1A5276"/>
                          </a:solidFill>
                          <a:latin typeface="Segoe UI"/>
                        </a:rPr>
                        <a:t>Why</a:t>
                      </a:r>
                      <a:endParaRPr sz="13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740664">
                <a:tc>
                  <a:txBody>
                    <a:bodyPr wrap="square"/>
                    <a:lstStyle/>
                    <a:p>
                      <a:pPr algn="l"/>
                      <a:r>
                        <a:rPr sz="1300" b="0" i="0">
                          <a:solidFill>
                            <a:srgbClr val="1C252B"/>
                          </a:solidFill>
                          <a:latin typeface="Segoe UI"/>
                        </a:rPr>
                        <a:t>Live migration (Chapter 17)</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1" i="0">
                          <a:solidFill>
                            <a:srgbClr val="1C252B"/>
                          </a:solidFill>
                          <a:latin typeface="Segoe UI"/>
                        </a:rPr>
                        <a:t>Lost</a:t>
                      </a:r>
                      <a:r>
                        <a:rPr sz="1300" b="0" i="0">
                          <a:solidFill>
                            <a:srgbClr val="1C252B"/>
                          </a:solidFill>
                          <a:latin typeface="Segoe UI"/>
                        </a:rPr>
                        <a:t>, or needs an elaborate bonded-failover arrangement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The device’s internal state is in silicon the hypervisor cannot read, so there is nothing to copy to the other host</a:t>
                      </a:r>
                      <a:endParaRPr sz="1300"/>
                    </a:p>
                  </a:txBody>
                  <a:tcPr marL="109728" marR="109728" marT="64008" marB="45720" anchor="t">
                    <a:lnL w="0" cmpd="sng">
                      <a:noFill/>
                    </a:lnL>
                    <a:lnR w="0" cmpd="sng">
                      <a:noFill/>
                    </a:lnR>
                    <a:lnT w="9525" cmpd="sng">
                      <a:noFill/>
                    </a:lnT>
                    <a:lnB w="9525" cmpd="sng">
                      <a:noFill/>
                    </a:lnB>
                    <a:solidFill>
                      <a:srgbClr val="FFFFFF"/>
                    </a:solidFill>
                  </a:tcPr>
                </a:tc>
              </a:tr>
              <a:tr h="740664">
                <a:tc>
                  <a:txBody>
                    <a:bodyPr wrap="square"/>
                    <a:lstStyle/>
                    <a:p>
                      <a:pPr algn="l"/>
                      <a:r>
                        <a:rPr sz="1300" b="0" i="0">
                          <a:solidFill>
                            <a:srgbClr val="1C252B"/>
                          </a:solidFill>
                          <a:latin typeface="Segoe UI"/>
                        </a:rPr>
                        <a:t>Memory overcommit (Chapter 6)</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1" i="0">
                          <a:solidFill>
                            <a:srgbClr val="1C252B"/>
                          </a:solidFill>
                          <a:latin typeface="Segoe UI"/>
                        </a:rPr>
                        <a:t>Lost</a:t>
                      </a:r>
                      <a:r>
                        <a:rPr sz="1300" b="0" i="0">
                          <a:solidFill>
                            <a:srgbClr val="1C252B"/>
                          </a:solidFill>
                          <a:latin typeface="Segoe UI"/>
                        </a:rPr>
                        <a:t> for that guest</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The device performs DMA to guest memory at any moment, so every page must be pinned in real memory and cannot be ballooned or swapped</a:t>
                      </a:r>
                      <a:endParaRPr sz="1300"/>
                    </a:p>
                  </a:txBody>
                  <a:tcPr marL="109728" marR="109728" marT="64008" marB="45720" anchor="t">
                    <a:lnL w="0" cmpd="sng">
                      <a:noFill/>
                    </a:lnL>
                    <a:lnR w="0" cmpd="sng">
                      <a:noFill/>
                    </a:lnR>
                    <a:lnT w="9525" cmpd="sng">
                      <a:noFill/>
                    </a:lnT>
                    <a:lnB w="9525" cmpd="sng">
                      <a:noFill/>
                    </a:lnB>
                    <a:solidFill>
                      <a:srgbClr val="F2F8FC"/>
                    </a:solidFill>
                  </a:tcPr>
                </a:tc>
              </a:tr>
              <a:tr h="542544">
                <a:tc>
                  <a:txBody>
                    <a:bodyPr wrap="square"/>
                    <a:lstStyle/>
                    <a:p>
                      <a:pPr algn="l"/>
                      <a:r>
                        <a:rPr sz="1300" b="0" i="0">
                          <a:solidFill>
                            <a:srgbClr val="1C252B"/>
                          </a:solidFill>
                          <a:latin typeface="Segoe UI"/>
                        </a:rPr>
                        <a:t>Snapshots</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Lost or incomplete</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The device’s state is not part of the guest’s memory image</a:t>
                      </a:r>
                      <a:endParaRPr sz="1300"/>
                    </a:p>
                  </a:txBody>
                  <a:tcPr marL="109728" marR="109728" marT="64008" marB="45720" anchor="t">
                    <a:lnL w="0" cmpd="sng">
                      <a:noFill/>
                    </a:lnL>
                    <a:lnR w="0" cmpd="sng">
                      <a:noFill/>
                    </a:lnR>
                    <a:lnT w="9525" cmpd="sng">
                      <a:noFill/>
                    </a:lnT>
                    <a:lnB w="9525" cmpd="sng">
                      <a:noFill/>
                    </a:lnB>
                    <a:solidFill>
                      <a:srgbClr val="FFFFFF"/>
                    </a:solidFill>
                  </a:tcPr>
                </a:tc>
              </a:tr>
              <a:tr h="344424">
                <a:tc>
                  <a:txBody>
                    <a:bodyPr wrap="square"/>
                    <a:lstStyle/>
                    <a:p>
                      <a:pPr algn="l"/>
                      <a:r>
                        <a:rPr sz="1300" b="0" i="0">
                          <a:solidFill>
                            <a:srgbClr val="1C252B"/>
                          </a:solidFill>
                          <a:latin typeface="Segoe UI"/>
                        </a:rPr>
                        <a:t>Density</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One VF per guest, 64–128 per card</a:t>
                      </a:r>
                      <a:endParaRPr sz="13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300" b="0" i="0">
                          <a:solidFill>
                            <a:srgbClr val="1C252B"/>
                          </a:solidFill>
                          <a:latin typeface="Segoe UI"/>
                        </a:rPr>
                        <a:t>A hard hardware limit, where virtio has none</a:t>
                      </a:r>
                      <a:endParaRPr sz="1300"/>
                    </a:p>
                  </a:txBody>
                  <a:tcPr marL="109728" marR="109728" marT="64008" marB="45720" anchor="t">
                    <a:lnL w="0" cmpd="sng">
                      <a:noFill/>
                    </a:lnL>
                    <a:lnR w="0" cmpd="sng">
                      <a:noFill/>
                    </a:lnR>
                    <a:lnT w="9525" cmpd="sng">
                      <a:noFill/>
                    </a:lnT>
                    <a:lnB w="9525" cmpd="sng">
                      <a:noFill/>
                    </a:lnB>
                    <a:solidFill>
                      <a:srgbClr val="F2F8FC"/>
                    </a:solidFill>
                  </a:tcPr>
                </a:tc>
              </a:tr>
              <a:tr h="740664">
                <a:tc>
                  <a:txBody>
                    <a:bodyPr wrap="square"/>
                    <a:lstStyle/>
                    <a:p>
                      <a:pPr algn="l"/>
                      <a:r>
                        <a:rPr sz="1300" b="0" i="0">
                          <a:solidFill>
                            <a:srgbClr val="1C252B"/>
                          </a:solidFill>
                          <a:latin typeface="Segoe UI"/>
                        </a:rPr>
                        <a:t>Hardware independence</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Lost</a:t>
                      </a:r>
                      <a:endParaRPr sz="13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300" b="0" i="0">
                          <a:solidFill>
                            <a:srgbClr val="1C252B"/>
                          </a:solidFill>
                          <a:latin typeface="Segoe UI"/>
                        </a:rPr>
                        <a:t>The guest now has a driver for a specific card. Move it to a host with a different NIC and it will not work</a:t>
                      </a:r>
                      <a:endParaRPr sz="1300"/>
                    </a:p>
                  </a:txBody>
                  <a:tcPr marL="109728" marR="109728" marT="64008" marB="45720" anchor="t">
                    <a:lnL w="0" cmpd="sng">
                      <a:noFill/>
                    </a:lnL>
                    <a:lnR w="0" cmpd="sng">
                      <a:noFill/>
                    </a:lnR>
                    <a:lnT w="9525" cmpd="sng">
                      <a:noFill/>
                    </a:lnT>
                    <a:lnB w="9525" cmpd="sng">
                      <a:noFill/>
                    </a:lnB>
                    <a:solidFill>
                      <a:srgbClr val="FFFFFF"/>
                    </a:solidFill>
                  </a:tcPr>
                </a:tc>
              </a:tr>
              <a:tr h="740664">
                <a:tc>
                  <a:txBody>
                    <a:bodyPr wrap="square"/>
                    <a:lstStyle/>
                    <a:p>
                      <a:pPr algn="l"/>
                      <a:r>
                        <a:rPr sz="1300" b="0" i="0">
                          <a:solidFill>
                            <a:srgbClr val="1C252B"/>
                          </a:solidFill>
                          <a:latin typeface="Segoe UI"/>
                        </a:rPr>
                        <a:t>Host visibility</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300" b="0" i="0">
                          <a:solidFill>
                            <a:srgbClr val="1C252B"/>
                          </a:solidFill>
                          <a:latin typeface="Segoe UI"/>
                        </a:rPr>
                        <a:t>Reduced</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300" b="0" i="0">
                          <a:solidFill>
                            <a:srgbClr val="1C252B"/>
                          </a:solidFill>
                          <a:latin typeface="Segoe UI"/>
                        </a:rPr>
                        <a:t>The host cannot see or shape that traffic; firewall and monitoring must move into the guest or onto the card</a:t>
                      </a:r>
                      <a:endParaRPr sz="13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75773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Memory pinning is the consequence people forget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56     </a:t>
            </a:r>
            <a:fld id="{C1138FD2-E5F0-43F0-A6C5-0FDC9AF90FFD}"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67352"/>
          </a:xfrm>
          <a:prstGeom prst="roundRect">
            <a:avLst>
              <a:gd name="adj" fmla="val 2248"/>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67352"/>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Live migration is the loss everyone cites. Pinning is the one that bites quietly.</a:t>
            </a:r>
          </a:p>
        </p:txBody>
      </p:sp>
      <p:sp>
        <p:nvSpPr>
          <p:cNvPr id="10" name="body-1"/>
          <p:cNvSpPr txBox="1"/>
          <p:nvPr/>
        </p:nvSpPr>
        <p:spPr>
          <a:xfrm>
            <a:off x="1060704" y="2550617"/>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device doing DMA writes to host physical addresses it was given earlier. If the hypervisor moved, compressed, ballooned or swapped that page in the meantime, the device writes over whatever is there now. So every page of a passthrough guest’s memory must be locked in RAM for the guest’s whole life.</a:t>
            </a:r>
          </a:p>
        </p:txBody>
      </p:sp>
      <p:sp>
        <p:nvSpPr>
          <p:cNvPr id="11" name="body-2"/>
          <p:cNvSpPr txBox="1"/>
          <p:nvPr/>
        </p:nvSpPr>
        <p:spPr>
          <a:xfrm>
            <a:off x="1060704" y="4099051"/>
            <a:ext cx="10161727" cy="1440484"/>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64 GB guest with an assigned device consumes 64 GB of the host whether it uses it or not — and the entire reclamation ladder of Chapter 6 is unavailable for it. On a host sized with overcommit in mind, two or three such guests change the arithmetic completely.</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505509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56     </a:t>
            </a:r>
            <a:fld id="{108D2134-8A27-4797-9FD4-547B78651ED2}" type="slidenum">
              <a:rPr lang="en-GB" sz="1000">
                <a:solidFill>
                  <a:srgbClr val="8795A1"/>
                </a:solidFill>
                <a:latin typeface="Segoe UI"/>
              </a:rPr>
              <a:t>18</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Leaving guests on emulated devices and concluding virtualization is slow.</a:t>
            </a:r>
            <a:r>
              <a:rPr sz="1700" b="0" i="0">
                <a:solidFill>
                  <a:srgbClr val="1C252B"/>
                </a:solidFill>
                <a:latin typeface="Segoe UI"/>
              </a:rPr>
              <a:t> It is the commonest cause of a bad first impression, and it is one attribute in the guest’s configuration.</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Installing guest tools “for the clipboard”.</a:t>
            </a:r>
            <a:r>
              <a:rPr sz="1700" b="0" i="0">
                <a:solidFill>
                  <a:srgbClr val="1C252B"/>
                </a:solidFill>
                <a:latin typeface="Segoe UI"/>
              </a:rPr>
              <a:t> The drivers are the point. The clipboard is a side effect.</a:t>
            </a:r>
          </a:p>
        </p:txBody>
      </p:sp>
      <p:sp>
        <p:nvSpPr>
          <p:cNvPr id="13" name="!!pb2">
            <a:extLst>
              <a:ext uri="{C183D7F6-B498-43B3-948B-1728B52AA6E4}">
                <adec:decorative xmlns:adec="http://schemas.microsoft.com/office/drawing/2017/decorative" val="1"/>
              </a:ext>
            </a:extLst>
          </p:cNvPr>
          <p:cNvSpPr/>
          <p:nvPr/>
        </p:nvSpPr>
        <p:spPr>
          <a:xfrm>
            <a:off x="658368" y="306263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08549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044342"/>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Assigning a device without checking IOMMU groups.</a:t>
            </a:r>
            <a:r>
              <a:rPr sz="1700" b="0" i="0">
                <a:solidFill>
                  <a:srgbClr val="1C252B"/>
                </a:solidFill>
                <a:latin typeface="Segoe UI"/>
              </a:rPr>
              <a:t> Devices share groups, and the whole group must be assigned together. Passing one function of a multi-function card may drag its siblings — which might include a device the host needs.</a:t>
            </a:r>
          </a:p>
        </p:txBody>
      </p:sp>
      <p:sp>
        <p:nvSpPr>
          <p:cNvPr id="16" name="!!pb3">
            <a:extLst>
              <a:ext uri="{C183D7F6-B498-43B3-948B-1728B52AA6E4}">
                <adec:decorative xmlns:adec="http://schemas.microsoft.com/office/drawing/2017/decorative" val="1"/>
              </a:ext>
            </a:extLst>
          </p:cNvPr>
          <p:cNvSpPr/>
          <p:nvPr/>
        </p:nvSpPr>
        <p:spPr>
          <a:xfrm>
            <a:off x="658368" y="407212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094988"/>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405384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Expecting to migrate a guest with an assigned device.</a:t>
            </a:r>
            <a:r>
              <a:rPr sz="1700" b="0" i="0">
                <a:solidFill>
                  <a:srgbClr val="1C252B"/>
                </a:solidFill>
                <a:latin typeface="Segoe UI"/>
              </a:rPr>
              <a:t> Plan the exception before you build it, not when you first need to patch the host.</a:t>
            </a:r>
          </a:p>
        </p:txBody>
      </p:sp>
      <p:sp>
        <p:nvSpPr>
          <p:cNvPr id="19" name="!!pb4">
            <a:extLst>
              <a:ext uri="{C183D7F6-B498-43B3-948B-1728B52AA6E4}">
                <adec:decorative xmlns:adec="http://schemas.microsoft.com/office/drawing/2017/decorative" val="1"/>
              </a:ext>
            </a:extLst>
          </p:cNvPr>
          <p:cNvSpPr/>
          <p:nvPr/>
        </p:nvSpPr>
        <p:spPr>
          <a:xfrm>
            <a:off x="658368" y="481218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83504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793894"/>
            <a:ext cx="10271455" cy="808329"/>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Forgetting that SR-IOV traffic bypasses the host switch.</a:t>
            </a:r>
            <a:r>
              <a:rPr sz="1700" b="0" i="0">
                <a:solidFill>
                  <a:srgbClr val="1C252B"/>
                </a:solidFill>
                <a:latin typeface="Segoe UI"/>
              </a:rPr>
              <a:t> Packets between two VFs on the same card never reach the host, so host firewall rules, flow logging and traffic shaping do not see them. Chapter 13 and Chapter 19 both depend on this.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535245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56     </a:t>
            </a:r>
            <a:fld id="{5EDA5C1E-7892-4FC4-B565-0913FD126774}" type="slidenum">
              <a:rPr lang="en-GB" sz="1000">
                <a:solidFill>
                  <a:srgbClr val="8795A1"/>
                </a:solidFill>
                <a:latin typeface="Segoe UI"/>
              </a:rPr>
              <a:t>19</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Treating virtio as a Linux feature.</a:t>
            </a:r>
            <a:r>
              <a:rPr sz="1700" b="0" i="0">
                <a:solidFill>
                  <a:srgbClr val="1C252B"/>
                </a:solidFill>
                <a:latin typeface="Segoe UI"/>
              </a:rPr>
              <a:t> It is an open specification with signed Windows drivers (virtio-win) that are free and are what every cloud Windows image already uses.</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64980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The Same Card, Three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56     </a:t>
            </a:r>
            <a:fld id="{9F1B7EE6-2982-4491-A0A4-55744B204049}" type="slidenum">
              <a:rPr lang="en-GB" sz="1000">
                <a:solidFill>
                  <a:srgbClr val="8795A1"/>
                </a:solidFill>
                <a:latin typeface="Segoe UI"/>
              </a:rPr>
              <a:t>20</a:t>
            </a:fld>
          </a:p>
        </p:txBody>
      </p:sp>
      <p:sp>
        <p:nvSpPr>
          <p:cNvPr id="7" name="body-0"/>
          <p:cNvSpPr txBox="1"/>
          <p:nvPr/>
        </p:nvSpPr>
        <p:spPr>
          <a:xfrm>
            <a:off x="658368" y="1737360"/>
            <a:ext cx="10874959" cy="99669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Measures the throughput and the host CPU cost of an emulated NIC, a virtio NIC and virtio with vhost. SR-IOV is included as a read-only step because it needs a server NIC. Expect forty minutes.</a:t>
            </a:r>
          </a:p>
        </p:txBody>
      </p:sp>
      <p:sp>
        <p:nvSpPr>
          <p:cNvPr id="8" name="!!labsteps-h"/>
          <p:cNvSpPr txBox="1"/>
          <p:nvPr/>
        </p:nvSpPr>
        <p:spPr>
          <a:xfrm>
            <a:off x="658368" y="29992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9" name="!!labsteps"/>
          <p:cNvSpPr txBox="1"/>
          <p:nvPr/>
        </p:nvSpPr>
        <p:spPr>
          <a:xfrm>
            <a:off x="658368" y="3383280"/>
            <a:ext cx="10874959" cy="2171700"/>
          </a:xfrm>
          <a:prstGeom prst="rect">
            <a:avLst/>
          </a:prstGeom>
          <a:noFill/>
        </p:spPr>
        <p:txBody>
          <a:bodyPr wrap="square" anchor="t" lIns="0" rIns="0" tIns="0" bIns="0">
            <a:noAutofit/>
          </a:bodyPr>
          <a:lstStyle/>
          <a:p>
            <a:pPr algn="l" marL="367434" indent="-367434">
              <a:lnSpc>
                <a:spcPct val="100000"/>
              </a:lnSpc>
              <a:spcBef>
                <a:spcPts val="0"/>
              </a:spcBef>
              <a:spcAft>
                <a:spcPts val="420"/>
              </a:spcAft>
            </a:pPr>
            <a:r>
              <a:rPr sz="1400" b="1">
                <a:solidFill>
                  <a:srgbClr val="117A65"/>
                </a:solidFill>
                <a:latin typeface="Segoe UI"/>
              </a:rPr>
              <a:t>1.	</a:t>
            </a:r>
            <a:r>
              <a:rPr sz="1400" b="0" i="0">
                <a:solidFill>
                  <a:srgbClr val="1C252B"/>
                </a:solidFill>
                <a:latin typeface="Segoe UI"/>
              </a:rPr>
              <a:t>What device model is the guest using right now?</a:t>
            </a:r>
          </a:p>
          <a:p>
            <a:pPr algn="l" marL="367434" indent="-367434">
              <a:lnSpc>
                <a:spcPct val="100000"/>
              </a:lnSpc>
              <a:spcBef>
                <a:spcPts val="0"/>
              </a:spcBef>
              <a:spcAft>
                <a:spcPts val="420"/>
              </a:spcAft>
            </a:pPr>
            <a:r>
              <a:rPr sz="1400" b="1">
                <a:solidFill>
                  <a:srgbClr val="117A65"/>
                </a:solidFill>
                <a:latin typeface="Segoe UI"/>
              </a:rPr>
              <a:t>2.	</a:t>
            </a:r>
            <a:r>
              <a:rPr sz="1400" b="0" i="0">
                <a:solidFill>
                  <a:srgbClr val="1C252B"/>
                </a:solidFill>
                <a:latin typeface="Segoe UI"/>
              </a:rPr>
              <a:t>Set up the measurement: iperf3 on the host, client in guest.</a:t>
            </a:r>
          </a:p>
          <a:p>
            <a:pPr algn="l" marL="367434" indent="-367434">
              <a:lnSpc>
                <a:spcPct val="100000"/>
              </a:lnSpc>
              <a:spcBef>
                <a:spcPts val="0"/>
              </a:spcBef>
              <a:spcAft>
                <a:spcPts val="420"/>
              </a:spcAft>
            </a:pPr>
            <a:r>
              <a:rPr sz="1400" b="1">
                <a:solidFill>
                  <a:srgbClr val="117A65"/>
                </a:solidFill>
                <a:latin typeface="Segoe UI"/>
              </a:rPr>
              <a:t>3.	</a:t>
            </a:r>
            <a:r>
              <a:rPr sz="1400" b="0" i="0">
                <a:solidFill>
                  <a:srgbClr val="1C252B"/>
                </a:solidFill>
                <a:latin typeface="Segoe UI"/>
              </a:rPr>
              <a:t>Emulated e1000: a software imitation of a 1999 card.</a:t>
            </a:r>
          </a:p>
          <a:p>
            <a:pPr algn="l" marL="367434" indent="-367434">
              <a:lnSpc>
                <a:spcPct val="100000"/>
              </a:lnSpc>
              <a:spcBef>
                <a:spcPts val="0"/>
              </a:spcBef>
              <a:spcAft>
                <a:spcPts val="420"/>
              </a:spcAft>
            </a:pPr>
            <a:r>
              <a:rPr sz="1400" b="1">
                <a:solidFill>
                  <a:srgbClr val="117A65"/>
                </a:solidFill>
                <a:latin typeface="Segoe UI"/>
              </a:rPr>
              <a:t>4.	</a:t>
            </a:r>
            <a:r>
              <a:rPr sz="1400" b="0" i="0">
                <a:solidFill>
                  <a:srgbClr val="1C252B"/>
                </a:solidFill>
                <a:latin typeface="Segoe UI"/>
              </a:rPr>
              <a:t>Virtio: the split-driver model of section 7.2.</a:t>
            </a:r>
          </a:p>
          <a:p>
            <a:pPr algn="l" marL="367434" indent="-367434">
              <a:lnSpc>
                <a:spcPct val="100000"/>
              </a:lnSpc>
              <a:spcBef>
                <a:spcPts val="0"/>
              </a:spcBef>
              <a:spcAft>
                <a:spcPts val="420"/>
              </a:spcAft>
            </a:pPr>
            <a:r>
              <a:rPr sz="1400" b="1">
                <a:solidFill>
                  <a:srgbClr val="117A65"/>
                </a:solidFill>
                <a:latin typeface="Segoe UI"/>
              </a:rPr>
              <a:t>5.	</a:t>
            </a:r>
            <a:r>
              <a:rPr sz="1400" b="0" i="0">
                <a:solidFill>
                  <a:srgbClr val="1C252B"/>
                </a:solidFill>
                <a:latin typeface="Segoe UI"/>
              </a:rPr>
              <a:t>Virtio + vhost: back-end moved into the host kernel.</a:t>
            </a:r>
          </a:p>
          <a:p>
            <a:pPr algn="l" marL="367434" indent="-367434">
              <a:lnSpc>
                <a:spcPct val="100000"/>
              </a:lnSpc>
              <a:spcBef>
                <a:spcPts val="0"/>
              </a:spcBef>
              <a:spcAft>
                <a:spcPts val="420"/>
              </a:spcAft>
            </a:pPr>
            <a:r>
              <a:rPr sz="1400" b="1">
                <a:solidFill>
                  <a:srgbClr val="117A65"/>
                </a:solidFill>
                <a:latin typeface="Segoe UI"/>
              </a:rPr>
              <a:t>6.	</a:t>
            </a:r>
            <a:r>
              <a:rPr sz="1400" b="0" i="0">
                <a:solidFill>
                  <a:srgbClr val="1C252B"/>
                </a:solidFill>
                <a:latin typeface="Segoe UI"/>
              </a:rPr>
              <a:t>Look at the virtqueues themselves.</a:t>
            </a:r>
          </a:p>
          <a:p>
            <a:pPr algn="l" marL="367434" indent="-367434">
              <a:lnSpc>
                <a:spcPct val="100000"/>
              </a:lnSpc>
              <a:spcBef>
                <a:spcPts val="0"/>
              </a:spcBef>
              <a:spcAft>
                <a:spcPts val="420"/>
              </a:spcAft>
            </a:pPr>
            <a:r>
              <a:rPr sz="1400" b="1">
                <a:solidFill>
                  <a:srgbClr val="117A65"/>
                </a:solidFill>
                <a:latin typeface="Segoe UI"/>
              </a:rPr>
              <a:t>7.	</a:t>
            </a:r>
            <a:r>
              <a:rPr sz="1400" b="0" i="0">
                <a:solidFill>
                  <a:srgbClr val="1C252B"/>
                </a:solidFill>
                <a:latin typeface="Segoe UI"/>
              </a:rPr>
              <a:t>SR-IOV, if the host has a server NIC that supports it.</a:t>
            </a:r>
          </a:p>
          <a:p>
            <a:pPr algn="l" marL="367434" indent="-367434">
              <a:lnSpc>
                <a:spcPct val="100000"/>
              </a:lnSpc>
              <a:spcBef>
                <a:spcPts val="0"/>
              </a:spcBef>
              <a:spcAft>
                <a:spcPts val="0"/>
              </a:spcAft>
            </a:pPr>
            <a:r>
              <a:rPr sz="1400" b="1">
                <a:solidFill>
                  <a:srgbClr val="117A65"/>
                </a:solidFill>
                <a:latin typeface="Segoe UI"/>
              </a:rPr>
              <a:t>8.	</a:t>
            </a:r>
            <a:r>
              <a:rPr sz="1400" b="0" i="0">
                <a:solidFill>
                  <a:srgbClr val="1C252B"/>
                </a:solidFill>
                <a:latin typeface="Segoe UI"/>
              </a:rPr>
              <a:t>Restore and tear down.</a:t>
            </a:r>
          </a:p>
        </p:txBody>
      </p:sp>
      <p:sp>
        <p:nvSpPr>
          <p:cNvPr id="44" name="!!lfTHIS">
            <a:extLst>
              <a:ext uri="{C183D7F6-B498-43B3-948B-1728B52AA6E4}">
                <adec:decorative xmlns:adec="http://schemas.microsoft.com/office/drawing/2017/decorative" val="1"/>
              </a:ext>
            </a:extLst>
          </p:cNvPr>
          <p:cNvSpPr/>
          <p:nvPr/>
        </p:nvSpPr>
        <p:spPr>
          <a:xfrm>
            <a:off x="658368"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lfbTHIS">
            <a:extLst>
              <a:ext uri="{C183D7F6-B498-43B3-948B-1728B52AA6E4}">
                <adec:decorative xmlns:adec="http://schemas.microsoft.com/office/drawing/2017/decorative" val="1"/>
              </a:ext>
            </a:extLst>
          </p:cNvPr>
          <p:cNvSpPr/>
          <p:nvPr/>
        </p:nvSpPr>
        <p:spPr>
          <a:xfrm>
            <a:off x="658368"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lflTHIS"/>
          <p:cNvSpPr txBox="1"/>
          <p:nvPr/>
        </p:nvSpPr>
        <p:spPr>
          <a:xfrm>
            <a:off x="932688"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47" name="!!lfvTHIS"/>
          <p:cNvSpPr txBox="1"/>
          <p:nvPr/>
        </p:nvSpPr>
        <p:spPr>
          <a:xfrm>
            <a:off x="932688"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6: Emulated, virtio and vhost, measured</a:t>
            </a:r>
          </a:p>
        </p:txBody>
      </p:sp>
      <p:sp>
        <p:nvSpPr>
          <p:cNvPr id="48" name="!!lfWHAT">
            <a:extLst>
              <a:ext uri="{C183D7F6-B498-43B3-948B-1728B52AA6E4}">
                <adec:decorative xmlns:adec="http://schemas.microsoft.com/office/drawing/2017/decorative" val="1"/>
              </a:ext>
            </a:extLst>
          </p:cNvPr>
          <p:cNvSpPr/>
          <p:nvPr/>
        </p:nvSpPr>
        <p:spPr>
          <a:xfrm>
            <a:off x="6233007" y="5230368"/>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9" name="!!lfbWHAT">
            <a:extLst>
              <a:ext uri="{C183D7F6-B498-43B3-948B-1728B52AA6E4}">
                <adec:decorative xmlns:adec="http://schemas.microsoft.com/office/drawing/2017/decorative" val="1"/>
              </a:ext>
            </a:extLst>
          </p:cNvPr>
          <p:cNvSpPr/>
          <p:nvPr/>
        </p:nvSpPr>
        <p:spPr>
          <a:xfrm>
            <a:off x="6233007" y="5230368"/>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lflWHAT"/>
          <p:cNvSpPr txBox="1"/>
          <p:nvPr/>
        </p:nvSpPr>
        <p:spPr>
          <a:xfrm>
            <a:off x="6507327" y="5394960"/>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51" name="!!lfvWHAT"/>
          <p:cNvSpPr txBox="1"/>
          <p:nvPr/>
        </p:nvSpPr>
        <p:spPr>
          <a:xfrm>
            <a:off x="6507327" y="5687568"/>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59 lines of Shell</a:t>
            </a:r>
          </a:p>
        </p:txBody>
      </p:sp>
      <p:sp>
        <p:nvSpPr>
          <p:cNvPr id="5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3" name="!!pfill">
            <a:extLst>
              <a:ext uri="{C183D7F6-B498-43B3-948B-1728B52AA6E4}">
                <adec:decorative xmlns:adec="http://schemas.microsoft.com/office/drawing/2017/decorative" val="1"/>
              </a:ext>
            </a:extLst>
          </p:cNvPr>
          <p:cNvSpPr/>
          <p:nvPr/>
        </p:nvSpPr>
        <p:spPr>
          <a:xfrm>
            <a:off x="0" y="0"/>
            <a:ext cx="594716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0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0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0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0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00"/>
                                        <p:tgtEl>
                                          <p:spTgt spid="9">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xEl>
                                              <p:pRg st="5" end="5"/>
                                            </p:txEl>
                                          </p:spTgt>
                                        </p:tgtEl>
                                        <p:attrNameLst>
                                          <p:attrName>style.visibility</p:attrName>
                                        </p:attrNameLst>
                                      </p:cBhvr>
                                      <p:to>
                                        <p:strVal val="visible"/>
                                      </p:to>
                                    </p:set>
                                    <p:animEffect transition="in" filter="fade">
                                      <p:cBhvr>
                                        <p:cTn id="33" dur="300"/>
                                        <p:tgtEl>
                                          <p:spTgt spid="9">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9">
                                            <p:txEl>
                                              <p:pRg st="6" end="6"/>
                                            </p:txEl>
                                          </p:spTgt>
                                        </p:tgtEl>
                                        <p:attrNameLst>
                                          <p:attrName>style.visibility</p:attrName>
                                        </p:attrNameLst>
                                      </p:cBhvr>
                                      <p:to>
                                        <p:strVal val="visible"/>
                                      </p:to>
                                    </p:set>
                                    <p:animEffect transition="in" filter="fade">
                                      <p:cBhvr>
                                        <p:cTn id="38" dur="300"/>
                                        <p:tgtEl>
                                          <p:spTgt spid="9">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animEffect transition="in" filter="fade">
                                      <p:cBhvr>
                                        <p:cTn id="43" dur="3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Same Card, Three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56     </a:t>
            </a:r>
            <a:fld id="{6B39AAE3-6169-449D-BB66-683BB676279D}" type="slidenum">
              <a:rPr lang="en-GB" sz="1000">
                <a:solidFill>
                  <a:srgbClr val="8795A1"/>
                </a:solidFill>
                <a:latin typeface="Segoe UI"/>
              </a:rPr>
              <a:t>21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30424"/>
          </a:xfrm>
          <a:prstGeom prst="roundRect">
            <a:avLst>
              <a:gd name="adj" fmla="val 34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usr/bin/env bash # ch07_devices.sh -- emulation, virtio and vhost, measured. set -euo pipefail ip_of () { sudo virsh domifaddr &quot;$1&quot; | awk '/ipv4/{split($4,a,&quot;/&quot;); print a[1]}' } G () { ssh -o StrictHostKeyChecking=no &quot;ubuntu@$(ip_of vss1)&quot; &quot;$1&quot;; }"/>
          <p:cNvSpPr txBox="1"/>
          <p:nvPr/>
        </p:nvSpPr>
        <p:spPr>
          <a:xfrm>
            <a:off x="1362456" y="2523744"/>
            <a:ext cx="9987991" cy="213664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#!/usr/bin/env bash</a:t>
            </a:r>
          </a:p>
          <a:p>
            <a:pPr>
              <a:lnSpc>
                <a:spcPct val="100000"/>
              </a:lnSpc>
              <a:spcAft>
                <a:spcPts val="0"/>
              </a:spcAft>
            </a:pPr>
            <a:r>
              <a:rPr sz="1900" i="1">
                <a:solidFill>
                  <a:srgbClr val="8795A1"/>
                </a:solidFill>
                <a:latin typeface="Consolas"/>
              </a:rPr>
              <a:t># ch07_devices.sh -- emulation, virtio and vhost, measured.</a:t>
            </a:r>
          </a:p>
          <a:p>
            <a:pPr>
              <a:lnSpc>
                <a:spcPct val="100000"/>
              </a:lnSpc>
              <a:spcAft>
                <a:spcPts val="0"/>
              </a:spcAft>
            </a:pPr>
            <a:r>
              <a:rPr sz="1900" i="0">
                <a:solidFill>
                  <a:srgbClr val="C39BD3"/>
                </a:solidFill>
                <a:latin typeface="Consolas"/>
              </a:rPr>
              <a:t>set</a:t>
            </a:r>
            <a:r>
              <a:rPr sz="1900" i="0">
                <a:solidFill>
                  <a:srgbClr val="E8EDF2"/>
                </a:solidFill>
                <a:latin typeface="Consolas"/>
              </a:rPr>
              <a:t> </a:t>
            </a:r>
            <a:r>
              <a:rPr sz="1900" i="0">
                <a:solidFill>
                  <a:srgbClr val="E8EDF2"/>
                </a:solidFill>
                <a:latin typeface="Consolas"/>
              </a:rPr>
              <a:t>-euo</a:t>
            </a:r>
            <a:r>
              <a:rPr sz="1900" i="0">
                <a:solidFill>
                  <a:srgbClr val="E8EDF2"/>
                </a:solidFill>
                <a:latin typeface="Consolas"/>
              </a:rPr>
              <a:t> </a:t>
            </a:r>
            <a:r>
              <a:rPr sz="1900" i="0">
                <a:solidFill>
                  <a:srgbClr val="E8EDF2"/>
                </a:solidFill>
                <a:latin typeface="Consolas"/>
              </a:rPr>
              <a:t>pipefail</a:t>
            </a:r>
          </a:p>
          <a:p>
            <a:pPr>
              <a:lnSpc>
                <a:spcPct val="100000"/>
              </a:lnSpc>
              <a:spcAft>
                <a:spcPts val="0"/>
              </a:spcAft>
            </a:pPr>
            <a:r>
              <a:rPr sz="1900" i="0">
                <a:solidFill>
                  <a:srgbClr val="E8EDF2"/>
                </a:solidFill>
                <a:latin typeface="Consolas"/>
              </a:rPr>
              <a:t>ip_of</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a:p>
            <a:pPr>
              <a:lnSpc>
                <a:spcPct val="100000"/>
              </a:lnSpc>
              <a:spcAft>
                <a:spcPts val="0"/>
              </a:spcAft>
            </a:pPr>
            <a:r>
              <a:rPr sz="1900" i="0">
                <a:solidFill>
                  <a:srgbClr val="E8EDF2"/>
                </a:solidFill>
                <a:latin typeface="Consolas"/>
              </a:rPr>
              <a:t>  </a:t>
            </a: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domifaddr</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$1</a:t>
            </a:r>
            <a:r>
              <a:rPr sz="1900" i="0">
                <a:solidFill>
                  <a:srgbClr val="7DCEA0"/>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awk</a:t>
            </a:r>
            <a:r>
              <a:rPr sz="1900" i="0">
                <a:solidFill>
                  <a:srgbClr val="E8EDF2"/>
                </a:solidFill>
                <a:latin typeface="Consolas"/>
              </a:rPr>
              <a:t> </a:t>
            </a:r>
            <a:r>
              <a:rPr sz="1900" i="0">
                <a:solidFill>
                  <a:srgbClr val="7DCEA0"/>
                </a:solidFill>
                <a:latin typeface="Consolas"/>
              </a:rPr>
              <a:t>'/ipv4/{split($4,a,"/"); print a[1]}'</a:t>
            </a:r>
          </a:p>
          <a:p>
            <a:pPr>
              <a:lnSpc>
                <a:spcPct val="100000"/>
              </a:lnSpc>
              <a:spcAft>
                <a:spcPts val="0"/>
              </a:spcAft>
            </a:pPr>
            <a:r>
              <a:rPr sz="1900" i="0">
                <a:solidFill>
                  <a:srgbClr val="AEB6BF"/>
                </a:solidFill>
                <a:latin typeface="Consolas"/>
              </a:rPr>
              <a:t>}</a:t>
            </a:r>
          </a:p>
          <a:p>
            <a:pPr>
              <a:lnSpc>
                <a:spcPct val="100000"/>
              </a:lnSpc>
              <a:spcAft>
                <a:spcPts val="0"/>
              </a:spcAft>
            </a:pPr>
            <a:r>
              <a:rPr sz="1900" i="0">
                <a:solidFill>
                  <a:srgbClr val="E8EDF2"/>
                </a:solidFill>
                <a:latin typeface="Consolas"/>
              </a:rPr>
              <a:t>G</a:t>
            </a:r>
            <a:r>
              <a:rPr sz="1900" i="0">
                <a:solidFill>
                  <a:srgbClr val="E8EDF2"/>
                </a:solidFill>
                <a:latin typeface="Consolas"/>
              </a:rPr>
              <a:t> </a:t>
            </a:r>
            <a:r>
              <a:rPr sz="1900" i="0">
                <a:solidFill>
                  <a:srgbClr val="AEB6BF"/>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ssh</a:t>
            </a:r>
            <a:r>
              <a:rPr sz="1900" i="0">
                <a:solidFill>
                  <a:srgbClr val="E8EDF2"/>
                </a:solidFill>
                <a:latin typeface="Consolas"/>
              </a:rPr>
              <a:t> </a:t>
            </a:r>
            <a:r>
              <a:rPr sz="1900" i="0">
                <a:solidFill>
                  <a:srgbClr val="E8EDF2"/>
                </a:solidFill>
                <a:latin typeface="Consolas"/>
              </a:rPr>
              <a:t>-o</a:t>
            </a:r>
            <a:r>
              <a:rPr sz="1900" i="0">
                <a:solidFill>
                  <a:srgbClr val="E8EDF2"/>
                </a:solidFill>
                <a:latin typeface="Consolas"/>
              </a:rPr>
              <a:t> </a:t>
            </a:r>
            <a:r>
              <a:rPr sz="1900" i="0">
                <a:solidFill>
                  <a:srgbClr val="E8EDF2"/>
                </a:solidFill>
                <a:latin typeface="Consolas"/>
              </a:rPr>
              <a:t>StrictHostKeyChecking</a:t>
            </a:r>
            <a:r>
              <a:rPr sz="1900" i="0">
                <a:solidFill>
                  <a:srgbClr val="AEB6BF"/>
                </a:solidFill>
                <a:latin typeface="Consolas"/>
              </a:rPr>
              <a:t>=</a:t>
            </a:r>
            <a:r>
              <a:rPr sz="1900" i="0">
                <a:solidFill>
                  <a:srgbClr val="E8EDF2"/>
                </a:solidFill>
                <a:latin typeface="Consolas"/>
              </a:rPr>
              <a:t>no</a:t>
            </a:r>
            <a:r>
              <a:rPr sz="1900" i="0">
                <a:solidFill>
                  <a:srgbClr val="E8EDF2"/>
                </a:solidFill>
                <a:latin typeface="Consolas"/>
              </a:rPr>
              <a:t> </a:t>
            </a:r>
            <a:r>
              <a:rPr sz="1900" i="0">
                <a:solidFill>
                  <a:srgbClr val="7DCEA0"/>
                </a:solidFill>
                <a:latin typeface="Consolas"/>
              </a:rPr>
              <a:t>"</a:t>
            </a:r>
            <a:r>
              <a:rPr sz="1900" i="0">
                <a:solidFill>
                  <a:srgbClr val="7DCEA0"/>
                </a:solidFill>
                <a:latin typeface="Consolas"/>
              </a:rPr>
              <a:t>ubuntu@</a:t>
            </a:r>
            <a:r>
              <a:rPr sz="1900" i="0">
                <a:solidFill>
                  <a:srgbClr val="5DADE2"/>
                </a:solidFill>
                <a:latin typeface="Consolas"/>
              </a:rPr>
              <a:t>$(</a:t>
            </a:r>
            <a:r>
              <a:rPr sz="1900" i="0">
                <a:solidFill>
                  <a:srgbClr val="E8EDF2"/>
                </a:solidFill>
                <a:latin typeface="Consolas"/>
              </a:rPr>
              <a:t>ip_of</a:t>
            </a:r>
            <a:r>
              <a:rPr sz="1900" i="0">
                <a:solidFill>
                  <a:srgbClr val="E8EDF2"/>
                </a:solidFill>
                <a:latin typeface="Consolas"/>
              </a:rPr>
              <a:t> </a:t>
            </a:r>
            <a:r>
              <a:rPr sz="1900" i="0">
                <a:solidFill>
                  <a:srgbClr val="E8EDF2"/>
                </a:solidFill>
                <a:latin typeface="Consolas"/>
              </a:rPr>
              <a:t>vss1</a:t>
            </a:r>
            <a:r>
              <a:rPr sz="1900" i="0">
                <a:solidFill>
                  <a:srgbClr val="5DADE2"/>
                </a:solidFill>
                <a:latin typeface="Consolas"/>
              </a:rPr>
              <a:t>)</a:t>
            </a:r>
            <a:r>
              <a:rPr sz="1900" i="0">
                <a:solidFill>
                  <a:srgbClr val="7DCEA0"/>
                </a:solidFill>
                <a:latin typeface="Consolas"/>
              </a:rPr>
              <a:t>"</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$1</a:t>
            </a:r>
            <a:r>
              <a:rPr sz="1900" i="0">
                <a:solidFill>
                  <a:srgbClr val="7DCEA0"/>
                </a:solidFill>
                <a:latin typeface="Consolas"/>
              </a:rPr>
              <a:t>"</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t>
            </a:r>
          </a:p>
        </p:txBody>
      </p:sp>
      <p:sp>
        <p:nvSpPr>
          <p:cNvPr id="15" name="!!code-num"/>
          <p:cNvSpPr txBox="1"/>
          <p:nvPr/>
        </p:nvSpPr>
        <p:spPr>
          <a:xfrm>
            <a:off x="768096" y="2523744"/>
            <a:ext cx="393192" cy="213664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a:t>
            </a:r>
          </a:p>
          <a:p>
            <a:pPr algn="r">
              <a:lnSpc>
                <a:spcPct val="100000"/>
              </a:lnSpc>
            </a:pPr>
            <a:r>
              <a:rPr sz="1900">
                <a:solidFill>
                  <a:srgbClr val="4F5D6A"/>
                </a:solidFill>
                <a:latin typeface="Consolas"/>
              </a:rPr>
              <a:t>2</a:t>
            </a:r>
          </a:p>
          <a:p>
            <a:pPr algn="r">
              <a:lnSpc>
                <a:spcPct val="100000"/>
              </a:lnSpc>
            </a:pPr>
            <a:r>
              <a:rPr sz="1900">
                <a:solidFill>
                  <a:srgbClr val="4F5D6A"/>
                </a:solidFill>
                <a:latin typeface="Consolas"/>
              </a:rPr>
              <a:t>3</a:t>
            </a:r>
          </a:p>
          <a:p>
            <a:pPr algn="r">
              <a:lnSpc>
                <a:spcPct val="100000"/>
              </a:lnSpc>
            </a:pPr>
            <a:r>
              <a:rPr sz="1900">
                <a:solidFill>
                  <a:srgbClr val="4F5D6A"/>
                </a:solidFill>
                <a:latin typeface="Consolas"/>
              </a:rPr>
              <a:t>4</a:t>
            </a:r>
          </a:p>
          <a:p>
            <a:pPr algn="r">
              <a:lnSpc>
                <a:spcPct val="100000"/>
              </a:lnSpc>
            </a:pPr>
            <a:r>
              <a:rPr sz="1900">
                <a:solidFill>
                  <a:srgbClr val="4F5D6A"/>
                </a:solidFill>
                <a:latin typeface="Consolas"/>
              </a:rPr>
              <a:t>5</a:t>
            </a:r>
          </a:p>
          <a:p>
            <a:pPr algn="r">
              <a:lnSpc>
                <a:spcPct val="100000"/>
              </a:lnSpc>
            </a:pPr>
            <a:r>
              <a:rPr sz="1900">
                <a:solidFill>
                  <a:srgbClr val="4F5D6A"/>
                </a:solidFill>
                <a:latin typeface="Consolas"/>
              </a:rPr>
              <a:t>6</a:t>
            </a:r>
          </a:p>
          <a:p>
            <a:pPr algn="r">
              <a:lnSpc>
                <a:spcPct val="100000"/>
              </a:lnSpc>
            </a:pPr>
            <a:r>
              <a:rPr sz="1900">
                <a:solidFill>
                  <a:srgbClr val="4F5D6A"/>
                </a:solidFill>
                <a:latin typeface="Consolas"/>
              </a:rPr>
              <a:t>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24452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Same Card, Three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56     </a:t>
            </a:r>
            <a:fld id="{75DD3776-8864-405E-966C-EED035F853ED}" type="slidenum">
              <a:rPr lang="en-GB" sz="1000">
                <a:solidFill>
                  <a:srgbClr val="8795A1"/>
                </a:solidFill>
                <a:latin typeface="Segoe UI"/>
              </a:rPr>
              <a:t>22</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What device model is the guest using right now?</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26463"/>
          </a:xfrm>
          <a:prstGeom prst="roundRect">
            <a:avLst>
              <a:gd name="adj" fmla="val 641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1. What device model is the guest using right now? ---------------- sudo virsh dumpxml vss1 | sed -n '/&lt;interface/,/&lt;\/interface&gt;/p' # &lt;model type='virtio'/&gt; or type='e1000'. This single line is the chapter."/>
          <p:cNvSpPr txBox="1"/>
          <p:nvPr/>
        </p:nvSpPr>
        <p:spPr>
          <a:xfrm>
            <a:off x="1362456" y="2523744"/>
            <a:ext cx="9987991" cy="9326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--- 1. What device model is the guest using right now? ----------------</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dumpxml</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sed</a:t>
            </a:r>
            <a:r>
              <a:rPr sz="1800" i="0">
                <a:solidFill>
                  <a:srgbClr val="E8EDF2"/>
                </a:solidFill>
                <a:latin typeface="Consolas"/>
              </a:rPr>
              <a:t> </a:t>
            </a:r>
            <a:r>
              <a:rPr sz="1800" i="0">
                <a:solidFill>
                  <a:srgbClr val="E8EDF2"/>
                </a:solidFill>
                <a:latin typeface="Consolas"/>
              </a:rPr>
              <a:t>-n</a:t>
            </a:r>
            <a:r>
              <a:rPr sz="1800" i="0">
                <a:solidFill>
                  <a:srgbClr val="E8EDF2"/>
                </a:solidFill>
                <a:latin typeface="Consolas"/>
              </a:rPr>
              <a:t> </a:t>
            </a:r>
            <a:r>
              <a:rPr sz="1800" i="0">
                <a:solidFill>
                  <a:srgbClr val="7DCEA0"/>
                </a:solidFill>
                <a:latin typeface="Consolas"/>
              </a:rPr>
              <a:t>'/&lt;interface/,/&lt;\/interface&gt;/p'</a:t>
            </a:r>
          </a:p>
          <a:p>
            <a:pPr>
              <a:lnSpc>
                <a:spcPct val="100000"/>
              </a:lnSpc>
              <a:spcAft>
                <a:spcPts val="0"/>
              </a:spcAft>
            </a:pPr>
            <a:r>
              <a:rPr sz="1800" i="1">
                <a:solidFill>
                  <a:srgbClr val="8795A1"/>
                </a:solidFill>
                <a:latin typeface="Consolas"/>
              </a:rPr>
              <a:t># &lt;model type='virtio'/&gt; or type='e1000'. This single line is the chapter.</a:t>
            </a:r>
          </a:p>
        </p:txBody>
      </p:sp>
      <p:sp>
        <p:nvSpPr>
          <p:cNvPr id="15" name="!!code-num"/>
          <p:cNvSpPr txBox="1"/>
          <p:nvPr/>
        </p:nvSpPr>
        <p:spPr>
          <a:xfrm>
            <a:off x="768096" y="2523744"/>
            <a:ext cx="393192" cy="9326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9</a:t>
            </a:r>
          </a:p>
          <a:p>
            <a:pPr algn="r">
              <a:lnSpc>
                <a:spcPct val="100000"/>
              </a:lnSpc>
            </a:pPr>
            <a:r>
              <a:rPr sz="1800">
                <a:solidFill>
                  <a:srgbClr val="4F5D6A"/>
                </a:solidFill>
                <a:latin typeface="Consolas"/>
              </a:rPr>
              <a:t>10</a:t>
            </a:r>
          </a:p>
          <a:p>
            <a:pPr algn="r">
              <a:lnSpc>
                <a:spcPct val="100000"/>
              </a:lnSpc>
            </a:pPr>
            <a:r>
              <a:rPr sz="1800">
                <a:solidFill>
                  <a:srgbClr val="4F5D6A"/>
                </a:solidFill>
                <a:latin typeface="Consolas"/>
              </a:rPr>
              <a:t>11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54188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Same Card, Three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56     </a:t>
            </a:r>
            <a:fld id="{8E9D684F-86A4-40A5-8ACB-BA7B96781EE5}" type="slidenum">
              <a:rPr lang="en-GB" sz="1000">
                <a:solidFill>
                  <a:srgbClr val="8795A1"/>
                </a:solidFill>
                <a:latin typeface="Segoe UI"/>
              </a:rPr>
              <a:t>23</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 up the measurement: iperf3 on the host, client in guest.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975104"/>
          </a:xfrm>
          <a:prstGeom prst="roundRect">
            <a:avLst>
              <a:gd name="adj" fmla="val 462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2. Set up the measurement: iperf3 on the host, client in guest. --- sudo apt-get install -y iperf3 sysstat iperf3 -s -D # server on the host, port 5201 sudo virsh start vss1 || true ; sleep 25 G &quot;sudo apt-get -qq install -y iperf3&quot;"/>
          <p:cNvSpPr txBox="1"/>
          <p:nvPr/>
        </p:nvSpPr>
        <p:spPr>
          <a:xfrm>
            <a:off x="1362456" y="2523744"/>
            <a:ext cx="9987991" cy="1481328"/>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--- 2. Set up the measurement: iperf3 on the host, client in guest. ---</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apt-get</a:t>
            </a:r>
            <a:r>
              <a:rPr sz="1800" i="0">
                <a:solidFill>
                  <a:srgbClr val="E8EDF2"/>
                </a:solidFill>
                <a:latin typeface="Consolas"/>
              </a:rPr>
              <a:t> </a:t>
            </a:r>
            <a:r>
              <a:rPr sz="1800" i="0">
                <a:solidFill>
                  <a:srgbClr val="E8EDF2"/>
                </a:solidFill>
                <a:latin typeface="Consolas"/>
              </a:rPr>
              <a:t>install</a:t>
            </a:r>
            <a:r>
              <a:rPr sz="1800" i="0">
                <a:solidFill>
                  <a:srgbClr val="E8EDF2"/>
                </a:solidFill>
                <a:latin typeface="Consolas"/>
              </a:rPr>
              <a:t> </a:t>
            </a:r>
            <a:r>
              <a:rPr sz="1800" i="0">
                <a:solidFill>
                  <a:srgbClr val="E8EDF2"/>
                </a:solidFill>
                <a:latin typeface="Consolas"/>
              </a:rPr>
              <a:t>-y</a:t>
            </a:r>
            <a:r>
              <a:rPr sz="1800" i="0">
                <a:solidFill>
                  <a:srgbClr val="E8EDF2"/>
                </a:solidFill>
                <a:latin typeface="Consolas"/>
              </a:rPr>
              <a:t> </a:t>
            </a:r>
            <a:r>
              <a:rPr sz="1800" i="0">
                <a:solidFill>
                  <a:srgbClr val="E8EDF2"/>
                </a:solidFill>
                <a:latin typeface="Consolas"/>
              </a:rPr>
              <a:t>iperf3</a:t>
            </a:r>
            <a:r>
              <a:rPr sz="1800" i="0">
                <a:solidFill>
                  <a:srgbClr val="E8EDF2"/>
                </a:solidFill>
                <a:latin typeface="Consolas"/>
              </a:rPr>
              <a:t> </a:t>
            </a:r>
            <a:r>
              <a:rPr sz="1800" i="0">
                <a:solidFill>
                  <a:srgbClr val="E8EDF2"/>
                </a:solidFill>
                <a:latin typeface="Consolas"/>
              </a:rPr>
              <a:t>sysstat</a:t>
            </a:r>
          </a:p>
          <a:p>
            <a:pPr>
              <a:lnSpc>
                <a:spcPct val="100000"/>
              </a:lnSpc>
              <a:spcAft>
                <a:spcPts val="0"/>
              </a:spcAft>
            </a:pPr>
            <a:r>
              <a:rPr sz="1800" i="0">
                <a:solidFill>
                  <a:srgbClr val="E8EDF2"/>
                </a:solidFill>
                <a:latin typeface="Consolas"/>
              </a:rPr>
              <a:t>iperf3</a:t>
            </a:r>
            <a:r>
              <a:rPr sz="1800" i="0">
                <a:solidFill>
                  <a:srgbClr val="E8EDF2"/>
                </a:solidFill>
                <a:latin typeface="Consolas"/>
              </a:rPr>
              <a:t> </a:t>
            </a:r>
            <a:r>
              <a:rPr sz="1800" i="0">
                <a:solidFill>
                  <a:srgbClr val="E8EDF2"/>
                </a:solidFill>
                <a:latin typeface="Consolas"/>
              </a:rPr>
              <a:t>-s</a:t>
            </a:r>
            <a:r>
              <a:rPr sz="1800" i="0">
                <a:solidFill>
                  <a:srgbClr val="E8EDF2"/>
                </a:solidFill>
                <a:latin typeface="Consolas"/>
              </a:rPr>
              <a:t> </a:t>
            </a:r>
            <a:r>
              <a:rPr sz="1800" i="0">
                <a:solidFill>
                  <a:srgbClr val="E8EDF2"/>
                </a:solidFill>
                <a:latin typeface="Consolas"/>
              </a:rPr>
              <a:t>-D</a:t>
            </a:r>
            <a:r>
              <a:rPr sz="1800" i="0">
                <a:solidFill>
                  <a:srgbClr val="E8EDF2"/>
                </a:solidFill>
                <a:latin typeface="Consolas"/>
              </a:rPr>
              <a:t>                       </a:t>
            </a:r>
            <a:r>
              <a:rPr sz="1800" i="1">
                <a:solidFill>
                  <a:srgbClr val="8795A1"/>
                </a:solidFill>
                <a:latin typeface="Consolas"/>
              </a:rPr>
              <a:t># server on the host, port 5201</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start</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C39BD3"/>
                </a:solidFill>
                <a:latin typeface="Consolas"/>
              </a:rPr>
              <a:t>true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25</a:t>
            </a:r>
          </a:p>
          <a:p>
            <a:pPr>
              <a:lnSpc>
                <a:spcPct val="100000"/>
              </a:lnSpc>
              <a:spcAft>
                <a:spcPts val="0"/>
              </a:spcAft>
            </a:pPr>
            <a:r>
              <a:rPr sz="1800" i="0">
                <a:solidFill>
                  <a:srgbClr val="E8EDF2"/>
                </a:solidFill>
                <a:latin typeface="Consolas"/>
              </a:rPr>
              <a:t>G</a:t>
            </a:r>
            <a:r>
              <a:rPr sz="1800" i="0">
                <a:solidFill>
                  <a:srgbClr val="E8EDF2"/>
                </a:solidFill>
                <a:latin typeface="Consolas"/>
              </a:rPr>
              <a:t> </a:t>
            </a:r>
            <a:r>
              <a:rPr sz="1800" i="0">
                <a:solidFill>
                  <a:srgbClr val="7DCEA0"/>
                </a:solidFill>
                <a:latin typeface="Consolas"/>
              </a:rPr>
              <a:t>"sudo apt-get -qq install -y iperf3"</a:t>
            </a:r>
          </a:p>
        </p:txBody>
      </p:sp>
      <p:sp>
        <p:nvSpPr>
          <p:cNvPr id="15" name="!!code-num"/>
          <p:cNvSpPr txBox="1"/>
          <p:nvPr/>
        </p:nvSpPr>
        <p:spPr>
          <a:xfrm>
            <a:off x="768096" y="2523744"/>
            <a:ext cx="393192" cy="1481328"/>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13</a:t>
            </a:r>
          </a:p>
          <a:p>
            <a:pPr algn="r">
              <a:lnSpc>
                <a:spcPct val="100000"/>
              </a:lnSpc>
            </a:pPr>
            <a:r>
              <a:rPr sz="1800">
                <a:solidFill>
                  <a:srgbClr val="4F5D6A"/>
                </a:solidFill>
                <a:latin typeface="Consolas"/>
              </a:rPr>
              <a:t>14</a:t>
            </a:r>
          </a:p>
          <a:p>
            <a:pPr algn="r">
              <a:lnSpc>
                <a:spcPct val="100000"/>
              </a:lnSpc>
            </a:pPr>
            <a:r>
              <a:rPr sz="1800">
                <a:solidFill>
                  <a:srgbClr val="4F5D6A"/>
                </a:solidFill>
                <a:latin typeface="Consolas"/>
              </a:rPr>
              <a:t>15</a:t>
            </a:r>
          </a:p>
          <a:p>
            <a:pPr algn="r">
              <a:lnSpc>
                <a:spcPct val="100000"/>
              </a:lnSpc>
            </a:pPr>
            <a:r>
              <a:rPr sz="1800">
                <a:solidFill>
                  <a:srgbClr val="4F5D6A"/>
                </a:solidFill>
                <a:latin typeface="Consolas"/>
              </a:rPr>
              <a:t>16</a:t>
            </a:r>
          </a:p>
          <a:p>
            <a:pPr algn="r">
              <a:lnSpc>
                <a:spcPct val="100000"/>
              </a:lnSpc>
            </a:pPr>
            <a:r>
              <a:rPr sz="1800">
                <a:solidFill>
                  <a:srgbClr val="4F5D6A"/>
                </a:solidFill>
                <a:latin typeface="Consolas"/>
              </a:rPr>
              <a:t>17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683924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Same Card, Three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56     </a:t>
            </a:r>
            <a:fld id="{AC545408-3C8A-4F54-BD35-6486B6A0C01C}" type="slidenum">
              <a:rPr lang="en-GB" sz="1000">
                <a:solidFill>
                  <a:srgbClr val="8795A1"/>
                </a:solidFill>
                <a:latin typeface="Segoe UI"/>
              </a:rPr>
              <a:t>24</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Emulated e1000: a software imitation of a 1999 card.</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30424"/>
          </a:xfrm>
          <a:prstGeom prst="roundRect">
            <a:avLst>
              <a:gd name="adj" fmla="val 34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3. Emulated e1000: a software imitation of a 1999 card. ---------- sudo virsh destroy vss1 sudo virt-xml vss1 --edit --network model=e1000 sudo virsh start vss1 ; sleep 25 mpstat 1 12 &gt; host-e1000.txt &amp; # host CPU while the test runs G &quot;iperf3 -c 192.168.122.1 -t 10 -P 4&quot; | tail -4 wait ; tail -2 host-e1000.txt"/>
          <p:cNvSpPr txBox="1"/>
          <p:nvPr/>
        </p:nvSpPr>
        <p:spPr>
          <a:xfrm>
            <a:off x="1362456" y="2523744"/>
            <a:ext cx="9987991" cy="213664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--- 3. Emulated e1000: a software imitation of a 1999 card.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destroy</a:t>
            </a:r>
            <a:r>
              <a:rPr sz="1900" i="0">
                <a:solidFill>
                  <a:srgbClr val="E8EDF2"/>
                </a:solidFill>
                <a:latin typeface="Consolas"/>
              </a:rPr>
              <a:t> </a:t>
            </a:r>
            <a:r>
              <a:rPr sz="1900" i="0">
                <a:solidFill>
                  <a:srgbClr val="E8EDF2"/>
                </a:solidFill>
                <a:latin typeface="Consolas"/>
              </a:rPr>
              <a:t>vss1</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virt-xml</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E8EDF2"/>
                </a:solidFill>
                <a:latin typeface="Consolas"/>
              </a:rPr>
              <a:t>--edit</a:t>
            </a:r>
            <a:r>
              <a:rPr sz="1900" i="0">
                <a:solidFill>
                  <a:srgbClr val="E8EDF2"/>
                </a:solidFill>
                <a:latin typeface="Consolas"/>
              </a:rPr>
              <a:t> </a:t>
            </a:r>
            <a:r>
              <a:rPr sz="1900" i="0">
                <a:solidFill>
                  <a:srgbClr val="E8EDF2"/>
                </a:solidFill>
                <a:latin typeface="Consolas"/>
              </a:rPr>
              <a:t>--network</a:t>
            </a:r>
            <a:r>
              <a:rPr sz="1900" i="0">
                <a:solidFill>
                  <a:srgbClr val="E8EDF2"/>
                </a:solidFill>
                <a:latin typeface="Consolas"/>
              </a:rPr>
              <a:t> </a:t>
            </a:r>
            <a:r>
              <a:rPr sz="1900" i="0">
                <a:solidFill>
                  <a:srgbClr val="E8EDF2"/>
                </a:solidFill>
                <a:latin typeface="Consolas"/>
              </a:rPr>
              <a:t>model</a:t>
            </a:r>
            <a:r>
              <a:rPr sz="1900" i="0">
                <a:solidFill>
                  <a:srgbClr val="AEB6BF"/>
                </a:solidFill>
                <a:latin typeface="Consolas"/>
              </a:rPr>
              <a:t>=</a:t>
            </a:r>
            <a:r>
              <a:rPr sz="1900" i="0">
                <a:solidFill>
                  <a:srgbClr val="E8EDF2"/>
                </a:solidFill>
                <a:latin typeface="Consolas"/>
              </a:rPr>
              <a:t>e1000</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start</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sleep</a:t>
            </a:r>
            <a:r>
              <a:rPr sz="1900" i="0">
                <a:solidFill>
                  <a:srgbClr val="E8EDF2"/>
                </a:solidFill>
                <a:latin typeface="Consolas"/>
              </a:rPr>
              <a:t> </a:t>
            </a:r>
            <a:r>
              <a:rPr sz="1900" i="0">
                <a:solidFill>
                  <a:srgbClr val="F7DC6F"/>
                </a:solidFill>
                <a:latin typeface="Consolas"/>
              </a:rPr>
              <a:t>25</a:t>
            </a:r>
          </a:p>
          <a:p>
            <a:pPr>
              <a:lnSpc>
                <a:spcPct val="100000"/>
              </a:lnSpc>
              <a:spcAft>
                <a:spcPts val="0"/>
              </a:spcAft>
            </a:pPr>
            <a:r>
              <a:rPr sz="1900" i="0">
                <a:solidFill>
                  <a:srgbClr val="E8EDF2"/>
                </a:solidFill>
                <a:latin typeface="Consolas"/>
              </a:rPr>
              <a:t>mpstat</a:t>
            </a:r>
            <a:r>
              <a:rPr sz="1900" i="0">
                <a:solidFill>
                  <a:srgbClr val="E8EDF2"/>
                </a:solidFill>
                <a:latin typeface="Consolas"/>
              </a:rPr>
              <a:t> </a:t>
            </a:r>
            <a:r>
              <a:rPr sz="1900" i="0">
                <a:solidFill>
                  <a:srgbClr val="F7DC6F"/>
                </a:solidFill>
                <a:latin typeface="Consolas"/>
              </a:rPr>
              <a:t>1</a:t>
            </a:r>
            <a:r>
              <a:rPr sz="1900" i="0">
                <a:solidFill>
                  <a:srgbClr val="E8EDF2"/>
                </a:solidFill>
                <a:latin typeface="Consolas"/>
              </a:rPr>
              <a:t> </a:t>
            </a:r>
            <a:r>
              <a:rPr sz="1900" i="0">
                <a:solidFill>
                  <a:srgbClr val="F7DC6F"/>
                </a:solidFill>
                <a:latin typeface="Consolas"/>
              </a:rPr>
              <a:t>12</a:t>
            </a:r>
            <a:r>
              <a:rPr sz="1900" i="0">
                <a:solidFill>
                  <a:srgbClr val="E8EDF2"/>
                </a:solidFill>
                <a:latin typeface="Consolas"/>
              </a:rPr>
              <a:t> </a:t>
            </a:r>
            <a:r>
              <a:rPr sz="1900" i="0">
                <a:solidFill>
                  <a:srgbClr val="E8EDF2"/>
                </a:solidFill>
                <a:latin typeface="Consolas"/>
              </a:rPr>
              <a:t>&gt;</a:t>
            </a:r>
            <a:r>
              <a:rPr sz="1900" i="0">
                <a:solidFill>
                  <a:srgbClr val="E8EDF2"/>
                </a:solidFill>
                <a:latin typeface="Consolas"/>
              </a:rPr>
              <a:t> </a:t>
            </a:r>
            <a:r>
              <a:rPr sz="1900" i="0">
                <a:solidFill>
                  <a:srgbClr val="E8EDF2"/>
                </a:solidFill>
                <a:latin typeface="Consolas"/>
              </a:rPr>
              <a:t>host-e1000.txt</a:t>
            </a:r>
            <a:r>
              <a:rPr sz="1900" i="0">
                <a:solidFill>
                  <a:srgbClr val="E8EDF2"/>
                </a:solidFill>
                <a:latin typeface="Consolas"/>
              </a:rPr>
              <a:t> </a:t>
            </a:r>
            <a:r>
              <a:rPr sz="1900" i="0">
                <a:solidFill>
                  <a:srgbClr val="AEB6BF"/>
                </a:solidFill>
                <a:latin typeface="Consolas"/>
              </a:rPr>
              <a:t>&amp;</a:t>
            </a:r>
            <a:r>
              <a:rPr sz="1900" i="0">
                <a:solidFill>
                  <a:srgbClr val="E8EDF2"/>
                </a:solidFill>
                <a:latin typeface="Consolas"/>
              </a:rPr>
              <a:t>     </a:t>
            </a:r>
            <a:r>
              <a:rPr sz="1900" i="1">
                <a:solidFill>
                  <a:srgbClr val="8795A1"/>
                </a:solidFill>
                <a:latin typeface="Consolas"/>
              </a:rPr>
              <a:t># host CPU while the test runs</a:t>
            </a:r>
          </a:p>
          <a:p>
            <a:pPr>
              <a:lnSpc>
                <a:spcPct val="100000"/>
              </a:lnSpc>
              <a:spcAft>
                <a:spcPts val="0"/>
              </a:spcAft>
            </a:pPr>
            <a:r>
              <a:rPr sz="1900" i="0">
                <a:solidFill>
                  <a:srgbClr val="E8EDF2"/>
                </a:solidFill>
                <a:latin typeface="Consolas"/>
              </a:rPr>
              <a:t>G</a:t>
            </a:r>
            <a:r>
              <a:rPr sz="1900" i="0">
                <a:solidFill>
                  <a:srgbClr val="E8EDF2"/>
                </a:solidFill>
                <a:latin typeface="Consolas"/>
              </a:rPr>
              <a:t> </a:t>
            </a:r>
            <a:r>
              <a:rPr sz="1900" i="0">
                <a:solidFill>
                  <a:srgbClr val="7DCEA0"/>
                </a:solidFill>
                <a:latin typeface="Consolas"/>
              </a:rPr>
              <a:t>"iperf3 -c 192.168.122.1 -t 10 -P 4"</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tail</a:t>
            </a:r>
            <a:r>
              <a:rPr sz="1900" i="0">
                <a:solidFill>
                  <a:srgbClr val="E8EDF2"/>
                </a:solidFill>
                <a:latin typeface="Consolas"/>
              </a:rPr>
              <a:t> </a:t>
            </a:r>
            <a:r>
              <a:rPr sz="1900" i="0">
                <a:solidFill>
                  <a:srgbClr val="E8EDF2"/>
                </a:solidFill>
                <a:latin typeface="Consolas"/>
              </a:rPr>
              <a:t>-4</a:t>
            </a:r>
          </a:p>
          <a:p>
            <a:pPr>
              <a:lnSpc>
                <a:spcPct val="100000"/>
              </a:lnSpc>
              <a:spcAft>
                <a:spcPts val="0"/>
              </a:spcAft>
            </a:pPr>
            <a:r>
              <a:rPr sz="1900" i="0">
                <a:solidFill>
                  <a:srgbClr val="C39BD3"/>
                </a:solidFill>
                <a:latin typeface="Consolas"/>
              </a:rPr>
              <a:t>wait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tail</a:t>
            </a:r>
            <a:r>
              <a:rPr sz="1900" i="0">
                <a:solidFill>
                  <a:srgbClr val="E8EDF2"/>
                </a:solidFill>
                <a:latin typeface="Consolas"/>
              </a:rPr>
              <a:t> </a:t>
            </a:r>
            <a:r>
              <a:rPr sz="1900" i="0">
                <a:solidFill>
                  <a:srgbClr val="E8EDF2"/>
                </a:solidFill>
                <a:latin typeface="Consolas"/>
              </a:rPr>
              <a:t>-2</a:t>
            </a:r>
            <a:r>
              <a:rPr sz="1900" i="0">
                <a:solidFill>
                  <a:srgbClr val="E8EDF2"/>
                </a:solidFill>
                <a:latin typeface="Consolas"/>
              </a:rPr>
              <a:t> </a:t>
            </a:r>
            <a:r>
              <a:rPr sz="1900" i="0">
                <a:solidFill>
                  <a:srgbClr val="E8EDF2"/>
                </a:solidFill>
                <a:latin typeface="Consolas"/>
              </a:rPr>
              <a:t>host-e1000.txt</a:t>
            </a:r>
          </a:p>
        </p:txBody>
      </p:sp>
      <p:sp>
        <p:nvSpPr>
          <p:cNvPr id="15" name="!!code-num"/>
          <p:cNvSpPr txBox="1"/>
          <p:nvPr/>
        </p:nvSpPr>
        <p:spPr>
          <a:xfrm>
            <a:off x="768096" y="2523744"/>
            <a:ext cx="393192" cy="213664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19</a:t>
            </a:r>
          </a:p>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a:p>
            <a:pPr algn="r">
              <a:lnSpc>
                <a:spcPct val="100000"/>
              </a:lnSpc>
            </a:pPr>
            <a:r>
              <a:rPr sz="1900">
                <a:solidFill>
                  <a:srgbClr val="4F5D6A"/>
                </a:solidFill>
                <a:latin typeface="Consolas"/>
              </a:rPr>
              <a:t>22</a:t>
            </a:r>
          </a:p>
          <a:p>
            <a:pPr algn="r">
              <a:lnSpc>
                <a:spcPct val="100000"/>
              </a:lnSpc>
            </a:pPr>
            <a:r>
              <a:rPr sz="1900">
                <a:solidFill>
                  <a:srgbClr val="4F5D6A"/>
                </a:solidFill>
                <a:latin typeface="Consolas"/>
              </a:rPr>
              <a:t>23</a:t>
            </a:r>
          </a:p>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13660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Same Card, Three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56     </a:t>
            </a:r>
            <a:fld id="{FB5B2A52-0361-4DD4-A9E9-20A62F2F5526}" type="slidenum">
              <a:rPr lang="en-GB" sz="1000">
                <a:solidFill>
                  <a:srgbClr val="8795A1"/>
                </a:solidFill>
                <a:latin typeface="Segoe UI"/>
              </a:rPr>
              <a:t>25</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Virtio: the split-driver model of section 7.2.</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30424"/>
          </a:xfrm>
          <a:prstGeom prst="roundRect">
            <a:avLst>
              <a:gd name="adj" fmla="val 34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4. virtio: the split-driver model of section 7.2. ---------------- sudo virsh destroy vss1 sudo virt-xml vss1 --edit --network model=virtio sudo virsh start vss1 ; sleep 25 mpstat 1 12 &gt; host-virtio.txt &amp; G &quot;iperf3 -c 192.168.122.1 -t 10 -P 4&quot; | tail -4 wait ; tail -2 host-virtio.txt"/>
          <p:cNvSpPr txBox="1"/>
          <p:nvPr/>
        </p:nvSpPr>
        <p:spPr>
          <a:xfrm>
            <a:off x="1362456" y="2523744"/>
            <a:ext cx="9987991" cy="213664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--- 4. virtio: the split-driver model of section 7.2.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destroy</a:t>
            </a:r>
            <a:r>
              <a:rPr sz="1900" i="0">
                <a:solidFill>
                  <a:srgbClr val="E8EDF2"/>
                </a:solidFill>
                <a:latin typeface="Consolas"/>
              </a:rPr>
              <a:t> </a:t>
            </a:r>
            <a:r>
              <a:rPr sz="1900" i="0">
                <a:solidFill>
                  <a:srgbClr val="E8EDF2"/>
                </a:solidFill>
                <a:latin typeface="Consolas"/>
              </a:rPr>
              <a:t>vss1</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virt-xml</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E8EDF2"/>
                </a:solidFill>
                <a:latin typeface="Consolas"/>
              </a:rPr>
              <a:t>--edit</a:t>
            </a:r>
            <a:r>
              <a:rPr sz="1900" i="0">
                <a:solidFill>
                  <a:srgbClr val="E8EDF2"/>
                </a:solidFill>
                <a:latin typeface="Consolas"/>
              </a:rPr>
              <a:t> </a:t>
            </a:r>
            <a:r>
              <a:rPr sz="1900" i="0">
                <a:solidFill>
                  <a:srgbClr val="E8EDF2"/>
                </a:solidFill>
                <a:latin typeface="Consolas"/>
              </a:rPr>
              <a:t>--network</a:t>
            </a:r>
            <a:r>
              <a:rPr sz="1900" i="0">
                <a:solidFill>
                  <a:srgbClr val="E8EDF2"/>
                </a:solidFill>
                <a:latin typeface="Consolas"/>
              </a:rPr>
              <a:t> </a:t>
            </a:r>
            <a:r>
              <a:rPr sz="1900" i="0">
                <a:solidFill>
                  <a:srgbClr val="E8EDF2"/>
                </a:solidFill>
                <a:latin typeface="Consolas"/>
              </a:rPr>
              <a:t>model</a:t>
            </a:r>
            <a:r>
              <a:rPr sz="1900" i="0">
                <a:solidFill>
                  <a:srgbClr val="AEB6BF"/>
                </a:solidFill>
                <a:latin typeface="Consolas"/>
              </a:rPr>
              <a:t>=</a:t>
            </a:r>
            <a:r>
              <a:rPr sz="1900" i="0">
                <a:solidFill>
                  <a:srgbClr val="E8EDF2"/>
                </a:solidFill>
                <a:latin typeface="Consolas"/>
              </a:rPr>
              <a:t>virtio</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start</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sleep</a:t>
            </a:r>
            <a:r>
              <a:rPr sz="1900" i="0">
                <a:solidFill>
                  <a:srgbClr val="E8EDF2"/>
                </a:solidFill>
                <a:latin typeface="Consolas"/>
              </a:rPr>
              <a:t> </a:t>
            </a:r>
            <a:r>
              <a:rPr sz="1900" i="0">
                <a:solidFill>
                  <a:srgbClr val="F7DC6F"/>
                </a:solidFill>
                <a:latin typeface="Consolas"/>
              </a:rPr>
              <a:t>25</a:t>
            </a:r>
          </a:p>
          <a:p>
            <a:pPr>
              <a:lnSpc>
                <a:spcPct val="100000"/>
              </a:lnSpc>
              <a:spcAft>
                <a:spcPts val="0"/>
              </a:spcAft>
            </a:pPr>
            <a:r>
              <a:rPr sz="1900" i="0">
                <a:solidFill>
                  <a:srgbClr val="E8EDF2"/>
                </a:solidFill>
                <a:latin typeface="Consolas"/>
              </a:rPr>
              <a:t>mpstat</a:t>
            </a:r>
            <a:r>
              <a:rPr sz="1900" i="0">
                <a:solidFill>
                  <a:srgbClr val="E8EDF2"/>
                </a:solidFill>
                <a:latin typeface="Consolas"/>
              </a:rPr>
              <a:t> </a:t>
            </a:r>
            <a:r>
              <a:rPr sz="1900" i="0">
                <a:solidFill>
                  <a:srgbClr val="F7DC6F"/>
                </a:solidFill>
                <a:latin typeface="Consolas"/>
              </a:rPr>
              <a:t>1</a:t>
            </a:r>
            <a:r>
              <a:rPr sz="1900" i="0">
                <a:solidFill>
                  <a:srgbClr val="E8EDF2"/>
                </a:solidFill>
                <a:latin typeface="Consolas"/>
              </a:rPr>
              <a:t> </a:t>
            </a:r>
            <a:r>
              <a:rPr sz="1900" i="0">
                <a:solidFill>
                  <a:srgbClr val="F7DC6F"/>
                </a:solidFill>
                <a:latin typeface="Consolas"/>
              </a:rPr>
              <a:t>12</a:t>
            </a:r>
            <a:r>
              <a:rPr sz="1900" i="0">
                <a:solidFill>
                  <a:srgbClr val="E8EDF2"/>
                </a:solidFill>
                <a:latin typeface="Consolas"/>
              </a:rPr>
              <a:t> </a:t>
            </a:r>
            <a:r>
              <a:rPr sz="1900" i="0">
                <a:solidFill>
                  <a:srgbClr val="E8EDF2"/>
                </a:solidFill>
                <a:latin typeface="Consolas"/>
              </a:rPr>
              <a:t>&gt;</a:t>
            </a:r>
            <a:r>
              <a:rPr sz="1900" i="0">
                <a:solidFill>
                  <a:srgbClr val="E8EDF2"/>
                </a:solidFill>
                <a:latin typeface="Consolas"/>
              </a:rPr>
              <a:t> </a:t>
            </a:r>
            <a:r>
              <a:rPr sz="1900" i="0">
                <a:solidFill>
                  <a:srgbClr val="E8EDF2"/>
                </a:solidFill>
                <a:latin typeface="Consolas"/>
              </a:rPr>
              <a:t>host-virtio.txt</a:t>
            </a:r>
            <a:r>
              <a:rPr sz="1900" i="0">
                <a:solidFill>
                  <a:srgbClr val="E8EDF2"/>
                </a:solidFill>
                <a:latin typeface="Consolas"/>
              </a:rPr>
              <a:t> </a:t>
            </a:r>
            <a:r>
              <a:rPr sz="1900" i="0">
                <a:solidFill>
                  <a:srgbClr val="AEB6BF"/>
                </a:solidFill>
                <a:latin typeface="Consolas"/>
              </a:rPr>
              <a:t>&amp;</a:t>
            </a:r>
          </a:p>
          <a:p>
            <a:pPr>
              <a:lnSpc>
                <a:spcPct val="100000"/>
              </a:lnSpc>
              <a:spcAft>
                <a:spcPts val="0"/>
              </a:spcAft>
            </a:pPr>
            <a:r>
              <a:rPr sz="1900" i="0">
                <a:solidFill>
                  <a:srgbClr val="E8EDF2"/>
                </a:solidFill>
                <a:latin typeface="Consolas"/>
              </a:rPr>
              <a:t>G</a:t>
            </a:r>
            <a:r>
              <a:rPr sz="1900" i="0">
                <a:solidFill>
                  <a:srgbClr val="E8EDF2"/>
                </a:solidFill>
                <a:latin typeface="Consolas"/>
              </a:rPr>
              <a:t> </a:t>
            </a:r>
            <a:r>
              <a:rPr sz="1900" i="0">
                <a:solidFill>
                  <a:srgbClr val="7DCEA0"/>
                </a:solidFill>
                <a:latin typeface="Consolas"/>
              </a:rPr>
              <a:t>"iperf3 -c 192.168.122.1 -t 10 -P 4"</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tail</a:t>
            </a:r>
            <a:r>
              <a:rPr sz="1900" i="0">
                <a:solidFill>
                  <a:srgbClr val="E8EDF2"/>
                </a:solidFill>
                <a:latin typeface="Consolas"/>
              </a:rPr>
              <a:t> </a:t>
            </a:r>
            <a:r>
              <a:rPr sz="1900" i="0">
                <a:solidFill>
                  <a:srgbClr val="E8EDF2"/>
                </a:solidFill>
                <a:latin typeface="Consolas"/>
              </a:rPr>
              <a:t>-4</a:t>
            </a:r>
          </a:p>
          <a:p>
            <a:pPr>
              <a:lnSpc>
                <a:spcPct val="100000"/>
              </a:lnSpc>
              <a:spcAft>
                <a:spcPts val="0"/>
              </a:spcAft>
            </a:pPr>
            <a:r>
              <a:rPr sz="1900" i="0">
                <a:solidFill>
                  <a:srgbClr val="C39BD3"/>
                </a:solidFill>
                <a:latin typeface="Consolas"/>
              </a:rPr>
              <a:t>wait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tail</a:t>
            </a:r>
            <a:r>
              <a:rPr sz="1900" i="0">
                <a:solidFill>
                  <a:srgbClr val="E8EDF2"/>
                </a:solidFill>
                <a:latin typeface="Consolas"/>
              </a:rPr>
              <a:t> </a:t>
            </a:r>
            <a:r>
              <a:rPr sz="1900" i="0">
                <a:solidFill>
                  <a:srgbClr val="E8EDF2"/>
                </a:solidFill>
                <a:latin typeface="Consolas"/>
              </a:rPr>
              <a:t>-2</a:t>
            </a:r>
            <a:r>
              <a:rPr sz="1900" i="0">
                <a:solidFill>
                  <a:srgbClr val="E8EDF2"/>
                </a:solidFill>
                <a:latin typeface="Consolas"/>
              </a:rPr>
              <a:t> </a:t>
            </a:r>
            <a:r>
              <a:rPr sz="1900" i="0">
                <a:solidFill>
                  <a:srgbClr val="E8EDF2"/>
                </a:solidFill>
                <a:latin typeface="Consolas"/>
              </a:rPr>
              <a:t>host-virtio.txt</a:t>
            </a:r>
          </a:p>
        </p:txBody>
      </p:sp>
      <p:sp>
        <p:nvSpPr>
          <p:cNvPr id="15" name="!!code-num"/>
          <p:cNvSpPr txBox="1"/>
          <p:nvPr/>
        </p:nvSpPr>
        <p:spPr>
          <a:xfrm>
            <a:off x="768096" y="2523744"/>
            <a:ext cx="393192" cy="213664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27</a:t>
            </a:r>
          </a:p>
          <a:p>
            <a:pPr algn="r">
              <a:lnSpc>
                <a:spcPct val="100000"/>
              </a:lnSpc>
            </a:pPr>
            <a:r>
              <a:rPr sz="1900">
                <a:solidFill>
                  <a:srgbClr val="4F5D6A"/>
                </a:solidFill>
                <a:latin typeface="Consolas"/>
              </a:rPr>
              <a:t>28</a:t>
            </a:r>
          </a:p>
          <a:p>
            <a:pPr algn="r">
              <a:lnSpc>
                <a:spcPct val="100000"/>
              </a:lnSpc>
            </a:pPr>
            <a:r>
              <a:rPr sz="1900">
                <a:solidFill>
                  <a:srgbClr val="4F5D6A"/>
                </a:solidFill>
                <a:latin typeface="Consolas"/>
              </a:rPr>
              <a:t>29</a:t>
            </a:r>
          </a:p>
          <a:p>
            <a:pPr algn="r">
              <a:lnSpc>
                <a:spcPct val="100000"/>
              </a:lnSpc>
            </a:pPr>
            <a:r>
              <a:rPr sz="1900">
                <a:solidFill>
                  <a:srgbClr val="4F5D6A"/>
                </a:solidFill>
                <a:latin typeface="Consolas"/>
              </a:rPr>
              <a:t>30</a:t>
            </a:r>
          </a:p>
          <a:p>
            <a:pPr algn="r">
              <a:lnSpc>
                <a:spcPct val="100000"/>
              </a:lnSpc>
            </a:pPr>
            <a:r>
              <a:rPr sz="1900">
                <a:solidFill>
                  <a:srgbClr val="4F5D6A"/>
                </a:solidFill>
                <a:latin typeface="Consolas"/>
              </a:rPr>
              <a:t>31</a:t>
            </a:r>
          </a:p>
          <a:p>
            <a:pPr algn="r">
              <a:lnSpc>
                <a:spcPct val="100000"/>
              </a:lnSpc>
            </a:pPr>
            <a:r>
              <a:rPr sz="1900">
                <a:solidFill>
                  <a:srgbClr val="4F5D6A"/>
                </a:solidFill>
                <a:latin typeface="Consolas"/>
              </a:rPr>
              <a:t>32</a:t>
            </a:r>
          </a:p>
          <a:p>
            <a:pPr algn="r">
              <a:lnSpc>
                <a:spcPct val="100000"/>
              </a:lnSpc>
            </a:pPr>
            <a:r>
              <a:rPr sz="1900">
                <a:solidFill>
                  <a:srgbClr val="4F5D6A"/>
                </a:solidFill>
                <a:latin typeface="Consolas"/>
              </a:rPr>
              <a:t>33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433960"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Same Card, Three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56     </a:t>
            </a:r>
            <a:fld id="{47E72B46-2CEB-4546-9BC3-8CC806D886A8}"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Virtio + vhost: back-end moved into the host kernel.</a:t>
            </a:r>
          </a:p>
        </p:txBody>
      </p:sp>
      <p:sp>
        <p:nvSpPr>
          <p:cNvPr id="8" name="!!code-bg">
            <a:extLst>
              <a:ext uri="{C183D7F6-B498-43B3-948B-1728B52AA6E4}">
                <adec:decorative xmlns:adec="http://schemas.microsoft.com/office/drawing/2017/decorative" val="1"/>
              </a:ext>
            </a:extLst>
          </p:cNvPr>
          <p:cNvSpPr/>
          <p:nvPr/>
        </p:nvSpPr>
        <p:spPr>
          <a:xfrm>
            <a:off x="658368" y="2084831"/>
            <a:ext cx="10874959" cy="3072383"/>
          </a:xfrm>
          <a:prstGeom prst="roundRect">
            <a:avLst>
              <a:gd name="adj" fmla="val 29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5. virtio + vhost: back-end moved into the host kernel. ---------- # vhost_net is usually already on; confirm, and confirm the guest uses it. lsmod | grep vhost_net || sudo modprobe vhost_net sudo virsh destroy vss1 sudo virt-xml vss1 --edit --network driver.name=vhost sudo virsh start vss1 ; sleep 25 mpstat 1 12 &gt; host-vhost.txt &amp; G &quot;iperf3 -c 192.168.122.1 -t 10 -P 4&quot; | tail -4 wait ; tail -2 host-vhost.txt"/>
          <p:cNvSpPr txBox="1"/>
          <p:nvPr/>
        </p:nvSpPr>
        <p:spPr>
          <a:xfrm>
            <a:off x="1362456" y="2523744"/>
            <a:ext cx="9987991" cy="257860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--- 5. virtio + vhost: back-end moved into the host kernel. ----------</a:t>
            </a:r>
          </a:p>
          <a:p>
            <a:pPr>
              <a:lnSpc>
                <a:spcPct val="100000"/>
              </a:lnSpc>
              <a:spcAft>
                <a:spcPts val="0"/>
              </a:spcAft>
            </a:pPr>
            <a:r>
              <a:rPr sz="1800" i="1">
                <a:solidFill>
                  <a:srgbClr val="8795A1"/>
                </a:solidFill>
                <a:latin typeface="Consolas"/>
              </a:rPr>
              <a:t># vhost_net is usually already on; confirm, and confirm the guest uses it.</a:t>
            </a:r>
          </a:p>
          <a:p>
            <a:pPr>
              <a:lnSpc>
                <a:spcPct val="100000"/>
              </a:lnSpc>
              <a:spcAft>
                <a:spcPts val="0"/>
              </a:spcAft>
            </a:pPr>
            <a:r>
              <a:rPr sz="1800" i="0">
                <a:solidFill>
                  <a:srgbClr val="E8EDF2"/>
                </a:solidFill>
                <a:latin typeface="Consolas"/>
              </a:rPr>
              <a:t>lsmod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grep</a:t>
            </a:r>
            <a:r>
              <a:rPr sz="1800" i="0">
                <a:solidFill>
                  <a:srgbClr val="E8EDF2"/>
                </a:solidFill>
                <a:latin typeface="Consolas"/>
              </a:rPr>
              <a:t> </a:t>
            </a:r>
            <a:r>
              <a:rPr sz="1800" i="0">
                <a:solidFill>
                  <a:srgbClr val="E8EDF2"/>
                </a:solidFill>
                <a:latin typeface="Consolas"/>
              </a:rPr>
              <a:t>vhost_net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modprobe</a:t>
            </a:r>
            <a:r>
              <a:rPr sz="1800" i="0">
                <a:solidFill>
                  <a:srgbClr val="E8EDF2"/>
                </a:solidFill>
                <a:latin typeface="Consolas"/>
              </a:rPr>
              <a:t> </a:t>
            </a:r>
            <a:r>
              <a:rPr sz="1800" i="0">
                <a:solidFill>
                  <a:srgbClr val="E8EDF2"/>
                </a:solidFill>
                <a:latin typeface="Consolas"/>
              </a:rPr>
              <a:t>vhost_net</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destroy</a:t>
            </a:r>
            <a:r>
              <a:rPr sz="1800" i="0">
                <a:solidFill>
                  <a:srgbClr val="E8EDF2"/>
                </a:solidFill>
                <a:latin typeface="Consolas"/>
              </a:rPr>
              <a:t> </a:t>
            </a:r>
            <a:r>
              <a:rPr sz="1800" i="0">
                <a:solidFill>
                  <a:srgbClr val="E8EDF2"/>
                </a:solidFill>
                <a:latin typeface="Consolas"/>
              </a:rPr>
              <a:t>vss1</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virt-xml</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E8EDF2"/>
                </a:solidFill>
                <a:latin typeface="Consolas"/>
              </a:rPr>
              <a:t>--edit</a:t>
            </a:r>
            <a:r>
              <a:rPr sz="1800" i="0">
                <a:solidFill>
                  <a:srgbClr val="E8EDF2"/>
                </a:solidFill>
                <a:latin typeface="Consolas"/>
              </a:rPr>
              <a:t> </a:t>
            </a:r>
            <a:r>
              <a:rPr sz="1800" i="0">
                <a:solidFill>
                  <a:srgbClr val="E8EDF2"/>
                </a:solidFill>
                <a:latin typeface="Consolas"/>
              </a:rPr>
              <a:t>--network</a:t>
            </a:r>
            <a:r>
              <a:rPr sz="1800" i="0">
                <a:solidFill>
                  <a:srgbClr val="E8EDF2"/>
                </a:solidFill>
                <a:latin typeface="Consolas"/>
              </a:rPr>
              <a:t> </a:t>
            </a:r>
            <a:r>
              <a:rPr sz="1800" i="0">
                <a:solidFill>
                  <a:srgbClr val="E8EDF2"/>
                </a:solidFill>
                <a:latin typeface="Consolas"/>
              </a:rPr>
              <a:t>driver.name</a:t>
            </a:r>
            <a:r>
              <a:rPr sz="1800" i="0">
                <a:solidFill>
                  <a:srgbClr val="AEB6BF"/>
                </a:solidFill>
                <a:latin typeface="Consolas"/>
              </a:rPr>
              <a:t>=</a:t>
            </a:r>
            <a:r>
              <a:rPr sz="1800" i="0">
                <a:solidFill>
                  <a:srgbClr val="E8EDF2"/>
                </a:solidFill>
                <a:latin typeface="Consolas"/>
              </a:rPr>
              <a:t>vhost</a:t>
            </a:r>
          </a:p>
          <a:p>
            <a:pPr>
              <a:lnSpc>
                <a:spcPct val="100000"/>
              </a:lnSpc>
              <a:spcAft>
                <a:spcPts val="0"/>
              </a:spcAft>
            </a:pPr>
            <a:r>
              <a:rPr sz="1800" i="0">
                <a:solidFill>
                  <a:srgbClr val="E8EDF2"/>
                </a:solidFill>
                <a:latin typeface="Consolas"/>
              </a:rPr>
              <a:t>sudo</a:t>
            </a:r>
            <a:r>
              <a:rPr sz="1800" i="0">
                <a:solidFill>
                  <a:srgbClr val="E8EDF2"/>
                </a:solidFill>
                <a:latin typeface="Consolas"/>
              </a:rPr>
              <a:t> </a:t>
            </a:r>
            <a:r>
              <a:rPr sz="1800" i="0">
                <a:solidFill>
                  <a:srgbClr val="E8EDF2"/>
                </a:solidFill>
                <a:latin typeface="Consolas"/>
              </a:rPr>
              <a:t>virsh</a:t>
            </a:r>
            <a:r>
              <a:rPr sz="1800" i="0">
                <a:solidFill>
                  <a:srgbClr val="E8EDF2"/>
                </a:solidFill>
                <a:latin typeface="Consolas"/>
              </a:rPr>
              <a:t> </a:t>
            </a:r>
            <a:r>
              <a:rPr sz="1800" i="0">
                <a:solidFill>
                  <a:srgbClr val="E8EDF2"/>
                </a:solidFill>
                <a:latin typeface="Consolas"/>
              </a:rPr>
              <a:t>start</a:t>
            </a:r>
            <a:r>
              <a:rPr sz="1800" i="0">
                <a:solidFill>
                  <a:srgbClr val="E8EDF2"/>
                </a:solidFill>
                <a:latin typeface="Consolas"/>
              </a:rPr>
              <a:t> </a:t>
            </a:r>
            <a:r>
              <a:rPr sz="1800" i="0">
                <a:solidFill>
                  <a:srgbClr val="E8EDF2"/>
                </a:solidFill>
                <a:latin typeface="Consolas"/>
              </a:rPr>
              <a:t>vss1</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sleep</a:t>
            </a:r>
            <a:r>
              <a:rPr sz="1800" i="0">
                <a:solidFill>
                  <a:srgbClr val="E8EDF2"/>
                </a:solidFill>
                <a:latin typeface="Consolas"/>
              </a:rPr>
              <a:t> </a:t>
            </a:r>
            <a:r>
              <a:rPr sz="1800" i="0">
                <a:solidFill>
                  <a:srgbClr val="F7DC6F"/>
                </a:solidFill>
                <a:latin typeface="Consolas"/>
              </a:rPr>
              <a:t>25</a:t>
            </a:r>
          </a:p>
          <a:p>
            <a:pPr>
              <a:lnSpc>
                <a:spcPct val="100000"/>
              </a:lnSpc>
              <a:spcAft>
                <a:spcPts val="0"/>
              </a:spcAft>
            </a:pPr>
            <a:r>
              <a:rPr sz="1800" i="0">
                <a:solidFill>
                  <a:srgbClr val="E8EDF2"/>
                </a:solidFill>
                <a:latin typeface="Consolas"/>
              </a:rPr>
              <a:t>mpstat</a:t>
            </a:r>
            <a:r>
              <a:rPr sz="1800" i="0">
                <a:solidFill>
                  <a:srgbClr val="E8EDF2"/>
                </a:solidFill>
                <a:latin typeface="Consolas"/>
              </a:rPr>
              <a:t> </a:t>
            </a:r>
            <a:r>
              <a:rPr sz="1800" i="0">
                <a:solidFill>
                  <a:srgbClr val="F7DC6F"/>
                </a:solidFill>
                <a:latin typeface="Consolas"/>
              </a:rPr>
              <a:t>1</a:t>
            </a:r>
            <a:r>
              <a:rPr sz="1800" i="0">
                <a:solidFill>
                  <a:srgbClr val="E8EDF2"/>
                </a:solidFill>
                <a:latin typeface="Consolas"/>
              </a:rPr>
              <a:t> </a:t>
            </a:r>
            <a:r>
              <a:rPr sz="1800" i="0">
                <a:solidFill>
                  <a:srgbClr val="F7DC6F"/>
                </a:solidFill>
                <a:latin typeface="Consolas"/>
              </a:rPr>
              <a:t>12</a:t>
            </a:r>
            <a:r>
              <a:rPr sz="1800" i="0">
                <a:solidFill>
                  <a:srgbClr val="E8EDF2"/>
                </a:solidFill>
                <a:latin typeface="Consolas"/>
              </a:rPr>
              <a:t> </a:t>
            </a:r>
            <a:r>
              <a:rPr sz="1800" i="0">
                <a:solidFill>
                  <a:srgbClr val="E8EDF2"/>
                </a:solidFill>
                <a:latin typeface="Consolas"/>
              </a:rPr>
              <a:t>&gt;</a:t>
            </a:r>
            <a:r>
              <a:rPr sz="1800" i="0">
                <a:solidFill>
                  <a:srgbClr val="E8EDF2"/>
                </a:solidFill>
                <a:latin typeface="Consolas"/>
              </a:rPr>
              <a:t> </a:t>
            </a:r>
            <a:r>
              <a:rPr sz="1800" i="0">
                <a:solidFill>
                  <a:srgbClr val="E8EDF2"/>
                </a:solidFill>
                <a:latin typeface="Consolas"/>
              </a:rPr>
              <a:t>host-vhost.txt</a:t>
            </a:r>
            <a:r>
              <a:rPr sz="1800" i="0">
                <a:solidFill>
                  <a:srgbClr val="E8EDF2"/>
                </a:solidFill>
                <a:latin typeface="Consolas"/>
              </a:rPr>
              <a:t> </a:t>
            </a:r>
            <a:r>
              <a:rPr sz="1800" i="0">
                <a:solidFill>
                  <a:srgbClr val="AEB6BF"/>
                </a:solidFill>
                <a:latin typeface="Consolas"/>
              </a:rPr>
              <a:t>&amp;</a:t>
            </a:r>
          </a:p>
          <a:p>
            <a:pPr>
              <a:lnSpc>
                <a:spcPct val="100000"/>
              </a:lnSpc>
              <a:spcAft>
                <a:spcPts val="0"/>
              </a:spcAft>
            </a:pPr>
            <a:r>
              <a:rPr sz="1800" i="0">
                <a:solidFill>
                  <a:srgbClr val="E8EDF2"/>
                </a:solidFill>
                <a:latin typeface="Consolas"/>
              </a:rPr>
              <a:t>G</a:t>
            </a:r>
            <a:r>
              <a:rPr sz="1800" i="0">
                <a:solidFill>
                  <a:srgbClr val="E8EDF2"/>
                </a:solidFill>
                <a:latin typeface="Consolas"/>
              </a:rPr>
              <a:t> </a:t>
            </a:r>
            <a:r>
              <a:rPr sz="1800" i="0">
                <a:solidFill>
                  <a:srgbClr val="7DCEA0"/>
                </a:solidFill>
                <a:latin typeface="Consolas"/>
              </a:rPr>
              <a:t>"iperf3 -c 192.168.122.1 -t 10 -P 4"</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tail</a:t>
            </a:r>
            <a:r>
              <a:rPr sz="1800" i="0">
                <a:solidFill>
                  <a:srgbClr val="E8EDF2"/>
                </a:solidFill>
                <a:latin typeface="Consolas"/>
              </a:rPr>
              <a:t> </a:t>
            </a:r>
            <a:r>
              <a:rPr sz="1800" i="0">
                <a:solidFill>
                  <a:srgbClr val="E8EDF2"/>
                </a:solidFill>
                <a:latin typeface="Consolas"/>
              </a:rPr>
              <a:t>-4</a:t>
            </a:r>
          </a:p>
          <a:p>
            <a:pPr>
              <a:lnSpc>
                <a:spcPct val="100000"/>
              </a:lnSpc>
              <a:spcAft>
                <a:spcPts val="0"/>
              </a:spcAft>
            </a:pPr>
            <a:r>
              <a:rPr sz="1800" i="0">
                <a:solidFill>
                  <a:srgbClr val="C39BD3"/>
                </a:solidFill>
                <a:latin typeface="Consolas"/>
              </a:rPr>
              <a:t>wait</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tail</a:t>
            </a:r>
            <a:r>
              <a:rPr sz="1800" i="0">
                <a:solidFill>
                  <a:srgbClr val="E8EDF2"/>
                </a:solidFill>
                <a:latin typeface="Consolas"/>
              </a:rPr>
              <a:t> </a:t>
            </a:r>
            <a:r>
              <a:rPr sz="1800" i="0">
                <a:solidFill>
                  <a:srgbClr val="E8EDF2"/>
                </a:solidFill>
                <a:latin typeface="Consolas"/>
              </a:rPr>
              <a:t>-2</a:t>
            </a:r>
            <a:r>
              <a:rPr sz="1800" i="0">
                <a:solidFill>
                  <a:srgbClr val="E8EDF2"/>
                </a:solidFill>
                <a:latin typeface="Consolas"/>
              </a:rPr>
              <a:t> </a:t>
            </a:r>
            <a:r>
              <a:rPr sz="1800" i="0">
                <a:solidFill>
                  <a:srgbClr val="E8EDF2"/>
                </a:solidFill>
                <a:latin typeface="Consolas"/>
              </a:rPr>
              <a:t>host-vhost.txt</a:t>
            </a:r>
          </a:p>
        </p:txBody>
      </p:sp>
      <p:sp>
        <p:nvSpPr>
          <p:cNvPr id="15" name="!!code-num"/>
          <p:cNvSpPr txBox="1"/>
          <p:nvPr/>
        </p:nvSpPr>
        <p:spPr>
          <a:xfrm>
            <a:off x="768096" y="2523744"/>
            <a:ext cx="393192" cy="257860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35</a:t>
            </a:r>
          </a:p>
          <a:p>
            <a:pPr algn="r">
              <a:lnSpc>
                <a:spcPct val="100000"/>
              </a:lnSpc>
            </a:pPr>
            <a:r>
              <a:rPr sz="1800">
                <a:solidFill>
                  <a:srgbClr val="4F5D6A"/>
                </a:solidFill>
                <a:latin typeface="Consolas"/>
              </a:rPr>
              <a:t>36</a:t>
            </a:r>
          </a:p>
          <a:p>
            <a:pPr algn="r">
              <a:lnSpc>
                <a:spcPct val="100000"/>
              </a:lnSpc>
            </a:pPr>
            <a:r>
              <a:rPr sz="1800">
                <a:solidFill>
                  <a:srgbClr val="4F5D6A"/>
                </a:solidFill>
                <a:latin typeface="Consolas"/>
              </a:rPr>
              <a:t>37</a:t>
            </a:r>
          </a:p>
          <a:p>
            <a:pPr algn="r">
              <a:lnSpc>
                <a:spcPct val="100000"/>
              </a:lnSpc>
            </a:pPr>
            <a:r>
              <a:rPr sz="1800">
                <a:solidFill>
                  <a:srgbClr val="4F5D6A"/>
                </a:solidFill>
                <a:latin typeface="Consolas"/>
              </a:rPr>
              <a:t>38</a:t>
            </a:r>
          </a:p>
          <a:p>
            <a:pPr algn="r">
              <a:lnSpc>
                <a:spcPct val="100000"/>
              </a:lnSpc>
            </a:pPr>
            <a:r>
              <a:rPr sz="1800">
                <a:solidFill>
                  <a:srgbClr val="4F5D6A"/>
                </a:solidFill>
                <a:latin typeface="Consolas"/>
              </a:rPr>
              <a:t>39</a:t>
            </a:r>
          </a:p>
          <a:p>
            <a:pPr algn="r">
              <a:lnSpc>
                <a:spcPct val="100000"/>
              </a:lnSpc>
            </a:pPr>
            <a:r>
              <a:rPr sz="1800">
                <a:solidFill>
                  <a:srgbClr val="4F5D6A"/>
                </a:solidFill>
                <a:latin typeface="Consolas"/>
              </a:rPr>
              <a:t>40</a:t>
            </a:r>
          </a:p>
          <a:p>
            <a:pPr algn="r">
              <a:lnSpc>
                <a:spcPct val="100000"/>
              </a:lnSpc>
            </a:pPr>
            <a:r>
              <a:rPr sz="1800">
                <a:solidFill>
                  <a:srgbClr val="4F5D6A"/>
                </a:solidFill>
                <a:latin typeface="Consolas"/>
              </a:rPr>
              <a:t>41</a:t>
            </a:r>
          </a:p>
          <a:p>
            <a:pPr algn="r">
              <a:lnSpc>
                <a:spcPct val="100000"/>
              </a:lnSpc>
            </a:pPr>
            <a:r>
              <a:rPr sz="1800">
                <a:solidFill>
                  <a:srgbClr val="4F5D6A"/>
                </a:solidFill>
                <a:latin typeface="Consolas"/>
              </a:rPr>
              <a:t>42</a:t>
            </a:r>
          </a:p>
          <a:p>
            <a:pPr algn="r">
              <a:lnSpc>
                <a:spcPct val="100000"/>
              </a:lnSpc>
            </a:pPr>
            <a:r>
              <a:rPr sz="1800">
                <a:solidFill>
                  <a:srgbClr val="4F5D6A"/>
                </a:solidFill>
                <a:latin typeface="Consolas"/>
              </a:rPr>
              <a:t>43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73131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Same Card, Three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56     </a:t>
            </a:r>
            <a:fld id="{2FD3328A-F5DC-4AC9-A2C9-5DFB63B3ACBF}"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Look at the virtqueues themselves.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761743"/>
          </a:xfrm>
          <a:prstGeom prst="roundRect">
            <a:avLst>
              <a:gd name="adj" fmla="val 5190"/>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6. Look at the virtqueues themselves. ---------------------------- # One queue pair per vCPU is the usual arrangement; each is a ring in # memory that both sides can see, exactly as the definition box says. G &quot;ls /sys/class/net/*/queues/ ; ethtool -l ens3 2&gt;/dev/null || true&quot;"/>
          <p:cNvSpPr txBox="1"/>
          <p:nvPr/>
        </p:nvSpPr>
        <p:spPr>
          <a:xfrm>
            <a:off x="1362456" y="2523744"/>
            <a:ext cx="9987991" cy="126796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--- 6. Look at the virtqueues themselves. ----------------------------</a:t>
            </a:r>
          </a:p>
          <a:p>
            <a:pPr>
              <a:lnSpc>
                <a:spcPct val="100000"/>
              </a:lnSpc>
              <a:spcAft>
                <a:spcPts val="0"/>
              </a:spcAft>
            </a:pPr>
            <a:r>
              <a:rPr sz="1900" i="1">
                <a:solidFill>
                  <a:srgbClr val="8795A1"/>
                </a:solidFill>
                <a:latin typeface="Consolas"/>
              </a:rPr>
              <a:t># One queue pair per vCPU is the usual arrangement; each is a ring in</a:t>
            </a:r>
          </a:p>
          <a:p>
            <a:pPr>
              <a:lnSpc>
                <a:spcPct val="100000"/>
              </a:lnSpc>
              <a:spcAft>
                <a:spcPts val="0"/>
              </a:spcAft>
            </a:pPr>
            <a:r>
              <a:rPr sz="1900" i="1">
                <a:solidFill>
                  <a:srgbClr val="8795A1"/>
                </a:solidFill>
                <a:latin typeface="Consolas"/>
              </a:rPr>
              <a:t># memory that both sides can see, exactly as the definition box says.</a:t>
            </a:r>
          </a:p>
          <a:p>
            <a:pPr>
              <a:lnSpc>
                <a:spcPct val="100000"/>
              </a:lnSpc>
              <a:spcAft>
                <a:spcPts val="0"/>
              </a:spcAft>
            </a:pPr>
            <a:r>
              <a:rPr sz="1900" i="0">
                <a:solidFill>
                  <a:srgbClr val="E8EDF2"/>
                </a:solidFill>
                <a:latin typeface="Consolas"/>
              </a:rPr>
              <a:t>G</a:t>
            </a:r>
            <a:r>
              <a:rPr sz="1900" i="0">
                <a:solidFill>
                  <a:srgbClr val="E8EDF2"/>
                </a:solidFill>
                <a:latin typeface="Consolas"/>
              </a:rPr>
              <a:t> </a:t>
            </a:r>
            <a:r>
              <a:rPr sz="1900" i="0">
                <a:solidFill>
                  <a:srgbClr val="7DCEA0"/>
                </a:solidFill>
                <a:latin typeface="Consolas"/>
              </a:rPr>
              <a:t>"ls /sys/class/net/*/queues/ ; ethtool -l ens3 2&gt;/dev/null || true"</a:t>
            </a:r>
          </a:p>
        </p:txBody>
      </p:sp>
      <p:sp>
        <p:nvSpPr>
          <p:cNvPr id="15" name="!!code-num"/>
          <p:cNvSpPr txBox="1"/>
          <p:nvPr/>
        </p:nvSpPr>
        <p:spPr>
          <a:xfrm>
            <a:off x="768096" y="2523744"/>
            <a:ext cx="393192" cy="126796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45</a:t>
            </a:r>
          </a:p>
          <a:p>
            <a:pPr algn="r">
              <a:lnSpc>
                <a:spcPct val="100000"/>
              </a:lnSpc>
            </a:pPr>
            <a:r>
              <a:rPr sz="1900">
                <a:solidFill>
                  <a:srgbClr val="4F5D6A"/>
                </a:solidFill>
                <a:latin typeface="Consolas"/>
              </a:rPr>
              <a:t>46</a:t>
            </a:r>
          </a:p>
          <a:p>
            <a:pPr algn="r">
              <a:lnSpc>
                <a:spcPct val="100000"/>
              </a:lnSpc>
            </a:pPr>
            <a:r>
              <a:rPr sz="1900">
                <a:solidFill>
                  <a:srgbClr val="4F5D6A"/>
                </a:solidFill>
                <a:latin typeface="Consolas"/>
              </a:rPr>
              <a:t>47</a:t>
            </a:r>
          </a:p>
          <a:p>
            <a:pPr algn="r">
              <a:lnSpc>
                <a:spcPct val="100000"/>
              </a:lnSpc>
            </a:pPr>
            <a:r>
              <a:rPr sz="1900">
                <a:solidFill>
                  <a:srgbClr val="4F5D6A"/>
                </a:solidFill>
                <a:latin typeface="Consolas"/>
              </a:rPr>
              <a:t>48</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028677"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Same Card, Three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56     </a:t>
            </a:r>
            <a:fld id="{14AA37F2-7557-4410-A85D-0C8784D45944}"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SR-IOV, if the host has a server NIC that supports it.</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340863"/>
          </a:xfrm>
          <a:prstGeom prst="roundRect">
            <a:avLst>
              <a:gd name="adj" fmla="val 39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7. SR-IOV, if the host has a server NIC that supports it. -------- # Read-only: creating VFs needs a capable card and IOMMU enabled. for d in /sys/class/net/*/device/sriov_totalvfs; do [ -e &quot;$d&quot; ] &amp;&amp; echo &quot;$d -&gt; $(cat &quot;$d&quot;) VFs available&quot; done ls /sys/kernel/iommu_groups 2&gt;/dev/null | wc -l"/>
          <p:cNvSpPr txBox="1"/>
          <p:nvPr/>
        </p:nvSpPr>
        <p:spPr>
          <a:xfrm>
            <a:off x="1362456" y="2523744"/>
            <a:ext cx="9987991" cy="1847087"/>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--- 7. SR-IOV, if the host has a server NIC that supports it. --------</a:t>
            </a:r>
          </a:p>
          <a:p>
            <a:pPr>
              <a:lnSpc>
                <a:spcPct val="100000"/>
              </a:lnSpc>
              <a:spcAft>
                <a:spcPts val="0"/>
              </a:spcAft>
            </a:pPr>
            <a:r>
              <a:rPr sz="1900" i="1">
                <a:solidFill>
                  <a:srgbClr val="8795A1"/>
                </a:solidFill>
                <a:latin typeface="Consolas"/>
              </a:rPr>
              <a:t># Read-only: creating VFs needs a capable card and IOMMU enabled.</a:t>
            </a:r>
          </a:p>
          <a:p>
            <a:pPr>
              <a:lnSpc>
                <a:spcPct val="100000"/>
              </a:lnSpc>
              <a:spcAft>
                <a:spcPts val="0"/>
              </a:spcAft>
            </a:pPr>
            <a:r>
              <a:rPr sz="1900" i="0">
                <a:solidFill>
                  <a:srgbClr val="5DADE2"/>
                </a:solidFill>
                <a:latin typeface="Consolas"/>
              </a:rPr>
              <a:t>for</a:t>
            </a:r>
            <a:r>
              <a:rPr sz="1900" i="0">
                <a:solidFill>
                  <a:srgbClr val="E8EDF2"/>
                </a:solidFill>
                <a:latin typeface="Consolas"/>
              </a:rPr>
              <a:t> </a:t>
            </a:r>
            <a:r>
              <a:rPr sz="1900" i="0">
                <a:solidFill>
                  <a:srgbClr val="E8EDF2"/>
                </a:solidFill>
                <a:latin typeface="Consolas"/>
              </a:rPr>
              <a:t>d</a:t>
            </a:r>
            <a:r>
              <a:rPr sz="1900" i="0">
                <a:solidFill>
                  <a:srgbClr val="E8EDF2"/>
                </a:solidFill>
                <a:latin typeface="Consolas"/>
              </a:rPr>
              <a:t> </a:t>
            </a:r>
            <a:r>
              <a:rPr sz="1900" i="0">
                <a:solidFill>
                  <a:srgbClr val="5DADE2"/>
                </a:solidFill>
                <a:latin typeface="Consolas"/>
              </a:rPr>
              <a:t>in</a:t>
            </a:r>
            <a:r>
              <a:rPr sz="1900" i="0">
                <a:solidFill>
                  <a:srgbClr val="E8EDF2"/>
                </a:solidFill>
                <a:latin typeface="Consolas"/>
              </a:rPr>
              <a:t> </a:t>
            </a:r>
            <a:r>
              <a:rPr sz="1900" i="0">
                <a:solidFill>
                  <a:srgbClr val="E8EDF2"/>
                </a:solidFill>
                <a:latin typeface="Consolas"/>
              </a:rPr>
              <a:t>/sys/class/net/*/device/sriov_totalvfs</a:t>
            </a:r>
            <a:r>
              <a:rPr sz="1900" i="0">
                <a:solidFill>
                  <a:srgbClr val="AEB6BF"/>
                </a:solidFill>
                <a:latin typeface="Consolas"/>
              </a:rPr>
              <a:t>;</a:t>
            </a:r>
            <a:r>
              <a:rPr sz="1900" i="0">
                <a:solidFill>
                  <a:srgbClr val="E8EDF2"/>
                </a:solidFill>
                <a:latin typeface="Consolas"/>
              </a:rPr>
              <a:t> </a:t>
            </a:r>
            <a:r>
              <a:rPr sz="1900" i="0">
                <a:solidFill>
                  <a:srgbClr val="5DADE2"/>
                </a:solidFill>
                <a:latin typeface="Consolas"/>
              </a:rPr>
              <a:t>do</a:t>
            </a:r>
          </a:p>
          <a:p>
            <a:pPr>
              <a:lnSpc>
                <a:spcPct val="100000"/>
              </a:lnSpc>
              <a:spcAft>
                <a:spcPts val="0"/>
              </a:spcAft>
            </a:pP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-e</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$d</a:t>
            </a:r>
            <a:r>
              <a:rPr sz="1900" i="0">
                <a:solidFill>
                  <a:srgbClr val="7DCEA0"/>
                </a:solidFill>
                <a:latin typeface="Consolas"/>
              </a:rPr>
              <a:t>"</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AEB6BF"/>
                </a:solidFill>
                <a:latin typeface="Consolas"/>
              </a:rPr>
              <a:t>&amp;&amp;</a:t>
            </a:r>
            <a:r>
              <a:rPr sz="1900" i="0">
                <a:solidFill>
                  <a:srgbClr val="E8EDF2"/>
                </a:solidFill>
                <a:latin typeface="Consolas"/>
              </a:rPr>
              <a:t> </a:t>
            </a:r>
            <a:r>
              <a:rPr sz="1900" i="0">
                <a:solidFill>
                  <a:srgbClr val="C39BD3"/>
                </a:solidFill>
                <a:latin typeface="Consolas"/>
              </a:rPr>
              <a:t>echo</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$d</a:t>
            </a:r>
            <a:r>
              <a:rPr sz="1900" i="0">
                <a:solidFill>
                  <a:srgbClr val="7DCEA0"/>
                </a:solidFill>
                <a:latin typeface="Consolas"/>
              </a:rPr>
              <a:t> -&gt; </a:t>
            </a:r>
            <a:r>
              <a:rPr sz="1900" i="0">
                <a:solidFill>
                  <a:srgbClr val="5DADE2"/>
                </a:solidFill>
                <a:latin typeface="Consolas"/>
              </a:rPr>
              <a:t>$(</a:t>
            </a:r>
            <a:r>
              <a:rPr sz="1900" i="0">
                <a:solidFill>
                  <a:srgbClr val="E8EDF2"/>
                </a:solidFill>
                <a:latin typeface="Consolas"/>
              </a:rPr>
              <a:t>cat</a:t>
            </a:r>
            <a:r>
              <a:rPr sz="1900" i="0">
                <a:solidFill>
                  <a:srgbClr val="E8EDF2"/>
                </a:solidFill>
                <a:latin typeface="Consolas"/>
              </a:rPr>
              <a:t> </a:t>
            </a:r>
            <a:r>
              <a:rPr sz="1900" i="0">
                <a:solidFill>
                  <a:srgbClr val="7DCEA0"/>
                </a:solidFill>
                <a:latin typeface="Consolas"/>
              </a:rPr>
              <a:t>"</a:t>
            </a:r>
            <a:r>
              <a:rPr sz="1900" i="0">
                <a:solidFill>
                  <a:srgbClr val="E8EDF2"/>
                </a:solidFill>
                <a:latin typeface="Consolas"/>
              </a:rPr>
              <a:t>$d</a:t>
            </a:r>
            <a:r>
              <a:rPr sz="1900" i="0">
                <a:solidFill>
                  <a:srgbClr val="7DCEA0"/>
                </a:solidFill>
                <a:latin typeface="Consolas"/>
              </a:rPr>
              <a:t>"</a:t>
            </a:r>
            <a:r>
              <a:rPr sz="1900" i="0">
                <a:solidFill>
                  <a:srgbClr val="5DADE2"/>
                </a:solidFill>
                <a:latin typeface="Consolas"/>
              </a:rPr>
              <a:t>)</a:t>
            </a:r>
            <a:r>
              <a:rPr sz="1900" i="0">
                <a:solidFill>
                  <a:srgbClr val="7DCEA0"/>
                </a:solidFill>
                <a:latin typeface="Consolas"/>
              </a:rPr>
              <a:t> VFs available</a:t>
            </a:r>
            <a:r>
              <a:rPr sz="1900" i="0">
                <a:solidFill>
                  <a:srgbClr val="7DCEA0"/>
                </a:solidFill>
                <a:latin typeface="Consolas"/>
              </a:rPr>
              <a:t>"</a:t>
            </a:r>
          </a:p>
          <a:p>
            <a:pPr>
              <a:lnSpc>
                <a:spcPct val="100000"/>
              </a:lnSpc>
              <a:spcAft>
                <a:spcPts val="0"/>
              </a:spcAft>
            </a:pPr>
            <a:r>
              <a:rPr sz="1900" i="0">
                <a:solidFill>
                  <a:srgbClr val="5DADE2"/>
                </a:solidFill>
                <a:latin typeface="Consolas"/>
              </a:rPr>
              <a:t>done</a:t>
            </a:r>
          </a:p>
          <a:p>
            <a:pPr>
              <a:lnSpc>
                <a:spcPct val="100000"/>
              </a:lnSpc>
              <a:spcAft>
                <a:spcPts val="0"/>
              </a:spcAft>
            </a:pPr>
            <a:r>
              <a:rPr sz="1900" i="0">
                <a:solidFill>
                  <a:srgbClr val="E8EDF2"/>
                </a:solidFill>
                <a:latin typeface="Consolas"/>
              </a:rPr>
              <a:t>ls</a:t>
            </a:r>
            <a:r>
              <a:rPr sz="1900" i="0">
                <a:solidFill>
                  <a:srgbClr val="E8EDF2"/>
                </a:solidFill>
                <a:latin typeface="Consolas"/>
              </a:rPr>
              <a:t> </a:t>
            </a:r>
            <a:r>
              <a:rPr sz="1900" i="0">
                <a:solidFill>
                  <a:srgbClr val="E8EDF2"/>
                </a:solidFill>
                <a:latin typeface="Consolas"/>
              </a:rPr>
              <a:t>/sys/kernel/iommu_groups</a:t>
            </a:r>
            <a:r>
              <a:rPr sz="1900" i="0">
                <a:solidFill>
                  <a:srgbClr val="E8EDF2"/>
                </a:solidFill>
                <a:latin typeface="Consolas"/>
              </a:rPr>
              <a:t> </a:t>
            </a:r>
            <a:r>
              <a:rPr sz="1900" i="0">
                <a:solidFill>
                  <a:srgbClr val="F7DC6F"/>
                </a:solidFill>
                <a:latin typeface="Consolas"/>
              </a:rPr>
              <a:t>2</a:t>
            </a:r>
            <a:r>
              <a:rPr sz="1900" i="0">
                <a:solidFill>
                  <a:srgbClr val="E8EDF2"/>
                </a:solidFill>
                <a:latin typeface="Consolas"/>
              </a:rPr>
              <a:t>&gt;/dev/null</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E8EDF2"/>
                </a:solidFill>
                <a:latin typeface="Consolas"/>
              </a:rPr>
              <a:t>wc</a:t>
            </a:r>
            <a:r>
              <a:rPr sz="1900" i="0">
                <a:solidFill>
                  <a:srgbClr val="E8EDF2"/>
                </a:solidFill>
                <a:latin typeface="Consolas"/>
              </a:rPr>
              <a:t> </a:t>
            </a:r>
            <a:r>
              <a:rPr sz="1900" i="0">
                <a:solidFill>
                  <a:srgbClr val="E8EDF2"/>
                </a:solidFill>
                <a:latin typeface="Consolas"/>
              </a:rPr>
              <a:t>-l</a:t>
            </a:r>
          </a:p>
        </p:txBody>
      </p:sp>
      <p:sp>
        <p:nvSpPr>
          <p:cNvPr id="15" name="!!code-num"/>
          <p:cNvSpPr txBox="1"/>
          <p:nvPr/>
        </p:nvSpPr>
        <p:spPr>
          <a:xfrm>
            <a:off x="768096" y="2523744"/>
            <a:ext cx="393192" cy="1847087"/>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50</a:t>
            </a:r>
          </a:p>
          <a:p>
            <a:pPr algn="r">
              <a:lnSpc>
                <a:spcPct val="100000"/>
              </a:lnSpc>
            </a:pPr>
            <a:r>
              <a:rPr sz="1900">
                <a:solidFill>
                  <a:srgbClr val="4F5D6A"/>
                </a:solidFill>
                <a:latin typeface="Consolas"/>
              </a:rPr>
              <a:t>51</a:t>
            </a:r>
          </a:p>
          <a:p>
            <a:pPr algn="r">
              <a:lnSpc>
                <a:spcPct val="100000"/>
              </a:lnSpc>
            </a:pPr>
            <a:r>
              <a:rPr sz="1900">
                <a:solidFill>
                  <a:srgbClr val="4F5D6A"/>
                </a:solidFill>
                <a:latin typeface="Consolas"/>
              </a:rPr>
              <a:t>52</a:t>
            </a:r>
          </a:p>
          <a:p>
            <a:pPr algn="r">
              <a:lnSpc>
                <a:spcPct val="100000"/>
              </a:lnSpc>
            </a:pPr>
            <a:r>
              <a:rPr sz="1900">
                <a:solidFill>
                  <a:srgbClr val="4F5D6A"/>
                </a:solidFill>
                <a:latin typeface="Consolas"/>
              </a:rPr>
              <a:t>53</a:t>
            </a:r>
          </a:p>
          <a:p>
            <a:pPr algn="r">
              <a:lnSpc>
                <a:spcPct val="100000"/>
              </a:lnSpc>
            </a:pPr>
            <a:r>
              <a:rPr sz="1900">
                <a:solidFill>
                  <a:srgbClr val="4F5D6A"/>
                </a:solidFill>
                <a:latin typeface="Consolas"/>
              </a:rPr>
              <a:t>54</a:t>
            </a:r>
          </a:p>
          <a:p>
            <a:pPr algn="r">
              <a:lnSpc>
                <a:spcPct val="100000"/>
              </a:lnSpc>
            </a:pPr>
            <a:r>
              <a:rPr sz="1900">
                <a:solidFill>
                  <a:srgbClr val="4F5D6A"/>
                </a:solidFill>
                <a:latin typeface="Consolas"/>
              </a:rPr>
              <a:t>55</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26035"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Same Card, Three Ways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9</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56     </a:t>
            </a:r>
            <a:fld id="{B2981DC0-955B-4087-A812-3A9B2DFFE372}"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Restore and tear down.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1472184"/>
          </a:xfrm>
          <a:prstGeom prst="roundRect">
            <a:avLst>
              <a:gd name="adj" fmla="val 6211"/>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Shell</a:t>
            </a:r>
          </a:p>
        </p:txBody>
      </p:sp>
      <p:sp>
        <p:nvSpPr>
          <p:cNvPr id="14" name="!!code-text" descr="# --- 8. Restore and tear down. ---------------------------------------- sudo virsh destroy vss1 || true pkill iperf3 || true"/>
          <p:cNvSpPr txBox="1"/>
          <p:nvPr/>
        </p:nvSpPr>
        <p:spPr>
          <a:xfrm>
            <a:off x="1362456" y="2523744"/>
            <a:ext cx="9987991" cy="978408"/>
          </a:xfrm>
          <a:prstGeom prst="rect">
            <a:avLst/>
          </a:prstGeom>
          <a:noFill/>
        </p:spPr>
        <p:txBody>
          <a:bodyPr wrap="none" anchor="t" lIns="0" rIns="0" tIns="0" bIns="0">
            <a:noAutofit/>
          </a:bodyPr>
          <a:lstStyle/>
          <a:p>
            <a:pPr>
              <a:lnSpc>
                <a:spcPct val="100000"/>
              </a:lnSpc>
              <a:spcAft>
                <a:spcPts val="0"/>
              </a:spcAft>
            </a:pPr>
            <a:r>
              <a:rPr sz="1900" i="1">
                <a:solidFill>
                  <a:srgbClr val="8795A1"/>
                </a:solidFill>
                <a:latin typeface="Consolas"/>
              </a:rPr>
              <a:t># --- 8. Restore and tear down. ----------------------------------------</a:t>
            </a:r>
          </a:p>
          <a:p>
            <a:pPr>
              <a:lnSpc>
                <a:spcPct val="100000"/>
              </a:lnSpc>
              <a:spcAft>
                <a:spcPts val="0"/>
              </a:spcAft>
            </a:pPr>
            <a:r>
              <a:rPr sz="1900" i="0">
                <a:solidFill>
                  <a:srgbClr val="E8EDF2"/>
                </a:solidFill>
                <a:latin typeface="Consolas"/>
              </a:rPr>
              <a:t>sudo</a:t>
            </a:r>
            <a:r>
              <a:rPr sz="1900" i="0">
                <a:solidFill>
                  <a:srgbClr val="E8EDF2"/>
                </a:solidFill>
                <a:latin typeface="Consolas"/>
              </a:rPr>
              <a:t> </a:t>
            </a:r>
            <a:r>
              <a:rPr sz="1900" i="0">
                <a:solidFill>
                  <a:srgbClr val="E8EDF2"/>
                </a:solidFill>
                <a:latin typeface="Consolas"/>
              </a:rPr>
              <a:t>virsh</a:t>
            </a:r>
            <a:r>
              <a:rPr sz="1900" i="0">
                <a:solidFill>
                  <a:srgbClr val="E8EDF2"/>
                </a:solidFill>
                <a:latin typeface="Consolas"/>
              </a:rPr>
              <a:t> </a:t>
            </a:r>
            <a:r>
              <a:rPr sz="1900" i="0">
                <a:solidFill>
                  <a:srgbClr val="E8EDF2"/>
                </a:solidFill>
                <a:latin typeface="Consolas"/>
              </a:rPr>
              <a:t>destroy</a:t>
            </a:r>
            <a:r>
              <a:rPr sz="1900" i="0">
                <a:solidFill>
                  <a:srgbClr val="E8EDF2"/>
                </a:solidFill>
                <a:latin typeface="Consolas"/>
              </a:rPr>
              <a:t> </a:t>
            </a:r>
            <a:r>
              <a:rPr sz="1900" i="0">
                <a:solidFill>
                  <a:srgbClr val="E8EDF2"/>
                </a:solidFill>
                <a:latin typeface="Consolas"/>
              </a:rPr>
              <a:t>vss1</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a:p>
            <a:pPr>
              <a:lnSpc>
                <a:spcPct val="100000"/>
              </a:lnSpc>
              <a:spcAft>
                <a:spcPts val="0"/>
              </a:spcAft>
            </a:pPr>
            <a:r>
              <a:rPr sz="1900" i="0">
                <a:solidFill>
                  <a:srgbClr val="E8EDF2"/>
                </a:solidFill>
                <a:latin typeface="Consolas"/>
              </a:rPr>
              <a:t>pkill</a:t>
            </a:r>
            <a:r>
              <a:rPr sz="1900" i="0">
                <a:solidFill>
                  <a:srgbClr val="E8EDF2"/>
                </a:solidFill>
                <a:latin typeface="Consolas"/>
              </a:rPr>
              <a:t> </a:t>
            </a:r>
            <a:r>
              <a:rPr sz="1900" i="0">
                <a:solidFill>
                  <a:srgbClr val="E8EDF2"/>
                </a:solidFill>
                <a:latin typeface="Consolas"/>
              </a:rPr>
              <a:t>iperf3</a:t>
            </a:r>
            <a:r>
              <a:rPr sz="1900" i="0">
                <a:solidFill>
                  <a:srgbClr val="E8EDF2"/>
                </a:solidFill>
                <a:latin typeface="Consolas"/>
              </a:rPr>
              <a:t> </a:t>
            </a:r>
            <a:r>
              <a:rPr sz="1900" i="0">
                <a:solidFill>
                  <a:srgbClr val="AEB6BF"/>
                </a:solidFill>
                <a:latin typeface="Consolas"/>
              </a:rPr>
              <a:t>||</a:t>
            </a:r>
            <a:r>
              <a:rPr sz="1900" i="0">
                <a:solidFill>
                  <a:srgbClr val="E8EDF2"/>
                </a:solidFill>
                <a:latin typeface="Consolas"/>
              </a:rPr>
              <a:t> </a:t>
            </a:r>
            <a:r>
              <a:rPr sz="1900" i="0">
                <a:solidFill>
                  <a:srgbClr val="C39BD3"/>
                </a:solidFill>
                <a:latin typeface="Consolas"/>
              </a:rPr>
              <a:t>true</a:t>
            </a:r>
          </a:p>
        </p:txBody>
      </p:sp>
      <p:sp>
        <p:nvSpPr>
          <p:cNvPr id="15" name="!!code-num"/>
          <p:cNvSpPr txBox="1"/>
          <p:nvPr/>
        </p:nvSpPr>
        <p:spPr>
          <a:xfrm>
            <a:off x="768096" y="2523744"/>
            <a:ext cx="393192" cy="97840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57</a:t>
            </a:r>
          </a:p>
          <a:p>
            <a:pPr algn="r">
              <a:lnSpc>
                <a:spcPct val="100000"/>
              </a:lnSpc>
            </a:pPr>
            <a:r>
              <a:rPr sz="1900">
                <a:solidFill>
                  <a:srgbClr val="4F5D6A"/>
                </a:solidFill>
                <a:latin typeface="Consolas"/>
              </a:rPr>
              <a:t>58</a:t>
            </a:r>
          </a:p>
          <a:p>
            <a:pPr algn="r">
              <a:lnSpc>
                <a:spcPct val="100000"/>
              </a:lnSpc>
            </a:pPr>
            <a:r>
              <a:rPr sz="1900">
                <a:solidFill>
                  <a:srgbClr val="4F5D6A"/>
                </a:solidFill>
                <a:latin typeface="Consolas"/>
              </a:rPr>
              <a:t>59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623394"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§7.2  ·  Handout p. 56     </a:t>
            </a:r>
            <a:fld id="{D060DEAD-43A6-48E8-B4E0-01CA68B355CA}" type="slidenum">
              <a:rPr lang="en-GB" sz="1000">
                <a:solidFill>
                  <a:srgbClr val="8795A1"/>
                </a:solidFill>
                <a:latin typeface="Segoe UI"/>
              </a:rPr>
              <a:t>30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What to notice.</a:t>
            </a:r>
            <a:r>
              <a:rPr sz="2300" b="0" i="0">
                <a:solidFill>
                  <a:srgbClr val="1C252B"/>
                </a:solidFill>
                <a:latin typeface="Segoe UI"/>
              </a:rPr>
              <a:t> The three throughput figures should differ by roughly the ratios in the worked example, but look at the </a:t>
            </a:r>
            <a:r>
              <a:rPr sz="2150" b="0" i="0">
                <a:solidFill>
                  <a:srgbClr val="1F4E79"/>
                </a:solidFill>
                <a:latin typeface="Consolas"/>
              </a:rPr>
              <a:t>mpstat</a:t>
            </a:r>
            <a:r>
              <a:rPr sz="2300" b="0" i="0">
                <a:solidFill>
                  <a:srgbClr val="1C252B"/>
                </a:solidFill>
                <a:latin typeface="Segoe UI"/>
              </a:rPr>
              <a:t> output rather than the bandwidth: the emulated run burns host processor to move very little, and that — not the bandwidth — is what decides how many guests the host can hold.</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920752"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guest moves 0.2 Mpps while the host spends 1.6 cores serving it. Give the cost in host cores per Mpps, say which device model this almost certainly is, and give the one change you would make.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7  ·  Paravirtualization and Device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61  ·  answers in Appendix D     </a:t>
            </a:r>
            <a:fld id="{A550FAAF-1BB2-424B-834F-B49FEB8022CB}"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guest moves 0.2 Mpps while the host spends 1.6 cores serving it. Give the cost in host cores per Mpps, say which device model this almost certainly is, and give the one change you would make.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1743456"/>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Cambria"/>
              </a:rPr>
              <a:t>1.6/0.2 = </a:t>
            </a:r>
            <a:r>
              <a:rPr sz="2200" b="1" i="0">
                <a:solidFill>
                  <a:srgbClr val="1C252B"/>
                </a:solidFill>
                <a:latin typeface="Cambria"/>
              </a:rPr>
              <a:t>8.0</a:t>
            </a:r>
            <a:r>
              <a:rPr sz="2200" b="0" i="0">
                <a:solidFill>
                  <a:srgbClr val="1C252B"/>
                </a:solidFill>
                <a:latin typeface="Segoe UI"/>
              </a:rPr>
              <a:t> host cores per Mpps, roughly twenty-five times what vhost costs. That figure, together with the very low packet rate, is the signature of an </a:t>
            </a:r>
            <a:r>
              <a:rPr sz="2200" b="1" i="0">
                <a:solidFill>
                  <a:srgbClr val="1C252B"/>
                </a:solidFill>
                <a:latin typeface="Segoe UI"/>
              </a:rPr>
              <a:t>emulated network adapter</a:t>
            </a:r>
            <a:r>
              <a:rPr sz="2200" b="0" i="0">
                <a:solidFill>
                  <a:srgbClr val="1C252B"/>
                </a:solidFill>
                <a:latin typeface="Segoe UI"/>
              </a:rPr>
              <a:t> — an e1000 or similar, where every device register access is a VM exit. Change the interface model to </a:t>
            </a:r>
            <a:r>
              <a:rPr sz="2200" b="1" i="0">
                <a:solidFill>
                  <a:srgbClr val="1C252B"/>
                </a:solidFill>
                <a:latin typeface="Segoe UI"/>
              </a:rPr>
              <a:t>virtio</a:t>
            </a:r>
            <a:r>
              <a:rPr sz="2200" b="0" i="0">
                <a:solidFill>
                  <a:srgbClr val="1C252B"/>
                </a:solidFill>
                <a:latin typeface="Segoe UI"/>
              </a:rPr>
              <a:t>, and enable vhost; expect the rate to rise by an order of magnitude and the host CPU to fall.</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  answers in Appendix D     </a:t>
            </a:r>
            <a:fld id="{D438CA54-C043-4BF3-918B-3E7846D5CE0E}"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51546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Explain why a virtio guest’s exit rate per request </a:t>
            </a:r>
            <a:r>
              <a:rPr sz="3400" b="0" i="1">
                <a:solidFill>
                  <a:srgbClr val="FFFFFF"/>
                </a:solidFill>
                <a:latin typeface="Segoe UI Semibold"/>
              </a:rPr>
              <a:t>falls</a:t>
            </a:r>
            <a:r>
              <a:rPr sz="3400" b="0" i="0">
                <a:solidFill>
                  <a:srgbClr val="FFFFFF"/>
                </a:solidFill>
                <a:latin typeface="Segoe UI Semibold"/>
              </a:rPr>
              <a:t> as load rises, and name the mechanism.</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7  ·  Paravirtualization and Device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61  ·  answers in Appendix D     </a:t>
            </a:r>
            <a:fld id="{459AC54F-2A3E-4422-A920-1D705386D1FF}"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Explain why a virtio guest’s exit rate per request </a:t>
            </a:r>
            <a:r>
              <a:rPr sz="2400" b="0" i="1">
                <a:solidFill>
                  <a:srgbClr val="1A5276"/>
                </a:solidFill>
                <a:latin typeface="Segoe UI Semibold"/>
              </a:rPr>
              <a:t>falls</a:t>
            </a:r>
            <a:r>
              <a:rPr sz="2400" b="0" i="0">
                <a:solidFill>
                  <a:srgbClr val="1A5276"/>
                </a:solidFill>
                <a:latin typeface="Segoe UI Semibold"/>
              </a:rPr>
              <a:t> as load rises, and name the mechanism.</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the exit is caused by the </a:t>
            </a:r>
            <a:r>
              <a:rPr sz="2200" b="0" i="1">
                <a:solidFill>
                  <a:srgbClr val="1C252B"/>
                </a:solidFill>
                <a:latin typeface="Segoe UI"/>
              </a:rPr>
              <a:t>doorbell</a:t>
            </a:r>
            <a:r>
              <a:rPr sz="2200" b="0" i="0">
                <a:solidFill>
                  <a:srgbClr val="1C252B"/>
                </a:solidFill>
                <a:latin typeface="Segoe UI"/>
              </a:rPr>
              <a:t>, not by the request. A guest places buffers in the shared virtqueue with ordinary memory writes, which cost nothing, and rings the doorbell once to say work is waiting — and one doorbell can cover a hundred queued requests. Under load the back-end is already polling the ring and finds new work without being told, so the guest can suppress notification entirely. The mechanism is </a:t>
            </a:r>
            <a:r>
              <a:rPr sz="2200" b="1" i="0">
                <a:solidFill>
                  <a:srgbClr val="1C252B"/>
                </a:solidFill>
                <a:latin typeface="Segoe UI"/>
              </a:rPr>
              <a:t>batching with notification suppression</a:t>
            </a:r>
            <a:r>
              <a:rPr sz="2200" b="0" i="0">
                <a:solidFill>
                  <a:srgbClr val="1C252B"/>
                </a:solidFill>
                <a:latin typeface="Segoe UI"/>
              </a:rPr>
              <a:t>, and it makes the exits-per-request ratio fall as the rate rises.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  answers in Appendix D     </a:t>
            </a:r>
            <a:fld id="{B151226E-7339-4589-BFDA-90821B617FE5}"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1018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team wants SR-IOV for twelve guests on a host that must stay patchable without downtime. Name the conflict, and give two ways to resolve it.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7  ·  Paravirtualization and Device Virtualization</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61  ·  answers in Appendix D     </a:t>
            </a:r>
            <a:fld id="{2541FC7A-B3D3-4EDF-AB18-DF10CC8F1EE7}"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A team wants SR-IOV for twelve guests on a host that must stay patchable without downtime. Name the conflict, and give two ways to resolve it.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1" i="0">
                <a:solidFill>
                  <a:srgbClr val="256B9A"/>
                </a:solidFill>
                <a:latin typeface="Segoe UI"/>
              </a:rPr>
              <a:t>The conflict:</a:t>
            </a:r>
            <a:r>
              <a:rPr sz="2200" b="0" i="0">
                <a:solidFill>
                  <a:srgbClr val="1C252B"/>
                </a:solidFill>
                <a:latin typeface="Segoe UI"/>
              </a:rPr>
              <a:t> SR-IOV virtual functions are assigned devices, so those twelve guests cannot be live-migrated, and live migration is how a host is patched without downtime. Two resolutions: (i) </a:t>
            </a:r>
            <a:r>
              <a:rPr sz="2200" b="0" i="1">
                <a:solidFill>
                  <a:srgbClr val="1C252B"/>
                </a:solidFill>
                <a:latin typeface="Segoe UI"/>
              </a:rPr>
              <a:t>bonded failover</a:t>
            </a:r>
            <a:r>
              <a:rPr sz="2200" b="0" i="0">
                <a:solidFill>
                  <a:srgbClr val="1C252B"/>
                </a:solidFill>
                <a:latin typeface="Segoe UI"/>
              </a:rPr>
              <a:t> — give each guest a VF and a virtio interface in a bond, detach the VF before migrating and reattach it afterwards, accepting reduced throughput during the move; (ii) </a:t>
            </a:r>
            <a:r>
              <a:rPr sz="2200" b="0" i="1">
                <a:solidFill>
                  <a:srgbClr val="1C252B"/>
                </a:solidFill>
                <a:latin typeface="Segoe UI"/>
              </a:rPr>
              <a:t>scheduled downtime for those twelve guests only</a:t>
            </a:r>
            <a:r>
              <a:rPr sz="2200" b="0" i="0">
                <a:solidFill>
                  <a:srgbClr val="1C252B"/>
                </a:solidFill>
                <a:latin typeface="Segoe UI"/>
              </a:rPr>
              <a:t>, documented as an exception at design time rather than discovered at the first patch window.</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  answers in Appendix D     </a:t>
            </a:r>
            <a:fld id="{A8EE5FA5-0A51-438C-A394-EDEE23506B25}"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704903"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a:t>
            </a:r>
            <a:fld id="{CA1CD326-519C-48EF-B840-EDD56AB09AEA}" type="slidenum">
              <a:rPr lang="en-GB" sz="1000">
                <a:solidFill>
                  <a:srgbClr val="8795A1"/>
                </a:solidFill>
                <a:latin typeface="Segoe UI"/>
              </a:rPr>
              <a:t>37</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Three device models: emulation (no guest changes, dozens of exits per I/O), paravirtualization (a driver in the guest, one exit per batch), and passthrough (the guest drives real hardware, no exits).</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virtio splits the driver in two around a virtqueue in shared memory. The guest fills the ring with ordinary writes and rings a doorbell once per batch, so the crossing rate per request falls as load rises.</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vhost moves the back-end into the host kernel; vhost-user moves it to a polling user-space switch. Both remove crossings rather than making them cheaper.</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SR-IOV makes one card present many virtual functions, each assignable to a guest, with the IOMMU confining each one’s DMA.</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Passthrough costs live migration, memory overcommit, snapshots, hardware independence and host visibility. Memory must be pinned for the guest’s whole life.</a:t>
            </a:r>
          </a:p>
        </p:txBody>
      </p:sp>
      <p:sp>
        <p:nvSpPr>
          <p:cNvPr id="22" name="!!sb5">
            <a:extLst>
              <a:ext uri="{C183D7F6-B498-43B3-948B-1728B52AA6E4}">
                <adec:decorative xmlns:adec="http://schemas.microsoft.com/office/drawing/2017/decorative" val="1"/>
              </a:ext>
            </a:extLst>
          </p:cNvPr>
          <p:cNvSpPr/>
          <p:nvPr/>
        </p:nvSpPr>
        <p:spPr>
          <a:xfrm>
            <a:off x="658368" y="53553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4102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3461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Most estates run virtio with vhost, and reserve passthrough for the few guests that genuinely need line rate.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1002261"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a:t>
            </a:r>
            <a:fld id="{D109E3DF-2495-47B8-A2CC-D55641F36F51}" type="slidenum">
              <a:rPr lang="en-GB" sz="1000">
                <a:solidFill>
                  <a:srgbClr val="8795A1"/>
                </a:solidFill>
                <a:latin typeface="Segoe UI"/>
              </a:rPr>
              <a:t>38</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virtqueue consists of:</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single FIFO buffer</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descriptor table, an available ring and a used ring</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one ring per device register</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copy of the guest’s page tables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99619"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a:t>
            </a:r>
            <a:fld id="{57FB7A5C-15D3-4084-9D29-12063E91BA3A}" type="slidenum">
              <a:rPr lang="en-GB" sz="1000">
                <a:solidFill>
                  <a:srgbClr val="8795A1"/>
                </a:solidFill>
                <a:latin typeface="Segoe UI"/>
              </a:rPr>
              <a:t>39</a:t>
            </a:fld>
          </a:p>
        </p:txBody>
      </p:sp>
      <p:sp>
        <p:nvSpPr>
          <p:cNvPr id="7" name="!!mstem"/>
          <p:cNvSpPr txBox="1"/>
          <p:nvPr/>
        </p:nvSpPr>
        <p:spPr>
          <a:xfrm>
            <a:off x="658368" y="1737360"/>
            <a:ext cx="10874959" cy="86989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Assigning a physical device to a guest requires every page of that guest’s memory to be pinned because:</a:t>
            </a:r>
          </a:p>
        </p:txBody>
      </p:sp>
      <p:sp>
        <p:nvSpPr>
          <p:cNvPr id="8" name="!!mo0">
            <a:extLst>
              <a:ext uri="{C183D7F6-B498-43B3-948B-1728B52AA6E4}">
                <adec:decorative xmlns:adec="http://schemas.microsoft.com/office/drawing/2017/decorative" val="1"/>
              </a:ext>
            </a:extLst>
          </p:cNvPr>
          <p:cNvSpPr/>
          <p:nvPr/>
        </p:nvSpPr>
        <p:spPr>
          <a:xfrm>
            <a:off x="658368"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320161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32778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guest runs faster</a:t>
            </a:r>
          </a:p>
        </p:txBody>
      </p:sp>
      <p:sp>
        <p:nvSpPr>
          <p:cNvPr id="12" name="!!mo1">
            <a:extLst>
              <a:ext uri="{C183D7F6-B498-43B3-948B-1728B52AA6E4}">
                <adec:decorative xmlns:adec="http://schemas.microsoft.com/office/drawing/2017/decorative" val="1"/>
              </a:ext>
            </a:extLst>
          </p:cNvPr>
          <p:cNvSpPr/>
          <p:nvPr/>
        </p:nvSpPr>
        <p:spPr>
          <a:xfrm>
            <a:off x="6214719" y="292729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320161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328391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312541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device performs DMA to addresses that must stay valid</a:t>
            </a:r>
          </a:p>
        </p:txBody>
      </p:sp>
      <p:sp>
        <p:nvSpPr>
          <p:cNvPr id="16" name="!!mo2">
            <a:extLst>
              <a:ext uri="{C183D7F6-B498-43B3-948B-1728B52AA6E4}">
                <adec:decorative xmlns:adec="http://schemas.microsoft.com/office/drawing/2017/decorative" val="1"/>
              </a:ext>
            </a:extLst>
          </p:cNvPr>
          <p:cNvSpPr/>
          <p:nvPr/>
        </p:nvSpPr>
        <p:spPr>
          <a:xfrm>
            <a:off x="658368"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439033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IOMMU has no page tables</a:t>
            </a:r>
          </a:p>
        </p:txBody>
      </p:sp>
      <p:sp>
        <p:nvSpPr>
          <p:cNvPr id="20" name="!!mo3">
            <a:extLst>
              <a:ext uri="{C183D7F6-B498-43B3-948B-1728B52AA6E4}">
                <adec:decorative xmlns:adec="http://schemas.microsoft.com/office/drawing/2017/decorative" val="1"/>
              </a:ext>
            </a:extLst>
          </p:cNvPr>
          <p:cNvSpPr/>
          <p:nvPr/>
        </p:nvSpPr>
        <p:spPr>
          <a:xfrm>
            <a:off x="6214719" y="411601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4390339"/>
            <a:ext cx="457200" cy="457200"/>
          </a:xfrm>
          <a:prstGeom prst="roundRect">
            <a:avLst>
              <a:gd name="adj" fmla="val 50000"/>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47263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46653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live migration needs it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96978"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Virtual Systems and Services  ·  Chapter 7  ·  Paravirtualization and Device Virtualization</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61     </a:t>
            </a:r>
            <a:fld id="{6A1BBE73-33E5-49C6-8918-6CC5016E464E}" type="slidenum">
              <a:rPr lang="en-GB" sz="1000">
                <a:solidFill>
                  <a:srgbClr val="8795A1"/>
                </a:solidFill>
                <a:latin typeface="Segoe UI"/>
              </a:rPr>
              <a:t>40</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Explain the difference between a physical function and a virtual function, and say what each is used for.</a:t>
            </a:r>
          </a:p>
        </p:txBody>
      </p:sp>
      <p:sp>
        <p:nvSpPr>
          <p:cNvPr id="10" name="!!rt1">
            <a:extLst>
              <a:ext uri="{C183D7F6-B498-43B3-948B-1728B52AA6E4}">
                <adec:decorative xmlns:adec="http://schemas.microsoft.com/office/drawing/2017/decorative" val="1"/>
              </a:ext>
            </a:extLst>
          </p:cNvPr>
          <p:cNvSpPr/>
          <p:nvPr/>
        </p:nvSpPr>
        <p:spPr>
          <a:xfrm>
            <a:off x="658368" y="2513990"/>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55513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495702"/>
            <a:ext cx="95490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Why does emulation still exist, given that it is roughly fifty times more expensive per packet than the alternatives?</a:t>
            </a:r>
          </a:p>
        </p:txBody>
      </p:sp>
      <p:sp>
        <p:nvSpPr>
          <p:cNvPr id="13" name="!!rt2">
            <a:extLst>
              <a:ext uri="{C183D7F6-B498-43B3-948B-1728B52AA6E4}">
                <adec:decorative xmlns:adec="http://schemas.microsoft.com/office/drawing/2017/decorative" val="1"/>
              </a:ext>
            </a:extLst>
          </p:cNvPr>
          <p:cNvSpPr/>
          <p:nvPr/>
        </p:nvSpPr>
        <p:spPr>
          <a:xfrm>
            <a:off x="658368" y="3272332"/>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313480"/>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254044"/>
            <a:ext cx="9549079" cy="269443"/>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State three capabilities a guest loses when a device is assigned to it, with the reason for each.</a:t>
            </a:r>
          </a:p>
        </p:txBody>
      </p:sp>
      <p:sp>
        <p:nvSpPr>
          <p:cNvPr id="16" name="!!rt3">
            <a:extLst>
              <a:ext uri="{C183D7F6-B498-43B3-948B-1728B52AA6E4}">
                <adec:decorative xmlns:adec="http://schemas.microsoft.com/office/drawing/2017/decorative" val="1"/>
              </a:ext>
            </a:extLst>
          </p:cNvPr>
          <p:cNvSpPr/>
          <p:nvPr/>
        </p:nvSpPr>
        <p:spPr>
          <a:xfrm>
            <a:off x="658368" y="3761231"/>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802380"/>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742943"/>
            <a:ext cx="9549079" cy="80832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virtual firewall must inspect 10 Gb/s of small-packet traffic. The estate’s standard is virtio with vhost and all guests are live migrated for monthly patching. Recommend a device model, state what it costs, and describe how you would keep the host patchable anyway.</a:t>
            </a:r>
          </a:p>
        </p:txBody>
      </p:sp>
      <p:sp>
        <p:nvSpPr>
          <p:cNvPr id="19" name="!!rt4">
            <a:extLst>
              <a:ext uri="{C183D7F6-B498-43B3-948B-1728B52AA6E4}">
                <adec:decorative xmlns:adec="http://schemas.microsoft.com/office/drawing/2017/decorative" val="1"/>
              </a:ext>
            </a:extLst>
          </p:cNvPr>
          <p:cNvSpPr/>
          <p:nvPr/>
        </p:nvSpPr>
        <p:spPr>
          <a:xfrm>
            <a:off x="658368" y="4789017"/>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83016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770729"/>
            <a:ext cx="9549079" cy="107777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A host of 64 cores runs 30 guests, all on emulated e1000 adapters because that was the template default. Using the worked example’s figures, estimate the host processor currently spent on device emulation, say what you would change, and describe how you would roll the change out without an outage.</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94336" cy="54864"/>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36794"/>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5739D"/>
                </a:solidFill>
                <a:latin typeface="Segoe UI Black"/>
              </a:rPr>
              <a:t>07</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7</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8 — From Virtual Machines to Containers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7, pages 53–61</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Emulated, virtio and vhost, measured</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B507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BC5D6"/>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Quiz 1 (Ch 1–7)</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Virtual Systems and Services  ·  Chapter 7  ·  Paravirtualization and Device Virtualization</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DA960532-D43E-484F-A16F-3EDA4AD3AB69}" type="slidenum">
              <a:rPr lang="en-GB" sz="1000">
                <a:solidFill>
                  <a:srgbClr val="D5DEE5"/>
                </a:solidFill>
                <a:latin typeface="Segoe UI"/>
              </a:rPr>
              <a:t>41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Virtual Systems and Services Fall 2026">
  <a:themeElements>
    <a:clrScheme name="Virtual Systems and Services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Virtual Systems and Services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Paravirtualization and Device Virtualization</dc:title>
  <dc:subject>Virtual Systems and Services — From Hypervisors to the Cloud-Native Stack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