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7.svg" ContentType="image/svg+xml"/>
  <Override PartName="/ppt/media/image19.svg" ContentType="image/svg+xml"/>
  <Override PartName="/ppt/media/image20.svg" ContentType="image/svg+xml"/>
  <Override PartName="/ppt/media/image22.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2.svg" ContentType="image/svg+xml"/>
  <Override PartName="/ppt/media/image34.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2.svg" ContentType="image/svg+xml"/>
  <Override PartName="/ppt/media/image43.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6.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4.svg" ContentType="image/svg+xml"/>
  <Override PartName="/ppt/media/image66.svg" ContentType="image/svg+xml"/>
  <Override PartName="/ppt/media/image67.svg" ContentType="image/svg+xml"/>
  <Override PartName="/ppt/media/image68.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642321F-03BB-4567-8110-0DC757D1CAF1}">
          <p14:sldIdLst>
            <p14:sldId id="256"/>
            <p14:sldId id="257"/>
            <p14:sldId id="258"/>
            <p14:sldId id="259"/>
            <p14:sldId id="260"/>
          </p14:sldIdLst>
        </p14:section>
        <p14:section name="14.1 What Makes a Cloud a Cloud" id="{727C08EB-3209-4748-BB41-6F10C48C25C5}">
          <p14:sldIdLst>
            <p14:sldId id="261"/>
            <p14:sldId id="262"/>
            <p14:sldId id="263"/>
          </p14:sldIdLst>
        </p14:section>
        <p14:section name="14.2 The Service Models" id="{1BE0FBE5-E184-4D78-9B1F-7244D87109DB}">
          <p14:sldIdLst>
            <p14:sldId id="264"/>
            <p14:sldId id="265"/>
            <p14:sldId id="266"/>
          </p14:sldIdLst>
        </p14:section>
        <p14:section name="14.3 Deployment Models, and What an Instance Is" id="{1C6433CA-8377-4FCC-BB4E-CC2A95FD4414}">
          <p14:sldIdLst>
            <p14:sldId id="267"/>
          </p14:sldIdLst>
        </p14:section>
        <p14:section name="14.4 Paying For It" id="{07DB7DD7-5762-4101-B4EF-F63994638647}">
          <p14:sldIdLst>
            <p14:sldId id="268"/>
            <p14:sldId id="269"/>
            <p14:sldId id="270"/>
            <p14:sldId id="271"/>
            <p14:sldId id="272"/>
            <p14:sldId id="273"/>
            <p14:sldId id="274"/>
            <p14:sldId id="275"/>
          </p14:sldIdLst>
        </p14:section>
        <p14:section name="14.5 Shared Responsibility" id="{8AD04229-908D-465F-9A9C-E1B5603AE45A}">
          <p14:sldIdLst>
            <p14:sldId id="276"/>
          </p14:sldIdLst>
        </p14:section>
        <p14:section name="Pitfalls" id="{E4CAD231-AADE-46E1-B7A3-C1C7C3665929}">
          <p14:sldIdLst>
            <p14:sldId id="277"/>
            <p14:sldId id="278"/>
          </p14:sldIdLst>
        </p14:section>
        <p14:section name="Lab" id="{EC8FC99B-A42E-4563-B4F9-CB22C89C4F4C}">
          <p14:sldIdLst>
            <p14:sldId id="279"/>
            <p14:sldId id="280"/>
            <p14:sldId id="281"/>
            <p14:sldId id="282"/>
            <p14:sldId id="283"/>
            <p14:sldId id="284"/>
            <p14:sldId id="285"/>
            <p14:sldId id="286"/>
            <p14:sldId id="287"/>
            <p14:sldId id="288"/>
          </p14:sldIdLst>
        </p14:section>
        <p14:section name="Checkpoint" id="{2000D6BA-9884-46B7-B1DB-4EEECFAB12E4}">
          <p14:sldIdLst>
            <p14:sldId id="289"/>
            <p14:sldId id="290"/>
            <p14:sldId id="291"/>
            <p14:sldId id="292"/>
            <p14:sldId id="293"/>
            <p14:sldId id="294"/>
          </p14:sldIdLst>
        </p14:section>
        <p14:section name="Wrap-up" id="{46D176C0-64AC-4537-A222-54B08EF98D8A}">
          <p14:sldIdLst>
            <p14:sldId id="295"/>
            <p14:sldId id="296"/>
            <p14:sldId id="297"/>
            <p14:sldId id="298"/>
            <p14:sldId id="29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14: Cloud Service and Deployment Models. Part 4 — Storage, Network and Cloud Virtualization. Week 11: Cloud service and deployment models. Handout pages 108–115.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Everything so far. An instance is Chapter 5’s hypervisor, Chapter 6’s scheduler, Chapter 7’s virtio, Chapter 12’s thin pool and Chapter 13’s overlay, rented by the hour. This chapter adds no mechanism — only the commercial arrangement around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NIST definition; on-demand self-service; broad network access; resource pooling; rapid elasticity; measured service; IaaS; PaaS; SaaS; FaaS; serverless; public cloud; private cloud; hybrid; multi-cloud; region; availability zone; instance family; on-demand; reserved instance; savings plan; spot instance; egress; shared responsibility; total cost of ownership; lock-in.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is used loosely enough to be useless as a technical term, so it is worth having a test. The US National Institute of Standards and Technology published one in 2011 and it has aged well: five characteristics, all five required.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models differ in one thing: where the line falls between what the provider operates and what you do.</a:t>
            </a:r>
          </a:p>
          <a:p/>
          <a:p>
            <a:r>
              <a:t>Figure 14.1 (handout p. 109): The service models as one picture. FaaS sits beside SaaS rather than beyond it, because what you still own there is code rather than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is a provider’s shared pool. Private is a pool for one organisation, on its premises or hosted. Hybrid connects the two, with workloads placed by policy. Multi-cloud spreads across more than one provider — usually for leverage or regulatory reasons, occasionally for availability, and always at the cost of using the least-common-denominator of both. A provider’s capacity is organised as regions (a geographic area, with its own pricing and its own legal jurisdiction) containing availability zones (independent data centres, separate power and cooling, linked by low-latency fibre). The rule that follows: spread across zones for availability, across regions for disaster recovery and for data residency.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to buy the same instance, differing in what you commit to.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provider publishes a version of the same diagram, and every provider’s version says the same thing: they are responsible for the security of the cloud, and you are responsible for security in it. Concretely, under IaaS the provider owns the physical facility, the hardware, the hypervisor and the network fabric. You own the guest operating system and its patching, your application, your data and its encryption, your identity and access configuration, and your firewall rules.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Launches the same instance on AWS, Azure and GCP free tiers, compares what each exposes, and tears everything down. Step 7 is not optional: a forgotten instance bills until somebody notices. Expect fifty minutes.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Authenticate to whichever accounts you have..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AWS: a free-tier instance..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Azure: the same shape..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GCP: likewise..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Ask each guest what it is running on..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What each one costs, from the provider's own API..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TEAR DOWN. Do this even if a step above failed..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Confirm nothing survives..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It satisfies on-demand self-service (departments provision themselves), broad network access, resource pooling and measured service (charged per guest-month). It fails rapid elasticity — specifically the ability to shrink. The hosts are bought; a department returning a guest frees a little electricity and nothing else, and the university cannot rent the spare capacity to anyone. It is a well-run virtualization estate with a cloud-like interface, which is valuable, but it does not have the economics.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10 × 5 × 52 = 2,600 hours a year at $0.2016 is $524 a year. A three-year reservation discounts the rate by 55% but commits you to paying continuously: 0.45 × 0.2016 × 8,760 = $795 a year. The reservation would therefore cost more than paying on demand, because the workload uses only 2,600/8,760 = 30% of the hours it would be committing to. Reservations pay for steady load, not for intermittent load at any discount.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customer’s side — under IaaS and under every provider’s shared responsibility model, data classification and access configuration belong to the customer. The provider’s default for object storage is private; somebody changed it. To stop it recurring: enable account-level public-access blocking so it cannot be set at all, scan for public buckets continuously, and require infrastructure as code (Chapter 16) so that a permission change is a reviewed commit rather than a click.</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15 — Desktop and Application Virtualization. READ: Handout Chapter 14, pages 108–115. THIS WEEK'S LAB: One workload on three clouds, then torn down. ASSESSMENT: Quiz 2 (Ch 10–14).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2.xml"/><Relationship Id="rId8" Type="http://schemas.openxmlformats.org/officeDocument/2006/relationships/slide" Target="slide13.xml"/><Relationship Id="rId9" Type="http://schemas.openxmlformats.org/officeDocument/2006/relationships/slide" Target="slide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7.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0.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image" Target="../media/image26.png"/><Relationship Id="rId7" Type="http://schemas.openxmlformats.org/officeDocument/2006/relationships/image" Target="../media/image27.svg"/><Relationship Id="rId8" Type="http://schemas.openxmlformats.org/officeDocument/2006/relationships/image" Target="../media/image28.png"/><Relationship Id="rId9" Type="http://schemas.openxmlformats.org/officeDocument/2006/relationships/image" Target="../media/image29.svg"/><Relationship Id="rId10" Type="http://schemas.openxmlformats.org/officeDocument/2006/relationships/image" Target="../media/image30.png"/><Relationship Id="rId11" Type="http://schemas.openxmlformats.org/officeDocument/2006/relationships/image" Target="../media/image31.svg"/><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32.svg"/><Relationship Id="rId4" Type="http://schemas.openxmlformats.org/officeDocument/2006/relationships/image" Target="../media/image33.png"/><Relationship Id="rId5" Type="http://schemas.openxmlformats.org/officeDocument/2006/relationships/image" Target="../media/image34.svg"/><Relationship Id="rId6" Type="http://schemas.openxmlformats.org/officeDocument/2006/relationships/image" Target="../media/image35.png"/><Relationship Id="rId7" Type="http://schemas.openxmlformats.org/officeDocument/2006/relationships/image" Target="../media/image36.svg"/><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37.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38.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39.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40.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3.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5.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6.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7.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8.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9.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50.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51.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52.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53.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54.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6.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8.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9.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0.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61.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2.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4.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6.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7.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8.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74EA0"/>
                </a:solidFill>
                <a:latin typeface="Segoe UI Black"/>
              </a:rPr>
              <a:t>14</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Cloud Service and Deployment Models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PART IV  ·  STORAGE, NETWORK AND CLOUD VIRTUALIZATION</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CHAPTER 14  ·  WEEK 11</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4D8EA"/>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82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C0AE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D0C3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C0AE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108     </a:t>
            </a:r>
            <a:fld id="{48064863-D04D-4237-ADD4-1F3DD38869F1}" type="slidenum">
              <a:rPr lang="en-GB" sz="1000">
                <a:solidFill>
                  <a:srgbClr val="8795A1"/>
                </a:solidFill>
                <a:latin typeface="Segoe UI"/>
              </a:rPr>
              <a:t>2</a:t>
            </a:fld>
          </a:p>
        </p:txBody>
      </p:sp>
      <p:sp>
        <p:nvSpPr>
          <p:cNvPr id="7" name="!!rp1"/>
          <p:cNvSpPr txBox="1"/>
          <p:nvPr/>
        </p:nvSpPr>
        <p:spPr>
          <a:xfrm>
            <a:off x="777240"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267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267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0679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0679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909131" y="1755648"/>
            <a:ext cx="1822916"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A3A95"/>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909131" y="2029967"/>
            <a:ext cx="1822916" cy="4572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12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12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9024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9024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257991"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1665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0991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0077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4909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3994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74358"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1829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940399"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8489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332120"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2406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732985" y="2112264"/>
            <a:ext cx="566928" cy="566928"/>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732985"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14</a:t>
            </a:r>
          </a:p>
        </p:txBody>
      </p:sp>
      <p:sp>
        <p:nvSpPr>
          <p:cNvPr id="47" name="!!dot15">
            <a:extLst>
              <a:ext uri="{C183D7F6-B498-43B3-948B-1728B52AA6E4}">
                <adec:decorative xmlns:adec="http://schemas.microsoft.com/office/drawing/2017/decorative" val="1"/>
              </a:ext>
            </a:extLst>
          </p:cNvPr>
          <p:cNvSpPr/>
          <p:nvPr/>
        </p:nvSpPr>
        <p:spPr>
          <a:xfrm>
            <a:off x="74264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3350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2499"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10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48422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3927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93370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8422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4090369"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A3A95"/>
                </a:solidFill>
                <a:latin typeface="Segoe UI"/>
              </a:rPr>
              <a:t>Cloud Service and Deployment Models</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5">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5">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5"/>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5  </a:t>
            </a:r>
            <a:r>
              <a:rPr sz="1400" b="0" i="0">
                <a:solidFill>
                  <a:srgbClr val="1C252B"/>
                </a:solidFill>
                <a:latin typeface="Segoe UI"/>
              </a:rPr>
              <a:t>Major Hypervisor Platforms</a:t>
            </a:r>
          </a:p>
        </p:txBody>
      </p:sp>
      <p:sp>
        <p:nvSpPr>
          <p:cNvPr id="70" name="!!chipBU6">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6">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6"/>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6  </a:t>
            </a:r>
            <a:r>
              <a:rPr sz="1400" b="0" i="0">
                <a:solidFill>
                  <a:srgbClr val="1C252B"/>
                </a:solidFill>
                <a:latin typeface="Segoe UI"/>
              </a:rPr>
              <a:t>CPU and Memory Virtualization</a:t>
            </a:r>
          </a:p>
        </p:txBody>
      </p:sp>
      <p:sp>
        <p:nvSpPr>
          <p:cNvPr id="73" name="!!chipBU7">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bBU7">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tBU7"/>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Paravirtualization and Device Virtualization</a:t>
            </a:r>
          </a:p>
        </p:txBody>
      </p:sp>
      <p:sp>
        <p:nvSpPr>
          <p:cNvPr id="76" name="!!chipBU12">
            <a:extLst>
              <a:ext uri="{C183D7F6-B498-43B3-948B-1728B52AA6E4}">
                <adec:decorative xmlns:adec="http://schemas.microsoft.com/office/drawing/2017/decorative" val="1"/>
              </a:ext>
            </a:extLst>
          </p:cNvPr>
          <p:cNvSpPr/>
          <p:nvPr/>
        </p:nvSpPr>
        <p:spPr>
          <a:xfrm>
            <a:off x="658368" y="5321808"/>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bBU12">
            <a:extLst>
              <a:ext uri="{C183D7F6-B498-43B3-948B-1728B52AA6E4}">
                <adec:decorative xmlns:adec="http://schemas.microsoft.com/office/drawing/2017/decorative" val="1"/>
              </a:ext>
            </a:extLst>
          </p:cNvPr>
          <p:cNvSpPr/>
          <p:nvPr/>
        </p:nvSpPr>
        <p:spPr>
          <a:xfrm>
            <a:off x="658368" y="5321808"/>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tBU12"/>
          <p:cNvSpPr txBox="1"/>
          <p:nvPr/>
        </p:nvSpPr>
        <p:spPr>
          <a:xfrm>
            <a:off x="859536"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12  </a:t>
            </a:r>
            <a:r>
              <a:rPr sz="1400" b="0" i="0">
                <a:solidFill>
                  <a:srgbClr val="1C252B"/>
                </a:solidFill>
                <a:latin typeface="Segoe UI"/>
              </a:rPr>
              <a:t>Storage Virtualization</a:t>
            </a:r>
          </a:p>
        </p:txBody>
      </p:sp>
      <p:sp>
        <p:nvSpPr>
          <p:cNvPr id="79" name="!!chipBU13">
            <a:extLst>
              <a:ext uri="{C183D7F6-B498-43B3-948B-1728B52AA6E4}">
                <adec:decorative xmlns:adec="http://schemas.microsoft.com/office/drawing/2017/decorative" val="1"/>
              </a:ext>
            </a:extLst>
          </p:cNvPr>
          <p:cNvSpPr/>
          <p:nvPr/>
        </p:nvSpPr>
        <p:spPr>
          <a:xfrm>
            <a:off x="658368" y="5833872"/>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bBU13">
            <a:extLst>
              <a:ext uri="{C183D7F6-B498-43B3-948B-1728B52AA6E4}">
                <adec:decorative xmlns:adec="http://schemas.microsoft.com/office/drawing/2017/decorative" val="1"/>
              </a:ext>
            </a:extLst>
          </p:cNvPr>
          <p:cNvSpPr/>
          <p:nvPr/>
        </p:nvSpPr>
        <p:spPr>
          <a:xfrm>
            <a:off x="658368" y="5833872"/>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chiptBU13"/>
          <p:cNvSpPr txBox="1"/>
          <p:nvPr/>
        </p:nvSpPr>
        <p:spPr>
          <a:xfrm>
            <a:off x="859536"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13  </a:t>
            </a:r>
            <a:r>
              <a:rPr sz="1400" b="0" i="0">
                <a:solidFill>
                  <a:srgbClr val="1C252B"/>
                </a:solidFill>
                <a:latin typeface="Segoe UI"/>
              </a:rPr>
              <a:t>Network Virtualization and SDN</a:t>
            </a:r>
          </a:p>
        </p:txBody>
      </p:sp>
      <p:sp>
        <p:nvSpPr>
          <p:cNvPr id="82"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83" name="!!chipUS16">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chipbUS16">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tUS16"/>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16  </a:t>
            </a:r>
            <a:r>
              <a:rPr sz="1400" b="0" i="0">
                <a:solidFill>
                  <a:srgbClr val="1C252B"/>
                </a:solidFill>
                <a:latin typeface="Segoe UI"/>
              </a:rPr>
              <a:t>Virtualization Management Platforms</a:t>
            </a:r>
          </a:p>
        </p:txBody>
      </p:sp>
      <p:sp>
        <p:nvSpPr>
          <p:cNvPr id="86" name="!!chipUS18">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bUS18">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8" name="!!chiptUS18"/>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18  </a:t>
            </a:r>
            <a:r>
              <a:rPr sz="1400" b="0" i="0">
                <a:solidFill>
                  <a:srgbClr val="1C252B"/>
                </a:solidFill>
                <a:latin typeface="Segoe UI"/>
              </a:rPr>
              <a:t>Performance Monitoring and Capacity Planning</a:t>
            </a:r>
          </a:p>
        </p:txBody>
      </p:sp>
      <p:sp>
        <p:nvSpPr>
          <p:cNvPr id="89" name="!!chipUS21">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bUS21">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1" name="!!chiptUS21"/>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21  </a:t>
            </a:r>
            <a:r>
              <a:rPr sz="1400" b="0" i="0">
                <a:solidFill>
                  <a:srgbClr val="1C252B"/>
                </a:solidFill>
                <a:latin typeface="Segoe UI"/>
              </a:rPr>
              <a:t>Confidential Computing and Emerging Hardware</a:t>
            </a:r>
          </a:p>
        </p:txBody>
      </p:sp>
      <p:sp>
        <p:nvSpPr>
          <p:cNvPr id="92" name="!!chipUS22">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bUS22">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4" name="!!chiptUS22"/>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22  </a:t>
            </a:r>
            <a:r>
              <a:rPr sz="1400" b="0" i="0">
                <a:solidFill>
                  <a:srgbClr val="1C252B"/>
                </a:solidFill>
                <a:latin typeface="Segoe UI"/>
              </a:rPr>
              <a:t>Case Studies in Enterprise and Cloud Virtualization</a:t>
            </a:r>
          </a:p>
        </p:txBody>
      </p:sp>
      <p:sp>
        <p:nvSpPr>
          <p:cNvPr id="95" name="!!chipUS23">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chipbUS23">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7" name="!!chiptUS23"/>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23  </a:t>
            </a:r>
            <a:r>
              <a:rPr sz="1400" b="0" i="0">
                <a:solidFill>
                  <a:srgbClr val="1C252B"/>
                </a:solidFill>
                <a:latin typeface="Segoe UI"/>
              </a:rPr>
              <a:t>The Semester Project</a:t>
            </a:r>
          </a:p>
        </p:txBody>
      </p:sp>
      <p:sp>
        <p:nvSpPr>
          <p:cNvPr id="9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9" name="!!pfill">
            <a:extLst>
              <a:ext uri="{C183D7F6-B498-43B3-948B-1728B52AA6E4}">
                <adec:decorative xmlns:adec="http://schemas.microsoft.com/office/drawing/2017/decorative" val="1"/>
              </a:ext>
            </a:extLst>
          </p:cNvPr>
          <p:cNvSpPr/>
          <p:nvPr/>
        </p:nvSpPr>
        <p:spPr>
          <a:xfrm>
            <a:off x="0" y="0"/>
            <a:ext cx="55416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108     </a:t>
            </a:r>
            <a:fld id="{3493E713-A6D8-4130-86BA-49F670D3DAC8}"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State</a:t>
            </a:r>
            <a:r>
              <a:rPr sz="2100" b="0" i="0">
                <a:solidFill>
                  <a:srgbClr val="1C252B"/>
                </a:solidFill>
                <a:latin typeface="Segoe UI"/>
              </a:rPr>
              <a:t> the five characteristics NIST requires of a cloud, and </a:t>
            </a:r>
            <a:r>
              <a:rPr sz="2100" b="1" i="0">
                <a:solidFill>
                  <a:srgbClr val="1C252B"/>
                </a:solidFill>
                <a:latin typeface="Segoe UI"/>
              </a:rPr>
              <a:t>test</a:t>
            </a:r>
            <a:r>
              <a:rPr sz="2100" b="0" i="0">
                <a:solidFill>
                  <a:srgbClr val="1C252B"/>
                </a:solidFill>
                <a:latin typeface="Segoe UI"/>
              </a:rPr>
              <a:t> a given service against them.</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Distinguish</a:t>
            </a:r>
            <a:r>
              <a:rPr sz="2100" b="0" i="0">
                <a:solidFill>
                  <a:srgbClr val="1C252B"/>
                </a:solidFill>
                <a:latin typeface="Segoe UI"/>
              </a:rPr>
              <a:t> IaaS, PaaS, SaaS and FaaS by what the provider operates and what you still own.</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Explain</a:t>
            </a:r>
            <a:r>
              <a:rPr sz="2100" b="0" i="0">
                <a:solidFill>
                  <a:srgbClr val="1C252B"/>
                </a:solidFill>
                <a:latin typeface="Segoe UI"/>
              </a:rPr>
              <a:t> the shared responsibility model and </a:t>
            </a:r>
            <a:r>
              <a:rPr sz="2100" b="1" i="0">
                <a:solidFill>
                  <a:srgbClr val="1C252B"/>
                </a:solidFill>
                <a:latin typeface="Segoe UI"/>
              </a:rPr>
              <a:t>identify</a:t>
            </a:r>
            <a:r>
              <a:rPr sz="2100" b="0" i="0">
                <a:solidFill>
                  <a:srgbClr val="1C252B"/>
                </a:solidFill>
                <a:latin typeface="Segoe UI"/>
              </a:rPr>
              <a:t> which side a given failure falls on.</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758537"/>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Compute</a:t>
            </a:r>
            <a:r>
              <a:rPr sz="2100" b="0" i="0">
                <a:solidFill>
                  <a:srgbClr val="1C252B"/>
                </a:solidFill>
                <a:latin typeface="Segoe UI"/>
              </a:rPr>
              <a:t> a three-year total cost of ownership for a workload on premises and in a cloud, and </a:t>
            </a:r>
            <a:r>
              <a:rPr sz="2100" b="1" i="0">
                <a:solidFill>
                  <a:srgbClr val="1C252B"/>
                </a:solidFill>
                <a:latin typeface="Segoe UI"/>
              </a:rPr>
              <a:t>say</a:t>
            </a:r>
            <a:r>
              <a:rPr sz="2100" b="0" i="0">
                <a:solidFill>
                  <a:srgbClr val="1C252B"/>
                </a:solidFill>
                <a:latin typeface="Segoe UI"/>
              </a:rPr>
              <a:t> which assumption dominates.</a:t>
            </a:r>
          </a:p>
        </p:txBody>
      </p:sp>
      <p:sp>
        <p:nvSpPr>
          <p:cNvPr id="20" name="!!ob4">
            <a:extLst>
              <a:ext uri="{C183D7F6-B498-43B3-948B-1728B52AA6E4}">
                <adec:decorative xmlns:adec="http://schemas.microsoft.com/office/drawing/2017/decorative" val="1"/>
              </a:ext>
            </a:extLst>
          </p:cNvPr>
          <p:cNvSpPr/>
          <p:nvPr/>
        </p:nvSpPr>
        <p:spPr>
          <a:xfrm>
            <a:off x="658368" y="5616244"/>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67568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607100"/>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Choose</a:t>
            </a:r>
            <a:r>
              <a:rPr sz="2100" b="0" i="0">
                <a:solidFill>
                  <a:srgbClr val="1C252B"/>
                </a:solidFill>
                <a:latin typeface="Segoe UI"/>
              </a:rPr>
              <a:t> a deployment and pricing model for a stated requirement, and </a:t>
            </a:r>
            <a:r>
              <a:rPr sz="2100" b="1" i="0">
                <a:solidFill>
                  <a:srgbClr val="1C252B"/>
                </a:solidFill>
                <a:latin typeface="Segoe UI"/>
              </a:rPr>
              <a:t>state</a:t>
            </a:r>
            <a:r>
              <a:rPr sz="2100" b="0" i="0">
                <a:solidFill>
                  <a:srgbClr val="1C252B"/>
                </a:solidFill>
                <a:latin typeface="Segoe UI"/>
              </a:rPr>
              <a:t> what it commits you to.</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3125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108     </a:t>
            </a:r>
            <a:fld id="{F238DE5D-98C3-40AC-9DFC-A2FF0455CE4E}" type="slidenum">
              <a:rPr lang="en-GB" sz="1000">
                <a:solidFill>
                  <a:srgbClr val="8795A1"/>
                </a:solidFill>
                <a:latin typeface="Segoe UI"/>
              </a:rPr>
              <a:t>4</a:t>
            </a:fld>
          </a:p>
        </p:txBody>
      </p:sp>
      <p:sp>
        <p:nvSpPr>
          <p:cNvPr id="7" name="!!term-NIST definitio">
            <a:extLst>
              <a:ext uri="{C183D7F6-B498-43B3-948B-1728B52AA6E4}">
                <adec:decorative xmlns:adec="http://schemas.microsoft.com/office/drawing/2017/decorative" val="1"/>
              </a:ext>
            </a:extLst>
          </p:cNvPr>
          <p:cNvSpPr/>
          <p:nvPr/>
        </p:nvSpPr>
        <p:spPr>
          <a:xfrm>
            <a:off x="658368" y="1847088"/>
            <a:ext cx="171183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NIST definitio">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NIST definitio"/>
          <p:cNvSpPr txBox="1"/>
          <p:nvPr/>
        </p:nvSpPr>
        <p:spPr>
          <a:xfrm>
            <a:off x="950976" y="1970532"/>
            <a:ext cx="152895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NIST definition</a:t>
            </a:r>
          </a:p>
        </p:txBody>
      </p:sp>
      <p:sp>
        <p:nvSpPr>
          <p:cNvPr id="10" name="!!term-on-demand self">
            <a:extLst>
              <a:ext uri="{C183D7F6-B498-43B3-948B-1728B52AA6E4}">
                <adec:decorative xmlns:adec="http://schemas.microsoft.com/office/drawing/2017/decorative" val="1"/>
              </a:ext>
            </a:extLst>
          </p:cNvPr>
          <p:cNvSpPr/>
          <p:nvPr/>
        </p:nvSpPr>
        <p:spPr>
          <a:xfrm>
            <a:off x="2516508" y="1847088"/>
            <a:ext cx="245309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on-demand self">
            <a:extLst>
              <a:ext uri="{C183D7F6-B498-43B3-948B-1728B52AA6E4}">
                <adec:decorative xmlns:adec="http://schemas.microsoft.com/office/drawing/2017/decorative" val="1"/>
              </a:ext>
            </a:extLst>
          </p:cNvPr>
          <p:cNvSpPr/>
          <p:nvPr/>
        </p:nvSpPr>
        <p:spPr>
          <a:xfrm>
            <a:off x="264452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on-demand self"/>
          <p:cNvSpPr txBox="1"/>
          <p:nvPr/>
        </p:nvSpPr>
        <p:spPr>
          <a:xfrm>
            <a:off x="2809116" y="1970532"/>
            <a:ext cx="227021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on-demand self-service</a:t>
            </a:r>
          </a:p>
        </p:txBody>
      </p:sp>
      <p:sp>
        <p:nvSpPr>
          <p:cNvPr id="13" name="!!term-broad network ">
            <a:extLst>
              <a:ext uri="{C183D7F6-B498-43B3-948B-1728B52AA6E4}">
                <adec:decorative xmlns:adec="http://schemas.microsoft.com/office/drawing/2017/decorative" val="1"/>
              </a:ext>
            </a:extLst>
          </p:cNvPr>
          <p:cNvSpPr/>
          <p:nvPr/>
        </p:nvSpPr>
        <p:spPr>
          <a:xfrm>
            <a:off x="5115911" y="1847088"/>
            <a:ext cx="229526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broad network ">
            <a:extLst>
              <a:ext uri="{C183D7F6-B498-43B3-948B-1728B52AA6E4}">
                <adec:decorative xmlns:adec="http://schemas.microsoft.com/office/drawing/2017/decorative" val="1"/>
              </a:ext>
            </a:extLst>
          </p:cNvPr>
          <p:cNvSpPr/>
          <p:nvPr/>
        </p:nvSpPr>
        <p:spPr>
          <a:xfrm>
            <a:off x="524392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broad network "/>
          <p:cNvSpPr txBox="1"/>
          <p:nvPr/>
        </p:nvSpPr>
        <p:spPr>
          <a:xfrm>
            <a:off x="5408519" y="1970532"/>
            <a:ext cx="211238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broad network access</a:t>
            </a:r>
          </a:p>
        </p:txBody>
      </p:sp>
      <p:sp>
        <p:nvSpPr>
          <p:cNvPr id="16" name="!!term-resource pooli">
            <a:extLst>
              <a:ext uri="{C183D7F6-B498-43B3-948B-1728B52AA6E4}">
                <adec:decorative xmlns:adec="http://schemas.microsoft.com/office/drawing/2017/decorative" val="1"/>
              </a:ext>
            </a:extLst>
          </p:cNvPr>
          <p:cNvSpPr/>
          <p:nvPr/>
        </p:nvSpPr>
        <p:spPr>
          <a:xfrm>
            <a:off x="7557477" y="1847088"/>
            <a:ext cx="188702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resource pooli">
            <a:extLst>
              <a:ext uri="{C183D7F6-B498-43B3-948B-1728B52AA6E4}">
                <adec:decorative xmlns:adec="http://schemas.microsoft.com/office/drawing/2017/decorative" val="1"/>
              </a:ext>
            </a:extLst>
          </p:cNvPr>
          <p:cNvSpPr/>
          <p:nvPr/>
        </p:nvSpPr>
        <p:spPr>
          <a:xfrm>
            <a:off x="768549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resource pooli"/>
          <p:cNvSpPr txBox="1"/>
          <p:nvPr/>
        </p:nvSpPr>
        <p:spPr>
          <a:xfrm>
            <a:off x="7850085" y="1970532"/>
            <a:ext cx="170414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resource pooling</a:t>
            </a:r>
          </a:p>
        </p:txBody>
      </p:sp>
      <p:sp>
        <p:nvSpPr>
          <p:cNvPr id="19" name="!!term-rapid elastici">
            <a:extLst>
              <a:ext uri="{C183D7F6-B498-43B3-948B-1728B52AA6E4}">
                <adec:decorative xmlns:adec="http://schemas.microsoft.com/office/drawing/2017/decorative" val="1"/>
              </a:ext>
            </a:extLst>
          </p:cNvPr>
          <p:cNvSpPr/>
          <p:nvPr/>
        </p:nvSpPr>
        <p:spPr>
          <a:xfrm>
            <a:off x="9590807" y="1847088"/>
            <a:ext cx="167394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rapid elastici">
            <a:extLst>
              <a:ext uri="{C183D7F6-B498-43B3-948B-1728B52AA6E4}">
                <adec:decorative xmlns:adec="http://schemas.microsoft.com/office/drawing/2017/decorative" val="1"/>
              </a:ext>
            </a:extLst>
          </p:cNvPr>
          <p:cNvSpPr/>
          <p:nvPr/>
        </p:nvSpPr>
        <p:spPr>
          <a:xfrm>
            <a:off x="971882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rapid elastici"/>
          <p:cNvSpPr txBox="1"/>
          <p:nvPr/>
        </p:nvSpPr>
        <p:spPr>
          <a:xfrm>
            <a:off x="9883415" y="1970532"/>
            <a:ext cx="149106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rapid elasticity</a:t>
            </a:r>
          </a:p>
        </p:txBody>
      </p:sp>
      <p:sp>
        <p:nvSpPr>
          <p:cNvPr id="22" name="!!term-measured servi">
            <a:extLst>
              <a:ext uri="{C183D7F6-B498-43B3-948B-1728B52AA6E4}">
                <adec:decorative xmlns:adec="http://schemas.microsoft.com/office/drawing/2017/decorative" val="1"/>
              </a:ext>
            </a:extLst>
          </p:cNvPr>
          <p:cNvSpPr/>
          <p:nvPr/>
        </p:nvSpPr>
        <p:spPr>
          <a:xfrm>
            <a:off x="658368" y="2468880"/>
            <a:ext cx="191924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measured servi">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measured servi"/>
          <p:cNvSpPr txBox="1"/>
          <p:nvPr/>
        </p:nvSpPr>
        <p:spPr>
          <a:xfrm>
            <a:off x="950976" y="2592324"/>
            <a:ext cx="173636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measured service</a:t>
            </a:r>
          </a:p>
        </p:txBody>
      </p:sp>
      <p:sp>
        <p:nvSpPr>
          <p:cNvPr id="25" name="!!term-IaaS">
            <a:extLst>
              <a:ext uri="{C183D7F6-B498-43B3-948B-1728B52AA6E4}">
                <adec:decorative xmlns:adec="http://schemas.microsoft.com/office/drawing/2017/decorative" val="1"/>
              </a:ext>
            </a:extLst>
          </p:cNvPr>
          <p:cNvSpPr/>
          <p:nvPr/>
        </p:nvSpPr>
        <p:spPr>
          <a:xfrm>
            <a:off x="2723919" y="2468880"/>
            <a:ext cx="7915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IaaS">
            <a:extLst>
              <a:ext uri="{C183D7F6-B498-43B3-948B-1728B52AA6E4}">
                <adec:decorative xmlns:adec="http://schemas.microsoft.com/office/drawing/2017/decorative" val="1"/>
              </a:ext>
            </a:extLst>
          </p:cNvPr>
          <p:cNvSpPr/>
          <p:nvPr/>
        </p:nvSpPr>
        <p:spPr>
          <a:xfrm>
            <a:off x="285193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IaaS"/>
          <p:cNvSpPr txBox="1"/>
          <p:nvPr/>
        </p:nvSpPr>
        <p:spPr>
          <a:xfrm>
            <a:off x="3016527" y="2592324"/>
            <a:ext cx="60870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IaaS</a:t>
            </a:r>
          </a:p>
        </p:txBody>
      </p:sp>
      <p:sp>
        <p:nvSpPr>
          <p:cNvPr id="28" name="!!term-PaaS">
            <a:extLst>
              <a:ext uri="{C183D7F6-B498-43B3-948B-1728B52AA6E4}">
                <adec:decorative xmlns:adec="http://schemas.microsoft.com/office/drawing/2017/decorative" val="1"/>
              </a:ext>
            </a:extLst>
          </p:cNvPr>
          <p:cNvSpPr/>
          <p:nvPr/>
        </p:nvSpPr>
        <p:spPr>
          <a:xfrm>
            <a:off x="3661808" y="2468880"/>
            <a:ext cx="84861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PaaS">
            <a:extLst>
              <a:ext uri="{C183D7F6-B498-43B3-948B-1728B52AA6E4}">
                <adec:decorative xmlns:adec="http://schemas.microsoft.com/office/drawing/2017/decorative" val="1"/>
              </a:ext>
            </a:extLst>
          </p:cNvPr>
          <p:cNvSpPr/>
          <p:nvPr/>
        </p:nvSpPr>
        <p:spPr>
          <a:xfrm>
            <a:off x="378982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PaaS"/>
          <p:cNvSpPr txBox="1"/>
          <p:nvPr/>
        </p:nvSpPr>
        <p:spPr>
          <a:xfrm>
            <a:off x="3954416" y="2592324"/>
            <a:ext cx="66573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PaaS</a:t>
            </a:r>
          </a:p>
        </p:txBody>
      </p:sp>
      <p:sp>
        <p:nvSpPr>
          <p:cNvPr id="31" name="!!term-SaaS">
            <a:extLst>
              <a:ext uri="{C183D7F6-B498-43B3-948B-1728B52AA6E4}">
                <adec:decorative xmlns:adec="http://schemas.microsoft.com/office/drawing/2017/decorative" val="1"/>
              </a:ext>
            </a:extLst>
          </p:cNvPr>
          <p:cNvSpPr/>
          <p:nvPr/>
        </p:nvSpPr>
        <p:spPr>
          <a:xfrm>
            <a:off x="4656726" y="2468880"/>
            <a:ext cx="84307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SaaS">
            <a:extLst>
              <a:ext uri="{C183D7F6-B498-43B3-948B-1728B52AA6E4}">
                <adec:decorative xmlns:adec="http://schemas.microsoft.com/office/drawing/2017/decorative" val="1"/>
              </a:ext>
            </a:extLst>
          </p:cNvPr>
          <p:cNvSpPr/>
          <p:nvPr/>
        </p:nvSpPr>
        <p:spPr>
          <a:xfrm>
            <a:off x="478474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SaaS"/>
          <p:cNvSpPr txBox="1"/>
          <p:nvPr/>
        </p:nvSpPr>
        <p:spPr>
          <a:xfrm>
            <a:off x="4949334" y="2592324"/>
            <a:ext cx="66019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SaaS</a:t>
            </a:r>
          </a:p>
        </p:txBody>
      </p:sp>
      <p:sp>
        <p:nvSpPr>
          <p:cNvPr id="34" name="!!term-FaaS">
            <a:extLst>
              <a:ext uri="{C183D7F6-B498-43B3-948B-1728B52AA6E4}">
                <adec:decorative xmlns:adec="http://schemas.microsoft.com/office/drawing/2017/decorative" val="1"/>
              </a:ext>
            </a:extLst>
          </p:cNvPr>
          <p:cNvSpPr/>
          <p:nvPr/>
        </p:nvSpPr>
        <p:spPr>
          <a:xfrm>
            <a:off x="5646107" y="2468880"/>
            <a:ext cx="83460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FaaS">
            <a:extLst>
              <a:ext uri="{C183D7F6-B498-43B3-948B-1728B52AA6E4}">
                <adec:decorative xmlns:adec="http://schemas.microsoft.com/office/drawing/2017/decorative" val="1"/>
              </a:ext>
            </a:extLst>
          </p:cNvPr>
          <p:cNvSpPr/>
          <p:nvPr/>
        </p:nvSpPr>
        <p:spPr>
          <a:xfrm>
            <a:off x="577412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FaaS"/>
          <p:cNvSpPr txBox="1"/>
          <p:nvPr/>
        </p:nvSpPr>
        <p:spPr>
          <a:xfrm>
            <a:off x="5938715" y="2592324"/>
            <a:ext cx="65172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FaaS</a:t>
            </a:r>
          </a:p>
        </p:txBody>
      </p:sp>
      <p:sp>
        <p:nvSpPr>
          <p:cNvPr id="37" name="!!term-serverless">
            <a:extLst>
              <a:ext uri="{C183D7F6-B498-43B3-948B-1728B52AA6E4}">
                <adec:decorative xmlns:adec="http://schemas.microsoft.com/office/drawing/2017/decorative" val="1"/>
              </a:ext>
            </a:extLst>
          </p:cNvPr>
          <p:cNvSpPr/>
          <p:nvPr/>
        </p:nvSpPr>
        <p:spPr>
          <a:xfrm>
            <a:off x="6627020" y="2468880"/>
            <a:ext cx="126638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serverless">
            <a:extLst>
              <a:ext uri="{C183D7F6-B498-43B3-948B-1728B52AA6E4}">
                <adec:decorative xmlns:adec="http://schemas.microsoft.com/office/drawing/2017/decorative" val="1"/>
              </a:ext>
            </a:extLst>
          </p:cNvPr>
          <p:cNvSpPr/>
          <p:nvPr/>
        </p:nvSpPr>
        <p:spPr>
          <a:xfrm>
            <a:off x="675503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serverless"/>
          <p:cNvSpPr txBox="1"/>
          <p:nvPr/>
        </p:nvSpPr>
        <p:spPr>
          <a:xfrm>
            <a:off x="6919628" y="2592324"/>
            <a:ext cx="108350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serverless</a:t>
            </a:r>
          </a:p>
        </p:txBody>
      </p:sp>
      <p:sp>
        <p:nvSpPr>
          <p:cNvPr id="40" name="!!term-public cloud">
            <a:extLst>
              <a:ext uri="{C183D7F6-B498-43B3-948B-1728B52AA6E4}">
                <adec:decorative xmlns:adec="http://schemas.microsoft.com/office/drawing/2017/decorative" val="1"/>
              </a:ext>
            </a:extLst>
          </p:cNvPr>
          <p:cNvSpPr/>
          <p:nvPr/>
        </p:nvSpPr>
        <p:spPr>
          <a:xfrm>
            <a:off x="8039711" y="2468880"/>
            <a:ext cx="148954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public cloud">
            <a:extLst>
              <a:ext uri="{C183D7F6-B498-43B3-948B-1728B52AA6E4}">
                <adec:decorative xmlns:adec="http://schemas.microsoft.com/office/drawing/2017/decorative" val="1"/>
              </a:ext>
            </a:extLst>
          </p:cNvPr>
          <p:cNvSpPr/>
          <p:nvPr/>
        </p:nvSpPr>
        <p:spPr>
          <a:xfrm>
            <a:off x="816772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public cloud"/>
          <p:cNvSpPr txBox="1"/>
          <p:nvPr/>
        </p:nvSpPr>
        <p:spPr>
          <a:xfrm>
            <a:off x="8332319" y="2592324"/>
            <a:ext cx="130666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public cloud</a:t>
            </a:r>
          </a:p>
        </p:txBody>
      </p:sp>
      <p:sp>
        <p:nvSpPr>
          <p:cNvPr id="43" name="!!term-private cloud">
            <a:extLst>
              <a:ext uri="{C183D7F6-B498-43B3-948B-1728B52AA6E4}">
                <adec:decorative xmlns:adec="http://schemas.microsoft.com/office/drawing/2017/decorative" val="1"/>
              </a:ext>
            </a:extLst>
          </p:cNvPr>
          <p:cNvSpPr/>
          <p:nvPr/>
        </p:nvSpPr>
        <p:spPr>
          <a:xfrm>
            <a:off x="9675562" y="2468880"/>
            <a:ext cx="155553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private cloud">
            <a:extLst>
              <a:ext uri="{C183D7F6-B498-43B3-948B-1728B52AA6E4}">
                <adec:decorative xmlns:adec="http://schemas.microsoft.com/office/drawing/2017/decorative" val="1"/>
              </a:ext>
            </a:extLst>
          </p:cNvPr>
          <p:cNvSpPr/>
          <p:nvPr/>
        </p:nvSpPr>
        <p:spPr>
          <a:xfrm>
            <a:off x="980357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private cloud"/>
          <p:cNvSpPr txBox="1"/>
          <p:nvPr/>
        </p:nvSpPr>
        <p:spPr>
          <a:xfrm>
            <a:off x="9968170" y="2592324"/>
            <a:ext cx="137265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private cloud</a:t>
            </a:r>
          </a:p>
        </p:txBody>
      </p:sp>
      <p:sp>
        <p:nvSpPr>
          <p:cNvPr id="46" name="!!term-hybrid">
            <a:extLst>
              <a:ext uri="{C183D7F6-B498-43B3-948B-1728B52AA6E4}">
                <adec:decorative xmlns:adec="http://schemas.microsoft.com/office/drawing/2017/decorative" val="1"/>
              </a:ext>
            </a:extLst>
          </p:cNvPr>
          <p:cNvSpPr/>
          <p:nvPr/>
        </p:nvSpPr>
        <p:spPr>
          <a:xfrm>
            <a:off x="658368" y="3090672"/>
            <a:ext cx="98628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hybrid">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hybrid"/>
          <p:cNvSpPr txBox="1"/>
          <p:nvPr/>
        </p:nvSpPr>
        <p:spPr>
          <a:xfrm>
            <a:off x="950976" y="3214116"/>
            <a:ext cx="80340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hybrid</a:t>
            </a:r>
          </a:p>
        </p:txBody>
      </p:sp>
      <p:sp>
        <p:nvSpPr>
          <p:cNvPr id="49" name="!!term-multi-cloud">
            <a:extLst>
              <a:ext uri="{C183D7F6-B498-43B3-948B-1728B52AA6E4}">
                <adec:decorative xmlns:adec="http://schemas.microsoft.com/office/drawing/2017/decorative" val="1"/>
              </a:ext>
            </a:extLst>
          </p:cNvPr>
          <p:cNvSpPr/>
          <p:nvPr/>
        </p:nvSpPr>
        <p:spPr>
          <a:xfrm>
            <a:off x="1790955" y="3090672"/>
            <a:ext cx="142892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multi-cloud">
            <a:extLst>
              <a:ext uri="{C183D7F6-B498-43B3-948B-1728B52AA6E4}">
                <adec:decorative xmlns:adec="http://schemas.microsoft.com/office/drawing/2017/decorative" val="1"/>
              </a:ext>
            </a:extLst>
          </p:cNvPr>
          <p:cNvSpPr/>
          <p:nvPr/>
        </p:nvSpPr>
        <p:spPr>
          <a:xfrm>
            <a:off x="191897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multi-cloud"/>
          <p:cNvSpPr txBox="1"/>
          <p:nvPr/>
        </p:nvSpPr>
        <p:spPr>
          <a:xfrm>
            <a:off x="2083563" y="3214116"/>
            <a:ext cx="124604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multi-cloud</a:t>
            </a:r>
          </a:p>
        </p:txBody>
      </p:sp>
      <p:sp>
        <p:nvSpPr>
          <p:cNvPr id="52" name="!!term-region">
            <a:extLst>
              <a:ext uri="{C183D7F6-B498-43B3-948B-1728B52AA6E4}">
                <adec:decorative xmlns:adec="http://schemas.microsoft.com/office/drawing/2017/decorative" val="1"/>
              </a:ext>
            </a:extLst>
          </p:cNvPr>
          <p:cNvSpPr/>
          <p:nvPr/>
        </p:nvSpPr>
        <p:spPr>
          <a:xfrm>
            <a:off x="3366180" y="3090672"/>
            <a:ext cx="99343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region">
            <a:extLst>
              <a:ext uri="{C183D7F6-B498-43B3-948B-1728B52AA6E4}">
                <adec:decorative xmlns:adec="http://schemas.microsoft.com/office/drawing/2017/decorative" val="1"/>
              </a:ext>
            </a:extLst>
          </p:cNvPr>
          <p:cNvSpPr/>
          <p:nvPr/>
        </p:nvSpPr>
        <p:spPr>
          <a:xfrm>
            <a:off x="349419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region"/>
          <p:cNvSpPr txBox="1"/>
          <p:nvPr/>
        </p:nvSpPr>
        <p:spPr>
          <a:xfrm>
            <a:off x="3658788" y="3214116"/>
            <a:ext cx="81055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region</a:t>
            </a:r>
          </a:p>
        </p:txBody>
      </p:sp>
      <p:sp>
        <p:nvSpPr>
          <p:cNvPr id="55" name="!!term-availability z">
            <a:extLst>
              <a:ext uri="{C183D7F6-B498-43B3-948B-1728B52AA6E4}">
                <adec:decorative xmlns:adec="http://schemas.microsoft.com/office/drawing/2017/decorative" val="1"/>
              </a:ext>
            </a:extLst>
          </p:cNvPr>
          <p:cNvSpPr/>
          <p:nvPr/>
        </p:nvSpPr>
        <p:spPr>
          <a:xfrm>
            <a:off x="4505917" y="3090672"/>
            <a:ext cx="180446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availability z">
            <a:extLst>
              <a:ext uri="{C183D7F6-B498-43B3-948B-1728B52AA6E4}">
                <adec:decorative xmlns:adec="http://schemas.microsoft.com/office/drawing/2017/decorative" val="1"/>
              </a:ext>
            </a:extLst>
          </p:cNvPr>
          <p:cNvSpPr/>
          <p:nvPr/>
        </p:nvSpPr>
        <p:spPr>
          <a:xfrm>
            <a:off x="463393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availability z"/>
          <p:cNvSpPr txBox="1"/>
          <p:nvPr/>
        </p:nvSpPr>
        <p:spPr>
          <a:xfrm>
            <a:off x="4798525" y="3214116"/>
            <a:ext cx="162158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availability zone</a:t>
            </a:r>
          </a:p>
        </p:txBody>
      </p:sp>
      <p:sp>
        <p:nvSpPr>
          <p:cNvPr id="58" name="!!term-instance famil">
            <a:extLst>
              <a:ext uri="{C183D7F6-B498-43B3-948B-1728B52AA6E4}">
                <adec:decorative xmlns:adec="http://schemas.microsoft.com/office/drawing/2017/decorative" val="1"/>
              </a:ext>
            </a:extLst>
          </p:cNvPr>
          <p:cNvSpPr/>
          <p:nvPr/>
        </p:nvSpPr>
        <p:spPr>
          <a:xfrm>
            <a:off x="6456690" y="3090672"/>
            <a:ext cx="171280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instance famil">
            <a:extLst>
              <a:ext uri="{C183D7F6-B498-43B3-948B-1728B52AA6E4}">
                <adec:decorative xmlns:adec="http://schemas.microsoft.com/office/drawing/2017/decorative" val="1"/>
              </a:ext>
            </a:extLst>
          </p:cNvPr>
          <p:cNvSpPr/>
          <p:nvPr/>
        </p:nvSpPr>
        <p:spPr>
          <a:xfrm>
            <a:off x="658470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instance famil"/>
          <p:cNvSpPr txBox="1"/>
          <p:nvPr/>
        </p:nvSpPr>
        <p:spPr>
          <a:xfrm>
            <a:off x="6749298" y="3214116"/>
            <a:ext cx="152992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instance family</a:t>
            </a:r>
          </a:p>
        </p:txBody>
      </p:sp>
      <p:sp>
        <p:nvSpPr>
          <p:cNvPr id="61" name="!!term-on-demand">
            <a:extLst>
              <a:ext uri="{C183D7F6-B498-43B3-948B-1728B52AA6E4}">
                <adec:decorative xmlns:adec="http://schemas.microsoft.com/office/drawing/2017/decorative" val="1"/>
              </a:ext>
            </a:extLst>
          </p:cNvPr>
          <p:cNvSpPr/>
          <p:nvPr/>
        </p:nvSpPr>
        <p:spPr>
          <a:xfrm>
            <a:off x="8315802" y="3090672"/>
            <a:ext cx="144718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rmd-on-demand">
            <a:extLst>
              <a:ext uri="{C183D7F6-B498-43B3-948B-1728B52AA6E4}">
                <adec:decorative xmlns:adec="http://schemas.microsoft.com/office/drawing/2017/decorative" val="1"/>
              </a:ext>
            </a:extLst>
          </p:cNvPr>
          <p:cNvSpPr/>
          <p:nvPr/>
        </p:nvSpPr>
        <p:spPr>
          <a:xfrm>
            <a:off x="844381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rmt-on-demand"/>
          <p:cNvSpPr txBox="1"/>
          <p:nvPr/>
        </p:nvSpPr>
        <p:spPr>
          <a:xfrm>
            <a:off x="8608410" y="3214116"/>
            <a:ext cx="126430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on-demand</a:t>
            </a:r>
          </a:p>
        </p:txBody>
      </p:sp>
      <p:sp>
        <p:nvSpPr>
          <p:cNvPr id="64" name="!!term-reserved insta">
            <a:extLst>
              <a:ext uri="{C183D7F6-B498-43B3-948B-1728B52AA6E4}">
                <adec:decorative xmlns:adec="http://schemas.microsoft.com/office/drawing/2017/decorative" val="1"/>
              </a:ext>
            </a:extLst>
          </p:cNvPr>
          <p:cNvSpPr/>
          <p:nvPr/>
        </p:nvSpPr>
        <p:spPr>
          <a:xfrm>
            <a:off x="658368" y="3712464"/>
            <a:ext cx="192777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rmd-reserved insta">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termt-reserved insta"/>
          <p:cNvSpPr txBox="1"/>
          <p:nvPr/>
        </p:nvSpPr>
        <p:spPr>
          <a:xfrm>
            <a:off x="950976" y="3835908"/>
            <a:ext cx="174489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reserved instance</a:t>
            </a:r>
          </a:p>
        </p:txBody>
      </p:sp>
      <p:sp>
        <p:nvSpPr>
          <p:cNvPr id="67" name="!!term-savings plan">
            <a:extLst>
              <a:ext uri="{C183D7F6-B498-43B3-948B-1728B52AA6E4}">
                <adec:decorative xmlns:adec="http://schemas.microsoft.com/office/drawing/2017/decorative" val="1"/>
              </a:ext>
            </a:extLst>
          </p:cNvPr>
          <p:cNvSpPr/>
          <p:nvPr/>
        </p:nvSpPr>
        <p:spPr>
          <a:xfrm>
            <a:off x="2732450" y="3712464"/>
            <a:ext cx="149051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termd-savings plan">
            <a:extLst>
              <a:ext uri="{C183D7F6-B498-43B3-948B-1728B52AA6E4}">
                <adec:decorative xmlns:adec="http://schemas.microsoft.com/office/drawing/2017/decorative" val="1"/>
              </a:ext>
            </a:extLst>
          </p:cNvPr>
          <p:cNvSpPr/>
          <p:nvPr/>
        </p:nvSpPr>
        <p:spPr>
          <a:xfrm>
            <a:off x="2860466"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termt-savings plan"/>
          <p:cNvSpPr txBox="1"/>
          <p:nvPr/>
        </p:nvSpPr>
        <p:spPr>
          <a:xfrm>
            <a:off x="3025058" y="3835908"/>
            <a:ext cx="130763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savings plan</a:t>
            </a:r>
          </a:p>
        </p:txBody>
      </p:sp>
      <p:sp>
        <p:nvSpPr>
          <p:cNvPr id="70" name="!!term-spot instance">
            <a:extLst>
              <a:ext uri="{C183D7F6-B498-43B3-948B-1728B52AA6E4}">
                <adec:decorative xmlns:adec="http://schemas.microsoft.com/office/drawing/2017/decorative" val="1"/>
              </a:ext>
            </a:extLst>
          </p:cNvPr>
          <p:cNvSpPr/>
          <p:nvPr/>
        </p:nvSpPr>
        <p:spPr>
          <a:xfrm>
            <a:off x="4369272" y="3712464"/>
            <a:ext cx="15740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termd-spot instance">
            <a:extLst>
              <a:ext uri="{C183D7F6-B498-43B3-948B-1728B52AA6E4}">
                <adec:decorative xmlns:adec="http://schemas.microsoft.com/office/drawing/2017/decorative" val="1"/>
              </a:ext>
            </a:extLst>
          </p:cNvPr>
          <p:cNvSpPr/>
          <p:nvPr/>
        </p:nvSpPr>
        <p:spPr>
          <a:xfrm>
            <a:off x="4497288"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termt-spot instance"/>
          <p:cNvSpPr txBox="1"/>
          <p:nvPr/>
        </p:nvSpPr>
        <p:spPr>
          <a:xfrm>
            <a:off x="4661880" y="3835908"/>
            <a:ext cx="139119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spot instance</a:t>
            </a:r>
          </a:p>
        </p:txBody>
      </p:sp>
      <p:sp>
        <p:nvSpPr>
          <p:cNvPr id="73" name="!!term-egress">
            <a:extLst>
              <a:ext uri="{C183D7F6-B498-43B3-948B-1728B52AA6E4}">
                <adec:decorative xmlns:adec="http://schemas.microsoft.com/office/drawing/2017/decorative" val="1"/>
              </a:ext>
            </a:extLst>
          </p:cNvPr>
          <p:cNvSpPr/>
          <p:nvPr/>
        </p:nvSpPr>
        <p:spPr>
          <a:xfrm>
            <a:off x="6089647" y="3712464"/>
            <a:ext cx="98896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termd-egress">
            <a:extLst>
              <a:ext uri="{C183D7F6-B498-43B3-948B-1728B52AA6E4}">
                <adec:decorative xmlns:adec="http://schemas.microsoft.com/office/drawing/2017/decorative" val="1"/>
              </a:ext>
            </a:extLst>
          </p:cNvPr>
          <p:cNvSpPr/>
          <p:nvPr/>
        </p:nvSpPr>
        <p:spPr>
          <a:xfrm>
            <a:off x="6217663"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termt-egress"/>
          <p:cNvSpPr txBox="1"/>
          <p:nvPr/>
        </p:nvSpPr>
        <p:spPr>
          <a:xfrm>
            <a:off x="6382255" y="3835908"/>
            <a:ext cx="80608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egress</a:t>
            </a:r>
          </a:p>
        </p:txBody>
      </p:sp>
      <p:sp>
        <p:nvSpPr>
          <p:cNvPr id="76" name="!!term-shared respons">
            <a:extLst>
              <a:ext uri="{C183D7F6-B498-43B3-948B-1728B52AA6E4}">
                <adec:decorative xmlns:adec="http://schemas.microsoft.com/office/drawing/2017/decorative" val="1"/>
              </a:ext>
            </a:extLst>
          </p:cNvPr>
          <p:cNvSpPr/>
          <p:nvPr/>
        </p:nvSpPr>
        <p:spPr>
          <a:xfrm>
            <a:off x="7224915" y="3712464"/>
            <a:ext cx="22014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termd-shared respons">
            <a:extLst>
              <a:ext uri="{C183D7F6-B498-43B3-948B-1728B52AA6E4}">
                <adec:decorative xmlns:adec="http://schemas.microsoft.com/office/drawing/2017/decorative" val="1"/>
              </a:ext>
            </a:extLst>
          </p:cNvPr>
          <p:cNvSpPr/>
          <p:nvPr/>
        </p:nvSpPr>
        <p:spPr>
          <a:xfrm>
            <a:off x="7352931"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termt-shared respons"/>
          <p:cNvSpPr txBox="1"/>
          <p:nvPr/>
        </p:nvSpPr>
        <p:spPr>
          <a:xfrm>
            <a:off x="7517523" y="3835908"/>
            <a:ext cx="201853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shared responsibility</a:t>
            </a:r>
          </a:p>
        </p:txBody>
      </p:sp>
      <p:sp>
        <p:nvSpPr>
          <p:cNvPr id="79" name="!!term-total cost of ">
            <a:extLst>
              <a:ext uri="{C183D7F6-B498-43B3-948B-1728B52AA6E4}">
                <adec:decorative xmlns:adec="http://schemas.microsoft.com/office/drawing/2017/decorative" val="1"/>
              </a:ext>
            </a:extLst>
          </p:cNvPr>
          <p:cNvSpPr/>
          <p:nvPr/>
        </p:nvSpPr>
        <p:spPr>
          <a:xfrm>
            <a:off x="658368" y="4334256"/>
            <a:ext cx="240391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termd-total cost of ">
            <a:extLst>
              <a:ext uri="{C183D7F6-B498-43B3-948B-1728B52AA6E4}">
                <adec:decorative xmlns:adec="http://schemas.microsoft.com/office/drawing/2017/decorative" val="1"/>
              </a:ext>
            </a:extLst>
          </p:cNvPr>
          <p:cNvSpPr/>
          <p:nvPr/>
        </p:nvSpPr>
        <p:spPr>
          <a:xfrm>
            <a:off x="786384" y="4526280"/>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termt-total cost of "/>
          <p:cNvSpPr txBox="1"/>
          <p:nvPr/>
        </p:nvSpPr>
        <p:spPr>
          <a:xfrm>
            <a:off x="950976" y="4457700"/>
            <a:ext cx="222103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total cost of ownership</a:t>
            </a:r>
          </a:p>
        </p:txBody>
      </p:sp>
      <p:sp>
        <p:nvSpPr>
          <p:cNvPr id="82" name="!!term-lock-in">
            <a:extLst>
              <a:ext uri="{C183D7F6-B498-43B3-948B-1728B52AA6E4}">
                <adec:decorative xmlns:adec="http://schemas.microsoft.com/office/drawing/2017/decorative" val="1"/>
              </a:ext>
            </a:extLst>
          </p:cNvPr>
          <p:cNvSpPr/>
          <p:nvPr/>
        </p:nvSpPr>
        <p:spPr>
          <a:xfrm>
            <a:off x="3208583" y="4334256"/>
            <a:ext cx="102066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termd-lock-in">
            <a:extLst>
              <a:ext uri="{C183D7F6-B498-43B3-948B-1728B52AA6E4}">
                <adec:decorative xmlns:adec="http://schemas.microsoft.com/office/drawing/2017/decorative" val="1"/>
              </a:ext>
            </a:extLst>
          </p:cNvPr>
          <p:cNvSpPr/>
          <p:nvPr/>
        </p:nvSpPr>
        <p:spPr>
          <a:xfrm>
            <a:off x="3336599" y="4526280"/>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termt-lock-in"/>
          <p:cNvSpPr txBox="1"/>
          <p:nvPr/>
        </p:nvSpPr>
        <p:spPr>
          <a:xfrm>
            <a:off x="3501191" y="4457700"/>
            <a:ext cx="83778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lock-in</a:t>
            </a:r>
          </a:p>
        </p:txBody>
      </p:sp>
      <p:sp>
        <p:nvSpPr>
          <p:cNvPr id="85" name="!!termnote"/>
          <p:cNvSpPr txBox="1"/>
          <p:nvPr/>
        </p:nvSpPr>
        <p:spPr>
          <a:xfrm>
            <a:off x="658368" y="5157216"/>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8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pfill">
            <a:extLst>
              <a:ext uri="{C183D7F6-B498-43B3-948B-1728B52AA6E4}">
                <adec:decorative xmlns:adec="http://schemas.microsoft.com/office/drawing/2017/decorative" val="1"/>
              </a:ext>
            </a:extLst>
          </p:cNvPr>
          <p:cNvSpPr/>
          <p:nvPr/>
        </p:nvSpPr>
        <p:spPr>
          <a:xfrm>
            <a:off x="0" y="0"/>
            <a:ext cx="110833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108–115     </a:t>
            </a:r>
            <a:fld id="{95B65291-D12A-47F2-B341-BBBC021B03E8}" type="slidenum">
              <a:rPr lang="en-GB" sz="1000">
                <a:solidFill>
                  <a:srgbClr val="8795A1"/>
                </a:solidFill>
                <a:latin typeface="Segoe UI"/>
              </a:rPr>
              <a:t>5</a:t>
            </a:fld>
          </a:p>
        </p:txBody>
      </p:sp>
      <p:sp>
        <p:nvSpPr>
          <p:cNvPr id="7" name="!!ag0" descr="Go to section 14.1 What Makes a Cloud a Cloud">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14.1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Makes a Cloud a Cloud</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108  ›</a:t>
            </a:r>
          </a:p>
        </p:txBody>
      </p:sp>
      <p:sp>
        <p:nvSpPr>
          <p:cNvPr id="12" name="!!ag1" descr="Go to section 14.2 The Service Model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14.2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Service Models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109  ›</a:t>
            </a:r>
          </a:p>
        </p:txBody>
      </p:sp>
      <p:sp>
        <p:nvSpPr>
          <p:cNvPr id="17" name="!!ag2" descr="Go to section 14.3 Deployment Models, and What an Instance I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14.3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Deployment Models, and What an Instance Is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110  ›</a:t>
            </a:r>
          </a:p>
        </p:txBody>
      </p:sp>
      <p:sp>
        <p:nvSpPr>
          <p:cNvPr id="22" name="!!ag3" descr="Go to section 14.4 Paying For It">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14.4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Paying For It</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110  ›</a:t>
            </a:r>
          </a:p>
        </p:txBody>
      </p:sp>
      <p:sp>
        <p:nvSpPr>
          <p:cNvPr id="27" name="!!ag4" descr="Go to section 14.5 Shared Responsibility">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14.5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Shared Responsibility</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112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38541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What Makes a Cloud a Cloud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14.1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14.1   What Makes a Cloud a Cloud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14.2   The Service Models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14.3   Deployment Models, and What an Instance Is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14.4   Paying For It</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14.5   Shared Responsibility</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§14.1     </a:t>
            </a:r>
            <a:fld id="{1CE18299-4561-4589-AC68-651EBDFDC2DF}"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66250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Makes a Cloud a Cloud</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§14.1  ·  Handout p. 108     </a:t>
            </a:r>
            <a:fld id="{A0A5BAAA-E611-4ACA-AA8B-C1DA7482CA65}" type="slidenum">
              <a:rPr lang="en-GB" sz="1000">
                <a:solidFill>
                  <a:srgbClr val="8795A1"/>
                </a:solidFill>
                <a:latin typeface="Segoe UI"/>
              </a:rPr>
              <a:t>7</a:t>
            </a:fld>
          </a:p>
        </p:txBody>
      </p:sp>
      <p:graphicFrame>
        <p:nvGraphicFramePr>
          <p:cNvPr id="7" name="!!table"/>
          <p:cNvGraphicFramePr>
            <a:graphicFrameLocks noGrp="1"/>
          </p:cNvGraphicFramePr>
          <p:nvPr/>
        </p:nvGraphicFramePr>
        <p:xfrm>
          <a:off x="658368" y="1737360"/>
          <a:ext cx="10874958" cy="3986784"/>
        </p:xfrm>
        <a:graphic>
          <a:graphicData uri="http://schemas.openxmlformats.org/drawingml/2006/table">
            <a:tbl>
              <a:tblPr firstRow="0" bandRow="0" firstCol="0" lastRow="0" lastCol="0" bandCol="0">
                <a:tableStyleId>{2D5ABB26-0587-4C30-8999-92F81FD0307C}</a:tableStyleId>
              </a:tblPr>
              <a:tblGrid>
                <a:gridCol w="2774989"/>
                <a:gridCol w="4199984"/>
                <a:gridCol w="3899985"/>
              </a:tblGrid>
              <a:tr h="405384">
                <a:tc>
                  <a:txBody>
                    <a:bodyPr wrap="square"/>
                    <a:lstStyle/>
                    <a:p>
                      <a:pPr algn="l"/>
                      <a:r>
                        <a:rPr sz="1700" b="1" i="0">
                          <a:solidFill>
                            <a:srgbClr val="1A5276"/>
                          </a:solidFill>
                          <a:latin typeface="Segoe UI"/>
                        </a:rPr>
                        <a:t>Characteristic</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What it requires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What fails the test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923544">
                <a:tc>
                  <a:txBody>
                    <a:bodyPr wrap="square"/>
                    <a:lstStyle/>
                    <a:p>
                      <a:pPr algn="l"/>
                      <a:r>
                        <a:rPr sz="1700" b="1" i="0">
                          <a:solidFill>
                            <a:srgbClr val="1A5276"/>
                          </a:solidFill>
                          <a:latin typeface="Segoe UI"/>
                        </a:rPr>
                        <a:t>On-demand self-service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You provision capacity yourself, without talking to anybody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 hosting provider where a new server is a support ticket and two days</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1" i="0">
                          <a:solidFill>
                            <a:srgbClr val="1A5276"/>
                          </a:solidFill>
                          <a:latin typeface="Segoe UI"/>
                        </a:rPr>
                        <a:t>Broad network access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Reachable over standard protocols from standard clients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 service requiring a leased line and a vendor client</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1" i="0">
                          <a:solidFill>
                            <a:srgbClr val="1A5276"/>
                          </a:solidFill>
                          <a:latin typeface="Segoe UI"/>
                        </a:rPr>
                        <a:t>Resource pooling</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Many tenants share one pool; you do not know or care which hardware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 dedicated rack assigned to you permanently</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1" i="0">
                          <a:solidFill>
                            <a:srgbClr val="1A5276"/>
                          </a:solidFill>
                          <a:latin typeface="Segoe UI"/>
                        </a:rPr>
                        <a:t>Rapid elasticity</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Capacity grows and </a:t>
                      </a:r>
                      <a:r>
                        <a:rPr sz="1700" b="0" i="1">
                          <a:solidFill>
                            <a:srgbClr val="1C252B"/>
                          </a:solidFill>
                          <a:latin typeface="Segoe UI"/>
                        </a:rPr>
                        <a:t>shrinks</a:t>
                      </a:r>
                      <a:r>
                        <a:rPr sz="1700" b="0" i="0">
                          <a:solidFill>
                            <a:srgbClr val="1C252B"/>
                          </a:solidFill>
                          <a:latin typeface="Segoe UI"/>
                        </a:rPr>
                        <a:t> quickly, apparently without limit</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Scaling up in minutes but requiring a contract change to scale down</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1" i="0">
                          <a:solidFill>
                            <a:srgbClr val="1A5276"/>
                          </a:solidFill>
                          <a:latin typeface="Segoe UI"/>
                        </a:rPr>
                        <a:t>Measured service</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Usage is metered and billed by what you used</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A flat annual fee regardless of consumption</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193958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Clause That Catches Most “Private Clouds”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§14.1  ·  Handout p. 108     </a:t>
            </a:r>
            <a:fld id="{E01BD5FC-651C-4D9D-9559-A4ABC8764401}"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8104"/>
          </a:xfrm>
          <a:prstGeom prst="roundRect">
            <a:avLst>
              <a:gd name="adj" fmla="val 2083"/>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810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Four of the five are easy to satisfy with a well-run vSphere estate. The one that is not is </a:t>
            </a:r>
            <a:r>
              <a:rPr sz="2000" b="0" i="1">
                <a:solidFill>
                  <a:srgbClr val="1C252B"/>
                </a:solidFill>
                <a:latin typeface="Segoe UI"/>
              </a:rPr>
              <a:t>rapid elasticity</a:t>
            </a:r>
            <a:r>
              <a:rPr sz="2000" b="0" i="0">
                <a:solidFill>
                  <a:srgbClr val="1C252B"/>
                </a:solidFill>
                <a:latin typeface="Segoe UI"/>
              </a:rPr>
              <a:t>, and specifically the word </a:t>
            </a:r>
            <a:r>
              <a:rPr sz="2000" b="0" i="1">
                <a:solidFill>
                  <a:srgbClr val="1C252B"/>
                </a:solidFill>
                <a:latin typeface="Segoe UI"/>
              </a:rPr>
              <a:t>shrinks</a:t>
            </a:r>
            <a:r>
              <a:rPr sz="2000" b="0" i="0">
                <a:solidFill>
                  <a:srgbClr val="1C252B"/>
                </a:solidFill>
                <a:latin typeface="Segoe UI"/>
              </a:rPr>
              <a:t>.</a:t>
            </a:r>
          </a:p>
        </p:txBody>
      </p:sp>
      <p:sp>
        <p:nvSpPr>
          <p:cNvPr id="10" name="body-1"/>
          <p:cNvSpPr txBox="1"/>
          <p:nvPr/>
        </p:nvSpPr>
        <p:spPr>
          <a:xfrm>
            <a:off x="1060704" y="2821939"/>
            <a:ext cx="10161727" cy="1630680"/>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department that buys three hosts can provision guests on demand, pool them, meter them and reach them over the network. What it cannot do is return capacity. The hardware is bought; shutting a guest down saves a little electricity and nothing else. Elasticity in the NIST sense requires that unused capacity stops costing money, and that requires somebody else to be able to rent it.</a:t>
            </a:r>
          </a:p>
        </p:txBody>
      </p:sp>
      <p:sp>
        <p:nvSpPr>
          <p:cNvPr id="11" name="body-2"/>
          <p:cNvSpPr txBox="1"/>
          <p:nvPr/>
        </p:nvSpPr>
        <p:spPr>
          <a:xfrm>
            <a:off x="1060704" y="4546599"/>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This is the honest difference between a private cloud and a well-managed virtualization estate, and it is worth stating plainly because a great deal of marketing depends on blurring it. What a private cloud genuinely buys is the </a:t>
            </a:r>
            <a:r>
              <a:rPr sz="2000" b="0" i="1">
                <a:solidFill>
                  <a:srgbClr val="1C252B"/>
                </a:solidFill>
                <a:latin typeface="Segoe UI"/>
              </a:rPr>
              <a:t>interface</a:t>
            </a:r>
            <a:r>
              <a:rPr sz="2000" b="0" i="0">
                <a:solidFill>
                  <a:srgbClr val="1C252B"/>
                </a:solidFill>
                <a:latin typeface="Segoe UI"/>
              </a:rPr>
              <a:t> — self-service, API-driven, metered — which is valuable on its own. It does not buy the economics.</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21667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Service Models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14.2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14.1   What Makes a Cloud a Cloud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14.2   The Service Models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14.3   Deployment Models, and What an Instance Is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14.4   Paying For It</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14.5   Shared Responsibility</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§14.2     </a:t>
            </a:r>
            <a:fld id="{B5A251E8-0640-4B50-B9A8-D5257DD62F37}" type="slidenum">
              <a:rPr lang="en-GB" sz="1000">
                <a:solidFill>
                  <a:srgbClr val="8795A1"/>
                </a:solidFill>
                <a:latin typeface="Segoe UI"/>
              </a:rPr>
              <a:t>9</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49375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service models as one picture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14.1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§14.2  ·  Handout p. 109     </a:t>
            </a:r>
            <a:fld id="{EFA596FB-00CF-4347-BDA2-844CDD26987C}" type="slidenum">
              <a:rPr lang="en-GB" sz="1000">
                <a:solidFill>
                  <a:srgbClr val="8795A1"/>
                </a:solidFill>
                <a:latin typeface="Segoe UI"/>
              </a:rPr>
              <a:t>10</a:t>
            </a:fld>
          </a:p>
        </p:txBody>
      </p:sp>
      <p:pic>
        <p:nvPicPr>
          <p:cNvPr id="6" name="!!figure" descr="Figure 14.1. The service models as one picture. FaaS sits beside SaaS rather than beyond it, because what you still own there is code rather than configurati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37001"/>
            <a:ext cx="10874959" cy="3171123"/>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FaaS sits beside SaaS rather than beyond it, because what you still own there is code rather than configuration.</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77083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“Serverless” Means Somebody Else’s Server, Started Fast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§14.2  ·  Handout p. 109     </a:t>
            </a:r>
            <a:fld id="{E804C1F3-9F0A-4964-BFC5-E02FCF4A8F0F}"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8104"/>
          </a:xfrm>
          <a:prstGeom prst="roundRect">
            <a:avLst>
              <a:gd name="adj" fmla="val 2083"/>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810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FaaS deserves one clarification because the name actively misleads. There are servers. What is removed is any notion of a server you provision, size or keep running: you supply a function, the provider runs it when something calls it, and you pay per invocation and per millisecond.</a:t>
            </a:r>
          </a:p>
        </p:txBody>
      </p:sp>
      <p:sp>
        <p:nvSpPr>
          <p:cNvPr id="10" name="body-1"/>
          <p:cNvSpPr txBox="1"/>
          <p:nvPr/>
        </p:nvSpPr>
        <p:spPr>
          <a:xfrm>
            <a:off x="1060704" y="3455923"/>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Chapter 11 is how it is implemented. A function invocation on AWS Lambda runs in a Firecracker microVM, which is why the model is economically possible at all: an isolation boundary that costs 125 ms and 5 MB can be created per request, and one that costs 25 s and 400 MB cannot.</a:t>
            </a:r>
          </a:p>
        </p:txBody>
      </p:sp>
      <p:sp>
        <p:nvSpPr>
          <p:cNvPr id="11" name="body-2"/>
          <p:cNvSpPr txBox="1"/>
          <p:nvPr/>
        </p:nvSpPr>
        <p:spPr>
          <a:xfrm>
            <a:off x="1060704" y="4863592"/>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So the commercial model in this chapter rests directly on the engineering of the last. That is the clearest instance in this book of a technical property — boot time — determining what can be sold.</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An instance type is a promise about scheduling, not just a size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§14.3  ·  Handout p. 110     </a:t>
            </a:r>
            <a:fld id="{F7D65570-085F-441E-9D41-813794D4AB13}"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71111"/>
          </a:xfrm>
          <a:prstGeom prst="roundRect">
            <a:avLst>
              <a:gd name="adj" fmla="val 2246"/>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71111"/>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Instance families are the vocabulary of Chapter 6 made commercial. General purpose, compute optimised, memory optimised and storage optimised differ in their core-to-memory ratio — and, less visibly, in whether their vCPUs are oversubscribed.</a:t>
            </a:r>
          </a:p>
        </p:txBody>
      </p:sp>
      <p:sp>
        <p:nvSpPr>
          <p:cNvPr id="10" name="body-1"/>
          <p:cNvSpPr txBox="1"/>
          <p:nvPr/>
        </p:nvSpPr>
        <p:spPr>
          <a:xfrm>
            <a:off x="1060704" y="3138931"/>
            <a:ext cx="10161727" cy="1630680"/>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a:t>
            </a:r>
            <a:r>
              <a:rPr sz="2000" b="0" i="1">
                <a:solidFill>
                  <a:srgbClr val="1C252B"/>
                </a:solidFill>
                <a:latin typeface="Segoe UI"/>
              </a:rPr>
              <a:t>burstable</a:t>
            </a:r>
            <a:r>
              <a:rPr sz="2000" b="0" i="0">
                <a:solidFill>
                  <a:srgbClr val="1C252B"/>
                </a:solidFill>
                <a:latin typeface="Segoe UI"/>
              </a:rPr>
              <a:t> instance (AWS’s </a:t>
            </a:r>
            <a:r>
              <a:rPr sz="1900" b="0" i="0">
                <a:solidFill>
                  <a:srgbClr val="1F4E79"/>
                </a:solidFill>
                <a:latin typeface="Consolas"/>
              </a:rPr>
              <a:t>t</a:t>
            </a:r>
            <a:r>
              <a:rPr sz="2000" b="0" i="0">
                <a:solidFill>
                  <a:srgbClr val="1C252B"/>
                </a:solidFill>
                <a:latin typeface="Segoe UI"/>
              </a:rPr>
              <a:t> family, and its equivalents) is explicitly oversubscribed: you are granted a baseline fraction of a core and accumulate credits when below it. Exhaust the credits and you are throttled to the baseline, which may be 5% of a core. The ready time of Chapter 6 is here sold as a product feature, and a great many “the server suddenly became slow after three weeks” incidents are exhausted CPU credits.</a:t>
            </a:r>
          </a:p>
        </p:txBody>
      </p:sp>
      <p:sp>
        <p:nvSpPr>
          <p:cNvPr id="11" name="body-2"/>
          <p:cNvSpPr txBox="1"/>
          <p:nvPr/>
        </p:nvSpPr>
        <p:spPr>
          <a:xfrm>
            <a:off x="1060704" y="4863592"/>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Read the oversubscription policy of any instance family before benchmarking on it, and never benchmark on a burstable one.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32500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Paying For It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14.4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14.1   What Makes a Cloud a Cloud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14.2   The Service Models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14.3   Deployment Models, and What an Instance Is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14.4   Paying For It</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14.5   Shared Responsibility</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§14.4     </a:t>
            </a:r>
            <a:fld id="{471D7517-3D4B-4D25-83E5-D31234066E6C}" type="slidenum">
              <a:rPr lang="en-GB" sz="1000">
                <a:solidFill>
                  <a:srgbClr val="8795A1"/>
                </a:solidFill>
                <a:latin typeface="Segoe UI"/>
              </a:rPr>
              <a:t>13</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60209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Paying For It</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110     </a:t>
            </a:r>
            <a:fld id="{7074BD2A-E065-4789-9C1B-E30B9DBCF42A}" type="slidenum">
              <a:rPr lang="en-GB" sz="1000">
                <a:solidFill>
                  <a:srgbClr val="8795A1"/>
                </a:solidFill>
                <a:latin typeface="Segoe UI"/>
              </a:rPr>
              <a:t>14</a:t>
            </a:fld>
          </a:p>
        </p:txBody>
      </p:sp>
      <p:graphicFrame>
        <p:nvGraphicFramePr>
          <p:cNvPr id="7" name="!!table"/>
          <p:cNvGraphicFramePr>
            <a:graphicFrameLocks noGrp="1"/>
          </p:cNvGraphicFramePr>
          <p:nvPr/>
        </p:nvGraphicFramePr>
        <p:xfrm>
          <a:off x="658368" y="1737360"/>
          <a:ext cx="10874958" cy="3176016"/>
        </p:xfrm>
        <a:graphic>
          <a:graphicData uri="http://schemas.openxmlformats.org/drawingml/2006/table">
            <a:tbl>
              <a:tblPr firstRow="0" bandRow="0" firstCol="0" lastRow="0" lastCol="0" bandCol="0">
                <a:tableStyleId>{2D5ABB26-0587-4C30-8999-92F81FD0307C}</a:tableStyleId>
              </a:tblPr>
              <a:tblGrid>
                <a:gridCol w="2099992"/>
                <a:gridCol w="2549990"/>
                <a:gridCol w="2249991"/>
                <a:gridCol w="3974985"/>
              </a:tblGrid>
              <a:tr h="405384">
                <a:tc>
                  <a:txBody>
                    <a:bodyPr wrap="square"/>
                    <a:lstStyle/>
                    <a:p>
                      <a:pPr algn="l"/>
                      <a:r>
                        <a:rPr sz="1700" b="1" i="0">
                          <a:solidFill>
                            <a:srgbClr val="1A5276"/>
                          </a:solidFill>
                          <a:latin typeface="Segoe UI"/>
                        </a:rPr>
                        <a:t>Model</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You commit to</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Typical saving</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Suitable for</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1" i="0">
                          <a:solidFill>
                            <a:srgbClr val="1A5276"/>
                          </a:solidFill>
                          <a:latin typeface="Segoe UI"/>
                        </a:rPr>
                        <a:t>On-demand</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Nothing</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Unpredictable load, development, anything short-lived</a:t>
                      </a:r>
                      <a:endParaRPr sz="1700"/>
                    </a:p>
                  </a:txBody>
                  <a:tcPr marL="109728" marR="109728" marT="64008" marB="45720" anchor="t">
                    <a:lnL w="0" cmpd="sng">
                      <a:noFill/>
                    </a:lnL>
                    <a:lnR w="0" cmpd="sng">
                      <a:noFill/>
                    </a:lnR>
                    <a:lnT w="9525" cmpd="sng">
                      <a:noFill/>
                    </a:lnT>
                    <a:lnB w="9525" cmpd="sng">
                      <a:noFill/>
                    </a:lnB>
                    <a:solidFill>
                      <a:srgbClr val="FFFFFF"/>
                    </a:solidFill>
                  </a:tcPr>
                </a:tc>
              </a:tr>
              <a:tr h="1182624">
                <a:tc>
                  <a:txBody>
                    <a:bodyPr wrap="square"/>
                    <a:lstStyle/>
                    <a:p>
                      <a:pPr algn="l"/>
                      <a:r>
                        <a:rPr sz="1700" b="1" i="0">
                          <a:solidFill>
                            <a:srgbClr val="1A5276"/>
                          </a:solidFill>
                          <a:latin typeface="Segoe UI"/>
                        </a:rPr>
                        <a:t>Reserved</a:t>
                      </a:r>
                      <a:r>
                        <a:rPr sz="1700" b="0" i="0">
                          <a:solidFill>
                            <a:srgbClr val="1C252B"/>
                          </a:solidFill>
                          <a:latin typeface="Segoe UI"/>
                        </a:rPr>
                        <a:t> / savings plan</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One or three years of spend</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34% for one year, </a:t>
                      </a:r>
                      <a:r>
                        <a:rPr sz="1700" b="1" i="0">
                          <a:solidFill>
                            <a:srgbClr val="1C252B"/>
                          </a:solidFill>
                          <a:latin typeface="Segoe UI"/>
                        </a:rPr>
                        <a:t>55% for three</a:t>
                      </a:r>
                      <a:r>
                        <a:rPr sz="1700" b="0" i="0">
                          <a:solidFill>
                            <a:srgbClr val="1C252B"/>
                          </a:solidFill>
                          <a:latin typeface="Segoe UI"/>
                        </a:rPr>
                        <a:t> (no upfront, EC2 instance plan)</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Steady baseline load you are confident will still exist</a:t>
                      </a:r>
                      <a:endParaRPr sz="1700"/>
                    </a:p>
                  </a:txBody>
                  <a:tcPr marL="109728" marR="109728" marT="64008" marB="45720" anchor="t">
                    <a:lnL w="0" cmpd="sng">
                      <a:noFill/>
                    </a:lnL>
                    <a:lnR w="0" cmpd="sng">
                      <a:noFill/>
                    </a:lnR>
                    <a:lnT w="9525" cmpd="sng">
                      <a:noFill/>
                    </a:lnT>
                    <a:lnB w="9525" cmpd="sng">
                      <a:noFill/>
                    </a:lnB>
                    <a:solidFill>
                      <a:srgbClr val="F2F8FC"/>
                    </a:solidFill>
                  </a:tcPr>
                </a:tc>
              </a:tr>
              <a:tr h="923544">
                <a:tc>
                  <a:txBody>
                    <a:bodyPr wrap="square"/>
                    <a:lstStyle/>
                    <a:p>
                      <a:pPr algn="l"/>
                      <a:r>
                        <a:rPr sz="1700" b="1" i="0">
                          <a:solidFill>
                            <a:srgbClr val="1A5276"/>
                          </a:solidFill>
                          <a:latin typeface="Segoe UI"/>
                        </a:rPr>
                        <a:t>Spot</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Nothing, but can be reclaimed on short notice</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70–90%</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Batch, CI, rendering, anything that can checkpoint and restart</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87917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Years, On Premises and in the Cloud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110     </a:t>
            </a:r>
            <a:fld id="{9EB81BC3-4C41-4177-AB94-191386821221}"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63314"/>
          </a:xfrm>
          <a:prstGeom prst="roundRect">
            <a:avLst>
              <a:gd name="adj" fmla="val 219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6331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forty workloads of Chapter 1, each needing 4 vCPUs and 16 GB. Compare three years on premises with three years on AWS. Figures are US list prices for </a:t>
            </a:r>
            <a:r>
              <a:rPr sz="1800" b="0" i="0">
                <a:solidFill>
                  <a:srgbClr val="1F4E79"/>
                </a:solidFill>
                <a:latin typeface="Consolas"/>
              </a:rPr>
              <a:t>us-east-1</a:t>
            </a:r>
            <a:r>
              <a:rPr sz="1900" b="0" i="0">
                <a:solidFill>
                  <a:srgbClr val="1C252B"/>
                </a:solidFill>
                <a:latin typeface="Segoe UI"/>
              </a:rPr>
              <a:t>, checked in October 2026; </a:t>
            </a:r>
            <a:r>
              <a:rPr sz="1900" b="1" i="0">
                <a:solidFill>
                  <a:srgbClr val="1C252B"/>
                </a:solidFill>
                <a:latin typeface="Segoe UI"/>
              </a:rPr>
              <a:t>re-check before quoting them</a:t>
            </a:r>
            <a:r>
              <a:rPr sz="1900" b="0" i="0">
                <a:solidFill>
                  <a:srgbClr val="1C252B"/>
                </a:solidFill>
                <a:latin typeface="Segoe UI"/>
              </a:rPr>
              <a:t>, because they move.</a:t>
            </a:r>
          </a:p>
        </p:txBody>
      </p:sp>
      <p:sp>
        <p:nvSpPr>
          <p:cNvPr id="10" name="body-1"/>
          <p:cNvSpPr txBox="1"/>
          <p:nvPr/>
        </p:nvSpPr>
        <p:spPr>
          <a:xfrm>
            <a:off x="1042416" y="3047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On premises.</a:t>
            </a:r>
            <a:r>
              <a:rPr sz="1900" b="0" i="0">
                <a:solidFill>
                  <a:srgbClr val="1C252B"/>
                </a:solidFill>
                <a:latin typeface="Segoe UI"/>
              </a:rPr>
              <a:t> From Chapter 1: three hosts, 13.3:1 consolidation.</a:t>
            </a:r>
          </a:p>
        </p:txBody>
      </p:sp>
      <p:sp>
        <p:nvSpPr>
          <p:cNvPr id="11" name="body-2"/>
          <p:cNvSpPr txBox="1"/>
          <p:nvPr/>
        </p:nvSpPr>
        <p:spPr>
          <a:xfrm>
            <a:off x="1042416" y="3481679"/>
            <a:ext cx="10234879" cy="2190394"/>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Hardware: </a:t>
            </a:r>
            <a:r>
              <a:rPr sz="1900" b="0" i="0">
                <a:solidFill>
                  <a:srgbClr val="1C252B"/>
                </a:solidFill>
                <a:latin typeface="Cambria"/>
              </a:rPr>
              <a:t>3 × $18,000 = $54,000</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Shared storage array: </a:t>
            </a:r>
            <a:r>
              <a:rPr sz="1900" b="0" i="0">
                <a:solidFill>
                  <a:srgbClr val="1C252B"/>
                </a:solidFill>
                <a:latin typeface="Cambria"/>
              </a:rPr>
              <a:t>$20,000</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Power and cooling: 2.1 kW at PUE 1.6 is 3.36 kW; </a:t>
            </a:r>
            <a:r>
              <a:rPr sz="1900" b="0" i="0">
                <a:solidFill>
                  <a:srgbClr val="1C252B"/>
                </a:solidFill>
                <a:latin typeface="Cambria"/>
              </a:rPr>
              <a:t>3.36 × 8,760 × 3 = 88,300</a:t>
            </a:r>
            <a:r>
              <a:rPr sz="1900" b="0" i="0">
                <a:solidFill>
                  <a:srgbClr val="1C252B"/>
                </a:solidFill>
                <a:latin typeface="Segoe UI"/>
              </a:rPr>
              <a:t> kWh at $0.12 </a:t>
            </a:r>
            <a:r>
              <a:rPr sz="1900" b="0" i="0">
                <a:solidFill>
                  <a:srgbClr val="1C252B"/>
                </a:solidFill>
                <a:latin typeface="Cambria"/>
              </a:rPr>
              <a:t>= $10,600</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Rack space and facility: $500 a month </a:t>
            </a:r>
            <a:r>
              <a:rPr sz="1900" b="0" i="0">
                <a:solidFill>
                  <a:srgbClr val="1C252B"/>
                </a:solidFill>
                <a:latin typeface="Cambria"/>
              </a:rPr>
              <a:t>= $18,000</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Staff: 0.3 of an engineer at $45,000 </a:t>
            </a:r>
            <a:r>
              <a:rPr sz="1900" b="0" i="0">
                <a:solidFill>
                  <a:srgbClr val="1C252B"/>
                </a:solidFill>
                <a:latin typeface="Cambria"/>
              </a:rPr>
              <a:t>= $40,500</a:t>
            </a:r>
          </a:p>
        </p:txBody>
      </p:sp>
      <p:sp>
        <p:nvSpPr>
          <p:cNvPr id="3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pfill">
            <a:extLst>
              <a:ext uri="{C183D7F6-B498-43B3-948B-1728B52AA6E4}">
                <adec:decorative xmlns:adec="http://schemas.microsoft.com/office/drawing/2017/decorative" val="1"/>
              </a:ext>
            </a:extLst>
          </p:cNvPr>
          <p:cNvSpPr/>
          <p:nvPr/>
        </p:nvSpPr>
        <p:spPr>
          <a:xfrm>
            <a:off x="0" y="0"/>
            <a:ext cx="415625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350"/>
                                        <p:tgtEl>
                                          <p:spTgt spid="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350"/>
                                        <p:tgtEl>
                                          <p:spTgt spid="1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xEl>
                                              <p:pRg st="2" end="2"/>
                                            </p:txEl>
                                          </p:spTgt>
                                        </p:tgtEl>
                                        <p:attrNameLst>
                                          <p:attrName>style.visibility</p:attrName>
                                        </p:attrNameLst>
                                      </p:cBhvr>
                                      <p:to>
                                        <p:strVal val="visible"/>
                                      </p:to>
                                    </p:set>
                                    <p:animEffect transition="in" filter="fade">
                                      <p:cBhvr>
                                        <p:cTn id="23" dur="350"/>
                                        <p:tgtEl>
                                          <p:spTgt spid="11">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xEl>
                                              <p:pRg st="3" end="3"/>
                                            </p:txEl>
                                          </p:spTgt>
                                        </p:tgtEl>
                                        <p:attrNameLst>
                                          <p:attrName>style.visibility</p:attrName>
                                        </p:attrNameLst>
                                      </p:cBhvr>
                                      <p:to>
                                        <p:strVal val="visible"/>
                                      </p:to>
                                    </p:set>
                                    <p:animEffect transition="in" filter="fade">
                                      <p:cBhvr>
                                        <p:cTn id="28" dur="350"/>
                                        <p:tgtEl>
                                          <p:spTgt spid="11">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xEl>
                                              <p:pRg st="4" end="4"/>
                                            </p:txEl>
                                          </p:spTgt>
                                        </p:tgtEl>
                                        <p:attrNameLst>
                                          <p:attrName>style.visibility</p:attrName>
                                        </p:attrNameLst>
                                      </p:cBhvr>
                                      <p:to>
                                        <p:strVal val="visible"/>
                                      </p:to>
                                    </p:set>
                                    <p:animEffect transition="in" filter="fade">
                                      <p:cBhvr>
                                        <p:cTn id="33" dur="35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Years, On Premises and in the Cloud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110     </a:t>
            </a:r>
            <a:fld id="{3DD05278-244E-4B65-A77B-0C1A4D0B0A6A}"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48724"/>
          </a:xfrm>
          <a:prstGeom prst="roundRect">
            <a:avLst>
              <a:gd name="adj" fmla="val 220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487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text{total} = 54{,}000 + 20{,}000 + 10{,}600 + 18{,}000 + 40{,}500 = \mathbf{\$143{,}10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011679"/>
            <a:ext cx="10234879" cy="324520"/>
          </a:xfrm>
          <a:prstGeom prst="rect">
            <a:avLst/>
          </a:prstGeom>
        </p:spPr>
      </p:pic>
      <p:sp>
        <p:nvSpPr>
          <p:cNvPr id="10" name="body-1"/>
          <p:cNvSpPr txBox="1"/>
          <p:nvPr/>
        </p:nvSpPr>
        <p:spPr>
          <a:xfrm>
            <a:off x="1042416" y="2468915"/>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Cloud, on demand.</a:t>
            </a:r>
            <a:r>
              <a:rPr sz="1900" b="0" i="0">
                <a:solidFill>
                  <a:srgbClr val="1C252B"/>
                </a:solidFill>
                <a:latin typeface="Segoe UI"/>
              </a:rPr>
              <a:t> An </a:t>
            </a:r>
            <a:r>
              <a:rPr sz="1800" b="0" i="0">
                <a:solidFill>
                  <a:srgbClr val="1F4E79"/>
                </a:solidFill>
                <a:latin typeface="Consolas"/>
              </a:rPr>
              <a:t>m7i.xlarge</a:t>
            </a:r>
            <a:r>
              <a:rPr sz="1900" b="0" i="0">
                <a:solidFill>
                  <a:srgbClr val="1C252B"/>
                </a:solidFill>
                <a:latin typeface="Segoe UI"/>
              </a:rPr>
              <a:t> is 4 vCPU and 16 GB at $0.2016 per hour:</a:t>
            </a:r>
          </a:p>
        </p:txBody>
      </p:sp>
      <p:sp>
        <p:nvSpPr>
          <p:cNvPr id="11" name="body-1bar">
            <a:extLst>
              <a:ext uri="{C183D7F6-B498-43B3-948B-1728B52AA6E4}">
                <adec:decorative xmlns:adec="http://schemas.microsoft.com/office/drawing/2017/decorative" val="1"/>
              </a:ext>
            </a:extLst>
          </p:cNvPr>
          <p:cNvSpPr/>
          <p:nvPr/>
        </p:nvSpPr>
        <p:spPr>
          <a:xfrm>
            <a:off x="841248" y="2487203"/>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2" name="body-2" descr="0.2016 \times 8{,}760 = \$1{,}766 \text{ per instance-yea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2902772"/>
            <a:ext cx="10234879" cy="324520"/>
          </a:xfrm>
          <a:prstGeom prst="rect">
            <a:avLst/>
          </a:prstGeom>
        </p:spPr>
      </p:pic>
      <p:pic>
        <p:nvPicPr>
          <p:cNvPr id="13" name="body-3" descr="1{,}766 \times 3 \times 40 = \mathbf{\$211{,}900}"/>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2416" y="3360008"/>
            <a:ext cx="10234879" cy="324520"/>
          </a:xfrm>
          <a:prstGeom prst="rect">
            <a:avLst/>
          </a:prstGeom>
        </p:spPr>
      </p:pic>
      <p:sp>
        <p:nvSpPr>
          <p:cNvPr id="14" name="body-4"/>
          <p:cNvSpPr txBox="1"/>
          <p:nvPr/>
        </p:nvSpPr>
        <p:spPr>
          <a:xfrm>
            <a:off x="1042416" y="3817244"/>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Plus 100 GB of gp3 storage each at $0.08 per GB-month (</a:t>
            </a:r>
            <a:r>
              <a:rPr sz="1900" b="0" i="0">
                <a:solidFill>
                  <a:srgbClr val="1C252B"/>
                </a:solidFill>
                <a:latin typeface="Cambria"/>
              </a:rPr>
              <a:t>40 × 100 × 0.08 × 36 = $11,520</a:t>
            </a:r>
            <a:r>
              <a:rPr sz="1900" b="0" i="0">
                <a:solidFill>
                  <a:srgbClr val="1C252B"/>
                </a:solidFill>
                <a:latin typeface="Segoe UI"/>
              </a:rPr>
              <a:t>) and 2 TB a month of egress at $0.09 per GB (</a:t>
            </a:r>
            <a:r>
              <a:rPr sz="1900" b="0" i="0">
                <a:solidFill>
                  <a:srgbClr val="1C252B"/>
                </a:solidFill>
                <a:latin typeface="Cambria"/>
              </a:rPr>
              <a:t>$6,480</a:t>
            </a:r>
            <a:r>
              <a:rPr sz="1900" b="0" i="0">
                <a:solidFill>
                  <a:srgbClr val="1C252B"/>
                </a:solidFill>
                <a:latin typeface="Segoe UI"/>
              </a:rPr>
              <a:t> over three years):</a:t>
            </a:r>
          </a:p>
        </p:txBody>
      </p:sp>
      <p:pic>
        <p:nvPicPr>
          <p:cNvPr id="15" name="body-5" descr="211{,}900 + 11{,}520 + 6{,}480 = \mathbf{\$229{,}900}"/>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42416" y="4552243"/>
            <a:ext cx="10234879" cy="324520"/>
          </a:xfrm>
          <a:prstGeom prst="rect">
            <a:avLst/>
          </a:prstGeom>
        </p:spPr>
      </p:pic>
      <p:sp>
        <p:nvSpPr>
          <p:cNvPr id="16" name="body-6"/>
          <p:cNvSpPr txBox="1"/>
          <p:nvPr/>
        </p:nvSpPr>
        <p:spPr>
          <a:xfrm>
            <a:off x="1042416" y="50094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Cloud, three-year reservation.</a:t>
            </a:r>
            <a:r>
              <a:rPr sz="1900" b="0" i="0">
                <a:solidFill>
                  <a:srgbClr val="1C252B"/>
                </a:solidFill>
                <a:latin typeface="Segoe UI"/>
              </a:rPr>
              <a:t> A three-year EC2 instance savings plan with no upfront payment saves 55%:</a:t>
            </a:r>
          </a:p>
        </p:txBody>
      </p:sp>
      <p:sp>
        <p:nvSpPr>
          <p:cNvPr id="17" name="body-6bar">
            <a:extLst>
              <a:ext uri="{C183D7F6-B498-43B3-948B-1728B52AA6E4}">
                <adec:decorative xmlns:adec="http://schemas.microsoft.com/office/drawing/2017/decorative" val="1"/>
              </a:ext>
            </a:extLst>
          </p:cNvPr>
          <p:cNvSpPr/>
          <p:nvPr/>
        </p:nvSpPr>
        <p:spPr>
          <a:xfrm>
            <a:off x="841248" y="50277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pfill">
            <a:extLst>
              <a:ext uri="{C183D7F6-B498-43B3-948B-1728B52AA6E4}">
                <adec:decorative xmlns:adec="http://schemas.microsoft.com/office/drawing/2017/decorative" val="1"/>
              </a:ext>
            </a:extLst>
          </p:cNvPr>
          <p:cNvSpPr/>
          <p:nvPr/>
        </p:nvSpPr>
        <p:spPr>
          <a:xfrm>
            <a:off x="0" y="0"/>
            <a:ext cx="443334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right)">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right)">
                                      <p:cBhvr>
                                        <p:cTn id="26" dur="42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right)">
                                      <p:cBhvr>
                                        <p:cTn id="31" dur="42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2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right)">
                                      <p:cBhvr>
                                        <p:cTn id="41" dur="42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Years, On Premises and in the Cloud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110     </a:t>
            </a:r>
            <a:fld id="{F98C12D7-6152-4684-A04E-6C20A526BAB5}"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969305"/>
          </a:xfrm>
          <a:prstGeom prst="roundRect">
            <a:avLst>
              <a:gd name="adj" fmla="val 3079"/>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96930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211{,}900 \times 0.45 = \$95{,}40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011679"/>
            <a:ext cx="10234879" cy="324520"/>
          </a:xfrm>
          <a:prstGeom prst="rect">
            <a:avLst/>
          </a:prstGeom>
        </p:spPr>
      </p:pic>
      <p:pic>
        <p:nvPicPr>
          <p:cNvPr id="10" name="body-1" descr="95{,}400 + 11{,}520 + 6{,}480 = \mathbf{\$113{,}400}"/>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2468915"/>
            <a:ext cx="10234879" cy="324520"/>
          </a:xfrm>
          <a:prstGeom prst="rect">
            <a:avLst/>
          </a:prstGeom>
        </p:spPr>
      </p:pic>
      <p:sp>
        <p:nvSpPr>
          <p:cNvPr id="11" name="body-2"/>
          <p:cNvSpPr txBox="1"/>
          <p:nvPr/>
        </p:nvSpPr>
        <p:spPr>
          <a:xfrm>
            <a:off x="1042416" y="2926151"/>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the comparison.</a:t>
            </a:r>
          </a:p>
        </p:txBody>
      </p:sp>
      <p:sp>
        <p:nvSpPr>
          <p:cNvPr id="12" name="body-2bar">
            <a:extLst>
              <a:ext uri="{C183D7F6-B498-43B3-948B-1728B52AA6E4}">
                <adec:decorative xmlns:adec="http://schemas.microsoft.com/office/drawing/2017/decorative" val="1"/>
              </a:ext>
            </a:extLst>
          </p:cNvPr>
          <p:cNvSpPr/>
          <p:nvPr/>
        </p:nvSpPr>
        <p:spPr>
          <a:xfrm>
            <a:off x="841248" y="2944439"/>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3"/>
          <p:cNvSpPr txBox="1"/>
          <p:nvPr/>
        </p:nvSpPr>
        <p:spPr>
          <a:xfrm>
            <a:off x="1042416" y="3360008"/>
            <a:ext cx="10234879" cy="1118057"/>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On premises: $143,100</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Cloud, on demand: $229,900 — </a:t>
            </a:r>
            <a:r>
              <a:rPr sz="1900" b="1" i="0">
                <a:solidFill>
                  <a:srgbClr val="1C252B"/>
                </a:solidFill>
                <a:latin typeface="Segoe UI"/>
              </a:rPr>
              <a:t>61% more</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Cloud, three-year reserved: $113,400 — </a:t>
            </a:r>
            <a:r>
              <a:rPr sz="1900" b="1" i="0">
                <a:solidFill>
                  <a:srgbClr val="1C252B"/>
                </a:solidFill>
                <a:latin typeface="Segoe UI"/>
              </a:rPr>
              <a:t>21% less</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471042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2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3">
                                            <p:txEl>
                                              <p:pRg st="0" end="0"/>
                                            </p:txEl>
                                          </p:spTgt>
                                        </p:tgtEl>
                                        <p:attrNameLst>
                                          <p:attrName>style.visibility</p:attrName>
                                        </p:attrNameLst>
                                      </p:cBhvr>
                                      <p:to>
                                        <p:strVal val="visible"/>
                                      </p:to>
                                    </p:set>
                                    <p:animEffect transition="in" filter="fade">
                                      <p:cBhvr>
                                        <p:cTn id="26" dur="350"/>
                                        <p:tgtEl>
                                          <p:spTgt spid="13">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3">
                                            <p:txEl>
                                              <p:pRg st="1" end="1"/>
                                            </p:txEl>
                                          </p:spTgt>
                                        </p:tgtEl>
                                        <p:attrNameLst>
                                          <p:attrName>style.visibility</p:attrName>
                                        </p:attrNameLst>
                                      </p:cBhvr>
                                      <p:to>
                                        <p:strVal val="visible"/>
                                      </p:to>
                                    </p:set>
                                    <p:animEffect transition="in" filter="fade">
                                      <p:cBhvr>
                                        <p:cTn id="31" dur="350"/>
                                        <p:tgtEl>
                                          <p:spTgt spid="13">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3">
                                            <p:txEl>
                                              <p:pRg st="2" end="2"/>
                                            </p:txEl>
                                          </p:spTgt>
                                        </p:tgtEl>
                                        <p:attrNameLst>
                                          <p:attrName>style.visibility</p:attrName>
                                        </p:attrNameLst>
                                      </p:cBhvr>
                                      <p:to>
                                        <p:strVal val="visible"/>
                                      </p:to>
                                    </p:set>
                                    <p:animEffect transition="in" filter="fade">
                                      <p:cBhvr>
                                        <p:cTn id="36" dur="35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Years, On Premises and in the Cloud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110     </a:t>
            </a:r>
            <a:fld id="{E89064B8-12F2-42D8-BE13-9DD0A280E6D3}"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25494"/>
          </a:xfrm>
          <a:prstGeom prst="roundRect">
            <a:avLst>
              <a:gd name="adj" fmla="val 239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2549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so which is it?</a:t>
            </a:r>
            <a:r>
              <a:rPr sz="1900" b="0" i="0">
                <a:solidFill>
                  <a:srgbClr val="1C252B"/>
                </a:solidFill>
                <a:latin typeface="Segoe UI"/>
              </a:rPr>
              <a:t> Both of the usual slogans are wrong. The same workload on the same provider is either substantially cheaper or substantially more expensive than owning the hardware, and </a:t>
            </a:r>
            <a:r>
              <a:rPr sz="1900" b="0" i="1">
                <a:solidFill>
                  <a:srgbClr val="1C252B"/>
                </a:solidFill>
                <a:latin typeface="Segoe UI"/>
              </a:rPr>
              <a:t>the only thing that changed was the purchasing decision</a:t>
            </a:r>
            <a:r>
              <a:rPr sz="1900" b="0" i="0">
                <a:solidFill>
                  <a:srgbClr val="1C252B"/>
                </a:solidFill>
                <a:latin typeface="Segoe UI"/>
              </a:rPr>
              <a:t>. A team that lifts and shifts onto on-demand instances and never revisits it will conclude the cloud is expensive, and will be right about their own bill and wrong about the cloud.</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65010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what the arithmetic leaves out, in both directions.</a:t>
            </a:r>
          </a:p>
        </p:txBody>
      </p:sp>
      <p:sp>
        <p:nvSpPr>
          <p:cNvPr id="12" name="body-1bar">
            <a:extLst>
              <a:ext uri="{C183D7F6-B498-43B3-948B-1728B52AA6E4}">
                <adec:decorative xmlns:adec="http://schemas.microsoft.com/office/drawing/2017/decorative" val="1"/>
              </a:ext>
            </a:extLst>
          </p:cNvPr>
          <p:cNvSpPr/>
          <p:nvPr/>
        </p:nvSpPr>
        <p:spPr>
          <a:xfrm>
            <a:off x="841248" y="3668394"/>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2"/>
          <p:cNvSpPr txBox="1"/>
          <p:nvPr/>
        </p:nvSpPr>
        <p:spPr>
          <a:xfrm>
            <a:off x="1042416" y="4083964"/>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0" i="1">
                <a:solidFill>
                  <a:srgbClr val="1C252B"/>
                </a:solidFill>
                <a:latin typeface="Segoe UI"/>
              </a:rPr>
              <a:t>Favouring the cloud:</a:t>
            </a:r>
            <a:r>
              <a:rPr sz="1900" b="0" i="0">
                <a:solidFill>
                  <a:srgbClr val="1C252B"/>
                </a:solidFill>
                <a:latin typeface="Segoe UI"/>
              </a:rPr>
              <a:t> the on-premises figure assumes the three hosts are right. Buy for peak and they are idle; buy for average and you have an outage at peak. It also ignores the refresh in year four, the spare host you should have, and the fact that 0.3 of an engineer is not a thing you can hire.</a:t>
            </a:r>
          </a:p>
        </p:txBody>
      </p:sp>
      <p:sp>
        <p:nvSpPr>
          <p:cNvPr id="2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fill">
            <a:extLst>
              <a:ext uri="{C183D7F6-B498-43B3-948B-1728B52AA6E4}">
                <adec:decorative xmlns:adec="http://schemas.microsoft.com/office/drawing/2017/decorative" val="1"/>
              </a:ext>
            </a:extLst>
          </p:cNvPr>
          <p:cNvSpPr/>
          <p:nvPr/>
        </p:nvSpPr>
        <p:spPr>
          <a:xfrm>
            <a:off x="0" y="0"/>
            <a:ext cx="498751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right)">
                                      <p:cBhvr>
                                        <p:cTn id="24"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Years, On Premises and in the Cloud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110     </a:t>
            </a:r>
            <a:fld id="{1EEAA19B-30F2-4043-982D-4E0D0E94562E}"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090494"/>
          </a:xfrm>
          <a:prstGeom prst="roundRect">
            <a:avLst>
              <a:gd name="adj" fmla="val 295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09049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0" i="1">
                <a:solidFill>
                  <a:srgbClr val="1C252B"/>
                </a:solidFill>
                <a:latin typeface="Segoe UI"/>
              </a:rPr>
              <a:t>Favouring on premises:</a:t>
            </a:r>
            <a:r>
              <a:rPr sz="1900" b="0" i="0">
                <a:solidFill>
                  <a:srgbClr val="1C252B"/>
                </a:solidFill>
                <a:latin typeface="Segoe UI"/>
              </a:rPr>
              <a:t> the cloud figure assumes forty instances running continuously for three years, which is the case least suited to the cloud. If half the workloads could run only in office hours — </a:t>
            </a:r>
            <a:r>
              <a:rPr sz="1900" b="0" i="0">
                <a:solidFill>
                  <a:srgbClr val="1C252B"/>
                </a:solidFill>
                <a:latin typeface="Cambria"/>
              </a:rPr>
              <a:t>8 × 5</a:t>
            </a:r>
            <a:r>
              <a:rPr sz="1900" b="0" i="0">
                <a:solidFill>
                  <a:srgbClr val="1C252B"/>
                </a:solidFill>
                <a:latin typeface="Segoe UI"/>
              </a:rPr>
              <a:t> instead of </a:t>
            </a:r>
            <a:r>
              <a:rPr sz="1900" b="0" i="0">
                <a:solidFill>
                  <a:srgbClr val="1C252B"/>
                </a:solidFill>
                <a:latin typeface="Cambria"/>
              </a:rPr>
              <a:t>24 × 7</a:t>
            </a:r>
            <a:r>
              <a:rPr sz="1900" b="0" i="0">
                <a:solidFill>
                  <a:srgbClr val="1C252B"/>
                </a:solidFill>
                <a:latin typeface="Segoe UI"/>
              </a:rPr>
              <a:t>, a 76% reduction for those — the cloud figure falls by roughly $36,000 more, and nothing equivalent is available on premises.</a:t>
            </a:r>
          </a:p>
        </p:txBody>
      </p:sp>
      <p:sp>
        <p:nvSpPr>
          <p:cNvPr id="10" name="body-1"/>
          <p:cNvSpPr txBox="1"/>
          <p:nvPr/>
        </p:nvSpPr>
        <p:spPr>
          <a:xfrm>
            <a:off x="1042416" y="3348964"/>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the honest conclusion.</a:t>
            </a:r>
            <a:r>
              <a:rPr sz="1900" b="0" i="0">
                <a:solidFill>
                  <a:srgbClr val="1C252B"/>
                </a:solidFill>
                <a:latin typeface="Segoe UI"/>
              </a:rPr>
              <a:t> The decision is not technical. It turns on how variable the load is, how confident you are of a three-year commitment, and whether you have the staff. Steady and predictable favours owning; variable or uncertain favours renting; and whichever you choose, revisiting the purchasing model annually is worth more than the choice itself.</a:t>
            </a:r>
          </a:p>
        </p:txBody>
      </p:sp>
      <p:sp>
        <p:nvSpPr>
          <p:cNvPr id="11" name="body-1bar">
            <a:extLst>
              <a:ext uri="{C183D7F6-B498-43B3-948B-1728B52AA6E4}">
                <adec:decorative xmlns:adec="http://schemas.microsoft.com/office/drawing/2017/decorative" val="1"/>
              </a:ext>
            </a:extLst>
          </p:cNvPr>
          <p:cNvSpPr/>
          <p:nvPr/>
        </p:nvSpPr>
        <p:spPr>
          <a:xfrm>
            <a:off x="841248" y="3367252"/>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526459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Egress is the charge that surprises people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110     </a:t>
            </a:r>
            <a:fld id="{11FC3D7C-54FA-4986-9642-A6CBE863E2E6}"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8773"/>
          </a:xfrm>
          <a:prstGeom prst="roundRect">
            <a:avLst>
              <a:gd name="adj" fmla="val 2472"/>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8773"/>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Compute, storage and inbound traffic are priced in ways that feel proportionate. Outbound data — </a:t>
            </a:r>
            <a:r>
              <a:rPr sz="2300" b="1" i="0">
                <a:solidFill>
                  <a:srgbClr val="1A5276"/>
                </a:solidFill>
                <a:latin typeface="Segoe UI"/>
              </a:rPr>
              <a:t>egress</a:t>
            </a:r>
            <a:r>
              <a:rPr sz="2300" b="0" i="0">
                <a:solidFill>
                  <a:srgbClr val="1C252B"/>
                </a:solidFill>
                <a:latin typeface="Segoe UI"/>
              </a:rPr>
              <a:t> — is not. At around $0.09 per GB, moving 100 TB out of a cloud costs roughly $9,000, and moving it </a:t>
            </a:r>
            <a:r>
              <a:rPr sz="2300" b="0" i="1">
                <a:solidFill>
                  <a:srgbClr val="1C252B"/>
                </a:solidFill>
                <a:latin typeface="Segoe UI"/>
              </a:rPr>
              <a:t>in</a:t>
            </a:r>
            <a:r>
              <a:rPr sz="2300" b="0" i="0">
                <a:solidFill>
                  <a:srgbClr val="1C252B"/>
                </a:solidFill>
                <a:latin typeface="Segoe UI"/>
              </a:rPr>
              <a:t> is free.</a:t>
            </a:r>
          </a:p>
        </p:txBody>
      </p:sp>
      <p:sp>
        <p:nvSpPr>
          <p:cNvPr id="10" name="body-1"/>
          <p:cNvSpPr txBox="1"/>
          <p:nvPr/>
        </p:nvSpPr>
        <p:spPr>
          <a:xfrm>
            <a:off x="1060704" y="3302533"/>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That asymmetry is the economic shape of </a:t>
            </a:r>
            <a:r>
              <a:rPr sz="2300" b="1" i="0">
                <a:solidFill>
                  <a:srgbClr val="1A5276"/>
                </a:solidFill>
                <a:latin typeface="Segoe UI"/>
              </a:rPr>
              <a:t>lock-in</a:t>
            </a:r>
            <a:r>
              <a:rPr sz="2300" b="0" i="0">
                <a:solidFill>
                  <a:srgbClr val="1C252B"/>
                </a:solidFill>
                <a:latin typeface="Segoe UI"/>
              </a:rPr>
              <a:t>: nothing prevents you leaving, and the bill for leaving grows with how much you have stored. Price the exit when you design the architecture, not when you need it. Keep the data you may have to move somewhere its egress is cheap, and know the figure.</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554167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Which Side Is This Failure On?</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112     </a:t>
            </a:r>
            <a:fld id="{939F877C-8B86-4F4C-9899-EDF53D95FB08}"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46627"/>
          </a:xfrm>
          <a:prstGeom prst="roundRect">
            <a:avLst>
              <a:gd name="adj" fmla="val 2507"/>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46627"/>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1630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Nearly every large cloud data breach of the past decade has fallen on the customer’s side of that line, and usually on the same two items.</a:t>
            </a:r>
          </a:p>
        </p:txBody>
      </p:sp>
      <p:sp>
        <p:nvSpPr>
          <p:cNvPr id="10" name="body-1"/>
          <p:cNvSpPr txBox="1"/>
          <p:nvPr/>
        </p:nvSpPr>
        <p:spPr>
          <a:xfrm>
            <a:off x="1060704" y="2744571"/>
            <a:ext cx="10161727" cy="696315"/>
          </a:xfrm>
          <a:prstGeom prst="rect">
            <a:avLst/>
          </a:prstGeom>
          <a:noFill/>
        </p:spPr>
        <p:txBody>
          <a:bodyPr wrap="square" anchor="t" lIns="0" rIns="0" tIns="0" bIns="0">
            <a:noAutofit/>
          </a:bodyPr>
          <a:lstStyle/>
          <a:p>
            <a:pPr algn="l" marL="201268" indent="-201268">
              <a:lnSpc>
                <a:spcPct val="104000"/>
              </a:lnSpc>
              <a:spcBef>
                <a:spcPts val="0"/>
              </a:spcBef>
              <a:spcAft>
                <a:spcPts val="630"/>
              </a:spcAft>
            </a:pPr>
            <a:r>
              <a:rPr sz="1800" b="1">
                <a:solidFill>
                  <a:srgbClr val="1F618D"/>
                </a:solidFill>
                <a:latin typeface="Segoe UI"/>
              </a:rPr>
              <a:t>•	</a:t>
            </a:r>
            <a:r>
              <a:rPr sz="1800" b="0" i="0">
                <a:solidFill>
                  <a:srgbClr val="1C252B"/>
                </a:solidFill>
                <a:latin typeface="Segoe UI"/>
              </a:rPr>
              <a:t>An object store left publicly readable. The provider’s default is private; somebody changed it.</a:t>
            </a:r>
          </a:p>
          <a:p>
            <a:pPr algn="l" marL="201268" indent="-201268">
              <a:lnSpc>
                <a:spcPct val="104000"/>
              </a:lnSpc>
              <a:spcBef>
                <a:spcPts val="0"/>
              </a:spcBef>
              <a:spcAft>
                <a:spcPts val="0"/>
              </a:spcAft>
            </a:pPr>
            <a:r>
              <a:rPr sz="1800" b="1">
                <a:solidFill>
                  <a:srgbClr val="1F618D"/>
                </a:solidFill>
                <a:latin typeface="Segoe UI"/>
              </a:rPr>
              <a:t>•	</a:t>
            </a:r>
            <a:r>
              <a:rPr sz="1800" b="0" i="0">
                <a:solidFill>
                  <a:srgbClr val="1C252B"/>
                </a:solidFill>
                <a:latin typeface="Segoe UI"/>
              </a:rPr>
              <a:t>Credentials committed to a public repository, or an over-broad role attached to an instance.</a:t>
            </a:r>
          </a:p>
        </p:txBody>
      </p:sp>
      <p:sp>
        <p:nvSpPr>
          <p:cNvPr id="11" name="body-2"/>
          <p:cNvSpPr txBox="1"/>
          <p:nvPr/>
        </p:nvSpPr>
        <p:spPr>
          <a:xfrm>
            <a:off x="1060704" y="3520897"/>
            <a:ext cx="10161727" cy="90159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Neither is a cloud vulnerability. Both are configuration, and both are on your side of the diagram. Meanwhile the provider’s side — the hypervisor of Chapter 5, the isolation of Chapter 19 — has a strong record, which is the opposite of what most risk discussions assume.</a:t>
            </a:r>
          </a:p>
        </p:txBody>
      </p:sp>
      <p:sp>
        <p:nvSpPr>
          <p:cNvPr id="12" name="body-3"/>
          <p:cNvSpPr txBox="1"/>
          <p:nvPr/>
        </p:nvSpPr>
        <p:spPr>
          <a:xfrm>
            <a:off x="1060704" y="4502505"/>
            <a:ext cx="10161727" cy="61630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The practical reading: when evaluating cloud risk, spend your effort on your own configuration, your identity model and your data, because that is where the incidents actually are.</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81876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112     </a:t>
            </a:r>
            <a:fld id="{B06D5531-7702-4781-9751-C333D49D573F}" type="slidenum">
              <a:rPr lang="en-GB" sz="1000">
                <a:solidFill>
                  <a:srgbClr val="8795A1"/>
                </a:solidFill>
                <a:latin typeface="Segoe UI"/>
              </a:rPr>
              <a:t>22</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Comparing on-demand cloud prices with owned hardware.</a:t>
            </a:r>
            <a:r>
              <a:rPr sz="1700" b="0" i="0">
                <a:solidFill>
                  <a:srgbClr val="1C252B"/>
                </a:solidFill>
                <a:latin typeface="Segoe UI"/>
              </a:rPr>
              <a:t> It is the most expensive way to buy and the least representative. Compare like with like: a three-year commitment against a three-year asset.</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Calling a vSphere estate a private cloud.</a:t>
            </a:r>
            <a:r>
              <a:rPr sz="1700" b="0" i="0">
                <a:solidFill>
                  <a:srgbClr val="1C252B"/>
                </a:solidFill>
                <a:latin typeface="Segoe UI"/>
              </a:rPr>
              <a:t> Check it against the five characteristics, especially whether capacity can be </a:t>
            </a:r>
            <a:r>
              <a:rPr sz="1700" b="0" i="1">
                <a:solidFill>
                  <a:srgbClr val="1C252B"/>
                </a:solidFill>
                <a:latin typeface="Segoe UI"/>
              </a:rPr>
              <a:t>returned</a:t>
            </a:r>
            <a:r>
              <a:rPr sz="1700" b="0" i="0">
                <a:solidFill>
                  <a:srgbClr val="1C252B"/>
                </a:solidFill>
                <a:latin typeface="Segoe UI"/>
              </a:rPr>
              <a:t>.</a:t>
            </a:r>
          </a:p>
        </p:txBody>
      </p:sp>
      <p:sp>
        <p:nvSpPr>
          <p:cNvPr id="13" name="!!pb2">
            <a:extLst>
              <a:ext uri="{C183D7F6-B498-43B3-948B-1728B52AA6E4}">
                <adec:decorative xmlns:adec="http://schemas.microsoft.com/office/drawing/2017/decorative" val="1"/>
              </a:ext>
            </a:extLst>
          </p:cNvPr>
          <p:cNvSpPr/>
          <p:nvPr/>
        </p:nvSpPr>
        <p:spPr>
          <a:xfrm>
            <a:off x="658368" y="323575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5861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17468"/>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Lifting and shifting without resizing.</a:t>
            </a:r>
            <a:r>
              <a:rPr sz="1700" b="0" i="0">
                <a:solidFill>
                  <a:srgbClr val="1C252B"/>
                </a:solidFill>
                <a:latin typeface="Segoe UI"/>
              </a:rPr>
              <a:t> A 16-vCPU guest that used two becomes a 16-vCPU instance billed for sixteen. The right-sizing of Chapter 6 is worth more in the cloud, because waste is now a monthly invoice.</a:t>
            </a:r>
          </a:p>
        </p:txBody>
      </p:sp>
      <p:sp>
        <p:nvSpPr>
          <p:cNvPr id="16" name="!!pb3">
            <a:extLst>
              <a:ext uri="{C183D7F6-B498-43B3-948B-1728B52AA6E4}">
                <adec:decorative xmlns:adec="http://schemas.microsoft.com/office/drawing/2017/decorative" val="1"/>
              </a:ext>
            </a:extLst>
          </p:cNvPr>
          <p:cNvSpPr/>
          <p:nvPr/>
        </p:nvSpPr>
        <p:spPr>
          <a:xfrm>
            <a:off x="658368" y="424525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26811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226966"/>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Benchmarking on a burstable instance.</a:t>
            </a:r>
            <a:r>
              <a:rPr sz="1700" b="0" i="0">
                <a:solidFill>
                  <a:srgbClr val="1C252B"/>
                </a:solidFill>
                <a:latin typeface="Segoe UI"/>
              </a:rPr>
              <a:t> You are measuring credit balance, not performance.</a:t>
            </a:r>
          </a:p>
        </p:txBody>
      </p:sp>
      <p:sp>
        <p:nvSpPr>
          <p:cNvPr id="19" name="!!pb4">
            <a:extLst>
              <a:ext uri="{C183D7F6-B498-43B3-948B-1728B52AA6E4}">
                <adec:decorative xmlns:adec="http://schemas.microsoft.com/office/drawing/2017/decorative" val="1"/>
              </a:ext>
            </a:extLst>
          </p:cNvPr>
          <p:cNvSpPr/>
          <p:nvPr/>
        </p:nvSpPr>
        <p:spPr>
          <a:xfrm>
            <a:off x="658368" y="481218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83504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793894"/>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Ignoring egress until the exit.</a:t>
            </a:r>
            <a:r>
              <a:rPr sz="1700" b="0" i="0">
                <a:solidFill>
                  <a:srgbClr val="1C252B"/>
                </a:solidFill>
                <a:latin typeface="Segoe UI"/>
              </a:rPr>
              <a:t> Price it at design time.</a:t>
            </a:r>
          </a:p>
        </p:txBody>
      </p:sp>
      <p:sp>
        <p:nvSpPr>
          <p:cNvPr id="22" name="!!pb5">
            <a:extLst>
              <a:ext uri="{C183D7F6-B498-43B3-948B-1728B52AA6E4}">
                <adec:decorative xmlns:adec="http://schemas.microsoft.com/office/drawing/2017/decorative" val="1"/>
              </a:ext>
            </a:extLst>
          </p:cNvPr>
          <p:cNvSpPr/>
          <p:nvPr/>
        </p:nvSpPr>
        <p:spPr>
          <a:xfrm>
            <a:off x="658368" y="537911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40197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360822"/>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multi-cloud buys availability.</a:t>
            </a:r>
            <a:r>
              <a:rPr sz="1700" b="0" i="0">
                <a:solidFill>
                  <a:srgbClr val="1C252B"/>
                </a:solidFill>
                <a:latin typeface="Segoe UI"/>
              </a:rPr>
              <a:t> It buys the intersection of two feature sets, two operational models and two sets of outages. It buys leverage and sometimes compliance; availability is usually cheaper within one provider across zones.</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112     </a:t>
            </a:r>
            <a:fld id="{A1986E4C-2CF9-48F2-BC7A-D9BAB225BBE3}" type="slidenum">
              <a:rPr lang="en-GB" sz="1000">
                <a:solidFill>
                  <a:srgbClr val="8795A1"/>
                </a:solidFill>
                <a:latin typeface="Segoe UI"/>
              </a:rPr>
              <a:t>23</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Treating the shared responsibility diagram as marketing.</a:t>
            </a:r>
            <a:r>
              <a:rPr sz="1700" b="0" i="0">
                <a:solidFill>
                  <a:srgbClr val="1C252B"/>
                </a:solidFill>
                <a:latin typeface="Segoe UI"/>
              </a:rPr>
              <a:t> It is the contract, and it is where the incidents are.</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37293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One Workload, Three Clouds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112     </a:t>
            </a:r>
            <a:fld id="{5DB27872-65BA-41A6-AEFD-40D52A9B3982}" type="slidenum">
              <a:rPr lang="en-GB" sz="1000">
                <a:solidFill>
                  <a:srgbClr val="8795A1"/>
                </a:solidFill>
                <a:latin typeface="Segoe UI"/>
              </a:rPr>
              <a:t>24</a:t>
            </a:fld>
          </a:p>
        </p:txBody>
      </p:sp>
      <p:sp>
        <p:nvSpPr>
          <p:cNvPr id="7" name="body-0"/>
          <p:cNvSpPr txBox="1"/>
          <p:nvPr/>
        </p:nvSpPr>
        <p:spPr>
          <a:xfrm>
            <a:off x="658368" y="1737360"/>
            <a:ext cx="10874959"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Launches the same instance on AWS, Azure and GCP free tiers, compares what each exposes, and tears everything down. </a:t>
            </a:r>
            <a:r>
              <a:rPr sz="2000" b="1" i="0">
                <a:solidFill>
                  <a:srgbClr val="1C252B"/>
                </a:solidFill>
                <a:latin typeface="Segoe UI"/>
              </a:rPr>
              <a:t>Step 7 is not optional:</a:t>
            </a:r>
            <a:r>
              <a:rPr sz="2000" b="0" i="0">
                <a:solidFill>
                  <a:srgbClr val="1C252B"/>
                </a:solidFill>
                <a:latin typeface="Segoe UI"/>
              </a:rPr>
              <a:t> a forgotten instance bills until somebody notices. Expect fifty minutes.</a:t>
            </a:r>
          </a:p>
        </p:txBody>
      </p:sp>
      <p:sp>
        <p:nvSpPr>
          <p:cNvPr id="8" name="!!labsteps-h"/>
          <p:cNvSpPr txBox="1"/>
          <p:nvPr/>
        </p:nvSpPr>
        <p:spPr>
          <a:xfrm>
            <a:off x="658368" y="29992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383280"/>
            <a:ext cx="10874959" cy="21717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Authenticate to whichever accounts you have.</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AWS: a free-tier instance.</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Azure: the same shape.</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GCP: likewise.</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Ask each guest what it is running on.</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What each one costs, from the provider's own API.</a:t>
            </a:r>
          </a:p>
          <a:p>
            <a:pPr algn="l" marL="367434" indent="-367434">
              <a:lnSpc>
                <a:spcPct val="100000"/>
              </a:lnSpc>
              <a:spcBef>
                <a:spcPts val="0"/>
              </a:spcBef>
              <a:spcAft>
                <a:spcPts val="420"/>
              </a:spcAft>
            </a:pPr>
            <a:r>
              <a:rPr sz="1400" b="1">
                <a:solidFill>
                  <a:srgbClr val="117A65"/>
                </a:solidFill>
                <a:latin typeface="Segoe UI"/>
              </a:rPr>
              <a:t>7.	</a:t>
            </a:r>
            <a:r>
              <a:rPr sz="1400" b="0" i="0">
                <a:solidFill>
                  <a:srgbClr val="1C252B"/>
                </a:solidFill>
                <a:latin typeface="Segoe UI"/>
              </a:rPr>
              <a:t>TEAR DOWN. Do this even if a step above failed.</a:t>
            </a:r>
          </a:p>
          <a:p>
            <a:pPr algn="l" marL="367434" indent="-367434">
              <a:lnSpc>
                <a:spcPct val="100000"/>
              </a:lnSpc>
              <a:spcBef>
                <a:spcPts val="0"/>
              </a:spcBef>
              <a:spcAft>
                <a:spcPts val="0"/>
              </a:spcAft>
            </a:pPr>
            <a:r>
              <a:rPr sz="1400" b="1">
                <a:solidFill>
                  <a:srgbClr val="117A65"/>
                </a:solidFill>
                <a:latin typeface="Segoe UI"/>
              </a:rPr>
              <a:t>8.	</a:t>
            </a:r>
            <a:r>
              <a:rPr sz="1400" b="0" i="0">
                <a:solidFill>
                  <a:srgbClr val="1C252B"/>
                </a:solidFill>
                <a:latin typeface="Segoe UI"/>
              </a:rPr>
              <a:t>Confirm nothing survives.</a:t>
            </a:r>
          </a:p>
        </p:txBody>
      </p:sp>
      <p:sp>
        <p:nvSpPr>
          <p:cNvPr id="44" name="!!lfTHIS">
            <a:extLst>
              <a:ext uri="{C183D7F6-B498-43B3-948B-1728B52AA6E4}">
                <adec:decorative xmlns:adec="http://schemas.microsoft.com/office/drawing/2017/decorative" val="1"/>
              </a:ext>
            </a:extLst>
          </p:cNvPr>
          <p:cNvSpPr/>
          <p:nvPr/>
        </p:nvSpPr>
        <p:spPr>
          <a:xfrm>
            <a:off x="658368"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lfbTHIS">
            <a:extLst>
              <a:ext uri="{C183D7F6-B498-43B3-948B-1728B52AA6E4}">
                <adec:decorative xmlns:adec="http://schemas.microsoft.com/office/drawing/2017/decorative" val="1"/>
              </a:ext>
            </a:extLst>
          </p:cNvPr>
          <p:cNvSpPr/>
          <p:nvPr/>
        </p:nvSpPr>
        <p:spPr>
          <a:xfrm>
            <a:off x="658368"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lflTHIS"/>
          <p:cNvSpPr txBox="1"/>
          <p:nvPr/>
        </p:nvSpPr>
        <p:spPr>
          <a:xfrm>
            <a:off x="932688"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47" name="!!lfvTHIS"/>
          <p:cNvSpPr txBox="1"/>
          <p:nvPr/>
        </p:nvSpPr>
        <p:spPr>
          <a:xfrm>
            <a:off x="932688"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11: One workload on three clouds, then torn down</a:t>
            </a:r>
          </a:p>
        </p:txBody>
      </p:sp>
      <p:sp>
        <p:nvSpPr>
          <p:cNvPr id="48" name="!!lfWHAT">
            <a:extLst>
              <a:ext uri="{C183D7F6-B498-43B3-948B-1728B52AA6E4}">
                <adec:decorative xmlns:adec="http://schemas.microsoft.com/office/drawing/2017/decorative" val="1"/>
              </a:ext>
            </a:extLst>
          </p:cNvPr>
          <p:cNvSpPr/>
          <p:nvPr/>
        </p:nvSpPr>
        <p:spPr>
          <a:xfrm>
            <a:off x="6233007"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lfbWHAT">
            <a:extLst>
              <a:ext uri="{C183D7F6-B498-43B3-948B-1728B52AA6E4}">
                <adec:decorative xmlns:adec="http://schemas.microsoft.com/office/drawing/2017/decorative" val="1"/>
              </a:ext>
            </a:extLst>
          </p:cNvPr>
          <p:cNvSpPr/>
          <p:nvPr/>
        </p:nvSpPr>
        <p:spPr>
          <a:xfrm>
            <a:off x="6233007"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lflWHAT"/>
          <p:cNvSpPr txBox="1"/>
          <p:nvPr/>
        </p:nvSpPr>
        <p:spPr>
          <a:xfrm>
            <a:off x="6507327"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51" name="!!lfvWHAT"/>
          <p:cNvSpPr txBox="1"/>
          <p:nvPr/>
        </p:nvSpPr>
        <p:spPr>
          <a:xfrm>
            <a:off x="6507327"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60 lines of Shell</a:t>
            </a:r>
          </a:p>
        </p:txBody>
      </p:sp>
      <p:sp>
        <p:nvSpPr>
          <p:cNvPr id="5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pfill">
            <a:extLst>
              <a:ext uri="{C183D7F6-B498-43B3-948B-1728B52AA6E4}">
                <adec:decorative xmlns:adec="http://schemas.microsoft.com/office/drawing/2017/decorative" val="1"/>
              </a:ext>
            </a:extLst>
          </p:cNvPr>
          <p:cNvSpPr/>
          <p:nvPr/>
        </p:nvSpPr>
        <p:spPr>
          <a:xfrm>
            <a:off x="0" y="0"/>
            <a:ext cx="665001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animEffect transition="in" filter="fade">
                                      <p:cBhvr>
                                        <p:cTn id="43" dur="3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One Workload, Three Clouds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112     </a:t>
            </a:r>
            <a:fld id="{D1997EC9-4572-418E-A996-B78178005A4E}"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Authenticate to whichever accounts you have.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798063"/>
          </a:xfrm>
          <a:prstGeom prst="roundRect">
            <a:avLst>
              <a:gd name="adj" fmla="val 3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usr/bin/env bash # ch14_threeclouds.sh -- one guest on three providers, then delete. set -euo pipefail # --- 1. Authenticate to whichever accounts you have. ------------------- aws sts get-caller-identity 2&gt;/dev/null || echo &quot;no aws credentials&quot; az account show --query name 2&gt;/dev/null || echo &quot;no azure login&quot; gcloud config get-value project 2&gt;/dev/null || echo &quot;no gcp project&quot;"/>
          <p:cNvSpPr txBox="1"/>
          <p:nvPr/>
        </p:nvSpPr>
        <p:spPr>
          <a:xfrm>
            <a:off x="1362456" y="2523744"/>
            <a:ext cx="9987991" cy="23042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#!/usr/bin/env bash</a:t>
            </a:r>
          </a:p>
          <a:p>
            <a:pPr>
              <a:lnSpc>
                <a:spcPct val="100000"/>
              </a:lnSpc>
              <a:spcAft>
                <a:spcPts val="0"/>
              </a:spcAft>
            </a:pPr>
            <a:r>
              <a:rPr sz="1800" i="1">
                <a:solidFill>
                  <a:srgbClr val="8795A1"/>
                </a:solidFill>
                <a:latin typeface="Consolas"/>
              </a:rPr>
              <a:t># ch14_threeclouds.sh -- one guest on three providers, then delete.</a:t>
            </a:r>
          </a:p>
          <a:p>
            <a:pPr>
              <a:lnSpc>
                <a:spcPct val="100000"/>
              </a:lnSpc>
              <a:spcAft>
                <a:spcPts val="0"/>
              </a:spcAft>
            </a:pPr>
            <a:r>
              <a:rPr sz="1800" i="0">
                <a:solidFill>
                  <a:srgbClr val="C39BD3"/>
                </a:solidFill>
                <a:latin typeface="Consolas"/>
              </a:rPr>
              <a:t>set</a:t>
            </a:r>
            <a:r>
              <a:rPr sz="1800" i="0">
                <a:solidFill>
                  <a:srgbClr val="E8EDF2"/>
                </a:solidFill>
                <a:latin typeface="Consolas"/>
              </a:rPr>
              <a:t> </a:t>
            </a:r>
            <a:r>
              <a:rPr sz="1800" i="0">
                <a:solidFill>
                  <a:srgbClr val="E8EDF2"/>
                </a:solidFill>
                <a:latin typeface="Consolas"/>
              </a:rPr>
              <a:t>-euo</a:t>
            </a:r>
            <a:r>
              <a:rPr sz="1800" i="0">
                <a:solidFill>
                  <a:srgbClr val="E8EDF2"/>
                </a:solidFill>
                <a:latin typeface="Consolas"/>
              </a:rPr>
              <a:t> </a:t>
            </a:r>
            <a:r>
              <a:rPr sz="1800" i="0">
                <a:solidFill>
                  <a:srgbClr val="E8EDF2"/>
                </a:solidFill>
                <a:latin typeface="Consolas"/>
              </a:rPr>
              <a:t>pipefail</a:t>
            </a:r>
          </a:p>
          <a:p>
            <a:pPr>
              <a:lnSpc>
                <a:spcPct val="100000"/>
              </a:lnSpc>
              <a:spcAft>
                <a:spcPts val="0"/>
              </a:spcAft>
            </a:pPr>
            <a:r>
              <a:rPr sz="1800">
                <a:latin typeface="Consolas"/>
              </a:rPr>
              <a:t> </a:t>
            </a:r>
          </a:p>
          <a:p>
            <a:pPr>
              <a:lnSpc>
                <a:spcPct val="100000"/>
              </a:lnSpc>
              <a:spcAft>
                <a:spcPts val="0"/>
              </a:spcAft>
            </a:pPr>
            <a:r>
              <a:rPr sz="1800" i="1">
                <a:solidFill>
                  <a:srgbClr val="8795A1"/>
                </a:solidFill>
                <a:latin typeface="Consolas"/>
              </a:rPr>
              <a:t># --- 1. Authenticate to whichever accounts you have. -------------------</a:t>
            </a:r>
          </a:p>
          <a:p>
            <a:pPr>
              <a:lnSpc>
                <a:spcPct val="100000"/>
              </a:lnSpc>
              <a:spcAft>
                <a:spcPts val="0"/>
              </a:spcAft>
            </a:pPr>
            <a:r>
              <a:rPr sz="1800" i="0">
                <a:solidFill>
                  <a:srgbClr val="E8EDF2"/>
                </a:solidFill>
                <a:latin typeface="Consolas"/>
              </a:rPr>
              <a:t>aws</a:t>
            </a:r>
            <a:r>
              <a:rPr sz="1800" i="0">
                <a:solidFill>
                  <a:srgbClr val="E8EDF2"/>
                </a:solidFill>
                <a:latin typeface="Consolas"/>
              </a:rPr>
              <a:t> </a:t>
            </a:r>
            <a:r>
              <a:rPr sz="1800" i="0">
                <a:solidFill>
                  <a:srgbClr val="E8EDF2"/>
                </a:solidFill>
                <a:latin typeface="Consolas"/>
              </a:rPr>
              <a:t>sts</a:t>
            </a:r>
            <a:r>
              <a:rPr sz="1800" i="0">
                <a:solidFill>
                  <a:srgbClr val="E8EDF2"/>
                </a:solidFill>
                <a:latin typeface="Consolas"/>
              </a:rPr>
              <a:t> </a:t>
            </a:r>
            <a:r>
              <a:rPr sz="1800" i="0">
                <a:solidFill>
                  <a:srgbClr val="E8EDF2"/>
                </a:solidFill>
                <a:latin typeface="Consolas"/>
              </a:rPr>
              <a:t>get-caller-identity</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&gt;/dev/null</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"no aws credentials"</a:t>
            </a:r>
          </a:p>
          <a:p>
            <a:pPr>
              <a:lnSpc>
                <a:spcPct val="100000"/>
              </a:lnSpc>
              <a:spcAft>
                <a:spcPts val="0"/>
              </a:spcAft>
            </a:pPr>
            <a:r>
              <a:rPr sz="1800" i="0">
                <a:solidFill>
                  <a:srgbClr val="E8EDF2"/>
                </a:solidFill>
                <a:latin typeface="Consolas"/>
              </a:rPr>
              <a:t>az</a:t>
            </a:r>
            <a:r>
              <a:rPr sz="1800" i="0">
                <a:solidFill>
                  <a:srgbClr val="E8EDF2"/>
                </a:solidFill>
                <a:latin typeface="Consolas"/>
              </a:rPr>
              <a:t> </a:t>
            </a:r>
            <a:r>
              <a:rPr sz="1800" i="0">
                <a:solidFill>
                  <a:srgbClr val="E8EDF2"/>
                </a:solidFill>
                <a:latin typeface="Consolas"/>
              </a:rPr>
              <a:t>account</a:t>
            </a:r>
            <a:r>
              <a:rPr sz="1800" i="0">
                <a:solidFill>
                  <a:srgbClr val="E8EDF2"/>
                </a:solidFill>
                <a:latin typeface="Consolas"/>
              </a:rPr>
              <a:t> </a:t>
            </a:r>
            <a:r>
              <a:rPr sz="1800" i="0">
                <a:solidFill>
                  <a:srgbClr val="E8EDF2"/>
                </a:solidFill>
                <a:latin typeface="Consolas"/>
              </a:rPr>
              <a:t>show</a:t>
            </a:r>
            <a:r>
              <a:rPr sz="1800" i="0">
                <a:solidFill>
                  <a:srgbClr val="E8EDF2"/>
                </a:solidFill>
                <a:latin typeface="Consolas"/>
              </a:rPr>
              <a:t> </a:t>
            </a:r>
            <a:r>
              <a:rPr sz="1800" i="0">
                <a:solidFill>
                  <a:srgbClr val="E8EDF2"/>
                </a:solidFill>
                <a:latin typeface="Consolas"/>
              </a:rPr>
              <a:t>--query</a:t>
            </a:r>
            <a:r>
              <a:rPr sz="1800" i="0">
                <a:solidFill>
                  <a:srgbClr val="E8EDF2"/>
                </a:solidFill>
                <a:latin typeface="Consolas"/>
              </a:rPr>
              <a:t> </a:t>
            </a:r>
            <a:r>
              <a:rPr sz="1800" i="0">
                <a:solidFill>
                  <a:srgbClr val="E8EDF2"/>
                </a:solidFill>
                <a:latin typeface="Consolas"/>
              </a:rPr>
              <a:t>name</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&gt;/dev/null</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"no azure login"</a:t>
            </a:r>
          </a:p>
          <a:p>
            <a:pPr>
              <a:lnSpc>
                <a:spcPct val="100000"/>
              </a:lnSpc>
              <a:spcAft>
                <a:spcPts val="0"/>
              </a:spcAft>
            </a:pPr>
            <a:r>
              <a:rPr sz="1800" i="0">
                <a:solidFill>
                  <a:srgbClr val="E8EDF2"/>
                </a:solidFill>
                <a:latin typeface="Consolas"/>
              </a:rPr>
              <a:t>gcloud</a:t>
            </a:r>
            <a:r>
              <a:rPr sz="1800" i="0">
                <a:solidFill>
                  <a:srgbClr val="E8EDF2"/>
                </a:solidFill>
                <a:latin typeface="Consolas"/>
              </a:rPr>
              <a:t> </a:t>
            </a:r>
            <a:r>
              <a:rPr sz="1800" i="0">
                <a:solidFill>
                  <a:srgbClr val="E8EDF2"/>
                </a:solidFill>
                <a:latin typeface="Consolas"/>
              </a:rPr>
              <a:t>config</a:t>
            </a:r>
            <a:r>
              <a:rPr sz="1800" i="0">
                <a:solidFill>
                  <a:srgbClr val="E8EDF2"/>
                </a:solidFill>
                <a:latin typeface="Consolas"/>
              </a:rPr>
              <a:t> </a:t>
            </a:r>
            <a:r>
              <a:rPr sz="1800" i="0">
                <a:solidFill>
                  <a:srgbClr val="E8EDF2"/>
                </a:solidFill>
                <a:latin typeface="Consolas"/>
              </a:rPr>
              <a:t>get-value</a:t>
            </a:r>
            <a:r>
              <a:rPr sz="1800" i="0">
                <a:solidFill>
                  <a:srgbClr val="E8EDF2"/>
                </a:solidFill>
                <a:latin typeface="Consolas"/>
              </a:rPr>
              <a:t> </a:t>
            </a:r>
            <a:r>
              <a:rPr sz="1800" i="0">
                <a:solidFill>
                  <a:srgbClr val="E8EDF2"/>
                </a:solidFill>
                <a:latin typeface="Consolas"/>
              </a:rPr>
              <a:t>project</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&gt;/dev/null</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"no gcp project"</a:t>
            </a:r>
          </a:p>
        </p:txBody>
      </p:sp>
      <p:sp>
        <p:nvSpPr>
          <p:cNvPr id="15" name="!!code-num"/>
          <p:cNvSpPr txBox="1"/>
          <p:nvPr/>
        </p:nvSpPr>
        <p:spPr>
          <a:xfrm>
            <a:off x="768096" y="2523744"/>
            <a:ext cx="393192" cy="23042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a:t>
            </a:r>
          </a:p>
          <a:p>
            <a:pPr algn="r">
              <a:lnSpc>
                <a:spcPct val="100000"/>
              </a:lnSpc>
            </a:pPr>
            <a:r>
              <a:rPr sz="1800">
                <a:solidFill>
                  <a:srgbClr val="4F5D6A"/>
                </a:solidFill>
                <a:latin typeface="Consolas"/>
              </a:rPr>
              <a:t>2</a:t>
            </a:r>
          </a:p>
          <a:p>
            <a:pPr algn="r">
              <a:lnSpc>
                <a:spcPct val="100000"/>
              </a:lnSpc>
            </a:pPr>
            <a:r>
              <a:rPr sz="1800">
                <a:solidFill>
                  <a:srgbClr val="4F5D6A"/>
                </a:solidFill>
                <a:latin typeface="Consolas"/>
              </a:rPr>
              <a:t>3</a:t>
            </a:r>
          </a:p>
          <a:p>
            <a:pPr algn="r">
              <a:lnSpc>
                <a:spcPct val="100000"/>
              </a:lnSpc>
            </a:pPr>
            <a:r>
              <a:rPr sz="1800">
                <a:solidFill>
                  <a:srgbClr val="4F5D6A"/>
                </a:solidFill>
                <a:latin typeface="Consolas"/>
              </a:rPr>
              <a:t>4</a:t>
            </a:r>
          </a:p>
          <a:p>
            <a:pPr algn="r">
              <a:lnSpc>
                <a:spcPct val="100000"/>
              </a:lnSpc>
            </a:pPr>
            <a:r>
              <a:rPr sz="1800">
                <a:solidFill>
                  <a:srgbClr val="4F5D6A"/>
                </a:solidFill>
                <a:latin typeface="Consolas"/>
              </a:rPr>
              <a:t>5</a:t>
            </a:r>
          </a:p>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92709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One Workload, Three Clouds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112     </a:t>
            </a:r>
            <a:fld id="{0AA78B6C-0121-4FC8-9DE0-264120330D50}"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AWS: a free-tier instance.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919984"/>
          </a:xfrm>
          <a:prstGeom prst="roundRect">
            <a:avLst>
              <a:gd name="adj" fmla="val 313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2. AWS: a free-tier instance. ------------------------------------ AMI=$(aws ssm get-parameters --names \ /aws/service/ami-amazon-linux-latest/al2023-ami-kernel-6.1-x86_64 \ --query 'Parameters[0].Value' --output text) aws ec2 run-instances --image-id &quot;$AMI&quot; --instance-type t3.micro \ --count 1 --tag-specifications \ 'ResourceType=instance,Tags=[{Key=Name,Value=vss-lab}]' \ --query 'Instances[0].InstanceId' --output text | tee aws-id.txt"/>
          <p:cNvSpPr txBox="1"/>
          <p:nvPr/>
        </p:nvSpPr>
        <p:spPr>
          <a:xfrm>
            <a:off x="1362456" y="2523744"/>
            <a:ext cx="9987991" cy="24262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--- 2. AWS: a free-tier instance. ------------------------------------</a:t>
            </a:r>
          </a:p>
          <a:p>
            <a:pPr>
              <a:lnSpc>
                <a:spcPct val="100000"/>
              </a:lnSpc>
              <a:spcAft>
                <a:spcPts val="0"/>
              </a:spcAft>
            </a:pPr>
            <a:r>
              <a:rPr sz="1900" i="0">
                <a:solidFill>
                  <a:srgbClr val="E8EDF2"/>
                </a:solidFill>
                <a:latin typeface="Consolas"/>
              </a:rPr>
              <a:t>AMI</a:t>
            </a:r>
            <a:r>
              <a:rPr sz="1900" i="0">
                <a:solidFill>
                  <a:srgbClr val="AEB6BF"/>
                </a:solidFill>
                <a:latin typeface="Consolas"/>
              </a:rPr>
              <a:t>=</a:t>
            </a:r>
            <a:r>
              <a:rPr sz="1900" i="0">
                <a:solidFill>
                  <a:srgbClr val="5DADE2"/>
                </a:solidFill>
                <a:latin typeface="Consolas"/>
              </a:rPr>
              <a:t>$(</a:t>
            </a:r>
            <a:r>
              <a:rPr sz="1900" i="0">
                <a:solidFill>
                  <a:srgbClr val="E8EDF2"/>
                </a:solidFill>
                <a:latin typeface="Consolas"/>
              </a:rPr>
              <a:t>aws</a:t>
            </a:r>
            <a:r>
              <a:rPr sz="1900" i="0">
                <a:solidFill>
                  <a:srgbClr val="E8EDF2"/>
                </a:solidFill>
                <a:latin typeface="Consolas"/>
              </a:rPr>
              <a:t> </a:t>
            </a:r>
            <a:r>
              <a:rPr sz="1900" i="0">
                <a:solidFill>
                  <a:srgbClr val="E8EDF2"/>
                </a:solidFill>
                <a:latin typeface="Consolas"/>
              </a:rPr>
              <a:t>ssm</a:t>
            </a:r>
            <a:r>
              <a:rPr sz="1900" i="0">
                <a:solidFill>
                  <a:srgbClr val="E8EDF2"/>
                </a:solidFill>
                <a:latin typeface="Consolas"/>
              </a:rPr>
              <a:t> </a:t>
            </a:r>
            <a:r>
              <a:rPr sz="1900" i="0">
                <a:solidFill>
                  <a:srgbClr val="E8EDF2"/>
                </a:solidFill>
                <a:latin typeface="Consolas"/>
              </a:rPr>
              <a:t>get-parameters</a:t>
            </a:r>
            <a:r>
              <a:rPr sz="1900" i="0">
                <a:solidFill>
                  <a:srgbClr val="E8EDF2"/>
                </a:solidFill>
                <a:latin typeface="Consolas"/>
              </a:rPr>
              <a:t> </a:t>
            </a:r>
            <a:r>
              <a:rPr sz="1900" i="0">
                <a:solidFill>
                  <a:srgbClr val="E8EDF2"/>
                </a:solidFill>
                <a:latin typeface="Consolas"/>
              </a:rPr>
              <a:t>--names</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/aws/service/ami-amazon-linux-latest/al2023-ami-kernel-6.1-x86_64</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--query</a:t>
            </a:r>
            <a:r>
              <a:rPr sz="1900" i="0">
                <a:solidFill>
                  <a:srgbClr val="E8EDF2"/>
                </a:solidFill>
                <a:latin typeface="Consolas"/>
              </a:rPr>
              <a:t> </a:t>
            </a:r>
            <a:r>
              <a:rPr sz="1900" i="0">
                <a:solidFill>
                  <a:srgbClr val="7DCEA0"/>
                </a:solidFill>
                <a:latin typeface="Consolas"/>
              </a:rPr>
              <a:t>'Parameters[0].Value'</a:t>
            </a:r>
            <a:r>
              <a:rPr sz="1900" i="0">
                <a:solidFill>
                  <a:srgbClr val="E8EDF2"/>
                </a:solidFill>
                <a:latin typeface="Consolas"/>
              </a:rPr>
              <a:t> </a:t>
            </a:r>
            <a:r>
              <a:rPr sz="1900" i="0">
                <a:solidFill>
                  <a:srgbClr val="E8EDF2"/>
                </a:solidFill>
                <a:latin typeface="Consolas"/>
              </a:rPr>
              <a:t>--output</a:t>
            </a:r>
            <a:r>
              <a:rPr sz="1900" i="0">
                <a:solidFill>
                  <a:srgbClr val="E8EDF2"/>
                </a:solidFill>
                <a:latin typeface="Consolas"/>
              </a:rPr>
              <a:t> </a:t>
            </a:r>
            <a:r>
              <a:rPr sz="1900" i="0">
                <a:solidFill>
                  <a:srgbClr val="E8EDF2"/>
                </a:solidFill>
                <a:latin typeface="Consolas"/>
              </a:rPr>
              <a:t>text</a:t>
            </a:r>
            <a:r>
              <a:rPr sz="1900" i="0">
                <a:solidFill>
                  <a:srgbClr val="5DADE2"/>
                </a:solidFill>
                <a:latin typeface="Consolas"/>
              </a:rPr>
              <a:t>)</a:t>
            </a:r>
          </a:p>
          <a:p>
            <a:pPr>
              <a:lnSpc>
                <a:spcPct val="100000"/>
              </a:lnSpc>
              <a:spcAft>
                <a:spcPts val="0"/>
              </a:spcAft>
            </a:pPr>
            <a:r>
              <a:rPr sz="1900" i="0">
                <a:solidFill>
                  <a:srgbClr val="E8EDF2"/>
                </a:solidFill>
                <a:latin typeface="Consolas"/>
              </a:rPr>
              <a:t>aws</a:t>
            </a:r>
            <a:r>
              <a:rPr sz="1900" i="0">
                <a:solidFill>
                  <a:srgbClr val="E8EDF2"/>
                </a:solidFill>
                <a:latin typeface="Consolas"/>
              </a:rPr>
              <a:t> </a:t>
            </a:r>
            <a:r>
              <a:rPr sz="1900" i="0">
                <a:solidFill>
                  <a:srgbClr val="E8EDF2"/>
                </a:solidFill>
                <a:latin typeface="Consolas"/>
              </a:rPr>
              <a:t>ec2</a:t>
            </a:r>
            <a:r>
              <a:rPr sz="1900" i="0">
                <a:solidFill>
                  <a:srgbClr val="E8EDF2"/>
                </a:solidFill>
                <a:latin typeface="Consolas"/>
              </a:rPr>
              <a:t> </a:t>
            </a:r>
            <a:r>
              <a:rPr sz="1900" i="0">
                <a:solidFill>
                  <a:srgbClr val="E8EDF2"/>
                </a:solidFill>
                <a:latin typeface="Consolas"/>
              </a:rPr>
              <a:t>run-instances</a:t>
            </a:r>
            <a:r>
              <a:rPr sz="1900" i="0">
                <a:solidFill>
                  <a:srgbClr val="E8EDF2"/>
                </a:solidFill>
                <a:latin typeface="Consolas"/>
              </a:rPr>
              <a:t> </a:t>
            </a:r>
            <a:r>
              <a:rPr sz="1900" i="0">
                <a:solidFill>
                  <a:srgbClr val="E8EDF2"/>
                </a:solidFill>
                <a:latin typeface="Consolas"/>
              </a:rPr>
              <a:t>--image-id</a:t>
            </a:r>
            <a:r>
              <a:rPr sz="1900" i="0">
                <a:solidFill>
                  <a:srgbClr val="E8EDF2"/>
                </a:solidFill>
                <a:latin typeface="Consolas"/>
              </a:rPr>
              <a:t> </a:t>
            </a:r>
            <a:r>
              <a:rPr sz="1900" i="0">
                <a:solidFill>
                  <a:srgbClr val="7DCEA0"/>
                </a:solidFill>
                <a:latin typeface="Consolas"/>
              </a:rPr>
              <a:t>"</a:t>
            </a:r>
            <a:r>
              <a:rPr sz="1900" i="0">
                <a:solidFill>
                  <a:srgbClr val="E8EDF2"/>
                </a:solidFill>
                <a:latin typeface="Consolas"/>
              </a:rPr>
              <a:t>$AMI</a:t>
            </a:r>
            <a:r>
              <a:rPr sz="1900" i="0">
                <a:solidFill>
                  <a:srgbClr val="7DCEA0"/>
                </a:solidFill>
                <a:latin typeface="Consolas"/>
              </a:rPr>
              <a:t>"</a:t>
            </a:r>
            <a:r>
              <a:rPr sz="1900" i="0">
                <a:solidFill>
                  <a:srgbClr val="E8EDF2"/>
                </a:solidFill>
                <a:latin typeface="Consolas"/>
              </a:rPr>
              <a:t> </a:t>
            </a:r>
            <a:r>
              <a:rPr sz="1900" i="0">
                <a:solidFill>
                  <a:srgbClr val="E8EDF2"/>
                </a:solidFill>
                <a:latin typeface="Consolas"/>
              </a:rPr>
              <a:t>--instance-type</a:t>
            </a:r>
            <a:r>
              <a:rPr sz="1900" i="0">
                <a:solidFill>
                  <a:srgbClr val="E8EDF2"/>
                </a:solidFill>
                <a:latin typeface="Consolas"/>
              </a:rPr>
              <a:t> </a:t>
            </a:r>
            <a:r>
              <a:rPr sz="1900" i="0">
                <a:solidFill>
                  <a:srgbClr val="E8EDF2"/>
                </a:solidFill>
                <a:latin typeface="Consolas"/>
              </a:rPr>
              <a:t>t3.micro</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--count</a:t>
            </a:r>
            <a:r>
              <a:rPr sz="1900" i="0">
                <a:solidFill>
                  <a:srgbClr val="E8EDF2"/>
                </a:solidFill>
                <a:latin typeface="Consolas"/>
              </a:rPr>
              <a:t> </a:t>
            </a:r>
            <a:r>
              <a:rPr sz="1900" i="0">
                <a:solidFill>
                  <a:srgbClr val="F7DC6F"/>
                </a:solidFill>
                <a:latin typeface="Consolas"/>
              </a:rPr>
              <a:t>1</a:t>
            </a:r>
            <a:r>
              <a:rPr sz="1900" i="0">
                <a:solidFill>
                  <a:srgbClr val="E8EDF2"/>
                </a:solidFill>
                <a:latin typeface="Consolas"/>
              </a:rPr>
              <a:t> </a:t>
            </a:r>
            <a:r>
              <a:rPr sz="1900" i="0">
                <a:solidFill>
                  <a:srgbClr val="E8EDF2"/>
                </a:solidFill>
                <a:latin typeface="Consolas"/>
              </a:rPr>
              <a:t>--tag-specifications</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'ResourceType=instance,Tags=[{Key=Name,Value=vss-lab}]'</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--query</a:t>
            </a:r>
            <a:r>
              <a:rPr sz="1900" i="0">
                <a:solidFill>
                  <a:srgbClr val="E8EDF2"/>
                </a:solidFill>
                <a:latin typeface="Consolas"/>
              </a:rPr>
              <a:t> </a:t>
            </a:r>
            <a:r>
              <a:rPr sz="1900" i="0">
                <a:solidFill>
                  <a:srgbClr val="7DCEA0"/>
                </a:solidFill>
                <a:latin typeface="Consolas"/>
              </a:rPr>
              <a:t>'Instances[0].InstanceId'</a:t>
            </a:r>
            <a:r>
              <a:rPr sz="1900" i="0">
                <a:solidFill>
                  <a:srgbClr val="E8EDF2"/>
                </a:solidFill>
                <a:latin typeface="Consolas"/>
              </a:rPr>
              <a:t> </a:t>
            </a:r>
            <a:r>
              <a:rPr sz="1900" i="0">
                <a:solidFill>
                  <a:srgbClr val="E8EDF2"/>
                </a:solidFill>
                <a:latin typeface="Consolas"/>
              </a:rPr>
              <a:t>--output</a:t>
            </a:r>
            <a:r>
              <a:rPr sz="1900" i="0">
                <a:solidFill>
                  <a:srgbClr val="E8EDF2"/>
                </a:solidFill>
                <a:latin typeface="Consolas"/>
              </a:rPr>
              <a:t> </a:t>
            </a:r>
            <a:r>
              <a:rPr sz="1900" i="0">
                <a:solidFill>
                  <a:srgbClr val="E8EDF2"/>
                </a:solidFill>
                <a:latin typeface="Consolas"/>
              </a:rPr>
              <a:t>text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tee</a:t>
            </a:r>
            <a:r>
              <a:rPr sz="1900" i="0">
                <a:solidFill>
                  <a:srgbClr val="E8EDF2"/>
                </a:solidFill>
                <a:latin typeface="Consolas"/>
              </a:rPr>
              <a:t> </a:t>
            </a:r>
            <a:r>
              <a:rPr sz="1900" i="0">
                <a:solidFill>
                  <a:srgbClr val="E8EDF2"/>
                </a:solidFill>
                <a:latin typeface="Consolas"/>
              </a:rPr>
              <a:t>aws-id.txt</a:t>
            </a:r>
          </a:p>
        </p:txBody>
      </p:sp>
      <p:sp>
        <p:nvSpPr>
          <p:cNvPr id="15" name="!!code-num"/>
          <p:cNvSpPr txBox="1"/>
          <p:nvPr/>
        </p:nvSpPr>
        <p:spPr>
          <a:xfrm>
            <a:off x="768096" y="2523744"/>
            <a:ext cx="393192" cy="24262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10</a:t>
            </a:r>
          </a:p>
          <a:p>
            <a:pPr algn="r">
              <a:lnSpc>
                <a:spcPct val="100000"/>
              </a:lnSpc>
            </a:pPr>
            <a:r>
              <a:rPr sz="1900">
                <a:solidFill>
                  <a:srgbClr val="4F5D6A"/>
                </a:solidFill>
                <a:latin typeface="Consolas"/>
              </a:rPr>
              <a:t>11</a:t>
            </a:r>
          </a:p>
          <a:p>
            <a:pPr algn="r">
              <a:lnSpc>
                <a:spcPct val="100000"/>
              </a:lnSpc>
            </a:pPr>
            <a:r>
              <a:rPr sz="1900">
                <a:solidFill>
                  <a:srgbClr val="4F5D6A"/>
                </a:solidFill>
                <a:latin typeface="Consolas"/>
              </a:rPr>
              <a:t>12</a:t>
            </a:r>
          </a:p>
          <a:p>
            <a:pPr algn="r">
              <a:lnSpc>
                <a:spcPct val="100000"/>
              </a:lnSpc>
            </a:pPr>
            <a:r>
              <a:rPr sz="1900">
                <a:solidFill>
                  <a:srgbClr val="4F5D6A"/>
                </a:solidFill>
                <a:latin typeface="Consolas"/>
              </a:rPr>
              <a:t>13</a:t>
            </a:r>
          </a:p>
          <a:p>
            <a:pPr algn="r">
              <a:lnSpc>
                <a:spcPct val="100000"/>
              </a:lnSpc>
            </a:pPr>
            <a:r>
              <a:rPr sz="1900">
                <a:solidFill>
                  <a:srgbClr val="4F5D6A"/>
                </a:solidFill>
                <a:latin typeface="Consolas"/>
              </a:rPr>
              <a:t>14</a:t>
            </a:r>
          </a:p>
          <a:p>
            <a:pPr algn="r">
              <a:lnSpc>
                <a:spcPct val="100000"/>
              </a:lnSpc>
            </a:pPr>
            <a:r>
              <a:rPr sz="1900">
                <a:solidFill>
                  <a:srgbClr val="4F5D6A"/>
                </a:solidFill>
                <a:latin typeface="Consolas"/>
              </a:rPr>
              <a:t>15</a:t>
            </a:r>
          </a:p>
          <a:p>
            <a:pPr algn="r">
              <a:lnSpc>
                <a:spcPct val="100000"/>
              </a:lnSpc>
            </a:pPr>
            <a:r>
              <a:rPr sz="1900">
                <a:solidFill>
                  <a:srgbClr val="4F5D6A"/>
                </a:solidFill>
                <a:latin typeface="Consolas"/>
              </a:rPr>
              <a:t>16</a:t>
            </a:r>
          </a:p>
          <a:p>
            <a:pPr algn="r">
              <a:lnSpc>
                <a:spcPct val="100000"/>
              </a:lnSpc>
            </a:pPr>
            <a:r>
              <a:rPr sz="1900">
                <a:solidFill>
                  <a:srgbClr val="4F5D6A"/>
                </a:solidFill>
                <a:latin typeface="Consolas"/>
              </a:rPr>
              <a:t>17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20418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One Workload, Three Clouds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112     </a:t>
            </a:r>
            <a:fld id="{8FF0E206-B533-4E10-A95F-66DABFE55237}"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Azure: the same shape.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3. Azure: the same shape. ---------------------------------------- az group create -n vss-lab -l eastus -o none az vm create -g vss-lab -n vss1 --image Ubuntu2204 --size Standard_B1s \ --generate-ssh-keys --public-ip-sku Basic -o table"/>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Azure: the same shape. ----------------------------------------</a:t>
            </a:r>
          </a:p>
          <a:p>
            <a:pPr>
              <a:lnSpc>
                <a:spcPct val="100000"/>
              </a:lnSpc>
              <a:spcAft>
                <a:spcPts val="0"/>
              </a:spcAft>
            </a:pPr>
            <a:r>
              <a:rPr sz="1900" i="0">
                <a:solidFill>
                  <a:srgbClr val="E8EDF2"/>
                </a:solidFill>
                <a:latin typeface="Consolas"/>
              </a:rPr>
              <a:t>az</a:t>
            </a:r>
            <a:r>
              <a:rPr sz="1900" i="0">
                <a:solidFill>
                  <a:srgbClr val="E8EDF2"/>
                </a:solidFill>
                <a:latin typeface="Consolas"/>
              </a:rPr>
              <a:t> </a:t>
            </a:r>
            <a:r>
              <a:rPr sz="1900" i="0">
                <a:solidFill>
                  <a:srgbClr val="E8EDF2"/>
                </a:solidFill>
                <a:latin typeface="Consolas"/>
              </a:rPr>
              <a:t>group</a:t>
            </a:r>
            <a:r>
              <a:rPr sz="1900" i="0">
                <a:solidFill>
                  <a:srgbClr val="E8EDF2"/>
                </a:solidFill>
                <a:latin typeface="Consolas"/>
              </a:rPr>
              <a:t> </a:t>
            </a:r>
            <a:r>
              <a:rPr sz="1900" i="0">
                <a:solidFill>
                  <a:srgbClr val="E8EDF2"/>
                </a:solidFill>
                <a:latin typeface="Consolas"/>
              </a:rPr>
              <a:t>create</a:t>
            </a:r>
            <a:r>
              <a:rPr sz="1900" i="0">
                <a:solidFill>
                  <a:srgbClr val="E8EDF2"/>
                </a:solidFill>
                <a:latin typeface="Consolas"/>
              </a:rPr>
              <a:t> </a:t>
            </a:r>
            <a:r>
              <a:rPr sz="1900" i="0">
                <a:solidFill>
                  <a:srgbClr val="E8EDF2"/>
                </a:solidFill>
                <a:latin typeface="Consolas"/>
              </a:rPr>
              <a:t>-n</a:t>
            </a:r>
            <a:r>
              <a:rPr sz="1900" i="0">
                <a:solidFill>
                  <a:srgbClr val="E8EDF2"/>
                </a:solidFill>
                <a:latin typeface="Consolas"/>
              </a:rPr>
              <a:t> </a:t>
            </a:r>
            <a:r>
              <a:rPr sz="1900" i="0">
                <a:solidFill>
                  <a:srgbClr val="E8EDF2"/>
                </a:solidFill>
                <a:latin typeface="Consolas"/>
              </a:rPr>
              <a:t>vss-lab</a:t>
            </a:r>
            <a:r>
              <a:rPr sz="1900" i="0">
                <a:solidFill>
                  <a:srgbClr val="E8EDF2"/>
                </a:solidFill>
                <a:latin typeface="Consolas"/>
              </a:rPr>
              <a:t> </a:t>
            </a:r>
            <a:r>
              <a:rPr sz="1900" i="0">
                <a:solidFill>
                  <a:srgbClr val="E8EDF2"/>
                </a:solidFill>
                <a:latin typeface="Consolas"/>
              </a:rPr>
              <a:t>-l</a:t>
            </a:r>
            <a:r>
              <a:rPr sz="1900" i="0">
                <a:solidFill>
                  <a:srgbClr val="E8EDF2"/>
                </a:solidFill>
                <a:latin typeface="Consolas"/>
              </a:rPr>
              <a:t> </a:t>
            </a:r>
            <a:r>
              <a:rPr sz="1900" i="0">
                <a:solidFill>
                  <a:srgbClr val="E8EDF2"/>
                </a:solidFill>
                <a:latin typeface="Consolas"/>
              </a:rPr>
              <a:t>eastus</a:t>
            </a:r>
            <a:r>
              <a:rPr sz="1900" i="0">
                <a:solidFill>
                  <a:srgbClr val="E8EDF2"/>
                </a:solidFill>
                <a:latin typeface="Consolas"/>
              </a:rPr>
              <a:t> </a:t>
            </a:r>
            <a:r>
              <a:rPr sz="1900" i="0">
                <a:solidFill>
                  <a:srgbClr val="E8EDF2"/>
                </a:solidFill>
                <a:latin typeface="Consolas"/>
              </a:rPr>
              <a:t>-o</a:t>
            </a:r>
            <a:r>
              <a:rPr sz="1900" i="0">
                <a:solidFill>
                  <a:srgbClr val="E8EDF2"/>
                </a:solidFill>
                <a:latin typeface="Consolas"/>
              </a:rPr>
              <a:t> </a:t>
            </a:r>
            <a:r>
              <a:rPr sz="1900" i="0">
                <a:solidFill>
                  <a:srgbClr val="E8EDF2"/>
                </a:solidFill>
                <a:latin typeface="Consolas"/>
              </a:rPr>
              <a:t>none</a:t>
            </a:r>
          </a:p>
          <a:p>
            <a:pPr>
              <a:lnSpc>
                <a:spcPct val="100000"/>
              </a:lnSpc>
              <a:spcAft>
                <a:spcPts val="0"/>
              </a:spcAft>
            </a:pPr>
            <a:r>
              <a:rPr sz="1900" i="0">
                <a:solidFill>
                  <a:srgbClr val="E8EDF2"/>
                </a:solidFill>
                <a:latin typeface="Consolas"/>
              </a:rPr>
              <a:t>az</a:t>
            </a:r>
            <a:r>
              <a:rPr sz="1900" i="0">
                <a:solidFill>
                  <a:srgbClr val="E8EDF2"/>
                </a:solidFill>
                <a:latin typeface="Consolas"/>
              </a:rPr>
              <a:t> </a:t>
            </a:r>
            <a:r>
              <a:rPr sz="1900" i="0">
                <a:solidFill>
                  <a:srgbClr val="E8EDF2"/>
                </a:solidFill>
                <a:latin typeface="Consolas"/>
              </a:rPr>
              <a:t>vm</a:t>
            </a:r>
            <a:r>
              <a:rPr sz="1900" i="0">
                <a:solidFill>
                  <a:srgbClr val="E8EDF2"/>
                </a:solidFill>
                <a:latin typeface="Consolas"/>
              </a:rPr>
              <a:t> </a:t>
            </a:r>
            <a:r>
              <a:rPr sz="1900" i="0">
                <a:solidFill>
                  <a:srgbClr val="E8EDF2"/>
                </a:solidFill>
                <a:latin typeface="Consolas"/>
              </a:rPr>
              <a:t>create</a:t>
            </a:r>
            <a:r>
              <a:rPr sz="1900" i="0">
                <a:solidFill>
                  <a:srgbClr val="E8EDF2"/>
                </a:solidFill>
                <a:latin typeface="Consolas"/>
              </a:rPr>
              <a:t> </a:t>
            </a:r>
            <a:r>
              <a:rPr sz="1900" i="0">
                <a:solidFill>
                  <a:srgbClr val="E8EDF2"/>
                </a:solidFill>
                <a:latin typeface="Consolas"/>
              </a:rPr>
              <a:t>-g</a:t>
            </a:r>
            <a:r>
              <a:rPr sz="1900" i="0">
                <a:solidFill>
                  <a:srgbClr val="E8EDF2"/>
                </a:solidFill>
                <a:latin typeface="Consolas"/>
              </a:rPr>
              <a:t> </a:t>
            </a:r>
            <a:r>
              <a:rPr sz="1900" i="0">
                <a:solidFill>
                  <a:srgbClr val="E8EDF2"/>
                </a:solidFill>
                <a:latin typeface="Consolas"/>
              </a:rPr>
              <a:t>vss-lab</a:t>
            </a:r>
            <a:r>
              <a:rPr sz="1900" i="0">
                <a:solidFill>
                  <a:srgbClr val="E8EDF2"/>
                </a:solidFill>
                <a:latin typeface="Consolas"/>
              </a:rPr>
              <a:t> </a:t>
            </a:r>
            <a:r>
              <a:rPr sz="1900" i="0">
                <a:solidFill>
                  <a:srgbClr val="E8EDF2"/>
                </a:solidFill>
                <a:latin typeface="Consolas"/>
              </a:rPr>
              <a:t>-n</a:t>
            </a: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E8EDF2"/>
                </a:solidFill>
                <a:latin typeface="Consolas"/>
              </a:rPr>
              <a:t>--image</a:t>
            </a:r>
            <a:r>
              <a:rPr sz="1900" i="0">
                <a:solidFill>
                  <a:srgbClr val="E8EDF2"/>
                </a:solidFill>
                <a:latin typeface="Consolas"/>
              </a:rPr>
              <a:t> </a:t>
            </a:r>
            <a:r>
              <a:rPr sz="1900" i="0">
                <a:solidFill>
                  <a:srgbClr val="E8EDF2"/>
                </a:solidFill>
                <a:latin typeface="Consolas"/>
              </a:rPr>
              <a:t>Ubuntu2204</a:t>
            </a:r>
            <a:r>
              <a:rPr sz="1900" i="0">
                <a:solidFill>
                  <a:srgbClr val="E8EDF2"/>
                </a:solidFill>
                <a:latin typeface="Consolas"/>
              </a:rPr>
              <a:t> </a:t>
            </a:r>
            <a:r>
              <a:rPr sz="1900" i="0">
                <a:solidFill>
                  <a:srgbClr val="E8EDF2"/>
                </a:solidFill>
                <a:latin typeface="Consolas"/>
              </a:rPr>
              <a:t>--size</a:t>
            </a:r>
            <a:r>
              <a:rPr sz="1900" i="0">
                <a:solidFill>
                  <a:srgbClr val="E8EDF2"/>
                </a:solidFill>
                <a:latin typeface="Consolas"/>
              </a:rPr>
              <a:t> </a:t>
            </a:r>
            <a:r>
              <a:rPr sz="1900" i="0">
                <a:solidFill>
                  <a:srgbClr val="E8EDF2"/>
                </a:solidFill>
                <a:latin typeface="Consolas"/>
              </a:rPr>
              <a:t>Standard_B1s</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--generate-ssh-keys</a:t>
            </a:r>
            <a:r>
              <a:rPr sz="1900" i="0">
                <a:solidFill>
                  <a:srgbClr val="E8EDF2"/>
                </a:solidFill>
                <a:latin typeface="Consolas"/>
              </a:rPr>
              <a:t> </a:t>
            </a:r>
            <a:r>
              <a:rPr sz="1900" i="0">
                <a:solidFill>
                  <a:srgbClr val="E8EDF2"/>
                </a:solidFill>
                <a:latin typeface="Consolas"/>
              </a:rPr>
              <a:t>--public-ip-sku</a:t>
            </a:r>
            <a:r>
              <a:rPr sz="1900" i="0">
                <a:solidFill>
                  <a:srgbClr val="E8EDF2"/>
                </a:solidFill>
                <a:latin typeface="Consolas"/>
              </a:rPr>
              <a:t> </a:t>
            </a:r>
            <a:r>
              <a:rPr sz="1900" i="0">
                <a:solidFill>
                  <a:srgbClr val="E8EDF2"/>
                </a:solidFill>
                <a:latin typeface="Consolas"/>
              </a:rPr>
              <a:t>Basic</a:t>
            </a:r>
            <a:r>
              <a:rPr sz="1900" i="0">
                <a:solidFill>
                  <a:srgbClr val="E8EDF2"/>
                </a:solidFill>
                <a:latin typeface="Consolas"/>
              </a:rPr>
              <a:t> </a:t>
            </a:r>
            <a:r>
              <a:rPr sz="1900" i="0">
                <a:solidFill>
                  <a:srgbClr val="E8EDF2"/>
                </a:solidFill>
                <a:latin typeface="Consolas"/>
              </a:rPr>
              <a:t>-o</a:t>
            </a:r>
            <a:r>
              <a:rPr sz="1900" i="0">
                <a:solidFill>
                  <a:srgbClr val="E8EDF2"/>
                </a:solidFill>
                <a:latin typeface="Consolas"/>
              </a:rPr>
              <a:t> </a:t>
            </a:r>
            <a:r>
              <a:rPr sz="1900" i="0">
                <a:solidFill>
                  <a:srgbClr val="E8EDF2"/>
                </a:solidFill>
                <a:latin typeface="Consolas"/>
              </a:rPr>
              <a:t>table</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19</a:t>
            </a:r>
          </a:p>
          <a:p>
            <a:pPr algn="r">
              <a:lnSpc>
                <a:spcPct val="100000"/>
              </a:lnSpc>
            </a:pPr>
            <a:r>
              <a:rPr sz="1900">
                <a:solidFill>
                  <a:srgbClr val="4F5D6A"/>
                </a:solidFill>
                <a:latin typeface="Consolas"/>
              </a:rPr>
              <a:t>20</a:t>
            </a:r>
          </a:p>
          <a:p>
            <a:pPr algn="r">
              <a:lnSpc>
                <a:spcPct val="100000"/>
              </a:lnSpc>
            </a:pPr>
            <a:r>
              <a:rPr sz="1900">
                <a:solidFill>
                  <a:srgbClr val="4F5D6A"/>
                </a:solidFill>
                <a:latin typeface="Consolas"/>
              </a:rPr>
              <a:t>21</a:t>
            </a:r>
          </a:p>
          <a:p>
            <a:pPr algn="r">
              <a:lnSpc>
                <a:spcPct val="100000"/>
              </a:lnSpc>
            </a:pPr>
            <a:r>
              <a:rPr sz="1900">
                <a:solidFill>
                  <a:srgbClr val="4F5D6A"/>
                </a:solidFill>
                <a:latin typeface="Consolas"/>
              </a:rPr>
              <a:t>22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8126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One Workload, Three Clouds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112     </a:t>
            </a:r>
            <a:fld id="{6CC08C9C-0EAE-4D93-ABC3-5CBAF3B9B45E}"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GCP: likewise.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4. GCP: likewise. ------------------------------------------------ gcloud compute instances create vss1 --machine-type=e2-micro \ --zone=us-central1-a --image-family=debian-12 \ --image-project=debian-cloud"/>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GCP: likewise. ------------------------------------------------</a:t>
            </a:r>
          </a:p>
          <a:p>
            <a:pPr>
              <a:lnSpc>
                <a:spcPct val="100000"/>
              </a:lnSpc>
              <a:spcAft>
                <a:spcPts val="0"/>
              </a:spcAft>
            </a:pPr>
            <a:r>
              <a:rPr sz="1900" i="0">
                <a:solidFill>
                  <a:srgbClr val="E8EDF2"/>
                </a:solidFill>
                <a:latin typeface="Consolas"/>
              </a:rPr>
              <a:t>gcloud</a:t>
            </a:r>
            <a:r>
              <a:rPr sz="1900" i="0">
                <a:solidFill>
                  <a:srgbClr val="E8EDF2"/>
                </a:solidFill>
                <a:latin typeface="Consolas"/>
              </a:rPr>
              <a:t> </a:t>
            </a:r>
            <a:r>
              <a:rPr sz="1900" i="0">
                <a:solidFill>
                  <a:srgbClr val="E8EDF2"/>
                </a:solidFill>
                <a:latin typeface="Consolas"/>
              </a:rPr>
              <a:t>compute</a:t>
            </a:r>
            <a:r>
              <a:rPr sz="1900" i="0">
                <a:solidFill>
                  <a:srgbClr val="E8EDF2"/>
                </a:solidFill>
                <a:latin typeface="Consolas"/>
              </a:rPr>
              <a:t> </a:t>
            </a:r>
            <a:r>
              <a:rPr sz="1900" i="0">
                <a:solidFill>
                  <a:srgbClr val="E8EDF2"/>
                </a:solidFill>
                <a:latin typeface="Consolas"/>
              </a:rPr>
              <a:t>instances</a:t>
            </a:r>
            <a:r>
              <a:rPr sz="1900" i="0">
                <a:solidFill>
                  <a:srgbClr val="E8EDF2"/>
                </a:solidFill>
                <a:latin typeface="Consolas"/>
              </a:rPr>
              <a:t> </a:t>
            </a:r>
            <a:r>
              <a:rPr sz="1900" i="0">
                <a:solidFill>
                  <a:srgbClr val="E8EDF2"/>
                </a:solidFill>
                <a:latin typeface="Consolas"/>
              </a:rPr>
              <a:t>create</a:t>
            </a: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E8EDF2"/>
                </a:solidFill>
                <a:latin typeface="Consolas"/>
              </a:rPr>
              <a:t>--machine-type</a:t>
            </a:r>
            <a:r>
              <a:rPr sz="1900" i="0">
                <a:solidFill>
                  <a:srgbClr val="AEB6BF"/>
                </a:solidFill>
                <a:latin typeface="Consolas"/>
              </a:rPr>
              <a:t>=</a:t>
            </a:r>
            <a:r>
              <a:rPr sz="1900" i="0">
                <a:solidFill>
                  <a:srgbClr val="E8EDF2"/>
                </a:solidFill>
                <a:latin typeface="Consolas"/>
              </a:rPr>
              <a:t>e2-micro</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--zone</a:t>
            </a:r>
            <a:r>
              <a:rPr sz="1900" i="0">
                <a:solidFill>
                  <a:srgbClr val="AEB6BF"/>
                </a:solidFill>
                <a:latin typeface="Consolas"/>
              </a:rPr>
              <a:t>=</a:t>
            </a:r>
            <a:r>
              <a:rPr sz="1900" i="0">
                <a:solidFill>
                  <a:srgbClr val="E8EDF2"/>
                </a:solidFill>
                <a:latin typeface="Consolas"/>
              </a:rPr>
              <a:t>us-central1-a</a:t>
            </a:r>
            <a:r>
              <a:rPr sz="1900" i="0">
                <a:solidFill>
                  <a:srgbClr val="E8EDF2"/>
                </a:solidFill>
                <a:latin typeface="Consolas"/>
              </a:rPr>
              <a:t> </a:t>
            </a:r>
            <a:r>
              <a:rPr sz="1900" i="0">
                <a:solidFill>
                  <a:srgbClr val="E8EDF2"/>
                </a:solidFill>
                <a:latin typeface="Consolas"/>
              </a:rPr>
              <a:t>--image-family</a:t>
            </a:r>
            <a:r>
              <a:rPr sz="1900" i="0">
                <a:solidFill>
                  <a:srgbClr val="AEB6BF"/>
                </a:solidFill>
                <a:latin typeface="Consolas"/>
              </a:rPr>
              <a:t>=</a:t>
            </a:r>
            <a:r>
              <a:rPr sz="1900" i="0">
                <a:solidFill>
                  <a:srgbClr val="E8EDF2"/>
                </a:solidFill>
                <a:latin typeface="Consolas"/>
              </a:rPr>
              <a:t>debian-12</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--image-project</a:t>
            </a:r>
            <a:r>
              <a:rPr sz="1900" i="0">
                <a:solidFill>
                  <a:srgbClr val="AEB6BF"/>
                </a:solidFill>
                <a:latin typeface="Consolas"/>
              </a:rPr>
              <a:t>=</a:t>
            </a:r>
            <a:r>
              <a:rPr sz="1900" i="0">
                <a:solidFill>
                  <a:srgbClr val="E8EDF2"/>
                </a:solidFill>
                <a:latin typeface="Consolas"/>
              </a:rPr>
              <a:t>debian-cloud</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24</a:t>
            </a:r>
          </a:p>
          <a:p>
            <a:pPr algn="r">
              <a:lnSpc>
                <a:spcPct val="100000"/>
              </a:lnSpc>
            </a:pPr>
            <a:r>
              <a:rPr sz="1900">
                <a:solidFill>
                  <a:srgbClr val="4F5D6A"/>
                </a:solidFill>
                <a:latin typeface="Consolas"/>
              </a:rPr>
              <a:t>25</a:t>
            </a:r>
          </a:p>
          <a:p>
            <a:pPr algn="r">
              <a:lnSpc>
                <a:spcPct val="100000"/>
              </a:lnSpc>
            </a:pPr>
            <a:r>
              <a:rPr sz="1900">
                <a:solidFill>
                  <a:srgbClr val="4F5D6A"/>
                </a:solidFill>
                <a:latin typeface="Consolas"/>
              </a:rPr>
              <a:t>26</a:t>
            </a:r>
          </a:p>
          <a:p>
            <a:pPr algn="r">
              <a:lnSpc>
                <a:spcPct val="100000"/>
              </a:lnSpc>
            </a:pPr>
            <a:r>
              <a:rPr sz="1900">
                <a:solidFill>
                  <a:srgbClr val="4F5D6A"/>
                </a:solidFill>
                <a:latin typeface="Consolas"/>
              </a:rPr>
              <a:t>27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5835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One Workload, Three Clouds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112     </a:t>
            </a:r>
            <a:fld id="{83923135-C447-4B3A-BB04-F9E17DDF8125}"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Ask each guest what it is running on.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788663"/>
          </a:xfrm>
          <a:prstGeom prst="roundRect">
            <a:avLst>
              <a:gd name="adj" fmla="val 241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5. Ask each guest what it is running on. ------------------------- # Every provider exposes a metadata service on 169.254.169.254. The # answers show you the hypervisor of Chapter 5 underneath all three. cat &lt;&lt;'PROBE' &gt; probe.sh systemd-detect-virt sudo dmidecode -s system-manufacturer 2&gt;/dev/null curl -s -H 'Metadata-Flavor: Google' \ 169.254.169.254/computeMetadata/v1/instance/machine-type 2&gt;/dev/null curl -s 169.254.169.254/latest/meta-data/instance-type 2&gt;/dev/null PROBE echo &quot;copy probe.sh to each instance and run it&quot;"/>
          <p:cNvSpPr txBox="1"/>
          <p:nvPr/>
        </p:nvSpPr>
        <p:spPr>
          <a:xfrm>
            <a:off x="1362456" y="2523744"/>
            <a:ext cx="9987991" cy="32948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--- 5. Ask each guest what it is running on. -------------------------</a:t>
            </a:r>
          </a:p>
          <a:p>
            <a:pPr>
              <a:lnSpc>
                <a:spcPct val="100000"/>
              </a:lnSpc>
              <a:spcAft>
                <a:spcPts val="0"/>
              </a:spcAft>
            </a:pPr>
            <a:r>
              <a:rPr sz="1900" i="1">
                <a:solidFill>
                  <a:srgbClr val="8795A1"/>
                </a:solidFill>
                <a:latin typeface="Consolas"/>
              </a:rPr>
              <a:t># Every provider exposes a metadata service on 169.254.169.254. The</a:t>
            </a:r>
          </a:p>
          <a:p>
            <a:pPr>
              <a:lnSpc>
                <a:spcPct val="100000"/>
              </a:lnSpc>
              <a:spcAft>
                <a:spcPts val="0"/>
              </a:spcAft>
            </a:pPr>
            <a:r>
              <a:rPr sz="1900" i="1">
                <a:solidFill>
                  <a:srgbClr val="8795A1"/>
                </a:solidFill>
                <a:latin typeface="Consolas"/>
              </a:rPr>
              <a:t># answers show you the hypervisor of Chapter 5 underneath all three.</a:t>
            </a:r>
          </a:p>
          <a:p>
            <a:pPr>
              <a:lnSpc>
                <a:spcPct val="100000"/>
              </a:lnSpc>
              <a:spcAft>
                <a:spcPts val="0"/>
              </a:spcAft>
            </a:pPr>
            <a:r>
              <a:rPr sz="1900" i="0">
                <a:solidFill>
                  <a:srgbClr val="E8EDF2"/>
                </a:solidFill>
                <a:latin typeface="Consolas"/>
              </a:rPr>
              <a:t>cat</a:t>
            </a:r>
            <a:r>
              <a:rPr sz="1900" i="0">
                <a:solidFill>
                  <a:srgbClr val="E8EDF2"/>
                </a:solidFill>
                <a:latin typeface="Consolas"/>
              </a:rPr>
              <a:t> </a:t>
            </a:r>
            <a:r>
              <a:rPr sz="1900" i="0">
                <a:solidFill>
                  <a:srgbClr val="7DCEA0"/>
                </a:solidFill>
                <a:latin typeface="Consolas"/>
              </a:rPr>
              <a:t>&lt;&lt;'PROBE' &gt; probe.sh</a:t>
            </a:r>
          </a:p>
          <a:p>
            <a:pPr>
              <a:lnSpc>
                <a:spcPct val="100000"/>
              </a:lnSpc>
              <a:spcAft>
                <a:spcPts val="0"/>
              </a:spcAft>
            </a:pPr>
            <a:r>
              <a:rPr sz="1900" i="0">
                <a:solidFill>
                  <a:srgbClr val="7DCEA0"/>
                </a:solidFill>
                <a:latin typeface="Consolas"/>
              </a:rPr>
              <a:t>systemd-detect-virt</a:t>
            </a:r>
          </a:p>
          <a:p>
            <a:pPr>
              <a:lnSpc>
                <a:spcPct val="100000"/>
              </a:lnSpc>
              <a:spcAft>
                <a:spcPts val="0"/>
              </a:spcAft>
            </a:pPr>
            <a:r>
              <a:rPr sz="1900" i="0">
                <a:solidFill>
                  <a:srgbClr val="7DCEA0"/>
                </a:solidFill>
                <a:latin typeface="Consolas"/>
              </a:rPr>
              <a:t>sudo dmidecode -s system-manufacturer 2&gt;/dev/null</a:t>
            </a:r>
          </a:p>
          <a:p>
            <a:pPr>
              <a:lnSpc>
                <a:spcPct val="100000"/>
              </a:lnSpc>
              <a:spcAft>
                <a:spcPts val="0"/>
              </a:spcAft>
            </a:pPr>
            <a:r>
              <a:rPr sz="1900" i="0">
                <a:solidFill>
                  <a:srgbClr val="7DCEA0"/>
                </a:solidFill>
                <a:latin typeface="Consolas"/>
              </a:rPr>
              <a:t>curl -s -H 'Metadata-Flavor: Google' \</a:t>
            </a:r>
          </a:p>
          <a:p>
            <a:pPr>
              <a:lnSpc>
                <a:spcPct val="100000"/>
              </a:lnSpc>
              <a:spcAft>
                <a:spcPts val="0"/>
              </a:spcAft>
            </a:pPr>
            <a:r>
              <a:rPr sz="1900" i="0">
                <a:solidFill>
                  <a:srgbClr val="7DCEA0"/>
                </a:solidFill>
                <a:latin typeface="Consolas"/>
              </a:rPr>
              <a:t>  169.254.169.254/computeMetadata/v1/instance/machine-type 2&gt;/dev/null</a:t>
            </a:r>
          </a:p>
          <a:p>
            <a:pPr>
              <a:lnSpc>
                <a:spcPct val="100000"/>
              </a:lnSpc>
              <a:spcAft>
                <a:spcPts val="0"/>
              </a:spcAft>
            </a:pPr>
            <a:r>
              <a:rPr sz="1900" i="0">
                <a:solidFill>
                  <a:srgbClr val="7DCEA0"/>
                </a:solidFill>
                <a:latin typeface="Consolas"/>
              </a:rPr>
              <a:t>curl -s 169.254.169.254/latest/meta-data/instance-type 2&gt;/dev/null</a:t>
            </a:r>
          </a:p>
          <a:p>
            <a:pPr>
              <a:lnSpc>
                <a:spcPct val="100000"/>
              </a:lnSpc>
              <a:spcAft>
                <a:spcPts val="0"/>
              </a:spcAft>
            </a:pPr>
            <a:r>
              <a:rPr sz="1900" i="0">
                <a:solidFill>
                  <a:srgbClr val="7DCEA0"/>
                </a:solidFill>
                <a:latin typeface="Consolas"/>
              </a:rPr>
              <a:t>PROBE</a:t>
            </a:r>
          </a:p>
          <a:p>
            <a:pPr>
              <a:lnSpc>
                <a:spcPct val="100000"/>
              </a:lnSpc>
              <a:spcAft>
                <a:spcPts val="0"/>
              </a:spcAft>
            </a:pP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"copy probe.sh to each instance and run it"</a:t>
            </a:r>
          </a:p>
        </p:txBody>
      </p:sp>
      <p:sp>
        <p:nvSpPr>
          <p:cNvPr id="15" name="!!code-num"/>
          <p:cNvSpPr txBox="1"/>
          <p:nvPr/>
        </p:nvSpPr>
        <p:spPr>
          <a:xfrm>
            <a:off x="768096" y="2523744"/>
            <a:ext cx="393192" cy="32948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29</a:t>
            </a:r>
          </a:p>
          <a:p>
            <a:pPr algn="r">
              <a:lnSpc>
                <a:spcPct val="100000"/>
              </a:lnSpc>
            </a:pPr>
            <a:r>
              <a:rPr sz="1900">
                <a:solidFill>
                  <a:srgbClr val="4F5D6A"/>
                </a:solidFill>
                <a:latin typeface="Consolas"/>
              </a:rPr>
              <a:t>30</a:t>
            </a:r>
          </a:p>
          <a:p>
            <a:pPr algn="r">
              <a:lnSpc>
                <a:spcPct val="100000"/>
              </a:lnSpc>
            </a:pPr>
            <a:r>
              <a:rPr sz="1900">
                <a:solidFill>
                  <a:srgbClr val="4F5D6A"/>
                </a:solidFill>
                <a:latin typeface="Consolas"/>
              </a:rPr>
              <a:t>31</a:t>
            </a:r>
          </a:p>
          <a:p>
            <a:pPr algn="r">
              <a:lnSpc>
                <a:spcPct val="100000"/>
              </a:lnSpc>
            </a:pPr>
            <a:r>
              <a:rPr sz="1900">
                <a:solidFill>
                  <a:srgbClr val="4F5D6A"/>
                </a:solidFill>
                <a:latin typeface="Consolas"/>
              </a:rPr>
              <a:t>32</a:t>
            </a:r>
          </a:p>
          <a:p>
            <a:pPr algn="r">
              <a:lnSpc>
                <a:spcPct val="100000"/>
              </a:lnSpc>
            </a:pPr>
            <a:r>
              <a:rPr sz="1900">
                <a:solidFill>
                  <a:srgbClr val="4F5D6A"/>
                </a:solidFill>
                <a:latin typeface="Consolas"/>
              </a:rPr>
              <a:t>33</a:t>
            </a:r>
          </a:p>
          <a:p>
            <a:pPr algn="r">
              <a:lnSpc>
                <a:spcPct val="100000"/>
              </a:lnSpc>
            </a:pPr>
            <a:r>
              <a:rPr sz="1900">
                <a:solidFill>
                  <a:srgbClr val="4F5D6A"/>
                </a:solidFill>
                <a:latin typeface="Consolas"/>
              </a:rPr>
              <a:t>34</a:t>
            </a:r>
          </a:p>
          <a:p>
            <a:pPr algn="r">
              <a:lnSpc>
                <a:spcPct val="100000"/>
              </a:lnSpc>
            </a:pPr>
            <a:r>
              <a:rPr sz="1900">
                <a:solidFill>
                  <a:srgbClr val="4F5D6A"/>
                </a:solidFill>
                <a:latin typeface="Consolas"/>
              </a:rPr>
              <a:t>35</a:t>
            </a:r>
          </a:p>
          <a:p>
            <a:pPr algn="r">
              <a:lnSpc>
                <a:spcPct val="100000"/>
              </a:lnSpc>
            </a:pPr>
            <a:r>
              <a:rPr sz="1900">
                <a:solidFill>
                  <a:srgbClr val="4F5D6A"/>
                </a:solidFill>
                <a:latin typeface="Consolas"/>
              </a:rPr>
              <a:t>36</a:t>
            </a:r>
          </a:p>
          <a:p>
            <a:pPr algn="r">
              <a:lnSpc>
                <a:spcPct val="100000"/>
              </a:lnSpc>
            </a:pPr>
            <a:r>
              <a:rPr sz="1900">
                <a:solidFill>
                  <a:srgbClr val="4F5D6A"/>
                </a:solidFill>
                <a:latin typeface="Consolas"/>
              </a:rPr>
              <a:t>37</a:t>
            </a:r>
          </a:p>
          <a:p>
            <a:pPr algn="r">
              <a:lnSpc>
                <a:spcPct val="100000"/>
              </a:lnSpc>
            </a:pPr>
            <a:r>
              <a:rPr sz="1900">
                <a:solidFill>
                  <a:srgbClr val="4F5D6A"/>
                </a:solidFill>
                <a:latin typeface="Consolas"/>
              </a:rPr>
              <a:t>38</a:t>
            </a:r>
          </a:p>
          <a:p>
            <a:pPr algn="r">
              <a:lnSpc>
                <a:spcPct val="100000"/>
              </a:lnSpc>
            </a:pPr>
            <a:r>
              <a:rPr sz="1900">
                <a:solidFill>
                  <a:srgbClr val="4F5D6A"/>
                </a:solidFill>
                <a:latin typeface="Consolas"/>
              </a:rPr>
              <a:t>39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3543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One Workload, Three Clouds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112     </a:t>
            </a:r>
            <a:fld id="{B44815A4-93FC-4B75-A404-A6B25C8FC0A6}"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What each one costs, from the provider's own API.</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249424"/>
          </a:xfrm>
          <a:prstGeom prst="roundRect">
            <a:avLst>
              <a:gd name="adj" fmla="val 406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6. What each one costs, from the provider's own API. ------------- aws pricing get-products --service-code AmazonEC2 --region us-east-1 \ --filters 'Type=TERM_MATCH,Field=instanceType,Value=m7i.xlarge' \ 'Type=TERM_MATCH,Field=location,Value=US East (N. Virginia)' \ --max-results 1 --query 'PriceList[0]' --output text 2&gt;/dev/null \ | head -c 400 || echo &quot;needs the pricing:GetProducts permission&quot;"/>
          <p:cNvSpPr txBox="1"/>
          <p:nvPr/>
        </p:nvSpPr>
        <p:spPr>
          <a:xfrm>
            <a:off x="1362456" y="2523744"/>
            <a:ext cx="9987991" cy="175564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--- 6. What each one costs, from the provider's own API. -------------</a:t>
            </a:r>
          </a:p>
          <a:p>
            <a:pPr>
              <a:lnSpc>
                <a:spcPct val="100000"/>
              </a:lnSpc>
              <a:spcAft>
                <a:spcPts val="0"/>
              </a:spcAft>
            </a:pPr>
            <a:r>
              <a:rPr sz="1800" i="0">
                <a:solidFill>
                  <a:srgbClr val="E8EDF2"/>
                </a:solidFill>
                <a:latin typeface="Consolas"/>
              </a:rPr>
              <a:t>aws</a:t>
            </a:r>
            <a:r>
              <a:rPr sz="1800" i="0">
                <a:solidFill>
                  <a:srgbClr val="E8EDF2"/>
                </a:solidFill>
                <a:latin typeface="Consolas"/>
              </a:rPr>
              <a:t> </a:t>
            </a:r>
            <a:r>
              <a:rPr sz="1800" i="0">
                <a:solidFill>
                  <a:srgbClr val="E8EDF2"/>
                </a:solidFill>
                <a:latin typeface="Consolas"/>
              </a:rPr>
              <a:t>pricing</a:t>
            </a:r>
            <a:r>
              <a:rPr sz="1800" i="0">
                <a:solidFill>
                  <a:srgbClr val="E8EDF2"/>
                </a:solidFill>
                <a:latin typeface="Consolas"/>
              </a:rPr>
              <a:t> </a:t>
            </a:r>
            <a:r>
              <a:rPr sz="1800" i="0">
                <a:solidFill>
                  <a:srgbClr val="E8EDF2"/>
                </a:solidFill>
                <a:latin typeface="Consolas"/>
              </a:rPr>
              <a:t>get-products</a:t>
            </a:r>
            <a:r>
              <a:rPr sz="1800" i="0">
                <a:solidFill>
                  <a:srgbClr val="E8EDF2"/>
                </a:solidFill>
                <a:latin typeface="Consolas"/>
              </a:rPr>
              <a:t> </a:t>
            </a:r>
            <a:r>
              <a:rPr sz="1800" i="0">
                <a:solidFill>
                  <a:srgbClr val="E8EDF2"/>
                </a:solidFill>
                <a:latin typeface="Consolas"/>
              </a:rPr>
              <a:t>--service-code</a:t>
            </a:r>
            <a:r>
              <a:rPr sz="1800" i="0">
                <a:solidFill>
                  <a:srgbClr val="E8EDF2"/>
                </a:solidFill>
                <a:latin typeface="Consolas"/>
              </a:rPr>
              <a:t> </a:t>
            </a:r>
            <a:r>
              <a:rPr sz="1800" i="0">
                <a:solidFill>
                  <a:srgbClr val="E8EDF2"/>
                </a:solidFill>
                <a:latin typeface="Consolas"/>
              </a:rPr>
              <a:t>AmazonEC2</a:t>
            </a:r>
            <a:r>
              <a:rPr sz="1800" i="0">
                <a:solidFill>
                  <a:srgbClr val="E8EDF2"/>
                </a:solidFill>
                <a:latin typeface="Consolas"/>
              </a:rPr>
              <a:t> </a:t>
            </a:r>
            <a:r>
              <a:rPr sz="1800" i="0">
                <a:solidFill>
                  <a:srgbClr val="E8EDF2"/>
                </a:solidFill>
                <a:latin typeface="Consolas"/>
              </a:rPr>
              <a:t>--region</a:t>
            </a:r>
            <a:r>
              <a:rPr sz="1800" i="0">
                <a:solidFill>
                  <a:srgbClr val="E8EDF2"/>
                </a:solidFill>
                <a:latin typeface="Consolas"/>
              </a:rPr>
              <a:t> </a:t>
            </a:r>
            <a:r>
              <a:rPr sz="1800" i="0">
                <a:solidFill>
                  <a:srgbClr val="E8EDF2"/>
                </a:solidFill>
                <a:latin typeface="Consolas"/>
              </a:rPr>
              <a:t>us-east-1</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--filters</a:t>
            </a:r>
            <a:r>
              <a:rPr sz="1800" i="0">
                <a:solidFill>
                  <a:srgbClr val="E8EDF2"/>
                </a:solidFill>
                <a:latin typeface="Consolas"/>
              </a:rPr>
              <a:t> </a:t>
            </a:r>
            <a:r>
              <a:rPr sz="1800" i="0">
                <a:solidFill>
                  <a:srgbClr val="7DCEA0"/>
                </a:solidFill>
                <a:latin typeface="Consolas"/>
              </a:rPr>
              <a:t>'Type=TERM_MATCH,Field=instanceType,Value=m7i.xlarge'</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'Type=TERM_MATCH,Field=location,Value=US East (N. Virginia)'</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--max-results</a:t>
            </a:r>
            <a:r>
              <a:rPr sz="1800" i="0">
                <a:solidFill>
                  <a:srgbClr val="E8EDF2"/>
                </a:solidFill>
                <a:latin typeface="Consolas"/>
              </a:rPr>
              <a:t> </a:t>
            </a:r>
            <a:r>
              <a:rPr sz="1800" i="0">
                <a:solidFill>
                  <a:srgbClr val="F7DC6F"/>
                </a:solidFill>
                <a:latin typeface="Consolas"/>
              </a:rPr>
              <a:t>1</a:t>
            </a:r>
            <a:r>
              <a:rPr sz="1800" i="0">
                <a:solidFill>
                  <a:srgbClr val="E8EDF2"/>
                </a:solidFill>
                <a:latin typeface="Consolas"/>
              </a:rPr>
              <a:t> </a:t>
            </a:r>
            <a:r>
              <a:rPr sz="1800" i="0">
                <a:solidFill>
                  <a:srgbClr val="E8EDF2"/>
                </a:solidFill>
                <a:latin typeface="Consolas"/>
              </a:rPr>
              <a:t>--query</a:t>
            </a:r>
            <a:r>
              <a:rPr sz="1800" i="0">
                <a:solidFill>
                  <a:srgbClr val="E8EDF2"/>
                </a:solidFill>
                <a:latin typeface="Consolas"/>
              </a:rPr>
              <a:t> </a:t>
            </a:r>
            <a:r>
              <a:rPr sz="1800" i="0">
                <a:solidFill>
                  <a:srgbClr val="7DCEA0"/>
                </a:solidFill>
                <a:latin typeface="Consolas"/>
              </a:rPr>
              <a:t>'PriceList[0]'</a:t>
            </a:r>
            <a:r>
              <a:rPr sz="1800" i="0">
                <a:solidFill>
                  <a:srgbClr val="E8EDF2"/>
                </a:solidFill>
                <a:latin typeface="Consolas"/>
              </a:rPr>
              <a:t> </a:t>
            </a:r>
            <a:r>
              <a:rPr sz="1800" i="0">
                <a:solidFill>
                  <a:srgbClr val="E8EDF2"/>
                </a:solidFill>
                <a:latin typeface="Consolas"/>
              </a:rPr>
              <a:t>--output</a:t>
            </a:r>
            <a:r>
              <a:rPr sz="1800" i="0">
                <a:solidFill>
                  <a:srgbClr val="E8EDF2"/>
                </a:solidFill>
                <a:latin typeface="Consolas"/>
              </a:rPr>
              <a:t> </a:t>
            </a:r>
            <a:r>
              <a:rPr sz="1800" i="0">
                <a:solidFill>
                  <a:srgbClr val="E8EDF2"/>
                </a:solidFill>
                <a:latin typeface="Consolas"/>
              </a:rPr>
              <a:t>text</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&gt;/dev/null</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head</a:t>
            </a:r>
            <a:r>
              <a:rPr sz="1800" i="0">
                <a:solidFill>
                  <a:srgbClr val="E8EDF2"/>
                </a:solidFill>
                <a:latin typeface="Consolas"/>
              </a:rPr>
              <a:t> </a:t>
            </a:r>
            <a:r>
              <a:rPr sz="1800" i="0">
                <a:solidFill>
                  <a:srgbClr val="E8EDF2"/>
                </a:solidFill>
                <a:latin typeface="Consolas"/>
              </a:rPr>
              <a:t>-c</a:t>
            </a:r>
            <a:r>
              <a:rPr sz="1800" i="0">
                <a:solidFill>
                  <a:srgbClr val="E8EDF2"/>
                </a:solidFill>
                <a:latin typeface="Consolas"/>
              </a:rPr>
              <a:t> </a:t>
            </a:r>
            <a:r>
              <a:rPr sz="1800" i="0">
                <a:solidFill>
                  <a:srgbClr val="F7DC6F"/>
                </a:solidFill>
                <a:latin typeface="Consolas"/>
              </a:rPr>
              <a:t>400</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"needs the pricing:GetProducts permission"</a:t>
            </a:r>
          </a:p>
        </p:txBody>
      </p:sp>
      <p:sp>
        <p:nvSpPr>
          <p:cNvPr id="15" name="!!code-num"/>
          <p:cNvSpPr txBox="1"/>
          <p:nvPr/>
        </p:nvSpPr>
        <p:spPr>
          <a:xfrm>
            <a:off x="768096" y="2523744"/>
            <a:ext cx="393192" cy="17556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41</a:t>
            </a:r>
          </a:p>
          <a:p>
            <a:pPr algn="r">
              <a:lnSpc>
                <a:spcPct val="100000"/>
              </a:lnSpc>
            </a:pPr>
            <a:r>
              <a:rPr sz="1800">
                <a:solidFill>
                  <a:srgbClr val="4F5D6A"/>
                </a:solidFill>
                <a:latin typeface="Consolas"/>
              </a:rPr>
              <a:t>42</a:t>
            </a:r>
          </a:p>
          <a:p>
            <a:pPr algn="r">
              <a:lnSpc>
                <a:spcPct val="100000"/>
              </a:lnSpc>
            </a:pPr>
            <a:r>
              <a:rPr sz="1800">
                <a:solidFill>
                  <a:srgbClr val="4F5D6A"/>
                </a:solidFill>
                <a:latin typeface="Consolas"/>
              </a:rPr>
              <a:t>43</a:t>
            </a:r>
          </a:p>
          <a:p>
            <a:pPr algn="r">
              <a:lnSpc>
                <a:spcPct val="100000"/>
              </a:lnSpc>
            </a:pPr>
            <a:r>
              <a:rPr sz="1800">
                <a:solidFill>
                  <a:srgbClr val="4F5D6A"/>
                </a:solidFill>
                <a:latin typeface="Consolas"/>
              </a:rPr>
              <a:t>44</a:t>
            </a:r>
          </a:p>
          <a:p>
            <a:pPr algn="r">
              <a:lnSpc>
                <a:spcPct val="100000"/>
              </a:lnSpc>
            </a:pPr>
            <a:r>
              <a:rPr sz="1800">
                <a:solidFill>
                  <a:srgbClr val="4F5D6A"/>
                </a:solidFill>
                <a:latin typeface="Consolas"/>
              </a:rPr>
              <a:t>45</a:t>
            </a:r>
          </a:p>
          <a:p>
            <a:pPr algn="r">
              <a:lnSpc>
                <a:spcPct val="100000"/>
              </a:lnSpc>
            </a:pPr>
            <a:r>
              <a:rPr sz="1800">
                <a:solidFill>
                  <a:srgbClr val="4F5D6A"/>
                </a:solidFill>
                <a:latin typeface="Consolas"/>
              </a:rPr>
              <a:t>46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1251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One Workload, Three Clouds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112     </a:t>
            </a:r>
            <a:fld id="{FFE9FCED-F069-4B1C-9C14-9254B9D8362B}"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TEAR DOWN. Do this even if a step above failed.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975104"/>
          </a:xfrm>
          <a:prstGeom prst="roundRect">
            <a:avLst>
              <a:gd name="adj" fmla="val 462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7. TEAR DOWN. Do this even if a step above failed. --------------- aws ec2 terminate-instances --instance-ids &quot;$(cat aws-id.txt)&quot; \ --query 'TerminatingInstances[0].CurrentState.Name' --output text || true az group delete -n vss-lab --yes --no-wait || true gcloud compute instances delete vss1 --zone=us-central1-a --quiet || true"/>
          <p:cNvSpPr txBox="1"/>
          <p:nvPr/>
        </p:nvSpPr>
        <p:spPr>
          <a:xfrm>
            <a:off x="1362456" y="2523744"/>
            <a:ext cx="9987991" cy="14813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--- 7. TEAR DOWN. Do this even if a step above failed. ---------------</a:t>
            </a:r>
          </a:p>
          <a:p>
            <a:pPr>
              <a:lnSpc>
                <a:spcPct val="100000"/>
              </a:lnSpc>
              <a:spcAft>
                <a:spcPts val="0"/>
              </a:spcAft>
            </a:pPr>
            <a:r>
              <a:rPr sz="1800" i="0">
                <a:solidFill>
                  <a:srgbClr val="E8EDF2"/>
                </a:solidFill>
                <a:latin typeface="Consolas"/>
              </a:rPr>
              <a:t>aws</a:t>
            </a:r>
            <a:r>
              <a:rPr sz="1800" i="0">
                <a:solidFill>
                  <a:srgbClr val="E8EDF2"/>
                </a:solidFill>
                <a:latin typeface="Consolas"/>
              </a:rPr>
              <a:t> </a:t>
            </a:r>
            <a:r>
              <a:rPr sz="1800" i="0">
                <a:solidFill>
                  <a:srgbClr val="E8EDF2"/>
                </a:solidFill>
                <a:latin typeface="Consolas"/>
              </a:rPr>
              <a:t>ec2</a:t>
            </a:r>
            <a:r>
              <a:rPr sz="1800" i="0">
                <a:solidFill>
                  <a:srgbClr val="E8EDF2"/>
                </a:solidFill>
                <a:latin typeface="Consolas"/>
              </a:rPr>
              <a:t> </a:t>
            </a:r>
            <a:r>
              <a:rPr sz="1800" i="0">
                <a:solidFill>
                  <a:srgbClr val="E8EDF2"/>
                </a:solidFill>
                <a:latin typeface="Consolas"/>
              </a:rPr>
              <a:t>terminate-instances</a:t>
            </a:r>
            <a:r>
              <a:rPr sz="1800" i="0">
                <a:solidFill>
                  <a:srgbClr val="E8EDF2"/>
                </a:solidFill>
                <a:latin typeface="Consolas"/>
              </a:rPr>
              <a:t> </a:t>
            </a:r>
            <a:r>
              <a:rPr sz="1800" i="0">
                <a:solidFill>
                  <a:srgbClr val="E8EDF2"/>
                </a:solidFill>
                <a:latin typeface="Consolas"/>
              </a:rPr>
              <a:t>--instance-ids</a:t>
            </a:r>
            <a:r>
              <a:rPr sz="1800" i="0">
                <a:solidFill>
                  <a:srgbClr val="E8EDF2"/>
                </a:solidFill>
                <a:latin typeface="Consolas"/>
              </a:rPr>
              <a:t> </a:t>
            </a:r>
            <a:r>
              <a:rPr sz="1800" i="0">
                <a:solidFill>
                  <a:srgbClr val="7DCEA0"/>
                </a:solidFill>
                <a:latin typeface="Consolas"/>
              </a:rPr>
              <a:t>"</a:t>
            </a:r>
            <a:r>
              <a:rPr sz="1800" i="0">
                <a:solidFill>
                  <a:srgbClr val="5DADE2"/>
                </a:solidFill>
                <a:latin typeface="Consolas"/>
              </a:rPr>
              <a:t>$(</a:t>
            </a:r>
            <a:r>
              <a:rPr sz="1800" i="0">
                <a:solidFill>
                  <a:srgbClr val="E8EDF2"/>
                </a:solidFill>
                <a:latin typeface="Consolas"/>
              </a:rPr>
              <a:t>cat</a:t>
            </a:r>
            <a:r>
              <a:rPr sz="1800" i="0">
                <a:solidFill>
                  <a:srgbClr val="E8EDF2"/>
                </a:solidFill>
                <a:latin typeface="Consolas"/>
              </a:rPr>
              <a:t> </a:t>
            </a:r>
            <a:r>
              <a:rPr sz="1800" i="0">
                <a:solidFill>
                  <a:srgbClr val="E8EDF2"/>
                </a:solidFill>
                <a:latin typeface="Consolas"/>
              </a:rPr>
              <a:t>aws-id.txt</a:t>
            </a:r>
            <a:r>
              <a:rPr sz="1800" i="0">
                <a:solidFill>
                  <a:srgbClr val="5DADE2"/>
                </a:solidFill>
                <a:latin typeface="Consolas"/>
              </a:rPr>
              <a:t>)</a:t>
            </a:r>
            <a:r>
              <a:rPr sz="1800" i="0">
                <a:solidFill>
                  <a:srgbClr val="7DCEA0"/>
                </a:solidFill>
                <a:latin typeface="Consolas"/>
              </a:rPr>
              <a:t>"</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--query</a:t>
            </a:r>
            <a:r>
              <a:rPr sz="1800" i="0">
                <a:solidFill>
                  <a:srgbClr val="E8EDF2"/>
                </a:solidFill>
                <a:latin typeface="Consolas"/>
              </a:rPr>
              <a:t> </a:t>
            </a:r>
            <a:r>
              <a:rPr sz="1800" i="0">
                <a:solidFill>
                  <a:srgbClr val="7DCEA0"/>
                </a:solidFill>
                <a:latin typeface="Consolas"/>
              </a:rPr>
              <a:t>'TerminatingInstances[0].CurrentState.Name'</a:t>
            </a:r>
            <a:r>
              <a:rPr sz="1800" i="0">
                <a:solidFill>
                  <a:srgbClr val="E8EDF2"/>
                </a:solidFill>
                <a:latin typeface="Consolas"/>
              </a:rPr>
              <a:t> </a:t>
            </a:r>
            <a:r>
              <a:rPr sz="1800" i="0">
                <a:solidFill>
                  <a:srgbClr val="E8EDF2"/>
                </a:solidFill>
                <a:latin typeface="Consolas"/>
              </a:rPr>
              <a:t>--output</a:t>
            </a:r>
            <a:r>
              <a:rPr sz="1800" i="0">
                <a:solidFill>
                  <a:srgbClr val="E8EDF2"/>
                </a:solidFill>
                <a:latin typeface="Consolas"/>
              </a:rPr>
              <a:t> </a:t>
            </a:r>
            <a:r>
              <a:rPr sz="1800" i="0">
                <a:solidFill>
                  <a:srgbClr val="E8EDF2"/>
                </a:solidFill>
                <a:latin typeface="Consolas"/>
              </a:rPr>
              <a:t>text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p>
          <a:p>
            <a:pPr>
              <a:lnSpc>
                <a:spcPct val="100000"/>
              </a:lnSpc>
              <a:spcAft>
                <a:spcPts val="0"/>
              </a:spcAft>
            </a:pPr>
            <a:r>
              <a:rPr sz="1800" i="0">
                <a:solidFill>
                  <a:srgbClr val="E8EDF2"/>
                </a:solidFill>
                <a:latin typeface="Consolas"/>
              </a:rPr>
              <a:t>az</a:t>
            </a:r>
            <a:r>
              <a:rPr sz="1800" i="0">
                <a:solidFill>
                  <a:srgbClr val="E8EDF2"/>
                </a:solidFill>
                <a:latin typeface="Consolas"/>
              </a:rPr>
              <a:t> </a:t>
            </a:r>
            <a:r>
              <a:rPr sz="1800" i="0">
                <a:solidFill>
                  <a:srgbClr val="E8EDF2"/>
                </a:solidFill>
                <a:latin typeface="Consolas"/>
              </a:rPr>
              <a:t>group</a:t>
            </a:r>
            <a:r>
              <a:rPr sz="1800" i="0">
                <a:solidFill>
                  <a:srgbClr val="E8EDF2"/>
                </a:solidFill>
                <a:latin typeface="Consolas"/>
              </a:rPr>
              <a:t> </a:t>
            </a:r>
            <a:r>
              <a:rPr sz="1800" i="0">
                <a:solidFill>
                  <a:srgbClr val="E8EDF2"/>
                </a:solidFill>
                <a:latin typeface="Consolas"/>
              </a:rPr>
              <a:t>delete</a:t>
            </a:r>
            <a:r>
              <a:rPr sz="1800" i="0">
                <a:solidFill>
                  <a:srgbClr val="E8EDF2"/>
                </a:solidFill>
                <a:latin typeface="Consolas"/>
              </a:rPr>
              <a:t> </a:t>
            </a:r>
            <a:r>
              <a:rPr sz="1800" i="0">
                <a:solidFill>
                  <a:srgbClr val="E8EDF2"/>
                </a:solidFill>
                <a:latin typeface="Consolas"/>
              </a:rPr>
              <a:t>-n</a:t>
            </a:r>
            <a:r>
              <a:rPr sz="1800" i="0">
                <a:solidFill>
                  <a:srgbClr val="E8EDF2"/>
                </a:solidFill>
                <a:latin typeface="Consolas"/>
              </a:rPr>
              <a:t> </a:t>
            </a:r>
            <a:r>
              <a:rPr sz="1800" i="0">
                <a:solidFill>
                  <a:srgbClr val="E8EDF2"/>
                </a:solidFill>
                <a:latin typeface="Consolas"/>
              </a:rPr>
              <a:t>vss-lab</a:t>
            </a:r>
            <a:r>
              <a:rPr sz="1800" i="0">
                <a:solidFill>
                  <a:srgbClr val="E8EDF2"/>
                </a:solidFill>
                <a:latin typeface="Consolas"/>
              </a:rPr>
              <a:t> </a:t>
            </a:r>
            <a:r>
              <a:rPr sz="1800" i="0">
                <a:solidFill>
                  <a:srgbClr val="E8EDF2"/>
                </a:solidFill>
                <a:latin typeface="Consolas"/>
              </a:rPr>
              <a:t>--yes</a:t>
            </a:r>
            <a:r>
              <a:rPr sz="1800" i="0">
                <a:solidFill>
                  <a:srgbClr val="E8EDF2"/>
                </a:solidFill>
                <a:latin typeface="Consolas"/>
              </a:rPr>
              <a:t> </a:t>
            </a:r>
            <a:r>
              <a:rPr sz="1800" i="0">
                <a:solidFill>
                  <a:srgbClr val="E8EDF2"/>
                </a:solidFill>
                <a:latin typeface="Consolas"/>
              </a:rPr>
              <a:t>--no-wait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p>
          <a:p>
            <a:pPr>
              <a:lnSpc>
                <a:spcPct val="100000"/>
              </a:lnSpc>
              <a:spcAft>
                <a:spcPts val="0"/>
              </a:spcAft>
            </a:pPr>
            <a:r>
              <a:rPr sz="1800" i="0">
                <a:solidFill>
                  <a:srgbClr val="E8EDF2"/>
                </a:solidFill>
                <a:latin typeface="Consolas"/>
              </a:rPr>
              <a:t>gcloud</a:t>
            </a:r>
            <a:r>
              <a:rPr sz="1800" i="0">
                <a:solidFill>
                  <a:srgbClr val="E8EDF2"/>
                </a:solidFill>
                <a:latin typeface="Consolas"/>
              </a:rPr>
              <a:t> </a:t>
            </a:r>
            <a:r>
              <a:rPr sz="1800" i="0">
                <a:solidFill>
                  <a:srgbClr val="E8EDF2"/>
                </a:solidFill>
                <a:latin typeface="Consolas"/>
              </a:rPr>
              <a:t>compute</a:t>
            </a:r>
            <a:r>
              <a:rPr sz="1800" i="0">
                <a:solidFill>
                  <a:srgbClr val="E8EDF2"/>
                </a:solidFill>
                <a:latin typeface="Consolas"/>
              </a:rPr>
              <a:t> </a:t>
            </a:r>
            <a:r>
              <a:rPr sz="1800" i="0">
                <a:solidFill>
                  <a:srgbClr val="E8EDF2"/>
                </a:solidFill>
                <a:latin typeface="Consolas"/>
              </a:rPr>
              <a:t>instances</a:t>
            </a:r>
            <a:r>
              <a:rPr sz="1800" i="0">
                <a:solidFill>
                  <a:srgbClr val="E8EDF2"/>
                </a:solidFill>
                <a:latin typeface="Consolas"/>
              </a:rPr>
              <a:t> </a:t>
            </a:r>
            <a:r>
              <a:rPr sz="1800" i="0">
                <a:solidFill>
                  <a:srgbClr val="E8EDF2"/>
                </a:solidFill>
                <a:latin typeface="Consolas"/>
              </a:rPr>
              <a:t>delete</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E8EDF2"/>
                </a:solidFill>
                <a:latin typeface="Consolas"/>
              </a:rPr>
              <a:t>--zone</a:t>
            </a:r>
            <a:r>
              <a:rPr sz="1800" i="0">
                <a:solidFill>
                  <a:srgbClr val="AEB6BF"/>
                </a:solidFill>
                <a:latin typeface="Consolas"/>
              </a:rPr>
              <a:t>=</a:t>
            </a:r>
            <a:r>
              <a:rPr sz="1800" i="0">
                <a:solidFill>
                  <a:srgbClr val="E8EDF2"/>
                </a:solidFill>
                <a:latin typeface="Consolas"/>
              </a:rPr>
              <a:t>us-central1-a</a:t>
            </a:r>
            <a:r>
              <a:rPr sz="1800" i="0">
                <a:solidFill>
                  <a:srgbClr val="E8EDF2"/>
                </a:solidFill>
                <a:latin typeface="Consolas"/>
              </a:rPr>
              <a:t> </a:t>
            </a:r>
            <a:r>
              <a:rPr sz="1800" i="0">
                <a:solidFill>
                  <a:srgbClr val="E8EDF2"/>
                </a:solidFill>
                <a:latin typeface="Consolas"/>
              </a:rPr>
              <a:t>--quiet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p>
        </p:txBody>
      </p:sp>
      <p:sp>
        <p:nvSpPr>
          <p:cNvPr id="15" name="!!code-num"/>
          <p:cNvSpPr txBox="1"/>
          <p:nvPr/>
        </p:nvSpPr>
        <p:spPr>
          <a:xfrm>
            <a:off x="768096" y="2523744"/>
            <a:ext cx="393192" cy="14813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48</a:t>
            </a:r>
          </a:p>
          <a:p>
            <a:pPr algn="r">
              <a:lnSpc>
                <a:spcPct val="100000"/>
              </a:lnSpc>
            </a:pPr>
            <a:r>
              <a:rPr sz="1800">
                <a:solidFill>
                  <a:srgbClr val="4F5D6A"/>
                </a:solidFill>
                <a:latin typeface="Consolas"/>
              </a:rPr>
              <a:t>49</a:t>
            </a:r>
          </a:p>
          <a:p>
            <a:pPr algn="r">
              <a:lnSpc>
                <a:spcPct val="100000"/>
              </a:lnSpc>
            </a:pPr>
            <a:r>
              <a:rPr sz="1800">
                <a:solidFill>
                  <a:srgbClr val="4F5D6A"/>
                </a:solidFill>
                <a:latin typeface="Consolas"/>
              </a:rPr>
              <a:t>50</a:t>
            </a:r>
          </a:p>
          <a:p>
            <a:pPr algn="r">
              <a:lnSpc>
                <a:spcPct val="100000"/>
              </a:lnSpc>
            </a:pPr>
            <a:r>
              <a:rPr sz="1800">
                <a:solidFill>
                  <a:srgbClr val="4F5D6A"/>
                </a:solidFill>
                <a:latin typeface="Consolas"/>
              </a:rPr>
              <a:t>51</a:t>
            </a:r>
          </a:p>
          <a:p>
            <a:pPr algn="r">
              <a:lnSpc>
                <a:spcPct val="100000"/>
              </a:lnSpc>
            </a:pPr>
            <a:r>
              <a:rPr sz="1800">
                <a:solidFill>
                  <a:srgbClr val="4F5D6A"/>
                </a:solidFill>
                <a:latin typeface="Consolas"/>
              </a:rPr>
              <a:t>52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8960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One Workload, Three Clouds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112     </a:t>
            </a:r>
            <a:fld id="{71BC4978-8347-4656-93FA-F9F75AC67FDD}"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Confirm nothing survives.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523744"/>
          </a:xfrm>
          <a:prstGeom prst="roundRect">
            <a:avLst>
              <a:gd name="adj" fmla="val 362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8. Confirm nothing survives. ------------------------------------- aws ec2 describe-instances --filters 'Name=tag:Name,Values=vss-lab' \ 'Name=instance-state-name,Values=running,pending' \ --query 'Reservations[].Instances[].InstanceId' --output text az group list --query &quot;[?name=='vss-lab'].name&quot; -o tsv gcloud compute instances list --filter='name=vss1' --format='value(name)' # All three should print nothing."/>
          <p:cNvSpPr txBox="1"/>
          <p:nvPr/>
        </p:nvSpPr>
        <p:spPr>
          <a:xfrm>
            <a:off x="1362456" y="2523744"/>
            <a:ext cx="9987991" cy="202996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--- 8. Confirm nothing survives. -------------------------------------</a:t>
            </a:r>
          </a:p>
          <a:p>
            <a:pPr>
              <a:lnSpc>
                <a:spcPct val="100000"/>
              </a:lnSpc>
              <a:spcAft>
                <a:spcPts val="0"/>
              </a:spcAft>
            </a:pPr>
            <a:r>
              <a:rPr sz="1800" i="0">
                <a:solidFill>
                  <a:srgbClr val="E8EDF2"/>
                </a:solidFill>
                <a:latin typeface="Consolas"/>
              </a:rPr>
              <a:t>aws</a:t>
            </a:r>
            <a:r>
              <a:rPr sz="1800" i="0">
                <a:solidFill>
                  <a:srgbClr val="E8EDF2"/>
                </a:solidFill>
                <a:latin typeface="Consolas"/>
              </a:rPr>
              <a:t> </a:t>
            </a:r>
            <a:r>
              <a:rPr sz="1800" i="0">
                <a:solidFill>
                  <a:srgbClr val="E8EDF2"/>
                </a:solidFill>
                <a:latin typeface="Consolas"/>
              </a:rPr>
              <a:t>ec2</a:t>
            </a:r>
            <a:r>
              <a:rPr sz="1800" i="0">
                <a:solidFill>
                  <a:srgbClr val="E8EDF2"/>
                </a:solidFill>
                <a:latin typeface="Consolas"/>
              </a:rPr>
              <a:t> </a:t>
            </a:r>
            <a:r>
              <a:rPr sz="1800" i="0">
                <a:solidFill>
                  <a:srgbClr val="E8EDF2"/>
                </a:solidFill>
                <a:latin typeface="Consolas"/>
              </a:rPr>
              <a:t>describe-instances</a:t>
            </a:r>
            <a:r>
              <a:rPr sz="1800" i="0">
                <a:solidFill>
                  <a:srgbClr val="E8EDF2"/>
                </a:solidFill>
                <a:latin typeface="Consolas"/>
              </a:rPr>
              <a:t> </a:t>
            </a:r>
            <a:r>
              <a:rPr sz="1800" i="0">
                <a:solidFill>
                  <a:srgbClr val="E8EDF2"/>
                </a:solidFill>
                <a:latin typeface="Consolas"/>
              </a:rPr>
              <a:t>--filters</a:t>
            </a:r>
            <a:r>
              <a:rPr sz="1800" i="0">
                <a:solidFill>
                  <a:srgbClr val="E8EDF2"/>
                </a:solidFill>
                <a:latin typeface="Consolas"/>
              </a:rPr>
              <a:t> </a:t>
            </a:r>
            <a:r>
              <a:rPr sz="1800" i="0">
                <a:solidFill>
                  <a:srgbClr val="7DCEA0"/>
                </a:solidFill>
                <a:latin typeface="Consolas"/>
              </a:rPr>
              <a:t>'Name=tag:Name,Values=vss-lab'</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'Name=instance-state-name,Values=running,pending'</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--query</a:t>
            </a:r>
            <a:r>
              <a:rPr sz="1800" i="0">
                <a:solidFill>
                  <a:srgbClr val="E8EDF2"/>
                </a:solidFill>
                <a:latin typeface="Consolas"/>
              </a:rPr>
              <a:t> </a:t>
            </a:r>
            <a:r>
              <a:rPr sz="1800" i="0">
                <a:solidFill>
                  <a:srgbClr val="7DCEA0"/>
                </a:solidFill>
                <a:latin typeface="Consolas"/>
              </a:rPr>
              <a:t>'Reservations[].Instances[].InstanceId'</a:t>
            </a:r>
            <a:r>
              <a:rPr sz="1800" i="0">
                <a:solidFill>
                  <a:srgbClr val="E8EDF2"/>
                </a:solidFill>
                <a:latin typeface="Consolas"/>
              </a:rPr>
              <a:t> </a:t>
            </a:r>
            <a:r>
              <a:rPr sz="1800" i="0">
                <a:solidFill>
                  <a:srgbClr val="E8EDF2"/>
                </a:solidFill>
                <a:latin typeface="Consolas"/>
              </a:rPr>
              <a:t>--output</a:t>
            </a:r>
            <a:r>
              <a:rPr sz="1800" i="0">
                <a:solidFill>
                  <a:srgbClr val="E8EDF2"/>
                </a:solidFill>
                <a:latin typeface="Consolas"/>
              </a:rPr>
              <a:t> </a:t>
            </a:r>
            <a:r>
              <a:rPr sz="1800" i="0">
                <a:solidFill>
                  <a:srgbClr val="E8EDF2"/>
                </a:solidFill>
                <a:latin typeface="Consolas"/>
              </a:rPr>
              <a:t>text</a:t>
            </a:r>
          </a:p>
          <a:p>
            <a:pPr>
              <a:lnSpc>
                <a:spcPct val="100000"/>
              </a:lnSpc>
              <a:spcAft>
                <a:spcPts val="0"/>
              </a:spcAft>
            </a:pPr>
            <a:r>
              <a:rPr sz="1800" i="0">
                <a:solidFill>
                  <a:srgbClr val="E8EDF2"/>
                </a:solidFill>
                <a:latin typeface="Consolas"/>
              </a:rPr>
              <a:t>az</a:t>
            </a:r>
            <a:r>
              <a:rPr sz="1800" i="0">
                <a:solidFill>
                  <a:srgbClr val="E8EDF2"/>
                </a:solidFill>
                <a:latin typeface="Consolas"/>
              </a:rPr>
              <a:t> </a:t>
            </a:r>
            <a:r>
              <a:rPr sz="1800" i="0">
                <a:solidFill>
                  <a:srgbClr val="E8EDF2"/>
                </a:solidFill>
                <a:latin typeface="Consolas"/>
              </a:rPr>
              <a:t>group</a:t>
            </a:r>
            <a:r>
              <a:rPr sz="1800" i="0">
                <a:solidFill>
                  <a:srgbClr val="E8EDF2"/>
                </a:solidFill>
                <a:latin typeface="Consolas"/>
              </a:rPr>
              <a:t> </a:t>
            </a:r>
            <a:r>
              <a:rPr sz="1800" i="0">
                <a:solidFill>
                  <a:srgbClr val="E8EDF2"/>
                </a:solidFill>
                <a:latin typeface="Consolas"/>
              </a:rPr>
              <a:t>list</a:t>
            </a:r>
            <a:r>
              <a:rPr sz="1800" i="0">
                <a:solidFill>
                  <a:srgbClr val="E8EDF2"/>
                </a:solidFill>
                <a:latin typeface="Consolas"/>
              </a:rPr>
              <a:t> </a:t>
            </a:r>
            <a:r>
              <a:rPr sz="1800" i="0">
                <a:solidFill>
                  <a:srgbClr val="E8EDF2"/>
                </a:solidFill>
                <a:latin typeface="Consolas"/>
              </a:rPr>
              <a:t>--query</a:t>
            </a:r>
            <a:r>
              <a:rPr sz="1800" i="0">
                <a:solidFill>
                  <a:srgbClr val="E8EDF2"/>
                </a:solidFill>
                <a:latin typeface="Consolas"/>
              </a:rPr>
              <a:t> </a:t>
            </a:r>
            <a:r>
              <a:rPr sz="1800" i="0">
                <a:solidFill>
                  <a:srgbClr val="7DCEA0"/>
                </a:solidFill>
                <a:latin typeface="Consolas"/>
              </a:rPr>
              <a:t>"[?name=='vss-lab'].name"</a:t>
            </a:r>
            <a:r>
              <a:rPr sz="1800" i="0">
                <a:solidFill>
                  <a:srgbClr val="E8EDF2"/>
                </a:solidFill>
                <a:latin typeface="Consolas"/>
              </a:rPr>
              <a:t> </a:t>
            </a:r>
            <a:r>
              <a:rPr sz="1800" i="0">
                <a:solidFill>
                  <a:srgbClr val="E8EDF2"/>
                </a:solidFill>
                <a:latin typeface="Consolas"/>
              </a:rPr>
              <a:t>-o</a:t>
            </a:r>
            <a:r>
              <a:rPr sz="1800" i="0">
                <a:solidFill>
                  <a:srgbClr val="E8EDF2"/>
                </a:solidFill>
                <a:latin typeface="Consolas"/>
              </a:rPr>
              <a:t> </a:t>
            </a:r>
            <a:r>
              <a:rPr sz="1800" i="0">
                <a:solidFill>
                  <a:srgbClr val="E8EDF2"/>
                </a:solidFill>
                <a:latin typeface="Consolas"/>
              </a:rPr>
              <a:t>tsv</a:t>
            </a:r>
          </a:p>
          <a:p>
            <a:pPr>
              <a:lnSpc>
                <a:spcPct val="100000"/>
              </a:lnSpc>
              <a:spcAft>
                <a:spcPts val="0"/>
              </a:spcAft>
            </a:pPr>
            <a:r>
              <a:rPr sz="1800" i="0">
                <a:solidFill>
                  <a:srgbClr val="E8EDF2"/>
                </a:solidFill>
                <a:latin typeface="Consolas"/>
              </a:rPr>
              <a:t>gcloud</a:t>
            </a:r>
            <a:r>
              <a:rPr sz="1800" i="0">
                <a:solidFill>
                  <a:srgbClr val="E8EDF2"/>
                </a:solidFill>
                <a:latin typeface="Consolas"/>
              </a:rPr>
              <a:t> </a:t>
            </a:r>
            <a:r>
              <a:rPr sz="1800" i="0">
                <a:solidFill>
                  <a:srgbClr val="E8EDF2"/>
                </a:solidFill>
                <a:latin typeface="Consolas"/>
              </a:rPr>
              <a:t>compute</a:t>
            </a:r>
            <a:r>
              <a:rPr sz="1800" i="0">
                <a:solidFill>
                  <a:srgbClr val="E8EDF2"/>
                </a:solidFill>
                <a:latin typeface="Consolas"/>
              </a:rPr>
              <a:t> </a:t>
            </a:r>
            <a:r>
              <a:rPr sz="1800" i="0">
                <a:solidFill>
                  <a:srgbClr val="E8EDF2"/>
                </a:solidFill>
                <a:latin typeface="Consolas"/>
              </a:rPr>
              <a:t>instances</a:t>
            </a:r>
            <a:r>
              <a:rPr sz="1800" i="0">
                <a:solidFill>
                  <a:srgbClr val="E8EDF2"/>
                </a:solidFill>
                <a:latin typeface="Consolas"/>
              </a:rPr>
              <a:t> </a:t>
            </a:r>
            <a:r>
              <a:rPr sz="1800" i="0">
                <a:solidFill>
                  <a:srgbClr val="E8EDF2"/>
                </a:solidFill>
                <a:latin typeface="Consolas"/>
              </a:rPr>
              <a:t>list</a:t>
            </a:r>
            <a:r>
              <a:rPr sz="1800" i="0">
                <a:solidFill>
                  <a:srgbClr val="E8EDF2"/>
                </a:solidFill>
                <a:latin typeface="Consolas"/>
              </a:rPr>
              <a:t> </a:t>
            </a:r>
            <a:r>
              <a:rPr sz="1800" i="0">
                <a:solidFill>
                  <a:srgbClr val="E8EDF2"/>
                </a:solidFill>
                <a:latin typeface="Consolas"/>
              </a:rPr>
              <a:t>--filter</a:t>
            </a:r>
            <a:r>
              <a:rPr sz="1800" i="0">
                <a:solidFill>
                  <a:srgbClr val="AEB6BF"/>
                </a:solidFill>
                <a:latin typeface="Consolas"/>
              </a:rPr>
              <a:t>=</a:t>
            </a:r>
            <a:r>
              <a:rPr sz="1800" i="0">
                <a:solidFill>
                  <a:srgbClr val="7DCEA0"/>
                </a:solidFill>
                <a:latin typeface="Consolas"/>
              </a:rPr>
              <a:t>'name=vss1'</a:t>
            </a:r>
            <a:r>
              <a:rPr sz="1800" i="0">
                <a:solidFill>
                  <a:srgbClr val="E8EDF2"/>
                </a:solidFill>
                <a:latin typeface="Consolas"/>
              </a:rPr>
              <a:t> </a:t>
            </a:r>
            <a:r>
              <a:rPr sz="1800" i="0">
                <a:solidFill>
                  <a:srgbClr val="E8EDF2"/>
                </a:solidFill>
                <a:latin typeface="Consolas"/>
              </a:rPr>
              <a:t>--format</a:t>
            </a:r>
            <a:r>
              <a:rPr sz="1800" i="0">
                <a:solidFill>
                  <a:srgbClr val="AEB6BF"/>
                </a:solidFill>
                <a:latin typeface="Consolas"/>
              </a:rPr>
              <a:t>=</a:t>
            </a:r>
            <a:r>
              <a:rPr sz="1800" i="0">
                <a:solidFill>
                  <a:srgbClr val="7DCEA0"/>
                </a:solidFill>
                <a:latin typeface="Consolas"/>
              </a:rPr>
              <a:t>'value(name)'</a:t>
            </a:r>
          </a:p>
          <a:p>
            <a:pPr>
              <a:lnSpc>
                <a:spcPct val="100000"/>
              </a:lnSpc>
              <a:spcAft>
                <a:spcPts val="0"/>
              </a:spcAft>
            </a:pPr>
            <a:r>
              <a:rPr sz="1800" i="1">
                <a:solidFill>
                  <a:srgbClr val="8795A1"/>
                </a:solidFill>
                <a:latin typeface="Consolas"/>
              </a:rPr>
              <a:t># All three should print nothing.</a:t>
            </a:r>
          </a:p>
        </p:txBody>
      </p:sp>
      <p:sp>
        <p:nvSpPr>
          <p:cNvPr id="15" name="!!code-num"/>
          <p:cNvSpPr txBox="1"/>
          <p:nvPr/>
        </p:nvSpPr>
        <p:spPr>
          <a:xfrm>
            <a:off x="768096" y="2523744"/>
            <a:ext cx="393192" cy="202996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54</a:t>
            </a:r>
          </a:p>
          <a:p>
            <a:pPr algn="r">
              <a:lnSpc>
                <a:spcPct val="100000"/>
              </a:lnSpc>
            </a:pPr>
            <a:r>
              <a:rPr sz="1800">
                <a:solidFill>
                  <a:srgbClr val="4F5D6A"/>
                </a:solidFill>
                <a:latin typeface="Consolas"/>
              </a:rPr>
              <a:t>55</a:t>
            </a:r>
          </a:p>
          <a:p>
            <a:pPr algn="r">
              <a:lnSpc>
                <a:spcPct val="100000"/>
              </a:lnSpc>
            </a:pPr>
            <a:r>
              <a:rPr sz="1800">
                <a:solidFill>
                  <a:srgbClr val="4F5D6A"/>
                </a:solidFill>
                <a:latin typeface="Consolas"/>
              </a:rPr>
              <a:t>56</a:t>
            </a:r>
          </a:p>
          <a:p>
            <a:pPr algn="r">
              <a:lnSpc>
                <a:spcPct val="100000"/>
              </a:lnSpc>
            </a:pPr>
            <a:r>
              <a:rPr sz="1800">
                <a:solidFill>
                  <a:srgbClr val="4F5D6A"/>
                </a:solidFill>
                <a:latin typeface="Consolas"/>
              </a:rPr>
              <a:t>57</a:t>
            </a:r>
          </a:p>
          <a:p>
            <a:pPr algn="r">
              <a:lnSpc>
                <a:spcPct val="100000"/>
              </a:lnSpc>
            </a:pPr>
            <a:r>
              <a:rPr sz="1800">
                <a:solidFill>
                  <a:srgbClr val="4F5D6A"/>
                </a:solidFill>
                <a:latin typeface="Consolas"/>
              </a:rPr>
              <a:t>58</a:t>
            </a:r>
          </a:p>
          <a:p>
            <a:pPr algn="r">
              <a:lnSpc>
                <a:spcPct val="100000"/>
              </a:lnSpc>
            </a:pPr>
            <a:r>
              <a:rPr sz="1800">
                <a:solidFill>
                  <a:srgbClr val="4F5D6A"/>
                </a:solidFill>
                <a:latin typeface="Consolas"/>
              </a:rPr>
              <a:t>59</a:t>
            </a:r>
          </a:p>
          <a:p>
            <a:pPr algn="r">
              <a:lnSpc>
                <a:spcPct val="100000"/>
              </a:lnSpc>
            </a:pPr>
            <a:r>
              <a:rPr sz="1800">
                <a:solidFill>
                  <a:srgbClr val="4F5D6A"/>
                </a:solidFill>
                <a:latin typeface="Consolas"/>
              </a:rPr>
              <a:t>60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86668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112     </a:t>
            </a:r>
            <a:fld id="{BEEB1A5B-DAB0-4B23-B387-9DE7B5C7BC40}" type="slidenum">
              <a:rPr lang="en-GB" sz="1000">
                <a:solidFill>
                  <a:srgbClr val="8795A1"/>
                </a:solidFill>
                <a:latin typeface="Segoe UI"/>
              </a:rPr>
              <a:t>33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Step 5 is the point of the whole chapter: three providers, three billing models, three APIs — and underneath, the same hypervisor, the same virtio devices and the same overlay network you built by hand in Chapter 13. The cloud is this book, rented.</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14377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university runs a self-service vSphere portal where departments provision guests themselves and are charged internally per guest-month. Test it against the five NIST characteristics and say which, if any, it fails.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14  ·  Cloud Service and Deployment Models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115  ·  answers in Appendix D     </a:t>
            </a:r>
            <a:fld id="{F31CC206-FCD9-4B17-8BD2-40444A1DDA0D}"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university runs a self-service vSphere portal where departments provision guests themselves and are charged internally per guest-month. Test it against the five NIST characteristics and say which, if any, it fails.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4408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It satisfies on-demand self-service (departments provision themselves), broad network access, resource pooling and measured service (charged per guest-month). It fails </a:t>
            </a:r>
            <a:r>
              <a:rPr sz="2200" b="1" i="0">
                <a:solidFill>
                  <a:srgbClr val="1C252B"/>
                </a:solidFill>
                <a:latin typeface="Segoe UI"/>
              </a:rPr>
              <a:t>rapid elasticity</a:t>
            </a:r>
            <a:r>
              <a:rPr sz="2200" b="0" i="0">
                <a:solidFill>
                  <a:srgbClr val="1C252B"/>
                </a:solidFill>
                <a:latin typeface="Segoe UI"/>
              </a:rPr>
              <a:t> — specifically the ability to </a:t>
            </a:r>
            <a:r>
              <a:rPr sz="2200" b="0" i="1">
                <a:solidFill>
                  <a:srgbClr val="1C252B"/>
                </a:solidFill>
                <a:latin typeface="Segoe UI"/>
              </a:rPr>
              <a:t>shrink</a:t>
            </a:r>
            <a:r>
              <a:rPr sz="2200" b="0" i="0">
                <a:solidFill>
                  <a:srgbClr val="1C252B"/>
                </a:solidFill>
                <a:latin typeface="Segoe UI"/>
              </a:rPr>
              <a:t>. The hosts are bought; a department returning a guest frees a little electricity and nothing else, and the university cannot rent the spare capacity to anyone. It is a well-run virtualization estate with a cloud-like interface, which is valuable, but it does not have the economics.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115  ·  answers in Appendix D     </a:t>
            </a:r>
            <a:fld id="{72B1D003-11F0-4E57-AD73-77193B72941B}"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69793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workload runs 10 hours a day, 5 days a week. Using the worked example’s hourly rate, compute its annual on-demand cost, and say why a three-year reservation would probably be a mistake.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14  ·  Cloud Service and Deployment Models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115  ·  answers in Appendix D     </a:t>
            </a:r>
            <a:fld id="{A26D2E30-B6D3-4148-9044-2ED74108E4EF}"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workload runs 10 hours a day, 5 days a week. Using the worked example’s hourly rate, compute its annual on-demand cost, and say why a three-year reservation would probably be a mistake.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10 × 5 × 52 = 2,600</a:t>
            </a:r>
            <a:r>
              <a:rPr sz="2200" b="0" i="0">
                <a:solidFill>
                  <a:srgbClr val="1C252B"/>
                </a:solidFill>
                <a:latin typeface="Segoe UI"/>
              </a:rPr>
              <a:t> hours a year at $0.2016 is </a:t>
            </a:r>
            <a:r>
              <a:rPr sz="2200" b="1" i="0">
                <a:solidFill>
                  <a:srgbClr val="1C252B"/>
                </a:solidFill>
                <a:latin typeface="Cambria"/>
              </a:rPr>
              <a:t>$524</a:t>
            </a:r>
            <a:r>
              <a:rPr sz="2200" b="0" i="0">
                <a:solidFill>
                  <a:srgbClr val="1C252B"/>
                </a:solidFill>
                <a:latin typeface="Segoe UI"/>
              </a:rPr>
              <a:t> a year. A three-year reservation discounts the rate by 55% but commits you to paying continuously: </a:t>
            </a:r>
            <a:r>
              <a:rPr sz="2200" b="0" i="0">
                <a:solidFill>
                  <a:srgbClr val="1C252B"/>
                </a:solidFill>
                <a:latin typeface="Cambria"/>
              </a:rPr>
              <a:t>0.45 × 0.2016 × 8,760 = $795</a:t>
            </a:r>
            <a:r>
              <a:rPr sz="2200" b="0" i="0">
                <a:solidFill>
                  <a:srgbClr val="1C252B"/>
                </a:solidFill>
                <a:latin typeface="Segoe UI"/>
              </a:rPr>
              <a:t> a year. The reservation would therefore cost </a:t>
            </a:r>
            <a:r>
              <a:rPr sz="2200" b="1" i="0">
                <a:solidFill>
                  <a:srgbClr val="1C252B"/>
                </a:solidFill>
                <a:latin typeface="Segoe UI"/>
              </a:rPr>
              <a:t>more than paying on demand</a:t>
            </a:r>
            <a:r>
              <a:rPr sz="2200" b="0" i="0">
                <a:solidFill>
                  <a:srgbClr val="1C252B"/>
                </a:solidFill>
                <a:latin typeface="Segoe UI"/>
              </a:rPr>
              <a:t>, because the workload uses only </a:t>
            </a:r>
            <a:r>
              <a:rPr sz="2200" b="0" i="0">
                <a:solidFill>
                  <a:srgbClr val="1C252B"/>
                </a:solidFill>
                <a:latin typeface="Cambria"/>
              </a:rPr>
              <a:t>2,600/8,760 = 30%</a:t>
            </a:r>
            <a:r>
              <a:rPr sz="2200" b="0" i="0">
                <a:solidFill>
                  <a:srgbClr val="1C252B"/>
                </a:solidFill>
                <a:latin typeface="Segoe UI"/>
              </a:rPr>
              <a:t> of the hours it would be committing to. Reservations pay for steady load, not for intermittent load at any discount.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115  ·  answers in Appendix D     </a:t>
            </a:r>
            <a:fld id="{6C8A147E-155D-40EE-8842-0A55BA0A6E0F}"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5210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An object store containing student records was found publicly readable. Which side of the shared responsibility line is this on, and what would you change to stop it recurring?</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14  ·  Cloud Service and Deployment Models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115  ·  answers in Appendix D     </a:t>
            </a:r>
            <a:fld id="{B023E940-75C8-4B9A-8EB3-D7952D6E2FA6}" type="slidenum">
              <a:rPr lang="en-GB" sz="1000">
                <a:solidFill>
                  <a:srgbClr val="D5DEE5"/>
                </a:solidFill>
                <a:latin typeface="Segoe UI"/>
              </a:rPr>
              <a:t>38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An object store containing student records was found publicly readable. Which side of the shared responsibility line is this on, and what would you change to stop it recurring?</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The customer’s side</a:t>
            </a:r>
            <a:r>
              <a:rPr sz="2200" b="0" i="0">
                <a:solidFill>
                  <a:srgbClr val="1C252B"/>
                </a:solidFill>
                <a:latin typeface="Segoe UI"/>
              </a:rPr>
              <a:t> — under IaaS and under every provider’s shared responsibility model, data classification and access configuration belong to the customer. The provider’s default for object storage is private; somebody changed it. To stop it recurring: enable account-level public-access blocking so it cannot be set at all, scan for public buckets continuously, and require infrastructure as code (Chapter 16) so that a permission change is a reviewed commit rather than a click.</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115  ·  answers in Appendix D     </a:t>
            </a:r>
            <a:fld id="{33321CD1-5280-455D-A437-E7BD8A6F670A}" type="slidenum">
              <a:rPr lang="en-GB" sz="1000">
                <a:solidFill>
                  <a:srgbClr val="8795A1"/>
                </a:solidFill>
                <a:latin typeface="Segoe UI"/>
              </a:rPr>
              <a:t>39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0627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115     </a:t>
            </a:r>
            <a:fld id="{819EA41B-8B1F-4523-A1A6-D77E40ED89F0}" type="slidenum">
              <a:rPr lang="en-GB" sz="1000">
                <a:solidFill>
                  <a:srgbClr val="8795A1"/>
                </a:solidFill>
                <a:latin typeface="Segoe UI"/>
              </a:rPr>
              <a:t>40</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NIST’s five characteristics are a usable test. Most “private clouds” fail on elasticity, because capacity cannot be returned.</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IaaS, PaaS, SaaS and FaaS differ only in where the responsibility line falls. It only ever moves upward, and everything below it is also something you can no longer tune or debug.</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Serverless is somebody else’s server started in 125 ms. It is economically possible because of Chapter 11.</a:t>
            </a:r>
          </a:p>
        </p:txBody>
      </p:sp>
      <p:sp>
        <p:nvSpPr>
          <p:cNvPr id="16" name="!!sb3">
            <a:extLst>
              <a:ext uri="{C183D7F6-B498-43B3-948B-1728B52AA6E4}">
                <adec:decorative xmlns:adec="http://schemas.microsoft.com/office/drawing/2017/decorative" val="1"/>
              </a:ext>
            </a:extLst>
          </p:cNvPr>
          <p:cNvSpPr/>
          <p:nvPr/>
        </p:nvSpPr>
        <p:spPr>
          <a:xfrm>
            <a:off x="658368" y="377525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83011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766108"/>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Spread across availability zones for availability, across regions for disaster recovery and data residency.</a:t>
            </a:r>
          </a:p>
        </p:txBody>
      </p:sp>
      <p:sp>
        <p:nvSpPr>
          <p:cNvPr id="19" name="!!sb4">
            <a:extLst>
              <a:ext uri="{C183D7F6-B498-43B3-948B-1728B52AA6E4}">
                <adec:decorative xmlns:adec="http://schemas.microsoft.com/office/drawing/2017/decorative" val="1"/>
              </a:ext>
            </a:extLst>
          </p:cNvPr>
          <p:cNvSpPr/>
          <p:nvPr/>
        </p:nvSpPr>
        <p:spPr>
          <a:xfrm>
            <a:off x="658368" y="436046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41533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351324"/>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On demand, the same workload cost 61% more than owning the hardware; with a three-year commitment it cost 21% less. The purchasing decision mattered more than the platform.</a:t>
            </a:r>
          </a:p>
        </p:txBody>
      </p:sp>
      <p:sp>
        <p:nvSpPr>
          <p:cNvPr id="22" name="!!sb5">
            <a:extLst>
              <a:ext uri="{C183D7F6-B498-43B3-948B-1728B52AA6E4}">
                <adec:decorative xmlns:adec="http://schemas.microsoft.com/office/drawing/2017/decorative" val="1"/>
              </a:ext>
            </a:extLst>
          </p:cNvPr>
          <p:cNvSpPr/>
          <p:nvPr/>
        </p:nvSpPr>
        <p:spPr>
          <a:xfrm>
            <a:off x="658368" y="508223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13709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073091"/>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Egress is charged and ingress is not. That asymmetry is what lock-in actually is; price it at design time.</a:t>
            </a:r>
          </a:p>
        </p:txBody>
      </p:sp>
      <p:sp>
        <p:nvSpPr>
          <p:cNvPr id="25" name="!!sb6">
            <a:extLst>
              <a:ext uri="{C183D7F6-B498-43B3-948B-1728B52AA6E4}">
                <adec:decorative xmlns:adec="http://schemas.microsoft.com/office/drawing/2017/decorative" val="1"/>
              </a:ext>
            </a:extLst>
          </p:cNvPr>
          <p:cNvSpPr/>
          <p:nvPr/>
        </p:nvSpPr>
        <p:spPr>
          <a:xfrm>
            <a:off x="658368" y="566745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sbn6"/>
          <p:cNvSpPr txBox="1"/>
          <p:nvPr/>
        </p:nvSpPr>
        <p:spPr>
          <a:xfrm>
            <a:off x="658368" y="5722315"/>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27" name="!!st6"/>
          <p:cNvSpPr txBox="1"/>
          <p:nvPr/>
        </p:nvSpPr>
        <p:spPr>
          <a:xfrm>
            <a:off x="1298448" y="5658307"/>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You are responsible for security </a:t>
            </a:r>
            <a:r>
              <a:rPr sz="1700" b="0" i="1">
                <a:solidFill>
                  <a:srgbClr val="1C252B"/>
                </a:solidFill>
                <a:latin typeface="Segoe UI"/>
              </a:rPr>
              <a:t>in</a:t>
            </a:r>
            <a:r>
              <a:rPr sz="1700" b="0" i="0">
                <a:solidFill>
                  <a:srgbClr val="1C252B"/>
                </a:solidFill>
                <a:latin typeface="Segoe UI"/>
              </a:rPr>
              <a:t> the cloud. Nearly every major breach has been on the customer’s side of that line.</a:t>
            </a:r>
          </a:p>
        </p:txBody>
      </p:sp>
      <p:sp>
        <p:nvSpPr>
          <p:cNvPr id="8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pfill">
            <a:extLst>
              <a:ext uri="{C183D7F6-B498-43B3-948B-1728B52AA6E4}">
                <adec:decorative xmlns:adec="http://schemas.microsoft.com/office/drawing/2017/decorative" val="1"/>
              </a:ext>
            </a:extLst>
          </p:cNvPr>
          <p:cNvSpPr/>
          <p:nvPr/>
        </p:nvSpPr>
        <p:spPr>
          <a:xfrm>
            <a:off x="0" y="0"/>
            <a:ext cx="1108335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23" presetClass="entr" presetSubtype="16"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zoom(in)">
                                      <p:cBhvr>
                                        <p:cTn id="74" dur="26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260"/>
                                        <p:tgtEl>
                                          <p:spTgt spid="26"/>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wipe(right)">
                                      <p:cBhvr>
                                        <p:cTn id="80"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115     </a:t>
            </a:r>
            <a:fld id="{EE5CD836-44B5-4B05-BE30-341372BA3697}" type="slidenum">
              <a:rPr lang="en-GB" sz="1000">
                <a:solidFill>
                  <a:srgbClr val="8795A1"/>
                </a:solidFill>
                <a:latin typeface="Segoe UI"/>
              </a:rPr>
              <a:t>41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NIST characteristic most private clouds fail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measured service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rapid elasticity</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broad network access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resource pooling</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6044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115     </a:t>
            </a:r>
            <a:fld id="{6D1525A7-EDC7-4C22-9D11-247E0A698360}" type="slidenum">
              <a:rPr lang="en-GB" sz="1000">
                <a:solidFill>
                  <a:srgbClr val="8795A1"/>
                </a:solidFill>
                <a:latin typeface="Segoe UI"/>
              </a:rPr>
              <a:t>42</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Under IaaS, patching the guest operating system is the responsibility of:</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provider</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customer</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shared equally</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hypervisor vendor</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3752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14  ·  Cloud Service and Deployment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115     </a:t>
            </a:r>
            <a:fld id="{C9A939AE-9D5D-477C-8765-FA9B4C04C7D7}" type="slidenum">
              <a:rPr lang="en-GB" sz="1000">
                <a:solidFill>
                  <a:srgbClr val="8795A1"/>
                </a:solidFill>
                <a:latin typeface="Segoe UI"/>
              </a:rPr>
              <a:t>43</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a burstable instance is a poor choice for benchmarking, in terms of Chapter 6’s vocabulary.</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what egress pricing has to do with lock-in, with a worked figure.</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does FaaS depend on the engineering of Chapter 11?</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Repeat the worked example for a workload that runs only during a four-month teaching semester each year. Give the three figures and the recommendation, and state which assumption your answer is most sensitive to.</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department proposes moving its entire estate to a single public cloud. Write the five questions you would require answers to before approving it, and say what answer to each would change the recommendation.</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1461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54A9D"/>
                </a:solidFill>
                <a:latin typeface="Segoe UI Black"/>
              </a:rPr>
              <a:t>14</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14</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15 — Desktop and Application Virtualization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14, pages 108–115</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One workload on three clouds, then torn down</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Quiz 2 (Ch 10–14)</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14  ·  Cloud Service and Deployment Models</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A97EDB2C-DC8A-4EAB-B8AC-3240BA2B5C1D}" type="slidenum">
              <a:rPr lang="en-GB" sz="1000">
                <a:solidFill>
                  <a:srgbClr val="D5DEE5"/>
                </a:solidFill>
                <a:latin typeface="Segoe UI"/>
              </a:rPr>
              <a:t>44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14: Cloud Service and Deployment Models</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