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4.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6.svg" ContentType="image/svg+xml"/>
  <Override PartName="/ppt/media/image77.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15E7D78-4E53-4A2B-AD3A-438D05AECF1F}">
          <p14:sldIdLst>
            <p14:sldId id="256"/>
            <p14:sldId id="257"/>
            <p14:sldId id="258"/>
            <p14:sldId id="259"/>
            <p14:sldId id="260"/>
          </p14:sldIdLst>
        </p14:section>
        <p14:section name="17.1 Moving a Running Machine" id="{9F2E4EB3-7F79-4E80-99D9-0F5D6CE60919}">
          <p14:sldIdLst>
            <p14:sldId id="261"/>
            <p14:sldId id="262"/>
            <p14:sldId id="263"/>
            <p14:sldId id="264"/>
            <p14:sldId id="265"/>
            <p14:sldId id="266"/>
            <p14:sldId id="267"/>
            <p14:sldId id="268"/>
          </p14:sldIdLst>
        </p14:section>
        <p14:section name="17.2 High Availability, Fault Tolerance and Quorum" id="{F475FC5A-EFA3-40DF-A0A4-7C57AE29729B}">
          <p14:sldIdLst>
            <p14:sldId id="269"/>
          </p14:sldIdLst>
        </p14:section>
        <p14:section name="17.3 RPO, RTO and the Cost of a Nine" id="{1B3BD3B9-B183-4272-99CB-C46DB4DBE781}">
          <p14:sldIdLst>
            <p14:sldId id="270"/>
            <p14:sldId id="271"/>
            <p14:sldId id="272"/>
            <p14:sldId id="273"/>
            <p14:sldId id="274"/>
            <p14:sldId id="275"/>
          </p14:sldIdLst>
        </p14:section>
        <p14:section name="Pitfalls" id="{5860032C-D6DB-4ABE-B154-0A5E625A424E}">
          <p14:sldIdLst>
            <p14:sldId id="276"/>
            <p14:sldId id="277"/>
          </p14:sldIdLst>
        </p14:section>
        <p14:section name="Lab" id="{3AAE3888-9677-4CFC-9DB1-75421AC8C8EC}">
          <p14:sldIdLst>
            <p14:sldId id="278"/>
            <p14:sldId id="279"/>
            <p14:sldId id="280"/>
            <p14:sldId id="281"/>
            <p14:sldId id="282"/>
            <p14:sldId id="283"/>
            <p14:sldId id="284"/>
            <p14:sldId id="285"/>
            <p14:sldId id="286"/>
            <p14:sldId id="287"/>
            <p14:sldId id="288"/>
            <p14:sldId id="289"/>
          </p14:sldIdLst>
        </p14:section>
        <p14:section name="Checkpoint" id="{F3D6C993-AE80-4162-957A-6377C5AA8639}">
          <p14:sldIdLst>
            <p14:sldId id="290"/>
            <p14:sldId id="291"/>
            <p14:sldId id="292"/>
            <p14:sldId id="293"/>
            <p14:sldId id="294"/>
            <p14:sldId id="295"/>
          </p14:sldIdLst>
        </p14:section>
        <p14:section name="Wrap-up" id="{95E25ADB-F665-4BCD-B18C-5F3C648E1A5E}">
          <p14:sldIdLst>
            <p14:sldId id="296"/>
            <p14:sldId id="297"/>
            <p14:sldId id="298"/>
            <p14:sldId id="299"/>
            <p14:sldId id="300"/>
            <p14:sldId id="30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17: High Availability, Live Migration and Disaster Recovery. Part 5 — Management, Performance and Security. Week 13: HA, live migration and DR. Handout pages 133–140.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6 (memory, and the fact that a running guest’s pages change under you) and Chapter 12 (shared storage, without which almost nothing here works). Chapter 7’s warning that an assigned device cannot be migrated is the exception that proves this chapter’s rule.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live migration; pre-copy; post-copy; dirty page; dirty rate; convergence; switchover; stop-and-copy; auto-convergence; page fault over the network; high availability; fault tolerance; cluster; quorum; split brain; fencing; STONITH; RPO; RTO; availability; nines; 3-2-1 rule; immutable backup.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else in computing does this. A guest serving traffic moves from one physical host to another, keeps its memory, its open connections and its in-flight work, and pauses for a time its users cannot perceive. It is the capability that makes everything in Chapter 16 possible: hosts can be patched, rebalanced and retired without anyone scheduling an outage. The difficulty is stated in one sentence: the memory you are copying is being modified while you copy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17.1 (handout p. 134): Pre-copy migration, drawn to scale for the worked example. The upper case finishes in 20 seconds with a 50 ms pause; the lower one never finishes at 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migration is planned movement. The unplanned case is a host failing, and the answer is different. High availability restarts the failed host’s guests on surviving hosts. The guests crash and reboot: everything in memory is lost, and the service is down for as long as a boot takes — a minute or two. It is cheap, it is automatic, and it is what almost every cluster runs. Fault tolerance runs a shadow copy of the guest on a second host in lockstep, so a host failure is invisible — zero downtime, zero data loss. It costs double the resources, limits the guest’s size and vCPU count severely, and is reserved for the few workloads that genuinely justify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recovery is about the site, not the host, and two numbers specify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Live-migrates a guest between two hosts with no dropped pings, then makes the guest dirty memory fast enough that it will not converge. Needs two hosts, or two nested ones. Expect forty-five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Both hosts must see the same disk..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Start the guest and give it something to serve..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Watch continuity: ping and HTTP, both running throughout..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Migrate it, and time the whole thing..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Now make it refuse to converge..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Make it converge by throttling the guest on purpose..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Measure the dirty rate directly, for the arithmetic..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Unplanned failure: what HA does instead..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10: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ratio is 400/1,200 = 0.33, so it converges. Round 0: 32,000/1,200 = 26.7 s, dirtying 10,667 MB. Round 1: 10,667/1,200 = 8.9 s, dirtying 3,556 MB. Round 2: 3,556/1,200 = 3.0 s, dirtying 1,185 MB. Subsequent rounds are 1.0 s, 0.3 s and 0.1 s, so the total elapsed time is about 40 seconds with a switchover pause of tens of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Each host believes the other has failed, because from its own position the symptom is identical. Without fencing, both restart the other’s guests, so the same guest runs twice and both instances write to the same disks: not downtime but corruption, which is worse than the outage HA was bought to prevent. Quorum requires a majority before acting; with two hosts neither side has one, so both stop — which is why a two-node cluster needs a third vote, a witness, and why fencing (powering the suspect host off through its management controller) must happen before anything is restarted.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525,600 × 0.0001 = 52.6 minutes a year. A 90-minute planned upgrade exceeds the entire annual budget on its own, so it is not compatible. Either the upgrade must be performed without downtime — live migration, rolling updates — or the availability target must be renegotiated to 99.9%, which allows 8 h 46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18 — Performance Monitoring and Capacity Planning. READ: Handout Chapter 17, pages 133–140. THIS WEEK'S LAB: Migrate a running guest, then make it fail to converge. ASSESSMENT: Project experiments frozen.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4.xml"/><Relationship Id="rId7" Type="http://schemas.openxmlformats.org/officeDocument/2006/relationships/slide" Target="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17.png"/><Relationship Id="rId5" Type="http://schemas.openxmlformats.org/officeDocument/2006/relationships/image" Target="../media/image18.svg"/><Relationship Id="rId6" Type="http://schemas.openxmlformats.org/officeDocument/2006/relationships/image" Target="../media/image19.png"/><Relationship Id="rId7" Type="http://schemas.openxmlformats.org/officeDocument/2006/relationships/image" Target="../media/image20.svg"/><Relationship Id="rId8" Type="http://schemas.openxmlformats.org/officeDocument/2006/relationships/image" Target="../media/image21.png"/><Relationship Id="rId9" Type="http://schemas.openxmlformats.org/officeDocument/2006/relationships/image" Target="../media/image22.svg"/><Relationship Id="rId10" Type="http://schemas.openxmlformats.org/officeDocument/2006/relationships/image" Target="../media/image23.png"/><Relationship Id="rId11" Type="http://schemas.openxmlformats.org/officeDocument/2006/relationships/image" Target="../media/image24.svg"/><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5.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image" Target="../media/image30.png"/><Relationship Id="rId9" Type="http://schemas.openxmlformats.org/officeDocument/2006/relationships/image" Target="../media/image31.svg"/><Relationship Id="rId10" Type="http://schemas.openxmlformats.org/officeDocument/2006/relationships/image" Target="../media/image32.png"/><Relationship Id="rId11" Type="http://schemas.openxmlformats.org/officeDocument/2006/relationships/image" Target="../media/image33.svg"/><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4.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5.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40.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41.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4.png"/><Relationship Id="rId7" Type="http://schemas.openxmlformats.org/officeDocument/2006/relationships/image" Target="../media/image45.svg"/><Relationship Id="rId8" Type="http://schemas.openxmlformats.org/officeDocument/2006/relationships/image" Target="../media/image46.png"/><Relationship Id="rId9" Type="http://schemas.openxmlformats.org/officeDocument/2006/relationships/image" Target="../media/image47.svg"/><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48.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49.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50.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3.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6.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7.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8.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9.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0.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1.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2.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3.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4.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5.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0.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7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2.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73.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4.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0.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1.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17</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500" b="0">
                <a:solidFill>
                  <a:srgbClr val="FFFFFF"/>
                </a:solidFill>
                <a:latin typeface="Segoe UI Semibold"/>
              </a:rPr>
              <a:t>High Availability, Live Migration and Disaster Recovery</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MANAGEMENT, PERFORMANCE AND SECURITY</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17  ·  WEEK 13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21A9C263-5948-4CA0-BBAB-3BA71ACCF98B}"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750335"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750335" y="2029967"/>
            <a:ext cx="1822916"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32120"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406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1603"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01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82468"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82468"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539852"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High Availability, Live Migration and Disaster Recovery</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6">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6">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6"/>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CPU and Memory Virtualization</a:t>
            </a:r>
          </a:p>
        </p:txBody>
      </p:sp>
      <p:sp>
        <p:nvSpPr>
          <p:cNvPr id="70" name="!!chipBU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Paravirtualization and Device Virtualization</a:t>
            </a:r>
          </a:p>
        </p:txBody>
      </p:sp>
      <p:sp>
        <p:nvSpPr>
          <p:cNvPr id="73" name="!!chipBU12">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12">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12"/>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12  </a:t>
            </a:r>
            <a:r>
              <a:rPr sz="1400" b="0" i="0">
                <a:solidFill>
                  <a:srgbClr val="1C252B"/>
                </a:solidFill>
                <a:latin typeface="Segoe UI"/>
              </a:rPr>
              <a:t>Storage Virtualization</a:t>
            </a:r>
          </a:p>
        </p:txBody>
      </p:sp>
      <p:sp>
        <p:nvSpPr>
          <p:cNvPr id="7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7" name="!!chipUS19">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9">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9"/>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Security in Virtualized Environments</a:t>
            </a:r>
          </a:p>
        </p:txBody>
      </p:sp>
      <p:sp>
        <p:nvSpPr>
          <p:cNvPr id="80" name="!!chipUS21">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21">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21"/>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Confidential Computing and Emerging Hardware</a:t>
            </a:r>
          </a:p>
        </p:txBody>
      </p:sp>
      <p:sp>
        <p:nvSpPr>
          <p:cNvPr id="83" name="!!chipUS22">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22">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22"/>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Case Studies in Enterprise and Cloud Virtualization</a:t>
            </a:r>
          </a:p>
        </p:txBody>
      </p:sp>
      <p:sp>
        <p:nvSpPr>
          <p:cNvPr id="86" name="!!chipUS23">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bUS23">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tUS23"/>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23  </a:t>
            </a:r>
            <a:r>
              <a:rPr sz="1400" b="0" i="0">
                <a:solidFill>
                  <a:srgbClr val="1C252B"/>
                </a:solidFill>
                <a:latin typeface="Segoe UI"/>
              </a:rPr>
              <a:t>The Semester Project</a:t>
            </a:r>
          </a:p>
        </p:txBody>
      </p:sp>
      <p:sp>
        <p:nvSpPr>
          <p:cNvPr id="8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pfill">
            <a:extLst>
              <a:ext uri="{C183D7F6-B498-43B3-948B-1728B52AA6E4}">
                <adec:decorative xmlns:adec="http://schemas.microsoft.com/office/drawing/2017/decorative" val="1"/>
              </a:ext>
            </a:extLst>
          </p:cNvPr>
          <p:cNvSpPr/>
          <p:nvPr/>
        </p:nvSpPr>
        <p:spPr>
          <a:xfrm>
            <a:off x="0" y="0"/>
            <a:ext cx="53007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043005A0-A983-40C2-A564-80D9432D99DF}"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Describe</a:t>
            </a:r>
            <a:r>
              <a:rPr sz="2100" b="0" i="0">
                <a:solidFill>
                  <a:srgbClr val="1C252B"/>
                </a:solidFill>
                <a:latin typeface="Segoe UI"/>
              </a:rPr>
              <a:t> pre-copy live migration round by round, and </a:t>
            </a:r>
            <a:r>
              <a:rPr sz="2100" b="1" i="0">
                <a:solidFill>
                  <a:srgbClr val="1C252B"/>
                </a:solidFill>
                <a:latin typeface="Segoe UI"/>
              </a:rPr>
              <a:t>state</a:t>
            </a:r>
            <a:r>
              <a:rPr sz="2100" b="0" i="0">
                <a:solidFill>
                  <a:srgbClr val="1C252B"/>
                </a:solidFill>
                <a:latin typeface="Segoe UI"/>
              </a:rPr>
              <a:t> the condition under which it converges.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Compute</a:t>
            </a:r>
            <a:r>
              <a:rPr sz="2100" b="0" i="0">
                <a:solidFill>
                  <a:srgbClr val="1C252B"/>
                </a:solidFill>
                <a:latin typeface="Segoe UI"/>
              </a:rPr>
              <a:t> the number of rounds and the total transfer for a given guest, dirty rate and link speed.</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what happens when it does not converge, and </a:t>
            </a:r>
            <a:r>
              <a:rPr sz="2100" b="1" i="0">
                <a:solidFill>
                  <a:srgbClr val="1C252B"/>
                </a:solidFill>
                <a:latin typeface="Segoe UI"/>
              </a:rPr>
              <a:t>compare</a:t>
            </a:r>
            <a:r>
              <a:rPr sz="2100" b="0" i="0">
                <a:solidFill>
                  <a:srgbClr val="1C252B"/>
                </a:solidFill>
                <a:latin typeface="Segoe UI"/>
              </a:rPr>
              <a:t> auto-convergence with post-copy.</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Distinguish</a:t>
            </a:r>
            <a:r>
              <a:rPr sz="2100" b="0" i="0">
                <a:solidFill>
                  <a:srgbClr val="1C252B"/>
                </a:solidFill>
                <a:latin typeface="Segoe UI"/>
              </a:rPr>
              <a:t> high availability from fault tolerance from disaster recovery, and </a:t>
            </a:r>
            <a:r>
              <a:rPr sz="2100" b="1" i="0">
                <a:solidFill>
                  <a:srgbClr val="1C252B"/>
                </a:solidFill>
                <a:latin typeface="Segoe UI"/>
              </a:rPr>
              <a:t>express</a:t>
            </a:r>
            <a:r>
              <a:rPr sz="2100" b="0" i="0">
                <a:solidFill>
                  <a:srgbClr val="1C252B"/>
                </a:solidFill>
                <a:latin typeface="Segoe UI"/>
              </a:rPr>
              <a:t> each as RPO and RTO.</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Compute</a:t>
            </a:r>
            <a:r>
              <a:rPr sz="2100" b="0" i="0">
                <a:solidFill>
                  <a:srgbClr val="1C252B"/>
                </a:solidFill>
                <a:latin typeface="Segoe UI"/>
              </a:rPr>
              <a:t> the downtime budget implied by an availability target, and </a:t>
            </a:r>
            <a:r>
              <a:rPr sz="2100" b="1" i="0">
                <a:solidFill>
                  <a:srgbClr val="1C252B"/>
                </a:solidFill>
                <a:latin typeface="Segoe UI"/>
              </a:rPr>
              <a:t>say</a:t>
            </a:r>
            <a:r>
              <a:rPr sz="2100" b="0" i="0">
                <a:solidFill>
                  <a:srgbClr val="1C252B"/>
                </a:solidFill>
                <a:latin typeface="Segoe UI"/>
              </a:rPr>
              <a:t> what each additional nine costs.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9511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178EA18D-0825-49AD-9267-D28D80BBBA02}" type="slidenum">
              <a:rPr lang="en-GB" sz="1000">
                <a:solidFill>
                  <a:srgbClr val="8795A1"/>
                </a:solidFill>
                <a:latin typeface="Segoe UI"/>
              </a:rPr>
              <a:t>4</a:t>
            </a:fld>
          </a:p>
        </p:txBody>
      </p:sp>
      <p:sp>
        <p:nvSpPr>
          <p:cNvPr id="7" name="!!term-live migration">
            <a:extLst>
              <a:ext uri="{C183D7F6-B498-43B3-948B-1728B52AA6E4}">
                <adec:decorative xmlns:adec="http://schemas.microsoft.com/office/drawing/2017/decorative" val="1"/>
              </a:ext>
            </a:extLst>
          </p:cNvPr>
          <p:cNvSpPr/>
          <p:nvPr/>
        </p:nvSpPr>
        <p:spPr>
          <a:xfrm>
            <a:off x="658368" y="1847088"/>
            <a:ext cx="16129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live migrat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live migration"/>
          <p:cNvSpPr txBox="1"/>
          <p:nvPr/>
        </p:nvSpPr>
        <p:spPr>
          <a:xfrm>
            <a:off x="950976" y="1970532"/>
            <a:ext cx="143003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live migration</a:t>
            </a:r>
          </a:p>
        </p:txBody>
      </p:sp>
      <p:sp>
        <p:nvSpPr>
          <p:cNvPr id="10" name="!!term-pre-copy">
            <a:extLst>
              <a:ext uri="{C183D7F6-B498-43B3-948B-1728B52AA6E4}">
                <adec:decorative xmlns:adec="http://schemas.microsoft.com/office/drawing/2017/decorative" val="1"/>
              </a:ext>
            </a:extLst>
          </p:cNvPr>
          <p:cNvSpPr/>
          <p:nvPr/>
        </p:nvSpPr>
        <p:spPr>
          <a:xfrm>
            <a:off x="2417586" y="1847088"/>
            <a:ext cx="12120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re-copy">
            <a:extLst>
              <a:ext uri="{C183D7F6-B498-43B3-948B-1728B52AA6E4}">
                <adec:decorative xmlns:adec="http://schemas.microsoft.com/office/drawing/2017/decorative" val="1"/>
              </a:ext>
            </a:extLst>
          </p:cNvPr>
          <p:cNvSpPr/>
          <p:nvPr/>
        </p:nvSpPr>
        <p:spPr>
          <a:xfrm>
            <a:off x="254560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re-copy"/>
          <p:cNvSpPr txBox="1"/>
          <p:nvPr/>
        </p:nvSpPr>
        <p:spPr>
          <a:xfrm>
            <a:off x="2710194" y="1970532"/>
            <a:ext cx="102915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pre-copy</a:t>
            </a:r>
          </a:p>
        </p:txBody>
      </p:sp>
      <p:sp>
        <p:nvSpPr>
          <p:cNvPr id="13" name="!!term-post-copy">
            <a:extLst>
              <a:ext uri="{C183D7F6-B498-43B3-948B-1728B52AA6E4}">
                <adec:decorative xmlns:adec="http://schemas.microsoft.com/office/drawing/2017/decorative" val="1"/>
              </a:ext>
            </a:extLst>
          </p:cNvPr>
          <p:cNvSpPr/>
          <p:nvPr/>
        </p:nvSpPr>
        <p:spPr>
          <a:xfrm>
            <a:off x="3775922" y="1847088"/>
            <a:ext cx="13047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post-copy">
            <a:extLst>
              <a:ext uri="{C183D7F6-B498-43B3-948B-1728B52AA6E4}">
                <adec:decorative xmlns:adec="http://schemas.microsoft.com/office/drawing/2017/decorative" val="1"/>
              </a:ext>
            </a:extLst>
          </p:cNvPr>
          <p:cNvSpPr/>
          <p:nvPr/>
        </p:nvSpPr>
        <p:spPr>
          <a:xfrm>
            <a:off x="390393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post-copy"/>
          <p:cNvSpPr txBox="1"/>
          <p:nvPr/>
        </p:nvSpPr>
        <p:spPr>
          <a:xfrm>
            <a:off x="4068530" y="1970532"/>
            <a:ext cx="11219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post-copy</a:t>
            </a:r>
          </a:p>
        </p:txBody>
      </p:sp>
      <p:sp>
        <p:nvSpPr>
          <p:cNvPr id="16" name="!!term-dirty page">
            <a:extLst>
              <a:ext uri="{C183D7F6-B498-43B3-948B-1728B52AA6E4}">
                <adec:decorative xmlns:adec="http://schemas.microsoft.com/office/drawing/2017/decorative" val="1"/>
              </a:ext>
            </a:extLst>
          </p:cNvPr>
          <p:cNvSpPr/>
          <p:nvPr/>
        </p:nvSpPr>
        <p:spPr>
          <a:xfrm>
            <a:off x="5227011" y="1847088"/>
            <a:ext cx="13104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dirty page">
            <a:extLst>
              <a:ext uri="{C183D7F6-B498-43B3-948B-1728B52AA6E4}">
                <adec:decorative xmlns:adec="http://schemas.microsoft.com/office/drawing/2017/decorative" val="1"/>
              </a:ext>
            </a:extLst>
          </p:cNvPr>
          <p:cNvSpPr/>
          <p:nvPr/>
        </p:nvSpPr>
        <p:spPr>
          <a:xfrm>
            <a:off x="535502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dirty page"/>
          <p:cNvSpPr txBox="1"/>
          <p:nvPr/>
        </p:nvSpPr>
        <p:spPr>
          <a:xfrm>
            <a:off x="5519619" y="1970532"/>
            <a:ext cx="112756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dirty page</a:t>
            </a:r>
          </a:p>
        </p:txBody>
      </p:sp>
      <p:sp>
        <p:nvSpPr>
          <p:cNvPr id="19" name="!!term-dirty rate">
            <a:extLst>
              <a:ext uri="{C183D7F6-B498-43B3-948B-1728B52AA6E4}">
                <adec:decorative xmlns:adec="http://schemas.microsoft.com/office/drawing/2017/decorative" val="1"/>
              </a:ext>
            </a:extLst>
          </p:cNvPr>
          <p:cNvSpPr/>
          <p:nvPr/>
        </p:nvSpPr>
        <p:spPr>
          <a:xfrm>
            <a:off x="6683756" y="1847088"/>
            <a:ext cx="12152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dirty rate">
            <a:extLst>
              <a:ext uri="{C183D7F6-B498-43B3-948B-1728B52AA6E4}">
                <adec:decorative xmlns:adec="http://schemas.microsoft.com/office/drawing/2017/decorative" val="1"/>
              </a:ext>
            </a:extLst>
          </p:cNvPr>
          <p:cNvSpPr/>
          <p:nvPr/>
        </p:nvSpPr>
        <p:spPr>
          <a:xfrm>
            <a:off x="681177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dirty rate"/>
          <p:cNvSpPr txBox="1"/>
          <p:nvPr/>
        </p:nvSpPr>
        <p:spPr>
          <a:xfrm>
            <a:off x="6976364" y="1970532"/>
            <a:ext cx="10323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dirty rate</a:t>
            </a:r>
          </a:p>
        </p:txBody>
      </p:sp>
      <p:sp>
        <p:nvSpPr>
          <p:cNvPr id="22" name="!!term-convergence">
            <a:extLst>
              <a:ext uri="{C183D7F6-B498-43B3-948B-1728B52AA6E4}">
                <adec:decorative xmlns:adec="http://schemas.microsoft.com/office/drawing/2017/decorative" val="1"/>
              </a:ext>
            </a:extLst>
          </p:cNvPr>
          <p:cNvSpPr/>
          <p:nvPr/>
        </p:nvSpPr>
        <p:spPr>
          <a:xfrm>
            <a:off x="8045304" y="1847088"/>
            <a:ext cx="15322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convergence">
            <a:extLst>
              <a:ext uri="{C183D7F6-B498-43B3-948B-1728B52AA6E4}">
                <adec:decorative xmlns:adec="http://schemas.microsoft.com/office/drawing/2017/decorative" val="1"/>
              </a:ext>
            </a:extLst>
          </p:cNvPr>
          <p:cNvSpPr/>
          <p:nvPr/>
        </p:nvSpPr>
        <p:spPr>
          <a:xfrm>
            <a:off x="817332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convergence"/>
          <p:cNvSpPr txBox="1"/>
          <p:nvPr/>
        </p:nvSpPr>
        <p:spPr>
          <a:xfrm>
            <a:off x="8337912" y="1970532"/>
            <a:ext cx="13493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convergence</a:t>
            </a:r>
          </a:p>
        </p:txBody>
      </p:sp>
      <p:sp>
        <p:nvSpPr>
          <p:cNvPr id="25" name="!!term-switchover">
            <a:extLst>
              <a:ext uri="{C183D7F6-B498-43B3-948B-1728B52AA6E4}">
                <adec:decorative xmlns:adec="http://schemas.microsoft.com/office/drawing/2017/decorative" val="1"/>
              </a:ext>
            </a:extLst>
          </p:cNvPr>
          <p:cNvSpPr/>
          <p:nvPr/>
        </p:nvSpPr>
        <p:spPr>
          <a:xfrm>
            <a:off x="9723845" y="1847088"/>
            <a:ext cx="13505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witchover">
            <a:extLst>
              <a:ext uri="{C183D7F6-B498-43B3-948B-1728B52AA6E4}">
                <adec:decorative xmlns:adec="http://schemas.microsoft.com/office/drawing/2017/decorative" val="1"/>
              </a:ext>
            </a:extLst>
          </p:cNvPr>
          <p:cNvSpPr/>
          <p:nvPr/>
        </p:nvSpPr>
        <p:spPr>
          <a:xfrm>
            <a:off x="985186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witchover"/>
          <p:cNvSpPr txBox="1"/>
          <p:nvPr/>
        </p:nvSpPr>
        <p:spPr>
          <a:xfrm>
            <a:off x="10016453" y="1970532"/>
            <a:ext cx="116767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switchover</a:t>
            </a:r>
          </a:p>
        </p:txBody>
      </p:sp>
      <p:sp>
        <p:nvSpPr>
          <p:cNvPr id="28" name="!!term-stop-and-copy">
            <a:extLst>
              <a:ext uri="{C183D7F6-B498-43B3-948B-1728B52AA6E4}">
                <adec:decorative xmlns:adec="http://schemas.microsoft.com/office/drawing/2017/decorative" val="1"/>
              </a:ext>
            </a:extLst>
          </p:cNvPr>
          <p:cNvSpPr/>
          <p:nvPr/>
        </p:nvSpPr>
        <p:spPr>
          <a:xfrm>
            <a:off x="658368" y="2468880"/>
            <a:ext cx="170598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top-and-copy">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top-and-copy"/>
          <p:cNvSpPr txBox="1"/>
          <p:nvPr/>
        </p:nvSpPr>
        <p:spPr>
          <a:xfrm>
            <a:off x="950976" y="2592324"/>
            <a:ext cx="152310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stop-and-copy</a:t>
            </a:r>
          </a:p>
        </p:txBody>
      </p:sp>
      <p:sp>
        <p:nvSpPr>
          <p:cNvPr id="31" name="!!term-auto-convergen">
            <a:extLst>
              <a:ext uri="{C183D7F6-B498-43B3-948B-1728B52AA6E4}">
                <adec:decorative xmlns:adec="http://schemas.microsoft.com/office/drawing/2017/decorative" val="1"/>
              </a:ext>
            </a:extLst>
          </p:cNvPr>
          <p:cNvSpPr/>
          <p:nvPr/>
        </p:nvSpPr>
        <p:spPr>
          <a:xfrm>
            <a:off x="2510655" y="2468880"/>
            <a:ext cx="19985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auto-convergen">
            <a:extLst>
              <a:ext uri="{C183D7F6-B498-43B3-948B-1728B52AA6E4}">
                <adec:decorative xmlns:adec="http://schemas.microsoft.com/office/drawing/2017/decorative" val="1"/>
              </a:ext>
            </a:extLst>
          </p:cNvPr>
          <p:cNvSpPr/>
          <p:nvPr/>
        </p:nvSpPr>
        <p:spPr>
          <a:xfrm>
            <a:off x="263867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auto-convergen"/>
          <p:cNvSpPr txBox="1"/>
          <p:nvPr/>
        </p:nvSpPr>
        <p:spPr>
          <a:xfrm>
            <a:off x="2803263" y="2592324"/>
            <a:ext cx="181567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auto-convergence</a:t>
            </a:r>
          </a:p>
        </p:txBody>
      </p:sp>
      <p:sp>
        <p:nvSpPr>
          <p:cNvPr id="34" name="!!term-page fault ove">
            <a:extLst>
              <a:ext uri="{C183D7F6-B498-43B3-948B-1728B52AA6E4}">
                <adec:decorative xmlns:adec="http://schemas.microsoft.com/office/drawing/2017/decorative" val="1"/>
              </a:ext>
            </a:extLst>
          </p:cNvPr>
          <p:cNvSpPr/>
          <p:nvPr/>
        </p:nvSpPr>
        <p:spPr>
          <a:xfrm>
            <a:off x="4655515" y="2468880"/>
            <a:ext cx="28133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page fault ove">
            <a:extLst>
              <a:ext uri="{C183D7F6-B498-43B3-948B-1728B52AA6E4}">
                <adec:decorative xmlns:adec="http://schemas.microsoft.com/office/drawing/2017/decorative" val="1"/>
              </a:ext>
            </a:extLst>
          </p:cNvPr>
          <p:cNvSpPr/>
          <p:nvPr/>
        </p:nvSpPr>
        <p:spPr>
          <a:xfrm>
            <a:off x="478353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page fault ove"/>
          <p:cNvSpPr txBox="1"/>
          <p:nvPr/>
        </p:nvSpPr>
        <p:spPr>
          <a:xfrm>
            <a:off x="4948123" y="2592324"/>
            <a:ext cx="263043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page fault over the network</a:t>
            </a:r>
          </a:p>
        </p:txBody>
      </p:sp>
      <p:sp>
        <p:nvSpPr>
          <p:cNvPr id="37" name="!!term-high availabil">
            <a:extLst>
              <a:ext uri="{C183D7F6-B498-43B3-948B-1728B52AA6E4}">
                <adec:decorative xmlns:adec="http://schemas.microsoft.com/office/drawing/2017/decorative" val="1"/>
              </a:ext>
            </a:extLst>
          </p:cNvPr>
          <p:cNvSpPr/>
          <p:nvPr/>
        </p:nvSpPr>
        <p:spPr>
          <a:xfrm>
            <a:off x="7615133" y="2468880"/>
            <a:ext cx="17726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high availabil">
            <a:extLst>
              <a:ext uri="{C183D7F6-B498-43B3-948B-1728B52AA6E4}">
                <adec:decorative xmlns:adec="http://schemas.microsoft.com/office/drawing/2017/decorative" val="1"/>
              </a:ext>
            </a:extLst>
          </p:cNvPr>
          <p:cNvSpPr/>
          <p:nvPr/>
        </p:nvSpPr>
        <p:spPr>
          <a:xfrm>
            <a:off x="774314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high availabil"/>
          <p:cNvSpPr txBox="1"/>
          <p:nvPr/>
        </p:nvSpPr>
        <p:spPr>
          <a:xfrm>
            <a:off x="7907741" y="2592324"/>
            <a:ext cx="158972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high availability</a:t>
            </a:r>
          </a:p>
        </p:txBody>
      </p:sp>
      <p:sp>
        <p:nvSpPr>
          <p:cNvPr id="40" name="!!term-fault toleranc">
            <a:extLst>
              <a:ext uri="{C183D7F6-B498-43B3-948B-1728B52AA6E4}">
                <adec:decorative xmlns:adec="http://schemas.microsoft.com/office/drawing/2017/decorative" val="1"/>
              </a:ext>
            </a:extLst>
          </p:cNvPr>
          <p:cNvSpPr/>
          <p:nvPr/>
        </p:nvSpPr>
        <p:spPr>
          <a:xfrm>
            <a:off x="9534038" y="2468880"/>
            <a:ext cx="167100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fault toleranc">
            <a:extLst>
              <a:ext uri="{C183D7F6-B498-43B3-948B-1728B52AA6E4}">
                <adec:decorative xmlns:adec="http://schemas.microsoft.com/office/drawing/2017/decorative" val="1"/>
              </a:ext>
            </a:extLst>
          </p:cNvPr>
          <p:cNvSpPr/>
          <p:nvPr/>
        </p:nvSpPr>
        <p:spPr>
          <a:xfrm>
            <a:off x="966205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fault toleranc"/>
          <p:cNvSpPr txBox="1"/>
          <p:nvPr/>
        </p:nvSpPr>
        <p:spPr>
          <a:xfrm>
            <a:off x="9826646" y="2592324"/>
            <a:ext cx="148812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fault tolerance</a:t>
            </a:r>
          </a:p>
        </p:txBody>
      </p:sp>
      <p:sp>
        <p:nvSpPr>
          <p:cNvPr id="43" name="!!term-cluster">
            <a:extLst>
              <a:ext uri="{C183D7F6-B498-43B3-948B-1728B52AA6E4}">
                <adec:decorative xmlns:adec="http://schemas.microsoft.com/office/drawing/2017/decorative" val="1"/>
              </a:ext>
            </a:extLst>
          </p:cNvPr>
          <p:cNvSpPr/>
          <p:nvPr/>
        </p:nvSpPr>
        <p:spPr>
          <a:xfrm>
            <a:off x="658368" y="3090672"/>
            <a:ext cx="10031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cluster">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cluster"/>
          <p:cNvSpPr txBox="1"/>
          <p:nvPr/>
        </p:nvSpPr>
        <p:spPr>
          <a:xfrm>
            <a:off x="950976" y="3214116"/>
            <a:ext cx="82028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cluster</a:t>
            </a:r>
          </a:p>
        </p:txBody>
      </p:sp>
      <p:sp>
        <p:nvSpPr>
          <p:cNvPr id="46" name="!!term-quorum">
            <a:extLst>
              <a:ext uri="{C183D7F6-B498-43B3-948B-1728B52AA6E4}">
                <adec:decorative xmlns:adec="http://schemas.microsoft.com/office/drawing/2017/decorative" val="1"/>
              </a:ext>
            </a:extLst>
          </p:cNvPr>
          <p:cNvSpPr/>
          <p:nvPr/>
        </p:nvSpPr>
        <p:spPr>
          <a:xfrm>
            <a:off x="1807835" y="3090672"/>
            <a:ext cx="112210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quorum">
            <a:extLst>
              <a:ext uri="{C183D7F6-B498-43B3-948B-1728B52AA6E4}">
                <adec:decorative xmlns:adec="http://schemas.microsoft.com/office/drawing/2017/decorative" val="1"/>
              </a:ext>
            </a:extLst>
          </p:cNvPr>
          <p:cNvSpPr/>
          <p:nvPr/>
        </p:nvSpPr>
        <p:spPr>
          <a:xfrm>
            <a:off x="193585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quorum"/>
          <p:cNvSpPr txBox="1"/>
          <p:nvPr/>
        </p:nvSpPr>
        <p:spPr>
          <a:xfrm>
            <a:off x="2100443" y="3214116"/>
            <a:ext cx="93922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quorum</a:t>
            </a:r>
          </a:p>
        </p:txBody>
      </p:sp>
      <p:sp>
        <p:nvSpPr>
          <p:cNvPr id="49" name="!!term-split brain">
            <a:extLst>
              <a:ext uri="{C183D7F6-B498-43B3-948B-1728B52AA6E4}">
                <adec:decorative xmlns:adec="http://schemas.microsoft.com/office/drawing/2017/decorative" val="1"/>
              </a:ext>
            </a:extLst>
          </p:cNvPr>
          <p:cNvSpPr/>
          <p:nvPr/>
        </p:nvSpPr>
        <p:spPr>
          <a:xfrm>
            <a:off x="3076245" y="3090672"/>
            <a:ext cx="12864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split brain">
            <a:extLst>
              <a:ext uri="{C183D7F6-B498-43B3-948B-1728B52AA6E4}">
                <adec:decorative xmlns:adec="http://schemas.microsoft.com/office/drawing/2017/decorative" val="1"/>
              </a:ext>
            </a:extLst>
          </p:cNvPr>
          <p:cNvSpPr/>
          <p:nvPr/>
        </p:nvSpPr>
        <p:spPr>
          <a:xfrm>
            <a:off x="320426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split brain"/>
          <p:cNvSpPr txBox="1"/>
          <p:nvPr/>
        </p:nvSpPr>
        <p:spPr>
          <a:xfrm>
            <a:off x="3368853" y="3214116"/>
            <a:ext cx="110361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split brain</a:t>
            </a:r>
          </a:p>
        </p:txBody>
      </p:sp>
      <p:sp>
        <p:nvSpPr>
          <p:cNvPr id="52" name="!!term-fencing">
            <a:extLst>
              <a:ext uri="{C183D7F6-B498-43B3-948B-1728B52AA6E4}">
                <adec:decorative xmlns:adec="http://schemas.microsoft.com/office/drawing/2017/decorative" val="1"/>
              </a:ext>
            </a:extLst>
          </p:cNvPr>
          <p:cNvSpPr/>
          <p:nvPr/>
        </p:nvSpPr>
        <p:spPr>
          <a:xfrm>
            <a:off x="4509042" y="3090672"/>
            <a:ext cx="10725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fencing">
            <a:extLst>
              <a:ext uri="{C183D7F6-B498-43B3-948B-1728B52AA6E4}">
                <adec:decorative xmlns:adec="http://schemas.microsoft.com/office/drawing/2017/decorative" val="1"/>
              </a:ext>
            </a:extLst>
          </p:cNvPr>
          <p:cNvSpPr/>
          <p:nvPr/>
        </p:nvSpPr>
        <p:spPr>
          <a:xfrm>
            <a:off x="463705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fencing"/>
          <p:cNvSpPr txBox="1"/>
          <p:nvPr/>
        </p:nvSpPr>
        <p:spPr>
          <a:xfrm>
            <a:off x="4801650" y="3214116"/>
            <a:ext cx="88967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fencing</a:t>
            </a:r>
          </a:p>
        </p:txBody>
      </p:sp>
      <p:sp>
        <p:nvSpPr>
          <p:cNvPr id="55" name="!!term-STONITH">
            <a:extLst>
              <a:ext uri="{C183D7F6-B498-43B3-948B-1728B52AA6E4}">
                <adec:decorative xmlns:adec="http://schemas.microsoft.com/office/drawing/2017/decorative" val="1"/>
              </a:ext>
            </a:extLst>
          </p:cNvPr>
          <p:cNvSpPr/>
          <p:nvPr/>
        </p:nvSpPr>
        <p:spPr>
          <a:xfrm>
            <a:off x="5727903" y="3090672"/>
            <a:ext cx="12270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STONITH">
            <a:extLst>
              <a:ext uri="{C183D7F6-B498-43B3-948B-1728B52AA6E4}">
                <adec:decorative xmlns:adec="http://schemas.microsoft.com/office/drawing/2017/decorative" val="1"/>
              </a:ext>
            </a:extLst>
          </p:cNvPr>
          <p:cNvSpPr/>
          <p:nvPr/>
        </p:nvSpPr>
        <p:spPr>
          <a:xfrm>
            <a:off x="585591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STONITH"/>
          <p:cNvSpPr txBox="1"/>
          <p:nvPr/>
        </p:nvSpPr>
        <p:spPr>
          <a:xfrm>
            <a:off x="6020511" y="3214116"/>
            <a:ext cx="104421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STONITH</a:t>
            </a:r>
          </a:p>
        </p:txBody>
      </p:sp>
      <p:sp>
        <p:nvSpPr>
          <p:cNvPr id="58" name="!!term-RPO">
            <a:extLst>
              <a:ext uri="{C183D7F6-B498-43B3-948B-1728B52AA6E4}">
                <adec:decorative xmlns:adec="http://schemas.microsoft.com/office/drawing/2017/decorative" val="1"/>
              </a:ext>
            </a:extLst>
          </p:cNvPr>
          <p:cNvSpPr/>
          <p:nvPr/>
        </p:nvSpPr>
        <p:spPr>
          <a:xfrm>
            <a:off x="7101298" y="3090672"/>
            <a:ext cx="8104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RPO">
            <a:extLst>
              <a:ext uri="{C183D7F6-B498-43B3-948B-1728B52AA6E4}">
                <adec:decorative xmlns:adec="http://schemas.microsoft.com/office/drawing/2017/decorative" val="1"/>
              </a:ext>
            </a:extLst>
          </p:cNvPr>
          <p:cNvSpPr/>
          <p:nvPr/>
        </p:nvSpPr>
        <p:spPr>
          <a:xfrm>
            <a:off x="722931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RPO"/>
          <p:cNvSpPr txBox="1"/>
          <p:nvPr/>
        </p:nvSpPr>
        <p:spPr>
          <a:xfrm>
            <a:off x="7393906" y="3214116"/>
            <a:ext cx="62755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RPO</a:t>
            </a:r>
          </a:p>
        </p:txBody>
      </p:sp>
      <p:sp>
        <p:nvSpPr>
          <p:cNvPr id="61" name="!!term-RTO">
            <a:extLst>
              <a:ext uri="{C183D7F6-B498-43B3-948B-1728B52AA6E4}">
                <adec:decorative xmlns:adec="http://schemas.microsoft.com/office/drawing/2017/decorative" val="1"/>
              </a:ext>
            </a:extLst>
          </p:cNvPr>
          <p:cNvSpPr/>
          <p:nvPr/>
        </p:nvSpPr>
        <p:spPr>
          <a:xfrm>
            <a:off x="8058034" y="3090672"/>
            <a:ext cx="8032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RTO">
            <a:extLst>
              <a:ext uri="{C183D7F6-B498-43B3-948B-1728B52AA6E4}">
                <adec:decorative xmlns:adec="http://schemas.microsoft.com/office/drawing/2017/decorative" val="1"/>
              </a:ext>
            </a:extLst>
          </p:cNvPr>
          <p:cNvSpPr/>
          <p:nvPr/>
        </p:nvSpPr>
        <p:spPr>
          <a:xfrm>
            <a:off x="818605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RTO"/>
          <p:cNvSpPr txBox="1"/>
          <p:nvPr/>
        </p:nvSpPr>
        <p:spPr>
          <a:xfrm>
            <a:off x="8350642" y="3214116"/>
            <a:ext cx="62034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RTO</a:t>
            </a:r>
          </a:p>
        </p:txBody>
      </p:sp>
      <p:sp>
        <p:nvSpPr>
          <p:cNvPr id="64" name="!!term-availability">
            <a:extLst>
              <a:ext uri="{C183D7F6-B498-43B3-948B-1728B52AA6E4}">
                <adec:decorative xmlns:adec="http://schemas.microsoft.com/office/drawing/2017/decorative" val="1"/>
              </a:ext>
            </a:extLst>
          </p:cNvPr>
          <p:cNvSpPr/>
          <p:nvPr/>
        </p:nvSpPr>
        <p:spPr>
          <a:xfrm>
            <a:off x="9007560" y="3090672"/>
            <a:ext cx="13379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availability">
            <a:extLst>
              <a:ext uri="{C183D7F6-B498-43B3-948B-1728B52AA6E4}">
                <adec:decorative xmlns:adec="http://schemas.microsoft.com/office/drawing/2017/decorative" val="1"/>
              </a:ext>
            </a:extLst>
          </p:cNvPr>
          <p:cNvSpPr/>
          <p:nvPr/>
        </p:nvSpPr>
        <p:spPr>
          <a:xfrm>
            <a:off x="913557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availability"/>
          <p:cNvSpPr txBox="1"/>
          <p:nvPr/>
        </p:nvSpPr>
        <p:spPr>
          <a:xfrm>
            <a:off x="9300168" y="3214116"/>
            <a:ext cx="11550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availability</a:t>
            </a:r>
          </a:p>
        </p:txBody>
      </p:sp>
      <p:sp>
        <p:nvSpPr>
          <p:cNvPr id="67" name="!!term-nines">
            <a:extLst>
              <a:ext uri="{C183D7F6-B498-43B3-948B-1728B52AA6E4}">
                <adec:decorative xmlns:adec="http://schemas.microsoft.com/office/drawing/2017/decorative" val="1"/>
              </a:ext>
            </a:extLst>
          </p:cNvPr>
          <p:cNvSpPr/>
          <p:nvPr/>
        </p:nvSpPr>
        <p:spPr>
          <a:xfrm>
            <a:off x="10491794" y="3090672"/>
            <a:ext cx="88990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nines">
            <a:extLst>
              <a:ext uri="{C183D7F6-B498-43B3-948B-1728B52AA6E4}">
                <adec:decorative xmlns:adec="http://schemas.microsoft.com/office/drawing/2017/decorative" val="1"/>
              </a:ext>
            </a:extLst>
          </p:cNvPr>
          <p:cNvSpPr/>
          <p:nvPr/>
        </p:nvSpPr>
        <p:spPr>
          <a:xfrm>
            <a:off x="1061981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nines"/>
          <p:cNvSpPr txBox="1"/>
          <p:nvPr/>
        </p:nvSpPr>
        <p:spPr>
          <a:xfrm>
            <a:off x="10784402" y="3214116"/>
            <a:ext cx="70702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nines</a:t>
            </a:r>
          </a:p>
        </p:txBody>
      </p:sp>
      <p:sp>
        <p:nvSpPr>
          <p:cNvPr id="70" name="!!term-3-2-1 rule">
            <a:extLst>
              <a:ext uri="{C183D7F6-B498-43B3-948B-1728B52AA6E4}">
                <adec:decorative xmlns:adec="http://schemas.microsoft.com/office/drawing/2017/decorative" val="1"/>
              </a:ext>
            </a:extLst>
          </p:cNvPr>
          <p:cNvSpPr/>
          <p:nvPr/>
        </p:nvSpPr>
        <p:spPr>
          <a:xfrm>
            <a:off x="658368" y="3712464"/>
            <a:ext cx="12880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termd-3-2-1 rule">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termt-3-2-1 rule"/>
          <p:cNvSpPr txBox="1"/>
          <p:nvPr/>
        </p:nvSpPr>
        <p:spPr>
          <a:xfrm>
            <a:off x="950976" y="3835908"/>
            <a:ext cx="110516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3-2-1 rule</a:t>
            </a:r>
          </a:p>
        </p:txBody>
      </p:sp>
      <p:sp>
        <p:nvSpPr>
          <p:cNvPr id="73" name="!!term-immutable back">
            <a:extLst>
              <a:ext uri="{C183D7F6-B498-43B3-948B-1728B52AA6E4}">
                <adec:decorative xmlns:adec="http://schemas.microsoft.com/office/drawing/2017/decorative" val="1"/>
              </a:ext>
            </a:extLst>
          </p:cNvPr>
          <p:cNvSpPr/>
          <p:nvPr/>
        </p:nvSpPr>
        <p:spPr>
          <a:xfrm>
            <a:off x="2092718" y="3712464"/>
            <a:ext cx="20351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termd-immutable back">
            <a:extLst>
              <a:ext uri="{C183D7F6-B498-43B3-948B-1728B52AA6E4}">
                <adec:decorative xmlns:adec="http://schemas.microsoft.com/office/drawing/2017/decorative" val="1"/>
              </a:ext>
            </a:extLst>
          </p:cNvPr>
          <p:cNvSpPr/>
          <p:nvPr/>
        </p:nvSpPr>
        <p:spPr>
          <a:xfrm>
            <a:off x="222073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termt-immutable back"/>
          <p:cNvSpPr txBox="1"/>
          <p:nvPr/>
        </p:nvSpPr>
        <p:spPr>
          <a:xfrm>
            <a:off x="2385326" y="3835908"/>
            <a:ext cx="18522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immutable backup</a:t>
            </a:r>
          </a:p>
        </p:txBody>
      </p:sp>
      <p:sp>
        <p:nvSpPr>
          <p:cNvPr id="76"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pfill">
            <a:extLst>
              <a:ext uri="{C183D7F6-B498-43B3-948B-1728B52AA6E4}">
                <adec:decorative xmlns:adec="http://schemas.microsoft.com/office/drawing/2017/decorative" val="1"/>
              </a:ext>
            </a:extLst>
          </p:cNvPr>
          <p:cNvSpPr/>
          <p:nvPr/>
        </p:nvSpPr>
        <p:spPr>
          <a:xfrm>
            <a:off x="0" y="0"/>
            <a:ext cx="10601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133–140     </a:t>
            </a:r>
            <a:fld id="{F552E51F-D4FB-4057-836B-EBEAC9FCC3A0}" type="slidenum">
              <a:rPr lang="en-GB" sz="1000">
                <a:solidFill>
                  <a:srgbClr val="8795A1"/>
                </a:solidFill>
                <a:latin typeface="Segoe UI"/>
              </a:rPr>
              <a:t>5</a:t>
            </a:fld>
          </a:p>
        </p:txBody>
      </p:sp>
      <p:sp>
        <p:nvSpPr>
          <p:cNvPr id="7" name="!!ag0" descr="Go to section 17.1 Moving a Running Machin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17.1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Moving a Running Machine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133  ›</a:t>
            </a:r>
          </a:p>
        </p:txBody>
      </p:sp>
      <p:sp>
        <p:nvSpPr>
          <p:cNvPr id="12" name="!!ag1" descr="Go to section 17.2 High Availability, Fault Tolerance and Quorum">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17.2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High Availability, Fault Tolerance and Quorum</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135  ›</a:t>
            </a:r>
          </a:p>
        </p:txBody>
      </p:sp>
      <p:sp>
        <p:nvSpPr>
          <p:cNvPr id="17" name="!!ag2" descr="Go to section 17.3 RPO, RTO and the Cost of a Nine">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17.3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RPO, RTO and the Cost of a Nine</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136  ›</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3251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Moving a Running Machine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1 OF 3</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17.1   Moving a Running Machine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17.2   High Availability, Fault Tolerance and Quorum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17.3   RPO, RTO and the Cost of a Nine</a:t>
            </a:r>
          </a:p>
        </p:txBody>
      </p:sp>
      <p:sp>
        <p:nvSpPr>
          <p:cNvPr id="9"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a:t>
            </a:r>
          </a:p>
        </p:txBody>
      </p:sp>
      <p:sp>
        <p:nvSpPr>
          <p:cNvPr id="10"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§17.1     </a:t>
            </a:r>
            <a:fld id="{C6DFCEEB-BB9F-486C-AEB5-AE77E5B19CD1}" type="slidenum">
              <a:rPr lang="en-GB" sz="1000">
                <a:solidFill>
                  <a:srgbClr val="8795A1"/>
                </a:solidFill>
                <a:latin typeface="Segoe UI"/>
              </a:rPr>
              <a:t>6</a:t>
            </a:fld>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59022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Pre-Copy Live Migration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133     </a:t>
            </a:r>
            <a:fld id="{980F741D-B11F-499D-A723-DACB7E751001}"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52011"/>
          </a:xfrm>
          <a:prstGeom prst="roundRect">
            <a:avLst>
              <a:gd name="adj" fmla="val 220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5201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standard algorithm, used by every platform in Chapter 5:</a:t>
            </a:r>
          </a:p>
        </p:txBody>
      </p:sp>
      <p:sp>
        <p:nvSpPr>
          <p:cNvPr id="10" name="body-1"/>
          <p:cNvSpPr txBox="1"/>
          <p:nvPr/>
        </p:nvSpPr>
        <p:spPr>
          <a:xfrm>
            <a:off x="1060704" y="2482113"/>
            <a:ext cx="10161727" cy="2407081"/>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8A4500"/>
                </a:solidFill>
                <a:latin typeface="Segoe UI"/>
              </a:rPr>
              <a:t>•	</a:t>
            </a:r>
            <a:r>
              <a:rPr sz="1900" b="1" i="0">
                <a:solidFill>
                  <a:srgbClr val="8A4500"/>
                </a:solidFill>
                <a:latin typeface="Segoe UI"/>
              </a:rPr>
              <a:t>Round 0.</a:t>
            </a:r>
            <a:r>
              <a:rPr sz="1900" b="0" i="0">
                <a:solidFill>
                  <a:srgbClr val="1C252B"/>
                </a:solidFill>
                <a:latin typeface="Segoe UI"/>
              </a:rPr>
              <a:t> Copy all of the guest’s memory to the destination while it keeps running. Track which pages are written during the copy — these are </a:t>
            </a:r>
            <a:r>
              <a:rPr sz="1900" b="1" i="0">
                <a:solidFill>
                  <a:srgbClr val="1A5276"/>
                </a:solidFill>
                <a:latin typeface="Segoe UI"/>
              </a:rPr>
              <a:t>dirty pages</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8A4500"/>
                </a:solidFill>
                <a:latin typeface="Segoe UI"/>
              </a:rPr>
              <a:t>•	</a:t>
            </a:r>
            <a:r>
              <a:rPr sz="1900" b="1" i="0">
                <a:solidFill>
                  <a:srgbClr val="8A4500"/>
                </a:solidFill>
                <a:latin typeface="Segoe UI"/>
              </a:rPr>
              <a:t>Round </a:t>
            </a:r>
            <a:r>
              <a:rPr sz="1900" b="1" i="1">
                <a:solidFill>
                  <a:srgbClr val="1C252B"/>
                </a:solidFill>
                <a:latin typeface="Cambria"/>
              </a:rPr>
              <a:t>n</a:t>
            </a:r>
            <a:r>
              <a:rPr sz="1900" b="1" i="0">
                <a:solidFill>
                  <a:srgbClr val="1C252B"/>
                </a:solidFill>
                <a:latin typeface="Segoe UI"/>
              </a:rPr>
              <a:t>.</a:t>
            </a:r>
            <a:r>
              <a:rPr sz="1900" b="0" i="0">
                <a:solidFill>
                  <a:srgbClr val="1C252B"/>
                </a:solidFill>
                <a:latin typeface="Segoe UI"/>
              </a:rPr>
              <a:t> Copy the pages dirtied during round </a:t>
            </a:r>
            <a:r>
              <a:rPr sz="1900" b="0" i="1">
                <a:solidFill>
                  <a:srgbClr val="1C252B"/>
                </a:solidFill>
                <a:latin typeface="Cambria"/>
              </a:rPr>
              <a:t>n</a:t>
            </a:r>
            <a:r>
              <a:rPr sz="1900" b="0" i="0">
                <a:solidFill>
                  <a:srgbClr val="1C252B"/>
                </a:solidFill>
                <a:latin typeface="Cambria"/>
              </a:rPr>
              <a:t>−1</a:t>
            </a:r>
            <a:r>
              <a:rPr sz="1900" b="0" i="0">
                <a:solidFill>
                  <a:srgbClr val="1C252B"/>
                </a:solidFill>
                <a:latin typeface="Segoe UI"/>
              </a:rPr>
              <a:t>. The guest is still running, so this dirties more.</a:t>
            </a:r>
          </a:p>
          <a:p>
            <a:pPr algn="l" marL="212450" indent="-212450">
              <a:lnSpc>
                <a:spcPct val="104000"/>
              </a:lnSpc>
              <a:spcBef>
                <a:spcPts val="0"/>
              </a:spcBef>
              <a:spcAft>
                <a:spcPts val="665"/>
              </a:spcAft>
            </a:pPr>
            <a:r>
              <a:rPr sz="1900" b="1">
                <a:solidFill>
                  <a:srgbClr val="8A4500"/>
                </a:solidFill>
                <a:latin typeface="Segoe UI"/>
              </a:rPr>
              <a:t>•	</a:t>
            </a:r>
            <a:r>
              <a:rPr sz="1900" b="1" i="0">
                <a:solidFill>
                  <a:srgbClr val="8A4500"/>
                </a:solidFill>
                <a:latin typeface="Segoe UI"/>
              </a:rPr>
              <a:t>Repeat</a:t>
            </a:r>
            <a:r>
              <a:rPr sz="1900" b="0" i="0">
                <a:solidFill>
                  <a:srgbClr val="1C252B"/>
                </a:solidFill>
                <a:latin typeface="Segoe UI"/>
              </a:rPr>
              <a:t> until the remaining dirty set is small enough to copy within the acceptable pause.</a:t>
            </a:r>
          </a:p>
          <a:p>
            <a:pPr algn="l" marL="212450" indent="-212450">
              <a:lnSpc>
                <a:spcPct val="104000"/>
              </a:lnSpc>
              <a:spcBef>
                <a:spcPts val="0"/>
              </a:spcBef>
              <a:spcAft>
                <a:spcPts val="0"/>
              </a:spcAft>
            </a:pPr>
            <a:r>
              <a:rPr sz="1900" b="1">
                <a:solidFill>
                  <a:srgbClr val="8A4500"/>
                </a:solidFill>
                <a:latin typeface="Segoe UI"/>
              </a:rPr>
              <a:t>•	</a:t>
            </a:r>
            <a:r>
              <a:rPr sz="1900" b="1" i="0">
                <a:solidFill>
                  <a:srgbClr val="8A4500"/>
                </a:solidFill>
                <a:latin typeface="Segoe UI"/>
              </a:rPr>
              <a:t>Switchover.</a:t>
            </a:r>
            <a:r>
              <a:rPr sz="1900" b="0" i="0">
                <a:solidFill>
                  <a:srgbClr val="1C252B"/>
                </a:solidFill>
                <a:latin typeface="Segoe UI"/>
              </a:rPr>
              <a:t> Pause the guest, copy the last few pages and the processor state, and resume it on the destination. Typically tens of milliseconds.</a:t>
            </a:r>
          </a:p>
        </p:txBody>
      </p:sp>
      <p:sp>
        <p:nvSpPr>
          <p:cNvPr id="11" name="body-2"/>
          <p:cNvSpPr txBox="1"/>
          <p:nvPr/>
        </p:nvSpPr>
        <p:spPr>
          <a:xfrm>
            <a:off x="1060704" y="4976190"/>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Each round copies less than the one before, </a:t>
            </a:r>
            <a:r>
              <a:rPr sz="1900" b="0" i="1">
                <a:solidFill>
                  <a:srgbClr val="1C252B"/>
                </a:solidFill>
                <a:latin typeface="Segoe UI"/>
              </a:rPr>
              <a:t>provided</a:t>
            </a:r>
            <a:r>
              <a:rPr sz="1900" b="0" i="0">
                <a:solidFill>
                  <a:srgbClr val="1C252B"/>
                </a:solidFill>
                <a:latin typeface="Segoe UI"/>
              </a:rPr>
              <a:t> the guest dirties memory more slowly than the network transfers it. That proviso is the whole engineering problem.</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85525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Pre-copy migration, drawn to scale for the worked example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17.1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133     </a:t>
            </a:r>
            <a:fld id="{33970D39-334B-4862-887B-0DC1B30307C4}" type="slidenum">
              <a:rPr lang="en-GB" sz="1000">
                <a:solidFill>
                  <a:srgbClr val="8795A1"/>
                </a:solidFill>
                <a:latin typeface="Segoe UI"/>
              </a:rPr>
              <a:t>8</a:t>
            </a:fld>
          </a:p>
        </p:txBody>
      </p:sp>
      <p:pic>
        <p:nvPicPr>
          <p:cNvPr id="6" name="!!figure" descr="Figure 17.1. Pre-copy migration, drawn to scale for the worked example. The upper case finishes in 20 seconds with a 50 ms pause; the lower one never finishes at al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21689" y="1737360"/>
            <a:ext cx="934831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upper case finishes in 20 seconds with a 50 ms pause; the lower one never finishes at all.</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12029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Will This Guest Migrate?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133     </a:t>
            </a:r>
            <a:fld id="{F54C63E1-7364-4DEE-A01E-537F8ED4B659}"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37196"/>
          </a:xfrm>
          <a:prstGeom prst="roundRect">
            <a:avLst>
              <a:gd name="adj" fmla="val 20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371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16 GB guest is to be migrated over a 10 Gb/s link. Measured: the link sustains about 1 GB/s after overheads, and the guest dirties memory at 200 MB/s.</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the convergence condition.</a:t>
            </a:r>
          </a:p>
        </p:txBody>
      </p:sp>
      <p:pic>
        <p:nvPicPr>
          <p:cNvPr id="11" name="body-2" descr="\text{dirty rate } 200 \text{ MB/s} \;&lt;\; \text{transfer rate } 1{,}000 \text{ MB/s} \quad \checkmark"/>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180537"/>
            <a:ext cx="10234879" cy="324520"/>
          </a:xfrm>
          <a:prstGeom prst="rect">
            <a:avLst/>
          </a:prstGeom>
        </p:spPr>
      </p:pic>
      <p:sp>
        <p:nvSpPr>
          <p:cNvPr id="12" name="body-3"/>
          <p:cNvSpPr txBox="1"/>
          <p:nvPr/>
        </p:nvSpPr>
        <p:spPr>
          <a:xfrm>
            <a:off x="1042416" y="363777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Each round will be </a:t>
            </a:r>
            <a:r>
              <a:rPr sz="1900" b="0" i="0">
                <a:solidFill>
                  <a:srgbClr val="1C252B"/>
                </a:solidFill>
                <a:latin typeface="Cambria"/>
              </a:rPr>
              <a:t>200/1000 = 0.2</a:t>
            </a:r>
            <a:r>
              <a:rPr sz="1900" b="0" i="0">
                <a:solidFill>
                  <a:srgbClr val="1C252B"/>
                </a:solidFill>
                <a:latin typeface="Segoe UI"/>
              </a:rPr>
              <a:t> of the one before.</a:t>
            </a:r>
          </a:p>
        </p:txBody>
      </p:sp>
      <p:sp>
        <p:nvSpPr>
          <p:cNvPr id="13" name="body-4"/>
          <p:cNvSpPr txBox="1"/>
          <p:nvPr/>
        </p:nvSpPr>
        <p:spPr>
          <a:xfrm>
            <a:off x="1042416" y="4071630"/>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round by round.</a:t>
            </a:r>
          </a:p>
        </p:txBody>
      </p:sp>
      <p:sp>
        <p:nvSpPr>
          <p:cNvPr id="14" name="body-4bar">
            <a:extLst>
              <a:ext uri="{C183D7F6-B498-43B3-948B-1728B52AA6E4}">
                <adec:decorative xmlns:adec="http://schemas.microsoft.com/office/drawing/2017/decorative" val="1"/>
              </a:ext>
            </a:extLst>
          </p:cNvPr>
          <p:cNvSpPr/>
          <p:nvPr/>
        </p:nvSpPr>
        <p:spPr>
          <a:xfrm>
            <a:off x="841248" y="4089918"/>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 name="body-5" descr="\text{round 0: } \frac{16{,}000}{1{,}000} = 16.0 \text{ s}, \text{ dirtying } 16.0 \times 200 = 3{,}200 \text{ M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505487"/>
            <a:ext cx="10234879" cy="580278"/>
          </a:xfrm>
          <a:prstGeom prst="rect">
            <a:avLst/>
          </a:prstGeom>
        </p:spPr>
      </p:pic>
      <p:pic>
        <p:nvPicPr>
          <p:cNvPr id="16" name="body-6" descr="\text{round 1: } 3.2 \text{ s, dirtying } 640 \text{ MB} \qquad \text{round 2: } 0.64 \text{ s, dirtying } 128 \text{ MB}"/>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5218480"/>
            <a:ext cx="10234879" cy="324520"/>
          </a:xfrm>
          <a:prstGeom prst="rect">
            <a:avLst/>
          </a:prstGeom>
        </p:spPr>
      </p:pic>
      <p:pic>
        <p:nvPicPr>
          <p:cNvPr id="17" name="body-7" descr="\text{round 3: } 0.13 \text{ s, dirtying } 26 \text{ MB} \qquad \text{round 4: } 0.026 \text{ s, dirtying } 5 \text{ MB}"/>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2416" y="5675716"/>
            <a:ext cx="10234879" cy="324520"/>
          </a:xfrm>
          <a:prstGeom prst="rect">
            <a:avLst/>
          </a:prstGeom>
        </p:spPr>
      </p:pic>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238533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right)">
                                      <p:cBhvr>
                                        <p:cTn id="31" dur="42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right)">
                                      <p:cBhvr>
                                        <p:cTn id="41"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Will This Guest Migrate?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133     </a:t>
            </a:r>
            <a:fld id="{906ADC32-7837-42F4-9F2D-7F32BDB245C8}"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81439"/>
          </a:xfrm>
          <a:prstGeom prst="roundRect">
            <a:avLst>
              <a:gd name="adj" fmla="val 213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814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when to stop.</a:t>
            </a:r>
            <a:r>
              <a:rPr sz="1900" b="0" i="0">
                <a:solidFill>
                  <a:srgbClr val="1C252B"/>
                </a:solidFill>
                <a:latin typeface="Segoe UI"/>
              </a:rPr>
              <a:t> With a 50 ms pause budget the switchover can move </a:t>
            </a:r>
            <a:r>
              <a:rPr sz="1900" b="0" i="0">
                <a:solidFill>
                  <a:srgbClr val="1C252B"/>
                </a:solidFill>
                <a:latin typeface="Cambria"/>
              </a:rPr>
              <a:t>0.05 × 1,000 = 50</a:t>
            </a:r>
            <a:r>
              <a:rPr sz="1900" b="0" i="0">
                <a:solidFill>
                  <a:srgbClr val="1C252B"/>
                </a:solidFill>
                <a:latin typeface="Segoe UI"/>
              </a:rPr>
              <a:t> MB. Round 4 leaves 5 MB, comfortably under it, so the hypervisor stops after round 4.</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totals.</a:t>
            </a:r>
          </a:p>
        </p:txBody>
      </p:sp>
      <p:sp>
        <p:nvSpPr>
          <p:cNvPr id="12" name="body-1bar">
            <a:extLst>
              <a:ext uri="{C183D7F6-B498-43B3-948B-1728B52AA6E4}">
                <adec:decorative xmlns:adec="http://schemas.microsoft.com/office/drawing/2017/decorative" val="1"/>
              </a:ext>
            </a:extLst>
          </p:cNvPr>
          <p:cNvSpPr/>
          <p:nvPr/>
        </p:nvSpPr>
        <p:spPr>
          <a:xfrm>
            <a:off x="841248" y="2764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 name="body-2" descr="\text{elapsed} = 16.0 + 3.2 + 0.64 + 0.13 + 0.026 \approx \mathbf{20 \text{ 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180537"/>
            <a:ext cx="10234879" cy="324520"/>
          </a:xfrm>
          <a:prstGeom prst="rect">
            <a:avLst/>
          </a:prstGeom>
        </p:spPr>
      </p:pic>
      <p:pic>
        <p:nvPicPr>
          <p:cNvPr id="14" name="body-3" descr="\text{transferred} = 16{,}000 + 3{,}200 + 640 + 128 + 26 \approx 20 \text{ G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637772"/>
            <a:ext cx="10234879" cy="324520"/>
          </a:xfrm>
          <a:prstGeom prst="rect">
            <a:avLst/>
          </a:prstGeom>
        </p:spPr>
      </p:pic>
      <p:pic>
        <p:nvPicPr>
          <p:cNvPr id="15" name="body-4" descr="\text{guest paused} = \mathbf{\approx 50 \text{ m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4095008"/>
            <a:ext cx="10234879" cy="324520"/>
          </a:xfrm>
          <a:prstGeom prst="rect">
            <a:avLst/>
          </a:prstGeom>
        </p:spPr>
      </p:pic>
      <p:sp>
        <p:nvSpPr>
          <p:cNvPr id="16" name="body-5"/>
          <p:cNvSpPr txBox="1"/>
          <p:nvPr/>
        </p:nvSpPr>
        <p:spPr>
          <a:xfrm>
            <a:off x="1042416" y="4552243"/>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TCP connection does not notice 50 ms. Neither does a user.</a:t>
            </a:r>
          </a:p>
        </p:txBody>
      </p:sp>
      <p:sp>
        <p:nvSpPr>
          <p:cNvPr id="17" name="body-6"/>
          <p:cNvSpPr txBox="1"/>
          <p:nvPr/>
        </p:nvSpPr>
        <p:spPr>
          <a:xfrm>
            <a:off x="1042416" y="498610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now a busy database on the same link.</a:t>
            </a:r>
            <a:r>
              <a:rPr sz="1900" b="0" i="0">
                <a:solidFill>
                  <a:srgbClr val="1C252B"/>
                </a:solidFill>
                <a:latin typeface="Segoe UI"/>
              </a:rPr>
              <a:t> Same 16 GB, but dirtying at 1.2 GB/s:</a:t>
            </a:r>
          </a:p>
        </p:txBody>
      </p:sp>
      <p:sp>
        <p:nvSpPr>
          <p:cNvPr id="18" name="body-6bar">
            <a:extLst>
              <a:ext uri="{C183D7F6-B498-43B3-948B-1728B52AA6E4}">
                <adec:decorative xmlns:adec="http://schemas.microsoft.com/office/drawing/2017/decorative" val="1"/>
              </a:ext>
            </a:extLst>
          </p:cNvPr>
          <p:cNvSpPr/>
          <p:nvPr/>
        </p:nvSpPr>
        <p:spPr>
          <a:xfrm>
            <a:off x="841248" y="5004389"/>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9" name="body-7" descr="1{,}200 &gt; 1{,}000 \quad \time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2416" y="5419958"/>
            <a:ext cx="10234879" cy="324520"/>
          </a:xfrm>
          <a:prstGeom prst="rect">
            <a:avLst/>
          </a:prstGeom>
        </p:spPr>
      </p:pic>
      <p:sp>
        <p:nvSpPr>
          <p:cNvPr id="5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pfill">
            <a:extLst>
              <a:ext uri="{C183D7F6-B498-43B3-948B-1728B52AA6E4}">
                <adec:decorative xmlns:adec="http://schemas.microsoft.com/office/drawing/2017/decorative" val="1"/>
              </a:ext>
            </a:extLst>
          </p:cNvPr>
          <p:cNvSpPr/>
          <p:nvPr/>
        </p:nvSpPr>
        <p:spPr>
          <a:xfrm>
            <a:off x="0" y="0"/>
            <a:ext cx="265036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right)">
                                      <p:cBhvr>
                                        <p:cTn id="24" dur="42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right)">
                                      <p:cBhvr>
                                        <p:cTn id="29" dur="42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42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42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right)">
                                      <p:cBhvr>
                                        <p:cTn id="44" dur="42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2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right)">
                                      <p:cBhvr>
                                        <p:cTn id="52" dur="4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Will This Guest Migrate?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133     </a:t>
            </a:r>
            <a:fld id="{FA82141D-A5F4-46E1-A04E-8259752FA76C}"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3261"/>
          </a:xfrm>
          <a:prstGeom prst="roundRect">
            <a:avLst>
              <a:gd name="adj" fmla="val 247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326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Round 0 takes 16 s and dirties 19.2 GB — </a:t>
            </a:r>
            <a:r>
              <a:rPr sz="1900" b="0" i="1">
                <a:solidFill>
                  <a:srgbClr val="1C252B"/>
                </a:solidFill>
                <a:latin typeface="Segoe UI"/>
              </a:rPr>
              <a:t>more than the guest has</a:t>
            </a:r>
            <a:r>
              <a:rPr sz="1900" b="0" i="0">
                <a:solidFill>
                  <a:srgbClr val="1C252B"/>
                </a:solidFill>
                <a:latin typeface="Segoe UI"/>
              </a:rPr>
              <a:t>. Round 1 is larger than round 0. The migration runs for ever, consuming the link the whole time.</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6 — three ways out.</a:t>
            </a:r>
          </a:p>
        </p:txBody>
      </p:sp>
      <p:sp>
        <p:nvSpPr>
          <p:cNvPr id="11" name="body-1bar">
            <a:extLst>
              <a:ext uri="{C183D7F6-B498-43B3-948B-1728B52AA6E4}">
                <adec:decorative xmlns:adec="http://schemas.microsoft.com/office/drawing/2017/decorative" val="1"/>
              </a:ext>
            </a:extLst>
          </p:cNvPr>
          <p:cNvSpPr/>
          <p:nvPr/>
        </p:nvSpPr>
        <p:spPr>
          <a:xfrm>
            <a:off x="841248" y="2764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3180537"/>
            <a:ext cx="10234879" cy="202148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A faster link.</a:t>
            </a:r>
            <a:r>
              <a:rPr sz="1900" b="0" i="0">
                <a:solidFill>
                  <a:srgbClr val="1C252B"/>
                </a:solidFill>
                <a:latin typeface="Segoe UI"/>
              </a:rPr>
              <a:t> At 25 Gb/s the transfer rate is about 2.5 GB/s and </a:t>
            </a:r>
            <a:r>
              <a:rPr sz="1900" b="0" i="0">
                <a:solidFill>
                  <a:srgbClr val="1C252B"/>
                </a:solidFill>
                <a:latin typeface="Cambria"/>
              </a:rPr>
              <a:t>1.2 &lt; 2.5</a:t>
            </a:r>
            <a:r>
              <a:rPr sz="1900" b="0" i="0">
                <a:solidFill>
                  <a:srgbClr val="1C252B"/>
                </a:solidFill>
                <a:latin typeface="Segoe UI"/>
              </a:rPr>
              <a:t> converges. This is why migration networks are separate and fast.</a:t>
            </a:r>
          </a:p>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Auto-convergence.</a:t>
            </a:r>
            <a:r>
              <a:rPr sz="1900" b="0" i="0">
                <a:solidFill>
                  <a:srgbClr val="1C252B"/>
                </a:solidFill>
                <a:latin typeface="Segoe UI"/>
              </a:rPr>
              <a:t> The hypervisor deliberately throttles the guest’s vCPUs — 10%, then 20%, and so on — which reduces the dirty rate until the condition holds. The guest is slowed on purpose to let it move.</a:t>
            </a:r>
          </a:p>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Post-copy.</a:t>
            </a:r>
            <a:r>
              <a:rPr sz="1900" b="0" i="0">
                <a:solidFill>
                  <a:srgbClr val="1C252B"/>
                </a:solidFill>
                <a:latin typeface="Segoe UI"/>
              </a:rPr>
              <a:t> Switch over </a:t>
            </a:r>
            <a:r>
              <a:rPr sz="1900" b="0" i="1">
                <a:solidFill>
                  <a:srgbClr val="1C252B"/>
                </a:solidFill>
                <a:latin typeface="Segoe UI"/>
              </a:rPr>
              <a:t>first</a:t>
            </a:r>
            <a:r>
              <a:rPr sz="1900" b="0" i="0">
                <a:solidFill>
                  <a:srgbClr val="1C252B"/>
                </a:solidFill>
                <a:latin typeface="Segoe UI"/>
              </a:rPr>
              <a:t>, then fetch pages on demand. See below.</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291540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animEffect transition="in" filter="fade">
                                      <p:cBhvr>
                                        <p:cTn id="21" dur="350"/>
                                        <p:tgtEl>
                                          <p:spTgt spid="1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xEl>
                                              <p:pRg st="1" end="1"/>
                                            </p:txEl>
                                          </p:spTgt>
                                        </p:tgtEl>
                                        <p:attrNameLst>
                                          <p:attrName>style.visibility</p:attrName>
                                        </p:attrNameLst>
                                      </p:cBhvr>
                                      <p:to>
                                        <p:strVal val="visible"/>
                                      </p:to>
                                    </p:set>
                                    <p:animEffect transition="in" filter="fade">
                                      <p:cBhvr>
                                        <p:cTn id="26" dur="350"/>
                                        <p:tgtEl>
                                          <p:spTgt spid="12">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animEffect transition="in" filter="fade">
                                      <p:cBhvr>
                                        <p:cTn id="31" dur="35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Will This Guest Migrate?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133     </a:t>
            </a:r>
            <a:fld id="{40D52B4D-6D9E-452B-8BB9-DBA16C9ABA21}"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7 — what to take away.</a:t>
            </a:r>
            <a:r>
              <a:rPr sz="1900" b="0" i="0">
                <a:solidFill>
                  <a:srgbClr val="1C252B"/>
                </a:solidFill>
                <a:latin typeface="Segoe UI"/>
              </a:rPr>
              <a:t> Migration time is governed by memory size; migration </a:t>
            </a:r>
            <a:r>
              <a:rPr sz="1900" b="0" i="1">
                <a:solidFill>
                  <a:srgbClr val="1C252B"/>
                </a:solidFill>
                <a:latin typeface="Segoe UI"/>
              </a:rPr>
              <a:t>success</a:t>
            </a:r>
            <a:r>
              <a:rPr sz="1900" b="0" i="0">
                <a:solidFill>
                  <a:srgbClr val="1C252B"/>
                </a:solidFill>
                <a:latin typeface="Segoe UI"/>
              </a:rPr>
              <a:t> is governed by the ratio of dirty rate to link speed. A guest that will not migrate is nearly always a write-heavy one on a link that is too slow, and the fix is usually the network, not the guest.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18044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Post-Copy: the Opposite Risk</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133     </a:t>
            </a:r>
            <a:fld id="{949302AF-E882-4520-9818-3B4151D6DA03}"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2495"/>
          </a:xfrm>
          <a:prstGeom prst="roundRect">
            <a:avLst>
              <a:gd name="adj" fmla="val 2067"/>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249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Post-copy inverts the order. The guest is paused almost immediately, its processor state is sent, and it </a:t>
            </a:r>
            <a:r>
              <a:rPr sz="1800" b="0" i="1">
                <a:solidFill>
                  <a:srgbClr val="1C252B"/>
                </a:solidFill>
                <a:latin typeface="Segoe UI"/>
              </a:rPr>
              <a:t>resumes on the destination</a:t>
            </a:r>
            <a:r>
              <a:rPr sz="1800" b="0" i="0">
                <a:solidFill>
                  <a:srgbClr val="1C252B"/>
                </a:solidFill>
                <a:latin typeface="Segoe UI"/>
              </a:rPr>
              <a:t> with almost no memory. Pages are fetched from the source as the guest faults on them, over the network.</a:t>
            </a:r>
          </a:p>
        </p:txBody>
      </p:sp>
      <p:sp>
        <p:nvSpPr>
          <p:cNvPr id="10" name="body-1"/>
          <p:cNvSpPr txBox="1"/>
          <p:nvPr/>
        </p:nvSpPr>
        <p:spPr>
          <a:xfrm>
            <a:off x="1060704" y="3029864"/>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618D"/>
                </a:solidFill>
                <a:latin typeface="Segoe UI"/>
              </a:rPr>
              <a:t>For:</a:t>
            </a:r>
            <a:r>
              <a:rPr sz="1800" b="0" i="0">
                <a:solidFill>
                  <a:srgbClr val="1C252B"/>
                </a:solidFill>
                <a:latin typeface="Segoe UI"/>
              </a:rPr>
              <a:t> total migration time is bounded and predictable — every page is sent exactly once, so there is no convergence problem at all. A guest that cannot migrate any other way will migrate this way.</a:t>
            </a:r>
          </a:p>
        </p:txBody>
      </p:sp>
      <p:sp>
        <p:nvSpPr>
          <p:cNvPr id="11" name="body-2"/>
          <p:cNvSpPr txBox="1"/>
          <p:nvPr/>
        </p:nvSpPr>
        <p:spPr>
          <a:xfrm>
            <a:off x="1060704" y="3726179"/>
            <a:ext cx="10161727" cy="1186891"/>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618D"/>
                </a:solidFill>
                <a:latin typeface="Segoe UI"/>
              </a:rPr>
              <a:t>Against, and it is serious:</a:t>
            </a:r>
            <a:r>
              <a:rPr sz="1800" b="0" i="0">
                <a:solidFill>
                  <a:srgbClr val="1C252B"/>
                </a:solidFill>
                <a:latin typeface="Segoe UI"/>
              </a:rPr>
              <a:t> between switchover and completion, the guest’s memory lives on </a:t>
            </a:r>
            <a:r>
              <a:rPr sz="1800" b="0" i="1">
                <a:solidFill>
                  <a:srgbClr val="1C252B"/>
                </a:solidFill>
                <a:latin typeface="Segoe UI"/>
              </a:rPr>
              <a:t>two</a:t>
            </a:r>
            <a:r>
              <a:rPr sz="1800" b="0" i="0">
                <a:solidFill>
                  <a:srgbClr val="1C252B"/>
                </a:solidFill>
                <a:latin typeface="Segoe UI"/>
              </a:rPr>
              <a:t> hosts. If the network or the source fails in that window, the guest is unrecoverable — its pages exist nowhere complete. Pre-copy’s failure mode is “the migration did not happen”; post-copy’s is “the guest is gone”.</a:t>
            </a:r>
          </a:p>
        </p:txBody>
      </p:sp>
      <p:sp>
        <p:nvSpPr>
          <p:cNvPr id="12" name="body-3"/>
          <p:cNvSpPr txBox="1"/>
          <p:nvPr/>
        </p:nvSpPr>
        <p:spPr>
          <a:xfrm>
            <a:off x="1060704" y="4993081"/>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usual arrangement is hybrid: begin with pre-copy, and if it has not converged after a few rounds, switch to post-copy for the remainder. That gets pre-copy’s safety for most of the transfer and post-copy’s termination guarantee for the tail.</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44547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Split brain, and why fencing is not optional</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135     </a:t>
            </a:r>
            <a:fld id="{EF80204D-ECDF-4A16-902F-A1AA57C491E9}"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11345"/>
          </a:xfrm>
          <a:prstGeom prst="roundRect">
            <a:avLst>
              <a:gd name="adj" fmla="val 2171"/>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1134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cluster decides a host has failed because it stopped answering. But “stopped answering” and “stopped running” are different things: a network partition leaves the host alive, still writing to shared storage, and convinced the others failed.</a:t>
            </a:r>
          </a:p>
        </p:txBody>
      </p:sp>
      <p:sp>
        <p:nvSpPr>
          <p:cNvPr id="10" name="body-1"/>
          <p:cNvSpPr txBox="1"/>
          <p:nvPr/>
        </p:nvSpPr>
        <p:spPr>
          <a:xfrm>
            <a:off x="1060704" y="2975330"/>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If the surviving side restarts those guests, the same guest now runs twice, both instances writing to the same disks. The result is not downtime; it is </a:t>
            </a:r>
            <a:r>
              <a:rPr sz="1700" b="0" i="1">
                <a:solidFill>
                  <a:srgbClr val="1C252B"/>
                </a:solidFill>
                <a:latin typeface="Segoe UI"/>
              </a:rPr>
              <a:t>corruption</a:t>
            </a:r>
            <a:r>
              <a:rPr sz="1700" b="0" i="0">
                <a:solidFill>
                  <a:srgbClr val="1C252B"/>
                </a:solidFill>
                <a:latin typeface="Segoe UI"/>
              </a:rPr>
              <a:t>, and it is worse than the outage that was being avoided.</a:t>
            </a:r>
          </a:p>
        </p:txBody>
      </p:sp>
      <p:sp>
        <p:nvSpPr>
          <p:cNvPr id="11" name="body-2"/>
          <p:cNvSpPr txBox="1"/>
          <p:nvPr/>
        </p:nvSpPr>
        <p:spPr>
          <a:xfrm>
            <a:off x="1060704" y="3902405"/>
            <a:ext cx="10161727"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Two mechanisms prevent it. </a:t>
            </a:r>
            <a:r>
              <a:rPr sz="1700" b="1" i="0">
                <a:solidFill>
                  <a:srgbClr val="1A5276"/>
                </a:solidFill>
                <a:latin typeface="Segoe UI"/>
              </a:rPr>
              <a:t>Quorum</a:t>
            </a:r>
            <a:r>
              <a:rPr sz="1700" b="0" i="0">
                <a:solidFill>
                  <a:srgbClr val="1C252B"/>
                </a:solidFill>
                <a:latin typeface="Segoe UI"/>
              </a:rPr>
              <a:t>: only a partition holding more than half the votes may act, so a minority partition stops. This is why clusters have odd numbers of members or a witness. And </a:t>
            </a:r>
            <a:r>
              <a:rPr sz="1700" b="1" i="0">
                <a:solidFill>
                  <a:srgbClr val="1A5276"/>
                </a:solidFill>
                <a:latin typeface="Segoe UI"/>
              </a:rPr>
              <a:t>fencing</a:t>
            </a:r>
            <a:r>
              <a:rPr sz="1700" b="0" i="0">
                <a:solidFill>
                  <a:srgbClr val="1C252B"/>
                </a:solidFill>
                <a:latin typeface="Segoe UI"/>
              </a:rPr>
              <a:t>, bluntly named </a:t>
            </a:r>
            <a:r>
              <a:rPr sz="1700" b="1" i="0">
                <a:solidFill>
                  <a:srgbClr val="1A5276"/>
                </a:solidFill>
                <a:latin typeface="Segoe UI"/>
              </a:rPr>
              <a:t>STONITH</a:t>
            </a:r>
            <a:r>
              <a:rPr sz="1700" b="0" i="0">
                <a:solidFill>
                  <a:srgbClr val="1C252B"/>
                </a:solidFill>
                <a:latin typeface="Segoe UI"/>
              </a:rPr>
              <a:t> — shoot the other node in the head: before restarting anything, the survivors forcibly power off the suspect host through its management controller or its storage fabric.</a:t>
            </a:r>
          </a:p>
        </p:txBody>
      </p:sp>
      <p:sp>
        <p:nvSpPr>
          <p:cNvPr id="12" name="body-3"/>
          <p:cNvSpPr txBox="1"/>
          <p:nvPr/>
        </p:nvSpPr>
        <p:spPr>
          <a:xfrm>
            <a:off x="1060704" y="5098923"/>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cluster without fencing is not a highly available cluster. It is a system with one additional, correlated way to lose your data.</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71051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RPO, RTO and the Cost of a Nine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3 OF 3</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17.1   Moving a Running Machine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17.2   High Availability, Fault Tolerance and Quorum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17.3   RPO, RTO and the Cost of a Nine</a:t>
            </a:r>
          </a:p>
        </p:txBody>
      </p:sp>
      <p:sp>
        <p:nvSpPr>
          <p:cNvPr id="9"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a:t>
            </a:r>
          </a:p>
        </p:txBody>
      </p:sp>
      <p:sp>
        <p:nvSpPr>
          <p:cNvPr id="10"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§17.3     </a:t>
            </a:r>
            <a:fld id="{C8D0D121-DE5F-4A0B-BC36-D0585618EADD}" type="slidenum">
              <a:rPr lang="en-GB" sz="1000">
                <a:solidFill>
                  <a:srgbClr val="8795A1"/>
                </a:solidFill>
                <a:latin typeface="Segoe UI"/>
              </a:rPr>
              <a:t>15</a:t>
            </a:fld>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97555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RPO and RTO</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4B79E059-A7FE-4DEE-9807-637B07440408}"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A5276"/>
                </a:solidFill>
                <a:latin typeface="Segoe UI"/>
              </a:rPr>
              <a:t>RPO</a:t>
            </a:r>
            <a:r>
              <a:rPr sz="2200" b="0" i="0">
                <a:solidFill>
                  <a:srgbClr val="1C252B"/>
                </a:solidFill>
                <a:latin typeface="Segoe UI"/>
              </a:rPr>
              <a:t> — recovery point objective — is how much </a:t>
            </a:r>
            <a:r>
              <a:rPr sz="2200" b="0" i="1">
                <a:solidFill>
                  <a:srgbClr val="1C252B"/>
                </a:solidFill>
                <a:latin typeface="Segoe UI"/>
              </a:rPr>
              <a:t>data</a:t>
            </a:r>
            <a:r>
              <a:rPr sz="2200" b="0" i="0">
                <a:solidFill>
                  <a:srgbClr val="1C252B"/>
                </a:solidFill>
                <a:latin typeface="Segoe UI"/>
              </a:rPr>
              <a:t> you may lose, expressed as time. An RPO of one hour means losing up to an hour of work is acceptable, which means replicating or backing up at least hourly.</a:t>
            </a:r>
          </a:p>
        </p:txBody>
      </p:sp>
      <p:sp>
        <p:nvSpPr>
          <p:cNvPr id="10" name="body-1"/>
          <p:cNvSpPr txBox="1"/>
          <p:nvPr/>
        </p:nvSpPr>
        <p:spPr>
          <a:xfrm>
            <a:off x="1060704" y="3247999"/>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A5276"/>
                </a:solidFill>
                <a:latin typeface="Segoe UI"/>
              </a:rPr>
              <a:t>RTO</a:t>
            </a:r>
            <a:r>
              <a:rPr sz="2200" b="0" i="0">
                <a:solidFill>
                  <a:srgbClr val="1C252B"/>
                </a:solidFill>
                <a:latin typeface="Segoe UI"/>
              </a:rPr>
              <a:t> — recovery time objective — is how long you may be </a:t>
            </a:r>
            <a:r>
              <a:rPr sz="2200" b="0" i="1">
                <a:solidFill>
                  <a:srgbClr val="1C252B"/>
                </a:solidFill>
                <a:latin typeface="Segoe UI"/>
              </a:rPr>
              <a:t>down</a:t>
            </a:r>
            <a:r>
              <a:rPr sz="2200" b="0" i="0">
                <a:solidFill>
                  <a:srgbClr val="1C252B"/>
                </a:solidFill>
                <a:latin typeface="Segoe UI"/>
              </a:rPr>
              <a:t>. An RTO of four hours means service must be restored within four hours of the declaration.</a:t>
            </a:r>
          </a:p>
        </p:txBody>
      </p:sp>
      <p:sp>
        <p:nvSpPr>
          <p:cNvPr id="11" name="body-2"/>
          <p:cNvSpPr txBox="1"/>
          <p:nvPr/>
        </p:nvSpPr>
        <p:spPr>
          <a:xfrm>
            <a:off x="1060704" y="4099052"/>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They are independent and they cost differently. Nightly backups to tape give an RPO of 24 hours and an RTO of perhaps a day. Synchronous replication to a second site gives an RPO near zero — and an RTO that still depends entirely on how quickly somebody can bring the second site up, which is a rehearsal question, not a technology one.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24058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Each Nine Costs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6149EF8B-C71E-4065-B6C4-8581134E86E5}"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5346"/>
          </a:xfrm>
          <a:prstGeom prst="roundRect">
            <a:avLst>
              <a:gd name="adj" fmla="val 221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534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service is offered at “four nines”. Work out what that means and what the next nine would require.</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the downtime budget.</a:t>
            </a:r>
            <a:r>
              <a:rPr sz="1900" b="0" i="0">
                <a:solidFill>
                  <a:srgbClr val="1C252B"/>
                </a:solidFill>
                <a:latin typeface="Segoe UI"/>
              </a:rPr>
              <a:t> A year is </a:t>
            </a:r>
            <a:r>
              <a:rPr sz="1900" b="0" i="0">
                <a:solidFill>
                  <a:srgbClr val="1C252B"/>
                </a:solidFill>
                <a:latin typeface="Cambria"/>
              </a:rPr>
              <a:t>365 × 24 × 60 = 525,600</a:t>
            </a:r>
            <a:r>
              <a:rPr sz="1900" b="0" i="0">
                <a:solidFill>
                  <a:srgbClr val="1C252B"/>
                </a:solidFill>
                <a:latin typeface="Segoe UI"/>
              </a:rPr>
              <a:t> minutes.</a:t>
            </a:r>
          </a:p>
        </p:txBody>
      </p:sp>
      <p:pic>
        <p:nvPicPr>
          <p:cNvPr id="11" name="body-2" descr="99.9\% : \; 525{,}600 \times 0.001 = 526 \text{ min} = \mathbf{8 \text{ h } 46 \text{ min a yea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180537"/>
            <a:ext cx="10234879" cy="324520"/>
          </a:xfrm>
          <a:prstGeom prst="rect">
            <a:avLst/>
          </a:prstGeom>
        </p:spPr>
      </p:pic>
      <p:pic>
        <p:nvPicPr>
          <p:cNvPr id="12" name="body-3" descr="99.99\% : \; 52.6 \text{ min a year} = \mathbf{4.4 \text{ min a month}}"/>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637772"/>
            <a:ext cx="10234879" cy="324520"/>
          </a:xfrm>
          <a:prstGeom prst="rect">
            <a:avLst/>
          </a:prstGeom>
        </p:spPr>
      </p:pic>
      <p:pic>
        <p:nvPicPr>
          <p:cNvPr id="13" name="body-4" descr="99.999\% : \; 5.3 \text{ min a year} = \mathbf{26 \text{ seconds a month}}"/>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4095008"/>
            <a:ext cx="10234879" cy="324520"/>
          </a:xfrm>
          <a:prstGeom prst="rect">
            <a:avLst/>
          </a:prstGeom>
        </p:spPr>
      </p:pic>
      <p:sp>
        <p:nvSpPr>
          <p:cNvPr id="14" name="body-5"/>
          <p:cNvSpPr txBox="1"/>
          <p:nvPr/>
        </p:nvSpPr>
        <p:spPr>
          <a:xfrm>
            <a:off x="1042416" y="4552243"/>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what fits in each budget.</a:t>
            </a:r>
          </a:p>
        </p:txBody>
      </p:sp>
      <p:sp>
        <p:nvSpPr>
          <p:cNvPr id="15" name="body-5bar">
            <a:extLst>
              <a:ext uri="{C183D7F6-B498-43B3-948B-1728B52AA6E4}">
                <adec:decorative xmlns:adec="http://schemas.microsoft.com/office/drawing/2017/decorative" val="1"/>
              </a:ext>
            </a:extLst>
          </p:cNvPr>
          <p:cNvSpPr/>
          <p:nvPr/>
        </p:nvSpPr>
        <p:spPr>
          <a:xfrm>
            <a:off x="841248" y="4570531"/>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body-6"/>
          <p:cNvSpPr txBox="1"/>
          <p:nvPr/>
        </p:nvSpPr>
        <p:spPr>
          <a:xfrm>
            <a:off x="1042416" y="4986101"/>
            <a:ext cx="10234879" cy="648004"/>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99.9%</a:t>
            </a:r>
            <a:r>
              <a:rPr sz="1900" b="0" i="0">
                <a:solidFill>
                  <a:srgbClr val="1C252B"/>
                </a:solidFill>
                <a:latin typeface="Segoe UI"/>
              </a:rPr>
              <a:t>: 8 h 46 min allows a monthly patching window of 40 minutes and still leaves room for one unplanned incident. Achievable with HA and careful scheduling.</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450562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4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Each Nine Costs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E64AF55D-7B35-4E74-916D-BEEB8D3158C2}"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76091"/>
          </a:xfrm>
          <a:prstGeom prst="roundRect">
            <a:avLst>
              <a:gd name="adj" fmla="val 263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7609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93702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99.99%</a:t>
            </a:r>
            <a:r>
              <a:rPr sz="1900" b="0" i="0">
                <a:solidFill>
                  <a:srgbClr val="1C252B"/>
                </a:solidFill>
                <a:latin typeface="Segoe UI"/>
              </a:rPr>
              <a:t>: 52 minutes a year. A single HA restart of a guest costs 1–2 minutes, so you may have about thirty of them — </a:t>
            </a:r>
            <a:r>
              <a:rPr sz="1900" b="0" i="1">
                <a:solidFill>
                  <a:srgbClr val="1C252B"/>
                </a:solidFill>
                <a:latin typeface="Segoe UI"/>
              </a:rPr>
              <a:t>and no planned downtime at all</a:t>
            </a:r>
            <a:r>
              <a:rPr sz="1900" b="0" i="0">
                <a:solidFill>
                  <a:srgbClr val="1C252B"/>
                </a:solidFill>
                <a:latin typeface="Segoe UI"/>
              </a:rPr>
              <a:t>. Every patch must be applied by live migration.</a:t>
            </a:r>
          </a:p>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99.999%</a:t>
            </a:r>
            <a:r>
              <a:rPr sz="1900" b="0" i="0">
                <a:solidFill>
                  <a:srgbClr val="1C252B"/>
                </a:solidFill>
                <a:latin typeface="Segoe UI"/>
              </a:rPr>
              <a:t>: 5 minutes a year. One HA restart is 20–40% of the annual budget. This requires fault tolerance or clustered application software, and it requires that no human decision is in the recovery path, because nobody reads an alert in 26 seconds.</a:t>
            </a:r>
          </a:p>
        </p:txBody>
      </p:sp>
      <p:sp>
        <p:nvSpPr>
          <p:cNvPr id="10" name="body-1"/>
          <p:cNvSpPr txBox="1"/>
          <p:nvPr/>
        </p:nvSpPr>
        <p:spPr>
          <a:xfrm>
            <a:off x="1042416" y="403570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the cost shape.</a:t>
            </a:r>
            <a:r>
              <a:rPr sz="1900" b="0" i="0">
                <a:solidFill>
                  <a:srgbClr val="1C252B"/>
                </a:solidFill>
                <a:latin typeface="Segoe UI"/>
              </a:rPr>
              <a:t> Each nine divides the budget by ten and roughly multiplies the cost by three to five: a second site, a second set of licences, tested automation, rehearsals, and staff who can be woken.</a:t>
            </a:r>
          </a:p>
        </p:txBody>
      </p:sp>
      <p:sp>
        <p:nvSpPr>
          <p:cNvPr id="11" name="body-1bar">
            <a:extLst>
              <a:ext uri="{C183D7F6-B498-43B3-948B-1728B52AA6E4}">
                <adec:decorative xmlns:adec="http://schemas.microsoft.com/office/drawing/2017/decorative" val="1"/>
              </a:ext>
            </a:extLst>
          </p:cNvPr>
          <p:cNvSpPr/>
          <p:nvPr/>
        </p:nvSpPr>
        <p:spPr>
          <a:xfrm>
            <a:off x="841248" y="405399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477066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5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5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Each Nine Costs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AC90DEB9-80D3-48CE-A070-A72E3C1BE780}"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0494"/>
          </a:xfrm>
          <a:prstGeom prst="roundRect">
            <a:avLst>
              <a:gd name="adj" fmla="val 295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0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the question to ask instead.</a:t>
            </a:r>
            <a:r>
              <a:rPr sz="1900" b="0" i="0">
                <a:solidFill>
                  <a:srgbClr val="1C252B"/>
                </a:solidFill>
                <a:latin typeface="Segoe UI"/>
              </a:rPr>
              <a:t> Before accepting an availability target, ask what the </a:t>
            </a:r>
            <a:r>
              <a:rPr sz="1900" b="0" i="1">
                <a:solidFill>
                  <a:srgbClr val="1C252B"/>
                </a:solidFill>
                <a:latin typeface="Segoe UI"/>
              </a:rPr>
              <a:t>outage</a:t>
            </a:r>
            <a:r>
              <a:rPr sz="1900" b="0" i="0">
                <a:solidFill>
                  <a:srgbClr val="1C252B"/>
                </a:solidFill>
                <a:latin typeface="Segoe UI"/>
              </a:rPr>
              <a:t> actually costs per hour. A service losing $200 an hour cannot justify the $150,000 a year that five nines would cost; one losing $200,000 an hour can justify a great deal. Availability targets chosen without that number are chosen by whoever is most anxious.</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and the measurement everyone forgets.</a:t>
            </a:r>
            <a:r>
              <a:rPr sz="1900" b="0" i="0">
                <a:solidFill>
                  <a:srgbClr val="1C252B"/>
                </a:solidFill>
                <a:latin typeface="Segoe UI"/>
              </a:rPr>
              <a:t> An availability figure is meaningless without a stated measurement window and a definition of “down”. 99.99% measured monthly permits 4.4 minutes every month; measured annually it permits 52 minutes in one incident. Those are very different promises, and the difference is where disputes happen.</a:t>
            </a:r>
          </a:p>
        </p:txBody>
      </p:sp>
      <p:sp>
        <p:nvSpPr>
          <p:cNvPr id="12" name="body-1bar">
            <a:extLst>
              <a:ext uri="{C183D7F6-B498-43B3-948B-1728B52AA6E4}">
                <adec:decorative xmlns:adec="http://schemas.microsoft.com/office/drawing/2017/decorative" val="1"/>
              </a:ext>
            </a:extLst>
          </p:cNvPr>
          <p:cNvSpPr/>
          <p:nvPr/>
        </p:nvSpPr>
        <p:spPr>
          <a:xfrm>
            <a:off x="841248" y="3367252"/>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503570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Snapshot Is Not a Backup, Restated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D377A105-CFAD-438E-962A-638DAC70D8A5}"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2495"/>
          </a:xfrm>
          <a:prstGeom prst="roundRect">
            <a:avLst>
              <a:gd name="adj" fmla="val 2067"/>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249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Chapter 12 made this point about storage; it is worth making again about disaster recovery, because the failure is so common.</a:t>
            </a:r>
          </a:p>
        </p:txBody>
      </p:sp>
      <p:sp>
        <p:nvSpPr>
          <p:cNvPr id="10" name="body-1"/>
          <p:cNvSpPr txBox="1"/>
          <p:nvPr/>
        </p:nvSpPr>
        <p:spPr>
          <a:xfrm>
            <a:off x="1060704" y="2744571"/>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a:t>
            </a:r>
            <a:r>
              <a:rPr sz="1800" b="1" i="0">
                <a:solidFill>
                  <a:srgbClr val="1A5276"/>
                </a:solidFill>
                <a:latin typeface="Segoe UI"/>
              </a:rPr>
              <a:t>3-2-1 rule</a:t>
            </a:r>
            <a:r>
              <a:rPr sz="1800" b="0" i="0">
                <a:solidFill>
                  <a:srgbClr val="1C252B"/>
                </a:solidFill>
                <a:latin typeface="Segoe UI"/>
              </a:rPr>
              <a:t>: three copies of the data, on two different media, with one off site. A snapshot fails all three — it is on the same storage, the same medium, the same site, and it depends on the original.</a:t>
            </a:r>
          </a:p>
        </p:txBody>
      </p:sp>
      <p:sp>
        <p:nvSpPr>
          <p:cNvPr id="11" name="body-2"/>
          <p:cNvSpPr txBox="1"/>
          <p:nvPr/>
        </p:nvSpPr>
        <p:spPr>
          <a:xfrm>
            <a:off x="1060704" y="3726180"/>
            <a:ext cx="10161727" cy="1186891"/>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Ransomware has added a fourth requirement: at least one copy must be </a:t>
            </a:r>
            <a:r>
              <a:rPr sz="1800" b="1" i="0">
                <a:solidFill>
                  <a:srgbClr val="1A5276"/>
                </a:solidFill>
                <a:latin typeface="Segoe UI"/>
              </a:rPr>
              <a:t>immutable</a:t>
            </a:r>
            <a:r>
              <a:rPr sz="1800" b="0" i="0">
                <a:solidFill>
                  <a:srgbClr val="1C252B"/>
                </a:solidFill>
                <a:latin typeface="Segoe UI"/>
              </a:rPr>
              <a:t> — write-once, with a retention lock the backup administrator’s own credentials cannot override. Attackers who gain administrative access delete the backups first, and an estate whose backup server trusts the same directory as everything else has one credential between it and total loss.</a:t>
            </a:r>
          </a:p>
        </p:txBody>
      </p:sp>
      <p:sp>
        <p:nvSpPr>
          <p:cNvPr id="12" name="body-3"/>
          <p:cNvSpPr txBox="1"/>
          <p:nvPr/>
        </p:nvSpPr>
        <p:spPr>
          <a:xfrm>
            <a:off x="1060704" y="4993081"/>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And the rule that outranks all of them: </a:t>
            </a:r>
            <a:r>
              <a:rPr sz="1800" b="1" i="0">
                <a:solidFill>
                  <a:srgbClr val="1C252B"/>
                </a:solidFill>
                <a:latin typeface="Segoe UI"/>
              </a:rPr>
              <a:t>a backup you have not restored is a hypothesis</a:t>
            </a:r>
            <a:r>
              <a:rPr sz="1800" b="0" i="0">
                <a:solidFill>
                  <a:srgbClr val="1C252B"/>
                </a:solidFill>
                <a:latin typeface="Segoe UI"/>
              </a:rPr>
              <a:t>. Test restores on a schedule, and time them — that measurement is your real RTO, as opposed to the one in the document.</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30073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B94CA13D-49B1-491D-A02B-755F2AA3A1D9}"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Expecting any guest to live-migrate.</a:t>
            </a:r>
            <a:r>
              <a:rPr sz="1700" b="0" i="0">
                <a:solidFill>
                  <a:srgbClr val="1C252B"/>
                </a:solidFill>
                <a:latin typeface="Segoe UI"/>
              </a:rPr>
              <a:t> A write-heavy guest on a slow link will not converge. Check the dirty rate against the link before promising a maintenance window.</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Running a cluster without fencing.</a:t>
            </a:r>
            <a:r>
              <a:rPr sz="1700" b="0" i="0">
                <a:solidFill>
                  <a:srgbClr val="1C252B"/>
                </a:solidFill>
                <a:latin typeface="Segoe UI"/>
              </a:rPr>
              <a:t> Split brain corrupts data, which is worse than the outage HA was bought to prevent.</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an even number of cluster members with no witness.</a:t>
            </a:r>
            <a:r>
              <a:rPr sz="1700" b="0" i="0">
                <a:solidFill>
                  <a:srgbClr val="1C252B"/>
                </a:solidFill>
                <a:latin typeface="Segoe UI"/>
              </a:rPr>
              <a:t> A clean split leaves neither side with quorum and both stop.</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Confusing HA with fault tolerance.</a:t>
            </a:r>
            <a:r>
              <a:rPr sz="1700" b="0" i="0">
                <a:solidFill>
                  <a:srgbClr val="1C252B"/>
                </a:solidFill>
                <a:latin typeface="Segoe UI"/>
              </a:rPr>
              <a:t> HA restarts the guest; the service </a:t>
            </a:r>
            <a:r>
              <a:rPr sz="1700" b="0" i="1">
                <a:solidFill>
                  <a:srgbClr val="1C252B"/>
                </a:solidFill>
                <a:latin typeface="Segoe UI"/>
              </a:rPr>
              <a:t>is</a:t>
            </a:r>
            <a:r>
              <a:rPr sz="1700" b="0" i="0">
                <a:solidFill>
                  <a:srgbClr val="1C252B"/>
                </a:solidFill>
                <a:latin typeface="Segoe UI"/>
              </a:rPr>
              <a:t> down and everything in memory is lost.</a:t>
            </a:r>
          </a:p>
        </p:txBody>
      </p:sp>
      <p:sp>
        <p:nvSpPr>
          <p:cNvPr id="19" name="!!pb4">
            <a:extLst>
              <a:ext uri="{C183D7F6-B498-43B3-948B-1728B52AA6E4}">
                <adec:decorative xmlns:adec="http://schemas.microsoft.com/office/drawing/2017/decorative" val="1"/>
              </a:ext>
            </a:extLst>
          </p:cNvPr>
          <p:cNvSpPr/>
          <p:nvPr/>
        </p:nvSpPr>
        <p:spPr>
          <a:xfrm>
            <a:off x="658368" y="471586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73872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9757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Quoting an availability figure without a window and a definition of down.</a:t>
            </a:r>
            <a:r>
              <a:rPr sz="1700" b="0" i="0">
                <a:solidFill>
                  <a:srgbClr val="1C252B"/>
                </a:solidFill>
                <a:latin typeface="Segoe UI"/>
              </a:rPr>
              <a:t> 99.99% monthly and 99.99% annually are different promises.</a:t>
            </a:r>
          </a:p>
        </p:txBody>
      </p:sp>
      <p:sp>
        <p:nvSpPr>
          <p:cNvPr id="22" name="!!pb5">
            <a:extLst>
              <a:ext uri="{C183D7F6-B498-43B3-948B-1728B52AA6E4}">
                <adec:decorative xmlns:adec="http://schemas.microsoft.com/office/drawing/2017/decorative" val="1"/>
              </a:ext>
            </a:extLst>
          </p:cNvPr>
          <p:cNvSpPr/>
          <p:nvPr/>
        </p:nvSpPr>
        <p:spPr>
          <a:xfrm>
            <a:off x="658368" y="545591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7877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43763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replication as backup.</a:t>
            </a:r>
            <a:r>
              <a:rPr sz="1700" b="0" i="0">
                <a:solidFill>
                  <a:srgbClr val="1C252B"/>
                </a:solidFill>
                <a:latin typeface="Segoe UI"/>
              </a:rPr>
              <a:t> Replication faithfully copies the deletion and the encryption to the second site, usually within seconds.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56577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25A4C44C-29B2-4A0F-986A-BC4D6979A962}"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Never testing a restore.</a:t>
            </a:r>
            <a:r>
              <a:rPr sz="1700" b="0" i="0">
                <a:solidFill>
                  <a:srgbClr val="1C252B"/>
                </a:solidFill>
                <a:latin typeface="Segoe UI"/>
              </a:rPr>
              <a:t> Then the RTO is a guess, and it is always optimistic.</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that a passthrough device prevents migration</a:t>
            </a:r>
            <a:r>
              <a:rPr sz="1700" b="0" i="0">
                <a:solidFill>
                  <a:srgbClr val="1C252B"/>
                </a:solidFill>
                <a:latin typeface="Segoe UI"/>
              </a:rPr>
              <a:t> (Chapter 7). Plan the exception before you need to patch the host.</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583081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221C1B17-76C7-4402-85AE-070FBDDA720B}" type="slidenum">
              <a:rPr lang="en-GB" sz="1000">
                <a:solidFill>
                  <a:srgbClr val="8795A1"/>
                </a:solidFill>
                <a:latin typeface="Segoe UI"/>
              </a:rPr>
              <a:t>23</a:t>
            </a:fld>
          </a:p>
        </p:txBody>
      </p:sp>
      <p:sp>
        <p:nvSpPr>
          <p:cNvPr id="7" name="body-0"/>
          <p:cNvSpPr txBox="1"/>
          <p:nvPr/>
        </p:nvSpPr>
        <p:spPr>
          <a:xfrm>
            <a:off x="658368" y="1737360"/>
            <a:ext cx="108749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Live-migrates a guest between two hosts with no dropped pings, then makes the guest dirty memory fast enough that it will not converge. Needs two hosts, or two nested ones. Expect forty-five minutes.</a:t>
            </a:r>
          </a:p>
        </p:txBody>
      </p:sp>
      <p:sp>
        <p:nvSpPr>
          <p:cNvPr id="8" name="!!labsteps-h"/>
          <p:cNvSpPr txBox="1"/>
          <p:nvPr/>
        </p:nvSpPr>
        <p:spPr>
          <a:xfrm>
            <a:off x="658368" y="29992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383280"/>
            <a:ext cx="10874959" cy="24384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Both hosts must see the same disk.</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Start the guest and give it something to serve.</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Watch continuity: ping and HTTP, both running throughout.</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Migrate it, and time the whole thing.</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Now make it refuse to converge.</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Make it converge by throttling the guest on purpose.</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Measure the dirty rate directly, for the arithmetic.</a:t>
            </a:r>
          </a:p>
          <a:p>
            <a:pPr algn="l" marL="367434" indent="-367434">
              <a:lnSpc>
                <a:spcPct val="100000"/>
              </a:lnSpc>
              <a:spcBef>
                <a:spcPts val="0"/>
              </a:spcBef>
              <a:spcAft>
                <a:spcPts val="420"/>
              </a:spcAft>
            </a:pPr>
            <a:r>
              <a:rPr sz="1400" b="1">
                <a:solidFill>
                  <a:srgbClr val="117A65"/>
                </a:solidFill>
                <a:latin typeface="Segoe UI"/>
              </a:rPr>
              <a:t>8.	</a:t>
            </a:r>
            <a:r>
              <a:rPr sz="1400" b="0" i="0">
                <a:solidFill>
                  <a:srgbClr val="1C252B"/>
                </a:solidFill>
                <a:latin typeface="Segoe UI"/>
              </a:rPr>
              <a:t>Unplanned failure: what HA does instead.</a:t>
            </a:r>
          </a:p>
          <a:p>
            <a:pPr algn="l" marL="367434" indent="-367434">
              <a:lnSpc>
                <a:spcPct val="100000"/>
              </a:lnSpc>
              <a:spcBef>
                <a:spcPts val="0"/>
              </a:spcBef>
              <a:spcAft>
                <a:spcPts val="0"/>
              </a:spcAft>
            </a:pPr>
            <a:r>
              <a:rPr sz="1400" b="1">
                <a:solidFill>
                  <a:srgbClr val="117A65"/>
                </a:solidFill>
                <a:latin typeface="Segoe UI"/>
              </a:rPr>
              <a:t>9.	</a:t>
            </a:r>
            <a:r>
              <a:rPr sz="1400" b="0" i="0">
                <a:solidFill>
                  <a:srgbClr val="1C252B"/>
                </a:solidFill>
                <a:latin typeface="Segoe UI"/>
              </a:rPr>
              <a:t>Tear down.</a:t>
            </a:r>
          </a:p>
        </p:txBody>
      </p:sp>
      <p:sp>
        <p:nvSpPr>
          <p:cNvPr id="49"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52"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13: Migrate a running guest, then make it fail to converge</a:t>
            </a:r>
          </a:p>
        </p:txBody>
      </p:sp>
      <p:sp>
        <p:nvSpPr>
          <p:cNvPr id="53"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6"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68 lines of Shell</a:t>
            </a:r>
          </a:p>
        </p:txBody>
      </p:sp>
      <p:sp>
        <p:nvSpPr>
          <p:cNvPr id="5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8" end="8"/>
                                            </p:txEl>
                                          </p:spTgt>
                                        </p:tgtEl>
                                        <p:attrNameLst>
                                          <p:attrName>style.visibility</p:attrName>
                                        </p:attrNameLst>
                                      </p:cBhvr>
                                      <p:to>
                                        <p:strVal val="visible"/>
                                      </p:to>
                                    </p:set>
                                    <p:animEffect transition="in" filter="fade">
                                      <p:cBhvr>
                                        <p:cTn id="48" dur="3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468DADDC-2244-488D-8BD5-BA3202C3B965}"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17_migrate.sh -- pre-copy convergence, observed and then broken. set -euo pipefail DEST=${1:?usage: ch17_migrate.sh &lt;destination-host&gt;}"/>
          <p:cNvSpPr txBox="1"/>
          <p:nvPr/>
        </p:nvSpPr>
        <p:spPr>
          <a:xfrm>
            <a:off x="1362456" y="2523744"/>
            <a:ext cx="9987991" cy="13289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#!/usr/bin/env bash</a:t>
            </a:r>
          </a:p>
          <a:p>
            <a:pPr>
              <a:lnSpc>
                <a:spcPct val="100000"/>
              </a:lnSpc>
              <a:spcAft>
                <a:spcPts val="0"/>
              </a:spcAft>
            </a:pPr>
            <a:r>
              <a:rPr sz="2000" i="1">
                <a:solidFill>
                  <a:srgbClr val="8795A1"/>
                </a:solidFill>
                <a:latin typeface="Consolas"/>
              </a:rPr>
              <a:t># ch17_migrate.sh -- pre-copy convergence, observed and then broken.</a:t>
            </a:r>
          </a:p>
          <a:p>
            <a:pPr>
              <a:lnSpc>
                <a:spcPct val="100000"/>
              </a:lnSpc>
              <a:spcAft>
                <a:spcPts val="0"/>
              </a:spcAft>
            </a:pPr>
            <a:r>
              <a:rPr sz="2000" i="0">
                <a:solidFill>
                  <a:srgbClr val="C39BD3"/>
                </a:solidFill>
                <a:latin typeface="Consolas"/>
              </a:rPr>
              <a:t>set</a:t>
            </a:r>
            <a:r>
              <a:rPr sz="2000" i="0">
                <a:solidFill>
                  <a:srgbClr val="E8EDF2"/>
                </a:solidFill>
                <a:latin typeface="Consolas"/>
              </a:rPr>
              <a:t> </a:t>
            </a:r>
            <a:r>
              <a:rPr sz="2000" i="0">
                <a:solidFill>
                  <a:srgbClr val="E8EDF2"/>
                </a:solidFill>
                <a:latin typeface="Consolas"/>
              </a:rPr>
              <a:t>-euo</a:t>
            </a:r>
            <a:r>
              <a:rPr sz="2000" i="0">
                <a:solidFill>
                  <a:srgbClr val="E8EDF2"/>
                </a:solidFill>
                <a:latin typeface="Consolas"/>
              </a:rPr>
              <a:t> </a:t>
            </a:r>
            <a:r>
              <a:rPr sz="2000" i="0">
                <a:solidFill>
                  <a:srgbClr val="E8EDF2"/>
                </a:solidFill>
                <a:latin typeface="Consolas"/>
              </a:rPr>
              <a:t>pipefail</a:t>
            </a:r>
          </a:p>
          <a:p>
            <a:pPr>
              <a:lnSpc>
                <a:spcPct val="100000"/>
              </a:lnSpc>
              <a:spcAft>
                <a:spcPts val="0"/>
              </a:spcAft>
            </a:pPr>
            <a:r>
              <a:rPr sz="2000" i="0">
                <a:solidFill>
                  <a:srgbClr val="E8EDF2"/>
                </a:solidFill>
                <a:latin typeface="Consolas"/>
              </a:rPr>
              <a:t>DEST</a:t>
            </a:r>
            <a:r>
              <a:rPr sz="2000" i="0">
                <a:solidFill>
                  <a:srgbClr val="AEB6BF"/>
                </a:solidFill>
                <a:latin typeface="Consolas"/>
              </a:rPr>
              <a:t>=</a:t>
            </a:r>
            <a:r>
              <a:rPr sz="2000" i="0">
                <a:solidFill>
                  <a:srgbClr val="7DCEA0"/>
                </a:solidFill>
                <a:latin typeface="Consolas"/>
              </a:rPr>
              <a:t>${</a:t>
            </a:r>
            <a:r>
              <a:rPr sz="2000" i="0">
                <a:solidFill>
                  <a:srgbClr val="E8EDF2"/>
                </a:solidFill>
                <a:latin typeface="Consolas"/>
              </a:rPr>
              <a:t>1</a:t>
            </a:r>
            <a:r>
              <a:rPr sz="2000" i="0">
                <a:solidFill>
                  <a:srgbClr val="AEB6BF"/>
                </a:solidFill>
                <a:latin typeface="Consolas"/>
              </a:rPr>
              <a:t>:</a:t>
            </a:r>
            <a:r>
              <a:rPr sz="2000" i="0">
                <a:solidFill>
                  <a:srgbClr val="AEB6BF"/>
                </a:solidFill>
                <a:latin typeface="Consolas"/>
              </a:rPr>
              <a:t>?usage</a:t>
            </a:r>
            <a:r>
              <a:rPr sz="2000" i="0">
                <a:solidFill>
                  <a:srgbClr val="AEB6BF"/>
                </a:solidFill>
                <a:latin typeface="Consolas"/>
              </a:rPr>
              <a:t>:</a:t>
            </a:r>
            <a:r>
              <a:rPr sz="2000" i="0">
                <a:solidFill>
                  <a:srgbClr val="AEB6BF"/>
                </a:solidFill>
                <a:latin typeface="Consolas"/>
              </a:rPr>
              <a:t> ch17_migrate.sh &lt;destination-host&gt;</a:t>
            </a:r>
            <a:r>
              <a:rPr sz="2000" i="0">
                <a:solidFill>
                  <a:srgbClr val="7DCEA0"/>
                </a:solidFill>
                <a:latin typeface="Consolas"/>
              </a:rPr>
              <a:t>}</a:t>
            </a:r>
          </a:p>
        </p:txBody>
      </p:sp>
      <p:sp>
        <p:nvSpPr>
          <p:cNvPr id="15" name="!!code-num"/>
          <p:cNvSpPr txBox="1"/>
          <p:nvPr/>
        </p:nvSpPr>
        <p:spPr>
          <a:xfrm>
            <a:off x="768096" y="2523744"/>
            <a:ext cx="393192" cy="13289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3608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2BBD7750-F7CD-468C-9968-5622AF7807A1}"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Both hosts must see the same disk.</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1. Both hosts must see the same disk. ---------------------------- # Shared storage is the precondition for everything in this chapter. showmount -e &quot;$DEST&quot; 2&gt;/dev/null || \ echo &quot;set up NFS or iSCSI first -- see Appendix A&quot; sudo virsh pool-list --all"/>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--- 1. Both hosts must see the same disk. ----------------------------</a:t>
            </a:r>
          </a:p>
          <a:p>
            <a:pPr>
              <a:lnSpc>
                <a:spcPct val="100000"/>
              </a:lnSpc>
              <a:spcAft>
                <a:spcPts val="0"/>
              </a:spcAft>
            </a:pPr>
            <a:r>
              <a:rPr sz="1900" i="1">
                <a:solidFill>
                  <a:srgbClr val="8795A1"/>
                </a:solidFill>
                <a:latin typeface="Consolas"/>
              </a:rPr>
              <a:t># Shared storage is the precondition for everything in this chapter.</a:t>
            </a:r>
          </a:p>
          <a:p>
            <a:pPr>
              <a:lnSpc>
                <a:spcPct val="100000"/>
              </a:lnSpc>
              <a:spcAft>
                <a:spcPts val="0"/>
              </a:spcAft>
            </a:pPr>
            <a:r>
              <a:rPr sz="1900" i="0">
                <a:solidFill>
                  <a:srgbClr val="E8EDF2"/>
                </a:solidFill>
                <a:latin typeface="Consolas"/>
              </a:rPr>
              <a:t>showmount</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$DEST</a:t>
            </a:r>
            <a:r>
              <a:rPr sz="1900" i="0">
                <a:solidFill>
                  <a:srgbClr val="7DCEA0"/>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"set up NFS or iSCSI first -- see Appendix A"</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pool-list</a:t>
            </a:r>
            <a:r>
              <a:rPr sz="1900" i="0">
                <a:solidFill>
                  <a:srgbClr val="E8EDF2"/>
                </a:solidFill>
                <a:latin typeface="Consolas"/>
              </a:rPr>
              <a:t> </a:t>
            </a:r>
            <a:r>
              <a:rPr sz="1900" i="0">
                <a:solidFill>
                  <a:srgbClr val="E8EDF2"/>
                </a:solidFill>
                <a:latin typeface="Consolas"/>
              </a:rPr>
              <a:t>--all</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a:t>
            </a:r>
          </a:p>
          <a:p>
            <a:pPr algn="r">
              <a:lnSpc>
                <a:spcPct val="100000"/>
              </a:lnSpc>
            </a:pPr>
            <a:r>
              <a:rPr sz="1900">
                <a:solidFill>
                  <a:srgbClr val="4F5D6A"/>
                </a:solidFill>
                <a:latin typeface="Consolas"/>
              </a:rPr>
              <a:t>7</a:t>
            </a:r>
          </a:p>
          <a:p>
            <a:pPr algn="r">
              <a:lnSpc>
                <a:spcPct val="100000"/>
              </a:lnSpc>
            </a:pPr>
            <a:r>
              <a:rPr sz="1900">
                <a:solidFill>
                  <a:srgbClr val="4F5D6A"/>
                </a:solidFill>
                <a:latin typeface="Consolas"/>
              </a:rPr>
              <a:t>8</a:t>
            </a:r>
          </a:p>
          <a:p>
            <a:pPr algn="r">
              <a:lnSpc>
                <a:spcPct val="100000"/>
              </a:lnSpc>
            </a:pPr>
            <a:r>
              <a:rPr sz="1900">
                <a:solidFill>
                  <a:srgbClr val="4F5D6A"/>
                </a:solidFill>
                <a:latin typeface="Consolas"/>
              </a:rPr>
              <a:t>9</a:t>
            </a:r>
          </a:p>
          <a:p>
            <a:pPr algn="r">
              <a:lnSpc>
                <a:spcPct val="100000"/>
              </a:lnSpc>
            </a:pPr>
            <a:r>
              <a:rPr sz="1900">
                <a:solidFill>
                  <a:srgbClr val="4F5D6A"/>
                </a:solidFill>
                <a:latin typeface="Consolas"/>
              </a:rPr>
              <a:t>10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62592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7C3CF787-F099-44B7-A6D7-9CB07C430C14}"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Start the guest and give it something to serve.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Start the guest and give it something to serve. -------------- sudo virsh start vss1 || true ; sleep 25 IP=$(sudo virsh domifaddr vss1 | awk '/ipv4/{split($4,a,&quot;/&quot;);print a[1]}') G () { ssh -o StrictHostKeyChecking=no &quot;ubuntu@$IP&quot; &quot;$1&quot;; } G &quot;sudo apt-get -qq install -y stress-ng python3 &amp;&amp; \ nohup python3 -m http.server 8000 &gt;/dev/null 2&gt;&amp;1 &amp;&quot;"/>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Start the guest and give it something to serve.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start</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25</a:t>
            </a:r>
          </a:p>
          <a:p>
            <a:pPr>
              <a:lnSpc>
                <a:spcPct val="100000"/>
              </a:lnSpc>
              <a:spcAft>
                <a:spcPts val="0"/>
              </a:spcAft>
            </a:pPr>
            <a:r>
              <a:rPr sz="1800" i="0">
                <a:solidFill>
                  <a:srgbClr val="E8EDF2"/>
                </a:solidFill>
                <a:latin typeface="Consolas"/>
              </a:rPr>
              <a:t>IP</a:t>
            </a:r>
            <a:r>
              <a:rPr sz="1800" i="0">
                <a:solidFill>
                  <a:srgbClr val="AEB6BF"/>
                </a:solidFill>
                <a:latin typeface="Consolas"/>
              </a:rPr>
              <a:t>=</a:t>
            </a:r>
            <a:r>
              <a:rPr sz="1800" i="0">
                <a:solidFill>
                  <a:srgbClr val="5DADE2"/>
                </a:solidFill>
                <a:latin typeface="Consolas"/>
              </a:rPr>
              <a:t>$(</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domifaddr</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awk</a:t>
            </a:r>
            <a:r>
              <a:rPr sz="1800" i="0">
                <a:solidFill>
                  <a:srgbClr val="E8EDF2"/>
                </a:solidFill>
                <a:latin typeface="Consolas"/>
              </a:rPr>
              <a:t> </a:t>
            </a:r>
            <a:r>
              <a:rPr sz="1800" i="0">
                <a:solidFill>
                  <a:srgbClr val="7DCEA0"/>
                </a:solidFill>
                <a:latin typeface="Consolas"/>
              </a:rPr>
              <a:t>'/ipv4/{split($4,a,"/");print a[1]}'</a:t>
            </a:r>
            <a:r>
              <a:rPr sz="1800" i="0">
                <a:solidFill>
                  <a:srgbClr val="5DADE2"/>
                </a:solidFill>
                <a:latin typeface="Consolas"/>
              </a:rPr>
              <a:t>)</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ssh</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StrictHostKeyChecking</a:t>
            </a:r>
            <a:r>
              <a:rPr sz="1800" i="0">
                <a:solidFill>
                  <a:srgbClr val="AEB6BF"/>
                </a:solidFill>
                <a:latin typeface="Consolas"/>
              </a:rPr>
              <a:t>=</a:t>
            </a:r>
            <a:r>
              <a:rPr sz="1800" i="0">
                <a:solidFill>
                  <a:srgbClr val="E8EDF2"/>
                </a:solidFill>
                <a:latin typeface="Consolas"/>
              </a:rPr>
              <a:t>no</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ubuntu@</a:t>
            </a:r>
            <a:r>
              <a:rPr sz="1800" i="0">
                <a:solidFill>
                  <a:srgbClr val="E8EDF2"/>
                </a:solidFill>
                <a:latin typeface="Consolas"/>
              </a:rPr>
              <a:t>$IP</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$1</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"sudo apt-get -qq install -y stress-ng python3 &amp;&amp; \</a:t>
            </a:r>
          </a:p>
          <a:p>
            <a:pPr>
              <a:lnSpc>
                <a:spcPct val="100000"/>
              </a:lnSpc>
              <a:spcAft>
                <a:spcPts val="0"/>
              </a:spcAft>
            </a:pPr>
            <a:r>
              <a:rPr sz="1800" i="0">
                <a:solidFill>
                  <a:srgbClr val="7DCEA0"/>
                </a:solidFill>
                <a:latin typeface="Consolas"/>
              </a:rPr>
              <a:t>   nohup python3 -m http.server 8000 &gt;/dev/null 2&gt;&amp;1 &amp;"</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9095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DAE30C6D-D277-4563-836D-FBCC1604D56B}"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Watch continuity: ping and HTTP, both running throughout.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Watch continuity: ping and HTTP, both running throughout. ---- ping -i 0.2 &quot;$IP&quot; &gt; /tmp/ping.log &amp; PINGPID=$! ( while true; do curl -s -o /dev/null -w '%{http_code} ' \ &quot;http://$IP:8000/&quot; ; sleep 0.2; done ) &gt; /tmp/http.log &amp; CURLPID=$!"/>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Watch continuity: ping and HTTP, both running throughout. ----</a:t>
            </a:r>
          </a:p>
          <a:p>
            <a:pPr>
              <a:lnSpc>
                <a:spcPct val="100000"/>
              </a:lnSpc>
              <a:spcAft>
                <a:spcPts val="0"/>
              </a:spcAft>
            </a:pPr>
            <a:r>
              <a:rPr sz="1900" i="0">
                <a:solidFill>
                  <a:srgbClr val="E8EDF2"/>
                </a:solidFill>
                <a:latin typeface="Consolas"/>
              </a:rPr>
              <a:t>ping</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.2</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$IP</a:t>
            </a:r>
            <a:r>
              <a:rPr sz="1900" i="0">
                <a:solidFill>
                  <a:srgbClr val="7DCEA0"/>
                </a:solidFill>
                <a:latin typeface="Consolas"/>
              </a:rPr>
              <a:t>"</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/tmp/ping.log</a:t>
            </a:r>
            <a:r>
              <a:rPr sz="1900" i="0">
                <a:solidFill>
                  <a:srgbClr val="E8EDF2"/>
                </a:solidFill>
                <a:latin typeface="Consolas"/>
              </a:rPr>
              <a:t> </a:t>
            </a:r>
            <a:r>
              <a:rPr sz="1900" i="0">
                <a:solidFill>
                  <a:srgbClr val="AEB6BF"/>
                </a:solidFill>
                <a:latin typeface="Consolas"/>
              </a:rPr>
              <a:t>&amp;</a:t>
            </a:r>
          </a:p>
          <a:p>
            <a:pPr>
              <a:lnSpc>
                <a:spcPct val="100000"/>
              </a:lnSpc>
              <a:spcAft>
                <a:spcPts val="0"/>
              </a:spcAft>
            </a:pPr>
            <a:r>
              <a:rPr sz="1900" i="0">
                <a:solidFill>
                  <a:srgbClr val="E8EDF2"/>
                </a:solidFill>
                <a:latin typeface="Consolas"/>
              </a:rPr>
              <a:t>PINGPID</a:t>
            </a:r>
            <a:r>
              <a:rPr sz="1900" i="0">
                <a:solidFill>
                  <a:srgbClr val="AEB6BF"/>
                </a:solidFill>
                <a:latin typeface="Consolas"/>
              </a:rPr>
              <a:t>=</a:t>
            </a:r>
            <a:r>
              <a:rPr sz="1900" i="0">
                <a:solidFill>
                  <a:srgbClr val="E8EDF2"/>
                </a:solidFill>
                <a:latin typeface="Consolas"/>
              </a:rPr>
              <a:t>$!</a:t>
            </a:r>
          </a:p>
          <a:p>
            <a:pPr>
              <a:lnSpc>
                <a:spcPct val="100000"/>
              </a:lnSpc>
              <a:spcAft>
                <a:spcPts val="0"/>
              </a:spcAft>
            </a:pP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while</a:t>
            </a:r>
            <a:r>
              <a:rPr sz="1900" i="0">
                <a:solidFill>
                  <a:srgbClr val="E8EDF2"/>
                </a:solidFill>
                <a:latin typeface="Consolas"/>
              </a:rPr>
              <a:t> </a:t>
            </a:r>
            <a:r>
              <a:rPr sz="1900" i="0">
                <a:solidFill>
                  <a:srgbClr val="E8EDF2"/>
                </a:solidFill>
                <a:latin typeface="Consolas"/>
              </a:rPr>
              <a:t>true</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r>
              <a:rPr sz="1900" i="0">
                <a:solidFill>
                  <a:srgbClr val="E8EDF2"/>
                </a:solidFill>
                <a:latin typeface="Consolas"/>
              </a:rPr>
              <a:t> </a:t>
            </a:r>
            <a:r>
              <a:rPr sz="1900" i="0">
                <a:solidFill>
                  <a:srgbClr val="E8EDF2"/>
                </a:solidFill>
                <a:latin typeface="Consolas"/>
              </a:rPr>
              <a:t>curl</a:t>
            </a:r>
            <a:r>
              <a:rPr sz="1900" i="0">
                <a:solidFill>
                  <a:srgbClr val="E8EDF2"/>
                </a:solidFill>
                <a:latin typeface="Consolas"/>
              </a:rPr>
              <a:t> </a:t>
            </a:r>
            <a:r>
              <a:rPr sz="1900" i="0">
                <a:solidFill>
                  <a:srgbClr val="E8EDF2"/>
                </a:solidFill>
                <a:latin typeface="Consolas"/>
              </a:rPr>
              <a:t>-s</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/dev/null</a:t>
            </a:r>
            <a:r>
              <a:rPr sz="1900" i="0">
                <a:solidFill>
                  <a:srgbClr val="E8EDF2"/>
                </a:solidFill>
                <a:latin typeface="Consolas"/>
              </a:rPr>
              <a:t> </a:t>
            </a:r>
            <a:r>
              <a:rPr sz="1900" i="0">
                <a:solidFill>
                  <a:srgbClr val="E8EDF2"/>
                </a:solidFill>
                <a:latin typeface="Consolas"/>
              </a:rPr>
              <a:t>-w</a:t>
            </a:r>
            <a:r>
              <a:rPr sz="1900" i="0">
                <a:solidFill>
                  <a:srgbClr val="E8EDF2"/>
                </a:solidFill>
                <a:latin typeface="Consolas"/>
              </a:rPr>
              <a:t> </a:t>
            </a:r>
            <a:r>
              <a:rPr sz="1900" i="0">
                <a:solidFill>
                  <a:srgbClr val="7DCEA0"/>
                </a:solidFill>
                <a:latin typeface="Consolas"/>
              </a:rPr>
              <a:t>'%{http_code} '</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http://</a:t>
            </a:r>
            <a:r>
              <a:rPr sz="1900" i="0">
                <a:solidFill>
                  <a:srgbClr val="E8EDF2"/>
                </a:solidFill>
                <a:latin typeface="Consolas"/>
              </a:rPr>
              <a:t>$IP</a:t>
            </a:r>
            <a:r>
              <a:rPr sz="1900" i="0">
                <a:solidFill>
                  <a:srgbClr val="7DCEA0"/>
                </a:solidFill>
                <a:latin typeface="Consolas"/>
              </a:rPr>
              <a:t>:8000/</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.2</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done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/tmp/http.log</a:t>
            </a:r>
            <a:r>
              <a:rPr sz="1900" i="0">
                <a:solidFill>
                  <a:srgbClr val="E8EDF2"/>
                </a:solidFill>
                <a:latin typeface="Consolas"/>
              </a:rPr>
              <a:t> </a:t>
            </a:r>
            <a:r>
              <a:rPr sz="1900" i="0">
                <a:solidFill>
                  <a:srgbClr val="AEB6BF"/>
                </a:solidFill>
                <a:latin typeface="Consolas"/>
              </a:rPr>
              <a:t>&amp;</a:t>
            </a:r>
          </a:p>
          <a:p>
            <a:pPr>
              <a:lnSpc>
                <a:spcPct val="100000"/>
              </a:lnSpc>
              <a:spcAft>
                <a:spcPts val="0"/>
              </a:spcAft>
            </a:pPr>
            <a:r>
              <a:rPr sz="1900" i="0">
                <a:solidFill>
                  <a:srgbClr val="E8EDF2"/>
                </a:solidFill>
                <a:latin typeface="Consolas"/>
              </a:rPr>
              <a:t>CURLPID</a:t>
            </a:r>
            <a:r>
              <a:rPr sz="1900" i="0">
                <a:solidFill>
                  <a:srgbClr val="AEB6BF"/>
                </a:solidFill>
                <a:latin typeface="Consolas"/>
              </a:rPr>
              <a:t>=</a:t>
            </a:r>
            <a:r>
              <a:rPr sz="1900" i="0">
                <a:solidFill>
                  <a:srgbClr val="E8EDF2"/>
                </a:solidFill>
                <a:latin typeface="Consolas"/>
              </a:rPr>
              <a:t>$!</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5599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9F5CCAB6-C1AB-45C7-8713-6BEE12F01BF5}"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Migrate it, and time the whole thing.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Migrate it, and time the whole thing. ------------------------ time sudo virsh migrate --live --verbose --persistent --undefinesource \ vss1 &quot;qemu+ssh://$DEST/system&quot; sleep 2 ; kill $PINGPID $CURLPID 2&gt;/dev/null || true echo &quot;--- dropped pings ---&quot; grep -c 'icmp_seq' /tmp/ping.log tail -2 /tmp/ping.log # look at the loss percentage echo &quot;--- non-200 responses ---&quot; tr ' ' '\n' &lt; /tmp/http.log | grep -vc '^200$' || echo 0 # A correct migration drops nothing. The 50 ms pause is inside one # ping interval."/>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Migrate it, and time the whole thing. ------------------------</a:t>
            </a:r>
          </a:p>
          <a:p>
            <a:pPr>
              <a:lnSpc>
                <a:spcPct val="100000"/>
              </a:lnSpc>
              <a:spcAft>
                <a:spcPts val="0"/>
              </a:spcAft>
            </a:pPr>
            <a:r>
              <a:rPr sz="1900" i="0">
                <a:solidFill>
                  <a:srgbClr val="C39BD3"/>
                </a:solidFill>
                <a:latin typeface="Consolas"/>
              </a:rPr>
              <a:t>time</a:t>
            </a: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migrate</a:t>
            </a:r>
            <a:r>
              <a:rPr sz="1900" i="0">
                <a:solidFill>
                  <a:srgbClr val="E8EDF2"/>
                </a:solidFill>
                <a:latin typeface="Consolas"/>
              </a:rPr>
              <a:t> </a:t>
            </a:r>
            <a:r>
              <a:rPr sz="1900" i="0">
                <a:solidFill>
                  <a:srgbClr val="E8EDF2"/>
                </a:solidFill>
                <a:latin typeface="Consolas"/>
              </a:rPr>
              <a:t>--live</a:t>
            </a:r>
            <a:r>
              <a:rPr sz="1900" i="0">
                <a:solidFill>
                  <a:srgbClr val="E8EDF2"/>
                </a:solidFill>
                <a:latin typeface="Consolas"/>
              </a:rPr>
              <a:t> </a:t>
            </a:r>
            <a:r>
              <a:rPr sz="1900" i="0">
                <a:solidFill>
                  <a:srgbClr val="E8EDF2"/>
                </a:solidFill>
                <a:latin typeface="Consolas"/>
              </a:rPr>
              <a:t>--verbose</a:t>
            </a:r>
            <a:r>
              <a:rPr sz="1900" i="0">
                <a:solidFill>
                  <a:srgbClr val="E8EDF2"/>
                </a:solidFill>
                <a:latin typeface="Consolas"/>
              </a:rPr>
              <a:t> </a:t>
            </a:r>
            <a:r>
              <a:rPr sz="1900" i="0">
                <a:solidFill>
                  <a:srgbClr val="E8EDF2"/>
                </a:solidFill>
                <a:latin typeface="Consolas"/>
              </a:rPr>
              <a:t>--persistent</a:t>
            </a:r>
            <a:r>
              <a:rPr sz="1900" i="0">
                <a:solidFill>
                  <a:srgbClr val="E8EDF2"/>
                </a:solidFill>
                <a:latin typeface="Consolas"/>
              </a:rPr>
              <a:t> </a:t>
            </a:r>
            <a:r>
              <a:rPr sz="1900" i="0">
                <a:solidFill>
                  <a:srgbClr val="E8EDF2"/>
                </a:solidFill>
                <a:latin typeface="Consolas"/>
              </a:rPr>
              <a:t>--undefinesource</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qemu+ssh://</a:t>
            </a:r>
            <a:r>
              <a:rPr sz="1900" i="0">
                <a:solidFill>
                  <a:srgbClr val="E8EDF2"/>
                </a:solidFill>
                <a:latin typeface="Consolas"/>
              </a:rPr>
              <a:t>$DEST</a:t>
            </a:r>
            <a:r>
              <a:rPr sz="1900" i="0">
                <a:solidFill>
                  <a:srgbClr val="7DCEA0"/>
                </a:solidFill>
                <a:latin typeface="Consolas"/>
              </a:rPr>
              <a:t>/system</a:t>
            </a:r>
            <a:r>
              <a:rPr sz="1900" i="0">
                <a:solidFill>
                  <a:srgbClr val="7DCEA0"/>
                </a:solidFill>
                <a:latin typeface="Consolas"/>
              </a:rPr>
              <a:t>"</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kill</a:t>
            </a:r>
            <a:r>
              <a:rPr sz="1900" i="0">
                <a:solidFill>
                  <a:srgbClr val="E8EDF2"/>
                </a:solidFill>
                <a:latin typeface="Consolas"/>
              </a:rPr>
              <a:t> </a:t>
            </a:r>
            <a:r>
              <a:rPr sz="1900" i="0">
                <a:solidFill>
                  <a:srgbClr val="E8EDF2"/>
                </a:solidFill>
                <a:latin typeface="Consolas"/>
              </a:rPr>
              <a:t>$PINGPID</a:t>
            </a:r>
            <a:r>
              <a:rPr sz="1900" i="0">
                <a:solidFill>
                  <a:srgbClr val="E8EDF2"/>
                </a:solidFill>
                <a:latin typeface="Consolas"/>
              </a:rPr>
              <a:t> </a:t>
            </a:r>
            <a:r>
              <a:rPr sz="1900" i="0">
                <a:solidFill>
                  <a:srgbClr val="E8EDF2"/>
                </a:solidFill>
                <a:latin typeface="Consolas"/>
              </a:rPr>
              <a:t>$CURLPID</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dropped pings ---"</a:t>
            </a:r>
          </a:p>
          <a:p>
            <a:pPr>
              <a:lnSpc>
                <a:spcPct val="100000"/>
              </a:lnSpc>
              <a:spcAft>
                <a:spcPts val="0"/>
              </a:spcAft>
            </a:pP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'icmp_seq'</a:t>
            </a:r>
            <a:r>
              <a:rPr sz="1900" i="0">
                <a:solidFill>
                  <a:srgbClr val="E8EDF2"/>
                </a:solidFill>
                <a:latin typeface="Consolas"/>
              </a:rPr>
              <a:t> </a:t>
            </a:r>
            <a:r>
              <a:rPr sz="1900" i="0">
                <a:solidFill>
                  <a:srgbClr val="E8EDF2"/>
                </a:solidFill>
                <a:latin typeface="Consolas"/>
              </a:rPr>
              <a:t>/tmp/ping.log</a:t>
            </a:r>
          </a:p>
          <a:p>
            <a:pPr>
              <a:lnSpc>
                <a:spcPct val="100000"/>
              </a:lnSpc>
              <a:spcAft>
                <a:spcPts val="0"/>
              </a:spcAft>
            </a:pP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-2</a:t>
            </a:r>
            <a:r>
              <a:rPr sz="1900" i="0">
                <a:solidFill>
                  <a:srgbClr val="E8EDF2"/>
                </a:solidFill>
                <a:latin typeface="Consolas"/>
              </a:rPr>
              <a:t> </a:t>
            </a:r>
            <a:r>
              <a:rPr sz="1900" i="0">
                <a:solidFill>
                  <a:srgbClr val="E8EDF2"/>
                </a:solidFill>
                <a:latin typeface="Consolas"/>
              </a:rPr>
              <a:t>/tmp/ping.log</a:t>
            </a:r>
            <a:r>
              <a:rPr sz="1900" i="0">
                <a:solidFill>
                  <a:srgbClr val="E8EDF2"/>
                </a:solidFill>
                <a:latin typeface="Consolas"/>
              </a:rPr>
              <a:t>           </a:t>
            </a:r>
            <a:r>
              <a:rPr sz="1900" i="1">
                <a:solidFill>
                  <a:srgbClr val="8795A1"/>
                </a:solidFill>
                <a:latin typeface="Consolas"/>
              </a:rPr>
              <a:t># look at the loss percentage</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non-200 responses ---"</a:t>
            </a:r>
          </a:p>
          <a:p>
            <a:pPr>
              <a:lnSpc>
                <a:spcPct val="100000"/>
              </a:lnSpc>
              <a:spcAft>
                <a:spcPts val="0"/>
              </a:spcAft>
            </a:pPr>
            <a:r>
              <a:rPr sz="1900" i="0">
                <a:solidFill>
                  <a:srgbClr val="E8EDF2"/>
                </a:solidFill>
                <a:latin typeface="Consolas"/>
              </a:rPr>
              <a:t>tr</a:t>
            </a:r>
            <a:r>
              <a:rPr sz="1900" i="0">
                <a:solidFill>
                  <a:srgbClr val="E8EDF2"/>
                </a:solidFill>
                <a:latin typeface="Consolas"/>
              </a:rPr>
              <a:t> </a:t>
            </a:r>
            <a:r>
              <a:rPr sz="1900" i="0">
                <a:solidFill>
                  <a:srgbClr val="7DCEA0"/>
                </a:solidFill>
                <a:latin typeface="Consolas"/>
              </a:rPr>
              <a:t>' '</a:t>
            </a:r>
            <a:r>
              <a:rPr sz="1900" i="0">
                <a:solidFill>
                  <a:srgbClr val="E8EDF2"/>
                </a:solidFill>
                <a:latin typeface="Consolas"/>
              </a:rPr>
              <a:t> </a:t>
            </a:r>
            <a:r>
              <a:rPr sz="1900" i="0">
                <a:solidFill>
                  <a:srgbClr val="7DCEA0"/>
                </a:solidFill>
                <a:latin typeface="Consolas"/>
              </a:rPr>
              <a:t>'\n'</a:t>
            </a:r>
            <a:r>
              <a:rPr sz="1900" i="0">
                <a:solidFill>
                  <a:srgbClr val="E8EDF2"/>
                </a:solidFill>
                <a:latin typeface="Consolas"/>
              </a:rPr>
              <a:t> </a:t>
            </a:r>
            <a:r>
              <a:rPr sz="1900" i="0">
                <a:solidFill>
                  <a:srgbClr val="E8EDF2"/>
                </a:solidFill>
                <a:latin typeface="Consolas"/>
              </a:rPr>
              <a:t>&lt;</a:t>
            </a:r>
            <a:r>
              <a:rPr sz="1900" i="0">
                <a:solidFill>
                  <a:srgbClr val="E8EDF2"/>
                </a:solidFill>
                <a:latin typeface="Consolas"/>
              </a:rPr>
              <a:t> </a:t>
            </a:r>
            <a:r>
              <a:rPr sz="1900" i="0">
                <a:solidFill>
                  <a:srgbClr val="E8EDF2"/>
                </a:solidFill>
                <a:latin typeface="Consolas"/>
              </a:rPr>
              <a:t>/tmp/http.log</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-vc</a:t>
            </a:r>
            <a:r>
              <a:rPr sz="1900" i="0">
                <a:solidFill>
                  <a:srgbClr val="E8EDF2"/>
                </a:solidFill>
                <a:latin typeface="Consolas"/>
              </a:rPr>
              <a:t> </a:t>
            </a:r>
            <a:r>
              <a:rPr sz="1900" i="0">
                <a:solidFill>
                  <a:srgbClr val="7DCEA0"/>
                </a:solidFill>
                <a:latin typeface="Consolas"/>
              </a:rPr>
              <a:t>'^200$'</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F7DC6F"/>
                </a:solidFill>
                <a:latin typeface="Consolas"/>
              </a:rPr>
              <a:t>0</a:t>
            </a:r>
          </a:p>
          <a:p>
            <a:pPr>
              <a:lnSpc>
                <a:spcPct val="100000"/>
              </a:lnSpc>
              <a:spcAft>
                <a:spcPts val="0"/>
              </a:spcAft>
            </a:pPr>
            <a:r>
              <a:rPr sz="1900" i="1">
                <a:solidFill>
                  <a:srgbClr val="8795A1"/>
                </a:solidFill>
                <a:latin typeface="Consolas"/>
              </a:rPr>
              <a:t># A correct migration drops nothing. The 50 ms pause is inside one</a:t>
            </a:r>
          </a:p>
          <a:p>
            <a:pPr>
              <a:lnSpc>
                <a:spcPct val="100000"/>
              </a:lnSpc>
              <a:spcAft>
                <a:spcPts val="0"/>
              </a:spcAft>
            </a:pPr>
            <a:r>
              <a:rPr sz="1900" i="1">
                <a:solidFill>
                  <a:srgbClr val="8795A1"/>
                </a:solidFill>
                <a:latin typeface="Consolas"/>
              </a:rPr>
              <a:t># ping interval.</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2103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E3B1A572-D810-4B26-BAD7-0061BD5B2750}"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make it refuse to converge.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21024"/>
          </a:xfrm>
          <a:prstGeom prst="roundRect">
            <a:avLst>
              <a:gd name="adj" fmla="val 252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Now make it refuse to converge. ------------------------------ # stress-ng --vm writes continuously, so the dirty rate exceeds the link. sudo virsh migrate --live vss1 &quot;qemu+ssh://$DEST/system&quot; || true # back sleep 10 G &quot;nohup stress-ng --vm 2 --vm-bytes 75% --vm-keep --timeout 300s \ &gt;/dev/null 2&gt;&amp;1 &amp;&quot; sleep 5 echo &quot;--- migrating a guest that dirties faster than the link ---&quot; sudo virsh migrate --live --verbose --timeout 60 \ --timeout-suspend vss1 &quot;qemu+ssh://$DEST/system&quot; || \ echo &quot;did not converge within 60 s -- exactly section 17.1&quot;"/>
          <p:cNvSpPr txBox="1"/>
          <p:nvPr/>
        </p:nvSpPr>
        <p:spPr>
          <a:xfrm>
            <a:off x="1362456" y="2523744"/>
            <a:ext cx="9987991" cy="31272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--- 5. Now make it refuse to converge. ------------------------------</a:t>
            </a:r>
          </a:p>
          <a:p>
            <a:pPr>
              <a:lnSpc>
                <a:spcPct val="100000"/>
              </a:lnSpc>
              <a:spcAft>
                <a:spcPts val="0"/>
              </a:spcAft>
            </a:pPr>
            <a:r>
              <a:rPr sz="1800" i="1">
                <a:solidFill>
                  <a:srgbClr val="8795A1"/>
                </a:solidFill>
                <a:latin typeface="Consolas"/>
              </a:rPr>
              <a:t># stress-ng --vm writes continuously, so the dirty rate exceeds the link.</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migrate</a:t>
            </a:r>
            <a:r>
              <a:rPr sz="1800" i="0">
                <a:solidFill>
                  <a:srgbClr val="E8EDF2"/>
                </a:solidFill>
                <a:latin typeface="Consolas"/>
              </a:rPr>
              <a:t> </a:t>
            </a:r>
            <a:r>
              <a:rPr sz="1800" i="0">
                <a:solidFill>
                  <a:srgbClr val="E8EDF2"/>
                </a:solidFill>
                <a:latin typeface="Consolas"/>
              </a:rPr>
              <a:t>--live</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qemu+ssh://</a:t>
            </a:r>
            <a:r>
              <a:rPr sz="1800" i="0">
                <a:solidFill>
                  <a:srgbClr val="E8EDF2"/>
                </a:solidFill>
                <a:latin typeface="Consolas"/>
              </a:rPr>
              <a:t>$DEST</a:t>
            </a:r>
            <a:r>
              <a:rPr sz="1800" i="0">
                <a:solidFill>
                  <a:srgbClr val="7DCEA0"/>
                </a:solidFill>
                <a:latin typeface="Consolas"/>
              </a:rPr>
              <a:t>/system</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r>
              <a:rPr sz="1800" i="0">
                <a:solidFill>
                  <a:srgbClr val="E8EDF2"/>
                </a:solidFill>
                <a:latin typeface="Consolas"/>
              </a:rPr>
              <a:t>   </a:t>
            </a:r>
            <a:r>
              <a:rPr sz="1800" i="1">
                <a:solidFill>
                  <a:srgbClr val="8795A1"/>
                </a:solidFill>
                <a:latin typeface="Consolas"/>
              </a:rPr>
              <a:t># back</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10</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"nohup stress-ng --vm 2 --vm-bytes 75% --vm-keep --timeout 300s \</a:t>
            </a:r>
          </a:p>
          <a:p>
            <a:pPr>
              <a:lnSpc>
                <a:spcPct val="100000"/>
              </a:lnSpc>
              <a:spcAft>
                <a:spcPts val="0"/>
              </a:spcAft>
            </a:pPr>
            <a:r>
              <a:rPr sz="1800" i="0">
                <a:solidFill>
                  <a:srgbClr val="7DCEA0"/>
                </a:solidFill>
                <a:latin typeface="Consolas"/>
              </a:rPr>
              <a:t>   &gt;/dev/null 2&gt;&amp;1 &amp;"</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5</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 migrating a guest that dirties faster than the link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migrate</a:t>
            </a:r>
            <a:r>
              <a:rPr sz="1800" i="0">
                <a:solidFill>
                  <a:srgbClr val="E8EDF2"/>
                </a:solidFill>
                <a:latin typeface="Consolas"/>
              </a:rPr>
              <a:t> </a:t>
            </a:r>
            <a:r>
              <a:rPr sz="1800" i="0">
                <a:solidFill>
                  <a:srgbClr val="E8EDF2"/>
                </a:solidFill>
                <a:latin typeface="Consolas"/>
              </a:rPr>
              <a:t>--live</a:t>
            </a:r>
            <a:r>
              <a:rPr sz="1800" i="0">
                <a:solidFill>
                  <a:srgbClr val="E8EDF2"/>
                </a:solidFill>
                <a:latin typeface="Consolas"/>
              </a:rPr>
              <a:t> </a:t>
            </a:r>
            <a:r>
              <a:rPr sz="1800" i="0">
                <a:solidFill>
                  <a:srgbClr val="E8EDF2"/>
                </a:solidFill>
                <a:latin typeface="Consolas"/>
              </a:rPr>
              <a:t>--verbose</a:t>
            </a:r>
            <a:r>
              <a:rPr sz="1800" i="0">
                <a:solidFill>
                  <a:srgbClr val="E8EDF2"/>
                </a:solidFill>
                <a:latin typeface="Consolas"/>
              </a:rPr>
              <a:t> </a:t>
            </a:r>
            <a:r>
              <a:rPr sz="1800" i="0">
                <a:solidFill>
                  <a:srgbClr val="E8EDF2"/>
                </a:solidFill>
                <a:latin typeface="Consolas"/>
              </a:rPr>
              <a:t>--timeout</a:t>
            </a:r>
            <a:r>
              <a:rPr sz="1800" i="0">
                <a:solidFill>
                  <a:srgbClr val="E8EDF2"/>
                </a:solidFill>
                <a:latin typeface="Consolas"/>
              </a:rPr>
              <a:t> </a:t>
            </a:r>
            <a:r>
              <a:rPr sz="1800" i="0">
                <a:solidFill>
                  <a:srgbClr val="F7DC6F"/>
                </a:solidFill>
                <a:latin typeface="Consolas"/>
              </a:rPr>
              <a:t>60</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--timeout-suspend</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qemu+ssh://</a:t>
            </a:r>
            <a:r>
              <a:rPr sz="1800" i="0">
                <a:solidFill>
                  <a:srgbClr val="E8EDF2"/>
                </a:solidFill>
                <a:latin typeface="Consolas"/>
              </a:rPr>
              <a:t>$DEST</a:t>
            </a:r>
            <a:r>
              <a:rPr sz="1800" i="0">
                <a:solidFill>
                  <a:srgbClr val="7DCEA0"/>
                </a:solidFill>
                <a:latin typeface="Consolas"/>
              </a:rPr>
              <a:t>/system</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"did not converge within 60 s -- exactly section 17.1"</a:t>
            </a:r>
          </a:p>
        </p:txBody>
      </p:sp>
      <p:sp>
        <p:nvSpPr>
          <p:cNvPr id="15" name="!!code-num"/>
          <p:cNvSpPr txBox="1"/>
          <p:nvPr/>
        </p:nvSpPr>
        <p:spPr>
          <a:xfrm>
            <a:off x="768096" y="2523744"/>
            <a:ext cx="393192" cy="31272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8606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FE1E55BA-C1FB-463C-9D40-92048FFBA78F}"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Make it converge by throttling the guest on purpose.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Make it converge by throttling the guest on purpose. --------- sudo virsh migrate --live --verbose --auto-converge \ --auto-converge-initial 20 --auto-converge-increment 10 \ vss1 &quot;qemu+ssh://$DEST/system&quot; # The guest was deliberately slowed so that it could move."/>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Make it converge by throttling the guest on purpose.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migrate</a:t>
            </a:r>
            <a:r>
              <a:rPr sz="1900" i="0">
                <a:solidFill>
                  <a:srgbClr val="E8EDF2"/>
                </a:solidFill>
                <a:latin typeface="Consolas"/>
              </a:rPr>
              <a:t> </a:t>
            </a:r>
            <a:r>
              <a:rPr sz="1900" i="0">
                <a:solidFill>
                  <a:srgbClr val="E8EDF2"/>
                </a:solidFill>
                <a:latin typeface="Consolas"/>
              </a:rPr>
              <a:t>--live</a:t>
            </a:r>
            <a:r>
              <a:rPr sz="1900" i="0">
                <a:solidFill>
                  <a:srgbClr val="E8EDF2"/>
                </a:solidFill>
                <a:latin typeface="Consolas"/>
              </a:rPr>
              <a:t> </a:t>
            </a:r>
            <a:r>
              <a:rPr sz="1900" i="0">
                <a:solidFill>
                  <a:srgbClr val="E8EDF2"/>
                </a:solidFill>
                <a:latin typeface="Consolas"/>
              </a:rPr>
              <a:t>--verbose</a:t>
            </a:r>
            <a:r>
              <a:rPr sz="1900" i="0">
                <a:solidFill>
                  <a:srgbClr val="E8EDF2"/>
                </a:solidFill>
                <a:latin typeface="Consolas"/>
              </a:rPr>
              <a:t> </a:t>
            </a:r>
            <a:r>
              <a:rPr sz="1900" i="0">
                <a:solidFill>
                  <a:srgbClr val="E8EDF2"/>
                </a:solidFill>
                <a:latin typeface="Consolas"/>
              </a:rPr>
              <a:t>--auto-converge</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--auto-converge-initial</a:t>
            </a:r>
            <a:r>
              <a:rPr sz="1900" i="0">
                <a:solidFill>
                  <a:srgbClr val="E8EDF2"/>
                </a:solidFill>
                <a:latin typeface="Consolas"/>
              </a:rPr>
              <a:t> </a:t>
            </a:r>
            <a:r>
              <a:rPr sz="1900" i="0">
                <a:solidFill>
                  <a:srgbClr val="F7DC6F"/>
                </a:solidFill>
                <a:latin typeface="Consolas"/>
              </a:rPr>
              <a:t>20</a:t>
            </a:r>
            <a:r>
              <a:rPr sz="1900" i="0">
                <a:solidFill>
                  <a:srgbClr val="E8EDF2"/>
                </a:solidFill>
                <a:latin typeface="Consolas"/>
              </a:rPr>
              <a:t> </a:t>
            </a:r>
            <a:r>
              <a:rPr sz="1900" i="0">
                <a:solidFill>
                  <a:srgbClr val="E8EDF2"/>
                </a:solidFill>
                <a:latin typeface="Consolas"/>
              </a:rPr>
              <a:t>--auto-converge-increment</a:t>
            </a:r>
            <a:r>
              <a:rPr sz="1900" i="0">
                <a:solidFill>
                  <a:srgbClr val="E8EDF2"/>
                </a:solidFill>
                <a:latin typeface="Consolas"/>
              </a:rPr>
              <a:t> </a:t>
            </a:r>
            <a:r>
              <a:rPr sz="1900" i="0">
                <a:solidFill>
                  <a:srgbClr val="F7DC6F"/>
                </a:solidFill>
                <a:latin typeface="Consolas"/>
              </a:rPr>
              <a:t>10</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qemu+ssh://</a:t>
            </a:r>
            <a:r>
              <a:rPr sz="1900" i="0">
                <a:solidFill>
                  <a:srgbClr val="E8EDF2"/>
                </a:solidFill>
                <a:latin typeface="Consolas"/>
              </a:rPr>
              <a:t>$DEST</a:t>
            </a:r>
            <a:r>
              <a:rPr sz="1900" i="0">
                <a:solidFill>
                  <a:srgbClr val="7DCEA0"/>
                </a:solidFill>
                <a:latin typeface="Consolas"/>
              </a:rPr>
              <a:t>/system</a:t>
            </a:r>
            <a:r>
              <a:rPr sz="1900" i="0">
                <a:solidFill>
                  <a:srgbClr val="7DCEA0"/>
                </a:solidFill>
                <a:latin typeface="Consolas"/>
              </a:rPr>
              <a:t>"</a:t>
            </a:r>
          </a:p>
          <a:p>
            <a:pPr>
              <a:lnSpc>
                <a:spcPct val="100000"/>
              </a:lnSpc>
              <a:spcAft>
                <a:spcPts val="0"/>
              </a:spcAft>
            </a:pPr>
            <a:r>
              <a:rPr sz="1900" i="1">
                <a:solidFill>
                  <a:srgbClr val="8795A1"/>
                </a:solidFill>
                <a:latin typeface="Consolas"/>
              </a:rPr>
              <a:t># The guest was deliberately slowed so that it could move.</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a:p>
            <a:pPr algn="r">
              <a:lnSpc>
                <a:spcPct val="100000"/>
              </a:lnSpc>
            </a:pPr>
            <a:r>
              <a:rPr sz="1900">
                <a:solidFill>
                  <a:srgbClr val="4F5D6A"/>
                </a:solidFill>
                <a:latin typeface="Consolas"/>
              </a:rPr>
              <a:t>55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5110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F6CD1969-4749-4620-B5CE-69EDF8485A40}"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Measure the dirty rate directly, for the arithmetic.</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Measure the dirty rate directly, for the arithmetic. --------- sudo virsh domdirtyrate-calc vss1 --seconds 10 || true sleep 12 ; sudo virsh domstats vss1 --dirtyrate | grep -i dirty"/>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Measure the dirty rate directly, for the arithmetic.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domdirtyrate-calc</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E8EDF2"/>
                </a:solidFill>
                <a:latin typeface="Consolas"/>
              </a:rPr>
              <a:t>--seconds</a:t>
            </a:r>
            <a:r>
              <a:rPr sz="1900" i="0">
                <a:solidFill>
                  <a:srgbClr val="E8EDF2"/>
                </a:solidFill>
                <a:latin typeface="Consolas"/>
              </a:rPr>
              <a:t> </a:t>
            </a:r>
            <a:r>
              <a:rPr sz="1900" i="0">
                <a:solidFill>
                  <a:srgbClr val="F7DC6F"/>
                </a:solidFill>
                <a:latin typeface="Consolas"/>
              </a:rPr>
              <a:t>10</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12</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domstats</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E8EDF2"/>
                </a:solidFill>
                <a:latin typeface="Consolas"/>
              </a:rPr>
              <a:t>--dirtyrate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E8EDF2"/>
                </a:solidFill>
                <a:latin typeface="Consolas"/>
              </a:rPr>
              <a:t>dirty</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57</a:t>
            </a:r>
          </a:p>
          <a:p>
            <a:pPr algn="r">
              <a:lnSpc>
                <a:spcPct val="100000"/>
              </a:lnSpc>
            </a:pPr>
            <a:r>
              <a:rPr sz="1900">
                <a:solidFill>
                  <a:srgbClr val="4F5D6A"/>
                </a:solidFill>
                <a:latin typeface="Consolas"/>
              </a:rPr>
              <a:t>58</a:t>
            </a:r>
          </a:p>
          <a:p>
            <a:pPr algn="r">
              <a:lnSpc>
                <a:spcPct val="100000"/>
              </a:lnSpc>
            </a:pPr>
            <a:r>
              <a:rPr sz="1900">
                <a:solidFill>
                  <a:srgbClr val="4F5D6A"/>
                </a:solidFill>
                <a:latin typeface="Consolas"/>
              </a:rPr>
              <a:t>59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1614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4D478912-E258-44BE-9FA0-3D99B5A94189}"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Unplanned failure: what HA does instead.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Unplanned failure: what HA does instead. --------------------- # No graceful anything: cut the guest off and see what survives. sudo virsh destroy vss1 echo &quot;the guest is gone; HA would now restart it elsewhere, and&quot; echo &quot;everything in its memory is lost. That is the difference.&quot;"/>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Unplanned failure: what HA does instead. ---------------------</a:t>
            </a:r>
          </a:p>
          <a:p>
            <a:pPr>
              <a:lnSpc>
                <a:spcPct val="100000"/>
              </a:lnSpc>
              <a:spcAft>
                <a:spcPts val="0"/>
              </a:spcAft>
            </a:pPr>
            <a:r>
              <a:rPr sz="1900" i="1">
                <a:solidFill>
                  <a:srgbClr val="8795A1"/>
                </a:solidFill>
                <a:latin typeface="Consolas"/>
              </a:rPr>
              <a:t># No graceful anything: cut the guest off and see what survives.</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E8EDF2"/>
                </a:solidFill>
                <a:latin typeface="Consolas"/>
              </a:rPr>
              <a:t>vss1</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"the guest is gone; HA would now restart it elsewhere, and"</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"everything in its memory is lost. That is the difference."</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61</a:t>
            </a:r>
          </a:p>
          <a:p>
            <a:pPr algn="r">
              <a:lnSpc>
                <a:spcPct val="100000"/>
              </a:lnSpc>
            </a:pPr>
            <a:r>
              <a:rPr sz="1900">
                <a:solidFill>
                  <a:srgbClr val="4F5D6A"/>
                </a:solidFill>
                <a:latin typeface="Consolas"/>
              </a:rPr>
              <a:t>62</a:t>
            </a:r>
          </a:p>
          <a:p>
            <a:pPr algn="r">
              <a:lnSpc>
                <a:spcPct val="100000"/>
              </a:lnSpc>
            </a:pPr>
            <a:r>
              <a:rPr sz="1900">
                <a:solidFill>
                  <a:srgbClr val="4F5D6A"/>
                </a:solidFill>
                <a:latin typeface="Consolas"/>
              </a:rPr>
              <a:t>63</a:t>
            </a:r>
          </a:p>
          <a:p>
            <a:pPr algn="r">
              <a:lnSpc>
                <a:spcPct val="100000"/>
              </a:lnSpc>
            </a:pPr>
            <a:r>
              <a:rPr sz="1900">
                <a:solidFill>
                  <a:srgbClr val="4F5D6A"/>
                </a:solidFill>
                <a:latin typeface="Consolas"/>
              </a:rPr>
              <a:t>64</a:t>
            </a:r>
          </a:p>
          <a:p>
            <a:pPr algn="r">
              <a:lnSpc>
                <a:spcPct val="100000"/>
              </a:lnSpc>
            </a:pPr>
            <a:r>
              <a:rPr sz="1900">
                <a:solidFill>
                  <a:srgbClr val="4F5D6A"/>
                </a:solidFill>
                <a:latin typeface="Consolas"/>
              </a:rPr>
              <a:t>65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8117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Migrating a Running Guest, and Failing To</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433DF5CA-33DF-4076-9C52-AD035CDF8EA9}"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82624"/>
          </a:xfrm>
          <a:prstGeom prst="roundRect">
            <a:avLst>
              <a:gd name="adj" fmla="val 77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9. Tear down. --------------------------------------------------- sudo virsh start vss1 || true"/>
          <p:cNvSpPr txBox="1"/>
          <p:nvPr/>
        </p:nvSpPr>
        <p:spPr>
          <a:xfrm>
            <a:off x="1362456" y="2523744"/>
            <a:ext cx="9987991" cy="6888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--- 9. Tear down.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start</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6888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67</a:t>
            </a:r>
          </a:p>
          <a:p>
            <a:pPr algn="r">
              <a:lnSpc>
                <a:spcPct val="100000"/>
              </a:lnSpc>
            </a:pPr>
            <a:r>
              <a:rPr sz="1900">
                <a:solidFill>
                  <a:srgbClr val="4F5D6A"/>
                </a:solidFill>
                <a:latin typeface="Consolas"/>
              </a:rPr>
              <a:t>68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4621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136     </a:t>
            </a:r>
            <a:fld id="{3FC9EBC2-6738-41B8-BD61-99F75686E8D8}" type="slidenum">
              <a:rPr lang="en-GB" sz="1000">
                <a:solidFill>
                  <a:srgbClr val="8795A1"/>
                </a:solidFill>
                <a:latin typeface="Segoe UI"/>
              </a:rPr>
              <a:t>34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4 should drop no pings at all: the guest moved between physical machines while serving HTTP and nothing noticed. Step 5 is the same command failing for the reason the worked example predicts, and step 6 is the hypervisor buying convergence with the guest’s performance.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01125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32 GB guest dirties memory at 400 MB/s and the migration link sustains 1.2 GB/s. Give the ratio, the size of the first three rounds, and the approximate total elapsed time.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17  ·  High Availability, Live Migration and Disaster Recovery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140  ·  answers in Appendix D     </a:t>
            </a:r>
            <a:fld id="{4839DB42-41FE-4227-8EFB-C4991AA54786}"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32 GB guest dirties memory at 400 MB/s and the migration link sustains 1.2 GB/s. Give the ratio, the size of the first three rounds, and the approximate total elapsed time.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ratio is </a:t>
            </a:r>
            <a:r>
              <a:rPr sz="2200" b="0" i="0">
                <a:solidFill>
                  <a:srgbClr val="1C252B"/>
                </a:solidFill>
                <a:latin typeface="Cambria"/>
              </a:rPr>
              <a:t>400/1,200 = </a:t>
            </a:r>
            <a:r>
              <a:rPr sz="2200" b="1" i="0">
                <a:solidFill>
                  <a:srgbClr val="1C252B"/>
                </a:solidFill>
                <a:latin typeface="Cambria"/>
              </a:rPr>
              <a:t>0.33</a:t>
            </a:r>
            <a:r>
              <a:rPr sz="2200" b="0" i="0">
                <a:solidFill>
                  <a:srgbClr val="1C252B"/>
                </a:solidFill>
                <a:latin typeface="Segoe UI"/>
              </a:rPr>
              <a:t>, so it converges. Round 0: </a:t>
            </a:r>
            <a:r>
              <a:rPr sz="2200" b="0" i="0">
                <a:solidFill>
                  <a:srgbClr val="1C252B"/>
                </a:solidFill>
                <a:latin typeface="Cambria"/>
              </a:rPr>
              <a:t>32,000/1,200 = 26.7</a:t>
            </a:r>
            <a:r>
              <a:rPr sz="2200" b="0" i="0">
                <a:solidFill>
                  <a:srgbClr val="1C252B"/>
                </a:solidFill>
                <a:latin typeface="Segoe UI"/>
              </a:rPr>
              <a:t> s, dirtying </a:t>
            </a:r>
            <a:r>
              <a:rPr sz="2200" b="0" i="0">
                <a:solidFill>
                  <a:srgbClr val="1C252B"/>
                </a:solidFill>
                <a:latin typeface="Cambria"/>
              </a:rPr>
              <a:t>10,667</a:t>
            </a:r>
            <a:r>
              <a:rPr sz="2200" b="0" i="0">
                <a:solidFill>
                  <a:srgbClr val="1C252B"/>
                </a:solidFill>
                <a:latin typeface="Segoe UI"/>
              </a:rPr>
              <a:t> MB. Round 1: </a:t>
            </a:r>
            <a:r>
              <a:rPr sz="2200" b="0" i="0">
                <a:solidFill>
                  <a:srgbClr val="1C252B"/>
                </a:solidFill>
                <a:latin typeface="Cambria"/>
              </a:rPr>
              <a:t>10,667/1,200 = 8.9</a:t>
            </a:r>
            <a:r>
              <a:rPr sz="2200" b="0" i="0">
                <a:solidFill>
                  <a:srgbClr val="1C252B"/>
                </a:solidFill>
                <a:latin typeface="Segoe UI"/>
              </a:rPr>
              <a:t> s, dirtying </a:t>
            </a:r>
            <a:r>
              <a:rPr sz="2200" b="0" i="0">
                <a:solidFill>
                  <a:srgbClr val="1C252B"/>
                </a:solidFill>
                <a:latin typeface="Cambria"/>
              </a:rPr>
              <a:t>3,556</a:t>
            </a:r>
            <a:r>
              <a:rPr sz="2200" b="0" i="0">
                <a:solidFill>
                  <a:srgbClr val="1C252B"/>
                </a:solidFill>
                <a:latin typeface="Segoe UI"/>
              </a:rPr>
              <a:t> MB. Round 2: </a:t>
            </a:r>
            <a:r>
              <a:rPr sz="2200" b="0" i="0">
                <a:solidFill>
                  <a:srgbClr val="1C252B"/>
                </a:solidFill>
                <a:latin typeface="Cambria"/>
              </a:rPr>
              <a:t>3,556/1,200 = 3.0</a:t>
            </a:r>
            <a:r>
              <a:rPr sz="2200" b="0" i="0">
                <a:solidFill>
                  <a:srgbClr val="1C252B"/>
                </a:solidFill>
                <a:latin typeface="Segoe UI"/>
              </a:rPr>
              <a:t> s, dirtying </a:t>
            </a:r>
            <a:r>
              <a:rPr sz="2200" b="0" i="0">
                <a:solidFill>
                  <a:srgbClr val="1C252B"/>
                </a:solidFill>
                <a:latin typeface="Cambria"/>
              </a:rPr>
              <a:t>1,185</a:t>
            </a:r>
            <a:r>
              <a:rPr sz="2200" b="0" i="0">
                <a:solidFill>
                  <a:srgbClr val="1C252B"/>
                </a:solidFill>
                <a:latin typeface="Segoe UI"/>
              </a:rPr>
              <a:t> MB. Subsequent rounds are 1.0 s, 0.3 s and 0.1 s, so the total elapsed time is about </a:t>
            </a:r>
            <a:r>
              <a:rPr sz="2200" b="1" i="0">
                <a:solidFill>
                  <a:srgbClr val="1C252B"/>
                </a:solidFill>
                <a:latin typeface="Cambria"/>
              </a:rPr>
              <a:t>40</a:t>
            </a:r>
            <a:r>
              <a:rPr sz="2200" b="0" i="0">
                <a:solidFill>
                  <a:srgbClr val="1C252B"/>
                </a:solidFill>
                <a:latin typeface="Segoe UI"/>
              </a:rPr>
              <a:t> seconds with a switchover pause of tens of milliseconds.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  answers in Appendix D     </a:t>
            </a:r>
            <a:fld id="{FF718510-61C9-400A-8439-E40EB41EBA13}"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4132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two-host cluster loses the network between the hosts. Both are alive and both can reach the storage. Explain what each host believes, what happens without fencing, and what quorum would do differently.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17  ·  High Availability, Live Migration and Disaster Recovery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140  ·  answers in Appendix D     </a:t>
            </a:r>
            <a:fld id="{ADE942D7-CFA3-48C6-B90A-637149215FA3}"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two-host cluster loses the network between the hosts. Both are alive and both can reach the storage. Explain what each host believes, what happens without fencing, and what quorum would do differently.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Each host believes the </a:t>
            </a:r>
            <a:r>
              <a:rPr sz="2200" b="0" i="1">
                <a:solidFill>
                  <a:srgbClr val="1C252B"/>
                </a:solidFill>
                <a:latin typeface="Segoe UI"/>
              </a:rPr>
              <a:t>other</a:t>
            </a:r>
            <a:r>
              <a:rPr sz="2200" b="0" i="0">
                <a:solidFill>
                  <a:srgbClr val="1C252B"/>
                </a:solidFill>
                <a:latin typeface="Segoe UI"/>
              </a:rPr>
              <a:t> has failed, because from its own position the symptom is identical. </a:t>
            </a:r>
            <a:r>
              <a:rPr sz="2200" b="1" i="0">
                <a:solidFill>
                  <a:srgbClr val="1C252B"/>
                </a:solidFill>
                <a:latin typeface="Segoe UI"/>
              </a:rPr>
              <a:t>Without fencing</a:t>
            </a:r>
            <a:r>
              <a:rPr sz="2200" b="0" i="0">
                <a:solidFill>
                  <a:srgbClr val="1C252B"/>
                </a:solidFill>
                <a:latin typeface="Segoe UI"/>
              </a:rPr>
              <a:t>, both restart the other’s guests, so the same guest runs twice and both instances write to the same disks: not downtime but corruption, which is worse than the outage HA was bought to prevent. </a:t>
            </a:r>
            <a:r>
              <a:rPr sz="2200" b="1" i="0">
                <a:solidFill>
                  <a:srgbClr val="1C252B"/>
                </a:solidFill>
                <a:latin typeface="Segoe UI"/>
              </a:rPr>
              <a:t>Quorum</a:t>
            </a:r>
            <a:r>
              <a:rPr sz="2200" b="0" i="0">
                <a:solidFill>
                  <a:srgbClr val="1C252B"/>
                </a:solidFill>
                <a:latin typeface="Segoe UI"/>
              </a:rPr>
              <a:t> requires a majority before acting; with two hosts neither side has one, so both stop — which is why a two-node cluster needs a third vote, a witness, and why fencing (powering the suspect host off through its management controller) must happen before anything is restarted.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  answers in Appendix D     </a:t>
            </a:r>
            <a:fld id="{C52FC52C-078C-4885-AE7F-0E685351139A}"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7140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service promises 99.99% availability measured annually. Give the downtime budget, and say whether a 90-minute planned upgrade once a year is compatible with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17  ·  High Availability, Live Migration and Disaster Recovery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140  ·  answers in Appendix D     </a:t>
            </a:r>
            <a:fld id="{DFC4FA0C-79C1-439F-A041-152DF3E6D958}"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service promises 99.99% availability measured annually. Give the downtime budget, and say whether a 90-minute planned upgrade once a year is compatible with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525,600 × 0.0001 = </a:t>
            </a:r>
            <a:r>
              <a:rPr sz="2200" b="1" i="0">
                <a:solidFill>
                  <a:srgbClr val="1C252B"/>
                </a:solidFill>
                <a:latin typeface="Cambria"/>
              </a:rPr>
              <a:t>52.6</a:t>
            </a:r>
            <a:r>
              <a:rPr sz="2200" b="0" i="0">
                <a:solidFill>
                  <a:srgbClr val="1C252B"/>
                </a:solidFill>
                <a:latin typeface="Segoe UI"/>
              </a:rPr>
              <a:t> minutes a year. A 90-minute planned upgrade </a:t>
            </a:r>
            <a:r>
              <a:rPr sz="2200" b="1" i="0">
                <a:solidFill>
                  <a:srgbClr val="1C252B"/>
                </a:solidFill>
                <a:latin typeface="Segoe UI"/>
              </a:rPr>
              <a:t>exceeds the entire annual budget on its own</a:t>
            </a:r>
            <a:r>
              <a:rPr sz="2200" b="0" i="0">
                <a:solidFill>
                  <a:srgbClr val="1C252B"/>
                </a:solidFill>
                <a:latin typeface="Segoe UI"/>
              </a:rPr>
              <a:t>, so it is not compatible. Either the upgrade must be performed without downtime — live migration, rolling updates — or the availability target must be renegotiated to 99.9%, which allows 8 h 46 min.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  answers in Appendix D     </a:t>
            </a:r>
            <a:fld id="{A7FE1D17-EBE0-4E3D-84B8-0AC7630B10D0}"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0147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103BFE5A-8BAB-461F-97F6-5321A04FDB55}" type="slidenum">
              <a:rPr lang="en-GB" sz="1000">
                <a:solidFill>
                  <a:srgbClr val="8795A1"/>
                </a:solidFill>
                <a:latin typeface="Segoe UI"/>
              </a:rPr>
              <a:t>41</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Pre-copy migration copies memory in rounds while the guest runs, then pauses briefly to send the remainder. It converges only if the dirty rate is below the transfer rate.</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16 GB guest at 200 MB/s over 1 GB/s converges in about 20 seconds with a 50 ms pause. At 1.2 GB/s it never converges at all.</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fixes are a faster link, auto-convergence (throttling the guest on purpose), or post-copy — which always terminates but loses the guest if the network fails mid-transfer.</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High availability restarts guests after a host failure; fault tolerance runs a lockstep shadow. HA loses memory and takes a minute; FT costs double.</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Quorum and fencing prevent split brain. A cluster without fencing has added a way to corrupt data.</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RPO is data lost, RTO is time down, and they cost differently. Each additional nine divides the budget by ten and multiplies the cost by three to five.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6651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E438E0C3-C7BD-456D-A4C6-85B0F1F63279}" type="slidenum">
              <a:rPr lang="en-GB" sz="1000">
                <a:solidFill>
                  <a:srgbClr val="8795A1"/>
                </a:solidFill>
                <a:latin typeface="Segoe UI"/>
              </a:rPr>
              <a:t>42</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3-2-1, plus one immutable copy, plus tested restores. A backup you have not restored is a hypothesis.</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1315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75B49A92-F4E7-4E94-B83B-1D72E8AE6063}"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Pre-copy live migration converges when: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guest has fewer than 8 vCPUs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dirty rate is lower than the transfer rate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shared storage is used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guest is idle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965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661F6F22-8929-4347-9EEA-10768ACC7615}"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characteristic risk of post-copy migration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never terminates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4380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guest’s memory is split across two hosts, so a failure in that window loses it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needs more bandwidth</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cannot be used with shared storage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6162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17  ·  High Availability, Live Migration and Disaster Recovery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9CF3584E-6FF4-44BB-8B75-D360EE1246EB}" type="slidenum">
              <a:rPr lang="en-GB" sz="1000">
                <a:solidFill>
                  <a:srgbClr val="8795A1"/>
                </a:solidFill>
                <a:latin typeface="Segoe UI"/>
              </a:rPr>
              <a:t>45</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auto-convergence and what it trades.</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Define RPO and RTO, and give a configuration that produces a low RPO and a high RTO.</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3-2-1 rule and explain which parts of it a snapshot fails.</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64 GB database guest must be moved for host maintenance. It dirties memory at 2.1 GB/s and the migration network is 10 Gb/s. Show that it will not converge, give three options with their consequences for the database’s users, and recommend one.</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department is asked to commit to 99.99% availability for a student-facing system. Write the response: the downtime budget, what it rules out operationally, what it would cost to deliver, and the question you would ask the requester first.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665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17</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17</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18 — Performance Monitoring and Capacity Planning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17, pages 133–140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Migrate a running guest, then make it fail to converge</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experiments frozen</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17  ·  High Availability, Live Migration and Disaster Recovery</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438FB9F8-7CD8-407F-8E6A-9706404211C9}"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High Availability, Live Migration and Disaster Recovery</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