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0.svg" ContentType="image/svg+xml"/>
  <Override PartName="/ppt/media/image22.svg" ContentType="image/svg+xml"/>
  <Override PartName="/ppt/media/image24.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1564AA5-17B4-4201-8C83-40B426A9CAF5}">
          <p14:sldIdLst>
            <p14:sldId id="256"/>
            <p14:sldId id="257"/>
            <p14:sldId id="258"/>
            <p14:sldId id="259"/>
            <p14:sldId id="260"/>
          </p14:sldIdLst>
        </p14:section>
        <p14:section name="11.1 The Choice Nobody Wanted to Make" id="{43274173-6E87-4A67-972A-755904AD67E6}">
          <p14:sldIdLst>
            <p14:sldId id="261"/>
          </p14:sldIdLst>
        </p14:section>
        <p14:section name="11.2 MicroVMs" id="{372E70C8-419C-4165-987E-A7AC3F41CCA4}">
          <p14:sldIdLst>
            <p14:sldId id="262"/>
            <p14:sldId id="263"/>
            <p14:sldId id="264"/>
            <p14:sldId id="265"/>
          </p14:sldIdLst>
        </p14:section>
        <p14:section name="11.3 gVisor: a Kernel in User Space" id="{E4B2A8C2-5BBB-4CB8-AE1B-D63263AA9209}">
          <p14:sldIdLst>
            <p14:sldId id="266"/>
          </p14:sldIdLst>
        </p14:section>
        <p14:section name="11.4 Kata Containers" id="{290A2E37-3041-4C2D-B92D-67018D22C893}">
          <p14:sldIdLst>
            <p14:sldId id="267"/>
          </p14:sldIdLst>
        </p14:section>
        <p14:section name="11.5 Unikernels and WebAssembly" id="{5E1C9C66-9997-40BA-B8DD-16794D85A716}">
          <p14:sldIdLst>
            <p14:sldId id="268"/>
            <p14:sldId id="269"/>
            <p14:sldId id="270"/>
          </p14:sldIdLst>
        </p14:section>
        <p14:section name="Pitfalls" id="{C24E93D7-1FCF-4D96-8E46-84CC3A5D995D}">
          <p14:sldIdLst>
            <p14:sldId id="271"/>
          </p14:sldIdLst>
        </p14:section>
        <p14:section name="Lab" id="{6CB57249-ED91-4A90-9CDF-73C9F6BBB78B}">
          <p14:sldIdLst>
            <p14:sldId id="272"/>
            <p14:sldId id="273"/>
            <p14:sldId id="274"/>
            <p14:sldId id="275"/>
            <p14:sldId id="276"/>
            <p14:sldId id="277"/>
            <p14:sldId id="278"/>
            <p14:sldId id="279"/>
            <p14:sldId id="280"/>
            <p14:sldId id="281"/>
            <p14:sldId id="282"/>
            <p14:sldId id="283"/>
          </p14:sldIdLst>
        </p14:section>
        <p14:section name="Checkpoint" id="{DE1401B7-5C55-47FA-8506-640A6DFB0517}">
          <p14:sldIdLst>
            <p14:sldId id="284"/>
            <p14:sldId id="285"/>
            <p14:sldId id="286"/>
            <p14:sldId id="287"/>
            <p14:sldId id="288"/>
            <p14:sldId id="289"/>
          </p14:sldIdLst>
        </p14:section>
        <p14:section name="Wrap-up" id="{A1E810E6-A20D-4A83-A621-9354A28D3902}">
          <p14:sldIdLst>
            <p14:sldId id="290"/>
            <p14:sldId id="291"/>
            <p14:sldId id="292"/>
            <p14:sldId id="293"/>
            <p14:sldId id="294"/>
            <p14:sldId id="29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Lightweight and Secure Virtualization. Part 3 — Containers and Lightweight Virtualization. Week 9: Lightweight and secure virtualization. Handout pages 85–93.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(the shared kernel and the 350-call attack surface) and Chapter 5 (what a hypervisor contains, and Xen’s disaggregation argument). Chapter 7 is also assumed: every design here is fast because it has virtio and nothing else.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microVM; Firecracker; Cloud Hypervisor; device model; boot time; jailer; gVisor; Sentry; Gofer; system-call interception; Kata Containers; RuntimeClass; unikernel; library operating system; WebAssembly; WASI; attack surface; cold start; oversubscription.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II gave an isolation boundary enforced by the processor, at a few hundred megabytes and half a minute per instance. Part III gave a boundary enforced by the kernel, at a few megabytes and a tenth of a second. For most workloads the second is right. For one case it is unacceptable: running other people’s code. A public cloud function service executes whatever a stranger uploads, beside another stranger’s, on hardware shared with a third. The 350-call Linux system-call interface is then not an abstraction — it is the perimeter, and it is enormous. The honest statement of the problem is that this is a three-way trade and you may normally have two.</a:t>
            </a:r>
          </a:p>
          <a:p/>
          <a:p>
            <a:r>
              <a:t>Figure 11.1 (handout p. 86): The trade, with measured figures on the horizontal axis. The dashed line is the move the designs in this chapter make: a hardware-enforced boundary at something close to a container’s cost.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virtual machine is slow to start and heavy because of what the hypervisor emulates: a BIOS, a PCI bus, an IDE controller, a VGA adapter, a PS/2 keyboard — a 1990s PC, assembled in software so that an unmodified operating system recognises it. Chapter 7 showed this is also where the throughput goes. A microVM deletes all of it. If the guest is going to use virtio for everything anyway, the emulated chipset is dead weight.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Google’s answer inverts the problem. Instead of putting a real kernel underneath the container, gVisor puts a fake one in front of it. A gVisor sandbox runs the application’s system calls into Sentry, a user-space process written in Go that implements most of the Linux system-call interface itself. Sentry handles the call in user space wherever it can; where it genuinely needs the host, it makes a far narrower call of its own. File access goes through a second process, the Gofer, so Sentry itself need not hold file descriptors.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Kata takes the most direct route: make every container a virtual machine, and hide that fact completely. Kata implements the OCI runtime interface, so Kubernetes drives it exactly as it drives runc. Underneath, each Pod gets its own lightweight VM — using Firecracker, Cloud Hypervisor or QEMU — with a minimal guest kernel and an agent that starts the container inside. The user writes ordinary manifests; a RuntimeClass selects Kata for the workloads that need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positions on the same axis, both further out than anything above. A unikernel compiles the application together with just the operating system functions it actually calls, producing a single-address-space image that boots directly on a hypervisor. There is no shell, no package manager, no second process and often no notion of a user. Images are measured in megabytes and boot in milliseconds, and the attack surface is tiny because almost nothing is there. They have not displaced anything, and the reasons are instructive: you cannot debug one with the usual tools, you cannot run arbitrary existing software in one without porting it, and the build toolchains have stayed difficult. The idea is sound and the operational cost has never been paid down. WebAssembly outside the browser — Wasm with WASI — is the current attempt at the same goal from the other direction: a sandboxed bytecode with a deny-by-default capability model, millisecond start-up and images in the low megabytes. It runs under Kubernetes today through runwasi and similar shims. Its limitations are the obvious ones: your application must compile to it, and the ecosystem is much younger than the alternatives in this chapter.</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Starts a Firecracker microVM and compares its boot time and memory footprint with a full QEMU guest and a container. Needs KVM.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Firecracker needs KVM and nothing else..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A kernel and a root filesystem, loaded directly..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Describe the whole machine. Note how little there is..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Boot it, and time to the login prompt..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The same guest under full QEMU, for comparison..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And a container, for the other end of the axis..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Memory footprint of the VMM process itself..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Kata, if the host has it: one flag, a whole VM..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10: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Removed: firmware initialisation, PCI bus enumeration and legacy device emulation; the kernel is loaded directly into memory rather than booted through a bootloader. What the guest must be willing to give up is looking like a PC — it cannot expect a BIOS, a PCI bus or any legacy device, so it must be built to use virtio and to be entered directly. The cost was compatibility, not virtualization.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System-call rate. gVisor handles system calls in a user-space Go program instead of in the kernel, so a workload making many small calls — lots of short reads and writes, many file operations — pays heavily, while a CPU-bound workload that rarely calls the kernel is barely affected. Confirm by measuring the calls per second of each, with strace -c or perf, and correlating that against the measured slowdown.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Run the 200 internal services on the default runtime (runc) at full density, and the customer build jobs on a hardware-isolated runtime — Kata, or a microVM-backed equivalent. The manifests are otherwise identical. The single field that expresses it is runtimeClassName in the Pod spec.</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12 — Storage Virtualization. READ: Handout Chapter 11, pages 85–93. THIS WEEK'S LAB: Boot a microVM and time it. ASSESSMENT: Project set Assignment 1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slide" Target="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5.svg"/><Relationship Id="rId4" Type="http://schemas.openxmlformats.org/officeDocument/2006/relationships/image" Target="../media/image26.png"/><Relationship Id="rId5" Type="http://schemas.openxmlformats.org/officeDocument/2006/relationships/image" Target="../media/image27.sv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30.png"/><Relationship Id="rId9" Type="http://schemas.openxmlformats.org/officeDocument/2006/relationships/image" Target="../media/image31.svg"/><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2.svg"/><Relationship Id="rId4" Type="http://schemas.openxmlformats.org/officeDocument/2006/relationships/image" Target="../media/image33.png"/><Relationship Id="rId5" Type="http://schemas.openxmlformats.org/officeDocument/2006/relationships/image" Target="../media/image34.svg"/><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39.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0.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1.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2.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3.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4.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5.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6.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7.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8.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image" Target="../media/image49.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6.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7.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60.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Lightweight and Secure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CONTAINERS AND LIGHTWEIGHT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11  ·  WEEK 9</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3BF9C932-8C12-49EF-B0B9-877AD84C5139}"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067927"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067927" y="2029967"/>
            <a:ext cx="1667468"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33154"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3417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09919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0077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49091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3994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488263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7911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283502"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283502"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2640886"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Lightweight and Secure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5">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5">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5"/>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0" name="!!chipBU7">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7">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7"/>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Paravirtualization and Device Virtualization</a:t>
            </a:r>
          </a:p>
        </p:txBody>
      </p:sp>
      <p:sp>
        <p:nvSpPr>
          <p:cNvPr id="73" name="!!chipBU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chipbBU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tBU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7" name="!!chipUS14">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4">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4"/>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80" name="!!chipUS19">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9">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9"/>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19  </a:t>
            </a:r>
            <a:r>
              <a:rPr sz="1400" b="0" i="0">
                <a:solidFill>
                  <a:srgbClr val="1C252B"/>
                </a:solidFill>
                <a:latin typeface="Segoe UI"/>
              </a:rPr>
              <a:t>Security in Virtualized Environments</a:t>
            </a:r>
          </a:p>
        </p:txBody>
      </p:sp>
      <p:sp>
        <p:nvSpPr>
          <p:cNvPr id="83" name="!!chipUS23">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23">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23"/>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23  </a:t>
            </a:r>
            <a:r>
              <a:rPr sz="1400" b="0" i="0">
                <a:solidFill>
                  <a:srgbClr val="1C252B"/>
                </a:solidFill>
                <a:latin typeface="Segoe UI"/>
              </a:rPr>
              <a:t>The Semester Project</a:t>
            </a:r>
          </a:p>
        </p:txBody>
      </p:sp>
      <p:sp>
        <p:nvSpPr>
          <p:cNvPr id="8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pfill">
            <a:extLst>
              <a:ext uri="{C183D7F6-B498-43B3-948B-1728B52AA6E4}">
                <adec:decorative xmlns:adec="http://schemas.microsoft.com/office/drawing/2017/decorative" val="1"/>
              </a:ext>
            </a:extLst>
          </p:cNvPr>
          <p:cNvSpPr/>
          <p:nvPr/>
        </p:nvSpPr>
        <p:spPr>
          <a:xfrm>
            <a:off x="0" y="0"/>
            <a:ext cx="6095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F26DDC65-659E-48B8-9FDB-E1C9F611B743}"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State</a:t>
            </a:r>
            <a:r>
              <a:rPr sz="2100" b="0" i="0">
                <a:solidFill>
                  <a:srgbClr val="1C252B"/>
                </a:solidFill>
                <a:latin typeface="Segoe UI"/>
              </a:rPr>
              <a:t> the isolation–density–start-up trade and </a:t>
            </a:r>
            <a:r>
              <a:rPr sz="2100" b="1" i="0">
                <a:solidFill>
                  <a:srgbClr val="1C252B"/>
                </a:solidFill>
                <a:latin typeface="Segoe UI"/>
              </a:rPr>
              <a:t>place</a:t>
            </a:r>
            <a:r>
              <a:rPr sz="2100" b="0" i="0">
                <a:solidFill>
                  <a:srgbClr val="1C252B"/>
                </a:solidFill>
                <a:latin typeface="Segoe UI"/>
              </a:rPr>
              <a:t> any runtime on it.</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how a microVM reaches a 125 ms boot, and </a:t>
            </a:r>
            <a:r>
              <a:rPr sz="2100" b="1" i="0">
                <a:solidFill>
                  <a:srgbClr val="1C252B"/>
                </a:solidFill>
                <a:latin typeface="Segoe UI"/>
              </a:rPr>
              <a:t>name</a:t>
            </a:r>
            <a:r>
              <a:rPr sz="2100" b="0" i="0">
                <a:solidFill>
                  <a:srgbClr val="1C252B"/>
                </a:solidFill>
                <a:latin typeface="Segoe UI"/>
              </a:rPr>
              <a:t> what was removed to get there.</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664915"/>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Contrast</a:t>
            </a:r>
            <a:r>
              <a:rPr sz="2100" b="0" i="0">
                <a:solidFill>
                  <a:srgbClr val="1C252B"/>
                </a:solidFill>
                <a:latin typeface="Segoe UI"/>
              </a:rPr>
              <a:t> gVisor’s approach — intercepting system calls in user space — with Kata’s, which puts a kernel underneath each container.</a:t>
            </a:r>
          </a:p>
        </p:txBody>
      </p:sp>
      <p:sp>
        <p:nvSpPr>
          <p:cNvPr id="17" name="!!ob3">
            <a:extLst>
              <a:ext uri="{C183D7F6-B498-43B3-948B-1728B52AA6E4}">
                <adec:decorative xmlns:adec="http://schemas.microsoft.com/office/drawing/2017/decorative" val="1"/>
              </a:ext>
            </a:extLst>
          </p:cNvPr>
          <p:cNvSpPr/>
          <p:nvPr/>
        </p:nvSpPr>
        <p:spPr>
          <a:xfrm>
            <a:off x="658368" y="4522622"/>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58205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56377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Describe</a:t>
            </a:r>
            <a:r>
              <a:rPr sz="2100" b="0" i="0">
                <a:solidFill>
                  <a:srgbClr val="1C252B"/>
                </a:solidFill>
                <a:latin typeface="Segoe UI"/>
              </a:rPr>
              <a:t> a unikernel and </a:t>
            </a:r>
            <a:r>
              <a:rPr sz="2100" b="1" i="0">
                <a:solidFill>
                  <a:srgbClr val="1C252B"/>
                </a:solidFill>
                <a:latin typeface="Segoe UI"/>
              </a:rPr>
              <a:t>say</a:t>
            </a:r>
            <a:r>
              <a:rPr sz="2100" b="0" i="0">
                <a:solidFill>
                  <a:srgbClr val="1C252B"/>
                </a:solidFill>
                <a:latin typeface="Segoe UI"/>
              </a:rPr>
              <a:t> why the idea has not displaced the alternatives.</a:t>
            </a:r>
          </a:p>
        </p:txBody>
      </p:sp>
      <p:sp>
        <p:nvSpPr>
          <p:cNvPr id="20" name="!!ob4">
            <a:extLst>
              <a:ext uri="{C183D7F6-B498-43B3-948B-1728B52AA6E4}">
                <adec:decorative xmlns:adec="http://schemas.microsoft.com/office/drawing/2017/decorative" val="1"/>
              </a:ext>
            </a:extLst>
          </p:cNvPr>
          <p:cNvSpPr/>
          <p:nvPr/>
        </p:nvSpPr>
        <p:spPr>
          <a:xfrm>
            <a:off x="658368" y="512612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18556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16727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Choose</a:t>
            </a:r>
            <a:r>
              <a:rPr sz="2100" b="0" i="0">
                <a:solidFill>
                  <a:srgbClr val="1C252B"/>
                </a:solidFill>
                <a:latin typeface="Segoe UI"/>
              </a:rPr>
              <a:t> a runtime for a stated workload and </a:t>
            </a:r>
            <a:r>
              <a:rPr sz="2100" b="1" i="0">
                <a:solidFill>
                  <a:srgbClr val="1C252B"/>
                </a:solidFill>
                <a:latin typeface="Segoe UI"/>
              </a:rPr>
              <a:t>quantify</a:t>
            </a:r>
            <a:r>
              <a:rPr sz="2100" b="0" i="0">
                <a:solidFill>
                  <a:srgbClr val="1C252B"/>
                </a:solidFill>
                <a:latin typeface="Segoe UI"/>
              </a:rPr>
              <a:t> what the choice costs.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1437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66CD38F1-0E1F-461C-86F3-605269CCFD80}" type="slidenum">
              <a:rPr lang="en-GB" sz="1000">
                <a:solidFill>
                  <a:srgbClr val="8795A1"/>
                </a:solidFill>
                <a:latin typeface="Segoe UI"/>
              </a:rPr>
              <a:t>4</a:t>
            </a:fld>
          </a:p>
        </p:txBody>
      </p:sp>
      <p:sp>
        <p:nvSpPr>
          <p:cNvPr id="7" name="!!term-microVM">
            <a:extLst>
              <a:ext uri="{C183D7F6-B498-43B3-948B-1728B52AA6E4}">
                <adec:decorative xmlns:adec="http://schemas.microsoft.com/office/drawing/2017/decorative" val="1"/>
              </a:ext>
            </a:extLst>
          </p:cNvPr>
          <p:cNvSpPr/>
          <p:nvPr/>
        </p:nvSpPr>
        <p:spPr>
          <a:xfrm>
            <a:off x="658368" y="1847088"/>
            <a:ext cx="121961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microVM">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microVM"/>
          <p:cNvSpPr txBox="1"/>
          <p:nvPr/>
        </p:nvSpPr>
        <p:spPr>
          <a:xfrm>
            <a:off x="950976" y="1970532"/>
            <a:ext cx="103673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microVM</a:t>
            </a:r>
          </a:p>
        </p:txBody>
      </p:sp>
      <p:sp>
        <p:nvSpPr>
          <p:cNvPr id="10" name="!!term-Firecracker">
            <a:extLst>
              <a:ext uri="{C183D7F6-B498-43B3-948B-1728B52AA6E4}">
                <adec:decorative xmlns:adec="http://schemas.microsoft.com/office/drawing/2017/decorative" val="1"/>
              </a:ext>
            </a:extLst>
          </p:cNvPr>
          <p:cNvSpPr/>
          <p:nvPr/>
        </p:nvSpPr>
        <p:spPr>
          <a:xfrm>
            <a:off x="2024282" y="1847088"/>
            <a:ext cx="13617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irecracker">
            <a:extLst>
              <a:ext uri="{C183D7F6-B498-43B3-948B-1728B52AA6E4}">
                <adec:decorative xmlns:adec="http://schemas.microsoft.com/office/drawing/2017/decorative" val="1"/>
              </a:ext>
            </a:extLst>
          </p:cNvPr>
          <p:cNvSpPr/>
          <p:nvPr/>
        </p:nvSpPr>
        <p:spPr>
          <a:xfrm>
            <a:off x="215229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irecracker"/>
          <p:cNvSpPr txBox="1"/>
          <p:nvPr/>
        </p:nvSpPr>
        <p:spPr>
          <a:xfrm>
            <a:off x="2316890" y="1970532"/>
            <a:ext cx="11789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Firecracker</a:t>
            </a:r>
          </a:p>
        </p:txBody>
      </p:sp>
      <p:sp>
        <p:nvSpPr>
          <p:cNvPr id="13" name="!!term-Cloud Hypervis">
            <a:extLst>
              <a:ext uri="{C183D7F6-B498-43B3-948B-1728B52AA6E4}">
                <adec:decorative xmlns:adec="http://schemas.microsoft.com/office/drawing/2017/decorative" val="1"/>
              </a:ext>
            </a:extLst>
          </p:cNvPr>
          <p:cNvSpPr/>
          <p:nvPr/>
        </p:nvSpPr>
        <p:spPr>
          <a:xfrm>
            <a:off x="3532370" y="1847088"/>
            <a:ext cx="19173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Cloud Hypervis">
            <a:extLst>
              <a:ext uri="{C183D7F6-B498-43B3-948B-1728B52AA6E4}">
                <adec:decorative xmlns:adec="http://schemas.microsoft.com/office/drawing/2017/decorative" val="1"/>
              </a:ext>
            </a:extLst>
          </p:cNvPr>
          <p:cNvSpPr/>
          <p:nvPr/>
        </p:nvSpPr>
        <p:spPr>
          <a:xfrm>
            <a:off x="366038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Cloud Hypervis"/>
          <p:cNvSpPr txBox="1"/>
          <p:nvPr/>
        </p:nvSpPr>
        <p:spPr>
          <a:xfrm>
            <a:off x="3824978" y="1970532"/>
            <a:ext cx="173446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Cloud Hypervisor</a:t>
            </a:r>
          </a:p>
        </p:txBody>
      </p:sp>
      <p:sp>
        <p:nvSpPr>
          <p:cNvPr id="16" name="!!term-device model">
            <a:extLst>
              <a:ext uri="{C183D7F6-B498-43B3-948B-1728B52AA6E4}">
                <adec:decorative xmlns:adec="http://schemas.microsoft.com/office/drawing/2017/decorative" val="1"/>
              </a:ext>
            </a:extLst>
          </p:cNvPr>
          <p:cNvSpPr/>
          <p:nvPr/>
        </p:nvSpPr>
        <p:spPr>
          <a:xfrm>
            <a:off x="5596018" y="1847088"/>
            <a:ext cx="158398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device model">
            <a:extLst>
              <a:ext uri="{C183D7F6-B498-43B3-948B-1728B52AA6E4}">
                <adec:decorative xmlns:adec="http://schemas.microsoft.com/office/drawing/2017/decorative" val="1"/>
              </a:ext>
            </a:extLst>
          </p:cNvPr>
          <p:cNvSpPr/>
          <p:nvPr/>
        </p:nvSpPr>
        <p:spPr>
          <a:xfrm>
            <a:off x="572403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device model"/>
          <p:cNvSpPr txBox="1"/>
          <p:nvPr/>
        </p:nvSpPr>
        <p:spPr>
          <a:xfrm>
            <a:off x="5888626" y="1970532"/>
            <a:ext cx="140110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device model</a:t>
            </a:r>
          </a:p>
        </p:txBody>
      </p:sp>
      <p:sp>
        <p:nvSpPr>
          <p:cNvPr id="19" name="!!term-boot time">
            <a:extLst>
              <a:ext uri="{C183D7F6-B498-43B3-948B-1728B52AA6E4}">
                <adec:decorative xmlns:adec="http://schemas.microsoft.com/office/drawing/2017/decorative" val="1"/>
              </a:ext>
            </a:extLst>
          </p:cNvPr>
          <p:cNvSpPr/>
          <p:nvPr/>
        </p:nvSpPr>
        <p:spPr>
          <a:xfrm>
            <a:off x="7326303" y="1847088"/>
            <a:ext cx="12818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boot time">
            <a:extLst>
              <a:ext uri="{C183D7F6-B498-43B3-948B-1728B52AA6E4}">
                <adec:decorative xmlns:adec="http://schemas.microsoft.com/office/drawing/2017/decorative" val="1"/>
              </a:ext>
            </a:extLst>
          </p:cNvPr>
          <p:cNvSpPr/>
          <p:nvPr/>
        </p:nvSpPr>
        <p:spPr>
          <a:xfrm>
            <a:off x="745431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boot time"/>
          <p:cNvSpPr txBox="1"/>
          <p:nvPr/>
        </p:nvSpPr>
        <p:spPr>
          <a:xfrm>
            <a:off x="7618911" y="1970532"/>
            <a:ext cx="10989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boot time</a:t>
            </a:r>
          </a:p>
        </p:txBody>
      </p:sp>
      <p:sp>
        <p:nvSpPr>
          <p:cNvPr id="22" name="!!term-jailer">
            <a:extLst>
              <a:ext uri="{C183D7F6-B498-43B3-948B-1728B52AA6E4}">
                <adec:decorative xmlns:adec="http://schemas.microsoft.com/office/drawing/2017/decorative" val="1"/>
              </a:ext>
            </a:extLst>
          </p:cNvPr>
          <p:cNvSpPr/>
          <p:nvPr/>
        </p:nvSpPr>
        <p:spPr>
          <a:xfrm>
            <a:off x="8754435" y="1847088"/>
            <a:ext cx="84812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jailer">
            <a:extLst>
              <a:ext uri="{C183D7F6-B498-43B3-948B-1728B52AA6E4}">
                <adec:decorative xmlns:adec="http://schemas.microsoft.com/office/drawing/2017/decorative" val="1"/>
              </a:ext>
            </a:extLst>
          </p:cNvPr>
          <p:cNvSpPr/>
          <p:nvPr/>
        </p:nvSpPr>
        <p:spPr>
          <a:xfrm>
            <a:off x="8882451"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jailer"/>
          <p:cNvSpPr txBox="1"/>
          <p:nvPr/>
        </p:nvSpPr>
        <p:spPr>
          <a:xfrm>
            <a:off x="9047043" y="1970532"/>
            <a:ext cx="66524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jailer</a:t>
            </a:r>
          </a:p>
        </p:txBody>
      </p:sp>
      <p:sp>
        <p:nvSpPr>
          <p:cNvPr id="25" name="!!term-gVisor">
            <a:extLst>
              <a:ext uri="{C183D7F6-B498-43B3-948B-1728B52AA6E4}">
                <adec:decorative xmlns:adec="http://schemas.microsoft.com/office/drawing/2017/decorative" val="1"/>
              </a:ext>
            </a:extLst>
          </p:cNvPr>
          <p:cNvSpPr/>
          <p:nvPr/>
        </p:nvSpPr>
        <p:spPr>
          <a:xfrm>
            <a:off x="9748868" y="1847088"/>
            <a:ext cx="9849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gVisor">
            <a:extLst>
              <a:ext uri="{C183D7F6-B498-43B3-948B-1728B52AA6E4}">
                <adec:decorative xmlns:adec="http://schemas.microsoft.com/office/drawing/2017/decorative" val="1"/>
              </a:ext>
            </a:extLst>
          </p:cNvPr>
          <p:cNvSpPr/>
          <p:nvPr/>
        </p:nvSpPr>
        <p:spPr>
          <a:xfrm>
            <a:off x="98768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gVisor"/>
          <p:cNvSpPr txBox="1"/>
          <p:nvPr/>
        </p:nvSpPr>
        <p:spPr>
          <a:xfrm>
            <a:off x="10041476" y="1970532"/>
            <a:ext cx="80204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gVisor</a:t>
            </a:r>
          </a:p>
        </p:txBody>
      </p:sp>
      <p:sp>
        <p:nvSpPr>
          <p:cNvPr id="28" name="!!term-Sentry">
            <a:extLst>
              <a:ext uri="{C183D7F6-B498-43B3-948B-1728B52AA6E4}">
                <adec:decorative xmlns:adec="http://schemas.microsoft.com/office/drawing/2017/decorative" val="1"/>
              </a:ext>
            </a:extLst>
          </p:cNvPr>
          <p:cNvSpPr/>
          <p:nvPr/>
        </p:nvSpPr>
        <p:spPr>
          <a:xfrm>
            <a:off x="658368" y="2468880"/>
            <a:ext cx="98135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Sentry">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Sentry"/>
          <p:cNvSpPr txBox="1"/>
          <p:nvPr/>
        </p:nvSpPr>
        <p:spPr>
          <a:xfrm>
            <a:off x="950976" y="2592324"/>
            <a:ext cx="79847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Sentry</a:t>
            </a:r>
          </a:p>
        </p:txBody>
      </p:sp>
      <p:sp>
        <p:nvSpPr>
          <p:cNvPr id="31" name="!!term-Gofer">
            <a:extLst>
              <a:ext uri="{C183D7F6-B498-43B3-948B-1728B52AA6E4}">
                <adec:decorative xmlns:adec="http://schemas.microsoft.com/office/drawing/2017/decorative" val="1"/>
              </a:ext>
            </a:extLst>
          </p:cNvPr>
          <p:cNvSpPr/>
          <p:nvPr/>
        </p:nvSpPr>
        <p:spPr>
          <a:xfrm>
            <a:off x="1786024" y="2468880"/>
            <a:ext cx="91608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Gofer">
            <a:extLst>
              <a:ext uri="{C183D7F6-B498-43B3-948B-1728B52AA6E4}">
                <adec:decorative xmlns:adec="http://schemas.microsoft.com/office/drawing/2017/decorative" val="1"/>
              </a:ext>
            </a:extLst>
          </p:cNvPr>
          <p:cNvSpPr/>
          <p:nvPr/>
        </p:nvSpPr>
        <p:spPr>
          <a:xfrm>
            <a:off x="191404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Gofer"/>
          <p:cNvSpPr txBox="1"/>
          <p:nvPr/>
        </p:nvSpPr>
        <p:spPr>
          <a:xfrm>
            <a:off x="2078632" y="2592324"/>
            <a:ext cx="73320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Gofer</a:t>
            </a:r>
          </a:p>
        </p:txBody>
      </p:sp>
      <p:sp>
        <p:nvSpPr>
          <p:cNvPr id="34" name="!!term-system-call in">
            <a:extLst>
              <a:ext uri="{C183D7F6-B498-43B3-948B-1728B52AA6E4}">
                <adec:decorative xmlns:adec="http://schemas.microsoft.com/office/drawing/2017/decorative" val="1"/>
              </a:ext>
            </a:extLst>
          </p:cNvPr>
          <p:cNvSpPr/>
          <p:nvPr/>
        </p:nvSpPr>
        <p:spPr>
          <a:xfrm>
            <a:off x="2848411" y="2468880"/>
            <a:ext cx="248063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system-call in">
            <a:extLst>
              <a:ext uri="{C183D7F6-B498-43B3-948B-1728B52AA6E4}">
                <adec:decorative xmlns:adec="http://schemas.microsoft.com/office/drawing/2017/decorative" val="1"/>
              </a:ext>
            </a:extLst>
          </p:cNvPr>
          <p:cNvSpPr/>
          <p:nvPr/>
        </p:nvSpPr>
        <p:spPr>
          <a:xfrm>
            <a:off x="297642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system-call in"/>
          <p:cNvSpPr txBox="1"/>
          <p:nvPr/>
        </p:nvSpPr>
        <p:spPr>
          <a:xfrm>
            <a:off x="3141019" y="2592324"/>
            <a:ext cx="229775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system-call interception</a:t>
            </a:r>
          </a:p>
        </p:txBody>
      </p:sp>
      <p:sp>
        <p:nvSpPr>
          <p:cNvPr id="37" name="!!term-Kata Container">
            <a:extLst>
              <a:ext uri="{C183D7F6-B498-43B3-948B-1728B52AA6E4}">
                <adec:decorative xmlns:adec="http://schemas.microsoft.com/office/drawing/2017/decorative" val="1"/>
              </a:ext>
            </a:extLst>
          </p:cNvPr>
          <p:cNvSpPr/>
          <p:nvPr/>
        </p:nvSpPr>
        <p:spPr>
          <a:xfrm>
            <a:off x="5475348" y="2468880"/>
            <a:ext cx="17860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Kata Container">
            <a:extLst>
              <a:ext uri="{C183D7F6-B498-43B3-948B-1728B52AA6E4}">
                <adec:decorative xmlns:adec="http://schemas.microsoft.com/office/drawing/2017/decorative" val="1"/>
              </a:ext>
            </a:extLst>
          </p:cNvPr>
          <p:cNvSpPr/>
          <p:nvPr/>
        </p:nvSpPr>
        <p:spPr>
          <a:xfrm>
            <a:off x="560336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Kata Container"/>
          <p:cNvSpPr txBox="1"/>
          <p:nvPr/>
        </p:nvSpPr>
        <p:spPr>
          <a:xfrm>
            <a:off x="5767956" y="2592324"/>
            <a:ext cx="16032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Kata Containers</a:t>
            </a:r>
          </a:p>
        </p:txBody>
      </p:sp>
      <p:sp>
        <p:nvSpPr>
          <p:cNvPr id="40" name="!!term-RuntimeClass">
            <a:extLst>
              <a:ext uri="{C183D7F6-B498-43B3-948B-1728B52AA6E4}">
                <adec:decorative xmlns:adec="http://schemas.microsoft.com/office/drawing/2017/decorative" val="1"/>
              </a:ext>
            </a:extLst>
          </p:cNvPr>
          <p:cNvSpPr/>
          <p:nvPr/>
        </p:nvSpPr>
        <p:spPr>
          <a:xfrm>
            <a:off x="7407737" y="2468880"/>
            <a:ext cx="15878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RuntimeClass">
            <a:extLst>
              <a:ext uri="{C183D7F6-B498-43B3-948B-1728B52AA6E4}">
                <adec:decorative xmlns:adec="http://schemas.microsoft.com/office/drawing/2017/decorative" val="1"/>
              </a:ext>
            </a:extLst>
          </p:cNvPr>
          <p:cNvSpPr/>
          <p:nvPr/>
        </p:nvSpPr>
        <p:spPr>
          <a:xfrm>
            <a:off x="753575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RuntimeClass"/>
          <p:cNvSpPr txBox="1"/>
          <p:nvPr/>
        </p:nvSpPr>
        <p:spPr>
          <a:xfrm>
            <a:off x="7700345" y="2592324"/>
            <a:ext cx="140498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RuntimeClass</a:t>
            </a:r>
          </a:p>
        </p:txBody>
      </p:sp>
      <p:sp>
        <p:nvSpPr>
          <p:cNvPr id="43" name="!!term-unikernel">
            <a:extLst>
              <a:ext uri="{C183D7F6-B498-43B3-948B-1728B52AA6E4}">
                <adec:decorative xmlns:adec="http://schemas.microsoft.com/office/drawing/2017/decorative" val="1"/>
              </a:ext>
            </a:extLst>
          </p:cNvPr>
          <p:cNvSpPr/>
          <p:nvPr/>
        </p:nvSpPr>
        <p:spPr>
          <a:xfrm>
            <a:off x="9141908" y="2468880"/>
            <a:ext cx="12302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unikernel">
            <a:extLst>
              <a:ext uri="{C183D7F6-B498-43B3-948B-1728B52AA6E4}">
                <adec:decorative xmlns:adec="http://schemas.microsoft.com/office/drawing/2017/decorative" val="1"/>
              </a:ext>
            </a:extLst>
          </p:cNvPr>
          <p:cNvSpPr/>
          <p:nvPr/>
        </p:nvSpPr>
        <p:spPr>
          <a:xfrm>
            <a:off x="926992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unikernel"/>
          <p:cNvSpPr txBox="1"/>
          <p:nvPr/>
        </p:nvSpPr>
        <p:spPr>
          <a:xfrm>
            <a:off x="9434516" y="2592324"/>
            <a:ext cx="10473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unikernel</a:t>
            </a:r>
          </a:p>
        </p:txBody>
      </p:sp>
      <p:sp>
        <p:nvSpPr>
          <p:cNvPr id="46" name="!!term-library operat">
            <a:extLst>
              <a:ext uri="{C183D7F6-B498-43B3-948B-1728B52AA6E4}">
                <adec:decorative xmlns:adec="http://schemas.microsoft.com/office/drawing/2017/decorative" val="1"/>
              </a:ext>
            </a:extLst>
          </p:cNvPr>
          <p:cNvSpPr/>
          <p:nvPr/>
        </p:nvSpPr>
        <p:spPr>
          <a:xfrm>
            <a:off x="658368" y="3090672"/>
            <a:ext cx="250918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library operat">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library operat"/>
          <p:cNvSpPr txBox="1"/>
          <p:nvPr/>
        </p:nvSpPr>
        <p:spPr>
          <a:xfrm>
            <a:off x="950976" y="3214116"/>
            <a:ext cx="232630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library operating system</a:t>
            </a:r>
          </a:p>
        </p:txBody>
      </p:sp>
      <p:sp>
        <p:nvSpPr>
          <p:cNvPr id="49" name="!!term-WebAssembly">
            <a:extLst>
              <a:ext uri="{C183D7F6-B498-43B3-948B-1728B52AA6E4}">
                <adec:decorative xmlns:adec="http://schemas.microsoft.com/office/drawing/2017/decorative" val="1"/>
              </a:ext>
            </a:extLst>
          </p:cNvPr>
          <p:cNvSpPr/>
          <p:nvPr/>
        </p:nvSpPr>
        <p:spPr>
          <a:xfrm>
            <a:off x="3313859" y="3090672"/>
            <a:ext cx="16505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WebAssembly">
            <a:extLst>
              <a:ext uri="{C183D7F6-B498-43B3-948B-1728B52AA6E4}">
                <adec:decorative xmlns:adec="http://schemas.microsoft.com/office/drawing/2017/decorative" val="1"/>
              </a:ext>
            </a:extLst>
          </p:cNvPr>
          <p:cNvSpPr/>
          <p:nvPr/>
        </p:nvSpPr>
        <p:spPr>
          <a:xfrm>
            <a:off x="344187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WebAssembly"/>
          <p:cNvSpPr txBox="1"/>
          <p:nvPr/>
        </p:nvSpPr>
        <p:spPr>
          <a:xfrm>
            <a:off x="3606467" y="3214116"/>
            <a:ext cx="146767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WebAssembly</a:t>
            </a:r>
          </a:p>
        </p:txBody>
      </p:sp>
      <p:sp>
        <p:nvSpPr>
          <p:cNvPr id="52" name="!!term-WASI">
            <a:extLst>
              <a:ext uri="{C183D7F6-B498-43B3-948B-1728B52AA6E4}">
                <adec:decorative xmlns:adec="http://schemas.microsoft.com/office/drawing/2017/decorative" val="1"/>
              </a:ext>
            </a:extLst>
          </p:cNvPr>
          <p:cNvSpPr/>
          <p:nvPr/>
        </p:nvSpPr>
        <p:spPr>
          <a:xfrm>
            <a:off x="5110720" y="3090672"/>
            <a:ext cx="90048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WASI">
            <a:extLst>
              <a:ext uri="{C183D7F6-B498-43B3-948B-1728B52AA6E4}">
                <adec:decorative xmlns:adec="http://schemas.microsoft.com/office/drawing/2017/decorative" val="1"/>
              </a:ext>
            </a:extLst>
          </p:cNvPr>
          <p:cNvSpPr/>
          <p:nvPr/>
        </p:nvSpPr>
        <p:spPr>
          <a:xfrm>
            <a:off x="523873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WASI"/>
          <p:cNvSpPr txBox="1"/>
          <p:nvPr/>
        </p:nvSpPr>
        <p:spPr>
          <a:xfrm>
            <a:off x="5403328" y="3214116"/>
            <a:ext cx="71760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WASI</a:t>
            </a:r>
          </a:p>
        </p:txBody>
      </p:sp>
      <p:sp>
        <p:nvSpPr>
          <p:cNvPr id="55" name="!!term-attack surface">
            <a:extLst>
              <a:ext uri="{C183D7F6-B498-43B3-948B-1728B52AA6E4}">
                <adec:decorative xmlns:adec="http://schemas.microsoft.com/office/drawing/2017/decorative" val="1"/>
              </a:ext>
            </a:extLst>
          </p:cNvPr>
          <p:cNvSpPr/>
          <p:nvPr/>
        </p:nvSpPr>
        <p:spPr>
          <a:xfrm>
            <a:off x="6157507" y="3090672"/>
            <a:ext cx="16192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attack surface">
            <a:extLst>
              <a:ext uri="{C183D7F6-B498-43B3-948B-1728B52AA6E4}">
                <adec:decorative xmlns:adec="http://schemas.microsoft.com/office/drawing/2017/decorative" val="1"/>
              </a:ext>
            </a:extLst>
          </p:cNvPr>
          <p:cNvSpPr/>
          <p:nvPr/>
        </p:nvSpPr>
        <p:spPr>
          <a:xfrm>
            <a:off x="6285523"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attack surface"/>
          <p:cNvSpPr txBox="1"/>
          <p:nvPr/>
        </p:nvSpPr>
        <p:spPr>
          <a:xfrm>
            <a:off x="6450115" y="3214116"/>
            <a:ext cx="143632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attack surface</a:t>
            </a:r>
          </a:p>
        </p:txBody>
      </p:sp>
      <p:sp>
        <p:nvSpPr>
          <p:cNvPr id="58" name="!!term-cold start">
            <a:extLst>
              <a:ext uri="{C183D7F6-B498-43B3-948B-1728B52AA6E4}">
                <adec:decorative xmlns:adec="http://schemas.microsoft.com/office/drawing/2017/decorative" val="1"/>
              </a:ext>
            </a:extLst>
          </p:cNvPr>
          <p:cNvSpPr/>
          <p:nvPr/>
        </p:nvSpPr>
        <p:spPr>
          <a:xfrm>
            <a:off x="7923020" y="3090672"/>
            <a:ext cx="12380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cold start">
            <a:extLst>
              <a:ext uri="{C183D7F6-B498-43B3-948B-1728B52AA6E4}">
                <adec:decorative xmlns:adec="http://schemas.microsoft.com/office/drawing/2017/decorative" val="1"/>
              </a:ext>
            </a:extLst>
          </p:cNvPr>
          <p:cNvSpPr/>
          <p:nvPr/>
        </p:nvSpPr>
        <p:spPr>
          <a:xfrm>
            <a:off x="805103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cold start"/>
          <p:cNvSpPr txBox="1"/>
          <p:nvPr/>
        </p:nvSpPr>
        <p:spPr>
          <a:xfrm>
            <a:off x="8215628" y="3214116"/>
            <a:ext cx="10551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cold start</a:t>
            </a:r>
          </a:p>
        </p:txBody>
      </p:sp>
      <p:sp>
        <p:nvSpPr>
          <p:cNvPr id="61" name="!!term-oversubscripti">
            <a:extLst>
              <a:ext uri="{C183D7F6-B498-43B3-948B-1728B52AA6E4}">
                <adec:decorative xmlns:adec="http://schemas.microsoft.com/office/drawing/2017/decorative" val="1"/>
              </a:ext>
            </a:extLst>
          </p:cNvPr>
          <p:cNvSpPr/>
          <p:nvPr/>
        </p:nvSpPr>
        <p:spPr>
          <a:xfrm>
            <a:off x="9307326" y="3090672"/>
            <a:ext cx="185951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oversubscripti">
            <a:extLst>
              <a:ext uri="{C183D7F6-B498-43B3-948B-1728B52AA6E4}">
                <adec:decorative xmlns:adec="http://schemas.microsoft.com/office/drawing/2017/decorative" val="1"/>
              </a:ext>
            </a:extLst>
          </p:cNvPr>
          <p:cNvSpPr/>
          <p:nvPr/>
        </p:nvSpPr>
        <p:spPr>
          <a:xfrm>
            <a:off x="9435342"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oversubscripti"/>
          <p:cNvSpPr txBox="1"/>
          <p:nvPr/>
        </p:nvSpPr>
        <p:spPr>
          <a:xfrm>
            <a:off x="9599934" y="3214116"/>
            <a:ext cx="167663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oversubscription</a:t>
            </a:r>
          </a:p>
        </p:txBody>
      </p:sp>
      <p:sp>
        <p:nvSpPr>
          <p:cNvPr id="64"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6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pfill">
            <a:extLst>
              <a:ext uri="{C183D7F6-B498-43B3-948B-1728B52AA6E4}">
                <adec:decorative xmlns:adec="http://schemas.microsoft.com/office/drawing/2017/decorative" val="1"/>
              </a:ext>
            </a:extLst>
          </p:cNvPr>
          <p:cNvSpPr/>
          <p:nvPr/>
        </p:nvSpPr>
        <p:spPr>
          <a:xfrm>
            <a:off x="0" y="0"/>
            <a:ext cx="121916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85–93     </a:t>
            </a:r>
            <a:fld id="{C69FC3B4-9DA6-4650-84C8-028ED7B27883}" type="slidenum">
              <a:rPr lang="en-GB" sz="1000">
                <a:solidFill>
                  <a:srgbClr val="8795A1"/>
                </a:solidFill>
                <a:latin typeface="Segoe UI"/>
              </a:rPr>
              <a:t>5</a:t>
            </a:fld>
          </a:p>
        </p:txBody>
      </p:sp>
      <p:sp>
        <p:nvSpPr>
          <p:cNvPr id="7" name="!!ag0" descr="Go to section 11.1 The Choice Nobody Wanted to Mak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Choice Nobody Wanted to Make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85  ›</a:t>
            </a:r>
          </a:p>
        </p:txBody>
      </p:sp>
      <p:sp>
        <p:nvSpPr>
          <p:cNvPr id="12" name="!!ag1" descr="Go to section 11.2 MicroVMs">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MicroVMs</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86  ›</a:t>
            </a:r>
          </a:p>
        </p:txBody>
      </p:sp>
      <p:sp>
        <p:nvSpPr>
          <p:cNvPr id="17" name="!!ag2" descr="Go to section 11.3 gVisor: a Kernel in User Spac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gVisor: a Kernel in User Space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87  ›</a:t>
            </a:r>
          </a:p>
        </p:txBody>
      </p:sp>
      <p:sp>
        <p:nvSpPr>
          <p:cNvPr id="22" name="!!ag3" descr="Go to section 11.4 Kata Containers">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Kata Containers</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87  ›</a:t>
            </a:r>
          </a:p>
        </p:txBody>
      </p:sp>
      <p:sp>
        <p:nvSpPr>
          <p:cNvPr id="27" name="!!ag4" descr="Go to section 11.5 Unikernels and WebAssembly">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Unikernels and WebAssembly</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152396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trade, with measured figures on the horizontal axis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85     </a:t>
            </a:r>
            <a:fld id="{80076063-AE2D-4ED0-B8BC-60E07F33C9A2}" type="slidenum">
              <a:rPr lang="en-GB" sz="1000">
                <a:solidFill>
                  <a:srgbClr val="8795A1"/>
                </a:solidFill>
                <a:latin typeface="Segoe UI"/>
              </a:rPr>
              <a:t>6</a:t>
            </a:fld>
          </a:p>
        </p:txBody>
      </p:sp>
      <p:pic>
        <p:nvPicPr>
          <p:cNvPr id="6" name="!!figure" descr="Figure 11.1. The trade, with measured figures on the horizontal axis. The dashed line is the move the designs in this chapter make: a hardware-enforced boundary at something close to a container’s cos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72032" y="1737360"/>
            <a:ext cx="7847630"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dashed line is the move the designs in this chapter make: a hardware-enforced boundary at something close to a container’s cost.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82875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MicroVMs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5</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The Choice Nobody Wanted to Make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11.2   MicroVMs</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gVisor: a Kernel in User Space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Kata Containers</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Unikernels and WebAssembly</a:t>
            </a:r>
          </a:p>
        </p:txBody>
      </p:sp>
      <p:sp>
        <p:nvSpPr>
          <p:cNvPr id="11"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a:t>
            </a:r>
          </a:p>
        </p:txBody>
      </p:sp>
      <p:sp>
        <p:nvSpPr>
          <p:cNvPr id="12"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§11.2     </a:t>
            </a:r>
            <a:fld id="{86422479-28B9-4030-9AD2-242B898A6AF3}" type="slidenum">
              <a:rPr lang="en-GB" sz="1000">
                <a:solidFill>
                  <a:srgbClr val="8795A1"/>
                </a:solidFill>
                <a:latin typeface="Segoe UI"/>
              </a:rPr>
              <a:t>7</a:t>
            </a:fld>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213354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MicroVM</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86     </a:t>
            </a:r>
            <a:fld id="{5D431884-0A24-428F-9D0F-42ACF10C060F}"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a:t>
            </a:r>
            <a:r>
              <a:rPr sz="2300" b="1" i="0">
                <a:solidFill>
                  <a:srgbClr val="1A5276"/>
                </a:solidFill>
                <a:latin typeface="Segoe UI"/>
              </a:rPr>
              <a:t>microVM</a:t>
            </a:r>
            <a:r>
              <a:rPr sz="2300" b="0" i="0">
                <a:solidFill>
                  <a:srgbClr val="1C252B"/>
                </a:solidFill>
                <a:latin typeface="Segoe UI"/>
              </a:rPr>
              <a:t> is a virtual machine with a minimal device model: typically virtio-net, virtio-block, a serial console and a one-shot timer, and nothing else. No BIOS, no PCI enumeration, no legacy devices. The kernel is loaded directly rather than booted through firmware.</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1A5276"/>
                </a:solidFill>
                <a:latin typeface="Segoe UI"/>
              </a:rPr>
              <a:t>Firecracker</a:t>
            </a:r>
            <a:r>
              <a:rPr sz="2300" b="0" i="0">
                <a:solidFill>
                  <a:srgbClr val="1C252B"/>
                </a:solidFill>
                <a:latin typeface="Segoe UI"/>
              </a:rPr>
              <a:t>, written at Amazon in Rust and released in 2018, is the reference example. It is about 50,000 lines against QEMU’s 1.4 million, boots a Linux guest in roughly </a:t>
            </a:r>
            <a:r>
              <a:rPr sz="2300" b="1" i="0">
                <a:solidFill>
                  <a:srgbClr val="1C252B"/>
                </a:solidFill>
                <a:latin typeface="Segoe UI"/>
              </a:rPr>
              <a:t>125 ms</a:t>
            </a:r>
            <a:r>
              <a:rPr sz="2300" b="0" i="0">
                <a:solidFill>
                  <a:srgbClr val="1C252B"/>
                </a:solidFill>
                <a:latin typeface="Segoe UI"/>
              </a:rPr>
              <a:t>, and adds under </a:t>
            </a:r>
            <a:r>
              <a:rPr sz="2300" b="1" i="0">
                <a:solidFill>
                  <a:srgbClr val="1C252B"/>
                </a:solidFill>
                <a:latin typeface="Segoe UI"/>
              </a:rPr>
              <a:t>5 MB</a:t>
            </a:r>
            <a:r>
              <a:rPr sz="2300" b="0" i="0">
                <a:solidFill>
                  <a:srgbClr val="1C252B"/>
                </a:solidFill>
                <a:latin typeface="Segoe UI"/>
              </a:rPr>
              <a:t> of memory per instance. It runs AWS Lambda and AWS Fargate: every function invocation you have ever made on Lambda ran in one.</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the Boot Time Went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86     </a:t>
            </a:r>
            <a:fld id="{0A7B93C5-0A5A-433B-A723-885696C19987}"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9788"/>
          </a:xfrm>
          <a:prstGeom prst="roundRect">
            <a:avLst>
              <a:gd name="adj" fmla="val 2177"/>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978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conventional guest spends its 25 seconds roughly like this: firmware initialisation and PCI enumeration, bootloader, kernel device probing for hardware that is not there, then an init system bringing up services. Almost none of it is the application.</a:t>
            </a:r>
          </a:p>
        </p:txBody>
      </p:sp>
      <p:sp>
        <p:nvSpPr>
          <p:cNvPr id="10" name="body-1"/>
          <p:cNvSpPr txBox="1"/>
          <p:nvPr/>
        </p:nvSpPr>
        <p:spPr>
          <a:xfrm>
            <a:off x="1060704" y="3084398"/>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Firecracker removes each in turn. There is no firmware, so nothing to initialise. There is no PCI bus, so nothing to enumerate. The kernel is loaded into memory by the VMM and entered directly, with a command line that names the devices, so probing finds exactly what exists and stops. What remains is roughly 125 ms, most of it the Linux kernel’s own startup.</a:t>
            </a:r>
          </a:p>
        </p:txBody>
      </p:sp>
      <p:sp>
        <p:nvSpPr>
          <p:cNvPr id="11" name="body-2"/>
          <p:cNvSpPr txBox="1"/>
          <p:nvPr/>
        </p:nvSpPr>
        <p:spPr>
          <a:xfrm>
            <a:off x="1060704" y="4421682"/>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lesson generalises past this chapter: </a:t>
            </a:r>
            <a:r>
              <a:rPr sz="1900" b="0" i="1">
                <a:solidFill>
                  <a:srgbClr val="1C252B"/>
                </a:solidFill>
                <a:latin typeface="Segoe UI"/>
              </a:rPr>
              <a:t>the cost was compatibility, not virtualization</a:t>
            </a:r>
            <a:r>
              <a:rPr sz="1900" b="0" i="0">
                <a:solidFill>
                  <a:srgbClr val="1C252B"/>
                </a:solidFill>
                <a:latin typeface="Segoe UI"/>
              </a:rPr>
              <a:t>. A guest willing to give up looking like a PC can have a hardware isolation boundary for about the price of a container — and that one observation is what made serverless computing economic.</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7431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jailer, and defence in depth</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86     </a:t>
            </a:r>
            <a:fld id="{C0032E49-A2D3-4BA2-B963-719175ACABE5}"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Firecracker’s small size is a security argument only if you also assume the VMM process itself can be attacked. Amazon assumes it can.</a:t>
            </a:r>
          </a:p>
        </p:txBody>
      </p:sp>
      <p:sp>
        <p:nvSpPr>
          <p:cNvPr id="10" name="body-1"/>
          <p:cNvSpPr txBox="1"/>
          <p:nvPr/>
        </p:nvSpPr>
        <p:spPr>
          <a:xfrm>
            <a:off x="1060704" y="2821939"/>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Each Firecracker process is therefore started by a </a:t>
            </a:r>
            <a:r>
              <a:rPr sz="2000" b="1" i="0">
                <a:solidFill>
                  <a:srgbClr val="1A5276"/>
                </a:solidFill>
                <a:latin typeface="Segoe UI"/>
              </a:rPr>
              <a:t>jailer</a:t>
            </a:r>
            <a:r>
              <a:rPr sz="2000" b="0" i="0">
                <a:solidFill>
                  <a:srgbClr val="1C252B"/>
                </a:solidFill>
                <a:latin typeface="Segoe UI"/>
              </a:rPr>
              <a:t> that places it in its own namespaces and cgroup, chroots it, drops every capability it does not need and applies a seccomp filter restricting it to a few dozen system calls. An attacker who escapes the guest lands in a process that can barely talk to the kernel — the container mechanisms of Chapter 8 used to contain the hypervisor rather than the workload.</a:t>
            </a:r>
          </a:p>
        </p:txBody>
      </p:sp>
      <p:sp>
        <p:nvSpPr>
          <p:cNvPr id="11" name="body-2"/>
          <p:cNvSpPr txBox="1"/>
          <p:nvPr/>
        </p:nvSpPr>
        <p:spPr>
          <a:xfrm>
            <a:off x="1060704" y="4546599"/>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This is the strongest practical illustration in this book that the layers compose. It is not virtual machines </a:t>
            </a:r>
            <a:r>
              <a:rPr sz="2000" b="0" i="1">
                <a:solidFill>
                  <a:srgbClr val="1C252B"/>
                </a:solidFill>
                <a:latin typeface="Segoe UI"/>
              </a:rPr>
              <a:t>or</a:t>
            </a:r>
            <a:r>
              <a:rPr sz="2000" b="0" i="0">
                <a:solidFill>
                  <a:srgbClr val="1C252B"/>
                </a:solidFill>
                <a:latin typeface="Segoe UI"/>
              </a:rPr>
              <a:t> containers; it is a microVM inside a container, and the combination is stronger than either.</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0479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gVisor Buys and What It Costs</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87     </a:t>
            </a:r>
            <a:fld id="{F7C97E65-A16D-4041-BA63-671A78B01FA3}"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88104"/>
          </a:xfrm>
          <a:prstGeom prst="roundRect">
            <a:avLst>
              <a:gd name="adj" fmla="val 2083"/>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8810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96696"/>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F618D"/>
                </a:solidFill>
                <a:latin typeface="Segoe UI"/>
              </a:rPr>
              <a:t>Buys:</a:t>
            </a:r>
            <a:r>
              <a:rPr sz="2000" b="0" i="0">
                <a:solidFill>
                  <a:srgbClr val="1C252B"/>
                </a:solidFill>
                <a:latin typeface="Segoe UI"/>
              </a:rPr>
              <a:t> the host kernel sees perhaps 60 distinct system calls from Sentry rather than 350 arbitrary ones from untrusted code. The attack surface shrinks by roughly a factor of six, without a hypervisor and without a second kernel’s memory.</a:t>
            </a:r>
          </a:p>
        </p:txBody>
      </p:sp>
      <p:sp>
        <p:nvSpPr>
          <p:cNvPr id="10" name="body-1"/>
          <p:cNvSpPr txBox="1"/>
          <p:nvPr/>
        </p:nvSpPr>
        <p:spPr>
          <a:xfrm>
            <a:off x="1060704" y="3138931"/>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F618D"/>
                </a:solidFill>
                <a:latin typeface="Segoe UI"/>
              </a:rPr>
              <a:t>Costs:</a:t>
            </a:r>
            <a:r>
              <a:rPr sz="2000" b="0" i="0">
                <a:solidFill>
                  <a:srgbClr val="1C252B"/>
                </a:solidFill>
                <a:latin typeface="Segoe UI"/>
              </a:rPr>
              <a:t> every system call is now handled by a Go program instead of by the kernel. System-call-heavy workloads — anything doing many small reads and writes — lose substantially, commonly 10–30% and occasionally much more. CPU-bound work is barely affected, because it makes few calls.</a:t>
            </a:r>
          </a:p>
        </p:txBody>
      </p:sp>
      <p:sp>
        <p:nvSpPr>
          <p:cNvPr id="11" name="body-2"/>
          <p:cNvSpPr txBox="1"/>
          <p:nvPr/>
        </p:nvSpPr>
        <p:spPr>
          <a:xfrm>
            <a:off x="1060704" y="4546599"/>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1F618D"/>
                </a:solidFill>
                <a:latin typeface="Segoe UI"/>
              </a:rPr>
              <a:t>And a third thing:</a:t>
            </a:r>
            <a:r>
              <a:rPr sz="2000" b="0" i="0">
                <a:solidFill>
                  <a:srgbClr val="1C252B"/>
                </a:solidFill>
                <a:latin typeface="Segoe UI"/>
              </a:rPr>
              <a:t> Sentry implements </a:t>
            </a:r>
            <a:r>
              <a:rPr sz="2000" b="0" i="1">
                <a:solidFill>
                  <a:srgbClr val="1C252B"/>
                </a:solidFill>
                <a:latin typeface="Segoe UI"/>
              </a:rPr>
              <a:t>most</a:t>
            </a:r>
            <a:r>
              <a:rPr sz="2000" b="0" i="0">
                <a:solidFill>
                  <a:srgbClr val="1C252B"/>
                </a:solidFill>
                <a:latin typeface="Segoe UI"/>
              </a:rPr>
              <a:t> of Linux, not all of it. Unusual system calls, exotic </a:t>
            </a:r>
            <a:r>
              <a:rPr sz="1900" b="0" i="0">
                <a:solidFill>
                  <a:srgbClr val="1F4E79"/>
                </a:solidFill>
                <a:latin typeface="Consolas"/>
              </a:rPr>
              <a:t>ioctl</a:t>
            </a:r>
            <a:r>
              <a:rPr sz="2000" b="0" i="0">
                <a:solidFill>
                  <a:srgbClr val="1C252B"/>
                </a:solidFill>
                <a:latin typeface="Segoe UI"/>
              </a:rPr>
              <a:t>s and some </a:t>
            </a:r>
            <a:r>
              <a:rPr sz="1900" b="0" i="0">
                <a:solidFill>
                  <a:srgbClr val="1F4E79"/>
                </a:solidFill>
                <a:latin typeface="Consolas"/>
              </a:rPr>
              <a:t>/proc</a:t>
            </a:r>
            <a:r>
              <a:rPr sz="2000" b="0" i="0">
                <a:solidFill>
                  <a:srgbClr val="1C252B"/>
                </a:solidFill>
                <a:latin typeface="Segoe UI"/>
              </a:rPr>
              <a:t> behaviour are missing or approximated, so an application can fail in ways it never would natively. It is used in production at Google and in Google Cloud Run; it needs testing with your workload rather than faith.</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35271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Per-Workload Isolation Is the Deployable Idea</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87     </a:t>
            </a:r>
            <a:fld id="{210FA069-518F-4EBB-86D8-56AC3E8D1A8F}"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352"/>
          </a:xfrm>
          <a:prstGeom prst="roundRect">
            <a:avLst>
              <a:gd name="adj" fmla="val 2248"/>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35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important property is not Kata’s architecture but its granularity. A cluster does not have to choose one isolation level for everything.</a:t>
            </a:r>
          </a:p>
        </p:txBody>
      </p:sp>
      <p:sp>
        <p:nvSpPr>
          <p:cNvPr id="10" name="body-1"/>
          <p:cNvSpPr txBox="1"/>
          <p:nvPr/>
        </p:nvSpPr>
        <p:spPr>
          <a:xfrm>
            <a:off x="1060704" y="2899308"/>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Internal services, whose code you wrote and review, run on runc at full density. A tenant-supplied plugin, a customer’s build job, an untrusted PDF converter — these get </a:t>
            </a:r>
            <a:r>
              <a:rPr sz="2050" b="0" i="0">
                <a:solidFill>
                  <a:srgbClr val="1F4E79"/>
                </a:solidFill>
                <a:latin typeface="Consolas"/>
              </a:rPr>
              <a:t>runtimeClassName: kata</a:t>
            </a:r>
            <a:r>
              <a:rPr sz="2200" b="0" i="0">
                <a:solidFill>
                  <a:srgbClr val="1C252B"/>
                </a:solidFill>
                <a:latin typeface="Segoe UI"/>
              </a:rPr>
              <a:t> and a hardware boundary, at perhaps 50 MB and 250 ms each. The manifests are otherwise identical, and the decision is made per workload by the people who know the trust level.</a:t>
            </a:r>
          </a:p>
        </p:txBody>
      </p:sp>
      <p:sp>
        <p:nvSpPr>
          <p:cNvPr id="11" name="body-2"/>
          <p:cNvSpPr txBox="1"/>
          <p:nvPr/>
        </p:nvSpPr>
        <p:spPr>
          <a:xfrm>
            <a:off x="1060704" y="4796434"/>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is the shape of the answer this chapter has been building towards: isolation stops being an architectural commitment and becomes a per-workload setting.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5750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Function Service</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9F28FCDB-8E78-4F1C-89BB-00A54F900E69}"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04817"/>
          </a:xfrm>
          <a:prstGeom prst="roundRect">
            <a:avLst>
              <a:gd name="adj" fmla="val 217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04817"/>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provider will run untrusted functions. Expected load: 2,000 concurrent instances, average lifetime 400 ms, memory limit 128 MB each, on hosts of 64 cores and 256 GB. Compare plain containers, Kata and Firecracker.</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memory per instance.</a:t>
            </a:r>
          </a:p>
        </p:txBody>
      </p:sp>
      <p:sp>
        <p:nvSpPr>
          <p:cNvPr id="11" name="body-2"/>
          <p:cNvSpPr txBox="1"/>
          <p:nvPr/>
        </p:nvSpPr>
        <p:spPr>
          <a:xfrm>
            <a:off x="1042416" y="3481679"/>
            <a:ext cx="10234879"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container: </a:t>
            </a:r>
            <a:r>
              <a:rPr sz="1900" b="0" i="0">
                <a:solidFill>
                  <a:srgbClr val="1C252B"/>
                </a:solidFill>
                <a:latin typeface="Cambria"/>
              </a:rPr>
              <a:t>128 + 4 = 132</a:t>
            </a:r>
            <a:r>
              <a:rPr sz="1900" b="0" i="0">
                <a:solidFill>
                  <a:srgbClr val="1C252B"/>
                </a:solidFill>
                <a:latin typeface="Segoe UI"/>
              </a:rPr>
              <a:t> MB</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Kata on QEMU: </a:t>
            </a:r>
            <a:r>
              <a:rPr sz="1900" b="0" i="0">
                <a:solidFill>
                  <a:srgbClr val="1C252B"/>
                </a:solidFill>
                <a:latin typeface="Cambria"/>
              </a:rPr>
              <a:t>128 + 50 = 178</a:t>
            </a:r>
            <a:r>
              <a:rPr sz="1900" b="0" i="0">
                <a:solidFill>
                  <a:srgbClr val="1C252B"/>
                </a:solidFill>
                <a:latin typeface="Segoe UI"/>
              </a:rPr>
              <a:t> MB</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Firecracker: </a:t>
            </a:r>
            <a:r>
              <a:rPr sz="1900" b="0" i="0">
                <a:solidFill>
                  <a:srgbClr val="1C252B"/>
                </a:solidFill>
                <a:latin typeface="Cambria"/>
              </a:rPr>
              <a:t>128 + 5 = 133</a:t>
            </a:r>
            <a:r>
              <a:rPr sz="1900" b="0" i="0">
                <a:solidFill>
                  <a:srgbClr val="1C252B"/>
                </a:solidFill>
                <a:latin typeface="Segoe UI"/>
              </a:rPr>
              <a:t> MB</a:t>
            </a:r>
          </a:p>
        </p:txBody>
      </p:sp>
      <p:sp>
        <p:nvSpPr>
          <p:cNvPr id="12" name="body-3"/>
          <p:cNvSpPr txBox="1"/>
          <p:nvPr/>
        </p:nvSpPr>
        <p:spPr>
          <a:xfrm>
            <a:off x="1042416" y="4686731"/>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instances per host</a:t>
            </a:r>
            <a:r>
              <a:rPr sz="1900" b="0" i="0">
                <a:solidFill>
                  <a:srgbClr val="1C252B"/>
                </a:solidFill>
                <a:latin typeface="Segoe UI"/>
              </a:rPr>
              <a:t>, reserving 32 GB, so 224 GB usable:</a:t>
            </a:r>
          </a:p>
        </p:txBody>
      </p:sp>
      <p:sp>
        <p:nvSpPr>
          <p:cNvPr id="13" name="body-3bar">
            <a:extLst>
              <a:ext uri="{C183D7F6-B498-43B3-948B-1728B52AA6E4}">
                <adec:decorative xmlns:adec="http://schemas.microsoft.com/office/drawing/2017/decorative" val="1"/>
              </a:ext>
            </a:extLst>
          </p:cNvPr>
          <p:cNvSpPr/>
          <p:nvPr/>
        </p:nvSpPr>
        <p:spPr>
          <a:xfrm>
            <a:off x="841248" y="4705019"/>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4" name="body-4" descr="\text{container} = \frac{224 \times 1024}{132} = 1{,}737 \qquad \text{Kata} = \frac{224 \times 1024}{178} = 1{,}288"/>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5120589"/>
            <a:ext cx="10234879" cy="547268"/>
          </a:xfrm>
          <a:prstGeom prst="rect">
            <a:avLst/>
          </a:prstGeom>
        </p:spPr>
      </p:pic>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396230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2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right)">
                                      <p:cBhvr>
                                        <p:cTn id="36" dur="4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Function Service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46B74C63-26F7-4AB0-98BF-689019984EB3}"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79152"/>
          </a:xfrm>
          <a:prstGeom prst="roundRect">
            <a:avLst>
              <a:gd name="adj" fmla="val 204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7915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Firecracker} = \frac{224 \times 1024}{133} = \mathbf{1{,}7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47268"/>
          </a:xfrm>
          <a:prstGeom prst="rect">
            <a:avLst/>
          </a:prstGeom>
        </p:spPr>
      </p:pic>
      <p:sp>
        <p:nvSpPr>
          <p:cNvPr id="10" name="body-1"/>
          <p:cNvSpPr txBox="1"/>
          <p:nvPr/>
        </p:nvSpPr>
        <p:spPr>
          <a:xfrm>
            <a:off x="1042416" y="2691663"/>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hosts needed for 2,000 concurrent.</a:t>
            </a:r>
          </a:p>
        </p:txBody>
      </p:sp>
      <p:sp>
        <p:nvSpPr>
          <p:cNvPr id="11" name="body-1bar">
            <a:extLst>
              <a:ext uri="{C183D7F6-B498-43B3-948B-1728B52AA6E4}">
                <adec:decorative xmlns:adec="http://schemas.microsoft.com/office/drawing/2017/decorative" val="1"/>
              </a:ext>
            </a:extLst>
          </p:cNvPr>
          <p:cNvSpPr/>
          <p:nvPr/>
        </p:nvSpPr>
        <p:spPr>
          <a:xfrm>
            <a:off x="841248" y="2709951"/>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text{container} = \left\lceil \frac{2000}{1737} \right\rceil = 2 \qquad \text{Kata} = \left\lceil \frac{2000}{1288} \right\rceil = 2 \qquad \text{Firecracker} = 2"/>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3125520"/>
            <a:ext cx="10234879" cy="655167"/>
          </a:xfrm>
          <a:prstGeom prst="rect">
            <a:avLst/>
          </a:prstGeom>
        </p:spPr>
      </p:pic>
      <p:sp>
        <p:nvSpPr>
          <p:cNvPr id="13" name="body-3"/>
          <p:cNvSpPr txBox="1"/>
          <p:nvPr/>
        </p:nvSpPr>
        <p:spPr>
          <a:xfrm>
            <a:off x="1042416" y="391340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All three need two hosts. On this workload the density difference does not change the bill at all.</a:t>
            </a:r>
          </a:p>
        </p:txBody>
      </p:sp>
      <p:sp>
        <p:nvSpPr>
          <p:cNvPr id="14" name="body-4"/>
          <p:cNvSpPr txBox="1"/>
          <p:nvPr/>
        </p:nvSpPr>
        <p:spPr>
          <a:xfrm>
            <a:off x="1042416" y="4648403"/>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the cost that does differ: cold start.</a:t>
            </a:r>
            <a:r>
              <a:rPr sz="1900" b="0" i="0">
                <a:solidFill>
                  <a:srgbClr val="1C252B"/>
                </a:solidFill>
                <a:latin typeface="Segoe UI"/>
              </a:rPr>
              <a:t> With a 400 ms lifetime, start-up is not overhead, it is a large fraction of the work:</a:t>
            </a:r>
          </a:p>
        </p:txBody>
      </p:sp>
      <p:sp>
        <p:nvSpPr>
          <p:cNvPr id="15" name="body-4bar">
            <a:extLst>
              <a:ext uri="{C183D7F6-B498-43B3-948B-1728B52AA6E4}">
                <adec:decorative xmlns:adec="http://schemas.microsoft.com/office/drawing/2017/decorative" val="1"/>
              </a:ext>
            </a:extLst>
          </p:cNvPr>
          <p:cNvSpPr/>
          <p:nvPr/>
        </p:nvSpPr>
        <p:spPr>
          <a:xfrm>
            <a:off x="841248" y="4666691"/>
            <a:ext cx="54864" cy="58399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body-5" descr="\text{container} = \frac{0.10}{0.40 + 0.10} = 20\% \qquad \text{Kata} = \frac{0.25}{0.40 + 0.25} = 38\%"/>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5383403"/>
            <a:ext cx="10234879" cy="558789"/>
          </a:xfrm>
          <a:prstGeom prst="rect">
            <a:avLst/>
          </a:prstGeom>
        </p:spPr>
      </p:pic>
      <p:sp>
        <p:nvSpPr>
          <p:cNvPr id="4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pfill">
            <a:extLst>
              <a:ext uri="{C183D7F6-B498-43B3-948B-1728B52AA6E4}">
                <adec:decorative xmlns:adec="http://schemas.microsoft.com/office/drawing/2017/decorative" val="1"/>
              </a:ext>
            </a:extLst>
          </p:cNvPr>
          <p:cNvSpPr/>
          <p:nvPr/>
        </p:nvSpPr>
        <p:spPr>
          <a:xfrm>
            <a:off x="0" y="0"/>
            <a:ext cx="426709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Sizing a Function Service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C3EAC61B-5548-4DC1-8FFE-259420103A74}"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5856"/>
          </a:xfrm>
          <a:prstGeom prst="roundRect">
            <a:avLst>
              <a:gd name="adj" fmla="val 216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585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Firecracker} = \frac{0.125}{0.40 + 0.125} = \mathbf{24\%}"/>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58789"/>
          </a:xfrm>
          <a:prstGeom prst="rect">
            <a:avLst/>
          </a:prstGeom>
        </p:spPr>
      </p:pic>
      <p:sp>
        <p:nvSpPr>
          <p:cNvPr id="10" name="body-1"/>
          <p:cNvSpPr txBox="1"/>
          <p:nvPr/>
        </p:nvSpPr>
        <p:spPr>
          <a:xfrm>
            <a:off x="1042416" y="270318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Kata spends 38% of every host-second starting machines. Firecracker spends 24%, nearly matching the container, and gives a hardware boundary for it.</a:t>
            </a:r>
          </a:p>
        </p:txBody>
      </p:sp>
      <p:sp>
        <p:nvSpPr>
          <p:cNvPr id="11" name="body-2"/>
          <p:cNvSpPr txBox="1"/>
          <p:nvPr/>
        </p:nvSpPr>
        <p:spPr>
          <a:xfrm>
            <a:off x="1042416" y="3438184"/>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decision.</a:t>
            </a:r>
            <a:r>
              <a:rPr sz="1900" b="0" i="0">
                <a:solidFill>
                  <a:srgbClr val="1C252B"/>
                </a:solidFill>
                <a:latin typeface="Segoe UI"/>
              </a:rPr>
              <a:t> </a:t>
            </a:r>
            <a:r>
              <a:rPr sz="1900" b="1" i="0">
                <a:solidFill>
                  <a:srgbClr val="1C252B"/>
                </a:solidFill>
                <a:latin typeface="Segoe UI"/>
              </a:rPr>
              <a:t>Firecracker.</a:t>
            </a:r>
            <a:r>
              <a:rPr sz="1900" b="0" i="0">
                <a:solidFill>
                  <a:srgbClr val="1C252B"/>
                </a:solidFill>
                <a:latin typeface="Segoe UI"/>
              </a:rPr>
              <a:t> It is within 1% of the container’s density and within 4 percentage points of its start-up overhead, and it is the only one of the three that puts the processor between one stranger’s code and the next.</a:t>
            </a:r>
          </a:p>
        </p:txBody>
      </p:sp>
      <p:sp>
        <p:nvSpPr>
          <p:cNvPr id="12" name="body-2bar">
            <a:extLst>
              <a:ext uri="{C183D7F6-B498-43B3-948B-1728B52AA6E4}">
                <adec:decorative xmlns:adec="http://schemas.microsoft.com/office/drawing/2017/decorative" val="1"/>
              </a:ext>
            </a:extLst>
          </p:cNvPr>
          <p:cNvSpPr/>
          <p:nvPr/>
        </p:nvSpPr>
        <p:spPr>
          <a:xfrm>
            <a:off x="841248" y="3456472"/>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body-3"/>
          <p:cNvSpPr txBox="1"/>
          <p:nvPr/>
        </p:nvSpPr>
        <p:spPr>
          <a:xfrm>
            <a:off x="1042416" y="4474326"/>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6 — and the honest caveat.</a:t>
            </a:r>
            <a:r>
              <a:rPr sz="1900" b="0" i="0">
                <a:solidFill>
                  <a:srgbClr val="1C252B"/>
                </a:solidFill>
                <a:latin typeface="Segoe UI"/>
              </a:rPr>
              <a:t> These figures assume a cold start every time. Real function services keep warm instances pooled, which cuts the effective cold-start rate by an order of magnitude and moves the whole comparison. Reproduce Step 4 with your measured cold-start </a:t>
            </a:r>
            <a:r>
              <a:rPr sz="1900" b="0" i="1">
                <a:solidFill>
                  <a:srgbClr val="1C252B"/>
                </a:solidFill>
                <a:latin typeface="Segoe UI"/>
              </a:rPr>
              <a:t>rate</a:t>
            </a:r>
            <a:r>
              <a:rPr sz="1900" b="0" i="0">
                <a:solidFill>
                  <a:srgbClr val="1C252B"/>
                </a:solidFill>
                <a:latin typeface="Segoe UI"/>
              </a:rPr>
              <a:t>, not the worst case, before committing hardware.</a:t>
            </a:r>
          </a:p>
        </p:txBody>
      </p:sp>
      <p:sp>
        <p:nvSpPr>
          <p:cNvPr id="14" name="body-3bar">
            <a:extLst>
              <a:ext uri="{C183D7F6-B498-43B3-948B-1728B52AA6E4}">
                <adec:decorative xmlns:adec="http://schemas.microsoft.com/office/drawing/2017/decorative" val="1"/>
              </a:ext>
            </a:extLst>
          </p:cNvPr>
          <p:cNvSpPr/>
          <p:nvPr/>
        </p:nvSpPr>
        <p:spPr>
          <a:xfrm>
            <a:off x="841248" y="4492614"/>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pfill">
            <a:extLst>
              <a:ext uri="{C183D7F6-B498-43B3-948B-1728B52AA6E4}">
                <adec:decorative xmlns:adec="http://schemas.microsoft.com/office/drawing/2017/decorative" val="1"/>
              </a:ext>
            </a:extLst>
          </p:cNvPr>
          <p:cNvSpPr/>
          <p:nvPr/>
        </p:nvSpPr>
        <p:spPr>
          <a:xfrm>
            <a:off x="0" y="0"/>
            <a:ext cx="45718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right)">
                                      <p:cBhvr>
                                        <p:cTn id="26" dur="420"/>
                                        <p:tgtEl>
                                          <p:spTgt spid="1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178DE308-9608-4A7E-951C-C0B28A0F4323}" type="slidenum">
              <a:rPr lang="en-GB" sz="1000">
                <a:solidFill>
                  <a:srgbClr val="8795A1"/>
                </a:solidFill>
                <a:latin typeface="Segoe UI"/>
              </a:rPr>
              <a:t>16</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this as a ranking.</a:t>
            </a:r>
            <a:r>
              <a:rPr sz="1700" b="0" i="0">
                <a:solidFill>
                  <a:srgbClr val="1C252B"/>
                </a:solidFill>
                <a:latin typeface="Segoe UI"/>
              </a:rPr>
              <a:t> There is no best runtime. A microVM for an internal service is wasted money; runc for a stranger’s code is negligence.</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Assuming gVisor is free.</a:t>
            </a:r>
            <a:r>
              <a:rPr sz="1700" b="0" i="0">
                <a:solidFill>
                  <a:srgbClr val="1C252B"/>
                </a:solidFill>
                <a:latin typeface="Segoe UI"/>
              </a:rPr>
              <a:t> The system-call path is slower, and how much depends entirely on how many calls your workload makes. Measure it, do not assume 10%.</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every program to run under gVisor.</a:t>
            </a:r>
            <a:r>
              <a:rPr sz="1700" b="0" i="0">
                <a:solidFill>
                  <a:srgbClr val="1C252B"/>
                </a:solidFill>
                <a:latin typeface="Segoe UI"/>
              </a:rPr>
              <a:t> It implements most of Linux, not all. Test the actual application.</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Thinking a microVM removes the need to harden the container around it.</a:t>
            </a:r>
            <a:r>
              <a:rPr sz="1700" b="0" i="0">
                <a:solidFill>
                  <a:srgbClr val="1C252B"/>
                </a:solidFill>
                <a:latin typeface="Segoe UI"/>
              </a:rPr>
              <a:t> Firecracker ships a jailer precisely because its designers do not make that assumption.</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a unikernel without pricing the debugging.</a:t>
            </a:r>
            <a:r>
              <a:rPr sz="1700" b="0" i="0">
                <a:solidFill>
                  <a:srgbClr val="1C252B"/>
                </a:solidFill>
                <a:latin typeface="Segoe UI"/>
              </a:rPr>
              <a:t> The runtime properties are excellent and the day the thing misbehaves in production you have no shell, no </a:t>
            </a:r>
            <a:r>
              <a:rPr sz="1600" b="0" i="0">
                <a:solidFill>
                  <a:srgbClr val="1F4E79"/>
                </a:solidFill>
                <a:latin typeface="Consolas"/>
              </a:rPr>
              <a:t>strace</a:t>
            </a:r>
            <a:r>
              <a:rPr sz="1700" b="0" i="0">
                <a:solidFill>
                  <a:srgbClr val="1C252B"/>
                </a:solidFill>
                <a:latin typeface="Segoe UI"/>
              </a:rPr>
              <a:t> and no package to install one from.</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Applying one isolation level to a whole cluster.</a:t>
            </a:r>
            <a:r>
              <a:rPr sz="1700" b="0" i="0">
                <a:solidFill>
                  <a:srgbClr val="1C252B"/>
                </a:solidFill>
                <a:latin typeface="Segoe UI"/>
              </a:rPr>
              <a:t> RuntimeClass exists so that the decision can be made per workload. Most clusters should mix.</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74B5F024-C110-4E04-B036-0956030E2B6A}" type="slidenum">
              <a:rPr lang="en-GB" sz="1000">
                <a:solidFill>
                  <a:srgbClr val="8795A1"/>
                </a:solidFill>
                <a:latin typeface="Segoe UI"/>
              </a:rPr>
              <a:t>17</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Starts a Firecracker microVM and compares its boot time and memory footprint with a full QEMU guest and a container. Needs KVM. Expect forty minutes.</a:t>
            </a:r>
          </a:p>
        </p:txBody>
      </p:sp>
      <p:sp>
        <p:nvSpPr>
          <p:cNvPr id="8" name="!!labsteps-h"/>
          <p:cNvSpPr txBox="1"/>
          <p:nvPr/>
        </p:nvSpPr>
        <p:spPr>
          <a:xfrm>
            <a:off x="658368" y="26822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066288"/>
            <a:ext cx="10874959" cy="24384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Firecracker needs KVM and nothing else.</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A kernel and a root filesystem, loaded directly.</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Describe the whole machine. Note how little there is.</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Boot it, and time to the login prompt.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The same guest under full QEMU, for comparison.</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And a container, for the other end of the axis.</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Memory footprint of the VMM process itself.</a:t>
            </a:r>
          </a:p>
          <a:p>
            <a:pPr algn="l" marL="367434" indent="-367434">
              <a:lnSpc>
                <a:spcPct val="100000"/>
              </a:lnSpc>
              <a:spcBef>
                <a:spcPts val="0"/>
              </a:spcBef>
              <a:spcAft>
                <a:spcPts val="420"/>
              </a:spcAft>
            </a:pPr>
            <a:r>
              <a:rPr sz="1400" b="1">
                <a:solidFill>
                  <a:srgbClr val="117A65"/>
                </a:solidFill>
                <a:latin typeface="Segoe UI"/>
              </a:rPr>
              <a:t>8.	</a:t>
            </a:r>
            <a:r>
              <a:rPr sz="1400" b="0" i="0">
                <a:solidFill>
                  <a:srgbClr val="1C252B"/>
                </a:solidFill>
                <a:latin typeface="Segoe UI"/>
              </a:rPr>
              <a:t>Kata, if the host has it: one flag, a whole VM.</a:t>
            </a:r>
          </a:p>
          <a:p>
            <a:pPr algn="l" marL="367434" indent="-367434">
              <a:lnSpc>
                <a:spcPct val="100000"/>
              </a:lnSpc>
              <a:spcBef>
                <a:spcPts val="0"/>
              </a:spcBef>
              <a:spcAft>
                <a:spcPts val="0"/>
              </a:spcAft>
            </a:pPr>
            <a:r>
              <a:rPr sz="1400" b="1">
                <a:solidFill>
                  <a:srgbClr val="117A65"/>
                </a:solidFill>
                <a:latin typeface="Segoe UI"/>
              </a:rPr>
              <a:t>9.	</a:t>
            </a:r>
            <a:r>
              <a:rPr sz="1400" b="0" i="0">
                <a:solidFill>
                  <a:srgbClr val="1C252B"/>
                </a:solidFill>
                <a:latin typeface="Segoe UI"/>
              </a:rPr>
              <a:t>Tear down.</a:t>
            </a:r>
          </a:p>
        </p:txBody>
      </p:sp>
      <p:sp>
        <p:nvSpPr>
          <p:cNvPr id="4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5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9: Boot a microVM and time it</a:t>
            </a:r>
          </a:p>
        </p:txBody>
      </p:sp>
      <p:sp>
        <p:nvSpPr>
          <p:cNvPr id="5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70 lines of Shell</a:t>
            </a:r>
          </a:p>
        </p:txBody>
      </p:sp>
      <p:sp>
        <p:nvSpPr>
          <p:cNvPr id="5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pfill">
            <a:extLst>
              <a:ext uri="{C183D7F6-B498-43B3-948B-1728B52AA6E4}">
                <adec:decorative xmlns:adec="http://schemas.microsoft.com/office/drawing/2017/decorative" val="1"/>
              </a:ext>
            </a:extLst>
          </p:cNvPr>
          <p:cNvSpPr/>
          <p:nvPr/>
        </p:nvSpPr>
        <p:spPr>
          <a:xfrm>
            <a:off x="0" y="0"/>
            <a:ext cx="51814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9">
                                            <p:txEl>
                                              <p:pRg st="8" end="8"/>
                                            </p:txEl>
                                          </p:spTgt>
                                        </p:tgtEl>
                                        <p:attrNameLst>
                                          <p:attrName>style.visibility</p:attrName>
                                        </p:attrNameLst>
                                      </p:cBhvr>
                                      <p:to>
                                        <p:strVal val="visible"/>
                                      </p:to>
                                    </p:set>
                                    <p:animEffect transition="in" filter="fade">
                                      <p:cBhvr>
                                        <p:cTn id="48" dur="3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F8FB6883-51C8-48E5-9B76-21A860FF8525}" type="slidenum">
              <a:rPr lang="en-GB" sz="1000">
                <a:solidFill>
                  <a:srgbClr val="8795A1"/>
                </a:solidFill>
                <a:latin typeface="Segoe UI"/>
              </a:rPr>
              <a:t>18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11_microvm.sh -- 25 s, 125 ms and 100 ms, measured on one machine. set -euo pipefail cd ~ &amp;&amp; mkdir -p fc &amp;&amp; cd fc"/>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#!/usr/bin/env bash</a:t>
            </a:r>
          </a:p>
          <a:p>
            <a:pPr>
              <a:lnSpc>
                <a:spcPct val="100000"/>
              </a:lnSpc>
              <a:spcAft>
                <a:spcPts val="0"/>
              </a:spcAft>
            </a:pPr>
            <a:r>
              <a:rPr sz="1900" i="1">
                <a:solidFill>
                  <a:srgbClr val="8795A1"/>
                </a:solidFill>
                <a:latin typeface="Consolas"/>
              </a:rPr>
              <a:t># ch11_microvm.sh -- 25 s, 125 ms and 100 ms, measured on one machine.</a:t>
            </a:r>
          </a:p>
          <a:p>
            <a:pPr>
              <a:lnSpc>
                <a:spcPct val="100000"/>
              </a:lnSpc>
              <a:spcAft>
                <a:spcPts val="0"/>
              </a:spcAft>
            </a:pP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-euo</a:t>
            </a:r>
            <a:r>
              <a:rPr sz="1900" i="0">
                <a:solidFill>
                  <a:srgbClr val="E8EDF2"/>
                </a:solidFill>
                <a:latin typeface="Consolas"/>
              </a:rPr>
              <a:t> </a:t>
            </a:r>
            <a:r>
              <a:rPr sz="1900" i="0">
                <a:solidFill>
                  <a:srgbClr val="E8EDF2"/>
                </a:solidFill>
                <a:latin typeface="Consolas"/>
              </a:rPr>
              <a:t>pipefail</a:t>
            </a:r>
          </a:p>
          <a:p>
            <a:pPr>
              <a:lnSpc>
                <a:spcPct val="100000"/>
              </a:lnSpc>
              <a:spcAft>
                <a:spcPts val="0"/>
              </a:spcAft>
            </a:pPr>
            <a:r>
              <a:rPr sz="1900" i="0">
                <a:solidFill>
                  <a:srgbClr val="C39BD3"/>
                </a:solidFill>
                <a:latin typeface="Consolas"/>
              </a:rPr>
              <a:t>cd</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E8EDF2"/>
                </a:solidFill>
                <a:latin typeface="Consolas"/>
              </a:rPr>
              <a:t>mkdir</a:t>
            </a:r>
            <a:r>
              <a:rPr sz="1900" i="0">
                <a:solidFill>
                  <a:srgbClr val="E8EDF2"/>
                </a:solidFill>
                <a:latin typeface="Consolas"/>
              </a:rPr>
              <a:t> </a:t>
            </a:r>
            <a:r>
              <a:rPr sz="1900" i="0">
                <a:solidFill>
                  <a:srgbClr val="E8EDF2"/>
                </a:solidFill>
                <a:latin typeface="Consolas"/>
              </a:rPr>
              <a:t>-p</a:t>
            </a:r>
            <a:r>
              <a:rPr sz="1900" i="0">
                <a:solidFill>
                  <a:srgbClr val="E8EDF2"/>
                </a:solidFill>
                <a:latin typeface="Consolas"/>
              </a:rPr>
              <a:t> </a:t>
            </a:r>
            <a:r>
              <a:rPr sz="1900" i="0">
                <a:solidFill>
                  <a:srgbClr val="C39BD3"/>
                </a:solidFill>
                <a:latin typeface="Consolas"/>
              </a:rPr>
              <a:t>fc</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cd</a:t>
            </a:r>
            <a:r>
              <a:rPr sz="1900" i="0">
                <a:solidFill>
                  <a:srgbClr val="E8EDF2"/>
                </a:solidFill>
                <a:latin typeface="Consolas"/>
              </a:rPr>
              <a:t> </a:t>
            </a:r>
            <a:r>
              <a:rPr sz="1900" i="0">
                <a:solidFill>
                  <a:srgbClr val="C39BD3"/>
                </a:solidFill>
                <a:latin typeface="Consolas"/>
              </a:rPr>
              <a:t>fc</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4862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25A5A1F4-653A-4B30-87F5-D693711F2C49}" type="slidenum">
              <a:rPr lang="en-GB" sz="1000">
                <a:solidFill>
                  <a:srgbClr val="8795A1"/>
                </a:solidFill>
                <a:latin typeface="Segoe UI"/>
              </a:rPr>
              <a:t>19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Firecracker needs KVM and nothing else.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Firecracker needs KVM and nothing else. ------------------------ [ -w /dev/kvm ] || { echo &quot;no /dev/kvm -- see Chapter 4 step 1&quot;; exit 1; } ARCH=$(uname -m) curl -sL -o firecracker \ &quot;https://github.com/firecracker-microvm/firecracker/releases/latest/\ download/firecracker-${ARCH}.tgz&quot; || true # If that fails, the release page lists a direct tarball; extract the # firecracker binary beside this script. chmod +x firecracker 2&gt;/dev/null || true"/>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Firecracker needs KVM and nothing else. ------------------------</a:t>
            </a:r>
          </a:p>
          <a:p>
            <a:pPr>
              <a:lnSpc>
                <a:spcPct val="100000"/>
              </a:lnSpc>
              <a:spcAft>
                <a:spcPts val="0"/>
              </a:spcAft>
            </a:pP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-w</a:t>
            </a:r>
            <a:r>
              <a:rPr sz="1800" i="0">
                <a:solidFill>
                  <a:srgbClr val="E8EDF2"/>
                </a:solidFill>
                <a:latin typeface="Consolas"/>
              </a:rPr>
              <a:t> </a:t>
            </a:r>
            <a:r>
              <a:rPr sz="1800" i="0">
                <a:solidFill>
                  <a:srgbClr val="E8EDF2"/>
                </a:solidFill>
                <a:latin typeface="Consolas"/>
              </a:rPr>
              <a:t>/dev/kvm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echo</a:t>
            </a:r>
            <a:r>
              <a:rPr sz="1800" i="0">
                <a:solidFill>
                  <a:srgbClr val="E8EDF2"/>
                </a:solidFill>
                <a:latin typeface="Consolas"/>
              </a:rPr>
              <a:t> </a:t>
            </a:r>
            <a:r>
              <a:rPr sz="1800" i="0">
                <a:solidFill>
                  <a:srgbClr val="7DCEA0"/>
                </a:solidFill>
                <a:latin typeface="Consolas"/>
              </a:rPr>
              <a:t>"no /dev/kvm -- see Chapter 4 step 1"</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exit</a:t>
            </a:r>
            <a:r>
              <a:rPr sz="1800" i="0">
                <a:solidFill>
                  <a:srgbClr val="E8EDF2"/>
                </a:solidFill>
                <a:latin typeface="Consolas"/>
              </a:rPr>
              <a:t> </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ARCH</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uname</a:t>
            </a:r>
            <a:r>
              <a:rPr sz="1800" i="0">
                <a:solidFill>
                  <a:srgbClr val="E8EDF2"/>
                </a:solidFill>
                <a:latin typeface="Consolas"/>
              </a:rPr>
              <a:t> </a:t>
            </a:r>
            <a:r>
              <a:rPr sz="1800" i="0">
                <a:solidFill>
                  <a:srgbClr val="E8EDF2"/>
                </a:solidFill>
                <a:latin typeface="Consolas"/>
              </a:rPr>
              <a:t>-m</a:t>
            </a:r>
            <a:r>
              <a:rPr sz="1800" i="0">
                <a:solidFill>
                  <a:srgbClr val="5DADE2"/>
                </a:solidFill>
                <a:latin typeface="Consolas"/>
              </a:rPr>
              <a:t>)</a:t>
            </a:r>
          </a:p>
          <a:p>
            <a:pPr>
              <a:lnSpc>
                <a:spcPct val="100000"/>
              </a:lnSpc>
              <a:spcAft>
                <a:spcPts val="0"/>
              </a:spcAft>
            </a:pPr>
            <a:r>
              <a:rPr sz="1800" i="0">
                <a:solidFill>
                  <a:srgbClr val="E8EDF2"/>
                </a:solidFill>
                <a:latin typeface="Consolas"/>
              </a:rPr>
              <a:t>curl</a:t>
            </a:r>
            <a:r>
              <a:rPr sz="1800" i="0">
                <a:solidFill>
                  <a:srgbClr val="E8EDF2"/>
                </a:solidFill>
                <a:latin typeface="Consolas"/>
              </a:rPr>
              <a:t> </a:t>
            </a:r>
            <a:r>
              <a:rPr sz="1800" i="0">
                <a:solidFill>
                  <a:srgbClr val="E8EDF2"/>
                </a:solidFill>
                <a:latin typeface="Consolas"/>
              </a:rPr>
              <a:t>-sL</a:t>
            </a:r>
            <a:r>
              <a:rPr sz="1800" i="0">
                <a:solidFill>
                  <a:srgbClr val="E8EDF2"/>
                </a:solidFill>
                <a:latin typeface="Consolas"/>
              </a:rPr>
              <a:t> </a:t>
            </a:r>
            <a:r>
              <a:rPr sz="1800" i="0">
                <a:solidFill>
                  <a:srgbClr val="E8EDF2"/>
                </a:solidFill>
                <a:latin typeface="Consolas"/>
              </a:rPr>
              <a:t>-o</a:t>
            </a:r>
            <a:r>
              <a:rPr sz="1800" i="0">
                <a:solidFill>
                  <a:srgbClr val="E8EDF2"/>
                </a:solidFill>
                <a:latin typeface="Consolas"/>
              </a:rPr>
              <a:t> </a:t>
            </a:r>
            <a:r>
              <a:rPr sz="1800" i="0">
                <a:solidFill>
                  <a:srgbClr val="E8EDF2"/>
                </a:solidFill>
                <a:latin typeface="Consolas"/>
              </a:rPr>
              <a:t>firecracker</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https://github.com/firecracker-microvm/firecracker/releases/latest/\</a:t>
            </a:r>
          </a:p>
          <a:p>
            <a:pPr>
              <a:lnSpc>
                <a:spcPct val="100000"/>
              </a:lnSpc>
              <a:spcAft>
                <a:spcPts val="0"/>
              </a:spcAft>
            </a:pPr>
            <a:r>
              <a:rPr sz="1800" i="0">
                <a:solidFill>
                  <a:srgbClr val="7DCEA0"/>
                </a:solidFill>
                <a:latin typeface="Consolas"/>
              </a:rPr>
              <a:t>download/firecracker-</a:t>
            </a:r>
            <a:r>
              <a:rPr sz="1800" i="0">
                <a:solidFill>
                  <a:srgbClr val="7DCEA0"/>
                </a:solidFill>
                <a:latin typeface="Consolas"/>
              </a:rPr>
              <a:t>${</a:t>
            </a:r>
            <a:r>
              <a:rPr sz="1800" i="0">
                <a:solidFill>
                  <a:srgbClr val="E8EDF2"/>
                </a:solidFill>
                <a:latin typeface="Consolas"/>
              </a:rPr>
              <a:t>ARCH</a:t>
            </a:r>
            <a:r>
              <a:rPr sz="1800" i="0">
                <a:solidFill>
                  <a:srgbClr val="7DCEA0"/>
                </a:solidFill>
                <a:latin typeface="Consolas"/>
              </a:rPr>
              <a:t>}</a:t>
            </a:r>
            <a:r>
              <a:rPr sz="1800" i="0">
                <a:solidFill>
                  <a:srgbClr val="7DCEA0"/>
                </a:solidFill>
                <a:latin typeface="Consolas"/>
              </a:rPr>
              <a:t>.tgz</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1">
                <a:solidFill>
                  <a:srgbClr val="8795A1"/>
                </a:solidFill>
                <a:latin typeface="Consolas"/>
              </a:rPr>
              <a:t># If that fails, the release page lists a direct tarball; extract the</a:t>
            </a:r>
          </a:p>
          <a:p>
            <a:pPr>
              <a:lnSpc>
                <a:spcPct val="100000"/>
              </a:lnSpc>
              <a:spcAft>
                <a:spcPts val="0"/>
              </a:spcAft>
            </a:pPr>
            <a:r>
              <a:rPr sz="1800" i="1">
                <a:solidFill>
                  <a:srgbClr val="8795A1"/>
                </a:solidFill>
                <a:latin typeface="Consolas"/>
              </a:rPr>
              <a:t># firecracker binary beside this script.</a:t>
            </a:r>
          </a:p>
          <a:p>
            <a:pPr>
              <a:lnSpc>
                <a:spcPct val="100000"/>
              </a:lnSpc>
              <a:spcAft>
                <a:spcPts val="0"/>
              </a:spcAft>
            </a:pPr>
            <a:r>
              <a:rPr sz="1800" i="0">
                <a:solidFill>
                  <a:srgbClr val="E8EDF2"/>
                </a:solidFill>
                <a:latin typeface="Consolas"/>
              </a:rPr>
              <a:t>chmod</a:t>
            </a:r>
            <a:r>
              <a:rPr sz="1800" i="0">
                <a:solidFill>
                  <a:srgbClr val="E8EDF2"/>
                </a:solidFill>
                <a:latin typeface="Consolas"/>
              </a:rPr>
              <a:t> </a:t>
            </a:r>
            <a:r>
              <a:rPr sz="1800" i="0">
                <a:solidFill>
                  <a:srgbClr val="E8EDF2"/>
                </a:solidFill>
                <a:latin typeface="Consolas"/>
              </a:rPr>
              <a:t>+x</a:t>
            </a:r>
            <a:r>
              <a:rPr sz="1800" i="0">
                <a:solidFill>
                  <a:srgbClr val="E8EDF2"/>
                </a:solidFill>
                <a:latin typeface="Consolas"/>
              </a:rPr>
              <a:t> </a:t>
            </a:r>
            <a:r>
              <a:rPr sz="1800" i="0">
                <a:solidFill>
                  <a:srgbClr val="E8EDF2"/>
                </a:solidFill>
                <a:latin typeface="Consolas"/>
              </a:rPr>
              <a:t>firecracker</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&gt;/dev/null</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a:p>
            <a:pPr algn="r">
              <a:lnSpc>
                <a:spcPct val="100000"/>
              </a:lnSpc>
            </a:pPr>
            <a:r>
              <a:rPr sz="1800">
                <a:solidFill>
                  <a:srgbClr val="4F5D6A"/>
                </a:solidFill>
                <a:latin typeface="Consolas"/>
              </a:rPr>
              <a:t>8</a:t>
            </a:r>
          </a:p>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579105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56C9A4E2-CB07-4CC6-90EC-970BD096D62A}" type="slidenum">
              <a:rPr lang="en-GB" sz="1000">
                <a:solidFill>
                  <a:srgbClr val="8795A1"/>
                </a:solidFill>
                <a:latin typeface="Segoe UI"/>
              </a:rPr>
              <a:t>20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 kernel and a root filesystem, loaded directly.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919984"/>
          </a:xfrm>
          <a:prstGeom prst="roundRect">
            <a:avLst>
              <a:gd name="adj" fmla="val 31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A kernel and a root filesystem, loaded directly. -------------- # No bootloader and no firmware: the VMM places the kernel in memory. curl -sL -o vmlinux \ &quot;https://s3.amazonaws.com/spec.ccfc.min/img/quickstart_guide/\ ${ARCH}/kernels/vmlinux.bin&quot; curl -sL -o rootfs.ext4 \ &quot;https://s3.amazonaws.com/spec.ccfc.min/img/quickstart_guide/\ ${ARCH}/rootfs/bionic.rootfs.ext4&quot;"/>
          <p:cNvSpPr txBox="1"/>
          <p:nvPr/>
        </p:nvSpPr>
        <p:spPr>
          <a:xfrm>
            <a:off x="1362456" y="2523744"/>
            <a:ext cx="9987991" cy="24262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--- 2. A kernel and a root filesystem, loaded directly. --------------</a:t>
            </a:r>
          </a:p>
          <a:p>
            <a:pPr>
              <a:lnSpc>
                <a:spcPct val="100000"/>
              </a:lnSpc>
              <a:spcAft>
                <a:spcPts val="0"/>
              </a:spcAft>
            </a:pPr>
            <a:r>
              <a:rPr sz="1900" i="1">
                <a:solidFill>
                  <a:srgbClr val="8795A1"/>
                </a:solidFill>
                <a:latin typeface="Consolas"/>
              </a:rPr>
              <a:t># No bootloader and no firmware: the VMM places the kernel in memory.</a:t>
            </a:r>
          </a:p>
          <a:p>
            <a:pPr>
              <a:lnSpc>
                <a:spcPct val="100000"/>
              </a:lnSpc>
              <a:spcAft>
                <a:spcPts val="0"/>
              </a:spcAft>
            </a:pPr>
            <a:r>
              <a:rPr sz="1900" i="0">
                <a:solidFill>
                  <a:srgbClr val="E8EDF2"/>
                </a:solidFill>
                <a:latin typeface="Consolas"/>
              </a:rPr>
              <a:t>curl</a:t>
            </a:r>
            <a:r>
              <a:rPr sz="1900" i="0">
                <a:solidFill>
                  <a:srgbClr val="E8EDF2"/>
                </a:solidFill>
                <a:latin typeface="Consolas"/>
              </a:rPr>
              <a:t> </a:t>
            </a:r>
            <a:r>
              <a:rPr sz="1900" i="0">
                <a:solidFill>
                  <a:srgbClr val="E8EDF2"/>
                </a:solidFill>
                <a:latin typeface="Consolas"/>
              </a:rPr>
              <a:t>-sL</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vmlinux</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https://s3.amazonaws.com/spec.ccfc.min/img/quickstart_guide/\</a:t>
            </a:r>
          </a:p>
          <a:p>
            <a:pPr>
              <a:lnSpc>
                <a:spcPct val="100000"/>
              </a:lnSpc>
              <a:spcAft>
                <a:spcPts val="0"/>
              </a:spcAft>
            </a:pPr>
            <a:r>
              <a:rPr sz="1900" i="0">
                <a:solidFill>
                  <a:srgbClr val="7DCEA0"/>
                </a:solidFill>
                <a:latin typeface="Consolas"/>
              </a:rPr>
              <a:t>${</a:t>
            </a:r>
            <a:r>
              <a:rPr sz="1900" i="0">
                <a:solidFill>
                  <a:srgbClr val="E8EDF2"/>
                </a:solidFill>
                <a:latin typeface="Consolas"/>
              </a:rPr>
              <a:t>ARCH</a:t>
            </a:r>
            <a:r>
              <a:rPr sz="1900" i="0">
                <a:solidFill>
                  <a:srgbClr val="7DCEA0"/>
                </a:solidFill>
                <a:latin typeface="Consolas"/>
              </a:rPr>
              <a:t>}</a:t>
            </a:r>
            <a:r>
              <a:rPr sz="1900" i="0">
                <a:solidFill>
                  <a:srgbClr val="7DCEA0"/>
                </a:solidFill>
                <a:latin typeface="Consolas"/>
              </a:rPr>
              <a:t>/kernels/vmlinux.bin</a:t>
            </a:r>
            <a:r>
              <a:rPr sz="1900" i="0">
                <a:solidFill>
                  <a:srgbClr val="7DCEA0"/>
                </a:solidFill>
                <a:latin typeface="Consolas"/>
              </a:rPr>
              <a:t>"</a:t>
            </a:r>
          </a:p>
          <a:p>
            <a:pPr>
              <a:lnSpc>
                <a:spcPct val="100000"/>
              </a:lnSpc>
              <a:spcAft>
                <a:spcPts val="0"/>
              </a:spcAft>
            </a:pPr>
            <a:r>
              <a:rPr sz="1900" i="0">
                <a:solidFill>
                  <a:srgbClr val="E8EDF2"/>
                </a:solidFill>
                <a:latin typeface="Consolas"/>
              </a:rPr>
              <a:t>curl</a:t>
            </a:r>
            <a:r>
              <a:rPr sz="1900" i="0">
                <a:solidFill>
                  <a:srgbClr val="E8EDF2"/>
                </a:solidFill>
                <a:latin typeface="Consolas"/>
              </a:rPr>
              <a:t> </a:t>
            </a:r>
            <a:r>
              <a:rPr sz="1900" i="0">
                <a:solidFill>
                  <a:srgbClr val="E8EDF2"/>
                </a:solidFill>
                <a:latin typeface="Consolas"/>
              </a:rPr>
              <a:t>-sL</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rootfs.ext4</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https://s3.amazonaws.com/spec.ccfc.min/img/quickstart_guide/\</a:t>
            </a:r>
          </a:p>
          <a:p>
            <a:pPr>
              <a:lnSpc>
                <a:spcPct val="100000"/>
              </a:lnSpc>
              <a:spcAft>
                <a:spcPts val="0"/>
              </a:spcAft>
            </a:pPr>
            <a:r>
              <a:rPr sz="1900" i="0">
                <a:solidFill>
                  <a:srgbClr val="7DCEA0"/>
                </a:solidFill>
                <a:latin typeface="Consolas"/>
              </a:rPr>
              <a:t>${</a:t>
            </a:r>
            <a:r>
              <a:rPr sz="1900" i="0">
                <a:solidFill>
                  <a:srgbClr val="E8EDF2"/>
                </a:solidFill>
                <a:latin typeface="Consolas"/>
              </a:rPr>
              <a:t>ARCH</a:t>
            </a:r>
            <a:r>
              <a:rPr sz="1900" i="0">
                <a:solidFill>
                  <a:srgbClr val="7DCEA0"/>
                </a:solidFill>
                <a:latin typeface="Consolas"/>
              </a:rPr>
              <a:t>}</a:t>
            </a:r>
            <a:r>
              <a:rPr sz="1900" i="0">
                <a:solidFill>
                  <a:srgbClr val="7DCEA0"/>
                </a:solidFill>
                <a:latin typeface="Consolas"/>
              </a:rPr>
              <a:t>/rootfs/bionic.rootfs.ext4</a:t>
            </a:r>
            <a:r>
              <a:rPr sz="1900" i="0">
                <a:solidFill>
                  <a:srgbClr val="7DCEA0"/>
                </a:solidFill>
                <a:latin typeface="Consolas"/>
              </a:rPr>
              <a:t>"</a:t>
            </a:r>
          </a:p>
        </p:txBody>
      </p:sp>
      <p:sp>
        <p:nvSpPr>
          <p:cNvPr id="15" name="!!code-num"/>
          <p:cNvSpPr txBox="1"/>
          <p:nvPr/>
        </p:nvSpPr>
        <p:spPr>
          <a:xfrm>
            <a:off x="768096" y="2523744"/>
            <a:ext cx="393192" cy="24262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16</a:t>
            </a:r>
          </a:p>
          <a:p>
            <a:pPr algn="r">
              <a:lnSpc>
                <a:spcPct val="100000"/>
              </a:lnSpc>
            </a:pPr>
            <a:r>
              <a:rPr sz="1900">
                <a:solidFill>
                  <a:srgbClr val="4F5D6A"/>
                </a:solidFill>
                <a:latin typeface="Consolas"/>
              </a:rPr>
              <a:t>17</a:t>
            </a:r>
          </a:p>
          <a:p>
            <a:pPr algn="r">
              <a:lnSpc>
                <a:spcPct val="100000"/>
              </a:lnSpc>
            </a:pPr>
            <a:r>
              <a:rPr sz="1900">
                <a:solidFill>
                  <a:srgbClr val="4F5D6A"/>
                </a:solidFill>
                <a:latin typeface="Consolas"/>
              </a:rPr>
              <a:t>18</a:t>
            </a:r>
          </a:p>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3CA281F2-39AB-4980-836B-41B37C8402BF}" type="slidenum">
              <a:rPr lang="en-GB" sz="1000">
                <a:solidFill>
                  <a:srgbClr val="8795A1"/>
                </a:solidFill>
                <a:latin typeface="Segoe UI"/>
              </a:rPr>
              <a:t>21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Describe the whole machine. Note how little there is.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032504"/>
          </a:xfrm>
          <a:prstGeom prst="roundRect">
            <a:avLst>
              <a:gd name="adj" fmla="val 2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Describe the whole machine. Note how little there is. --------- cat &gt; vm.json &lt;&lt;'JSON' { &quot;boot-source&quot;: { &quot;kernel_image_path&quot;: &quot;vmlinux&quot;, &quot;boot_args&quot;: &quot;console=ttyS0 reboot=k panic=1 pci=off&quot; }, &quot;drives&quot;: [{ &quot;drive_id&quot;: &quot;rootfs&quot;, &quot;path_on_host&quot;: &quot;rootfs.ext4&quot;, &quot;is_root_device&quot;: true, &quot;is_read_only&quot;: false }], &quot;machine-config&quot;: { &quot;vcpu_count&quot;: 1, &quot;mem_size_mib&quot;: 128 } } JSON # pci=off is the chapter: there is no PCI bus to enumerate."/>
          <p:cNvSpPr txBox="1"/>
          <p:nvPr/>
        </p:nvSpPr>
        <p:spPr>
          <a:xfrm>
            <a:off x="1362456" y="2523744"/>
            <a:ext cx="9987991" cy="3538727"/>
          </a:xfrm>
          <a:prstGeom prst="rect">
            <a:avLst/>
          </a:prstGeom>
          <a:noFill/>
        </p:spPr>
        <p:txBody>
          <a:bodyPr wrap="none" anchor="t" lIns="0" rIns="0" tIns="0" bIns="0">
            <a:noAutofit/>
          </a:bodyPr>
          <a:lstStyle/>
          <a:p>
            <a:pPr>
              <a:lnSpc>
                <a:spcPct val="100000"/>
              </a:lnSpc>
              <a:spcAft>
                <a:spcPts val="0"/>
              </a:spcAft>
            </a:pPr>
            <a:r>
              <a:rPr sz="1500" i="1">
                <a:solidFill>
                  <a:srgbClr val="8795A1"/>
                </a:solidFill>
                <a:latin typeface="Consolas"/>
              </a:rPr>
              <a:t># --- 3. Describe the whole machine. Note how little there is. ---------</a:t>
            </a:r>
          </a:p>
          <a:p>
            <a:pPr>
              <a:lnSpc>
                <a:spcPct val="100000"/>
              </a:lnSpc>
              <a:spcAft>
                <a:spcPts val="0"/>
              </a:spcAft>
            </a:pPr>
            <a:r>
              <a:rPr sz="1500" i="0">
                <a:solidFill>
                  <a:srgbClr val="E8EDF2"/>
                </a:solidFill>
                <a:latin typeface="Consolas"/>
              </a:rPr>
              <a:t>cat</a:t>
            </a:r>
            <a:r>
              <a:rPr sz="1500" i="0">
                <a:solidFill>
                  <a:srgbClr val="E8EDF2"/>
                </a:solidFill>
                <a:latin typeface="Consolas"/>
              </a:rPr>
              <a:t> </a:t>
            </a:r>
            <a:r>
              <a:rPr sz="1500" i="0">
                <a:solidFill>
                  <a:srgbClr val="E8EDF2"/>
                </a:solidFill>
                <a:latin typeface="Consolas"/>
              </a:rPr>
              <a:t>&gt;</a:t>
            </a:r>
            <a:r>
              <a:rPr sz="1500" i="0">
                <a:solidFill>
                  <a:srgbClr val="E8EDF2"/>
                </a:solidFill>
                <a:latin typeface="Consolas"/>
              </a:rPr>
              <a:t> </a:t>
            </a:r>
            <a:r>
              <a:rPr sz="1500" i="0">
                <a:solidFill>
                  <a:srgbClr val="E8EDF2"/>
                </a:solidFill>
                <a:latin typeface="Consolas"/>
              </a:rPr>
              <a:t>vm.json</a:t>
            </a:r>
            <a:r>
              <a:rPr sz="1500" i="0">
                <a:solidFill>
                  <a:srgbClr val="E8EDF2"/>
                </a:solidFill>
                <a:latin typeface="Consolas"/>
              </a:rPr>
              <a:t> </a:t>
            </a:r>
            <a:r>
              <a:rPr sz="1500" i="0">
                <a:solidFill>
                  <a:srgbClr val="7DCEA0"/>
                </a:solidFill>
                <a:latin typeface="Consolas"/>
              </a:rPr>
              <a:t>&lt;&lt;'JSON'</a:t>
            </a:r>
          </a:p>
          <a:p>
            <a:pPr>
              <a:lnSpc>
                <a:spcPct val="100000"/>
              </a:lnSpc>
              <a:spcAft>
                <a:spcPts val="0"/>
              </a:spcAft>
            </a:pPr>
            <a:r>
              <a:rPr sz="1500" i="0">
                <a:solidFill>
                  <a:srgbClr val="7DCEA0"/>
                </a:solidFill>
                <a:latin typeface="Consolas"/>
              </a:rPr>
              <a:t>{</a:t>
            </a:r>
          </a:p>
          <a:p>
            <a:pPr>
              <a:lnSpc>
                <a:spcPct val="100000"/>
              </a:lnSpc>
              <a:spcAft>
                <a:spcPts val="0"/>
              </a:spcAft>
            </a:pPr>
            <a:r>
              <a:rPr sz="1500" i="0">
                <a:solidFill>
                  <a:srgbClr val="7DCEA0"/>
                </a:solidFill>
                <a:latin typeface="Consolas"/>
              </a:rPr>
              <a:t>  "boot-source": {</a:t>
            </a:r>
          </a:p>
          <a:p>
            <a:pPr>
              <a:lnSpc>
                <a:spcPct val="100000"/>
              </a:lnSpc>
              <a:spcAft>
                <a:spcPts val="0"/>
              </a:spcAft>
            </a:pPr>
            <a:r>
              <a:rPr sz="1500" i="0">
                <a:solidFill>
                  <a:srgbClr val="7DCEA0"/>
                </a:solidFill>
                <a:latin typeface="Consolas"/>
              </a:rPr>
              <a:t>    "kernel_image_path": "vmlinux",</a:t>
            </a:r>
          </a:p>
          <a:p>
            <a:pPr>
              <a:lnSpc>
                <a:spcPct val="100000"/>
              </a:lnSpc>
              <a:spcAft>
                <a:spcPts val="0"/>
              </a:spcAft>
            </a:pPr>
            <a:r>
              <a:rPr sz="1500" i="0">
                <a:solidFill>
                  <a:srgbClr val="7DCEA0"/>
                </a:solidFill>
                <a:latin typeface="Consolas"/>
              </a:rPr>
              <a:t>    "boot_args": "console=ttyS0 reboot=k panic=1 pci=off"</a:t>
            </a:r>
          </a:p>
          <a:p>
            <a:pPr>
              <a:lnSpc>
                <a:spcPct val="100000"/>
              </a:lnSpc>
              <a:spcAft>
                <a:spcPts val="0"/>
              </a:spcAft>
            </a:pPr>
            <a:r>
              <a:rPr sz="1500" i="0">
                <a:solidFill>
                  <a:srgbClr val="7DCEA0"/>
                </a:solidFill>
                <a:latin typeface="Consolas"/>
              </a:rPr>
              <a:t>  },</a:t>
            </a:r>
          </a:p>
          <a:p>
            <a:pPr>
              <a:lnSpc>
                <a:spcPct val="100000"/>
              </a:lnSpc>
              <a:spcAft>
                <a:spcPts val="0"/>
              </a:spcAft>
            </a:pPr>
            <a:r>
              <a:rPr sz="1500" i="0">
                <a:solidFill>
                  <a:srgbClr val="7DCEA0"/>
                </a:solidFill>
                <a:latin typeface="Consolas"/>
              </a:rPr>
              <a:t>  "drives": [{</a:t>
            </a:r>
          </a:p>
          <a:p>
            <a:pPr>
              <a:lnSpc>
                <a:spcPct val="100000"/>
              </a:lnSpc>
              <a:spcAft>
                <a:spcPts val="0"/>
              </a:spcAft>
            </a:pPr>
            <a:r>
              <a:rPr sz="1500" i="0">
                <a:solidFill>
                  <a:srgbClr val="7DCEA0"/>
                </a:solidFill>
                <a:latin typeface="Consolas"/>
              </a:rPr>
              <a:t>    "drive_id": "rootfs", "path_on_host": "rootfs.ext4",</a:t>
            </a:r>
          </a:p>
          <a:p>
            <a:pPr>
              <a:lnSpc>
                <a:spcPct val="100000"/>
              </a:lnSpc>
              <a:spcAft>
                <a:spcPts val="0"/>
              </a:spcAft>
            </a:pPr>
            <a:r>
              <a:rPr sz="1500" i="0">
                <a:solidFill>
                  <a:srgbClr val="7DCEA0"/>
                </a:solidFill>
                <a:latin typeface="Consolas"/>
              </a:rPr>
              <a:t>    "is_root_device": true, "is_read_only": false</a:t>
            </a:r>
          </a:p>
          <a:p>
            <a:pPr>
              <a:lnSpc>
                <a:spcPct val="100000"/>
              </a:lnSpc>
              <a:spcAft>
                <a:spcPts val="0"/>
              </a:spcAft>
            </a:pPr>
            <a:r>
              <a:rPr sz="1500" i="0">
                <a:solidFill>
                  <a:srgbClr val="7DCEA0"/>
                </a:solidFill>
                <a:latin typeface="Consolas"/>
              </a:rPr>
              <a:t>  }],</a:t>
            </a:r>
          </a:p>
          <a:p>
            <a:pPr>
              <a:lnSpc>
                <a:spcPct val="100000"/>
              </a:lnSpc>
              <a:spcAft>
                <a:spcPts val="0"/>
              </a:spcAft>
            </a:pPr>
            <a:r>
              <a:rPr sz="1500" i="0">
                <a:solidFill>
                  <a:srgbClr val="7DCEA0"/>
                </a:solidFill>
                <a:latin typeface="Consolas"/>
              </a:rPr>
              <a:t>  "machine-config": { "vcpu_count": 1, "mem_size_mib": 128 }</a:t>
            </a:r>
          </a:p>
          <a:p>
            <a:pPr>
              <a:lnSpc>
                <a:spcPct val="100000"/>
              </a:lnSpc>
              <a:spcAft>
                <a:spcPts val="0"/>
              </a:spcAft>
            </a:pPr>
            <a:r>
              <a:rPr sz="1500" i="0">
                <a:solidFill>
                  <a:srgbClr val="7DCEA0"/>
                </a:solidFill>
                <a:latin typeface="Consolas"/>
              </a:rPr>
              <a:t>}</a:t>
            </a:r>
          </a:p>
          <a:p>
            <a:pPr>
              <a:lnSpc>
                <a:spcPct val="100000"/>
              </a:lnSpc>
              <a:spcAft>
                <a:spcPts val="0"/>
              </a:spcAft>
            </a:pPr>
            <a:r>
              <a:rPr sz="1500" i="0">
                <a:solidFill>
                  <a:srgbClr val="7DCEA0"/>
                </a:solidFill>
                <a:latin typeface="Consolas"/>
              </a:rPr>
              <a:t>JSON</a:t>
            </a:r>
          </a:p>
          <a:p>
            <a:pPr>
              <a:lnSpc>
                <a:spcPct val="100000"/>
              </a:lnSpc>
              <a:spcAft>
                <a:spcPts val="0"/>
              </a:spcAft>
            </a:pPr>
            <a:r>
              <a:rPr sz="1500" i="1">
                <a:solidFill>
                  <a:srgbClr val="8795A1"/>
                </a:solidFill>
                <a:latin typeface="Consolas"/>
              </a:rPr>
              <a:t># pci=off is the chapter: there is no PCI bus to enumerate.</a:t>
            </a:r>
          </a:p>
        </p:txBody>
      </p:sp>
      <p:sp>
        <p:nvSpPr>
          <p:cNvPr id="15" name="!!code-num"/>
          <p:cNvSpPr txBox="1"/>
          <p:nvPr/>
        </p:nvSpPr>
        <p:spPr>
          <a:xfrm>
            <a:off x="768096" y="2523744"/>
            <a:ext cx="393192" cy="3538727"/>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25</a:t>
            </a:r>
          </a:p>
          <a:p>
            <a:pPr algn="r">
              <a:lnSpc>
                <a:spcPct val="100000"/>
              </a:lnSpc>
            </a:pPr>
            <a:r>
              <a:rPr sz="1500">
                <a:solidFill>
                  <a:srgbClr val="4F5D6A"/>
                </a:solidFill>
                <a:latin typeface="Consolas"/>
              </a:rPr>
              <a:t>26</a:t>
            </a:r>
          </a:p>
          <a:p>
            <a:pPr algn="r">
              <a:lnSpc>
                <a:spcPct val="100000"/>
              </a:lnSpc>
            </a:pPr>
            <a:r>
              <a:rPr sz="1500">
                <a:solidFill>
                  <a:srgbClr val="4F5D6A"/>
                </a:solidFill>
                <a:latin typeface="Consolas"/>
              </a:rPr>
              <a:t>27</a:t>
            </a:r>
          </a:p>
          <a:p>
            <a:pPr algn="r">
              <a:lnSpc>
                <a:spcPct val="100000"/>
              </a:lnSpc>
            </a:pPr>
            <a:r>
              <a:rPr sz="1500">
                <a:solidFill>
                  <a:srgbClr val="4F5D6A"/>
                </a:solidFill>
                <a:latin typeface="Consolas"/>
              </a:rPr>
              <a:t>28</a:t>
            </a:r>
          </a:p>
          <a:p>
            <a:pPr algn="r">
              <a:lnSpc>
                <a:spcPct val="100000"/>
              </a:lnSpc>
            </a:pPr>
            <a:r>
              <a:rPr sz="1500">
                <a:solidFill>
                  <a:srgbClr val="4F5D6A"/>
                </a:solidFill>
                <a:latin typeface="Consolas"/>
              </a:rPr>
              <a:t>29</a:t>
            </a:r>
          </a:p>
          <a:p>
            <a:pPr algn="r">
              <a:lnSpc>
                <a:spcPct val="100000"/>
              </a:lnSpc>
            </a:pPr>
            <a:r>
              <a:rPr sz="1500">
                <a:solidFill>
                  <a:srgbClr val="4F5D6A"/>
                </a:solidFill>
                <a:latin typeface="Consolas"/>
              </a:rPr>
              <a:t>30</a:t>
            </a:r>
          </a:p>
          <a:p>
            <a:pPr algn="r">
              <a:lnSpc>
                <a:spcPct val="100000"/>
              </a:lnSpc>
            </a:pPr>
            <a:r>
              <a:rPr sz="1500">
                <a:solidFill>
                  <a:srgbClr val="4F5D6A"/>
                </a:solidFill>
                <a:latin typeface="Consolas"/>
              </a:rPr>
              <a:t>31</a:t>
            </a:r>
          </a:p>
          <a:p>
            <a:pPr algn="r">
              <a:lnSpc>
                <a:spcPct val="100000"/>
              </a:lnSpc>
            </a:pPr>
            <a:r>
              <a:rPr sz="1500">
                <a:solidFill>
                  <a:srgbClr val="4F5D6A"/>
                </a:solidFill>
                <a:latin typeface="Consolas"/>
              </a:rPr>
              <a:t>32</a:t>
            </a:r>
          </a:p>
          <a:p>
            <a:pPr algn="r">
              <a:lnSpc>
                <a:spcPct val="100000"/>
              </a:lnSpc>
            </a:pPr>
            <a:r>
              <a:rPr sz="1500">
                <a:solidFill>
                  <a:srgbClr val="4F5D6A"/>
                </a:solidFill>
                <a:latin typeface="Consolas"/>
              </a:rPr>
              <a:t>33</a:t>
            </a:r>
          </a:p>
          <a:p>
            <a:pPr algn="r">
              <a:lnSpc>
                <a:spcPct val="100000"/>
              </a:lnSpc>
            </a:pPr>
            <a:r>
              <a:rPr sz="1500">
                <a:solidFill>
                  <a:srgbClr val="4F5D6A"/>
                </a:solidFill>
                <a:latin typeface="Consolas"/>
              </a:rPr>
              <a:t>34</a:t>
            </a:r>
          </a:p>
          <a:p>
            <a:pPr algn="r">
              <a:lnSpc>
                <a:spcPct val="100000"/>
              </a:lnSpc>
            </a:pPr>
            <a:r>
              <a:rPr sz="1500">
                <a:solidFill>
                  <a:srgbClr val="4F5D6A"/>
                </a:solidFill>
                <a:latin typeface="Consolas"/>
              </a:rPr>
              <a:t>35</a:t>
            </a:r>
          </a:p>
          <a:p>
            <a:pPr algn="r">
              <a:lnSpc>
                <a:spcPct val="100000"/>
              </a:lnSpc>
            </a:pPr>
            <a:r>
              <a:rPr sz="1500">
                <a:solidFill>
                  <a:srgbClr val="4F5D6A"/>
                </a:solidFill>
                <a:latin typeface="Consolas"/>
              </a:rPr>
              <a:t>36</a:t>
            </a:r>
          </a:p>
          <a:p>
            <a:pPr algn="r">
              <a:lnSpc>
                <a:spcPct val="100000"/>
              </a:lnSpc>
            </a:pPr>
            <a:r>
              <a:rPr sz="1500">
                <a:solidFill>
                  <a:srgbClr val="4F5D6A"/>
                </a:solidFill>
                <a:latin typeface="Consolas"/>
              </a:rPr>
              <a:t>37</a:t>
            </a:r>
          </a:p>
          <a:p>
            <a:pPr algn="r">
              <a:lnSpc>
                <a:spcPct val="100000"/>
              </a:lnSpc>
            </a:pPr>
            <a:r>
              <a:rPr sz="1500">
                <a:solidFill>
                  <a:srgbClr val="4F5D6A"/>
                </a:solidFill>
                <a:latin typeface="Consolas"/>
              </a:rPr>
              <a:t>38</a:t>
            </a:r>
          </a:p>
          <a:p>
            <a:pPr algn="r">
              <a:lnSpc>
                <a:spcPct val="100000"/>
              </a:lnSpc>
            </a:pPr>
            <a:r>
              <a:rPr sz="1500">
                <a:solidFill>
                  <a:srgbClr val="4F5D6A"/>
                </a:solidFill>
                <a:latin typeface="Consolas"/>
              </a:rPr>
              <a:t>39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4006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F76F64E4-8F67-410B-A083-BFE455B220BB}"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Boot it, and time to the login prompt.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Boot it, and time to the login prompt. ------------------------ echo &quot;=== firecracker ===&quot; time timeout 20 ./firecracker --no-api --config-file vm.json \ 2&gt;&amp;1 | grep -m1 -E 'login:|Welcome' || true"/>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Boot it, and time to the login prompt. ------------------------</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firecracker ==="</a:t>
            </a:r>
          </a:p>
          <a:p>
            <a:pPr>
              <a:lnSpc>
                <a:spcPct val="100000"/>
              </a:lnSpc>
              <a:spcAft>
                <a:spcPts val="0"/>
              </a:spcAft>
            </a:pP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timeout</a:t>
            </a:r>
            <a:r>
              <a:rPr sz="1900" i="0">
                <a:solidFill>
                  <a:srgbClr val="E8EDF2"/>
                </a:solidFill>
                <a:latin typeface="Consolas"/>
              </a:rPr>
              <a:t> </a:t>
            </a:r>
            <a:r>
              <a:rPr sz="1900" i="0">
                <a:solidFill>
                  <a:srgbClr val="F7DC6F"/>
                </a:solidFill>
                <a:latin typeface="Consolas"/>
              </a:rPr>
              <a:t>20</a:t>
            </a:r>
            <a:r>
              <a:rPr sz="1900" i="0">
                <a:solidFill>
                  <a:srgbClr val="E8EDF2"/>
                </a:solidFill>
                <a:latin typeface="Consolas"/>
              </a:rPr>
              <a:t> </a:t>
            </a:r>
            <a:r>
              <a:rPr sz="1900" i="0">
                <a:solidFill>
                  <a:srgbClr val="E8EDF2"/>
                </a:solidFill>
                <a:latin typeface="Consolas"/>
              </a:rPr>
              <a:t>./firecracker</a:t>
            </a:r>
            <a:r>
              <a:rPr sz="1900" i="0">
                <a:solidFill>
                  <a:srgbClr val="E8EDF2"/>
                </a:solidFill>
                <a:latin typeface="Consolas"/>
              </a:rPr>
              <a:t> </a:t>
            </a:r>
            <a:r>
              <a:rPr sz="1900" i="0">
                <a:solidFill>
                  <a:srgbClr val="E8EDF2"/>
                </a:solidFill>
                <a:latin typeface="Consolas"/>
              </a:rPr>
              <a:t>--no-api</a:t>
            </a:r>
            <a:r>
              <a:rPr sz="1900" i="0">
                <a:solidFill>
                  <a:srgbClr val="E8EDF2"/>
                </a:solidFill>
                <a:latin typeface="Consolas"/>
              </a:rPr>
              <a:t> </a:t>
            </a:r>
            <a:r>
              <a:rPr sz="1900" i="0">
                <a:solidFill>
                  <a:srgbClr val="E8EDF2"/>
                </a:solidFill>
                <a:latin typeface="Consolas"/>
              </a:rPr>
              <a:t>--config-file</a:t>
            </a:r>
            <a:r>
              <a:rPr sz="1900" i="0">
                <a:solidFill>
                  <a:srgbClr val="E8EDF2"/>
                </a:solidFill>
                <a:latin typeface="Consolas"/>
              </a:rPr>
              <a:t> </a:t>
            </a:r>
            <a:r>
              <a:rPr sz="1900" i="0">
                <a:solidFill>
                  <a:srgbClr val="E8EDF2"/>
                </a:solidFill>
                <a:latin typeface="Consolas"/>
              </a:rPr>
              <a:t>vm.json</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a:t>
            </a:r>
            <a:r>
              <a:rPr sz="1900" i="0">
                <a:solidFill>
                  <a:srgbClr val="AEB6BF"/>
                </a:solidFill>
                <a:latin typeface="Consolas"/>
              </a:rPr>
              <a:t>&amp;</a:t>
            </a:r>
            <a:r>
              <a:rPr sz="1900" i="0">
                <a:solidFill>
                  <a:srgbClr val="F7DC6F"/>
                </a:solidFill>
                <a:latin typeface="Consolas"/>
              </a:rPr>
              <a:t>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-m1</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'login:|Welcome'</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41</a:t>
            </a:r>
          </a:p>
          <a:p>
            <a:pPr algn="r">
              <a:lnSpc>
                <a:spcPct val="100000"/>
              </a:lnSpc>
            </a:pPr>
            <a:r>
              <a:rPr sz="1900">
                <a:solidFill>
                  <a:srgbClr val="4F5D6A"/>
                </a:solidFill>
                <a:latin typeface="Consolas"/>
              </a:rPr>
              <a:t>42</a:t>
            </a:r>
          </a:p>
          <a:p>
            <a:pPr algn="r">
              <a:lnSpc>
                <a:spcPct val="100000"/>
              </a:lnSpc>
            </a:pPr>
            <a:r>
              <a:rPr sz="1900">
                <a:solidFill>
                  <a:srgbClr val="4F5D6A"/>
                </a:solidFill>
                <a:latin typeface="Consolas"/>
              </a:rPr>
              <a:t>43</a:t>
            </a:r>
          </a:p>
          <a:p>
            <a:pPr algn="r">
              <a:lnSpc>
                <a:spcPct val="100000"/>
              </a:lnSpc>
            </a:pPr>
            <a:r>
              <a:rPr sz="1900">
                <a:solidFill>
                  <a:srgbClr val="4F5D6A"/>
                </a:solidFill>
                <a:latin typeface="Consolas"/>
              </a:rPr>
              <a:t>44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7054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1C34A1AE-D648-416D-A8A0-9058669BF283}"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same guest under full QEMU, for comparison.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051303"/>
          </a:xfrm>
          <a:prstGeom prst="roundRect">
            <a:avLst>
              <a:gd name="adj" fmla="val 44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The same guest under full QEMU, for comparison. --------------- echo &quot;=== full qemu guest ===&quot; time timeout 90 sudo virsh start vss1 --console 2&gt;&amp;1 \ | grep -m1 'login:' || true sudo virsh destroy vss1 || true"/>
          <p:cNvSpPr txBox="1"/>
          <p:nvPr/>
        </p:nvSpPr>
        <p:spPr>
          <a:xfrm>
            <a:off x="1362456" y="2523744"/>
            <a:ext cx="9987991" cy="155752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--- 5. The same guest under full QEMU, for comparison. ---------------</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full qemu guest ==="</a:t>
            </a:r>
          </a:p>
          <a:p>
            <a:pPr>
              <a:lnSpc>
                <a:spcPct val="100000"/>
              </a:lnSpc>
              <a:spcAft>
                <a:spcPts val="0"/>
              </a:spcAft>
            </a:pP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timeout</a:t>
            </a:r>
            <a:r>
              <a:rPr sz="1900" i="0">
                <a:solidFill>
                  <a:srgbClr val="E8EDF2"/>
                </a:solidFill>
                <a:latin typeface="Consolas"/>
              </a:rPr>
              <a:t> </a:t>
            </a:r>
            <a:r>
              <a:rPr sz="1900" i="0">
                <a:solidFill>
                  <a:srgbClr val="F7DC6F"/>
                </a:solidFill>
                <a:latin typeface="Consolas"/>
              </a:rPr>
              <a:t>90</a:t>
            </a: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start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--console</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a:t>
            </a:r>
            <a:r>
              <a:rPr sz="1900" i="0">
                <a:solidFill>
                  <a:srgbClr val="AEB6BF"/>
                </a:solidFill>
                <a:latin typeface="Consolas"/>
              </a:rPr>
              <a:t>&amp;</a:t>
            </a:r>
            <a:r>
              <a:rPr sz="1900" i="0">
                <a:solidFill>
                  <a:srgbClr val="F7DC6F"/>
                </a:solidFill>
                <a:latin typeface="Consolas"/>
              </a:rPr>
              <a:t>1</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-m1</a:t>
            </a:r>
            <a:r>
              <a:rPr sz="1900" i="0">
                <a:solidFill>
                  <a:srgbClr val="E8EDF2"/>
                </a:solidFill>
                <a:latin typeface="Consolas"/>
              </a:rPr>
              <a:t> </a:t>
            </a:r>
            <a:r>
              <a:rPr sz="1900" i="0">
                <a:solidFill>
                  <a:srgbClr val="7DCEA0"/>
                </a:solidFill>
                <a:latin typeface="Consolas"/>
              </a:rPr>
              <a:t>'login:'</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155752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a:p>
            <a:pPr algn="r">
              <a:lnSpc>
                <a:spcPct val="100000"/>
              </a:lnSpc>
            </a:pPr>
            <a:r>
              <a:rPr sz="1900">
                <a:solidFill>
                  <a:srgbClr val="4F5D6A"/>
                </a:solidFill>
                <a:latin typeface="Consolas"/>
              </a:rPr>
              <a:t>49</a:t>
            </a:r>
          </a:p>
          <a:p>
            <a:pPr algn="r">
              <a:lnSpc>
                <a:spcPct val="100000"/>
              </a:lnSpc>
            </a:pPr>
            <a:r>
              <a:rPr sz="1900">
                <a:solidFill>
                  <a:srgbClr val="4F5D6A"/>
                </a:solidFill>
                <a:latin typeface="Consolas"/>
              </a:rPr>
              <a:t>50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0102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6D59A463-71D8-4371-80B5-0879601B72FB}"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And a container, for the other end of the axis.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And a container, for the other end of the axis. --------------- echo &quot;=== container ===&quot; time docker run --rm alpine:3.20 /bin/tru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And a container, for the other end of the axis. ---------------</a:t>
            </a:r>
          </a:p>
          <a:p>
            <a:pPr>
              <a:lnSpc>
                <a:spcPct val="100000"/>
              </a:lnSpc>
              <a:spcAft>
                <a:spcPts val="0"/>
              </a:spcAft>
            </a:pP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 container ==="</a:t>
            </a:r>
          </a:p>
          <a:p>
            <a:pPr>
              <a:lnSpc>
                <a:spcPct val="100000"/>
              </a:lnSpc>
              <a:spcAft>
                <a:spcPts val="0"/>
              </a:spcAft>
            </a:pPr>
            <a:r>
              <a:rPr sz="1900" i="0">
                <a:solidFill>
                  <a:srgbClr val="C39BD3"/>
                </a:solidFill>
                <a:latin typeface="Consolas"/>
              </a:rPr>
              <a:t>time</a:t>
            </a:r>
            <a:r>
              <a:rPr sz="1900" i="0">
                <a:solidFill>
                  <a:srgbClr val="E8EDF2"/>
                </a:solidFill>
                <a:latin typeface="Consolas"/>
              </a:rPr>
              <a:t> </a:t>
            </a:r>
            <a:r>
              <a:rPr sz="1900" i="0">
                <a:solidFill>
                  <a:srgbClr val="E8EDF2"/>
                </a:solidFill>
                <a:latin typeface="Consolas"/>
              </a:rPr>
              <a:t>docker</a:t>
            </a:r>
            <a:r>
              <a:rPr sz="1900" i="0">
                <a:solidFill>
                  <a:srgbClr val="E8EDF2"/>
                </a:solidFill>
                <a:latin typeface="Consolas"/>
              </a:rPr>
              <a:t> </a:t>
            </a:r>
            <a:r>
              <a:rPr sz="1900" i="0">
                <a:solidFill>
                  <a:srgbClr val="E8EDF2"/>
                </a:solidFill>
                <a:latin typeface="Consolas"/>
              </a:rPr>
              <a:t>run</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alpine:3.20</a:t>
            </a:r>
            <a:r>
              <a:rPr sz="1900" i="0">
                <a:solidFill>
                  <a:srgbClr val="E8EDF2"/>
                </a:solidFill>
                <a:latin typeface="Consolas"/>
              </a:rPr>
              <a:t> </a:t>
            </a:r>
            <a:r>
              <a:rPr sz="1900" i="0">
                <a:solidFill>
                  <a:srgbClr val="E8EDF2"/>
                </a:solidFill>
                <a:latin typeface="Consolas"/>
              </a:rPr>
              <a:t>/bin/true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01F97770-1D3B-46DA-83E7-8C5E3A758B80}"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Memory footprint of the VMM process itself.</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Memory footprint of the VMM process itself. ------------------- ./firecracker --no-api --config-file vm.json &amp; FCPID=$! sleep 3 grep -E '^(VmRSS|VmSize)' &quot;/proc/$FCPID/status&quot; kill $FCPID 2&gt;/dev/null || true # Compare with the qemu process for vss1: typically 40-80x larger."/>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Memory footprint of the VMM process itself. -------------------</a:t>
            </a:r>
          </a:p>
          <a:p>
            <a:pPr>
              <a:lnSpc>
                <a:spcPct val="100000"/>
              </a:lnSpc>
              <a:spcAft>
                <a:spcPts val="0"/>
              </a:spcAft>
            </a:pPr>
            <a:r>
              <a:rPr sz="1900" i="0">
                <a:solidFill>
                  <a:srgbClr val="E8EDF2"/>
                </a:solidFill>
                <a:latin typeface="Consolas"/>
              </a:rPr>
              <a:t>./firecracker</a:t>
            </a:r>
            <a:r>
              <a:rPr sz="1900" i="0">
                <a:solidFill>
                  <a:srgbClr val="E8EDF2"/>
                </a:solidFill>
                <a:latin typeface="Consolas"/>
              </a:rPr>
              <a:t> </a:t>
            </a:r>
            <a:r>
              <a:rPr sz="1900" i="0">
                <a:solidFill>
                  <a:srgbClr val="E8EDF2"/>
                </a:solidFill>
                <a:latin typeface="Consolas"/>
              </a:rPr>
              <a:t>--no-api</a:t>
            </a:r>
            <a:r>
              <a:rPr sz="1900" i="0">
                <a:solidFill>
                  <a:srgbClr val="E8EDF2"/>
                </a:solidFill>
                <a:latin typeface="Consolas"/>
              </a:rPr>
              <a:t> </a:t>
            </a:r>
            <a:r>
              <a:rPr sz="1900" i="0">
                <a:solidFill>
                  <a:srgbClr val="E8EDF2"/>
                </a:solidFill>
                <a:latin typeface="Consolas"/>
              </a:rPr>
              <a:t>--config-file</a:t>
            </a:r>
            <a:r>
              <a:rPr sz="1900" i="0">
                <a:solidFill>
                  <a:srgbClr val="E8EDF2"/>
                </a:solidFill>
                <a:latin typeface="Consolas"/>
              </a:rPr>
              <a:t> </a:t>
            </a:r>
            <a:r>
              <a:rPr sz="1900" i="0">
                <a:solidFill>
                  <a:srgbClr val="E8EDF2"/>
                </a:solidFill>
                <a:latin typeface="Consolas"/>
              </a:rPr>
              <a:t>vm.json</a:t>
            </a:r>
            <a:r>
              <a:rPr sz="1900" i="0">
                <a:solidFill>
                  <a:srgbClr val="E8EDF2"/>
                </a:solidFill>
                <a:latin typeface="Consolas"/>
              </a:rPr>
              <a:t> </a:t>
            </a:r>
            <a:r>
              <a:rPr sz="1900" i="0">
                <a:solidFill>
                  <a:srgbClr val="AEB6BF"/>
                </a:solidFill>
                <a:latin typeface="Consolas"/>
              </a:rPr>
              <a:t>&amp;</a:t>
            </a:r>
          </a:p>
          <a:p>
            <a:pPr>
              <a:lnSpc>
                <a:spcPct val="100000"/>
              </a:lnSpc>
              <a:spcAft>
                <a:spcPts val="0"/>
              </a:spcAft>
            </a:pPr>
            <a:r>
              <a:rPr sz="1900" i="0">
                <a:solidFill>
                  <a:srgbClr val="E8EDF2"/>
                </a:solidFill>
                <a:latin typeface="Consolas"/>
              </a:rPr>
              <a:t>FCPID</a:t>
            </a:r>
            <a:r>
              <a:rPr sz="1900" i="0">
                <a:solidFill>
                  <a:srgbClr val="AEB6BF"/>
                </a:solidFill>
                <a:latin typeface="Consolas"/>
              </a:rPr>
              <a:t>=</a:t>
            </a:r>
            <a:r>
              <a:rPr sz="1900" i="0">
                <a:solidFill>
                  <a:srgbClr val="E8EDF2"/>
                </a:solidFill>
                <a:latin typeface="Consolas"/>
              </a:rPr>
              <a:t>$!</a:t>
            </a:r>
          </a:p>
          <a:p>
            <a:pPr>
              <a:lnSpc>
                <a:spcPct val="100000"/>
              </a:lnSpc>
              <a:spcAft>
                <a:spcPts val="0"/>
              </a:spcAft>
            </a:pP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3</a:t>
            </a:r>
          </a:p>
          <a:p>
            <a:pPr>
              <a:lnSpc>
                <a:spcPct val="100000"/>
              </a:lnSpc>
              <a:spcAft>
                <a:spcPts val="0"/>
              </a:spcAft>
            </a:pPr>
            <a:r>
              <a:rPr sz="1900" i="0">
                <a:solidFill>
                  <a:srgbClr val="E8EDF2"/>
                </a:solidFill>
                <a:latin typeface="Consolas"/>
              </a:rPr>
              <a:t>grep</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'^(VmRSS|VmSize)'</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/proc/</a:t>
            </a:r>
            <a:r>
              <a:rPr sz="1900" i="0">
                <a:solidFill>
                  <a:srgbClr val="E8EDF2"/>
                </a:solidFill>
                <a:latin typeface="Consolas"/>
              </a:rPr>
              <a:t>$FCPID</a:t>
            </a:r>
            <a:r>
              <a:rPr sz="1900" i="0">
                <a:solidFill>
                  <a:srgbClr val="7DCEA0"/>
                </a:solidFill>
                <a:latin typeface="Consolas"/>
              </a:rPr>
              <a:t>/status</a:t>
            </a:r>
            <a:r>
              <a:rPr sz="1900" i="0">
                <a:solidFill>
                  <a:srgbClr val="7DCEA0"/>
                </a:solidFill>
                <a:latin typeface="Consolas"/>
              </a:rPr>
              <a:t>"</a:t>
            </a:r>
          </a:p>
          <a:p>
            <a:pPr>
              <a:lnSpc>
                <a:spcPct val="100000"/>
              </a:lnSpc>
              <a:spcAft>
                <a:spcPts val="0"/>
              </a:spcAft>
            </a:pPr>
            <a:r>
              <a:rPr sz="1900" i="0">
                <a:solidFill>
                  <a:srgbClr val="C39BD3"/>
                </a:solidFill>
                <a:latin typeface="Consolas"/>
              </a:rPr>
              <a:t>kill</a:t>
            </a:r>
            <a:r>
              <a:rPr sz="1900" i="0">
                <a:solidFill>
                  <a:srgbClr val="E8EDF2"/>
                </a:solidFill>
                <a:latin typeface="Consolas"/>
              </a:rPr>
              <a:t> </a:t>
            </a:r>
            <a:r>
              <a:rPr sz="1900" i="0">
                <a:solidFill>
                  <a:srgbClr val="E8EDF2"/>
                </a:solidFill>
                <a:latin typeface="Consolas"/>
              </a:rPr>
              <a:t>$FCPID</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1">
                <a:solidFill>
                  <a:srgbClr val="8795A1"/>
                </a:solidFill>
                <a:latin typeface="Consolas"/>
              </a:rPr>
              <a:t># Compare with the qemu process for vss1: typically 40-80x larger.</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56</a:t>
            </a:r>
          </a:p>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a:p>
            <a:pPr algn="r">
              <a:lnSpc>
                <a:spcPct val="100000"/>
              </a:lnSpc>
            </a:pPr>
            <a:r>
              <a:rPr sz="1900">
                <a:solidFill>
                  <a:srgbClr val="4F5D6A"/>
                </a:solidFill>
                <a:latin typeface="Consolas"/>
              </a:rPr>
              <a:t>60</a:t>
            </a:r>
          </a:p>
          <a:p>
            <a:pPr algn="r">
              <a:lnSpc>
                <a:spcPct val="100000"/>
              </a:lnSpc>
            </a:pPr>
            <a:r>
              <a:rPr sz="1900">
                <a:solidFill>
                  <a:srgbClr val="4F5D6A"/>
                </a:solidFill>
                <a:latin typeface="Consolas"/>
              </a:rPr>
              <a:t>61</a:t>
            </a:r>
          </a:p>
          <a:p>
            <a:pPr algn="r">
              <a:lnSpc>
                <a:spcPct val="100000"/>
              </a:lnSpc>
            </a:pPr>
            <a:r>
              <a:rPr sz="1900">
                <a:solidFill>
                  <a:srgbClr val="4F5D6A"/>
                </a:solidFill>
                <a:latin typeface="Consolas"/>
              </a:rPr>
              <a:t>62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6198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BB9E9C07-6B32-4828-8CF5-2D406645438E}"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Kata, if the host has it: one flag, a whole VM.</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Kata, if the host has it: one flag, a whole VM. --------------- # Under Kubernetes this is runtimeClassName: kata in the Pod spec. command -v kata-runtime &gt;/dev/null &amp;&amp; kata-runtime check || \ echo &quot;kata not installed -- see Appendix A&quo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Kata, if the host has it: one flag, a whole VM. ---------------</a:t>
            </a:r>
          </a:p>
          <a:p>
            <a:pPr>
              <a:lnSpc>
                <a:spcPct val="100000"/>
              </a:lnSpc>
              <a:spcAft>
                <a:spcPts val="0"/>
              </a:spcAft>
            </a:pPr>
            <a:r>
              <a:rPr sz="1900" i="1">
                <a:solidFill>
                  <a:srgbClr val="8795A1"/>
                </a:solidFill>
                <a:latin typeface="Consolas"/>
              </a:rPr>
              <a:t># Under Kubernetes this is runtimeClassName: kata in the Pod spec.</a:t>
            </a:r>
          </a:p>
          <a:p>
            <a:pPr>
              <a:lnSpc>
                <a:spcPct val="100000"/>
              </a:lnSpc>
              <a:spcAft>
                <a:spcPts val="0"/>
              </a:spcAft>
            </a:pPr>
            <a:r>
              <a:rPr sz="1900" i="0">
                <a:solidFill>
                  <a:srgbClr val="C39BD3"/>
                </a:solidFill>
                <a:latin typeface="Consolas"/>
              </a:rPr>
              <a:t>command</a:t>
            </a:r>
            <a:r>
              <a:rPr sz="1900" i="0">
                <a:solidFill>
                  <a:srgbClr val="E8EDF2"/>
                </a:solidFill>
                <a:latin typeface="Consolas"/>
              </a:rPr>
              <a:t> </a:t>
            </a:r>
            <a:r>
              <a:rPr sz="1900" i="0">
                <a:solidFill>
                  <a:srgbClr val="E8EDF2"/>
                </a:solidFill>
                <a:latin typeface="Consolas"/>
              </a:rPr>
              <a:t>-v</a:t>
            </a:r>
            <a:r>
              <a:rPr sz="1900" i="0">
                <a:solidFill>
                  <a:srgbClr val="E8EDF2"/>
                </a:solidFill>
                <a:latin typeface="Consolas"/>
              </a:rPr>
              <a:t> </a:t>
            </a:r>
            <a:r>
              <a:rPr sz="1900" i="0">
                <a:solidFill>
                  <a:srgbClr val="E8EDF2"/>
                </a:solidFill>
                <a:latin typeface="Consolas"/>
              </a:rPr>
              <a:t>kata-runtime</a:t>
            </a:r>
            <a:r>
              <a:rPr sz="1900" i="0">
                <a:solidFill>
                  <a:srgbClr val="E8EDF2"/>
                </a:solidFill>
                <a:latin typeface="Consolas"/>
              </a:rPr>
              <a:t> </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E8EDF2"/>
                </a:solidFill>
                <a:latin typeface="Consolas"/>
              </a:rPr>
              <a:t>kata-runtime</a:t>
            </a:r>
            <a:r>
              <a:rPr sz="1900" i="0">
                <a:solidFill>
                  <a:srgbClr val="E8EDF2"/>
                </a:solidFill>
                <a:latin typeface="Consolas"/>
              </a:rPr>
              <a:t> </a:t>
            </a:r>
            <a:r>
              <a:rPr sz="1900" i="0">
                <a:solidFill>
                  <a:srgbClr val="E8EDF2"/>
                </a:solidFill>
                <a:latin typeface="Consolas"/>
              </a:rPr>
              <a:t>check</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7DCEA0"/>
                </a:solidFill>
                <a:latin typeface="Consolas"/>
              </a:rPr>
              <a:t>\</a:t>
            </a:r>
          </a:p>
          <a:p>
            <a:pPr>
              <a:lnSpc>
                <a:spcPct val="100000"/>
              </a:lnSpc>
              <a:spcAft>
                <a:spcPts val="0"/>
              </a:spcAft>
            </a:pP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"kata not installed -- see Appendix A"</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64</a:t>
            </a:r>
          </a:p>
          <a:p>
            <a:pPr algn="r">
              <a:lnSpc>
                <a:spcPct val="100000"/>
              </a:lnSpc>
            </a:pPr>
            <a:r>
              <a:rPr sz="1900">
                <a:solidFill>
                  <a:srgbClr val="4F5D6A"/>
                </a:solidFill>
                <a:latin typeface="Consolas"/>
              </a:rPr>
              <a:t>65</a:t>
            </a:r>
          </a:p>
          <a:p>
            <a:pPr algn="r">
              <a:lnSpc>
                <a:spcPct val="100000"/>
              </a:lnSpc>
            </a:pPr>
            <a:r>
              <a:rPr sz="1900">
                <a:solidFill>
                  <a:srgbClr val="4F5D6A"/>
                </a:solidFill>
                <a:latin typeface="Consolas"/>
              </a:rPr>
              <a:t>66</a:t>
            </a:r>
          </a:p>
          <a:p>
            <a:pPr algn="r">
              <a:lnSpc>
                <a:spcPct val="100000"/>
              </a:lnSpc>
            </a:pPr>
            <a:r>
              <a:rPr sz="1900">
                <a:solidFill>
                  <a:srgbClr val="4F5D6A"/>
                </a:solidFill>
                <a:latin typeface="Consolas"/>
              </a:rPr>
              <a:t>67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92460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Booting a MicroVM, and Timing It</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10</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EA39EA37-4348-464F-8255-B7BDB5781B1D}"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82624"/>
          </a:xfrm>
          <a:prstGeom prst="roundRect">
            <a:avLst>
              <a:gd name="adj" fmla="val 773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9. Tear down. ---------------------------------------------------- cd ~ &amp;&amp; rm -rf fc"/>
          <p:cNvSpPr txBox="1"/>
          <p:nvPr/>
        </p:nvSpPr>
        <p:spPr>
          <a:xfrm>
            <a:off x="1362456" y="2523744"/>
            <a:ext cx="9987991" cy="68884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--- 9. Tear down. ----------------------------------------------------</a:t>
            </a:r>
          </a:p>
          <a:p>
            <a:pPr>
              <a:lnSpc>
                <a:spcPct val="100000"/>
              </a:lnSpc>
              <a:spcAft>
                <a:spcPts val="0"/>
              </a:spcAft>
            </a:pPr>
            <a:r>
              <a:rPr sz="1900" i="0">
                <a:solidFill>
                  <a:srgbClr val="C39BD3"/>
                </a:solidFill>
                <a:latin typeface="Consolas"/>
              </a:rPr>
              <a:t>cd</a:t>
            </a:r>
            <a:r>
              <a:rPr sz="1900" i="0">
                <a:solidFill>
                  <a:srgbClr val="E8EDF2"/>
                </a:solidFill>
                <a:latin typeface="Consolas"/>
              </a:rPr>
              <a:t> </a:t>
            </a:r>
            <a:r>
              <a:rPr sz="1900" i="0">
                <a:solidFill>
                  <a:srgbClr val="E8EDF2"/>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E8EDF2"/>
                </a:solidFill>
                <a:latin typeface="Consolas"/>
              </a:rPr>
              <a:t>rm</a:t>
            </a:r>
            <a:r>
              <a:rPr sz="1900" i="0">
                <a:solidFill>
                  <a:srgbClr val="E8EDF2"/>
                </a:solidFill>
                <a:latin typeface="Consolas"/>
              </a:rPr>
              <a:t> </a:t>
            </a:r>
            <a:r>
              <a:rPr sz="1900" i="0">
                <a:solidFill>
                  <a:srgbClr val="E8EDF2"/>
                </a:solidFill>
                <a:latin typeface="Consolas"/>
              </a:rPr>
              <a:t>-rf</a:t>
            </a:r>
            <a:r>
              <a:rPr sz="1900" i="0">
                <a:solidFill>
                  <a:srgbClr val="E8EDF2"/>
                </a:solidFill>
                <a:latin typeface="Consolas"/>
              </a:rPr>
              <a:t> </a:t>
            </a:r>
            <a:r>
              <a:rPr sz="1900" i="0">
                <a:solidFill>
                  <a:srgbClr val="C39BD3"/>
                </a:solidFill>
                <a:latin typeface="Consolas"/>
              </a:rPr>
              <a:t>fc</a:t>
            </a:r>
          </a:p>
        </p:txBody>
      </p:sp>
      <p:sp>
        <p:nvSpPr>
          <p:cNvPr id="15" name="!!code-num"/>
          <p:cNvSpPr txBox="1"/>
          <p:nvPr/>
        </p:nvSpPr>
        <p:spPr>
          <a:xfrm>
            <a:off x="768096" y="2523744"/>
            <a:ext cx="393192" cy="68884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69</a:t>
            </a:r>
          </a:p>
          <a:p>
            <a:pPr algn="r">
              <a:lnSpc>
                <a:spcPct val="100000"/>
              </a:lnSpc>
            </a:pPr>
            <a:r>
              <a:rPr sz="1900">
                <a:solidFill>
                  <a:srgbClr val="4F5D6A"/>
                </a:solidFill>
                <a:latin typeface="Consolas"/>
              </a:rPr>
              <a:t>70</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22939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88     </a:t>
            </a:r>
            <a:fld id="{D031C2AB-4A42-4F17-9D80-5FA4723ADABE}"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Three boot times spanning roughly two orders of magnitude, and the middle one has the same isolation boundary as the slowest. That single fact is why this chapter exists, and why Lambda is built the way it is.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53418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Firecracker boots in 125 ms where a conventional guest takes 25 s. Name the three things that were removed, and say which of them a guest operating system must be willing to give up.</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11  ·  Lightweight and Secure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93  ·  answers in Appendix D     </a:t>
            </a:r>
            <a:fld id="{8EEF8F24-F396-4BCD-A2AF-52F46DE26D0B}"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Firecracker boots in 125 ms where a conventional guest takes 25 s. Name the three things that were removed, and say which of them a guest operating system must be willing to give up.</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Removed: </a:t>
            </a:r>
            <a:r>
              <a:rPr sz="2200" b="1" i="0">
                <a:solidFill>
                  <a:srgbClr val="1C252B"/>
                </a:solidFill>
                <a:latin typeface="Segoe UI"/>
              </a:rPr>
              <a:t>firmware initialisation</a:t>
            </a:r>
            <a:r>
              <a:rPr sz="2200" b="0" i="0">
                <a:solidFill>
                  <a:srgbClr val="1C252B"/>
                </a:solidFill>
                <a:latin typeface="Segoe UI"/>
              </a:rPr>
              <a:t>, </a:t>
            </a:r>
            <a:r>
              <a:rPr sz="2200" b="1" i="0">
                <a:solidFill>
                  <a:srgbClr val="1C252B"/>
                </a:solidFill>
                <a:latin typeface="Segoe UI"/>
              </a:rPr>
              <a:t>PCI bus enumeration</a:t>
            </a:r>
            <a:r>
              <a:rPr sz="2200" b="0" i="0">
                <a:solidFill>
                  <a:srgbClr val="1C252B"/>
                </a:solidFill>
                <a:latin typeface="Segoe UI"/>
              </a:rPr>
              <a:t> and </a:t>
            </a:r>
            <a:r>
              <a:rPr sz="2200" b="1" i="0">
                <a:solidFill>
                  <a:srgbClr val="1C252B"/>
                </a:solidFill>
                <a:latin typeface="Segoe UI"/>
              </a:rPr>
              <a:t>legacy device emulation</a:t>
            </a:r>
            <a:r>
              <a:rPr sz="2200" b="0" i="0">
                <a:solidFill>
                  <a:srgbClr val="1C252B"/>
                </a:solidFill>
                <a:latin typeface="Segoe UI"/>
              </a:rPr>
              <a:t>; the kernel is loaded directly into memory rather than booted through a bootloader. What the guest must be willing to give up is </a:t>
            </a:r>
            <a:r>
              <a:rPr sz="2200" b="1" i="0">
                <a:solidFill>
                  <a:srgbClr val="1C252B"/>
                </a:solidFill>
                <a:latin typeface="Segoe UI"/>
              </a:rPr>
              <a:t>looking like a PC</a:t>
            </a:r>
            <a:r>
              <a:rPr sz="2200" b="0" i="0">
                <a:solidFill>
                  <a:srgbClr val="1C252B"/>
                </a:solidFill>
                <a:latin typeface="Segoe UI"/>
              </a:rPr>
              <a:t> — it cannot expect a BIOS, a PCI bus or any legacy device, so it must be built to use virtio and to be entered directly. The cost was compatibility, not virtualization.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  answers in Appendix D     </a:t>
            </a:r>
            <a:fld id="{B16170E7-2E78-4E53-8252-241667979BDE}"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1437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workload runs 18% slower under gVisor than under runc, while another is unaffected. What distinguishes them, and what would you measure to confirm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11  ·  Lightweight and Secure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93  ·  answers in Appendix D     </a:t>
            </a:r>
            <a:fld id="{ADD8049E-2EA4-4164-96A3-5D42DDABA239}"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workload runs 18% slower under gVisor than under runc, while another is unaffected. What distinguishes them, and what would you measure to confirm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System-call rate.</a:t>
            </a:r>
            <a:r>
              <a:rPr sz="2200" b="0" i="0">
                <a:solidFill>
                  <a:srgbClr val="1C252B"/>
                </a:solidFill>
                <a:latin typeface="Segoe UI"/>
              </a:rPr>
              <a:t> gVisor handles system calls in a user-space Go program instead of in the kernel, so a workload making many small calls — lots of short reads and writes, many file operations — pays heavily, while a CPU-bound workload that rarely calls the kernel is barely affected. Confirm by measuring the calls per second of each, with </a:t>
            </a:r>
            <a:r>
              <a:rPr sz="2050" b="0" i="0">
                <a:solidFill>
                  <a:srgbClr val="1F4E79"/>
                </a:solidFill>
                <a:latin typeface="Consolas"/>
              </a:rPr>
              <a:t>strace -c</a:t>
            </a:r>
            <a:r>
              <a:rPr sz="2200" b="0" i="0">
                <a:solidFill>
                  <a:srgbClr val="1C252B"/>
                </a:solidFill>
                <a:latin typeface="Segoe UI"/>
              </a:rPr>
              <a:t> or </a:t>
            </a:r>
            <a:r>
              <a:rPr sz="2050" b="0" i="0">
                <a:solidFill>
                  <a:srgbClr val="1F4E79"/>
                </a:solidFill>
                <a:latin typeface="Consolas"/>
              </a:rPr>
              <a:t>perf</a:t>
            </a:r>
            <a:r>
              <a:rPr sz="2200" b="0" i="0">
                <a:solidFill>
                  <a:srgbClr val="1C252B"/>
                </a:solidFill>
                <a:latin typeface="Segoe UI"/>
              </a:rPr>
              <a:t>, and correlating that against the measured slowdown.</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  answers in Appendix D     </a:t>
            </a:r>
            <a:fld id="{3757C008-FC46-4CD5-AD3F-EECE1BE00719}"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cluster runs 200 internal services and accepts customer-supplied build jobs. Describe the runtime arrangement you would deploy and the single Kubernetes field that expresses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11  ·  Lightweight and Secure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93  ·  answers in Appendix D     </a:t>
            </a:r>
            <a:fld id="{46B6F618-49C0-4D22-83E3-C7A607519CFE}"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cluster runs 200 internal services and accepts customer-supplied build jobs. Describe the runtime arrangement you would deploy and the single Kubernetes field that expresses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3947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Run the 200 internal services on the default runtime (runc) at full density, and the customer build jobs on a hardware-isolated runtime — Kata, or a microVM-backed equivalent. The manifests are otherwise identical. The single field that expresses it is </a:t>
            </a:r>
            <a:r>
              <a:rPr sz="2050" b="1" i="0">
                <a:solidFill>
                  <a:srgbClr val="1F4E79"/>
                </a:solidFill>
                <a:latin typeface="Consolas"/>
              </a:rPr>
              <a:t>runtimeClassName</a:t>
            </a:r>
            <a:r>
              <a:rPr sz="2200" b="0" i="0">
                <a:solidFill>
                  <a:srgbClr val="1C252B"/>
                </a:solidFill>
                <a:latin typeface="Segoe UI"/>
              </a:rPr>
              <a:t> in the Pod spec.</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  answers in Appendix D     </a:t>
            </a:r>
            <a:fld id="{540D8319-E4EB-4A7A-842A-93201BEF2369}"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36294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a:t>
            </a:r>
            <a:fld id="{604B1096-411C-4245-BEBD-5301AB0705A9}"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Isolation, density and start-up form a three-way trade. This chapter is the set of designs that refuse to pick only two.</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microVM deletes the emulated 1990s PC. Firecracker is 50,000 lines, boots in 125 ms and costs under 5 MB — the cost was compatibility, not virtualization.</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Firecracker is itself jailed in namespaces, a cgroup and a seccomp filter: containers containing a hypervisor. The layers compose.</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gVisor implements Linux in user space, cutting the host’s exposed system calls from about 350 to about 60, at a system-call-rate-dependent performance cost and with imperfect coverage.</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Kata gives every Pod its own virtual machine behind the ordinary OCI interface, selectable per workload with RuntimeClass.</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Unikernels and Wasm go further still; the first has never paid down its operational cost, and the second is young.</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66773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 (continued)</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a:t>
            </a:r>
            <a:fld id="{03C932EE-8141-4FC5-B110-564D03FF3C8E}" type="slidenum">
              <a:rPr lang="en-GB" sz="1000">
                <a:solidFill>
                  <a:srgbClr val="8795A1"/>
                </a:solidFill>
                <a:latin typeface="Segoe UI"/>
              </a:rPr>
              <a:t>36</a:t>
            </a:fld>
          </a:p>
        </p:txBody>
      </p:sp>
      <p:sp>
        <p:nvSpPr>
          <p:cNvPr id="7" name="!!sb6">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6"/>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9" name="!!st6"/>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Isolation is now a per-workload setting rather than an architectural commitment. Most clusters should mix.</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097252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a:t>
            </a:r>
            <a:fld id="{F43EA1DD-E401-4B80-AA71-B962549C32A7}"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Firecracker achieves its boot time principally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faster kernel</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removing firmware, PCI enumeration and legacy device emulation</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running without KVM</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sharing the host kernel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773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a:t>
            </a:r>
            <a:fld id="{510FD4B7-A521-42EB-82B8-A11CF022DF60}"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gVisor reduces risk by: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running each container in a virtual machine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implementing most of the Linux system-call interface in user space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encrypting guest memory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removing the container’s network namespace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821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11  ·  Lightweight and Secure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93     </a:t>
            </a:r>
            <a:fld id="{7AA02230-75CD-45F3-8C56-1823CE51C615}" type="slidenum">
              <a:rPr lang="en-GB" sz="1000">
                <a:solidFill>
                  <a:srgbClr val="8795A1"/>
                </a:solidFill>
                <a:latin typeface="Segoe UI"/>
              </a:rPr>
              <a:t>39</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285292"/>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Explain why Firecracker ships a jailer, given that its own code base is only 50,000 lines.</a:t>
            </a:r>
          </a:p>
        </p:txBody>
      </p:sp>
      <p:sp>
        <p:nvSpPr>
          <p:cNvPr id="10" name="!!rt1">
            <a:extLst>
              <a:ext uri="{C183D7F6-B498-43B3-948B-1728B52AA6E4}">
                <adec:decorative xmlns:adec="http://schemas.microsoft.com/office/drawing/2017/decorative" val="1"/>
              </a:ext>
            </a:extLst>
          </p:cNvPr>
          <p:cNvSpPr/>
          <p:nvPr/>
        </p:nvSpPr>
        <p:spPr>
          <a:xfrm>
            <a:off x="658368" y="226039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0154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42108"/>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State the trade gVisor makes, and the workload characteristic that decides whether it is acceptable.</a:t>
            </a:r>
          </a:p>
        </p:txBody>
      </p:sp>
      <p:sp>
        <p:nvSpPr>
          <p:cNvPr id="13" name="!!rt2">
            <a:extLst>
              <a:ext uri="{C183D7F6-B498-43B3-948B-1728B52AA6E4}">
                <adec:decorative xmlns:adec="http://schemas.microsoft.com/office/drawing/2017/decorative" val="1"/>
              </a:ext>
            </a:extLst>
          </p:cNvPr>
          <p:cNvSpPr/>
          <p:nvPr/>
        </p:nvSpPr>
        <p:spPr>
          <a:xfrm>
            <a:off x="658368" y="305043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09158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032150"/>
            <a:ext cx="95490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Why have unikernels not displaced containers, despite better figures on size, start-up and attack surface?</a:t>
            </a:r>
          </a:p>
        </p:txBody>
      </p:sp>
      <p:sp>
        <p:nvSpPr>
          <p:cNvPr id="16" name="!!rt3">
            <a:extLst>
              <a:ext uri="{C183D7F6-B498-43B3-948B-1728B52AA6E4}">
                <adec:decorative xmlns:adec="http://schemas.microsoft.com/office/drawing/2017/decorative" val="1"/>
              </a:ext>
            </a:extLst>
          </p:cNvPr>
          <p:cNvSpPr/>
          <p:nvPr/>
        </p:nvSpPr>
        <p:spPr>
          <a:xfrm>
            <a:off x="658368" y="3840479"/>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8162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822191"/>
            <a:ext cx="95490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Redo the worked example for functions with an average lifetime of 4 s rather than 400 ms. Give the start-up overhead for all three runtimes and say whether your recommendation changes, and why.</a:t>
            </a:r>
          </a:p>
        </p:txBody>
      </p:sp>
      <p:sp>
        <p:nvSpPr>
          <p:cNvPr id="19" name="!!rt4">
            <a:extLst>
              <a:ext uri="{C183D7F6-B498-43B3-948B-1728B52AA6E4}">
                <adec:decorative xmlns:adec="http://schemas.microsoft.com/office/drawing/2017/decorative" val="1"/>
              </a:ext>
            </a:extLst>
          </p:cNvPr>
          <p:cNvSpPr/>
          <p:nvPr/>
        </p:nvSpPr>
        <p:spPr>
          <a:xfrm>
            <a:off x="658368" y="4915814"/>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95696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897526"/>
            <a:ext cx="9549079" cy="1141171"/>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university wants to let students submit code that is compiled and run automatically on a shared cluster. Set out the isolation design you would propose, what you would measure before going live, and what you would do if the measured overhead were twice what you expected.</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8690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Chapter 12 — Storage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11, pages 85–93</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Boot a microVM and time it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Project set Assignment 1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11  ·  Lightweight and Secure Virtualization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39A7D0FB-F240-4AF5-8F25-465D07E7BB03}" type="slidenum">
              <a:rPr lang="en-GB" sz="1000">
                <a:solidFill>
                  <a:srgbClr val="D5DEE5"/>
                </a:solidFill>
                <a:latin typeface="Segoe UI"/>
              </a:rPr>
              <a:t>40</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Lightweight and Secure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