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7.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3.svg" ContentType="image/svg+xml"/>
  <Override PartName="/ppt/media/image44.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8.svg" ContentType="image/svg+xml"/>
  <Override PartName="/ppt/media/image70.svg" ContentType="image/svg+xml"/>
  <Override PartName="/ppt/media/image71.svg" ContentType="image/svg+xml"/>
  <Override PartName="/ppt/media/image7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9416219-3189-4725-B477-3524FDC3A57B}">
          <p14:sldIdLst>
            <p14:sldId id="256"/>
            <p14:sldId id="257"/>
            <p14:sldId id="258"/>
            <p14:sldId id="259"/>
            <p14:sldId id="260"/>
          </p14:sldIdLst>
        </p14:section>
        <p14:section name="16.1 One Host Is Not a Small Fleet" id="{3F55788E-DC49-44FD-836B-BAE65A5CE1EA}">
          <p14:sldIdLst>
            <p14:sldId id="261"/>
            <p14:sldId id="262"/>
            <p14:sldId id="263"/>
            <p14:sldId id="264"/>
          </p14:sldIdLst>
        </p14:section>
        <p14:section name="16.2 The Platforms" id="{3E12FC97-C305-4C53-800F-3DBBADED47F5}">
          <p14:sldIdLst>
            <p14:sldId id="265"/>
            <p14:sldId id="266"/>
            <p14:sldId id="267"/>
          </p14:sldIdLst>
        </p14:section>
        <p14:section name="16.3 Infrastructure as Code" id="{D66026D9-4553-4486-A882-151C44F2B350}">
          <p14:sldIdLst>
            <p14:sldId id="268"/>
            <p14:sldId id="269"/>
            <p14:sldId id="270"/>
            <p14:sldId id="271"/>
            <p14:sldId id="272"/>
          </p14:sldIdLst>
        </p14:section>
        <p14:section name="16.4 The Image Pipeline" id="{E1AA96BF-22BB-46A3-BAD6-2179721811E6}">
          <p14:sldIdLst>
            <p14:sldId id="273"/>
            <p14:sldId id="274"/>
            <p14:sldId id="275"/>
          </p14:sldIdLst>
        </p14:section>
        <p14:section name="16.5 Drift" id="{4FBAF09B-0681-4FC9-AC9F-ADD562F94CB8}">
          <p14:sldIdLst>
            <p14:sldId id="276"/>
          </p14:sldIdLst>
        </p14:section>
        <p14:section name="Pitfalls" id="{C3ED1757-C5CF-4252-8C36-7B5530F8210C}">
          <p14:sldIdLst>
            <p14:sldId id="277"/>
            <p14:sldId id="278"/>
          </p14:sldIdLst>
        </p14:section>
        <p14:section name="Lab" id="{A42DC6D7-00C5-4D0E-A78B-4C7708E6A5D2}">
          <p14:sldIdLst>
            <p14:sldId id="279"/>
            <p14:sldId id="280"/>
            <p14:sldId id="281"/>
            <p14:sldId id="282"/>
            <p14:sldId id="283"/>
            <p14:sldId id="284"/>
            <p14:sldId id="285"/>
            <p14:sldId id="286"/>
            <p14:sldId id="287"/>
            <p14:sldId id="288"/>
            <p14:sldId id="289"/>
            <p14:sldId id="290"/>
            <p14:sldId id="291"/>
          </p14:sldIdLst>
        </p14:section>
        <p14:section name="Checkpoint" id="{FAA03D2D-747D-4C7D-BF5B-AC1C7AD47906}">
          <p14:sldIdLst>
            <p14:sldId id="292"/>
            <p14:sldId id="293"/>
            <p14:sldId id="294"/>
            <p14:sldId id="295"/>
            <p14:sldId id="296"/>
            <p14:sldId id="297"/>
          </p14:sldIdLst>
        </p14:section>
        <p14:section name="Wrap-up" id="{3A0FC49E-4004-447D-B6B5-7124C70F74BA}">
          <p14:sldIdLst>
            <p14:sldId id="298"/>
            <p14:sldId id="299"/>
            <p14:sldId id="300"/>
            <p14:sldId id="301"/>
            <p14:sldId id="30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16: Virtualization Management Platforms. Part 5 — Management, Performance and Security. Week 12: Desktop virtualization; management. Handout pages 125–132.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5 (the four hypervisors, since each management platform assumes one) and Chapter 12 (shared storage, which almost every cluster feature depends on). Chapter 14’s self-service characteristic is what this chapter builds on premises.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vCenter; cluster; DRS; resource pool; SCVMM; oVirt; Proxmox VE; OpenStack; Nova; infrastructure as code; declarative; idempotent; Terraform; state file; plan and apply; golden image; Packer; cloud-init; user data; template; configuration drift; immutable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Parts II and III was about one machine. A hypervisor on its own is a complete, usable product — and it stops being enough at about the third host, for reasons that are all variations on the same one: a decision that was obvious with one host has no obvious answer with twenty.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16.1 (handout p. 126): The shape every platform in this chapter has. The interesting differences are in scope — how much of the stack the platform claims — not in this diagram.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console is fine for one change and hopeless as a system of record. Clicking through a wizard leaves nothing behind that says what was intended, so six months later nobody can say whether a setting was deliberate. Infrastructure as code makes the declaration the artefact. The definition lives in version control, is reviewed like any change, and the tool makes reality match it — the same reconciliation idea as Chapter 10, applied to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the guest’s disk come from? Three stages, and confusing them is the cause of most “why is this server different” incidents.</a:t>
            </a:r>
          </a:p>
          <a:p/>
          <a:p>
            <a:r>
              <a:t>Figure 16.2 (handout p. 128): The pipeline. The dashed arrow is the discipline: the only supported way to change what a guest contains is to change the image and re-instantiate.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Configuration drift is the gap between what a system is supposed to be and what it has become: a package installed to debug something at 2 a.m., a limit raised and never recorded, a firewall rule added for a test. Each is small and reasonable. After two years no two servers are alike and nobody can rebuild any of them. Two responses, and they are genuinely different philosophies.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Builds an image with a pipeline, then provisions and reconfigures guests declaratively with Terraform against libvirt. Expect forty-five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The build stage: one patched image, made reproducibly..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The publish stage: versioned, and never edited again..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Declare the estate..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Declare the estate.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Declare the estate.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Plan first. The plan IS the review..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Apply, and then prove idempotence..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Reconfigure declaratively: change one number..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10: Create drift by hand, then watch the tool notice..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11: Tear the whole estate down with one command..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Now: 3 × 50 + 8 × 25 = 350 min a month = 70 hours a year. After: 3 × 5 + 8 × 3 = 39 min a month = 7.8 hours a year, plus a 32-hour build. First-year saving = 70 − (7.8 + 32) = 30.2 hours; thereafter about 62 hours a year. Adopt — but note it is marginal in year one, so the case rests on the estate still existing in year two and on the drift and review benefits, which are real but not in this arithmetic.</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In the image: everything identical across guests — the patched operating system, the agents, the standard configuration. In user data: everything that differs — hostname, network address, SSH keys, role. Wrong way round: a hostname baked into the image means every clone has the same name and the same SSH host key, so they conflict and tooling cannot distinguish them; a security patch applied through user data is re-applied at every boot for ever, slowing each start and never updating the image everybody else builds from.</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Convergent management — it is the only strategy available for a system that cannot be rebuilt. Over the year: write a configuration definition that describes it as it currently is, apply it in check-only mode until it reports no differences, then bring it under enforcement; in parallel, build and test a replacement from that definition, and when a rebuild succeeds the machine can move to the immutable regime. The intermediate goal is not automation but a written description that is known to be accurate.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17 — High Availability, Live Migration and Disaster Recovery. READ: Handout Chapter 16, pages 125–132. THIS WEEK'S LAB: A remote desktop measured; an estate declared in code. ASSESSMENT: Assignment 2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3.xml"/><Relationship Id="rId8" Type="http://schemas.openxmlformats.org/officeDocument/2006/relationships/slide" Target="slide18.xml"/><Relationship Id="rId9" Type="http://schemas.openxmlformats.org/officeDocument/2006/relationships/slide" Target="slide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image" Target="../media/image28.png"/><Relationship Id="rId9" Type="http://schemas.openxmlformats.org/officeDocument/2006/relationships/image" Target="../media/image29.svg"/><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30.svg"/><Relationship Id="rId4" Type="http://schemas.openxmlformats.org/officeDocument/2006/relationships/image" Target="../media/image31.png"/><Relationship Id="rId5" Type="http://schemas.openxmlformats.org/officeDocument/2006/relationships/image" Target="../media/image32.svg"/><Relationship Id="rId6" Type="http://schemas.openxmlformats.org/officeDocument/2006/relationships/image" Target="../media/image33.png"/><Relationship Id="rId7" Type="http://schemas.openxmlformats.org/officeDocument/2006/relationships/image" Target="../media/image34.svg"/><Relationship Id="rId8" Type="http://schemas.openxmlformats.org/officeDocument/2006/relationships/image" Target="../media/image35.png"/><Relationship Id="rId9" Type="http://schemas.openxmlformats.org/officeDocument/2006/relationships/image" Target="../media/image36.svg"/><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37.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0.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1.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4.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7.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8.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9.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0.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1.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2.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3.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4.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5.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6.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7.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8.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3.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4.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5.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6.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8.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0.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1.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2.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88674"/>
                </a:solidFill>
                <a:latin typeface="Segoe UI Black"/>
              </a:rPr>
              <a:t>16</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Virtualization Management Platforms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PART V  ·  MANAGEMENT, PERFORMANCE AND SECURITY</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CHAPTER 16  ·  WEEK 12</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FE4E0"/>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0C57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3BFB9"/>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BD0CC"/>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3BFB9"/>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125     </a:t>
            </a:r>
            <a:fld id="{D2934D43-5F6A-4F9F-8069-F16DC3A77545}"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679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679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9091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9091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905783" y="1755648"/>
            <a:ext cx="166746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905783" y="2029967"/>
            <a:ext cx="1667468" cy="4572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0991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077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4909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3994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4039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489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32120"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406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155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0241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790747" y="2112264"/>
            <a:ext cx="566928" cy="566928"/>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790747"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5148131"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07964"/>
                </a:solidFill>
                <a:latin typeface="Segoe UI"/>
              </a:rPr>
              <a:t>Virtualization Management Platforms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5">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5">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5"/>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Major Hypervisor Platforms</a:t>
            </a:r>
          </a:p>
        </p:txBody>
      </p:sp>
      <p:sp>
        <p:nvSpPr>
          <p:cNvPr id="70" name="!!chipBU12">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12">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12"/>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12  </a:t>
            </a:r>
            <a:r>
              <a:rPr sz="1400" b="0" i="0">
                <a:solidFill>
                  <a:srgbClr val="1C252B"/>
                </a:solidFill>
                <a:latin typeface="Segoe UI"/>
              </a:rPr>
              <a:t>Storage Virtualization</a:t>
            </a:r>
          </a:p>
        </p:txBody>
      </p:sp>
      <p:sp>
        <p:nvSpPr>
          <p:cNvPr id="73" name="!!chipBU14">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bBU14">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tBU14"/>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14  </a:t>
            </a:r>
            <a:r>
              <a:rPr sz="1400" b="0" i="0">
                <a:solidFill>
                  <a:srgbClr val="1C252B"/>
                </a:solidFill>
                <a:latin typeface="Segoe UI"/>
              </a:rPr>
              <a:t>Cloud Service and Deployment Models</a:t>
            </a:r>
          </a:p>
        </p:txBody>
      </p:sp>
      <p:sp>
        <p:nvSpPr>
          <p:cNvPr id="76"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7" name="!!chipUS17">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17">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17"/>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17  </a:t>
            </a:r>
            <a:r>
              <a:rPr sz="1400" b="0" i="0">
                <a:solidFill>
                  <a:srgbClr val="1C252B"/>
                </a:solidFill>
                <a:latin typeface="Segoe UI"/>
              </a:rPr>
              <a:t>High Availability, Live Migration and Disaster Recovery</a:t>
            </a:r>
          </a:p>
        </p:txBody>
      </p:sp>
      <p:sp>
        <p:nvSpPr>
          <p:cNvPr id="80" name="!!chipUS19">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19">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19"/>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19  </a:t>
            </a:r>
            <a:r>
              <a:rPr sz="1400" b="0" i="0">
                <a:solidFill>
                  <a:srgbClr val="1C252B"/>
                </a:solidFill>
                <a:latin typeface="Segoe UI"/>
              </a:rPr>
              <a:t>Security in Virtualized Environments</a:t>
            </a:r>
          </a:p>
        </p:txBody>
      </p:sp>
      <p:sp>
        <p:nvSpPr>
          <p:cNvPr id="83" name="!!chipUS22">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chipbUS22">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tUS22"/>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22  </a:t>
            </a:r>
            <a:r>
              <a:rPr sz="1400" b="0" i="0">
                <a:solidFill>
                  <a:srgbClr val="1C252B"/>
                </a:solidFill>
                <a:latin typeface="Segoe UI"/>
              </a:rPr>
              <a:t>Case Studies in Enterprise and Cloud Virtualization</a:t>
            </a:r>
          </a:p>
        </p:txBody>
      </p:sp>
      <p:sp>
        <p:nvSpPr>
          <p:cNvPr id="8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pfill">
            <a:extLst>
              <a:ext uri="{C183D7F6-B498-43B3-948B-1728B52AA6E4}">
                <adec:decorative xmlns:adec="http://schemas.microsoft.com/office/drawing/2017/decorative" val="1"/>
              </a:ext>
            </a:extLst>
          </p:cNvPr>
          <p:cNvSpPr/>
          <p:nvPr/>
        </p:nvSpPr>
        <p:spPr>
          <a:xfrm>
            <a:off x="0" y="0"/>
            <a:ext cx="51879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125     </a:t>
            </a:r>
            <a:fld id="{575250BE-D0F7-4F4C-AD98-195D95B360D3}"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Explain</a:t>
            </a:r>
            <a:r>
              <a:rPr sz="2100" b="0" i="0">
                <a:solidFill>
                  <a:srgbClr val="1C252B"/>
                </a:solidFill>
                <a:latin typeface="Segoe UI"/>
              </a:rPr>
              <a:t> why managing a fleet is a different problem from managing a host, and </a:t>
            </a:r>
            <a:r>
              <a:rPr sz="2100" b="1" i="0">
                <a:solidFill>
                  <a:srgbClr val="1C252B"/>
                </a:solidFill>
                <a:latin typeface="Segoe UI"/>
              </a:rPr>
              <a:t>name</a:t>
            </a:r>
            <a:r>
              <a:rPr sz="2100" b="0" i="0">
                <a:solidFill>
                  <a:srgbClr val="1C252B"/>
                </a:solidFill>
                <a:latin typeface="Segoe UI"/>
              </a:rPr>
              <a:t> the capabilities a management layer must add.</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Compare</a:t>
            </a:r>
            <a:r>
              <a:rPr sz="2100" b="0" i="0">
                <a:solidFill>
                  <a:srgbClr val="1C252B"/>
                </a:solidFill>
                <a:latin typeface="Segoe UI"/>
              </a:rPr>
              <a:t> vCenter, SCVMM, oVirt, Proxmox and OpenStack by scope and by what each assumes.</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Write</a:t>
            </a:r>
            <a:r>
              <a:rPr sz="2100" b="0" i="0">
                <a:solidFill>
                  <a:srgbClr val="1C252B"/>
                </a:solidFill>
                <a:latin typeface="Segoe UI"/>
              </a:rPr>
              <a:t> infrastructure as code that is idempotent, and </a:t>
            </a:r>
            <a:r>
              <a:rPr sz="2100" b="1" i="0">
                <a:solidFill>
                  <a:srgbClr val="1C252B"/>
                </a:solidFill>
                <a:latin typeface="Segoe UI"/>
              </a:rPr>
              <a:t>explain</a:t>
            </a:r>
            <a:r>
              <a:rPr sz="2100" b="0" i="0">
                <a:solidFill>
                  <a:srgbClr val="1C252B"/>
                </a:solidFill>
                <a:latin typeface="Segoe UI"/>
              </a:rPr>
              <a:t> what state the tool keeps and why.</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Describe</a:t>
            </a:r>
            <a:r>
              <a:rPr sz="2100" b="0" i="0">
                <a:solidFill>
                  <a:srgbClr val="1C252B"/>
                </a:solidFill>
                <a:latin typeface="Segoe UI"/>
              </a:rPr>
              <a:t> the image pipeline — build, publish, instantiate — and </a:t>
            </a:r>
            <a:r>
              <a:rPr sz="2100" b="1" i="0">
                <a:solidFill>
                  <a:srgbClr val="1C252B"/>
                </a:solidFill>
                <a:latin typeface="Segoe UI"/>
              </a:rPr>
              <a:t>say</a:t>
            </a:r>
            <a:r>
              <a:rPr sz="2100" b="0" i="0">
                <a:solidFill>
                  <a:srgbClr val="1C252B"/>
                </a:solidFill>
                <a:latin typeface="Segoe UI"/>
              </a:rPr>
              <a:t> what cloud-init does at each boot.</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57392"/>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Define</a:t>
            </a:r>
            <a:r>
              <a:rPr sz="2100" b="0" i="0">
                <a:solidFill>
                  <a:srgbClr val="1C252B"/>
                </a:solidFill>
                <a:latin typeface="Segoe UI"/>
              </a:rPr>
              <a:t> configuration drift and </a:t>
            </a:r>
            <a:r>
              <a:rPr sz="2100" b="1" i="0">
                <a:solidFill>
                  <a:srgbClr val="1C252B"/>
                </a:solidFill>
                <a:latin typeface="Segoe UI"/>
              </a:rPr>
              <a:t>choose</a:t>
            </a:r>
            <a:r>
              <a:rPr sz="2100" b="0" i="0">
                <a:solidFill>
                  <a:srgbClr val="1C252B"/>
                </a:solidFill>
                <a:latin typeface="Segoe UI"/>
              </a:rPr>
              <a:t> between correcting it and rebuilding.</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7819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125     </a:t>
            </a:r>
            <a:fld id="{E3202157-3888-4FE6-81D5-5DBDDE63DECE}" type="slidenum">
              <a:rPr lang="en-GB" sz="1000">
                <a:solidFill>
                  <a:srgbClr val="8795A1"/>
                </a:solidFill>
                <a:latin typeface="Segoe UI"/>
              </a:rPr>
              <a:t>4</a:t>
            </a:fld>
          </a:p>
        </p:txBody>
      </p:sp>
      <p:sp>
        <p:nvSpPr>
          <p:cNvPr id="7" name="!!term-vCenter">
            <a:extLst>
              <a:ext uri="{C183D7F6-B498-43B3-948B-1728B52AA6E4}">
                <adec:decorative xmlns:adec="http://schemas.microsoft.com/office/drawing/2017/decorative" val="1"/>
              </a:ext>
            </a:extLst>
          </p:cNvPr>
          <p:cNvSpPr/>
          <p:nvPr/>
        </p:nvSpPr>
        <p:spPr>
          <a:xfrm>
            <a:off x="658368" y="1847088"/>
            <a:ext cx="109895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vCenter">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vCenter"/>
          <p:cNvSpPr txBox="1"/>
          <p:nvPr/>
        </p:nvSpPr>
        <p:spPr>
          <a:xfrm>
            <a:off x="950976" y="1970532"/>
            <a:ext cx="91607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vCenter</a:t>
            </a:r>
          </a:p>
        </p:txBody>
      </p:sp>
      <p:sp>
        <p:nvSpPr>
          <p:cNvPr id="10" name="!!term-cluster">
            <a:extLst>
              <a:ext uri="{C183D7F6-B498-43B3-948B-1728B52AA6E4}">
                <adec:decorative xmlns:adec="http://schemas.microsoft.com/office/drawing/2017/decorative" val="1"/>
              </a:ext>
            </a:extLst>
          </p:cNvPr>
          <p:cNvSpPr/>
          <p:nvPr/>
        </p:nvSpPr>
        <p:spPr>
          <a:xfrm>
            <a:off x="1903630" y="1847088"/>
            <a:ext cx="100316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cluster">
            <a:extLst>
              <a:ext uri="{C183D7F6-B498-43B3-948B-1728B52AA6E4}">
                <adec:decorative xmlns:adec="http://schemas.microsoft.com/office/drawing/2017/decorative" val="1"/>
              </a:ext>
            </a:extLst>
          </p:cNvPr>
          <p:cNvSpPr/>
          <p:nvPr/>
        </p:nvSpPr>
        <p:spPr>
          <a:xfrm>
            <a:off x="203164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cluster"/>
          <p:cNvSpPr txBox="1"/>
          <p:nvPr/>
        </p:nvSpPr>
        <p:spPr>
          <a:xfrm>
            <a:off x="2196238" y="1970532"/>
            <a:ext cx="82028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cluster</a:t>
            </a:r>
          </a:p>
        </p:txBody>
      </p:sp>
      <p:sp>
        <p:nvSpPr>
          <p:cNvPr id="13" name="!!term-DRS">
            <a:extLst>
              <a:ext uri="{C183D7F6-B498-43B3-948B-1728B52AA6E4}">
                <adec:decorative xmlns:adec="http://schemas.microsoft.com/office/drawing/2017/decorative" val="1"/>
              </a:ext>
            </a:extLst>
          </p:cNvPr>
          <p:cNvSpPr/>
          <p:nvPr/>
        </p:nvSpPr>
        <p:spPr>
          <a:xfrm>
            <a:off x="3053098" y="1847088"/>
            <a:ext cx="79449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DRS">
            <a:extLst>
              <a:ext uri="{C183D7F6-B498-43B3-948B-1728B52AA6E4}">
                <adec:decorative xmlns:adec="http://schemas.microsoft.com/office/drawing/2017/decorative" val="1"/>
              </a:ext>
            </a:extLst>
          </p:cNvPr>
          <p:cNvSpPr/>
          <p:nvPr/>
        </p:nvSpPr>
        <p:spPr>
          <a:xfrm>
            <a:off x="318111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DRS"/>
          <p:cNvSpPr txBox="1"/>
          <p:nvPr/>
        </p:nvSpPr>
        <p:spPr>
          <a:xfrm>
            <a:off x="3345706" y="1970532"/>
            <a:ext cx="61161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DRS</a:t>
            </a:r>
          </a:p>
        </p:txBody>
      </p:sp>
      <p:sp>
        <p:nvSpPr>
          <p:cNvPr id="16" name="!!term-resource pool">
            <a:extLst>
              <a:ext uri="{C183D7F6-B498-43B3-948B-1728B52AA6E4}">
                <adec:decorative xmlns:adec="http://schemas.microsoft.com/office/drawing/2017/decorative" val="1"/>
              </a:ext>
            </a:extLst>
          </p:cNvPr>
          <p:cNvSpPr/>
          <p:nvPr/>
        </p:nvSpPr>
        <p:spPr>
          <a:xfrm>
            <a:off x="3993902" y="1847088"/>
            <a:ext cx="16155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resource pool">
            <a:extLst>
              <a:ext uri="{C183D7F6-B498-43B3-948B-1728B52AA6E4}">
                <adec:decorative xmlns:adec="http://schemas.microsoft.com/office/drawing/2017/decorative" val="1"/>
              </a:ext>
            </a:extLst>
          </p:cNvPr>
          <p:cNvSpPr/>
          <p:nvPr/>
        </p:nvSpPr>
        <p:spPr>
          <a:xfrm>
            <a:off x="412191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resource pool"/>
          <p:cNvSpPr txBox="1"/>
          <p:nvPr/>
        </p:nvSpPr>
        <p:spPr>
          <a:xfrm>
            <a:off x="4286510" y="1970532"/>
            <a:ext cx="143269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resource pool</a:t>
            </a:r>
          </a:p>
        </p:txBody>
      </p:sp>
      <p:sp>
        <p:nvSpPr>
          <p:cNvPr id="19" name="!!term-SCVMM">
            <a:extLst>
              <a:ext uri="{C183D7F6-B498-43B3-948B-1728B52AA6E4}">
                <adec:decorative xmlns:adec="http://schemas.microsoft.com/office/drawing/2017/decorative" val="1"/>
              </a:ext>
            </a:extLst>
          </p:cNvPr>
          <p:cNvSpPr/>
          <p:nvPr/>
        </p:nvSpPr>
        <p:spPr>
          <a:xfrm>
            <a:off x="5755780" y="1847088"/>
            <a:ext cx="11320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SCVMM">
            <a:extLst>
              <a:ext uri="{C183D7F6-B498-43B3-948B-1728B52AA6E4}">
                <adec:decorative xmlns:adec="http://schemas.microsoft.com/office/drawing/2017/decorative" val="1"/>
              </a:ext>
            </a:extLst>
          </p:cNvPr>
          <p:cNvSpPr/>
          <p:nvPr/>
        </p:nvSpPr>
        <p:spPr>
          <a:xfrm>
            <a:off x="588379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SCVMM"/>
          <p:cNvSpPr txBox="1"/>
          <p:nvPr/>
        </p:nvSpPr>
        <p:spPr>
          <a:xfrm>
            <a:off x="6048388" y="1970532"/>
            <a:ext cx="94913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SCVMM</a:t>
            </a:r>
          </a:p>
        </p:txBody>
      </p:sp>
      <p:sp>
        <p:nvSpPr>
          <p:cNvPr id="22" name="!!term-oVirt">
            <a:extLst>
              <a:ext uri="{C183D7F6-B498-43B3-948B-1728B52AA6E4}">
                <adec:decorative xmlns:adec="http://schemas.microsoft.com/office/drawing/2017/decorative" val="1"/>
              </a:ext>
            </a:extLst>
          </p:cNvPr>
          <p:cNvSpPr/>
          <p:nvPr/>
        </p:nvSpPr>
        <p:spPr>
          <a:xfrm>
            <a:off x="7034100" y="1847088"/>
            <a:ext cx="8540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oVirt">
            <a:extLst>
              <a:ext uri="{C183D7F6-B498-43B3-948B-1728B52AA6E4}">
                <adec:decorative xmlns:adec="http://schemas.microsoft.com/office/drawing/2017/decorative" val="1"/>
              </a:ext>
            </a:extLst>
          </p:cNvPr>
          <p:cNvSpPr/>
          <p:nvPr/>
        </p:nvSpPr>
        <p:spPr>
          <a:xfrm>
            <a:off x="716211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oVirt"/>
          <p:cNvSpPr txBox="1"/>
          <p:nvPr/>
        </p:nvSpPr>
        <p:spPr>
          <a:xfrm>
            <a:off x="7326708" y="1970532"/>
            <a:ext cx="67116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oVirt</a:t>
            </a:r>
          </a:p>
        </p:txBody>
      </p:sp>
      <p:sp>
        <p:nvSpPr>
          <p:cNvPr id="25" name="!!term-Proxmox VE">
            <a:extLst>
              <a:ext uri="{C183D7F6-B498-43B3-948B-1728B52AA6E4}">
                <adec:decorative xmlns:adec="http://schemas.microsoft.com/office/drawing/2017/decorative" val="1"/>
              </a:ext>
            </a:extLst>
          </p:cNvPr>
          <p:cNvSpPr/>
          <p:nvPr/>
        </p:nvSpPr>
        <p:spPr>
          <a:xfrm>
            <a:off x="8034450" y="1847088"/>
            <a:ext cx="14608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Proxmox VE">
            <a:extLst>
              <a:ext uri="{C183D7F6-B498-43B3-948B-1728B52AA6E4}">
                <adec:decorative xmlns:adec="http://schemas.microsoft.com/office/drawing/2017/decorative" val="1"/>
              </a:ext>
            </a:extLst>
          </p:cNvPr>
          <p:cNvSpPr/>
          <p:nvPr/>
        </p:nvSpPr>
        <p:spPr>
          <a:xfrm>
            <a:off x="816246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Proxmox VE"/>
          <p:cNvSpPr txBox="1"/>
          <p:nvPr/>
        </p:nvSpPr>
        <p:spPr>
          <a:xfrm>
            <a:off x="8327058" y="1970532"/>
            <a:ext cx="127799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Proxmox VE</a:t>
            </a:r>
          </a:p>
        </p:txBody>
      </p:sp>
      <p:sp>
        <p:nvSpPr>
          <p:cNvPr id="28" name="!!term-OpenStack">
            <a:extLst>
              <a:ext uri="{C183D7F6-B498-43B3-948B-1728B52AA6E4}">
                <adec:decorative xmlns:adec="http://schemas.microsoft.com/office/drawing/2017/decorative" val="1"/>
              </a:ext>
            </a:extLst>
          </p:cNvPr>
          <p:cNvSpPr/>
          <p:nvPr/>
        </p:nvSpPr>
        <p:spPr>
          <a:xfrm>
            <a:off x="9641624" y="1847088"/>
            <a:ext cx="136547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OpenStack">
            <a:extLst>
              <a:ext uri="{C183D7F6-B498-43B3-948B-1728B52AA6E4}">
                <adec:decorative xmlns:adec="http://schemas.microsoft.com/office/drawing/2017/decorative" val="1"/>
              </a:ext>
            </a:extLst>
          </p:cNvPr>
          <p:cNvSpPr/>
          <p:nvPr/>
        </p:nvSpPr>
        <p:spPr>
          <a:xfrm>
            <a:off x="976964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OpenStack"/>
          <p:cNvSpPr txBox="1"/>
          <p:nvPr/>
        </p:nvSpPr>
        <p:spPr>
          <a:xfrm>
            <a:off x="9934232" y="1970532"/>
            <a:ext cx="118259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OpenStack</a:t>
            </a:r>
          </a:p>
        </p:txBody>
      </p:sp>
      <p:sp>
        <p:nvSpPr>
          <p:cNvPr id="31" name="!!term-Nova">
            <a:extLst>
              <a:ext uri="{C183D7F6-B498-43B3-948B-1728B52AA6E4}">
                <adec:decorative xmlns:adec="http://schemas.microsoft.com/office/drawing/2017/decorative" val="1"/>
              </a:ext>
            </a:extLst>
          </p:cNvPr>
          <p:cNvSpPr/>
          <p:nvPr/>
        </p:nvSpPr>
        <p:spPr>
          <a:xfrm>
            <a:off x="658368" y="2468880"/>
            <a:ext cx="89004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Nova">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Nova"/>
          <p:cNvSpPr txBox="1"/>
          <p:nvPr/>
        </p:nvSpPr>
        <p:spPr>
          <a:xfrm>
            <a:off x="950976" y="2592324"/>
            <a:ext cx="70716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Nova</a:t>
            </a:r>
          </a:p>
        </p:txBody>
      </p:sp>
      <p:sp>
        <p:nvSpPr>
          <p:cNvPr id="34" name="!!term-infrastructure">
            <a:extLst>
              <a:ext uri="{C183D7F6-B498-43B3-948B-1728B52AA6E4}">
                <adec:decorative xmlns:adec="http://schemas.microsoft.com/office/drawing/2017/decorative" val="1"/>
              </a:ext>
            </a:extLst>
          </p:cNvPr>
          <p:cNvSpPr/>
          <p:nvPr/>
        </p:nvSpPr>
        <p:spPr>
          <a:xfrm>
            <a:off x="1694717" y="2468880"/>
            <a:ext cx="229142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infrastructure">
            <a:extLst>
              <a:ext uri="{C183D7F6-B498-43B3-948B-1728B52AA6E4}">
                <adec:decorative xmlns:adec="http://schemas.microsoft.com/office/drawing/2017/decorative" val="1"/>
              </a:ext>
            </a:extLst>
          </p:cNvPr>
          <p:cNvSpPr/>
          <p:nvPr/>
        </p:nvSpPr>
        <p:spPr>
          <a:xfrm>
            <a:off x="182273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infrastructure"/>
          <p:cNvSpPr txBox="1"/>
          <p:nvPr/>
        </p:nvSpPr>
        <p:spPr>
          <a:xfrm>
            <a:off x="1987325" y="2592324"/>
            <a:ext cx="210854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infrastructure as code</a:t>
            </a:r>
          </a:p>
        </p:txBody>
      </p:sp>
      <p:sp>
        <p:nvSpPr>
          <p:cNvPr id="37" name="!!term-declarative">
            <a:extLst>
              <a:ext uri="{C183D7F6-B498-43B3-948B-1728B52AA6E4}">
                <adec:decorative xmlns:adec="http://schemas.microsoft.com/office/drawing/2017/decorative" val="1"/>
              </a:ext>
            </a:extLst>
          </p:cNvPr>
          <p:cNvSpPr/>
          <p:nvPr/>
        </p:nvSpPr>
        <p:spPr>
          <a:xfrm>
            <a:off x="4132445" y="2468880"/>
            <a:ext cx="13647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declarative">
            <a:extLst>
              <a:ext uri="{C183D7F6-B498-43B3-948B-1728B52AA6E4}">
                <adec:decorative xmlns:adec="http://schemas.microsoft.com/office/drawing/2017/decorative" val="1"/>
              </a:ext>
            </a:extLst>
          </p:cNvPr>
          <p:cNvSpPr/>
          <p:nvPr/>
        </p:nvSpPr>
        <p:spPr>
          <a:xfrm>
            <a:off x="426046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declarative"/>
          <p:cNvSpPr txBox="1"/>
          <p:nvPr/>
        </p:nvSpPr>
        <p:spPr>
          <a:xfrm>
            <a:off x="4425053" y="2592324"/>
            <a:ext cx="118190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declarative</a:t>
            </a:r>
          </a:p>
        </p:txBody>
      </p:sp>
      <p:sp>
        <p:nvSpPr>
          <p:cNvPr id="40" name="!!term-idempotent">
            <a:extLst>
              <a:ext uri="{C183D7F6-B498-43B3-948B-1728B52AA6E4}">
                <adec:decorative xmlns:adec="http://schemas.microsoft.com/office/drawing/2017/decorative" val="1"/>
              </a:ext>
            </a:extLst>
          </p:cNvPr>
          <p:cNvSpPr/>
          <p:nvPr/>
        </p:nvSpPr>
        <p:spPr>
          <a:xfrm>
            <a:off x="5643530" y="2468880"/>
            <a:ext cx="144075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idempotent">
            <a:extLst>
              <a:ext uri="{C183D7F6-B498-43B3-948B-1728B52AA6E4}">
                <adec:decorative xmlns:adec="http://schemas.microsoft.com/office/drawing/2017/decorative" val="1"/>
              </a:ext>
            </a:extLst>
          </p:cNvPr>
          <p:cNvSpPr/>
          <p:nvPr/>
        </p:nvSpPr>
        <p:spPr>
          <a:xfrm>
            <a:off x="577154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idempotent"/>
          <p:cNvSpPr txBox="1"/>
          <p:nvPr/>
        </p:nvSpPr>
        <p:spPr>
          <a:xfrm>
            <a:off x="5936138" y="2592324"/>
            <a:ext cx="125787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idempotent</a:t>
            </a:r>
          </a:p>
        </p:txBody>
      </p:sp>
      <p:sp>
        <p:nvSpPr>
          <p:cNvPr id="43" name="!!term-Terraform">
            <a:extLst>
              <a:ext uri="{C183D7F6-B498-43B3-948B-1728B52AA6E4}">
                <adec:decorative xmlns:adec="http://schemas.microsoft.com/office/drawing/2017/decorative" val="1"/>
              </a:ext>
            </a:extLst>
          </p:cNvPr>
          <p:cNvSpPr/>
          <p:nvPr/>
        </p:nvSpPr>
        <p:spPr>
          <a:xfrm>
            <a:off x="7230584" y="2468880"/>
            <a:ext cx="12857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Terraform">
            <a:extLst>
              <a:ext uri="{C183D7F6-B498-43B3-948B-1728B52AA6E4}">
                <adec:decorative xmlns:adec="http://schemas.microsoft.com/office/drawing/2017/decorative" val="1"/>
              </a:ext>
            </a:extLst>
          </p:cNvPr>
          <p:cNvSpPr/>
          <p:nvPr/>
        </p:nvSpPr>
        <p:spPr>
          <a:xfrm>
            <a:off x="735860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Terraform"/>
          <p:cNvSpPr txBox="1"/>
          <p:nvPr/>
        </p:nvSpPr>
        <p:spPr>
          <a:xfrm>
            <a:off x="7523192" y="2592324"/>
            <a:ext cx="110290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Terraform</a:t>
            </a:r>
          </a:p>
        </p:txBody>
      </p:sp>
      <p:sp>
        <p:nvSpPr>
          <p:cNvPr id="46" name="!!term-state file">
            <a:extLst>
              <a:ext uri="{C183D7F6-B498-43B3-948B-1728B52AA6E4}">
                <adec:decorative xmlns:adec="http://schemas.microsoft.com/office/drawing/2017/decorative" val="1"/>
              </a:ext>
            </a:extLst>
          </p:cNvPr>
          <p:cNvSpPr/>
          <p:nvPr/>
        </p:nvSpPr>
        <p:spPr>
          <a:xfrm>
            <a:off x="8662673" y="2468880"/>
            <a:ext cx="116327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state file">
            <a:extLst>
              <a:ext uri="{C183D7F6-B498-43B3-948B-1728B52AA6E4}">
                <adec:decorative xmlns:adec="http://schemas.microsoft.com/office/drawing/2017/decorative" val="1"/>
              </a:ext>
            </a:extLst>
          </p:cNvPr>
          <p:cNvSpPr/>
          <p:nvPr/>
        </p:nvSpPr>
        <p:spPr>
          <a:xfrm>
            <a:off x="879068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state file"/>
          <p:cNvSpPr txBox="1"/>
          <p:nvPr/>
        </p:nvSpPr>
        <p:spPr>
          <a:xfrm>
            <a:off x="8955281" y="2592324"/>
            <a:ext cx="98039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state file</a:t>
            </a:r>
          </a:p>
        </p:txBody>
      </p:sp>
      <p:sp>
        <p:nvSpPr>
          <p:cNvPr id="49" name="!!term-plan and apply">
            <a:extLst>
              <a:ext uri="{C183D7F6-B498-43B3-948B-1728B52AA6E4}">
                <adec:decorative xmlns:adec="http://schemas.microsoft.com/office/drawing/2017/decorative" val="1"/>
              </a:ext>
            </a:extLst>
          </p:cNvPr>
          <p:cNvSpPr/>
          <p:nvPr/>
        </p:nvSpPr>
        <p:spPr>
          <a:xfrm>
            <a:off x="658368" y="3090672"/>
            <a:ext cx="170736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plan and apply">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plan and apply"/>
          <p:cNvSpPr txBox="1"/>
          <p:nvPr/>
        </p:nvSpPr>
        <p:spPr>
          <a:xfrm>
            <a:off x="950976" y="3214116"/>
            <a:ext cx="152448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plan and apply</a:t>
            </a:r>
          </a:p>
        </p:txBody>
      </p:sp>
      <p:sp>
        <p:nvSpPr>
          <p:cNvPr id="52" name="!!term-golden image">
            <a:extLst>
              <a:ext uri="{C183D7F6-B498-43B3-948B-1728B52AA6E4}">
                <adec:decorative xmlns:adec="http://schemas.microsoft.com/office/drawing/2017/decorative" val="1"/>
              </a:ext>
            </a:extLst>
          </p:cNvPr>
          <p:cNvSpPr/>
          <p:nvPr/>
        </p:nvSpPr>
        <p:spPr>
          <a:xfrm>
            <a:off x="2512039" y="3090672"/>
            <a:ext cx="162284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golden image">
            <a:extLst>
              <a:ext uri="{C183D7F6-B498-43B3-948B-1728B52AA6E4}">
                <adec:decorative xmlns:adec="http://schemas.microsoft.com/office/drawing/2017/decorative" val="1"/>
              </a:ext>
            </a:extLst>
          </p:cNvPr>
          <p:cNvSpPr/>
          <p:nvPr/>
        </p:nvSpPr>
        <p:spPr>
          <a:xfrm>
            <a:off x="264005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golden image"/>
          <p:cNvSpPr txBox="1"/>
          <p:nvPr/>
        </p:nvSpPr>
        <p:spPr>
          <a:xfrm>
            <a:off x="2804647" y="3214116"/>
            <a:ext cx="143996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golden image</a:t>
            </a:r>
          </a:p>
        </p:txBody>
      </p:sp>
      <p:sp>
        <p:nvSpPr>
          <p:cNvPr id="55" name="!!term-Packer">
            <a:extLst>
              <a:ext uri="{C183D7F6-B498-43B3-948B-1728B52AA6E4}">
                <adec:decorative xmlns:adec="http://schemas.microsoft.com/office/drawing/2017/decorative" val="1"/>
              </a:ext>
            </a:extLst>
          </p:cNvPr>
          <p:cNvSpPr/>
          <p:nvPr/>
        </p:nvSpPr>
        <p:spPr>
          <a:xfrm>
            <a:off x="4281186" y="3090672"/>
            <a:ext cx="100205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Packer">
            <a:extLst>
              <a:ext uri="{C183D7F6-B498-43B3-948B-1728B52AA6E4}">
                <adec:decorative xmlns:adec="http://schemas.microsoft.com/office/drawing/2017/decorative" val="1"/>
              </a:ext>
            </a:extLst>
          </p:cNvPr>
          <p:cNvSpPr/>
          <p:nvPr/>
        </p:nvSpPr>
        <p:spPr>
          <a:xfrm>
            <a:off x="440920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Packer"/>
          <p:cNvSpPr txBox="1"/>
          <p:nvPr/>
        </p:nvSpPr>
        <p:spPr>
          <a:xfrm>
            <a:off x="4573794" y="3214116"/>
            <a:ext cx="81917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Packer</a:t>
            </a:r>
          </a:p>
        </p:txBody>
      </p:sp>
      <p:sp>
        <p:nvSpPr>
          <p:cNvPr id="58" name="!!term-cloud-init">
            <a:extLst>
              <a:ext uri="{C183D7F6-B498-43B3-948B-1728B52AA6E4}">
                <adec:decorative xmlns:adec="http://schemas.microsoft.com/office/drawing/2017/decorative" val="1"/>
              </a:ext>
            </a:extLst>
          </p:cNvPr>
          <p:cNvSpPr/>
          <p:nvPr/>
        </p:nvSpPr>
        <p:spPr>
          <a:xfrm>
            <a:off x="5429549" y="3090672"/>
            <a:ext cx="12616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cloud-init">
            <a:extLst>
              <a:ext uri="{C183D7F6-B498-43B3-948B-1728B52AA6E4}">
                <adec:decorative xmlns:adec="http://schemas.microsoft.com/office/drawing/2017/decorative" val="1"/>
              </a:ext>
            </a:extLst>
          </p:cNvPr>
          <p:cNvSpPr/>
          <p:nvPr/>
        </p:nvSpPr>
        <p:spPr>
          <a:xfrm>
            <a:off x="555756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cloud-init"/>
          <p:cNvSpPr txBox="1"/>
          <p:nvPr/>
        </p:nvSpPr>
        <p:spPr>
          <a:xfrm>
            <a:off x="5722157" y="3214116"/>
            <a:ext cx="107874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cloud-init</a:t>
            </a:r>
          </a:p>
        </p:txBody>
      </p:sp>
      <p:sp>
        <p:nvSpPr>
          <p:cNvPr id="61" name="!!term-user data">
            <a:extLst>
              <a:ext uri="{C183D7F6-B498-43B3-948B-1728B52AA6E4}">
                <adec:decorative xmlns:adec="http://schemas.microsoft.com/office/drawing/2017/decorative" val="1"/>
              </a:ext>
            </a:extLst>
          </p:cNvPr>
          <p:cNvSpPr/>
          <p:nvPr/>
        </p:nvSpPr>
        <p:spPr>
          <a:xfrm>
            <a:off x="6837473" y="3090672"/>
            <a:ext cx="12318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user data">
            <a:extLst>
              <a:ext uri="{C183D7F6-B498-43B3-948B-1728B52AA6E4}">
                <adec:decorative xmlns:adec="http://schemas.microsoft.com/office/drawing/2017/decorative" val="1"/>
              </a:ext>
            </a:extLst>
          </p:cNvPr>
          <p:cNvSpPr/>
          <p:nvPr/>
        </p:nvSpPr>
        <p:spPr>
          <a:xfrm>
            <a:off x="696548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user data"/>
          <p:cNvSpPr txBox="1"/>
          <p:nvPr/>
        </p:nvSpPr>
        <p:spPr>
          <a:xfrm>
            <a:off x="7130081" y="3214116"/>
            <a:ext cx="104901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user data</a:t>
            </a:r>
          </a:p>
        </p:txBody>
      </p:sp>
      <p:sp>
        <p:nvSpPr>
          <p:cNvPr id="64" name="!!term-template">
            <a:extLst>
              <a:ext uri="{C183D7F6-B498-43B3-948B-1728B52AA6E4}">
                <adec:decorative xmlns:adec="http://schemas.microsoft.com/office/drawing/2017/decorative" val="1"/>
              </a:ext>
            </a:extLst>
          </p:cNvPr>
          <p:cNvSpPr/>
          <p:nvPr/>
        </p:nvSpPr>
        <p:spPr>
          <a:xfrm>
            <a:off x="8215668" y="3090672"/>
            <a:ext cx="120133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template">
            <a:extLst>
              <a:ext uri="{C183D7F6-B498-43B3-948B-1728B52AA6E4}">
                <adec:decorative xmlns:adec="http://schemas.microsoft.com/office/drawing/2017/decorative" val="1"/>
              </a:ext>
            </a:extLst>
          </p:cNvPr>
          <p:cNvSpPr/>
          <p:nvPr/>
        </p:nvSpPr>
        <p:spPr>
          <a:xfrm>
            <a:off x="83436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template"/>
          <p:cNvSpPr txBox="1"/>
          <p:nvPr/>
        </p:nvSpPr>
        <p:spPr>
          <a:xfrm>
            <a:off x="8508276" y="3214116"/>
            <a:ext cx="101845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template</a:t>
            </a:r>
          </a:p>
        </p:txBody>
      </p:sp>
      <p:sp>
        <p:nvSpPr>
          <p:cNvPr id="67" name="!!term-configuration ">
            <a:extLst>
              <a:ext uri="{C183D7F6-B498-43B3-948B-1728B52AA6E4}">
                <adec:decorative xmlns:adec="http://schemas.microsoft.com/office/drawing/2017/decorative" val="1"/>
              </a:ext>
            </a:extLst>
          </p:cNvPr>
          <p:cNvSpPr/>
          <p:nvPr/>
        </p:nvSpPr>
        <p:spPr>
          <a:xfrm>
            <a:off x="658368" y="3712464"/>
            <a:ext cx="19971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rmd-configuration ">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termt-configuration "/>
          <p:cNvSpPr txBox="1"/>
          <p:nvPr/>
        </p:nvSpPr>
        <p:spPr>
          <a:xfrm>
            <a:off x="950976" y="3835908"/>
            <a:ext cx="181425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configuration drift</a:t>
            </a:r>
          </a:p>
        </p:txBody>
      </p:sp>
      <p:sp>
        <p:nvSpPr>
          <p:cNvPr id="70" name="!!term-immutable infr">
            <a:extLst>
              <a:ext uri="{C183D7F6-B498-43B3-948B-1728B52AA6E4}">
                <adec:decorative xmlns:adec="http://schemas.microsoft.com/office/drawing/2017/decorative" val="1"/>
              </a:ext>
            </a:extLst>
          </p:cNvPr>
          <p:cNvSpPr/>
          <p:nvPr/>
        </p:nvSpPr>
        <p:spPr>
          <a:xfrm>
            <a:off x="2801810" y="3712464"/>
            <a:ext cx="25564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termd-immutable infr">
            <a:extLst>
              <a:ext uri="{C183D7F6-B498-43B3-948B-1728B52AA6E4}">
                <adec:decorative xmlns:adec="http://schemas.microsoft.com/office/drawing/2017/decorative" val="1"/>
              </a:ext>
            </a:extLst>
          </p:cNvPr>
          <p:cNvSpPr/>
          <p:nvPr/>
        </p:nvSpPr>
        <p:spPr>
          <a:xfrm>
            <a:off x="2929826"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termt-immutable infr"/>
          <p:cNvSpPr txBox="1"/>
          <p:nvPr/>
        </p:nvSpPr>
        <p:spPr>
          <a:xfrm>
            <a:off x="3094418" y="3835908"/>
            <a:ext cx="237358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immutable infrastructure</a:t>
            </a:r>
          </a:p>
        </p:txBody>
      </p:sp>
      <p:sp>
        <p:nvSpPr>
          <p:cNvPr id="73"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7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pfill">
            <a:extLst>
              <a:ext uri="{C183D7F6-B498-43B3-948B-1728B52AA6E4}">
                <adec:decorative xmlns:adec="http://schemas.microsoft.com/office/drawing/2017/decorative" val="1"/>
              </a:ext>
            </a:extLst>
          </p:cNvPr>
          <p:cNvSpPr/>
          <p:nvPr/>
        </p:nvSpPr>
        <p:spPr>
          <a:xfrm>
            <a:off x="0" y="0"/>
            <a:ext cx="103759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125–132     </a:t>
            </a:r>
            <a:fld id="{28DBC675-D7B0-49A8-985F-BF0A1FA63B30}" type="slidenum">
              <a:rPr lang="en-GB" sz="1000">
                <a:solidFill>
                  <a:srgbClr val="8795A1"/>
                </a:solidFill>
                <a:latin typeface="Segoe UI"/>
              </a:rPr>
              <a:t>5</a:t>
            </a:fld>
          </a:p>
        </p:txBody>
      </p:sp>
      <p:sp>
        <p:nvSpPr>
          <p:cNvPr id="7" name="!!ag0" descr="Go to section 16.1 One Host Is Not a Small Fleet">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16.1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One Host Is Not a Small Fleet</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125  ›</a:t>
            </a:r>
          </a:p>
        </p:txBody>
      </p:sp>
      <p:sp>
        <p:nvSpPr>
          <p:cNvPr id="12" name="!!ag1" descr="Go to section 16.2 The Platform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16.2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Platforms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126  ›</a:t>
            </a:r>
          </a:p>
        </p:txBody>
      </p:sp>
      <p:sp>
        <p:nvSpPr>
          <p:cNvPr id="17" name="!!ag2" descr="Go to section 16.3 Infrastructure as Code">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16.3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Infrastructure as Code</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127  ›</a:t>
            </a:r>
          </a:p>
        </p:txBody>
      </p:sp>
      <p:sp>
        <p:nvSpPr>
          <p:cNvPr id="22" name="!!ag3" descr="Go to section 16.4 The Image Pipeline">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16.4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Image Pipeline</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128  ›</a:t>
            </a:r>
          </a:p>
        </p:txBody>
      </p:sp>
      <p:sp>
        <p:nvSpPr>
          <p:cNvPr id="27" name="!!ag4" descr="Go to section 16.5 Drift">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16.5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Drift</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129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29698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One Host Is Not a Small Fleet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16.1   One Host Is Not a Small Fleet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16.2   The Platforms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16.3   Infrastructure as Code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16.4   The Image Pipeline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16.5   Drift</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§16.1     </a:t>
            </a:r>
            <a:fld id="{697FECD8-6BAC-4226-AF18-EF1F16D52368}"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55638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Host Is Not a Small Fleet</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§16.1  ·  Handout p. 125     </a:t>
            </a:r>
            <a:fld id="{E8D6EE47-A216-41C1-8D6A-69A85AC52309}" type="slidenum">
              <a:rPr lang="en-GB" sz="1000">
                <a:solidFill>
                  <a:srgbClr val="8795A1"/>
                </a:solidFill>
                <a:latin typeface="Segoe UI"/>
              </a:rPr>
              <a:t>7</a:t>
            </a:fld>
          </a:p>
        </p:txBody>
      </p:sp>
      <p:graphicFrame>
        <p:nvGraphicFramePr>
          <p:cNvPr id="7" name="!!table"/>
          <p:cNvGraphicFramePr>
            <a:graphicFrameLocks noGrp="1"/>
          </p:cNvGraphicFramePr>
          <p:nvPr/>
        </p:nvGraphicFramePr>
        <p:xfrm>
          <a:off x="658368" y="1737360"/>
          <a:ext cx="10874958" cy="3462528"/>
        </p:xfrm>
        <a:graphic>
          <a:graphicData uri="http://schemas.openxmlformats.org/drawingml/2006/table">
            <a:tbl>
              <a:tblPr firstRow="0" bandRow="0" firstCol="0" lastRow="0" lastCol="0" bandCol="0">
                <a:tableStyleId>{2D5ABB26-0587-4C30-8999-92F81FD0307C}</a:tableStyleId>
              </a:tblPr>
              <a:tblGrid>
                <a:gridCol w="3549465"/>
                <a:gridCol w="3473945"/>
                <a:gridCol w="3851548"/>
              </a:tblGrid>
              <a:tr h="390144">
                <a:tc>
                  <a:txBody>
                    <a:bodyPr wrap="square"/>
                    <a:lstStyle/>
                    <a:p>
                      <a:pPr algn="l"/>
                      <a:r>
                        <a:rPr sz="1600" b="1" i="0">
                          <a:solidFill>
                            <a:srgbClr val="1A5276"/>
                          </a:solidFill>
                          <a:latin typeface="Segoe UI"/>
                        </a:rPr>
                        <a:t>Question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With one host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With twenty</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33984">
                <a:tc>
                  <a:txBody>
                    <a:bodyPr wrap="square"/>
                    <a:lstStyle/>
                    <a:p>
                      <a:pPr algn="l"/>
                      <a:r>
                        <a:rPr sz="1600" b="0" i="0">
                          <a:solidFill>
                            <a:srgbClr val="1C252B"/>
                          </a:solidFill>
                          <a:latin typeface="Segoe UI"/>
                        </a:rPr>
                        <a:t>Where should this guest run?</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There is only one answer</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A placement decision, against current load, affinity rules and licensing</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A host needs patching</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Schedule an outage</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Evacuate it by live migration and patch it with nobody noticing (Chapter 17)</a:t>
                      </a:r>
                      <a:endParaRPr sz="1600"/>
                    </a:p>
                  </a:txBody>
                  <a:tcPr marL="109728" marR="109728" marT="64008" marB="45720" anchor="t">
                    <a:lnL w="0" cmpd="sng">
                      <a:noFill/>
                    </a:lnL>
                    <a:lnR w="0" cmpd="sng">
                      <a:noFill/>
                    </a:lnR>
                    <a:lnT w="9525" cmpd="sng">
                      <a:noFill/>
                    </a:lnT>
                    <a:lnB w="9525" cmpd="sng">
                      <a:noFill/>
                    </a:lnB>
                    <a:solidFill>
                      <a:srgbClr val="F2F8FC"/>
                    </a:solidFill>
                  </a:tcPr>
                </a:tc>
              </a:tr>
              <a:tr h="633984">
                <a:tc>
                  <a:txBody>
                    <a:bodyPr wrap="square"/>
                    <a:lstStyle/>
                    <a:p>
                      <a:pPr algn="l"/>
                      <a:r>
                        <a:rPr sz="1600" b="0" i="0">
                          <a:solidFill>
                            <a:srgbClr val="1C252B"/>
                          </a:solidFill>
                          <a:latin typeface="Segoe UI"/>
                        </a:rPr>
                        <a:t>A host has failed</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Everything on it is down</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The guests should restart elsewhere, automatically, within minutes</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Who may create guests?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Whoever has the root password</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Roles, quotas, an API and an audit trail</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How was this guest built?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Somebody remembers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Nobody remembers, and it matters</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Is the estate consistent?</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Trivially</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Only if something enforces it</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181578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Placement Is the Capability That Pays for the Platform</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§16.1  ·  Handout p. 125     </a:t>
            </a:r>
            <a:fld id="{8F74F0C8-190F-4CD6-9766-D88484F2B269}"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4"/>
          </a:xfrm>
          <a:prstGeom prst="roundRect">
            <a:avLst>
              <a:gd name="adj" fmla="val 207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feature that justifies a management layer commercially is automated placement — VMware calls it DRS, and the others have equivalents.</a:t>
            </a:r>
          </a:p>
        </p:txBody>
      </p:sp>
      <p:sp>
        <p:nvSpPr>
          <p:cNvPr id="10" name="body-1"/>
          <p:cNvSpPr txBox="1"/>
          <p:nvPr/>
        </p:nvSpPr>
        <p:spPr>
          <a:xfrm>
            <a:off x="1060704" y="2899308"/>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cluster continuously measures load and migrates guests between hosts to balance it. That turns twenty hosts from twenty capacity decisions into one, and it makes maintenance routine: put a host in maintenance mode and its guests leave by themselves.</a:t>
            </a:r>
          </a:p>
        </p:txBody>
      </p:sp>
      <p:sp>
        <p:nvSpPr>
          <p:cNvPr id="11" name="body-2"/>
          <p:cNvSpPr txBox="1"/>
          <p:nvPr/>
        </p:nvSpPr>
        <p:spPr>
          <a:xfrm>
            <a:off x="1060704" y="4447743"/>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It also changes the sizing arithmetic of Chapter 6. A single host must be sized for the peak of everything on it. A balanced cluster need only be sized for the peak of the </a:t>
            </a:r>
            <a:r>
              <a:rPr sz="2200" b="0" i="1">
                <a:solidFill>
                  <a:srgbClr val="1C252B"/>
                </a:solidFill>
                <a:latin typeface="Segoe UI"/>
              </a:rPr>
              <a:t>aggregate</a:t>
            </a:r>
            <a:r>
              <a:rPr sz="2200" b="0" i="0">
                <a:solidFill>
                  <a:srgbClr val="1C252B"/>
                </a:solidFill>
                <a:latin typeface="Segoe UI"/>
              </a:rPr>
              <a:t>, and peaks that do not coincide stop needing separate headroom — commonly 15–25% less hardware for the same service.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07518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shape every platform in this chapter has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16.1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§16.1  ·  Handout p. 125     </a:t>
            </a:r>
            <a:fld id="{08AE82FC-B684-47C1-BEDC-604EE426A8C7}" type="slidenum">
              <a:rPr lang="en-GB" sz="1000">
                <a:solidFill>
                  <a:srgbClr val="8795A1"/>
                </a:solidFill>
                <a:latin typeface="Segoe UI"/>
              </a:rPr>
              <a:t>9</a:t>
            </a:fld>
          </a:p>
        </p:txBody>
      </p:sp>
      <p:pic>
        <p:nvPicPr>
          <p:cNvPr id="6" name="!!figure" descr="Figure 16.1. The shape every platform in this chapter has. The interesting differences are in scope — how much of the stack the platform claims — not in this diagram."/>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73753"/>
            <a:ext cx="10874959" cy="3230557"/>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interesting differences are in scope — how much of the stack the platform claims — not in this diagram.</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33457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Platforms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16.1   One Host Is Not a Small Fleet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16.2   The Platforms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16.3   Infrastructure as Code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16.4   The Image Pipeline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16.5   Drift</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§16.2     </a:t>
            </a:r>
            <a:fld id="{B1D9D7BC-444B-4145-8EAA-AAC66B22573B}" type="slidenum">
              <a:rPr lang="en-GB" sz="1000">
                <a:solidFill>
                  <a:srgbClr val="8795A1"/>
                </a:solidFill>
                <a:latin typeface="Segoe UI"/>
              </a:rPr>
              <a:t>10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59397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Platforms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§16.2  ·  Handout p. 126     </a:t>
            </a:r>
            <a:fld id="{4E259FEA-C722-4D56-948C-6BB6F10246B5}" type="slidenum">
              <a:rPr lang="en-GB" sz="1000">
                <a:solidFill>
                  <a:srgbClr val="8795A1"/>
                </a:solidFill>
                <a:latin typeface="Segoe UI"/>
              </a:rPr>
              <a:t>11</a:t>
            </a:fld>
          </a:p>
        </p:txBody>
      </p:sp>
      <p:graphicFrame>
        <p:nvGraphicFramePr>
          <p:cNvPr id="7" name="!!table"/>
          <p:cNvGraphicFramePr>
            <a:graphicFrameLocks noGrp="1"/>
          </p:cNvGraphicFramePr>
          <p:nvPr/>
        </p:nvGraphicFramePr>
        <p:xfrm>
          <a:off x="658368" y="1737360"/>
          <a:ext cx="10874957" cy="3864861"/>
        </p:xfrm>
        <a:graphic>
          <a:graphicData uri="http://schemas.openxmlformats.org/drawingml/2006/table">
            <a:tbl>
              <a:tblPr firstRow="0" bandRow="0" firstCol="0" lastRow="0" lastCol="0" bandCol="0">
                <a:tableStyleId>{2D5ABB26-0587-4C30-8999-92F81FD0307C}</a:tableStyleId>
              </a:tblPr>
              <a:tblGrid>
                <a:gridCol w="1888013"/>
                <a:gridCol w="2265616"/>
                <a:gridCol w="3322904"/>
                <a:gridCol w="3398424"/>
              </a:tblGrid>
              <a:tr h="359664">
                <a:tc>
                  <a:txBody>
                    <a:bodyPr wrap="square"/>
                    <a:lstStyle/>
                    <a:p>
                      <a:pPr algn="l"/>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Manages</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Scope</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Choose it when</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786383">
                <a:tc>
                  <a:txBody>
                    <a:bodyPr wrap="square"/>
                    <a:lstStyle/>
                    <a:p>
                      <a:pPr algn="l"/>
                      <a:r>
                        <a:rPr sz="1400" b="1" i="0">
                          <a:solidFill>
                            <a:srgbClr val="1A5276"/>
                          </a:solidFill>
                          <a:latin typeface="Segoe UI"/>
                        </a:rPr>
                        <a:t>vCenter</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ESXi</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One cluster to a few thousand hosts; the most mature operational tooling there is</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You have bought vSphere, and your staff know it</a:t>
                      </a:r>
                      <a:endParaRPr sz="1400"/>
                    </a:p>
                  </a:txBody>
                  <a:tcPr marL="109728" marR="109728" marT="64008" marB="45720" anchor="t">
                    <a:lnL w="0" cmpd="sng">
                      <a:noFill/>
                    </a:lnL>
                    <a:lnR w="0" cmpd="sng">
                      <a:noFill/>
                    </a:lnR>
                    <a:lnT w="9525" cmpd="sng">
                      <a:noFill/>
                    </a:lnT>
                    <a:lnB w="9525" cmpd="sng">
                      <a:noFill/>
                    </a:lnB>
                    <a:solidFill>
                      <a:srgbClr val="FFFFFF"/>
                    </a:solidFill>
                  </a:tcPr>
                </a:tc>
              </a:tr>
              <a:tr h="573024">
                <a:tc>
                  <a:txBody>
                    <a:bodyPr wrap="square"/>
                    <a:lstStyle/>
                    <a:p>
                      <a:pPr algn="l"/>
                      <a:r>
                        <a:rPr sz="1400" b="1" i="0">
                          <a:solidFill>
                            <a:srgbClr val="1A5276"/>
                          </a:solidFill>
                          <a:latin typeface="Segoe UI"/>
                        </a:rPr>
                        <a:t>SCVMM</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Hyper-V</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Fleet management inside a Microsoft estate, with System Center</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The estate is already Windows and licensed</a:t>
                      </a:r>
                      <a:endParaRPr sz="1400"/>
                    </a:p>
                  </a:txBody>
                  <a:tcPr marL="109728" marR="109728" marT="64008" marB="45720" anchor="t">
                    <a:lnL w="0" cmpd="sng">
                      <a:noFill/>
                    </a:lnL>
                    <a:lnR w="0" cmpd="sng">
                      <a:noFill/>
                    </a:lnR>
                    <a:lnT w="9525" cmpd="sng">
                      <a:noFill/>
                    </a:lnT>
                    <a:lnB w="9525" cmpd="sng">
                      <a:noFill/>
                    </a:lnB>
                    <a:solidFill>
                      <a:srgbClr val="F2F8FC"/>
                    </a:solidFill>
                  </a:tcPr>
                </a:tc>
              </a:tr>
              <a:tr h="573024">
                <a:tc>
                  <a:txBody>
                    <a:bodyPr wrap="square"/>
                    <a:lstStyle/>
                    <a:p>
                      <a:pPr algn="l"/>
                      <a:r>
                        <a:rPr sz="1400" b="1" i="0">
                          <a:solidFill>
                            <a:srgbClr val="1A5276"/>
                          </a:solidFill>
                          <a:latin typeface="Segoe UI"/>
                        </a:rPr>
                        <a:t>oVirt</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KVM</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The open equivalent of vCenter; Red Hat Virtualization was built on it</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You want vCenter’s shape without the licence</a:t>
                      </a:r>
                      <a:endParaRPr sz="1400"/>
                    </a:p>
                  </a:txBody>
                  <a:tcPr marL="109728" marR="109728" marT="64008" marB="45720" anchor="t">
                    <a:lnL w="0" cmpd="sng">
                      <a:noFill/>
                    </a:lnL>
                    <a:lnR w="0" cmpd="sng">
                      <a:noFill/>
                    </a:lnR>
                    <a:lnT w="9525" cmpd="sng">
                      <a:noFill/>
                    </a:lnT>
                    <a:lnB w="9525" cmpd="sng">
                      <a:noFill/>
                    </a:lnB>
                    <a:solidFill>
                      <a:srgbClr val="FFFFFF"/>
                    </a:solidFill>
                  </a:tcPr>
                </a:tc>
              </a:tr>
              <a:tr h="786383">
                <a:tc>
                  <a:txBody>
                    <a:bodyPr wrap="square"/>
                    <a:lstStyle/>
                    <a:p>
                      <a:pPr algn="l"/>
                      <a:r>
                        <a:rPr sz="1400" b="1" i="0">
                          <a:solidFill>
                            <a:srgbClr val="1A5276"/>
                          </a:solidFill>
                          <a:latin typeface="Segoe UI"/>
                        </a:rPr>
                        <a:t>Proxmox VE</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KVM and LXC</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Hypervisor, containers, storage, backup and clustering in one installable product</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Small to medium estates; it has taken a visible share of the post-2024 VMware migrations</a:t>
                      </a:r>
                      <a:endParaRPr sz="1400"/>
                    </a:p>
                  </a:txBody>
                  <a:tcPr marL="109728" marR="109728" marT="64008" marB="45720" anchor="t">
                    <a:lnL w="0" cmpd="sng">
                      <a:noFill/>
                    </a:lnL>
                    <a:lnR w="0" cmpd="sng">
                      <a:noFill/>
                    </a:lnR>
                    <a:lnT w="9525" cmpd="sng">
                      <a:noFill/>
                    </a:lnT>
                    <a:lnB w="9525" cmpd="sng">
                      <a:noFill/>
                    </a:lnB>
                    <a:solidFill>
                      <a:srgbClr val="F2F8FC"/>
                    </a:solidFill>
                  </a:tcPr>
                </a:tc>
              </a:tr>
              <a:tr h="786383">
                <a:tc>
                  <a:txBody>
                    <a:bodyPr wrap="square"/>
                    <a:lstStyle/>
                    <a:p>
                      <a:pPr algn="l"/>
                      <a:r>
                        <a:rPr sz="1400" b="1" i="0">
                          <a:solidFill>
                            <a:srgbClr val="1A5276"/>
                          </a:solidFill>
                          <a:latin typeface="Segoe UI"/>
                        </a:rPr>
                        <a:t>OpenStack</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Segoe UI"/>
                        </a:rPr>
                        <a:t>KVM mostly</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Segoe UI"/>
                        </a:rPr>
                        <a:t>An entire </a:t>
                      </a:r>
                      <a:r>
                        <a:rPr sz="1400" b="0" i="1">
                          <a:solidFill>
                            <a:srgbClr val="1C252B"/>
                          </a:solidFill>
                          <a:latin typeface="Segoe UI"/>
                        </a:rPr>
                        <a:t>cloud</a:t>
                      </a:r>
                      <a:r>
                        <a:rPr sz="1400" b="0" i="0">
                          <a:solidFill>
                            <a:srgbClr val="1C252B"/>
                          </a:solidFill>
                          <a:latin typeface="Segoe UI"/>
                        </a:rPr>
                        <a:t>: multi-tenancy, quotas, metering, object store, identity, orchestration</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Segoe UI"/>
                        </a:rPr>
                        <a:t>You are building a cloud for other people, not managing servers</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85337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OpenStack is not in the same category as the others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§16.2  ·  Handout p. 126     </a:t>
            </a:r>
            <a:fld id="{FDBB00D6-FA08-4BDD-8ADC-7EAC7A98CEF0}"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43578"/>
          </a:xfrm>
          <a:prstGeom prst="roundRect">
            <a:avLst>
              <a:gd name="adj" fmla="val 2154"/>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43578"/>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It is routinely compared with vCenter and the comparison misleads in both directions.</a:t>
            </a:r>
          </a:p>
        </p:txBody>
      </p:sp>
      <p:sp>
        <p:nvSpPr>
          <p:cNvPr id="10" name="body-1"/>
          <p:cNvSpPr txBox="1"/>
          <p:nvPr/>
        </p:nvSpPr>
        <p:spPr>
          <a:xfrm>
            <a:off x="1060704" y="2860624"/>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vCenter manages </a:t>
            </a:r>
            <a:r>
              <a:rPr sz="2100" b="0" i="1">
                <a:solidFill>
                  <a:srgbClr val="1C252B"/>
                </a:solidFill>
                <a:latin typeface="Segoe UI"/>
              </a:rPr>
              <a:t>your</a:t>
            </a:r>
            <a:r>
              <a:rPr sz="2100" b="0" i="0">
                <a:solidFill>
                  <a:srgbClr val="1C252B"/>
                </a:solidFill>
                <a:latin typeface="Segoe UI"/>
              </a:rPr>
              <a:t> servers for </a:t>
            </a:r>
            <a:r>
              <a:rPr sz="2100" b="0" i="1">
                <a:solidFill>
                  <a:srgbClr val="1C252B"/>
                </a:solidFill>
                <a:latin typeface="Segoe UI"/>
              </a:rPr>
              <a:t>your</a:t>
            </a:r>
            <a:r>
              <a:rPr sz="2100" b="0" i="0">
                <a:solidFill>
                  <a:srgbClr val="1C252B"/>
                </a:solidFill>
                <a:latin typeface="Segoe UI"/>
              </a:rPr>
              <a:t> staff. OpenStack provides a </a:t>
            </a:r>
            <a:r>
              <a:rPr sz="2100" b="0" i="1">
                <a:solidFill>
                  <a:srgbClr val="1C252B"/>
                </a:solidFill>
                <a:latin typeface="Segoe UI"/>
              </a:rPr>
              <a:t>cloud</a:t>
            </a:r>
            <a:r>
              <a:rPr sz="2100" b="0" i="0">
                <a:solidFill>
                  <a:srgbClr val="1C252B"/>
                </a:solidFill>
                <a:latin typeface="Segoe UI"/>
              </a:rPr>
              <a:t> — the five NIST characteristics of Chapter 14, including tenants, quotas, metering and an API contract you offer to others. It is roughly a dozen interacting services, and that is because the problem is bigger, not because it is badly engineered.</a:t>
            </a:r>
          </a:p>
        </p:txBody>
      </p:sp>
      <p:sp>
        <p:nvSpPr>
          <p:cNvPr id="11" name="body-2"/>
          <p:cNvSpPr txBox="1"/>
          <p:nvPr/>
        </p:nvSpPr>
        <p:spPr>
          <a:xfrm>
            <a:off x="1060704" y="4338675"/>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practical consequence: OpenStack rewards an organisation with a dedicated platform team and punishes one without. Several well-known deployments were abandoned for exactly this reason. If what you need is to run two hundred guests for your own department, it is the wrong tool and Proxmox or oVirt is the right one.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11277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Infrastructure as Code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16.1   One Host Is Not a Small Fleet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16.2   The Platforms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16.3   Infrastructure as Code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16.4   The Image Pipeline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16.5   Drift</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§16.3     </a:t>
            </a:r>
            <a:fld id="{8EE768F7-19DC-4A23-B926-A125704F66AC}" type="slidenum">
              <a:rPr lang="en-GB" sz="1000">
                <a:solidFill>
                  <a:srgbClr val="8795A1"/>
                </a:solidFill>
                <a:latin typeface="Segoe UI"/>
              </a:rPr>
              <a:t>13</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37217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Declarative, Idempotent, and the State File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§16.3  ·  Handout p. 127     </a:t>
            </a:r>
            <a:fld id="{A440DE1A-EB07-4AC6-A644-B140D60A5E87}"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7352"/>
          </a:xfrm>
          <a:prstGeom prst="roundRect">
            <a:avLst>
              <a:gd name="adj" fmla="val 2248"/>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735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declarative tool is given the desired end state, not the steps. Terraform’s loop is </a:t>
            </a:r>
            <a:r>
              <a:rPr sz="2200" b="0" i="1">
                <a:solidFill>
                  <a:srgbClr val="1C252B"/>
                </a:solidFill>
                <a:latin typeface="Segoe UI"/>
              </a:rPr>
              <a:t>plan</a:t>
            </a:r>
            <a:r>
              <a:rPr sz="2200" b="0" i="0">
                <a:solidFill>
                  <a:srgbClr val="1C252B"/>
                </a:solidFill>
                <a:latin typeface="Segoe UI"/>
              </a:rPr>
              <a:t> — compare desired with actual and show the difference — then </a:t>
            </a:r>
            <a:r>
              <a:rPr sz="2200" b="0" i="1">
                <a:solidFill>
                  <a:srgbClr val="1C252B"/>
                </a:solidFill>
                <a:latin typeface="Segoe UI"/>
              </a:rPr>
              <a:t>apply</a:t>
            </a:r>
            <a:r>
              <a:rPr sz="2200" b="0" i="0">
                <a:solidFill>
                  <a:srgbClr val="1C252B"/>
                </a:solidFill>
                <a:latin typeface="Segoe UI"/>
              </a:rPr>
              <a:t>.</a:t>
            </a:r>
          </a:p>
        </p:txBody>
      </p:sp>
      <p:sp>
        <p:nvSpPr>
          <p:cNvPr id="10" name="body-1"/>
          <p:cNvSpPr txBox="1"/>
          <p:nvPr/>
        </p:nvSpPr>
        <p:spPr>
          <a:xfrm>
            <a:off x="1060704" y="2899308"/>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1A5276"/>
                </a:solidFill>
                <a:latin typeface="Segoe UI"/>
              </a:rPr>
              <a:t>Idempotent</a:t>
            </a:r>
            <a:r>
              <a:rPr sz="2200" b="0" i="0">
                <a:solidFill>
                  <a:srgbClr val="1C252B"/>
                </a:solidFill>
                <a:latin typeface="Segoe UI"/>
              </a:rPr>
              <a:t> means applying the same definition twice changes nothing the second time. This is what makes the tool safe to run on a schedule, and it is the property a shell script of </a:t>
            </a:r>
            <a:r>
              <a:rPr sz="2050" b="0" i="0">
                <a:solidFill>
                  <a:srgbClr val="1F4E79"/>
                </a:solidFill>
                <a:latin typeface="Consolas"/>
              </a:rPr>
              <a:t>virsh</a:t>
            </a:r>
            <a:r>
              <a:rPr sz="2200" b="0" i="0">
                <a:solidFill>
                  <a:srgbClr val="1C252B"/>
                </a:solidFill>
                <a:latin typeface="Segoe UI"/>
              </a:rPr>
              <a:t> commands does not have.</a:t>
            </a:r>
          </a:p>
        </p:txBody>
      </p:sp>
      <p:sp>
        <p:nvSpPr>
          <p:cNvPr id="11" name="body-2"/>
          <p:cNvSpPr txBox="1"/>
          <p:nvPr/>
        </p:nvSpPr>
        <p:spPr>
          <a:xfrm>
            <a:off x="1060704" y="4099052"/>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To compare desired with actual, the tool must know which real objects it created. That is the </a:t>
            </a:r>
            <a:r>
              <a:rPr sz="2200" b="1" i="0">
                <a:solidFill>
                  <a:srgbClr val="1A5276"/>
                </a:solidFill>
                <a:latin typeface="Segoe UI"/>
              </a:rPr>
              <a:t>state file</a:t>
            </a:r>
            <a:r>
              <a:rPr sz="2200" b="0" i="0">
                <a:solidFill>
                  <a:srgbClr val="1C252B"/>
                </a:solidFill>
                <a:latin typeface="Segoe UI"/>
              </a:rPr>
              <a:t>, and it is the part that bites: it is authoritative, it contains secrets, and two people applying at once will corrupt it. Keep it in remote storage with locking, never in the repository.</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63156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Automation Is Worth, and When It Is Not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§16.3  ·  Handout p. 127     </a:t>
            </a:r>
            <a:fld id="{086D2F7D-4029-4CCE-A116-0AD75EBD28DE}"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6488"/>
          </a:xfrm>
          <a:prstGeom prst="roundRect">
            <a:avLst>
              <a:gd name="adj" fmla="val 206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6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team provisions guests by hand: 45 minutes each, including the ticket, the console work and the follow-up corrections. They provision about 12 a month and reconfigure about 30. Decide whether to adopt Terraform.</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the current cost.</a:t>
            </a:r>
          </a:p>
        </p:txBody>
      </p:sp>
      <p:pic>
        <p:nvPicPr>
          <p:cNvPr id="11" name="body-2" descr="12 \times 45 = 540 \text{ min} = 9 \text{ h a month on new guest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481679"/>
            <a:ext cx="10234879" cy="324520"/>
          </a:xfrm>
          <a:prstGeom prst="rect">
            <a:avLst/>
          </a:prstGeom>
        </p:spPr>
      </p:pic>
      <p:sp>
        <p:nvSpPr>
          <p:cNvPr id="12" name="body-3"/>
          <p:cNvSpPr txBox="1"/>
          <p:nvPr/>
        </p:nvSpPr>
        <p:spPr>
          <a:xfrm>
            <a:off x="1042416" y="3938915"/>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Reconfigurations average 20 minutes:</a:t>
            </a:r>
          </a:p>
        </p:txBody>
      </p:sp>
      <p:pic>
        <p:nvPicPr>
          <p:cNvPr id="13" name="body-4" descr="30 \times 20 = 600 \text{ min} = 10 \text{ h a month}"/>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372772"/>
            <a:ext cx="10234879" cy="324520"/>
          </a:xfrm>
          <a:prstGeom prst="rect">
            <a:avLst/>
          </a:prstGeom>
        </p:spPr>
      </p:pic>
      <p:pic>
        <p:nvPicPr>
          <p:cNvPr id="14" name="body-5" descr="\text{total} = 19 \text{ h a month} = \mathbf{228 \text{ h a yea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4830008"/>
            <a:ext cx="10234879" cy="324520"/>
          </a:xfrm>
          <a:prstGeom prst="rect">
            <a:avLst/>
          </a:prstGeom>
        </p:spPr>
      </p:pic>
      <p:sp>
        <p:nvSpPr>
          <p:cNvPr id="15" name="body-6"/>
          <p:cNvSpPr txBox="1"/>
          <p:nvPr/>
        </p:nvSpPr>
        <p:spPr>
          <a:xfrm>
            <a:off x="1042416" y="5287243"/>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the cost after.</a:t>
            </a:r>
            <a:r>
              <a:rPr sz="1900" b="0" i="0">
                <a:solidFill>
                  <a:srgbClr val="1C252B"/>
                </a:solidFill>
                <a:latin typeface="Segoe UI"/>
              </a:rPr>
              <a:t> Writing the module takes 3 days, 24 hours, once. A new guest is then 5 minutes of editing and review; a reconfiguration is 3 minutes:</a:t>
            </a:r>
          </a:p>
        </p:txBody>
      </p:sp>
      <p:sp>
        <p:nvSpPr>
          <p:cNvPr id="16" name="body-6bar">
            <a:extLst>
              <a:ext uri="{C183D7F6-B498-43B3-948B-1728B52AA6E4}">
                <adec:decorative xmlns:adec="http://schemas.microsoft.com/office/drawing/2017/decorative" val="1"/>
              </a:ext>
            </a:extLst>
          </p:cNvPr>
          <p:cNvSpPr/>
          <p:nvPr/>
        </p:nvSpPr>
        <p:spPr>
          <a:xfrm>
            <a:off x="841248" y="5305531"/>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389096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right)">
                                      <p:cBhvr>
                                        <p:cTn id="33" dur="42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Automation Is Worth, and When It Is Not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§16.3  ·  Handout p. 127     </a:t>
            </a:r>
            <a:fld id="{77C3C494-C2D2-4E49-8376-25E25F184438}"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92631"/>
          </a:xfrm>
          <a:prstGeom prst="roundRect">
            <a:avLst>
              <a:gd name="adj" fmla="val 229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9263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12 \times 5 + 30 \times 3 = 60 + 90 = 150 \text{ min} = 2.5 \text{ h a month}"/>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324520"/>
          </a:xfrm>
          <a:prstGeom prst="rect">
            <a:avLst/>
          </a:prstGeom>
        </p:spPr>
      </p:pic>
      <p:pic>
        <p:nvPicPr>
          <p:cNvPr id="10" name="body-1" descr="= 30 \text{ h a year, plus } 24 \text{ h to build}"/>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2468915"/>
            <a:ext cx="10234879" cy="324520"/>
          </a:xfrm>
          <a:prstGeom prst="rect">
            <a:avLst/>
          </a:prstGeom>
        </p:spPr>
      </p:pic>
      <p:sp>
        <p:nvSpPr>
          <p:cNvPr id="11" name="body-2"/>
          <p:cNvSpPr txBox="1"/>
          <p:nvPr/>
        </p:nvSpPr>
        <p:spPr>
          <a:xfrm>
            <a:off x="1042416" y="2926151"/>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first-year saving.</a:t>
            </a:r>
          </a:p>
        </p:txBody>
      </p:sp>
      <p:sp>
        <p:nvSpPr>
          <p:cNvPr id="12" name="body-2bar">
            <a:extLst>
              <a:ext uri="{C183D7F6-B498-43B3-948B-1728B52AA6E4}">
                <adec:decorative xmlns:adec="http://schemas.microsoft.com/office/drawing/2017/decorative" val="1"/>
              </a:ext>
            </a:extLst>
          </p:cNvPr>
          <p:cNvSpPr/>
          <p:nvPr/>
        </p:nvSpPr>
        <p:spPr>
          <a:xfrm>
            <a:off x="841248" y="2944439"/>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3" name="body-3" descr="228 - (30 + 24) = \mathbf{174 \text{ hour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3360008"/>
            <a:ext cx="10234879" cy="324520"/>
          </a:xfrm>
          <a:prstGeom prst="rect">
            <a:avLst/>
          </a:prstGeom>
        </p:spPr>
      </p:pic>
      <p:sp>
        <p:nvSpPr>
          <p:cNvPr id="14" name="body-4"/>
          <p:cNvSpPr txBox="1"/>
          <p:nvPr/>
        </p:nvSpPr>
        <p:spPr>
          <a:xfrm>
            <a:off x="1042416" y="381724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and 198 hours in every year after. The build pays for itself in about seven weeks.</a:t>
            </a:r>
          </a:p>
        </p:txBody>
      </p:sp>
      <p:sp>
        <p:nvSpPr>
          <p:cNvPr id="15" name="body-5"/>
          <p:cNvSpPr txBox="1"/>
          <p:nvPr/>
        </p:nvSpPr>
        <p:spPr>
          <a:xfrm>
            <a:off x="1042416" y="4251101"/>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the benefit that is not in the arithmetic.</a:t>
            </a:r>
            <a:r>
              <a:rPr sz="1900" b="0" i="0">
                <a:solidFill>
                  <a:srgbClr val="1C252B"/>
                </a:solidFill>
                <a:latin typeface="Segoe UI"/>
              </a:rPr>
              <a:t> The 45 minutes included “follow-up corrections” — guests built slightly differently from each other, discovered later. Those corrections do not merely take time; they are the </a:t>
            </a:r>
            <a:r>
              <a:rPr sz="1900" b="0" i="1">
                <a:solidFill>
                  <a:srgbClr val="1C252B"/>
                </a:solidFill>
                <a:latin typeface="Segoe UI"/>
              </a:rPr>
              <a:t>drift</a:t>
            </a:r>
            <a:r>
              <a:rPr sz="1900" b="0" i="0">
                <a:solidFill>
                  <a:srgbClr val="1C252B"/>
                </a:solidFill>
                <a:latin typeface="Segoe UI"/>
              </a:rPr>
              <a:t> of the next section, and the saving from eliminating them is larger than the 174 hours and much harder to measure.</a:t>
            </a:r>
          </a:p>
        </p:txBody>
      </p:sp>
      <p:sp>
        <p:nvSpPr>
          <p:cNvPr id="16" name="body-5bar">
            <a:extLst>
              <a:ext uri="{C183D7F6-B498-43B3-948B-1728B52AA6E4}">
                <adec:decorative xmlns:adec="http://schemas.microsoft.com/office/drawing/2017/decorative" val="1"/>
              </a:ext>
            </a:extLst>
          </p:cNvPr>
          <p:cNvSpPr/>
          <p:nvPr/>
        </p:nvSpPr>
        <p:spPr>
          <a:xfrm>
            <a:off x="841248" y="4269389"/>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pfill">
            <a:extLst>
              <a:ext uri="{C183D7F6-B498-43B3-948B-1728B52AA6E4}">
                <adec:decorative xmlns:adec="http://schemas.microsoft.com/office/drawing/2017/decorative" val="1"/>
              </a:ext>
            </a:extLst>
          </p:cNvPr>
          <p:cNvSpPr/>
          <p:nvPr/>
        </p:nvSpPr>
        <p:spPr>
          <a:xfrm>
            <a:off x="0" y="0"/>
            <a:ext cx="415036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2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right)">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42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Automation Is Worth, and When It Is Not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§16.3  ·  Handout p. 127     </a:t>
            </a:r>
            <a:fld id="{516D07C4-AA32-40D8-8FF0-F86904172C1C}"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789351"/>
          </a:xfrm>
          <a:prstGeom prst="roundRect">
            <a:avLst>
              <a:gd name="adj" fmla="val 327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78935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and the honest case against.</a:t>
            </a:r>
            <a:r>
              <a:rPr sz="1900" b="0" i="0">
                <a:solidFill>
                  <a:srgbClr val="1C252B"/>
                </a:solidFill>
                <a:latin typeface="Segoe UI"/>
              </a:rPr>
              <a:t> Change the inputs and the answer inverts. A team provisioning </a:t>
            </a:r>
            <a:r>
              <a:rPr sz="1900" b="0" i="1">
                <a:solidFill>
                  <a:srgbClr val="1C252B"/>
                </a:solidFill>
                <a:latin typeface="Segoe UI"/>
              </a:rPr>
              <a:t>one</a:t>
            </a:r>
            <a:r>
              <a:rPr sz="1900" b="0" i="0">
                <a:solidFill>
                  <a:srgbClr val="1C252B"/>
                </a:solidFill>
                <a:latin typeface="Segoe UI"/>
              </a:rPr>
              <a:t> guest a month saves </a:t>
            </a:r>
            <a:r>
              <a:rPr sz="1900" b="0" i="0">
                <a:solidFill>
                  <a:srgbClr val="1C252B"/>
                </a:solidFill>
                <a:latin typeface="Cambria"/>
              </a:rPr>
              <a:t>12 × 40 = 8</a:t>
            </a:r>
            <a:r>
              <a:rPr sz="1900" b="0" i="0">
                <a:solidFill>
                  <a:srgbClr val="1C252B"/>
                </a:solidFill>
                <a:latin typeface="Segoe UI"/>
              </a:rPr>
              <a:t> hours a year against a 24-hour build and an ongoing maintenance burden — a clear loss. Automation pays at volume and at repetition, and a tool adopted below that threshold is a liability maintained by someone who uses it too rarely to remember it.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65010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threshold explicitly before adopting: </a:t>
            </a:r>
            <a:r>
              <a:rPr sz="1900" b="0" i="1">
                <a:solidFill>
                  <a:srgbClr val="1C252B"/>
                </a:solidFill>
                <a:latin typeface="Segoe UI"/>
              </a:rPr>
              <a:t>how many of these do we do, and how alike are they?</a:t>
            </a: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440976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Image Pipeline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16.1   One Host Is Not a Small Fleet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16.2   The Platforms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16.3   Infrastructure as Code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16.4   The Image Pipeline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16.5   Drift</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§16.4     </a:t>
            </a:r>
            <a:fld id="{BDEF1B78-5A77-40BA-874B-399D96AE79CB}" type="slidenum">
              <a:rPr lang="en-GB" sz="1000">
                <a:solidFill>
                  <a:srgbClr val="8795A1"/>
                </a:solidFill>
                <a:latin typeface="Segoe UI"/>
              </a:rPr>
              <a:t>18</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66915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pipeline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16.2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128     </a:t>
            </a:r>
            <a:fld id="{50EE7A44-6F64-4B20-B350-E309AA9BD4E9}" type="slidenum">
              <a:rPr lang="en-GB" sz="1000">
                <a:solidFill>
                  <a:srgbClr val="8795A1"/>
                </a:solidFill>
                <a:latin typeface="Segoe UI"/>
              </a:rPr>
              <a:t>19</a:t>
            </a:fld>
          </a:p>
        </p:txBody>
      </p:sp>
      <p:pic>
        <p:nvPicPr>
          <p:cNvPr id="6" name="!!figure" descr="Figure 16.2. The pipeline. The dashed arrow is the discipline: the only supported way to change what a guest contains is to change the image and re-instantiat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93602" y="1737360"/>
            <a:ext cx="7804489"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dashed arrow is the discipline: the only supported way to change what a guest contains is to change the image and re-instantiate.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92855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cloud-init: the last mile, every boot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128     </a:t>
            </a:r>
            <a:fld id="{D4F97342-84DC-44BA-B3F9-7A5022196C2E}"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golden image must be identical for every guest, and every guest must be different — different hostname, address, keys, role. </a:t>
            </a:r>
            <a:r>
              <a:rPr sz="2000" b="1" i="0">
                <a:solidFill>
                  <a:srgbClr val="1A5276"/>
                </a:solidFill>
                <a:latin typeface="Segoe UI"/>
              </a:rPr>
              <a:t>cloud-init</a:t>
            </a:r>
            <a:r>
              <a:rPr sz="2000" b="0" i="0">
                <a:solidFill>
                  <a:srgbClr val="1C252B"/>
                </a:solidFill>
                <a:latin typeface="Segoe UI"/>
              </a:rPr>
              <a:t> resolves the contradiction: it runs on first boot, reads </a:t>
            </a:r>
            <a:r>
              <a:rPr sz="2000" b="1" i="0">
                <a:solidFill>
                  <a:srgbClr val="1A5276"/>
                </a:solidFill>
                <a:latin typeface="Segoe UI"/>
              </a:rPr>
              <a:t>user data</a:t>
            </a:r>
            <a:r>
              <a:rPr sz="2000" b="0" i="0">
                <a:solidFill>
                  <a:srgbClr val="1C252B"/>
                </a:solidFill>
                <a:latin typeface="Segoe UI"/>
              </a:rPr>
              <a:t> from the platform’s metadata service, and applies it.</a:t>
            </a:r>
          </a:p>
        </p:txBody>
      </p:sp>
      <p:sp>
        <p:nvSpPr>
          <p:cNvPr id="10" name="body-1"/>
          <p:cNvSpPr txBox="1"/>
          <p:nvPr/>
        </p:nvSpPr>
        <p:spPr>
          <a:xfrm>
            <a:off x="1060704" y="3138931"/>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It is why the Chapter 1 lab could hand a downloaded cloud image a password in a two-line YAML file and have it work. Every cloud in Chapter 14 supports it, and so do libvirt, Proxmox and VMware, which is why one image can be built once and used everywhere.</a:t>
            </a:r>
          </a:p>
        </p:txBody>
      </p:sp>
      <p:sp>
        <p:nvSpPr>
          <p:cNvPr id="11" name="body-2"/>
          <p:cNvSpPr txBox="1"/>
          <p:nvPr/>
        </p:nvSpPr>
        <p:spPr>
          <a:xfrm>
            <a:off x="1060704" y="4546599"/>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rule that follows: </a:t>
            </a:r>
            <a:r>
              <a:rPr sz="2000" b="0" i="1">
                <a:solidFill>
                  <a:srgbClr val="1C252B"/>
                </a:solidFill>
                <a:latin typeface="Segoe UI"/>
              </a:rPr>
              <a:t>anything that differs between guests belongs in user data, and anything that is the same belongs in the image.</a:t>
            </a:r>
            <a:r>
              <a:rPr sz="2000" b="0" i="0">
                <a:solidFill>
                  <a:srgbClr val="1C252B"/>
                </a:solidFill>
                <a:latin typeface="Segoe UI"/>
              </a:rPr>
              <a:t> Put a hostname in the image and you will clone a hostname conflict; put a patch in user data and you will apply it at every boot for ever.</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18795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Converge, or Replace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FC9DC151-0529-435C-9719-CCE3A06D0841}"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00930"/>
          </a:xfrm>
          <a:prstGeom prst="roundRect">
            <a:avLst>
              <a:gd name="adj" fmla="val 203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0093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F618D"/>
                </a:solidFill>
                <a:latin typeface="Segoe UI"/>
              </a:rPr>
              <a:t>Convergent management</a:t>
            </a:r>
            <a:r>
              <a:rPr sz="1900" b="0" i="0">
                <a:solidFill>
                  <a:srgbClr val="1C252B"/>
                </a:solidFill>
                <a:latin typeface="Segoe UI"/>
              </a:rPr>
              <a:t> — Ansible, Puppet, Chef — re-applies the desired configuration periodically, correcting what has drifted. It works on long-lived systems, including ones you cannot rebuild, and it is the only option for an estate that already exists. Its weakness is that it corrects only what it is told to check: an unmanaged file stays drifted for ever.</a:t>
            </a:r>
          </a:p>
        </p:txBody>
      </p:sp>
      <p:sp>
        <p:nvSpPr>
          <p:cNvPr id="10" name="body-1"/>
          <p:cNvSpPr txBox="1"/>
          <p:nvPr/>
        </p:nvSpPr>
        <p:spPr>
          <a:xfrm>
            <a:off x="1060704" y="3385540"/>
            <a:ext cx="10161727"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F618D"/>
                </a:solidFill>
                <a:latin typeface="Segoe UI"/>
              </a:rPr>
              <a:t>Immutable infrastructure</a:t>
            </a:r>
            <a:r>
              <a:rPr sz="1900" b="0" i="0">
                <a:solidFill>
                  <a:srgbClr val="1C252B"/>
                </a:solidFill>
                <a:latin typeface="Segoe UI"/>
              </a:rPr>
              <a:t> — never change a running system. To patch it, build a new image and replace the instance. Drift becomes structurally impossible, because nothing lives long enough to drift, and every running system is exactly some reviewed version. The cost is that it demands the whole pipeline, fast instantiation and workloads that tolerate replacement — stateless services, or state kept deliberately outside.</a:t>
            </a:r>
          </a:p>
        </p:txBody>
      </p:sp>
      <p:sp>
        <p:nvSpPr>
          <p:cNvPr id="11" name="body-2"/>
          <p:cNvSpPr txBox="1"/>
          <p:nvPr/>
        </p:nvSpPr>
        <p:spPr>
          <a:xfrm>
            <a:off x="1060704" y="5023967"/>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Most real estates are both: immutable for the application tier, convergent for the database servers and the appliances that cannot be rebuilt. Knowing which regime a given machine is under — and writing it down — matters more than which one you prefer.</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44735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927BB72C-83E9-4F59-A564-3CCC226A776A}"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Keeping the state file in the repository.</a:t>
            </a:r>
            <a:r>
              <a:rPr sz="1700" b="0" i="0">
                <a:solidFill>
                  <a:srgbClr val="1C252B"/>
                </a:solidFill>
                <a:latin typeface="Segoe UI"/>
              </a:rPr>
              <a:t> It holds secrets and it must be locked. Remote backend with locking, always.</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Running </a:t>
            </a:r>
            <a:r>
              <a:rPr sz="1600" b="1" i="0">
                <a:solidFill>
                  <a:srgbClr val="1F4E79"/>
                </a:solidFill>
                <a:latin typeface="Consolas"/>
              </a:rPr>
              <a:t>apply</a:t>
            </a:r>
            <a:r>
              <a:rPr sz="1700" b="1" i="0">
                <a:solidFill>
                  <a:srgbClr val="1C252B"/>
                </a:solidFill>
                <a:latin typeface="Segoe UI"/>
              </a:rPr>
              <a:t> without reading </a:t>
            </a:r>
            <a:r>
              <a:rPr sz="1600" b="1" i="0">
                <a:solidFill>
                  <a:srgbClr val="1F4E79"/>
                </a:solidFill>
                <a:latin typeface="Consolas"/>
              </a:rPr>
              <a:t>plan</a:t>
            </a:r>
            <a:r>
              <a:rPr sz="1700" b="1" i="0">
                <a:solidFill>
                  <a:srgbClr val="1C252B"/>
                </a:solidFill>
                <a:latin typeface="Segoe UI"/>
              </a:rPr>
              <a:t>.</a:t>
            </a:r>
            <a:r>
              <a:rPr sz="1700" b="0" i="0">
                <a:solidFill>
                  <a:srgbClr val="1C252B"/>
                </a:solidFill>
                <a:latin typeface="Segoe UI"/>
              </a:rPr>
              <a:t> The plan is the review. Reading it is the control that stops a one-character change destroying a database.</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Editing a golden image in place.</a:t>
            </a:r>
            <a:r>
              <a:rPr sz="1700" b="0" i="0">
                <a:solidFill>
                  <a:srgbClr val="1C252B"/>
                </a:solidFill>
                <a:latin typeface="Segoe UI"/>
              </a:rPr>
              <a:t> Then it is not a version and you cannot say what any guest was built from.</a:t>
            </a:r>
          </a:p>
        </p:txBody>
      </p:sp>
      <p:sp>
        <p:nvSpPr>
          <p:cNvPr id="16" name="!!pb3">
            <a:extLst>
              <a:ext uri="{C183D7F6-B498-43B3-948B-1728B52AA6E4}">
                <adec:decorative xmlns:adec="http://schemas.microsoft.com/office/drawing/2017/decorative" val="1"/>
              </a:ext>
            </a:extLst>
          </p:cNvPr>
          <p:cNvSpPr/>
          <p:nvPr/>
        </p:nvSpPr>
        <p:spPr>
          <a:xfrm>
            <a:off x="658368" y="397581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99867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957523"/>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Putting per-guest settings in the image.</a:t>
            </a:r>
            <a:r>
              <a:rPr sz="1700" b="0" i="0">
                <a:solidFill>
                  <a:srgbClr val="1C252B"/>
                </a:solidFill>
                <a:latin typeface="Segoe UI"/>
              </a:rPr>
              <a:t> Clone it and you clone the hostname and the SSH host key.</a:t>
            </a:r>
          </a:p>
        </p:txBody>
      </p:sp>
      <p:sp>
        <p:nvSpPr>
          <p:cNvPr id="19" name="!!pb4">
            <a:extLst>
              <a:ext uri="{C183D7F6-B498-43B3-948B-1728B52AA6E4}">
                <adec:decorative xmlns:adec="http://schemas.microsoft.com/office/drawing/2017/decorative" val="1"/>
              </a:ext>
            </a:extLst>
          </p:cNvPr>
          <p:cNvSpPr/>
          <p:nvPr/>
        </p:nvSpPr>
        <p:spPr>
          <a:xfrm>
            <a:off x="658368" y="454273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56559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524451"/>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Adopting automation below its threshold.</a:t>
            </a:r>
            <a:r>
              <a:rPr sz="1700" b="0" i="0">
                <a:solidFill>
                  <a:srgbClr val="1C252B"/>
                </a:solidFill>
                <a:latin typeface="Segoe UI"/>
              </a:rPr>
              <a:t> At one guest a month the tool costs more than it saves and is forgotten between uses.</a:t>
            </a:r>
          </a:p>
        </p:txBody>
      </p:sp>
      <p:sp>
        <p:nvSpPr>
          <p:cNvPr id="22" name="!!pb5">
            <a:extLst>
              <a:ext uri="{C183D7F6-B498-43B3-948B-1728B52AA6E4}">
                <adec:decorative xmlns:adec="http://schemas.microsoft.com/office/drawing/2017/decorative" val="1"/>
              </a:ext>
            </a:extLst>
          </p:cNvPr>
          <p:cNvSpPr/>
          <p:nvPr/>
        </p:nvSpPr>
        <p:spPr>
          <a:xfrm>
            <a:off x="658368" y="528279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30565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264505"/>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Fixing a drifted server by hand and closing the ticket.</a:t>
            </a:r>
            <a:r>
              <a:rPr sz="1700" b="0" i="0">
                <a:solidFill>
                  <a:srgbClr val="1C252B"/>
                </a:solidFill>
                <a:latin typeface="Segoe UI"/>
              </a:rPr>
              <a:t> The fix now exists in one place and nowhere else; the next rebuild loses it.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570675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D145986F-2707-41C2-8F41-7D19EB1AFB85}" type="slidenum">
              <a:rPr lang="en-GB" sz="1000">
                <a:solidFill>
                  <a:srgbClr val="8795A1"/>
                </a:solidFill>
                <a:latin typeface="Segoe UI"/>
              </a:rPr>
              <a:t>23</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Choosing OpenStack to manage a departmental estate.</a:t>
            </a:r>
            <a:r>
              <a:rPr sz="1700" b="0" i="0">
                <a:solidFill>
                  <a:srgbClr val="1C252B"/>
                </a:solidFill>
                <a:latin typeface="Segoe UI"/>
              </a:rPr>
              <a:t> It is a cloud platform. Match the tool to the problem’s size.</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96614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Declaring a Small Estate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8CB005B0-4E0B-4137-A0D4-D0E781ADD5C4}" type="slidenum">
              <a:rPr lang="en-GB" sz="1000">
                <a:solidFill>
                  <a:srgbClr val="8795A1"/>
                </a:solidFill>
                <a:latin typeface="Segoe UI"/>
              </a:rPr>
              <a:t>24</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Builds an image with a pipeline, then provisions and reconfigures guests declaratively with Terraform against libvirt. Expect forty-five minutes.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21717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The build stage: one patched image, made reproducibly.</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The publish stage: versioned, and never edited again.</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Declare the estate.</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Plan first. The plan IS the review.</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Apply, and then prove idempotence.</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Reconfigure declaratively: change one number.</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Create drift by hand, then watch the tool notice.</a:t>
            </a:r>
          </a:p>
          <a:p>
            <a:pPr algn="l" marL="367434" indent="-367434">
              <a:lnSpc>
                <a:spcPct val="100000"/>
              </a:lnSpc>
              <a:spcBef>
                <a:spcPts val="0"/>
              </a:spcBef>
              <a:spcAft>
                <a:spcPts val="0"/>
              </a:spcAft>
            </a:pPr>
            <a:r>
              <a:rPr sz="1400" b="1">
                <a:solidFill>
                  <a:srgbClr val="117A65"/>
                </a:solidFill>
                <a:latin typeface="Segoe UI"/>
              </a:rPr>
              <a:t>8.	</a:t>
            </a:r>
            <a:r>
              <a:rPr sz="1400" b="0" i="0">
                <a:solidFill>
                  <a:srgbClr val="1C252B"/>
                </a:solidFill>
                <a:latin typeface="Segoe UI"/>
              </a:rPr>
              <a:t>Tear the whole estate down with one command.</a:t>
            </a:r>
          </a:p>
        </p:txBody>
      </p:sp>
      <p:sp>
        <p:nvSpPr>
          <p:cNvPr id="44"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7"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12: A remote desktop measured; an estate declared in code</a:t>
            </a:r>
          </a:p>
        </p:txBody>
      </p:sp>
      <p:sp>
        <p:nvSpPr>
          <p:cNvPr id="48"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1"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94 lines of Shell</a:t>
            </a:r>
          </a:p>
        </p:txBody>
      </p:sp>
      <p:sp>
        <p:nvSpPr>
          <p:cNvPr id="5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pfill">
            <a:extLst>
              <a:ext uri="{C183D7F6-B498-43B3-948B-1728B52AA6E4}">
                <adec:decorative xmlns:adec="http://schemas.microsoft.com/office/drawing/2017/decorative" val="1"/>
              </a:ext>
            </a:extLst>
          </p:cNvPr>
          <p:cNvSpPr/>
          <p:nvPr/>
        </p:nvSpPr>
        <p:spPr>
          <a:xfrm>
            <a:off x="0" y="0"/>
            <a:ext cx="622554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Declaring a Small Estate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181112A4-26B4-46BE-AF80-B959243F3229}"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822703"/>
          </a:xfrm>
          <a:prstGeom prst="roundRect">
            <a:avLst>
              <a:gd name="adj" fmla="val 50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16_iac.sh -- an image pipeline and declarative provisioning. set -euo pipefail mkdir -p ~/vsiac &amp;&amp; cd ~/vsiac"/>
          <p:cNvSpPr txBox="1"/>
          <p:nvPr/>
        </p:nvSpPr>
        <p:spPr>
          <a:xfrm>
            <a:off x="1362456" y="2523744"/>
            <a:ext cx="9987991" cy="13289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#!/usr/bin/env bash</a:t>
            </a:r>
          </a:p>
          <a:p>
            <a:pPr>
              <a:lnSpc>
                <a:spcPct val="100000"/>
              </a:lnSpc>
              <a:spcAft>
                <a:spcPts val="0"/>
              </a:spcAft>
            </a:pPr>
            <a:r>
              <a:rPr sz="2000" i="1">
                <a:solidFill>
                  <a:srgbClr val="8795A1"/>
                </a:solidFill>
                <a:latin typeface="Consolas"/>
              </a:rPr>
              <a:t># ch16_iac.sh -- an image pipeline and declarative provisioning.</a:t>
            </a:r>
          </a:p>
          <a:p>
            <a:pPr>
              <a:lnSpc>
                <a:spcPct val="100000"/>
              </a:lnSpc>
              <a:spcAft>
                <a:spcPts val="0"/>
              </a:spcAft>
            </a:pPr>
            <a:r>
              <a:rPr sz="2000" i="0">
                <a:solidFill>
                  <a:srgbClr val="C39BD3"/>
                </a:solidFill>
                <a:latin typeface="Consolas"/>
              </a:rPr>
              <a:t>set</a:t>
            </a:r>
            <a:r>
              <a:rPr sz="2000" i="0">
                <a:solidFill>
                  <a:srgbClr val="E8EDF2"/>
                </a:solidFill>
                <a:latin typeface="Consolas"/>
              </a:rPr>
              <a:t> </a:t>
            </a:r>
            <a:r>
              <a:rPr sz="2000" i="0">
                <a:solidFill>
                  <a:srgbClr val="E8EDF2"/>
                </a:solidFill>
                <a:latin typeface="Consolas"/>
              </a:rPr>
              <a:t>-euo</a:t>
            </a:r>
            <a:r>
              <a:rPr sz="2000" i="0">
                <a:solidFill>
                  <a:srgbClr val="E8EDF2"/>
                </a:solidFill>
                <a:latin typeface="Consolas"/>
              </a:rPr>
              <a:t> </a:t>
            </a:r>
            <a:r>
              <a:rPr sz="2000" i="0">
                <a:solidFill>
                  <a:srgbClr val="E8EDF2"/>
                </a:solidFill>
                <a:latin typeface="Consolas"/>
              </a:rPr>
              <a:t>pipefail</a:t>
            </a:r>
          </a:p>
          <a:p>
            <a:pPr>
              <a:lnSpc>
                <a:spcPct val="100000"/>
              </a:lnSpc>
              <a:spcAft>
                <a:spcPts val="0"/>
              </a:spcAft>
            </a:pPr>
            <a:r>
              <a:rPr sz="2000" i="0">
                <a:solidFill>
                  <a:srgbClr val="E8EDF2"/>
                </a:solidFill>
                <a:latin typeface="Consolas"/>
              </a:rPr>
              <a:t>mkdir</a:t>
            </a:r>
            <a:r>
              <a:rPr sz="2000" i="0">
                <a:solidFill>
                  <a:srgbClr val="E8EDF2"/>
                </a:solidFill>
                <a:latin typeface="Consolas"/>
              </a:rPr>
              <a:t> </a:t>
            </a:r>
            <a:r>
              <a:rPr sz="2000" i="0">
                <a:solidFill>
                  <a:srgbClr val="E8EDF2"/>
                </a:solidFill>
                <a:latin typeface="Consolas"/>
              </a:rPr>
              <a:t>-p</a:t>
            </a:r>
            <a:r>
              <a:rPr sz="2000" i="0">
                <a:solidFill>
                  <a:srgbClr val="E8EDF2"/>
                </a:solidFill>
                <a:latin typeface="Consolas"/>
              </a:rPr>
              <a:t> </a:t>
            </a:r>
            <a:r>
              <a:rPr sz="2000" i="0">
                <a:solidFill>
                  <a:srgbClr val="E8EDF2"/>
                </a:solidFill>
                <a:latin typeface="Consolas"/>
              </a:rPr>
              <a:t>~/vsiac</a:t>
            </a:r>
            <a:r>
              <a:rPr sz="2000" i="0">
                <a:solidFill>
                  <a:srgbClr val="E8EDF2"/>
                </a:solidFill>
                <a:latin typeface="Consolas"/>
              </a:rPr>
              <a:t> </a:t>
            </a:r>
            <a:r>
              <a:rPr sz="2000" i="0">
                <a:solidFill>
                  <a:srgbClr val="AEB6BF"/>
                </a:solidFill>
                <a:latin typeface="Consolas"/>
              </a:rPr>
              <a:t>&amp;&amp;</a:t>
            </a:r>
            <a:r>
              <a:rPr sz="2000" i="0">
                <a:solidFill>
                  <a:srgbClr val="E8EDF2"/>
                </a:solidFill>
                <a:latin typeface="Consolas"/>
              </a:rPr>
              <a:t> </a:t>
            </a:r>
            <a:r>
              <a:rPr sz="2000" i="0">
                <a:solidFill>
                  <a:srgbClr val="C39BD3"/>
                </a:solidFill>
                <a:latin typeface="Consolas"/>
              </a:rPr>
              <a:t>cd</a:t>
            </a:r>
            <a:r>
              <a:rPr sz="2000" i="0">
                <a:solidFill>
                  <a:srgbClr val="E8EDF2"/>
                </a:solidFill>
                <a:latin typeface="Consolas"/>
              </a:rPr>
              <a:t> </a:t>
            </a:r>
            <a:r>
              <a:rPr sz="2000" i="0">
                <a:solidFill>
                  <a:srgbClr val="E8EDF2"/>
                </a:solidFill>
                <a:latin typeface="Consolas"/>
              </a:rPr>
              <a:t>~/vsiac</a:t>
            </a:r>
          </a:p>
        </p:txBody>
      </p:sp>
      <p:sp>
        <p:nvSpPr>
          <p:cNvPr id="15" name="!!code-num"/>
          <p:cNvSpPr txBox="1"/>
          <p:nvPr/>
        </p:nvSpPr>
        <p:spPr>
          <a:xfrm>
            <a:off x="768096" y="2523744"/>
            <a:ext cx="393192" cy="13289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a:t>
            </a:r>
          </a:p>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48494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Declaring a Small Estate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11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A8870827-BAE3-4ACE-96AC-945C78C06BE0}"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build stage: one patched image, made reproducibly.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346704"/>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1. The build stage: one patched image, made reproducibly. -------- # Packer would do this in a pipeline; here, the same steps by hand. BASE=https://cloud-images.ubuntu.com/jammy/current wget -nc -O base.img &quot;$BASE/jammy-server-cloudimg-amd64.img&quot; cp base.img golden-2026-10.qcow2 sudo virt-customize -a golden-2026-10.qcow2 \ --update --install qemu-guest-agent,chrony \ --run-command 'systemctl enable qemu-guest-agent' \ --truncate /etc/machine-id # or every clone shares an identity qemu-img info golden-2026-10.qcow2 | head -4"/>
          <p:cNvSpPr txBox="1"/>
          <p:nvPr/>
        </p:nvSpPr>
        <p:spPr>
          <a:xfrm>
            <a:off x="1362456" y="2523744"/>
            <a:ext cx="9987991" cy="28529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The build stage: one patched image, made reproducibly. --------</a:t>
            </a:r>
          </a:p>
          <a:p>
            <a:pPr>
              <a:lnSpc>
                <a:spcPct val="100000"/>
              </a:lnSpc>
              <a:spcAft>
                <a:spcPts val="0"/>
              </a:spcAft>
            </a:pPr>
            <a:r>
              <a:rPr sz="1800" i="1">
                <a:solidFill>
                  <a:srgbClr val="8795A1"/>
                </a:solidFill>
                <a:latin typeface="Consolas"/>
              </a:rPr>
              <a:t># Packer would do this in a pipeline; here, the same steps by hand.</a:t>
            </a:r>
          </a:p>
          <a:p>
            <a:pPr>
              <a:lnSpc>
                <a:spcPct val="100000"/>
              </a:lnSpc>
              <a:spcAft>
                <a:spcPts val="0"/>
              </a:spcAft>
            </a:pPr>
            <a:r>
              <a:rPr sz="1800" i="0">
                <a:solidFill>
                  <a:srgbClr val="E8EDF2"/>
                </a:solidFill>
                <a:latin typeface="Consolas"/>
              </a:rPr>
              <a:t>BASE</a:t>
            </a:r>
            <a:r>
              <a:rPr sz="1800" i="0">
                <a:solidFill>
                  <a:srgbClr val="AEB6BF"/>
                </a:solidFill>
                <a:latin typeface="Consolas"/>
              </a:rPr>
              <a:t>=</a:t>
            </a:r>
            <a:r>
              <a:rPr sz="1800" i="0">
                <a:solidFill>
                  <a:srgbClr val="E8EDF2"/>
                </a:solidFill>
                <a:latin typeface="Consolas"/>
              </a:rPr>
              <a:t>https://cloud-images.ubuntu.com/jammy/current</a:t>
            </a:r>
          </a:p>
          <a:p>
            <a:pPr>
              <a:lnSpc>
                <a:spcPct val="100000"/>
              </a:lnSpc>
              <a:spcAft>
                <a:spcPts val="0"/>
              </a:spcAft>
            </a:pPr>
            <a:r>
              <a:rPr sz="1800" i="0">
                <a:solidFill>
                  <a:srgbClr val="E8EDF2"/>
                </a:solidFill>
                <a:latin typeface="Consolas"/>
              </a:rPr>
              <a:t>wget</a:t>
            </a:r>
            <a:r>
              <a:rPr sz="1800" i="0">
                <a:solidFill>
                  <a:srgbClr val="E8EDF2"/>
                </a:solidFill>
                <a:latin typeface="Consolas"/>
              </a:rPr>
              <a:t> </a:t>
            </a:r>
            <a:r>
              <a:rPr sz="1800" i="0">
                <a:solidFill>
                  <a:srgbClr val="E8EDF2"/>
                </a:solidFill>
                <a:latin typeface="Consolas"/>
              </a:rPr>
              <a:t>-nc</a:t>
            </a: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E8EDF2"/>
                </a:solidFill>
                <a:latin typeface="Consolas"/>
              </a:rPr>
              <a:t>base.img</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$BASE</a:t>
            </a:r>
            <a:r>
              <a:rPr sz="1800" i="0">
                <a:solidFill>
                  <a:srgbClr val="7DCEA0"/>
                </a:solidFill>
                <a:latin typeface="Consolas"/>
              </a:rPr>
              <a:t>/jammy-server-cloudimg-amd64.img</a:t>
            </a:r>
            <a:r>
              <a:rPr sz="1800" i="0">
                <a:solidFill>
                  <a:srgbClr val="7DCEA0"/>
                </a:solidFill>
                <a:latin typeface="Consolas"/>
              </a:rPr>
              <a:t>"</a:t>
            </a:r>
          </a:p>
          <a:p>
            <a:pPr>
              <a:lnSpc>
                <a:spcPct val="100000"/>
              </a:lnSpc>
              <a:spcAft>
                <a:spcPts val="0"/>
              </a:spcAft>
            </a:pPr>
            <a:r>
              <a:rPr sz="1800" i="0">
                <a:solidFill>
                  <a:srgbClr val="E8EDF2"/>
                </a:solidFill>
                <a:latin typeface="Consolas"/>
              </a:rPr>
              <a:t>cp</a:t>
            </a:r>
            <a:r>
              <a:rPr sz="1800" i="0">
                <a:solidFill>
                  <a:srgbClr val="E8EDF2"/>
                </a:solidFill>
                <a:latin typeface="Consolas"/>
              </a:rPr>
              <a:t> </a:t>
            </a:r>
            <a:r>
              <a:rPr sz="1800" i="0">
                <a:solidFill>
                  <a:srgbClr val="E8EDF2"/>
                </a:solidFill>
                <a:latin typeface="Consolas"/>
              </a:rPr>
              <a:t>base.img</a:t>
            </a:r>
            <a:r>
              <a:rPr sz="1800" i="0">
                <a:solidFill>
                  <a:srgbClr val="E8EDF2"/>
                </a:solidFill>
                <a:latin typeface="Consolas"/>
              </a:rPr>
              <a:t> </a:t>
            </a:r>
            <a:r>
              <a:rPr sz="1800" i="0">
                <a:solidFill>
                  <a:srgbClr val="E8EDF2"/>
                </a:solidFill>
                <a:latin typeface="Consolas"/>
              </a:rPr>
              <a:t>golden-2026-10.qcow2</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virt-customize</a:t>
            </a:r>
            <a:r>
              <a:rPr sz="1800" i="0">
                <a:solidFill>
                  <a:srgbClr val="E8EDF2"/>
                </a:solidFill>
                <a:latin typeface="Consolas"/>
              </a:rPr>
              <a:t> </a:t>
            </a:r>
            <a:r>
              <a:rPr sz="1800" i="0">
                <a:solidFill>
                  <a:srgbClr val="E8EDF2"/>
                </a:solidFill>
                <a:latin typeface="Consolas"/>
              </a:rPr>
              <a:t>-a</a:t>
            </a:r>
            <a:r>
              <a:rPr sz="1800" i="0">
                <a:solidFill>
                  <a:srgbClr val="E8EDF2"/>
                </a:solidFill>
                <a:latin typeface="Consolas"/>
              </a:rPr>
              <a:t> </a:t>
            </a:r>
            <a:r>
              <a:rPr sz="1800" i="0">
                <a:solidFill>
                  <a:srgbClr val="E8EDF2"/>
                </a:solidFill>
                <a:latin typeface="Consolas"/>
              </a:rPr>
              <a:t>golden-2026-10.qcow2</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--update</a:t>
            </a:r>
            <a:r>
              <a:rPr sz="1800" i="0">
                <a:solidFill>
                  <a:srgbClr val="E8EDF2"/>
                </a:solidFill>
                <a:latin typeface="Consolas"/>
              </a:rPr>
              <a:t> </a:t>
            </a:r>
            <a:r>
              <a:rPr sz="1800" i="0">
                <a:solidFill>
                  <a:srgbClr val="E8EDF2"/>
                </a:solidFill>
                <a:latin typeface="Consolas"/>
              </a:rPr>
              <a:t>--install</a:t>
            </a:r>
            <a:r>
              <a:rPr sz="1800" i="0">
                <a:solidFill>
                  <a:srgbClr val="E8EDF2"/>
                </a:solidFill>
                <a:latin typeface="Consolas"/>
              </a:rPr>
              <a:t> </a:t>
            </a:r>
            <a:r>
              <a:rPr sz="1800" i="0">
                <a:solidFill>
                  <a:srgbClr val="E8EDF2"/>
                </a:solidFill>
                <a:latin typeface="Consolas"/>
              </a:rPr>
              <a:t>qemu-guest-agent,chrony</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--run-command</a:t>
            </a:r>
            <a:r>
              <a:rPr sz="1800" i="0">
                <a:solidFill>
                  <a:srgbClr val="E8EDF2"/>
                </a:solidFill>
                <a:latin typeface="Consolas"/>
              </a:rPr>
              <a:t> </a:t>
            </a:r>
            <a:r>
              <a:rPr sz="1800" i="0">
                <a:solidFill>
                  <a:srgbClr val="7DCEA0"/>
                </a:solidFill>
                <a:latin typeface="Consolas"/>
              </a:rPr>
              <a:t>'systemctl enable qemu-guest-agent'</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--truncate</a:t>
            </a:r>
            <a:r>
              <a:rPr sz="1800" i="0">
                <a:solidFill>
                  <a:srgbClr val="E8EDF2"/>
                </a:solidFill>
                <a:latin typeface="Consolas"/>
              </a:rPr>
              <a:t> </a:t>
            </a:r>
            <a:r>
              <a:rPr sz="1800" i="0">
                <a:solidFill>
                  <a:srgbClr val="E8EDF2"/>
                </a:solidFill>
                <a:latin typeface="Consolas"/>
              </a:rPr>
              <a:t>/etc/machine-id</a:t>
            </a:r>
            <a:r>
              <a:rPr sz="1800" i="0">
                <a:solidFill>
                  <a:srgbClr val="E8EDF2"/>
                </a:solidFill>
                <a:latin typeface="Consolas"/>
              </a:rPr>
              <a:t>          </a:t>
            </a:r>
            <a:r>
              <a:rPr sz="1800" i="1">
                <a:solidFill>
                  <a:srgbClr val="8795A1"/>
                </a:solidFill>
                <a:latin typeface="Consolas"/>
              </a:rPr>
              <a:t># or every clone shares an identity</a:t>
            </a:r>
          </a:p>
          <a:p>
            <a:pPr>
              <a:lnSpc>
                <a:spcPct val="100000"/>
              </a:lnSpc>
              <a:spcAft>
                <a:spcPts val="0"/>
              </a:spcAft>
            </a:pPr>
            <a:r>
              <a:rPr sz="1800" i="0">
                <a:solidFill>
                  <a:srgbClr val="E8EDF2"/>
                </a:solidFill>
                <a:latin typeface="Consolas"/>
              </a:rPr>
              <a:t>qemu-img</a:t>
            </a:r>
            <a:r>
              <a:rPr sz="1800" i="0">
                <a:solidFill>
                  <a:srgbClr val="E8EDF2"/>
                </a:solidFill>
                <a:latin typeface="Consolas"/>
              </a:rPr>
              <a:t> </a:t>
            </a:r>
            <a:r>
              <a:rPr sz="1800" i="0">
                <a:solidFill>
                  <a:srgbClr val="E8EDF2"/>
                </a:solidFill>
                <a:latin typeface="Consolas"/>
              </a:rPr>
              <a:t>info</a:t>
            </a:r>
            <a:r>
              <a:rPr sz="1800" i="0">
                <a:solidFill>
                  <a:srgbClr val="E8EDF2"/>
                </a:solidFill>
                <a:latin typeface="Consolas"/>
              </a:rPr>
              <a:t> </a:t>
            </a:r>
            <a:r>
              <a:rPr sz="1800" i="0">
                <a:solidFill>
                  <a:srgbClr val="E8EDF2"/>
                </a:solidFill>
                <a:latin typeface="Consolas"/>
              </a:rPr>
              <a:t>golden-2026-10.qcow2</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head</a:t>
            </a:r>
            <a:r>
              <a:rPr sz="1800" i="0">
                <a:solidFill>
                  <a:srgbClr val="E8EDF2"/>
                </a:solidFill>
                <a:latin typeface="Consolas"/>
              </a:rPr>
              <a:t> </a:t>
            </a:r>
            <a:r>
              <a:rPr sz="1800" i="0">
                <a:solidFill>
                  <a:srgbClr val="E8EDF2"/>
                </a:solidFill>
                <a:latin typeface="Consolas"/>
              </a:rPr>
              <a:t>-4</a:t>
            </a:r>
          </a:p>
        </p:txBody>
      </p:sp>
      <p:sp>
        <p:nvSpPr>
          <p:cNvPr id="15" name="!!code-num"/>
          <p:cNvSpPr txBox="1"/>
          <p:nvPr/>
        </p:nvSpPr>
        <p:spPr>
          <a:xfrm>
            <a:off x="768096" y="2523744"/>
            <a:ext cx="393192" cy="28529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74434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Declaring a Small Estate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11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E6999429-3BCB-46D4-BDD2-4A4DDFF14685}"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publish stage: versioned, and never edited again.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The publish stage: versioned, and never edited again. --------- sudo mkdir -p /var/lib/libvirt/images/templates sudo cp golden-2026-10.qcow2 /var/lib/libvirt/images/templates/ sudo chmod 444 /var/lib/libvirt/images/templates/golden-2026-10.qcow2 ls -l /var/lib/libvirt/images/templates/"/>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The publish stage: versioned, and never edited again.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mkdir</a:t>
            </a:r>
            <a:r>
              <a:rPr sz="1900" i="0">
                <a:solidFill>
                  <a:srgbClr val="E8EDF2"/>
                </a:solidFill>
                <a:latin typeface="Consolas"/>
              </a:rPr>
              <a:t> </a:t>
            </a:r>
            <a:r>
              <a:rPr sz="1900" i="0">
                <a:solidFill>
                  <a:srgbClr val="E8EDF2"/>
                </a:solidFill>
                <a:latin typeface="Consolas"/>
              </a:rPr>
              <a:t>-p</a:t>
            </a:r>
            <a:r>
              <a:rPr sz="1900" i="0">
                <a:solidFill>
                  <a:srgbClr val="E8EDF2"/>
                </a:solidFill>
                <a:latin typeface="Consolas"/>
              </a:rPr>
              <a:t> </a:t>
            </a:r>
            <a:r>
              <a:rPr sz="1900" i="0">
                <a:solidFill>
                  <a:srgbClr val="E8EDF2"/>
                </a:solidFill>
                <a:latin typeface="Consolas"/>
              </a:rPr>
              <a:t>/var/lib/libvirt/images/templates</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cp</a:t>
            </a:r>
            <a:r>
              <a:rPr sz="1900" i="0">
                <a:solidFill>
                  <a:srgbClr val="E8EDF2"/>
                </a:solidFill>
                <a:latin typeface="Consolas"/>
              </a:rPr>
              <a:t> </a:t>
            </a:r>
            <a:r>
              <a:rPr sz="1900" i="0">
                <a:solidFill>
                  <a:srgbClr val="E8EDF2"/>
                </a:solidFill>
                <a:latin typeface="Consolas"/>
              </a:rPr>
              <a:t>golden-2026-10.qcow2</a:t>
            </a:r>
            <a:r>
              <a:rPr sz="1900" i="0">
                <a:solidFill>
                  <a:srgbClr val="E8EDF2"/>
                </a:solidFill>
                <a:latin typeface="Consolas"/>
              </a:rPr>
              <a:t> </a:t>
            </a:r>
            <a:r>
              <a:rPr sz="1900" i="0">
                <a:solidFill>
                  <a:srgbClr val="E8EDF2"/>
                </a:solidFill>
                <a:latin typeface="Consolas"/>
              </a:rPr>
              <a:t>/var/lib/libvirt/images/templates/</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chmod</a:t>
            </a:r>
            <a:r>
              <a:rPr sz="1900" i="0">
                <a:solidFill>
                  <a:srgbClr val="E8EDF2"/>
                </a:solidFill>
                <a:latin typeface="Consolas"/>
              </a:rPr>
              <a:t> </a:t>
            </a:r>
            <a:r>
              <a:rPr sz="1900" i="0">
                <a:solidFill>
                  <a:srgbClr val="F7DC6F"/>
                </a:solidFill>
                <a:latin typeface="Consolas"/>
              </a:rPr>
              <a:t>444</a:t>
            </a:r>
            <a:r>
              <a:rPr sz="1900" i="0">
                <a:solidFill>
                  <a:srgbClr val="E8EDF2"/>
                </a:solidFill>
                <a:latin typeface="Consolas"/>
              </a:rPr>
              <a:t> </a:t>
            </a:r>
            <a:r>
              <a:rPr sz="1900" i="0">
                <a:solidFill>
                  <a:srgbClr val="E8EDF2"/>
                </a:solidFill>
                <a:latin typeface="Consolas"/>
              </a:rPr>
              <a:t>/var/lib/libvirt/images/templates/golden-2026-10.qcow2</a:t>
            </a:r>
          </a:p>
          <a:p>
            <a:pPr>
              <a:lnSpc>
                <a:spcPct val="100000"/>
              </a:lnSpc>
              <a:spcAft>
                <a:spcPts val="0"/>
              </a:spcAft>
            </a:pPr>
            <a:r>
              <a:rPr sz="1900" i="0">
                <a:solidFill>
                  <a:srgbClr val="E8EDF2"/>
                </a:solidFill>
                <a:latin typeface="Consolas"/>
              </a:rPr>
              <a:t>ls</a:t>
            </a:r>
            <a:r>
              <a:rPr sz="1900" i="0">
                <a:solidFill>
                  <a:srgbClr val="E8EDF2"/>
                </a:solidFill>
                <a:latin typeface="Consolas"/>
              </a:rPr>
              <a:t> </a:t>
            </a:r>
            <a:r>
              <a:rPr sz="1900" i="0">
                <a:solidFill>
                  <a:srgbClr val="E8EDF2"/>
                </a:solidFill>
                <a:latin typeface="Consolas"/>
              </a:rPr>
              <a:t>-l</a:t>
            </a:r>
            <a:r>
              <a:rPr sz="1900" i="0">
                <a:solidFill>
                  <a:srgbClr val="E8EDF2"/>
                </a:solidFill>
                <a:latin typeface="Consolas"/>
              </a:rPr>
              <a:t> </a:t>
            </a:r>
            <a:r>
              <a:rPr sz="1900" i="0">
                <a:solidFill>
                  <a:srgbClr val="E8EDF2"/>
                </a:solidFill>
                <a:latin typeface="Consolas"/>
              </a:rPr>
              <a:t>/var/lib/libvirt/images/templates/</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17</a:t>
            </a:r>
          </a:p>
          <a:p>
            <a:pPr algn="r">
              <a:lnSpc>
                <a:spcPct val="100000"/>
              </a:lnSpc>
            </a:pPr>
            <a:r>
              <a:rPr sz="1900">
                <a:solidFill>
                  <a:srgbClr val="4F5D6A"/>
                </a:solidFill>
                <a:latin typeface="Consolas"/>
              </a:rPr>
              <a:t>18</a:t>
            </a:r>
          </a:p>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0037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Declaring a Small Estate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11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9F7F46A9-58DE-4268-8560-3069F472B1AE}"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Declare the estate.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Declare the estate. ------------------------------------------ cat &gt; main.tf &lt;&lt;'TF' terraform { required_providers { libvirt = { source = &quot;dmacvicar/libvirt&quot;, version = &quot;~&gt; 0.8&quot; } } } provider &quot;libvirt&quot; { uri = &quot;qemu:///system&quot; } variable &quot;guests&quot; { type = map(object({ memory = number, vcpu = number })) default = { web1 = { memory = 1024, vcpu = 1 } web2 = { memory = 1024, vcpu = 1 } db1 = { memory = 2048, vcpu = 2 } } }"/>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1">
                <a:solidFill>
                  <a:srgbClr val="8795A1"/>
                </a:solidFill>
                <a:latin typeface="Consolas"/>
              </a:rPr>
              <a:t># --- 3. Declare the estate. ------------------------------------------</a:t>
            </a:r>
          </a:p>
          <a:p>
            <a:pPr>
              <a:lnSpc>
                <a:spcPct val="100000"/>
              </a:lnSpc>
              <a:spcAft>
                <a:spcPts val="0"/>
              </a:spcAft>
            </a:pPr>
            <a:r>
              <a:rPr sz="1300" i="0">
                <a:solidFill>
                  <a:srgbClr val="E8EDF2"/>
                </a:solidFill>
                <a:latin typeface="Consolas"/>
              </a:rPr>
              <a:t>cat</a:t>
            </a:r>
            <a:r>
              <a:rPr sz="1300" i="0">
                <a:solidFill>
                  <a:srgbClr val="E8EDF2"/>
                </a:solidFill>
                <a:latin typeface="Consolas"/>
              </a:rPr>
              <a:t> </a:t>
            </a:r>
            <a:r>
              <a:rPr sz="1300" i="0">
                <a:solidFill>
                  <a:srgbClr val="E8EDF2"/>
                </a:solidFill>
                <a:latin typeface="Consolas"/>
              </a:rPr>
              <a:t>&gt;</a:t>
            </a:r>
            <a:r>
              <a:rPr sz="1300" i="0">
                <a:solidFill>
                  <a:srgbClr val="E8EDF2"/>
                </a:solidFill>
                <a:latin typeface="Consolas"/>
              </a:rPr>
              <a:t> </a:t>
            </a:r>
            <a:r>
              <a:rPr sz="1300" i="0">
                <a:solidFill>
                  <a:srgbClr val="E8EDF2"/>
                </a:solidFill>
                <a:latin typeface="Consolas"/>
              </a:rPr>
              <a:t>main.tf</a:t>
            </a:r>
            <a:r>
              <a:rPr sz="1300" i="0">
                <a:solidFill>
                  <a:srgbClr val="E8EDF2"/>
                </a:solidFill>
                <a:latin typeface="Consolas"/>
              </a:rPr>
              <a:t> </a:t>
            </a:r>
            <a:r>
              <a:rPr sz="1300" i="0">
                <a:solidFill>
                  <a:srgbClr val="E8EDF2"/>
                </a:solidFill>
                <a:latin typeface="Consolas"/>
              </a:rPr>
              <a:t>&lt;</a:t>
            </a:r>
            <a:r>
              <a:rPr sz="1300" i="0">
                <a:solidFill>
                  <a:srgbClr val="E8EDF2"/>
                </a:solidFill>
                <a:latin typeface="Consolas"/>
              </a:rPr>
              <a:t>&lt;</a:t>
            </a:r>
            <a:r>
              <a:rPr sz="1300" i="0">
                <a:solidFill>
                  <a:srgbClr val="7DCEA0"/>
                </a:solidFill>
                <a:latin typeface="Consolas"/>
              </a:rPr>
              <a:t>'TF'</a:t>
            </a:r>
          </a:p>
          <a:p>
            <a:pPr>
              <a:lnSpc>
                <a:spcPct val="100000"/>
              </a:lnSpc>
              <a:spcAft>
                <a:spcPts val="0"/>
              </a:spcAft>
            </a:pPr>
            <a:r>
              <a:rPr sz="1300" i="0">
                <a:solidFill>
                  <a:srgbClr val="E8EDF2"/>
                </a:solidFill>
                <a:latin typeface="Consolas"/>
              </a:rPr>
              <a:t>terraform</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required_providers</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libvirt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source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"dmacvicar/libvirt"</a:t>
            </a:r>
            <a:r>
              <a:rPr sz="1300" i="0">
                <a:solidFill>
                  <a:srgbClr val="E8EDF2"/>
                </a:solidFill>
                <a:latin typeface="Consolas"/>
              </a:rPr>
              <a:t>,</a:t>
            </a:r>
            <a:r>
              <a:rPr sz="1300" i="0">
                <a:solidFill>
                  <a:srgbClr val="E8EDF2"/>
                </a:solidFill>
                <a:latin typeface="Consolas"/>
              </a:rPr>
              <a:t> </a:t>
            </a:r>
            <a:r>
              <a:rPr sz="1300" i="0">
                <a:solidFill>
                  <a:srgbClr val="E8EDF2"/>
                </a:solidFill>
                <a:latin typeface="Consolas"/>
              </a:rPr>
              <a:t>version</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"~&gt; 0.8"</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AEB6BF"/>
                </a:solidFill>
                <a:latin typeface="Consolas"/>
              </a:rPr>
              <a:t>}</a:t>
            </a:r>
          </a:p>
          <a:p>
            <a:pPr>
              <a:lnSpc>
                <a:spcPct val="100000"/>
              </a:lnSpc>
              <a:spcAft>
                <a:spcPts val="0"/>
              </a:spcAft>
            </a:pPr>
            <a:r>
              <a:rPr sz="1300" i="0">
                <a:solidFill>
                  <a:srgbClr val="E8EDF2"/>
                </a:solidFill>
                <a:latin typeface="Consolas"/>
              </a:rPr>
              <a:t>provider</a:t>
            </a:r>
            <a:r>
              <a:rPr sz="1300" i="0">
                <a:solidFill>
                  <a:srgbClr val="E8EDF2"/>
                </a:solidFill>
                <a:latin typeface="Consolas"/>
              </a:rPr>
              <a:t> </a:t>
            </a:r>
            <a:r>
              <a:rPr sz="1300" i="0">
                <a:solidFill>
                  <a:srgbClr val="7DCEA0"/>
                </a:solidFill>
                <a:latin typeface="Consolas"/>
              </a:rPr>
              <a:t>"libvirt"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uri</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"qemu:///system"</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variable</a:t>
            </a:r>
            <a:r>
              <a:rPr sz="1300" i="0">
                <a:solidFill>
                  <a:srgbClr val="E8EDF2"/>
                </a:solidFill>
                <a:latin typeface="Consolas"/>
              </a:rPr>
              <a:t> </a:t>
            </a:r>
            <a:r>
              <a:rPr sz="1300" i="0">
                <a:solidFill>
                  <a:srgbClr val="7DCEA0"/>
                </a:solidFill>
                <a:latin typeface="Consolas"/>
              </a:rPr>
              <a:t>"guests"</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type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map</a:t>
            </a:r>
            <a:r>
              <a:rPr sz="1300" i="0">
                <a:solidFill>
                  <a:srgbClr val="AEB6BF"/>
                </a:solidFill>
                <a:latin typeface="Consolas"/>
              </a:rPr>
              <a:t>(</a:t>
            </a:r>
            <a:r>
              <a:rPr sz="1300" i="0">
                <a:solidFill>
                  <a:srgbClr val="E8EDF2"/>
                </a:solidFill>
                <a:latin typeface="Consolas"/>
              </a:rPr>
              <a:t>object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memory</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number,</a:t>
            </a:r>
            <a:r>
              <a:rPr sz="1300" i="0">
                <a:solidFill>
                  <a:srgbClr val="E8EDF2"/>
                </a:solidFill>
                <a:latin typeface="Consolas"/>
              </a:rPr>
              <a:t> </a:t>
            </a:r>
            <a:r>
              <a:rPr sz="1300" i="0">
                <a:solidFill>
                  <a:srgbClr val="E8EDF2"/>
                </a:solidFill>
                <a:latin typeface="Consolas"/>
              </a:rPr>
              <a:t>vcpu</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number</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default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web1</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memory</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1024</a:t>
            </a:r>
            <a:r>
              <a:rPr sz="1300" i="0">
                <a:solidFill>
                  <a:srgbClr val="E8EDF2"/>
                </a:solidFill>
                <a:latin typeface="Consolas"/>
              </a:rPr>
              <a:t>,</a:t>
            </a:r>
            <a:r>
              <a:rPr sz="1300" i="0">
                <a:solidFill>
                  <a:srgbClr val="E8EDF2"/>
                </a:solidFill>
                <a:latin typeface="Consolas"/>
              </a:rPr>
              <a:t> </a:t>
            </a:r>
            <a:r>
              <a:rPr sz="1300" i="0">
                <a:solidFill>
                  <a:srgbClr val="E8EDF2"/>
                </a:solidFill>
                <a:latin typeface="Consolas"/>
              </a:rPr>
              <a:t>vcpu</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web2</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memory</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1024</a:t>
            </a:r>
            <a:r>
              <a:rPr sz="1300" i="0">
                <a:solidFill>
                  <a:srgbClr val="E8EDF2"/>
                </a:solidFill>
                <a:latin typeface="Consolas"/>
              </a:rPr>
              <a:t>,</a:t>
            </a:r>
            <a:r>
              <a:rPr sz="1300" i="0">
                <a:solidFill>
                  <a:srgbClr val="E8EDF2"/>
                </a:solidFill>
                <a:latin typeface="Consolas"/>
              </a:rPr>
              <a:t> </a:t>
            </a:r>
            <a:r>
              <a:rPr sz="1300" i="0">
                <a:solidFill>
                  <a:srgbClr val="E8EDF2"/>
                </a:solidFill>
                <a:latin typeface="Consolas"/>
              </a:rPr>
              <a:t>vcpu</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db1</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memory</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2048</a:t>
            </a:r>
            <a:r>
              <a:rPr sz="1300" i="0">
                <a:solidFill>
                  <a:srgbClr val="E8EDF2"/>
                </a:solidFill>
                <a:latin typeface="Consolas"/>
              </a:rPr>
              <a:t>,</a:t>
            </a:r>
            <a:r>
              <a:rPr sz="1300" i="0">
                <a:solidFill>
                  <a:srgbClr val="E8EDF2"/>
                </a:solidFill>
                <a:latin typeface="Consolas"/>
              </a:rPr>
              <a:t> </a:t>
            </a:r>
            <a:r>
              <a:rPr sz="1300" i="0">
                <a:solidFill>
                  <a:srgbClr val="E8EDF2"/>
                </a:solidFill>
                <a:latin typeface="Consolas"/>
              </a:rPr>
              <a:t>vcpu</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2</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AEB6BF"/>
                </a:solidFill>
                <a:latin typeface="Consolas"/>
              </a:rPr>
              <a:t>}</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23</a:t>
            </a:r>
          </a:p>
          <a:p>
            <a:pPr algn="r">
              <a:lnSpc>
                <a:spcPct val="100000"/>
              </a:lnSpc>
            </a:pPr>
            <a:r>
              <a:rPr sz="1300">
                <a:solidFill>
                  <a:srgbClr val="4F5D6A"/>
                </a:solidFill>
                <a:latin typeface="Consolas"/>
              </a:rPr>
              <a:t>24</a:t>
            </a:r>
          </a:p>
          <a:p>
            <a:pPr algn="r">
              <a:lnSpc>
                <a:spcPct val="100000"/>
              </a:lnSpc>
            </a:pPr>
            <a:r>
              <a:rPr sz="1300">
                <a:solidFill>
                  <a:srgbClr val="4F5D6A"/>
                </a:solidFill>
                <a:latin typeface="Consolas"/>
              </a:rPr>
              <a:t>25</a:t>
            </a:r>
          </a:p>
          <a:p>
            <a:pPr algn="r">
              <a:lnSpc>
                <a:spcPct val="100000"/>
              </a:lnSpc>
            </a:pPr>
            <a:r>
              <a:rPr sz="1300">
                <a:solidFill>
                  <a:srgbClr val="4F5D6A"/>
                </a:solidFill>
                <a:latin typeface="Consolas"/>
              </a:rPr>
              <a:t>26</a:t>
            </a:r>
          </a:p>
          <a:p>
            <a:pPr algn="r">
              <a:lnSpc>
                <a:spcPct val="100000"/>
              </a:lnSpc>
            </a:pPr>
            <a:r>
              <a:rPr sz="1300">
                <a:solidFill>
                  <a:srgbClr val="4F5D6A"/>
                </a:solidFill>
                <a:latin typeface="Consolas"/>
              </a:rPr>
              <a:t>27</a:t>
            </a:r>
          </a:p>
          <a:p>
            <a:pPr algn="r">
              <a:lnSpc>
                <a:spcPct val="100000"/>
              </a:lnSpc>
            </a:pPr>
            <a:r>
              <a:rPr sz="1300">
                <a:solidFill>
                  <a:srgbClr val="4F5D6A"/>
                </a:solidFill>
                <a:latin typeface="Consolas"/>
              </a:rPr>
              <a:t>28</a:t>
            </a:r>
          </a:p>
          <a:p>
            <a:pPr algn="r">
              <a:lnSpc>
                <a:spcPct val="100000"/>
              </a:lnSpc>
            </a:pPr>
            <a:r>
              <a:rPr sz="1300">
                <a:solidFill>
                  <a:srgbClr val="4F5D6A"/>
                </a:solidFill>
                <a:latin typeface="Consolas"/>
              </a:rPr>
              <a:t>29</a:t>
            </a:r>
          </a:p>
          <a:p>
            <a:pPr algn="r">
              <a:lnSpc>
                <a:spcPct val="100000"/>
              </a:lnSpc>
            </a:pPr>
            <a:r>
              <a:rPr sz="1300">
                <a:solidFill>
                  <a:srgbClr val="4F5D6A"/>
                </a:solidFill>
                <a:latin typeface="Consolas"/>
              </a:rPr>
              <a:t>30</a:t>
            </a:r>
          </a:p>
          <a:p>
            <a:pPr algn="r">
              <a:lnSpc>
                <a:spcPct val="100000"/>
              </a:lnSpc>
            </a:pPr>
            <a:r>
              <a:rPr sz="1300">
                <a:solidFill>
                  <a:srgbClr val="4F5D6A"/>
                </a:solidFill>
                <a:latin typeface="Consolas"/>
              </a:rPr>
              <a:t>31</a:t>
            </a:r>
          </a:p>
          <a:p>
            <a:pPr algn="r">
              <a:lnSpc>
                <a:spcPct val="100000"/>
              </a:lnSpc>
            </a:pPr>
            <a:r>
              <a:rPr sz="1300">
                <a:solidFill>
                  <a:srgbClr val="4F5D6A"/>
                </a:solidFill>
                <a:latin typeface="Consolas"/>
              </a:rPr>
              <a:t>32</a:t>
            </a:r>
          </a:p>
          <a:p>
            <a:pPr algn="r">
              <a:lnSpc>
                <a:spcPct val="100000"/>
              </a:lnSpc>
            </a:pPr>
            <a:r>
              <a:rPr sz="1300">
                <a:solidFill>
                  <a:srgbClr val="4F5D6A"/>
                </a:solidFill>
                <a:latin typeface="Consolas"/>
              </a:rPr>
              <a:t>33</a:t>
            </a:r>
          </a:p>
          <a:p>
            <a:pPr algn="r">
              <a:lnSpc>
                <a:spcPct val="100000"/>
              </a:lnSpc>
            </a:pPr>
            <a:r>
              <a:rPr sz="1300">
                <a:solidFill>
                  <a:srgbClr val="4F5D6A"/>
                </a:solidFill>
                <a:latin typeface="Consolas"/>
              </a:rPr>
              <a:t>34</a:t>
            </a:r>
          </a:p>
          <a:p>
            <a:pPr algn="r">
              <a:lnSpc>
                <a:spcPct val="100000"/>
              </a:lnSpc>
            </a:pPr>
            <a:r>
              <a:rPr sz="1300">
                <a:solidFill>
                  <a:srgbClr val="4F5D6A"/>
                </a:solidFill>
                <a:latin typeface="Consolas"/>
              </a:rPr>
              <a:t>35</a:t>
            </a:r>
          </a:p>
          <a:p>
            <a:pPr algn="r">
              <a:lnSpc>
                <a:spcPct val="100000"/>
              </a:lnSpc>
            </a:pPr>
            <a:r>
              <a:rPr sz="1300">
                <a:solidFill>
                  <a:srgbClr val="4F5D6A"/>
                </a:solidFill>
                <a:latin typeface="Consolas"/>
              </a:rPr>
              <a:t>36</a:t>
            </a:r>
          </a:p>
          <a:p>
            <a:pPr algn="r">
              <a:lnSpc>
                <a:spcPct val="100000"/>
              </a:lnSpc>
            </a:pPr>
            <a:r>
              <a:rPr sz="1300">
                <a:solidFill>
                  <a:srgbClr val="4F5D6A"/>
                </a:solidFill>
                <a:latin typeface="Consolas"/>
              </a:rPr>
              <a:t>37</a:t>
            </a:r>
          </a:p>
          <a:p>
            <a:pPr algn="r">
              <a:lnSpc>
                <a:spcPct val="100000"/>
              </a:lnSpc>
            </a:pPr>
            <a:r>
              <a:rPr sz="1300">
                <a:solidFill>
                  <a:srgbClr val="4F5D6A"/>
                </a:solidFill>
                <a:latin typeface="Consolas"/>
              </a:rPr>
              <a:t>38</a:t>
            </a:r>
          </a:p>
          <a:p>
            <a:pPr algn="r">
              <a:lnSpc>
                <a:spcPct val="100000"/>
              </a:lnSpc>
            </a:pPr>
            <a:r>
              <a:rPr sz="13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26313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Declaring a Small Estate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11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163139E6-AF75-4909-B226-69B662347135}"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Declare the estate.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3"/>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resource &quot;libvirt_volume&quot; &quot;disk&quot; { for_each = var.guests name = &quot;${each.key}.qcow2&quot; base_volume_id = &quot;/var/lib/libvirt/images/templates/golden-2026-10.qcow2&quot; size = 10737418240 } resource &quot;libvirt_cloudinit_disk&quot; &quot;init&quot; { for_each = var.guests name = &quot;${each.key}-init.iso&quot; user_data = &lt;&lt;EOT #cloud-config hostname: ${each.key} password: vss2026 chpasswd: { expire: False } ssh_pwauth: True EOT }"/>
          <p:cNvSpPr txBox="1"/>
          <p:nvPr/>
        </p:nvSpPr>
        <p:spPr>
          <a:xfrm>
            <a:off x="1362456" y="2523744"/>
            <a:ext cx="9987991" cy="3675887"/>
          </a:xfrm>
          <a:prstGeom prst="rect">
            <a:avLst/>
          </a:prstGeom>
          <a:noFill/>
        </p:spPr>
        <p:txBody>
          <a:bodyPr wrap="none" anchor="t" lIns="0" rIns="0" tIns="0" bIns="0">
            <a:noAutofit/>
          </a:bodyPr>
          <a:lstStyle/>
          <a:p>
            <a:pPr>
              <a:lnSpc>
                <a:spcPct val="100000"/>
              </a:lnSpc>
              <a:spcAft>
                <a:spcPts val="0"/>
              </a:spcAft>
            </a:pPr>
            <a:r>
              <a:rPr sz="1300" i="0">
                <a:solidFill>
                  <a:srgbClr val="E8EDF2"/>
                </a:solidFill>
                <a:latin typeface="Consolas"/>
              </a:rPr>
              <a:t>resource</a:t>
            </a:r>
            <a:r>
              <a:rPr sz="1300" i="0">
                <a:solidFill>
                  <a:srgbClr val="E8EDF2"/>
                </a:solidFill>
                <a:latin typeface="Consolas"/>
              </a:rPr>
              <a:t> </a:t>
            </a:r>
            <a:r>
              <a:rPr sz="1300" i="0">
                <a:solidFill>
                  <a:srgbClr val="7DCEA0"/>
                </a:solidFill>
                <a:latin typeface="Consolas"/>
              </a:rPr>
              <a:t>"libvirt_volume"</a:t>
            </a:r>
            <a:r>
              <a:rPr sz="1300" i="0">
                <a:solidFill>
                  <a:srgbClr val="E8EDF2"/>
                </a:solidFill>
                <a:latin typeface="Consolas"/>
              </a:rPr>
              <a:t> </a:t>
            </a:r>
            <a:r>
              <a:rPr sz="1300" i="0">
                <a:solidFill>
                  <a:srgbClr val="7DCEA0"/>
                </a:solidFill>
                <a:latin typeface="Consolas"/>
              </a:rPr>
              <a:t>"disk"</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for_each</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var.guests</a:t>
            </a:r>
          </a:p>
          <a:p>
            <a:pPr>
              <a:lnSpc>
                <a:spcPct val="100000"/>
              </a:lnSpc>
              <a:spcAft>
                <a:spcPts val="0"/>
              </a:spcAft>
            </a:pPr>
            <a:r>
              <a:rPr sz="1300" i="0">
                <a:solidFill>
                  <a:srgbClr val="E8EDF2"/>
                </a:solidFill>
                <a:latin typeface="Consolas"/>
              </a:rPr>
              <a:t>  </a:t>
            </a:r>
            <a:r>
              <a:rPr sz="1300" i="0">
                <a:solidFill>
                  <a:srgbClr val="E8EDF2"/>
                </a:solidFill>
                <a:latin typeface="Consolas"/>
              </a:rPr>
              <a:t>name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a:t>
            </a:r>
            <a:r>
              <a:rPr sz="1300" i="0">
                <a:solidFill>
                  <a:srgbClr val="E8EDF2"/>
                </a:solidFill>
                <a:latin typeface="Consolas"/>
              </a:rPr>
              <a:t>each</a:t>
            </a:r>
            <a:r>
              <a:rPr sz="1300" i="0">
                <a:solidFill>
                  <a:srgbClr val="AEB6BF"/>
                </a:solidFill>
                <a:latin typeface="Consolas"/>
              </a:rPr>
              <a:t>.key</a:t>
            </a:r>
            <a:r>
              <a:rPr sz="1300" i="0">
                <a:solidFill>
                  <a:srgbClr val="7DCEA0"/>
                </a:solidFill>
                <a:latin typeface="Consolas"/>
              </a:rPr>
              <a:t>}</a:t>
            </a:r>
            <a:r>
              <a:rPr sz="1300" i="0">
                <a:solidFill>
                  <a:srgbClr val="7DCEA0"/>
                </a:solidFill>
                <a:latin typeface="Consolas"/>
              </a:rPr>
              <a:t>.qcow2</a:t>
            </a:r>
            <a:r>
              <a:rPr sz="1300" i="0">
                <a:solidFill>
                  <a:srgbClr val="7DCEA0"/>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base_volume_id</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"/var/lib/libvirt/images/templates/golden-2026-10.qcow2"</a:t>
            </a:r>
          </a:p>
          <a:p>
            <a:pPr>
              <a:lnSpc>
                <a:spcPct val="100000"/>
              </a:lnSpc>
              <a:spcAft>
                <a:spcPts val="0"/>
              </a:spcAft>
            </a:pPr>
            <a:r>
              <a:rPr sz="1300" i="0">
                <a:solidFill>
                  <a:srgbClr val="E8EDF2"/>
                </a:solidFill>
                <a:latin typeface="Consolas"/>
              </a:rPr>
              <a:t>  </a:t>
            </a:r>
            <a:r>
              <a:rPr sz="1300" i="0">
                <a:solidFill>
                  <a:srgbClr val="E8EDF2"/>
                </a:solidFill>
                <a:latin typeface="Consolas"/>
              </a:rPr>
              <a:t>size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10737418240</a:t>
            </a:r>
          </a:p>
          <a:p>
            <a:pPr>
              <a:lnSpc>
                <a:spcPct val="100000"/>
              </a:lnSpc>
              <a:spcAft>
                <a:spcPts val="0"/>
              </a:spcAft>
            </a:pP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resource</a:t>
            </a:r>
            <a:r>
              <a:rPr sz="1300" i="0">
                <a:solidFill>
                  <a:srgbClr val="E8EDF2"/>
                </a:solidFill>
                <a:latin typeface="Consolas"/>
              </a:rPr>
              <a:t> </a:t>
            </a:r>
            <a:r>
              <a:rPr sz="1300" i="0">
                <a:solidFill>
                  <a:srgbClr val="7DCEA0"/>
                </a:solidFill>
                <a:latin typeface="Consolas"/>
              </a:rPr>
              <a:t>"libvirt_cloudinit_disk"</a:t>
            </a:r>
            <a:r>
              <a:rPr sz="1300" i="0">
                <a:solidFill>
                  <a:srgbClr val="E8EDF2"/>
                </a:solidFill>
                <a:latin typeface="Consolas"/>
              </a:rPr>
              <a:t> </a:t>
            </a:r>
            <a:r>
              <a:rPr sz="1300" i="0">
                <a:solidFill>
                  <a:srgbClr val="7DCEA0"/>
                </a:solidFill>
                <a:latin typeface="Consolas"/>
              </a:rPr>
              <a:t>"init"</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for_each</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var.guests</a:t>
            </a:r>
          </a:p>
          <a:p>
            <a:pPr>
              <a:lnSpc>
                <a:spcPct val="100000"/>
              </a:lnSpc>
              <a:spcAft>
                <a:spcPts val="0"/>
              </a:spcAft>
            </a:pPr>
            <a:r>
              <a:rPr sz="1300" i="0">
                <a:solidFill>
                  <a:srgbClr val="E8EDF2"/>
                </a:solidFill>
                <a:latin typeface="Consolas"/>
              </a:rPr>
              <a:t>  </a:t>
            </a:r>
            <a:r>
              <a:rPr sz="1300" i="0">
                <a:solidFill>
                  <a:srgbClr val="E8EDF2"/>
                </a:solidFill>
                <a:latin typeface="Consolas"/>
              </a:rPr>
              <a:t>name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a:t>
            </a:r>
            <a:r>
              <a:rPr sz="1300" i="0">
                <a:solidFill>
                  <a:srgbClr val="E8EDF2"/>
                </a:solidFill>
                <a:latin typeface="Consolas"/>
              </a:rPr>
              <a:t>each</a:t>
            </a:r>
            <a:r>
              <a:rPr sz="1300" i="0">
                <a:solidFill>
                  <a:srgbClr val="AEB6BF"/>
                </a:solidFill>
                <a:latin typeface="Consolas"/>
              </a:rPr>
              <a:t>.key</a:t>
            </a:r>
            <a:r>
              <a:rPr sz="1300" i="0">
                <a:solidFill>
                  <a:srgbClr val="7DCEA0"/>
                </a:solidFill>
                <a:latin typeface="Consolas"/>
              </a:rPr>
              <a:t>}</a:t>
            </a:r>
            <a:r>
              <a:rPr sz="1300" i="0">
                <a:solidFill>
                  <a:srgbClr val="7DCEA0"/>
                </a:solidFill>
                <a:latin typeface="Consolas"/>
              </a:rPr>
              <a:t>-init.iso</a:t>
            </a:r>
            <a:r>
              <a:rPr sz="1300" i="0">
                <a:solidFill>
                  <a:srgbClr val="7DCEA0"/>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user_data</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&lt;&lt;EOT</a:t>
            </a:r>
          </a:p>
          <a:p>
            <a:pPr>
              <a:lnSpc>
                <a:spcPct val="100000"/>
              </a:lnSpc>
              <a:spcAft>
                <a:spcPts val="0"/>
              </a:spcAft>
            </a:pPr>
            <a:r>
              <a:rPr sz="1300" i="0">
                <a:solidFill>
                  <a:srgbClr val="7DCEA0"/>
                </a:solidFill>
                <a:latin typeface="Consolas"/>
              </a:rPr>
              <a:t>#cloud-config</a:t>
            </a:r>
          </a:p>
          <a:p>
            <a:pPr>
              <a:lnSpc>
                <a:spcPct val="100000"/>
              </a:lnSpc>
              <a:spcAft>
                <a:spcPts val="0"/>
              </a:spcAft>
            </a:pPr>
            <a:r>
              <a:rPr sz="1300" i="0">
                <a:solidFill>
                  <a:srgbClr val="7DCEA0"/>
                </a:solidFill>
                <a:latin typeface="Consolas"/>
              </a:rPr>
              <a:t>hostname: ${each.key}</a:t>
            </a:r>
          </a:p>
          <a:p>
            <a:pPr>
              <a:lnSpc>
                <a:spcPct val="100000"/>
              </a:lnSpc>
              <a:spcAft>
                <a:spcPts val="0"/>
              </a:spcAft>
            </a:pPr>
            <a:r>
              <a:rPr sz="1300" i="0">
                <a:solidFill>
                  <a:srgbClr val="7DCEA0"/>
                </a:solidFill>
                <a:latin typeface="Consolas"/>
              </a:rPr>
              <a:t>password: vss2026</a:t>
            </a:r>
          </a:p>
          <a:p>
            <a:pPr>
              <a:lnSpc>
                <a:spcPct val="100000"/>
              </a:lnSpc>
              <a:spcAft>
                <a:spcPts val="0"/>
              </a:spcAft>
            </a:pPr>
            <a:r>
              <a:rPr sz="1300" i="0">
                <a:solidFill>
                  <a:srgbClr val="7DCEA0"/>
                </a:solidFill>
                <a:latin typeface="Consolas"/>
              </a:rPr>
              <a:t>chpasswd: { expire: False }</a:t>
            </a:r>
          </a:p>
          <a:p>
            <a:pPr>
              <a:lnSpc>
                <a:spcPct val="100000"/>
              </a:lnSpc>
              <a:spcAft>
                <a:spcPts val="0"/>
              </a:spcAft>
            </a:pPr>
            <a:r>
              <a:rPr sz="1300" i="0">
                <a:solidFill>
                  <a:srgbClr val="7DCEA0"/>
                </a:solidFill>
                <a:latin typeface="Consolas"/>
              </a:rPr>
              <a:t>ssh_pwauth: True</a:t>
            </a:r>
          </a:p>
          <a:p>
            <a:pPr>
              <a:lnSpc>
                <a:spcPct val="100000"/>
              </a:lnSpc>
              <a:spcAft>
                <a:spcPts val="0"/>
              </a:spcAft>
            </a:pPr>
            <a:r>
              <a:rPr sz="1300" i="0">
                <a:solidFill>
                  <a:srgbClr val="7DCEA0"/>
                </a:solidFill>
                <a:latin typeface="Consolas"/>
              </a:rPr>
              <a:t>EOT</a:t>
            </a:r>
          </a:p>
          <a:p>
            <a:pPr>
              <a:lnSpc>
                <a:spcPct val="100000"/>
              </a:lnSpc>
              <a:spcAft>
                <a:spcPts val="0"/>
              </a:spcAft>
            </a:pPr>
            <a:r>
              <a:rPr sz="1300" i="0">
                <a:solidFill>
                  <a:srgbClr val="AEB6BF"/>
                </a:solidFill>
                <a:latin typeface="Consolas"/>
              </a:rPr>
              <a:t>}</a:t>
            </a:r>
          </a:p>
        </p:txBody>
      </p:sp>
      <p:sp>
        <p:nvSpPr>
          <p:cNvPr id="15" name="!!code-num"/>
          <p:cNvSpPr txBox="1"/>
          <p:nvPr/>
        </p:nvSpPr>
        <p:spPr>
          <a:xfrm>
            <a:off x="768096" y="2523744"/>
            <a:ext cx="393192" cy="367588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41</a:t>
            </a:r>
          </a:p>
          <a:p>
            <a:pPr algn="r">
              <a:lnSpc>
                <a:spcPct val="100000"/>
              </a:lnSpc>
            </a:pPr>
            <a:r>
              <a:rPr sz="1300">
                <a:solidFill>
                  <a:srgbClr val="4F5D6A"/>
                </a:solidFill>
                <a:latin typeface="Consolas"/>
              </a:rPr>
              <a:t>42</a:t>
            </a:r>
          </a:p>
          <a:p>
            <a:pPr algn="r">
              <a:lnSpc>
                <a:spcPct val="100000"/>
              </a:lnSpc>
            </a:pPr>
            <a:r>
              <a:rPr sz="1300">
                <a:solidFill>
                  <a:srgbClr val="4F5D6A"/>
                </a:solidFill>
                <a:latin typeface="Consolas"/>
              </a:rPr>
              <a:t>43</a:t>
            </a:r>
          </a:p>
          <a:p>
            <a:pPr algn="r">
              <a:lnSpc>
                <a:spcPct val="100000"/>
              </a:lnSpc>
            </a:pPr>
            <a:r>
              <a:rPr sz="1300">
                <a:solidFill>
                  <a:srgbClr val="4F5D6A"/>
                </a:solidFill>
                <a:latin typeface="Consolas"/>
              </a:rPr>
              <a:t>44</a:t>
            </a:r>
          </a:p>
          <a:p>
            <a:pPr algn="r">
              <a:lnSpc>
                <a:spcPct val="100000"/>
              </a:lnSpc>
            </a:pPr>
            <a:r>
              <a:rPr sz="1300">
                <a:solidFill>
                  <a:srgbClr val="4F5D6A"/>
                </a:solidFill>
                <a:latin typeface="Consolas"/>
              </a:rPr>
              <a:t>45</a:t>
            </a:r>
          </a:p>
          <a:p>
            <a:pPr algn="r">
              <a:lnSpc>
                <a:spcPct val="100000"/>
              </a:lnSpc>
            </a:pPr>
            <a:r>
              <a:rPr sz="1300">
                <a:solidFill>
                  <a:srgbClr val="4F5D6A"/>
                </a:solidFill>
                <a:latin typeface="Consolas"/>
              </a:rPr>
              <a:t>46</a:t>
            </a:r>
          </a:p>
          <a:p>
            <a:pPr algn="r">
              <a:lnSpc>
                <a:spcPct val="100000"/>
              </a:lnSpc>
            </a:pPr>
            <a:r>
              <a:rPr sz="1300">
                <a:solidFill>
                  <a:srgbClr val="4F5D6A"/>
                </a:solidFill>
                <a:latin typeface="Consolas"/>
              </a:rPr>
              <a:t>47</a:t>
            </a:r>
          </a:p>
          <a:p>
            <a:pPr algn="r">
              <a:lnSpc>
                <a:spcPct val="100000"/>
              </a:lnSpc>
            </a:pPr>
            <a:r>
              <a:rPr sz="1300">
                <a:solidFill>
                  <a:srgbClr val="4F5D6A"/>
                </a:solidFill>
                <a:latin typeface="Consolas"/>
              </a:rPr>
              <a:t>48</a:t>
            </a:r>
          </a:p>
          <a:p>
            <a:pPr algn="r">
              <a:lnSpc>
                <a:spcPct val="100000"/>
              </a:lnSpc>
            </a:pPr>
            <a:r>
              <a:rPr sz="1300">
                <a:solidFill>
                  <a:srgbClr val="4F5D6A"/>
                </a:solidFill>
                <a:latin typeface="Consolas"/>
              </a:rPr>
              <a:t>49</a:t>
            </a:r>
          </a:p>
          <a:p>
            <a:pPr algn="r">
              <a:lnSpc>
                <a:spcPct val="100000"/>
              </a:lnSpc>
            </a:pPr>
            <a:r>
              <a:rPr sz="1300">
                <a:solidFill>
                  <a:srgbClr val="4F5D6A"/>
                </a:solidFill>
                <a:latin typeface="Consolas"/>
              </a:rPr>
              <a:t>50</a:t>
            </a:r>
          </a:p>
          <a:p>
            <a:pPr algn="r">
              <a:lnSpc>
                <a:spcPct val="100000"/>
              </a:lnSpc>
            </a:pPr>
            <a:r>
              <a:rPr sz="1300">
                <a:solidFill>
                  <a:srgbClr val="4F5D6A"/>
                </a:solidFill>
                <a:latin typeface="Consolas"/>
              </a:rPr>
              <a:t>51</a:t>
            </a:r>
          </a:p>
          <a:p>
            <a:pPr algn="r">
              <a:lnSpc>
                <a:spcPct val="100000"/>
              </a:lnSpc>
            </a:pPr>
            <a:r>
              <a:rPr sz="1300">
                <a:solidFill>
                  <a:srgbClr val="4F5D6A"/>
                </a:solidFill>
                <a:latin typeface="Consolas"/>
              </a:rPr>
              <a:t>52</a:t>
            </a:r>
          </a:p>
          <a:p>
            <a:pPr algn="r">
              <a:lnSpc>
                <a:spcPct val="100000"/>
              </a:lnSpc>
            </a:pPr>
            <a:r>
              <a:rPr sz="1300">
                <a:solidFill>
                  <a:srgbClr val="4F5D6A"/>
                </a:solidFill>
                <a:latin typeface="Consolas"/>
              </a:rPr>
              <a:t>53</a:t>
            </a:r>
          </a:p>
          <a:p>
            <a:pPr algn="r">
              <a:lnSpc>
                <a:spcPct val="100000"/>
              </a:lnSpc>
            </a:pPr>
            <a:r>
              <a:rPr sz="1300">
                <a:solidFill>
                  <a:srgbClr val="4F5D6A"/>
                </a:solidFill>
                <a:latin typeface="Consolas"/>
              </a:rPr>
              <a:t>54</a:t>
            </a:r>
          </a:p>
          <a:p>
            <a:pPr algn="r">
              <a:lnSpc>
                <a:spcPct val="100000"/>
              </a:lnSpc>
            </a:pPr>
            <a:r>
              <a:rPr sz="1300">
                <a:solidFill>
                  <a:srgbClr val="4F5D6A"/>
                </a:solidFill>
                <a:latin typeface="Consolas"/>
              </a:rPr>
              <a:t>55</a:t>
            </a:r>
          </a:p>
          <a:p>
            <a:pPr algn="r">
              <a:lnSpc>
                <a:spcPct val="100000"/>
              </a:lnSpc>
            </a:pPr>
            <a:r>
              <a:rPr sz="1300">
                <a:solidFill>
                  <a:srgbClr val="4F5D6A"/>
                </a:solidFill>
                <a:latin typeface="Consolas"/>
              </a:rPr>
              <a:t>56</a:t>
            </a:r>
          </a:p>
          <a:p>
            <a:pPr algn="r">
              <a:lnSpc>
                <a:spcPct val="100000"/>
              </a:lnSpc>
            </a:pPr>
            <a:r>
              <a:rPr sz="1300">
                <a:solidFill>
                  <a:srgbClr val="4F5D6A"/>
                </a:solidFill>
                <a:latin typeface="Consolas"/>
              </a:rPr>
              <a:t>57</a:t>
            </a:r>
          </a:p>
          <a:p>
            <a:pPr algn="r">
              <a:lnSpc>
                <a:spcPct val="100000"/>
              </a:lnSpc>
            </a:pPr>
            <a:r>
              <a:rPr sz="1300">
                <a:solidFill>
                  <a:srgbClr val="4F5D6A"/>
                </a:solidFill>
                <a:latin typeface="Consolas"/>
              </a:rPr>
              <a:t>58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52253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Declaring a Small Estate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11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3A201334-0D54-473F-B318-A4C7EEFB1978}"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Declare the estate.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resource &quot;libvirt_domain&quot; &quot;vm&quot; { for_each = var.guests name = each.key memory = each.value.memory vcpu = each.value.vcpu cloudinit = libvirt_cloudinit_disk.init[each.key].id disk { volume_id = libvirt_volume.disk[each.key].id } network_interface { network_name = &quot;default&quot; } console { type = &quot;pty&quot;, target_port = &quot;0&quot; } } TF"/>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resource</a:t>
            </a:r>
            <a:r>
              <a:rPr sz="2000" i="0">
                <a:solidFill>
                  <a:srgbClr val="E8EDF2"/>
                </a:solidFill>
                <a:latin typeface="Consolas"/>
              </a:rPr>
              <a:t> </a:t>
            </a:r>
            <a:r>
              <a:rPr sz="2000" i="0">
                <a:solidFill>
                  <a:srgbClr val="7DCEA0"/>
                </a:solidFill>
                <a:latin typeface="Consolas"/>
              </a:rPr>
              <a:t>"libvirt_domain"</a:t>
            </a:r>
            <a:r>
              <a:rPr sz="2000" i="0">
                <a:solidFill>
                  <a:srgbClr val="E8EDF2"/>
                </a:solidFill>
                <a:latin typeface="Consolas"/>
              </a:rPr>
              <a:t> </a:t>
            </a:r>
            <a:r>
              <a:rPr sz="2000" i="0">
                <a:solidFill>
                  <a:srgbClr val="7DCEA0"/>
                </a:solidFill>
                <a:latin typeface="Consolas"/>
              </a:rPr>
              <a:t>"vm"</a:t>
            </a:r>
            <a:r>
              <a:rPr sz="2000" i="0">
                <a:solidFill>
                  <a:srgbClr val="E8EDF2"/>
                </a:solidFill>
                <a:latin typeface="Consolas"/>
              </a:rPr>
              <a:t> </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for_each</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var.guests</a:t>
            </a:r>
          </a:p>
          <a:p>
            <a:pPr>
              <a:lnSpc>
                <a:spcPct val="100000"/>
              </a:lnSpc>
              <a:spcAft>
                <a:spcPts val="0"/>
              </a:spcAft>
            </a:pPr>
            <a:r>
              <a:rPr sz="2000" i="0">
                <a:solidFill>
                  <a:srgbClr val="E8EDF2"/>
                </a:solidFill>
                <a:latin typeface="Consolas"/>
              </a:rPr>
              <a:t>  </a:t>
            </a:r>
            <a:r>
              <a:rPr sz="2000" i="0">
                <a:solidFill>
                  <a:srgbClr val="E8EDF2"/>
                </a:solidFill>
                <a:latin typeface="Consolas"/>
              </a:rPr>
              <a:t>name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each.key</a:t>
            </a:r>
          </a:p>
          <a:p>
            <a:pPr>
              <a:lnSpc>
                <a:spcPct val="100000"/>
              </a:lnSpc>
              <a:spcAft>
                <a:spcPts val="0"/>
              </a:spcAft>
            </a:pPr>
            <a:r>
              <a:rPr sz="2000" i="0">
                <a:solidFill>
                  <a:srgbClr val="E8EDF2"/>
                </a:solidFill>
                <a:latin typeface="Consolas"/>
              </a:rPr>
              <a:t>  </a:t>
            </a:r>
            <a:r>
              <a:rPr sz="2000" i="0">
                <a:solidFill>
                  <a:srgbClr val="E8EDF2"/>
                </a:solidFill>
                <a:latin typeface="Consolas"/>
              </a:rPr>
              <a:t>memory</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each.value.memory</a:t>
            </a:r>
          </a:p>
          <a:p>
            <a:pPr>
              <a:lnSpc>
                <a:spcPct val="100000"/>
              </a:lnSpc>
              <a:spcAft>
                <a:spcPts val="0"/>
              </a:spcAft>
            </a:pPr>
            <a:r>
              <a:rPr sz="2000" i="0">
                <a:solidFill>
                  <a:srgbClr val="E8EDF2"/>
                </a:solidFill>
                <a:latin typeface="Consolas"/>
              </a:rPr>
              <a:t>  </a:t>
            </a:r>
            <a:r>
              <a:rPr sz="2000" i="0">
                <a:solidFill>
                  <a:srgbClr val="E8EDF2"/>
                </a:solidFill>
                <a:latin typeface="Consolas"/>
              </a:rPr>
              <a:t>vcpu</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each.value.vcpu</a:t>
            </a:r>
          </a:p>
          <a:p>
            <a:pPr>
              <a:lnSpc>
                <a:spcPct val="100000"/>
              </a:lnSpc>
              <a:spcAft>
                <a:spcPts val="0"/>
              </a:spcAft>
            </a:pPr>
            <a:r>
              <a:rPr sz="2000" i="0">
                <a:solidFill>
                  <a:srgbClr val="E8EDF2"/>
                </a:solidFill>
                <a:latin typeface="Consolas"/>
              </a:rPr>
              <a:t>  </a:t>
            </a:r>
            <a:r>
              <a:rPr sz="2000" i="0">
                <a:solidFill>
                  <a:srgbClr val="E8EDF2"/>
                </a:solidFill>
                <a:latin typeface="Consolas"/>
              </a:rPr>
              <a:t>cloudinit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libvirt_cloudinit_disk.init</a:t>
            </a:r>
            <a:r>
              <a:rPr sz="2000" i="0">
                <a:solidFill>
                  <a:srgbClr val="AEB6BF"/>
                </a:solidFill>
                <a:latin typeface="Consolas"/>
              </a:rPr>
              <a:t>[</a:t>
            </a:r>
            <a:r>
              <a:rPr sz="2000" i="0">
                <a:solidFill>
                  <a:srgbClr val="E8EDF2"/>
                </a:solidFill>
                <a:latin typeface="Consolas"/>
              </a:rPr>
              <a:t>each.key</a:t>
            </a:r>
            <a:r>
              <a:rPr sz="2000" i="0">
                <a:solidFill>
                  <a:srgbClr val="AEB6BF"/>
                </a:solidFill>
                <a:latin typeface="Consolas"/>
              </a:rPr>
              <a:t>]</a:t>
            </a:r>
            <a:r>
              <a:rPr sz="2000" i="0">
                <a:solidFill>
                  <a:srgbClr val="E8EDF2"/>
                </a:solidFill>
                <a:latin typeface="Consolas"/>
              </a:rPr>
              <a:t>.id</a:t>
            </a:r>
          </a:p>
          <a:p>
            <a:pPr>
              <a:lnSpc>
                <a:spcPct val="100000"/>
              </a:lnSpc>
              <a:spcAft>
                <a:spcPts val="0"/>
              </a:spcAft>
            </a:pPr>
            <a:r>
              <a:rPr sz="2000" i="0">
                <a:solidFill>
                  <a:srgbClr val="E8EDF2"/>
                </a:solidFill>
                <a:latin typeface="Consolas"/>
              </a:rPr>
              <a:t>  </a:t>
            </a:r>
            <a:r>
              <a:rPr sz="2000" i="0">
                <a:solidFill>
                  <a:srgbClr val="E8EDF2"/>
                </a:solidFill>
                <a:latin typeface="Consolas"/>
              </a:rPr>
              <a:t>disk</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volume_id</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libvirt_volume.disk</a:t>
            </a:r>
            <a:r>
              <a:rPr sz="2000" i="0">
                <a:solidFill>
                  <a:srgbClr val="AEB6BF"/>
                </a:solidFill>
                <a:latin typeface="Consolas"/>
              </a:rPr>
              <a:t>[</a:t>
            </a:r>
            <a:r>
              <a:rPr sz="2000" i="0">
                <a:solidFill>
                  <a:srgbClr val="E8EDF2"/>
                </a:solidFill>
                <a:latin typeface="Consolas"/>
              </a:rPr>
              <a:t>each.key</a:t>
            </a:r>
            <a:r>
              <a:rPr sz="2000" i="0">
                <a:solidFill>
                  <a:srgbClr val="AEB6BF"/>
                </a:solidFill>
                <a:latin typeface="Consolas"/>
              </a:rPr>
              <a:t>]</a:t>
            </a:r>
            <a:r>
              <a:rPr sz="2000" i="0">
                <a:solidFill>
                  <a:srgbClr val="E8EDF2"/>
                </a:solidFill>
                <a:latin typeface="Consolas"/>
              </a:rPr>
              <a:t>.id</a:t>
            </a:r>
            <a:r>
              <a:rPr sz="2000" i="0">
                <a:solidFill>
                  <a:srgbClr val="E8EDF2"/>
                </a:solidFill>
                <a:latin typeface="Consolas"/>
              </a:rPr>
              <a:t> </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network_interface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network_name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"default"</a:t>
            </a:r>
            <a:r>
              <a:rPr sz="2000" i="0">
                <a:solidFill>
                  <a:srgbClr val="E8EDF2"/>
                </a:solidFill>
                <a:latin typeface="Consolas"/>
              </a:rPr>
              <a:t> </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console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type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"pty"</a:t>
            </a:r>
            <a:r>
              <a:rPr sz="2000" i="0">
                <a:solidFill>
                  <a:srgbClr val="E8EDF2"/>
                </a:solidFill>
                <a:latin typeface="Consolas"/>
              </a:rPr>
              <a:t>,</a:t>
            </a:r>
            <a:r>
              <a:rPr sz="2000" i="0">
                <a:solidFill>
                  <a:srgbClr val="E8EDF2"/>
                </a:solidFill>
                <a:latin typeface="Consolas"/>
              </a:rPr>
              <a:t> </a:t>
            </a:r>
            <a:r>
              <a:rPr sz="2000" i="0">
                <a:solidFill>
                  <a:srgbClr val="E8EDF2"/>
                </a:solidFill>
                <a:latin typeface="Consolas"/>
              </a:rPr>
              <a:t>target_port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"0"</a:t>
            </a:r>
            <a:r>
              <a:rPr sz="2000" i="0">
                <a:solidFill>
                  <a:srgbClr val="E8EDF2"/>
                </a:solidFill>
                <a:latin typeface="Consolas"/>
              </a:rPr>
              <a:t> </a:t>
            </a:r>
            <a:r>
              <a:rPr sz="2000" i="0">
                <a:solidFill>
                  <a:srgbClr val="AEB6BF"/>
                </a:solidFill>
                <a:latin typeface="Consolas"/>
              </a:rPr>
              <a:t>}</a:t>
            </a:r>
          </a:p>
          <a:p>
            <a:pPr>
              <a:lnSpc>
                <a:spcPct val="100000"/>
              </a:lnSpc>
              <a:spcAft>
                <a:spcPts val="0"/>
              </a:spcAft>
            </a:pPr>
            <a:r>
              <a:rPr sz="2000" i="0">
                <a:solidFill>
                  <a:srgbClr val="AEB6BF"/>
                </a:solidFill>
                <a:latin typeface="Consolas"/>
              </a:rPr>
              <a:t>}</a:t>
            </a:r>
          </a:p>
          <a:p>
            <a:pPr>
              <a:lnSpc>
                <a:spcPct val="100000"/>
              </a:lnSpc>
              <a:spcAft>
                <a:spcPts val="0"/>
              </a:spcAft>
            </a:pPr>
            <a:r>
              <a:rPr sz="2000" i="0">
                <a:solidFill>
                  <a:srgbClr val="E8EDF2"/>
                </a:solidFill>
                <a:latin typeface="Consolas"/>
              </a:rPr>
              <a:t>TF</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60</a:t>
            </a:r>
          </a:p>
          <a:p>
            <a:pPr algn="r">
              <a:lnSpc>
                <a:spcPct val="100000"/>
              </a:lnSpc>
            </a:pPr>
            <a:r>
              <a:rPr sz="2000">
                <a:solidFill>
                  <a:srgbClr val="4F5D6A"/>
                </a:solidFill>
                <a:latin typeface="Consolas"/>
              </a:rPr>
              <a:t>61</a:t>
            </a:r>
          </a:p>
          <a:p>
            <a:pPr algn="r">
              <a:lnSpc>
                <a:spcPct val="100000"/>
              </a:lnSpc>
            </a:pPr>
            <a:r>
              <a:rPr sz="2000">
                <a:solidFill>
                  <a:srgbClr val="4F5D6A"/>
                </a:solidFill>
                <a:latin typeface="Consolas"/>
              </a:rPr>
              <a:t>62</a:t>
            </a:r>
          </a:p>
          <a:p>
            <a:pPr algn="r">
              <a:lnSpc>
                <a:spcPct val="100000"/>
              </a:lnSpc>
            </a:pPr>
            <a:r>
              <a:rPr sz="2000">
                <a:solidFill>
                  <a:srgbClr val="4F5D6A"/>
                </a:solidFill>
                <a:latin typeface="Consolas"/>
              </a:rPr>
              <a:t>63</a:t>
            </a:r>
          </a:p>
          <a:p>
            <a:pPr algn="r">
              <a:lnSpc>
                <a:spcPct val="100000"/>
              </a:lnSpc>
            </a:pPr>
            <a:r>
              <a:rPr sz="2000">
                <a:solidFill>
                  <a:srgbClr val="4F5D6A"/>
                </a:solidFill>
                <a:latin typeface="Consolas"/>
              </a:rPr>
              <a:t>64</a:t>
            </a:r>
          </a:p>
          <a:p>
            <a:pPr algn="r">
              <a:lnSpc>
                <a:spcPct val="100000"/>
              </a:lnSpc>
            </a:pPr>
            <a:r>
              <a:rPr sz="2000">
                <a:solidFill>
                  <a:srgbClr val="4F5D6A"/>
                </a:solidFill>
                <a:latin typeface="Consolas"/>
              </a:rPr>
              <a:t>65</a:t>
            </a:r>
          </a:p>
          <a:p>
            <a:pPr algn="r">
              <a:lnSpc>
                <a:spcPct val="100000"/>
              </a:lnSpc>
            </a:pPr>
            <a:r>
              <a:rPr sz="2000">
                <a:solidFill>
                  <a:srgbClr val="4F5D6A"/>
                </a:solidFill>
                <a:latin typeface="Consolas"/>
              </a:rPr>
              <a:t>66</a:t>
            </a:r>
          </a:p>
          <a:p>
            <a:pPr algn="r">
              <a:lnSpc>
                <a:spcPct val="100000"/>
              </a:lnSpc>
            </a:pPr>
            <a:r>
              <a:rPr sz="2000">
                <a:solidFill>
                  <a:srgbClr val="4F5D6A"/>
                </a:solidFill>
                <a:latin typeface="Consolas"/>
              </a:rPr>
              <a:t>67</a:t>
            </a:r>
          </a:p>
          <a:p>
            <a:pPr algn="r">
              <a:lnSpc>
                <a:spcPct val="100000"/>
              </a:lnSpc>
            </a:pPr>
            <a:r>
              <a:rPr sz="2000">
                <a:solidFill>
                  <a:srgbClr val="4F5D6A"/>
                </a:solidFill>
                <a:latin typeface="Consolas"/>
              </a:rPr>
              <a:t>68</a:t>
            </a:r>
          </a:p>
          <a:p>
            <a:pPr algn="r">
              <a:lnSpc>
                <a:spcPct val="100000"/>
              </a:lnSpc>
            </a:pPr>
            <a:r>
              <a:rPr sz="2000">
                <a:solidFill>
                  <a:srgbClr val="4F5D6A"/>
                </a:solidFill>
                <a:latin typeface="Consolas"/>
              </a:rPr>
              <a:t>69</a:t>
            </a:r>
          </a:p>
          <a:p>
            <a:pPr algn="r">
              <a:lnSpc>
                <a:spcPct val="100000"/>
              </a:lnSpc>
            </a:pPr>
            <a:r>
              <a:rPr sz="2000">
                <a:solidFill>
                  <a:srgbClr val="4F5D6A"/>
                </a:solidFill>
                <a:latin typeface="Consolas"/>
              </a:rPr>
              <a:t>70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8193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Declaring a Small Estate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11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605F80DB-BE1F-44B9-B54C-0020450D2D3A}"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Plan first. The plan IS the review.</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Plan first. The plan IS the review. -------------------------- terraform init -input=false terraform plan -out=tfplan | tail -20"/>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Plan first. The plan IS the review. --------------------------</a:t>
            </a:r>
          </a:p>
          <a:p>
            <a:pPr>
              <a:lnSpc>
                <a:spcPct val="100000"/>
              </a:lnSpc>
              <a:spcAft>
                <a:spcPts val="0"/>
              </a:spcAft>
            </a:pPr>
            <a:r>
              <a:rPr sz="1900" i="0">
                <a:solidFill>
                  <a:srgbClr val="E8EDF2"/>
                </a:solidFill>
                <a:latin typeface="Consolas"/>
              </a:rPr>
              <a:t>terraform</a:t>
            </a:r>
            <a:r>
              <a:rPr sz="1900" i="0">
                <a:solidFill>
                  <a:srgbClr val="E8EDF2"/>
                </a:solidFill>
                <a:latin typeface="Consolas"/>
              </a:rPr>
              <a:t> </a:t>
            </a:r>
            <a:r>
              <a:rPr sz="1900" i="0">
                <a:solidFill>
                  <a:srgbClr val="E8EDF2"/>
                </a:solidFill>
                <a:latin typeface="Consolas"/>
              </a:rPr>
              <a:t>init</a:t>
            </a:r>
            <a:r>
              <a:rPr sz="1900" i="0">
                <a:solidFill>
                  <a:srgbClr val="E8EDF2"/>
                </a:solidFill>
                <a:latin typeface="Consolas"/>
              </a:rPr>
              <a:t> </a:t>
            </a:r>
            <a:r>
              <a:rPr sz="1900" i="0">
                <a:solidFill>
                  <a:srgbClr val="E8EDF2"/>
                </a:solidFill>
                <a:latin typeface="Consolas"/>
              </a:rPr>
              <a:t>-input</a:t>
            </a:r>
            <a:r>
              <a:rPr sz="1900" i="0">
                <a:solidFill>
                  <a:srgbClr val="AEB6BF"/>
                </a:solidFill>
                <a:latin typeface="Consolas"/>
              </a:rPr>
              <a:t>=</a:t>
            </a:r>
            <a:r>
              <a:rPr sz="1900" i="0">
                <a:solidFill>
                  <a:srgbClr val="C39BD3"/>
                </a:solidFill>
                <a:latin typeface="Consolas"/>
              </a:rPr>
              <a:t>false</a:t>
            </a:r>
          </a:p>
          <a:p>
            <a:pPr>
              <a:lnSpc>
                <a:spcPct val="100000"/>
              </a:lnSpc>
              <a:spcAft>
                <a:spcPts val="0"/>
              </a:spcAft>
            </a:pPr>
            <a:r>
              <a:rPr sz="1900" i="0">
                <a:solidFill>
                  <a:srgbClr val="E8EDF2"/>
                </a:solidFill>
                <a:latin typeface="Consolas"/>
              </a:rPr>
              <a:t>terraform</a:t>
            </a:r>
            <a:r>
              <a:rPr sz="1900" i="0">
                <a:solidFill>
                  <a:srgbClr val="E8EDF2"/>
                </a:solidFill>
                <a:latin typeface="Consolas"/>
              </a:rPr>
              <a:t> </a:t>
            </a:r>
            <a:r>
              <a:rPr sz="1900" i="0">
                <a:solidFill>
                  <a:srgbClr val="E8EDF2"/>
                </a:solidFill>
                <a:latin typeface="Consolas"/>
              </a:rPr>
              <a:t>plan</a:t>
            </a:r>
            <a:r>
              <a:rPr sz="1900" i="0">
                <a:solidFill>
                  <a:srgbClr val="E8EDF2"/>
                </a:solidFill>
                <a:latin typeface="Consolas"/>
              </a:rPr>
              <a:t> </a:t>
            </a:r>
            <a:r>
              <a:rPr sz="1900" i="0">
                <a:solidFill>
                  <a:srgbClr val="E8EDF2"/>
                </a:solidFill>
                <a:latin typeface="Consolas"/>
              </a:rPr>
              <a:t>-out</a:t>
            </a:r>
            <a:r>
              <a:rPr sz="1900" i="0">
                <a:solidFill>
                  <a:srgbClr val="AEB6BF"/>
                </a:solidFill>
                <a:latin typeface="Consolas"/>
              </a:rPr>
              <a:t>=</a:t>
            </a:r>
            <a:r>
              <a:rPr sz="1900" i="0">
                <a:solidFill>
                  <a:srgbClr val="E8EDF2"/>
                </a:solidFill>
                <a:latin typeface="Consolas"/>
              </a:rPr>
              <a:t>tfplan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tail</a:t>
            </a:r>
            <a:r>
              <a:rPr sz="1900" i="0">
                <a:solidFill>
                  <a:srgbClr val="E8EDF2"/>
                </a:solidFill>
                <a:latin typeface="Consolas"/>
              </a:rPr>
              <a:t> </a:t>
            </a:r>
            <a:r>
              <a:rPr sz="1900" i="0">
                <a:solidFill>
                  <a:srgbClr val="E8EDF2"/>
                </a:solidFill>
                <a:latin typeface="Consolas"/>
              </a:rPr>
              <a:t>-20</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72</a:t>
            </a:r>
          </a:p>
          <a:p>
            <a:pPr algn="r">
              <a:lnSpc>
                <a:spcPct val="100000"/>
              </a:lnSpc>
            </a:pPr>
            <a:r>
              <a:rPr sz="1900">
                <a:solidFill>
                  <a:srgbClr val="4F5D6A"/>
                </a:solidFill>
                <a:latin typeface="Consolas"/>
              </a:rPr>
              <a:t>73</a:t>
            </a:r>
          </a:p>
          <a:p>
            <a:pPr algn="r">
              <a:lnSpc>
                <a:spcPct val="100000"/>
              </a:lnSpc>
            </a:pPr>
            <a:r>
              <a:rPr sz="1900">
                <a:solidFill>
                  <a:srgbClr val="4F5D6A"/>
                </a:solidFill>
                <a:latin typeface="Consolas"/>
              </a:rPr>
              <a:t>74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4133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Declaring a Small Estate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11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EB53E428-9E0C-4AAB-A5C7-6D27CAE65B7C}"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Apply, and then prove idempotence.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Apply, and then prove idempotence. --------------------------- terraform apply -auto-approve tfplan sudo virsh list --all terraform plan | tail -3 # &quot;No changes&quot; -- this is the property # a shell script of virsh does not have."/>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Apply, and then prove idempotence. ---------------------------</a:t>
            </a:r>
          </a:p>
          <a:p>
            <a:pPr>
              <a:lnSpc>
                <a:spcPct val="100000"/>
              </a:lnSpc>
              <a:spcAft>
                <a:spcPts val="0"/>
              </a:spcAft>
            </a:pPr>
            <a:r>
              <a:rPr sz="1900" i="0">
                <a:solidFill>
                  <a:srgbClr val="E8EDF2"/>
                </a:solidFill>
                <a:latin typeface="Consolas"/>
              </a:rPr>
              <a:t>terraform</a:t>
            </a:r>
            <a:r>
              <a:rPr sz="1900" i="0">
                <a:solidFill>
                  <a:srgbClr val="E8EDF2"/>
                </a:solidFill>
                <a:latin typeface="Consolas"/>
              </a:rPr>
              <a:t> </a:t>
            </a:r>
            <a:r>
              <a:rPr sz="1900" i="0">
                <a:solidFill>
                  <a:srgbClr val="E8EDF2"/>
                </a:solidFill>
                <a:latin typeface="Consolas"/>
              </a:rPr>
              <a:t>apply</a:t>
            </a:r>
            <a:r>
              <a:rPr sz="1900" i="0">
                <a:solidFill>
                  <a:srgbClr val="E8EDF2"/>
                </a:solidFill>
                <a:latin typeface="Consolas"/>
              </a:rPr>
              <a:t> </a:t>
            </a:r>
            <a:r>
              <a:rPr sz="1900" i="0">
                <a:solidFill>
                  <a:srgbClr val="E8EDF2"/>
                </a:solidFill>
                <a:latin typeface="Consolas"/>
              </a:rPr>
              <a:t>-auto-approve</a:t>
            </a:r>
            <a:r>
              <a:rPr sz="1900" i="0">
                <a:solidFill>
                  <a:srgbClr val="E8EDF2"/>
                </a:solidFill>
                <a:latin typeface="Consolas"/>
              </a:rPr>
              <a:t> </a:t>
            </a:r>
            <a:r>
              <a:rPr sz="1900" i="0">
                <a:solidFill>
                  <a:srgbClr val="E8EDF2"/>
                </a:solidFill>
                <a:latin typeface="Consolas"/>
              </a:rPr>
              <a:t>tfplan</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list</a:t>
            </a:r>
            <a:r>
              <a:rPr sz="1900" i="0">
                <a:solidFill>
                  <a:srgbClr val="E8EDF2"/>
                </a:solidFill>
                <a:latin typeface="Consolas"/>
              </a:rPr>
              <a:t> </a:t>
            </a:r>
            <a:r>
              <a:rPr sz="1900" i="0">
                <a:solidFill>
                  <a:srgbClr val="E8EDF2"/>
                </a:solidFill>
                <a:latin typeface="Consolas"/>
              </a:rPr>
              <a:t>--all</a:t>
            </a:r>
          </a:p>
          <a:p>
            <a:pPr>
              <a:lnSpc>
                <a:spcPct val="100000"/>
              </a:lnSpc>
              <a:spcAft>
                <a:spcPts val="0"/>
              </a:spcAft>
            </a:pPr>
            <a:r>
              <a:rPr sz="1900" i="0">
                <a:solidFill>
                  <a:srgbClr val="E8EDF2"/>
                </a:solidFill>
                <a:latin typeface="Consolas"/>
              </a:rPr>
              <a:t>terraform</a:t>
            </a:r>
            <a:r>
              <a:rPr sz="1900" i="0">
                <a:solidFill>
                  <a:srgbClr val="E8EDF2"/>
                </a:solidFill>
                <a:latin typeface="Consolas"/>
              </a:rPr>
              <a:t> </a:t>
            </a:r>
            <a:r>
              <a:rPr sz="1900" i="0">
                <a:solidFill>
                  <a:srgbClr val="E8EDF2"/>
                </a:solidFill>
                <a:latin typeface="Consolas"/>
              </a:rPr>
              <a:t>plan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tail</a:t>
            </a:r>
            <a:r>
              <a:rPr sz="1900" i="0">
                <a:solidFill>
                  <a:srgbClr val="E8EDF2"/>
                </a:solidFill>
                <a:latin typeface="Consolas"/>
              </a:rPr>
              <a:t> </a:t>
            </a:r>
            <a:r>
              <a:rPr sz="1900" i="0">
                <a:solidFill>
                  <a:srgbClr val="E8EDF2"/>
                </a:solidFill>
                <a:latin typeface="Consolas"/>
              </a:rPr>
              <a:t>-3</a:t>
            </a:r>
            <a:r>
              <a:rPr sz="1900" i="0">
                <a:solidFill>
                  <a:srgbClr val="E8EDF2"/>
                </a:solidFill>
                <a:latin typeface="Consolas"/>
              </a:rPr>
              <a:t>        </a:t>
            </a:r>
            <a:r>
              <a:rPr sz="1900" i="1">
                <a:solidFill>
                  <a:srgbClr val="8795A1"/>
                </a:solidFill>
                <a:latin typeface="Consolas"/>
              </a:rPr>
              <a:t># "No changes" -- this is the property</a:t>
            </a:r>
          </a:p>
          <a:p>
            <a:pPr>
              <a:lnSpc>
                <a:spcPct val="100000"/>
              </a:lnSpc>
              <a:spcAft>
                <a:spcPts val="0"/>
              </a:spcAft>
            </a:pPr>
            <a:r>
              <a:rPr sz="1900" i="0">
                <a:solidFill>
                  <a:srgbClr val="E8EDF2"/>
                </a:solidFill>
                <a:latin typeface="Consolas"/>
              </a:rPr>
              <a:t>                                </a:t>
            </a:r>
            <a:r>
              <a:rPr sz="1900" i="1">
                <a:solidFill>
                  <a:srgbClr val="8795A1"/>
                </a:solidFill>
                <a:latin typeface="Consolas"/>
              </a:rPr>
              <a:t># a shell script of virsh does not have.</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76</a:t>
            </a:r>
          </a:p>
          <a:p>
            <a:pPr algn="r">
              <a:lnSpc>
                <a:spcPct val="100000"/>
              </a:lnSpc>
            </a:pPr>
            <a:r>
              <a:rPr sz="1900">
                <a:solidFill>
                  <a:srgbClr val="4F5D6A"/>
                </a:solidFill>
                <a:latin typeface="Consolas"/>
              </a:rPr>
              <a:t>77</a:t>
            </a:r>
          </a:p>
          <a:p>
            <a:pPr algn="r">
              <a:lnSpc>
                <a:spcPct val="100000"/>
              </a:lnSpc>
            </a:pPr>
            <a:r>
              <a:rPr sz="1900">
                <a:solidFill>
                  <a:srgbClr val="4F5D6A"/>
                </a:solidFill>
                <a:latin typeface="Consolas"/>
              </a:rPr>
              <a:t>78</a:t>
            </a:r>
          </a:p>
          <a:p>
            <a:pPr algn="r">
              <a:lnSpc>
                <a:spcPct val="100000"/>
              </a:lnSpc>
            </a:pPr>
            <a:r>
              <a:rPr sz="1900">
                <a:solidFill>
                  <a:srgbClr val="4F5D6A"/>
                </a:solidFill>
                <a:latin typeface="Consolas"/>
              </a:rPr>
              <a:t>79</a:t>
            </a:r>
          </a:p>
          <a:p>
            <a:pPr algn="r">
              <a:lnSpc>
                <a:spcPct val="100000"/>
              </a:lnSpc>
            </a:pPr>
            <a:r>
              <a:rPr sz="1900">
                <a:solidFill>
                  <a:srgbClr val="4F5D6A"/>
                </a:solidFill>
                <a:latin typeface="Consolas"/>
              </a:rPr>
              <a:t>80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0072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Declaring a Small Estate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11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FA76A4FD-D638-461C-B3B3-232D47129A79}"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Reconfigure declaratively: change one number.</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Reconfigure declaratively: change one number. ---------------- sed -i 's/db1 = { memory = 2048/db1 = { memory = 4096/' main.tf terraform plan | grep -E 'memory|will be' terraform apply -auto-approve"/>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Reconfigure declaratively: change one number. ----------------</a:t>
            </a:r>
          </a:p>
          <a:p>
            <a:pPr>
              <a:lnSpc>
                <a:spcPct val="100000"/>
              </a:lnSpc>
              <a:spcAft>
                <a:spcPts val="0"/>
              </a:spcAft>
            </a:pPr>
            <a:r>
              <a:rPr sz="1900" i="0">
                <a:solidFill>
                  <a:srgbClr val="E8EDF2"/>
                </a:solidFill>
                <a:latin typeface="Consolas"/>
              </a:rPr>
              <a:t>sed</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7DCEA0"/>
                </a:solidFill>
                <a:latin typeface="Consolas"/>
              </a:rPr>
              <a:t>'s/db1  = { memory = 2048/db1  = { memory = 4096/'</a:t>
            </a:r>
            <a:r>
              <a:rPr sz="1900" i="0">
                <a:solidFill>
                  <a:srgbClr val="E8EDF2"/>
                </a:solidFill>
                <a:latin typeface="Consolas"/>
              </a:rPr>
              <a:t> </a:t>
            </a:r>
            <a:r>
              <a:rPr sz="1900" i="0">
                <a:solidFill>
                  <a:srgbClr val="E8EDF2"/>
                </a:solidFill>
                <a:latin typeface="Consolas"/>
              </a:rPr>
              <a:t>main.tf</a:t>
            </a:r>
          </a:p>
          <a:p>
            <a:pPr>
              <a:lnSpc>
                <a:spcPct val="100000"/>
              </a:lnSpc>
              <a:spcAft>
                <a:spcPts val="0"/>
              </a:spcAft>
            </a:pPr>
            <a:r>
              <a:rPr sz="1900" i="0">
                <a:solidFill>
                  <a:srgbClr val="E8EDF2"/>
                </a:solidFill>
                <a:latin typeface="Consolas"/>
              </a:rPr>
              <a:t>terraform</a:t>
            </a:r>
            <a:r>
              <a:rPr sz="1900" i="0">
                <a:solidFill>
                  <a:srgbClr val="E8EDF2"/>
                </a:solidFill>
                <a:latin typeface="Consolas"/>
              </a:rPr>
              <a:t> </a:t>
            </a:r>
            <a:r>
              <a:rPr sz="1900" i="0">
                <a:solidFill>
                  <a:srgbClr val="E8EDF2"/>
                </a:solidFill>
                <a:latin typeface="Consolas"/>
              </a:rPr>
              <a:t>plan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-E</a:t>
            </a:r>
            <a:r>
              <a:rPr sz="1900" i="0">
                <a:solidFill>
                  <a:srgbClr val="E8EDF2"/>
                </a:solidFill>
                <a:latin typeface="Consolas"/>
              </a:rPr>
              <a:t> </a:t>
            </a:r>
            <a:r>
              <a:rPr sz="1900" i="0">
                <a:solidFill>
                  <a:srgbClr val="7DCEA0"/>
                </a:solidFill>
                <a:latin typeface="Consolas"/>
              </a:rPr>
              <a:t>'memory|will be'</a:t>
            </a:r>
          </a:p>
          <a:p>
            <a:pPr>
              <a:lnSpc>
                <a:spcPct val="100000"/>
              </a:lnSpc>
              <a:spcAft>
                <a:spcPts val="0"/>
              </a:spcAft>
            </a:pPr>
            <a:r>
              <a:rPr sz="1900" i="0">
                <a:solidFill>
                  <a:srgbClr val="E8EDF2"/>
                </a:solidFill>
                <a:latin typeface="Consolas"/>
              </a:rPr>
              <a:t>terraform</a:t>
            </a:r>
            <a:r>
              <a:rPr sz="1900" i="0">
                <a:solidFill>
                  <a:srgbClr val="E8EDF2"/>
                </a:solidFill>
                <a:latin typeface="Consolas"/>
              </a:rPr>
              <a:t> </a:t>
            </a:r>
            <a:r>
              <a:rPr sz="1900" i="0">
                <a:solidFill>
                  <a:srgbClr val="E8EDF2"/>
                </a:solidFill>
                <a:latin typeface="Consolas"/>
              </a:rPr>
              <a:t>apply</a:t>
            </a:r>
            <a:r>
              <a:rPr sz="1900" i="0">
                <a:solidFill>
                  <a:srgbClr val="E8EDF2"/>
                </a:solidFill>
                <a:latin typeface="Consolas"/>
              </a:rPr>
              <a:t> </a:t>
            </a:r>
            <a:r>
              <a:rPr sz="1900" i="0">
                <a:solidFill>
                  <a:srgbClr val="E8EDF2"/>
                </a:solidFill>
                <a:latin typeface="Consolas"/>
              </a:rPr>
              <a:t>-auto-approve</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82</a:t>
            </a:r>
          </a:p>
          <a:p>
            <a:pPr algn="r">
              <a:lnSpc>
                <a:spcPct val="100000"/>
              </a:lnSpc>
            </a:pPr>
            <a:r>
              <a:rPr sz="1900">
                <a:solidFill>
                  <a:srgbClr val="4F5D6A"/>
                </a:solidFill>
                <a:latin typeface="Consolas"/>
              </a:rPr>
              <a:t>83</a:t>
            </a:r>
          </a:p>
          <a:p>
            <a:pPr algn="r">
              <a:lnSpc>
                <a:spcPct val="100000"/>
              </a:lnSpc>
            </a:pPr>
            <a:r>
              <a:rPr sz="1900">
                <a:solidFill>
                  <a:srgbClr val="4F5D6A"/>
                </a:solidFill>
                <a:latin typeface="Consolas"/>
              </a:rPr>
              <a:t>84</a:t>
            </a:r>
          </a:p>
          <a:p>
            <a:pPr algn="r">
              <a:lnSpc>
                <a:spcPct val="100000"/>
              </a:lnSpc>
            </a:pPr>
            <a:r>
              <a:rPr sz="1900">
                <a:solidFill>
                  <a:srgbClr val="4F5D6A"/>
                </a:solidFill>
                <a:latin typeface="Consolas"/>
              </a:rPr>
              <a:t>85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6012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Declaring a Small Estate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10 OF 11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56A1BA41-7BA9-4460-88FD-E3ABC5FC0012}"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Create drift by hand, then watch the tool notice.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Create drift by hand, then watch the tool notice. ------------ sudo virsh setmaxmem web1 3145728 --config sudo virsh setmem web1 3145728 --config terraform plan | tail -8 # the difference, reported"/>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Create drift by hand, then watch the tool notice.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setmaxmem</a:t>
            </a:r>
            <a:r>
              <a:rPr sz="1900" i="0">
                <a:solidFill>
                  <a:srgbClr val="E8EDF2"/>
                </a:solidFill>
                <a:latin typeface="Consolas"/>
              </a:rPr>
              <a:t> </a:t>
            </a:r>
            <a:r>
              <a:rPr sz="1900" i="0">
                <a:solidFill>
                  <a:srgbClr val="E8EDF2"/>
                </a:solidFill>
                <a:latin typeface="Consolas"/>
              </a:rPr>
              <a:t>web1</a:t>
            </a:r>
            <a:r>
              <a:rPr sz="1900" i="0">
                <a:solidFill>
                  <a:srgbClr val="E8EDF2"/>
                </a:solidFill>
                <a:latin typeface="Consolas"/>
              </a:rPr>
              <a:t> </a:t>
            </a:r>
            <a:r>
              <a:rPr sz="1900" i="0">
                <a:solidFill>
                  <a:srgbClr val="F7DC6F"/>
                </a:solidFill>
                <a:latin typeface="Consolas"/>
              </a:rPr>
              <a:t>3145728</a:t>
            </a:r>
            <a:r>
              <a:rPr sz="1900" i="0">
                <a:solidFill>
                  <a:srgbClr val="E8EDF2"/>
                </a:solidFill>
                <a:latin typeface="Consolas"/>
              </a:rPr>
              <a:t> </a:t>
            </a:r>
            <a:r>
              <a:rPr sz="1900" i="0">
                <a:solidFill>
                  <a:srgbClr val="E8EDF2"/>
                </a:solidFill>
                <a:latin typeface="Consolas"/>
              </a:rPr>
              <a:t>--config</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setmem</a:t>
            </a:r>
            <a:r>
              <a:rPr sz="1900" i="0">
                <a:solidFill>
                  <a:srgbClr val="E8EDF2"/>
                </a:solidFill>
                <a:latin typeface="Consolas"/>
              </a:rPr>
              <a:t> </a:t>
            </a:r>
            <a:r>
              <a:rPr sz="1900" i="0">
                <a:solidFill>
                  <a:srgbClr val="E8EDF2"/>
                </a:solidFill>
                <a:latin typeface="Consolas"/>
              </a:rPr>
              <a:t>web1</a:t>
            </a:r>
            <a:r>
              <a:rPr sz="1900" i="0">
                <a:solidFill>
                  <a:srgbClr val="E8EDF2"/>
                </a:solidFill>
                <a:latin typeface="Consolas"/>
              </a:rPr>
              <a:t> </a:t>
            </a:r>
            <a:r>
              <a:rPr sz="1900" i="0">
                <a:solidFill>
                  <a:srgbClr val="F7DC6F"/>
                </a:solidFill>
                <a:latin typeface="Consolas"/>
              </a:rPr>
              <a:t>3145728</a:t>
            </a:r>
            <a:r>
              <a:rPr sz="1900" i="0">
                <a:solidFill>
                  <a:srgbClr val="E8EDF2"/>
                </a:solidFill>
                <a:latin typeface="Consolas"/>
              </a:rPr>
              <a:t> </a:t>
            </a:r>
            <a:r>
              <a:rPr sz="1900" i="0">
                <a:solidFill>
                  <a:srgbClr val="E8EDF2"/>
                </a:solidFill>
                <a:latin typeface="Consolas"/>
              </a:rPr>
              <a:t>--config</a:t>
            </a:r>
          </a:p>
          <a:p>
            <a:pPr>
              <a:lnSpc>
                <a:spcPct val="100000"/>
              </a:lnSpc>
              <a:spcAft>
                <a:spcPts val="0"/>
              </a:spcAft>
            </a:pPr>
            <a:r>
              <a:rPr sz="1900" i="0">
                <a:solidFill>
                  <a:srgbClr val="E8EDF2"/>
                </a:solidFill>
                <a:latin typeface="Consolas"/>
              </a:rPr>
              <a:t>terraform</a:t>
            </a:r>
            <a:r>
              <a:rPr sz="1900" i="0">
                <a:solidFill>
                  <a:srgbClr val="E8EDF2"/>
                </a:solidFill>
                <a:latin typeface="Consolas"/>
              </a:rPr>
              <a:t> </a:t>
            </a:r>
            <a:r>
              <a:rPr sz="1900" i="0">
                <a:solidFill>
                  <a:srgbClr val="E8EDF2"/>
                </a:solidFill>
                <a:latin typeface="Consolas"/>
              </a:rPr>
              <a:t>plan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tail</a:t>
            </a:r>
            <a:r>
              <a:rPr sz="1900" i="0">
                <a:solidFill>
                  <a:srgbClr val="E8EDF2"/>
                </a:solidFill>
                <a:latin typeface="Consolas"/>
              </a:rPr>
              <a:t> </a:t>
            </a:r>
            <a:r>
              <a:rPr sz="1900" i="0">
                <a:solidFill>
                  <a:srgbClr val="E8EDF2"/>
                </a:solidFill>
                <a:latin typeface="Consolas"/>
              </a:rPr>
              <a:t>-8</a:t>
            </a:r>
            <a:r>
              <a:rPr sz="1900" i="0">
                <a:solidFill>
                  <a:srgbClr val="E8EDF2"/>
                </a:solidFill>
                <a:latin typeface="Consolas"/>
              </a:rPr>
              <a:t>        </a:t>
            </a:r>
            <a:r>
              <a:rPr sz="1900" i="1">
                <a:solidFill>
                  <a:srgbClr val="8795A1"/>
                </a:solidFill>
                <a:latin typeface="Consolas"/>
              </a:rPr>
              <a:t># the difference, reported</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87</a:t>
            </a:r>
          </a:p>
          <a:p>
            <a:pPr algn="r">
              <a:lnSpc>
                <a:spcPct val="100000"/>
              </a:lnSpc>
            </a:pPr>
            <a:r>
              <a:rPr sz="1900">
                <a:solidFill>
                  <a:srgbClr val="4F5D6A"/>
                </a:solidFill>
                <a:latin typeface="Consolas"/>
              </a:rPr>
              <a:t>88</a:t>
            </a:r>
          </a:p>
          <a:p>
            <a:pPr algn="r">
              <a:lnSpc>
                <a:spcPct val="100000"/>
              </a:lnSpc>
            </a:pPr>
            <a:r>
              <a:rPr sz="1900">
                <a:solidFill>
                  <a:srgbClr val="4F5D6A"/>
                </a:solidFill>
                <a:latin typeface="Consolas"/>
              </a:rPr>
              <a:t>89</a:t>
            </a:r>
          </a:p>
          <a:p>
            <a:pPr algn="r">
              <a:lnSpc>
                <a:spcPct val="100000"/>
              </a:lnSpc>
            </a:pPr>
            <a:r>
              <a:rPr sz="1900">
                <a:solidFill>
                  <a:srgbClr val="4F5D6A"/>
                </a:solidFill>
                <a:latin typeface="Consolas"/>
              </a:rPr>
              <a:t>90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1952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Declaring a Small Estate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11 OF 11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BF1913C0-BF95-4DD0-8A19-7E90CD582ECC}"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the whole estate down with one command.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8. Tear the whole estate down with one command. ----------------- terraform destroy -auto-approve sudo virsh list --all"/>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--- 8. Tear the whole estate down with one command. -----------------</a:t>
            </a:r>
          </a:p>
          <a:p>
            <a:pPr>
              <a:lnSpc>
                <a:spcPct val="100000"/>
              </a:lnSpc>
              <a:spcAft>
                <a:spcPts val="0"/>
              </a:spcAft>
            </a:pPr>
            <a:r>
              <a:rPr sz="1900" i="0">
                <a:solidFill>
                  <a:srgbClr val="E8EDF2"/>
                </a:solidFill>
                <a:latin typeface="Consolas"/>
              </a:rPr>
              <a:t>terraform</a:t>
            </a:r>
            <a:r>
              <a:rPr sz="1900" i="0">
                <a:solidFill>
                  <a:srgbClr val="E8EDF2"/>
                </a:solidFill>
                <a:latin typeface="Consolas"/>
              </a:rPr>
              <a:t> </a:t>
            </a:r>
            <a:r>
              <a:rPr sz="1900" i="0">
                <a:solidFill>
                  <a:srgbClr val="E8EDF2"/>
                </a:solidFill>
                <a:latin typeface="Consolas"/>
              </a:rPr>
              <a:t>destroy</a:t>
            </a:r>
            <a:r>
              <a:rPr sz="1900" i="0">
                <a:solidFill>
                  <a:srgbClr val="E8EDF2"/>
                </a:solidFill>
                <a:latin typeface="Consolas"/>
              </a:rPr>
              <a:t> </a:t>
            </a:r>
            <a:r>
              <a:rPr sz="1900" i="0">
                <a:solidFill>
                  <a:srgbClr val="E8EDF2"/>
                </a:solidFill>
                <a:latin typeface="Consolas"/>
              </a:rPr>
              <a:t>-auto-approve</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list</a:t>
            </a:r>
            <a:r>
              <a:rPr sz="1900" i="0">
                <a:solidFill>
                  <a:srgbClr val="E8EDF2"/>
                </a:solidFill>
                <a:latin typeface="Consolas"/>
              </a:rPr>
              <a:t> </a:t>
            </a:r>
            <a:r>
              <a:rPr sz="1900" i="0">
                <a:solidFill>
                  <a:srgbClr val="E8EDF2"/>
                </a:solidFill>
                <a:latin typeface="Consolas"/>
              </a:rPr>
              <a:t>--all</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92</a:t>
            </a:r>
          </a:p>
          <a:p>
            <a:pPr algn="r">
              <a:lnSpc>
                <a:spcPct val="100000"/>
              </a:lnSpc>
            </a:pPr>
            <a:r>
              <a:rPr sz="1900">
                <a:solidFill>
                  <a:srgbClr val="4F5D6A"/>
                </a:solidFill>
                <a:latin typeface="Consolas"/>
              </a:rPr>
              <a:t>93</a:t>
            </a:r>
          </a:p>
          <a:p>
            <a:pPr algn="r">
              <a:lnSpc>
                <a:spcPct val="100000"/>
              </a:lnSpc>
            </a:pPr>
            <a:r>
              <a:rPr sz="1900">
                <a:solidFill>
                  <a:srgbClr val="4F5D6A"/>
                </a:solidFill>
                <a:latin typeface="Consolas"/>
              </a:rPr>
              <a:t>94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7892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129     </a:t>
            </a:r>
            <a:fld id="{D36EA121-4EF9-4840-A198-71BC819FC996}" type="slidenum">
              <a:rPr lang="en-GB" sz="1000">
                <a:solidFill>
                  <a:srgbClr val="8795A1"/>
                </a:solidFill>
                <a:latin typeface="Segoe UI"/>
              </a:rPr>
              <a:t>36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Step 5’s second </a:t>
            </a:r>
            <a:r>
              <a:rPr sz="2150" b="0" i="0">
                <a:solidFill>
                  <a:srgbClr val="1F4E79"/>
                </a:solidFill>
                <a:latin typeface="Consolas"/>
              </a:rPr>
              <a:t>plan</a:t>
            </a:r>
            <a:r>
              <a:rPr sz="2300" b="0" i="0">
                <a:solidFill>
                  <a:srgbClr val="1C252B"/>
                </a:solidFill>
                <a:latin typeface="Segoe UI"/>
              </a:rPr>
              <a:t> is the whole argument: running it again does nothing, so it is safe to run on a schedule. Step 7 is the other half — the tool can tell you the estate has been changed behind its back, which no console can.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33831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team provisions 3 guests a month at 50 minutes each and reconfigures 8 at 25 minutes. A Terraform module would take 4 days and reduce these to 5 and 3 minutes. Work out the first-year saving and say whether you would adopt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16  ·  Virtualization Management Platforms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132  ·  answers in Appendix D     </a:t>
            </a:r>
            <a:fld id="{4910F35E-CDC5-4E29-B243-0375016B6BB9}"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55217"/>
          </a:xfrm>
        </p:spPr>
        <p:txBody>
          <a:bodyPr wrap="square" lIns="0" rIns="0" tIns="0" bIns="0" anchor="t">
            <a:noAutofit/>
          </a:bodyPr>
          <a:lstStyle/>
          <a:p>
            <a:pPr algn="l">
              <a:lnSpc>
                <a:spcPct val="96000"/>
              </a:lnSpc>
            </a:pPr>
            <a:r>
              <a:rPr sz="2300" b="0" i="0">
                <a:solidFill>
                  <a:srgbClr val="1A5276"/>
                </a:solidFill>
                <a:latin typeface="Segoe UI Semibold"/>
              </a:rPr>
              <a:t>A team provisions 3 guests a month at 50 minutes each and reconfigures 8 at 25 minutes. A Terraform module would take 4 days and reduce these to 5 and 3 minutes. Work out the first-year saving and say whether you would adopt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070201"/>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070201"/>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Now: </a:t>
            </a:r>
            <a:r>
              <a:rPr sz="2200" b="0" i="0">
                <a:solidFill>
                  <a:srgbClr val="1C252B"/>
                </a:solidFill>
                <a:latin typeface="Cambria"/>
              </a:rPr>
              <a:t>3 × 50 + 8 × 25 = 350</a:t>
            </a:r>
            <a:r>
              <a:rPr sz="2200" b="0" i="0">
                <a:solidFill>
                  <a:srgbClr val="1C252B"/>
                </a:solidFill>
                <a:latin typeface="Segoe UI"/>
              </a:rPr>
              <a:t> min a month </a:t>
            </a:r>
            <a:r>
              <a:rPr sz="2200" b="0" i="0">
                <a:solidFill>
                  <a:srgbClr val="1C252B"/>
                </a:solidFill>
                <a:latin typeface="Cambria"/>
              </a:rPr>
              <a:t>= 70</a:t>
            </a:r>
            <a:r>
              <a:rPr sz="2200" b="0" i="0">
                <a:solidFill>
                  <a:srgbClr val="1C252B"/>
                </a:solidFill>
                <a:latin typeface="Segoe UI"/>
              </a:rPr>
              <a:t> hours a year. After: </a:t>
            </a:r>
            <a:r>
              <a:rPr sz="2200" b="0" i="0">
                <a:solidFill>
                  <a:srgbClr val="1C252B"/>
                </a:solidFill>
                <a:latin typeface="Cambria"/>
              </a:rPr>
              <a:t>3 × 5 + 8 × 3 = 39</a:t>
            </a:r>
            <a:r>
              <a:rPr sz="2200" b="0" i="0">
                <a:solidFill>
                  <a:srgbClr val="1C252B"/>
                </a:solidFill>
                <a:latin typeface="Segoe UI"/>
              </a:rPr>
              <a:t> min a month </a:t>
            </a:r>
            <a:r>
              <a:rPr sz="2200" b="0" i="0">
                <a:solidFill>
                  <a:srgbClr val="1C252B"/>
                </a:solidFill>
                <a:latin typeface="Cambria"/>
              </a:rPr>
              <a:t>= 7.8</a:t>
            </a:r>
            <a:r>
              <a:rPr sz="2200" b="0" i="0">
                <a:solidFill>
                  <a:srgbClr val="1C252B"/>
                </a:solidFill>
                <a:latin typeface="Segoe UI"/>
              </a:rPr>
              <a:t> hours a year, plus a 32-hour build. First-year saving </a:t>
            </a:r>
            <a:r>
              <a:rPr sz="2200" b="0" i="0">
                <a:solidFill>
                  <a:srgbClr val="1C252B"/>
                </a:solidFill>
                <a:latin typeface="Cambria"/>
              </a:rPr>
              <a:t>= 70 − (7.8 + 32) = </a:t>
            </a:r>
            <a:r>
              <a:rPr sz="2200" b="1" i="0">
                <a:solidFill>
                  <a:srgbClr val="1C252B"/>
                </a:solidFill>
                <a:latin typeface="Cambria"/>
              </a:rPr>
              <a:t>30.2</a:t>
            </a:r>
            <a:r>
              <a:rPr sz="2200" b="0" i="0">
                <a:solidFill>
                  <a:srgbClr val="1C252B"/>
                </a:solidFill>
                <a:latin typeface="Segoe UI"/>
              </a:rPr>
              <a:t> hours; thereafter about 62 hours a year. </a:t>
            </a:r>
            <a:r>
              <a:rPr sz="2200" b="1" i="0">
                <a:solidFill>
                  <a:srgbClr val="1C252B"/>
                </a:solidFill>
                <a:latin typeface="Segoe UI"/>
              </a:rPr>
              <a:t>Adopt</a:t>
            </a:r>
            <a:r>
              <a:rPr sz="2200" b="0" i="0">
                <a:solidFill>
                  <a:srgbClr val="1C252B"/>
                </a:solidFill>
                <a:latin typeface="Segoe UI"/>
              </a:rPr>
              <a:t> — but note it is marginal in year one, so the case rests on the estate still existing in year two and on the drift and review benefits, which are real but not in this arithmetic.</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132  ·  answers in Appendix D     </a:t>
            </a:r>
            <a:fld id="{423BB6AF-31B0-4262-9F20-7F54FF4E3215}"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5711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Explain what belongs in a golden image and what belongs in cloud-init user data, with one example of each being put in the wrong place and the consequence.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16  ·  Virtualization Management Platforms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132  ·  answers in Appendix D     </a:t>
            </a:r>
            <a:fld id="{EDE25739-43D8-4035-8C4E-306C5CCAF5F7}"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Explain what belongs in a golden image and what belongs in cloud-init user data, with one example of each being put in the wrong place and the consequence.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In the image:</a:t>
            </a:r>
            <a:r>
              <a:rPr sz="2200" b="0" i="0">
                <a:solidFill>
                  <a:srgbClr val="1C252B"/>
                </a:solidFill>
                <a:latin typeface="Segoe UI"/>
              </a:rPr>
              <a:t> everything identical across guests — the patched operating system, the agents, the standard configuration. </a:t>
            </a:r>
            <a:r>
              <a:rPr sz="2200" b="1" i="0">
                <a:solidFill>
                  <a:srgbClr val="1C252B"/>
                </a:solidFill>
                <a:latin typeface="Segoe UI"/>
              </a:rPr>
              <a:t>In user data:</a:t>
            </a:r>
            <a:r>
              <a:rPr sz="2200" b="0" i="0">
                <a:solidFill>
                  <a:srgbClr val="1C252B"/>
                </a:solidFill>
                <a:latin typeface="Segoe UI"/>
              </a:rPr>
              <a:t> everything that differs — hostname, network address, SSH keys, role. Wrong way round: a hostname baked into the image means every clone has the same name and the same SSH host key, so they conflict and tooling cannot distinguish them; a security patch applied through user data is re-applied at every boot for ever, slowing each start and never updating the image everybody else builds from.</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132  ·  answers in Appendix D     </a:t>
            </a:r>
            <a:fld id="{5408227C-E2C2-4C13-988B-2384B8C933E9}"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7591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database server cannot be rebuilt because its configuration was never captured. Which drift strategy applies to it, and what would you do to change that over the next year?</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16  ·  Virtualization Management Platforms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132  ·  answers in Appendix D     </a:t>
            </a:r>
            <a:fld id="{4EDA20F6-0DDE-464D-9FD1-BA4CD9B9A83F}"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database server cannot be rebuilt because its configuration was never captured. Which drift strategy applies to it, and what would you do to change that over the next year?</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Convergent</a:t>
            </a:r>
            <a:r>
              <a:rPr sz="2200" b="0" i="0">
                <a:solidFill>
                  <a:srgbClr val="1C252B"/>
                </a:solidFill>
                <a:latin typeface="Segoe UI"/>
              </a:rPr>
              <a:t> management — it is the only strategy available for a system that cannot be rebuilt. Over the year: write a configuration definition that describes it as it currently is, apply it in check-only mode until it reports no differences, then bring it under enforcement; in parallel, build and test a replacement from that definition, and when a rebuild succeeds the machine can move to the immutable regime. The intermediate goal is not automation but </a:t>
            </a:r>
            <a:r>
              <a:rPr sz="2200" b="0" i="1">
                <a:solidFill>
                  <a:srgbClr val="1C252B"/>
                </a:solidFill>
                <a:latin typeface="Segoe UI"/>
              </a:rPr>
              <a:t>a written description that is known to be accurate</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132  ·  answers in Appendix D     </a:t>
            </a:r>
            <a:fld id="{D3436444-F169-41D0-9560-27E15742B047}"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9470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132     </a:t>
            </a:r>
            <a:fld id="{905D6B95-1EE5-4D4A-BB98-4A3164F8505C}" type="slidenum">
              <a:rPr lang="en-GB" sz="1000">
                <a:solidFill>
                  <a:srgbClr val="8795A1"/>
                </a:solidFill>
                <a:latin typeface="Segoe UI"/>
              </a:rPr>
              <a:t>43</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management layer exists because placement, evacuation, failure recovery, access control and consistency have no obvious answers at twenty hosts. Automated placement is what pays for it.</a:t>
            </a:r>
          </a:p>
        </p:txBody>
      </p:sp>
      <p:sp>
        <p:nvSpPr>
          <p:cNvPr id="10" name="!!sb1">
            <a:extLst>
              <a:ext uri="{C183D7F6-B498-43B3-948B-1728B52AA6E4}">
                <adec:decorative xmlns:adec="http://schemas.microsoft.com/office/drawing/2017/decorative" val="1"/>
              </a:ext>
            </a:extLst>
          </p:cNvPr>
          <p:cNvSpPr/>
          <p:nvPr/>
        </p:nvSpPr>
        <p:spPr>
          <a:xfrm>
            <a:off x="658368" y="24999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548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90825"/>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vCenter, SCVMM, oVirt and Proxmox manage </a:t>
            </a:r>
            <a:r>
              <a:rPr sz="1800" b="0" i="1">
                <a:solidFill>
                  <a:srgbClr val="1C252B"/>
                </a:solidFill>
                <a:latin typeface="Segoe UI"/>
              </a:rPr>
              <a:t>servers</a:t>
            </a:r>
            <a:r>
              <a:rPr sz="1800" b="0" i="0">
                <a:solidFill>
                  <a:srgbClr val="1C252B"/>
                </a:solidFill>
                <a:latin typeface="Segoe UI"/>
              </a:rPr>
              <a:t>; OpenStack provides a </a:t>
            </a:r>
            <a:r>
              <a:rPr sz="1800" b="0" i="1">
                <a:solidFill>
                  <a:srgbClr val="1C252B"/>
                </a:solidFill>
                <a:latin typeface="Segoe UI"/>
              </a:rPr>
              <a:t>cloud</a:t>
            </a:r>
            <a:r>
              <a:rPr sz="1800" b="0" i="0">
                <a:solidFill>
                  <a:srgbClr val="1C252B"/>
                </a:solidFill>
                <a:latin typeface="Segoe UI"/>
              </a:rPr>
              <a:t>. Matching the tool to the size of the problem matters more than the feature comparison.</a:t>
            </a:r>
          </a:p>
        </p:txBody>
      </p:sp>
      <p:sp>
        <p:nvSpPr>
          <p:cNvPr id="13" name="!!sb2">
            <a:extLst>
              <a:ext uri="{C183D7F6-B498-43B3-948B-1728B52AA6E4}">
                <adec:decorative xmlns:adec="http://schemas.microsoft.com/office/drawing/2017/decorative" val="1"/>
              </a:ext>
            </a:extLst>
          </p:cNvPr>
          <p:cNvSpPr/>
          <p:nvPr/>
        </p:nvSpPr>
        <p:spPr>
          <a:xfrm>
            <a:off x="658368" y="325343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0829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244291"/>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Infrastructure as code makes the declaration the artefact: declarative, idempotent, reviewed. The state file is authoritative, holds secrets and must be locked.</a:t>
            </a:r>
          </a:p>
        </p:txBody>
      </p:sp>
      <p:sp>
        <p:nvSpPr>
          <p:cNvPr id="16" name="!!sb3">
            <a:extLst>
              <a:ext uri="{C183D7F6-B498-43B3-948B-1728B52AA6E4}">
                <adec:decorative xmlns:adec="http://schemas.microsoft.com/office/drawing/2017/decorative" val="1"/>
              </a:ext>
            </a:extLst>
          </p:cNvPr>
          <p:cNvSpPr/>
          <p:nvPr/>
        </p:nvSpPr>
        <p:spPr>
          <a:xfrm>
            <a:off x="658368" y="400690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6176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97756"/>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Automation pays at volume and repetition. Below that threshold it costs more than it saves — state the threshold before adopting.</a:t>
            </a:r>
          </a:p>
        </p:txBody>
      </p:sp>
      <p:sp>
        <p:nvSpPr>
          <p:cNvPr id="19" name="!!sb4">
            <a:extLst>
              <a:ext uri="{C183D7F6-B498-43B3-948B-1728B52AA6E4}">
                <adec:decorative xmlns:adec="http://schemas.microsoft.com/office/drawing/2017/decorative" val="1"/>
              </a:ext>
            </a:extLst>
          </p:cNvPr>
          <p:cNvSpPr/>
          <p:nvPr/>
        </p:nvSpPr>
        <p:spPr>
          <a:xfrm>
            <a:off x="658368" y="476036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1523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51222"/>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Build, publish, instantiate. Changes go back to the image; anything differing between guests goes in cloud-init user data.</a:t>
            </a:r>
          </a:p>
        </p:txBody>
      </p:sp>
      <p:sp>
        <p:nvSpPr>
          <p:cNvPr id="22" name="!!sb5">
            <a:extLst>
              <a:ext uri="{C183D7F6-B498-43B3-948B-1728B52AA6E4}">
                <adec:decorative xmlns:adec="http://schemas.microsoft.com/office/drawing/2017/decorative" val="1"/>
              </a:ext>
            </a:extLst>
          </p:cNvPr>
          <p:cNvSpPr/>
          <p:nvPr/>
        </p:nvSpPr>
        <p:spPr>
          <a:xfrm>
            <a:off x="658368" y="551383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56869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504688"/>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Drift is corrected by convergence or made impossible by immutability. Most estates run both, and knowing which applies to a machine matters more than the preference.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15410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132     </a:t>
            </a:r>
            <a:fld id="{72F39260-F364-4F43-9268-54C7016FC2A0}"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Terraform’s state file: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is a log of past actions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records which real objects the tool created, and must be locked</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is optional</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belongs in version control</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1350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132     </a:t>
            </a:r>
            <a:fld id="{6998808F-B92E-413A-A312-7BD154D8B80D}" type="slidenum">
              <a:rPr lang="en-GB" sz="1000">
                <a:solidFill>
                  <a:srgbClr val="8795A1"/>
                </a:solidFill>
                <a:latin typeface="Segoe UI"/>
              </a:rPr>
              <a:t>45</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Idempotence means: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tool runs quickly</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applying the same definition twice changes nothing the second time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changes can be rolled back</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configuration is encrypted</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7289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16  ·  Virtualization Management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132     </a:t>
            </a:r>
            <a:fld id="{177E6422-83AF-4574-AB3E-0A7562326372}" type="slidenum">
              <a:rPr lang="en-GB" sz="1000">
                <a:solidFill>
                  <a:srgbClr val="8795A1"/>
                </a:solidFill>
                <a:latin typeface="Segoe UI"/>
              </a:rPr>
              <a:t>46</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Explain how automated placement reduces the hardware a cluster needs, referring to Chapter 6.</a:t>
            </a:r>
          </a:p>
        </p:txBody>
      </p:sp>
      <p:sp>
        <p:nvSpPr>
          <p:cNvPr id="10" name="!!rt1">
            <a:extLst>
              <a:ext uri="{C183D7F6-B498-43B3-948B-1728B52AA6E4}">
                <adec:decorative xmlns:adec="http://schemas.microsoft.com/office/drawing/2017/decorative" val="1"/>
              </a:ext>
            </a:extLst>
          </p:cNvPr>
          <p:cNvSpPr/>
          <p:nvPr/>
        </p:nvSpPr>
        <p:spPr>
          <a:xfrm>
            <a:off x="658368" y="254568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58683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27401"/>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Give the three stages of the image pipeline and state what must never be done between them.</a:t>
            </a:r>
          </a:p>
        </p:txBody>
      </p:sp>
      <p:sp>
        <p:nvSpPr>
          <p:cNvPr id="13" name="!!rt2">
            <a:extLst>
              <a:ext uri="{C183D7F6-B498-43B3-948B-1728B52AA6E4}">
                <adec:decorative xmlns:adec="http://schemas.microsoft.com/office/drawing/2017/decorative" val="1"/>
              </a:ext>
            </a:extLst>
          </p:cNvPr>
          <p:cNvSpPr/>
          <p:nvPr/>
        </p:nvSpPr>
        <p:spPr>
          <a:xfrm>
            <a:off x="658368" y="3335731"/>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37687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17443"/>
            <a:ext cx="9549079" cy="28529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Contrast convergent and immutable approaches to drift, and give a workload suited to each.</a:t>
            </a:r>
          </a:p>
        </p:txBody>
      </p:sp>
      <p:sp>
        <p:nvSpPr>
          <p:cNvPr id="16" name="!!rt3">
            <a:extLst>
              <a:ext uri="{C183D7F6-B498-43B3-948B-1728B52AA6E4}">
                <adec:decorative xmlns:adec="http://schemas.microsoft.com/office/drawing/2017/decorative" val="1"/>
              </a:ext>
            </a:extLst>
          </p:cNvPr>
          <p:cNvSpPr/>
          <p:nvPr/>
        </p:nvSpPr>
        <p:spPr>
          <a:xfrm>
            <a:off x="658368" y="3840479"/>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88162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822191"/>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department running 60 guests on three standalone ESXi hosts with no vCenter asks what they are missing. Write the answer, in priority order, with the operational consequence of each gap and a free alternative where one exists.</a:t>
            </a:r>
          </a:p>
        </p:txBody>
      </p:sp>
      <p:sp>
        <p:nvSpPr>
          <p:cNvPr id="19" name="!!rt4">
            <a:extLst>
              <a:ext uri="{C183D7F6-B498-43B3-948B-1728B52AA6E4}">
                <adec:decorative xmlns:adec="http://schemas.microsoft.com/office/drawing/2017/decorative" val="1"/>
              </a:ext>
            </a:extLst>
          </p:cNvPr>
          <p:cNvSpPr/>
          <p:nvPr/>
        </p:nvSpPr>
        <p:spPr>
          <a:xfrm>
            <a:off x="658368" y="4915814"/>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95696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897526"/>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An estate has 200 guests, no image pipeline and no record of how any was built. Design a twelve-month plan to reach a state where any guest can be rebuilt from a reviewed definition, saying what you would do first and why.</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3229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38470"/>
                </a:solidFill>
                <a:latin typeface="Segoe UI Black"/>
              </a:rPr>
              <a:t>16</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16</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17 — High Availability, Live Migration and Disaster Recovery</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16, pages 125–132</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A remote desktop measured; an estate declared in code</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2 set</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16  ·  Virtualization Management Platforms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FD6504A9-8DEE-4B7E-8740-FF38D0F9E1F8}" type="slidenum">
              <a:rPr lang="en-GB" sz="1000">
                <a:solidFill>
                  <a:srgbClr val="D5DEE5"/>
                </a:solidFill>
                <a:latin typeface="Segoe UI"/>
              </a:rPr>
              <a:t>47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16: Virtualization Management Platforms</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