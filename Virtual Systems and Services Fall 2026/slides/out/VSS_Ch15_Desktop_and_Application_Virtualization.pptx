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6.svg" ContentType="image/svg+xml"/>
  <Override PartName="/ppt/media/image28.svg" ContentType="image/svg+xml"/>
  <Override PartName="/ppt/media/image30.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5.svg" ContentType="image/svg+xml"/>
  <Override PartName="/ppt/media/image47.svg" ContentType="image/svg+xml"/>
  <Override PartName="/ppt/media/image48.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6.svg" ContentType="image/svg+xml"/>
  <Override PartName="/ppt/media/image57.svg" ContentType="image/svg+xml"/>
  <Override PartName="/ppt/media/image59.svg" ContentType="image/svg+xml"/>
  <Override PartName="/ppt/media/image6.svg" ContentType="image/svg+xml"/>
  <Override PartName="/ppt/media/image61.svg" ContentType="image/svg+xml"/>
  <Override PartName="/ppt/media/image62.svg" ContentType="image/svg+xml"/>
  <Override PartName="/ppt/media/image63.svg" ContentType="image/svg+xml"/>
  <Override PartName="/ppt/media/image64.svg" ContentType="image/svg+xml"/>
  <Override PartName="/ppt/media/image65.svg" ContentType="image/svg+xml"/>
  <Override PartName="/ppt/media/image67.svg" ContentType="image/svg+xml"/>
  <Override PartName="/ppt/media/image69.svg" ContentType="image/svg+xml"/>
  <Override PartName="/ppt/media/image70.svg" ContentType="image/svg+xml"/>
  <Override PartName="/ppt/media/image71.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7A78A23-BF57-43D8-888A-6798B1211D59}">
          <p14:sldIdLst>
            <p14:sldId id="256"/>
            <p14:sldId id="257"/>
            <p14:sldId id="258"/>
            <p14:sldId id="259"/>
            <p14:sldId id="260"/>
          </p14:sldIdLst>
        </p14:section>
        <p14:section name="15.1 Moving the Computer, Leaving the Screen" id="{D8AD7F4B-3EAA-4530-BD23-B2BF8EDC8F65}">
          <p14:sldIdLst>
            <p14:sldId id="261"/>
            <p14:sldId id="262"/>
            <p14:sldId id="263"/>
            <p14:sldId id="264"/>
          </p14:sldIdLst>
        </p14:section>
        <p14:section name="15.2 What Travels Over the Wire" id="{4C8E3218-B1D9-46BD-8E5C-9471B9B351E1}">
          <p14:sldIdLst>
            <p14:sldId id="265"/>
            <p14:sldId id="266"/>
            <p14:sldId id="267"/>
            <p14:sldId id="268"/>
            <p14:sldId id="269"/>
            <p14:sldId id="270"/>
            <p14:sldId id="271"/>
          </p14:sldIdLst>
        </p14:section>
        <p14:section name="15.3 Virtualizing the Application Instead" id="{F7BB3A54-9014-4C39-8327-A96AE0281061}">
          <p14:sldIdLst>
            <p14:sldId id="272"/>
            <p14:sldId id="273"/>
            <p14:sldId id="274"/>
          </p14:sldIdLst>
        </p14:section>
        <p14:section name="Pitfalls" id="{1B0C02A1-F0D3-4D83-B421-8AF761AB26DE}">
          <p14:sldIdLst>
            <p14:sldId id="275"/>
            <p14:sldId id="276"/>
          </p14:sldIdLst>
        </p14:section>
        <p14:section name="Lab" id="{E71412F2-DDC3-4FAC-8FF1-FD77083071A0}">
          <p14:sldIdLst>
            <p14:sldId id="277"/>
            <p14:sldId id="278"/>
            <p14:sldId id="279"/>
            <p14:sldId id="280"/>
            <p14:sldId id="281"/>
            <p14:sldId id="282"/>
            <p14:sldId id="283"/>
            <p14:sldId id="284"/>
          </p14:sldIdLst>
        </p14:section>
        <p14:section name="Checkpoint" id="{6C7F5C4A-AA5D-404D-AE6B-AA5F181AB1D1}">
          <p14:sldIdLst>
            <p14:sldId id="285"/>
            <p14:sldId id="286"/>
            <p14:sldId id="287"/>
            <p14:sldId id="288"/>
            <p14:sldId id="289"/>
            <p14:sldId id="290"/>
          </p14:sldIdLst>
        </p14:section>
        <p14:section name="Wrap-up" id="{BA4F6F3C-C8A6-4C78-AF01-90205CE64864}">
          <p14:sldIdLst>
            <p14:sldId id="291"/>
            <p14:sldId id="292"/>
            <p14:sldId id="293"/>
            <p14:sldId id="294"/>
            <p14:sldId id="29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15: Desktop and Application Virtualization. Part 4 — Storage, Network and Cloud Virtualization. Week 12: Desktop virtualization; management. Handout pages 116–124.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12 (thin provisioning and linked clones — a non-persistent desktop estate is the largest copy-on-write deployment most organisations ever run) and Chapter 6 (overcommit, which VDI pushes harder than any server workload).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VDI; virtual desktop; persistent desktop; non-persistent desktop; golden image; linked clone; instant clone; profile management; remote display protocol; PCoIP; Blast; ICA/HDX; RDP; boot storm; IOPS; session host; published application; application streaming; remote browser isolation.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so far has virtualized a server. Virtual desktop infrastructure does it to the thing on somebody’s desk: the operating system, the applications and the files run in the data centre, and what travels to the user is pixels in one direction and keystrokes and mouse movements in the other.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remote display protocol is not a video stream. It inspects what changed on the screen and sends the cheapest representation of that change: a rectangle of pixels, a command to move a region, a glyph, or — when the content really is video — an H.264 or H.265 stream with the work done on a server GPU.</a:t>
            </a:r>
          </a:p>
          <a:p/>
          <a:p>
            <a:r>
              <a:t>Figure 15.1 (handout p. 117): A remote desktop session. The asymmetry is extreme — megabits down, kilobits up — and the quality the user perceives is governed by the small return arrow, not the large one.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Delivering a whole desktop is often more than the problem requires. Published applications (Citrix Virtual Apps, Azure Virtual Desktop in multi-session mode) run many users’ sessions on one shared session host operating system and present individual application windows rather than a desktop. Far denser than VDI — dozens of users per host rather than a handful — because the operating system is shared. The cost is the one from Chapter 8: shared kernel, so one user’s badly-behaved application affects the others, and software that assumes it owns the machine misbehaves. Application streaming goes further and delivers the application to the user’s own device, in a container that keeps it from touching the local installation. Remote browser isolation applies the idea to the one application everybody runs. The browser executes in the data centre or at a provider, and only rendered output reaches the endpoint, so a malicious page compromises a container that is discarded afterwards. It is a security control rather than a productivity one, and Chapter 19 returns to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Builds a remote desktop session and measures what crosses the wire under three kinds of work, then adds latency and sees which matters. Expect thirty-five minutes.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A desktop guest, from the Chapter 1 image..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Connect with an RDP client and leave it idle..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Measure the three cases of the figure..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Now the thing users actually feel: latency..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The boot storm, at small scale..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Tear down..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70 + 300 × 3 = 970 GB. Full clones would be 300 × 70 = 21,000 GB, so the saving is 21,000/970 ≈ 21.6:1. The base image is read by all 300 desktops, so it must sit on the fastest storage available and stay in cache — the read amplification of Chapter 12 applies at full force.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Steady state is 300 × 10 = 3,000 IOPS. For the storm: 150 users over 4 minutes with a 90-second boot gives 150 × (1.5/4) ≈ 56 booting at any instant, so 56 × 120 = 6,750 IOPS, plus the 150 already-logged-in users’ steady 1,500: about 8,250 IOPS, roughly 2.75 times the all-day figure — for four minutes. Size for this, not for the average.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Latency, not bandwidth. Every keystroke makes a round trip before its character appears, so a high-latency path feels broken no matter how much capacity is spare; under about 50 ms it is invisible, past 150 ms typing feels detached. Measure the round-trip time from the client to the session host, and the protocol’s own reported frame latency — not throughput, which the monitoring has already told you is fine.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16 — Virtualization Management Platforms. READ: Handout Chapter 15, pages 116–124. THIS WEEK'S LAB: A remote desktop measured; an estate declared in code. ASSESSMENT: Assignment 2 set.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10.xml"/><Relationship Id="rId7" Type="http://schemas.openxmlformats.org/officeDocument/2006/relationships/slide" Target="slide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1.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image" Target="../media/image13.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image" Target="../media/image15.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17.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1.svg"/><Relationship Id="rId4" Type="http://schemas.openxmlformats.org/officeDocument/2006/relationships/image" Target="../media/image22.png"/><Relationship Id="rId5" Type="http://schemas.openxmlformats.org/officeDocument/2006/relationships/image" Target="../media/image23.svg"/><Relationship Id="rId6" Type="http://schemas.openxmlformats.org/officeDocument/2006/relationships/image" Target="../media/image24.png"/><Relationship Id="rId7" Type="http://schemas.openxmlformats.org/officeDocument/2006/relationships/image" Target="../media/image25.svg"/><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6.svg"/><Relationship Id="rId4" Type="http://schemas.openxmlformats.org/officeDocument/2006/relationships/image" Target="../media/image27.png"/><Relationship Id="rId5" Type="http://schemas.openxmlformats.org/officeDocument/2006/relationships/image" Target="../media/image28.svg"/><Relationship Id="rId6" Type="http://schemas.openxmlformats.org/officeDocument/2006/relationships/image" Target="../media/image29.png"/><Relationship Id="rId7" Type="http://schemas.openxmlformats.org/officeDocument/2006/relationships/image" Target="../media/image30.svg"/><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31.svg"/><Relationship Id="rId4" Type="http://schemas.openxmlformats.org/officeDocument/2006/relationships/image" Target="../media/image32.png"/><Relationship Id="rId5" Type="http://schemas.openxmlformats.org/officeDocument/2006/relationships/image" Target="../media/image33.svg"/><Relationship Id="rId6" Type="http://schemas.openxmlformats.org/officeDocument/2006/relationships/image" Target="../media/image34.png"/><Relationship Id="rId7" Type="http://schemas.openxmlformats.org/officeDocument/2006/relationships/image" Target="../media/image35.svg"/><Relationship Id="rId8" Type="http://schemas.openxmlformats.org/officeDocument/2006/relationships/image" Target="../media/image36.png"/><Relationship Id="rId9" Type="http://schemas.openxmlformats.org/officeDocument/2006/relationships/image" Target="../media/image37.svg"/><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38.svg"/><Relationship Id="rId4" Type="http://schemas.openxmlformats.org/officeDocument/2006/relationships/image" Target="../media/image39.png"/><Relationship Id="rId5" Type="http://schemas.openxmlformats.org/officeDocument/2006/relationships/image" Target="../media/image40.svg"/><Relationship Id="rId6" Type="http://schemas.openxmlformats.org/officeDocument/2006/relationships/image" Target="../media/image41.png"/><Relationship Id="rId7" Type="http://schemas.openxmlformats.org/officeDocument/2006/relationships/image" Target="../media/image42.svg"/><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4.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image" Target="../media/image45.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47.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48.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0.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1.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2.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3.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4.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5.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6.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7.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59.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image" Target="../media/image61.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62.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image" Target="../media/image63.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64.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image" Target="../media/image65.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image" Target="../media/image67.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 Id="rId3" Type="http://schemas.openxmlformats.org/officeDocument/2006/relationships/image" Target="../media/image69.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 Id="rId3" Type="http://schemas.openxmlformats.org/officeDocument/2006/relationships/image" Target="../media/image70.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 Id="rId3" Type="http://schemas.openxmlformats.org/officeDocument/2006/relationships/image" Target="../media/image71.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A3A95"/>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874EA0"/>
                </a:solidFill>
                <a:latin typeface="Segoe UI Black"/>
              </a:rPr>
              <a:t>15</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Desktop and Application Virtualization</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AC8E1"/>
                </a:solidFill>
                <a:latin typeface="Segoe UI"/>
              </a:rPr>
              <a:t>PART IV  ·  STORAGE, NETWORK AND CLOUD VIRTUALIZATION</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AC8E1"/>
                </a:solidFill>
                <a:latin typeface="Segoe UI"/>
              </a:rPr>
              <a:t>CHAPTER 15  ·  WEEK 12</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E4D8EA"/>
                </a:solidFill>
                <a:latin typeface="Segoe UI"/>
              </a:rPr>
              <a:t>From Hypervisors to the Cloud-Native Stack</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582A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C0AEC7"/>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D0C3D6"/>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C0AEC7"/>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15  ·  Desktop and Application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116     </a:t>
            </a:r>
            <a:fld id="{8421C1E7-6F11-42A4-9895-6570EC46ED15}" type="slidenum">
              <a:rPr lang="en-GB" sz="1000">
                <a:solidFill>
                  <a:srgbClr val="8795A1"/>
                </a:solidFill>
                <a:latin typeface="Segoe UI"/>
              </a:rPr>
              <a:t>2</a:t>
            </a:fld>
          </a:p>
        </p:txBody>
      </p:sp>
      <p:sp>
        <p:nvSpPr>
          <p:cNvPr id="7" name="!!rp1"/>
          <p:cNvSpPr txBox="1"/>
          <p:nvPr/>
        </p:nvSpPr>
        <p:spPr>
          <a:xfrm>
            <a:off x="777240"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226723"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226723"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067927"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067927"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5909131" y="1755648"/>
            <a:ext cx="1667468"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7A3A95"/>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5909131" y="2029967"/>
            <a:ext cx="1667468" cy="4572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061231"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061231"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902435"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902435"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08508"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170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00229"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087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59195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005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257991"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1665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649712"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5582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04143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9499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433154"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3417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09919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00775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49091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3994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488263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47911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274358"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1829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5940399"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584895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332120"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2406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6723841"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6324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124706" y="2112264"/>
            <a:ext cx="566928" cy="566928"/>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124706"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15</a:t>
            </a:r>
          </a:p>
        </p:txBody>
      </p:sp>
      <p:sp>
        <p:nvSpPr>
          <p:cNvPr id="49" name="!!dot16">
            <a:extLst>
              <a:ext uri="{C183D7F6-B498-43B3-948B-1728B52AA6E4}">
                <adec:decorative xmlns:adec="http://schemas.microsoft.com/office/drawing/2017/decorative" val="1"/>
              </a:ext>
            </a:extLst>
          </p:cNvPr>
          <p:cNvSpPr/>
          <p:nvPr/>
        </p:nvSpPr>
        <p:spPr>
          <a:xfrm>
            <a:off x="8092499"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00105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484220"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3927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875941"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7845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267662"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1762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993370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84226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32542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23398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0717145"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06257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11108866"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110174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23</a:t>
            </a:r>
          </a:p>
        </p:txBody>
      </p:sp>
      <p:sp>
        <p:nvSpPr>
          <p:cNvPr id="65" name="!!dotlabel"/>
          <p:cNvSpPr txBox="1"/>
          <p:nvPr/>
        </p:nvSpPr>
        <p:spPr>
          <a:xfrm>
            <a:off x="4482090"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7A3A95"/>
                </a:solidFill>
                <a:latin typeface="Segoe UI"/>
              </a:rPr>
              <a:t>Desktop and Application Virtualization</a:t>
            </a:r>
          </a:p>
        </p:txBody>
      </p:sp>
      <p:sp>
        <p:nvSpPr>
          <p:cNvPr id="66"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7" name="!!chipBU6">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chipbBU6">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tBU6"/>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6  </a:t>
            </a:r>
            <a:r>
              <a:rPr sz="1400" b="0" i="0">
                <a:solidFill>
                  <a:srgbClr val="1C252B"/>
                </a:solidFill>
                <a:latin typeface="Segoe UI"/>
              </a:rPr>
              <a:t>CPU and Memory Virtualization</a:t>
            </a:r>
          </a:p>
        </p:txBody>
      </p:sp>
      <p:sp>
        <p:nvSpPr>
          <p:cNvPr id="70" name="!!chipBU12">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chipbBU12">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tBU12"/>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12  </a:t>
            </a:r>
            <a:r>
              <a:rPr sz="1400" b="0" i="0">
                <a:solidFill>
                  <a:srgbClr val="1C252B"/>
                </a:solidFill>
                <a:latin typeface="Segoe UI"/>
              </a:rPr>
              <a:t>Storage Virtualization</a:t>
            </a:r>
          </a:p>
        </p:txBody>
      </p:sp>
      <p:sp>
        <p:nvSpPr>
          <p:cNvPr id="73"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4" name="!!chipUS20">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chipbUS20">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tUS20"/>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20  </a:t>
            </a:r>
            <a:r>
              <a:rPr sz="1400" b="0" i="0">
                <a:solidFill>
                  <a:srgbClr val="1C252B"/>
                </a:solidFill>
                <a:latin typeface="Segoe UI"/>
              </a:rPr>
              <a:t>GPU and Accelerator Virtualization</a:t>
            </a:r>
          </a:p>
        </p:txBody>
      </p:sp>
      <p:sp>
        <p:nvSpPr>
          <p:cNvPr id="77" name="!!chipUS22">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chipbUS22">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tUS22"/>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22  </a:t>
            </a:r>
            <a:r>
              <a:rPr sz="1400" b="0" i="0">
                <a:solidFill>
                  <a:srgbClr val="1C252B"/>
                </a:solidFill>
                <a:latin typeface="Segoe UI"/>
              </a:rPr>
              <a:t>Case Studies in Enterprise and Cloud Virtualization</a:t>
            </a:r>
          </a:p>
        </p:txBody>
      </p:sp>
      <p:sp>
        <p:nvSpPr>
          <p:cNvPr id="8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1" name="!!pfill">
            <a:extLst>
              <a:ext uri="{C183D7F6-B498-43B3-948B-1728B52AA6E4}">
                <adec:decorative xmlns:adec="http://schemas.microsoft.com/office/drawing/2017/decorative" val="1"/>
              </a:ext>
            </a:extLst>
          </p:cNvPr>
          <p:cNvSpPr/>
          <p:nvPr/>
        </p:nvSpPr>
        <p:spPr>
          <a:xfrm>
            <a:off x="0" y="0"/>
            <a:ext cx="60958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15  ·  Desktop and Application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116     </a:t>
            </a:r>
            <a:fld id="{4D50CDBF-4B0C-432E-A6E4-21B30162C1A0}"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Explain</a:t>
            </a:r>
            <a:r>
              <a:rPr sz="2100" b="0" i="0">
                <a:solidFill>
                  <a:srgbClr val="1C252B"/>
                </a:solidFill>
                <a:latin typeface="Segoe UI"/>
              </a:rPr>
              <a:t> what VDI moves and what stays, and </a:t>
            </a:r>
            <a:r>
              <a:rPr sz="2100" b="1" i="0">
                <a:solidFill>
                  <a:srgbClr val="1C252B"/>
                </a:solidFill>
                <a:latin typeface="Segoe UI"/>
              </a:rPr>
              <a:t>contrast</a:t>
            </a:r>
            <a:r>
              <a:rPr sz="2100" b="0" i="0">
                <a:solidFill>
                  <a:srgbClr val="1C252B"/>
                </a:solidFill>
                <a:latin typeface="Segoe UI"/>
              </a:rPr>
              <a:t> persistent with non-persistent desktops.</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Describe</a:t>
            </a:r>
            <a:r>
              <a:rPr sz="2100" b="0" i="0">
                <a:solidFill>
                  <a:srgbClr val="1C252B"/>
                </a:solidFill>
                <a:latin typeface="Segoe UI"/>
              </a:rPr>
              <a:t> what a remote display protocol actually sends, and </a:t>
            </a:r>
            <a:r>
              <a:rPr sz="2100" b="1" i="0">
                <a:solidFill>
                  <a:srgbClr val="1C252B"/>
                </a:solidFill>
                <a:latin typeface="Segoe UI"/>
              </a:rPr>
              <a:t>explain</a:t>
            </a:r>
            <a:r>
              <a:rPr sz="2100" b="0" i="0">
                <a:solidFill>
                  <a:srgbClr val="1C252B"/>
                </a:solidFill>
                <a:latin typeface="Segoe UI"/>
              </a:rPr>
              <a:t> why latency matters more than bandwidth.</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09974"/>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Compute</a:t>
            </a:r>
            <a:r>
              <a:rPr sz="2100" b="0" i="0">
                <a:solidFill>
                  <a:srgbClr val="1C252B"/>
                </a:solidFill>
                <a:latin typeface="Segoe UI"/>
              </a:rPr>
              <a:t> the bandwidth and storage a VDI deployment needs, and </a:t>
            </a:r>
            <a:r>
              <a:rPr sz="2100" b="1" i="0">
                <a:solidFill>
                  <a:srgbClr val="1C252B"/>
                </a:solidFill>
                <a:latin typeface="Segoe UI"/>
              </a:rPr>
              <a:t>identify</a:t>
            </a:r>
            <a:r>
              <a:rPr sz="2100" b="0" i="0">
                <a:solidFill>
                  <a:srgbClr val="1C252B"/>
                </a:solidFill>
                <a:latin typeface="Segoe UI"/>
              </a:rPr>
              <a:t> the resource that fails first.</a:t>
            </a:r>
          </a:p>
        </p:txBody>
      </p:sp>
      <p:sp>
        <p:nvSpPr>
          <p:cNvPr id="17" name="!!ob3">
            <a:extLst>
              <a:ext uri="{C183D7F6-B498-43B3-948B-1728B52AA6E4}">
                <adec:decorative xmlns:adec="http://schemas.microsoft.com/office/drawing/2017/decorative" val="1"/>
              </a:ext>
            </a:extLst>
          </p:cNvPr>
          <p:cNvSpPr/>
          <p:nvPr/>
        </p:nvSpPr>
        <p:spPr>
          <a:xfrm>
            <a:off x="658368" y="4767681"/>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827117"/>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758537"/>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Distinguish</a:t>
            </a:r>
            <a:r>
              <a:rPr sz="2100" b="0" i="0">
                <a:solidFill>
                  <a:srgbClr val="1C252B"/>
                </a:solidFill>
                <a:latin typeface="Segoe UI"/>
              </a:rPr>
              <a:t> desktop virtualization from application streaming and from remote browser isolation.</a:t>
            </a:r>
          </a:p>
        </p:txBody>
      </p:sp>
      <p:sp>
        <p:nvSpPr>
          <p:cNvPr id="20" name="!!ob4">
            <a:extLst>
              <a:ext uri="{C183D7F6-B498-43B3-948B-1728B52AA6E4}">
                <adec:decorative xmlns:adec="http://schemas.microsoft.com/office/drawing/2017/decorative" val="1"/>
              </a:ext>
            </a:extLst>
          </p:cNvPr>
          <p:cNvSpPr/>
          <p:nvPr/>
        </p:nvSpPr>
        <p:spPr>
          <a:xfrm>
            <a:off x="658368" y="5616244"/>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675680"/>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607100"/>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Decide</a:t>
            </a:r>
            <a:r>
              <a:rPr sz="2100" b="0" i="0">
                <a:solidFill>
                  <a:srgbClr val="1C252B"/>
                </a:solidFill>
                <a:latin typeface="Segoe UI"/>
              </a:rPr>
              <a:t> whether VDI is the right answer to a stated requirement, and </a:t>
            </a:r>
            <a:r>
              <a:rPr sz="2100" b="1" i="0">
                <a:solidFill>
                  <a:srgbClr val="1C252B"/>
                </a:solidFill>
                <a:latin typeface="Segoe UI"/>
              </a:rPr>
              <a:t>say</a:t>
            </a:r>
            <a:r>
              <a:rPr sz="2100" b="0" i="0">
                <a:solidFill>
                  <a:srgbClr val="1C252B"/>
                </a:solidFill>
                <a:latin typeface="Segoe UI"/>
              </a:rPr>
              <a:t> what it costs.</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91437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15  ·  Desktop and Application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116     </a:t>
            </a:r>
            <a:fld id="{FC60B789-63AB-441C-A18F-F4ED172B9B00}" type="slidenum">
              <a:rPr lang="en-GB" sz="1000">
                <a:solidFill>
                  <a:srgbClr val="8795A1"/>
                </a:solidFill>
                <a:latin typeface="Segoe UI"/>
              </a:rPr>
              <a:t>4</a:t>
            </a:fld>
          </a:p>
        </p:txBody>
      </p:sp>
      <p:sp>
        <p:nvSpPr>
          <p:cNvPr id="7" name="!!term-VDI">
            <a:extLst>
              <a:ext uri="{C183D7F6-B498-43B3-948B-1728B52AA6E4}">
                <adec:decorative xmlns:adec="http://schemas.microsoft.com/office/drawing/2017/decorative" val="1"/>
              </a:ext>
            </a:extLst>
          </p:cNvPr>
          <p:cNvSpPr/>
          <p:nvPr/>
        </p:nvSpPr>
        <p:spPr>
          <a:xfrm>
            <a:off x="658368" y="1847088"/>
            <a:ext cx="74747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VDI">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VDI"/>
          <p:cNvSpPr txBox="1"/>
          <p:nvPr/>
        </p:nvSpPr>
        <p:spPr>
          <a:xfrm>
            <a:off x="950976" y="1970532"/>
            <a:ext cx="56459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VDI</a:t>
            </a:r>
          </a:p>
        </p:txBody>
      </p:sp>
      <p:sp>
        <p:nvSpPr>
          <p:cNvPr id="10" name="!!term-virtual deskto">
            <a:extLst>
              <a:ext uri="{C183D7F6-B498-43B3-948B-1728B52AA6E4}">
                <adec:decorative xmlns:adec="http://schemas.microsoft.com/office/drawing/2017/decorative" val="1"/>
              </a:ext>
            </a:extLst>
          </p:cNvPr>
          <p:cNvSpPr/>
          <p:nvPr/>
        </p:nvSpPr>
        <p:spPr>
          <a:xfrm>
            <a:off x="1552148" y="1847088"/>
            <a:ext cx="171071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virtual deskto">
            <a:extLst>
              <a:ext uri="{C183D7F6-B498-43B3-948B-1728B52AA6E4}">
                <adec:decorative xmlns:adec="http://schemas.microsoft.com/office/drawing/2017/decorative" val="1"/>
              </a:ext>
            </a:extLst>
          </p:cNvPr>
          <p:cNvSpPr/>
          <p:nvPr/>
        </p:nvSpPr>
        <p:spPr>
          <a:xfrm>
            <a:off x="168016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virtual deskto"/>
          <p:cNvSpPr txBox="1"/>
          <p:nvPr/>
        </p:nvSpPr>
        <p:spPr>
          <a:xfrm>
            <a:off x="1844756" y="1970532"/>
            <a:ext cx="152783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virtual desktop</a:t>
            </a:r>
          </a:p>
        </p:txBody>
      </p:sp>
      <p:sp>
        <p:nvSpPr>
          <p:cNvPr id="13" name="!!term-persistent des">
            <a:extLst>
              <a:ext uri="{C183D7F6-B498-43B3-948B-1728B52AA6E4}">
                <adec:decorative xmlns:adec="http://schemas.microsoft.com/office/drawing/2017/decorative" val="1"/>
              </a:ext>
            </a:extLst>
          </p:cNvPr>
          <p:cNvSpPr/>
          <p:nvPr/>
        </p:nvSpPr>
        <p:spPr>
          <a:xfrm>
            <a:off x="3409162" y="1847088"/>
            <a:ext cx="201976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persistent des">
            <a:extLst>
              <a:ext uri="{C183D7F6-B498-43B3-948B-1728B52AA6E4}">
                <adec:decorative xmlns:adec="http://schemas.microsoft.com/office/drawing/2017/decorative" val="1"/>
              </a:ext>
            </a:extLst>
          </p:cNvPr>
          <p:cNvSpPr/>
          <p:nvPr/>
        </p:nvSpPr>
        <p:spPr>
          <a:xfrm>
            <a:off x="353717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persistent des"/>
          <p:cNvSpPr txBox="1"/>
          <p:nvPr/>
        </p:nvSpPr>
        <p:spPr>
          <a:xfrm>
            <a:off x="3701770" y="1970532"/>
            <a:ext cx="183688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persistent desktop</a:t>
            </a:r>
          </a:p>
        </p:txBody>
      </p:sp>
      <p:sp>
        <p:nvSpPr>
          <p:cNvPr id="16" name="!!term-non-persistent">
            <a:extLst>
              <a:ext uri="{C183D7F6-B498-43B3-948B-1728B52AA6E4}">
                <adec:decorative xmlns:adec="http://schemas.microsoft.com/office/drawing/2017/decorative" val="1"/>
              </a:ext>
            </a:extLst>
          </p:cNvPr>
          <p:cNvSpPr/>
          <p:nvPr/>
        </p:nvSpPr>
        <p:spPr>
          <a:xfrm>
            <a:off x="5575233" y="1847088"/>
            <a:ext cx="243131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non-persistent">
            <a:extLst>
              <a:ext uri="{C183D7F6-B498-43B3-948B-1728B52AA6E4}">
                <adec:decorative xmlns:adec="http://schemas.microsoft.com/office/drawing/2017/decorative" val="1"/>
              </a:ext>
            </a:extLst>
          </p:cNvPr>
          <p:cNvSpPr/>
          <p:nvPr/>
        </p:nvSpPr>
        <p:spPr>
          <a:xfrm>
            <a:off x="570324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non-persistent"/>
          <p:cNvSpPr txBox="1"/>
          <p:nvPr/>
        </p:nvSpPr>
        <p:spPr>
          <a:xfrm>
            <a:off x="5867841" y="1970532"/>
            <a:ext cx="224843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non-persistent desktop</a:t>
            </a:r>
          </a:p>
        </p:txBody>
      </p:sp>
      <p:sp>
        <p:nvSpPr>
          <p:cNvPr id="19" name="!!term-golden image">
            <a:extLst>
              <a:ext uri="{C183D7F6-B498-43B3-948B-1728B52AA6E4}">
                <adec:decorative xmlns:adec="http://schemas.microsoft.com/office/drawing/2017/decorative" val="1"/>
              </a:ext>
            </a:extLst>
          </p:cNvPr>
          <p:cNvSpPr/>
          <p:nvPr/>
        </p:nvSpPr>
        <p:spPr>
          <a:xfrm>
            <a:off x="8152852" y="1847088"/>
            <a:ext cx="162284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golden image">
            <a:extLst>
              <a:ext uri="{C183D7F6-B498-43B3-948B-1728B52AA6E4}">
                <adec:decorative xmlns:adec="http://schemas.microsoft.com/office/drawing/2017/decorative" val="1"/>
              </a:ext>
            </a:extLst>
          </p:cNvPr>
          <p:cNvSpPr/>
          <p:nvPr/>
        </p:nvSpPr>
        <p:spPr>
          <a:xfrm>
            <a:off x="828086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golden image"/>
          <p:cNvSpPr txBox="1"/>
          <p:nvPr/>
        </p:nvSpPr>
        <p:spPr>
          <a:xfrm>
            <a:off x="8445460" y="1970532"/>
            <a:ext cx="143996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golden image</a:t>
            </a:r>
          </a:p>
        </p:txBody>
      </p:sp>
      <p:sp>
        <p:nvSpPr>
          <p:cNvPr id="22" name="!!term-linked clone">
            <a:extLst>
              <a:ext uri="{C183D7F6-B498-43B3-948B-1728B52AA6E4}">
                <adec:decorative xmlns:adec="http://schemas.microsoft.com/office/drawing/2017/decorative" val="1"/>
              </a:ext>
            </a:extLst>
          </p:cNvPr>
          <p:cNvSpPr/>
          <p:nvPr/>
        </p:nvSpPr>
        <p:spPr>
          <a:xfrm>
            <a:off x="9921999" y="1847088"/>
            <a:ext cx="147102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linked clone">
            <a:extLst>
              <a:ext uri="{C183D7F6-B498-43B3-948B-1728B52AA6E4}">
                <adec:decorative xmlns:adec="http://schemas.microsoft.com/office/drawing/2017/decorative" val="1"/>
              </a:ext>
            </a:extLst>
          </p:cNvPr>
          <p:cNvSpPr/>
          <p:nvPr/>
        </p:nvSpPr>
        <p:spPr>
          <a:xfrm>
            <a:off x="10050015"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linked clone"/>
          <p:cNvSpPr txBox="1"/>
          <p:nvPr/>
        </p:nvSpPr>
        <p:spPr>
          <a:xfrm>
            <a:off x="10214607" y="1970532"/>
            <a:ext cx="128814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linked clone</a:t>
            </a:r>
          </a:p>
        </p:txBody>
      </p:sp>
      <p:sp>
        <p:nvSpPr>
          <p:cNvPr id="25" name="!!term-instant clone">
            <a:extLst>
              <a:ext uri="{C183D7F6-B498-43B3-948B-1728B52AA6E4}">
                <adec:decorative xmlns:adec="http://schemas.microsoft.com/office/drawing/2017/decorative" val="1"/>
              </a:ext>
            </a:extLst>
          </p:cNvPr>
          <p:cNvSpPr/>
          <p:nvPr/>
        </p:nvSpPr>
        <p:spPr>
          <a:xfrm>
            <a:off x="658368" y="2468880"/>
            <a:ext cx="153443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instant clone">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instant clone"/>
          <p:cNvSpPr txBox="1"/>
          <p:nvPr/>
        </p:nvSpPr>
        <p:spPr>
          <a:xfrm>
            <a:off x="950976" y="2592324"/>
            <a:ext cx="135155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instant clone</a:t>
            </a:r>
          </a:p>
        </p:txBody>
      </p:sp>
      <p:sp>
        <p:nvSpPr>
          <p:cNvPr id="28" name="!!term-profile manage">
            <a:extLst>
              <a:ext uri="{C183D7F6-B498-43B3-948B-1728B52AA6E4}">
                <adec:decorative xmlns:adec="http://schemas.microsoft.com/office/drawing/2017/decorative" val="1"/>
              </a:ext>
            </a:extLst>
          </p:cNvPr>
          <p:cNvSpPr/>
          <p:nvPr/>
        </p:nvSpPr>
        <p:spPr>
          <a:xfrm>
            <a:off x="2339103" y="2468880"/>
            <a:ext cx="218022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profile manage">
            <a:extLst>
              <a:ext uri="{C183D7F6-B498-43B3-948B-1728B52AA6E4}">
                <adec:decorative xmlns:adec="http://schemas.microsoft.com/office/drawing/2017/decorative" val="1"/>
              </a:ext>
            </a:extLst>
          </p:cNvPr>
          <p:cNvSpPr/>
          <p:nvPr/>
        </p:nvSpPr>
        <p:spPr>
          <a:xfrm>
            <a:off x="246711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profile manage"/>
          <p:cNvSpPr txBox="1"/>
          <p:nvPr/>
        </p:nvSpPr>
        <p:spPr>
          <a:xfrm>
            <a:off x="2631711" y="2592324"/>
            <a:ext cx="199734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profile management</a:t>
            </a:r>
          </a:p>
        </p:txBody>
      </p:sp>
      <p:sp>
        <p:nvSpPr>
          <p:cNvPr id="31" name="!!term-remote display">
            <a:extLst>
              <a:ext uri="{C183D7F6-B498-43B3-948B-1728B52AA6E4}">
                <adec:decorative xmlns:adec="http://schemas.microsoft.com/office/drawing/2017/decorative" val="1"/>
              </a:ext>
            </a:extLst>
          </p:cNvPr>
          <p:cNvSpPr/>
          <p:nvPr/>
        </p:nvSpPr>
        <p:spPr>
          <a:xfrm>
            <a:off x="4665631" y="2468880"/>
            <a:ext cx="248739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remote display">
            <a:extLst>
              <a:ext uri="{C183D7F6-B498-43B3-948B-1728B52AA6E4}">
                <adec:decorative xmlns:adec="http://schemas.microsoft.com/office/drawing/2017/decorative" val="1"/>
              </a:ext>
            </a:extLst>
          </p:cNvPr>
          <p:cNvSpPr/>
          <p:nvPr/>
        </p:nvSpPr>
        <p:spPr>
          <a:xfrm>
            <a:off x="4793647"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remote display"/>
          <p:cNvSpPr txBox="1"/>
          <p:nvPr/>
        </p:nvSpPr>
        <p:spPr>
          <a:xfrm>
            <a:off x="4958239" y="2592324"/>
            <a:ext cx="230451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remote display protocol</a:t>
            </a:r>
          </a:p>
        </p:txBody>
      </p:sp>
      <p:sp>
        <p:nvSpPr>
          <p:cNvPr id="34" name="!!term-PCoIP">
            <a:extLst>
              <a:ext uri="{C183D7F6-B498-43B3-948B-1728B52AA6E4}">
                <adec:decorative xmlns:adec="http://schemas.microsoft.com/office/drawing/2017/decorative" val="1"/>
              </a:ext>
            </a:extLst>
          </p:cNvPr>
          <p:cNvSpPr/>
          <p:nvPr/>
        </p:nvSpPr>
        <p:spPr>
          <a:xfrm>
            <a:off x="7299330" y="2468880"/>
            <a:ext cx="94236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PCoIP">
            <a:extLst>
              <a:ext uri="{C183D7F6-B498-43B3-948B-1728B52AA6E4}">
                <adec:decorative xmlns:adec="http://schemas.microsoft.com/office/drawing/2017/decorative" val="1"/>
              </a:ext>
            </a:extLst>
          </p:cNvPr>
          <p:cNvSpPr/>
          <p:nvPr/>
        </p:nvSpPr>
        <p:spPr>
          <a:xfrm>
            <a:off x="742734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PCoIP"/>
          <p:cNvSpPr txBox="1"/>
          <p:nvPr/>
        </p:nvSpPr>
        <p:spPr>
          <a:xfrm>
            <a:off x="7591938" y="2592324"/>
            <a:ext cx="75948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PCoIP</a:t>
            </a:r>
          </a:p>
        </p:txBody>
      </p:sp>
      <p:sp>
        <p:nvSpPr>
          <p:cNvPr id="37" name="!!term-Blast">
            <a:extLst>
              <a:ext uri="{C183D7F6-B498-43B3-948B-1728B52AA6E4}">
                <adec:decorative xmlns:adec="http://schemas.microsoft.com/office/drawing/2017/decorative" val="1"/>
              </a:ext>
            </a:extLst>
          </p:cNvPr>
          <p:cNvSpPr/>
          <p:nvPr/>
        </p:nvSpPr>
        <p:spPr>
          <a:xfrm>
            <a:off x="8388003" y="2468880"/>
            <a:ext cx="84443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Blast">
            <a:extLst>
              <a:ext uri="{C183D7F6-B498-43B3-948B-1728B52AA6E4}">
                <adec:decorative xmlns:adec="http://schemas.microsoft.com/office/drawing/2017/decorative" val="1"/>
              </a:ext>
            </a:extLst>
          </p:cNvPr>
          <p:cNvSpPr/>
          <p:nvPr/>
        </p:nvSpPr>
        <p:spPr>
          <a:xfrm>
            <a:off x="851601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Blast"/>
          <p:cNvSpPr txBox="1"/>
          <p:nvPr/>
        </p:nvSpPr>
        <p:spPr>
          <a:xfrm>
            <a:off x="8680611" y="2592324"/>
            <a:ext cx="66155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Blast</a:t>
            </a:r>
          </a:p>
        </p:txBody>
      </p:sp>
      <p:sp>
        <p:nvSpPr>
          <p:cNvPr id="40" name="!!term-ICA/HDX">
            <a:extLst>
              <a:ext uri="{C183D7F6-B498-43B3-948B-1728B52AA6E4}">
                <adec:decorative xmlns:adec="http://schemas.microsoft.com/office/drawing/2017/decorative" val="1"/>
              </a:ext>
            </a:extLst>
          </p:cNvPr>
          <p:cNvSpPr/>
          <p:nvPr/>
        </p:nvSpPr>
        <p:spPr>
          <a:xfrm>
            <a:off x="9378744" y="2468880"/>
            <a:ext cx="120072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ICA/HDX">
            <a:extLst>
              <a:ext uri="{C183D7F6-B498-43B3-948B-1728B52AA6E4}">
                <adec:decorative xmlns:adec="http://schemas.microsoft.com/office/drawing/2017/decorative" val="1"/>
              </a:ext>
            </a:extLst>
          </p:cNvPr>
          <p:cNvSpPr/>
          <p:nvPr/>
        </p:nvSpPr>
        <p:spPr>
          <a:xfrm>
            <a:off x="950676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ICA/HDX"/>
          <p:cNvSpPr txBox="1"/>
          <p:nvPr/>
        </p:nvSpPr>
        <p:spPr>
          <a:xfrm>
            <a:off x="9671352" y="2592324"/>
            <a:ext cx="101784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ICA/HDX</a:t>
            </a:r>
          </a:p>
        </p:txBody>
      </p:sp>
      <p:sp>
        <p:nvSpPr>
          <p:cNvPr id="43" name="!!term-RDP">
            <a:extLst>
              <a:ext uri="{C183D7F6-B498-43B3-948B-1728B52AA6E4}">
                <adec:decorative xmlns:adec="http://schemas.microsoft.com/office/drawing/2017/decorative" val="1"/>
              </a:ext>
            </a:extLst>
          </p:cNvPr>
          <p:cNvSpPr/>
          <p:nvPr/>
        </p:nvSpPr>
        <p:spPr>
          <a:xfrm>
            <a:off x="10725771" y="2468880"/>
            <a:ext cx="80013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RDP">
            <a:extLst>
              <a:ext uri="{C183D7F6-B498-43B3-948B-1728B52AA6E4}">
                <adec:decorative xmlns:adec="http://schemas.microsoft.com/office/drawing/2017/decorative" val="1"/>
              </a:ext>
            </a:extLst>
          </p:cNvPr>
          <p:cNvSpPr/>
          <p:nvPr/>
        </p:nvSpPr>
        <p:spPr>
          <a:xfrm>
            <a:off x="10853787"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RDP"/>
          <p:cNvSpPr txBox="1"/>
          <p:nvPr/>
        </p:nvSpPr>
        <p:spPr>
          <a:xfrm>
            <a:off x="11018379" y="2592324"/>
            <a:ext cx="61725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RDP</a:t>
            </a:r>
          </a:p>
        </p:txBody>
      </p:sp>
      <p:sp>
        <p:nvSpPr>
          <p:cNvPr id="46" name="!!term-boot storm">
            <a:extLst>
              <a:ext uri="{C183D7F6-B498-43B3-948B-1728B52AA6E4}">
                <adec:decorative xmlns:adec="http://schemas.microsoft.com/office/drawing/2017/decorative" val="1"/>
              </a:ext>
            </a:extLst>
          </p:cNvPr>
          <p:cNvSpPr/>
          <p:nvPr/>
        </p:nvSpPr>
        <p:spPr>
          <a:xfrm>
            <a:off x="658368" y="3090672"/>
            <a:ext cx="139702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boot storm">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boot storm"/>
          <p:cNvSpPr txBox="1"/>
          <p:nvPr/>
        </p:nvSpPr>
        <p:spPr>
          <a:xfrm>
            <a:off x="950976" y="3214116"/>
            <a:ext cx="121414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boot storm</a:t>
            </a:r>
          </a:p>
        </p:txBody>
      </p:sp>
      <p:sp>
        <p:nvSpPr>
          <p:cNvPr id="49" name="!!term-IOPS">
            <a:extLst>
              <a:ext uri="{C183D7F6-B498-43B3-948B-1728B52AA6E4}">
                <adec:decorative xmlns:adec="http://schemas.microsoft.com/office/drawing/2017/decorative" val="1"/>
              </a:ext>
            </a:extLst>
          </p:cNvPr>
          <p:cNvSpPr/>
          <p:nvPr/>
        </p:nvSpPr>
        <p:spPr>
          <a:xfrm>
            <a:off x="2201696" y="3090672"/>
            <a:ext cx="84910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IOPS">
            <a:extLst>
              <a:ext uri="{C183D7F6-B498-43B3-948B-1728B52AA6E4}">
                <adec:decorative xmlns:adec="http://schemas.microsoft.com/office/drawing/2017/decorative" val="1"/>
              </a:ext>
            </a:extLst>
          </p:cNvPr>
          <p:cNvSpPr/>
          <p:nvPr/>
        </p:nvSpPr>
        <p:spPr>
          <a:xfrm>
            <a:off x="2329712"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IOPS"/>
          <p:cNvSpPr txBox="1"/>
          <p:nvPr/>
        </p:nvSpPr>
        <p:spPr>
          <a:xfrm>
            <a:off x="2494304" y="3214116"/>
            <a:ext cx="66622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IOPS</a:t>
            </a:r>
          </a:p>
        </p:txBody>
      </p:sp>
      <p:sp>
        <p:nvSpPr>
          <p:cNvPr id="52" name="!!term-session host">
            <a:extLst>
              <a:ext uri="{C183D7F6-B498-43B3-948B-1728B52AA6E4}">
                <adec:decorative xmlns:adec="http://schemas.microsoft.com/office/drawing/2017/decorative" val="1"/>
              </a:ext>
            </a:extLst>
          </p:cNvPr>
          <p:cNvSpPr/>
          <p:nvPr/>
        </p:nvSpPr>
        <p:spPr>
          <a:xfrm>
            <a:off x="3197100" y="3090672"/>
            <a:ext cx="148391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session host">
            <a:extLst>
              <a:ext uri="{C183D7F6-B498-43B3-948B-1728B52AA6E4}">
                <adec:decorative xmlns:adec="http://schemas.microsoft.com/office/drawing/2017/decorative" val="1"/>
              </a:ext>
            </a:extLst>
          </p:cNvPr>
          <p:cNvSpPr/>
          <p:nvPr/>
        </p:nvSpPr>
        <p:spPr>
          <a:xfrm>
            <a:off x="3325116"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session host"/>
          <p:cNvSpPr txBox="1"/>
          <p:nvPr/>
        </p:nvSpPr>
        <p:spPr>
          <a:xfrm>
            <a:off x="3489708" y="3214116"/>
            <a:ext cx="130103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session host</a:t>
            </a:r>
          </a:p>
        </p:txBody>
      </p:sp>
      <p:sp>
        <p:nvSpPr>
          <p:cNvPr id="55" name="!!term-published appl">
            <a:extLst>
              <a:ext uri="{C183D7F6-B498-43B3-948B-1728B52AA6E4}">
                <adec:decorative xmlns:adec="http://schemas.microsoft.com/office/drawing/2017/decorative" val="1"/>
              </a:ext>
            </a:extLst>
          </p:cNvPr>
          <p:cNvSpPr/>
          <p:nvPr/>
        </p:nvSpPr>
        <p:spPr>
          <a:xfrm>
            <a:off x="4827315" y="3090672"/>
            <a:ext cx="227999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rmd-published appl">
            <a:extLst>
              <a:ext uri="{C183D7F6-B498-43B3-948B-1728B52AA6E4}">
                <adec:decorative xmlns:adec="http://schemas.microsoft.com/office/drawing/2017/decorative" val="1"/>
              </a:ext>
            </a:extLst>
          </p:cNvPr>
          <p:cNvSpPr/>
          <p:nvPr/>
        </p:nvSpPr>
        <p:spPr>
          <a:xfrm>
            <a:off x="4955331"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rmt-published appl"/>
          <p:cNvSpPr txBox="1"/>
          <p:nvPr/>
        </p:nvSpPr>
        <p:spPr>
          <a:xfrm>
            <a:off x="5119923" y="3214116"/>
            <a:ext cx="209711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published application</a:t>
            </a:r>
          </a:p>
        </p:txBody>
      </p:sp>
      <p:sp>
        <p:nvSpPr>
          <p:cNvPr id="58" name="!!term-application st">
            <a:extLst>
              <a:ext uri="{C183D7F6-B498-43B3-948B-1728B52AA6E4}">
                <adec:decorative xmlns:adec="http://schemas.microsoft.com/office/drawing/2017/decorative" val="1"/>
              </a:ext>
            </a:extLst>
          </p:cNvPr>
          <p:cNvSpPr/>
          <p:nvPr/>
        </p:nvSpPr>
        <p:spPr>
          <a:xfrm>
            <a:off x="7253619" y="3090672"/>
            <a:ext cx="229414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rmd-application st">
            <a:extLst>
              <a:ext uri="{C183D7F6-B498-43B3-948B-1728B52AA6E4}">
                <adec:decorative xmlns:adec="http://schemas.microsoft.com/office/drawing/2017/decorative" val="1"/>
              </a:ext>
            </a:extLst>
          </p:cNvPr>
          <p:cNvSpPr/>
          <p:nvPr/>
        </p:nvSpPr>
        <p:spPr>
          <a:xfrm>
            <a:off x="7381635"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termt-application st"/>
          <p:cNvSpPr txBox="1"/>
          <p:nvPr/>
        </p:nvSpPr>
        <p:spPr>
          <a:xfrm>
            <a:off x="7546227" y="3214116"/>
            <a:ext cx="211126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application streaming</a:t>
            </a:r>
          </a:p>
        </p:txBody>
      </p:sp>
      <p:sp>
        <p:nvSpPr>
          <p:cNvPr id="61" name="!!term-remote browser">
            <a:extLst>
              <a:ext uri="{C183D7F6-B498-43B3-948B-1728B52AA6E4}">
                <adec:decorative xmlns:adec="http://schemas.microsoft.com/office/drawing/2017/decorative" val="1"/>
              </a:ext>
            </a:extLst>
          </p:cNvPr>
          <p:cNvSpPr/>
          <p:nvPr/>
        </p:nvSpPr>
        <p:spPr>
          <a:xfrm>
            <a:off x="658368" y="3712464"/>
            <a:ext cx="257699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termd-remote browser">
            <a:extLst>
              <a:ext uri="{C183D7F6-B498-43B3-948B-1728B52AA6E4}">
                <adec:decorative xmlns:adec="http://schemas.microsoft.com/office/drawing/2017/decorative" val="1"/>
              </a:ext>
            </a:extLst>
          </p:cNvPr>
          <p:cNvSpPr/>
          <p:nvPr/>
        </p:nvSpPr>
        <p:spPr>
          <a:xfrm>
            <a:off x="78638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3" name="!!termt-remote browser"/>
          <p:cNvSpPr txBox="1"/>
          <p:nvPr/>
        </p:nvSpPr>
        <p:spPr>
          <a:xfrm>
            <a:off x="950976" y="3835908"/>
            <a:ext cx="239411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remote browser isolation</a:t>
            </a:r>
          </a:p>
        </p:txBody>
      </p:sp>
      <p:sp>
        <p:nvSpPr>
          <p:cNvPr id="64" name="!!termnote"/>
          <p:cNvSpPr txBox="1"/>
          <p:nvPr/>
        </p:nvSpPr>
        <p:spPr>
          <a:xfrm>
            <a:off x="658368" y="4535424"/>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6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pfill">
            <a:extLst>
              <a:ext uri="{C183D7F6-B498-43B3-948B-1728B52AA6E4}">
                <adec:decorative xmlns:adec="http://schemas.microsoft.com/office/drawing/2017/decorative" val="1"/>
              </a:ext>
            </a:extLst>
          </p:cNvPr>
          <p:cNvSpPr/>
          <p:nvPr/>
        </p:nvSpPr>
        <p:spPr>
          <a:xfrm>
            <a:off x="0" y="0"/>
            <a:ext cx="121916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15  ·  Desktop and Application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116–124     </a:t>
            </a:r>
            <a:fld id="{93A4A6A1-38AB-4B08-9710-A66CF2D43E0F}" type="slidenum">
              <a:rPr lang="en-GB" sz="1000">
                <a:solidFill>
                  <a:srgbClr val="8795A1"/>
                </a:solidFill>
                <a:latin typeface="Segoe UI"/>
              </a:rPr>
              <a:t>5</a:t>
            </a:fld>
          </a:p>
        </p:txBody>
      </p:sp>
      <p:sp>
        <p:nvSpPr>
          <p:cNvPr id="7" name="!!ag0" descr="Go to section 15.1 Moving the Computer, Leaving the Screen">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15.1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Moving the Computer, Leaving the Screen</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116  ›</a:t>
            </a:r>
          </a:p>
        </p:txBody>
      </p:sp>
      <p:sp>
        <p:nvSpPr>
          <p:cNvPr id="12" name="!!ag1" descr="Go to section 15.2 What Travels Over the Wire">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15.2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What Travels Over the Wire</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117  ›</a:t>
            </a:r>
          </a:p>
        </p:txBody>
      </p:sp>
      <p:sp>
        <p:nvSpPr>
          <p:cNvPr id="17" name="!!ag2" descr="Go to section 15.3 Virtualizing the Application Instead">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15.3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Virtualizing the Application Instead</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119  ›</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52396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Moving the Computer, Leaving the Screen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1 OF 3</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15.1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15.1   Moving the Computer, Leaving the Screen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15.2   What Travels Over the Wire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15.3   Virtualizing the Application Instead</a:t>
            </a:r>
          </a:p>
        </p:txBody>
      </p:sp>
      <p:sp>
        <p:nvSpPr>
          <p:cNvPr id="9"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15</a:t>
            </a:r>
          </a:p>
        </p:txBody>
      </p:sp>
      <p:sp>
        <p:nvSpPr>
          <p:cNvPr id="10"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§15.1     </a:t>
            </a:r>
            <a:fld id="{7F713C67-4853-4A9A-8AEB-7B9B7D662D6C}" type="slidenum">
              <a:rPr lang="en-GB" sz="1000">
                <a:solidFill>
                  <a:srgbClr val="8795A1"/>
                </a:solidFill>
                <a:latin typeface="Segoe UI"/>
              </a:rPr>
              <a:t>6</a:t>
            </a:fld>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182875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Moving the Computer, Leaving the Screen</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15  ·  Desktop and Application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§15.1  ·  Handout p. 116     </a:t>
            </a:r>
            <a:fld id="{A024DC18-01FB-4DC0-A78F-C62B2C579E07}"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70019"/>
          </a:xfrm>
          <a:prstGeom prst="roundRect">
            <a:avLst>
              <a:gd name="adj" fmla="val 2092"/>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70019"/>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motives are the four of Chapter 1, pointed at a different problem:</a:t>
            </a:r>
          </a:p>
        </p:txBody>
      </p:sp>
      <p:sp>
        <p:nvSpPr>
          <p:cNvPr id="10" name="body-1"/>
          <p:cNvSpPr txBox="1"/>
          <p:nvPr/>
        </p:nvSpPr>
        <p:spPr>
          <a:xfrm>
            <a:off x="1060704" y="2573451"/>
            <a:ext cx="10161727" cy="3268751"/>
          </a:xfrm>
          <a:prstGeom prst="rect">
            <a:avLst/>
          </a:prstGeom>
          <a:noFill/>
        </p:spPr>
        <p:txBody>
          <a:bodyPr wrap="square" anchor="t" lIns="0" rIns="0" tIns="0" bIns="0">
            <a:noAutofit/>
          </a:bodyPr>
          <a:lstStyle/>
          <a:p>
            <a:pPr algn="l" marL="257176" indent="-257176">
              <a:lnSpc>
                <a:spcPct val="104000"/>
              </a:lnSpc>
              <a:spcBef>
                <a:spcPts val="0"/>
              </a:spcBef>
              <a:spcAft>
                <a:spcPts val="804"/>
              </a:spcAft>
            </a:pPr>
            <a:r>
              <a:rPr sz="2300" b="1">
                <a:solidFill>
                  <a:srgbClr val="1A5276"/>
                </a:solidFill>
                <a:latin typeface="Segoe UI"/>
              </a:rPr>
              <a:t>•	</a:t>
            </a:r>
            <a:r>
              <a:rPr sz="2300" b="1" i="0">
                <a:solidFill>
                  <a:srgbClr val="1A5276"/>
                </a:solidFill>
                <a:latin typeface="Segoe UI"/>
              </a:rPr>
              <a:t>Isolation and control</a:t>
            </a:r>
            <a:r>
              <a:rPr sz="2300" b="0" i="0">
                <a:solidFill>
                  <a:srgbClr val="1C252B"/>
                </a:solidFill>
                <a:latin typeface="Segoe UI"/>
              </a:rPr>
              <a:t> — the data never leaves the data centre, which is the reason regulated industries buy it;</a:t>
            </a:r>
          </a:p>
          <a:p>
            <a:pPr algn="l" marL="257176" indent="-257176">
              <a:lnSpc>
                <a:spcPct val="104000"/>
              </a:lnSpc>
              <a:spcBef>
                <a:spcPts val="0"/>
              </a:spcBef>
              <a:spcAft>
                <a:spcPts val="804"/>
              </a:spcAft>
            </a:pPr>
            <a:r>
              <a:rPr sz="2300" b="1">
                <a:solidFill>
                  <a:srgbClr val="1A5276"/>
                </a:solidFill>
                <a:latin typeface="Segoe UI"/>
              </a:rPr>
              <a:t>•	</a:t>
            </a:r>
            <a:r>
              <a:rPr sz="2300" b="1" i="0">
                <a:solidFill>
                  <a:srgbClr val="1A5276"/>
                </a:solidFill>
                <a:latin typeface="Segoe UI"/>
              </a:rPr>
              <a:t>Consolidation</a:t>
            </a:r>
            <a:r>
              <a:rPr sz="2300" b="0" i="0">
                <a:solidFill>
                  <a:srgbClr val="1C252B"/>
                </a:solidFill>
                <a:latin typeface="Segoe UI"/>
              </a:rPr>
              <a:t> — a hundred desktops on a few hosts rather than a hundred machines under a hundred desks;</a:t>
            </a:r>
          </a:p>
          <a:p>
            <a:pPr algn="l" marL="257176" indent="-257176">
              <a:lnSpc>
                <a:spcPct val="104000"/>
              </a:lnSpc>
              <a:spcBef>
                <a:spcPts val="0"/>
              </a:spcBef>
              <a:spcAft>
                <a:spcPts val="804"/>
              </a:spcAft>
            </a:pPr>
            <a:r>
              <a:rPr sz="2300" b="1">
                <a:solidFill>
                  <a:srgbClr val="1A5276"/>
                </a:solidFill>
                <a:latin typeface="Segoe UI"/>
              </a:rPr>
              <a:t>•	</a:t>
            </a:r>
            <a:r>
              <a:rPr sz="2300" b="1" i="0">
                <a:solidFill>
                  <a:srgbClr val="1A5276"/>
                </a:solidFill>
                <a:latin typeface="Segoe UI"/>
              </a:rPr>
              <a:t>Encapsulation</a:t>
            </a:r>
            <a:r>
              <a:rPr sz="2300" b="0" i="0">
                <a:solidFill>
                  <a:srgbClr val="1C252B"/>
                </a:solidFill>
                <a:latin typeface="Segoe UI"/>
              </a:rPr>
              <a:t> — a broken desktop is replaced in ninety seconds, because it is a file;</a:t>
            </a:r>
          </a:p>
          <a:p>
            <a:pPr algn="l" marL="257176" indent="-257176">
              <a:lnSpc>
                <a:spcPct val="104000"/>
              </a:lnSpc>
              <a:spcBef>
                <a:spcPts val="0"/>
              </a:spcBef>
              <a:spcAft>
                <a:spcPts val="0"/>
              </a:spcAft>
            </a:pPr>
            <a:r>
              <a:rPr sz="2300" b="1">
                <a:solidFill>
                  <a:srgbClr val="1A5276"/>
                </a:solidFill>
                <a:latin typeface="Segoe UI"/>
              </a:rPr>
              <a:t>•	</a:t>
            </a:r>
            <a:r>
              <a:rPr sz="2300" b="1" i="0">
                <a:solidFill>
                  <a:srgbClr val="1A5276"/>
                </a:solidFill>
                <a:latin typeface="Segoe UI"/>
              </a:rPr>
              <a:t>Access</a:t>
            </a:r>
            <a:r>
              <a:rPr sz="2300" b="0" i="0">
                <a:solidFill>
                  <a:srgbClr val="1C252B"/>
                </a:solidFill>
                <a:latin typeface="Segoe UI"/>
              </a:rPr>
              <a:t> — the same desktop from a laptop, a thin client or a tablet, from anywhere.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213354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animEffect transition="in" filter="fade">
                                      <p:cBhvr>
                                        <p:cTn id="23" dur="38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Persistent and Non-Persistent Desktops</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15  ·  Desktop and Application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§15.1  ·  Handout p. 116     </a:t>
            </a:r>
            <a:fld id="{000D589E-0521-42E2-ABBF-BAE59765913D}"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500930"/>
          </a:xfrm>
          <a:prstGeom prst="roundRect">
            <a:avLst>
              <a:gd name="adj" fmla="val 2031"/>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500930"/>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a:t>
            </a:r>
            <a:r>
              <a:rPr sz="1900" b="1" i="0">
                <a:solidFill>
                  <a:srgbClr val="1A5276"/>
                </a:solidFill>
                <a:latin typeface="Segoe UI"/>
              </a:rPr>
              <a:t>persistent</a:t>
            </a:r>
            <a:r>
              <a:rPr sz="1900" b="0" i="0">
                <a:solidFill>
                  <a:srgbClr val="1C252B"/>
                </a:solidFill>
                <a:latin typeface="Segoe UI"/>
              </a:rPr>
              <a:t> desktop is one virtual machine per user, kept between sessions. Users install software, change settings and leave files on it, exactly as on a physical PC. Familiar, flexible, and it must be patched, backed up and managed one hundred times over — the server sprawl of Chapter 1, re-created virtually.</a:t>
            </a:r>
          </a:p>
        </p:txBody>
      </p:sp>
      <p:sp>
        <p:nvSpPr>
          <p:cNvPr id="10" name="body-1"/>
          <p:cNvSpPr txBox="1"/>
          <p:nvPr/>
        </p:nvSpPr>
        <p:spPr>
          <a:xfrm>
            <a:off x="1060704" y="3385540"/>
            <a:ext cx="10161727"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a:t>
            </a:r>
            <a:r>
              <a:rPr sz="1900" b="1" i="0">
                <a:solidFill>
                  <a:srgbClr val="1A5276"/>
                </a:solidFill>
                <a:latin typeface="Segoe UI"/>
              </a:rPr>
              <a:t>non-persistent</a:t>
            </a:r>
            <a:r>
              <a:rPr sz="1900" b="0" i="0">
                <a:solidFill>
                  <a:srgbClr val="1C252B"/>
                </a:solidFill>
                <a:latin typeface="Segoe UI"/>
              </a:rPr>
              <a:t> desktop is created from a </a:t>
            </a:r>
            <a:r>
              <a:rPr sz="1900" b="1" i="0">
                <a:solidFill>
                  <a:srgbClr val="1A5276"/>
                </a:solidFill>
                <a:latin typeface="Segoe UI"/>
              </a:rPr>
              <a:t>golden image</a:t>
            </a:r>
            <a:r>
              <a:rPr sz="1900" b="0" i="0">
                <a:solidFill>
                  <a:srgbClr val="1C252B"/>
                </a:solidFill>
                <a:latin typeface="Segoe UI"/>
              </a:rPr>
              <a:t> at logon and destroyed at logoff. Every session starts identical and known. Patching means updating one image. The user’s identity has to be reassembled each time from </a:t>
            </a:r>
            <a:r>
              <a:rPr sz="1900" b="1" i="0">
                <a:solidFill>
                  <a:srgbClr val="1A5276"/>
                </a:solidFill>
                <a:latin typeface="Segoe UI"/>
              </a:rPr>
              <a:t>profile management</a:t>
            </a:r>
            <a:r>
              <a:rPr sz="1900" b="0" i="0">
                <a:solidFill>
                  <a:srgbClr val="1C252B"/>
                </a:solidFill>
                <a:latin typeface="Segoe UI"/>
              </a:rPr>
              <a:t> — documents on a file share, settings in a profile container — and anything not captured by that is lost at logoff, which users discover the hard way.</a:t>
            </a:r>
          </a:p>
        </p:txBody>
      </p:sp>
      <p:sp>
        <p:nvSpPr>
          <p:cNvPr id="11" name="body-2"/>
          <p:cNvSpPr txBox="1"/>
          <p:nvPr/>
        </p:nvSpPr>
        <p:spPr>
          <a:xfrm>
            <a:off x="1060704" y="5023967"/>
            <a:ext cx="10161727"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Non-persistent is the design that makes the economics work, and profile management is where it succeeds or fails. Almost every unhappy VDI deployment is a non-persistent one whose profile handling was underestimated.</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43833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Linked and Instant Clones: Chapter 12, Applied at Scale</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15  ·  Desktop and Application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§15.1  ·  Handout p. 116     </a:t>
            </a:r>
            <a:fld id="{B81B7382-2E1C-4E1E-AA0B-3CE016E98490}"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88104"/>
          </a:xfrm>
          <a:prstGeom prst="roundRect">
            <a:avLst>
              <a:gd name="adj" fmla="val 2083"/>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8810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A thousand non-persistent desktops from one image are a thousand copy-on-write overlays over one read-only base — exactly the structure of Chapter 12, and of Chapter 8’s overlayfs one layer up.</a:t>
            </a:r>
          </a:p>
        </p:txBody>
      </p:sp>
      <p:sp>
        <p:nvSpPr>
          <p:cNvPr id="10" name="body-1"/>
          <p:cNvSpPr txBox="1"/>
          <p:nvPr/>
        </p:nvSpPr>
        <p:spPr>
          <a:xfrm>
            <a:off x="1060704" y="3138931"/>
            <a:ext cx="10161727" cy="1313688"/>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A </a:t>
            </a:r>
            <a:r>
              <a:rPr sz="2000" b="1" i="0">
                <a:solidFill>
                  <a:srgbClr val="1A5276"/>
                </a:solidFill>
                <a:latin typeface="Segoe UI"/>
              </a:rPr>
              <a:t>linked clone</a:t>
            </a:r>
            <a:r>
              <a:rPr sz="2000" b="0" i="0">
                <a:solidFill>
                  <a:srgbClr val="1C252B"/>
                </a:solidFill>
                <a:latin typeface="Segoe UI"/>
              </a:rPr>
              <a:t> shares the base disk and keeps a delta per desktop: a 60 GB image plus perhaps 2 GB each, so a thousand desktops cost 2 TB rather than 60 TB. An </a:t>
            </a:r>
            <a:r>
              <a:rPr sz="2000" b="1" i="0">
                <a:solidFill>
                  <a:srgbClr val="1A5276"/>
                </a:solidFill>
                <a:latin typeface="Segoe UI"/>
              </a:rPr>
              <a:t>instant clone</a:t>
            </a:r>
            <a:r>
              <a:rPr sz="2000" b="0" i="0">
                <a:solidFill>
                  <a:srgbClr val="1C252B"/>
                </a:solidFill>
                <a:latin typeface="Segoe UI"/>
              </a:rPr>
              <a:t> goes further and forks a </a:t>
            </a:r>
            <a:r>
              <a:rPr sz="2000" b="0" i="1">
                <a:solidFill>
                  <a:srgbClr val="1C252B"/>
                </a:solidFill>
                <a:latin typeface="Segoe UI"/>
              </a:rPr>
              <a:t>running</a:t>
            </a:r>
            <a:r>
              <a:rPr sz="2000" b="0" i="0">
                <a:solidFill>
                  <a:srgbClr val="1C252B"/>
                </a:solidFill>
                <a:latin typeface="Segoe UI"/>
              </a:rPr>
              <a:t> machine’s memory as well, so a new desktop is available in one or two seconds rather than ninety.</a:t>
            </a:r>
          </a:p>
        </p:txBody>
      </p:sp>
      <p:sp>
        <p:nvSpPr>
          <p:cNvPr id="11" name="body-2"/>
          <p:cNvSpPr txBox="1"/>
          <p:nvPr/>
        </p:nvSpPr>
        <p:spPr>
          <a:xfrm>
            <a:off x="1060704" y="4546599"/>
            <a:ext cx="10161727" cy="1313688"/>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The read amplification warning of Chapter 12 applies in full. Every one of those thousand desktops reads the same base through the same chain, so the base must be on the fastest storage you have and must stay in cache. VDI is where storage design stops being a background concern.</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74313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What Travels Over the Wire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2 OF 3</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15.2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15.1   Moving the Computer, Leaving the Screen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15.2   What Travels Over the Wire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15.3   Virtualizing the Application Instead</a:t>
            </a:r>
          </a:p>
        </p:txBody>
      </p:sp>
      <p:sp>
        <p:nvSpPr>
          <p:cNvPr id="9"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15</a:t>
            </a:r>
          </a:p>
        </p:txBody>
      </p:sp>
      <p:sp>
        <p:nvSpPr>
          <p:cNvPr id="10"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§15.2     </a:t>
            </a:r>
            <a:fld id="{F461C50C-667C-4391-AC2C-96E4BB9E9F4A}" type="slidenum">
              <a:rPr lang="en-GB" sz="1000">
                <a:solidFill>
                  <a:srgbClr val="8795A1"/>
                </a:solidFill>
                <a:latin typeface="Segoe UI"/>
              </a:rPr>
              <a:t>10</a:t>
            </a:fld>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304792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remote desktop session</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A3A95"/>
                </a:solidFill>
                <a:latin typeface="Segoe UI"/>
              </a:rPr>
              <a:t>FIGURE 15.1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15  ·  Desktop and Application Virtualization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§15.2  ·  Handout p. 117     </a:t>
            </a:r>
            <a:fld id="{AEFBD987-98E3-45BC-8637-A13671D2C574}" type="slidenum">
              <a:rPr lang="en-GB" sz="1000">
                <a:solidFill>
                  <a:srgbClr val="8795A1"/>
                </a:solidFill>
                <a:latin typeface="Segoe UI"/>
              </a:rPr>
              <a:t>11</a:t>
            </a:fld>
          </a:p>
        </p:txBody>
      </p:sp>
      <p:pic>
        <p:nvPicPr>
          <p:cNvPr id="6" name="!!figure" descr="Figure 15.1. A remote desktop session. The asymmetry is extreme — megabits down, kilobits up — and the quality the user perceives is governed by the small return arrow, not the large on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81337" y="1737360"/>
            <a:ext cx="10229020"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asymmetry is extreme — megabits down, kilobits up — and the quality the user perceives is governed by the small return arrow, not the large one.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35271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two failure modes nobody provisions for</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15  ·  Desktop and Application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§15.2  ·  Handout p. 117     </a:t>
            </a:r>
            <a:fld id="{9D452DCD-94EA-44F1-87C4-5EABB62673BE}"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88104"/>
          </a:xfrm>
          <a:prstGeom prst="roundRect">
            <a:avLst>
              <a:gd name="adj" fmla="val 2083"/>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88104"/>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630680"/>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A93226"/>
                </a:solidFill>
                <a:latin typeface="Segoe UI"/>
              </a:rPr>
              <a:t>The boot storm.</a:t>
            </a:r>
            <a:r>
              <a:rPr sz="2000" b="0" i="0">
                <a:solidFill>
                  <a:srgbClr val="1C252B"/>
                </a:solidFill>
                <a:latin typeface="Segoe UI"/>
              </a:rPr>
              <a:t> Nine o’clock, and nine hundred people log in within twenty minutes. Nine hundred desktops boot, read the same base image, load the same profile and start the same antivirus scan. Storage that comfortably serves the estate all afternoon delivers a fraction of what is suddenly demanded, and the queue makes logons take fifteen minutes.</a:t>
            </a:r>
          </a:p>
        </p:txBody>
      </p:sp>
      <p:sp>
        <p:nvSpPr>
          <p:cNvPr id="10" name="body-1"/>
          <p:cNvSpPr txBox="1"/>
          <p:nvPr/>
        </p:nvSpPr>
        <p:spPr>
          <a:xfrm>
            <a:off x="1060704" y="3772916"/>
            <a:ext cx="10161727"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It is a storage </a:t>
            </a:r>
            <a:r>
              <a:rPr sz="2000" b="0" i="1">
                <a:solidFill>
                  <a:srgbClr val="1C252B"/>
                </a:solidFill>
                <a:latin typeface="Segoe UI"/>
              </a:rPr>
              <a:t>IOPS</a:t>
            </a:r>
            <a:r>
              <a:rPr sz="2000" b="0" i="0">
                <a:solidFill>
                  <a:srgbClr val="1C252B"/>
                </a:solidFill>
                <a:latin typeface="Segoe UI"/>
              </a:rPr>
              <a:t> problem, not a capacity or a CPU problem, and it is the single commonest reason a VDI pilot succeeds and the rollout fails: fifty users never produce it and nine hundred do.</a:t>
            </a:r>
          </a:p>
        </p:txBody>
      </p:sp>
      <p:sp>
        <p:nvSpPr>
          <p:cNvPr id="11" name="body-2"/>
          <p:cNvSpPr txBox="1"/>
          <p:nvPr/>
        </p:nvSpPr>
        <p:spPr>
          <a:xfrm>
            <a:off x="1060704" y="4863592"/>
            <a:ext cx="10161727" cy="996696"/>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A93226"/>
                </a:solidFill>
                <a:latin typeface="Segoe UI"/>
              </a:rPr>
              <a:t>The antivirus scan.</a:t>
            </a:r>
            <a:r>
              <a:rPr sz="2000" b="0" i="0">
                <a:solidFill>
                  <a:srgbClr val="1C252B"/>
                </a:solidFill>
                <a:latin typeface="Segoe UI"/>
              </a:rPr>
              <a:t> Every desktop scanning its disk at the same hour multiplies the same effect, with no user to blame. Stagger it, or use an agentless scanner that works from outside the guest.</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65750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Sizing a 500-Seat Deployment</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15  ·  Desktop and Application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§15.2  ·  Handout p. 117     </a:t>
            </a:r>
            <a:fld id="{14EC9A32-7CC0-43C4-80A0-781AE1C63120}"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99899"/>
          </a:xfrm>
          <a:prstGeom prst="roundRect">
            <a:avLst>
              <a:gd name="adj" fmla="val 2126"/>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9989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Five hundred knowledge workers, 2 vCPU and 4 GB each, Windows desktops on an image of 60 GB. Size the hosts, the storage and the network, and find what fails first.</a:t>
            </a:r>
          </a:p>
        </p:txBody>
      </p:sp>
      <p:sp>
        <p:nvSpPr>
          <p:cNvPr id="10" name="body-1"/>
          <p:cNvSpPr txBox="1"/>
          <p:nvPr/>
        </p:nvSpPr>
        <p:spPr>
          <a:xfrm>
            <a:off x="1042416" y="2746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1 — memory, which sizes the hosts.</a:t>
            </a:r>
            <a:r>
              <a:rPr sz="1900" b="0" i="0">
                <a:solidFill>
                  <a:srgbClr val="1C252B"/>
                </a:solidFill>
                <a:latin typeface="Segoe UI"/>
              </a:rPr>
              <a:t> With 10:1 vCPU oversubscription acceptable for desktops — they are idle most of the time — memory is again the constraint. Allow no memory overcommit for desktops, since they are interactive and swapping is immediately felt:</a:t>
            </a:r>
          </a:p>
        </p:txBody>
      </p:sp>
      <p:pic>
        <p:nvPicPr>
          <p:cNvPr id="11" name="body-2" descr="500 \times 4 = 2{,}000 \text{ GB}"/>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3782821"/>
            <a:ext cx="10234879" cy="324520"/>
          </a:xfrm>
          <a:prstGeom prst="rect">
            <a:avLst/>
          </a:prstGeom>
        </p:spPr>
      </p:pic>
      <p:sp>
        <p:nvSpPr>
          <p:cNvPr id="12" name="body-3"/>
          <p:cNvSpPr txBox="1"/>
          <p:nvPr/>
        </p:nvSpPr>
        <p:spPr>
          <a:xfrm>
            <a:off x="1042416" y="4240057"/>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On hosts of 512 GB, reserving 15% for the hypervisor and headroom:</a:t>
            </a:r>
          </a:p>
        </p:txBody>
      </p:sp>
      <p:pic>
        <p:nvPicPr>
          <p:cNvPr id="13" name="body-4" descr="\left\lceil \frac{2{,}000}{512 \times 0.85} \right\rceil = \left\lceil \frac{2{,}000}{435} \right\rceil = 5 \text{ host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4673914"/>
            <a:ext cx="10234879" cy="655167"/>
          </a:xfrm>
          <a:prstGeom prst="rect">
            <a:avLst/>
          </a:prstGeom>
        </p:spPr>
      </p:pic>
      <p:sp>
        <p:nvSpPr>
          <p:cNvPr id="14" name="body-5"/>
          <p:cNvSpPr txBox="1"/>
          <p:nvPr/>
        </p:nvSpPr>
        <p:spPr>
          <a:xfrm>
            <a:off x="1042416" y="5461797"/>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Add one for N+1: </a:t>
            </a:r>
            <a:r>
              <a:rPr sz="1900" b="1" i="0">
                <a:solidFill>
                  <a:srgbClr val="1C252B"/>
                </a:solidFill>
                <a:latin typeface="Segoe UI"/>
              </a:rPr>
              <a:t>6 hosts</a:t>
            </a:r>
            <a:r>
              <a:rPr sz="1900" b="0" i="0">
                <a:solidFill>
                  <a:srgbClr val="1C252B"/>
                </a:solidFill>
                <a:latin typeface="Segoe UI"/>
              </a:rPr>
              <a:t>.</a:t>
            </a:r>
          </a:p>
        </p:txBody>
      </p:sp>
      <p:sp>
        <p:nvSpPr>
          <p:cNvPr id="2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pfill">
            <a:extLst>
              <a:ext uri="{C183D7F6-B498-43B3-948B-1728B52AA6E4}">
                <adec:decorative xmlns:adec="http://schemas.microsoft.com/office/drawing/2017/decorative" val="1"/>
              </a:ext>
            </a:extLst>
          </p:cNvPr>
          <p:cNvSpPr/>
          <p:nvPr/>
        </p:nvSpPr>
        <p:spPr>
          <a:xfrm>
            <a:off x="0" y="0"/>
            <a:ext cx="396230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right)">
                                      <p:cBhvr>
                                        <p:cTn id="28" dur="4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Sizing a 500-Seat Deployment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15  ·  Desktop and Application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§15.2  ·  Handout p. 117     </a:t>
            </a:r>
            <a:fld id="{75F8C2B8-9CFD-4DBE-9F9A-2968C4A9160C}"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556424"/>
          </a:xfrm>
          <a:prstGeom prst="roundRect">
            <a:avLst>
              <a:gd name="adj" fmla="val 2006"/>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5564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2 — check CPU.</a:t>
            </a:r>
            <a:r>
              <a:rPr sz="1900" b="0" i="0">
                <a:solidFill>
                  <a:srgbClr val="1C252B"/>
                </a:solidFill>
                <a:latin typeface="Segoe UI"/>
              </a:rPr>
              <a:t> </a:t>
            </a:r>
            <a:r>
              <a:rPr sz="1900" b="0" i="0">
                <a:solidFill>
                  <a:srgbClr val="1C252B"/>
                </a:solidFill>
                <a:latin typeface="Cambria"/>
              </a:rPr>
              <a:t>500 × 2 = 1,000</a:t>
            </a:r>
            <a:r>
              <a:rPr sz="1900" b="0" i="0">
                <a:solidFill>
                  <a:srgbClr val="1C252B"/>
                </a:solidFill>
                <a:latin typeface="Segoe UI"/>
              </a:rPr>
              <a:t> vCPU on six hosts of 64 cores </a:t>
            </a:r>
            <a:r>
              <a:rPr sz="1900" b="0" i="0">
                <a:solidFill>
                  <a:srgbClr val="1C252B"/>
                </a:solidFill>
                <a:latin typeface="Cambria"/>
              </a:rPr>
              <a:t>= 384</a:t>
            </a:r>
            <a:r>
              <a:rPr sz="1900" b="0" i="0">
                <a:solidFill>
                  <a:srgbClr val="1C252B"/>
                </a:solidFill>
                <a:latin typeface="Segoe UI"/>
              </a:rPr>
              <a:t> cores:</a:t>
            </a:r>
          </a:p>
        </p:txBody>
      </p:sp>
      <p:sp>
        <p:nvSpPr>
          <p:cNvPr id="10" name="body-0bar">
            <a:extLst>
              <a:ext uri="{C183D7F6-B498-43B3-948B-1728B52AA6E4}">
                <adec:decorative xmlns:adec="http://schemas.microsoft.com/office/drawing/2017/decorative" val="1"/>
              </a:ext>
            </a:extLst>
          </p:cNvPr>
          <p:cNvSpPr/>
          <p:nvPr/>
        </p:nvSpPr>
        <p:spPr>
          <a:xfrm>
            <a:off x="841248" y="2029967"/>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1" name="body-1" descr="\sigma_{\text{cpu}} = \frac{1{,}000}{384} = 2.6"/>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445537"/>
            <a:ext cx="10234879" cy="547268"/>
          </a:xfrm>
          <a:prstGeom prst="rect">
            <a:avLst/>
          </a:prstGeom>
        </p:spPr>
      </p:pic>
      <p:sp>
        <p:nvSpPr>
          <p:cNvPr id="12" name="body-2"/>
          <p:cNvSpPr txBox="1"/>
          <p:nvPr/>
        </p:nvSpPr>
        <p:spPr>
          <a:xfrm>
            <a:off x="1042416" y="3125520"/>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Comfortable for desktop workloads, which sit idle between keystrokes.</a:t>
            </a:r>
          </a:p>
        </p:txBody>
      </p:sp>
      <p:sp>
        <p:nvSpPr>
          <p:cNvPr id="13" name="body-3"/>
          <p:cNvSpPr txBox="1"/>
          <p:nvPr/>
        </p:nvSpPr>
        <p:spPr>
          <a:xfrm>
            <a:off x="1042416" y="3559378"/>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3 — storage capacity, with linked clones.</a:t>
            </a:r>
          </a:p>
        </p:txBody>
      </p:sp>
      <p:sp>
        <p:nvSpPr>
          <p:cNvPr id="14" name="body-3bar">
            <a:extLst>
              <a:ext uri="{C183D7F6-B498-43B3-948B-1728B52AA6E4}">
                <adec:decorative xmlns:adec="http://schemas.microsoft.com/office/drawing/2017/decorative" val="1"/>
              </a:ext>
            </a:extLst>
          </p:cNvPr>
          <p:cNvSpPr/>
          <p:nvPr/>
        </p:nvSpPr>
        <p:spPr>
          <a:xfrm>
            <a:off x="841248" y="3577666"/>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5" name="body-4" descr="\underbrace{60}_{\text{golden image}} + \underbrace{500 \times 2}_{\text{deltas}} = 1{,}060 \text{ GB}"/>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3993235"/>
            <a:ext cx="10234879" cy="556229"/>
          </a:xfrm>
          <a:prstGeom prst="rect">
            <a:avLst/>
          </a:prstGeom>
        </p:spPr>
      </p:pic>
      <p:sp>
        <p:nvSpPr>
          <p:cNvPr id="16" name="body-5"/>
          <p:cNvSpPr txBox="1"/>
          <p:nvPr/>
        </p:nvSpPr>
        <p:spPr>
          <a:xfrm>
            <a:off x="1042416" y="4682180"/>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Against 500 full copies at 60 GB, which would be 30 TB. A </a:t>
            </a:r>
            <a:r>
              <a:rPr sz="1900" b="1" i="0">
                <a:solidFill>
                  <a:srgbClr val="1C252B"/>
                </a:solidFill>
                <a:latin typeface="Segoe UI"/>
              </a:rPr>
              <a:t>28:1</a:t>
            </a:r>
            <a:r>
              <a:rPr sz="1900" b="0" i="0">
                <a:solidFill>
                  <a:srgbClr val="1C252B"/>
                </a:solidFill>
                <a:latin typeface="Segoe UI"/>
              </a:rPr>
              <a:t> saving, and the reason non-persistent desktops are affordable.</a:t>
            </a:r>
          </a:p>
        </p:txBody>
      </p:sp>
      <p:sp>
        <p:nvSpPr>
          <p:cNvPr id="17" name="body-6"/>
          <p:cNvSpPr txBox="1"/>
          <p:nvPr/>
        </p:nvSpPr>
        <p:spPr>
          <a:xfrm>
            <a:off x="1042416" y="54171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4 — storage IOPS, steady state.</a:t>
            </a:r>
            <a:r>
              <a:rPr sz="1900" b="0" i="0">
                <a:solidFill>
                  <a:srgbClr val="1C252B"/>
                </a:solidFill>
                <a:latin typeface="Segoe UI"/>
              </a:rPr>
              <a:t> A knowledge-worker desktop averages about 10 IOPS, roughly 80% writes:</a:t>
            </a:r>
          </a:p>
        </p:txBody>
      </p:sp>
      <p:sp>
        <p:nvSpPr>
          <p:cNvPr id="18" name="body-6bar">
            <a:extLst>
              <a:ext uri="{C183D7F6-B498-43B3-948B-1728B52AA6E4}">
                <adec:decorative xmlns:adec="http://schemas.microsoft.com/office/drawing/2017/decorative" val="1"/>
              </a:ext>
            </a:extLst>
          </p:cNvPr>
          <p:cNvSpPr/>
          <p:nvPr/>
        </p:nvSpPr>
        <p:spPr>
          <a:xfrm>
            <a:off x="841248" y="5435467"/>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pfill">
            <a:extLst>
              <a:ext uri="{C183D7F6-B498-43B3-948B-1728B52AA6E4}">
                <adec:decorative xmlns:adec="http://schemas.microsoft.com/office/drawing/2017/decorative" val="1"/>
              </a:ext>
            </a:extLst>
          </p:cNvPr>
          <p:cNvSpPr/>
          <p:nvPr/>
        </p:nvSpPr>
        <p:spPr>
          <a:xfrm>
            <a:off x="0" y="0"/>
            <a:ext cx="426709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right)">
                                      <p:cBhvr>
                                        <p:cTn id="16" dur="42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right)">
                                      <p:cBhvr>
                                        <p:cTn id="21" dur="42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right)">
                                      <p:cBhvr>
                                        <p:cTn id="26" dur="420"/>
                                        <p:tgtEl>
                                          <p:spTgt spid="1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2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wipe(right)">
                                      <p:cBhvr>
                                        <p:cTn id="34" dur="42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wipe(right)">
                                      <p:cBhvr>
                                        <p:cTn id="39" dur="420"/>
                                        <p:tgtEl>
                                          <p:spTgt spid="16"/>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wipe(right)">
                                      <p:cBhvr>
                                        <p:cTn id="44" dur="42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2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Sizing a 500-Seat Deployment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15  ·  Desktop and Application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§15.2  ·  Handout p. 117     </a:t>
            </a:r>
            <a:fld id="{63F82455-6E94-4D11-BEDC-4CB31D99A08E}"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65193"/>
          </a:xfrm>
          <a:prstGeom prst="roundRect">
            <a:avLst>
              <a:gd name="adj" fmla="val 209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65193"/>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500 \times 10 = 5{,}000 \text{ IO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011679"/>
            <a:ext cx="10234879" cy="324520"/>
          </a:xfrm>
          <a:prstGeom prst="rect">
            <a:avLst/>
          </a:prstGeom>
        </p:spPr>
      </p:pic>
      <p:sp>
        <p:nvSpPr>
          <p:cNvPr id="10" name="body-1"/>
          <p:cNvSpPr txBox="1"/>
          <p:nvPr/>
        </p:nvSpPr>
        <p:spPr>
          <a:xfrm>
            <a:off x="1042416" y="2468915"/>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Any modern NVMe array handles this without noticing.</a:t>
            </a:r>
          </a:p>
        </p:txBody>
      </p:sp>
      <p:sp>
        <p:nvSpPr>
          <p:cNvPr id="11" name="body-2"/>
          <p:cNvSpPr txBox="1"/>
          <p:nvPr/>
        </p:nvSpPr>
        <p:spPr>
          <a:xfrm>
            <a:off x="1042416" y="2902772"/>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5 — storage IOPS, at the boot storm.</a:t>
            </a:r>
            <a:r>
              <a:rPr sz="1900" b="0" i="0">
                <a:solidFill>
                  <a:srgbClr val="1C252B"/>
                </a:solidFill>
                <a:latin typeface="Segoe UI"/>
              </a:rPr>
              <a:t> A booting Windows desktop demands around 100 IOPS for perhaps two minutes. Nine hundred – here 500 – logging in over 20 minutes means roughly 50 booting concurrently at any moment if arrivals are even:</a:t>
            </a:r>
          </a:p>
        </p:txBody>
      </p:sp>
      <p:sp>
        <p:nvSpPr>
          <p:cNvPr id="12" name="body-2bar">
            <a:extLst>
              <a:ext uri="{C183D7F6-B498-43B3-948B-1728B52AA6E4}">
                <adec:decorative xmlns:adec="http://schemas.microsoft.com/office/drawing/2017/decorative" val="1"/>
              </a:ext>
            </a:extLst>
          </p:cNvPr>
          <p:cNvSpPr/>
          <p:nvPr/>
        </p:nvSpPr>
        <p:spPr>
          <a:xfrm>
            <a:off x="841248" y="2921060"/>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3" name="body-3" descr="50 \times 100 = 5{,}000 \text{ IOPS extra}"/>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3938915"/>
            <a:ext cx="10234879" cy="324520"/>
          </a:xfrm>
          <a:prstGeom prst="rect">
            <a:avLst/>
          </a:prstGeom>
        </p:spPr>
      </p:pic>
      <p:sp>
        <p:nvSpPr>
          <p:cNvPr id="14" name="body-4"/>
          <p:cNvSpPr txBox="1"/>
          <p:nvPr/>
        </p:nvSpPr>
        <p:spPr>
          <a:xfrm>
            <a:off x="1042416" y="4396150"/>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But arrivals are </a:t>
            </a:r>
            <a:r>
              <a:rPr sz="1900" b="0" i="1">
                <a:solidFill>
                  <a:srgbClr val="1C252B"/>
                </a:solidFill>
                <a:latin typeface="Segoe UI"/>
              </a:rPr>
              <a:t>not</a:t>
            </a:r>
            <a:r>
              <a:rPr sz="1900" b="0" i="0">
                <a:solidFill>
                  <a:srgbClr val="1C252B"/>
                </a:solidFill>
                <a:latin typeface="Segoe UI"/>
              </a:rPr>
              <a:t> even. If half the estate logs in during the busiest five minutes:</a:t>
            </a:r>
          </a:p>
        </p:txBody>
      </p:sp>
      <p:pic>
        <p:nvPicPr>
          <p:cNvPr id="15" name="body-5" descr="\frac{250 \text{ desktops} \times 2 \text{ min boot}}{5 \text{ min}} = 100 \text{ concurrent} \qquad 100 \times 100 = 10{,}000 \text{ IOP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42416" y="4830008"/>
            <a:ext cx="10234879" cy="564367"/>
          </a:xfrm>
          <a:prstGeom prst="rect">
            <a:avLst/>
          </a:prstGeom>
        </p:spPr>
      </p:pic>
      <p:sp>
        <p:nvSpPr>
          <p:cNvPr id="16" name="body-6"/>
          <p:cNvSpPr txBox="1"/>
          <p:nvPr/>
        </p:nvSpPr>
        <p:spPr>
          <a:xfrm>
            <a:off x="1042416" y="5527090"/>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plus the 5,000 steady state: </a:t>
            </a:r>
            <a:r>
              <a:rPr sz="1900" b="1" i="0">
                <a:solidFill>
                  <a:srgbClr val="1C252B"/>
                </a:solidFill>
                <a:latin typeface="Segoe UI"/>
              </a:rPr>
              <a:t>15,000 IOPS, three times the all-day figure, for five minutes.</a:t>
            </a:r>
          </a:p>
        </p:txBody>
      </p:sp>
      <p:sp>
        <p:nvSpPr>
          <p:cNvPr id="4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pfill">
            <a:extLst>
              <a:ext uri="{C183D7F6-B498-43B3-948B-1728B52AA6E4}">
                <adec:decorative xmlns:adec="http://schemas.microsoft.com/office/drawing/2017/decorative" val="1"/>
              </a:ext>
            </a:extLst>
          </p:cNvPr>
          <p:cNvSpPr/>
          <p:nvPr/>
        </p:nvSpPr>
        <p:spPr>
          <a:xfrm>
            <a:off x="0" y="0"/>
            <a:ext cx="457188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right)">
                                      <p:cBhvr>
                                        <p:cTn id="13" dur="42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2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right)">
                                      <p:cBhvr>
                                        <p:cTn id="26" dur="42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right)">
                                      <p:cBhvr>
                                        <p:cTn id="31" dur="42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2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wipe(right)">
                                      <p:cBhvr>
                                        <p:cTn id="41" dur="42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Sizing a 500-Seat Deployment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15  ·  Desktop and Application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§15.2  ·  Handout p. 117     </a:t>
            </a:r>
            <a:fld id="{CEF25E23-124C-4C11-8F40-142C0B73BD22}"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571537"/>
          </a:xfrm>
          <a:prstGeom prst="roundRect">
            <a:avLst>
              <a:gd name="adj" fmla="val 200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571537"/>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6 — network.</a:t>
            </a:r>
            <a:r>
              <a:rPr sz="1900" b="0" i="0">
                <a:solidFill>
                  <a:srgbClr val="1C252B"/>
                </a:solidFill>
                <a:latin typeface="Segoe UI"/>
              </a:rPr>
              <a:t> At 2 Mb/s per session for office work:</a:t>
            </a:r>
          </a:p>
        </p:txBody>
      </p:sp>
      <p:sp>
        <p:nvSpPr>
          <p:cNvPr id="10" name="body-0bar">
            <a:extLst>
              <a:ext uri="{C183D7F6-B498-43B3-948B-1728B52AA6E4}">
                <adec:decorative xmlns:adec="http://schemas.microsoft.com/office/drawing/2017/decorative" val="1"/>
              </a:ext>
            </a:extLst>
          </p:cNvPr>
          <p:cNvSpPr/>
          <p:nvPr/>
        </p:nvSpPr>
        <p:spPr>
          <a:xfrm>
            <a:off x="841248" y="2029967"/>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1" name="body-1" descr="500 \times 2 = 1{,}000 \text{ Mb/s} = 1 \text{ Gb/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445537"/>
            <a:ext cx="10234879" cy="324520"/>
          </a:xfrm>
          <a:prstGeom prst="rect">
            <a:avLst/>
          </a:prstGeom>
        </p:spPr>
      </p:pic>
      <p:sp>
        <p:nvSpPr>
          <p:cNvPr id="12" name="body-2"/>
          <p:cNvSpPr txBox="1"/>
          <p:nvPr/>
        </p:nvSpPr>
        <p:spPr>
          <a:xfrm>
            <a:off x="1042416" y="290277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If a tenth are watching video at 15 Mb/s:</a:t>
            </a:r>
          </a:p>
        </p:txBody>
      </p:sp>
      <p:pic>
        <p:nvPicPr>
          <p:cNvPr id="13" name="body-3" descr="450 \times 2 + 50 \times 15 = 900 + 750 = 1{,}650 \text{ Mb/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3336630"/>
            <a:ext cx="10234879" cy="324520"/>
          </a:xfrm>
          <a:prstGeom prst="rect">
            <a:avLst/>
          </a:prstGeom>
        </p:spPr>
      </p:pic>
      <p:sp>
        <p:nvSpPr>
          <p:cNvPr id="14" name="body-4"/>
          <p:cNvSpPr txBox="1"/>
          <p:nvPr/>
        </p:nvSpPr>
        <p:spPr>
          <a:xfrm>
            <a:off x="1042416" y="3793865"/>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10 Gb/s data-centre uplink is ample; a site’s </a:t>
            </a:r>
            <a:r>
              <a:rPr sz="1900" b="0" i="1">
                <a:solidFill>
                  <a:srgbClr val="1C252B"/>
                </a:solidFill>
                <a:latin typeface="Segoe UI"/>
              </a:rPr>
              <a:t>internet</a:t>
            </a:r>
            <a:r>
              <a:rPr sz="1900" b="0" i="0">
                <a:solidFill>
                  <a:srgbClr val="1C252B"/>
                </a:solidFill>
                <a:latin typeface="Segoe UI"/>
              </a:rPr>
              <a:t> link may not be, and remote users’ home connections certainly vary.</a:t>
            </a:r>
          </a:p>
        </p:txBody>
      </p:sp>
      <p:sp>
        <p:nvSpPr>
          <p:cNvPr id="15" name="body-5"/>
          <p:cNvSpPr txBox="1"/>
          <p:nvPr/>
        </p:nvSpPr>
        <p:spPr>
          <a:xfrm>
            <a:off x="1042416" y="4528865"/>
            <a:ext cx="10234879"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7 — what fails first.</a:t>
            </a:r>
            <a:r>
              <a:rPr sz="1900" b="0" i="0">
                <a:solidFill>
                  <a:srgbClr val="1C252B"/>
                </a:solidFill>
                <a:latin typeface="Segoe UI"/>
              </a:rPr>
              <a:t> Not memory, not CPU, not capacity, not average IOPS. </a:t>
            </a:r>
            <a:r>
              <a:rPr sz="1900" b="1" i="0">
                <a:solidFill>
                  <a:srgbClr val="1C252B"/>
                </a:solidFill>
                <a:latin typeface="Segoe UI"/>
              </a:rPr>
              <a:t>Peak IOPS at logon</a:t>
            </a:r>
            <a:r>
              <a:rPr sz="1900" b="0" i="0">
                <a:solidFill>
                  <a:srgbClr val="1C252B"/>
                </a:solidFill>
                <a:latin typeface="Segoe UI"/>
              </a:rPr>
              <a:t>, by a factor of three over everything else, for five minutes a day. Size the storage for step 5 and the rest follows; size it for step 4 — which is what the average suggests — and the estate works beautifully except at nine o’clock, which is when everybody forms their opinion of it.</a:t>
            </a:r>
          </a:p>
        </p:txBody>
      </p:sp>
      <p:sp>
        <p:nvSpPr>
          <p:cNvPr id="16" name="body-5bar">
            <a:extLst>
              <a:ext uri="{C183D7F6-B498-43B3-948B-1728B52AA6E4}">
                <adec:decorative xmlns:adec="http://schemas.microsoft.com/office/drawing/2017/decorative" val="1"/>
              </a:ext>
            </a:extLst>
          </p:cNvPr>
          <p:cNvSpPr/>
          <p:nvPr/>
        </p:nvSpPr>
        <p:spPr>
          <a:xfrm>
            <a:off x="841248" y="4547153"/>
            <a:ext cx="54864" cy="14874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pfill">
            <a:extLst>
              <a:ext uri="{C183D7F6-B498-43B3-948B-1728B52AA6E4}">
                <adec:decorative xmlns:adec="http://schemas.microsoft.com/office/drawing/2017/decorative" val="1"/>
              </a:ext>
            </a:extLst>
          </p:cNvPr>
          <p:cNvSpPr/>
          <p:nvPr/>
        </p:nvSpPr>
        <p:spPr>
          <a:xfrm>
            <a:off x="0" y="0"/>
            <a:ext cx="487667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right)">
                                      <p:cBhvr>
                                        <p:cTn id="16" dur="42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right)">
                                      <p:cBhvr>
                                        <p:cTn id="21" dur="42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right)">
                                      <p:cBhvr>
                                        <p:cTn id="26" dur="42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right)">
                                      <p:cBhvr>
                                        <p:cTn id="31" dur="42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Virtualizing the Application Instead</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3 OF 3</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15.3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15.1   Moving the Computer, Leaving the Screen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15.2   What Travels Over the Wire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15.3   Virtualizing the Application Instead</a:t>
            </a:r>
          </a:p>
        </p:txBody>
      </p:sp>
      <p:sp>
        <p:nvSpPr>
          <p:cNvPr id="9"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15</a:t>
            </a:r>
          </a:p>
        </p:txBody>
      </p:sp>
      <p:sp>
        <p:nvSpPr>
          <p:cNvPr id="10"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§15.3     </a:t>
            </a:r>
            <a:fld id="{1E9D2C7C-67A2-4CB3-9ACA-C6ECB84B404E}" type="slidenum">
              <a:rPr lang="en-GB" sz="1000">
                <a:solidFill>
                  <a:srgbClr val="8795A1"/>
                </a:solidFill>
                <a:latin typeface="Segoe UI"/>
              </a:rPr>
              <a:t>17</a:t>
            </a:fld>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518147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Virtualizing the Application Instead</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15  ·  Desktop and Application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§15.3  ·  Handout p. 119     </a:t>
            </a:r>
            <a:fld id="{F523AE95-9621-4214-AC72-5E895233FD89}" type="slidenum">
              <a:rPr lang="en-GB" sz="1000">
                <a:solidFill>
                  <a:srgbClr val="8795A1"/>
                </a:solidFill>
                <a:latin typeface="Segoe UI"/>
              </a:rPr>
              <a:t>18</a:t>
            </a:fld>
          </a:p>
        </p:txBody>
      </p:sp>
      <p:graphicFrame>
        <p:nvGraphicFramePr>
          <p:cNvPr id="7" name="!!table"/>
          <p:cNvGraphicFramePr>
            <a:graphicFrameLocks noGrp="1"/>
          </p:cNvGraphicFramePr>
          <p:nvPr/>
        </p:nvGraphicFramePr>
        <p:xfrm>
          <a:off x="658368" y="1737360"/>
          <a:ext cx="10874957" cy="4245864"/>
        </p:xfrm>
        <a:graphic>
          <a:graphicData uri="http://schemas.openxmlformats.org/drawingml/2006/table">
            <a:tbl>
              <a:tblPr firstRow="0" bandRow="0" firstCol="0" lastRow="0" lastCol="0" bandCol="0">
                <a:tableStyleId>{2D5ABB26-0587-4C30-8999-92F81FD0307C}</a:tableStyleId>
              </a:tblPr>
              <a:tblGrid>
                <a:gridCol w="2567698"/>
                <a:gridCol w="2643219"/>
                <a:gridCol w="2643219"/>
                <a:gridCol w="3020821"/>
              </a:tblGrid>
              <a:tr h="405384">
                <a:tc>
                  <a:txBody>
                    <a:bodyPr wrap="square"/>
                    <a:lstStyle/>
                    <a:p>
                      <a:pPr algn="l"/>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Isolation</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Density</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Use it when</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923544">
                <a:tc>
                  <a:txBody>
                    <a:bodyPr wrap="square"/>
                    <a:lstStyle/>
                    <a:p>
                      <a:pPr algn="l"/>
                      <a:r>
                        <a:rPr sz="1700" b="0" i="0">
                          <a:solidFill>
                            <a:srgbClr val="1C252B"/>
                          </a:solidFill>
                          <a:latin typeface="Segoe UI"/>
                        </a:rPr>
                        <a:t>Persistent VDI</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One guest per user</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Lowest</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Users need to install software, or have genuinely individual environments</a:t>
                      </a:r>
                      <a:endParaRPr sz="1700"/>
                    </a:p>
                  </a:txBody>
                  <a:tcPr marL="109728" marR="109728" marT="64008" marB="45720" anchor="t">
                    <a:lnL w="0" cmpd="sng">
                      <a:noFill/>
                    </a:lnL>
                    <a:lnR w="0" cmpd="sng">
                      <a:noFill/>
                    </a:lnR>
                    <a:lnT w="9525" cmpd="sng">
                      <a:noFill/>
                    </a:lnT>
                    <a:lnB w="9525" cmpd="sng">
                      <a:noFill/>
                    </a:lnB>
                    <a:solidFill>
                      <a:srgbClr val="FFFFFF"/>
                    </a:solidFill>
                  </a:tcPr>
                </a:tc>
              </a:tr>
              <a:tr h="923544">
                <a:tc>
                  <a:txBody>
                    <a:bodyPr wrap="square"/>
                    <a:lstStyle/>
                    <a:p>
                      <a:pPr algn="l"/>
                      <a:r>
                        <a:rPr sz="1700" b="0" i="0">
                          <a:solidFill>
                            <a:srgbClr val="1C252B"/>
                          </a:solidFill>
                          <a:latin typeface="Segoe UI"/>
                        </a:rPr>
                        <a:t>Non-persistent VDI</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One guest per session</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Moderate</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A standard desktop for many similar users; patching one image</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Published apps</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Shared session host</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Highest</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A few applications, many users, no desktop needed</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Application streaming</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Container on the endpoint</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N/A</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Local performance with central control of versions</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Browser isolation</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Disposable container per session</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High</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The threat is the web, not the application</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548626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When VDI Is the Wrong Answer</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15  ·  Desktop and Application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§15.3  ·  Handout p. 119     </a:t>
            </a:r>
            <a:fld id="{B57E4C61-8A63-4436-AC4B-B7B68FEDC6D9}"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77232"/>
          </a:xfrm>
          <a:prstGeom prst="roundRect">
            <a:avLst>
              <a:gd name="adj" fmla="val 2088"/>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7723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61630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VDI is expensive, operationally demanding and unforgiving of under-sizing. It is worth it when at least one of these is true:</a:t>
            </a:r>
          </a:p>
        </p:txBody>
      </p:sp>
      <p:sp>
        <p:nvSpPr>
          <p:cNvPr id="10" name="body-1"/>
          <p:cNvSpPr txBox="1"/>
          <p:nvPr/>
        </p:nvSpPr>
        <p:spPr>
          <a:xfrm>
            <a:off x="1060704" y="2744571"/>
            <a:ext cx="10161727" cy="1426921"/>
          </a:xfrm>
          <a:prstGeom prst="rect">
            <a:avLst/>
          </a:prstGeom>
          <a:noFill/>
        </p:spPr>
        <p:txBody>
          <a:bodyPr wrap="square" anchor="t" lIns="0" rIns="0" tIns="0" bIns="0">
            <a:noAutofit/>
          </a:bodyPr>
          <a:lstStyle/>
          <a:p>
            <a:pPr algn="l" marL="201268" indent="-201268">
              <a:lnSpc>
                <a:spcPct val="104000"/>
              </a:lnSpc>
              <a:spcBef>
                <a:spcPts val="0"/>
              </a:spcBef>
              <a:spcAft>
                <a:spcPts val="630"/>
              </a:spcAft>
            </a:pPr>
            <a:r>
              <a:rPr sz="1800" b="1">
                <a:solidFill>
                  <a:srgbClr val="1F618D"/>
                </a:solidFill>
                <a:latin typeface="Segoe UI"/>
              </a:rPr>
              <a:t>•	</a:t>
            </a:r>
            <a:r>
              <a:rPr sz="1800" b="0" i="0">
                <a:solidFill>
                  <a:srgbClr val="1C252B"/>
                </a:solidFill>
                <a:latin typeface="Segoe UI"/>
              </a:rPr>
              <a:t>data must not leave the data centre, for regulatory or contractual reasons;</a:t>
            </a:r>
          </a:p>
          <a:p>
            <a:pPr algn="l" marL="201268" indent="-201268">
              <a:lnSpc>
                <a:spcPct val="104000"/>
              </a:lnSpc>
              <a:spcBef>
                <a:spcPts val="0"/>
              </a:spcBef>
              <a:spcAft>
                <a:spcPts val="630"/>
              </a:spcAft>
            </a:pPr>
            <a:r>
              <a:rPr sz="1800" b="1">
                <a:solidFill>
                  <a:srgbClr val="1F618D"/>
                </a:solidFill>
                <a:latin typeface="Segoe UI"/>
              </a:rPr>
              <a:t>•	</a:t>
            </a:r>
            <a:r>
              <a:rPr sz="1800" b="0" i="0">
                <a:solidFill>
                  <a:srgbClr val="1C252B"/>
                </a:solidFill>
                <a:latin typeface="Segoe UI"/>
              </a:rPr>
              <a:t>users are numerous, similar, and need a standard environment;</a:t>
            </a:r>
          </a:p>
          <a:p>
            <a:pPr algn="l" marL="201268" indent="-201268">
              <a:lnSpc>
                <a:spcPct val="104000"/>
              </a:lnSpc>
              <a:spcBef>
                <a:spcPts val="0"/>
              </a:spcBef>
              <a:spcAft>
                <a:spcPts val="630"/>
              </a:spcAft>
            </a:pPr>
            <a:r>
              <a:rPr sz="1800" b="1">
                <a:solidFill>
                  <a:srgbClr val="1F618D"/>
                </a:solidFill>
                <a:latin typeface="Segoe UI"/>
              </a:rPr>
              <a:t>•	</a:t>
            </a:r>
            <a:r>
              <a:rPr sz="1800" b="0" i="0">
                <a:solidFill>
                  <a:srgbClr val="1C252B"/>
                </a:solidFill>
                <a:latin typeface="Segoe UI"/>
              </a:rPr>
              <a:t>access is needed from many places or from untrusted devices;</a:t>
            </a:r>
          </a:p>
          <a:p>
            <a:pPr algn="l" marL="201268" indent="-201268">
              <a:lnSpc>
                <a:spcPct val="104000"/>
              </a:lnSpc>
              <a:spcBef>
                <a:spcPts val="0"/>
              </a:spcBef>
              <a:spcAft>
                <a:spcPts val="0"/>
              </a:spcAft>
            </a:pPr>
            <a:r>
              <a:rPr sz="1800" b="1">
                <a:solidFill>
                  <a:srgbClr val="1F618D"/>
                </a:solidFill>
                <a:latin typeface="Segoe UI"/>
              </a:rPr>
              <a:t>•	</a:t>
            </a:r>
            <a:r>
              <a:rPr sz="1800" b="0" i="0">
                <a:solidFill>
                  <a:srgbClr val="1C252B"/>
                </a:solidFill>
                <a:latin typeface="Segoe UI"/>
              </a:rPr>
              <a:t>the endpoints are thin clients with a long life and little to steal.</a:t>
            </a:r>
          </a:p>
        </p:txBody>
      </p:sp>
      <p:sp>
        <p:nvSpPr>
          <p:cNvPr id="11" name="body-2"/>
          <p:cNvSpPr txBox="1"/>
          <p:nvPr/>
        </p:nvSpPr>
        <p:spPr>
          <a:xfrm>
            <a:off x="1060704" y="4251502"/>
            <a:ext cx="10161727" cy="901598"/>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It is the wrong answer when users are few, when their needs are individual, when the work is graphically heavy without a GPU budget (Chapter 20), or — most often — when the real problem is patch management and a better endpoint management tool would cost a tenth as much.</a:t>
            </a:r>
          </a:p>
        </p:txBody>
      </p:sp>
      <p:sp>
        <p:nvSpPr>
          <p:cNvPr id="12" name="body-3"/>
          <p:cNvSpPr txBox="1"/>
          <p:nvPr/>
        </p:nvSpPr>
        <p:spPr>
          <a:xfrm>
            <a:off x="1060704" y="5233111"/>
            <a:ext cx="10161727" cy="61630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The question to ask of any VDI proposal is: </a:t>
            </a:r>
            <a:r>
              <a:rPr sz="1800" b="0" i="1">
                <a:solidFill>
                  <a:srgbClr val="1C252B"/>
                </a:solidFill>
                <a:latin typeface="Segoe UI"/>
              </a:rPr>
              <a:t>what is it that the data centre must hold?</a:t>
            </a:r>
            <a:r>
              <a:rPr sz="1800" b="0" i="0">
                <a:solidFill>
                  <a:srgbClr val="1C252B"/>
                </a:solidFill>
                <a:latin typeface="Segoe UI"/>
              </a:rPr>
              <a:t> If there is a crisp answer, VDI is likely right. If the answer is “it would be tidier”, it is not.</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579105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animEffect transition="in" filter="fade">
                                      <p:cBhvr>
                                        <p:cTn id="23" dur="38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15  ·  Desktop and Application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§15.3  ·  Handout p. 119     </a:t>
            </a:r>
            <a:fld id="{772D88AD-0907-4072-AEA3-315F69FA9D2B}" type="slidenum">
              <a:rPr lang="en-GB" sz="1000">
                <a:solidFill>
                  <a:srgbClr val="8795A1"/>
                </a:solidFill>
                <a:latin typeface="Segoe UI"/>
              </a:rPr>
              <a:t>20</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Sizing storage on average IOPS.</a:t>
            </a:r>
            <a:r>
              <a:rPr sz="1700" b="0" i="0">
                <a:solidFill>
                  <a:srgbClr val="1C252B"/>
                </a:solidFill>
                <a:latin typeface="Segoe UI"/>
              </a:rPr>
              <a:t> The boot storm is three times the average and it decides the user’s opinion.</a:t>
            </a:r>
          </a:p>
        </p:txBody>
      </p:sp>
      <p:sp>
        <p:nvSpPr>
          <p:cNvPr id="10" name="!!pb1">
            <a:extLst>
              <a:ext uri="{C183D7F6-B498-43B3-948B-1728B52AA6E4}">
                <adec:decorative xmlns:adec="http://schemas.microsoft.com/office/drawing/2017/decorative" val="1"/>
              </a:ext>
            </a:extLst>
          </p:cNvPr>
          <p:cNvSpPr/>
          <p:nvPr/>
        </p:nvSpPr>
        <p:spPr>
          <a:xfrm>
            <a:off x="658368" y="249570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51856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477414"/>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Piloting with fifty users and extrapolating.</a:t>
            </a:r>
            <a:r>
              <a:rPr sz="1700" b="0" i="0">
                <a:solidFill>
                  <a:srgbClr val="1C252B"/>
                </a:solidFill>
                <a:latin typeface="Segoe UI"/>
              </a:rPr>
              <a:t> Fifty users never produce a boot storm. Pilot the peak, not the mean.</a:t>
            </a:r>
          </a:p>
        </p:txBody>
      </p:sp>
      <p:sp>
        <p:nvSpPr>
          <p:cNvPr id="13" name="!!pb2">
            <a:extLst>
              <a:ext uri="{C183D7F6-B498-43B3-948B-1728B52AA6E4}">
                <adec:decorative xmlns:adec="http://schemas.microsoft.com/office/drawing/2017/decorative" val="1"/>
              </a:ext>
            </a:extLst>
          </p:cNvPr>
          <p:cNvSpPr/>
          <p:nvPr/>
        </p:nvSpPr>
        <p:spPr>
          <a:xfrm>
            <a:off x="658368" y="323575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25861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217468"/>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Underestimating profile management.</a:t>
            </a:r>
            <a:r>
              <a:rPr sz="1700" b="0" i="0">
                <a:solidFill>
                  <a:srgbClr val="1C252B"/>
                </a:solidFill>
                <a:latin typeface="Segoe UI"/>
              </a:rPr>
              <a:t> Non-persistent desktops fail on this more than on anything technical.</a:t>
            </a:r>
          </a:p>
        </p:txBody>
      </p:sp>
      <p:sp>
        <p:nvSpPr>
          <p:cNvPr id="16" name="!!pb3">
            <a:extLst>
              <a:ext uri="{C183D7F6-B498-43B3-948B-1728B52AA6E4}">
                <adec:decorative xmlns:adec="http://schemas.microsoft.com/office/drawing/2017/decorative" val="1"/>
              </a:ext>
            </a:extLst>
          </p:cNvPr>
          <p:cNvSpPr/>
          <p:nvPr/>
        </p:nvSpPr>
        <p:spPr>
          <a:xfrm>
            <a:off x="658368" y="3975811"/>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998671"/>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957523"/>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Optimising bandwidth and ignoring latency.</a:t>
            </a:r>
            <a:r>
              <a:rPr sz="1700" b="0" i="0">
                <a:solidFill>
                  <a:srgbClr val="1C252B"/>
                </a:solidFill>
                <a:latin typeface="Segoe UI"/>
              </a:rPr>
              <a:t> Users feel the round trip on every keystroke. A fat, distant link is worse than a thin, near one.</a:t>
            </a:r>
          </a:p>
        </p:txBody>
      </p:sp>
      <p:sp>
        <p:nvSpPr>
          <p:cNvPr id="19" name="!!pb4">
            <a:extLst>
              <a:ext uri="{C183D7F6-B498-43B3-948B-1728B52AA6E4}">
                <adec:decorative xmlns:adec="http://schemas.microsoft.com/office/drawing/2017/decorative" val="1"/>
              </a:ext>
            </a:extLst>
          </p:cNvPr>
          <p:cNvSpPr/>
          <p:nvPr/>
        </p:nvSpPr>
        <p:spPr>
          <a:xfrm>
            <a:off x="658368" y="4715865"/>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738725"/>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697577"/>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Overcommitting desktop memory as if they were servers.</a:t>
            </a:r>
            <a:r>
              <a:rPr sz="1700" b="0" i="0">
                <a:solidFill>
                  <a:srgbClr val="1C252B"/>
                </a:solidFill>
                <a:latin typeface="Segoe UI"/>
              </a:rPr>
              <a:t> A swapping desktop is noticed instantly by the person using it.</a:t>
            </a:r>
          </a:p>
        </p:txBody>
      </p:sp>
      <p:sp>
        <p:nvSpPr>
          <p:cNvPr id="22" name="!!pb5">
            <a:extLst>
              <a:ext uri="{C183D7F6-B498-43B3-948B-1728B52AA6E4}">
                <adec:decorative xmlns:adec="http://schemas.microsoft.com/office/drawing/2017/decorative" val="1"/>
              </a:ext>
            </a:extLst>
          </p:cNvPr>
          <p:cNvSpPr/>
          <p:nvPr/>
        </p:nvSpPr>
        <p:spPr>
          <a:xfrm>
            <a:off x="658368" y="545591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x5"/>
          <p:cNvSpPr txBox="1"/>
          <p:nvPr/>
        </p:nvSpPr>
        <p:spPr>
          <a:xfrm>
            <a:off x="658368" y="547877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4" name="!!pt5"/>
          <p:cNvSpPr txBox="1"/>
          <p:nvPr/>
        </p:nvSpPr>
        <p:spPr>
          <a:xfrm>
            <a:off x="1261872" y="5437631"/>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Running in-guest antivirus on a schedule.</a:t>
            </a:r>
            <a:r>
              <a:rPr sz="1700" b="0" i="0">
                <a:solidFill>
                  <a:srgbClr val="1C252B"/>
                </a:solidFill>
                <a:latin typeface="Segoe UI"/>
              </a:rPr>
              <a:t> Every desktop scanning at once reproduces the boot storm with no users to show for it.</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 (continued)</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15  ·  Desktop and Application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§15.3  ·  Handout p. 119     </a:t>
            </a:r>
            <a:fld id="{4984BB8C-DA74-4B89-8310-18D53F535EA5}" type="slidenum">
              <a:rPr lang="en-GB" sz="1000">
                <a:solidFill>
                  <a:srgbClr val="8795A1"/>
                </a:solidFill>
                <a:latin typeface="Segoe UI"/>
              </a:rPr>
              <a:t>21</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Treating VDI as a cost-saving measure.</a:t>
            </a:r>
            <a:r>
              <a:rPr sz="1700" b="0" i="0">
                <a:solidFill>
                  <a:srgbClr val="1C252B"/>
                </a:solidFill>
                <a:latin typeface="Segoe UI"/>
              </a:rPr>
              <a:t> It moves cost from endpoints to the data centre and adds licensing. Buy it for control, access or compliance, and be pleased if it also saves money.</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640063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A Remote Desktop, and What It Sends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15  ·  Desktop and Application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§15.3  ·  Handout p. 119     </a:t>
            </a:r>
            <a:fld id="{D8F3FA8F-8564-441A-A07D-061DAD952134}" type="slidenum">
              <a:rPr lang="en-GB" sz="1000">
                <a:solidFill>
                  <a:srgbClr val="8795A1"/>
                </a:solidFill>
                <a:latin typeface="Segoe UI"/>
              </a:rPr>
              <a:t>22</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Builds a remote desktop session and measures what crosses the wire under three kinds of work, then adds latency and sees which matters. Expect thirty-five minutes.</a:t>
            </a:r>
          </a:p>
        </p:txBody>
      </p:sp>
      <p:sp>
        <p:nvSpPr>
          <p:cNvPr id="8" name="!!labsteps-h"/>
          <p:cNvSpPr txBox="1"/>
          <p:nvPr/>
        </p:nvSpPr>
        <p:spPr>
          <a:xfrm>
            <a:off x="658368" y="26822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066288"/>
            <a:ext cx="10874959" cy="1859280"/>
          </a:xfrm>
          <a:prstGeom prst="rect">
            <a:avLst/>
          </a:prstGeom>
          <a:noFill/>
        </p:spPr>
        <p:txBody>
          <a:bodyPr wrap="square" anchor="t" lIns="0" rIns="0" tIns="0" bIns="0">
            <a:noAutofit/>
          </a:bodyPr>
          <a:lstStyle/>
          <a:p>
            <a:pPr algn="l" marL="404250" indent="-404250">
              <a:lnSpc>
                <a:spcPct val="100000"/>
              </a:lnSpc>
              <a:spcBef>
                <a:spcPts val="0"/>
              </a:spcBef>
              <a:spcAft>
                <a:spcPts val="480"/>
              </a:spcAft>
            </a:pPr>
            <a:r>
              <a:rPr sz="1600" b="1">
                <a:solidFill>
                  <a:srgbClr val="117A65"/>
                </a:solidFill>
                <a:latin typeface="Segoe UI"/>
              </a:rPr>
              <a:t>1.	</a:t>
            </a:r>
            <a:r>
              <a:rPr sz="1600" b="0" i="0">
                <a:solidFill>
                  <a:srgbClr val="1C252B"/>
                </a:solidFill>
                <a:latin typeface="Segoe UI"/>
              </a:rPr>
              <a:t>A desktop guest, from the Chapter 1 image.</a:t>
            </a:r>
          </a:p>
          <a:p>
            <a:pPr algn="l" marL="404250" indent="-404250">
              <a:lnSpc>
                <a:spcPct val="100000"/>
              </a:lnSpc>
              <a:spcBef>
                <a:spcPts val="0"/>
              </a:spcBef>
              <a:spcAft>
                <a:spcPts val="480"/>
              </a:spcAft>
            </a:pPr>
            <a:r>
              <a:rPr sz="1600" b="1">
                <a:solidFill>
                  <a:srgbClr val="117A65"/>
                </a:solidFill>
                <a:latin typeface="Segoe UI"/>
              </a:rPr>
              <a:t>2.	</a:t>
            </a:r>
            <a:r>
              <a:rPr sz="1600" b="0" i="0">
                <a:solidFill>
                  <a:srgbClr val="1C252B"/>
                </a:solidFill>
                <a:latin typeface="Segoe UI"/>
              </a:rPr>
              <a:t>Connect with an RDP client and leave it idle.</a:t>
            </a:r>
          </a:p>
          <a:p>
            <a:pPr algn="l" marL="404250" indent="-404250">
              <a:lnSpc>
                <a:spcPct val="100000"/>
              </a:lnSpc>
              <a:spcBef>
                <a:spcPts val="0"/>
              </a:spcBef>
              <a:spcAft>
                <a:spcPts val="480"/>
              </a:spcAft>
            </a:pPr>
            <a:r>
              <a:rPr sz="1600" b="1">
                <a:solidFill>
                  <a:srgbClr val="117A65"/>
                </a:solidFill>
                <a:latin typeface="Segoe UI"/>
              </a:rPr>
              <a:t>3.	</a:t>
            </a:r>
            <a:r>
              <a:rPr sz="1600" b="0" i="0">
                <a:solidFill>
                  <a:srgbClr val="1C252B"/>
                </a:solidFill>
                <a:latin typeface="Segoe UI"/>
              </a:rPr>
              <a:t>Measure the three cases of the figure.</a:t>
            </a:r>
          </a:p>
          <a:p>
            <a:pPr algn="l" marL="404250" indent="-404250">
              <a:lnSpc>
                <a:spcPct val="100000"/>
              </a:lnSpc>
              <a:spcBef>
                <a:spcPts val="0"/>
              </a:spcBef>
              <a:spcAft>
                <a:spcPts val="480"/>
              </a:spcAft>
            </a:pPr>
            <a:r>
              <a:rPr sz="1600" b="1">
                <a:solidFill>
                  <a:srgbClr val="117A65"/>
                </a:solidFill>
                <a:latin typeface="Segoe UI"/>
              </a:rPr>
              <a:t>4.	</a:t>
            </a:r>
            <a:r>
              <a:rPr sz="1600" b="0" i="0">
                <a:solidFill>
                  <a:srgbClr val="1C252B"/>
                </a:solidFill>
                <a:latin typeface="Segoe UI"/>
              </a:rPr>
              <a:t>Now the thing users actually feel: latency.</a:t>
            </a:r>
          </a:p>
          <a:p>
            <a:pPr algn="l" marL="404250" indent="-404250">
              <a:lnSpc>
                <a:spcPct val="100000"/>
              </a:lnSpc>
              <a:spcBef>
                <a:spcPts val="0"/>
              </a:spcBef>
              <a:spcAft>
                <a:spcPts val="480"/>
              </a:spcAft>
            </a:pPr>
            <a:r>
              <a:rPr sz="1600" b="1">
                <a:solidFill>
                  <a:srgbClr val="117A65"/>
                </a:solidFill>
                <a:latin typeface="Segoe UI"/>
              </a:rPr>
              <a:t>5.	</a:t>
            </a:r>
            <a:r>
              <a:rPr sz="1600" b="0" i="0">
                <a:solidFill>
                  <a:srgbClr val="1C252B"/>
                </a:solidFill>
                <a:latin typeface="Segoe UI"/>
              </a:rPr>
              <a:t>The boot storm, at small scale.</a:t>
            </a:r>
          </a:p>
          <a:p>
            <a:pPr algn="l" marL="404250" indent="-404250">
              <a:lnSpc>
                <a:spcPct val="100000"/>
              </a:lnSpc>
              <a:spcBef>
                <a:spcPts val="0"/>
              </a:spcBef>
              <a:spcAft>
                <a:spcPts val="0"/>
              </a:spcAft>
            </a:pPr>
            <a:r>
              <a:rPr sz="1600" b="1">
                <a:solidFill>
                  <a:srgbClr val="117A65"/>
                </a:solidFill>
                <a:latin typeface="Segoe UI"/>
              </a:rPr>
              <a:t>6.	</a:t>
            </a:r>
            <a:r>
              <a:rPr sz="1600" b="0" i="0">
                <a:solidFill>
                  <a:srgbClr val="1C252B"/>
                </a:solidFill>
                <a:latin typeface="Segoe UI"/>
              </a:rPr>
              <a:t>Tear down.</a:t>
            </a:r>
          </a:p>
        </p:txBody>
      </p:sp>
      <p:sp>
        <p:nvSpPr>
          <p:cNvPr id="34" name="!!lfTHIS">
            <a:extLst>
              <a:ext uri="{C183D7F6-B498-43B3-948B-1728B52AA6E4}">
                <adec:decorative xmlns:adec="http://schemas.microsoft.com/office/drawing/2017/decorative" val="1"/>
              </a:ext>
            </a:extLst>
          </p:cNvPr>
          <p:cNvSpPr/>
          <p:nvPr/>
        </p:nvSpPr>
        <p:spPr>
          <a:xfrm>
            <a:off x="658368" y="521208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lflTHIS"/>
          <p:cNvSpPr txBox="1"/>
          <p:nvPr/>
        </p:nvSpPr>
        <p:spPr>
          <a:xfrm>
            <a:off x="932688" y="537667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37" name="!!lfvTHIS"/>
          <p:cNvSpPr txBox="1"/>
          <p:nvPr/>
        </p:nvSpPr>
        <p:spPr>
          <a:xfrm>
            <a:off x="932688" y="566928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12: A remote desktop measured; an estate declared in code</a:t>
            </a:r>
          </a:p>
        </p:txBody>
      </p:sp>
      <p:sp>
        <p:nvSpPr>
          <p:cNvPr id="38" name="!!lfWHAT">
            <a:extLst>
              <a:ext uri="{C183D7F6-B498-43B3-948B-1728B52AA6E4}">
                <adec:decorative xmlns:adec="http://schemas.microsoft.com/office/drawing/2017/decorative" val="1"/>
              </a:ext>
            </a:extLst>
          </p:cNvPr>
          <p:cNvSpPr/>
          <p:nvPr/>
        </p:nvSpPr>
        <p:spPr>
          <a:xfrm>
            <a:off x="6233007" y="521208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lfbWHAT">
            <a:extLst>
              <a:ext uri="{C183D7F6-B498-43B3-948B-1728B52AA6E4}">
                <adec:decorative xmlns:adec="http://schemas.microsoft.com/office/drawing/2017/decorative" val="1"/>
              </a:ext>
            </a:extLst>
          </p:cNvPr>
          <p:cNvSpPr/>
          <p:nvPr/>
        </p:nvSpPr>
        <p:spPr>
          <a:xfrm>
            <a:off x="6233007"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lflWHAT"/>
          <p:cNvSpPr txBox="1"/>
          <p:nvPr/>
        </p:nvSpPr>
        <p:spPr>
          <a:xfrm>
            <a:off x="6507327" y="537667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41" name="!!lfvWHAT"/>
          <p:cNvSpPr txBox="1"/>
          <p:nvPr/>
        </p:nvSpPr>
        <p:spPr>
          <a:xfrm>
            <a:off x="6507327" y="566928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61 lines of Shell</a:t>
            </a:r>
          </a:p>
        </p:txBody>
      </p:sp>
      <p:sp>
        <p:nvSpPr>
          <p:cNvPr id="4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pfill">
            <a:extLst>
              <a:ext uri="{C183D7F6-B498-43B3-948B-1728B52AA6E4}">
                <adec:decorative xmlns:adec="http://schemas.microsoft.com/office/drawing/2017/decorative" val="1"/>
              </a:ext>
            </a:extLst>
          </p:cNvPr>
          <p:cNvSpPr/>
          <p:nvPr/>
        </p:nvSpPr>
        <p:spPr>
          <a:xfrm>
            <a:off x="0" y="0"/>
            <a:ext cx="670543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00"/>
                                        <p:tgtEl>
                                          <p:spTgt spid="9">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animEffect transition="in" filter="fade">
                                      <p:cBhvr>
                                        <p:cTn id="33" dur="300"/>
                                        <p:tgtEl>
                                          <p:spTgt spid="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Remote Desktop, and What It Sends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15  ·  Desktop and Application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§15.3  ·  Handout p. 119     </a:t>
            </a:r>
            <a:fld id="{1AF0F668-DBD6-4671-9CDF-90CEF7931218}" type="slidenum">
              <a:rPr lang="en-GB" sz="1000">
                <a:solidFill>
                  <a:srgbClr val="8795A1"/>
                </a:solidFill>
                <a:latin typeface="Segoe UI"/>
              </a:rPr>
              <a:t>23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 desktop guest, from the Chapter 1 image.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169664"/>
          </a:xfrm>
          <a:prstGeom prst="roundRect">
            <a:avLst>
              <a:gd name="adj" fmla="val 219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usr/bin/env bash # ch15_vdi.sh -- a remote desktop, measured, then made to feel slow. set -euo pipefail # --- 1. A desktop guest, from the Chapter 1 image. --------------------- sudo virsh start vss1 || true ; sleep 25 ip_of () { sudo virsh domifaddr &quot;$1&quot; | awk '/ipv4/{split($4,a,&quot;/&quot;); print a[1]}' } IP=$(ip_of vss1) G () { ssh -o StrictHostKeyChecking=no &quot;ubuntu@$IP&quot; &quot;$1&quot;; } G &quot;sudo apt-get -qq install -y xfce4 xrdp firefox &amp;&amp; sudo systemctl \ enable --now xrdp&quot;"/>
          <p:cNvSpPr txBox="1"/>
          <p:nvPr/>
        </p:nvSpPr>
        <p:spPr>
          <a:xfrm>
            <a:off x="1362456" y="2523744"/>
            <a:ext cx="9987991" cy="367588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#!/usr/bin/env bash</a:t>
            </a:r>
          </a:p>
          <a:p>
            <a:pPr>
              <a:lnSpc>
                <a:spcPct val="100000"/>
              </a:lnSpc>
              <a:spcAft>
                <a:spcPts val="0"/>
              </a:spcAft>
            </a:pPr>
            <a:r>
              <a:rPr sz="1800" i="1">
                <a:solidFill>
                  <a:srgbClr val="8795A1"/>
                </a:solidFill>
                <a:latin typeface="Consolas"/>
              </a:rPr>
              <a:t># ch15_vdi.sh -- a remote desktop, measured, then made to feel slow.</a:t>
            </a:r>
          </a:p>
          <a:p>
            <a:pPr>
              <a:lnSpc>
                <a:spcPct val="100000"/>
              </a:lnSpc>
              <a:spcAft>
                <a:spcPts val="0"/>
              </a:spcAft>
            </a:pPr>
            <a:r>
              <a:rPr sz="1800" i="0">
                <a:solidFill>
                  <a:srgbClr val="C39BD3"/>
                </a:solidFill>
                <a:latin typeface="Consolas"/>
              </a:rPr>
              <a:t>set</a:t>
            </a:r>
            <a:r>
              <a:rPr sz="1800" i="0">
                <a:solidFill>
                  <a:srgbClr val="E8EDF2"/>
                </a:solidFill>
                <a:latin typeface="Consolas"/>
              </a:rPr>
              <a:t> </a:t>
            </a:r>
            <a:r>
              <a:rPr sz="1800" i="0">
                <a:solidFill>
                  <a:srgbClr val="E8EDF2"/>
                </a:solidFill>
                <a:latin typeface="Consolas"/>
              </a:rPr>
              <a:t>-euo</a:t>
            </a:r>
            <a:r>
              <a:rPr sz="1800" i="0">
                <a:solidFill>
                  <a:srgbClr val="E8EDF2"/>
                </a:solidFill>
                <a:latin typeface="Consolas"/>
              </a:rPr>
              <a:t> </a:t>
            </a:r>
            <a:r>
              <a:rPr sz="1800" i="0">
                <a:solidFill>
                  <a:srgbClr val="E8EDF2"/>
                </a:solidFill>
                <a:latin typeface="Consolas"/>
              </a:rPr>
              <a:t>pipefail</a:t>
            </a:r>
          </a:p>
          <a:p>
            <a:pPr>
              <a:lnSpc>
                <a:spcPct val="100000"/>
              </a:lnSpc>
              <a:spcAft>
                <a:spcPts val="0"/>
              </a:spcAft>
            </a:pPr>
            <a:r>
              <a:rPr sz="1800">
                <a:latin typeface="Consolas"/>
              </a:rPr>
              <a:t> </a:t>
            </a:r>
          </a:p>
          <a:p>
            <a:pPr>
              <a:lnSpc>
                <a:spcPct val="100000"/>
              </a:lnSpc>
              <a:spcAft>
                <a:spcPts val="0"/>
              </a:spcAft>
            </a:pPr>
            <a:r>
              <a:rPr sz="1800" i="1">
                <a:solidFill>
                  <a:srgbClr val="8795A1"/>
                </a:solidFill>
                <a:latin typeface="Consolas"/>
              </a:rPr>
              <a:t># --- 1. A desktop guest, from the Chapter 1 image. ---------------------</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virsh</a:t>
            </a:r>
            <a:r>
              <a:rPr sz="1800" i="0">
                <a:solidFill>
                  <a:srgbClr val="E8EDF2"/>
                </a:solidFill>
                <a:latin typeface="Consolas"/>
              </a:rPr>
              <a:t> </a:t>
            </a:r>
            <a:r>
              <a:rPr sz="1800" i="0">
                <a:solidFill>
                  <a:srgbClr val="E8EDF2"/>
                </a:solidFill>
                <a:latin typeface="Consolas"/>
              </a:rPr>
              <a:t>start</a:t>
            </a:r>
            <a:r>
              <a:rPr sz="1800" i="0">
                <a:solidFill>
                  <a:srgbClr val="E8EDF2"/>
                </a:solidFill>
                <a:latin typeface="Consolas"/>
              </a:rPr>
              <a:t> </a:t>
            </a:r>
            <a:r>
              <a:rPr sz="1800" i="0">
                <a:solidFill>
                  <a:srgbClr val="E8EDF2"/>
                </a:solidFill>
                <a:latin typeface="Consolas"/>
              </a:rPr>
              <a:t>vss1</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true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sleep</a:t>
            </a:r>
            <a:r>
              <a:rPr sz="1800" i="0">
                <a:solidFill>
                  <a:srgbClr val="E8EDF2"/>
                </a:solidFill>
                <a:latin typeface="Consolas"/>
              </a:rPr>
              <a:t> </a:t>
            </a:r>
            <a:r>
              <a:rPr sz="1800" i="0">
                <a:solidFill>
                  <a:srgbClr val="F7DC6F"/>
                </a:solidFill>
                <a:latin typeface="Consolas"/>
              </a:rPr>
              <a:t>25</a:t>
            </a:r>
          </a:p>
          <a:p>
            <a:pPr>
              <a:lnSpc>
                <a:spcPct val="100000"/>
              </a:lnSpc>
              <a:spcAft>
                <a:spcPts val="0"/>
              </a:spcAft>
            </a:pPr>
            <a:r>
              <a:rPr sz="1800" i="0">
                <a:solidFill>
                  <a:srgbClr val="E8EDF2"/>
                </a:solidFill>
                <a:latin typeface="Consolas"/>
              </a:rPr>
              <a:t>ip_of</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virsh</a:t>
            </a:r>
            <a:r>
              <a:rPr sz="1800" i="0">
                <a:solidFill>
                  <a:srgbClr val="E8EDF2"/>
                </a:solidFill>
                <a:latin typeface="Consolas"/>
              </a:rPr>
              <a:t> </a:t>
            </a:r>
            <a:r>
              <a:rPr sz="1800" i="0">
                <a:solidFill>
                  <a:srgbClr val="E8EDF2"/>
                </a:solidFill>
                <a:latin typeface="Consolas"/>
              </a:rPr>
              <a:t>domifaddr</a:t>
            </a:r>
            <a:r>
              <a:rPr sz="1800" i="0">
                <a:solidFill>
                  <a:srgbClr val="E8EDF2"/>
                </a:solidFill>
                <a:latin typeface="Consolas"/>
              </a:rPr>
              <a:t> </a:t>
            </a:r>
            <a:r>
              <a:rPr sz="1800" i="0">
                <a:solidFill>
                  <a:srgbClr val="7DCEA0"/>
                </a:solidFill>
                <a:latin typeface="Consolas"/>
              </a:rPr>
              <a:t>"</a:t>
            </a:r>
            <a:r>
              <a:rPr sz="1800" i="0">
                <a:solidFill>
                  <a:srgbClr val="E8EDF2"/>
                </a:solidFill>
                <a:latin typeface="Consolas"/>
              </a:rPr>
              <a:t>$1</a:t>
            </a:r>
            <a:r>
              <a:rPr sz="1800" i="0">
                <a:solidFill>
                  <a:srgbClr val="7DCEA0"/>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awk</a:t>
            </a:r>
            <a:r>
              <a:rPr sz="1800" i="0">
                <a:solidFill>
                  <a:srgbClr val="E8EDF2"/>
                </a:solidFill>
                <a:latin typeface="Consolas"/>
              </a:rPr>
              <a:t> </a:t>
            </a:r>
            <a:r>
              <a:rPr sz="1800" i="0">
                <a:solidFill>
                  <a:srgbClr val="7DCEA0"/>
                </a:solidFill>
                <a:latin typeface="Consolas"/>
              </a:rPr>
              <a:t>'/ipv4/{split($4,a,"/"); print a[1]}'</a:t>
            </a:r>
          </a:p>
          <a:p>
            <a:pPr>
              <a:lnSpc>
                <a:spcPct val="100000"/>
              </a:lnSpc>
              <a:spcAft>
                <a:spcPts val="0"/>
              </a:spcAft>
            </a:pPr>
            <a:r>
              <a:rPr sz="1800" i="0">
                <a:solidFill>
                  <a:srgbClr val="AEB6BF"/>
                </a:solidFill>
                <a:latin typeface="Consolas"/>
              </a:rPr>
              <a:t>}</a:t>
            </a:r>
          </a:p>
          <a:p>
            <a:pPr>
              <a:lnSpc>
                <a:spcPct val="100000"/>
              </a:lnSpc>
              <a:spcAft>
                <a:spcPts val="0"/>
              </a:spcAft>
            </a:pPr>
            <a:r>
              <a:rPr sz="1800" i="0">
                <a:solidFill>
                  <a:srgbClr val="E8EDF2"/>
                </a:solidFill>
                <a:latin typeface="Consolas"/>
              </a:rPr>
              <a:t>IP</a:t>
            </a:r>
            <a:r>
              <a:rPr sz="1800" i="0">
                <a:solidFill>
                  <a:srgbClr val="AEB6BF"/>
                </a:solidFill>
                <a:latin typeface="Consolas"/>
              </a:rPr>
              <a:t>=</a:t>
            </a:r>
            <a:r>
              <a:rPr sz="1800" i="0">
                <a:solidFill>
                  <a:srgbClr val="5DADE2"/>
                </a:solidFill>
                <a:latin typeface="Consolas"/>
              </a:rPr>
              <a:t>$(</a:t>
            </a:r>
            <a:r>
              <a:rPr sz="1800" i="0">
                <a:solidFill>
                  <a:srgbClr val="E8EDF2"/>
                </a:solidFill>
                <a:latin typeface="Consolas"/>
              </a:rPr>
              <a:t>ip_of</a:t>
            </a:r>
            <a:r>
              <a:rPr sz="1800" i="0">
                <a:solidFill>
                  <a:srgbClr val="E8EDF2"/>
                </a:solidFill>
                <a:latin typeface="Consolas"/>
              </a:rPr>
              <a:t> </a:t>
            </a:r>
            <a:r>
              <a:rPr sz="1800" i="0">
                <a:solidFill>
                  <a:srgbClr val="E8EDF2"/>
                </a:solidFill>
                <a:latin typeface="Consolas"/>
              </a:rPr>
              <a:t>vss1</a:t>
            </a:r>
            <a:r>
              <a:rPr sz="1800" i="0">
                <a:solidFill>
                  <a:srgbClr val="5DADE2"/>
                </a:solidFill>
                <a:latin typeface="Consolas"/>
              </a:rPr>
              <a:t>)</a:t>
            </a:r>
          </a:p>
          <a:p>
            <a:pPr>
              <a:lnSpc>
                <a:spcPct val="100000"/>
              </a:lnSpc>
              <a:spcAft>
                <a:spcPts val="0"/>
              </a:spcAft>
            </a:pPr>
            <a:r>
              <a:rPr sz="1800" i="0">
                <a:solidFill>
                  <a:srgbClr val="E8EDF2"/>
                </a:solidFill>
                <a:latin typeface="Consolas"/>
              </a:rPr>
              <a:t>G</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ssh</a:t>
            </a:r>
            <a:r>
              <a:rPr sz="1800" i="0">
                <a:solidFill>
                  <a:srgbClr val="E8EDF2"/>
                </a:solidFill>
                <a:latin typeface="Consolas"/>
              </a:rPr>
              <a:t> </a:t>
            </a:r>
            <a:r>
              <a:rPr sz="1800" i="0">
                <a:solidFill>
                  <a:srgbClr val="E8EDF2"/>
                </a:solidFill>
                <a:latin typeface="Consolas"/>
              </a:rPr>
              <a:t>-o</a:t>
            </a:r>
            <a:r>
              <a:rPr sz="1800" i="0">
                <a:solidFill>
                  <a:srgbClr val="E8EDF2"/>
                </a:solidFill>
                <a:latin typeface="Consolas"/>
              </a:rPr>
              <a:t> </a:t>
            </a:r>
            <a:r>
              <a:rPr sz="1800" i="0">
                <a:solidFill>
                  <a:srgbClr val="E8EDF2"/>
                </a:solidFill>
                <a:latin typeface="Consolas"/>
              </a:rPr>
              <a:t>StrictHostKeyChecking</a:t>
            </a:r>
            <a:r>
              <a:rPr sz="1800" i="0">
                <a:solidFill>
                  <a:srgbClr val="AEB6BF"/>
                </a:solidFill>
                <a:latin typeface="Consolas"/>
              </a:rPr>
              <a:t>=</a:t>
            </a:r>
            <a:r>
              <a:rPr sz="1800" i="0">
                <a:solidFill>
                  <a:srgbClr val="E8EDF2"/>
                </a:solidFill>
                <a:latin typeface="Consolas"/>
              </a:rPr>
              <a:t>no</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ubuntu@</a:t>
            </a:r>
            <a:r>
              <a:rPr sz="1800" i="0">
                <a:solidFill>
                  <a:srgbClr val="E8EDF2"/>
                </a:solidFill>
                <a:latin typeface="Consolas"/>
              </a:rPr>
              <a:t>$IP</a:t>
            </a:r>
            <a:r>
              <a:rPr sz="1800" i="0">
                <a:solidFill>
                  <a:srgbClr val="7DCEA0"/>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E8EDF2"/>
                </a:solidFill>
                <a:latin typeface="Consolas"/>
              </a:rPr>
              <a:t>$1</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p>
          <a:p>
            <a:pPr>
              <a:lnSpc>
                <a:spcPct val="100000"/>
              </a:lnSpc>
              <a:spcAft>
                <a:spcPts val="0"/>
              </a:spcAft>
            </a:pPr>
            <a:r>
              <a:rPr sz="1800" i="0">
                <a:solidFill>
                  <a:srgbClr val="E8EDF2"/>
                </a:solidFill>
                <a:latin typeface="Consolas"/>
              </a:rPr>
              <a:t>G</a:t>
            </a:r>
            <a:r>
              <a:rPr sz="1800" i="0">
                <a:solidFill>
                  <a:srgbClr val="E8EDF2"/>
                </a:solidFill>
                <a:latin typeface="Consolas"/>
              </a:rPr>
              <a:t> </a:t>
            </a:r>
            <a:r>
              <a:rPr sz="1800" i="0">
                <a:solidFill>
                  <a:srgbClr val="7DCEA0"/>
                </a:solidFill>
                <a:latin typeface="Consolas"/>
              </a:rPr>
              <a:t>"sudo apt-get -qq install -y xfce4 xrdp firefox &amp;&amp; sudo systemctl \</a:t>
            </a:r>
          </a:p>
          <a:p>
            <a:pPr>
              <a:lnSpc>
                <a:spcPct val="100000"/>
              </a:lnSpc>
              <a:spcAft>
                <a:spcPts val="0"/>
              </a:spcAft>
            </a:pPr>
            <a:r>
              <a:rPr sz="1800" i="0">
                <a:solidFill>
                  <a:srgbClr val="7DCEA0"/>
                </a:solidFill>
                <a:latin typeface="Consolas"/>
              </a:rPr>
              <a:t>   enable --now xrdp"</a:t>
            </a:r>
          </a:p>
        </p:txBody>
      </p:sp>
      <p:sp>
        <p:nvSpPr>
          <p:cNvPr id="15" name="!!code-num"/>
          <p:cNvSpPr txBox="1"/>
          <p:nvPr/>
        </p:nvSpPr>
        <p:spPr>
          <a:xfrm>
            <a:off x="768096" y="2523744"/>
            <a:ext cx="393192" cy="367588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a:t>
            </a:r>
          </a:p>
          <a:p>
            <a:pPr algn="r">
              <a:lnSpc>
                <a:spcPct val="100000"/>
              </a:lnSpc>
            </a:pPr>
            <a:r>
              <a:rPr sz="1800">
                <a:solidFill>
                  <a:srgbClr val="4F5D6A"/>
                </a:solidFill>
                <a:latin typeface="Consolas"/>
              </a:rPr>
              <a:t>2</a:t>
            </a:r>
          </a:p>
          <a:p>
            <a:pPr algn="r">
              <a:lnSpc>
                <a:spcPct val="100000"/>
              </a:lnSpc>
            </a:pPr>
            <a:r>
              <a:rPr sz="1800">
                <a:solidFill>
                  <a:srgbClr val="4F5D6A"/>
                </a:solidFill>
                <a:latin typeface="Consolas"/>
              </a:rPr>
              <a:t>3</a:t>
            </a:r>
          </a:p>
          <a:p>
            <a:pPr algn="r">
              <a:lnSpc>
                <a:spcPct val="100000"/>
              </a:lnSpc>
            </a:pPr>
            <a:r>
              <a:rPr sz="1800">
                <a:solidFill>
                  <a:srgbClr val="4F5D6A"/>
                </a:solidFill>
                <a:latin typeface="Consolas"/>
              </a:rPr>
              <a:t>4</a:t>
            </a:r>
          </a:p>
          <a:p>
            <a:pPr algn="r">
              <a:lnSpc>
                <a:spcPct val="100000"/>
              </a:lnSpc>
            </a:pPr>
            <a:r>
              <a:rPr sz="1800">
                <a:solidFill>
                  <a:srgbClr val="4F5D6A"/>
                </a:solidFill>
                <a:latin typeface="Consolas"/>
              </a:rPr>
              <a:t>5</a:t>
            </a:r>
          </a:p>
          <a:p>
            <a:pPr algn="r">
              <a:lnSpc>
                <a:spcPct val="100000"/>
              </a:lnSpc>
            </a:pPr>
            <a:r>
              <a:rPr sz="1800">
                <a:solidFill>
                  <a:srgbClr val="4F5D6A"/>
                </a:solidFill>
                <a:latin typeface="Consolas"/>
              </a:rPr>
              <a:t>6</a:t>
            </a:r>
          </a:p>
          <a:p>
            <a:pPr algn="r">
              <a:lnSpc>
                <a:spcPct val="100000"/>
              </a:lnSpc>
            </a:pPr>
            <a:r>
              <a:rPr sz="1800">
                <a:solidFill>
                  <a:srgbClr val="4F5D6A"/>
                </a:solidFill>
                <a:latin typeface="Consolas"/>
              </a:rPr>
              <a:t>7</a:t>
            </a:r>
          </a:p>
          <a:p>
            <a:pPr algn="r">
              <a:lnSpc>
                <a:spcPct val="100000"/>
              </a:lnSpc>
            </a:pPr>
            <a:r>
              <a:rPr sz="1800">
                <a:solidFill>
                  <a:srgbClr val="4F5D6A"/>
                </a:solidFill>
                <a:latin typeface="Consolas"/>
              </a:rPr>
              <a:t>8</a:t>
            </a:r>
          </a:p>
          <a:p>
            <a:pPr algn="r">
              <a:lnSpc>
                <a:spcPct val="100000"/>
              </a:lnSpc>
            </a:pPr>
            <a:r>
              <a:rPr sz="1800">
                <a:solidFill>
                  <a:srgbClr val="4F5D6A"/>
                </a:solidFill>
                <a:latin typeface="Consolas"/>
              </a:rPr>
              <a:t>9</a:t>
            </a:r>
          </a:p>
          <a:p>
            <a:pPr algn="r">
              <a:lnSpc>
                <a:spcPct val="100000"/>
              </a:lnSpc>
            </a:pPr>
            <a:r>
              <a:rPr sz="1800">
                <a:solidFill>
                  <a:srgbClr val="4F5D6A"/>
                </a:solidFill>
                <a:latin typeface="Consolas"/>
              </a:rPr>
              <a:t>10</a:t>
            </a:r>
          </a:p>
          <a:p>
            <a:pPr algn="r">
              <a:lnSpc>
                <a:spcPct val="100000"/>
              </a:lnSpc>
            </a:pPr>
            <a:r>
              <a:rPr sz="1800">
                <a:solidFill>
                  <a:srgbClr val="4F5D6A"/>
                </a:solidFill>
                <a:latin typeface="Consolas"/>
              </a:rPr>
              <a:t>11</a:t>
            </a:r>
          </a:p>
          <a:p>
            <a:pPr algn="r">
              <a:lnSpc>
                <a:spcPct val="100000"/>
              </a:lnSpc>
            </a:pPr>
            <a:r>
              <a:rPr sz="1800">
                <a:solidFill>
                  <a:srgbClr val="4F5D6A"/>
                </a:solidFill>
                <a:latin typeface="Consolas"/>
              </a:rPr>
              <a:t>12</a:t>
            </a:r>
          </a:p>
          <a:p>
            <a:pPr algn="r">
              <a:lnSpc>
                <a:spcPct val="100000"/>
              </a:lnSpc>
            </a:pPr>
            <a:r>
              <a:rPr sz="1800">
                <a:solidFill>
                  <a:srgbClr val="4F5D6A"/>
                </a:solidFill>
                <a:latin typeface="Consolas"/>
              </a:rPr>
              <a:t>13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01022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Remote Desktop, and What It Sends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15  ·  Desktop and Application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§15.3  ·  Handout p. 119     </a:t>
            </a:r>
            <a:fld id="{BC45B826-1A5A-4F0E-A2AC-CE64D52CEFE3}" type="slidenum">
              <a:rPr lang="en-GB" sz="1000">
                <a:solidFill>
                  <a:srgbClr val="8795A1"/>
                </a:solidFill>
                <a:latin typeface="Segoe UI"/>
              </a:rPr>
              <a:t>24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Connect with an RDP client and leave it idle.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61743"/>
          </a:xfrm>
          <a:prstGeom prst="roundRect">
            <a:avLst>
              <a:gd name="adj" fmla="val 519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2. Connect with an RDP client and leave it idle. ----------------- # From the host: xfreerdp /v:$IP /u:ubuntu, or any RDP client. sudo apt-get install -y freerdp2-x11 iftop tcpdump echo &quot;connect now, then press return&quot;; read -r _"/>
          <p:cNvSpPr txBox="1"/>
          <p:nvPr/>
        </p:nvSpPr>
        <p:spPr>
          <a:xfrm>
            <a:off x="1362456" y="2523744"/>
            <a:ext cx="9987991" cy="126796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--- 2. Connect with an RDP client and leave it idle. -----------------</a:t>
            </a:r>
          </a:p>
          <a:p>
            <a:pPr>
              <a:lnSpc>
                <a:spcPct val="100000"/>
              </a:lnSpc>
              <a:spcAft>
                <a:spcPts val="0"/>
              </a:spcAft>
            </a:pPr>
            <a:r>
              <a:rPr sz="1900" i="1">
                <a:solidFill>
                  <a:srgbClr val="8795A1"/>
                </a:solidFill>
                <a:latin typeface="Consolas"/>
              </a:rPr>
              <a:t># From the host: xfreerdp /v:$IP /u:ubuntu, or any RDP client.</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apt-get</a:t>
            </a:r>
            <a:r>
              <a:rPr sz="1900" i="0">
                <a:solidFill>
                  <a:srgbClr val="E8EDF2"/>
                </a:solidFill>
                <a:latin typeface="Consolas"/>
              </a:rPr>
              <a:t> </a:t>
            </a:r>
            <a:r>
              <a:rPr sz="1900" i="0">
                <a:solidFill>
                  <a:srgbClr val="E8EDF2"/>
                </a:solidFill>
                <a:latin typeface="Consolas"/>
              </a:rPr>
              <a:t>install</a:t>
            </a:r>
            <a:r>
              <a:rPr sz="1900" i="0">
                <a:solidFill>
                  <a:srgbClr val="E8EDF2"/>
                </a:solidFill>
                <a:latin typeface="Consolas"/>
              </a:rPr>
              <a:t> </a:t>
            </a:r>
            <a:r>
              <a:rPr sz="1900" i="0">
                <a:solidFill>
                  <a:srgbClr val="E8EDF2"/>
                </a:solidFill>
                <a:latin typeface="Consolas"/>
              </a:rPr>
              <a:t>-y</a:t>
            </a:r>
            <a:r>
              <a:rPr sz="1900" i="0">
                <a:solidFill>
                  <a:srgbClr val="E8EDF2"/>
                </a:solidFill>
                <a:latin typeface="Consolas"/>
              </a:rPr>
              <a:t> </a:t>
            </a:r>
            <a:r>
              <a:rPr sz="1900" i="0">
                <a:solidFill>
                  <a:srgbClr val="E8EDF2"/>
                </a:solidFill>
                <a:latin typeface="Consolas"/>
              </a:rPr>
              <a:t>freerdp2-x11</a:t>
            </a:r>
            <a:r>
              <a:rPr sz="1900" i="0">
                <a:solidFill>
                  <a:srgbClr val="E8EDF2"/>
                </a:solidFill>
                <a:latin typeface="Consolas"/>
              </a:rPr>
              <a:t> </a:t>
            </a:r>
            <a:r>
              <a:rPr sz="1900" i="0">
                <a:solidFill>
                  <a:srgbClr val="E8EDF2"/>
                </a:solidFill>
                <a:latin typeface="Consolas"/>
              </a:rPr>
              <a:t>iftop</a:t>
            </a:r>
            <a:r>
              <a:rPr sz="1900" i="0">
                <a:solidFill>
                  <a:srgbClr val="E8EDF2"/>
                </a:solidFill>
                <a:latin typeface="Consolas"/>
              </a:rPr>
              <a:t> </a:t>
            </a:r>
            <a:r>
              <a:rPr sz="1900" i="0">
                <a:solidFill>
                  <a:srgbClr val="E8EDF2"/>
                </a:solidFill>
                <a:latin typeface="Consolas"/>
              </a:rPr>
              <a:t>tcpdump</a:t>
            </a:r>
          </a:p>
          <a:p>
            <a:pPr>
              <a:lnSpc>
                <a:spcPct val="100000"/>
              </a:lnSpc>
              <a:spcAft>
                <a:spcPts val="0"/>
              </a:spcAft>
            </a:pPr>
            <a:r>
              <a:rPr sz="1900" i="0">
                <a:solidFill>
                  <a:srgbClr val="C39BD3"/>
                </a:solidFill>
                <a:latin typeface="Consolas"/>
              </a:rPr>
              <a:t>echo</a:t>
            </a:r>
            <a:r>
              <a:rPr sz="1900" i="0">
                <a:solidFill>
                  <a:srgbClr val="E8EDF2"/>
                </a:solidFill>
                <a:latin typeface="Consolas"/>
              </a:rPr>
              <a:t> </a:t>
            </a:r>
            <a:r>
              <a:rPr sz="1900" i="0">
                <a:solidFill>
                  <a:srgbClr val="7DCEA0"/>
                </a:solidFill>
                <a:latin typeface="Consolas"/>
              </a:rPr>
              <a:t>"connect now, then press return"</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read</a:t>
            </a:r>
            <a:r>
              <a:rPr sz="1900" i="0">
                <a:solidFill>
                  <a:srgbClr val="E8EDF2"/>
                </a:solidFill>
                <a:latin typeface="Consolas"/>
              </a:rPr>
              <a:t> </a:t>
            </a:r>
            <a:r>
              <a:rPr sz="1900" i="0">
                <a:solidFill>
                  <a:srgbClr val="E8EDF2"/>
                </a:solidFill>
                <a:latin typeface="Consolas"/>
              </a:rPr>
              <a:t>-r</a:t>
            </a:r>
            <a:r>
              <a:rPr sz="1900" i="0">
                <a:solidFill>
                  <a:srgbClr val="E8EDF2"/>
                </a:solidFill>
                <a:latin typeface="Consolas"/>
              </a:rPr>
              <a:t> </a:t>
            </a:r>
            <a:r>
              <a:rPr sz="1900" i="0">
                <a:solidFill>
                  <a:srgbClr val="E8EDF2"/>
                </a:solidFill>
                <a:latin typeface="Consolas"/>
              </a:rPr>
              <a:t>_</a:t>
            </a:r>
          </a:p>
        </p:txBody>
      </p:sp>
      <p:sp>
        <p:nvSpPr>
          <p:cNvPr id="15" name="!!code-num"/>
          <p:cNvSpPr txBox="1"/>
          <p:nvPr/>
        </p:nvSpPr>
        <p:spPr>
          <a:xfrm>
            <a:off x="768096" y="2523744"/>
            <a:ext cx="393192" cy="126796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15</a:t>
            </a:r>
          </a:p>
          <a:p>
            <a:pPr algn="r">
              <a:lnSpc>
                <a:spcPct val="100000"/>
              </a:lnSpc>
            </a:pPr>
            <a:r>
              <a:rPr sz="1900">
                <a:solidFill>
                  <a:srgbClr val="4F5D6A"/>
                </a:solidFill>
                <a:latin typeface="Consolas"/>
              </a:rPr>
              <a:t>16</a:t>
            </a:r>
          </a:p>
          <a:p>
            <a:pPr algn="r">
              <a:lnSpc>
                <a:spcPct val="100000"/>
              </a:lnSpc>
            </a:pPr>
            <a:r>
              <a:rPr sz="1900">
                <a:solidFill>
                  <a:srgbClr val="4F5D6A"/>
                </a:solidFill>
                <a:latin typeface="Consolas"/>
              </a:rPr>
              <a:t>17</a:t>
            </a:r>
          </a:p>
          <a:p>
            <a:pPr algn="r">
              <a:lnSpc>
                <a:spcPct val="100000"/>
              </a:lnSpc>
            </a:pPr>
            <a:r>
              <a:rPr sz="1900">
                <a:solidFill>
                  <a:srgbClr val="4F5D6A"/>
                </a:solidFill>
                <a:latin typeface="Consolas"/>
              </a:rPr>
              <a:t>18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31501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Remote Desktop, and What It Sends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15  ·  Desktop and Application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§15.3  ·  Handout p. 119     </a:t>
            </a:r>
            <a:fld id="{C69F35DA-3F0A-43FF-AE48-081217DBDBEF}" type="slidenum">
              <a:rPr lang="en-GB" sz="1000">
                <a:solidFill>
                  <a:srgbClr val="8795A1"/>
                </a:solidFill>
                <a:latin typeface="Segoe UI"/>
              </a:rPr>
              <a:t>25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Measure the three cases of the figure.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895344"/>
          </a:xfrm>
          <a:prstGeom prst="roundRect">
            <a:avLst>
              <a:gd name="adj" fmla="val 234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3. Measure the three cases of the figure. ------------------------ measure () { echo &quot;=== $1 ===&quot; sudo timeout 20 tcpdump -ni any &quot;host $IP and port 3389&quot; -q 2&gt;/dev/null \ | wc -l } measure &quot;idle -- do nothing for 20 s&quot; echo &quot;now type continuously in a text editor, then press return&quot;; read -r _ measure &quot;typing&quot; echo &quot;now play a video full screen, then press return&quot;; read -r _ measure &quot;video&quot; # Packet counts stand in for bandwidth; the ratios are what matter."/>
          <p:cNvSpPr txBox="1"/>
          <p:nvPr/>
        </p:nvSpPr>
        <p:spPr>
          <a:xfrm>
            <a:off x="1362456" y="2523744"/>
            <a:ext cx="9987991" cy="340156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--- 3. Measure the three cases of the figure. ------------------------</a:t>
            </a:r>
          </a:p>
          <a:p>
            <a:pPr>
              <a:lnSpc>
                <a:spcPct val="100000"/>
              </a:lnSpc>
              <a:spcAft>
                <a:spcPts val="0"/>
              </a:spcAft>
            </a:pPr>
            <a:r>
              <a:rPr sz="1800" i="0">
                <a:solidFill>
                  <a:srgbClr val="E8EDF2"/>
                </a:solidFill>
                <a:latin typeface="Consolas"/>
              </a:rPr>
              <a:t>measure</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C39BD3"/>
                </a:solidFill>
                <a:latin typeface="Consolas"/>
              </a:rPr>
              <a:t>echo</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 </a:t>
            </a:r>
            <a:r>
              <a:rPr sz="1800" i="0">
                <a:solidFill>
                  <a:srgbClr val="E8EDF2"/>
                </a:solidFill>
                <a:latin typeface="Consolas"/>
              </a:rPr>
              <a:t>$1</a:t>
            </a:r>
            <a:r>
              <a:rPr sz="1800" i="0">
                <a:solidFill>
                  <a:srgbClr val="7DCEA0"/>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timeout</a:t>
            </a:r>
            <a:r>
              <a:rPr sz="1800" i="0">
                <a:solidFill>
                  <a:srgbClr val="E8EDF2"/>
                </a:solidFill>
                <a:latin typeface="Consolas"/>
              </a:rPr>
              <a:t> </a:t>
            </a:r>
            <a:r>
              <a:rPr sz="1800" i="0">
                <a:solidFill>
                  <a:srgbClr val="F7DC6F"/>
                </a:solidFill>
                <a:latin typeface="Consolas"/>
              </a:rPr>
              <a:t>20</a:t>
            </a:r>
            <a:r>
              <a:rPr sz="1800" i="0">
                <a:solidFill>
                  <a:srgbClr val="E8EDF2"/>
                </a:solidFill>
                <a:latin typeface="Consolas"/>
              </a:rPr>
              <a:t> </a:t>
            </a:r>
            <a:r>
              <a:rPr sz="1800" i="0">
                <a:solidFill>
                  <a:srgbClr val="E8EDF2"/>
                </a:solidFill>
                <a:latin typeface="Consolas"/>
              </a:rPr>
              <a:t>tcpdump</a:t>
            </a:r>
            <a:r>
              <a:rPr sz="1800" i="0">
                <a:solidFill>
                  <a:srgbClr val="E8EDF2"/>
                </a:solidFill>
                <a:latin typeface="Consolas"/>
              </a:rPr>
              <a:t> </a:t>
            </a:r>
            <a:r>
              <a:rPr sz="1800" i="0">
                <a:solidFill>
                  <a:srgbClr val="E8EDF2"/>
                </a:solidFill>
                <a:latin typeface="Consolas"/>
              </a:rPr>
              <a:t>-ni</a:t>
            </a:r>
            <a:r>
              <a:rPr sz="1800" i="0">
                <a:solidFill>
                  <a:srgbClr val="E8EDF2"/>
                </a:solidFill>
                <a:latin typeface="Consolas"/>
              </a:rPr>
              <a:t> </a:t>
            </a:r>
            <a:r>
              <a:rPr sz="1800" i="0">
                <a:solidFill>
                  <a:srgbClr val="E8EDF2"/>
                </a:solidFill>
                <a:latin typeface="Consolas"/>
              </a:rPr>
              <a:t>any</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host </a:t>
            </a:r>
            <a:r>
              <a:rPr sz="1800" i="0">
                <a:solidFill>
                  <a:srgbClr val="E8EDF2"/>
                </a:solidFill>
                <a:latin typeface="Consolas"/>
              </a:rPr>
              <a:t>$IP</a:t>
            </a:r>
            <a:r>
              <a:rPr sz="1800" i="0">
                <a:solidFill>
                  <a:srgbClr val="7DCEA0"/>
                </a:solidFill>
                <a:latin typeface="Consolas"/>
              </a:rPr>
              <a:t> and port 3389</a:t>
            </a:r>
            <a:r>
              <a:rPr sz="1800" i="0">
                <a:solidFill>
                  <a:srgbClr val="7DCEA0"/>
                </a:solidFill>
                <a:latin typeface="Consolas"/>
              </a:rPr>
              <a:t>"</a:t>
            </a:r>
            <a:r>
              <a:rPr sz="1800" i="0">
                <a:solidFill>
                  <a:srgbClr val="E8EDF2"/>
                </a:solidFill>
                <a:latin typeface="Consolas"/>
              </a:rPr>
              <a:t> </a:t>
            </a:r>
            <a:r>
              <a:rPr sz="1800" i="0">
                <a:solidFill>
                  <a:srgbClr val="E8EDF2"/>
                </a:solidFill>
                <a:latin typeface="Consolas"/>
              </a:rPr>
              <a:t>-q</a:t>
            </a:r>
            <a:r>
              <a:rPr sz="1800" i="0">
                <a:solidFill>
                  <a:srgbClr val="E8EDF2"/>
                </a:solidFill>
                <a:latin typeface="Consolas"/>
              </a:rPr>
              <a:t> </a:t>
            </a:r>
            <a:r>
              <a:rPr sz="1800" i="0">
                <a:solidFill>
                  <a:srgbClr val="F7DC6F"/>
                </a:solidFill>
                <a:latin typeface="Consolas"/>
              </a:rPr>
              <a:t>2</a:t>
            </a:r>
            <a:r>
              <a:rPr sz="1800" i="0">
                <a:solidFill>
                  <a:srgbClr val="E8EDF2"/>
                </a:solidFill>
                <a:latin typeface="Consolas"/>
              </a:rPr>
              <a:t>&gt;/dev/null</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wc</a:t>
            </a:r>
            <a:r>
              <a:rPr sz="1800" i="0">
                <a:solidFill>
                  <a:srgbClr val="E8EDF2"/>
                </a:solidFill>
                <a:latin typeface="Consolas"/>
              </a:rPr>
              <a:t> </a:t>
            </a:r>
            <a:r>
              <a:rPr sz="1800" i="0">
                <a:solidFill>
                  <a:srgbClr val="E8EDF2"/>
                </a:solidFill>
                <a:latin typeface="Consolas"/>
              </a:rPr>
              <a:t>-l</a:t>
            </a:r>
          </a:p>
          <a:p>
            <a:pPr>
              <a:lnSpc>
                <a:spcPct val="100000"/>
              </a:lnSpc>
              <a:spcAft>
                <a:spcPts val="0"/>
              </a:spcAft>
            </a:pPr>
            <a:r>
              <a:rPr sz="1800" i="0">
                <a:solidFill>
                  <a:srgbClr val="AEB6BF"/>
                </a:solidFill>
                <a:latin typeface="Consolas"/>
              </a:rPr>
              <a:t>}</a:t>
            </a:r>
          </a:p>
          <a:p>
            <a:pPr>
              <a:lnSpc>
                <a:spcPct val="100000"/>
              </a:lnSpc>
              <a:spcAft>
                <a:spcPts val="0"/>
              </a:spcAft>
            </a:pPr>
            <a:r>
              <a:rPr sz="1800" i="0">
                <a:solidFill>
                  <a:srgbClr val="E8EDF2"/>
                </a:solidFill>
                <a:latin typeface="Consolas"/>
              </a:rPr>
              <a:t>measure</a:t>
            </a:r>
            <a:r>
              <a:rPr sz="1800" i="0">
                <a:solidFill>
                  <a:srgbClr val="E8EDF2"/>
                </a:solidFill>
                <a:latin typeface="Consolas"/>
              </a:rPr>
              <a:t> </a:t>
            </a:r>
            <a:r>
              <a:rPr sz="1800" i="0">
                <a:solidFill>
                  <a:srgbClr val="7DCEA0"/>
                </a:solidFill>
                <a:latin typeface="Consolas"/>
              </a:rPr>
              <a:t>"idle -- do nothing for 20 s"</a:t>
            </a:r>
          </a:p>
          <a:p>
            <a:pPr>
              <a:lnSpc>
                <a:spcPct val="100000"/>
              </a:lnSpc>
              <a:spcAft>
                <a:spcPts val="0"/>
              </a:spcAft>
            </a:pPr>
            <a:r>
              <a:rPr sz="1800" i="0">
                <a:solidFill>
                  <a:srgbClr val="C39BD3"/>
                </a:solidFill>
                <a:latin typeface="Consolas"/>
              </a:rPr>
              <a:t>echo</a:t>
            </a:r>
            <a:r>
              <a:rPr sz="1800" i="0">
                <a:solidFill>
                  <a:srgbClr val="E8EDF2"/>
                </a:solidFill>
                <a:latin typeface="Consolas"/>
              </a:rPr>
              <a:t> </a:t>
            </a:r>
            <a:r>
              <a:rPr sz="1800" i="0">
                <a:solidFill>
                  <a:srgbClr val="7DCEA0"/>
                </a:solidFill>
                <a:latin typeface="Consolas"/>
              </a:rPr>
              <a:t>"now type continuously in a text editor, then press return"</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read</a:t>
            </a:r>
            <a:r>
              <a:rPr sz="1800" i="0">
                <a:solidFill>
                  <a:srgbClr val="E8EDF2"/>
                </a:solidFill>
                <a:latin typeface="Consolas"/>
              </a:rPr>
              <a:t> </a:t>
            </a:r>
            <a:r>
              <a:rPr sz="1800" i="0">
                <a:solidFill>
                  <a:srgbClr val="E8EDF2"/>
                </a:solidFill>
                <a:latin typeface="Consolas"/>
              </a:rPr>
              <a:t>-r</a:t>
            </a:r>
            <a:r>
              <a:rPr sz="1800" i="0">
                <a:solidFill>
                  <a:srgbClr val="E8EDF2"/>
                </a:solidFill>
                <a:latin typeface="Consolas"/>
              </a:rPr>
              <a:t> </a:t>
            </a:r>
            <a:r>
              <a:rPr sz="1800" i="0">
                <a:solidFill>
                  <a:srgbClr val="E8EDF2"/>
                </a:solidFill>
                <a:latin typeface="Consolas"/>
              </a:rPr>
              <a:t>_</a:t>
            </a:r>
          </a:p>
          <a:p>
            <a:pPr>
              <a:lnSpc>
                <a:spcPct val="100000"/>
              </a:lnSpc>
              <a:spcAft>
                <a:spcPts val="0"/>
              </a:spcAft>
            </a:pPr>
            <a:r>
              <a:rPr sz="1800" i="0">
                <a:solidFill>
                  <a:srgbClr val="E8EDF2"/>
                </a:solidFill>
                <a:latin typeface="Consolas"/>
              </a:rPr>
              <a:t>measure</a:t>
            </a:r>
            <a:r>
              <a:rPr sz="1800" i="0">
                <a:solidFill>
                  <a:srgbClr val="E8EDF2"/>
                </a:solidFill>
                <a:latin typeface="Consolas"/>
              </a:rPr>
              <a:t> </a:t>
            </a:r>
            <a:r>
              <a:rPr sz="1800" i="0">
                <a:solidFill>
                  <a:srgbClr val="7DCEA0"/>
                </a:solidFill>
                <a:latin typeface="Consolas"/>
              </a:rPr>
              <a:t>"typing"</a:t>
            </a:r>
          </a:p>
          <a:p>
            <a:pPr>
              <a:lnSpc>
                <a:spcPct val="100000"/>
              </a:lnSpc>
              <a:spcAft>
                <a:spcPts val="0"/>
              </a:spcAft>
            </a:pPr>
            <a:r>
              <a:rPr sz="1800" i="0">
                <a:solidFill>
                  <a:srgbClr val="C39BD3"/>
                </a:solidFill>
                <a:latin typeface="Consolas"/>
              </a:rPr>
              <a:t>echo</a:t>
            </a:r>
            <a:r>
              <a:rPr sz="1800" i="0">
                <a:solidFill>
                  <a:srgbClr val="E8EDF2"/>
                </a:solidFill>
                <a:latin typeface="Consolas"/>
              </a:rPr>
              <a:t> </a:t>
            </a:r>
            <a:r>
              <a:rPr sz="1800" i="0">
                <a:solidFill>
                  <a:srgbClr val="7DCEA0"/>
                </a:solidFill>
                <a:latin typeface="Consolas"/>
              </a:rPr>
              <a:t>"now play a video full screen, then press return"</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read</a:t>
            </a:r>
            <a:r>
              <a:rPr sz="1800" i="0">
                <a:solidFill>
                  <a:srgbClr val="E8EDF2"/>
                </a:solidFill>
                <a:latin typeface="Consolas"/>
              </a:rPr>
              <a:t> </a:t>
            </a:r>
            <a:r>
              <a:rPr sz="1800" i="0">
                <a:solidFill>
                  <a:srgbClr val="E8EDF2"/>
                </a:solidFill>
                <a:latin typeface="Consolas"/>
              </a:rPr>
              <a:t>-r</a:t>
            </a:r>
            <a:r>
              <a:rPr sz="1800" i="0">
                <a:solidFill>
                  <a:srgbClr val="E8EDF2"/>
                </a:solidFill>
                <a:latin typeface="Consolas"/>
              </a:rPr>
              <a:t> </a:t>
            </a:r>
            <a:r>
              <a:rPr sz="1800" i="0">
                <a:solidFill>
                  <a:srgbClr val="E8EDF2"/>
                </a:solidFill>
                <a:latin typeface="Consolas"/>
              </a:rPr>
              <a:t>_</a:t>
            </a:r>
          </a:p>
          <a:p>
            <a:pPr>
              <a:lnSpc>
                <a:spcPct val="100000"/>
              </a:lnSpc>
              <a:spcAft>
                <a:spcPts val="0"/>
              </a:spcAft>
            </a:pPr>
            <a:r>
              <a:rPr sz="1800" i="0">
                <a:solidFill>
                  <a:srgbClr val="E8EDF2"/>
                </a:solidFill>
                <a:latin typeface="Consolas"/>
              </a:rPr>
              <a:t>measure</a:t>
            </a:r>
            <a:r>
              <a:rPr sz="1800" i="0">
                <a:solidFill>
                  <a:srgbClr val="E8EDF2"/>
                </a:solidFill>
                <a:latin typeface="Consolas"/>
              </a:rPr>
              <a:t> </a:t>
            </a:r>
            <a:r>
              <a:rPr sz="1800" i="0">
                <a:solidFill>
                  <a:srgbClr val="7DCEA0"/>
                </a:solidFill>
                <a:latin typeface="Consolas"/>
              </a:rPr>
              <a:t>"video"</a:t>
            </a:r>
          </a:p>
          <a:p>
            <a:pPr>
              <a:lnSpc>
                <a:spcPct val="100000"/>
              </a:lnSpc>
              <a:spcAft>
                <a:spcPts val="0"/>
              </a:spcAft>
            </a:pPr>
            <a:r>
              <a:rPr sz="1800" i="1">
                <a:solidFill>
                  <a:srgbClr val="8795A1"/>
                </a:solidFill>
                <a:latin typeface="Consolas"/>
              </a:rPr>
              <a:t># Packet counts stand in for bandwidth; the ratios are what matter.</a:t>
            </a:r>
          </a:p>
        </p:txBody>
      </p:sp>
      <p:sp>
        <p:nvSpPr>
          <p:cNvPr id="15" name="!!code-num"/>
          <p:cNvSpPr txBox="1"/>
          <p:nvPr/>
        </p:nvSpPr>
        <p:spPr>
          <a:xfrm>
            <a:off x="768096" y="2523744"/>
            <a:ext cx="393192" cy="340156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20</a:t>
            </a:r>
          </a:p>
          <a:p>
            <a:pPr algn="r">
              <a:lnSpc>
                <a:spcPct val="100000"/>
              </a:lnSpc>
            </a:pPr>
            <a:r>
              <a:rPr sz="1800">
                <a:solidFill>
                  <a:srgbClr val="4F5D6A"/>
                </a:solidFill>
                <a:latin typeface="Consolas"/>
              </a:rPr>
              <a:t>21</a:t>
            </a:r>
          </a:p>
          <a:p>
            <a:pPr algn="r">
              <a:lnSpc>
                <a:spcPct val="100000"/>
              </a:lnSpc>
            </a:pPr>
            <a:r>
              <a:rPr sz="1800">
                <a:solidFill>
                  <a:srgbClr val="4F5D6A"/>
                </a:solidFill>
                <a:latin typeface="Consolas"/>
              </a:rPr>
              <a:t>22</a:t>
            </a:r>
          </a:p>
          <a:p>
            <a:pPr algn="r">
              <a:lnSpc>
                <a:spcPct val="100000"/>
              </a:lnSpc>
            </a:pPr>
            <a:r>
              <a:rPr sz="1800">
                <a:solidFill>
                  <a:srgbClr val="4F5D6A"/>
                </a:solidFill>
                <a:latin typeface="Consolas"/>
              </a:rPr>
              <a:t>23</a:t>
            </a:r>
          </a:p>
          <a:p>
            <a:pPr algn="r">
              <a:lnSpc>
                <a:spcPct val="100000"/>
              </a:lnSpc>
            </a:pPr>
            <a:r>
              <a:rPr sz="1800">
                <a:solidFill>
                  <a:srgbClr val="4F5D6A"/>
                </a:solidFill>
                <a:latin typeface="Consolas"/>
              </a:rPr>
              <a:t>24</a:t>
            </a:r>
          </a:p>
          <a:p>
            <a:pPr algn="r">
              <a:lnSpc>
                <a:spcPct val="100000"/>
              </a:lnSpc>
            </a:pPr>
            <a:r>
              <a:rPr sz="1800">
                <a:solidFill>
                  <a:srgbClr val="4F5D6A"/>
                </a:solidFill>
                <a:latin typeface="Consolas"/>
              </a:rPr>
              <a:t>25</a:t>
            </a:r>
          </a:p>
          <a:p>
            <a:pPr algn="r">
              <a:lnSpc>
                <a:spcPct val="100000"/>
              </a:lnSpc>
            </a:pPr>
            <a:r>
              <a:rPr sz="1800">
                <a:solidFill>
                  <a:srgbClr val="4F5D6A"/>
                </a:solidFill>
                <a:latin typeface="Consolas"/>
              </a:rPr>
              <a:t>26</a:t>
            </a:r>
          </a:p>
          <a:p>
            <a:pPr algn="r">
              <a:lnSpc>
                <a:spcPct val="100000"/>
              </a:lnSpc>
            </a:pPr>
            <a:r>
              <a:rPr sz="1800">
                <a:solidFill>
                  <a:srgbClr val="4F5D6A"/>
                </a:solidFill>
                <a:latin typeface="Consolas"/>
              </a:rPr>
              <a:t>27</a:t>
            </a:r>
          </a:p>
          <a:p>
            <a:pPr algn="r">
              <a:lnSpc>
                <a:spcPct val="100000"/>
              </a:lnSpc>
            </a:pPr>
            <a:r>
              <a:rPr sz="1800">
                <a:solidFill>
                  <a:srgbClr val="4F5D6A"/>
                </a:solidFill>
                <a:latin typeface="Consolas"/>
              </a:rPr>
              <a:t>28</a:t>
            </a:r>
          </a:p>
          <a:p>
            <a:pPr algn="r">
              <a:lnSpc>
                <a:spcPct val="100000"/>
              </a:lnSpc>
            </a:pPr>
            <a:r>
              <a:rPr sz="1800">
                <a:solidFill>
                  <a:srgbClr val="4F5D6A"/>
                </a:solidFill>
                <a:latin typeface="Consolas"/>
              </a:rPr>
              <a:t>29</a:t>
            </a:r>
          </a:p>
          <a:p>
            <a:pPr algn="r">
              <a:lnSpc>
                <a:spcPct val="100000"/>
              </a:lnSpc>
            </a:pPr>
            <a:r>
              <a:rPr sz="1800">
                <a:solidFill>
                  <a:srgbClr val="4F5D6A"/>
                </a:solidFill>
                <a:latin typeface="Consolas"/>
              </a:rPr>
              <a:t>30</a:t>
            </a:r>
          </a:p>
          <a:p>
            <a:pPr algn="r">
              <a:lnSpc>
                <a:spcPct val="100000"/>
              </a:lnSpc>
            </a:pPr>
            <a:r>
              <a:rPr sz="1800">
                <a:solidFill>
                  <a:srgbClr val="4F5D6A"/>
                </a:solidFill>
                <a:latin typeface="Consolas"/>
              </a:rPr>
              <a:t>31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61980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Remote Desktop, and What It Sends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15  ·  Desktop and Application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§15.3  ·  Handout p. 119     </a:t>
            </a:r>
            <a:fld id="{49683E70-4C46-4873-B68A-3119D82B5A6E}" type="slidenum">
              <a:rPr lang="en-GB" sz="1000">
                <a:solidFill>
                  <a:srgbClr val="8795A1"/>
                </a:solidFill>
                <a:latin typeface="Segoe UI"/>
              </a:rPr>
              <a:t>26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Now the thing users actually feel: latency.</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630424"/>
          </a:xfrm>
          <a:prstGeom prst="roundRect">
            <a:avLst>
              <a:gd name="adj" fmla="val 34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4. Now the thing users actually feel: latency. ------------------- # Add 150 ms each way and use the session again. Nothing else changes. sudo tc qdisc add dev virbr0 root netem delay 150ms echo &quot;use the session now -- type a sentence. Press return when done.&quot; read -r _ sudo tc qdisc del dev virbr0 root echo &quot;and again with no added delay. The bandwidth was identical.&quot;"/>
          <p:cNvSpPr txBox="1"/>
          <p:nvPr/>
        </p:nvSpPr>
        <p:spPr>
          <a:xfrm>
            <a:off x="1362456" y="2523744"/>
            <a:ext cx="9987991" cy="213664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--- 4. Now the thing users actually feel: latency. -------------------</a:t>
            </a:r>
          </a:p>
          <a:p>
            <a:pPr>
              <a:lnSpc>
                <a:spcPct val="100000"/>
              </a:lnSpc>
              <a:spcAft>
                <a:spcPts val="0"/>
              </a:spcAft>
            </a:pPr>
            <a:r>
              <a:rPr sz="1900" i="1">
                <a:solidFill>
                  <a:srgbClr val="8795A1"/>
                </a:solidFill>
                <a:latin typeface="Consolas"/>
              </a:rPr>
              <a:t># Add 150 ms each way and use the session again. Nothing else changes.</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tc</a:t>
            </a:r>
            <a:r>
              <a:rPr sz="1900" i="0">
                <a:solidFill>
                  <a:srgbClr val="E8EDF2"/>
                </a:solidFill>
                <a:latin typeface="Consolas"/>
              </a:rPr>
              <a:t> </a:t>
            </a:r>
            <a:r>
              <a:rPr sz="1900" i="0">
                <a:solidFill>
                  <a:srgbClr val="E8EDF2"/>
                </a:solidFill>
                <a:latin typeface="Consolas"/>
              </a:rPr>
              <a:t>qdisc</a:t>
            </a:r>
            <a:r>
              <a:rPr sz="1900" i="0">
                <a:solidFill>
                  <a:srgbClr val="E8EDF2"/>
                </a:solidFill>
                <a:latin typeface="Consolas"/>
              </a:rPr>
              <a:t> </a:t>
            </a:r>
            <a:r>
              <a:rPr sz="1900" i="0">
                <a:solidFill>
                  <a:srgbClr val="E8EDF2"/>
                </a:solidFill>
                <a:latin typeface="Consolas"/>
              </a:rPr>
              <a:t>add</a:t>
            </a:r>
            <a:r>
              <a:rPr sz="1900" i="0">
                <a:solidFill>
                  <a:srgbClr val="E8EDF2"/>
                </a:solidFill>
                <a:latin typeface="Consolas"/>
              </a:rPr>
              <a:t> </a:t>
            </a:r>
            <a:r>
              <a:rPr sz="1900" i="0">
                <a:solidFill>
                  <a:srgbClr val="E8EDF2"/>
                </a:solidFill>
                <a:latin typeface="Consolas"/>
              </a:rPr>
              <a:t>dev</a:t>
            </a:r>
            <a:r>
              <a:rPr sz="1900" i="0">
                <a:solidFill>
                  <a:srgbClr val="E8EDF2"/>
                </a:solidFill>
                <a:latin typeface="Consolas"/>
              </a:rPr>
              <a:t> </a:t>
            </a:r>
            <a:r>
              <a:rPr sz="1900" i="0">
                <a:solidFill>
                  <a:srgbClr val="E8EDF2"/>
                </a:solidFill>
                <a:latin typeface="Consolas"/>
              </a:rPr>
              <a:t>virbr0</a:t>
            </a:r>
            <a:r>
              <a:rPr sz="1900" i="0">
                <a:solidFill>
                  <a:srgbClr val="E8EDF2"/>
                </a:solidFill>
                <a:latin typeface="Consolas"/>
              </a:rPr>
              <a:t> </a:t>
            </a:r>
            <a:r>
              <a:rPr sz="1900" i="0">
                <a:solidFill>
                  <a:srgbClr val="E8EDF2"/>
                </a:solidFill>
                <a:latin typeface="Consolas"/>
              </a:rPr>
              <a:t>root</a:t>
            </a:r>
            <a:r>
              <a:rPr sz="1900" i="0">
                <a:solidFill>
                  <a:srgbClr val="E8EDF2"/>
                </a:solidFill>
                <a:latin typeface="Consolas"/>
              </a:rPr>
              <a:t> </a:t>
            </a:r>
            <a:r>
              <a:rPr sz="1900" i="0">
                <a:solidFill>
                  <a:srgbClr val="E8EDF2"/>
                </a:solidFill>
                <a:latin typeface="Consolas"/>
              </a:rPr>
              <a:t>netem</a:t>
            </a:r>
            <a:r>
              <a:rPr sz="1900" i="0">
                <a:solidFill>
                  <a:srgbClr val="E8EDF2"/>
                </a:solidFill>
                <a:latin typeface="Consolas"/>
              </a:rPr>
              <a:t> </a:t>
            </a:r>
            <a:r>
              <a:rPr sz="1900" i="0">
                <a:solidFill>
                  <a:srgbClr val="E8EDF2"/>
                </a:solidFill>
                <a:latin typeface="Consolas"/>
              </a:rPr>
              <a:t>delay</a:t>
            </a:r>
            <a:r>
              <a:rPr sz="1900" i="0">
                <a:solidFill>
                  <a:srgbClr val="E8EDF2"/>
                </a:solidFill>
                <a:latin typeface="Consolas"/>
              </a:rPr>
              <a:t> </a:t>
            </a:r>
            <a:r>
              <a:rPr sz="1900" i="0">
                <a:solidFill>
                  <a:srgbClr val="E8EDF2"/>
                </a:solidFill>
                <a:latin typeface="Consolas"/>
              </a:rPr>
              <a:t>150ms</a:t>
            </a:r>
          </a:p>
          <a:p>
            <a:pPr>
              <a:lnSpc>
                <a:spcPct val="100000"/>
              </a:lnSpc>
              <a:spcAft>
                <a:spcPts val="0"/>
              </a:spcAft>
            </a:pPr>
            <a:r>
              <a:rPr sz="1900" i="0">
                <a:solidFill>
                  <a:srgbClr val="C39BD3"/>
                </a:solidFill>
                <a:latin typeface="Consolas"/>
              </a:rPr>
              <a:t>echo</a:t>
            </a:r>
            <a:r>
              <a:rPr sz="1900" i="0">
                <a:solidFill>
                  <a:srgbClr val="E8EDF2"/>
                </a:solidFill>
                <a:latin typeface="Consolas"/>
              </a:rPr>
              <a:t> </a:t>
            </a:r>
            <a:r>
              <a:rPr sz="1900" i="0">
                <a:solidFill>
                  <a:srgbClr val="7DCEA0"/>
                </a:solidFill>
                <a:latin typeface="Consolas"/>
              </a:rPr>
              <a:t>"use the session now -- type a sentence. Press return when done."</a:t>
            </a:r>
          </a:p>
          <a:p>
            <a:pPr>
              <a:lnSpc>
                <a:spcPct val="100000"/>
              </a:lnSpc>
              <a:spcAft>
                <a:spcPts val="0"/>
              </a:spcAft>
            </a:pPr>
            <a:r>
              <a:rPr sz="1900" i="0">
                <a:solidFill>
                  <a:srgbClr val="C39BD3"/>
                </a:solidFill>
                <a:latin typeface="Consolas"/>
              </a:rPr>
              <a:t>read</a:t>
            </a:r>
            <a:r>
              <a:rPr sz="1900" i="0">
                <a:solidFill>
                  <a:srgbClr val="E8EDF2"/>
                </a:solidFill>
                <a:latin typeface="Consolas"/>
              </a:rPr>
              <a:t> </a:t>
            </a:r>
            <a:r>
              <a:rPr sz="1900" i="0">
                <a:solidFill>
                  <a:srgbClr val="E8EDF2"/>
                </a:solidFill>
                <a:latin typeface="Consolas"/>
              </a:rPr>
              <a:t>-r</a:t>
            </a:r>
            <a:r>
              <a:rPr sz="1900" i="0">
                <a:solidFill>
                  <a:srgbClr val="E8EDF2"/>
                </a:solidFill>
                <a:latin typeface="Consolas"/>
              </a:rPr>
              <a:t> </a:t>
            </a:r>
            <a:r>
              <a:rPr sz="1900" i="0">
                <a:solidFill>
                  <a:srgbClr val="E8EDF2"/>
                </a:solidFill>
                <a:latin typeface="Consolas"/>
              </a:rPr>
              <a:t>_</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tc</a:t>
            </a:r>
            <a:r>
              <a:rPr sz="1900" i="0">
                <a:solidFill>
                  <a:srgbClr val="E8EDF2"/>
                </a:solidFill>
                <a:latin typeface="Consolas"/>
              </a:rPr>
              <a:t> </a:t>
            </a:r>
            <a:r>
              <a:rPr sz="1900" i="0">
                <a:solidFill>
                  <a:srgbClr val="E8EDF2"/>
                </a:solidFill>
                <a:latin typeface="Consolas"/>
              </a:rPr>
              <a:t>qdisc</a:t>
            </a:r>
            <a:r>
              <a:rPr sz="1900" i="0">
                <a:solidFill>
                  <a:srgbClr val="E8EDF2"/>
                </a:solidFill>
                <a:latin typeface="Consolas"/>
              </a:rPr>
              <a:t> </a:t>
            </a:r>
            <a:r>
              <a:rPr sz="1900" i="0">
                <a:solidFill>
                  <a:srgbClr val="E8EDF2"/>
                </a:solidFill>
                <a:latin typeface="Consolas"/>
              </a:rPr>
              <a:t>del</a:t>
            </a:r>
            <a:r>
              <a:rPr sz="1900" i="0">
                <a:solidFill>
                  <a:srgbClr val="E8EDF2"/>
                </a:solidFill>
                <a:latin typeface="Consolas"/>
              </a:rPr>
              <a:t> </a:t>
            </a:r>
            <a:r>
              <a:rPr sz="1900" i="0">
                <a:solidFill>
                  <a:srgbClr val="E8EDF2"/>
                </a:solidFill>
                <a:latin typeface="Consolas"/>
              </a:rPr>
              <a:t>dev</a:t>
            </a:r>
            <a:r>
              <a:rPr sz="1900" i="0">
                <a:solidFill>
                  <a:srgbClr val="E8EDF2"/>
                </a:solidFill>
                <a:latin typeface="Consolas"/>
              </a:rPr>
              <a:t> </a:t>
            </a:r>
            <a:r>
              <a:rPr sz="1900" i="0">
                <a:solidFill>
                  <a:srgbClr val="E8EDF2"/>
                </a:solidFill>
                <a:latin typeface="Consolas"/>
              </a:rPr>
              <a:t>virbr0</a:t>
            </a:r>
            <a:r>
              <a:rPr sz="1900" i="0">
                <a:solidFill>
                  <a:srgbClr val="E8EDF2"/>
                </a:solidFill>
                <a:latin typeface="Consolas"/>
              </a:rPr>
              <a:t> </a:t>
            </a:r>
            <a:r>
              <a:rPr sz="1900" i="0">
                <a:solidFill>
                  <a:srgbClr val="E8EDF2"/>
                </a:solidFill>
                <a:latin typeface="Consolas"/>
              </a:rPr>
              <a:t>root</a:t>
            </a:r>
          </a:p>
          <a:p>
            <a:pPr>
              <a:lnSpc>
                <a:spcPct val="100000"/>
              </a:lnSpc>
              <a:spcAft>
                <a:spcPts val="0"/>
              </a:spcAft>
            </a:pPr>
            <a:r>
              <a:rPr sz="1900" i="0">
                <a:solidFill>
                  <a:srgbClr val="C39BD3"/>
                </a:solidFill>
                <a:latin typeface="Consolas"/>
              </a:rPr>
              <a:t>echo</a:t>
            </a:r>
            <a:r>
              <a:rPr sz="1900" i="0">
                <a:solidFill>
                  <a:srgbClr val="E8EDF2"/>
                </a:solidFill>
                <a:latin typeface="Consolas"/>
              </a:rPr>
              <a:t> </a:t>
            </a:r>
            <a:r>
              <a:rPr sz="1900" i="0">
                <a:solidFill>
                  <a:srgbClr val="7DCEA0"/>
                </a:solidFill>
                <a:latin typeface="Consolas"/>
              </a:rPr>
              <a:t>"and again with no added delay. The bandwidth was identical."</a:t>
            </a:r>
          </a:p>
        </p:txBody>
      </p:sp>
      <p:sp>
        <p:nvSpPr>
          <p:cNvPr id="15" name="!!code-num"/>
          <p:cNvSpPr txBox="1"/>
          <p:nvPr/>
        </p:nvSpPr>
        <p:spPr>
          <a:xfrm>
            <a:off x="768096" y="2523744"/>
            <a:ext cx="393192" cy="213664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33</a:t>
            </a:r>
          </a:p>
          <a:p>
            <a:pPr algn="r">
              <a:lnSpc>
                <a:spcPct val="100000"/>
              </a:lnSpc>
            </a:pPr>
            <a:r>
              <a:rPr sz="1900">
                <a:solidFill>
                  <a:srgbClr val="4F5D6A"/>
                </a:solidFill>
                <a:latin typeface="Consolas"/>
              </a:rPr>
              <a:t>34</a:t>
            </a:r>
          </a:p>
          <a:p>
            <a:pPr algn="r">
              <a:lnSpc>
                <a:spcPct val="100000"/>
              </a:lnSpc>
            </a:pPr>
            <a:r>
              <a:rPr sz="1900">
                <a:solidFill>
                  <a:srgbClr val="4F5D6A"/>
                </a:solidFill>
                <a:latin typeface="Consolas"/>
              </a:rPr>
              <a:t>35</a:t>
            </a:r>
          </a:p>
          <a:p>
            <a:pPr algn="r">
              <a:lnSpc>
                <a:spcPct val="100000"/>
              </a:lnSpc>
            </a:pPr>
            <a:r>
              <a:rPr sz="1900">
                <a:solidFill>
                  <a:srgbClr val="4F5D6A"/>
                </a:solidFill>
                <a:latin typeface="Consolas"/>
              </a:rPr>
              <a:t>36</a:t>
            </a:r>
          </a:p>
          <a:p>
            <a:pPr algn="r">
              <a:lnSpc>
                <a:spcPct val="100000"/>
              </a:lnSpc>
            </a:pPr>
            <a:r>
              <a:rPr sz="1900">
                <a:solidFill>
                  <a:srgbClr val="4F5D6A"/>
                </a:solidFill>
                <a:latin typeface="Consolas"/>
              </a:rPr>
              <a:t>37</a:t>
            </a:r>
          </a:p>
          <a:p>
            <a:pPr algn="r">
              <a:lnSpc>
                <a:spcPct val="100000"/>
              </a:lnSpc>
            </a:pPr>
            <a:r>
              <a:rPr sz="1900">
                <a:solidFill>
                  <a:srgbClr val="4F5D6A"/>
                </a:solidFill>
                <a:latin typeface="Consolas"/>
              </a:rPr>
              <a:t>38</a:t>
            </a:r>
          </a:p>
          <a:p>
            <a:pPr algn="r">
              <a:lnSpc>
                <a:spcPct val="100000"/>
              </a:lnSpc>
            </a:pPr>
            <a:r>
              <a:rPr sz="1900">
                <a:solidFill>
                  <a:srgbClr val="4F5D6A"/>
                </a:solidFill>
                <a:latin typeface="Consolas"/>
              </a:rPr>
              <a:t>39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92460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Remote Desktop, and What It Sends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15  ·  Desktop and Application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§15.3  ·  Handout p. 119     </a:t>
            </a:r>
            <a:fld id="{95D44670-074B-4FFD-8A01-84881E74A1F4}"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boot storm, at small scale.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17264"/>
          </a:xfrm>
          <a:prstGeom prst="roundRect">
            <a:avLst>
              <a:gd name="adj" fmla="val 22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5. The boot storm, at small scale. ------------------------------- # Clone four desktops from one base and start them together; watch IOPS. for n in 1 2 3 4; do sudo qemu-img create -f qcow2 -b /var/lib/libvirt/images/vss1.qcow2 \ -F qcow2 &quot;/var/lib/libvirt/images/d$n.qcow2&quot; 20G done ls -lh /var/lib/libvirt/images/d*.qcow2 # linked clones: nearly empty iostat -x 2 2 &gt; /tmp/before.txt for n in 1 2 3 4; do sudo virt-install --name &quot;d$n&quot; --memory 1024 --vcpus 1 \ --disk &quot;/var/lib/libvirt/images/d$n.qcow2&quot;,format=qcow2 \ --import --graphics none --noautoconsole --os-variant ubuntu22.04 &amp; done wait ; iostat -x 5 3 | tail -12 # the storm, four desktops wide"/>
          <p:cNvSpPr txBox="1"/>
          <p:nvPr/>
        </p:nvSpPr>
        <p:spPr>
          <a:xfrm>
            <a:off x="1362456" y="2523744"/>
            <a:ext cx="9987991" cy="3523487"/>
          </a:xfrm>
          <a:prstGeom prst="rect">
            <a:avLst/>
          </a:prstGeom>
          <a:noFill/>
        </p:spPr>
        <p:txBody>
          <a:bodyPr wrap="none" anchor="t" lIns="0" rIns="0" tIns="0" bIns="0">
            <a:noAutofit/>
          </a:bodyPr>
          <a:lstStyle/>
          <a:p>
            <a:pPr>
              <a:lnSpc>
                <a:spcPct val="100000"/>
              </a:lnSpc>
              <a:spcAft>
                <a:spcPts val="0"/>
              </a:spcAft>
            </a:pPr>
            <a:r>
              <a:rPr sz="1600" i="1">
                <a:solidFill>
                  <a:srgbClr val="8795A1"/>
                </a:solidFill>
                <a:latin typeface="Consolas"/>
              </a:rPr>
              <a:t># --- 5. The boot storm, at small scale. -------------------------------</a:t>
            </a:r>
          </a:p>
          <a:p>
            <a:pPr>
              <a:lnSpc>
                <a:spcPct val="100000"/>
              </a:lnSpc>
              <a:spcAft>
                <a:spcPts val="0"/>
              </a:spcAft>
            </a:pPr>
            <a:r>
              <a:rPr sz="1600" i="1">
                <a:solidFill>
                  <a:srgbClr val="8795A1"/>
                </a:solidFill>
                <a:latin typeface="Consolas"/>
              </a:rPr>
              <a:t># Clone four desktops from one base and start them together; watch IOPS.</a:t>
            </a:r>
          </a:p>
          <a:p>
            <a:pPr>
              <a:lnSpc>
                <a:spcPct val="100000"/>
              </a:lnSpc>
              <a:spcAft>
                <a:spcPts val="0"/>
              </a:spcAft>
            </a:pPr>
            <a:r>
              <a:rPr sz="1600" i="0">
                <a:solidFill>
                  <a:srgbClr val="5DADE2"/>
                </a:solidFill>
                <a:latin typeface="Consolas"/>
              </a:rPr>
              <a:t>for</a:t>
            </a:r>
            <a:r>
              <a:rPr sz="1600" i="0">
                <a:solidFill>
                  <a:srgbClr val="E8EDF2"/>
                </a:solidFill>
                <a:latin typeface="Consolas"/>
              </a:rPr>
              <a:t> </a:t>
            </a:r>
            <a:r>
              <a:rPr sz="1600" i="0">
                <a:solidFill>
                  <a:srgbClr val="E8EDF2"/>
                </a:solidFill>
                <a:latin typeface="Consolas"/>
              </a:rPr>
              <a:t>n</a:t>
            </a:r>
            <a:r>
              <a:rPr sz="1600" i="0">
                <a:solidFill>
                  <a:srgbClr val="E8EDF2"/>
                </a:solidFill>
                <a:latin typeface="Consolas"/>
              </a:rPr>
              <a:t> </a:t>
            </a:r>
            <a:r>
              <a:rPr sz="1600" i="0">
                <a:solidFill>
                  <a:srgbClr val="5DADE2"/>
                </a:solidFill>
                <a:latin typeface="Consolas"/>
              </a:rPr>
              <a:t>in</a:t>
            </a:r>
            <a:r>
              <a:rPr sz="1600" i="0">
                <a:solidFill>
                  <a:srgbClr val="E8EDF2"/>
                </a:solidFill>
                <a:latin typeface="Consolas"/>
              </a:rPr>
              <a:t> </a:t>
            </a:r>
            <a:r>
              <a:rPr sz="1600" i="0">
                <a:solidFill>
                  <a:srgbClr val="F7DC6F"/>
                </a:solidFill>
                <a:latin typeface="Consolas"/>
              </a:rPr>
              <a:t>1</a:t>
            </a:r>
            <a:r>
              <a:rPr sz="1600" i="0">
                <a:solidFill>
                  <a:srgbClr val="E8EDF2"/>
                </a:solidFill>
                <a:latin typeface="Consolas"/>
              </a:rPr>
              <a:t> </a:t>
            </a:r>
            <a:r>
              <a:rPr sz="1600" i="0">
                <a:solidFill>
                  <a:srgbClr val="F7DC6F"/>
                </a:solidFill>
                <a:latin typeface="Consolas"/>
              </a:rPr>
              <a:t>2</a:t>
            </a:r>
            <a:r>
              <a:rPr sz="1600" i="0">
                <a:solidFill>
                  <a:srgbClr val="E8EDF2"/>
                </a:solidFill>
                <a:latin typeface="Consolas"/>
              </a:rPr>
              <a:t> </a:t>
            </a:r>
            <a:r>
              <a:rPr sz="1600" i="0">
                <a:solidFill>
                  <a:srgbClr val="F7DC6F"/>
                </a:solidFill>
                <a:latin typeface="Consolas"/>
              </a:rPr>
              <a:t>3</a:t>
            </a:r>
            <a:r>
              <a:rPr sz="1600" i="0">
                <a:solidFill>
                  <a:srgbClr val="E8EDF2"/>
                </a:solidFill>
                <a:latin typeface="Consolas"/>
              </a:rPr>
              <a:t> </a:t>
            </a:r>
            <a:r>
              <a:rPr sz="1600" i="0">
                <a:solidFill>
                  <a:srgbClr val="F7DC6F"/>
                </a:solidFill>
                <a:latin typeface="Consolas"/>
              </a:rPr>
              <a:t>4</a:t>
            </a:r>
            <a:r>
              <a:rPr sz="1600" i="0">
                <a:solidFill>
                  <a:srgbClr val="AEB6BF"/>
                </a:solidFill>
                <a:latin typeface="Consolas"/>
              </a:rPr>
              <a:t>;</a:t>
            </a:r>
            <a:r>
              <a:rPr sz="1600" i="0">
                <a:solidFill>
                  <a:srgbClr val="E8EDF2"/>
                </a:solidFill>
                <a:latin typeface="Consolas"/>
              </a:rPr>
              <a:t> </a:t>
            </a:r>
            <a:r>
              <a:rPr sz="1600" i="0">
                <a:solidFill>
                  <a:srgbClr val="5DADE2"/>
                </a:solidFill>
                <a:latin typeface="Consolas"/>
              </a:rPr>
              <a:t>do</a:t>
            </a:r>
          </a:p>
          <a:p>
            <a:pPr>
              <a:lnSpc>
                <a:spcPct val="100000"/>
              </a:lnSpc>
              <a:spcAft>
                <a:spcPts val="0"/>
              </a:spcAft>
            </a:pPr>
            <a:r>
              <a:rPr sz="1600" i="0">
                <a:solidFill>
                  <a:srgbClr val="E8EDF2"/>
                </a:solidFill>
                <a:latin typeface="Consolas"/>
              </a:rPr>
              <a:t>  </a:t>
            </a:r>
            <a:r>
              <a:rPr sz="1600" i="0">
                <a:solidFill>
                  <a:srgbClr val="E8EDF2"/>
                </a:solidFill>
                <a:latin typeface="Consolas"/>
              </a:rPr>
              <a:t>sudo</a:t>
            </a:r>
            <a:r>
              <a:rPr sz="1600" i="0">
                <a:solidFill>
                  <a:srgbClr val="E8EDF2"/>
                </a:solidFill>
                <a:latin typeface="Consolas"/>
              </a:rPr>
              <a:t> </a:t>
            </a:r>
            <a:r>
              <a:rPr sz="1600" i="0">
                <a:solidFill>
                  <a:srgbClr val="E8EDF2"/>
                </a:solidFill>
                <a:latin typeface="Consolas"/>
              </a:rPr>
              <a:t>qemu-img</a:t>
            </a:r>
            <a:r>
              <a:rPr sz="1600" i="0">
                <a:solidFill>
                  <a:srgbClr val="E8EDF2"/>
                </a:solidFill>
                <a:latin typeface="Consolas"/>
              </a:rPr>
              <a:t> </a:t>
            </a:r>
            <a:r>
              <a:rPr sz="1600" i="0">
                <a:solidFill>
                  <a:srgbClr val="E8EDF2"/>
                </a:solidFill>
                <a:latin typeface="Consolas"/>
              </a:rPr>
              <a:t>create</a:t>
            </a:r>
            <a:r>
              <a:rPr sz="1600" i="0">
                <a:solidFill>
                  <a:srgbClr val="E8EDF2"/>
                </a:solidFill>
                <a:latin typeface="Consolas"/>
              </a:rPr>
              <a:t> </a:t>
            </a:r>
            <a:r>
              <a:rPr sz="1600" i="0">
                <a:solidFill>
                  <a:srgbClr val="E8EDF2"/>
                </a:solidFill>
                <a:latin typeface="Consolas"/>
              </a:rPr>
              <a:t>-f</a:t>
            </a:r>
            <a:r>
              <a:rPr sz="1600" i="0">
                <a:solidFill>
                  <a:srgbClr val="E8EDF2"/>
                </a:solidFill>
                <a:latin typeface="Consolas"/>
              </a:rPr>
              <a:t> </a:t>
            </a:r>
            <a:r>
              <a:rPr sz="1600" i="0">
                <a:solidFill>
                  <a:srgbClr val="E8EDF2"/>
                </a:solidFill>
                <a:latin typeface="Consolas"/>
              </a:rPr>
              <a:t>qcow2</a:t>
            </a:r>
            <a:r>
              <a:rPr sz="1600" i="0">
                <a:solidFill>
                  <a:srgbClr val="E8EDF2"/>
                </a:solidFill>
                <a:latin typeface="Consolas"/>
              </a:rPr>
              <a:t> </a:t>
            </a:r>
            <a:r>
              <a:rPr sz="1600" i="0">
                <a:solidFill>
                  <a:srgbClr val="E8EDF2"/>
                </a:solidFill>
                <a:latin typeface="Consolas"/>
              </a:rPr>
              <a:t>-b</a:t>
            </a:r>
            <a:r>
              <a:rPr sz="1600" i="0">
                <a:solidFill>
                  <a:srgbClr val="E8EDF2"/>
                </a:solidFill>
                <a:latin typeface="Consolas"/>
              </a:rPr>
              <a:t> </a:t>
            </a:r>
            <a:r>
              <a:rPr sz="1600" i="0">
                <a:solidFill>
                  <a:srgbClr val="E8EDF2"/>
                </a:solidFill>
                <a:latin typeface="Consolas"/>
              </a:rPr>
              <a:t>/var/lib/libvirt/images/vss1.qcow2</a:t>
            </a:r>
            <a:r>
              <a:rPr sz="1600" i="0">
                <a:solidFill>
                  <a:srgbClr val="E8EDF2"/>
                </a:solidFill>
                <a:latin typeface="Consolas"/>
              </a:rPr>
              <a:t> </a:t>
            </a:r>
            <a:r>
              <a:rPr sz="1600" i="0">
                <a:solidFill>
                  <a:srgbClr val="7DCEA0"/>
                </a:solidFill>
                <a:latin typeface="Consolas"/>
              </a:rPr>
              <a:t>\</a:t>
            </a:r>
          </a:p>
          <a:p>
            <a:pPr>
              <a:lnSpc>
                <a:spcPct val="100000"/>
              </a:lnSpc>
              <a:spcAft>
                <a:spcPts val="0"/>
              </a:spcAft>
            </a:pPr>
            <a:r>
              <a:rPr sz="1600" i="0">
                <a:solidFill>
                  <a:srgbClr val="E8EDF2"/>
                </a:solidFill>
                <a:latin typeface="Consolas"/>
              </a:rPr>
              <a:t>       </a:t>
            </a:r>
            <a:r>
              <a:rPr sz="1600" i="0">
                <a:solidFill>
                  <a:srgbClr val="E8EDF2"/>
                </a:solidFill>
                <a:latin typeface="Consolas"/>
              </a:rPr>
              <a:t>-F</a:t>
            </a:r>
            <a:r>
              <a:rPr sz="1600" i="0">
                <a:solidFill>
                  <a:srgbClr val="E8EDF2"/>
                </a:solidFill>
                <a:latin typeface="Consolas"/>
              </a:rPr>
              <a:t> </a:t>
            </a:r>
            <a:r>
              <a:rPr sz="1600" i="0">
                <a:solidFill>
                  <a:srgbClr val="E8EDF2"/>
                </a:solidFill>
                <a:latin typeface="Consolas"/>
              </a:rPr>
              <a:t>qcow2</a:t>
            </a:r>
            <a:r>
              <a:rPr sz="1600" i="0">
                <a:solidFill>
                  <a:srgbClr val="E8EDF2"/>
                </a:solidFill>
                <a:latin typeface="Consolas"/>
              </a:rPr>
              <a:t> </a:t>
            </a:r>
            <a:r>
              <a:rPr sz="1600" i="0">
                <a:solidFill>
                  <a:srgbClr val="7DCEA0"/>
                </a:solidFill>
                <a:latin typeface="Consolas"/>
              </a:rPr>
              <a:t>"</a:t>
            </a:r>
            <a:r>
              <a:rPr sz="1600" i="0">
                <a:solidFill>
                  <a:srgbClr val="7DCEA0"/>
                </a:solidFill>
                <a:latin typeface="Consolas"/>
              </a:rPr>
              <a:t>/var/lib/libvirt/images/d</a:t>
            </a:r>
            <a:r>
              <a:rPr sz="1600" i="0">
                <a:solidFill>
                  <a:srgbClr val="E8EDF2"/>
                </a:solidFill>
                <a:latin typeface="Consolas"/>
              </a:rPr>
              <a:t>$n</a:t>
            </a:r>
            <a:r>
              <a:rPr sz="1600" i="0">
                <a:solidFill>
                  <a:srgbClr val="7DCEA0"/>
                </a:solidFill>
                <a:latin typeface="Consolas"/>
              </a:rPr>
              <a:t>.qcow2</a:t>
            </a:r>
            <a:r>
              <a:rPr sz="1600" i="0">
                <a:solidFill>
                  <a:srgbClr val="7DCEA0"/>
                </a:solidFill>
                <a:latin typeface="Consolas"/>
              </a:rPr>
              <a:t>"</a:t>
            </a:r>
            <a:r>
              <a:rPr sz="1600" i="0">
                <a:solidFill>
                  <a:srgbClr val="E8EDF2"/>
                </a:solidFill>
                <a:latin typeface="Consolas"/>
              </a:rPr>
              <a:t> </a:t>
            </a:r>
            <a:r>
              <a:rPr sz="1600" i="0">
                <a:solidFill>
                  <a:srgbClr val="E8EDF2"/>
                </a:solidFill>
                <a:latin typeface="Consolas"/>
              </a:rPr>
              <a:t>20G</a:t>
            </a:r>
          </a:p>
          <a:p>
            <a:pPr>
              <a:lnSpc>
                <a:spcPct val="100000"/>
              </a:lnSpc>
              <a:spcAft>
                <a:spcPts val="0"/>
              </a:spcAft>
            </a:pPr>
            <a:r>
              <a:rPr sz="1600" i="0">
                <a:solidFill>
                  <a:srgbClr val="5DADE2"/>
                </a:solidFill>
                <a:latin typeface="Consolas"/>
              </a:rPr>
              <a:t>done</a:t>
            </a:r>
          </a:p>
          <a:p>
            <a:pPr>
              <a:lnSpc>
                <a:spcPct val="100000"/>
              </a:lnSpc>
              <a:spcAft>
                <a:spcPts val="0"/>
              </a:spcAft>
            </a:pPr>
            <a:r>
              <a:rPr sz="1600" i="0">
                <a:solidFill>
                  <a:srgbClr val="E8EDF2"/>
                </a:solidFill>
                <a:latin typeface="Consolas"/>
              </a:rPr>
              <a:t>ls</a:t>
            </a:r>
            <a:r>
              <a:rPr sz="1600" i="0">
                <a:solidFill>
                  <a:srgbClr val="E8EDF2"/>
                </a:solidFill>
                <a:latin typeface="Consolas"/>
              </a:rPr>
              <a:t> </a:t>
            </a:r>
            <a:r>
              <a:rPr sz="1600" i="0">
                <a:solidFill>
                  <a:srgbClr val="E8EDF2"/>
                </a:solidFill>
                <a:latin typeface="Consolas"/>
              </a:rPr>
              <a:t>-lh</a:t>
            </a:r>
            <a:r>
              <a:rPr sz="1600" i="0">
                <a:solidFill>
                  <a:srgbClr val="E8EDF2"/>
                </a:solidFill>
                <a:latin typeface="Consolas"/>
              </a:rPr>
              <a:t> </a:t>
            </a:r>
            <a:r>
              <a:rPr sz="1600" i="0">
                <a:solidFill>
                  <a:srgbClr val="E8EDF2"/>
                </a:solidFill>
                <a:latin typeface="Consolas"/>
              </a:rPr>
              <a:t>/var/lib/libvirt/images/d*.qcow2</a:t>
            </a:r>
            <a:r>
              <a:rPr sz="1600" i="0">
                <a:solidFill>
                  <a:srgbClr val="E8EDF2"/>
                </a:solidFill>
                <a:latin typeface="Consolas"/>
              </a:rPr>
              <a:t>   </a:t>
            </a:r>
            <a:r>
              <a:rPr sz="1600" i="1">
                <a:solidFill>
                  <a:srgbClr val="8795A1"/>
                </a:solidFill>
                <a:latin typeface="Consolas"/>
              </a:rPr>
              <a:t># linked clones: nearly empty</a:t>
            </a:r>
          </a:p>
          <a:p>
            <a:pPr>
              <a:lnSpc>
                <a:spcPct val="100000"/>
              </a:lnSpc>
              <a:spcAft>
                <a:spcPts val="0"/>
              </a:spcAft>
            </a:pPr>
            <a:r>
              <a:rPr sz="1600" i="0">
                <a:solidFill>
                  <a:srgbClr val="E8EDF2"/>
                </a:solidFill>
                <a:latin typeface="Consolas"/>
              </a:rPr>
              <a:t>iostat</a:t>
            </a:r>
            <a:r>
              <a:rPr sz="1600" i="0">
                <a:solidFill>
                  <a:srgbClr val="E8EDF2"/>
                </a:solidFill>
                <a:latin typeface="Consolas"/>
              </a:rPr>
              <a:t> </a:t>
            </a:r>
            <a:r>
              <a:rPr sz="1600" i="0">
                <a:solidFill>
                  <a:srgbClr val="E8EDF2"/>
                </a:solidFill>
                <a:latin typeface="Consolas"/>
              </a:rPr>
              <a:t>-x</a:t>
            </a:r>
            <a:r>
              <a:rPr sz="1600" i="0">
                <a:solidFill>
                  <a:srgbClr val="E8EDF2"/>
                </a:solidFill>
                <a:latin typeface="Consolas"/>
              </a:rPr>
              <a:t> </a:t>
            </a:r>
            <a:r>
              <a:rPr sz="1600" i="0">
                <a:solidFill>
                  <a:srgbClr val="F7DC6F"/>
                </a:solidFill>
                <a:latin typeface="Consolas"/>
              </a:rPr>
              <a:t>2</a:t>
            </a:r>
            <a:r>
              <a:rPr sz="1600" i="0">
                <a:solidFill>
                  <a:srgbClr val="E8EDF2"/>
                </a:solidFill>
                <a:latin typeface="Consolas"/>
              </a:rPr>
              <a:t> </a:t>
            </a:r>
            <a:r>
              <a:rPr sz="1600" i="0">
                <a:solidFill>
                  <a:srgbClr val="F7DC6F"/>
                </a:solidFill>
                <a:latin typeface="Consolas"/>
              </a:rPr>
              <a:t>2</a:t>
            </a:r>
            <a:r>
              <a:rPr sz="1600" i="0">
                <a:solidFill>
                  <a:srgbClr val="E8EDF2"/>
                </a:solidFill>
                <a:latin typeface="Consolas"/>
              </a:rPr>
              <a:t> </a:t>
            </a:r>
            <a:r>
              <a:rPr sz="1600" i="0">
                <a:solidFill>
                  <a:srgbClr val="E8EDF2"/>
                </a:solidFill>
                <a:latin typeface="Consolas"/>
              </a:rPr>
              <a:t>&gt;</a:t>
            </a:r>
            <a:r>
              <a:rPr sz="1600" i="0">
                <a:solidFill>
                  <a:srgbClr val="E8EDF2"/>
                </a:solidFill>
                <a:latin typeface="Consolas"/>
              </a:rPr>
              <a:t> </a:t>
            </a:r>
            <a:r>
              <a:rPr sz="1600" i="0">
                <a:solidFill>
                  <a:srgbClr val="E8EDF2"/>
                </a:solidFill>
                <a:latin typeface="Consolas"/>
              </a:rPr>
              <a:t>/tmp/before.txt</a:t>
            </a:r>
          </a:p>
          <a:p>
            <a:pPr>
              <a:lnSpc>
                <a:spcPct val="100000"/>
              </a:lnSpc>
              <a:spcAft>
                <a:spcPts val="0"/>
              </a:spcAft>
            </a:pPr>
            <a:r>
              <a:rPr sz="1600" i="0">
                <a:solidFill>
                  <a:srgbClr val="5DADE2"/>
                </a:solidFill>
                <a:latin typeface="Consolas"/>
              </a:rPr>
              <a:t>for</a:t>
            </a:r>
            <a:r>
              <a:rPr sz="1600" i="0">
                <a:solidFill>
                  <a:srgbClr val="E8EDF2"/>
                </a:solidFill>
                <a:latin typeface="Consolas"/>
              </a:rPr>
              <a:t> </a:t>
            </a:r>
            <a:r>
              <a:rPr sz="1600" i="0">
                <a:solidFill>
                  <a:srgbClr val="E8EDF2"/>
                </a:solidFill>
                <a:latin typeface="Consolas"/>
              </a:rPr>
              <a:t>n</a:t>
            </a:r>
            <a:r>
              <a:rPr sz="1600" i="0">
                <a:solidFill>
                  <a:srgbClr val="E8EDF2"/>
                </a:solidFill>
                <a:latin typeface="Consolas"/>
              </a:rPr>
              <a:t> </a:t>
            </a:r>
            <a:r>
              <a:rPr sz="1600" i="0">
                <a:solidFill>
                  <a:srgbClr val="5DADE2"/>
                </a:solidFill>
                <a:latin typeface="Consolas"/>
              </a:rPr>
              <a:t>in</a:t>
            </a:r>
            <a:r>
              <a:rPr sz="1600" i="0">
                <a:solidFill>
                  <a:srgbClr val="E8EDF2"/>
                </a:solidFill>
                <a:latin typeface="Consolas"/>
              </a:rPr>
              <a:t> </a:t>
            </a:r>
            <a:r>
              <a:rPr sz="1600" i="0">
                <a:solidFill>
                  <a:srgbClr val="F7DC6F"/>
                </a:solidFill>
                <a:latin typeface="Consolas"/>
              </a:rPr>
              <a:t>1</a:t>
            </a:r>
            <a:r>
              <a:rPr sz="1600" i="0">
                <a:solidFill>
                  <a:srgbClr val="E8EDF2"/>
                </a:solidFill>
                <a:latin typeface="Consolas"/>
              </a:rPr>
              <a:t> </a:t>
            </a:r>
            <a:r>
              <a:rPr sz="1600" i="0">
                <a:solidFill>
                  <a:srgbClr val="F7DC6F"/>
                </a:solidFill>
                <a:latin typeface="Consolas"/>
              </a:rPr>
              <a:t>2</a:t>
            </a:r>
            <a:r>
              <a:rPr sz="1600" i="0">
                <a:solidFill>
                  <a:srgbClr val="E8EDF2"/>
                </a:solidFill>
                <a:latin typeface="Consolas"/>
              </a:rPr>
              <a:t> </a:t>
            </a:r>
            <a:r>
              <a:rPr sz="1600" i="0">
                <a:solidFill>
                  <a:srgbClr val="F7DC6F"/>
                </a:solidFill>
                <a:latin typeface="Consolas"/>
              </a:rPr>
              <a:t>3</a:t>
            </a:r>
            <a:r>
              <a:rPr sz="1600" i="0">
                <a:solidFill>
                  <a:srgbClr val="E8EDF2"/>
                </a:solidFill>
                <a:latin typeface="Consolas"/>
              </a:rPr>
              <a:t> </a:t>
            </a:r>
            <a:r>
              <a:rPr sz="1600" i="0">
                <a:solidFill>
                  <a:srgbClr val="F7DC6F"/>
                </a:solidFill>
                <a:latin typeface="Consolas"/>
              </a:rPr>
              <a:t>4</a:t>
            </a:r>
            <a:r>
              <a:rPr sz="1600" i="0">
                <a:solidFill>
                  <a:srgbClr val="AEB6BF"/>
                </a:solidFill>
                <a:latin typeface="Consolas"/>
              </a:rPr>
              <a:t>;</a:t>
            </a:r>
            <a:r>
              <a:rPr sz="1600" i="0">
                <a:solidFill>
                  <a:srgbClr val="E8EDF2"/>
                </a:solidFill>
                <a:latin typeface="Consolas"/>
              </a:rPr>
              <a:t> </a:t>
            </a:r>
            <a:r>
              <a:rPr sz="1600" i="0">
                <a:solidFill>
                  <a:srgbClr val="5DADE2"/>
                </a:solidFill>
                <a:latin typeface="Consolas"/>
              </a:rPr>
              <a:t>do</a:t>
            </a:r>
          </a:p>
          <a:p>
            <a:pPr>
              <a:lnSpc>
                <a:spcPct val="100000"/>
              </a:lnSpc>
              <a:spcAft>
                <a:spcPts val="0"/>
              </a:spcAft>
            </a:pPr>
            <a:r>
              <a:rPr sz="1600" i="0">
                <a:solidFill>
                  <a:srgbClr val="E8EDF2"/>
                </a:solidFill>
                <a:latin typeface="Consolas"/>
              </a:rPr>
              <a:t>  </a:t>
            </a:r>
            <a:r>
              <a:rPr sz="1600" i="0">
                <a:solidFill>
                  <a:srgbClr val="E8EDF2"/>
                </a:solidFill>
                <a:latin typeface="Consolas"/>
              </a:rPr>
              <a:t>sudo</a:t>
            </a:r>
            <a:r>
              <a:rPr sz="1600" i="0">
                <a:solidFill>
                  <a:srgbClr val="E8EDF2"/>
                </a:solidFill>
                <a:latin typeface="Consolas"/>
              </a:rPr>
              <a:t> </a:t>
            </a:r>
            <a:r>
              <a:rPr sz="1600" i="0">
                <a:solidFill>
                  <a:srgbClr val="E8EDF2"/>
                </a:solidFill>
                <a:latin typeface="Consolas"/>
              </a:rPr>
              <a:t>virt-install</a:t>
            </a:r>
            <a:r>
              <a:rPr sz="1600" i="0">
                <a:solidFill>
                  <a:srgbClr val="E8EDF2"/>
                </a:solidFill>
                <a:latin typeface="Consolas"/>
              </a:rPr>
              <a:t> </a:t>
            </a:r>
            <a:r>
              <a:rPr sz="1600" i="0">
                <a:solidFill>
                  <a:srgbClr val="E8EDF2"/>
                </a:solidFill>
                <a:latin typeface="Consolas"/>
              </a:rPr>
              <a:t>--name</a:t>
            </a:r>
            <a:r>
              <a:rPr sz="1600" i="0">
                <a:solidFill>
                  <a:srgbClr val="E8EDF2"/>
                </a:solidFill>
                <a:latin typeface="Consolas"/>
              </a:rPr>
              <a:t> </a:t>
            </a:r>
            <a:r>
              <a:rPr sz="1600" i="0">
                <a:solidFill>
                  <a:srgbClr val="7DCEA0"/>
                </a:solidFill>
                <a:latin typeface="Consolas"/>
              </a:rPr>
              <a:t>"</a:t>
            </a:r>
            <a:r>
              <a:rPr sz="1600" i="0">
                <a:solidFill>
                  <a:srgbClr val="7DCEA0"/>
                </a:solidFill>
                <a:latin typeface="Consolas"/>
              </a:rPr>
              <a:t>d</a:t>
            </a:r>
            <a:r>
              <a:rPr sz="1600" i="0">
                <a:solidFill>
                  <a:srgbClr val="E8EDF2"/>
                </a:solidFill>
                <a:latin typeface="Consolas"/>
              </a:rPr>
              <a:t>$n</a:t>
            </a:r>
            <a:r>
              <a:rPr sz="1600" i="0">
                <a:solidFill>
                  <a:srgbClr val="7DCEA0"/>
                </a:solidFill>
                <a:latin typeface="Consolas"/>
              </a:rPr>
              <a:t>"</a:t>
            </a:r>
            <a:r>
              <a:rPr sz="1600" i="0">
                <a:solidFill>
                  <a:srgbClr val="E8EDF2"/>
                </a:solidFill>
                <a:latin typeface="Consolas"/>
              </a:rPr>
              <a:t> </a:t>
            </a:r>
            <a:r>
              <a:rPr sz="1600" i="0">
                <a:solidFill>
                  <a:srgbClr val="E8EDF2"/>
                </a:solidFill>
                <a:latin typeface="Consolas"/>
              </a:rPr>
              <a:t>--memory</a:t>
            </a:r>
            <a:r>
              <a:rPr sz="1600" i="0">
                <a:solidFill>
                  <a:srgbClr val="E8EDF2"/>
                </a:solidFill>
                <a:latin typeface="Consolas"/>
              </a:rPr>
              <a:t> </a:t>
            </a:r>
            <a:r>
              <a:rPr sz="1600" i="0">
                <a:solidFill>
                  <a:srgbClr val="F7DC6F"/>
                </a:solidFill>
                <a:latin typeface="Consolas"/>
              </a:rPr>
              <a:t>1024</a:t>
            </a:r>
            <a:r>
              <a:rPr sz="1600" i="0">
                <a:solidFill>
                  <a:srgbClr val="E8EDF2"/>
                </a:solidFill>
                <a:latin typeface="Consolas"/>
              </a:rPr>
              <a:t> </a:t>
            </a:r>
            <a:r>
              <a:rPr sz="1600" i="0">
                <a:solidFill>
                  <a:srgbClr val="E8EDF2"/>
                </a:solidFill>
                <a:latin typeface="Consolas"/>
              </a:rPr>
              <a:t>--vcpus</a:t>
            </a:r>
            <a:r>
              <a:rPr sz="1600" i="0">
                <a:solidFill>
                  <a:srgbClr val="E8EDF2"/>
                </a:solidFill>
                <a:latin typeface="Consolas"/>
              </a:rPr>
              <a:t> </a:t>
            </a:r>
            <a:r>
              <a:rPr sz="1600" i="0">
                <a:solidFill>
                  <a:srgbClr val="F7DC6F"/>
                </a:solidFill>
                <a:latin typeface="Consolas"/>
              </a:rPr>
              <a:t>1</a:t>
            </a:r>
            <a:r>
              <a:rPr sz="1600" i="0">
                <a:solidFill>
                  <a:srgbClr val="E8EDF2"/>
                </a:solidFill>
                <a:latin typeface="Consolas"/>
              </a:rPr>
              <a:t> </a:t>
            </a:r>
            <a:r>
              <a:rPr sz="1600" i="0">
                <a:solidFill>
                  <a:srgbClr val="7DCEA0"/>
                </a:solidFill>
                <a:latin typeface="Consolas"/>
              </a:rPr>
              <a:t>\</a:t>
            </a:r>
          </a:p>
          <a:p>
            <a:pPr>
              <a:lnSpc>
                <a:spcPct val="100000"/>
              </a:lnSpc>
              <a:spcAft>
                <a:spcPts val="0"/>
              </a:spcAft>
            </a:pPr>
            <a:r>
              <a:rPr sz="1600" i="0">
                <a:solidFill>
                  <a:srgbClr val="E8EDF2"/>
                </a:solidFill>
                <a:latin typeface="Consolas"/>
              </a:rPr>
              <a:t>    </a:t>
            </a:r>
            <a:r>
              <a:rPr sz="1600" i="0">
                <a:solidFill>
                  <a:srgbClr val="E8EDF2"/>
                </a:solidFill>
                <a:latin typeface="Consolas"/>
              </a:rPr>
              <a:t>--disk</a:t>
            </a:r>
            <a:r>
              <a:rPr sz="1600" i="0">
                <a:solidFill>
                  <a:srgbClr val="E8EDF2"/>
                </a:solidFill>
                <a:latin typeface="Consolas"/>
              </a:rPr>
              <a:t> </a:t>
            </a:r>
            <a:r>
              <a:rPr sz="1600" i="0">
                <a:solidFill>
                  <a:srgbClr val="7DCEA0"/>
                </a:solidFill>
                <a:latin typeface="Consolas"/>
              </a:rPr>
              <a:t>"</a:t>
            </a:r>
            <a:r>
              <a:rPr sz="1600" i="0">
                <a:solidFill>
                  <a:srgbClr val="7DCEA0"/>
                </a:solidFill>
                <a:latin typeface="Consolas"/>
              </a:rPr>
              <a:t>/var/lib/libvirt/images/d</a:t>
            </a:r>
            <a:r>
              <a:rPr sz="1600" i="0">
                <a:solidFill>
                  <a:srgbClr val="E8EDF2"/>
                </a:solidFill>
                <a:latin typeface="Consolas"/>
              </a:rPr>
              <a:t>$n</a:t>
            </a:r>
            <a:r>
              <a:rPr sz="1600" i="0">
                <a:solidFill>
                  <a:srgbClr val="7DCEA0"/>
                </a:solidFill>
                <a:latin typeface="Consolas"/>
              </a:rPr>
              <a:t>.qcow2</a:t>
            </a:r>
            <a:r>
              <a:rPr sz="1600" i="0">
                <a:solidFill>
                  <a:srgbClr val="7DCEA0"/>
                </a:solidFill>
                <a:latin typeface="Consolas"/>
              </a:rPr>
              <a:t>"</a:t>
            </a:r>
            <a:r>
              <a:rPr sz="1600" i="0">
                <a:solidFill>
                  <a:srgbClr val="E8EDF2"/>
                </a:solidFill>
                <a:latin typeface="Consolas"/>
              </a:rPr>
              <a:t>,format</a:t>
            </a:r>
            <a:r>
              <a:rPr sz="1600" i="0">
                <a:solidFill>
                  <a:srgbClr val="AEB6BF"/>
                </a:solidFill>
                <a:latin typeface="Consolas"/>
              </a:rPr>
              <a:t>=</a:t>
            </a:r>
            <a:r>
              <a:rPr sz="1600" i="0">
                <a:solidFill>
                  <a:srgbClr val="E8EDF2"/>
                </a:solidFill>
                <a:latin typeface="Consolas"/>
              </a:rPr>
              <a:t>qcow2</a:t>
            </a:r>
            <a:r>
              <a:rPr sz="1600" i="0">
                <a:solidFill>
                  <a:srgbClr val="E8EDF2"/>
                </a:solidFill>
                <a:latin typeface="Consolas"/>
              </a:rPr>
              <a:t> </a:t>
            </a:r>
            <a:r>
              <a:rPr sz="1600" i="0">
                <a:solidFill>
                  <a:srgbClr val="7DCEA0"/>
                </a:solidFill>
                <a:latin typeface="Consolas"/>
              </a:rPr>
              <a:t>\</a:t>
            </a:r>
          </a:p>
          <a:p>
            <a:pPr>
              <a:lnSpc>
                <a:spcPct val="100000"/>
              </a:lnSpc>
              <a:spcAft>
                <a:spcPts val="0"/>
              </a:spcAft>
            </a:pPr>
            <a:r>
              <a:rPr sz="1600" i="0">
                <a:solidFill>
                  <a:srgbClr val="E8EDF2"/>
                </a:solidFill>
                <a:latin typeface="Consolas"/>
              </a:rPr>
              <a:t>    </a:t>
            </a:r>
            <a:r>
              <a:rPr sz="1600" i="0">
                <a:solidFill>
                  <a:srgbClr val="E8EDF2"/>
                </a:solidFill>
                <a:latin typeface="Consolas"/>
              </a:rPr>
              <a:t>--import</a:t>
            </a:r>
            <a:r>
              <a:rPr sz="1600" i="0">
                <a:solidFill>
                  <a:srgbClr val="E8EDF2"/>
                </a:solidFill>
                <a:latin typeface="Consolas"/>
              </a:rPr>
              <a:t> </a:t>
            </a:r>
            <a:r>
              <a:rPr sz="1600" i="0">
                <a:solidFill>
                  <a:srgbClr val="E8EDF2"/>
                </a:solidFill>
                <a:latin typeface="Consolas"/>
              </a:rPr>
              <a:t>--graphics</a:t>
            </a:r>
            <a:r>
              <a:rPr sz="1600" i="0">
                <a:solidFill>
                  <a:srgbClr val="E8EDF2"/>
                </a:solidFill>
                <a:latin typeface="Consolas"/>
              </a:rPr>
              <a:t> </a:t>
            </a:r>
            <a:r>
              <a:rPr sz="1600" i="0">
                <a:solidFill>
                  <a:srgbClr val="E8EDF2"/>
                </a:solidFill>
                <a:latin typeface="Consolas"/>
              </a:rPr>
              <a:t>none</a:t>
            </a:r>
            <a:r>
              <a:rPr sz="1600" i="0">
                <a:solidFill>
                  <a:srgbClr val="E8EDF2"/>
                </a:solidFill>
                <a:latin typeface="Consolas"/>
              </a:rPr>
              <a:t> </a:t>
            </a:r>
            <a:r>
              <a:rPr sz="1600" i="0">
                <a:solidFill>
                  <a:srgbClr val="E8EDF2"/>
                </a:solidFill>
                <a:latin typeface="Consolas"/>
              </a:rPr>
              <a:t>--noautoconsole</a:t>
            </a:r>
            <a:r>
              <a:rPr sz="1600" i="0">
                <a:solidFill>
                  <a:srgbClr val="E8EDF2"/>
                </a:solidFill>
                <a:latin typeface="Consolas"/>
              </a:rPr>
              <a:t> </a:t>
            </a:r>
            <a:r>
              <a:rPr sz="1600" i="0">
                <a:solidFill>
                  <a:srgbClr val="E8EDF2"/>
                </a:solidFill>
                <a:latin typeface="Consolas"/>
              </a:rPr>
              <a:t>--os-variant</a:t>
            </a:r>
            <a:r>
              <a:rPr sz="1600" i="0">
                <a:solidFill>
                  <a:srgbClr val="E8EDF2"/>
                </a:solidFill>
                <a:latin typeface="Consolas"/>
              </a:rPr>
              <a:t> </a:t>
            </a:r>
            <a:r>
              <a:rPr sz="1600" i="0">
                <a:solidFill>
                  <a:srgbClr val="E8EDF2"/>
                </a:solidFill>
                <a:latin typeface="Consolas"/>
              </a:rPr>
              <a:t>ubuntu22.04</a:t>
            </a:r>
            <a:r>
              <a:rPr sz="1600" i="0">
                <a:solidFill>
                  <a:srgbClr val="E8EDF2"/>
                </a:solidFill>
                <a:latin typeface="Consolas"/>
              </a:rPr>
              <a:t> </a:t>
            </a:r>
            <a:r>
              <a:rPr sz="1600" i="0">
                <a:solidFill>
                  <a:srgbClr val="AEB6BF"/>
                </a:solidFill>
                <a:latin typeface="Consolas"/>
              </a:rPr>
              <a:t>&amp;</a:t>
            </a:r>
          </a:p>
          <a:p>
            <a:pPr>
              <a:lnSpc>
                <a:spcPct val="100000"/>
              </a:lnSpc>
              <a:spcAft>
                <a:spcPts val="0"/>
              </a:spcAft>
            </a:pPr>
            <a:r>
              <a:rPr sz="1600" i="0">
                <a:solidFill>
                  <a:srgbClr val="5DADE2"/>
                </a:solidFill>
                <a:latin typeface="Consolas"/>
              </a:rPr>
              <a:t>done</a:t>
            </a:r>
          </a:p>
          <a:p>
            <a:pPr>
              <a:lnSpc>
                <a:spcPct val="100000"/>
              </a:lnSpc>
              <a:spcAft>
                <a:spcPts val="0"/>
              </a:spcAft>
            </a:pPr>
            <a:r>
              <a:rPr sz="1600" i="0">
                <a:solidFill>
                  <a:srgbClr val="C39BD3"/>
                </a:solidFill>
                <a:latin typeface="Consolas"/>
              </a:rPr>
              <a:t>wait</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iostat</a:t>
            </a:r>
            <a:r>
              <a:rPr sz="1600" i="0">
                <a:solidFill>
                  <a:srgbClr val="E8EDF2"/>
                </a:solidFill>
                <a:latin typeface="Consolas"/>
              </a:rPr>
              <a:t> </a:t>
            </a:r>
            <a:r>
              <a:rPr sz="1600" i="0">
                <a:solidFill>
                  <a:srgbClr val="E8EDF2"/>
                </a:solidFill>
                <a:latin typeface="Consolas"/>
              </a:rPr>
              <a:t>-x</a:t>
            </a:r>
            <a:r>
              <a:rPr sz="1600" i="0">
                <a:solidFill>
                  <a:srgbClr val="E8EDF2"/>
                </a:solidFill>
                <a:latin typeface="Consolas"/>
              </a:rPr>
              <a:t> </a:t>
            </a:r>
            <a:r>
              <a:rPr sz="1600" i="0">
                <a:solidFill>
                  <a:srgbClr val="F7DC6F"/>
                </a:solidFill>
                <a:latin typeface="Consolas"/>
              </a:rPr>
              <a:t>5</a:t>
            </a:r>
            <a:r>
              <a:rPr sz="1600" i="0">
                <a:solidFill>
                  <a:srgbClr val="E8EDF2"/>
                </a:solidFill>
                <a:latin typeface="Consolas"/>
              </a:rPr>
              <a:t> </a:t>
            </a:r>
            <a:r>
              <a:rPr sz="1600" i="0">
                <a:solidFill>
                  <a:srgbClr val="F7DC6F"/>
                </a:solidFill>
                <a:latin typeface="Consolas"/>
              </a:rPr>
              <a:t>3</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tail</a:t>
            </a:r>
            <a:r>
              <a:rPr sz="1600" i="0">
                <a:solidFill>
                  <a:srgbClr val="E8EDF2"/>
                </a:solidFill>
                <a:latin typeface="Consolas"/>
              </a:rPr>
              <a:t> </a:t>
            </a:r>
            <a:r>
              <a:rPr sz="1600" i="0">
                <a:solidFill>
                  <a:srgbClr val="E8EDF2"/>
                </a:solidFill>
                <a:latin typeface="Consolas"/>
              </a:rPr>
              <a:t>-12</a:t>
            </a:r>
            <a:r>
              <a:rPr sz="1600" i="0">
                <a:solidFill>
                  <a:srgbClr val="E8EDF2"/>
                </a:solidFill>
                <a:latin typeface="Consolas"/>
              </a:rPr>
              <a:t>      </a:t>
            </a:r>
            <a:r>
              <a:rPr sz="1600" i="1">
                <a:solidFill>
                  <a:srgbClr val="8795A1"/>
                </a:solidFill>
                <a:latin typeface="Consolas"/>
              </a:rPr>
              <a:t># the storm, four desktops wide</a:t>
            </a:r>
          </a:p>
        </p:txBody>
      </p:sp>
      <p:sp>
        <p:nvSpPr>
          <p:cNvPr id="15" name="!!code-num"/>
          <p:cNvSpPr txBox="1"/>
          <p:nvPr/>
        </p:nvSpPr>
        <p:spPr>
          <a:xfrm>
            <a:off x="768096" y="2523744"/>
            <a:ext cx="393192" cy="3523487"/>
          </a:xfrm>
          <a:prstGeom prst="rect">
            <a:avLst/>
          </a:prstGeom>
          <a:noFill/>
        </p:spPr>
        <p:txBody>
          <a:bodyPr wrap="none" anchor="t" lIns="0" rIns="0" tIns="0" bIns="0">
            <a:noAutofit/>
          </a:bodyPr>
          <a:lstStyle/>
          <a:p>
            <a:pPr algn="r">
              <a:lnSpc>
                <a:spcPct val="100000"/>
              </a:lnSpc>
            </a:pPr>
            <a:r>
              <a:rPr sz="1600">
                <a:solidFill>
                  <a:srgbClr val="4F5D6A"/>
                </a:solidFill>
                <a:latin typeface="Consolas"/>
              </a:rPr>
              <a:t>41</a:t>
            </a:r>
          </a:p>
          <a:p>
            <a:pPr algn="r">
              <a:lnSpc>
                <a:spcPct val="100000"/>
              </a:lnSpc>
            </a:pPr>
            <a:r>
              <a:rPr sz="1600">
                <a:solidFill>
                  <a:srgbClr val="4F5D6A"/>
                </a:solidFill>
                <a:latin typeface="Consolas"/>
              </a:rPr>
              <a:t>42</a:t>
            </a:r>
          </a:p>
          <a:p>
            <a:pPr algn="r">
              <a:lnSpc>
                <a:spcPct val="100000"/>
              </a:lnSpc>
            </a:pPr>
            <a:r>
              <a:rPr sz="1600">
                <a:solidFill>
                  <a:srgbClr val="4F5D6A"/>
                </a:solidFill>
                <a:latin typeface="Consolas"/>
              </a:rPr>
              <a:t>43</a:t>
            </a:r>
          </a:p>
          <a:p>
            <a:pPr algn="r">
              <a:lnSpc>
                <a:spcPct val="100000"/>
              </a:lnSpc>
            </a:pPr>
            <a:r>
              <a:rPr sz="1600">
                <a:solidFill>
                  <a:srgbClr val="4F5D6A"/>
                </a:solidFill>
                <a:latin typeface="Consolas"/>
              </a:rPr>
              <a:t>44</a:t>
            </a:r>
          </a:p>
          <a:p>
            <a:pPr algn="r">
              <a:lnSpc>
                <a:spcPct val="100000"/>
              </a:lnSpc>
            </a:pPr>
            <a:r>
              <a:rPr sz="1600">
                <a:solidFill>
                  <a:srgbClr val="4F5D6A"/>
                </a:solidFill>
                <a:latin typeface="Consolas"/>
              </a:rPr>
              <a:t>45</a:t>
            </a:r>
          </a:p>
          <a:p>
            <a:pPr algn="r">
              <a:lnSpc>
                <a:spcPct val="100000"/>
              </a:lnSpc>
            </a:pPr>
            <a:r>
              <a:rPr sz="1600">
                <a:solidFill>
                  <a:srgbClr val="4F5D6A"/>
                </a:solidFill>
                <a:latin typeface="Consolas"/>
              </a:rPr>
              <a:t>46</a:t>
            </a:r>
          </a:p>
          <a:p>
            <a:pPr algn="r">
              <a:lnSpc>
                <a:spcPct val="100000"/>
              </a:lnSpc>
            </a:pPr>
            <a:r>
              <a:rPr sz="1600">
                <a:solidFill>
                  <a:srgbClr val="4F5D6A"/>
                </a:solidFill>
                <a:latin typeface="Consolas"/>
              </a:rPr>
              <a:t>47</a:t>
            </a:r>
          </a:p>
          <a:p>
            <a:pPr algn="r">
              <a:lnSpc>
                <a:spcPct val="100000"/>
              </a:lnSpc>
            </a:pPr>
            <a:r>
              <a:rPr sz="1600">
                <a:solidFill>
                  <a:srgbClr val="4F5D6A"/>
                </a:solidFill>
                <a:latin typeface="Consolas"/>
              </a:rPr>
              <a:t>48</a:t>
            </a:r>
          </a:p>
          <a:p>
            <a:pPr algn="r">
              <a:lnSpc>
                <a:spcPct val="100000"/>
              </a:lnSpc>
            </a:pPr>
            <a:r>
              <a:rPr sz="1600">
                <a:solidFill>
                  <a:srgbClr val="4F5D6A"/>
                </a:solidFill>
                <a:latin typeface="Consolas"/>
              </a:rPr>
              <a:t>49</a:t>
            </a:r>
          </a:p>
          <a:p>
            <a:pPr algn="r">
              <a:lnSpc>
                <a:spcPct val="100000"/>
              </a:lnSpc>
            </a:pPr>
            <a:r>
              <a:rPr sz="1600">
                <a:solidFill>
                  <a:srgbClr val="4F5D6A"/>
                </a:solidFill>
                <a:latin typeface="Consolas"/>
              </a:rPr>
              <a:t>50</a:t>
            </a:r>
          </a:p>
          <a:p>
            <a:pPr algn="r">
              <a:lnSpc>
                <a:spcPct val="100000"/>
              </a:lnSpc>
            </a:pPr>
            <a:r>
              <a:rPr sz="1600">
                <a:solidFill>
                  <a:srgbClr val="4F5D6A"/>
                </a:solidFill>
                <a:latin typeface="Consolas"/>
              </a:rPr>
              <a:t>51</a:t>
            </a:r>
          </a:p>
          <a:p>
            <a:pPr algn="r">
              <a:lnSpc>
                <a:spcPct val="100000"/>
              </a:lnSpc>
            </a:pPr>
            <a:r>
              <a:rPr sz="1600">
                <a:solidFill>
                  <a:srgbClr val="4F5D6A"/>
                </a:solidFill>
                <a:latin typeface="Consolas"/>
              </a:rPr>
              <a:t>52</a:t>
            </a:r>
          </a:p>
          <a:p>
            <a:pPr algn="r">
              <a:lnSpc>
                <a:spcPct val="100000"/>
              </a:lnSpc>
            </a:pPr>
            <a:r>
              <a:rPr sz="1600">
                <a:solidFill>
                  <a:srgbClr val="4F5D6A"/>
                </a:solidFill>
                <a:latin typeface="Consolas"/>
              </a:rPr>
              <a:t>53</a:t>
            </a:r>
          </a:p>
          <a:p>
            <a:pPr algn="r">
              <a:lnSpc>
                <a:spcPct val="100000"/>
              </a:lnSpc>
            </a:pPr>
            <a:r>
              <a:rPr sz="1600">
                <a:solidFill>
                  <a:srgbClr val="4F5D6A"/>
                </a:solidFill>
                <a:latin typeface="Consolas"/>
              </a:rPr>
              <a:t>54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22939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Remote Desktop, and What It Sends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15  ·  Desktop and Application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§15.3  ·  Handout p. 119     </a:t>
            </a:r>
            <a:fld id="{D5738815-389B-4A53-A4DB-7354CB3084D7}"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Tear down.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340863"/>
          </a:xfrm>
          <a:prstGeom prst="roundRect">
            <a:avLst>
              <a:gd name="adj" fmla="val 390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6. Tear down. ---------------------------------------------------- for n in 1 2 3 4; do sudo virsh destroy &quot;d$n&quot; 2&gt;/dev/null || true sudo virsh undefine &quot;d$n&quot; --remove-all-storage 2&gt;/dev/null || true done sudo virsh destroy vss1 || true"/>
          <p:cNvSpPr txBox="1"/>
          <p:nvPr/>
        </p:nvSpPr>
        <p:spPr>
          <a:xfrm>
            <a:off x="1362456" y="2523744"/>
            <a:ext cx="9987991" cy="18470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--- 6. Tear down. ----------------------------------------------------</a:t>
            </a:r>
          </a:p>
          <a:p>
            <a:pPr>
              <a:lnSpc>
                <a:spcPct val="100000"/>
              </a:lnSpc>
              <a:spcAft>
                <a:spcPts val="0"/>
              </a:spcAft>
            </a:pPr>
            <a:r>
              <a:rPr sz="1900" i="0">
                <a:solidFill>
                  <a:srgbClr val="5DADE2"/>
                </a:solidFill>
                <a:latin typeface="Consolas"/>
              </a:rPr>
              <a:t>for</a:t>
            </a:r>
            <a:r>
              <a:rPr sz="1900" i="0">
                <a:solidFill>
                  <a:srgbClr val="E8EDF2"/>
                </a:solidFill>
                <a:latin typeface="Consolas"/>
              </a:rPr>
              <a:t> </a:t>
            </a:r>
            <a:r>
              <a:rPr sz="1900" i="0">
                <a:solidFill>
                  <a:srgbClr val="E8EDF2"/>
                </a:solidFill>
                <a:latin typeface="Consolas"/>
              </a:rPr>
              <a:t>n</a:t>
            </a:r>
            <a:r>
              <a:rPr sz="1900" i="0">
                <a:solidFill>
                  <a:srgbClr val="E8EDF2"/>
                </a:solidFill>
                <a:latin typeface="Consolas"/>
              </a:rPr>
              <a:t> </a:t>
            </a:r>
            <a:r>
              <a:rPr sz="1900" i="0">
                <a:solidFill>
                  <a:srgbClr val="5DADE2"/>
                </a:solidFill>
                <a:latin typeface="Consolas"/>
              </a:rPr>
              <a:t>in</a:t>
            </a:r>
            <a:r>
              <a:rPr sz="1900" i="0">
                <a:solidFill>
                  <a:srgbClr val="E8EDF2"/>
                </a:solidFill>
                <a:latin typeface="Consolas"/>
              </a:rPr>
              <a:t> </a:t>
            </a:r>
            <a:r>
              <a:rPr sz="1900" i="0">
                <a:solidFill>
                  <a:srgbClr val="F7DC6F"/>
                </a:solidFill>
                <a:latin typeface="Consolas"/>
              </a:rPr>
              <a:t>1</a:t>
            </a:r>
            <a:r>
              <a:rPr sz="1900" i="0">
                <a:solidFill>
                  <a:srgbClr val="E8EDF2"/>
                </a:solidFill>
                <a:latin typeface="Consolas"/>
              </a:rPr>
              <a:t> </a:t>
            </a:r>
            <a:r>
              <a:rPr sz="1900" i="0">
                <a:solidFill>
                  <a:srgbClr val="F7DC6F"/>
                </a:solidFill>
                <a:latin typeface="Consolas"/>
              </a:rPr>
              <a:t>2</a:t>
            </a:r>
            <a:r>
              <a:rPr sz="1900" i="0">
                <a:solidFill>
                  <a:srgbClr val="E8EDF2"/>
                </a:solidFill>
                <a:latin typeface="Consolas"/>
              </a:rPr>
              <a:t> </a:t>
            </a:r>
            <a:r>
              <a:rPr sz="1900" i="0">
                <a:solidFill>
                  <a:srgbClr val="F7DC6F"/>
                </a:solidFill>
                <a:latin typeface="Consolas"/>
              </a:rPr>
              <a:t>3</a:t>
            </a:r>
            <a:r>
              <a:rPr sz="1900" i="0">
                <a:solidFill>
                  <a:srgbClr val="E8EDF2"/>
                </a:solidFill>
                <a:latin typeface="Consolas"/>
              </a:rPr>
              <a:t> </a:t>
            </a:r>
            <a:r>
              <a:rPr sz="1900" i="0">
                <a:solidFill>
                  <a:srgbClr val="F7DC6F"/>
                </a:solidFill>
                <a:latin typeface="Consolas"/>
              </a:rPr>
              <a:t>4</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do</a:t>
            </a:r>
          </a:p>
          <a:p>
            <a:pPr>
              <a:lnSpc>
                <a:spcPct val="100000"/>
              </a:lnSpc>
              <a:spcAft>
                <a:spcPts val="0"/>
              </a:spcAft>
            </a:pPr>
            <a:r>
              <a:rPr sz="1900" i="0">
                <a:solidFill>
                  <a:srgbClr val="E8EDF2"/>
                </a:solidFill>
                <a:latin typeface="Consolas"/>
              </a:rPr>
              <a:t>  </a:t>
            </a: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virsh</a:t>
            </a:r>
            <a:r>
              <a:rPr sz="1900" i="0">
                <a:solidFill>
                  <a:srgbClr val="E8EDF2"/>
                </a:solidFill>
                <a:latin typeface="Consolas"/>
              </a:rPr>
              <a:t> </a:t>
            </a:r>
            <a:r>
              <a:rPr sz="1900" i="0">
                <a:solidFill>
                  <a:srgbClr val="E8EDF2"/>
                </a:solidFill>
                <a:latin typeface="Consolas"/>
              </a:rPr>
              <a:t>destroy</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d</a:t>
            </a:r>
            <a:r>
              <a:rPr sz="1900" i="0">
                <a:solidFill>
                  <a:srgbClr val="E8EDF2"/>
                </a:solidFill>
                <a:latin typeface="Consolas"/>
              </a:rPr>
              <a:t>$n</a:t>
            </a:r>
            <a:r>
              <a:rPr sz="1900" i="0">
                <a:solidFill>
                  <a:srgbClr val="7DCEA0"/>
                </a:solidFill>
                <a:latin typeface="Consolas"/>
              </a:rPr>
              <a:t>"</a:t>
            </a:r>
            <a:r>
              <a:rPr sz="1900" i="0">
                <a:solidFill>
                  <a:srgbClr val="E8EDF2"/>
                </a:solidFill>
                <a:latin typeface="Consolas"/>
              </a:rPr>
              <a:t> </a:t>
            </a:r>
            <a:r>
              <a:rPr sz="1900" i="0">
                <a:solidFill>
                  <a:srgbClr val="F7DC6F"/>
                </a:solidFill>
                <a:latin typeface="Consolas"/>
              </a:rPr>
              <a:t>2</a:t>
            </a:r>
            <a:r>
              <a:rPr sz="1900" i="0">
                <a:solidFill>
                  <a:srgbClr val="E8EDF2"/>
                </a:solidFill>
                <a:latin typeface="Consolas"/>
              </a:rPr>
              <a:t>&gt;/dev/null</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true</a:t>
            </a:r>
          </a:p>
          <a:p>
            <a:pPr>
              <a:lnSpc>
                <a:spcPct val="100000"/>
              </a:lnSpc>
              <a:spcAft>
                <a:spcPts val="0"/>
              </a:spcAft>
            </a:pPr>
            <a:r>
              <a:rPr sz="1900" i="0">
                <a:solidFill>
                  <a:srgbClr val="E8EDF2"/>
                </a:solidFill>
                <a:latin typeface="Consolas"/>
              </a:rPr>
              <a:t>  </a:t>
            </a: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virsh</a:t>
            </a:r>
            <a:r>
              <a:rPr sz="1900" i="0">
                <a:solidFill>
                  <a:srgbClr val="E8EDF2"/>
                </a:solidFill>
                <a:latin typeface="Consolas"/>
              </a:rPr>
              <a:t> </a:t>
            </a:r>
            <a:r>
              <a:rPr sz="1900" i="0">
                <a:solidFill>
                  <a:srgbClr val="E8EDF2"/>
                </a:solidFill>
                <a:latin typeface="Consolas"/>
              </a:rPr>
              <a:t>undefine</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d</a:t>
            </a:r>
            <a:r>
              <a:rPr sz="1900" i="0">
                <a:solidFill>
                  <a:srgbClr val="E8EDF2"/>
                </a:solidFill>
                <a:latin typeface="Consolas"/>
              </a:rPr>
              <a:t>$n</a:t>
            </a:r>
            <a:r>
              <a:rPr sz="1900" i="0">
                <a:solidFill>
                  <a:srgbClr val="7DCEA0"/>
                </a:solidFill>
                <a:latin typeface="Consolas"/>
              </a:rPr>
              <a:t>"</a:t>
            </a:r>
            <a:r>
              <a:rPr sz="1900" i="0">
                <a:solidFill>
                  <a:srgbClr val="E8EDF2"/>
                </a:solidFill>
                <a:latin typeface="Consolas"/>
              </a:rPr>
              <a:t> </a:t>
            </a:r>
            <a:r>
              <a:rPr sz="1900" i="0">
                <a:solidFill>
                  <a:srgbClr val="E8EDF2"/>
                </a:solidFill>
                <a:latin typeface="Consolas"/>
              </a:rPr>
              <a:t>--remove-all-storage</a:t>
            </a:r>
            <a:r>
              <a:rPr sz="1900" i="0">
                <a:solidFill>
                  <a:srgbClr val="E8EDF2"/>
                </a:solidFill>
                <a:latin typeface="Consolas"/>
              </a:rPr>
              <a:t> </a:t>
            </a:r>
            <a:r>
              <a:rPr sz="1900" i="0">
                <a:solidFill>
                  <a:srgbClr val="F7DC6F"/>
                </a:solidFill>
                <a:latin typeface="Consolas"/>
              </a:rPr>
              <a:t>2</a:t>
            </a:r>
            <a:r>
              <a:rPr sz="1900" i="0">
                <a:solidFill>
                  <a:srgbClr val="E8EDF2"/>
                </a:solidFill>
                <a:latin typeface="Consolas"/>
              </a:rPr>
              <a:t>&gt;/dev/null</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true</a:t>
            </a:r>
          </a:p>
          <a:p>
            <a:pPr>
              <a:lnSpc>
                <a:spcPct val="100000"/>
              </a:lnSpc>
              <a:spcAft>
                <a:spcPts val="0"/>
              </a:spcAft>
            </a:pPr>
            <a:r>
              <a:rPr sz="1900" i="0">
                <a:solidFill>
                  <a:srgbClr val="5DADE2"/>
                </a:solidFill>
                <a:latin typeface="Consolas"/>
              </a:rPr>
              <a:t>done</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virsh</a:t>
            </a:r>
            <a:r>
              <a:rPr sz="1900" i="0">
                <a:solidFill>
                  <a:srgbClr val="E8EDF2"/>
                </a:solidFill>
                <a:latin typeface="Consolas"/>
              </a:rPr>
              <a:t> </a:t>
            </a:r>
            <a:r>
              <a:rPr sz="1900" i="0">
                <a:solidFill>
                  <a:srgbClr val="E8EDF2"/>
                </a:solidFill>
                <a:latin typeface="Consolas"/>
              </a:rPr>
              <a:t>destroy</a:t>
            </a:r>
            <a:r>
              <a:rPr sz="1900" i="0">
                <a:solidFill>
                  <a:srgbClr val="E8EDF2"/>
                </a:solidFill>
                <a:latin typeface="Consolas"/>
              </a:rPr>
              <a:t> </a:t>
            </a:r>
            <a:r>
              <a:rPr sz="1900" i="0">
                <a:solidFill>
                  <a:srgbClr val="E8EDF2"/>
                </a:solidFill>
                <a:latin typeface="Consolas"/>
              </a:rPr>
              <a:t>vss1</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true</a:t>
            </a:r>
          </a:p>
        </p:txBody>
      </p:sp>
      <p:sp>
        <p:nvSpPr>
          <p:cNvPr id="15" name="!!code-num"/>
          <p:cNvSpPr txBox="1"/>
          <p:nvPr/>
        </p:nvSpPr>
        <p:spPr>
          <a:xfrm>
            <a:off x="768096" y="2523744"/>
            <a:ext cx="393192" cy="18470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56</a:t>
            </a:r>
          </a:p>
          <a:p>
            <a:pPr algn="r">
              <a:lnSpc>
                <a:spcPct val="100000"/>
              </a:lnSpc>
            </a:pPr>
            <a:r>
              <a:rPr sz="1900">
                <a:solidFill>
                  <a:srgbClr val="4F5D6A"/>
                </a:solidFill>
                <a:latin typeface="Consolas"/>
              </a:rPr>
              <a:t>57</a:t>
            </a:r>
          </a:p>
          <a:p>
            <a:pPr algn="r">
              <a:lnSpc>
                <a:spcPct val="100000"/>
              </a:lnSpc>
            </a:pPr>
            <a:r>
              <a:rPr sz="1900">
                <a:solidFill>
                  <a:srgbClr val="4F5D6A"/>
                </a:solidFill>
                <a:latin typeface="Consolas"/>
              </a:rPr>
              <a:t>58</a:t>
            </a:r>
          </a:p>
          <a:p>
            <a:pPr algn="r">
              <a:lnSpc>
                <a:spcPct val="100000"/>
              </a:lnSpc>
            </a:pPr>
            <a:r>
              <a:rPr sz="1900">
                <a:solidFill>
                  <a:srgbClr val="4F5D6A"/>
                </a:solidFill>
                <a:latin typeface="Consolas"/>
              </a:rPr>
              <a:t>59</a:t>
            </a:r>
          </a:p>
          <a:p>
            <a:pPr algn="r">
              <a:lnSpc>
                <a:spcPct val="100000"/>
              </a:lnSpc>
            </a:pPr>
            <a:r>
              <a:rPr sz="1900">
                <a:solidFill>
                  <a:srgbClr val="4F5D6A"/>
                </a:solidFill>
                <a:latin typeface="Consolas"/>
              </a:rPr>
              <a:t>60</a:t>
            </a:r>
          </a:p>
          <a:p>
            <a:pPr algn="r">
              <a:lnSpc>
                <a:spcPct val="100000"/>
              </a:lnSpc>
            </a:pPr>
            <a:r>
              <a:rPr sz="1900">
                <a:solidFill>
                  <a:srgbClr val="4F5D6A"/>
                </a:solidFill>
                <a:latin typeface="Consolas"/>
              </a:rPr>
              <a:t>61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53418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15  ·  Desktop and Application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§15.3  ·  Handout p. 119     </a:t>
            </a:r>
            <a:fld id="{C3DA763F-AD7D-488E-B6C0-2A52581485BD}" type="slidenum">
              <a:rPr lang="en-GB" sz="1000">
                <a:solidFill>
                  <a:srgbClr val="8795A1"/>
                </a:solidFill>
                <a:latin typeface="Segoe UI"/>
              </a:rPr>
              <a:t>29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What to notice.</a:t>
            </a:r>
            <a:r>
              <a:rPr sz="2300" b="0" i="0">
                <a:solidFill>
                  <a:srgbClr val="1C252B"/>
                </a:solidFill>
                <a:latin typeface="Segoe UI"/>
              </a:rPr>
              <a:t> Step 4 is the chapter. The bandwidth in that test was exactly what it was in step 3, and the session became unusable anyway. Then look at step 5’s </a:t>
            </a:r>
            <a:r>
              <a:rPr sz="2150" b="0" i="0">
                <a:solidFill>
                  <a:srgbClr val="1F4E79"/>
                </a:solidFill>
                <a:latin typeface="Consolas"/>
              </a:rPr>
              <a:t>iostat</a:t>
            </a:r>
            <a:r>
              <a:rPr sz="2300" b="0" i="0">
                <a:solidFill>
                  <a:srgbClr val="1C252B"/>
                </a:solidFill>
                <a:latin typeface="Segoe UI"/>
              </a:rPr>
              <a:t> output and multiply by a hundred.</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83897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300-seat non-persistent deployment uses a 70 GB golden image with 3 GB deltas. Give the storage capacity needed, and the saving against full clones.</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15  ·  Desktop and Application Virtualization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124  ·  answers in Appendix D     </a:t>
            </a:r>
            <a:fld id="{A3650F72-33A3-47C1-A047-F8F4C7E9B918}" type="slidenum">
              <a:rPr lang="en-GB" sz="1000">
                <a:solidFill>
                  <a:srgbClr val="D5DEE5"/>
                </a:solidFill>
                <a:latin typeface="Segoe UI"/>
              </a:rPr>
              <a:t>30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 300-seat non-persistent deployment uses a 70 GB golden image with 3 GB deltas. Give the storage capacity needed, and the saving against full clones.</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3947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Cambria"/>
              </a:rPr>
              <a:t>70 + 300 × 3 = </a:t>
            </a:r>
            <a:r>
              <a:rPr sz="2200" b="1" i="0">
                <a:solidFill>
                  <a:srgbClr val="1C252B"/>
                </a:solidFill>
                <a:latin typeface="Cambria"/>
              </a:rPr>
              <a:t>970</a:t>
            </a:r>
            <a:r>
              <a:rPr sz="2200" b="0" i="0">
                <a:solidFill>
                  <a:srgbClr val="1C252B"/>
                </a:solidFill>
                <a:latin typeface="Segoe UI"/>
              </a:rPr>
              <a:t> GB. Full clones would be </a:t>
            </a:r>
            <a:r>
              <a:rPr sz="2200" b="0" i="0">
                <a:solidFill>
                  <a:srgbClr val="1C252B"/>
                </a:solidFill>
                <a:latin typeface="Cambria"/>
              </a:rPr>
              <a:t>300 × 70 = 21,000</a:t>
            </a:r>
            <a:r>
              <a:rPr sz="2200" b="0" i="0">
                <a:solidFill>
                  <a:srgbClr val="1C252B"/>
                </a:solidFill>
                <a:latin typeface="Segoe UI"/>
              </a:rPr>
              <a:t> GB, so the saving is </a:t>
            </a:r>
            <a:r>
              <a:rPr sz="2200" b="0" i="0">
                <a:solidFill>
                  <a:srgbClr val="1C252B"/>
                </a:solidFill>
                <a:latin typeface="Cambria"/>
              </a:rPr>
              <a:t>21,000/970 ≈ </a:t>
            </a:r>
            <a:r>
              <a:rPr sz="2200" b="1" i="0">
                <a:solidFill>
                  <a:srgbClr val="1C252B"/>
                </a:solidFill>
                <a:latin typeface="Cambria"/>
              </a:rPr>
              <a:t>21.6:1</a:t>
            </a:r>
            <a:r>
              <a:rPr sz="2200" b="0" i="0">
                <a:solidFill>
                  <a:srgbClr val="1C252B"/>
                </a:solidFill>
                <a:latin typeface="Segoe UI"/>
              </a:rPr>
              <a:t>. The base image is read by all 300 desktops, so it must sit on the fastest storage available and stay in cache — the read amplification of Chapter 12 applies at full force.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15  ·  Desktop and Application Virtualization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124  ·  answers in Appendix D     </a:t>
            </a:r>
            <a:fld id="{CFDF0CAF-B55C-475E-9376-87B1622AA878}" type="slidenum">
              <a:rPr lang="en-GB" sz="1000">
                <a:solidFill>
                  <a:srgbClr val="8795A1"/>
                </a:solidFill>
                <a:latin typeface="Segoe UI"/>
              </a:rPr>
              <a:t>31</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44856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At 10 IOPS steady state per desktop, and 120 IOPS for a 90-second boot, estimate peak IOPS if 150 of those 300 users log in within four minutes. Compare with the steady-state figure.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15  ·  Desktop and Application Virtualization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124  ·  answers in Appendix D     </a:t>
            </a:r>
            <a:fld id="{A4C6DE70-ACF5-446D-9ABE-324FD22E21CB}" type="slidenum">
              <a:rPr lang="en-GB" sz="1000">
                <a:solidFill>
                  <a:srgbClr val="D5DEE5"/>
                </a:solidFill>
                <a:latin typeface="Segoe UI"/>
              </a:rPr>
              <a:t>32</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At 10 IOPS steady state per desktop, and 120 IOPS for a 90-second boot, estimate peak IOPS if 150 of those 300 users log in within four minutes. Compare with the steady-state figure.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Steady state is </a:t>
            </a:r>
            <a:r>
              <a:rPr sz="2200" b="0" i="0">
                <a:solidFill>
                  <a:srgbClr val="1C252B"/>
                </a:solidFill>
                <a:latin typeface="Cambria"/>
              </a:rPr>
              <a:t>300 × 10 = 3,000</a:t>
            </a:r>
            <a:r>
              <a:rPr sz="2200" b="0" i="0">
                <a:solidFill>
                  <a:srgbClr val="1C252B"/>
                </a:solidFill>
                <a:latin typeface="Segoe UI"/>
              </a:rPr>
              <a:t> IOPS. For the storm: 150 users over 4 minutes with a 90-second boot gives </a:t>
            </a:r>
            <a:r>
              <a:rPr sz="2200" b="0" i="0">
                <a:solidFill>
                  <a:srgbClr val="1C252B"/>
                </a:solidFill>
                <a:latin typeface="Cambria"/>
              </a:rPr>
              <a:t>150 × (1.5/4) ≈ 56</a:t>
            </a:r>
            <a:r>
              <a:rPr sz="2200" b="0" i="0">
                <a:solidFill>
                  <a:srgbClr val="1C252B"/>
                </a:solidFill>
                <a:latin typeface="Segoe UI"/>
              </a:rPr>
              <a:t> booting at any instant, so </a:t>
            </a:r>
            <a:r>
              <a:rPr sz="2200" b="0" i="0">
                <a:solidFill>
                  <a:srgbClr val="1C252B"/>
                </a:solidFill>
                <a:latin typeface="Cambria"/>
              </a:rPr>
              <a:t>56 × 120 = 6,750</a:t>
            </a:r>
            <a:r>
              <a:rPr sz="2200" b="0" i="0">
                <a:solidFill>
                  <a:srgbClr val="1C252B"/>
                </a:solidFill>
                <a:latin typeface="Segoe UI"/>
              </a:rPr>
              <a:t> IOPS, plus the 150 already-logged-in users’ steady 1,500: about </a:t>
            </a:r>
            <a:r>
              <a:rPr sz="2200" b="1" i="0">
                <a:solidFill>
                  <a:srgbClr val="1C252B"/>
                </a:solidFill>
                <a:latin typeface="Cambria"/>
              </a:rPr>
              <a:t>8,250</a:t>
            </a:r>
            <a:r>
              <a:rPr sz="2200" b="0" i="0">
                <a:solidFill>
                  <a:srgbClr val="1C252B"/>
                </a:solidFill>
                <a:latin typeface="Segoe UI"/>
              </a:rPr>
              <a:t> IOPS, roughly </a:t>
            </a:r>
            <a:r>
              <a:rPr sz="2200" b="1" i="0">
                <a:solidFill>
                  <a:srgbClr val="1C252B"/>
                </a:solidFill>
                <a:latin typeface="Segoe UI"/>
              </a:rPr>
              <a:t>2.75 times</a:t>
            </a:r>
            <a:r>
              <a:rPr sz="2200" b="0" i="0">
                <a:solidFill>
                  <a:srgbClr val="1C252B"/>
                </a:solidFill>
                <a:latin typeface="Segoe UI"/>
              </a:rPr>
              <a:t> the all-day figure — for four minutes. Size for this, not for the average.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15  ·  Desktop and Application Virtualization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124  ·  answers in Appendix D     </a:t>
            </a:r>
            <a:fld id="{EFDA8D1B-A040-4CAD-AF95-E0A98224F9B8}" type="slidenum">
              <a:rPr lang="en-GB" sz="1000">
                <a:solidFill>
                  <a:srgbClr val="8795A1"/>
                </a:solidFill>
                <a:latin typeface="Segoe UI"/>
              </a:rPr>
              <a:t>33</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05814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user reports that their remote desktop is “laggy” although the monitoring shows the link is 80% idle. Explain what is probably happening and what you would measure.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15  ·  Desktop and Application Virtualization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124  ·  answers in Appendix D     </a:t>
            </a:r>
            <a:fld id="{69432BBD-2537-47F6-BE1E-CF3F635B82BE}" type="slidenum">
              <a:rPr lang="en-GB" sz="1000">
                <a:solidFill>
                  <a:srgbClr val="D5DEE5"/>
                </a:solidFill>
                <a:latin typeface="Segoe UI"/>
              </a:rPr>
              <a:t>34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user reports that their remote desktop is “laggy” although the monitoring shows the link is 80% idle. Explain what is probably happening and what you would measure.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256B9A"/>
                </a:solidFill>
                <a:latin typeface="Segoe UI"/>
              </a:rPr>
              <a:t>Latency, not bandwidth.</a:t>
            </a:r>
            <a:r>
              <a:rPr sz="2200" b="0" i="0">
                <a:solidFill>
                  <a:srgbClr val="1C252B"/>
                </a:solidFill>
                <a:latin typeface="Segoe UI"/>
              </a:rPr>
              <a:t> Every keystroke makes a round trip before its character appears, so a high-latency path feels broken no matter how much capacity is spare; under about 50 ms it is invisible, past 150 ms typing feels detached. Measure the round-trip time from the client to the session host, and the protocol’s own reported frame latency — not throughput, which the monitoring has already told you is fine.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15  ·  Desktop and Application Virtualization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124  ·  answers in Appendix D     </a:t>
            </a:r>
            <a:fld id="{37853342-BFB4-40C6-9B88-AFDCC08F7E94}" type="slidenum">
              <a:rPr lang="en-GB" sz="1000">
                <a:solidFill>
                  <a:srgbClr val="8795A1"/>
                </a:solidFill>
                <a:latin typeface="Segoe UI"/>
              </a:rPr>
              <a:t>35</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66773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15  ·  Desktop and Application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124     </a:t>
            </a:r>
            <a:fld id="{CFE5AD29-0C4B-47C5-AB98-560F00A6F611}" type="slidenum">
              <a:rPr lang="en-GB" sz="1000">
                <a:solidFill>
                  <a:srgbClr val="8795A1"/>
                </a:solidFill>
                <a:latin typeface="Segoe UI"/>
              </a:rPr>
              <a:t>36</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VDI runs the desktop in the data centre and sends pixels out, keystrokes back. Buy it for control, access or compliance.</a:t>
            </a:r>
          </a:p>
        </p:txBody>
      </p:sp>
      <p:sp>
        <p:nvSpPr>
          <p:cNvPr id="10" name="!!sb1">
            <a:extLst>
              <a:ext uri="{C183D7F6-B498-43B3-948B-1728B52AA6E4}">
                <adec:decorative xmlns:adec="http://schemas.microsoft.com/office/drawing/2017/decorative" val="1"/>
              </a:ext>
            </a:extLst>
          </p:cNvPr>
          <p:cNvSpPr/>
          <p:nvPr/>
        </p:nvSpPr>
        <p:spPr>
          <a:xfrm>
            <a:off x="658368" y="253166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8653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22524"/>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Persistent desktops are familiar and must be managed individually; non-persistent ones are built from a golden image at logon and succeed or fail on profile management.</a:t>
            </a:r>
          </a:p>
        </p:txBody>
      </p:sp>
      <p:sp>
        <p:nvSpPr>
          <p:cNvPr id="13" name="!!sb2">
            <a:extLst>
              <a:ext uri="{C183D7F6-B498-43B3-948B-1728B52AA6E4}">
                <adec:decorative xmlns:adec="http://schemas.microsoft.com/office/drawing/2017/decorative" val="1"/>
              </a:ext>
            </a:extLst>
          </p:cNvPr>
          <p:cNvSpPr/>
          <p:nvPr/>
        </p:nvSpPr>
        <p:spPr>
          <a:xfrm>
            <a:off x="658368" y="331683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37169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307689"/>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Linked and instant clones are Chapter 12’s copy-on-write at scale — a 28:1 capacity saving in the worked example, and a read-amplified base that must stay fast.</a:t>
            </a:r>
          </a:p>
        </p:txBody>
      </p:sp>
      <p:sp>
        <p:nvSpPr>
          <p:cNvPr id="16" name="!!sb3">
            <a:extLst>
              <a:ext uri="{C183D7F6-B498-43B3-948B-1728B52AA6E4}">
                <adec:decorative xmlns:adec="http://schemas.microsoft.com/office/drawing/2017/decorative" val="1"/>
              </a:ext>
            </a:extLst>
          </p:cNvPr>
          <p:cNvSpPr/>
          <p:nvPr/>
        </p:nvSpPr>
        <p:spPr>
          <a:xfrm>
            <a:off x="658368" y="410199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15686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092854"/>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display protocol sends changed regions, not video. Bandwidth is asymmetric and modest; </a:t>
            </a:r>
            <a:r>
              <a:rPr sz="1900" b="0" i="1">
                <a:solidFill>
                  <a:srgbClr val="1C252B"/>
                </a:solidFill>
                <a:latin typeface="Segoe UI"/>
              </a:rPr>
              <a:t>latency</a:t>
            </a:r>
            <a:r>
              <a:rPr sz="1900" b="0" i="0">
                <a:solidFill>
                  <a:srgbClr val="1C252B"/>
                </a:solidFill>
                <a:latin typeface="Segoe UI"/>
              </a:rPr>
              <a:t> is what users feel, on every keystroke.</a:t>
            </a:r>
          </a:p>
        </p:txBody>
      </p:sp>
      <p:sp>
        <p:nvSpPr>
          <p:cNvPr id="19" name="!!sb4">
            <a:extLst>
              <a:ext uri="{C183D7F6-B498-43B3-948B-1728B52AA6E4}">
                <adec:decorative xmlns:adec="http://schemas.microsoft.com/office/drawing/2017/decorative" val="1"/>
              </a:ext>
            </a:extLst>
          </p:cNvPr>
          <p:cNvSpPr/>
          <p:nvPr/>
        </p:nvSpPr>
        <p:spPr>
          <a:xfrm>
            <a:off x="658368" y="488716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94202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878019"/>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Peak logon IOPS is three times the all-day figure and is what sizing must be based on. It is why pilots succeed and rollouts fail.</a:t>
            </a:r>
          </a:p>
        </p:txBody>
      </p:sp>
      <p:sp>
        <p:nvSpPr>
          <p:cNvPr id="22" name="!!sb5">
            <a:extLst>
              <a:ext uri="{C183D7F6-B498-43B3-948B-1728B52AA6E4}">
                <adec:decorative xmlns:adec="http://schemas.microsoft.com/office/drawing/2017/decorative" val="1"/>
              </a:ext>
            </a:extLst>
          </p:cNvPr>
          <p:cNvSpPr/>
          <p:nvPr/>
        </p:nvSpPr>
        <p:spPr>
          <a:xfrm>
            <a:off x="658368" y="567232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72719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663184"/>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Published applications are denser and share a kernel; browser isolation applies the idea as a security control.</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097252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15  ·  Desktop and Application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124     </a:t>
            </a:r>
            <a:fld id="{1B0355EC-94D3-47F3-A277-A044C53A6204}" type="slidenum">
              <a:rPr lang="en-GB" sz="1000">
                <a:solidFill>
                  <a:srgbClr val="8795A1"/>
                </a:solidFill>
                <a:latin typeface="Segoe UI"/>
              </a:rPr>
              <a:t>37</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resource that most often limits a VDI deployment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host memory</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peak storage IOPS at logon</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network bandwidth</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CPU</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27731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15  ·  Desktop and Application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124     </a:t>
            </a:r>
            <a:fld id="{F221A444-1601-4922-857D-8379A0E50CE2}" type="slidenum">
              <a:rPr lang="en-GB" sz="1000">
                <a:solidFill>
                  <a:srgbClr val="8795A1"/>
                </a:solidFill>
                <a:latin typeface="Segoe UI"/>
              </a:rPr>
              <a:t>38</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 non-persistent desktop keeps a user’s documents and settings by:</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storing them in the golden image</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profile management on separate storage</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delta disk</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it does not keep them</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58211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15  ·  Desktop and Application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124     </a:t>
            </a:r>
            <a:fld id="{C949AD7B-B5FA-4149-BC30-4AEA6FFDCA15}" type="slidenum">
              <a:rPr lang="en-GB" sz="1000">
                <a:solidFill>
                  <a:srgbClr val="8795A1"/>
                </a:solidFill>
                <a:latin typeface="Segoe UI"/>
              </a:rPr>
              <a:t>39</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why latency matters more than bandwidth in a remote desktop session, in terms of what happens to a keystroke.</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Describe a boot storm and give two ways to reduce it.</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State the trade between published applications and full VDI, naming the chapter whose argument it repeats.</a:t>
            </a:r>
          </a:p>
        </p:txBody>
      </p:sp>
      <p:sp>
        <p:nvSpPr>
          <p:cNvPr id="16" name="!!rt3">
            <a:extLst>
              <a:ext uri="{C183D7F6-B498-43B3-948B-1728B52AA6E4}">
                <adec:decorative xmlns:adec="http://schemas.microsoft.com/office/drawing/2017/decorative" val="1"/>
              </a:ext>
            </a:extLst>
          </p:cNvPr>
          <p:cNvSpPr/>
          <p:nvPr/>
        </p:nvSpPr>
        <p:spPr>
          <a:xfrm>
            <a:off x="658368" y="3919727"/>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96087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901440"/>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Size a 1,200-seat deployment of 2 vCPU, 8 GB desktops on 768 GB hosts with a 80 GB image and 4 GB deltas. Give host count, capacity, steady and peak IOPS, and bandwidth, and name what fails first.</a:t>
            </a:r>
          </a:p>
        </p:txBody>
      </p:sp>
      <p:sp>
        <p:nvSpPr>
          <p:cNvPr id="19" name="!!rt4">
            <a:extLst>
              <a:ext uri="{C183D7F6-B498-43B3-948B-1728B52AA6E4}">
                <adec:decorative xmlns:adec="http://schemas.microsoft.com/office/drawing/2017/decorative" val="1"/>
              </a:ext>
            </a:extLst>
          </p:cNvPr>
          <p:cNvSpPr/>
          <p:nvPr/>
        </p:nvSpPr>
        <p:spPr>
          <a:xfrm>
            <a:off x="658368" y="5042611"/>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5083759"/>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5024323"/>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faculty proposes VDI so that students can use specialist software from their own laptops. Write the questions you would ask, the two alternatives you would price against it, and the circumstances under which you would recommend each.</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88690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7A3A95"/>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854A9D"/>
                </a:solidFill>
                <a:latin typeface="Segoe UI Black"/>
              </a:rPr>
              <a:t>15</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15</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16 — Virtualization Management Platforms</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15, pages 116–124</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A remote desktop measured; an estate declared in code</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Assignment 2 set</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15  ·  Desktop and Application Virtualization</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9A21DCAA-D3C8-4118-A3AD-CCB9DA16474D}" type="slidenum">
              <a:rPr lang="en-GB" sz="1000">
                <a:solidFill>
                  <a:srgbClr val="D5DEE5"/>
                </a:solidFill>
                <a:latin typeface="Segoe UI"/>
              </a:rPr>
              <a:t>40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Virtual Systems and Services Fall 2026">
  <a:themeElements>
    <a:clrScheme name="Virtual Systems and Services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Virtual Systems and Services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15: Desktop and Application Virtualization</dc:title>
  <dc:subject>Virtual Systems and Services — From Hypervisors to the Cloud-Native Stack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