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19.svg" ContentType="image/svg+xml"/>
  <Override PartName="/ppt/media/image21.svg" ContentType="image/svg+xml"/>
  <Override PartName="/ppt/media/image23.svg" ContentType="image/svg+xml"/>
  <Override PartName="/ppt/media/image24.svg" ContentType="image/svg+xml"/>
  <Override PartName="/ppt/media/image26.svg" ContentType="image/svg+xml"/>
  <Override PartName="/ppt/media/image28.svg" ContentType="image/svg+xml"/>
  <Override PartName="/ppt/media/image29.svg" ContentType="image/svg+xml"/>
  <Override PartName="/ppt/media/image30.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7.svg" ContentType="image/svg+xml"/>
  <Override PartName="/ppt/media/image68.svg" ContentType="image/svg+xml"/>
  <Override PartName="/ppt/media/image69.svg" ContentType="image/svg+xml"/>
  <Override PartName="/ppt/media/image70.svg" ContentType="image/svg+xml"/>
  <Override PartName="/ppt/media/image71.svg" ContentType="image/svg+xml"/>
  <Override PartName="/ppt/media/image72.svg" ContentType="image/svg+xml"/>
  <Override PartName="/ppt/media/image73.svg" ContentType="image/svg+xml"/>
  <Override PartName="/ppt/media/image75.svg" ContentType="image/svg+xml"/>
  <Override PartName="/ppt/media/image77.svg" ContentType="image/svg+xml"/>
  <Override PartName="/ppt/media/image78.svg" ContentType="image/svg+xml"/>
  <Override PartName="/ppt/media/image79.svg" ContentType="image/svg+xml"/>
  <Override PartName="/ppt/media/image8.svg" ContentType="image/svg+xml"/>
  <Override PartName="/ppt/media/image80.svg" ContentType="image/svg+xml"/>
  <Override PartName="/ppt/media/image81.svg" ContentType="image/svg+xml"/>
  <Override PartName="/ppt/media/image83.svg" ContentType="image/svg+xml"/>
  <Override PartName="/ppt/media/image85.svg" ContentType="image/svg+xml"/>
  <Override PartName="/ppt/media/image86.svg" ContentType="image/svg+xml"/>
  <Override PartName="/ppt/media/image8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D13C5CC-CB22-4F68-B281-1C6537636023}">
          <p14:sldIdLst>
            <p14:sldId id="256"/>
            <p14:sldId id="257"/>
            <p14:sldId id="258"/>
            <p14:sldId id="259"/>
            <p14:sldId id="260"/>
          </p14:sldIdLst>
        </p14:section>
        <p14:section name="26.1 What Makes This Domain Different" id="{DCE14774-13E7-4F4E-ABD6-6E20806C82FC}">
          <p14:sldIdLst>
            <p14:sldId id="261"/>
          </p14:sldIdLst>
        </p14:section>
        <p14:section name="26.2 Security Data Sources" id="{C956F1D5-1608-4849-8A68-3016425BA8AB}">
          <p14:sldIdLst>
            <p14:sldId id="262"/>
            <p14:sldId id="263"/>
            <p14:sldId id="264"/>
          </p14:sldIdLst>
        </p14:section>
        <p14:section name="26.3 The Alert Fatigue Problem" id="{64ABAB70-C0D4-4CB9-A57C-5FC652B2869C}">
          <p14:sldIdLst>
            <p14:sldId id="265"/>
            <p14:sldId id="266"/>
            <p14:sldId id="267"/>
            <p14:sldId id="268"/>
          </p14:sldIdLst>
        </p14:section>
        <p14:section name="26.4 Four Detection Problems" id="{8820AD31-6814-4064-841B-CC78C7214A4C}">
          <p14:sldIdLst>
            <p14:sldId id="269"/>
            <p14:sldId id="270"/>
            <p14:sldId id="271"/>
          </p14:sldIdLst>
        </p14:section>
        <p14:section name="26.5 Attacking the Model Itself" id="{C16A573C-BAFF-4DA8-B483-19680C5696A2}">
          <p14:sldIdLst>
            <p14:sldId id="272"/>
            <p14:sldId id="273"/>
            <p14:sldId id="274"/>
            <p14:sldId id="275"/>
            <p14:sldId id="276"/>
            <p14:sldId id="277"/>
          </p14:sldIdLst>
        </p14:section>
        <p14:section name="Four lenses" id="{EB000CBC-BDD0-47CC-A360-5803D9A071EC}">
          <p14:sldIdLst>
            <p14:sldId id="278"/>
            <p14:sldId id="279"/>
            <p14:sldId id="280"/>
            <p14:sldId id="281"/>
            <p14:sldId id="282"/>
          </p14:sldIdLst>
        </p14:section>
        <p14:section name="Lab" id="{F4FC7432-464E-4059-A343-3AE31E441CB2}">
          <p14:sldIdLst>
            <p14:sldId id="283"/>
            <p14:sldId id="284"/>
            <p14:sldId id="285"/>
            <p14:sldId id="286"/>
            <p14:sldId id="287"/>
            <p14:sldId id="288"/>
            <p14:sldId id="289"/>
          </p14:sldIdLst>
        </p14:section>
        <p14:section name="Checkpoint" id="{1661CBC0-F55C-4857-8550-108AD9C35DF3}">
          <p14:sldIdLst>
            <p14:sldId id="290"/>
            <p14:sldId id="291"/>
            <p14:sldId id="292"/>
            <p14:sldId id="293"/>
            <p14:sldId id="294"/>
            <p14:sldId id="295"/>
          </p14:sldIdLst>
        </p14:section>
        <p14:section name="Wrap-up" id="{EB91EC36-06A4-43FD-BA30-AE29351058D0}">
          <p14:sldIdLst>
            <p14:sldId id="296"/>
            <p14:sldId id="297"/>
            <p14:sldId id="298"/>
            <p14:sldId id="299"/>
            <p14:sldId id="30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26: Data Science for Cybersecurity. Part 5 — Data Science in Systems Context. Week 15: Data science for IoT and cybersecurity. Handout pages 168–174.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6 (base rates — the arithmetic that governs every alerting decision), Chapter 14 (imbalance, PR curves, cost-based thresholds), Chapter 16 (anomaly detection) and Chapter 19 (streaming and drift).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SIEM; NetFlow; intrusion detection; signature vs anomaly detection; UEBA; baseline; alert fatigue; threat intelligence; adversarial machine learning; evasion; poisoning; model extraction; membership inference; defence in depth.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26.1 (handout p. 170): Alert volume against false-positive rate at 2 million events per day. The relationship is linear and brutal: the analyst capacity line fixes a maximum FPR, and that constraint — not accuracy — determines whether a detector can be deployed.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26.2 (handout p. 170): Four detection problems, their data, their standard methods and the difficulty that defines each. Note that three of the four rely on per-entity baselines rather than global thresholds.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26.3 (handout p. 171): The four classes of attack on machine learning systems. Evasion and extraction happen at inference time; poisoning happens at training time; membership inference targets privacy rather than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Academic integrity analytics is structurally the same problem and inherits the same arithmetic. Cheating is rare, so the base rate is low and precision will be poor — a plagiarism or exam-proctoring flag is evidence to investigate, never a verdict. Students also adapt: publicise a detection rule and behaviour changes to evade it, which is the adversarial dynamic in a setting where the “adversary” is someone you owe a duty of care. The ethical stakes here are higher than in a SOC, and Chapter 28 should be read alongside this.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Security work has a distinctive project profile: success is invisible, and the business case rests on losses that did not happen. Metrics that survive contact with management are mean time to detect, mean time to respond, coverage of assets monitored, and alerts per analyst — not model accuracy. Budget for the fact that detection engineering is continuous maintenance rather than a delivery with an end date; a model shipped and left alone degrades faster here than anywhere else in this book.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The two chapters meet directly. IoT fleets are a favoured target — weak credentials, unpatched firmware, plaintext protocols — and a compromised device is often first visible as anomalous telemetry, meaning the maintenance detector of Chapter 25 is also a security sensor. Conversely, telemetry can be forged, so readings from a device are not trustworthy evidence about that device. Cross-device and cross-physics consistency checks are the practical defence.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This chapter is the security lens in full. The distilled version: work backwards from analyst capacity to a maximum false-positive rate; baseline every entity against itself; run signatures and anomaly detection together; choose features by manipulation cost; and treat the model as an asset that will itself be attacked.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Per-entity baselines: the core idea of this chapter.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Threshold from ANALYST CAPACITY, not from 0.5.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TEST YOUR OWN MODEL FOR EVASION. This step is not optional..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Screen the training set before retraining (anti-poisoning).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False positives ≈ 500,000 × 0.01 = 5,000; true positives ≈ 10. About 5,010 alerts/day, precision ≈ 0.2%. With four analysts (roughly 160 alerts/day) it is 30× over capacity and not deployable.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packets per second is directly and cheaply controllable by the attacker — they simply slow down. The fraction of connections to closed ports is intrinsic to scanning: avoiding it requires already knowing which ports are open, which is what the scan is for.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Poisoning. Controls: screen the training set with an anomaly detector before use; require human approval to promote a retrained model; hold out a trusted benchmark set that a poisoned model would fail.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27 — MLOps: Deployment, Monitoring and Reliability. READ: Handout Chapter 26, pages 168–174. THIS WEEK'S LAB: Telemetry to alert; per-entity baselines &amp; evasion test.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0.xml"/><Relationship Id="rId8" Type="http://schemas.openxmlformats.org/officeDocument/2006/relationships/slide" Target="slide14.xml"/><Relationship Id="rId9" Type="http://schemas.openxmlformats.org/officeDocument/2006/relationships/slide" Target="slide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9.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24.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9.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30.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31.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image" Target="../media/image38.png"/><Relationship Id="rId9" Type="http://schemas.openxmlformats.org/officeDocument/2006/relationships/image" Target="../media/image39.svg"/><Relationship Id="rId10" Type="http://schemas.openxmlformats.org/officeDocument/2006/relationships/image" Target="../media/image40.png"/><Relationship Id="rId11" Type="http://schemas.openxmlformats.org/officeDocument/2006/relationships/image" Target="../media/image41.svg"/><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34.png"/><Relationship Id="rId5" Type="http://schemas.openxmlformats.org/officeDocument/2006/relationships/image" Target="../media/image44.svg"/><Relationship Id="rId6" Type="http://schemas.openxmlformats.org/officeDocument/2006/relationships/image" Target="../media/image36.png"/><Relationship Id="rId7" Type="http://schemas.openxmlformats.org/officeDocument/2006/relationships/image" Target="../media/image45.svg"/><Relationship Id="rId8" Type="http://schemas.openxmlformats.org/officeDocument/2006/relationships/image" Target="../media/image38.png"/><Relationship Id="rId9" Type="http://schemas.openxmlformats.org/officeDocument/2006/relationships/image" Target="../media/image46.svg"/><Relationship Id="rId10" Type="http://schemas.openxmlformats.org/officeDocument/2006/relationships/image" Target="../media/image40.png"/><Relationship Id="rId11" Type="http://schemas.openxmlformats.org/officeDocument/2006/relationships/image" Target="../media/image47.svg"/><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49.svg"/><Relationship Id="rId4" Type="http://schemas.openxmlformats.org/officeDocument/2006/relationships/image" Target="../media/image36.png"/><Relationship Id="rId5" Type="http://schemas.openxmlformats.org/officeDocument/2006/relationships/image" Target="../media/image50.svg"/><Relationship Id="rId6" Type="http://schemas.openxmlformats.org/officeDocument/2006/relationships/image" Target="../media/image34.png"/><Relationship Id="rId7" Type="http://schemas.openxmlformats.org/officeDocument/2006/relationships/image" Target="../media/image51.svg"/><Relationship Id="rId8" Type="http://schemas.openxmlformats.org/officeDocument/2006/relationships/image" Target="../media/image38.png"/><Relationship Id="rId9" Type="http://schemas.openxmlformats.org/officeDocument/2006/relationships/image" Target="../media/image52.svg"/><Relationship Id="rId10" Type="http://schemas.openxmlformats.org/officeDocument/2006/relationships/image" Target="../media/image40.png"/><Relationship Id="rId11" Type="http://schemas.openxmlformats.org/officeDocument/2006/relationships/image" Target="../media/image53.svg"/><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5.svg"/><Relationship Id="rId4" Type="http://schemas.openxmlformats.org/officeDocument/2006/relationships/image" Target="../media/image38.png"/><Relationship Id="rId5" Type="http://schemas.openxmlformats.org/officeDocument/2006/relationships/image" Target="../media/image56.svg"/><Relationship Id="rId6" Type="http://schemas.openxmlformats.org/officeDocument/2006/relationships/image" Target="../media/image34.png"/><Relationship Id="rId7" Type="http://schemas.openxmlformats.org/officeDocument/2006/relationships/image" Target="../media/image57.svg"/><Relationship Id="rId8" Type="http://schemas.openxmlformats.org/officeDocument/2006/relationships/image" Target="../media/image36.png"/><Relationship Id="rId9" Type="http://schemas.openxmlformats.org/officeDocument/2006/relationships/image" Target="../media/image58.svg"/><Relationship Id="rId10" Type="http://schemas.openxmlformats.org/officeDocument/2006/relationships/image" Target="../media/image40.png"/><Relationship Id="rId11" Type="http://schemas.openxmlformats.org/officeDocument/2006/relationships/image" Target="../media/image59.svg"/><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1.svg"/><Relationship Id="rId4" Type="http://schemas.openxmlformats.org/officeDocument/2006/relationships/image" Target="../media/image40.png"/><Relationship Id="rId5" Type="http://schemas.openxmlformats.org/officeDocument/2006/relationships/image" Target="../media/image62.svg"/><Relationship Id="rId6" Type="http://schemas.openxmlformats.org/officeDocument/2006/relationships/image" Target="../media/image34.png"/><Relationship Id="rId7" Type="http://schemas.openxmlformats.org/officeDocument/2006/relationships/image" Target="../media/image63.svg"/><Relationship Id="rId8" Type="http://schemas.openxmlformats.org/officeDocument/2006/relationships/image" Target="../media/image36.png"/><Relationship Id="rId9" Type="http://schemas.openxmlformats.org/officeDocument/2006/relationships/image" Target="../media/image64.svg"/><Relationship Id="rId10" Type="http://schemas.openxmlformats.org/officeDocument/2006/relationships/image" Target="../media/image38.png"/><Relationship Id="rId11" Type="http://schemas.openxmlformats.org/officeDocument/2006/relationships/image" Target="../media/image65.svg"/><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7.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8.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9.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70.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71.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72.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73.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image" Target="../media/image75.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image" Target="../media/image77.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image" Target="../media/image78.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image" Target="../media/image79.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image" Target="../media/image80.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image" Target="../media/image81.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image" Target="../media/image85.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image" Target="../media/image86.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image" Target="../media/image87.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88674"/>
                </a:solidFill>
                <a:latin typeface="Segoe UI Black"/>
              </a:rPr>
              <a:t>26</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Data Science for Cybersecurity</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PART V  ·  DATA SCIENCE IN SYSTEMS CONTEXT</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CHAPTER 26  ·  WEEK 15</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CFE4E0"/>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0C57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3BFB9"/>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BD0CC"/>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3BFB9"/>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168     </a:t>
            </a:r>
            <a:fld id="{65E88348-CA33-46C8-A1A7-42EDE0BF38FE}" type="slidenum">
              <a:rPr lang="en-GB" sz="1000">
                <a:solidFill>
                  <a:srgbClr val="8795A1"/>
                </a:solidFill>
                <a:latin typeface="Segoe UI"/>
              </a:rPr>
              <a:t>2</a:t>
            </a:fld>
          </a:p>
        </p:txBody>
      </p:sp>
      <p:sp>
        <p:nvSpPr>
          <p:cNvPr id="7" name="!!rp1"/>
          <p:cNvSpPr txBox="1"/>
          <p:nvPr/>
        </p:nvSpPr>
        <p:spPr>
          <a:xfrm>
            <a:off x="77724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740856" y="1755648"/>
            <a:ext cx="107133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740856" y="2029967"/>
            <a:ext cx="107133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141374"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141374"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104991"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104991"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068608" y="1755648"/>
            <a:ext cx="166377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068608" y="2029967"/>
            <a:ext cx="1663779" cy="4572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061571"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061571"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7962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7881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16117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0697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271703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6255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299858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29071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28013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1886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56168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47024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11755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0261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39910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3076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68065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58921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496220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48707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24375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15231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525304"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433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081174"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598973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36272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27128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64427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55283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692582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68343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20737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1159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48892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3974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044791"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79533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326340"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23490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607890"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5164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8898583" y="2112264"/>
            <a:ext cx="566928" cy="566928"/>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8898583"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26</a:t>
            </a:r>
          </a:p>
        </p:txBody>
      </p:sp>
      <p:sp>
        <p:nvSpPr>
          <p:cNvPr id="71" name="!!dot27">
            <a:extLst>
              <a:ext uri="{C183D7F6-B498-43B3-948B-1728B52AA6E4}">
                <adec:decorative xmlns:adec="http://schemas.microsoft.com/office/drawing/2017/decorative" val="1"/>
              </a:ext>
            </a:extLst>
          </p:cNvPr>
          <p:cNvSpPr/>
          <p:nvPr/>
        </p:nvSpPr>
        <p:spPr>
          <a:xfrm>
            <a:off x="948188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3904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1003775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9463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31930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227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6896047"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07964"/>
                </a:solidFill>
                <a:latin typeface="Segoe UI"/>
              </a:rPr>
              <a:t>Data Science for Cybersecurity</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6">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6">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6"/>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6  </a:t>
            </a:r>
            <a:r>
              <a:rPr sz="1400" b="0" i="0">
                <a:solidFill>
                  <a:srgbClr val="1C252B"/>
                </a:solidFill>
                <a:latin typeface="Segoe UI"/>
              </a:rPr>
              <a:t>Probability and Uncertainty</a:t>
            </a:r>
          </a:p>
        </p:txBody>
      </p:sp>
      <p:sp>
        <p:nvSpPr>
          <p:cNvPr id="88" name="!!chipBU14">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bBU14">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tBU14"/>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14  </a:t>
            </a:r>
            <a:r>
              <a:rPr sz="1400" b="0" i="0">
                <a:solidFill>
                  <a:srgbClr val="1C252B"/>
                </a:solidFill>
                <a:latin typeface="Segoe UI"/>
              </a:rPr>
              <a:t>Model Evaluation and Selection</a:t>
            </a:r>
          </a:p>
        </p:txBody>
      </p:sp>
      <p:sp>
        <p:nvSpPr>
          <p:cNvPr id="91" name="!!chipBU16">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2" name="!!chipbBU16">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tBU16"/>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16  </a:t>
            </a:r>
            <a:r>
              <a:rPr sz="1400" b="0" i="0">
                <a:solidFill>
                  <a:srgbClr val="1C252B"/>
                </a:solidFill>
                <a:latin typeface="Segoe UI"/>
              </a:rPr>
              <a:t>Unsupervised Learning and Anomaly Detection</a:t>
            </a:r>
          </a:p>
        </p:txBody>
      </p:sp>
      <p:sp>
        <p:nvSpPr>
          <p:cNvPr id="94" name="!!chipBU19">
            <a:extLst>
              <a:ext uri="{C183D7F6-B498-43B3-948B-1728B52AA6E4}">
                <adec:decorative xmlns:adec="http://schemas.microsoft.com/office/drawing/2017/decorative" val="1"/>
              </a:ext>
            </a:extLst>
          </p:cNvPr>
          <p:cNvSpPr/>
          <p:nvPr/>
        </p:nvSpPr>
        <p:spPr>
          <a:xfrm>
            <a:off x="658368" y="5321808"/>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5" name="!!chipbBU19">
            <a:extLst>
              <a:ext uri="{C183D7F6-B498-43B3-948B-1728B52AA6E4}">
                <adec:decorative xmlns:adec="http://schemas.microsoft.com/office/drawing/2017/decorative" val="1"/>
              </a:ext>
            </a:extLst>
          </p:cNvPr>
          <p:cNvSpPr/>
          <p:nvPr/>
        </p:nvSpPr>
        <p:spPr>
          <a:xfrm>
            <a:off x="658368" y="5321808"/>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6" name="!!chiptBU19"/>
          <p:cNvSpPr txBox="1"/>
          <p:nvPr/>
        </p:nvSpPr>
        <p:spPr>
          <a:xfrm>
            <a:off x="859536"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19  </a:t>
            </a:r>
            <a:r>
              <a:rPr sz="1400" b="0" i="0">
                <a:solidFill>
                  <a:srgbClr val="1C252B"/>
                </a:solidFill>
                <a:latin typeface="Segoe UI"/>
              </a:rPr>
              <a:t>Sequences, Time Series and Streaming Analytics</a:t>
            </a:r>
          </a:p>
        </p:txBody>
      </p:sp>
      <p:sp>
        <p:nvSpPr>
          <p:cNvPr id="97"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98" name="!!dep-none-USED "/>
          <p:cNvSpPr txBox="1"/>
          <p:nvPr/>
        </p:nvSpPr>
        <p:spPr>
          <a:xfrm>
            <a:off x="6324447"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the course ends here</a:t>
            </a:r>
          </a:p>
        </p:txBody>
      </p:sp>
      <p:sp>
        <p:nvSpPr>
          <p:cNvPr id="9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0" name="!!pfill">
            <a:extLst>
              <a:ext uri="{C183D7F6-B498-43B3-948B-1728B52AA6E4}">
                <adec:decorative xmlns:adec="http://schemas.microsoft.com/office/drawing/2017/decorative" val="1"/>
              </a:ext>
            </a:extLst>
          </p:cNvPr>
          <p:cNvSpPr/>
          <p:nvPr/>
        </p:nvSpPr>
        <p:spPr>
          <a:xfrm>
            <a:off x="0" y="0"/>
            <a:ext cx="54185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168     </a:t>
            </a:r>
            <a:fld id="{A3E02DF5-0D6A-4151-96AE-F325AA8ED11C}"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Identify</a:t>
            </a:r>
            <a:r>
              <a:rPr sz="2100" b="0" i="0">
                <a:solidFill>
                  <a:srgbClr val="1C252B"/>
                </a:solidFill>
                <a:latin typeface="Segoe UI"/>
              </a:rPr>
              <a:t> the principal security data sources and what each can and cannot reveal.</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1635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Design</a:t>
            </a:r>
            <a:r>
              <a:rPr sz="2100" b="0" i="0">
                <a:solidFill>
                  <a:srgbClr val="1C252B"/>
                </a:solidFill>
                <a:latin typeface="Segoe UI"/>
              </a:rPr>
              <a:t> detection for intrusion, malware, phishing and insider misuse, choosing supervised or unsupervised methods appropriately.</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715207"/>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Quantify</a:t>
            </a:r>
            <a:r>
              <a:rPr sz="2100" b="0" i="0">
                <a:solidFill>
                  <a:srgbClr val="1C252B"/>
                </a:solidFill>
                <a:latin typeface="Segoe UI"/>
              </a:rPr>
              <a:t> the alert-fatigue problem and set thresholds that a real SOC can sustain.</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318711"/>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Explain</a:t>
            </a:r>
            <a:r>
              <a:rPr sz="2100" b="0" i="0">
                <a:solidFill>
                  <a:srgbClr val="1C252B"/>
                </a:solidFill>
                <a:latin typeface="Segoe UI"/>
              </a:rPr>
              <a:t> the four classes of attack against machine learning systems themselves.</a:t>
            </a:r>
          </a:p>
        </p:txBody>
      </p:sp>
      <p:sp>
        <p:nvSpPr>
          <p:cNvPr id="20" name="!!ob4">
            <a:extLst>
              <a:ext uri="{C183D7F6-B498-43B3-948B-1728B52AA6E4}">
                <adec:decorative xmlns:adec="http://schemas.microsoft.com/office/drawing/2017/decorative" val="1"/>
              </a:ext>
            </a:extLst>
          </p:cNvPr>
          <p:cNvSpPr/>
          <p:nvPr/>
        </p:nvSpPr>
        <p:spPr>
          <a:xfrm>
            <a:off x="658368" y="4881067"/>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940503"/>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922215"/>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Specify</a:t>
            </a:r>
            <a:r>
              <a:rPr sz="2100" b="0" i="0">
                <a:solidFill>
                  <a:srgbClr val="1C252B"/>
                </a:solidFill>
                <a:latin typeface="Segoe UI"/>
              </a:rPr>
              <a:t> defences for a deployed security model against an adaptive adversary.</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1277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168     </a:t>
            </a:r>
            <a:fld id="{61232AEF-1828-491D-B997-609D4B161035}" type="slidenum">
              <a:rPr lang="en-GB" sz="1000">
                <a:solidFill>
                  <a:srgbClr val="8795A1"/>
                </a:solidFill>
                <a:latin typeface="Segoe UI"/>
              </a:rPr>
              <a:t>4</a:t>
            </a:fld>
          </a:p>
        </p:txBody>
      </p:sp>
      <p:sp>
        <p:nvSpPr>
          <p:cNvPr id="7" name="!!term-SIEM">
            <a:extLst>
              <a:ext uri="{C183D7F6-B498-43B3-948B-1728B52AA6E4}">
                <adec:decorative xmlns:adec="http://schemas.microsoft.com/office/drawing/2017/decorative" val="1"/>
              </a:ext>
            </a:extLst>
          </p:cNvPr>
          <p:cNvSpPr/>
          <p:nvPr/>
        </p:nvSpPr>
        <p:spPr>
          <a:xfrm>
            <a:off x="658368" y="1847088"/>
            <a:ext cx="89510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SIEM">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SIEM"/>
          <p:cNvSpPr txBox="1"/>
          <p:nvPr/>
        </p:nvSpPr>
        <p:spPr>
          <a:xfrm>
            <a:off x="950976" y="1962911"/>
            <a:ext cx="71222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SIEM</a:t>
            </a:r>
          </a:p>
        </p:txBody>
      </p:sp>
      <p:sp>
        <p:nvSpPr>
          <p:cNvPr id="10" name="!!term-NetFlow">
            <a:extLst>
              <a:ext uri="{C183D7F6-B498-43B3-948B-1728B52AA6E4}">
                <adec:decorative xmlns:adec="http://schemas.microsoft.com/office/drawing/2017/decorative" val="1"/>
              </a:ext>
            </a:extLst>
          </p:cNvPr>
          <p:cNvSpPr/>
          <p:nvPr/>
        </p:nvSpPr>
        <p:spPr>
          <a:xfrm>
            <a:off x="1699772" y="1847088"/>
            <a:ext cx="119521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NetFlow">
            <a:extLst>
              <a:ext uri="{C183D7F6-B498-43B3-948B-1728B52AA6E4}">
                <adec:decorative xmlns:adec="http://schemas.microsoft.com/office/drawing/2017/decorative" val="1"/>
              </a:ext>
            </a:extLst>
          </p:cNvPr>
          <p:cNvSpPr/>
          <p:nvPr/>
        </p:nvSpPr>
        <p:spPr>
          <a:xfrm>
            <a:off x="182778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NetFlow"/>
          <p:cNvSpPr txBox="1"/>
          <p:nvPr/>
        </p:nvSpPr>
        <p:spPr>
          <a:xfrm>
            <a:off x="1992380" y="1962911"/>
            <a:ext cx="101233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NetFlow</a:t>
            </a:r>
          </a:p>
        </p:txBody>
      </p:sp>
      <p:sp>
        <p:nvSpPr>
          <p:cNvPr id="13" name="!!term-intrusion dete">
            <a:extLst>
              <a:ext uri="{C183D7F6-B498-43B3-948B-1728B52AA6E4}">
                <adec:decorative xmlns:adec="http://schemas.microsoft.com/office/drawing/2017/decorative" val="1"/>
              </a:ext>
            </a:extLst>
          </p:cNvPr>
          <p:cNvSpPr/>
          <p:nvPr/>
        </p:nvSpPr>
        <p:spPr>
          <a:xfrm>
            <a:off x="3041294" y="1847088"/>
            <a:ext cx="216373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intrusion dete">
            <a:extLst>
              <a:ext uri="{C183D7F6-B498-43B3-948B-1728B52AA6E4}">
                <adec:decorative xmlns:adec="http://schemas.microsoft.com/office/drawing/2017/decorative" val="1"/>
              </a:ext>
            </a:extLst>
          </p:cNvPr>
          <p:cNvSpPr/>
          <p:nvPr/>
        </p:nvSpPr>
        <p:spPr>
          <a:xfrm>
            <a:off x="316931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intrusion dete"/>
          <p:cNvSpPr txBox="1"/>
          <p:nvPr/>
        </p:nvSpPr>
        <p:spPr>
          <a:xfrm>
            <a:off x="3333902" y="1962911"/>
            <a:ext cx="198085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intrusion detection</a:t>
            </a:r>
          </a:p>
        </p:txBody>
      </p:sp>
      <p:sp>
        <p:nvSpPr>
          <p:cNvPr id="16" name="!!term-signature vs a">
            <a:extLst>
              <a:ext uri="{C183D7F6-B498-43B3-948B-1728B52AA6E4}">
                <adec:decorative xmlns:adec="http://schemas.microsoft.com/office/drawing/2017/decorative" val="1"/>
              </a:ext>
            </a:extLst>
          </p:cNvPr>
          <p:cNvSpPr/>
          <p:nvPr/>
        </p:nvSpPr>
        <p:spPr>
          <a:xfrm>
            <a:off x="5351335" y="1847088"/>
            <a:ext cx="329017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signature vs a">
            <a:extLst>
              <a:ext uri="{C183D7F6-B498-43B3-948B-1728B52AA6E4}">
                <adec:decorative xmlns:adec="http://schemas.microsoft.com/office/drawing/2017/decorative" val="1"/>
              </a:ext>
            </a:extLst>
          </p:cNvPr>
          <p:cNvSpPr/>
          <p:nvPr/>
        </p:nvSpPr>
        <p:spPr>
          <a:xfrm>
            <a:off x="547935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signature vs a"/>
          <p:cNvSpPr txBox="1"/>
          <p:nvPr/>
        </p:nvSpPr>
        <p:spPr>
          <a:xfrm>
            <a:off x="5643943" y="1962911"/>
            <a:ext cx="310729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signature vs anomaly detection</a:t>
            </a:r>
          </a:p>
        </p:txBody>
      </p:sp>
      <p:sp>
        <p:nvSpPr>
          <p:cNvPr id="19" name="!!term-UEBA">
            <a:extLst>
              <a:ext uri="{C183D7F6-B498-43B3-948B-1728B52AA6E4}">
                <adec:decorative xmlns:adec="http://schemas.microsoft.com/office/drawing/2017/decorative" val="1"/>
              </a:ext>
            </a:extLst>
          </p:cNvPr>
          <p:cNvSpPr/>
          <p:nvPr/>
        </p:nvSpPr>
        <p:spPr>
          <a:xfrm>
            <a:off x="8787814" y="1847088"/>
            <a:ext cx="93862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UEBA">
            <a:extLst>
              <a:ext uri="{C183D7F6-B498-43B3-948B-1728B52AA6E4}">
                <adec:decorative xmlns:adec="http://schemas.microsoft.com/office/drawing/2017/decorative" val="1"/>
              </a:ext>
            </a:extLst>
          </p:cNvPr>
          <p:cNvSpPr/>
          <p:nvPr/>
        </p:nvSpPr>
        <p:spPr>
          <a:xfrm>
            <a:off x="891583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UEBA"/>
          <p:cNvSpPr txBox="1"/>
          <p:nvPr/>
        </p:nvSpPr>
        <p:spPr>
          <a:xfrm>
            <a:off x="9080422" y="1962911"/>
            <a:ext cx="75574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UEBA</a:t>
            </a:r>
          </a:p>
        </p:txBody>
      </p:sp>
      <p:sp>
        <p:nvSpPr>
          <p:cNvPr id="22" name="!!term-baseline">
            <a:extLst>
              <a:ext uri="{C183D7F6-B498-43B3-948B-1728B52AA6E4}">
                <adec:decorative xmlns:adec="http://schemas.microsoft.com/office/drawing/2017/decorative" val="1"/>
              </a:ext>
            </a:extLst>
          </p:cNvPr>
          <p:cNvSpPr/>
          <p:nvPr/>
        </p:nvSpPr>
        <p:spPr>
          <a:xfrm>
            <a:off x="9872743" y="1847088"/>
            <a:ext cx="118854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baseline">
            <a:extLst>
              <a:ext uri="{C183D7F6-B498-43B3-948B-1728B52AA6E4}">
                <adec:decorative xmlns:adec="http://schemas.microsoft.com/office/drawing/2017/decorative" val="1"/>
              </a:ext>
            </a:extLst>
          </p:cNvPr>
          <p:cNvSpPr/>
          <p:nvPr/>
        </p:nvSpPr>
        <p:spPr>
          <a:xfrm>
            <a:off x="1000075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baseline"/>
          <p:cNvSpPr txBox="1"/>
          <p:nvPr/>
        </p:nvSpPr>
        <p:spPr>
          <a:xfrm>
            <a:off x="10165351" y="1962911"/>
            <a:ext cx="100566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baseline</a:t>
            </a:r>
          </a:p>
        </p:txBody>
      </p:sp>
      <p:sp>
        <p:nvSpPr>
          <p:cNvPr id="25" name="!!term-alert fatigue">
            <a:extLst>
              <a:ext uri="{C183D7F6-B498-43B3-948B-1728B52AA6E4}">
                <adec:decorative xmlns:adec="http://schemas.microsoft.com/office/drawing/2017/decorative" val="1"/>
              </a:ext>
            </a:extLst>
          </p:cNvPr>
          <p:cNvSpPr/>
          <p:nvPr/>
        </p:nvSpPr>
        <p:spPr>
          <a:xfrm>
            <a:off x="658368" y="2468880"/>
            <a:ext cx="154082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alert fatigue">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alert fatigue"/>
          <p:cNvSpPr txBox="1"/>
          <p:nvPr/>
        </p:nvSpPr>
        <p:spPr>
          <a:xfrm>
            <a:off x="950976" y="2584704"/>
            <a:ext cx="135794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alert fatigue</a:t>
            </a:r>
          </a:p>
        </p:txBody>
      </p:sp>
      <p:sp>
        <p:nvSpPr>
          <p:cNvPr id="28" name="!!term-threat intelli">
            <a:extLst>
              <a:ext uri="{C183D7F6-B498-43B3-948B-1728B52AA6E4}">
                <adec:decorative xmlns:adec="http://schemas.microsoft.com/office/drawing/2017/decorative" val="1"/>
              </a:ext>
            </a:extLst>
          </p:cNvPr>
          <p:cNvSpPr/>
          <p:nvPr/>
        </p:nvSpPr>
        <p:spPr>
          <a:xfrm>
            <a:off x="2345493" y="2468880"/>
            <a:ext cx="208804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threat intelli">
            <a:extLst>
              <a:ext uri="{C183D7F6-B498-43B3-948B-1728B52AA6E4}">
                <adec:decorative xmlns:adec="http://schemas.microsoft.com/office/drawing/2017/decorative" val="1"/>
              </a:ext>
            </a:extLst>
          </p:cNvPr>
          <p:cNvSpPr/>
          <p:nvPr/>
        </p:nvSpPr>
        <p:spPr>
          <a:xfrm>
            <a:off x="247350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threat intelli"/>
          <p:cNvSpPr txBox="1"/>
          <p:nvPr/>
        </p:nvSpPr>
        <p:spPr>
          <a:xfrm>
            <a:off x="2638101" y="2584704"/>
            <a:ext cx="190516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threat intelligence</a:t>
            </a:r>
          </a:p>
        </p:txBody>
      </p:sp>
      <p:sp>
        <p:nvSpPr>
          <p:cNvPr id="31" name="!!term-adversarial ma">
            <a:extLst>
              <a:ext uri="{C183D7F6-B498-43B3-948B-1728B52AA6E4}">
                <adec:decorative xmlns:adec="http://schemas.microsoft.com/office/drawing/2017/decorative" val="1"/>
              </a:ext>
            </a:extLst>
          </p:cNvPr>
          <p:cNvSpPr/>
          <p:nvPr/>
        </p:nvSpPr>
        <p:spPr>
          <a:xfrm>
            <a:off x="4579840" y="2468880"/>
            <a:ext cx="304711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adversarial ma">
            <a:extLst>
              <a:ext uri="{C183D7F6-B498-43B3-948B-1728B52AA6E4}">
                <adec:decorative xmlns:adec="http://schemas.microsoft.com/office/drawing/2017/decorative" val="1"/>
              </a:ext>
            </a:extLst>
          </p:cNvPr>
          <p:cNvSpPr/>
          <p:nvPr/>
        </p:nvSpPr>
        <p:spPr>
          <a:xfrm>
            <a:off x="470785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adversarial ma"/>
          <p:cNvSpPr txBox="1"/>
          <p:nvPr/>
        </p:nvSpPr>
        <p:spPr>
          <a:xfrm>
            <a:off x="4872448" y="2584704"/>
            <a:ext cx="286423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adversarial machine learning</a:t>
            </a:r>
          </a:p>
        </p:txBody>
      </p:sp>
      <p:sp>
        <p:nvSpPr>
          <p:cNvPr id="34" name="!!term-evasion">
            <a:extLst>
              <a:ext uri="{C183D7F6-B498-43B3-948B-1728B52AA6E4}">
                <adec:decorative xmlns:adec="http://schemas.microsoft.com/office/drawing/2017/decorative" val="1"/>
              </a:ext>
            </a:extLst>
          </p:cNvPr>
          <p:cNvSpPr/>
          <p:nvPr/>
        </p:nvSpPr>
        <p:spPr>
          <a:xfrm>
            <a:off x="7773263" y="2468880"/>
            <a:ext cx="112883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evasion">
            <a:extLst>
              <a:ext uri="{C183D7F6-B498-43B3-948B-1728B52AA6E4}">
                <adec:decorative xmlns:adec="http://schemas.microsoft.com/office/drawing/2017/decorative" val="1"/>
              </a:ext>
            </a:extLst>
          </p:cNvPr>
          <p:cNvSpPr/>
          <p:nvPr/>
        </p:nvSpPr>
        <p:spPr>
          <a:xfrm>
            <a:off x="790127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evasion"/>
          <p:cNvSpPr txBox="1"/>
          <p:nvPr/>
        </p:nvSpPr>
        <p:spPr>
          <a:xfrm>
            <a:off x="8065871" y="2584704"/>
            <a:ext cx="94595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evasion</a:t>
            </a:r>
          </a:p>
        </p:txBody>
      </p:sp>
      <p:sp>
        <p:nvSpPr>
          <p:cNvPr id="37" name="!!term-poisoning">
            <a:extLst>
              <a:ext uri="{C183D7F6-B498-43B3-948B-1728B52AA6E4}">
                <adec:decorative xmlns:adec="http://schemas.microsoft.com/office/drawing/2017/decorative" val="1"/>
              </a:ext>
            </a:extLst>
          </p:cNvPr>
          <p:cNvSpPr/>
          <p:nvPr/>
        </p:nvSpPr>
        <p:spPr>
          <a:xfrm>
            <a:off x="9048403" y="2468880"/>
            <a:ext cx="134859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poisoning">
            <a:extLst>
              <a:ext uri="{C183D7F6-B498-43B3-948B-1728B52AA6E4}">
                <adec:decorative xmlns:adec="http://schemas.microsoft.com/office/drawing/2017/decorative" val="1"/>
              </a:ext>
            </a:extLst>
          </p:cNvPr>
          <p:cNvSpPr/>
          <p:nvPr/>
        </p:nvSpPr>
        <p:spPr>
          <a:xfrm>
            <a:off x="917641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poisoning"/>
          <p:cNvSpPr txBox="1"/>
          <p:nvPr/>
        </p:nvSpPr>
        <p:spPr>
          <a:xfrm>
            <a:off x="9341011" y="2584704"/>
            <a:ext cx="116571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poisoning</a:t>
            </a:r>
          </a:p>
        </p:txBody>
      </p:sp>
      <p:sp>
        <p:nvSpPr>
          <p:cNvPr id="40" name="!!term-model extracti">
            <a:extLst>
              <a:ext uri="{C183D7F6-B498-43B3-948B-1728B52AA6E4}">
                <adec:decorative xmlns:adec="http://schemas.microsoft.com/office/drawing/2017/decorative" val="1"/>
              </a:ext>
            </a:extLst>
          </p:cNvPr>
          <p:cNvSpPr/>
          <p:nvPr/>
        </p:nvSpPr>
        <p:spPr>
          <a:xfrm>
            <a:off x="658368" y="3090672"/>
            <a:ext cx="198261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model extracti">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model extracti"/>
          <p:cNvSpPr txBox="1"/>
          <p:nvPr/>
        </p:nvSpPr>
        <p:spPr>
          <a:xfrm>
            <a:off x="950976" y="3206496"/>
            <a:ext cx="179973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model extraction</a:t>
            </a:r>
          </a:p>
        </p:txBody>
      </p:sp>
      <p:sp>
        <p:nvSpPr>
          <p:cNvPr id="43" name="!!term-membership inf">
            <a:extLst>
              <a:ext uri="{C183D7F6-B498-43B3-948B-1728B52AA6E4}">
                <adec:decorative xmlns:adec="http://schemas.microsoft.com/office/drawing/2017/decorative" val="1"/>
              </a:ext>
            </a:extLst>
          </p:cNvPr>
          <p:cNvSpPr/>
          <p:nvPr/>
        </p:nvSpPr>
        <p:spPr>
          <a:xfrm>
            <a:off x="2787286" y="3090672"/>
            <a:ext cx="248334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membership inf">
            <a:extLst>
              <a:ext uri="{C183D7F6-B498-43B3-948B-1728B52AA6E4}">
                <adec:decorative xmlns:adec="http://schemas.microsoft.com/office/drawing/2017/decorative" val="1"/>
              </a:ext>
            </a:extLst>
          </p:cNvPr>
          <p:cNvSpPr/>
          <p:nvPr/>
        </p:nvSpPr>
        <p:spPr>
          <a:xfrm>
            <a:off x="2915302"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membership inf"/>
          <p:cNvSpPr txBox="1"/>
          <p:nvPr/>
        </p:nvSpPr>
        <p:spPr>
          <a:xfrm>
            <a:off x="3079894" y="3206496"/>
            <a:ext cx="230046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membership inference</a:t>
            </a:r>
          </a:p>
        </p:txBody>
      </p:sp>
      <p:sp>
        <p:nvSpPr>
          <p:cNvPr id="46" name="!!term-defence in dep">
            <a:extLst>
              <a:ext uri="{C183D7F6-B498-43B3-948B-1728B52AA6E4}">
                <adec:decorative xmlns:adec="http://schemas.microsoft.com/office/drawing/2017/decorative" val="1"/>
              </a:ext>
            </a:extLst>
          </p:cNvPr>
          <p:cNvSpPr/>
          <p:nvPr/>
        </p:nvSpPr>
        <p:spPr>
          <a:xfrm>
            <a:off x="5416934" y="3090672"/>
            <a:ext cx="198510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defence in dep">
            <a:extLst>
              <a:ext uri="{C183D7F6-B498-43B3-948B-1728B52AA6E4}">
                <adec:decorative xmlns:adec="http://schemas.microsoft.com/office/drawing/2017/decorative" val="1"/>
              </a:ext>
            </a:extLst>
          </p:cNvPr>
          <p:cNvSpPr/>
          <p:nvPr/>
        </p:nvSpPr>
        <p:spPr>
          <a:xfrm>
            <a:off x="554495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defence in dep"/>
          <p:cNvSpPr txBox="1"/>
          <p:nvPr/>
        </p:nvSpPr>
        <p:spPr>
          <a:xfrm>
            <a:off x="5709542" y="3206496"/>
            <a:ext cx="180222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defence in depth</a:t>
            </a:r>
          </a:p>
        </p:txBody>
      </p:sp>
      <p:sp>
        <p:nvSpPr>
          <p:cNvPr id="49"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pfill">
            <a:extLst>
              <a:ext uri="{C183D7F6-B498-43B3-948B-1728B52AA6E4}">
                <adec:decorative xmlns:adec="http://schemas.microsoft.com/office/drawing/2017/decorative" val="1"/>
              </a:ext>
            </a:extLst>
          </p:cNvPr>
          <p:cNvSpPr/>
          <p:nvPr/>
        </p:nvSpPr>
        <p:spPr>
          <a:xfrm>
            <a:off x="0" y="0"/>
            <a:ext cx="108370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168–174     </a:t>
            </a:r>
            <a:fld id="{A162E2E2-874D-4F4D-9016-2F4773A5D7DA}" type="slidenum">
              <a:rPr lang="en-GB" sz="1000">
                <a:solidFill>
                  <a:srgbClr val="8795A1"/>
                </a:solidFill>
                <a:latin typeface="Segoe UI"/>
              </a:rPr>
              <a:t>5</a:t>
            </a:fld>
          </a:p>
        </p:txBody>
      </p:sp>
      <p:sp>
        <p:nvSpPr>
          <p:cNvPr id="7" name="!!ag0" descr="Go to section 26.1 What Makes This Domain Different">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26.1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Makes This Domain Different</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168  ›</a:t>
            </a:r>
          </a:p>
        </p:txBody>
      </p:sp>
      <p:sp>
        <p:nvSpPr>
          <p:cNvPr id="12" name="!!ag1" descr="Go to section 26.2 Security Data Source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26.2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Security Data Sources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168  ›</a:t>
            </a:r>
          </a:p>
        </p:txBody>
      </p:sp>
      <p:sp>
        <p:nvSpPr>
          <p:cNvPr id="17" name="!!ag2" descr="Go to section 26.3 The Alert Fatigue Problem">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26.3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Alert Fatigue Problem</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169  ›</a:t>
            </a:r>
          </a:p>
        </p:txBody>
      </p:sp>
      <p:sp>
        <p:nvSpPr>
          <p:cNvPr id="22" name="!!ag3" descr="Go to section 26.4 Four Detection Problems">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26.4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Four Detection Problems</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170  ›</a:t>
            </a:r>
          </a:p>
        </p:txBody>
      </p:sp>
      <p:sp>
        <p:nvSpPr>
          <p:cNvPr id="27" name="!!ag4" descr="Go to section 26.5 Attacking the Model Itself">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26.5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Attacking the Model Itself</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171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35463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Assumption That Fails Here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§26.1  ·  Handout p. 168     </a:t>
            </a:r>
            <a:fld id="{C7F6D9B0-DBE2-4AEB-9E19-27D6B5FAFC51}" type="slidenum">
              <a:rPr lang="en-GB" sz="1000">
                <a:solidFill>
                  <a:srgbClr val="8795A1"/>
                </a:solidFill>
                <a:latin typeface="Segoe UI"/>
              </a:rPr>
              <a:t>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Every method in Part III assumes the data is generated by a process that does not care what your model does. In security that assumption is false. There is a human adversary who will observe your defence, work out its boundary and step around it. This changes the discipline: a security model is not fitted once and monitored — it is </a:t>
            </a:r>
            <a:r>
              <a:rPr sz="2300" b="0" i="1">
                <a:solidFill>
                  <a:srgbClr val="1C252B"/>
                </a:solidFill>
                <a:latin typeface="Segoe UI"/>
              </a:rPr>
              <a:t>contested continuously</a:t>
            </a:r>
            <a:r>
              <a:rPr sz="2300" b="0" i="0">
                <a:solidFill>
                  <a:srgbClr val="1C252B"/>
                </a:solidFill>
                <a:latin typeface="Segoe UI"/>
              </a:rPr>
              <a:t>. Nothing else in this book faces that.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162555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Security Data Sources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26.2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26.1   What Makes This Domain Different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26.2   Security Data Sources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26.3   The Alert Fatigue Problem</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26.4   Four Detection Problems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26.5   Attacking the Model Itself</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§26.2     </a:t>
            </a:r>
            <a:fld id="{43320C4E-4DD4-406F-9BE5-FEDB6CF2CD61}" type="slidenum">
              <a:rPr lang="en-GB" sz="1000">
                <a:solidFill>
                  <a:srgbClr val="8795A1"/>
                </a:solidFill>
                <a:latin typeface="Segoe UI"/>
              </a:rPr>
              <a:t>7</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89648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Security Data Sources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§26.2  ·  Handout p. 168     </a:t>
            </a:r>
            <a:fld id="{BDCFC1CE-FD46-4589-A530-A78A100F3C48}" type="slidenum">
              <a:rPr lang="en-GB" sz="1000">
                <a:solidFill>
                  <a:srgbClr val="8795A1"/>
                </a:solidFill>
                <a:latin typeface="Segoe UI"/>
              </a:rPr>
              <a:t>8</a:t>
            </a:fld>
          </a:p>
        </p:txBody>
      </p:sp>
      <p:graphicFrame>
        <p:nvGraphicFramePr>
          <p:cNvPr id="7" name="!!table"/>
          <p:cNvGraphicFramePr>
            <a:graphicFrameLocks noGrp="1"/>
          </p:cNvGraphicFramePr>
          <p:nvPr/>
        </p:nvGraphicFramePr>
        <p:xfrm>
          <a:off x="658368" y="1737360"/>
          <a:ext cx="10874958" cy="4370832"/>
        </p:xfrm>
        <a:graphic>
          <a:graphicData uri="http://schemas.openxmlformats.org/drawingml/2006/table">
            <a:tbl>
              <a:tblPr firstRow="0" bandRow="0" firstCol="0" lastRow="0" lastCol="0" bandCol="0">
                <a:tableStyleId>{2D5ABB26-0587-4C30-8999-92F81FD0307C}</a:tableStyleId>
              </a:tblPr>
              <a:tblGrid>
                <a:gridCol w="2220942"/>
                <a:gridCol w="3522874"/>
                <a:gridCol w="5131142"/>
              </a:tblGrid>
              <a:tr h="374904">
                <a:tc>
                  <a:txBody>
                    <a:bodyPr wrap="square"/>
                    <a:lstStyle/>
                    <a:p>
                      <a:pPr algn="l"/>
                      <a:r>
                        <a:rPr sz="1500" b="1" i="0">
                          <a:solidFill>
                            <a:srgbClr val="1A5276"/>
                          </a:solidFill>
                          <a:latin typeface="Segoe UI"/>
                        </a:rPr>
                        <a:t>Source</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Contains</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Blind spot you must know about</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03504">
                <a:tc>
                  <a:txBody>
                    <a:bodyPr wrap="square"/>
                    <a:lstStyle/>
                    <a:p>
                      <a:pPr algn="l"/>
                      <a:r>
                        <a:rPr sz="1500" b="0" i="0">
                          <a:solidFill>
                            <a:srgbClr val="1C252B"/>
                          </a:solidFill>
                          <a:latin typeface="Segoe UI"/>
                        </a:rPr>
                        <a:t>Authentication logs</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Who logged in, from where, success or failure</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Says nothing about what they did afterwards</a:t>
                      </a:r>
                      <a:endParaRPr sz="1500"/>
                    </a:p>
                  </a:txBody>
                  <a:tcPr marL="109728" marR="109728" marT="64008" marB="45720" anchor="t">
                    <a:lnL w="0" cmpd="sng">
                      <a:noFill/>
                    </a:lnL>
                    <a:lnR w="0" cmpd="sng">
                      <a:noFill/>
                    </a:lnR>
                    <a:lnT w="9525" cmpd="sng">
                      <a:noFill/>
                    </a:lnT>
                    <a:lnB w="9525" cmpd="sng">
                      <a:noFill/>
                    </a:lnB>
                    <a:solidFill>
                      <a:srgbClr val="FFFFFF"/>
                    </a:solidFill>
                  </a:tcPr>
                </a:tc>
              </a:tr>
              <a:tr h="603504">
                <a:tc>
                  <a:txBody>
                    <a:bodyPr wrap="square"/>
                    <a:lstStyle/>
                    <a:p>
                      <a:pPr algn="l"/>
                      <a:r>
                        <a:rPr sz="1500" b="0" i="0">
                          <a:solidFill>
                            <a:srgbClr val="1C252B"/>
                          </a:solidFill>
                          <a:latin typeface="Segoe UI"/>
                        </a:rPr>
                        <a:t>NetFlow / traffic metadata</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Who talked to whom, how much, for how long</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No payload; encrypted traffic looks identical to benign</a:t>
                      </a:r>
                      <a:endParaRPr sz="1500"/>
                    </a:p>
                  </a:txBody>
                  <a:tcPr marL="109728" marR="109728" marT="64008" marB="45720" anchor="t">
                    <a:lnL w="0" cmpd="sng">
                      <a:noFill/>
                    </a:lnL>
                    <a:lnR w="0" cmpd="sng">
                      <a:noFill/>
                    </a:lnR>
                    <a:lnT w="9525" cmpd="sng">
                      <a:noFill/>
                    </a:lnT>
                    <a:lnB w="9525" cmpd="sng">
                      <a:noFill/>
                    </a:lnB>
                    <a:solidFill>
                      <a:srgbClr val="F2F8FC"/>
                    </a:solidFill>
                  </a:tcPr>
                </a:tc>
              </a:tr>
              <a:tr h="603504">
                <a:tc>
                  <a:txBody>
                    <a:bodyPr wrap="square"/>
                    <a:lstStyle/>
                    <a:p>
                      <a:pPr algn="l"/>
                      <a:r>
                        <a:rPr sz="1500" b="0" i="0">
                          <a:solidFill>
                            <a:srgbClr val="1C252B"/>
                          </a:solidFill>
                          <a:latin typeface="Segoe UI"/>
                        </a:rPr>
                        <a:t>Endpoint (EDR)</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Processes, files, registry, command lines</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Only on hosts with an agent installed — rarely all of them</a:t>
                      </a:r>
                      <a:endParaRPr sz="1500"/>
                    </a:p>
                  </a:txBody>
                  <a:tcPr marL="109728" marR="109728" marT="64008" marB="45720" anchor="t">
                    <a:lnL w="0" cmpd="sng">
                      <a:noFill/>
                    </a:lnL>
                    <a:lnR w="0" cmpd="sng">
                      <a:noFill/>
                    </a:lnR>
                    <a:lnT w="9525" cmpd="sng">
                      <a:noFill/>
                    </a:lnT>
                    <a:lnB w="9525" cmpd="sng">
                      <a:noFill/>
                    </a:lnB>
                    <a:solidFill>
                      <a:srgbClr val="FFFFFF"/>
                    </a:solidFill>
                  </a:tcPr>
                </a:tc>
              </a:tr>
              <a:tr h="374904">
                <a:tc>
                  <a:txBody>
                    <a:bodyPr wrap="square"/>
                    <a:lstStyle/>
                    <a:p>
                      <a:pPr algn="l"/>
                      <a:r>
                        <a:rPr sz="1500" b="0" i="0">
                          <a:solidFill>
                            <a:srgbClr val="1C252B"/>
                          </a:solidFill>
                          <a:latin typeface="Segoe UI"/>
                        </a:rPr>
                        <a:t>DNS logs</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Every name resolved</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Very high volume; heavy encoding of exfiltration</a:t>
                      </a:r>
                      <a:endParaRPr sz="1500"/>
                    </a:p>
                  </a:txBody>
                  <a:tcPr marL="109728" marR="109728" marT="64008" marB="45720" anchor="t">
                    <a:lnL w="0" cmpd="sng">
                      <a:noFill/>
                    </a:lnL>
                    <a:lnR w="0" cmpd="sng">
                      <a:noFill/>
                    </a:lnR>
                    <a:lnT w="9525" cmpd="sng">
                      <a:noFill/>
                    </a:lnT>
                    <a:lnB w="9525" cmpd="sng">
                      <a:noFill/>
                    </a:lnB>
                    <a:solidFill>
                      <a:srgbClr val="F2F8FC"/>
                    </a:solidFill>
                  </a:tcPr>
                </a:tc>
              </a:tr>
              <a:tr h="603504">
                <a:tc>
                  <a:txBody>
                    <a:bodyPr wrap="square"/>
                    <a:lstStyle/>
                    <a:p>
                      <a:pPr algn="l"/>
                      <a:r>
                        <a:rPr sz="1500" b="0" i="0">
                          <a:solidFill>
                            <a:srgbClr val="1C252B"/>
                          </a:solidFill>
                          <a:latin typeface="Segoe UI"/>
                        </a:rPr>
                        <a:t>Firewall / proxy</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Allowed and blocked connections</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Only what traverses the boundary; lateral movement is invisible</a:t>
                      </a:r>
                      <a:endParaRPr sz="1500"/>
                    </a:p>
                  </a:txBody>
                  <a:tcPr marL="109728" marR="109728" marT="64008" marB="45720" anchor="t">
                    <a:lnL w="0" cmpd="sng">
                      <a:noFill/>
                    </a:lnL>
                    <a:lnR w="0" cmpd="sng">
                      <a:noFill/>
                    </a:lnR>
                    <a:lnT w="9525" cmpd="sng">
                      <a:noFill/>
                    </a:lnT>
                    <a:lnB w="9525" cmpd="sng">
                      <a:noFill/>
                    </a:lnB>
                    <a:solidFill>
                      <a:srgbClr val="FFFFFF"/>
                    </a:solidFill>
                  </a:tcPr>
                </a:tc>
              </a:tr>
              <a:tr h="603504">
                <a:tc>
                  <a:txBody>
                    <a:bodyPr wrap="square"/>
                    <a:lstStyle/>
                    <a:p>
                      <a:pPr algn="l"/>
                      <a:r>
                        <a:rPr sz="1500" b="0" i="0">
                          <a:solidFill>
                            <a:srgbClr val="1C252B"/>
                          </a:solidFill>
                          <a:latin typeface="Segoe UI"/>
                        </a:rPr>
                        <a:t>Application logs</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Business-level actions</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Format varies per app; often the first thing an attacker disables</a:t>
                      </a:r>
                      <a:endParaRPr sz="1500"/>
                    </a:p>
                  </a:txBody>
                  <a:tcPr marL="109728" marR="109728" marT="64008" marB="45720" anchor="t">
                    <a:lnL w="0" cmpd="sng">
                      <a:noFill/>
                    </a:lnL>
                    <a:lnR w="0" cmpd="sng">
                      <a:noFill/>
                    </a:lnR>
                    <a:lnT w="9525" cmpd="sng">
                      <a:noFill/>
                    </a:lnT>
                    <a:lnB w="9525" cmpd="sng">
                      <a:noFill/>
                    </a:lnB>
                    <a:solidFill>
                      <a:srgbClr val="F2F8FC"/>
                    </a:solidFill>
                  </a:tcPr>
                </a:tc>
              </a:tr>
              <a:tr h="603504">
                <a:tc>
                  <a:txBody>
                    <a:bodyPr wrap="square"/>
                    <a:lstStyle/>
                    <a:p>
                      <a:pPr algn="l"/>
                      <a:r>
                        <a:rPr sz="1500" b="0" i="0">
                          <a:solidFill>
                            <a:srgbClr val="1C252B"/>
                          </a:solidFill>
                          <a:latin typeface="Segoe UI"/>
                        </a:rPr>
                        <a:t>Threat intelligence</a:t>
                      </a:r>
                      <a:endParaRPr sz="15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500" b="0" i="0">
                          <a:solidFill>
                            <a:srgbClr val="1C252B"/>
                          </a:solidFill>
                          <a:latin typeface="Segoe UI"/>
                        </a:rPr>
                        <a:t>Known-bad indicators</a:t>
                      </a:r>
                      <a:endParaRPr sz="15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500" b="0" i="0">
                          <a:solidFill>
                            <a:srgbClr val="1C252B"/>
                          </a:solidFill>
                          <a:latin typeface="Segoe UI"/>
                        </a:rPr>
                        <a:t>Only covers what someone has already seen and published</a:t>
                      </a:r>
                      <a:endParaRPr sz="15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216741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Signature versus Anomaly Detection</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§26.2  ·  Handout p. 168     </a:t>
            </a:r>
            <a:fld id="{D289C9A9-26EB-43EE-B4FF-1A56C2AA6CB5}"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Signature</a:t>
            </a:r>
            <a:r>
              <a:rPr sz="2300" b="0" i="0">
                <a:solidFill>
                  <a:srgbClr val="1C252B"/>
                </a:solidFill>
                <a:latin typeface="Segoe UI"/>
              </a:rPr>
              <a:t> detection matches known-bad patterns: precise, fast, explainable, and structurally incapable of catching anything new. </a:t>
            </a:r>
            <a:r>
              <a:rPr sz="2300" b="1" i="0">
                <a:solidFill>
                  <a:srgbClr val="1A5276"/>
                </a:solidFill>
                <a:latin typeface="Segoe UI"/>
              </a:rPr>
              <a:t>Anomaly</a:t>
            </a:r>
            <a:r>
              <a:rPr sz="2300" b="0" i="0">
                <a:solidFill>
                  <a:srgbClr val="1C252B"/>
                </a:solidFill>
                <a:latin typeface="Segoe UI"/>
              </a:rPr>
              <a:t> detection flags deviation from normal: can catch novel attacks, and generates far more false positives. Real systems run both — signatures handle the known volume cheaply so that analysts’ attention is available for the anomalies.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Alert Fatigue Problem</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26.3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26.1   What Makes This Domain Different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26.2   Security Data Sources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26.3   The Alert Fatigue Problem</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26.4   Four Detection Problems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26.5   Attacking the Model Itself</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§26.3     </a:t>
            </a:r>
            <a:fld id="{4DD9B6BD-A559-4A9D-8751-948392FFAD61}" type="slidenum">
              <a:rPr lang="en-GB" sz="1000">
                <a:solidFill>
                  <a:srgbClr val="8795A1"/>
                </a:solidFill>
                <a:latin typeface="Segoe UI"/>
              </a:rPr>
              <a:t>10</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70926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Sizing a SOC’s Alert Budget</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§26.3  ·  Handout p. 169     </a:t>
            </a:r>
            <a:fld id="{0B5E41DF-B930-4FD9-B482-E0187FDB7949}"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44289"/>
          </a:xfrm>
          <a:prstGeom prst="roundRect">
            <a:avLst>
              <a:gd name="adj" fmla="val 210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4428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An organisation processes 2 million authentication events daily. Roughly 20 are genuinely malicious (</a:t>
            </a:r>
            <a:r>
              <a:rPr sz="1900" b="0" i="0">
                <a:solidFill>
                  <a:srgbClr val="1C252B"/>
                </a:solidFill>
                <a:latin typeface="Cambria"/>
              </a:rPr>
              <a:t>10</a:t>
            </a:r>
            <a:r>
              <a:rPr sz="1900" b="0" i="0" baseline="30000">
                <a:solidFill>
                  <a:srgbClr val="1C252B"/>
                </a:solidFill>
                <a:latin typeface="Cambria"/>
              </a:rPr>
              <a:t>−5</a:t>
            </a:r>
            <a:r>
              <a:rPr sz="1900" b="0" i="0">
                <a:solidFill>
                  <a:srgbClr val="1C252B"/>
                </a:solidFill>
                <a:latin typeface="Segoe UI"/>
              </a:rPr>
              <a:t> base rate). Three analysts each investigate about 40 alerts a day, so the </a:t>
            </a:r>
            <a:r>
              <a:rPr sz="1900" b="1" i="0">
                <a:solidFill>
                  <a:srgbClr val="1C252B"/>
                </a:solidFill>
                <a:latin typeface="Segoe UI"/>
              </a:rPr>
              <a:t>sustainable budget is 120 alerts/day</a:t>
            </a:r>
            <a:r>
              <a:rPr sz="1900" b="0" i="0">
                <a:solidFill>
                  <a:srgbClr val="1C252B"/>
                </a:solidFill>
                <a:latin typeface="Segoe UI"/>
              </a:rPr>
              <a:t>.</a:t>
            </a:r>
          </a:p>
        </p:txBody>
      </p:sp>
      <p:sp>
        <p:nvSpPr>
          <p:cNvPr id="10" name="body-1"/>
          <p:cNvSpPr txBox="1"/>
          <p:nvPr/>
        </p:nvSpPr>
        <p:spPr>
          <a:xfrm>
            <a:off x="1042416" y="304782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Detector A — 95% recall, 0.1% false-positive rate.</a:t>
            </a:r>
          </a:p>
        </p:txBody>
      </p:sp>
      <p:sp>
        <p:nvSpPr>
          <p:cNvPr id="11" name="body-2"/>
          <p:cNvSpPr txBox="1"/>
          <p:nvPr/>
        </p:nvSpPr>
        <p:spPr>
          <a:xfrm>
            <a:off x="1042416" y="3481679"/>
            <a:ext cx="10234879" cy="1503654"/>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True positives: </a:t>
            </a:r>
            <a:r>
              <a:rPr sz="1900" b="0" i="0">
                <a:solidFill>
                  <a:srgbClr val="1C252B"/>
                </a:solidFill>
                <a:latin typeface="Cambria"/>
              </a:rPr>
              <a:t>20 × 0.95 = 19</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False positives: </a:t>
            </a:r>
            <a:r>
              <a:rPr sz="1900" b="0" i="0">
                <a:solidFill>
                  <a:srgbClr val="1C252B"/>
                </a:solidFill>
                <a:latin typeface="Cambria"/>
              </a:rPr>
              <a:t>1,999,980 × 0.001 = 2,000</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Alerts/day: </a:t>
            </a:r>
            <a:r>
              <a:rPr sz="1900" b="0" i="0">
                <a:solidFill>
                  <a:srgbClr val="1C252B"/>
                </a:solidFill>
                <a:latin typeface="Cambria"/>
              </a:rPr>
              <a:t>2,019</a:t>
            </a:r>
            <a:r>
              <a:rPr sz="1900" b="0" i="0">
                <a:solidFill>
                  <a:srgbClr val="1C252B"/>
                </a:solidFill>
                <a:latin typeface="Segoe UI"/>
              </a:rPr>
              <a:t> — </a:t>
            </a:r>
            <a:r>
              <a:rPr sz="1900" b="1" i="0">
                <a:solidFill>
                  <a:srgbClr val="1C252B"/>
                </a:solidFill>
                <a:latin typeface="Segoe UI"/>
              </a:rPr>
              <a:t>17</a:t>
            </a:r>
            <a:r>
              <a:rPr sz="1900" b="1" i="0">
                <a:solidFill>
                  <a:srgbClr val="1C252B"/>
                </a:solidFill>
                <a:latin typeface="Cambria"/>
              </a:rPr>
              <a:t>×</a:t>
            </a:r>
            <a:r>
              <a:rPr sz="1900" b="1" i="0">
                <a:solidFill>
                  <a:srgbClr val="1C252B"/>
                </a:solidFill>
                <a:latin typeface="Segoe UI"/>
              </a:rPr>
              <a:t> over budget</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Precision: </a:t>
            </a:r>
            <a:r>
              <a:rPr sz="1900" b="0" i="0">
                <a:solidFill>
                  <a:srgbClr val="1C252B"/>
                </a:solidFill>
                <a:latin typeface="Cambria"/>
              </a:rPr>
              <a:t>19/2019 = 0.9%</a:t>
            </a:r>
          </a:p>
        </p:txBody>
      </p:sp>
      <p:sp>
        <p:nvSpPr>
          <p:cNvPr id="12" name="body-3"/>
          <p:cNvSpPr txBox="1"/>
          <p:nvPr/>
        </p:nvSpPr>
        <p:spPr>
          <a:xfrm>
            <a:off x="1042416" y="507232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Unworkable. Within two weeks analysts triage by gut feel and the tool is effectively off.</a:t>
            </a:r>
          </a:p>
        </p:txBody>
      </p:sp>
      <p:sp>
        <p:nvSpPr>
          <p:cNvPr id="13" name="body-4"/>
          <p:cNvSpPr txBox="1"/>
          <p:nvPr/>
        </p:nvSpPr>
        <p:spPr>
          <a:xfrm>
            <a:off x="1042416" y="5506186"/>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Detector B — 70% recall, 0.005% false-positive rate.</a:t>
            </a:r>
          </a:p>
        </p:txBody>
      </p:sp>
      <p:sp>
        <p:nvSpPr>
          <p:cNvPr id="14" name="body-4bar">
            <a:extLst>
              <a:ext uri="{C183D7F6-B498-43B3-948B-1728B52AA6E4}">
                <adec:decorative xmlns:adec="http://schemas.microsoft.com/office/drawing/2017/decorative" val="1"/>
              </a:ext>
            </a:extLst>
          </p:cNvPr>
          <p:cNvSpPr/>
          <p:nvPr/>
        </p:nvSpPr>
        <p:spPr>
          <a:xfrm>
            <a:off x="841248" y="5524474"/>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pfill">
            <a:extLst>
              <a:ext uri="{C183D7F6-B498-43B3-948B-1728B52AA6E4}">
                <adec:decorative xmlns:adec="http://schemas.microsoft.com/office/drawing/2017/decorative" val="1"/>
              </a:ext>
            </a:extLst>
          </p:cNvPr>
          <p:cNvSpPr/>
          <p:nvPr/>
        </p:nvSpPr>
        <p:spPr>
          <a:xfrm>
            <a:off x="0" y="0"/>
            <a:ext cx="298019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350"/>
                                        <p:tgtEl>
                                          <p:spTgt spid="1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Effect transition="in" filter="fade">
                                      <p:cBhvr>
                                        <p:cTn id="18" dur="350"/>
                                        <p:tgtEl>
                                          <p:spTgt spid="1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xEl>
                                              <p:pRg st="2" end="2"/>
                                            </p:txEl>
                                          </p:spTgt>
                                        </p:tgtEl>
                                        <p:attrNameLst>
                                          <p:attrName>style.visibility</p:attrName>
                                        </p:attrNameLst>
                                      </p:cBhvr>
                                      <p:to>
                                        <p:strVal val="visible"/>
                                      </p:to>
                                    </p:set>
                                    <p:animEffect transition="in" filter="fade">
                                      <p:cBhvr>
                                        <p:cTn id="23" dur="350"/>
                                        <p:tgtEl>
                                          <p:spTgt spid="11">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xEl>
                                              <p:pRg st="3" end="3"/>
                                            </p:txEl>
                                          </p:spTgt>
                                        </p:tgtEl>
                                        <p:attrNameLst>
                                          <p:attrName>style.visibility</p:attrName>
                                        </p:attrNameLst>
                                      </p:cBhvr>
                                      <p:to>
                                        <p:strVal val="visible"/>
                                      </p:to>
                                    </p:set>
                                    <p:animEffect transition="in" filter="fade">
                                      <p:cBhvr>
                                        <p:cTn id="28" dur="350"/>
                                        <p:tgtEl>
                                          <p:spTgt spid="11">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right)">
                                      <p:cBhvr>
                                        <p:cTn id="33" dur="42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ipe(right)">
                                      <p:cBhvr>
                                        <p:cTn id="38" dur="42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Sizing a SOC’s Alert Budget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§26.3  ·  Handout p. 169     </a:t>
            </a:r>
            <a:fld id="{1DF849FF-F6D2-490D-88B4-62B2FA92A597}"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80001"/>
          </a:xfrm>
          <a:prstGeom prst="roundRect">
            <a:avLst>
              <a:gd name="adj" fmla="val 208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8000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503654"/>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True positives: </a:t>
            </a:r>
            <a:r>
              <a:rPr sz="1900" b="0" i="0">
                <a:solidFill>
                  <a:srgbClr val="1C252B"/>
                </a:solidFill>
                <a:latin typeface="Cambria"/>
              </a:rPr>
              <a:t>14</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False positives: </a:t>
            </a:r>
            <a:r>
              <a:rPr sz="1900" b="0" i="0">
                <a:solidFill>
                  <a:srgbClr val="1C252B"/>
                </a:solidFill>
                <a:latin typeface="Cambria"/>
              </a:rPr>
              <a:t>1,999,986 × 0.00005 = 100</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Alerts/day: </a:t>
            </a:r>
            <a:r>
              <a:rPr sz="1900" b="0" i="0">
                <a:solidFill>
                  <a:srgbClr val="1C252B"/>
                </a:solidFill>
                <a:latin typeface="Cambria"/>
              </a:rPr>
              <a:t>114</a:t>
            </a:r>
            <a:r>
              <a:rPr sz="1900" b="0" i="0">
                <a:solidFill>
                  <a:srgbClr val="1C252B"/>
                </a:solidFill>
                <a:latin typeface="Segoe UI"/>
              </a:rPr>
              <a:t> — </a:t>
            </a:r>
            <a:r>
              <a:rPr sz="1900" b="1" i="0">
                <a:solidFill>
                  <a:srgbClr val="1C252B"/>
                </a:solidFill>
                <a:latin typeface="Segoe UI"/>
              </a:rPr>
              <a:t>within budget</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Precision: </a:t>
            </a:r>
            <a:r>
              <a:rPr sz="1900" b="0" i="0">
                <a:solidFill>
                  <a:srgbClr val="1C252B"/>
                </a:solidFill>
                <a:latin typeface="Cambria"/>
              </a:rPr>
              <a:t>14/114 = 12.3%</a:t>
            </a:r>
          </a:p>
        </p:txBody>
      </p:sp>
      <p:sp>
        <p:nvSpPr>
          <p:cNvPr id="10" name="body-1"/>
          <p:cNvSpPr txBox="1"/>
          <p:nvPr/>
        </p:nvSpPr>
        <p:spPr>
          <a:xfrm>
            <a:off x="1042416" y="360232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B is the better detector</a:t>
            </a:r>
            <a:r>
              <a:rPr sz="1900" b="0" i="0">
                <a:solidFill>
                  <a:srgbClr val="1C252B"/>
                </a:solidFill>
                <a:latin typeface="Segoe UI"/>
              </a:rPr>
              <a:t> despite catching five fewer real attacks in theory, because A’s alerts will not actually be investigated. The realistic comparison is 14 attacks investigated versus perhaps 3 — whichever of A’s 2,019 alerts happen to get looked at.</a:t>
            </a:r>
          </a:p>
        </p:txBody>
      </p:sp>
      <p:sp>
        <p:nvSpPr>
          <p:cNvPr id="11" name="body-1bar">
            <a:extLst>
              <a:ext uri="{C183D7F6-B498-43B3-948B-1728B52AA6E4}">
                <adec:decorative xmlns:adec="http://schemas.microsoft.com/office/drawing/2017/decorative" val="1"/>
              </a:ext>
            </a:extLst>
          </p:cNvPr>
          <p:cNvSpPr/>
          <p:nvPr/>
        </p:nvSpPr>
        <p:spPr>
          <a:xfrm>
            <a:off x="841248" y="362061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body-2"/>
          <p:cNvSpPr txBox="1"/>
          <p:nvPr/>
        </p:nvSpPr>
        <p:spPr>
          <a:xfrm>
            <a:off x="1042416" y="4638471"/>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design rule:</a:t>
            </a:r>
            <a:r>
              <a:rPr sz="1900" b="0" i="0">
                <a:solidFill>
                  <a:srgbClr val="1C252B"/>
                </a:solidFill>
                <a:latin typeface="Segoe UI"/>
              </a:rPr>
              <a:t> </a:t>
            </a:r>
            <a:r>
              <a:rPr sz="1900" b="0" i="1">
                <a:solidFill>
                  <a:srgbClr val="1C252B"/>
                </a:solidFill>
                <a:latin typeface="Segoe UI"/>
              </a:rPr>
              <a:t>start from the analyst capacity and work backwards to the required false-positive rate.</a:t>
            </a:r>
            <a:r>
              <a:rPr sz="1900" b="0" i="0">
                <a:solidFill>
                  <a:srgbClr val="1C252B"/>
                </a:solidFill>
                <a:latin typeface="Segoe UI"/>
              </a:rPr>
              <a:t> Here, 120 alerts/day against 2 million events demands an FPR below </a:t>
            </a:r>
            <a:r>
              <a:rPr sz="1900" b="0" i="0">
                <a:solidFill>
                  <a:srgbClr val="1C252B"/>
                </a:solidFill>
                <a:latin typeface="Cambria"/>
              </a:rPr>
              <a:t>6×10</a:t>
            </a:r>
            <a:r>
              <a:rPr sz="1900" b="0" i="0" baseline="30000">
                <a:solidFill>
                  <a:srgbClr val="1C252B"/>
                </a:solidFill>
                <a:latin typeface="Cambria"/>
              </a:rPr>
              <a:t>−5</a:t>
            </a:r>
            <a:r>
              <a:rPr sz="1900" b="0" i="0">
                <a:solidFill>
                  <a:srgbClr val="1C252B"/>
                </a:solidFill>
                <a:latin typeface="Segoe UI"/>
              </a:rPr>
              <a:t>. Any model that cannot reach that is not deployable at this volume, however good its ROC-AUC — which, note, would be excellent for both detectors.</a:t>
            </a:r>
          </a:p>
        </p:txBody>
      </p:sp>
      <p:sp>
        <p:nvSpPr>
          <p:cNvPr id="13" name="body-2bar">
            <a:extLst>
              <a:ext uri="{C183D7F6-B498-43B3-948B-1728B52AA6E4}">
                <adec:decorative xmlns:adec="http://schemas.microsoft.com/office/drawing/2017/decorative" val="1"/>
              </a:ext>
            </a:extLst>
          </p:cNvPr>
          <p:cNvSpPr/>
          <p:nvPr/>
        </p:nvSpPr>
        <p:spPr>
          <a:xfrm>
            <a:off x="841248" y="4656759"/>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pfill">
            <a:extLst>
              <a:ext uri="{C183D7F6-B498-43B3-948B-1728B52AA6E4}">
                <adec:decorative xmlns:adec="http://schemas.microsoft.com/office/drawing/2017/decorative" val="1"/>
              </a:ext>
            </a:extLst>
          </p:cNvPr>
          <p:cNvSpPr/>
          <p:nvPr/>
        </p:nvSpPr>
        <p:spPr>
          <a:xfrm>
            <a:off x="0" y="0"/>
            <a:ext cx="325111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5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5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5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5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right)">
                                      <p:cBhvr>
                                        <p:cTn id="28" dur="42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right)">
                                      <p:cBhvr>
                                        <p:cTn id="36" dur="42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Alert volume against false-positive rate at 2 million events per day</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26.1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§26.3  ·  Handout p. 169     </a:t>
            </a:r>
            <a:fld id="{9C364D58-8E65-4E90-8143-BA860FFAFD4F}" type="slidenum">
              <a:rPr lang="en-GB" sz="1000">
                <a:solidFill>
                  <a:srgbClr val="8795A1"/>
                </a:solidFill>
                <a:latin typeface="Segoe UI"/>
              </a:rPr>
              <a:t>13</a:t>
            </a:fld>
          </a:p>
        </p:txBody>
      </p:sp>
      <p:pic>
        <p:nvPicPr>
          <p:cNvPr id="6" name="!!figure" descr="Figure 26.1. Alert volume against false-positive rate at 2 million events per day. The relationship is linear and brutal: the analyst capacity line fixes a maximum FPR, and that constraint — not accuracy — determines whether a detector can be deployed."/>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93852" y="1737360"/>
            <a:ext cx="9403990"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relationship is linear and brutal: the analyst capacity line fixes a maximum FPR, and that constraint — not accuracy — determines whether a detector can be deployed.</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52204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Four Detection Problems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26.4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26.1   What Makes This Domain Different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26.2   Security Data Sources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26.3   The Alert Fatigue Problem</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26.4   Four Detection Problems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26.5   Attacking the Model Itself</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§26.4     </a:t>
            </a:r>
            <a:fld id="{CAFC6E1F-6CF7-4006-BC2F-EE02043C874E}" type="slidenum">
              <a:rPr lang="en-GB" sz="1000">
                <a:solidFill>
                  <a:srgbClr val="8795A1"/>
                </a:solidFill>
                <a:latin typeface="Segoe UI"/>
              </a:rPr>
              <a:t>14</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79297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Detection Problems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26.2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§26.4  ·  Handout p. 170     </a:t>
            </a:r>
            <a:fld id="{B38F876B-2FE9-4473-BD15-D4115AFF8955}" type="slidenum">
              <a:rPr lang="en-GB" sz="1000">
                <a:solidFill>
                  <a:srgbClr val="8795A1"/>
                </a:solidFill>
                <a:latin typeface="Segoe UI"/>
              </a:rPr>
              <a:t>15</a:t>
            </a:fld>
          </a:p>
        </p:txBody>
      </p:sp>
      <p:pic>
        <p:nvPicPr>
          <p:cNvPr id="6" name="!!figure" descr="Figure 26.2. Four detection problems, their data, their standard methods and the difficulty that defines each. Note that three of the four rely on per-entity baselines rather than global threshold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53581" y="1737360"/>
            <a:ext cx="7884532"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Four detection problems, their data, their standard methods and the difficulty that defines each. Note that three of the four rely on per-entity baselines rather than global thresholds.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Single Most Useful Feature Idea in Security Analytics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§26.4  ·  Handout p. 170     </a:t>
            </a:r>
            <a:fld id="{9297EF03-0A53-49E6-9FED-937507FC5DC7}"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Compare an entity against </a:t>
            </a:r>
            <a:r>
              <a:rPr sz="2300" b="0" i="1">
                <a:solidFill>
                  <a:srgbClr val="1C252B"/>
                </a:solidFill>
                <a:latin typeface="Segoe UI"/>
              </a:rPr>
              <a:t>its own history</a:t>
            </a:r>
            <a:r>
              <a:rPr sz="2300" b="0" i="0">
                <a:solidFill>
                  <a:srgbClr val="1C252B"/>
                </a:solidFill>
                <a:latin typeface="Segoe UI"/>
              </a:rPr>
              <a:t>, not against the population. A server that suddenly contacts 200 external addresses is alarming even if 200 is unremarkable for other servers; a user working at 3 a.m. matters only if that user never has. Per-entity baselines convert an intractable global-threshold problem into a tractable per-entity one, and they are what makes UEBA work.</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33482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Attacking the Model Itself</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5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26.5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26.1   What Makes This Domain Different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26.2   Security Data Sources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26.3   The Alert Fatigue Problem</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26.4   Four Detection Problems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26.5   Attacking the Model Itself</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§26.5     </a:t>
            </a:r>
            <a:fld id="{57530459-35E6-4692-965E-CF01BAFE0864}" type="slidenum">
              <a:rPr lang="en-GB" sz="1000">
                <a:solidFill>
                  <a:srgbClr val="8795A1"/>
                </a:solidFill>
                <a:latin typeface="Segoe UI"/>
              </a:rPr>
              <a:t>17</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460575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Adversarial Machine Learning</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§26.5  ·  Handout p. 171     </a:t>
            </a:r>
            <a:fld id="{F90F4AC8-5FAB-4BB9-AA19-13E13C7C10ED}"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Attacks that target the ML system rather than the network around it. Four classes, distinguished by </a:t>
            </a:r>
            <a:r>
              <a:rPr sz="2300" b="0" i="1">
                <a:solidFill>
                  <a:srgbClr val="1C252B"/>
                </a:solidFill>
                <a:latin typeface="Segoe UI"/>
              </a:rPr>
              <a:t>when</a:t>
            </a:r>
            <a:r>
              <a:rPr sz="2300" b="0" i="0">
                <a:solidFill>
                  <a:srgbClr val="1C252B"/>
                </a:solidFill>
                <a:latin typeface="Segoe UI"/>
              </a:rPr>
              <a:t> they act and </a:t>
            </a:r>
            <a:r>
              <a:rPr sz="2300" b="0" i="1">
                <a:solidFill>
                  <a:srgbClr val="1C252B"/>
                </a:solidFill>
                <a:latin typeface="Segoe UI"/>
              </a:rPr>
              <a:t>what</a:t>
            </a:r>
            <a:r>
              <a:rPr sz="2300" b="0" i="0">
                <a:solidFill>
                  <a:srgbClr val="1C252B"/>
                </a:solidFill>
                <a:latin typeface="Segoe UI"/>
              </a:rPr>
              <a:t> they want.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four classes of attack on machine learning systems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26.3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§26.5  ·  Handout p. 171     </a:t>
            </a:r>
            <a:fld id="{CA9E9597-15C7-4D92-AC37-D76072165071}" type="slidenum">
              <a:rPr lang="en-GB" sz="1000">
                <a:solidFill>
                  <a:srgbClr val="8795A1"/>
                </a:solidFill>
                <a:latin typeface="Segoe UI"/>
              </a:rPr>
              <a:t>19</a:t>
            </a:fld>
          </a:p>
        </p:txBody>
      </p:sp>
      <p:pic>
        <p:nvPicPr>
          <p:cNvPr id="6" name="!!figure" descr="Figure 26.3. The four classes of attack on machine learning systems. Evasion and extraction happen at inference time; poisoning happens at training time; membership inference targets privacy rather than performanc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00985" y="1737360"/>
            <a:ext cx="6389724"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Evasion and extraction happen at inference time; poisoning happens at training time; membership inference targets privacy rather than performance.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14760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Retraining on Production Data Is an Attack Surface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§26.5  ·  Handout p. 171     </a:t>
            </a:r>
            <a:fld id="{FDE40018-00B8-4286-9A04-D5772F267AA9}"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advice from Chapter 27 — retrain regularly on recent data to counter drift — is exactly the mechanism a poisoning attack exploits. In security you cannot have both automatic retraining and unvetted training data. Either screen the training set for anomalies before use, or keep a human in the approval path for model promotion. This is a genuine tension between two pieces of good advice, and the resolution is domain-specific.</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41853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Concrete Evasion, and Why Feature Choice Is a Defence</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§26.5  ·  Handout p. 171     </a:t>
            </a:r>
            <a:fld id="{F55C5C6B-47BB-4C49-AF63-189B8A57FDD8}"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60976"/>
          </a:xfrm>
          <a:prstGeom prst="roundRect">
            <a:avLst>
              <a:gd name="adj" fmla="val 200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6097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detector flags port scans using </a:t>
            </a:r>
            <a:r>
              <a:rPr sz="1800" b="0" i="0">
                <a:solidFill>
                  <a:srgbClr val="1F4E79"/>
                </a:solidFill>
                <a:latin typeface="Consolas"/>
              </a:rPr>
              <a:t>distinct_ports_per_minute &gt; 50</a:t>
            </a:r>
            <a:r>
              <a:rPr sz="1900" b="0" i="0">
                <a:solidFill>
                  <a:srgbClr val="1C252B"/>
                </a:solidFill>
                <a:latin typeface="Segoe UI"/>
              </a:rPr>
              <a:t>.</a:t>
            </a:r>
          </a:p>
        </p:txBody>
      </p:sp>
      <p:sp>
        <p:nvSpPr>
          <p:cNvPr id="10" name="body-1"/>
          <p:cNvSpPr txBox="1"/>
          <p:nvPr/>
        </p:nvSpPr>
        <p:spPr>
          <a:xfrm>
            <a:off x="1042416" y="244553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evasion:</a:t>
            </a:r>
            <a:r>
              <a:rPr sz="1900" b="0" i="0">
                <a:solidFill>
                  <a:srgbClr val="1C252B"/>
                </a:solidFill>
                <a:latin typeface="Segoe UI"/>
              </a:rPr>
              <a:t> the attacker scans 40 ports per minute instead. Detection drops to zero; the scan takes 25% longer, which costs the attacker almost nothing.</a:t>
            </a:r>
          </a:p>
        </p:txBody>
      </p:sp>
      <p:sp>
        <p:nvSpPr>
          <p:cNvPr id="11" name="body-2"/>
          <p:cNvSpPr txBox="1"/>
          <p:nvPr/>
        </p:nvSpPr>
        <p:spPr>
          <a:xfrm>
            <a:off x="1042416" y="318053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Why the model was fragile:</a:t>
            </a:r>
            <a:r>
              <a:rPr sz="1900" b="0" i="0">
                <a:solidFill>
                  <a:srgbClr val="1C252B"/>
                </a:solidFill>
                <a:latin typeface="Segoe UI"/>
              </a:rPr>
              <a:t> the feature is </a:t>
            </a:r>
            <a:r>
              <a:rPr sz="1900" b="0" i="1">
                <a:solidFill>
                  <a:srgbClr val="1C252B"/>
                </a:solidFill>
                <a:latin typeface="Segoe UI"/>
              </a:rPr>
              <a:t>cheap for the attacker to control</a:t>
            </a:r>
            <a:r>
              <a:rPr sz="1900" b="0" i="0">
                <a:solidFill>
                  <a:srgbClr val="1C252B"/>
                </a:solidFill>
                <a:latin typeface="Segoe UI"/>
              </a:rPr>
              <a:t>. Any threshold on a directly-controllable quantity is one experiment away from being defeated.</a:t>
            </a:r>
          </a:p>
        </p:txBody>
      </p:sp>
      <p:sp>
        <p:nvSpPr>
          <p:cNvPr id="12" name="body-3"/>
          <p:cNvSpPr txBox="1"/>
          <p:nvPr/>
        </p:nvSpPr>
        <p:spPr>
          <a:xfrm>
            <a:off x="1042416" y="391553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 more robust feature set:</a:t>
            </a:r>
          </a:p>
        </p:txBody>
      </p:sp>
      <p:sp>
        <p:nvSpPr>
          <p:cNvPr id="13" name="body-4"/>
          <p:cNvSpPr txBox="1"/>
          <p:nvPr/>
        </p:nvSpPr>
        <p:spPr>
          <a:xfrm>
            <a:off x="1042416" y="4349394"/>
            <a:ext cx="10234879" cy="1720342"/>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800" b="0" i="0">
                <a:solidFill>
                  <a:srgbClr val="1F4E79"/>
                </a:solidFill>
                <a:latin typeface="Consolas"/>
              </a:rPr>
              <a:t>distinct_ports_per_hour</a:t>
            </a:r>
            <a:r>
              <a:rPr sz="1900" b="0" i="0">
                <a:solidFill>
                  <a:srgbClr val="1C252B"/>
                </a:solidFill>
                <a:latin typeface="Segoe UI"/>
              </a:rPr>
              <a:t> — a longer window; slowing further costs real time.</a:t>
            </a:r>
          </a:p>
          <a:p>
            <a:pPr algn="l" marL="212450" indent="-212450">
              <a:lnSpc>
                <a:spcPct val="104000"/>
              </a:lnSpc>
              <a:spcBef>
                <a:spcPts val="0"/>
              </a:spcBef>
              <a:spcAft>
                <a:spcPts val="665"/>
              </a:spcAft>
            </a:pPr>
            <a:r>
              <a:rPr sz="1900" b="1">
                <a:solidFill>
                  <a:srgbClr val="7D6608"/>
                </a:solidFill>
                <a:latin typeface="Segoe UI"/>
              </a:rPr>
              <a:t>•	</a:t>
            </a:r>
            <a:r>
              <a:rPr sz="1800" b="0" i="0">
                <a:solidFill>
                  <a:srgbClr val="1F4E79"/>
                </a:solidFill>
                <a:latin typeface="Consolas"/>
              </a:rPr>
              <a:t>fraction_of_ports_that_are_closed</a:t>
            </a:r>
            <a:r>
              <a:rPr sz="1900" b="0" i="0">
                <a:solidFill>
                  <a:srgbClr val="1C252B"/>
                </a:solidFill>
                <a:latin typeface="Segoe UI"/>
              </a:rPr>
              <a:t> — a scanner necessarily hits closed ports; legitimate traffic rarely does. Hard to avoid without already knowing the answer.</a:t>
            </a:r>
          </a:p>
          <a:p>
            <a:pPr algn="l" marL="212450" indent="-212450">
              <a:lnSpc>
                <a:spcPct val="104000"/>
              </a:lnSpc>
              <a:spcBef>
                <a:spcPts val="0"/>
              </a:spcBef>
              <a:spcAft>
                <a:spcPts val="0"/>
              </a:spcAft>
            </a:pPr>
            <a:r>
              <a:rPr sz="1900" b="1">
                <a:solidFill>
                  <a:srgbClr val="7D6608"/>
                </a:solidFill>
                <a:latin typeface="Segoe UI"/>
              </a:rPr>
              <a:t>•	</a:t>
            </a:r>
            <a:r>
              <a:rPr sz="1800" b="0" i="0">
                <a:solidFill>
                  <a:srgbClr val="1F4E79"/>
                </a:solidFill>
                <a:latin typeface="Consolas"/>
              </a:rPr>
              <a:t>deviation from this source's own 30-day profile</a:t>
            </a:r>
            <a:r>
              <a:rPr sz="1900" b="0" i="0">
                <a:solidFill>
                  <a:srgbClr val="1C252B"/>
                </a:solidFill>
                <a:latin typeface="Segoe UI"/>
              </a:rPr>
              <a:t> — a host that has never initiated outbound connections doing so at all is anomalous at any rate.</a:t>
            </a:r>
          </a:p>
        </p:txBody>
      </p:sp>
      <p:sp>
        <p:nvSpPr>
          <p:cNvPr id="3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pfill">
            <a:extLst>
              <a:ext uri="{C183D7F6-B498-43B3-948B-1728B52AA6E4}">
                <adec:decorative xmlns:adec="http://schemas.microsoft.com/office/drawing/2017/decorative" val="1"/>
              </a:ext>
            </a:extLst>
          </p:cNvPr>
          <p:cNvSpPr/>
          <p:nvPr/>
        </p:nvSpPr>
        <p:spPr>
          <a:xfrm>
            <a:off x="0" y="0"/>
            <a:ext cx="568945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
                                            <p:txEl>
                                              <p:pRg st="0" end="0"/>
                                            </p:txEl>
                                          </p:spTgt>
                                        </p:tgtEl>
                                        <p:attrNameLst>
                                          <p:attrName>style.visibility</p:attrName>
                                        </p:attrNameLst>
                                      </p:cBhvr>
                                      <p:to>
                                        <p:strVal val="visible"/>
                                      </p:to>
                                    </p:set>
                                    <p:animEffect transition="in" filter="fade">
                                      <p:cBhvr>
                                        <p:cTn id="23" dur="350"/>
                                        <p:tgtEl>
                                          <p:spTgt spid="13">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3">
                                            <p:txEl>
                                              <p:pRg st="1" end="1"/>
                                            </p:txEl>
                                          </p:spTgt>
                                        </p:tgtEl>
                                        <p:attrNameLst>
                                          <p:attrName>style.visibility</p:attrName>
                                        </p:attrNameLst>
                                      </p:cBhvr>
                                      <p:to>
                                        <p:strVal val="visible"/>
                                      </p:to>
                                    </p:set>
                                    <p:animEffect transition="in" filter="fade">
                                      <p:cBhvr>
                                        <p:cTn id="28" dur="350"/>
                                        <p:tgtEl>
                                          <p:spTgt spid="13">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3">
                                            <p:txEl>
                                              <p:pRg st="2" end="2"/>
                                            </p:txEl>
                                          </p:spTgt>
                                        </p:tgtEl>
                                        <p:attrNameLst>
                                          <p:attrName>style.visibility</p:attrName>
                                        </p:attrNameLst>
                                      </p:cBhvr>
                                      <p:to>
                                        <p:strVal val="visible"/>
                                      </p:to>
                                    </p:set>
                                    <p:animEffect transition="in" filter="fade">
                                      <p:cBhvr>
                                        <p:cTn id="33" dur="35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Concrete Evasion, and Why Feature Choice Is a Defence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§26.5  ·  Handout p. 171     </a:t>
            </a:r>
            <a:fld id="{C4F9A7A0-6B56-4630-97DE-CC611F431AB1}"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88209"/>
          </a:xfrm>
          <a:prstGeom prst="roundRect">
            <a:avLst>
              <a:gd name="adj" fmla="val 367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882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marL="212450" indent="-212450">
              <a:lnSpc>
                <a:spcPct val="104000"/>
              </a:lnSpc>
              <a:spcBef>
                <a:spcPts val="0"/>
              </a:spcBef>
              <a:spcAft>
                <a:spcPts val="0"/>
              </a:spcAft>
            </a:pPr>
            <a:r>
              <a:rPr sz="1900" b="1">
                <a:solidFill>
                  <a:srgbClr val="7D6608"/>
                </a:solidFill>
                <a:latin typeface="Segoe UI"/>
              </a:rPr>
              <a:t>•	</a:t>
            </a:r>
            <a:r>
              <a:rPr sz="1800" b="0" i="0">
                <a:solidFill>
                  <a:srgbClr val="1F4E79"/>
                </a:solidFill>
                <a:latin typeface="Consolas"/>
              </a:rPr>
              <a:t>sequential-port-ordering score</a:t>
            </a:r>
            <a:r>
              <a:rPr sz="1900" b="0" i="0">
                <a:solidFill>
                  <a:srgbClr val="1C252B"/>
                </a:solidFill>
                <a:latin typeface="Segoe UI"/>
              </a:rPr>
              <a:t> — avoidable, but only by randomising, which is itself detectable.</a:t>
            </a:r>
          </a:p>
        </p:txBody>
      </p:sp>
      <p:sp>
        <p:nvSpPr>
          <p:cNvPr id="10" name="body-1"/>
          <p:cNvSpPr txBox="1"/>
          <p:nvPr/>
        </p:nvSpPr>
        <p:spPr>
          <a:xfrm>
            <a:off x="1042416" y="2746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principle:</a:t>
            </a:r>
            <a:r>
              <a:rPr sz="1900" b="0" i="0">
                <a:solidFill>
                  <a:srgbClr val="1C252B"/>
                </a:solidFill>
                <a:latin typeface="Segoe UI"/>
              </a:rPr>
              <a:t> prefer features that are </a:t>
            </a:r>
            <a:r>
              <a:rPr sz="1900" b="0" i="1">
                <a:solidFill>
                  <a:srgbClr val="1C252B"/>
                </a:solidFill>
                <a:latin typeface="Segoe UI"/>
              </a:rPr>
              <a:t>expensive or self-defeating for the attacker to manipulate</a:t>
            </a:r>
            <a:r>
              <a:rPr sz="1900" b="0" i="0">
                <a:solidFill>
                  <a:srgbClr val="1C252B"/>
                </a:solidFill>
                <a:latin typeface="Segoe UI"/>
              </a:rPr>
              <a:t>. In ordinary machine learning you choose features for predictive power; in security you choose them for predictive power </a:t>
            </a:r>
            <a:r>
              <a:rPr sz="1900" b="0" i="1">
                <a:solidFill>
                  <a:srgbClr val="1C252B"/>
                </a:solidFill>
                <a:latin typeface="Segoe UI"/>
              </a:rPr>
              <a:t>and</a:t>
            </a:r>
            <a:r>
              <a:rPr sz="1900" b="0" i="0">
                <a:solidFill>
                  <a:srgbClr val="1C252B"/>
                </a:solidFill>
                <a:latin typeface="Segoe UI"/>
              </a:rPr>
              <a:t> manipulation cost. That is a genuinely different design criterion, and it is the main thing this chapter adds to Chapter 15.</a:t>
            </a:r>
          </a:p>
        </p:txBody>
      </p:sp>
      <p:sp>
        <p:nvSpPr>
          <p:cNvPr id="11" name="body-1bar">
            <a:extLst>
              <a:ext uri="{C183D7F6-B498-43B3-948B-1728B52AA6E4}">
                <adec:decorative xmlns:adec="http://schemas.microsoft.com/office/drawing/2017/decorative" val="1"/>
              </a:ext>
            </a:extLst>
          </p:cNvPr>
          <p:cNvSpPr/>
          <p:nvPr/>
        </p:nvSpPr>
        <p:spPr>
          <a:xfrm>
            <a:off x="841248" y="2764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596038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Security Analytics</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174     </a:t>
            </a:r>
            <a:fld id="{92ACD2C6-74F7-409B-BF35-0E3071ADACDA}" type="slidenum">
              <a:rPr lang="en-GB" sz="1000">
                <a:solidFill>
                  <a:srgbClr val="8795A1"/>
                </a:solidFill>
                <a:latin typeface="Segoe UI"/>
              </a:rPr>
              <a:t>23</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Academic integrity analytics is structurally the same problem and inherits the same arithmetic.</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Security work has a distinctive project profile: success is invisible, and the business case rests on losses that did not happen.</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two chapters meet directly.</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This chapter is the security lens in full.</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23131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Security Analytics</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174     </a:t>
            </a:r>
            <a:fld id="{DE44315D-EA8E-45E6-B7BE-36C029C348D4}" type="slidenum">
              <a:rPr lang="en-GB" sz="1000">
                <a:solidFill>
                  <a:srgbClr val="8795A1"/>
                </a:solidFill>
                <a:latin typeface="Segoe UI"/>
              </a:rPr>
              <a:t>24</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353263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Academic integrity analytics is structurally the same problem and inherits the same arithmetic. Cheating is rare, so the base rate is low and precision will be poor — a plagiarism or exam-proctoring flag is </a:t>
            </a:r>
            <a:r>
              <a:rPr sz="2200" b="0" i="1">
                <a:solidFill>
                  <a:srgbClr val="1C252B"/>
                </a:solidFill>
                <a:latin typeface="Segoe UI"/>
              </a:rPr>
              <a:t>evidence to investigate</a:t>
            </a:r>
            <a:r>
              <a:rPr sz="2200" b="0" i="0">
                <a:solidFill>
                  <a:srgbClr val="1C252B"/>
                </a:solidFill>
                <a:latin typeface="Segoe UI"/>
              </a:rPr>
              <a:t>, never a verdict. Students also adapt: publicise a detection rule and behaviour changes to evade it, which is the adversarial dynamic in a setting where the “adversary” is someone you owe a duty of care. The ethical stakes here are higher than in a SOC, and Chapter 28 should be read alongside this.</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50223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Security Analytics</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174     </a:t>
            </a:r>
            <a:fld id="{A990ADD7-52C7-492A-B7E9-127D4E2592D0}" type="slidenum">
              <a:rPr lang="en-GB" sz="1000">
                <a:solidFill>
                  <a:srgbClr val="8795A1"/>
                </a:solidFill>
                <a:latin typeface="Segoe UI"/>
              </a:rPr>
              <a:t>25</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3183940"/>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Security work has a distinctive project profile: success is invisible, and the business case rests on losses that did not happen. Metrics that survive contact with management are mean time to detect, mean time to respond, coverage of assets monitored, and alerts per analyst — not model accuracy. Budget for the fact that detection engineering is continuous maintenance rather than a delivery with an end date; a model shipped and left alone degrades faster here than anywhere else in this book.</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77316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Security Analytics</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174     </a:t>
            </a:r>
            <a:fld id="{9C8766A2-A27F-4D13-A9E1-1E0A7F824EFB}" type="slidenum">
              <a:rPr lang="en-GB" sz="1000">
                <a:solidFill>
                  <a:srgbClr val="8795A1"/>
                </a:solidFill>
                <a:latin typeface="Segoe UI"/>
              </a:rPr>
              <a:t>26</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two chapters meet directly. IoT fleets are a favoured target — weak credentials, unpatched firmware, plaintext protocols — and a compromised device is often first visible as </a:t>
            </a:r>
            <a:r>
              <a:rPr sz="2200" b="0" i="1">
                <a:solidFill>
                  <a:srgbClr val="1C252B"/>
                </a:solidFill>
                <a:latin typeface="Segoe UI"/>
              </a:rPr>
              <a:t>anomalous telemetry</a:t>
            </a:r>
            <a:r>
              <a:rPr sz="2200" b="0" i="0">
                <a:solidFill>
                  <a:srgbClr val="1C252B"/>
                </a:solidFill>
                <a:latin typeface="Segoe UI"/>
              </a:rPr>
              <a:t>, meaning the maintenance detector of Chapter 25 is also a security sensor. Conversely, telemetry can be forged, so readings from a device are not trustworthy evidence about that device. Cross-device and cross-physics consistency checks are the practical defence.</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04409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Security Analytics</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174     </a:t>
            </a:r>
            <a:fld id="{8738BD65-6B32-4A1E-871A-25F3896BE688}" type="slidenum">
              <a:rPr lang="en-GB" sz="1000">
                <a:solidFill>
                  <a:srgbClr val="8795A1"/>
                </a:solidFill>
                <a:latin typeface="Segoe UI"/>
              </a:rPr>
              <a:t>27</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This chapter is the security lens in full. The distilled version: work backwards from analyst capacity to a maximum false-positive rate; baseline every entity against itself; run signatures and anomaly detection together; choose features by manipulation cost; and treat the model as an asset that will itself be attacked.</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Per-Entity Baselines and an Evasion Test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§26.5  ·  Handout p. 171     </a:t>
            </a:r>
            <a:fld id="{F64090A4-68AE-4E8C-8EFA-E029FE7BA528}" type="slidenum">
              <a:rPr lang="en-GB" sz="1000">
                <a:solidFill>
                  <a:srgbClr val="8795A1"/>
                </a:solidFill>
                <a:latin typeface="Segoe UI"/>
              </a:rPr>
              <a:t>28</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146684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Per-entity baselines: the core idea of this chapter</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Threshold from ANALYST CAPACITY, not from 0.5</a:t>
            </a:r>
          </a:p>
          <a:p>
            <a:pPr algn="l" marL="459473" indent="-459473">
              <a:lnSpc>
                <a:spcPct val="100000"/>
              </a:lnSpc>
              <a:spcBef>
                <a:spcPts val="0"/>
              </a:spcBef>
              <a:spcAft>
                <a:spcPts val="570"/>
              </a:spcAft>
            </a:pPr>
            <a:r>
              <a:rPr sz="1900" b="1">
                <a:solidFill>
                  <a:srgbClr val="117A65"/>
                </a:solidFill>
                <a:latin typeface="Segoe UI"/>
              </a:rPr>
              <a:t>3.	</a:t>
            </a:r>
            <a:r>
              <a:rPr sz="1900" b="0" i="0">
                <a:solidFill>
                  <a:srgbClr val="1C252B"/>
                </a:solidFill>
                <a:latin typeface="Segoe UI"/>
              </a:rPr>
              <a:t>TEST YOUR OWN MODEL FOR EVASION. This step is not optional.</a:t>
            </a:r>
          </a:p>
          <a:p>
            <a:pPr algn="l" marL="459473" indent="-459473">
              <a:lnSpc>
                <a:spcPct val="100000"/>
              </a:lnSpc>
              <a:spcBef>
                <a:spcPts val="0"/>
              </a:spcBef>
              <a:spcAft>
                <a:spcPts val="0"/>
              </a:spcAft>
            </a:pPr>
            <a:r>
              <a:rPr sz="1900" b="1">
                <a:solidFill>
                  <a:srgbClr val="117A65"/>
                </a:solidFill>
                <a:latin typeface="Segoe UI"/>
              </a:rPr>
              <a:t>4.	</a:t>
            </a:r>
            <a:r>
              <a:rPr sz="1900" b="0" i="0">
                <a:solidFill>
                  <a:srgbClr val="1C252B"/>
                </a:solidFill>
                <a:latin typeface="Segoe UI"/>
              </a:rPr>
              <a:t>Screen the training set before retraining (anti-poisoning)</a:t>
            </a:r>
          </a:p>
        </p:txBody>
      </p:sp>
      <p:sp>
        <p:nvSpPr>
          <p:cNvPr id="24" name="!!lfTHIS">
            <a:extLst>
              <a:ext uri="{C183D7F6-B498-43B3-948B-1728B52AA6E4}">
                <adec:decorative xmlns:adec="http://schemas.microsoft.com/office/drawing/2017/decorative" val="1"/>
              </a:ext>
            </a:extLst>
          </p:cNvPr>
          <p:cNvSpPr/>
          <p:nvPr/>
        </p:nvSpPr>
        <p:spPr>
          <a:xfrm>
            <a:off x="658368"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flTHIS"/>
          <p:cNvSpPr txBox="1"/>
          <p:nvPr/>
        </p:nvSpPr>
        <p:spPr>
          <a:xfrm>
            <a:off x="932688"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7" name="!!lfvTHIS"/>
          <p:cNvSpPr txBox="1"/>
          <p:nvPr/>
        </p:nvSpPr>
        <p:spPr>
          <a:xfrm>
            <a:off x="932688"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15: Telemetry to alert; per-entity baselines &amp; evasion test</a:t>
            </a:r>
          </a:p>
        </p:txBody>
      </p:sp>
      <p:sp>
        <p:nvSpPr>
          <p:cNvPr id="28" name="!!lfWHAT">
            <a:extLst>
              <a:ext uri="{C183D7F6-B498-43B3-948B-1728B52AA6E4}">
                <adec:decorative xmlns:adec="http://schemas.microsoft.com/office/drawing/2017/decorative" val="1"/>
              </a:ext>
            </a:extLst>
          </p:cNvPr>
          <p:cNvSpPr/>
          <p:nvPr/>
        </p:nvSpPr>
        <p:spPr>
          <a:xfrm>
            <a:off x="6233007"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bWHAT">
            <a:extLst>
              <a:ext uri="{C183D7F6-B498-43B3-948B-1728B52AA6E4}">
                <adec:decorative xmlns:adec="http://schemas.microsoft.com/office/drawing/2017/decorative" val="1"/>
              </a:ext>
            </a:extLst>
          </p:cNvPr>
          <p:cNvSpPr/>
          <p:nvPr/>
        </p:nvSpPr>
        <p:spPr>
          <a:xfrm>
            <a:off x="6233007"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lflWHAT"/>
          <p:cNvSpPr txBox="1"/>
          <p:nvPr/>
        </p:nvSpPr>
        <p:spPr>
          <a:xfrm>
            <a:off x="6507327"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31" name="!!lfvWHAT"/>
          <p:cNvSpPr txBox="1"/>
          <p:nvPr/>
        </p:nvSpPr>
        <p:spPr>
          <a:xfrm>
            <a:off x="6507327"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48 lines of Python</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758594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300"/>
                                        <p:tgtEl>
                                          <p:spTgt spid="8">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animEffect transition="in" filter="fade">
                                      <p:cBhvr>
                                        <p:cTn id="23" dur="3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Per-Entity Baselines and an Evasion Test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§26.5  ·  Handout p. 171     </a:t>
            </a:r>
            <a:fld id="{461976A3-6298-4905-9E18-C2366CCBEA69}"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908303"/>
          </a:xfrm>
          <a:prstGeom prst="roundRect">
            <a:avLst>
              <a:gd name="adj" fmla="val 100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import pandas as pd, numpy as np"/>
          <p:cNvSpPr txBox="1"/>
          <p:nvPr/>
        </p:nvSpPr>
        <p:spPr>
          <a:xfrm>
            <a:off x="1362456" y="2523744"/>
            <a:ext cx="9987991" cy="414527"/>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pandas</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pd</a:t>
            </a:r>
            <a:r>
              <a:rPr sz="2000" i="0">
                <a:solidFill>
                  <a:srgbClr val="AEB6BF"/>
                </a:solidFill>
                <a:latin typeface="Consolas"/>
              </a:rPr>
              <a:t>,</a:t>
            </a:r>
            <a:r>
              <a:rPr sz="2000" i="0">
                <a:solidFill>
                  <a:srgbClr val="E8EDF2"/>
                </a:solidFill>
                <a:latin typeface="Consolas"/>
              </a:rPr>
              <a:t> </a:t>
            </a:r>
            <a:r>
              <a:rPr sz="2000" i="0">
                <a:solidFill>
                  <a:srgbClr val="76D7C4"/>
                </a:solidFill>
                <a:latin typeface="Consolas"/>
              </a:rPr>
              <a:t>numpy</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np</a:t>
            </a:r>
          </a:p>
        </p:txBody>
      </p:sp>
      <p:sp>
        <p:nvSpPr>
          <p:cNvPr id="15" name="!!code-num"/>
          <p:cNvSpPr txBox="1"/>
          <p:nvPr/>
        </p:nvSpPr>
        <p:spPr>
          <a:xfrm>
            <a:off x="768096" y="2523744"/>
            <a:ext cx="393192" cy="4145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85687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Per-Entity Baselines and an Evasion Test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§26.5  ·  Handout p. 171     </a:t>
            </a:r>
            <a:fld id="{142BBEEC-D3BC-455B-99F2-305CA3AD3416}"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Per-entity baselines: the core idea of this chapter</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224528"/>
          </a:xfrm>
          <a:prstGeom prst="roundRect">
            <a:avLst>
              <a:gd name="adj" fmla="val 216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1. per-entity baselines: the core idea of this chapter ------------ def entity_features(logs, entity=&quot;src_ip&quot;, window=&quot;30D&quot;): g = logs.set_index(&quot;ts&quot;).groupby(entity) f = pd.DataFrame(index=logs.index) for col in [&quot;bytes_out&quot;, &quot;distinct_ports&quot;, &quot;failed_logins&quot;]: cur = g[col].transform(lambda s: s.rolling(&quot;1h&quot;).sum()) base = g[col].transform(lambda s: s.rolling(window).mean()) sd = g[col].transform(lambda s: s.rolling(window).std()) # z-score against the entity's OWN history, not the population's f[f&quot;{col}_z&quot;] = (cur - base) / sd.replace(0, np.nan) # &quot;has this host ever done this before?&quot; -- powerful and cheap f[&quot;novel_dest&quot;] = g[&quot;dst_ip&quot;].transform( lambda s: (~s.duplicated()).rolling(100).sum()) return f"/>
          <p:cNvSpPr txBox="1"/>
          <p:nvPr/>
        </p:nvSpPr>
        <p:spPr>
          <a:xfrm>
            <a:off x="1362456" y="2523744"/>
            <a:ext cx="9987991" cy="3730752"/>
          </a:xfrm>
          <a:prstGeom prst="rect">
            <a:avLst/>
          </a:prstGeom>
          <a:noFill/>
        </p:spPr>
        <p:txBody>
          <a:bodyPr wrap="none" anchor="t" lIns="0" rIns="0" tIns="0" bIns="0">
            <a:noAutofit/>
          </a:bodyPr>
          <a:lstStyle/>
          <a:p>
            <a:pPr>
              <a:lnSpc>
                <a:spcPct val="100000"/>
              </a:lnSpc>
              <a:spcAft>
                <a:spcPts val="0"/>
              </a:spcAft>
            </a:pPr>
            <a:r>
              <a:rPr sz="1500" i="1">
                <a:solidFill>
                  <a:srgbClr val="8795A1"/>
                </a:solidFill>
                <a:latin typeface="Consolas"/>
              </a:rPr>
              <a:t># --- 1. per-entity baselines: the core idea of this chapter ------------</a:t>
            </a:r>
          </a:p>
          <a:p>
            <a:pPr>
              <a:lnSpc>
                <a:spcPct val="100000"/>
              </a:lnSpc>
              <a:spcAft>
                <a:spcPts val="0"/>
              </a:spcAft>
            </a:pPr>
            <a:r>
              <a:rPr sz="1500" i="0">
                <a:solidFill>
                  <a:srgbClr val="5DADE2"/>
                </a:solidFill>
                <a:latin typeface="Consolas"/>
              </a:rPr>
              <a:t>def</a:t>
            </a:r>
            <a:r>
              <a:rPr sz="1500" i="0">
                <a:solidFill>
                  <a:srgbClr val="E8EDF2"/>
                </a:solidFill>
                <a:latin typeface="Consolas"/>
              </a:rPr>
              <a:t> </a:t>
            </a:r>
            <a:r>
              <a:rPr sz="1500" i="0">
                <a:solidFill>
                  <a:srgbClr val="C39BD3"/>
                </a:solidFill>
                <a:latin typeface="Consolas"/>
              </a:rPr>
              <a:t>entity_features</a:t>
            </a:r>
            <a:r>
              <a:rPr sz="1500" i="0">
                <a:solidFill>
                  <a:srgbClr val="AEB6BF"/>
                </a:solidFill>
                <a:latin typeface="Consolas"/>
              </a:rPr>
              <a:t>(</a:t>
            </a:r>
            <a:r>
              <a:rPr sz="1500" i="0">
                <a:solidFill>
                  <a:srgbClr val="E8EDF2"/>
                </a:solidFill>
                <a:latin typeface="Consolas"/>
              </a:rPr>
              <a:t>logs</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entity</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src_ip</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window</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30D</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g</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logs</a:t>
            </a:r>
            <a:r>
              <a:rPr sz="1500" i="0">
                <a:solidFill>
                  <a:srgbClr val="AEB6BF"/>
                </a:solidFill>
                <a:latin typeface="Consolas"/>
              </a:rPr>
              <a:t>.</a:t>
            </a:r>
            <a:r>
              <a:rPr sz="1500" i="0">
                <a:solidFill>
                  <a:srgbClr val="E8EDF2"/>
                </a:solidFill>
                <a:latin typeface="Consolas"/>
              </a:rPr>
              <a:t>set_index</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ts</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groupby</a:t>
            </a:r>
            <a:r>
              <a:rPr sz="1500" i="0">
                <a:solidFill>
                  <a:srgbClr val="AEB6BF"/>
                </a:solidFill>
                <a:latin typeface="Consolas"/>
              </a:rPr>
              <a:t>(</a:t>
            </a:r>
            <a:r>
              <a:rPr sz="1500" i="0">
                <a:solidFill>
                  <a:srgbClr val="E8EDF2"/>
                </a:solidFill>
                <a:latin typeface="Consolas"/>
              </a:rPr>
              <a:t>entity</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f</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pd</a:t>
            </a:r>
            <a:r>
              <a:rPr sz="1500" i="0">
                <a:solidFill>
                  <a:srgbClr val="AEB6BF"/>
                </a:solidFill>
                <a:latin typeface="Consolas"/>
              </a:rPr>
              <a:t>.</a:t>
            </a:r>
            <a:r>
              <a:rPr sz="1500" i="0">
                <a:solidFill>
                  <a:srgbClr val="E8EDF2"/>
                </a:solidFill>
                <a:latin typeface="Consolas"/>
              </a:rPr>
              <a:t>DataFrame</a:t>
            </a:r>
            <a:r>
              <a:rPr sz="1500" i="0">
                <a:solidFill>
                  <a:srgbClr val="AEB6BF"/>
                </a:solidFill>
                <a:latin typeface="Consolas"/>
              </a:rPr>
              <a:t>(</a:t>
            </a:r>
            <a:r>
              <a:rPr sz="1500" i="0">
                <a:solidFill>
                  <a:srgbClr val="E8EDF2"/>
                </a:solidFill>
                <a:latin typeface="Consolas"/>
              </a:rPr>
              <a:t>index</a:t>
            </a:r>
            <a:r>
              <a:rPr sz="1500" i="0">
                <a:solidFill>
                  <a:srgbClr val="AEB6BF"/>
                </a:solidFill>
                <a:latin typeface="Consolas"/>
              </a:rPr>
              <a:t>=</a:t>
            </a:r>
            <a:r>
              <a:rPr sz="1500" i="0">
                <a:solidFill>
                  <a:srgbClr val="E8EDF2"/>
                </a:solidFill>
                <a:latin typeface="Consolas"/>
              </a:rPr>
              <a:t>logs</a:t>
            </a:r>
            <a:r>
              <a:rPr sz="1500" i="0">
                <a:solidFill>
                  <a:srgbClr val="AEB6BF"/>
                </a:solidFill>
                <a:latin typeface="Consolas"/>
              </a:rPr>
              <a:t>.</a:t>
            </a:r>
            <a:r>
              <a:rPr sz="1500" i="0">
                <a:solidFill>
                  <a:srgbClr val="E8EDF2"/>
                </a:solidFill>
                <a:latin typeface="Consolas"/>
              </a:rPr>
              <a:t>index</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col</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bytes_out</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distinct_ports</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failed_logins</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cur</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g</a:t>
            </a:r>
            <a:r>
              <a:rPr sz="1500" i="0">
                <a:solidFill>
                  <a:srgbClr val="AEB6BF"/>
                </a:solidFill>
                <a:latin typeface="Consolas"/>
              </a:rPr>
              <a:t>[</a:t>
            </a:r>
            <a:r>
              <a:rPr sz="1500" i="0">
                <a:solidFill>
                  <a:srgbClr val="E8EDF2"/>
                </a:solidFill>
                <a:latin typeface="Consolas"/>
              </a:rPr>
              <a:t>col</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transform</a:t>
            </a:r>
            <a:r>
              <a:rPr sz="1500" i="0">
                <a:solidFill>
                  <a:srgbClr val="AEB6BF"/>
                </a:solidFill>
                <a:latin typeface="Consolas"/>
              </a:rPr>
              <a:t>(</a:t>
            </a:r>
            <a:r>
              <a:rPr sz="1500" i="0">
                <a:solidFill>
                  <a:srgbClr val="5DADE2"/>
                </a:solidFill>
                <a:latin typeface="Consolas"/>
              </a:rPr>
              <a:t>lambda</a:t>
            </a:r>
            <a:r>
              <a:rPr sz="1500" i="0">
                <a:solidFill>
                  <a:srgbClr val="E8EDF2"/>
                </a:solidFill>
                <a:latin typeface="Consolas"/>
              </a:rPr>
              <a:t> </a:t>
            </a:r>
            <a:r>
              <a:rPr sz="1500" i="0">
                <a:solidFill>
                  <a:srgbClr val="E8EDF2"/>
                </a:solidFill>
                <a:latin typeface="Consolas"/>
              </a:rPr>
              <a:t>s</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s</a:t>
            </a:r>
            <a:r>
              <a:rPr sz="1500" i="0">
                <a:solidFill>
                  <a:srgbClr val="AEB6BF"/>
                </a:solidFill>
                <a:latin typeface="Consolas"/>
              </a:rPr>
              <a:t>.</a:t>
            </a:r>
            <a:r>
              <a:rPr sz="1500" i="0">
                <a:solidFill>
                  <a:srgbClr val="E8EDF2"/>
                </a:solidFill>
                <a:latin typeface="Consolas"/>
              </a:rPr>
              <a:t>rolling</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1h</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sum</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base</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g</a:t>
            </a:r>
            <a:r>
              <a:rPr sz="1500" i="0">
                <a:solidFill>
                  <a:srgbClr val="AEB6BF"/>
                </a:solidFill>
                <a:latin typeface="Consolas"/>
              </a:rPr>
              <a:t>[</a:t>
            </a:r>
            <a:r>
              <a:rPr sz="1500" i="0">
                <a:solidFill>
                  <a:srgbClr val="E8EDF2"/>
                </a:solidFill>
                <a:latin typeface="Consolas"/>
              </a:rPr>
              <a:t>col</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transform</a:t>
            </a:r>
            <a:r>
              <a:rPr sz="1500" i="0">
                <a:solidFill>
                  <a:srgbClr val="AEB6BF"/>
                </a:solidFill>
                <a:latin typeface="Consolas"/>
              </a:rPr>
              <a:t>(</a:t>
            </a:r>
            <a:r>
              <a:rPr sz="1500" i="0">
                <a:solidFill>
                  <a:srgbClr val="5DADE2"/>
                </a:solidFill>
                <a:latin typeface="Consolas"/>
              </a:rPr>
              <a:t>lambda</a:t>
            </a:r>
            <a:r>
              <a:rPr sz="1500" i="0">
                <a:solidFill>
                  <a:srgbClr val="E8EDF2"/>
                </a:solidFill>
                <a:latin typeface="Consolas"/>
              </a:rPr>
              <a:t> </a:t>
            </a:r>
            <a:r>
              <a:rPr sz="1500" i="0">
                <a:solidFill>
                  <a:srgbClr val="E8EDF2"/>
                </a:solidFill>
                <a:latin typeface="Consolas"/>
              </a:rPr>
              <a:t>s</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s</a:t>
            </a:r>
            <a:r>
              <a:rPr sz="1500" i="0">
                <a:solidFill>
                  <a:srgbClr val="AEB6BF"/>
                </a:solidFill>
                <a:latin typeface="Consolas"/>
              </a:rPr>
              <a:t>.</a:t>
            </a:r>
            <a:r>
              <a:rPr sz="1500" i="0">
                <a:solidFill>
                  <a:srgbClr val="E8EDF2"/>
                </a:solidFill>
                <a:latin typeface="Consolas"/>
              </a:rPr>
              <a:t>rolling</a:t>
            </a:r>
            <a:r>
              <a:rPr sz="1500" i="0">
                <a:solidFill>
                  <a:srgbClr val="AEB6BF"/>
                </a:solidFill>
                <a:latin typeface="Consolas"/>
              </a:rPr>
              <a:t>(</a:t>
            </a:r>
            <a:r>
              <a:rPr sz="1500" i="0">
                <a:solidFill>
                  <a:srgbClr val="E8EDF2"/>
                </a:solidFill>
                <a:latin typeface="Consolas"/>
              </a:rPr>
              <a:t>window</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mean</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sd</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g</a:t>
            </a:r>
            <a:r>
              <a:rPr sz="1500" i="0">
                <a:solidFill>
                  <a:srgbClr val="AEB6BF"/>
                </a:solidFill>
                <a:latin typeface="Consolas"/>
              </a:rPr>
              <a:t>[</a:t>
            </a:r>
            <a:r>
              <a:rPr sz="1500" i="0">
                <a:solidFill>
                  <a:srgbClr val="E8EDF2"/>
                </a:solidFill>
                <a:latin typeface="Consolas"/>
              </a:rPr>
              <a:t>col</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transform</a:t>
            </a:r>
            <a:r>
              <a:rPr sz="1500" i="0">
                <a:solidFill>
                  <a:srgbClr val="AEB6BF"/>
                </a:solidFill>
                <a:latin typeface="Consolas"/>
              </a:rPr>
              <a:t>(</a:t>
            </a:r>
            <a:r>
              <a:rPr sz="1500" i="0">
                <a:solidFill>
                  <a:srgbClr val="5DADE2"/>
                </a:solidFill>
                <a:latin typeface="Consolas"/>
              </a:rPr>
              <a:t>lambda</a:t>
            </a:r>
            <a:r>
              <a:rPr sz="1500" i="0">
                <a:solidFill>
                  <a:srgbClr val="E8EDF2"/>
                </a:solidFill>
                <a:latin typeface="Consolas"/>
              </a:rPr>
              <a:t> </a:t>
            </a:r>
            <a:r>
              <a:rPr sz="1500" i="0">
                <a:solidFill>
                  <a:srgbClr val="E8EDF2"/>
                </a:solidFill>
                <a:latin typeface="Consolas"/>
              </a:rPr>
              <a:t>s</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s</a:t>
            </a:r>
            <a:r>
              <a:rPr sz="1500" i="0">
                <a:solidFill>
                  <a:srgbClr val="AEB6BF"/>
                </a:solidFill>
                <a:latin typeface="Consolas"/>
              </a:rPr>
              <a:t>.</a:t>
            </a:r>
            <a:r>
              <a:rPr sz="1500" i="0">
                <a:solidFill>
                  <a:srgbClr val="E8EDF2"/>
                </a:solidFill>
                <a:latin typeface="Consolas"/>
              </a:rPr>
              <a:t>rolling</a:t>
            </a:r>
            <a:r>
              <a:rPr sz="1500" i="0">
                <a:solidFill>
                  <a:srgbClr val="AEB6BF"/>
                </a:solidFill>
                <a:latin typeface="Consolas"/>
              </a:rPr>
              <a:t>(</a:t>
            </a:r>
            <a:r>
              <a:rPr sz="1500" i="0">
                <a:solidFill>
                  <a:srgbClr val="E8EDF2"/>
                </a:solidFill>
                <a:latin typeface="Consolas"/>
              </a:rPr>
              <a:t>window</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std</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1">
                <a:solidFill>
                  <a:srgbClr val="8795A1"/>
                </a:solidFill>
                <a:latin typeface="Consolas"/>
              </a:rPr>
              <a:t># z-score against the entity's OWN history, not the population's</a:t>
            </a:r>
          </a:p>
          <a:p>
            <a:pPr>
              <a:lnSpc>
                <a:spcPct val="100000"/>
              </a:lnSpc>
              <a:spcAft>
                <a:spcPts val="0"/>
              </a:spcAft>
            </a:pPr>
            <a:r>
              <a:rPr sz="1500" i="0">
                <a:solidFill>
                  <a:srgbClr val="E8EDF2"/>
                </a:solidFill>
                <a:latin typeface="Consolas"/>
              </a:rPr>
              <a:t>        </a:t>
            </a:r>
            <a:r>
              <a:rPr sz="1500" i="0">
                <a:solidFill>
                  <a:srgbClr val="E8EDF2"/>
                </a:solidFill>
                <a:latin typeface="Consolas"/>
              </a:rPr>
              <a:t>f</a:t>
            </a:r>
            <a:r>
              <a:rPr sz="1500" i="0">
                <a:solidFill>
                  <a:srgbClr val="AEB6BF"/>
                </a:solidFill>
                <a:latin typeface="Consolas"/>
              </a:rPr>
              <a:t>[</a:t>
            </a:r>
            <a:r>
              <a:rPr sz="1500" i="0">
                <a:solidFill>
                  <a:srgbClr val="7DCEA0"/>
                </a:solidFill>
                <a:latin typeface="Consolas"/>
              </a:rPr>
              <a:t>f</a:t>
            </a:r>
            <a:r>
              <a:rPr sz="1500" i="0">
                <a:solidFill>
                  <a:srgbClr val="7DCEA0"/>
                </a:solidFill>
                <a:latin typeface="Consolas"/>
              </a:rPr>
              <a:t>"</a:t>
            </a:r>
            <a:r>
              <a:rPr sz="1500" i="0">
                <a:solidFill>
                  <a:srgbClr val="7DCEA0"/>
                </a:solidFill>
                <a:latin typeface="Consolas"/>
              </a:rPr>
              <a:t>{</a:t>
            </a:r>
            <a:r>
              <a:rPr sz="1500" i="0">
                <a:solidFill>
                  <a:srgbClr val="E8EDF2"/>
                </a:solidFill>
                <a:latin typeface="Consolas"/>
              </a:rPr>
              <a:t>col</a:t>
            </a:r>
            <a:r>
              <a:rPr sz="1500" i="0">
                <a:solidFill>
                  <a:srgbClr val="7DCEA0"/>
                </a:solidFill>
                <a:latin typeface="Consolas"/>
              </a:rPr>
              <a:t>}</a:t>
            </a:r>
            <a:r>
              <a:rPr sz="1500" i="0">
                <a:solidFill>
                  <a:srgbClr val="7DCEA0"/>
                </a:solidFill>
                <a:latin typeface="Consolas"/>
              </a:rPr>
              <a:t>_z</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cur</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base</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sd</a:t>
            </a:r>
            <a:r>
              <a:rPr sz="1500" i="0">
                <a:solidFill>
                  <a:srgbClr val="AEB6BF"/>
                </a:solidFill>
                <a:latin typeface="Consolas"/>
              </a:rPr>
              <a:t>.</a:t>
            </a:r>
            <a:r>
              <a:rPr sz="1500" i="0">
                <a:solidFill>
                  <a:srgbClr val="E8EDF2"/>
                </a:solidFill>
                <a:latin typeface="Consolas"/>
              </a:rPr>
              <a:t>replace</a:t>
            </a:r>
            <a:r>
              <a:rPr sz="1500" i="0">
                <a:solidFill>
                  <a:srgbClr val="AEB6BF"/>
                </a:solidFill>
                <a:latin typeface="Consolas"/>
              </a:rPr>
              <a:t>(</a:t>
            </a:r>
            <a:r>
              <a:rPr sz="1500" i="0">
                <a:solidFill>
                  <a:srgbClr val="F7DC6F"/>
                </a:solidFill>
                <a:latin typeface="Consolas"/>
              </a:rPr>
              <a:t>0</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np</a:t>
            </a:r>
            <a:r>
              <a:rPr sz="1500" i="0">
                <a:solidFill>
                  <a:srgbClr val="AEB6BF"/>
                </a:solidFill>
                <a:latin typeface="Consolas"/>
              </a:rPr>
              <a:t>.</a:t>
            </a:r>
            <a:r>
              <a:rPr sz="1500" i="0">
                <a:solidFill>
                  <a:srgbClr val="E8EDF2"/>
                </a:solidFill>
                <a:latin typeface="Consolas"/>
              </a:rPr>
              <a:t>nan</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    </a:t>
            </a:r>
            <a:r>
              <a:rPr sz="1500" i="1">
                <a:solidFill>
                  <a:srgbClr val="8795A1"/>
                </a:solidFill>
                <a:latin typeface="Consolas"/>
              </a:rPr>
              <a:t># "has this host ever done this before?" -- powerful and cheap</a:t>
            </a:r>
          </a:p>
          <a:p>
            <a:pPr>
              <a:lnSpc>
                <a:spcPct val="100000"/>
              </a:lnSpc>
              <a:spcAft>
                <a:spcPts val="0"/>
              </a:spcAft>
            </a:pPr>
            <a:r>
              <a:rPr sz="1500" i="0">
                <a:solidFill>
                  <a:srgbClr val="E8EDF2"/>
                </a:solidFill>
                <a:latin typeface="Consolas"/>
              </a:rPr>
              <a:t>    </a:t>
            </a:r>
            <a:r>
              <a:rPr sz="1500" i="0">
                <a:solidFill>
                  <a:srgbClr val="E8EDF2"/>
                </a:solidFill>
                <a:latin typeface="Consolas"/>
              </a:rPr>
              <a:t>f</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novel_dest</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g</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dst_ip</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transform</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lambda</a:t>
            </a:r>
            <a:r>
              <a:rPr sz="1500" i="0">
                <a:solidFill>
                  <a:srgbClr val="E8EDF2"/>
                </a:solidFill>
                <a:latin typeface="Consolas"/>
              </a:rPr>
              <a:t> </a:t>
            </a:r>
            <a:r>
              <a:rPr sz="1500" i="0">
                <a:solidFill>
                  <a:srgbClr val="E8EDF2"/>
                </a:solidFill>
                <a:latin typeface="Consolas"/>
              </a:rPr>
              <a:t>s</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s</a:t>
            </a:r>
            <a:r>
              <a:rPr sz="1500" i="0">
                <a:solidFill>
                  <a:srgbClr val="AEB6BF"/>
                </a:solidFill>
                <a:latin typeface="Consolas"/>
              </a:rPr>
              <a:t>.</a:t>
            </a:r>
            <a:r>
              <a:rPr sz="1500" i="0">
                <a:solidFill>
                  <a:srgbClr val="E8EDF2"/>
                </a:solidFill>
                <a:latin typeface="Consolas"/>
              </a:rPr>
              <a:t>duplicated</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rolling</a:t>
            </a:r>
            <a:r>
              <a:rPr sz="1500" i="0">
                <a:solidFill>
                  <a:srgbClr val="AEB6BF"/>
                </a:solidFill>
                <a:latin typeface="Consolas"/>
              </a:rPr>
              <a:t>(</a:t>
            </a:r>
            <a:r>
              <a:rPr sz="1500" i="0">
                <a:solidFill>
                  <a:srgbClr val="F7DC6F"/>
                </a:solidFill>
                <a:latin typeface="Consolas"/>
              </a:rPr>
              <a:t>100</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sum</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return</a:t>
            </a:r>
            <a:r>
              <a:rPr sz="1500" i="0">
                <a:solidFill>
                  <a:srgbClr val="E8EDF2"/>
                </a:solidFill>
                <a:latin typeface="Consolas"/>
              </a:rPr>
              <a:t> </a:t>
            </a:r>
            <a:r>
              <a:rPr sz="1500" i="0">
                <a:solidFill>
                  <a:srgbClr val="E8EDF2"/>
                </a:solidFill>
                <a:latin typeface="Consolas"/>
              </a:rPr>
              <a:t>f</a:t>
            </a:r>
          </a:p>
        </p:txBody>
      </p:sp>
      <p:sp>
        <p:nvSpPr>
          <p:cNvPr id="15" name="!!code-num"/>
          <p:cNvSpPr txBox="1"/>
          <p:nvPr/>
        </p:nvSpPr>
        <p:spPr>
          <a:xfrm>
            <a:off x="768096" y="2523744"/>
            <a:ext cx="393192" cy="3730752"/>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2</a:t>
            </a:r>
          </a:p>
          <a:p>
            <a:pPr algn="r">
              <a:lnSpc>
                <a:spcPct val="100000"/>
              </a:lnSpc>
            </a:pPr>
            <a:r>
              <a:rPr sz="1500">
                <a:solidFill>
                  <a:srgbClr val="4F5D6A"/>
                </a:solidFill>
                <a:latin typeface="Consolas"/>
              </a:rPr>
              <a:t>3</a:t>
            </a:r>
          </a:p>
          <a:p>
            <a:pPr algn="r">
              <a:lnSpc>
                <a:spcPct val="100000"/>
              </a:lnSpc>
            </a:pPr>
            <a:r>
              <a:rPr sz="1500">
                <a:solidFill>
                  <a:srgbClr val="4F5D6A"/>
                </a:solidFill>
                <a:latin typeface="Consolas"/>
              </a:rPr>
              <a:t>4</a:t>
            </a:r>
          </a:p>
          <a:p>
            <a:pPr algn="r">
              <a:lnSpc>
                <a:spcPct val="100000"/>
              </a:lnSpc>
            </a:pPr>
            <a:r>
              <a:rPr sz="1500">
                <a:solidFill>
                  <a:srgbClr val="4F5D6A"/>
                </a:solidFill>
                <a:latin typeface="Consolas"/>
              </a:rPr>
              <a:t>5</a:t>
            </a:r>
          </a:p>
          <a:p>
            <a:pPr algn="r">
              <a:lnSpc>
                <a:spcPct val="100000"/>
              </a:lnSpc>
            </a:pPr>
            <a:r>
              <a:rPr sz="1500">
                <a:solidFill>
                  <a:srgbClr val="4F5D6A"/>
                </a:solidFill>
                <a:latin typeface="Consolas"/>
              </a:rPr>
              <a:t>6</a:t>
            </a:r>
          </a:p>
          <a:p>
            <a:pPr algn="r">
              <a:lnSpc>
                <a:spcPct val="100000"/>
              </a:lnSpc>
            </a:pPr>
            <a:r>
              <a:rPr sz="1500">
                <a:solidFill>
                  <a:srgbClr val="4F5D6A"/>
                </a:solidFill>
                <a:latin typeface="Consolas"/>
              </a:rPr>
              <a:t>7</a:t>
            </a:r>
          </a:p>
          <a:p>
            <a:pPr algn="r">
              <a:lnSpc>
                <a:spcPct val="100000"/>
              </a:lnSpc>
            </a:pPr>
            <a:r>
              <a:rPr sz="1500">
                <a:solidFill>
                  <a:srgbClr val="4F5D6A"/>
                </a:solidFill>
                <a:latin typeface="Consolas"/>
              </a:rPr>
              <a:t>8</a:t>
            </a:r>
          </a:p>
          <a:p>
            <a:pPr algn="r">
              <a:lnSpc>
                <a:spcPct val="100000"/>
              </a:lnSpc>
            </a:pPr>
            <a:r>
              <a:rPr sz="1500">
                <a:solidFill>
                  <a:srgbClr val="4F5D6A"/>
                </a:solidFill>
                <a:latin typeface="Consolas"/>
              </a:rPr>
              <a:t>9</a:t>
            </a:r>
          </a:p>
          <a:p>
            <a:pPr algn="r">
              <a:lnSpc>
                <a:spcPct val="100000"/>
              </a:lnSpc>
            </a:pPr>
            <a:r>
              <a:rPr sz="1500">
                <a:solidFill>
                  <a:srgbClr val="4F5D6A"/>
                </a:solidFill>
                <a:latin typeface="Consolas"/>
              </a:rPr>
              <a:t>10</a:t>
            </a:r>
          </a:p>
          <a:p>
            <a:pPr algn="r">
              <a:lnSpc>
                <a:spcPct val="100000"/>
              </a:lnSpc>
            </a:pPr>
            <a:r>
              <a:rPr sz="1500">
                <a:solidFill>
                  <a:srgbClr val="4F5D6A"/>
                </a:solidFill>
                <a:latin typeface="Consolas"/>
              </a:rPr>
              <a:t>11</a:t>
            </a:r>
          </a:p>
          <a:p>
            <a:pPr algn="r">
              <a:lnSpc>
                <a:spcPct val="100000"/>
              </a:lnSpc>
            </a:pPr>
            <a:r>
              <a:rPr sz="1500">
                <a:solidFill>
                  <a:srgbClr val="4F5D6A"/>
                </a:solidFill>
                <a:latin typeface="Consolas"/>
              </a:rPr>
              <a:t>12</a:t>
            </a:r>
          </a:p>
          <a:p>
            <a:pPr algn="r">
              <a:lnSpc>
                <a:spcPct val="100000"/>
              </a:lnSpc>
            </a:pPr>
            <a:r>
              <a:rPr sz="1500">
                <a:solidFill>
                  <a:srgbClr val="4F5D6A"/>
                </a:solidFill>
                <a:latin typeface="Consolas"/>
              </a:rPr>
              <a:t>13</a:t>
            </a:r>
          </a:p>
          <a:p>
            <a:pPr algn="r">
              <a:lnSpc>
                <a:spcPct val="100000"/>
              </a:lnSpc>
            </a:pPr>
            <a:r>
              <a:rPr sz="1500">
                <a:solidFill>
                  <a:srgbClr val="4F5D6A"/>
                </a:solidFill>
                <a:latin typeface="Consolas"/>
              </a:rPr>
              <a:t>14</a:t>
            </a:r>
          </a:p>
          <a:p>
            <a:pPr algn="r">
              <a:lnSpc>
                <a:spcPct val="100000"/>
              </a:lnSpc>
            </a:pPr>
            <a:r>
              <a:rPr sz="1500">
                <a:solidFill>
                  <a:srgbClr val="4F5D6A"/>
                </a:solidFill>
                <a:latin typeface="Consolas"/>
              </a:rPr>
              <a:t>15</a:t>
            </a:r>
          </a:p>
          <a:p>
            <a:pPr algn="r">
              <a:lnSpc>
                <a:spcPct val="100000"/>
              </a:lnSpc>
            </a:pPr>
            <a:r>
              <a:rPr sz="1500">
                <a:solidFill>
                  <a:srgbClr val="4F5D6A"/>
                </a:solidFill>
                <a:latin typeface="Consolas"/>
              </a:rPr>
              <a:t>16</a:t>
            </a:r>
          </a:p>
          <a:p>
            <a:pPr algn="r">
              <a:lnSpc>
                <a:spcPct val="100000"/>
              </a:lnSpc>
            </a:pPr>
            <a:r>
              <a:rPr sz="1500">
                <a:solidFill>
                  <a:srgbClr val="4F5D6A"/>
                </a:solidFill>
                <a:latin typeface="Consolas"/>
              </a:rPr>
              <a:t>17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Per-Entity Baselines and an Evasion Test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§26.5  ·  Handout p. 171     </a:t>
            </a:r>
            <a:fld id="{62327AD7-7E5A-4F01-A629-C2DC5DF0DC11}"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Threshold from ANALYST CAPACITY, not from 0.5</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554223"/>
          </a:xfrm>
          <a:prstGeom prst="roundRect">
            <a:avLst>
              <a:gd name="adj" fmla="val 357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2. threshold from ANALYST CAPACITY, not from 0.5 ------------------ def threshold_for_capacity(scores, events_per_day, alerts_per_day=120): &quot;&quot;&quot;Work backwards from what the SOC can actually investigate.&quot;&quot;&quot; target_fpr = alerts_per_day / events_per_day return np.percentile(scores, 100 * (1 - target_fpr)) thr = threshold_for_capacity(scores, events_per_day=2_000_000, alerts_per_day=120) print(f&quot;threshold {thr:.4f} -&gt; ~{(scores &gt; thr).mean()*2e6:.0f} alerts/day&quot;)"/>
          <p:cNvSpPr txBox="1"/>
          <p:nvPr/>
        </p:nvSpPr>
        <p:spPr>
          <a:xfrm>
            <a:off x="1362456" y="2523744"/>
            <a:ext cx="9987991" cy="2060447"/>
          </a:xfrm>
          <a:prstGeom prst="rect">
            <a:avLst/>
          </a:prstGeom>
          <a:noFill/>
        </p:spPr>
        <p:txBody>
          <a:bodyPr wrap="none" anchor="t" lIns="0" rIns="0" tIns="0" bIns="0">
            <a:noAutofit/>
          </a:bodyPr>
          <a:lstStyle/>
          <a:p>
            <a:pPr>
              <a:lnSpc>
                <a:spcPct val="100000"/>
              </a:lnSpc>
              <a:spcAft>
                <a:spcPts val="0"/>
              </a:spcAft>
            </a:pPr>
            <a:r>
              <a:rPr sz="1600" i="1">
                <a:solidFill>
                  <a:srgbClr val="8795A1"/>
                </a:solidFill>
                <a:latin typeface="Consolas"/>
              </a:rPr>
              <a:t># --- 2. threshold from ANALYST CAPACITY, not from 0.5 ------------------</a:t>
            </a:r>
          </a:p>
          <a:p>
            <a:pPr>
              <a:lnSpc>
                <a:spcPct val="100000"/>
              </a:lnSpc>
              <a:spcAft>
                <a:spcPts val="0"/>
              </a:spcAft>
            </a:pPr>
            <a:r>
              <a:rPr sz="1600" i="0">
                <a:solidFill>
                  <a:srgbClr val="5DADE2"/>
                </a:solidFill>
                <a:latin typeface="Consolas"/>
              </a:rPr>
              <a:t>def</a:t>
            </a:r>
            <a:r>
              <a:rPr sz="1600" i="0">
                <a:solidFill>
                  <a:srgbClr val="E8EDF2"/>
                </a:solidFill>
                <a:latin typeface="Consolas"/>
              </a:rPr>
              <a:t> </a:t>
            </a:r>
            <a:r>
              <a:rPr sz="1600" i="0">
                <a:solidFill>
                  <a:srgbClr val="C39BD3"/>
                </a:solidFill>
                <a:latin typeface="Consolas"/>
              </a:rPr>
              <a:t>threshold_for_capacity</a:t>
            </a:r>
            <a:r>
              <a:rPr sz="1600" i="0">
                <a:solidFill>
                  <a:srgbClr val="AEB6BF"/>
                </a:solidFill>
                <a:latin typeface="Consolas"/>
              </a:rPr>
              <a:t>(</a:t>
            </a:r>
            <a:r>
              <a:rPr sz="1600" i="0">
                <a:solidFill>
                  <a:srgbClr val="E8EDF2"/>
                </a:solidFill>
                <a:latin typeface="Consolas"/>
              </a:rPr>
              <a:t>scores</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events_per_day</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alerts_per_day</a:t>
            </a:r>
            <a:r>
              <a:rPr sz="1600" i="0">
                <a:solidFill>
                  <a:srgbClr val="AEB6BF"/>
                </a:solidFill>
                <a:latin typeface="Consolas"/>
              </a:rPr>
              <a:t>=</a:t>
            </a:r>
            <a:r>
              <a:rPr sz="1600" i="0">
                <a:solidFill>
                  <a:srgbClr val="F7DC6F"/>
                </a:solidFill>
                <a:latin typeface="Consolas"/>
              </a:rPr>
              <a:t>120</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7DCEA0"/>
                </a:solidFill>
                <a:latin typeface="Consolas"/>
              </a:rPr>
              <a:t>"""Work backwards from what the SOC can actually investigate."""</a:t>
            </a:r>
          </a:p>
          <a:p>
            <a:pPr>
              <a:lnSpc>
                <a:spcPct val="100000"/>
              </a:lnSpc>
              <a:spcAft>
                <a:spcPts val="0"/>
              </a:spcAft>
            </a:pPr>
            <a:r>
              <a:rPr sz="1600" i="0">
                <a:solidFill>
                  <a:srgbClr val="E8EDF2"/>
                </a:solidFill>
                <a:latin typeface="Consolas"/>
              </a:rPr>
              <a:t>    </a:t>
            </a:r>
            <a:r>
              <a:rPr sz="1600" i="0">
                <a:solidFill>
                  <a:srgbClr val="E8EDF2"/>
                </a:solidFill>
                <a:latin typeface="Consolas"/>
              </a:rPr>
              <a:t>target_fpr</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alerts_per_day</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events_per_day</a:t>
            </a:r>
          </a:p>
          <a:p>
            <a:pPr>
              <a:lnSpc>
                <a:spcPct val="100000"/>
              </a:lnSpc>
              <a:spcAft>
                <a:spcPts val="0"/>
              </a:spcAft>
            </a:pPr>
            <a:r>
              <a:rPr sz="1600" i="0">
                <a:solidFill>
                  <a:srgbClr val="E8EDF2"/>
                </a:solidFill>
                <a:latin typeface="Consolas"/>
              </a:rPr>
              <a:t>    </a:t>
            </a:r>
            <a:r>
              <a:rPr sz="1600" i="0">
                <a:solidFill>
                  <a:srgbClr val="5DADE2"/>
                </a:solidFill>
                <a:latin typeface="Consolas"/>
              </a:rPr>
              <a:t>return</a:t>
            </a:r>
            <a:r>
              <a:rPr sz="1600" i="0">
                <a:solidFill>
                  <a:srgbClr val="E8EDF2"/>
                </a:solidFill>
                <a:latin typeface="Consolas"/>
              </a:rPr>
              <a:t> </a:t>
            </a:r>
            <a:r>
              <a:rPr sz="1600" i="0">
                <a:solidFill>
                  <a:srgbClr val="E8EDF2"/>
                </a:solidFill>
                <a:latin typeface="Consolas"/>
              </a:rPr>
              <a:t>np</a:t>
            </a:r>
            <a:r>
              <a:rPr sz="1600" i="0">
                <a:solidFill>
                  <a:srgbClr val="AEB6BF"/>
                </a:solidFill>
                <a:latin typeface="Consolas"/>
              </a:rPr>
              <a:t>.</a:t>
            </a:r>
            <a:r>
              <a:rPr sz="1600" i="0">
                <a:solidFill>
                  <a:srgbClr val="E8EDF2"/>
                </a:solidFill>
                <a:latin typeface="Consolas"/>
              </a:rPr>
              <a:t>percentile</a:t>
            </a:r>
            <a:r>
              <a:rPr sz="1600" i="0">
                <a:solidFill>
                  <a:srgbClr val="AEB6BF"/>
                </a:solidFill>
                <a:latin typeface="Consolas"/>
              </a:rPr>
              <a:t>(</a:t>
            </a:r>
            <a:r>
              <a:rPr sz="1600" i="0">
                <a:solidFill>
                  <a:srgbClr val="E8EDF2"/>
                </a:solidFill>
                <a:latin typeface="Consolas"/>
              </a:rPr>
              <a:t>scores</a:t>
            </a:r>
            <a:r>
              <a:rPr sz="1600" i="0">
                <a:solidFill>
                  <a:srgbClr val="AEB6BF"/>
                </a:solidFill>
                <a:latin typeface="Consolas"/>
              </a:rPr>
              <a:t>,</a:t>
            </a:r>
            <a:r>
              <a:rPr sz="1600" i="0">
                <a:solidFill>
                  <a:srgbClr val="E8EDF2"/>
                </a:solidFill>
                <a:latin typeface="Consolas"/>
              </a:rPr>
              <a:t> </a:t>
            </a:r>
            <a:r>
              <a:rPr sz="1600" i="0">
                <a:solidFill>
                  <a:srgbClr val="F7DC6F"/>
                </a:solidFill>
                <a:latin typeface="Consolas"/>
              </a:rPr>
              <a:t>100</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a:t>
            </a:r>
            <a:r>
              <a:rPr sz="1600" i="0">
                <a:solidFill>
                  <a:srgbClr val="F7DC6F"/>
                </a:solidFill>
                <a:latin typeface="Consolas"/>
              </a:rPr>
              <a:t>1</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target_fpr</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a:latin typeface="Consolas"/>
              </a:rPr>
              <a:t> </a:t>
            </a:r>
          </a:p>
          <a:p>
            <a:pPr>
              <a:lnSpc>
                <a:spcPct val="100000"/>
              </a:lnSpc>
              <a:spcAft>
                <a:spcPts val="0"/>
              </a:spcAft>
            </a:pPr>
            <a:r>
              <a:rPr sz="1600" i="0">
                <a:solidFill>
                  <a:srgbClr val="E8EDF2"/>
                </a:solidFill>
                <a:latin typeface="Consolas"/>
              </a:rPr>
              <a:t>thr</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threshold_for_capacity</a:t>
            </a:r>
            <a:r>
              <a:rPr sz="1600" i="0">
                <a:solidFill>
                  <a:srgbClr val="AEB6BF"/>
                </a:solidFill>
                <a:latin typeface="Consolas"/>
              </a:rPr>
              <a:t>(</a:t>
            </a:r>
            <a:r>
              <a:rPr sz="1600" i="0">
                <a:solidFill>
                  <a:srgbClr val="E8EDF2"/>
                </a:solidFill>
                <a:latin typeface="Consolas"/>
              </a:rPr>
              <a:t>scores</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events_per_day</a:t>
            </a:r>
            <a:r>
              <a:rPr sz="1600" i="0">
                <a:solidFill>
                  <a:srgbClr val="AEB6BF"/>
                </a:solidFill>
                <a:latin typeface="Consolas"/>
              </a:rPr>
              <a:t>=</a:t>
            </a:r>
            <a:r>
              <a:rPr sz="1600" i="0">
                <a:solidFill>
                  <a:srgbClr val="F7DC6F"/>
                </a:solidFill>
                <a:latin typeface="Consolas"/>
              </a:rPr>
              <a:t>2_000_000</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alerts_per_day</a:t>
            </a:r>
            <a:r>
              <a:rPr sz="1600" i="0">
                <a:solidFill>
                  <a:srgbClr val="AEB6BF"/>
                </a:solidFill>
                <a:latin typeface="Consolas"/>
              </a:rPr>
              <a:t>=</a:t>
            </a:r>
            <a:r>
              <a:rPr sz="1600" i="0">
                <a:solidFill>
                  <a:srgbClr val="F7DC6F"/>
                </a:solidFill>
                <a:latin typeface="Consolas"/>
              </a:rPr>
              <a:t>120</a:t>
            </a:r>
            <a:r>
              <a:rPr sz="1600" i="0">
                <a:solidFill>
                  <a:srgbClr val="AEB6BF"/>
                </a:solidFill>
                <a:latin typeface="Consolas"/>
              </a:rPr>
              <a:t>)</a:t>
            </a:r>
          </a:p>
          <a:p>
            <a:pPr>
              <a:lnSpc>
                <a:spcPct val="100000"/>
              </a:lnSpc>
              <a:spcAft>
                <a:spcPts val="0"/>
              </a:spcAft>
            </a:pPr>
            <a:r>
              <a:rPr sz="1600" i="0">
                <a:solidFill>
                  <a:srgbClr val="C39BD3"/>
                </a:solidFill>
                <a:latin typeface="Consolas"/>
              </a:rPr>
              <a:t>print</a:t>
            </a:r>
            <a:r>
              <a:rPr sz="1600" i="0">
                <a:solidFill>
                  <a:srgbClr val="AEB6BF"/>
                </a:solidFill>
                <a:latin typeface="Consolas"/>
              </a:rPr>
              <a:t>(</a:t>
            </a:r>
            <a:r>
              <a:rPr sz="1600" i="0">
                <a:solidFill>
                  <a:srgbClr val="7DCEA0"/>
                </a:solidFill>
                <a:latin typeface="Consolas"/>
              </a:rPr>
              <a:t>f</a:t>
            </a:r>
            <a:r>
              <a:rPr sz="1600" i="0">
                <a:solidFill>
                  <a:srgbClr val="7DCEA0"/>
                </a:solidFill>
                <a:latin typeface="Consolas"/>
              </a:rPr>
              <a:t>"</a:t>
            </a:r>
            <a:r>
              <a:rPr sz="1600" i="0">
                <a:solidFill>
                  <a:srgbClr val="7DCEA0"/>
                </a:solidFill>
                <a:latin typeface="Consolas"/>
              </a:rPr>
              <a:t>threshold </a:t>
            </a:r>
            <a:r>
              <a:rPr sz="1600" i="0">
                <a:solidFill>
                  <a:srgbClr val="7DCEA0"/>
                </a:solidFill>
                <a:latin typeface="Consolas"/>
              </a:rPr>
              <a:t>{</a:t>
            </a:r>
            <a:r>
              <a:rPr sz="1600" i="0">
                <a:solidFill>
                  <a:srgbClr val="E8EDF2"/>
                </a:solidFill>
                <a:latin typeface="Consolas"/>
              </a:rPr>
              <a:t>thr</a:t>
            </a:r>
            <a:r>
              <a:rPr sz="1600" i="0">
                <a:solidFill>
                  <a:srgbClr val="7DCEA0"/>
                </a:solidFill>
                <a:latin typeface="Consolas"/>
              </a:rPr>
              <a:t>:</a:t>
            </a:r>
            <a:r>
              <a:rPr sz="1600" i="0">
                <a:solidFill>
                  <a:srgbClr val="7DCEA0"/>
                </a:solidFill>
                <a:latin typeface="Consolas"/>
              </a:rPr>
              <a:t>.4f</a:t>
            </a:r>
            <a:r>
              <a:rPr sz="1600" i="0">
                <a:solidFill>
                  <a:srgbClr val="7DCEA0"/>
                </a:solidFill>
                <a:latin typeface="Consolas"/>
              </a:rPr>
              <a:t>}</a:t>
            </a:r>
            <a:r>
              <a:rPr sz="1600" i="0">
                <a:solidFill>
                  <a:srgbClr val="7DCEA0"/>
                </a:solidFill>
                <a:latin typeface="Consolas"/>
              </a:rPr>
              <a:t> -&gt; ~</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scores</a:t>
            </a:r>
            <a:r>
              <a:rPr sz="1600" i="0">
                <a:solidFill>
                  <a:srgbClr val="E8EDF2"/>
                </a:solidFill>
                <a:latin typeface="Consolas"/>
              </a:rPr>
              <a:t> </a:t>
            </a:r>
            <a:r>
              <a:rPr sz="1600" i="0">
                <a:solidFill>
                  <a:srgbClr val="AEB6BF"/>
                </a:solidFill>
                <a:latin typeface="Consolas"/>
              </a:rPr>
              <a:t>&gt;</a:t>
            </a:r>
            <a:r>
              <a:rPr sz="1600" i="0">
                <a:solidFill>
                  <a:srgbClr val="E8EDF2"/>
                </a:solidFill>
                <a:latin typeface="Consolas"/>
              </a:rPr>
              <a:t> </a:t>
            </a:r>
            <a:r>
              <a:rPr sz="1600" i="0">
                <a:solidFill>
                  <a:srgbClr val="E8EDF2"/>
                </a:solidFill>
                <a:latin typeface="Consolas"/>
              </a:rPr>
              <a:t>thr</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mean</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F7DC6F"/>
                </a:solidFill>
                <a:latin typeface="Consolas"/>
              </a:rPr>
              <a:t>2e6</a:t>
            </a:r>
            <a:r>
              <a:rPr sz="1600" i="0">
                <a:solidFill>
                  <a:srgbClr val="7DCEA0"/>
                </a:solidFill>
                <a:latin typeface="Consolas"/>
              </a:rPr>
              <a:t>:</a:t>
            </a:r>
            <a:r>
              <a:rPr sz="1600" i="0">
                <a:solidFill>
                  <a:srgbClr val="7DCEA0"/>
                </a:solidFill>
                <a:latin typeface="Consolas"/>
              </a:rPr>
              <a:t>.0f</a:t>
            </a:r>
            <a:r>
              <a:rPr sz="1600" i="0">
                <a:solidFill>
                  <a:srgbClr val="7DCEA0"/>
                </a:solidFill>
                <a:latin typeface="Consolas"/>
              </a:rPr>
              <a:t>}</a:t>
            </a:r>
            <a:r>
              <a:rPr sz="1600" i="0">
                <a:solidFill>
                  <a:srgbClr val="7DCEA0"/>
                </a:solidFill>
                <a:latin typeface="Consolas"/>
              </a:rPr>
              <a:t> alerts/day</a:t>
            </a:r>
            <a:r>
              <a:rPr sz="1600" i="0">
                <a:solidFill>
                  <a:srgbClr val="7DCEA0"/>
                </a:solidFill>
                <a:latin typeface="Consolas"/>
              </a:rPr>
              <a:t>"</a:t>
            </a:r>
            <a:r>
              <a:rPr sz="1600" i="0">
                <a:solidFill>
                  <a:srgbClr val="AEB6BF"/>
                </a:solidFill>
                <a:latin typeface="Consolas"/>
              </a:rPr>
              <a:t>)</a:t>
            </a:r>
          </a:p>
        </p:txBody>
      </p:sp>
      <p:sp>
        <p:nvSpPr>
          <p:cNvPr id="15" name="!!code-num"/>
          <p:cNvSpPr txBox="1"/>
          <p:nvPr/>
        </p:nvSpPr>
        <p:spPr>
          <a:xfrm>
            <a:off x="768096" y="2523744"/>
            <a:ext cx="393192" cy="2060447"/>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18</a:t>
            </a:r>
          </a:p>
          <a:p>
            <a:pPr algn="r">
              <a:lnSpc>
                <a:spcPct val="100000"/>
              </a:lnSpc>
            </a:pPr>
            <a:r>
              <a:rPr sz="1600">
                <a:solidFill>
                  <a:srgbClr val="4F5D6A"/>
                </a:solidFill>
                <a:latin typeface="Consolas"/>
              </a:rPr>
              <a:t>19</a:t>
            </a:r>
          </a:p>
          <a:p>
            <a:pPr algn="r">
              <a:lnSpc>
                <a:spcPct val="100000"/>
              </a:lnSpc>
            </a:pPr>
            <a:r>
              <a:rPr sz="1600">
                <a:solidFill>
                  <a:srgbClr val="4F5D6A"/>
                </a:solidFill>
                <a:latin typeface="Consolas"/>
              </a:rPr>
              <a:t>20</a:t>
            </a:r>
          </a:p>
          <a:p>
            <a:pPr algn="r">
              <a:lnSpc>
                <a:spcPct val="100000"/>
              </a:lnSpc>
            </a:pPr>
            <a:r>
              <a:rPr sz="1600">
                <a:solidFill>
                  <a:srgbClr val="4F5D6A"/>
                </a:solidFill>
                <a:latin typeface="Consolas"/>
              </a:rPr>
              <a:t>21</a:t>
            </a:r>
          </a:p>
          <a:p>
            <a:pPr algn="r">
              <a:lnSpc>
                <a:spcPct val="100000"/>
              </a:lnSpc>
            </a:pPr>
            <a:r>
              <a:rPr sz="1600">
                <a:solidFill>
                  <a:srgbClr val="4F5D6A"/>
                </a:solidFill>
                <a:latin typeface="Consolas"/>
              </a:rPr>
              <a:t>22</a:t>
            </a:r>
          </a:p>
          <a:p>
            <a:pPr algn="r">
              <a:lnSpc>
                <a:spcPct val="100000"/>
              </a:lnSpc>
            </a:pPr>
            <a:r>
              <a:rPr sz="1600">
                <a:solidFill>
                  <a:srgbClr val="4F5D6A"/>
                </a:solidFill>
                <a:latin typeface="Consolas"/>
              </a:rPr>
              <a:t>23</a:t>
            </a:r>
          </a:p>
          <a:p>
            <a:pPr algn="r">
              <a:lnSpc>
                <a:spcPct val="100000"/>
              </a:lnSpc>
            </a:pPr>
            <a:r>
              <a:rPr sz="1600">
                <a:solidFill>
                  <a:srgbClr val="4F5D6A"/>
                </a:solidFill>
                <a:latin typeface="Consolas"/>
              </a:rPr>
              <a:t>24</a:t>
            </a:r>
          </a:p>
          <a:p>
            <a:pPr algn="r">
              <a:lnSpc>
                <a:spcPct val="100000"/>
              </a:lnSpc>
            </a:pPr>
            <a:r>
              <a:rPr sz="1600">
                <a:solidFill>
                  <a:srgbClr val="4F5D6A"/>
                </a:solidFill>
                <a:latin typeface="Consolas"/>
              </a:rPr>
              <a:t>25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9872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Per-Entity Baselines and an Evasion Test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§26.5  ·  Handout p. 171     </a:t>
            </a:r>
            <a:fld id="{9EB735B6-5E2C-43EE-B20C-658CA7E36401}"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TEST YOUR OWN MODEL FOR EVASION. This step is not optional.</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224528"/>
          </a:xfrm>
          <a:prstGeom prst="roundRect">
            <a:avLst>
              <a:gd name="adj" fmla="val 216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3. TEST YOUR OWN MODEL FOR EVASION. This step is not optional. ---- def evasion_test(model, attack_rows, feature, factors=(0.9, 0.8, 0.6, 0.4)): &quot;&quot;&quot;How much must an attacker reduce one feature to escape detection?&quot;&quot;&quot; base_rate = (model.predict_proba(attack_rows)[:, 1] &gt; thr).mean() print(f&quot;detection at full strength: {base_rate:.1%}&quot;) for k in factors: probe = attack_rows.copy() probe[feature] *= k # attacker throttles this feature rate = (model.predict_proba(probe)[:, 1] &gt; thr).mean() print(f&quot; {feature} x{k}: detection {rate:.1%}&quot;) if rate &lt; 0.2: print(f&quot; ^ EVADED by scaling one feature to {k}. Too fragile.&quot;) # evasion_test(model, known_attacks, &quot;distinct_ports_per_minute&quot;)"/>
          <p:cNvSpPr txBox="1"/>
          <p:nvPr/>
        </p:nvSpPr>
        <p:spPr>
          <a:xfrm>
            <a:off x="1362456" y="2523744"/>
            <a:ext cx="9987991" cy="3730752"/>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--- 3. TEST YOUR OWN MODEL FOR EVASION. This step is not optional. ----</a:t>
            </a:r>
          </a:p>
          <a:p>
            <a:pPr>
              <a:lnSpc>
                <a:spcPct val="100000"/>
              </a:lnSpc>
              <a:spcAft>
                <a:spcPts val="0"/>
              </a:spcAft>
            </a:pPr>
            <a:r>
              <a:rPr sz="1700" i="0">
                <a:solidFill>
                  <a:srgbClr val="5DADE2"/>
                </a:solidFill>
                <a:latin typeface="Consolas"/>
              </a:rPr>
              <a:t>def</a:t>
            </a:r>
            <a:r>
              <a:rPr sz="1700" i="0">
                <a:solidFill>
                  <a:srgbClr val="E8EDF2"/>
                </a:solidFill>
                <a:latin typeface="Consolas"/>
              </a:rPr>
              <a:t> </a:t>
            </a:r>
            <a:r>
              <a:rPr sz="1700" i="0">
                <a:solidFill>
                  <a:srgbClr val="C39BD3"/>
                </a:solidFill>
                <a:latin typeface="Consolas"/>
              </a:rPr>
              <a:t>evasion_test</a:t>
            </a:r>
            <a:r>
              <a:rPr sz="1700" i="0">
                <a:solidFill>
                  <a:srgbClr val="AEB6BF"/>
                </a:solidFill>
                <a:latin typeface="Consolas"/>
              </a:rPr>
              <a:t>(</a:t>
            </a:r>
            <a:r>
              <a:rPr sz="1700" i="0">
                <a:solidFill>
                  <a:srgbClr val="E8EDF2"/>
                </a:solidFill>
                <a:latin typeface="Consolas"/>
              </a:rPr>
              <a:t>model</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attack_rows</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feature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factors</a:t>
            </a:r>
            <a:r>
              <a:rPr sz="1700" i="0">
                <a:solidFill>
                  <a:srgbClr val="AEB6BF"/>
                </a:solidFill>
                <a:latin typeface="Consolas"/>
              </a:rPr>
              <a:t>=</a:t>
            </a:r>
            <a:r>
              <a:rPr sz="1700" i="0">
                <a:solidFill>
                  <a:srgbClr val="AEB6BF"/>
                </a:solidFill>
                <a:latin typeface="Consolas"/>
              </a:rPr>
              <a:t>(</a:t>
            </a:r>
            <a:r>
              <a:rPr sz="1700" i="0">
                <a:solidFill>
                  <a:srgbClr val="F7DC6F"/>
                </a:solidFill>
                <a:latin typeface="Consolas"/>
              </a:rPr>
              <a:t>0.9</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0.8</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0.6</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0.4</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7DCEA0"/>
                </a:solidFill>
                <a:latin typeface="Consolas"/>
              </a:rPr>
              <a:t>"""How much must an attacker reduce one feature to escape detection?"""</a:t>
            </a:r>
          </a:p>
          <a:p>
            <a:pPr>
              <a:lnSpc>
                <a:spcPct val="100000"/>
              </a:lnSpc>
              <a:spcAft>
                <a:spcPts val="0"/>
              </a:spcAft>
            </a:pPr>
            <a:r>
              <a:rPr sz="1700" i="0">
                <a:solidFill>
                  <a:srgbClr val="E8EDF2"/>
                </a:solidFill>
                <a:latin typeface="Consolas"/>
              </a:rPr>
              <a:t>    </a:t>
            </a:r>
            <a:r>
              <a:rPr sz="1700" i="0">
                <a:solidFill>
                  <a:srgbClr val="E8EDF2"/>
                </a:solidFill>
                <a:latin typeface="Consolas"/>
              </a:rPr>
              <a:t>base_rate</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model</a:t>
            </a:r>
            <a:r>
              <a:rPr sz="1700" i="0">
                <a:solidFill>
                  <a:srgbClr val="AEB6BF"/>
                </a:solidFill>
                <a:latin typeface="Consolas"/>
              </a:rPr>
              <a:t>.</a:t>
            </a:r>
            <a:r>
              <a:rPr sz="1700" i="0">
                <a:solidFill>
                  <a:srgbClr val="E8EDF2"/>
                </a:solidFill>
                <a:latin typeface="Consolas"/>
              </a:rPr>
              <a:t>predict_proba</a:t>
            </a:r>
            <a:r>
              <a:rPr sz="1700" i="0">
                <a:solidFill>
                  <a:srgbClr val="AEB6BF"/>
                </a:solidFill>
                <a:latin typeface="Consolas"/>
              </a:rPr>
              <a:t>(</a:t>
            </a:r>
            <a:r>
              <a:rPr sz="1700" i="0">
                <a:solidFill>
                  <a:srgbClr val="E8EDF2"/>
                </a:solidFill>
                <a:latin typeface="Consolas"/>
              </a:rPr>
              <a:t>attack_rows</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1</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&gt;</a:t>
            </a:r>
            <a:r>
              <a:rPr sz="1700" i="0">
                <a:solidFill>
                  <a:srgbClr val="E8EDF2"/>
                </a:solidFill>
                <a:latin typeface="Consolas"/>
              </a:rPr>
              <a:t> </a:t>
            </a:r>
            <a:r>
              <a:rPr sz="1700" i="0">
                <a:solidFill>
                  <a:srgbClr val="E8EDF2"/>
                </a:solidFill>
                <a:latin typeface="Consolas"/>
              </a:rPr>
              <a:t>thr</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mean</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detection at full strength: </a:t>
            </a:r>
            <a:r>
              <a:rPr sz="1700" i="0">
                <a:solidFill>
                  <a:srgbClr val="7DCEA0"/>
                </a:solidFill>
                <a:latin typeface="Consolas"/>
              </a:rPr>
              <a:t>{</a:t>
            </a:r>
            <a:r>
              <a:rPr sz="1700" i="0">
                <a:solidFill>
                  <a:srgbClr val="E8EDF2"/>
                </a:solidFill>
                <a:latin typeface="Consolas"/>
              </a:rPr>
              <a:t>base_rate</a:t>
            </a:r>
            <a:r>
              <a:rPr sz="1700" i="0">
                <a:solidFill>
                  <a:srgbClr val="7DCEA0"/>
                </a:solidFill>
                <a:latin typeface="Consolas"/>
              </a:rPr>
              <a:t>:</a:t>
            </a:r>
            <a:r>
              <a:rPr sz="1700" i="0">
                <a:solidFill>
                  <a:srgbClr val="7DCEA0"/>
                </a:solidFill>
                <a:latin typeface="Consolas"/>
              </a:rPr>
              <a:t>.1%</a:t>
            </a:r>
            <a:r>
              <a:rPr sz="1700" i="0">
                <a:solidFill>
                  <a:srgbClr val="7DCEA0"/>
                </a:solidFill>
                <a:latin typeface="Consolas"/>
              </a:rPr>
              <a:t>}</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k</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E8EDF2"/>
                </a:solidFill>
                <a:latin typeface="Consolas"/>
              </a:rPr>
              <a:t>factors</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probe</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attack_rows</a:t>
            </a:r>
            <a:r>
              <a:rPr sz="1700" i="0">
                <a:solidFill>
                  <a:srgbClr val="AEB6BF"/>
                </a:solidFill>
                <a:latin typeface="Consolas"/>
              </a:rPr>
              <a:t>.</a:t>
            </a:r>
            <a:r>
              <a:rPr sz="1700" i="0">
                <a:solidFill>
                  <a:srgbClr val="E8EDF2"/>
                </a:solidFill>
                <a:latin typeface="Consolas"/>
              </a:rPr>
              <a:t>copy</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probe</a:t>
            </a:r>
            <a:r>
              <a:rPr sz="1700" i="0">
                <a:solidFill>
                  <a:srgbClr val="AEB6BF"/>
                </a:solidFill>
                <a:latin typeface="Consolas"/>
              </a:rPr>
              <a:t>[</a:t>
            </a:r>
            <a:r>
              <a:rPr sz="1700" i="0">
                <a:solidFill>
                  <a:srgbClr val="E8EDF2"/>
                </a:solidFill>
                <a:latin typeface="Consolas"/>
              </a:rPr>
              <a:t>feature</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k</a:t>
            </a:r>
            <a:r>
              <a:rPr sz="1700" i="0">
                <a:solidFill>
                  <a:srgbClr val="E8EDF2"/>
                </a:solidFill>
                <a:latin typeface="Consolas"/>
              </a:rPr>
              <a:t>                     </a:t>
            </a:r>
            <a:r>
              <a:rPr sz="1700" i="1">
                <a:solidFill>
                  <a:srgbClr val="8795A1"/>
                </a:solidFill>
                <a:latin typeface="Consolas"/>
              </a:rPr>
              <a:t># attacker throttles this feature</a:t>
            </a:r>
          </a:p>
          <a:p>
            <a:pPr>
              <a:lnSpc>
                <a:spcPct val="100000"/>
              </a:lnSpc>
              <a:spcAft>
                <a:spcPts val="0"/>
              </a:spcAft>
            </a:pPr>
            <a:r>
              <a:rPr sz="1700" i="0">
                <a:solidFill>
                  <a:srgbClr val="E8EDF2"/>
                </a:solidFill>
                <a:latin typeface="Consolas"/>
              </a:rPr>
              <a:t>        </a:t>
            </a:r>
            <a:r>
              <a:rPr sz="1700" i="0">
                <a:solidFill>
                  <a:srgbClr val="E8EDF2"/>
                </a:solidFill>
                <a:latin typeface="Consolas"/>
              </a:rPr>
              <a:t>rate</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model</a:t>
            </a:r>
            <a:r>
              <a:rPr sz="1700" i="0">
                <a:solidFill>
                  <a:srgbClr val="AEB6BF"/>
                </a:solidFill>
                <a:latin typeface="Consolas"/>
              </a:rPr>
              <a:t>.</a:t>
            </a:r>
            <a:r>
              <a:rPr sz="1700" i="0">
                <a:solidFill>
                  <a:srgbClr val="E8EDF2"/>
                </a:solidFill>
                <a:latin typeface="Consolas"/>
              </a:rPr>
              <a:t>predict_proba</a:t>
            </a:r>
            <a:r>
              <a:rPr sz="1700" i="0">
                <a:solidFill>
                  <a:srgbClr val="AEB6BF"/>
                </a:solidFill>
                <a:latin typeface="Consolas"/>
              </a:rPr>
              <a:t>(</a:t>
            </a:r>
            <a:r>
              <a:rPr sz="1700" i="0">
                <a:solidFill>
                  <a:srgbClr val="E8EDF2"/>
                </a:solidFill>
                <a:latin typeface="Consolas"/>
              </a:rPr>
              <a:t>probe</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1</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&gt;</a:t>
            </a:r>
            <a:r>
              <a:rPr sz="1700" i="0">
                <a:solidFill>
                  <a:srgbClr val="E8EDF2"/>
                </a:solidFill>
                <a:latin typeface="Consolas"/>
              </a:rPr>
              <a:t> </a:t>
            </a:r>
            <a:r>
              <a:rPr sz="1700" i="0">
                <a:solidFill>
                  <a:srgbClr val="E8EDF2"/>
                </a:solidFill>
                <a:latin typeface="Consolas"/>
              </a:rPr>
              <a:t>thr</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mean</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  </a:t>
            </a:r>
            <a:r>
              <a:rPr sz="1700" i="0">
                <a:solidFill>
                  <a:srgbClr val="7DCEA0"/>
                </a:solidFill>
                <a:latin typeface="Consolas"/>
              </a:rPr>
              <a:t>{</a:t>
            </a:r>
            <a:r>
              <a:rPr sz="1700" i="0">
                <a:solidFill>
                  <a:srgbClr val="E8EDF2"/>
                </a:solidFill>
                <a:latin typeface="Consolas"/>
              </a:rPr>
              <a:t>feature</a:t>
            </a:r>
            <a:r>
              <a:rPr sz="1700" i="0">
                <a:solidFill>
                  <a:srgbClr val="7DCEA0"/>
                </a:solidFill>
                <a:latin typeface="Consolas"/>
              </a:rPr>
              <a:t>}</a:t>
            </a:r>
            <a:r>
              <a:rPr sz="1700" i="0">
                <a:solidFill>
                  <a:srgbClr val="7DCEA0"/>
                </a:solidFill>
                <a:latin typeface="Consolas"/>
              </a:rPr>
              <a:t> x</a:t>
            </a:r>
            <a:r>
              <a:rPr sz="1700" i="0">
                <a:solidFill>
                  <a:srgbClr val="7DCEA0"/>
                </a:solidFill>
                <a:latin typeface="Consolas"/>
              </a:rPr>
              <a:t>{</a:t>
            </a:r>
            <a:r>
              <a:rPr sz="1700" i="0">
                <a:solidFill>
                  <a:srgbClr val="E8EDF2"/>
                </a:solidFill>
                <a:latin typeface="Consolas"/>
              </a:rPr>
              <a:t>k</a:t>
            </a:r>
            <a:r>
              <a:rPr sz="1700" i="0">
                <a:solidFill>
                  <a:srgbClr val="7DCEA0"/>
                </a:solidFill>
                <a:latin typeface="Consolas"/>
              </a:rPr>
              <a:t>}</a:t>
            </a:r>
            <a:r>
              <a:rPr sz="1700" i="0">
                <a:solidFill>
                  <a:srgbClr val="7DCEA0"/>
                </a:solidFill>
                <a:latin typeface="Consolas"/>
              </a:rPr>
              <a:t>: detection </a:t>
            </a:r>
            <a:r>
              <a:rPr sz="1700" i="0">
                <a:solidFill>
                  <a:srgbClr val="7DCEA0"/>
                </a:solidFill>
                <a:latin typeface="Consolas"/>
              </a:rPr>
              <a:t>{</a:t>
            </a:r>
            <a:r>
              <a:rPr sz="1700" i="0">
                <a:solidFill>
                  <a:srgbClr val="E8EDF2"/>
                </a:solidFill>
                <a:latin typeface="Consolas"/>
              </a:rPr>
              <a:t>rate</a:t>
            </a:r>
            <a:r>
              <a:rPr sz="1700" i="0">
                <a:solidFill>
                  <a:srgbClr val="7DCEA0"/>
                </a:solidFill>
                <a:latin typeface="Consolas"/>
              </a:rPr>
              <a:t>:</a:t>
            </a:r>
            <a:r>
              <a:rPr sz="1700" i="0">
                <a:solidFill>
                  <a:srgbClr val="7DCEA0"/>
                </a:solidFill>
                <a:latin typeface="Consolas"/>
              </a:rPr>
              <a:t>.1%</a:t>
            </a:r>
            <a:r>
              <a:rPr sz="1700" i="0">
                <a:solidFill>
                  <a:srgbClr val="7DCEA0"/>
                </a:solidFill>
                <a:latin typeface="Consolas"/>
              </a:rPr>
              <a:t>}</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if</a:t>
            </a:r>
            <a:r>
              <a:rPr sz="1700" i="0">
                <a:solidFill>
                  <a:srgbClr val="E8EDF2"/>
                </a:solidFill>
                <a:latin typeface="Consolas"/>
              </a:rPr>
              <a:t> </a:t>
            </a:r>
            <a:r>
              <a:rPr sz="1700" i="0">
                <a:solidFill>
                  <a:srgbClr val="E8EDF2"/>
                </a:solidFill>
                <a:latin typeface="Consolas"/>
              </a:rPr>
              <a:t>rate</a:t>
            </a:r>
            <a:r>
              <a:rPr sz="1700" i="0">
                <a:solidFill>
                  <a:srgbClr val="E8EDF2"/>
                </a:solidFill>
                <a:latin typeface="Consolas"/>
              </a:rPr>
              <a:t> </a:t>
            </a:r>
            <a:r>
              <a:rPr sz="1700" i="0">
                <a:solidFill>
                  <a:srgbClr val="AEB6BF"/>
                </a:solidFill>
                <a:latin typeface="Consolas"/>
              </a:rPr>
              <a:t>&lt;</a:t>
            </a:r>
            <a:r>
              <a:rPr sz="1700" i="0">
                <a:solidFill>
                  <a:srgbClr val="E8EDF2"/>
                </a:solidFill>
                <a:latin typeface="Consolas"/>
              </a:rPr>
              <a:t> </a:t>
            </a:r>
            <a:r>
              <a:rPr sz="1700" i="0">
                <a:solidFill>
                  <a:srgbClr val="F7DC6F"/>
                </a:solidFill>
                <a:latin typeface="Consolas"/>
              </a:rPr>
              <a:t>0.2</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  ^ EVADED by scaling one feature to </a:t>
            </a:r>
            <a:r>
              <a:rPr sz="1700" i="0">
                <a:solidFill>
                  <a:srgbClr val="7DCEA0"/>
                </a:solidFill>
                <a:latin typeface="Consolas"/>
              </a:rPr>
              <a:t>{</a:t>
            </a:r>
            <a:r>
              <a:rPr sz="1700" i="0">
                <a:solidFill>
                  <a:srgbClr val="E8EDF2"/>
                </a:solidFill>
                <a:latin typeface="Consolas"/>
              </a:rPr>
              <a:t>k</a:t>
            </a:r>
            <a:r>
              <a:rPr sz="1700" i="0">
                <a:solidFill>
                  <a:srgbClr val="7DCEA0"/>
                </a:solidFill>
                <a:latin typeface="Consolas"/>
              </a:rPr>
              <a:t>}</a:t>
            </a:r>
            <a:r>
              <a:rPr sz="1700" i="0">
                <a:solidFill>
                  <a:srgbClr val="7DCEA0"/>
                </a:solidFill>
                <a:latin typeface="Consolas"/>
              </a:rPr>
              <a:t>. Too fragile.</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a:latin typeface="Consolas"/>
              </a:rPr>
              <a:t> </a:t>
            </a:r>
          </a:p>
          <a:p>
            <a:pPr>
              <a:lnSpc>
                <a:spcPct val="100000"/>
              </a:lnSpc>
              <a:spcAft>
                <a:spcPts val="0"/>
              </a:spcAft>
            </a:pPr>
            <a:r>
              <a:rPr sz="1700" i="1">
                <a:solidFill>
                  <a:srgbClr val="8795A1"/>
                </a:solidFill>
                <a:latin typeface="Consolas"/>
              </a:rPr>
              <a:t># evasion_test(model, known_attacks, "distinct_ports_per_minute")</a:t>
            </a:r>
          </a:p>
        </p:txBody>
      </p:sp>
      <p:sp>
        <p:nvSpPr>
          <p:cNvPr id="15" name="!!code-num"/>
          <p:cNvSpPr txBox="1"/>
          <p:nvPr/>
        </p:nvSpPr>
        <p:spPr>
          <a:xfrm>
            <a:off x="768096" y="2523744"/>
            <a:ext cx="393192" cy="3730752"/>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26</a:t>
            </a:r>
          </a:p>
          <a:p>
            <a:pPr algn="r">
              <a:lnSpc>
                <a:spcPct val="100000"/>
              </a:lnSpc>
            </a:pPr>
            <a:r>
              <a:rPr sz="1700">
                <a:solidFill>
                  <a:srgbClr val="4F5D6A"/>
                </a:solidFill>
                <a:latin typeface="Consolas"/>
              </a:rPr>
              <a:t>27</a:t>
            </a:r>
          </a:p>
          <a:p>
            <a:pPr algn="r">
              <a:lnSpc>
                <a:spcPct val="100000"/>
              </a:lnSpc>
            </a:pPr>
            <a:r>
              <a:rPr sz="1700">
                <a:solidFill>
                  <a:srgbClr val="4F5D6A"/>
                </a:solidFill>
                <a:latin typeface="Consolas"/>
              </a:rPr>
              <a:t>28</a:t>
            </a:r>
          </a:p>
          <a:p>
            <a:pPr algn="r">
              <a:lnSpc>
                <a:spcPct val="100000"/>
              </a:lnSpc>
            </a:pPr>
            <a:r>
              <a:rPr sz="1700">
                <a:solidFill>
                  <a:srgbClr val="4F5D6A"/>
                </a:solidFill>
                <a:latin typeface="Consolas"/>
              </a:rPr>
              <a:t>29</a:t>
            </a:r>
          </a:p>
          <a:p>
            <a:pPr algn="r">
              <a:lnSpc>
                <a:spcPct val="100000"/>
              </a:lnSpc>
            </a:pPr>
            <a:r>
              <a:rPr sz="1700">
                <a:solidFill>
                  <a:srgbClr val="4F5D6A"/>
                </a:solidFill>
                <a:latin typeface="Consolas"/>
              </a:rPr>
              <a:t>30</a:t>
            </a:r>
          </a:p>
          <a:p>
            <a:pPr algn="r">
              <a:lnSpc>
                <a:spcPct val="100000"/>
              </a:lnSpc>
            </a:pPr>
            <a:r>
              <a:rPr sz="1700">
                <a:solidFill>
                  <a:srgbClr val="4F5D6A"/>
                </a:solidFill>
                <a:latin typeface="Consolas"/>
              </a:rPr>
              <a:t>31</a:t>
            </a:r>
          </a:p>
          <a:p>
            <a:pPr algn="r">
              <a:lnSpc>
                <a:spcPct val="100000"/>
              </a:lnSpc>
            </a:pPr>
            <a:r>
              <a:rPr sz="1700">
                <a:solidFill>
                  <a:srgbClr val="4F5D6A"/>
                </a:solidFill>
                <a:latin typeface="Consolas"/>
              </a:rPr>
              <a:t>32</a:t>
            </a:r>
          </a:p>
          <a:p>
            <a:pPr algn="r">
              <a:lnSpc>
                <a:spcPct val="100000"/>
              </a:lnSpc>
            </a:pPr>
            <a:r>
              <a:rPr sz="1700">
                <a:solidFill>
                  <a:srgbClr val="4F5D6A"/>
                </a:solidFill>
                <a:latin typeface="Consolas"/>
              </a:rPr>
              <a:t>33</a:t>
            </a:r>
          </a:p>
          <a:p>
            <a:pPr algn="r">
              <a:lnSpc>
                <a:spcPct val="100000"/>
              </a:lnSpc>
            </a:pPr>
            <a:r>
              <a:rPr sz="1700">
                <a:solidFill>
                  <a:srgbClr val="4F5D6A"/>
                </a:solidFill>
                <a:latin typeface="Consolas"/>
              </a:rPr>
              <a:t>34</a:t>
            </a:r>
          </a:p>
          <a:p>
            <a:pPr algn="r">
              <a:lnSpc>
                <a:spcPct val="100000"/>
              </a:lnSpc>
            </a:pPr>
            <a:r>
              <a:rPr sz="1700">
                <a:solidFill>
                  <a:srgbClr val="4F5D6A"/>
                </a:solidFill>
                <a:latin typeface="Consolas"/>
              </a:rPr>
              <a:t>35</a:t>
            </a:r>
          </a:p>
          <a:p>
            <a:pPr algn="r">
              <a:lnSpc>
                <a:spcPct val="100000"/>
              </a:lnSpc>
            </a:pPr>
            <a:r>
              <a:rPr sz="1700">
                <a:solidFill>
                  <a:srgbClr val="4F5D6A"/>
                </a:solidFill>
                <a:latin typeface="Consolas"/>
              </a:rPr>
              <a:t>36</a:t>
            </a:r>
          </a:p>
          <a:p>
            <a:pPr algn="r">
              <a:lnSpc>
                <a:spcPct val="100000"/>
              </a:lnSpc>
            </a:pPr>
            <a:r>
              <a:rPr sz="1700">
                <a:solidFill>
                  <a:srgbClr val="4F5D6A"/>
                </a:solidFill>
                <a:latin typeface="Consolas"/>
              </a:rPr>
              <a:t>37</a:t>
            </a:r>
          </a:p>
          <a:p>
            <a:pPr algn="r">
              <a:lnSpc>
                <a:spcPct val="100000"/>
              </a:lnSpc>
            </a:pPr>
            <a:r>
              <a:rPr sz="1700">
                <a:solidFill>
                  <a:srgbClr val="4F5D6A"/>
                </a:solidFill>
                <a:latin typeface="Consolas"/>
              </a:rPr>
              <a:t>38</a:t>
            </a:r>
          </a:p>
          <a:p>
            <a:pPr algn="r">
              <a:lnSpc>
                <a:spcPct val="100000"/>
              </a:lnSpc>
            </a:pPr>
            <a:r>
              <a:rPr sz="1700">
                <a:solidFill>
                  <a:srgbClr val="4F5D6A"/>
                </a:solidFill>
                <a:latin typeface="Consolas"/>
              </a:rPr>
              <a:t>39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66964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Per-Entity Baselines and an Evasion Test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§26.5  ·  Handout p. 171     </a:t>
            </a:r>
            <a:fld id="{68B231F9-C2D1-43DF-AECF-328A57A8300E}"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Screen the training set before retraining (anti-poisoning)</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975104"/>
          </a:xfrm>
          <a:prstGeom prst="roundRect">
            <a:avLst>
              <a:gd name="adj" fmla="val 462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4. screen the training set before retraining (anti-poisoning) ----- from sklearn.ensemble import IsolationForest screen = IsolationForest(contamination=0.01, random_state=0).fit(X_new) clean = X_new[screen.predict(X_new) == 1] print(f&quot;withheld {len(X_new) - len(clean)} suspicious rows from retraining&quot;)"/>
          <p:cNvSpPr txBox="1"/>
          <p:nvPr/>
        </p:nvSpPr>
        <p:spPr>
          <a:xfrm>
            <a:off x="1362456" y="2523744"/>
            <a:ext cx="9987991" cy="14813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--- 4. screen the training set before retraining (anti-poisoning) -----</a:t>
            </a:r>
          </a:p>
          <a:p>
            <a:pPr>
              <a:lnSpc>
                <a:spcPct val="100000"/>
              </a:lnSpc>
              <a:spcAft>
                <a:spcPts val="0"/>
              </a:spcAft>
            </a:pPr>
            <a:r>
              <a:rPr sz="1800" i="0">
                <a:solidFill>
                  <a:srgbClr val="5DADE2"/>
                </a:solidFill>
                <a:latin typeface="Consolas"/>
              </a:rPr>
              <a:t>from</a:t>
            </a:r>
            <a:r>
              <a:rPr sz="1800" i="0">
                <a:solidFill>
                  <a:srgbClr val="E8EDF2"/>
                </a:solidFill>
                <a:latin typeface="Consolas"/>
              </a:rPr>
              <a:t> </a:t>
            </a:r>
            <a:r>
              <a:rPr sz="1800" i="0">
                <a:solidFill>
                  <a:srgbClr val="76D7C4"/>
                </a:solidFill>
                <a:latin typeface="Consolas"/>
              </a:rPr>
              <a:t>sklearn</a:t>
            </a:r>
            <a:r>
              <a:rPr sz="1800" i="0">
                <a:solidFill>
                  <a:srgbClr val="76D7C4"/>
                </a:solidFill>
                <a:latin typeface="Consolas"/>
              </a:rPr>
              <a:t>.</a:t>
            </a:r>
            <a:r>
              <a:rPr sz="1800" i="0">
                <a:solidFill>
                  <a:srgbClr val="76D7C4"/>
                </a:solidFill>
                <a:latin typeface="Consolas"/>
              </a:rPr>
              <a:t>ensemble</a:t>
            </a:r>
            <a:r>
              <a:rPr sz="1800" i="0">
                <a:solidFill>
                  <a:srgbClr val="E8EDF2"/>
                </a:solidFill>
                <a:latin typeface="Consolas"/>
              </a:rPr>
              <a:t> </a:t>
            </a:r>
            <a:r>
              <a:rPr sz="1800" i="0">
                <a:solidFill>
                  <a:srgbClr val="5DADE2"/>
                </a:solidFill>
                <a:latin typeface="Consolas"/>
              </a:rPr>
              <a:t>import</a:t>
            </a:r>
            <a:r>
              <a:rPr sz="1800" i="0">
                <a:solidFill>
                  <a:srgbClr val="E8EDF2"/>
                </a:solidFill>
                <a:latin typeface="Consolas"/>
              </a:rPr>
              <a:t> </a:t>
            </a:r>
            <a:r>
              <a:rPr sz="1800" i="0">
                <a:solidFill>
                  <a:srgbClr val="E8EDF2"/>
                </a:solidFill>
                <a:latin typeface="Consolas"/>
              </a:rPr>
              <a:t>IsolationForest</a:t>
            </a:r>
          </a:p>
          <a:p>
            <a:pPr>
              <a:lnSpc>
                <a:spcPct val="100000"/>
              </a:lnSpc>
              <a:spcAft>
                <a:spcPts val="0"/>
              </a:spcAft>
            </a:pPr>
            <a:r>
              <a:rPr sz="1800" i="0">
                <a:solidFill>
                  <a:srgbClr val="E8EDF2"/>
                </a:solidFill>
                <a:latin typeface="Consolas"/>
              </a:rPr>
              <a:t>screen</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IsolationForest</a:t>
            </a:r>
            <a:r>
              <a:rPr sz="1800" i="0">
                <a:solidFill>
                  <a:srgbClr val="AEB6BF"/>
                </a:solidFill>
                <a:latin typeface="Consolas"/>
              </a:rPr>
              <a:t>(</a:t>
            </a:r>
            <a:r>
              <a:rPr sz="1800" i="0">
                <a:solidFill>
                  <a:srgbClr val="E8EDF2"/>
                </a:solidFill>
                <a:latin typeface="Consolas"/>
              </a:rPr>
              <a:t>contamination</a:t>
            </a:r>
            <a:r>
              <a:rPr sz="1800" i="0">
                <a:solidFill>
                  <a:srgbClr val="AEB6BF"/>
                </a:solidFill>
                <a:latin typeface="Consolas"/>
              </a:rPr>
              <a:t>=</a:t>
            </a:r>
            <a:r>
              <a:rPr sz="1800" i="0">
                <a:solidFill>
                  <a:srgbClr val="F7DC6F"/>
                </a:solidFill>
                <a:latin typeface="Consolas"/>
              </a:rPr>
              <a:t>0.01</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random_state</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fit</a:t>
            </a:r>
            <a:r>
              <a:rPr sz="1800" i="0">
                <a:solidFill>
                  <a:srgbClr val="AEB6BF"/>
                </a:solidFill>
                <a:latin typeface="Consolas"/>
              </a:rPr>
              <a:t>(</a:t>
            </a:r>
            <a:r>
              <a:rPr sz="1800" i="0">
                <a:solidFill>
                  <a:srgbClr val="E8EDF2"/>
                </a:solidFill>
                <a:latin typeface="Consolas"/>
              </a:rPr>
              <a:t>X_new</a:t>
            </a:r>
            <a:r>
              <a:rPr sz="1800" i="0">
                <a:solidFill>
                  <a:srgbClr val="AEB6BF"/>
                </a:solidFill>
                <a:latin typeface="Consolas"/>
              </a:rPr>
              <a:t>)</a:t>
            </a:r>
          </a:p>
          <a:p>
            <a:pPr>
              <a:lnSpc>
                <a:spcPct val="100000"/>
              </a:lnSpc>
              <a:spcAft>
                <a:spcPts val="0"/>
              </a:spcAft>
            </a:pPr>
            <a:r>
              <a:rPr sz="1800" i="0">
                <a:solidFill>
                  <a:srgbClr val="E8EDF2"/>
                </a:solidFill>
                <a:latin typeface="Consolas"/>
              </a:rPr>
              <a:t>clean</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X_new</a:t>
            </a:r>
            <a:r>
              <a:rPr sz="1800" i="0">
                <a:solidFill>
                  <a:srgbClr val="AEB6BF"/>
                </a:solidFill>
                <a:latin typeface="Consolas"/>
              </a:rPr>
              <a:t>[</a:t>
            </a:r>
            <a:r>
              <a:rPr sz="1800" i="0">
                <a:solidFill>
                  <a:srgbClr val="E8EDF2"/>
                </a:solidFill>
                <a:latin typeface="Consolas"/>
              </a:rPr>
              <a:t>screen</a:t>
            </a:r>
            <a:r>
              <a:rPr sz="1800" i="0">
                <a:solidFill>
                  <a:srgbClr val="AEB6BF"/>
                </a:solidFill>
                <a:latin typeface="Consolas"/>
              </a:rPr>
              <a:t>.</a:t>
            </a:r>
            <a:r>
              <a:rPr sz="1800" i="0">
                <a:solidFill>
                  <a:srgbClr val="E8EDF2"/>
                </a:solidFill>
                <a:latin typeface="Consolas"/>
              </a:rPr>
              <a:t>predict</a:t>
            </a:r>
            <a:r>
              <a:rPr sz="1800" i="0">
                <a:solidFill>
                  <a:srgbClr val="AEB6BF"/>
                </a:solidFill>
                <a:latin typeface="Consolas"/>
              </a:rPr>
              <a:t>(</a:t>
            </a:r>
            <a:r>
              <a:rPr sz="1800" i="0">
                <a:solidFill>
                  <a:srgbClr val="E8EDF2"/>
                </a:solidFill>
                <a:latin typeface="Consolas"/>
              </a:rPr>
              <a:t>X_new</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withheld </a:t>
            </a:r>
            <a:r>
              <a:rPr sz="1800" i="0">
                <a:solidFill>
                  <a:srgbClr val="7DCEA0"/>
                </a:solidFill>
                <a:latin typeface="Consolas"/>
              </a:rPr>
              <a:t>{</a:t>
            </a:r>
            <a:r>
              <a:rPr sz="1800" i="0">
                <a:solidFill>
                  <a:srgbClr val="C39BD3"/>
                </a:solidFill>
                <a:latin typeface="Consolas"/>
              </a:rPr>
              <a:t>len</a:t>
            </a:r>
            <a:r>
              <a:rPr sz="1800" i="0">
                <a:solidFill>
                  <a:srgbClr val="AEB6BF"/>
                </a:solidFill>
                <a:latin typeface="Consolas"/>
              </a:rPr>
              <a:t>(</a:t>
            </a:r>
            <a:r>
              <a:rPr sz="1800" i="0">
                <a:solidFill>
                  <a:srgbClr val="E8EDF2"/>
                </a:solidFill>
                <a:latin typeface="Consolas"/>
              </a:rPr>
              <a:t>X_new</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len</a:t>
            </a:r>
            <a:r>
              <a:rPr sz="1800" i="0">
                <a:solidFill>
                  <a:srgbClr val="AEB6BF"/>
                </a:solidFill>
                <a:latin typeface="Consolas"/>
              </a:rPr>
              <a:t>(</a:t>
            </a:r>
            <a:r>
              <a:rPr sz="1800" i="0">
                <a:solidFill>
                  <a:srgbClr val="E8EDF2"/>
                </a:solidFill>
                <a:latin typeface="Consolas"/>
              </a:rPr>
              <a:t>clean</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 suspicious rows from retraining</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14813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40</a:t>
            </a:r>
          </a:p>
          <a:p>
            <a:pPr algn="r">
              <a:lnSpc>
                <a:spcPct val="100000"/>
              </a:lnSpc>
            </a:pPr>
            <a:r>
              <a:rPr sz="1800">
                <a:solidFill>
                  <a:srgbClr val="4F5D6A"/>
                </a:solidFill>
                <a:latin typeface="Consolas"/>
              </a:rPr>
              <a:t>41</a:t>
            </a:r>
          </a:p>
          <a:p>
            <a:pPr algn="r">
              <a:lnSpc>
                <a:spcPct val="100000"/>
              </a:lnSpc>
            </a:pPr>
            <a:r>
              <a:rPr sz="1800">
                <a:solidFill>
                  <a:srgbClr val="4F5D6A"/>
                </a:solidFill>
                <a:latin typeface="Consolas"/>
              </a:rPr>
              <a:t>42</a:t>
            </a:r>
          </a:p>
          <a:p>
            <a:pPr algn="r">
              <a:lnSpc>
                <a:spcPct val="100000"/>
              </a:lnSpc>
            </a:pPr>
            <a:r>
              <a:rPr sz="1800">
                <a:solidFill>
                  <a:srgbClr val="4F5D6A"/>
                </a:solidFill>
                <a:latin typeface="Consolas"/>
              </a:rPr>
              <a:t>43</a:t>
            </a:r>
          </a:p>
          <a:p>
            <a:pPr algn="r">
              <a:lnSpc>
                <a:spcPct val="100000"/>
              </a:lnSpc>
            </a:pPr>
            <a:r>
              <a:rPr sz="1800">
                <a:solidFill>
                  <a:srgbClr val="4F5D6A"/>
                </a:solidFill>
                <a:latin typeface="Consolas"/>
              </a:rPr>
              <a:t>44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94057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§26.5  ·  Handout p. 171     </a:t>
            </a:r>
            <a:fld id="{056C2EBE-05C4-447B-8225-5421C56FA1D3}" type="slidenum">
              <a:rPr lang="en-GB" sz="1000">
                <a:solidFill>
                  <a:srgbClr val="8795A1"/>
                </a:solidFill>
                <a:latin typeface="Segoe UI"/>
              </a:rPr>
              <a:t>34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Step 3 has no counterpart anywhere else in this book.</a:t>
            </a:r>
            <a:r>
              <a:rPr sz="2300" b="0" i="0">
                <a:solidFill>
                  <a:srgbClr val="1C252B"/>
                </a:solidFill>
                <a:latin typeface="Segoe UI"/>
              </a:rPr>
              <a:t> In every other domain you test a model against held-out data; here you must also test it against an opponent who is allowed to change the input.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21150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detector with 99% recall and a 1% false-positive rate runs on 500,000 daily events with 10 true attacks. How many alerts per day, and what precision? Is it deployable with four analysts?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26  ·  Data Science for Cybersecurity</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174  ·  answers in Appendix D     </a:t>
            </a:r>
            <a:fld id="{817B77DD-EAC4-4313-90CA-86879E406853}"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detector with 99% recall and a 1% false-positive rate runs on 500,000 daily events with 10 true attacks. How many alerts per day, and what precision? Is it deployable with four analysts?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False positives </a:t>
            </a:r>
            <a:r>
              <a:rPr sz="2200" b="0" i="0">
                <a:solidFill>
                  <a:srgbClr val="1C252B"/>
                </a:solidFill>
                <a:latin typeface="Cambria"/>
              </a:rPr>
              <a:t>≈ 500,000 × 0.01 = 5,000</a:t>
            </a:r>
            <a:r>
              <a:rPr sz="2200" b="0" i="0">
                <a:solidFill>
                  <a:srgbClr val="1C252B"/>
                </a:solidFill>
                <a:latin typeface="Segoe UI"/>
              </a:rPr>
              <a:t>; true positives </a:t>
            </a:r>
            <a:r>
              <a:rPr sz="2200" b="0" i="0">
                <a:solidFill>
                  <a:srgbClr val="1C252B"/>
                </a:solidFill>
                <a:latin typeface="Cambria"/>
              </a:rPr>
              <a:t>≈ 10</a:t>
            </a:r>
            <a:r>
              <a:rPr sz="2200" b="0" i="0">
                <a:solidFill>
                  <a:srgbClr val="1C252B"/>
                </a:solidFill>
                <a:latin typeface="Segoe UI"/>
              </a:rPr>
              <a:t>. About </a:t>
            </a:r>
            <a:r>
              <a:rPr sz="2200" b="1" i="0">
                <a:solidFill>
                  <a:srgbClr val="1C252B"/>
                </a:solidFill>
                <a:latin typeface="Segoe UI"/>
              </a:rPr>
              <a:t>5,010 alerts/day</a:t>
            </a:r>
            <a:r>
              <a:rPr sz="2200" b="0" i="0">
                <a:solidFill>
                  <a:srgbClr val="1C252B"/>
                </a:solidFill>
                <a:latin typeface="Segoe UI"/>
              </a:rPr>
              <a:t>, precision </a:t>
            </a:r>
            <a:r>
              <a:rPr sz="2200" b="0" i="0">
                <a:solidFill>
                  <a:srgbClr val="1C252B"/>
                </a:solidFill>
                <a:latin typeface="Cambria"/>
              </a:rPr>
              <a:t>≈ 0.2%</a:t>
            </a:r>
            <a:r>
              <a:rPr sz="2200" b="0" i="0">
                <a:solidFill>
                  <a:srgbClr val="1C252B"/>
                </a:solidFill>
                <a:latin typeface="Segoe UI"/>
              </a:rPr>
              <a:t>. With four analysts (roughly 160 alerts/day) it is 30</a:t>
            </a:r>
            <a:r>
              <a:rPr sz="2200" b="0" i="0">
                <a:solidFill>
                  <a:srgbClr val="1C252B"/>
                </a:solidFill>
                <a:latin typeface="Cambria"/>
              </a:rPr>
              <a:t>×</a:t>
            </a:r>
            <a:r>
              <a:rPr sz="2200" b="0" i="0">
                <a:solidFill>
                  <a:srgbClr val="1C252B"/>
                </a:solidFill>
                <a:latin typeface="Segoe UI"/>
              </a:rPr>
              <a:t> over capacity and </a:t>
            </a:r>
            <a:r>
              <a:rPr sz="2200" b="1" i="0">
                <a:solidFill>
                  <a:srgbClr val="1C252B"/>
                </a:solidFill>
                <a:latin typeface="Segoe UI"/>
              </a:rPr>
              <a:t>not deployable</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174  ·  answers in Appendix D     </a:t>
            </a:r>
            <a:fld id="{C9690612-FC02-4D18-A79D-E40B28512735}" type="slidenum">
              <a:rPr lang="en-GB" sz="1000">
                <a:solidFill>
                  <a:srgbClr val="8795A1"/>
                </a:solidFill>
                <a:latin typeface="Segoe UI"/>
              </a:rPr>
              <a:t>36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75335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is </a:t>
            </a:r>
            <a:r>
              <a:rPr sz="3200" b="0" i="0">
                <a:solidFill>
                  <a:srgbClr val="FFFFFF"/>
                </a:solidFill>
                <a:latin typeface="Consolas"/>
              </a:rPr>
              <a:t>packets_per_second</a:t>
            </a:r>
            <a:r>
              <a:rPr sz="3400" b="0" i="0">
                <a:solidFill>
                  <a:srgbClr val="FFFFFF"/>
                </a:solidFill>
                <a:latin typeface="Segoe UI Semibold"/>
              </a:rPr>
              <a:t> a weaker feature than </a:t>
            </a:r>
            <a:r>
              <a:rPr sz="3200" b="0" i="0">
                <a:solidFill>
                  <a:srgbClr val="FFFFFF"/>
                </a:solidFill>
                <a:latin typeface="Consolas"/>
              </a:rPr>
              <a:t>fraction_of_connections_to_closed_ports</a:t>
            </a:r>
            <a:r>
              <a:rPr sz="3400" b="0" i="0">
                <a:solidFill>
                  <a:srgbClr val="FFFFFF"/>
                </a:solidFill>
                <a:latin typeface="Segoe UI Semibold"/>
              </a:rPr>
              <a: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26  ·  Data Science for Cybersecurity</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174  ·  answers in Appendix D     </a:t>
            </a:r>
            <a:fld id="{BF506820-8F39-4838-B293-825D8D2C2250}" type="slidenum">
              <a:rPr lang="en-GB" sz="1000">
                <a:solidFill>
                  <a:srgbClr val="D5DEE5"/>
                </a:solidFill>
                <a:latin typeface="Segoe UI"/>
              </a:rPr>
              <a:t>37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is </a:t>
            </a:r>
            <a:r>
              <a:rPr sz="2250" b="0" i="0">
                <a:solidFill>
                  <a:srgbClr val="1A5276"/>
                </a:solidFill>
                <a:latin typeface="Consolas"/>
              </a:rPr>
              <a:t>packets_per_second</a:t>
            </a:r>
            <a:r>
              <a:rPr sz="2400" b="0" i="0">
                <a:solidFill>
                  <a:srgbClr val="1A5276"/>
                </a:solidFill>
                <a:latin typeface="Segoe UI Semibold"/>
              </a:rPr>
              <a:t> a weaker feature than </a:t>
            </a:r>
            <a:r>
              <a:rPr sz="2250" b="0" i="0">
                <a:solidFill>
                  <a:srgbClr val="1A5276"/>
                </a:solidFill>
                <a:latin typeface="Consolas"/>
              </a:rPr>
              <a:t>fraction_of_connections_to_closed_ports</a:t>
            </a:r>
            <a:r>
              <a:rPr sz="2400" b="0" i="0">
                <a:solidFill>
                  <a:srgbClr val="1A5276"/>
                </a:solidFill>
                <a:latin typeface="Segoe UI Semibold"/>
              </a:rPr>
              <a: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packets per second is directly and cheaply controllable by the attacker — they simply slow down. The fraction of connections to closed ports is intrinsic to scanning: avoiding it requires already knowing which ports are open, which is what the scan is for.</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174  ·  answers in Appendix D     </a:t>
            </a:r>
            <a:fld id="{15F9232B-CA73-494A-8459-028C1BAC4E3A}" type="slidenum">
              <a:rPr lang="en-GB" sz="1000">
                <a:solidFill>
                  <a:srgbClr val="8795A1"/>
                </a:solidFill>
                <a:latin typeface="Segoe UI"/>
              </a:rPr>
              <a:t>38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9520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Automatic weekly retraining on production traffic is proposed. Name the attack this enables and one control that mitigates it.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26  ·  Data Science for Cybersecurity</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174  ·  answers in Appendix D     </a:t>
            </a:r>
            <a:fld id="{59B90CEC-2BDD-44DE-BC24-34B4F2577EF0}"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Automatic weekly retraining on production traffic is proposed. Name the attack this enables and one control that mitigates it.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Poisoning.</a:t>
            </a:r>
            <a:r>
              <a:rPr sz="2200" b="0" i="0">
                <a:solidFill>
                  <a:srgbClr val="1C252B"/>
                </a:solidFill>
                <a:latin typeface="Segoe UI"/>
              </a:rPr>
              <a:t> Controls: screen the training set with an anomaly detector before use; require human approval to promote a retrained model; hold out a trusted benchmark set that a poisoned model would fail.</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174  ·  answers in Appendix D     </a:t>
            </a:r>
            <a:fld id="{F2BAB751-D523-4BA3-8441-AF767716BB96}" type="slidenum">
              <a:rPr lang="en-GB" sz="1000">
                <a:solidFill>
                  <a:srgbClr val="8795A1"/>
                </a:solidFill>
                <a:latin typeface="Segoe UI"/>
              </a:rPr>
              <a:t>40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83706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174     </a:t>
            </a:r>
            <a:fld id="{BBD10210-E6AC-4D93-8DD5-FC57FA3FB496}" type="slidenum">
              <a:rPr lang="en-GB" sz="1000">
                <a:solidFill>
                  <a:srgbClr val="8795A1"/>
                </a:solidFill>
                <a:latin typeface="Segoe UI"/>
              </a:rPr>
              <a:t>41</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Security violates the assumption underlying Part III: the data-generating process is an adversary who adapts to your model.</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Every source has a blind spot; encrypted traffic in particular leaves only metadata.</a:t>
            </a:r>
          </a:p>
        </p:txBody>
      </p:sp>
      <p:sp>
        <p:nvSpPr>
          <p:cNvPr id="13" name="!!sb2">
            <a:extLst>
              <a:ext uri="{C183D7F6-B498-43B3-948B-1728B52AA6E4}">
                <adec:decorative xmlns:adec="http://schemas.microsoft.com/office/drawing/2017/decorative" val="1"/>
              </a:ext>
            </a:extLst>
          </p:cNvPr>
          <p:cNvSpPr/>
          <p:nvPr/>
        </p:nvSpPr>
        <p:spPr>
          <a:xfrm>
            <a:off x="658368" y="305348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10835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044342"/>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Signature and anomaly detection are complements, not alternatives.</a:t>
            </a:r>
          </a:p>
        </p:txBody>
      </p:sp>
      <p:sp>
        <p:nvSpPr>
          <p:cNvPr id="16" name="!!sb3">
            <a:extLst>
              <a:ext uri="{C183D7F6-B498-43B3-948B-1728B52AA6E4}">
                <adec:decorative xmlns:adec="http://schemas.microsoft.com/office/drawing/2017/decorative" val="1"/>
              </a:ext>
            </a:extLst>
          </p:cNvPr>
          <p:cNvSpPr/>
          <p:nvPr/>
        </p:nvSpPr>
        <p:spPr>
          <a:xfrm>
            <a:off x="658368" y="363870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69356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629558"/>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Alert capacity, not accuracy, decides deployability. Work backwards from analysts per day to a maximum false-positive rate.</a:t>
            </a:r>
          </a:p>
        </p:txBody>
      </p:sp>
      <p:sp>
        <p:nvSpPr>
          <p:cNvPr id="19" name="!!sb4">
            <a:extLst>
              <a:ext uri="{C183D7F6-B498-43B3-948B-1728B52AA6E4}">
                <adec:decorative xmlns:adec="http://schemas.microsoft.com/office/drawing/2017/decorative" val="1"/>
              </a:ext>
            </a:extLst>
          </p:cNvPr>
          <p:cNvSpPr/>
          <p:nvPr/>
        </p:nvSpPr>
        <p:spPr>
          <a:xfrm>
            <a:off x="658368" y="436046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41533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351324"/>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Baseline each entity against its own history — the single most productive feature idea in the domain.</a:t>
            </a:r>
          </a:p>
        </p:txBody>
      </p:sp>
      <p:sp>
        <p:nvSpPr>
          <p:cNvPr id="22" name="!!sb5">
            <a:extLst>
              <a:ext uri="{C183D7F6-B498-43B3-948B-1728B52AA6E4}">
                <adec:decorative xmlns:adec="http://schemas.microsoft.com/office/drawing/2017/decorative" val="1"/>
              </a:ext>
            </a:extLst>
          </p:cNvPr>
          <p:cNvSpPr/>
          <p:nvPr/>
        </p:nvSpPr>
        <p:spPr>
          <a:xfrm>
            <a:off x="658368" y="494568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00054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493654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Models are attacked by evasion, poisoning, extraction and membership inference. The defences are mostly architectural: rate limits, data vetting, restricted outputs, human review.</a:t>
            </a:r>
          </a:p>
        </p:txBody>
      </p:sp>
      <p:sp>
        <p:nvSpPr>
          <p:cNvPr id="25" name="!!sb6">
            <a:extLst>
              <a:ext uri="{C183D7F6-B498-43B3-948B-1728B52AA6E4}">
                <adec:decorative xmlns:adec="http://schemas.microsoft.com/office/drawing/2017/decorative" val="1"/>
              </a:ext>
            </a:extLst>
          </p:cNvPr>
          <p:cNvSpPr/>
          <p:nvPr/>
        </p:nvSpPr>
        <p:spPr>
          <a:xfrm>
            <a:off x="658368" y="566745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sbn6"/>
          <p:cNvSpPr txBox="1"/>
          <p:nvPr/>
        </p:nvSpPr>
        <p:spPr>
          <a:xfrm>
            <a:off x="658368" y="5722315"/>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27" name="!!st6"/>
          <p:cNvSpPr txBox="1"/>
          <p:nvPr/>
        </p:nvSpPr>
        <p:spPr>
          <a:xfrm>
            <a:off x="1298448" y="5658307"/>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Choose features by manipulation cost as well as predictive power, and test your own model for evasion before an attacker does.</a:t>
            </a:r>
          </a:p>
        </p:txBody>
      </p:sp>
      <p:sp>
        <p:nvSpPr>
          <p:cNvPr id="8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pfill">
            <a:extLst>
              <a:ext uri="{C183D7F6-B498-43B3-948B-1728B52AA6E4}">
                <adec:decorative xmlns:adec="http://schemas.microsoft.com/office/drawing/2017/decorative" val="1"/>
              </a:ext>
            </a:extLst>
          </p:cNvPr>
          <p:cNvSpPr/>
          <p:nvPr/>
        </p:nvSpPr>
        <p:spPr>
          <a:xfrm>
            <a:off x="0" y="0"/>
            <a:ext cx="1110798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23" presetClass="entr" presetSubtype="16" fill="hold" grpId="0"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zoom(in)">
                                      <p:cBhvr>
                                        <p:cTn id="74" dur="26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260"/>
                                        <p:tgtEl>
                                          <p:spTgt spid="26"/>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wipe(right)">
                                      <p:cBhvr>
                                        <p:cTn id="80"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174     </a:t>
            </a:r>
            <a:fld id="{6900CF94-784B-45E1-ADE6-F706D5B948BA}" type="slidenum">
              <a:rPr lang="en-GB" sz="1000">
                <a:solidFill>
                  <a:srgbClr val="8795A1"/>
                </a:solidFill>
                <a:latin typeface="Segoe UI"/>
              </a:rPr>
              <a:t>42</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An attack that corrupts the training data to weaken the next model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evasion</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poisoning</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extraction</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membership inference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7891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174     </a:t>
            </a:r>
            <a:fld id="{5F5AD93A-499D-4195-AF20-44CFC881CC37}" type="slidenum">
              <a:rPr lang="en-GB" sz="1000">
                <a:solidFill>
                  <a:srgbClr val="8795A1"/>
                </a:solidFill>
                <a:latin typeface="Segoe UI"/>
              </a:rPr>
              <a:t>43</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For a detector on 10 million daily events with a SOC capacity of 200 alerts/day, the maximum tolerable false-positive rate is about:</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2×10</a:t>
            </a:r>
            <a:r>
              <a:rPr sz="2000" b="0" i="0" baseline="30000">
                <a:solidFill>
                  <a:srgbClr val="1C252B"/>
                </a:solidFill>
                <a:latin typeface="Cambria"/>
              </a:rPr>
              <a:t>−5</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2×10</a:t>
            </a:r>
            <a:r>
              <a:rPr sz="2000" b="0" i="0" baseline="30000">
                <a:solidFill>
                  <a:srgbClr val="1C252B"/>
                </a:solidFill>
                <a:latin typeface="Cambria"/>
              </a:rPr>
              <a:t>−3</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0.02</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0.2</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4984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26  ·  Data Science for Cybersecurity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174     </a:t>
            </a:r>
            <a:fld id="{F11E220A-4EE4-4FC0-B810-D45A3DFA80EA}" type="slidenum">
              <a:rPr lang="en-GB" sz="1000">
                <a:solidFill>
                  <a:srgbClr val="8795A1"/>
                </a:solidFill>
                <a:latin typeface="Segoe UI"/>
              </a:rPr>
              <a:t>44</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ROC-AUC is a misleading headline metric for intrusion detection, and state what you would report instead.</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Define UEBA and explain why per-entity baselines outperform global thresholds.</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Describe membership inference and say why it is a privacy problem rather than a detection problem.</a:t>
            </a:r>
          </a:p>
        </p:txBody>
      </p:sp>
      <p:sp>
        <p:nvSpPr>
          <p:cNvPr id="16" name="!!rt3">
            <a:extLst>
              <a:ext uri="{C183D7F6-B498-43B3-948B-1728B52AA6E4}">
                <adec:decorative xmlns:adec="http://schemas.microsoft.com/office/drawing/2017/decorative" val="1"/>
              </a:ext>
            </a:extLst>
          </p:cNvPr>
          <p:cNvSpPr/>
          <p:nvPr/>
        </p:nvSpPr>
        <p:spPr>
          <a:xfrm>
            <a:off x="658368" y="391972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6087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0144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Design a detection system for compromised student accounts on a university VLE. Specify data sources, five features (at least three baselined per entity), the model, how you set the threshold, and two adversarial-ML risks with their mitigations.</a:t>
            </a:r>
          </a:p>
        </p:txBody>
      </p:sp>
      <p:sp>
        <p:nvSpPr>
          <p:cNvPr id="19" name="!!rt4">
            <a:extLst>
              <a:ext uri="{C183D7F6-B498-43B3-948B-1728B52AA6E4}">
                <adec:decorative xmlns:adec="http://schemas.microsoft.com/office/drawing/2017/decorative" val="1"/>
              </a:ext>
            </a:extLst>
          </p:cNvPr>
          <p:cNvSpPr/>
          <p:nvPr/>
        </p:nvSpPr>
        <p:spPr>
          <a:xfrm>
            <a:off x="658368" y="5042611"/>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5083759"/>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5024323"/>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Your organisation retrains its intrusion detector nightly on the previous day’s traffic. Write the argument for and against this practice, and propose a concrete compromise procedure.</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2076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38470"/>
                </a:solidFill>
                <a:latin typeface="Segoe UI Black"/>
              </a:rPr>
              <a:t>26</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26</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27 — MLOps: Deployment, Monitoring and Reliability</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26, pages 168–174</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Telemetry to alert; per-entity baselines &amp; evasion test</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26  ·  Data Science for Cybersecurity</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070E7D85-D331-4471-BC90-3284E89E9147}" type="slidenum">
              <a:rPr lang="en-GB" sz="1000">
                <a:solidFill>
                  <a:srgbClr val="D5DEE5"/>
                </a:solidFill>
                <a:latin typeface="Segoe UI"/>
              </a:rPr>
              <a:t>45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26: Data Science for Cybersecurity</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