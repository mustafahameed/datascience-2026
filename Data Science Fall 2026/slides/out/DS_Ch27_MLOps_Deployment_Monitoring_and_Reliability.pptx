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1.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5746D77-BF88-4E43-9BFC-107D7CEF019F}">
          <p14:sldIdLst>
            <p14:sldId id="256"/>
            <p14:sldId id="257"/>
            <p14:sldId id="258"/>
            <p14:sldId id="259"/>
            <p14:sldId id="260"/>
          </p14:sldIdLst>
        </p14:section>
        <p14:section name="27.1 The Gap Between a Notebook and a System" id="{9849D078-9C67-4FE3-BE26-4FC601C4CBE4}">
          <p14:sldIdLst>
            <p14:sldId id="261"/>
            <p14:sldId id="262"/>
            <p14:sldId id="263"/>
          </p14:sldIdLst>
        </p14:section>
        <p14:section name="27.2 Serving Patterns" id="{0C3FBA62-6BA6-4D71-BB8D-B5D29CCC2CB2}">
          <p14:sldIdLst>
            <p14:sldId id="264"/>
            <p14:sldId id="265"/>
            <p14:sldId id="266"/>
          </p14:sldIdLst>
        </p14:section>
        <p14:section name="27.3 Training–Serving Skew" id="{758E2806-3EBD-482F-9708-A3F5E4018561}">
          <p14:sldIdLst>
            <p14:sldId id="267"/>
          </p14:sldIdLst>
        </p14:section>
        <p14:section name="27.4 What to Version" id="{B2634E21-92CB-49E2-B7C6-FB195460C35C}">
          <p14:sldIdLst>
            <p14:sldId id="268"/>
            <p14:sldId id="269"/>
            <p14:sldId id="270"/>
          </p14:sldIdLst>
        </p14:section>
        <p14:section name="27.5 Monitoring" id="{D6026B05-3528-494B-9387-E3C0DE784494}">
          <p14:sldIdLst>
            <p14:sldId id="271"/>
          </p14:sldIdLst>
        </p14:section>
        <p14:section name="27.6 Safe Rollout" id="{52892FB9-C2FA-42A2-88BC-A301CC795283}">
          <p14:sldIdLst>
            <p14:sldId id="272"/>
            <p14:sldId id="273"/>
            <p14:sldId id="274"/>
          </p14:sldIdLst>
        </p14:section>
        <p14:section name="Four lenses" id="{23CE42C3-79DC-41C8-A417-C163D0B7D530}">
          <p14:sldIdLst>
            <p14:sldId id="275"/>
            <p14:sldId id="276"/>
            <p14:sldId id="277"/>
            <p14:sldId id="278"/>
            <p14:sldId id="279"/>
          </p14:sldIdLst>
        </p14:section>
        <p14:section name="Lab" id="{E1918ECE-E349-4B72-8BDD-9A76526F89CD}">
          <p14:sldIdLst>
            <p14:sldId id="280"/>
            <p14:sldId id="281"/>
            <p14:sldId id="282"/>
            <p14:sldId id="283"/>
            <p14:sldId id="284"/>
            <p14:sldId id="285"/>
          </p14:sldIdLst>
        </p14:section>
        <p14:section name="Checkpoint" id="{083AF93E-4336-48C7-B58E-189E846AC844}">
          <p14:sldIdLst>
            <p14:sldId id="286"/>
            <p14:sldId id="287"/>
            <p14:sldId id="288"/>
            <p14:sldId id="289"/>
            <p14:sldId id="290"/>
            <p14:sldId id="291"/>
          </p14:sldIdLst>
        </p14:section>
        <p14:section name="Wrap-up" id="{420044C0-A1B5-402E-BBEA-FD0C8762C94A}">
          <p14:sldIdLst>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27: MLOps: Deployment, Monitoring and Reliability. Part 5 — Data Science in Systems Context. Week 16: MLOps; ethics; practice &amp; capstone. Handout pages 175–182.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24 (containers and deployment tiers), Chapter 19 (drift) and Chapter 14 (the metrics you will monitor).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MLOps; model registry; feature store; training–serving skew; batch / online / edge inference; CI/CD; shadow deployment; canary release; A/B test; rollback; data drift; prediction drift; ground-truth lag; observability; model card.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27.1 (handout p. 175): The MLOps lifecycle. It is a closed loop, and the arrow from retraining back to training is the one that distinguishes a maintained system from an abandoned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27.2 (handout p. 177): The five things that must be versioned together. A model registry exists to keep these bound to one identifier, so that any past prediction can be explained and reproduced.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27.3 (handout p. 177): Four monitoring layers, ordered by how quickly each becomes available. Alert on layers 1 and 2; report layers 3 and 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Serving: weekly batch — outreach happens on a schedule, so an API is unnecessary complexity. Ground-truth lag: an entire term, which is why input and prediction monitoring carry the alerting load. Special requirement: every prediction must be logged with its features and model version, because a student may ask why they were contacted and the institution must be able to answer (Chapter 28). Retraining: annually, per cohort — retraining mid-term changes the rules on students partway through.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Serving: batch, weekly. Special difficulty: the prediction changes the outcome — a team told it will miss the sprint often does not, which makes the model look wrong precisely when it worked. Log the prediction and whether it was shown, so this can be analysed rather than argued about. Retraining: whenever team composition changes materially, not on a calendar.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Serving: edge, which makes deployment the hard part — over-the-air updates across a fleet on unreliable links, with staged rollout by device group and automatic rollback if a device fails to check in. Monitoring: you must watch the devices as well as the model, and distinguish model drift from sensor drift (Chapter 25). Retraining: monthly in the cloud on accumulated features, pushed down after canary on a device subset.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Serving: online and streaming — detection latency is a control. Retraining: frequent, because the adversary adapts — but each retrain is an attack surface (Chapter 26), so the training set must be screened and promotion gated by a human. Monitoring: alerts per analyst per hour is a first-class operational metric, and a sharp drop in alert volume is as alarming as a spike, since it may mean a log source has silently died.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LAYER 1: input drift, available immediately.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LAYER 2: prediction drift.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Every prediction is logged so it can be explained later.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promotion gate: refuse to ship a worse model.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Training and serving compute features with different code, so they disagree subtly — for example a different timezone or null convention. Example: training uses fillna(median) and serving uses fillna(0). A feature store eliminates the class of bug by computing features once for both paths.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Layers 1 and 2 — input distributions and prediction distributions. Layer 1 detects broken pipelines, changed upstream schemas and data drift; layer 2 detects a model whose behaviour has shifted, e.g. flagging 12% where it used to flag 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offline metrics do not capture training–serving skew, latency, or the effect on real behaviour. Shadow and canary deployment test those on live traffic before the new model drives any decision.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28 — Responsible AI and Data Ethics. READ: Handout Chapter 27, pages 175–182. THIS WEEK'S LAB: Monitored service; fairness measurement. ASSESSMENT: Capstone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16.xml"/><Relationship Id="rId10"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image" Target="../media/image37.png"/><Relationship Id="rId11" Type="http://schemas.openxmlformats.org/officeDocument/2006/relationships/image" Target="../media/image38.sv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31.png"/><Relationship Id="rId5" Type="http://schemas.openxmlformats.org/officeDocument/2006/relationships/image" Target="../media/image41.svg"/><Relationship Id="rId6" Type="http://schemas.openxmlformats.org/officeDocument/2006/relationships/image" Target="../media/image33.png"/><Relationship Id="rId7" Type="http://schemas.openxmlformats.org/officeDocument/2006/relationships/image" Target="../media/image42.svg"/><Relationship Id="rId8" Type="http://schemas.openxmlformats.org/officeDocument/2006/relationships/image" Target="../media/image35.png"/><Relationship Id="rId9" Type="http://schemas.openxmlformats.org/officeDocument/2006/relationships/image" Target="../media/image43.svg"/><Relationship Id="rId10" Type="http://schemas.openxmlformats.org/officeDocument/2006/relationships/image" Target="../media/image37.png"/><Relationship Id="rId11" Type="http://schemas.openxmlformats.org/officeDocument/2006/relationships/image" Target="../media/image44.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33.png"/><Relationship Id="rId5" Type="http://schemas.openxmlformats.org/officeDocument/2006/relationships/image" Target="../media/image47.svg"/><Relationship Id="rId6" Type="http://schemas.openxmlformats.org/officeDocument/2006/relationships/image" Target="../media/image31.png"/><Relationship Id="rId7" Type="http://schemas.openxmlformats.org/officeDocument/2006/relationships/image" Target="../media/image48.svg"/><Relationship Id="rId8" Type="http://schemas.openxmlformats.org/officeDocument/2006/relationships/image" Target="../media/image35.png"/><Relationship Id="rId9" Type="http://schemas.openxmlformats.org/officeDocument/2006/relationships/image" Target="../media/image49.svg"/><Relationship Id="rId10" Type="http://schemas.openxmlformats.org/officeDocument/2006/relationships/image" Target="../media/image37.png"/><Relationship Id="rId11" Type="http://schemas.openxmlformats.org/officeDocument/2006/relationships/image" Target="../media/image50.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5.png"/><Relationship Id="rId5" Type="http://schemas.openxmlformats.org/officeDocument/2006/relationships/image" Target="../media/image53.svg"/><Relationship Id="rId6" Type="http://schemas.openxmlformats.org/officeDocument/2006/relationships/image" Target="../media/image31.png"/><Relationship Id="rId7" Type="http://schemas.openxmlformats.org/officeDocument/2006/relationships/image" Target="../media/image54.svg"/><Relationship Id="rId8" Type="http://schemas.openxmlformats.org/officeDocument/2006/relationships/image" Target="../media/image33.png"/><Relationship Id="rId9" Type="http://schemas.openxmlformats.org/officeDocument/2006/relationships/image" Target="../media/image55.svg"/><Relationship Id="rId10" Type="http://schemas.openxmlformats.org/officeDocument/2006/relationships/image" Target="../media/image37.png"/><Relationship Id="rId11" Type="http://schemas.openxmlformats.org/officeDocument/2006/relationships/image" Target="../media/image56.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37.png"/><Relationship Id="rId5" Type="http://schemas.openxmlformats.org/officeDocument/2006/relationships/image" Target="../media/image59.svg"/><Relationship Id="rId6" Type="http://schemas.openxmlformats.org/officeDocument/2006/relationships/image" Target="../media/image31.png"/><Relationship Id="rId7" Type="http://schemas.openxmlformats.org/officeDocument/2006/relationships/image" Target="../media/image60.svg"/><Relationship Id="rId8" Type="http://schemas.openxmlformats.org/officeDocument/2006/relationships/image" Target="../media/image33.png"/><Relationship Id="rId9" Type="http://schemas.openxmlformats.org/officeDocument/2006/relationships/image" Target="../media/image61.svg"/><Relationship Id="rId10" Type="http://schemas.openxmlformats.org/officeDocument/2006/relationships/image" Target="../media/image35.png"/><Relationship Id="rId11" Type="http://schemas.openxmlformats.org/officeDocument/2006/relationships/image" Target="../media/image62.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27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MLOps: Deployment, Monitoring and Reliability</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DATA SCIENCE IN SYSTEMS CONTEXT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27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175     </a:t>
            </a:r>
            <a:fld id="{33BA4A49-133A-47A9-A2CE-404C2C7649EC}"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50833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508331"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8943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7979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180133"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18013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96132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MLOps: Deployment, Monitoring and Reliability</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88" name="!!chipBU1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91" name="!!chipBU24">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24">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24"/>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24  </a:t>
            </a:r>
            <a:r>
              <a:rPr sz="1400" b="0" i="0">
                <a:solidFill>
                  <a:srgbClr val="1C252B"/>
                </a:solidFill>
                <a:latin typeface="Segoe UI"/>
              </a:rPr>
              <a:t>Cloud and Edge Computing for Data Science</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3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3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3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30  </a:t>
            </a:r>
            <a:r>
              <a:rPr sz="1400" b="0" i="0">
                <a:solidFill>
                  <a:srgbClr val="1C252B"/>
                </a:solidFill>
                <a:latin typeface="Segoe UI"/>
              </a:rPr>
              <a:t>Managing Data Science Projects</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175     </a:t>
            </a:r>
            <a:fld id="{78B50970-E8BF-480E-AD3E-E4431005C53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the path from a trained model to a monitored production service.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Choose</a:t>
            </a:r>
            <a:r>
              <a:rPr sz="2100" b="0" i="0">
                <a:solidFill>
                  <a:srgbClr val="1C252B"/>
                </a:solidFill>
                <a:latin typeface="Segoe UI"/>
              </a:rPr>
              <a:t> between batch, online and edge serving for a stated requirement.</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Specify</a:t>
            </a:r>
            <a:r>
              <a:rPr sz="2100" b="0" i="0">
                <a:solidFill>
                  <a:srgbClr val="1C252B"/>
                </a:solidFill>
                <a:latin typeface="Segoe UI"/>
              </a:rPr>
              <a:t> what to version so that a prediction can be reproduced months later.</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Design</a:t>
            </a:r>
            <a:r>
              <a:rPr sz="2100" b="0" i="0">
                <a:solidFill>
                  <a:srgbClr val="1C252B"/>
                </a:solidFill>
                <a:latin typeface="Segoe UI"/>
              </a:rPr>
              <a:t> a monitoring plan covering data, prediction and outcome drift.</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Plan</a:t>
            </a:r>
            <a:r>
              <a:rPr sz="2100" b="0" i="0">
                <a:solidFill>
                  <a:srgbClr val="1C252B"/>
                </a:solidFill>
                <a:latin typeface="Segoe UI"/>
              </a:rPr>
              <a:t> a safe rollout and rollback.</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175     </a:t>
            </a:r>
            <a:fld id="{6AA8F79A-F00A-4254-8EAF-0C725DB6BEEB}" type="slidenum">
              <a:rPr lang="en-GB" sz="1000">
                <a:solidFill>
                  <a:srgbClr val="8795A1"/>
                </a:solidFill>
                <a:latin typeface="Segoe UI"/>
              </a:rPr>
              <a:t>4</a:t>
            </a:fld>
          </a:p>
        </p:txBody>
      </p:sp>
      <p:sp>
        <p:nvSpPr>
          <p:cNvPr id="7" name="!!term-MLOps">
            <a:extLst>
              <a:ext uri="{C183D7F6-B498-43B3-948B-1728B52AA6E4}">
                <adec:decorative xmlns:adec="http://schemas.microsoft.com/office/drawing/2017/decorative" val="1"/>
              </a:ext>
            </a:extLst>
          </p:cNvPr>
          <p:cNvSpPr/>
          <p:nvPr/>
        </p:nvSpPr>
        <p:spPr>
          <a:xfrm>
            <a:off x="658368" y="1847088"/>
            <a:ext cx="10885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MLOps">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MLOps"/>
          <p:cNvSpPr txBox="1"/>
          <p:nvPr/>
        </p:nvSpPr>
        <p:spPr>
          <a:xfrm>
            <a:off x="950976" y="1962911"/>
            <a:ext cx="9056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MLOps</a:t>
            </a:r>
          </a:p>
        </p:txBody>
      </p:sp>
      <p:sp>
        <p:nvSpPr>
          <p:cNvPr id="10" name="!!term-model registry">
            <a:extLst>
              <a:ext uri="{C183D7F6-B498-43B3-948B-1728B52AA6E4}">
                <adec:decorative xmlns:adec="http://schemas.microsoft.com/office/drawing/2017/decorative" val="1"/>
              </a:ext>
            </a:extLst>
          </p:cNvPr>
          <p:cNvSpPr/>
          <p:nvPr/>
        </p:nvSpPr>
        <p:spPr>
          <a:xfrm>
            <a:off x="1893246" y="1847088"/>
            <a:ext cx="17596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odel registry">
            <a:extLst>
              <a:ext uri="{C183D7F6-B498-43B3-948B-1728B52AA6E4}">
                <adec:decorative xmlns:adec="http://schemas.microsoft.com/office/drawing/2017/decorative" val="1"/>
              </a:ext>
            </a:extLst>
          </p:cNvPr>
          <p:cNvSpPr/>
          <p:nvPr/>
        </p:nvSpPr>
        <p:spPr>
          <a:xfrm>
            <a:off x="202126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odel registry"/>
          <p:cNvSpPr txBox="1"/>
          <p:nvPr/>
        </p:nvSpPr>
        <p:spPr>
          <a:xfrm>
            <a:off x="2185854" y="1962911"/>
            <a:ext cx="157680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model registry</a:t>
            </a:r>
          </a:p>
        </p:txBody>
      </p:sp>
      <p:sp>
        <p:nvSpPr>
          <p:cNvPr id="13" name="!!term-feature store">
            <a:extLst>
              <a:ext uri="{C183D7F6-B498-43B3-948B-1728B52AA6E4}">
                <adec:decorative xmlns:adec="http://schemas.microsoft.com/office/drawing/2017/decorative" val="1"/>
              </a:ext>
            </a:extLst>
          </p:cNvPr>
          <p:cNvSpPr/>
          <p:nvPr/>
        </p:nvSpPr>
        <p:spPr>
          <a:xfrm>
            <a:off x="3799236" y="1847088"/>
            <a:ext cx="16025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feature store">
            <a:extLst>
              <a:ext uri="{C183D7F6-B498-43B3-948B-1728B52AA6E4}">
                <adec:decorative xmlns:adec="http://schemas.microsoft.com/office/drawing/2017/decorative" val="1"/>
              </a:ext>
            </a:extLst>
          </p:cNvPr>
          <p:cNvSpPr/>
          <p:nvPr/>
        </p:nvSpPr>
        <p:spPr>
          <a:xfrm>
            <a:off x="392725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feature store"/>
          <p:cNvSpPr txBox="1"/>
          <p:nvPr/>
        </p:nvSpPr>
        <p:spPr>
          <a:xfrm>
            <a:off x="4091844" y="1962911"/>
            <a:ext cx="14197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store</a:t>
            </a:r>
          </a:p>
        </p:txBody>
      </p:sp>
      <p:sp>
        <p:nvSpPr>
          <p:cNvPr id="16" name="!!term-training–servi">
            <a:extLst>
              <a:ext uri="{C183D7F6-B498-43B3-948B-1728B52AA6E4}">
                <adec:decorative xmlns:adec="http://schemas.microsoft.com/office/drawing/2017/decorative" val="1"/>
              </a:ext>
            </a:extLst>
          </p:cNvPr>
          <p:cNvSpPr/>
          <p:nvPr/>
        </p:nvSpPr>
        <p:spPr>
          <a:xfrm>
            <a:off x="5548129" y="1847088"/>
            <a:ext cx="24106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training–servi">
            <a:extLst>
              <a:ext uri="{C183D7F6-B498-43B3-948B-1728B52AA6E4}">
                <adec:decorative xmlns:adec="http://schemas.microsoft.com/office/drawing/2017/decorative" val="1"/>
              </a:ext>
            </a:extLst>
          </p:cNvPr>
          <p:cNvSpPr/>
          <p:nvPr/>
        </p:nvSpPr>
        <p:spPr>
          <a:xfrm>
            <a:off x="567614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training–servi"/>
          <p:cNvSpPr txBox="1"/>
          <p:nvPr/>
        </p:nvSpPr>
        <p:spPr>
          <a:xfrm>
            <a:off x="5840737" y="1962911"/>
            <a:ext cx="22277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training–serving skew</a:t>
            </a:r>
          </a:p>
        </p:txBody>
      </p:sp>
      <p:sp>
        <p:nvSpPr>
          <p:cNvPr id="19" name="!!term-batch / online">
            <a:extLst>
              <a:ext uri="{C183D7F6-B498-43B3-948B-1728B52AA6E4}">
                <adec:decorative xmlns:adec="http://schemas.microsoft.com/office/drawing/2017/decorative" val="1"/>
              </a:ext>
            </a:extLst>
          </p:cNvPr>
          <p:cNvSpPr/>
          <p:nvPr/>
        </p:nvSpPr>
        <p:spPr>
          <a:xfrm>
            <a:off x="8105112" y="1847088"/>
            <a:ext cx="32635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batch / online">
            <a:extLst>
              <a:ext uri="{C183D7F6-B498-43B3-948B-1728B52AA6E4}">
                <adec:decorative xmlns:adec="http://schemas.microsoft.com/office/drawing/2017/decorative" val="1"/>
              </a:ext>
            </a:extLst>
          </p:cNvPr>
          <p:cNvSpPr/>
          <p:nvPr/>
        </p:nvSpPr>
        <p:spPr>
          <a:xfrm>
            <a:off x="82331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batch / online"/>
          <p:cNvSpPr txBox="1"/>
          <p:nvPr/>
        </p:nvSpPr>
        <p:spPr>
          <a:xfrm>
            <a:off x="8397720" y="1962911"/>
            <a:ext cx="30807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batch / online / edge inference</a:t>
            </a:r>
          </a:p>
        </p:txBody>
      </p:sp>
      <p:sp>
        <p:nvSpPr>
          <p:cNvPr id="22" name="!!term-CI/CD">
            <a:extLst>
              <a:ext uri="{C183D7F6-B498-43B3-948B-1728B52AA6E4}">
                <adec:decorative xmlns:adec="http://schemas.microsoft.com/office/drawing/2017/decorative" val="1"/>
              </a:ext>
            </a:extLst>
          </p:cNvPr>
          <p:cNvSpPr/>
          <p:nvPr/>
        </p:nvSpPr>
        <p:spPr>
          <a:xfrm>
            <a:off x="658368" y="2468880"/>
            <a:ext cx="9767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I/CD">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I/CD"/>
          <p:cNvSpPr txBox="1"/>
          <p:nvPr/>
        </p:nvSpPr>
        <p:spPr>
          <a:xfrm>
            <a:off x="950976" y="2584704"/>
            <a:ext cx="79388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CI/CD</a:t>
            </a:r>
          </a:p>
        </p:txBody>
      </p:sp>
      <p:sp>
        <p:nvSpPr>
          <p:cNvPr id="25" name="!!term-shadow deploym">
            <a:extLst>
              <a:ext uri="{C183D7F6-B498-43B3-948B-1728B52AA6E4}">
                <adec:decorative xmlns:adec="http://schemas.microsoft.com/office/drawing/2017/decorative" val="1"/>
              </a:ext>
            </a:extLst>
          </p:cNvPr>
          <p:cNvSpPr/>
          <p:nvPr/>
        </p:nvSpPr>
        <p:spPr>
          <a:xfrm>
            <a:off x="1781434" y="2468880"/>
            <a:ext cx="22984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hadow deploym">
            <a:extLst>
              <a:ext uri="{C183D7F6-B498-43B3-948B-1728B52AA6E4}">
                <adec:decorative xmlns:adec="http://schemas.microsoft.com/office/drawing/2017/decorative" val="1"/>
              </a:ext>
            </a:extLst>
          </p:cNvPr>
          <p:cNvSpPr/>
          <p:nvPr/>
        </p:nvSpPr>
        <p:spPr>
          <a:xfrm>
            <a:off x="19094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hadow deploym"/>
          <p:cNvSpPr txBox="1"/>
          <p:nvPr/>
        </p:nvSpPr>
        <p:spPr>
          <a:xfrm>
            <a:off x="2074042" y="2584704"/>
            <a:ext cx="21156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shadow deployment</a:t>
            </a:r>
          </a:p>
        </p:txBody>
      </p:sp>
      <p:sp>
        <p:nvSpPr>
          <p:cNvPr id="28" name="!!term-canary release">
            <a:extLst>
              <a:ext uri="{C183D7F6-B498-43B3-948B-1728B52AA6E4}">
                <adec:decorative xmlns:adec="http://schemas.microsoft.com/office/drawing/2017/decorative" val="1"/>
              </a:ext>
            </a:extLst>
          </p:cNvPr>
          <p:cNvSpPr/>
          <p:nvPr/>
        </p:nvSpPr>
        <p:spPr>
          <a:xfrm>
            <a:off x="4226222" y="2468880"/>
            <a:ext cx="17331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anary release">
            <a:extLst>
              <a:ext uri="{C183D7F6-B498-43B3-948B-1728B52AA6E4}">
                <adec:decorative xmlns:adec="http://schemas.microsoft.com/office/drawing/2017/decorative" val="1"/>
              </a:ext>
            </a:extLst>
          </p:cNvPr>
          <p:cNvSpPr/>
          <p:nvPr/>
        </p:nvSpPr>
        <p:spPr>
          <a:xfrm>
            <a:off x="43542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anary release"/>
          <p:cNvSpPr txBox="1"/>
          <p:nvPr/>
        </p:nvSpPr>
        <p:spPr>
          <a:xfrm>
            <a:off x="4518830" y="2584704"/>
            <a:ext cx="15502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canary release</a:t>
            </a:r>
          </a:p>
        </p:txBody>
      </p:sp>
      <p:sp>
        <p:nvSpPr>
          <p:cNvPr id="31" name="!!term-A/B test">
            <a:extLst>
              <a:ext uri="{C183D7F6-B498-43B3-948B-1728B52AA6E4}">
                <adec:decorative xmlns:adec="http://schemas.microsoft.com/office/drawing/2017/decorative" val="1"/>
              </a:ext>
            </a:extLst>
          </p:cNvPr>
          <p:cNvSpPr/>
          <p:nvPr/>
        </p:nvSpPr>
        <p:spPr>
          <a:xfrm>
            <a:off x="6105682" y="2468880"/>
            <a:ext cx="11657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B test">
            <a:extLst>
              <a:ext uri="{C183D7F6-B498-43B3-948B-1728B52AA6E4}">
                <adec:decorative xmlns:adec="http://schemas.microsoft.com/office/drawing/2017/decorative" val="1"/>
              </a:ext>
            </a:extLst>
          </p:cNvPr>
          <p:cNvSpPr/>
          <p:nvPr/>
        </p:nvSpPr>
        <p:spPr>
          <a:xfrm>
            <a:off x="623369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B test"/>
          <p:cNvSpPr txBox="1"/>
          <p:nvPr/>
        </p:nvSpPr>
        <p:spPr>
          <a:xfrm>
            <a:off x="6398290" y="2584704"/>
            <a:ext cx="9828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A/B test</a:t>
            </a:r>
          </a:p>
        </p:txBody>
      </p:sp>
      <p:sp>
        <p:nvSpPr>
          <p:cNvPr id="34" name="!!term-rollback">
            <a:extLst>
              <a:ext uri="{C183D7F6-B498-43B3-948B-1728B52AA6E4}">
                <adec:decorative xmlns:adec="http://schemas.microsoft.com/office/drawing/2017/decorative" val="1"/>
              </a:ext>
            </a:extLst>
          </p:cNvPr>
          <p:cNvSpPr/>
          <p:nvPr/>
        </p:nvSpPr>
        <p:spPr>
          <a:xfrm>
            <a:off x="7417747" y="2468880"/>
            <a:ext cx="11588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rollback">
            <a:extLst>
              <a:ext uri="{C183D7F6-B498-43B3-948B-1728B52AA6E4}">
                <adec:decorative xmlns:adec="http://schemas.microsoft.com/office/drawing/2017/decorative" val="1"/>
              </a:ext>
            </a:extLst>
          </p:cNvPr>
          <p:cNvSpPr/>
          <p:nvPr/>
        </p:nvSpPr>
        <p:spPr>
          <a:xfrm>
            <a:off x="754576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rollback"/>
          <p:cNvSpPr txBox="1"/>
          <p:nvPr/>
        </p:nvSpPr>
        <p:spPr>
          <a:xfrm>
            <a:off x="7710355" y="2584704"/>
            <a:ext cx="97598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rollback</a:t>
            </a:r>
          </a:p>
        </p:txBody>
      </p:sp>
      <p:sp>
        <p:nvSpPr>
          <p:cNvPr id="37" name="!!term-data drift">
            <a:extLst>
              <a:ext uri="{C183D7F6-B498-43B3-948B-1728B52AA6E4}">
                <adec:decorative xmlns:adec="http://schemas.microsoft.com/office/drawing/2017/decorative" val="1"/>
              </a:ext>
            </a:extLst>
          </p:cNvPr>
          <p:cNvSpPr/>
          <p:nvPr/>
        </p:nvSpPr>
        <p:spPr>
          <a:xfrm>
            <a:off x="8722914" y="2468880"/>
            <a:ext cx="12785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ata drift">
            <a:extLst>
              <a:ext uri="{C183D7F6-B498-43B3-948B-1728B52AA6E4}">
                <adec:decorative xmlns:adec="http://schemas.microsoft.com/office/drawing/2017/decorative" val="1"/>
              </a:ext>
            </a:extLst>
          </p:cNvPr>
          <p:cNvSpPr/>
          <p:nvPr/>
        </p:nvSpPr>
        <p:spPr>
          <a:xfrm>
            <a:off x="885093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ata drift"/>
          <p:cNvSpPr txBox="1"/>
          <p:nvPr/>
        </p:nvSpPr>
        <p:spPr>
          <a:xfrm>
            <a:off x="9015522" y="2584704"/>
            <a:ext cx="109571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drift</a:t>
            </a:r>
          </a:p>
        </p:txBody>
      </p:sp>
      <p:sp>
        <p:nvSpPr>
          <p:cNvPr id="40" name="!!term-prediction dri">
            <a:extLst>
              <a:ext uri="{C183D7F6-B498-43B3-948B-1728B52AA6E4}">
                <adec:decorative xmlns:adec="http://schemas.microsoft.com/office/drawing/2017/decorative" val="1"/>
              </a:ext>
            </a:extLst>
          </p:cNvPr>
          <p:cNvSpPr/>
          <p:nvPr/>
        </p:nvSpPr>
        <p:spPr>
          <a:xfrm>
            <a:off x="658368" y="3090672"/>
            <a:ext cx="18047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rediction dri">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rediction dri"/>
          <p:cNvSpPr txBox="1"/>
          <p:nvPr/>
        </p:nvSpPr>
        <p:spPr>
          <a:xfrm>
            <a:off x="950976" y="3206496"/>
            <a:ext cx="162191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prediction drift</a:t>
            </a:r>
          </a:p>
        </p:txBody>
      </p:sp>
      <p:sp>
        <p:nvSpPr>
          <p:cNvPr id="43" name="!!term-ground-truth l">
            <a:extLst>
              <a:ext uri="{C183D7F6-B498-43B3-948B-1728B52AA6E4}">
                <adec:decorative xmlns:adec="http://schemas.microsoft.com/office/drawing/2017/decorative" val="1"/>
              </a:ext>
            </a:extLst>
          </p:cNvPr>
          <p:cNvSpPr/>
          <p:nvPr/>
        </p:nvSpPr>
        <p:spPr>
          <a:xfrm>
            <a:off x="2609469" y="3090672"/>
            <a:ext cx="19759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ground-truth l">
            <a:extLst>
              <a:ext uri="{C183D7F6-B498-43B3-948B-1728B52AA6E4}">
                <adec:decorative xmlns:adec="http://schemas.microsoft.com/office/drawing/2017/decorative" val="1"/>
              </a:ext>
            </a:extLst>
          </p:cNvPr>
          <p:cNvSpPr/>
          <p:nvPr/>
        </p:nvSpPr>
        <p:spPr>
          <a:xfrm>
            <a:off x="273748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ground-truth l"/>
          <p:cNvSpPr txBox="1"/>
          <p:nvPr/>
        </p:nvSpPr>
        <p:spPr>
          <a:xfrm>
            <a:off x="2902077" y="3206496"/>
            <a:ext cx="179305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ground-truth lag</a:t>
            </a:r>
          </a:p>
        </p:txBody>
      </p:sp>
      <p:sp>
        <p:nvSpPr>
          <p:cNvPr id="46" name="!!term-observability">
            <a:extLst>
              <a:ext uri="{C183D7F6-B498-43B3-948B-1728B52AA6E4}">
                <adec:decorative xmlns:adec="http://schemas.microsoft.com/office/drawing/2017/decorative" val="1"/>
              </a:ext>
            </a:extLst>
          </p:cNvPr>
          <p:cNvSpPr/>
          <p:nvPr/>
        </p:nvSpPr>
        <p:spPr>
          <a:xfrm>
            <a:off x="4731713" y="3090672"/>
            <a:ext cx="15984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observability">
            <a:extLst>
              <a:ext uri="{C183D7F6-B498-43B3-948B-1728B52AA6E4}">
                <adec:decorative xmlns:adec="http://schemas.microsoft.com/office/drawing/2017/decorative" val="1"/>
              </a:ext>
            </a:extLst>
          </p:cNvPr>
          <p:cNvSpPr/>
          <p:nvPr/>
        </p:nvSpPr>
        <p:spPr>
          <a:xfrm>
            <a:off x="485972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observability"/>
          <p:cNvSpPr txBox="1"/>
          <p:nvPr/>
        </p:nvSpPr>
        <p:spPr>
          <a:xfrm>
            <a:off x="5024321" y="3206496"/>
            <a:ext cx="141553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observability</a:t>
            </a:r>
          </a:p>
        </p:txBody>
      </p:sp>
      <p:sp>
        <p:nvSpPr>
          <p:cNvPr id="49" name="!!term-model card">
            <a:extLst>
              <a:ext uri="{C183D7F6-B498-43B3-948B-1728B52AA6E4}">
                <adec:decorative xmlns:adec="http://schemas.microsoft.com/office/drawing/2017/decorative" val="1"/>
              </a:ext>
            </a:extLst>
          </p:cNvPr>
          <p:cNvSpPr/>
          <p:nvPr/>
        </p:nvSpPr>
        <p:spPr>
          <a:xfrm>
            <a:off x="6476435" y="3090672"/>
            <a:ext cx="14716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odel card">
            <a:extLst>
              <a:ext uri="{C183D7F6-B498-43B3-948B-1728B52AA6E4}">
                <adec:decorative xmlns:adec="http://schemas.microsoft.com/office/drawing/2017/decorative" val="1"/>
              </a:ext>
            </a:extLst>
          </p:cNvPr>
          <p:cNvSpPr/>
          <p:nvPr/>
        </p:nvSpPr>
        <p:spPr>
          <a:xfrm>
            <a:off x="660445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odel card"/>
          <p:cNvSpPr txBox="1"/>
          <p:nvPr/>
        </p:nvSpPr>
        <p:spPr>
          <a:xfrm>
            <a:off x="6769043" y="3206496"/>
            <a:ext cx="12887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model card</a:t>
            </a:r>
          </a:p>
        </p:txBody>
      </p:sp>
      <p:sp>
        <p:nvSpPr>
          <p:cNvPr id="52"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175–182     </a:t>
            </a:r>
            <a:fld id="{D1A1EA30-1402-48AF-B258-DD64F6655B5B}" type="slidenum">
              <a:rPr lang="en-GB" sz="1000">
                <a:solidFill>
                  <a:srgbClr val="8795A1"/>
                </a:solidFill>
                <a:latin typeface="Segoe UI"/>
              </a:rPr>
              <a:t>5</a:t>
            </a:fld>
          </a:p>
        </p:txBody>
      </p:sp>
      <p:sp>
        <p:nvSpPr>
          <p:cNvPr id="7" name="!!ag0" descr="Go to section 27.1 The Gap Between a Notebook and a System">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Gap Between a Notebook and a System</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175  ›</a:t>
            </a:r>
          </a:p>
        </p:txBody>
      </p:sp>
      <p:sp>
        <p:nvSpPr>
          <p:cNvPr id="12" name="!!ag1" descr="Go to section 27.2 Serving Pattern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Serving Patterns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176  ›</a:t>
            </a:r>
          </a:p>
        </p:txBody>
      </p:sp>
      <p:sp>
        <p:nvSpPr>
          <p:cNvPr id="17" name="!!ag2" descr="Go to section 27.3 Training–Serving Skew">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Training–Serving Skew</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176  ›</a:t>
            </a:r>
          </a:p>
        </p:txBody>
      </p:sp>
      <p:sp>
        <p:nvSpPr>
          <p:cNvPr id="22" name="!!ag3" descr="Go to section 27.4 What to Version">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to Version</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176  ›</a:t>
            </a:r>
          </a:p>
        </p:txBody>
      </p:sp>
      <p:sp>
        <p:nvSpPr>
          <p:cNvPr id="27" name="!!ag4" descr="Go to section 27.5 Monitor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27.5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Monitoring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177  ›</a:t>
            </a:r>
          </a:p>
        </p:txBody>
      </p:sp>
      <p:sp>
        <p:nvSpPr>
          <p:cNvPr id="32" name="!!ag5" descr="Go to section 27.6 Safe Rollout">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27.6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Safe Rollout</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177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Gap Between a Notebook and a System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27.1   The Gap Between a Notebook and a System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27.2   Serving Patterns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27.3   Training–Serving Skew</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27.4   What to Version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27.5   Monitoring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27.6   Safe Rollout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§27.1     </a:t>
            </a:r>
            <a:fld id="{56F31C42-2E34-47FE-8E6A-160691EB101B}" type="slidenum">
              <a:rPr lang="en-GB" sz="1000">
                <a:solidFill>
                  <a:srgbClr val="8795A1"/>
                </a:solidFill>
                <a:latin typeface="Segoe UI"/>
              </a:rPr>
              <a:t>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Changes at Deployment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§27.1  ·  Handout p. 175     </a:t>
            </a:r>
            <a:fld id="{9A55288E-FF28-4BD0-84CD-7C6E583982A7}"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notebook model runs once, on data you chose, with you watching. A deployed model runs thousands of times a day, on data nobody inspected, with nobody watching, for years — while the world it was trained on changes. MLOps is the engineering discipline that makes the second situation survivable.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MLOps lifecycle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§27.1  ·  Handout p. 175     </a:t>
            </a:r>
            <a:fld id="{0B944C73-D040-43AC-970F-FD00991EBD80}" type="slidenum">
              <a:rPr lang="en-GB" sz="1000">
                <a:solidFill>
                  <a:srgbClr val="8795A1"/>
                </a:solidFill>
                <a:latin typeface="Segoe UI"/>
              </a:rPr>
              <a:t>8</a:t>
            </a:fld>
          </a:p>
        </p:txBody>
      </p:sp>
      <p:pic>
        <p:nvPicPr>
          <p:cNvPr id="6" name="!!figure" descr="Figure 27.1. The MLOps lifecycle. It is a closed loop, and the arrow from retraining back to training is the one that distinguishes a maintained system from an abandoned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58609"/>
            <a:ext cx="10874959" cy="361908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It is a closed loop, and the arrow from retraining back to training is the one that distinguishes a maintained system from an abandoned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Serving Patterns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27.2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27.1   The Gap Between a Notebook and a System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27.2   Serving Patterns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27.3   Training–Serving Skew</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27.4   What to Version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27.5   Monitoring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27.6   Safe Rollout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§27.2     </a:t>
            </a:r>
            <a:fld id="{3404275B-F411-40F6-AEC7-E5E9E1B1406A}" type="slidenum">
              <a:rPr lang="en-GB" sz="1000">
                <a:solidFill>
                  <a:srgbClr val="8795A1"/>
                </a:solidFill>
                <a:latin typeface="Segoe UI"/>
              </a:rPr>
              <a:t>9</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Serving Patterns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§27.2  ·  Handout p. 176     </a:t>
            </a:r>
            <a:fld id="{4FA613B6-4B4C-431D-B80D-54E7DB456AC7}" type="slidenum">
              <a:rPr lang="en-GB" sz="1000">
                <a:solidFill>
                  <a:srgbClr val="8795A1"/>
                </a:solidFill>
                <a:latin typeface="Segoe UI"/>
              </a:rPr>
              <a:t>10</a:t>
            </a:fld>
          </a:p>
        </p:txBody>
      </p:sp>
      <p:graphicFrame>
        <p:nvGraphicFramePr>
          <p:cNvPr id="7" name="!!table"/>
          <p:cNvGraphicFramePr>
            <a:graphicFrameLocks noGrp="1"/>
          </p:cNvGraphicFramePr>
          <p:nvPr/>
        </p:nvGraphicFramePr>
        <p:xfrm>
          <a:off x="658368" y="1737360"/>
          <a:ext cx="10874957" cy="2950464"/>
        </p:xfrm>
        <a:graphic>
          <a:graphicData uri="http://schemas.openxmlformats.org/drawingml/2006/table">
            <a:tbl>
              <a:tblPr firstRow="0" bandRow="0" firstCol="0" lastRow="0" lastCol="0" bandCol="0">
                <a:tableStyleId>{2D5ABB26-0587-4C30-8999-92F81FD0307C}</a:tableStyleId>
              </a:tblPr>
              <a:tblGrid>
                <a:gridCol w="1928184"/>
                <a:gridCol w="2853712"/>
                <a:gridCol w="2699457"/>
                <a:gridCol w="3393604"/>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Batch</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Online (API)</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Edge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When it runs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 a schedule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 request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 the device, continuously</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Latency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Hours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10–500 ms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Cambria"/>
                        </a:rPr>
                        <a:t>&lt;10</a:t>
                      </a:r>
                      <a:r>
                        <a:rPr sz="1700" b="0" i="0">
                          <a:solidFill>
                            <a:srgbClr val="1C252B"/>
                          </a:solidFill>
                          <a:latin typeface="Segoe UI"/>
                        </a:rPr>
                        <a:t> ms</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Complexity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Lowest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Moderate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Highest — updates are hard</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Good for</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Weekly risk scores, nightly maintenance lists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Fraud checks, live recommendations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Safety shutdowns, offline operation</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Watch out for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Staleness — the score is as old as the last run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Latency budget, autoscaling, cold starts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Model size, power, over-the-air updates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Choose the Simplest That Meets the Requirement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§27.2  ·  Handout p. 176     </a:t>
            </a:r>
            <a:fld id="{8C9EACBD-907D-4BB8-B40E-4BA38CD49DB8}"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Most student projects reach for an API when a nightly batch job would serve the decision perfectly well. If the intervention happens on Monday mornings, a Sunday night batch is simpler, cheaper, easier to monitor and easier to reproduce. Real-time serving is a cost you should incur only when the decision genuinely cannot wait.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Most Common Production Failure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§27.3  ·  Handout p. 176     </a:t>
            </a:r>
            <a:fld id="{DC5CB9A5-CC8A-4464-BEE0-FC8CBDE69F08}"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model was trained on features computed by a pandas script, and serves on features computed by a Java service written by a different team. The two implementations disagree slightly — a different null handling, a different timezone, a rounding difference — and accuracy in production is far below what testing promised. Nothing is broken and no error is raised.</a:t>
            </a:r>
          </a:p>
        </p:txBody>
      </p:sp>
      <p:sp>
        <p:nvSpPr>
          <p:cNvPr id="10" name="body-1"/>
          <p:cNvSpPr txBox="1"/>
          <p:nvPr/>
        </p:nvSpPr>
        <p:spPr>
          <a:xfrm>
            <a:off x="1060704" y="403161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A93226"/>
                </a:solidFill>
                <a:latin typeface="Segoe UI"/>
              </a:rPr>
              <a:t>The fix:</a:t>
            </a:r>
            <a:r>
              <a:rPr sz="2300" b="0" i="0">
                <a:solidFill>
                  <a:srgbClr val="1C252B"/>
                </a:solidFill>
                <a:latin typeface="Segoe UI"/>
              </a:rPr>
              <a:t> compute features in </a:t>
            </a:r>
            <a:r>
              <a:rPr sz="2300" b="0" i="1">
                <a:solidFill>
                  <a:srgbClr val="1C252B"/>
                </a:solidFill>
                <a:latin typeface="Segoe UI"/>
              </a:rPr>
              <a:t>one</a:t>
            </a:r>
            <a:r>
              <a:rPr sz="2300" b="0" i="0">
                <a:solidFill>
                  <a:srgbClr val="1C252B"/>
                </a:solidFill>
                <a:latin typeface="Segoe UI"/>
              </a:rPr>
              <a:t> place. A </a:t>
            </a:r>
            <a:r>
              <a:rPr sz="2300" b="1" i="0">
                <a:solidFill>
                  <a:srgbClr val="1A5276"/>
                </a:solidFill>
                <a:latin typeface="Segoe UI"/>
              </a:rPr>
              <a:t>feature store</a:t>
            </a:r>
            <a:r>
              <a:rPr sz="2300" b="0" i="0">
                <a:solidFill>
                  <a:srgbClr val="1C252B"/>
                </a:solidFill>
                <a:latin typeface="Segoe UI"/>
              </a:rPr>
              <a:t> serves the same computed features to both training and inference, which eliminates the class of bug entirely rather than testing for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to Version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27.4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27.1   The Gap Between a Notebook and a System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27.2   Serving Patterns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27.3   Training–Serving Skew</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27.4   What to Version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27.5   Monitoring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27.6   Safe Rollout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§27.4     </a:t>
            </a:r>
            <a:fld id="{08F0A57E-6AF3-41DD-A1CC-D5816F9D519B}" type="slidenum">
              <a:rPr lang="en-GB" sz="1000">
                <a:solidFill>
                  <a:srgbClr val="8795A1"/>
                </a:solidFill>
                <a:latin typeface="Segoe UI"/>
              </a:rPr>
              <a:t>13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Reproducibility Requires Five Things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§27.4  ·  Handout p. 176     </a:t>
            </a:r>
            <a:fld id="{0675EFCC-EB29-44A6-96E0-B4333A44745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reproduce a prediction made eight months ago you need: the </a:t>
            </a:r>
            <a:r>
              <a:rPr sz="2300" b="1" i="0">
                <a:solidFill>
                  <a:srgbClr val="1C252B"/>
                </a:solidFill>
                <a:latin typeface="Segoe UI"/>
              </a:rPr>
              <a:t>code</a:t>
            </a:r>
            <a:r>
              <a:rPr sz="2300" b="0" i="0">
                <a:solidFill>
                  <a:srgbClr val="1C252B"/>
                </a:solidFill>
                <a:latin typeface="Segoe UI"/>
              </a:rPr>
              <a:t>, the </a:t>
            </a:r>
            <a:r>
              <a:rPr sz="2300" b="1" i="0">
                <a:solidFill>
                  <a:srgbClr val="1C252B"/>
                </a:solidFill>
                <a:latin typeface="Segoe UI"/>
              </a:rPr>
              <a:t>data</a:t>
            </a:r>
            <a:r>
              <a:rPr sz="2300" b="0" i="0">
                <a:solidFill>
                  <a:srgbClr val="1C252B"/>
                </a:solidFill>
                <a:latin typeface="Segoe UI"/>
              </a:rPr>
              <a:t> (or a snapshot reference), the </a:t>
            </a:r>
            <a:r>
              <a:rPr sz="2300" b="1" i="0">
                <a:solidFill>
                  <a:srgbClr val="1C252B"/>
                </a:solidFill>
                <a:latin typeface="Segoe UI"/>
              </a:rPr>
              <a:t>environment</a:t>
            </a:r>
            <a:r>
              <a:rPr sz="2300" b="0" i="0">
                <a:solidFill>
                  <a:srgbClr val="1C252B"/>
                </a:solidFill>
                <a:latin typeface="Segoe UI"/>
              </a:rPr>
              <a:t> (container image), the </a:t>
            </a:r>
            <a:r>
              <a:rPr sz="2300" b="1" i="0">
                <a:solidFill>
                  <a:srgbClr val="1C252B"/>
                </a:solidFill>
                <a:latin typeface="Segoe UI"/>
              </a:rPr>
              <a:t>hyperparameters</a:t>
            </a:r>
            <a:r>
              <a:rPr sz="2300" b="0" i="0">
                <a:solidFill>
                  <a:srgbClr val="1C252B"/>
                </a:solidFill>
                <a:latin typeface="Segoe UI"/>
              </a:rPr>
              <a:t>, and the </a:t>
            </a:r>
            <a:r>
              <a:rPr sz="2300" b="1" i="0">
                <a:solidFill>
                  <a:srgbClr val="1C252B"/>
                </a:solidFill>
                <a:latin typeface="Segoe UI"/>
              </a:rPr>
              <a:t>model artefact</a:t>
            </a:r>
            <a:r>
              <a:rPr sz="2300" b="0" i="0">
                <a:solidFill>
                  <a:srgbClr val="1C252B"/>
                </a:solidFill>
                <a:latin typeface="Segoe UI"/>
              </a:rPr>
              <a:t> itself — each tied together by a single run identifier. Missing any one makes the result unreproducible, and an unreproducible result cannot be defended when challenged.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five things that must be versioned together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27.2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§27.4  ·  Handout p. 176     </a:t>
            </a:r>
            <a:fld id="{0B03AC47-B5D6-43DC-9E6F-3A133861A91F}" type="slidenum">
              <a:rPr lang="en-GB" sz="1000">
                <a:solidFill>
                  <a:srgbClr val="8795A1"/>
                </a:solidFill>
                <a:latin typeface="Segoe UI"/>
              </a:rPr>
              <a:t>15</a:t>
            </a:fld>
          </a:p>
        </p:txBody>
      </p:sp>
      <p:pic>
        <p:nvPicPr>
          <p:cNvPr id="6" name="!!figure" descr="Figure 27.2. The five things that must be versioned together. A model registry exists to keep these bound to one identifier, so that any past prediction can be explained and reproduc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66836"/>
            <a:ext cx="10874959" cy="357206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 model registry exists to keep these bound to one identifier, so that any past prediction can be explained and reproduced.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monitoring layers, ordered by how quickly each becomes available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27.3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§27.5  ·  Handout p. 177     </a:t>
            </a:r>
            <a:fld id="{850FC30E-7EA2-462B-82A5-F464DE9C186E}" type="slidenum">
              <a:rPr lang="en-GB" sz="1000">
                <a:solidFill>
                  <a:srgbClr val="8795A1"/>
                </a:solidFill>
                <a:latin typeface="Segoe UI"/>
              </a:rPr>
              <a:t>16</a:t>
            </a:fld>
          </a:p>
        </p:txBody>
      </p:sp>
      <p:pic>
        <p:nvPicPr>
          <p:cNvPr id="6" name="!!figure" descr="Figure 27.3. Four monitoring layers, ordered by how quickly each becomes available. Alert on layers 1 and 2; report layers 3 and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44904" y="1737360"/>
            <a:ext cx="7301885"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Alert on layers 1 and 2; report layers 3 and 4.</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Safe Rollout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27.6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27.1   The Gap Between a Notebook and a System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27.2   Serving Patterns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27.3   Training–Serving Skew</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27.4   What to Version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27.5   Monitoring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27.6   Safe Rollout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§27.6     </a:t>
            </a:r>
            <a:fld id="{B11FB1AD-7166-44CA-AEF2-44D6769DEFE3}" type="slidenum">
              <a:rPr lang="en-GB" sz="1000">
                <a:solidFill>
                  <a:srgbClr val="8795A1"/>
                </a:solidFill>
                <a:latin typeface="Segoe UI"/>
              </a:rPr>
              <a:t>17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Shadow, Canary, and Rollback</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5ED8DC2B-2124-4B1A-8053-9C6C03416E83}"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Shadow</a:t>
            </a:r>
            <a:r>
              <a:rPr sz="2300" b="0" i="0">
                <a:solidFill>
                  <a:srgbClr val="1C252B"/>
                </a:solidFill>
                <a:latin typeface="Segoe UI"/>
              </a:rPr>
              <a:t>: the new model runs on live traffic and its predictions are logged but not acted on — zero risk, real data. </a:t>
            </a:r>
            <a:r>
              <a:rPr sz="2300" b="1" i="0">
                <a:solidFill>
                  <a:srgbClr val="1A5276"/>
                </a:solidFill>
                <a:latin typeface="Segoe UI"/>
              </a:rPr>
              <a:t>Canary</a:t>
            </a:r>
            <a:r>
              <a:rPr sz="2300" b="0" i="0">
                <a:solidFill>
                  <a:srgbClr val="1C252B"/>
                </a:solidFill>
                <a:latin typeface="Segoe UI"/>
              </a:rPr>
              <a:t>: it serves a small percentage of real traffic, with automatic rollback if metrics degrade. </a:t>
            </a:r>
            <a:r>
              <a:rPr sz="2300" b="1" i="0">
                <a:solidFill>
                  <a:srgbClr val="1A5276"/>
                </a:solidFill>
                <a:latin typeface="Segoe UI"/>
              </a:rPr>
              <a:t>Rollback</a:t>
            </a:r>
            <a:r>
              <a:rPr sz="2300" b="0" i="0">
                <a:solidFill>
                  <a:srgbClr val="1C252B"/>
                </a:solidFill>
                <a:latin typeface="Segoe UI"/>
              </a:rPr>
              <a:t>: reverting to the previous version, which must be a single command and must be rehearsed.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Rolling Out a New Model Safely</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E0C908CF-280C-4911-B937-8362174B254F}"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6240"/>
          </a:xfrm>
          <a:prstGeom prst="roundRect">
            <a:avLst>
              <a:gd name="adj" fmla="val 222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624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dropout model is retrained and scores better offline. How does it reach production?</a:t>
            </a:r>
          </a:p>
        </p:txBody>
      </p:sp>
      <p:sp>
        <p:nvSpPr>
          <p:cNvPr id="10" name="body-1"/>
          <p:cNvSpPr txBox="1"/>
          <p:nvPr/>
        </p:nvSpPr>
        <p:spPr>
          <a:xfrm>
            <a:off x="1042416" y="2399868"/>
            <a:ext cx="10234879"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Week 1 — shadow.</a:t>
            </a:r>
            <a:r>
              <a:rPr sz="1700" b="0" i="0">
                <a:solidFill>
                  <a:srgbClr val="1C252B"/>
                </a:solidFill>
                <a:latin typeface="Segoe UI"/>
              </a:rPr>
              <a:t> Both models score every student; only the old model’s output drives outreach. Compare on live data: do they agree? Where they disagree, which is right? This catches training–serving skew, which offline testing cannot.</a:t>
            </a:r>
          </a:p>
        </p:txBody>
      </p:sp>
      <p:sp>
        <p:nvSpPr>
          <p:cNvPr id="11" name="body-2"/>
          <p:cNvSpPr txBox="1"/>
          <p:nvPr/>
        </p:nvSpPr>
        <p:spPr>
          <a:xfrm>
            <a:off x="1042416" y="3326942"/>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Week 2 — canary at 10%.</a:t>
            </a:r>
            <a:r>
              <a:rPr sz="1700" b="0" i="0">
                <a:solidFill>
                  <a:srgbClr val="1C252B"/>
                </a:solidFill>
                <a:latin typeface="Segoe UI"/>
              </a:rPr>
              <a:t> A random 10% of students are scored by the new model. Automatic rollback triggers if the alert rate moves more than 50% from baseline, or if any monitored fairness slice degrades.</a:t>
            </a:r>
          </a:p>
        </p:txBody>
      </p:sp>
      <p:sp>
        <p:nvSpPr>
          <p:cNvPr id="12" name="body-3"/>
          <p:cNvSpPr txBox="1"/>
          <p:nvPr/>
        </p:nvSpPr>
        <p:spPr>
          <a:xfrm>
            <a:off x="1042416" y="3984574"/>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Week 3 — 50%, then 100%.</a:t>
            </a:r>
            <a:r>
              <a:rPr sz="1700" b="0" i="0">
                <a:solidFill>
                  <a:srgbClr val="1C252B"/>
                </a:solidFill>
                <a:latin typeface="Segoe UI"/>
              </a:rPr>
              <a:t> Advance only if layer-1 and layer-2 monitors are stable.</a:t>
            </a:r>
          </a:p>
        </p:txBody>
      </p:sp>
      <p:sp>
        <p:nvSpPr>
          <p:cNvPr id="13" name="body-4"/>
          <p:cNvSpPr txBox="1"/>
          <p:nvPr/>
        </p:nvSpPr>
        <p:spPr>
          <a:xfrm>
            <a:off x="1042416" y="4372762"/>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Week 8 — outcome evaluation.</a:t>
            </a:r>
            <a:r>
              <a:rPr sz="1700" b="0" i="0">
                <a:solidFill>
                  <a:srgbClr val="1C252B"/>
                </a:solidFill>
                <a:latin typeface="Segoe UI"/>
              </a:rPr>
              <a:t> The first real precision figures arrive as term results come in. Only now do you actually know whether the new model was better.</a:t>
            </a:r>
          </a:p>
        </p:txBody>
      </p:sp>
      <p:sp>
        <p:nvSpPr>
          <p:cNvPr id="14" name="body-5"/>
          <p:cNvSpPr txBox="1"/>
          <p:nvPr/>
        </p:nvSpPr>
        <p:spPr>
          <a:xfrm>
            <a:off x="1042416" y="5030393"/>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Keep the old model deployable for a full outcome cycle.</a:t>
            </a:r>
            <a:r>
              <a:rPr sz="1700" b="0" i="0">
                <a:solidFill>
                  <a:srgbClr val="1C252B"/>
                </a:solidFill>
                <a:latin typeface="Segoe UI"/>
              </a:rPr>
              <a:t> Offline metrics promised an improvement; only week 8 confirms it, and until then rollback must remain one command away.</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Operating Models in Production</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285DAE2A-71B2-442A-BFF3-2C233479E99D}" type="slidenum">
              <a:rPr lang="en-GB" sz="1000">
                <a:solidFill>
                  <a:srgbClr val="8795A1"/>
                </a:solidFill>
                <a:latin typeface="Segoe UI"/>
              </a:rPr>
              <a:t>20</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Serving:</a:t>
            </a:r>
            <a:r>
              <a:rPr sz="2300" b="0" i="0">
                <a:solidFill>
                  <a:srgbClr val="1C252B"/>
                </a:solidFill>
                <a:latin typeface="Segoe UI"/>
              </a:rPr>
              <a:t> weekly batch — outreach happens on a schedule, so an API is unnecessary complexity.</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Serving:</a:t>
            </a:r>
            <a:r>
              <a:rPr sz="2300" b="0" i="0">
                <a:solidFill>
                  <a:srgbClr val="1C252B"/>
                </a:solidFill>
                <a:latin typeface="Segoe UI"/>
              </a:rPr>
              <a:t> batch, weekly.</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1">
                <a:solidFill>
                  <a:srgbClr val="1C252B"/>
                </a:solidFill>
                <a:latin typeface="Segoe UI"/>
              </a:rPr>
              <a:t>Serving:</a:t>
            </a:r>
            <a:r>
              <a:rPr sz="1800" b="0" i="0">
                <a:solidFill>
                  <a:srgbClr val="1C252B"/>
                </a:solidFill>
                <a:latin typeface="Segoe UI"/>
              </a:rPr>
              <a:t> edge, which makes deployment the hard part — over-the-air updates across a fleet on unreliable links, with staged rollout by device group and automatic rollback if a device fails to check in.</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Serving:</a:t>
            </a:r>
            <a:r>
              <a:rPr sz="2300" b="0" i="0">
                <a:solidFill>
                  <a:srgbClr val="1C252B"/>
                </a:solidFill>
                <a:latin typeface="Segoe UI"/>
              </a:rPr>
              <a:t> online and streaming — detection latency is a control.</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Operating Models in Production</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768B839B-F3EE-492A-9F06-791CAE53141E}"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Serving:</a:t>
            </a:r>
            <a:r>
              <a:rPr sz="2200" b="0" i="0">
                <a:solidFill>
                  <a:srgbClr val="1C252B"/>
                </a:solidFill>
                <a:latin typeface="Segoe UI"/>
              </a:rPr>
              <a:t> weekly batch — outreach happens on a schedule, so an API is unnecessary complexity. </a:t>
            </a:r>
            <a:r>
              <a:rPr sz="2200" b="0" i="1">
                <a:solidFill>
                  <a:srgbClr val="1C252B"/>
                </a:solidFill>
                <a:latin typeface="Segoe UI"/>
              </a:rPr>
              <a:t>Ground-truth lag:</a:t>
            </a:r>
            <a:r>
              <a:rPr sz="2200" b="0" i="0">
                <a:solidFill>
                  <a:srgbClr val="1C252B"/>
                </a:solidFill>
                <a:latin typeface="Segoe UI"/>
              </a:rPr>
              <a:t> an entire term, which is why input and prediction monitoring carry the alerting load. </a:t>
            </a:r>
            <a:r>
              <a:rPr sz="2200" b="0" i="1">
                <a:solidFill>
                  <a:srgbClr val="1C252B"/>
                </a:solidFill>
                <a:latin typeface="Segoe UI"/>
              </a:rPr>
              <a:t>Special requirement:</a:t>
            </a:r>
            <a:r>
              <a:rPr sz="2200" b="0" i="0">
                <a:solidFill>
                  <a:srgbClr val="1C252B"/>
                </a:solidFill>
                <a:latin typeface="Segoe UI"/>
              </a:rPr>
              <a:t> every prediction must be logged with its features and model version, because a student may ask why they were contacted and the institution must be able to answer (Chapter 28). </a:t>
            </a:r>
            <a:r>
              <a:rPr sz="2200" b="0" i="1">
                <a:solidFill>
                  <a:srgbClr val="1C252B"/>
                </a:solidFill>
                <a:latin typeface="Segoe UI"/>
              </a:rPr>
              <a:t>Retraining:</a:t>
            </a:r>
            <a:r>
              <a:rPr sz="2200" b="0" i="0">
                <a:solidFill>
                  <a:srgbClr val="1C252B"/>
                </a:solidFill>
                <a:latin typeface="Segoe UI"/>
              </a:rPr>
              <a:t> annually, per cohort — retraining mid-term changes the rules on students partway through.</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Operating Models in Production</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A8DA20E1-FAFC-4226-832B-0173B6EA6737}" type="slidenum">
              <a:rPr lang="en-GB" sz="1000">
                <a:solidFill>
                  <a:srgbClr val="8795A1"/>
                </a:solidFill>
                <a:latin typeface="Segoe UI"/>
              </a:rPr>
              <a:t>22</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Serving:</a:t>
            </a:r>
            <a:r>
              <a:rPr sz="2200" b="0" i="0">
                <a:solidFill>
                  <a:srgbClr val="1C252B"/>
                </a:solidFill>
                <a:latin typeface="Segoe UI"/>
              </a:rPr>
              <a:t> batch, weekly. </a:t>
            </a:r>
            <a:r>
              <a:rPr sz="2200" b="0" i="1">
                <a:solidFill>
                  <a:srgbClr val="1C252B"/>
                </a:solidFill>
                <a:latin typeface="Segoe UI"/>
              </a:rPr>
              <a:t>Special difficulty:</a:t>
            </a:r>
            <a:r>
              <a:rPr sz="2200" b="0" i="0">
                <a:solidFill>
                  <a:srgbClr val="1C252B"/>
                </a:solidFill>
                <a:latin typeface="Segoe UI"/>
              </a:rPr>
              <a:t> the prediction changes the outcome — a team told it will miss the sprint often does not, which makes the model look wrong precisely when it worked. Log the prediction </a:t>
            </a:r>
            <a:r>
              <a:rPr sz="2200" b="0" i="1">
                <a:solidFill>
                  <a:srgbClr val="1C252B"/>
                </a:solidFill>
                <a:latin typeface="Segoe UI"/>
              </a:rPr>
              <a:t>and</a:t>
            </a:r>
            <a:r>
              <a:rPr sz="2200" b="0" i="0">
                <a:solidFill>
                  <a:srgbClr val="1C252B"/>
                </a:solidFill>
                <a:latin typeface="Segoe UI"/>
              </a:rPr>
              <a:t> whether it was shown, so this can be analysed rather than argued about. </a:t>
            </a:r>
            <a:r>
              <a:rPr sz="2200" b="0" i="1">
                <a:solidFill>
                  <a:srgbClr val="1C252B"/>
                </a:solidFill>
                <a:latin typeface="Segoe UI"/>
              </a:rPr>
              <a:t>Retraining:</a:t>
            </a:r>
            <a:r>
              <a:rPr sz="2200" b="0" i="0">
                <a:solidFill>
                  <a:srgbClr val="1C252B"/>
                </a:solidFill>
                <a:latin typeface="Segoe UI"/>
              </a:rPr>
              <a:t> whenever team composition changes materially, not on a calendar.</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Operating Models in Production</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B3A7AF5F-C9AD-4962-93E6-1ECA1DED9748}" type="slidenum">
              <a:rPr lang="en-GB" sz="1000">
                <a:solidFill>
                  <a:srgbClr val="8795A1"/>
                </a:solidFill>
                <a:latin typeface="Segoe UI"/>
              </a:rPr>
              <a:t>23</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Serving:</a:t>
            </a:r>
            <a:r>
              <a:rPr sz="2200" b="0" i="0">
                <a:solidFill>
                  <a:srgbClr val="1C252B"/>
                </a:solidFill>
                <a:latin typeface="Segoe UI"/>
              </a:rPr>
              <a:t> edge, which makes deployment the hard part — over-the-air updates across a fleet on unreliable links, with staged rollout by device group and automatic rollback if a device fails to check in. </a:t>
            </a:r>
            <a:r>
              <a:rPr sz="2200" b="0" i="1">
                <a:solidFill>
                  <a:srgbClr val="1C252B"/>
                </a:solidFill>
                <a:latin typeface="Segoe UI"/>
              </a:rPr>
              <a:t>Monitoring:</a:t>
            </a:r>
            <a:r>
              <a:rPr sz="2200" b="0" i="0">
                <a:solidFill>
                  <a:srgbClr val="1C252B"/>
                </a:solidFill>
                <a:latin typeface="Segoe UI"/>
              </a:rPr>
              <a:t> you must watch the </a:t>
            </a:r>
            <a:r>
              <a:rPr sz="2200" b="0" i="1">
                <a:solidFill>
                  <a:srgbClr val="1C252B"/>
                </a:solidFill>
                <a:latin typeface="Segoe UI"/>
              </a:rPr>
              <a:t>devices</a:t>
            </a:r>
            <a:r>
              <a:rPr sz="2200" b="0" i="0">
                <a:solidFill>
                  <a:srgbClr val="1C252B"/>
                </a:solidFill>
                <a:latin typeface="Segoe UI"/>
              </a:rPr>
              <a:t> as well as the model, and distinguish model drift from sensor drift (Chapter 25). </a:t>
            </a:r>
            <a:r>
              <a:rPr sz="2200" b="0" i="1">
                <a:solidFill>
                  <a:srgbClr val="1C252B"/>
                </a:solidFill>
                <a:latin typeface="Segoe UI"/>
              </a:rPr>
              <a:t>Retraining:</a:t>
            </a:r>
            <a:r>
              <a:rPr sz="2200" b="0" i="0">
                <a:solidFill>
                  <a:srgbClr val="1C252B"/>
                </a:solidFill>
                <a:latin typeface="Segoe UI"/>
              </a:rPr>
              <a:t> monthly in the cloud on accumulated features, pushed down after canary on a device subset.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Operating Models in Production</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AF015B8E-36F1-491D-B239-2F7A5F5952D9}" type="slidenum">
              <a:rPr lang="en-GB" sz="1000">
                <a:solidFill>
                  <a:srgbClr val="8795A1"/>
                </a:solidFill>
                <a:latin typeface="Segoe UI"/>
              </a:rPr>
              <a:t>24</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Serving:</a:t>
            </a:r>
            <a:r>
              <a:rPr sz="2200" b="0" i="0">
                <a:solidFill>
                  <a:srgbClr val="1C252B"/>
                </a:solidFill>
                <a:latin typeface="Segoe UI"/>
              </a:rPr>
              <a:t> online and streaming — detection latency is a control. </a:t>
            </a:r>
            <a:r>
              <a:rPr sz="2200" b="0" i="1">
                <a:solidFill>
                  <a:srgbClr val="1C252B"/>
                </a:solidFill>
                <a:latin typeface="Segoe UI"/>
              </a:rPr>
              <a:t>Retraining:</a:t>
            </a:r>
            <a:r>
              <a:rPr sz="2200" b="0" i="0">
                <a:solidFill>
                  <a:srgbClr val="1C252B"/>
                </a:solidFill>
                <a:latin typeface="Segoe UI"/>
              </a:rPr>
              <a:t> frequent, because the adversary adapts — but each retrain is an attack surface (Chapter 26), so the training set must be screened and promotion gated by a human. </a:t>
            </a:r>
            <a:r>
              <a:rPr sz="2200" b="0" i="1">
                <a:solidFill>
                  <a:srgbClr val="1C252B"/>
                </a:solidFill>
                <a:latin typeface="Segoe UI"/>
              </a:rPr>
              <a:t>Monitoring:</a:t>
            </a:r>
            <a:r>
              <a:rPr sz="2200" b="0" i="0">
                <a:solidFill>
                  <a:srgbClr val="1C252B"/>
                </a:solidFill>
                <a:latin typeface="Segoe UI"/>
              </a:rPr>
              <a:t> alerts per analyst per hour is a first-class operational metric, and a sharp </a:t>
            </a:r>
            <a:r>
              <a:rPr sz="2200" b="0" i="1">
                <a:solidFill>
                  <a:srgbClr val="1C252B"/>
                </a:solidFill>
                <a:latin typeface="Segoe UI"/>
              </a:rPr>
              <a:t>drop</a:t>
            </a:r>
            <a:r>
              <a:rPr sz="2200" b="0" i="0">
                <a:solidFill>
                  <a:srgbClr val="1C252B"/>
                </a:solidFill>
                <a:latin typeface="Segoe UI"/>
              </a:rPr>
              <a:t> in alert volume is as alarming as a spike, since it may mean a log source has silently died.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Monitored Service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5F2E81C7-65CA-43D2-8901-2FDA5EB43A0B}" type="slidenum">
              <a:rPr lang="en-GB" sz="1000">
                <a:solidFill>
                  <a:srgbClr val="8795A1"/>
                </a:solidFill>
                <a:latin typeface="Segoe UI"/>
              </a:rPr>
              <a:t>25</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LAYER 1: input drift, available immediately</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LAYER 2: prediction drift</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Every prediction is logged so it can be explained later</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The promotion gate: refuse to ship a worse model</a:t>
            </a:r>
          </a:p>
        </p:txBody>
      </p:sp>
      <p:sp>
        <p:nvSpPr>
          <p:cNvPr id="2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Monitored service; fairness measurement</a:t>
            </a:r>
          </a:p>
        </p:txBody>
      </p:sp>
      <p:sp>
        <p:nvSpPr>
          <p:cNvPr id="2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51 lines of Python</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Monitored Service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90E84E1E-601F-4D30-82CA-FEE8DAA03C34}"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66543"/>
          </a:xfrm>
          <a:prstGeom prst="roundRect">
            <a:avLst>
              <a:gd name="adj" fmla="val 44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json, hashlib, numpy as np, pandas as pd from datetime import datetime from scipy.stats import ks_2samp MODEL_VERSION = &quot;2026.08.1&quot; TRAINING_REF = pd.read_parquet(&quot;reference_features.parquet&quot;) # training snapshot"/>
          <p:cNvSpPr txBox="1"/>
          <p:nvPr/>
        </p:nvSpPr>
        <p:spPr>
          <a:xfrm>
            <a:off x="1362456" y="2523744"/>
            <a:ext cx="9987991" cy="1572768"/>
          </a:xfrm>
          <a:prstGeom prst="rect">
            <a:avLst/>
          </a:prstGeom>
          <a:noFill/>
        </p:spPr>
        <p:txBody>
          <a:bodyPr wrap="none" anchor="t" lIns="0" rIns="0" tIns="0" bIns="0">
            <a:noAutofit/>
          </a:bodyPr>
          <a:lstStyle/>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json</a:t>
            </a:r>
            <a:r>
              <a:rPr sz="1600" i="0">
                <a:solidFill>
                  <a:srgbClr val="AEB6BF"/>
                </a:solidFill>
                <a:latin typeface="Consolas"/>
              </a:rPr>
              <a:t>,</a:t>
            </a:r>
            <a:r>
              <a:rPr sz="1600" i="0">
                <a:solidFill>
                  <a:srgbClr val="E8EDF2"/>
                </a:solidFill>
                <a:latin typeface="Consolas"/>
              </a:rPr>
              <a:t> </a:t>
            </a:r>
            <a:r>
              <a:rPr sz="1600" i="0">
                <a:solidFill>
                  <a:srgbClr val="76D7C4"/>
                </a:solidFill>
                <a:latin typeface="Consolas"/>
              </a:rPr>
              <a:t>hashlib</a:t>
            </a:r>
            <a:r>
              <a:rPr sz="1600" i="0">
                <a:solidFill>
                  <a:srgbClr val="AEB6BF"/>
                </a:solidFill>
                <a:latin typeface="Consolas"/>
              </a:rPr>
              <a:t>,</a:t>
            </a:r>
            <a:r>
              <a:rPr sz="1600" i="0">
                <a:solidFill>
                  <a:srgbClr val="E8EDF2"/>
                </a:solidFill>
                <a:latin typeface="Consolas"/>
              </a:rPr>
              <a:t> </a:t>
            </a:r>
            <a:r>
              <a:rPr sz="1600" i="0">
                <a:solidFill>
                  <a:srgbClr val="76D7C4"/>
                </a:solidFill>
                <a:latin typeface="Consolas"/>
              </a:rPr>
              <a:t>numpy</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np</a:t>
            </a:r>
            <a:r>
              <a:rPr sz="1600" i="0">
                <a:solidFill>
                  <a:srgbClr val="AEB6BF"/>
                </a:solidFill>
                <a:latin typeface="Consolas"/>
              </a:rPr>
              <a:t>,</a:t>
            </a:r>
            <a:r>
              <a:rPr sz="1600" i="0">
                <a:solidFill>
                  <a:srgbClr val="E8EDF2"/>
                </a:solidFill>
                <a:latin typeface="Consolas"/>
              </a:rPr>
              <a:t> </a:t>
            </a:r>
            <a:r>
              <a:rPr sz="1600" i="0">
                <a:solidFill>
                  <a:srgbClr val="76D7C4"/>
                </a:solidFill>
                <a:latin typeface="Consolas"/>
              </a:rPr>
              <a:t>pandas</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pd</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datetime</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datetime</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scipy</a:t>
            </a:r>
            <a:r>
              <a:rPr sz="1600" i="0">
                <a:solidFill>
                  <a:srgbClr val="76D7C4"/>
                </a:solidFill>
                <a:latin typeface="Consolas"/>
              </a:rPr>
              <a:t>.</a:t>
            </a:r>
            <a:r>
              <a:rPr sz="1600" i="0">
                <a:solidFill>
                  <a:srgbClr val="76D7C4"/>
                </a:solidFill>
                <a:latin typeface="Consolas"/>
              </a:rPr>
              <a:t>stats</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ks_2samp</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MODEL_VERSION</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2026.08.1</a:t>
            </a:r>
            <a:r>
              <a:rPr sz="1600" i="0">
                <a:solidFill>
                  <a:srgbClr val="7DCEA0"/>
                </a:solidFill>
                <a:latin typeface="Consolas"/>
              </a:rPr>
              <a:t>"</a:t>
            </a:r>
          </a:p>
          <a:p>
            <a:pPr>
              <a:lnSpc>
                <a:spcPct val="100000"/>
              </a:lnSpc>
              <a:spcAft>
                <a:spcPts val="0"/>
              </a:spcAft>
            </a:pPr>
            <a:r>
              <a:rPr sz="1600" i="0">
                <a:solidFill>
                  <a:srgbClr val="E8EDF2"/>
                </a:solidFill>
                <a:latin typeface="Consolas"/>
              </a:rPr>
              <a:t>TRAINING_REF</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pd</a:t>
            </a:r>
            <a:r>
              <a:rPr sz="1600" i="0">
                <a:solidFill>
                  <a:srgbClr val="AEB6BF"/>
                </a:solidFill>
                <a:latin typeface="Consolas"/>
              </a:rPr>
              <a:t>.</a:t>
            </a:r>
            <a:r>
              <a:rPr sz="1600" i="0">
                <a:solidFill>
                  <a:srgbClr val="E8EDF2"/>
                </a:solidFill>
                <a:latin typeface="Consolas"/>
              </a:rPr>
              <a:t>read_parquet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reference_features.parquet</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training snapshot</a:t>
            </a:r>
          </a:p>
        </p:txBody>
      </p:sp>
      <p:sp>
        <p:nvSpPr>
          <p:cNvPr id="15" name="!!code-num"/>
          <p:cNvSpPr txBox="1"/>
          <p:nvPr/>
        </p:nvSpPr>
        <p:spPr>
          <a:xfrm>
            <a:off x="768096" y="2523744"/>
            <a:ext cx="393192" cy="157276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a:t>
            </a:r>
          </a:p>
          <a:p>
            <a:pPr algn="r">
              <a:lnSpc>
                <a:spcPct val="100000"/>
              </a:lnSpc>
            </a:pPr>
            <a:r>
              <a:rPr sz="1600">
                <a:solidFill>
                  <a:srgbClr val="4F5D6A"/>
                </a:solidFill>
                <a:latin typeface="Consolas"/>
              </a:rPr>
              <a:t>2</a:t>
            </a:r>
          </a:p>
          <a:p>
            <a:pPr algn="r">
              <a:lnSpc>
                <a:spcPct val="100000"/>
              </a:lnSpc>
            </a:pPr>
            <a:r>
              <a:rPr sz="1600">
                <a:solidFill>
                  <a:srgbClr val="4F5D6A"/>
                </a:solidFill>
                <a:latin typeface="Consolas"/>
              </a:rPr>
              <a:t>3</a:t>
            </a:r>
          </a:p>
          <a:p>
            <a:pPr algn="r">
              <a:lnSpc>
                <a:spcPct val="100000"/>
              </a:lnSpc>
            </a:pPr>
            <a:r>
              <a:rPr sz="1600">
                <a:solidFill>
                  <a:srgbClr val="4F5D6A"/>
                </a:solidFill>
                <a:latin typeface="Consolas"/>
              </a:rPr>
              <a:t>4</a:t>
            </a:r>
          </a:p>
          <a:p>
            <a:pPr algn="r">
              <a:lnSpc>
                <a:spcPct val="100000"/>
              </a:lnSpc>
            </a:pPr>
            <a:r>
              <a:rPr sz="1600">
                <a:solidFill>
                  <a:srgbClr val="4F5D6A"/>
                </a:solidFill>
                <a:latin typeface="Consolas"/>
              </a:rPr>
              <a:t>5</a:t>
            </a:r>
          </a:p>
          <a:p>
            <a:pPr algn="r">
              <a:lnSpc>
                <a:spcPct val="100000"/>
              </a:lnSpc>
            </a:pPr>
            <a:r>
              <a:rPr sz="16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Monitored Service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99AEA9B9-A81C-4A22-93B9-DFDE065C89A6}"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LAYER 1: input drift, available immediately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LAYER 1: input drift, available immediately ----------------------- def input_drift(live: pd.DataFrame, ref=TRAINING_REF, alpha=0.01): &quot;&quot;&quot;KS test per feature. Note: with large n everything is 'significant' (Chapter 9), so gate on the STATISTIC, not the p-value.&quot;&quot;&quot; report = {} for col in ref.columns: stat, _ = ks_2samp(ref[col].dropna(), live[col].dropna()) report[col] = {&quot;ks&quot;: round(float(stat), 4), &quot;drifted&quot;: stat &gt; 0.15} unseen = set(live.get(&quot;programme&quot;, [])) - set(ref.get(&quot;programme&quot;, [])) report[&quot;_unseen_categories&quot;] = list(unseen) report[&quot;_null_rates&quot;] = live.isna().mean().round(3).to_dict() return report"/>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LAYER 1: input drift, available immediately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input_drift</a:t>
            </a:r>
            <a:r>
              <a:rPr sz="1800" i="0">
                <a:solidFill>
                  <a:srgbClr val="AEB6BF"/>
                </a:solidFill>
                <a:latin typeface="Consolas"/>
              </a:rPr>
              <a:t>(</a:t>
            </a:r>
            <a:r>
              <a:rPr sz="1800" i="0">
                <a:solidFill>
                  <a:srgbClr val="E8EDF2"/>
                </a:solidFill>
                <a:latin typeface="Consolas"/>
              </a:rPr>
              <a:t>live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pd</a:t>
            </a:r>
            <a:r>
              <a:rPr sz="1800" i="0">
                <a:solidFill>
                  <a:srgbClr val="AEB6BF"/>
                </a:solidFill>
                <a:latin typeface="Consolas"/>
              </a:rPr>
              <a:t>.</a:t>
            </a:r>
            <a:r>
              <a:rPr sz="1800" i="0">
                <a:solidFill>
                  <a:srgbClr val="E8EDF2"/>
                </a:solidFill>
                <a:latin typeface="Consolas"/>
              </a:rPr>
              <a:t>DataFrame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ref</a:t>
            </a:r>
            <a:r>
              <a:rPr sz="1800" i="0">
                <a:solidFill>
                  <a:srgbClr val="AEB6BF"/>
                </a:solidFill>
                <a:latin typeface="Consolas"/>
              </a:rPr>
              <a:t>=</a:t>
            </a:r>
            <a:r>
              <a:rPr sz="1800" i="0">
                <a:solidFill>
                  <a:srgbClr val="E8EDF2"/>
                </a:solidFill>
                <a:latin typeface="Consolas"/>
              </a:rPr>
              <a:t>TRAINING_REF</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AEB6BF"/>
                </a:solidFill>
                <a:latin typeface="Consolas"/>
              </a:rPr>
              <a:t>=</a:t>
            </a:r>
            <a:r>
              <a:rPr sz="1800" i="0">
                <a:solidFill>
                  <a:srgbClr val="F7DC6F"/>
                </a:solidFill>
                <a:latin typeface="Consolas"/>
              </a:rPr>
              <a:t>0.01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"""KS test per feature. Note: with large n everything is 'significant'</a:t>
            </a:r>
          </a:p>
          <a:p>
            <a:pPr>
              <a:lnSpc>
                <a:spcPct val="100000"/>
              </a:lnSpc>
              <a:spcAft>
                <a:spcPts val="0"/>
              </a:spcAft>
            </a:pPr>
            <a:r>
              <a:rPr sz="1800" i="0">
                <a:solidFill>
                  <a:srgbClr val="7DCEA0"/>
                </a:solidFill>
                <a:latin typeface="Consolas"/>
              </a:rPr>
              <a:t>       (Chapter 9), so gate on the STATISTIC, not the p-value."""</a:t>
            </a:r>
          </a:p>
          <a:p>
            <a:pPr>
              <a:lnSpc>
                <a:spcPct val="100000"/>
              </a:lnSpc>
              <a:spcAft>
                <a:spcPts val="0"/>
              </a:spcAft>
            </a:pPr>
            <a:r>
              <a:rPr sz="1800" i="0">
                <a:solidFill>
                  <a:srgbClr val="E8EDF2"/>
                </a:solidFill>
                <a:latin typeface="Consolas"/>
              </a:rPr>
              <a:t>    </a:t>
            </a:r>
            <a:r>
              <a:rPr sz="1800" i="0">
                <a:solidFill>
                  <a:srgbClr val="E8EDF2"/>
                </a:solidFill>
                <a:latin typeface="Consolas"/>
              </a:rPr>
              <a:t>report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col</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ref</a:t>
            </a:r>
            <a:r>
              <a:rPr sz="1800" i="0">
                <a:solidFill>
                  <a:srgbClr val="AEB6BF"/>
                </a:solidFill>
                <a:latin typeface="Consolas"/>
              </a:rPr>
              <a:t>.</a:t>
            </a:r>
            <a:r>
              <a:rPr sz="1800" i="0">
                <a:solidFill>
                  <a:srgbClr val="E8EDF2"/>
                </a:solidFill>
                <a:latin typeface="Consolas"/>
              </a:rPr>
              <a:t>columns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_</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ks_2samp</a:t>
            </a:r>
            <a:r>
              <a:rPr sz="1800" i="0">
                <a:solidFill>
                  <a:srgbClr val="AEB6BF"/>
                </a:solidFill>
                <a:latin typeface="Consolas"/>
              </a:rPr>
              <a:t>(</a:t>
            </a:r>
            <a:r>
              <a:rPr sz="1800" i="0">
                <a:solidFill>
                  <a:srgbClr val="E8EDF2"/>
                </a:solidFill>
                <a:latin typeface="Consolas"/>
              </a:rPr>
              <a:t>ref</a:t>
            </a:r>
            <a:r>
              <a:rPr sz="1800" i="0">
                <a:solidFill>
                  <a:srgbClr val="AEB6BF"/>
                </a:solidFill>
                <a:latin typeface="Consolas"/>
              </a:rPr>
              <a:t>[</a:t>
            </a:r>
            <a:r>
              <a:rPr sz="1800" i="0">
                <a:solidFill>
                  <a:srgbClr val="E8EDF2"/>
                </a:solidFill>
                <a:latin typeface="Consolas"/>
              </a:rPr>
              <a:t>col</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dropna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live</a:t>
            </a:r>
            <a:r>
              <a:rPr sz="1800" i="0">
                <a:solidFill>
                  <a:srgbClr val="AEB6BF"/>
                </a:solidFill>
                <a:latin typeface="Consolas"/>
              </a:rPr>
              <a:t>[</a:t>
            </a:r>
            <a:r>
              <a:rPr sz="1800" i="0">
                <a:solidFill>
                  <a:srgbClr val="E8EDF2"/>
                </a:solidFill>
                <a:latin typeface="Consolas"/>
              </a:rPr>
              <a:t>col</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dropna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report</a:t>
            </a:r>
            <a:r>
              <a:rPr sz="1800" i="0">
                <a:solidFill>
                  <a:srgbClr val="AEB6BF"/>
                </a:solidFill>
                <a:latin typeface="Consolas"/>
              </a:rPr>
              <a:t>[</a:t>
            </a:r>
            <a:r>
              <a:rPr sz="1800" i="0">
                <a:solidFill>
                  <a:srgbClr val="E8EDF2"/>
                </a:solidFill>
                <a:latin typeface="Consolas"/>
              </a:rPr>
              <a:t>col</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ks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C39BD3"/>
                </a:solidFill>
                <a:latin typeface="Consolas"/>
              </a:rPr>
              <a:t>float</a:t>
            </a:r>
            <a:r>
              <a:rPr sz="1800" i="0">
                <a:solidFill>
                  <a:srgbClr val="AEB6BF"/>
                </a:solidFill>
                <a:latin typeface="Consolas"/>
              </a:rPr>
              <a:t>(</a:t>
            </a:r>
            <a:r>
              <a:rPr sz="1800" i="0">
                <a:solidFill>
                  <a:srgbClr val="E8EDF2"/>
                </a:solidFill>
                <a:latin typeface="Consolas"/>
              </a:rPr>
              <a:t>stat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drifted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0.15</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unseen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set</a:t>
            </a:r>
            <a:r>
              <a:rPr sz="1800" i="0">
                <a:solidFill>
                  <a:srgbClr val="AEB6BF"/>
                </a:solidFill>
                <a:latin typeface="Consolas"/>
              </a:rPr>
              <a:t>(</a:t>
            </a:r>
            <a:r>
              <a:rPr sz="1800" i="0">
                <a:solidFill>
                  <a:srgbClr val="E8EDF2"/>
                </a:solidFill>
                <a:latin typeface="Consolas"/>
              </a:rPr>
              <a:t>live</a:t>
            </a:r>
            <a:r>
              <a:rPr sz="1800" i="0">
                <a:solidFill>
                  <a:srgbClr val="AEB6BF"/>
                </a:solidFill>
                <a:latin typeface="Consolas"/>
              </a:rPr>
              <a:t>.</a:t>
            </a:r>
            <a:r>
              <a:rPr sz="1800" i="0">
                <a:solidFill>
                  <a:srgbClr val="E8EDF2"/>
                </a:solidFill>
                <a:latin typeface="Consolas"/>
              </a:rPr>
              <a:t>get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programme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set</a:t>
            </a:r>
            <a:r>
              <a:rPr sz="1800" i="0">
                <a:solidFill>
                  <a:srgbClr val="AEB6BF"/>
                </a:solidFill>
                <a:latin typeface="Consolas"/>
              </a:rPr>
              <a:t>(</a:t>
            </a:r>
            <a:r>
              <a:rPr sz="1800" i="0">
                <a:solidFill>
                  <a:srgbClr val="E8EDF2"/>
                </a:solidFill>
                <a:latin typeface="Consolas"/>
              </a:rPr>
              <a:t>ref</a:t>
            </a:r>
            <a:r>
              <a:rPr sz="1800" i="0">
                <a:solidFill>
                  <a:srgbClr val="AEB6BF"/>
                </a:solidFill>
                <a:latin typeface="Consolas"/>
              </a:rPr>
              <a:t>.</a:t>
            </a:r>
            <a:r>
              <a:rPr sz="1800" i="0">
                <a:solidFill>
                  <a:srgbClr val="E8EDF2"/>
                </a:solidFill>
                <a:latin typeface="Consolas"/>
              </a:rPr>
              <a:t>get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programme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report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_unseen_categories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list</a:t>
            </a:r>
            <a:r>
              <a:rPr sz="1800" i="0">
                <a:solidFill>
                  <a:srgbClr val="AEB6BF"/>
                </a:solidFill>
                <a:latin typeface="Consolas"/>
              </a:rPr>
              <a:t>(</a:t>
            </a:r>
            <a:r>
              <a:rPr sz="1800" i="0">
                <a:solidFill>
                  <a:srgbClr val="E8EDF2"/>
                </a:solidFill>
                <a:latin typeface="Consolas"/>
              </a:rPr>
              <a:t>unseen</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report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_null_rates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live</a:t>
            </a:r>
            <a:r>
              <a:rPr sz="1800" i="0">
                <a:solidFill>
                  <a:srgbClr val="AEB6BF"/>
                </a:solidFill>
                <a:latin typeface="Consolas"/>
              </a:rPr>
              <a:t>.</a:t>
            </a:r>
            <a:r>
              <a:rPr sz="1800" i="0">
                <a:solidFill>
                  <a:srgbClr val="E8EDF2"/>
                </a:solidFill>
                <a:latin typeface="Consolas"/>
              </a:rPr>
              <a:t>isna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to_dict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E8EDF2"/>
                </a:solidFill>
                <a:latin typeface="Consolas"/>
              </a:rPr>
              <a:t>report</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Monitored Service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159EA4F3-9B91-4B2C-A421-D48B0C51A1CC}"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LAYER 2: prediction drift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LAYER 2: prediction drift ----------------------------------------- def prediction_drift(scores, baseline_rate, threshold, tol=0.5): rate = float((scores &gt; threshold).mean()) return {&quot;alert_rate&quot;: round(rate, 4), &quot;baseline&quot;: baseline_rate, &quot;drifted&quot;: abs(rate - baseline_rate) &gt; tol * baseline_rate}"/>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LAYER 2: prediction drift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prediction_drift</a:t>
            </a:r>
            <a:r>
              <a:rPr sz="1800" i="0">
                <a:solidFill>
                  <a:srgbClr val="AEB6BF"/>
                </a:solidFill>
                <a:latin typeface="Consolas"/>
              </a:rPr>
              <a:t>(</a:t>
            </a:r>
            <a:r>
              <a:rPr sz="1800" i="0">
                <a:solidFill>
                  <a:srgbClr val="E8EDF2"/>
                </a:solidFill>
                <a:latin typeface="Consolas"/>
              </a:rPr>
              <a:t>scores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baseline_rate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threshold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tol</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float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scores</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threshold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alert_rate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rate</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baseline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baseline_rate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drifted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abs</a:t>
            </a:r>
            <a:r>
              <a:rPr sz="1800" i="0">
                <a:solidFill>
                  <a:srgbClr val="AEB6BF"/>
                </a:solidFill>
                <a:latin typeface="Consolas"/>
              </a:rPr>
              <a:t>(</a:t>
            </a:r>
            <a:r>
              <a:rPr sz="1800" i="0">
                <a:solidFill>
                  <a:srgbClr val="E8EDF2"/>
                </a:solidFill>
                <a:latin typeface="Consolas"/>
              </a:rPr>
              <a:t>rate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baseline_rate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tol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baseline_rate</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Monitored Service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8B36E78E-C151-414B-877A-B2266E31FB34}"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Every prediction is logged so it can be explained later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every prediction is logged so it can be explained later ---------- def serve(features: pd.DataFrame): scores = model.predict_proba(features)[:, 1] for i, row in features.iterrows(): log_prediction({ &quot;run_id&quot;: MODEL_VERSION, &quot;entity_id&quot;: row[&quot;student_id&quot;], &quot;features&quot;: row.drop(&quot;student_id&quot;).to_dict(), # as RECEIVED &quot;feature_hash&quot;: hashlib.sha256( json.dumps(row.to_dict(), sort_keys=True, default=str).encode()).hexdigest()[:12], &quot;score&quot;: float(scores[i]), &quot;ts&quot;: datetime.utcnow().isoformat(), }) return scores"/>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every prediction is logged so it can be explained later ----------</a:t>
            </a:r>
          </a:p>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serve</a:t>
            </a:r>
            <a:r>
              <a:rPr sz="1600" i="0">
                <a:solidFill>
                  <a:srgbClr val="AEB6BF"/>
                </a:solidFill>
                <a:latin typeface="Consolas"/>
              </a:rPr>
              <a:t>(</a:t>
            </a:r>
            <a:r>
              <a:rPr sz="1600" i="0">
                <a:solidFill>
                  <a:srgbClr val="E8EDF2"/>
                </a:solidFill>
                <a:latin typeface="Consolas"/>
              </a:rPr>
              <a:t>features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pd</a:t>
            </a:r>
            <a:r>
              <a:rPr sz="1600" i="0">
                <a:solidFill>
                  <a:srgbClr val="AEB6BF"/>
                </a:solidFill>
                <a:latin typeface="Consolas"/>
              </a:rPr>
              <a:t>.</a:t>
            </a:r>
            <a:r>
              <a:rPr sz="1600" i="0">
                <a:solidFill>
                  <a:srgbClr val="E8EDF2"/>
                </a:solidFill>
                <a:latin typeface="Consolas"/>
              </a:rPr>
              <a:t>DataFrame</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scores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model</a:t>
            </a:r>
            <a:r>
              <a:rPr sz="1600" i="0">
                <a:solidFill>
                  <a:srgbClr val="AEB6BF"/>
                </a:solidFill>
                <a:latin typeface="Consolas"/>
              </a:rPr>
              <a:t>.</a:t>
            </a:r>
            <a:r>
              <a:rPr sz="1600" i="0">
                <a:solidFill>
                  <a:srgbClr val="E8EDF2"/>
                </a:solidFill>
                <a:latin typeface="Consolas"/>
              </a:rPr>
              <a:t>predict_proba</a:t>
            </a:r>
            <a:r>
              <a:rPr sz="1600" i="0">
                <a:solidFill>
                  <a:srgbClr val="AEB6BF"/>
                </a:solidFill>
                <a:latin typeface="Consolas"/>
              </a:rPr>
              <a:t>(</a:t>
            </a:r>
            <a:r>
              <a:rPr sz="1600" i="0">
                <a:solidFill>
                  <a:srgbClr val="E8EDF2"/>
                </a:solidFill>
                <a:latin typeface="Consolas"/>
              </a:rPr>
              <a:t>features</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i</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row</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features</a:t>
            </a:r>
            <a:r>
              <a:rPr sz="1600" i="0">
                <a:solidFill>
                  <a:srgbClr val="AEB6BF"/>
                </a:solidFill>
                <a:latin typeface="Consolas"/>
              </a:rPr>
              <a:t>.</a:t>
            </a:r>
            <a:r>
              <a:rPr sz="1600" i="0">
                <a:solidFill>
                  <a:srgbClr val="E8EDF2"/>
                </a:solidFill>
                <a:latin typeface="Consolas"/>
              </a:rPr>
              <a:t>iterrows</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log_prediction</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run_id</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MODEL_VERSION</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entity_id</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row</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student_id</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features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row</a:t>
            </a:r>
            <a:r>
              <a:rPr sz="1600" i="0">
                <a:solidFill>
                  <a:srgbClr val="AEB6BF"/>
                </a:solidFill>
                <a:latin typeface="Consolas"/>
              </a:rPr>
              <a:t>.</a:t>
            </a:r>
            <a:r>
              <a:rPr sz="1600" i="0">
                <a:solidFill>
                  <a:srgbClr val="E8EDF2"/>
                </a:solidFill>
                <a:latin typeface="Consolas"/>
              </a:rPr>
              <a:t>drop</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student_id</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to_dict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as RECEIVED</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feature_hash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hashlib</a:t>
            </a:r>
            <a:r>
              <a:rPr sz="1600" i="0">
                <a:solidFill>
                  <a:srgbClr val="AEB6BF"/>
                </a:solidFill>
                <a:latin typeface="Consolas"/>
              </a:rPr>
              <a:t>.</a:t>
            </a:r>
            <a:r>
              <a:rPr sz="1600" i="0">
                <a:solidFill>
                  <a:srgbClr val="E8EDF2"/>
                </a:solidFill>
                <a:latin typeface="Consolas"/>
              </a:rPr>
              <a:t>sha256</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json</a:t>
            </a:r>
            <a:r>
              <a:rPr sz="1600" i="0">
                <a:solidFill>
                  <a:srgbClr val="AEB6BF"/>
                </a:solidFill>
                <a:latin typeface="Consolas"/>
              </a:rPr>
              <a:t>.</a:t>
            </a:r>
            <a:r>
              <a:rPr sz="1600" i="0">
                <a:solidFill>
                  <a:srgbClr val="E8EDF2"/>
                </a:solidFill>
                <a:latin typeface="Consolas"/>
              </a:rPr>
              <a:t>dumps</a:t>
            </a:r>
            <a:r>
              <a:rPr sz="1600" i="0">
                <a:solidFill>
                  <a:srgbClr val="AEB6BF"/>
                </a:solidFill>
                <a:latin typeface="Consolas"/>
              </a:rPr>
              <a:t>(</a:t>
            </a:r>
            <a:r>
              <a:rPr sz="1600" i="0">
                <a:solidFill>
                  <a:srgbClr val="E8EDF2"/>
                </a:solidFill>
                <a:latin typeface="Consolas"/>
              </a:rPr>
              <a:t>row</a:t>
            </a:r>
            <a:r>
              <a:rPr sz="1600" i="0">
                <a:solidFill>
                  <a:srgbClr val="AEB6BF"/>
                </a:solidFill>
                <a:latin typeface="Consolas"/>
              </a:rPr>
              <a:t>.</a:t>
            </a:r>
            <a:r>
              <a:rPr sz="1600" i="0">
                <a:solidFill>
                  <a:srgbClr val="E8EDF2"/>
                </a:solidFill>
                <a:latin typeface="Consolas"/>
              </a:rPr>
              <a:t>to_dict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sort_keys</a:t>
            </a:r>
            <a:r>
              <a:rPr sz="1600" i="0">
                <a:solidFill>
                  <a:srgbClr val="AEB6BF"/>
                </a:solidFill>
                <a:latin typeface="Consolas"/>
              </a:rPr>
              <a:t>=</a:t>
            </a:r>
            <a:r>
              <a:rPr sz="1600" i="0">
                <a:solidFill>
                  <a:srgbClr val="5DADE2"/>
                </a:solidFill>
                <a:latin typeface="Consolas"/>
              </a:rPr>
              <a:t>True</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default</a:t>
            </a:r>
            <a:r>
              <a:rPr sz="1600" i="0">
                <a:solidFill>
                  <a:srgbClr val="AEB6BF"/>
                </a:solidFill>
                <a:latin typeface="Consolas"/>
              </a:rPr>
              <a:t>=</a:t>
            </a:r>
            <a:r>
              <a:rPr sz="1600" i="0">
                <a:solidFill>
                  <a:srgbClr val="C39BD3"/>
                </a:solidFill>
                <a:latin typeface="Consolas"/>
              </a:rPr>
              <a:t>str</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encode</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hexdigest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12</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score</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float</a:t>
            </a:r>
            <a:r>
              <a:rPr sz="1600" i="0">
                <a:solidFill>
                  <a:srgbClr val="AEB6BF"/>
                </a:solidFill>
                <a:latin typeface="Consolas"/>
              </a:rPr>
              <a:t>(</a:t>
            </a:r>
            <a:r>
              <a:rPr sz="1600" i="0">
                <a:solidFill>
                  <a:srgbClr val="E8EDF2"/>
                </a:solidFill>
                <a:latin typeface="Consolas"/>
              </a:rPr>
              <a:t>scores</a:t>
            </a:r>
            <a:r>
              <a:rPr sz="1600" i="0">
                <a:solidFill>
                  <a:srgbClr val="AEB6BF"/>
                </a:solidFill>
                <a:latin typeface="Consolas"/>
              </a:rPr>
              <a:t>[</a:t>
            </a:r>
            <a:r>
              <a:rPr sz="1600" i="0">
                <a:solidFill>
                  <a:srgbClr val="E8EDF2"/>
                </a:solidFill>
                <a:latin typeface="Consolas"/>
              </a:rPr>
              <a:t>i</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ts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datetime</a:t>
            </a:r>
            <a:r>
              <a:rPr sz="1600" i="0">
                <a:solidFill>
                  <a:srgbClr val="AEB6BF"/>
                </a:solidFill>
                <a:latin typeface="Consolas"/>
              </a:rPr>
              <a:t>.</a:t>
            </a:r>
            <a:r>
              <a:rPr sz="1600" i="0">
                <a:solidFill>
                  <a:srgbClr val="E8EDF2"/>
                </a:solidFill>
                <a:latin typeface="Consolas"/>
              </a:rPr>
              <a:t>utcnow</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isoformat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scores</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25</a:t>
            </a:r>
          </a:p>
          <a:p>
            <a:pPr algn="r">
              <a:lnSpc>
                <a:spcPct val="100000"/>
              </a:lnSpc>
            </a:pPr>
            <a:r>
              <a:rPr sz="1600">
                <a:solidFill>
                  <a:srgbClr val="4F5D6A"/>
                </a:solidFill>
                <a:latin typeface="Consolas"/>
              </a:rPr>
              <a:t>26</a:t>
            </a:r>
          </a:p>
          <a:p>
            <a:pPr algn="r">
              <a:lnSpc>
                <a:spcPct val="100000"/>
              </a:lnSpc>
            </a:pPr>
            <a:r>
              <a:rPr sz="1600">
                <a:solidFill>
                  <a:srgbClr val="4F5D6A"/>
                </a:solidFill>
                <a:latin typeface="Consolas"/>
              </a:rPr>
              <a:t>27</a:t>
            </a:r>
          </a:p>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a:p>
            <a:pPr algn="r">
              <a:lnSpc>
                <a:spcPct val="100000"/>
              </a:lnSpc>
            </a:pPr>
            <a:r>
              <a:rPr sz="1600">
                <a:solidFill>
                  <a:srgbClr val="4F5D6A"/>
                </a:solidFill>
                <a:latin typeface="Consolas"/>
              </a:rPr>
              <a:t>30</a:t>
            </a:r>
          </a:p>
          <a:p>
            <a:pPr algn="r">
              <a:lnSpc>
                <a:spcPct val="100000"/>
              </a:lnSpc>
            </a:pPr>
            <a:r>
              <a:rPr sz="1600">
                <a:solidFill>
                  <a:srgbClr val="4F5D6A"/>
                </a:solidFill>
                <a:latin typeface="Consolas"/>
              </a:rPr>
              <a:t>31</a:t>
            </a:r>
          </a:p>
          <a:p>
            <a:pPr algn="r">
              <a:lnSpc>
                <a:spcPct val="100000"/>
              </a:lnSpc>
            </a:pPr>
            <a:r>
              <a:rPr sz="1600">
                <a:solidFill>
                  <a:srgbClr val="4F5D6A"/>
                </a:solidFill>
                <a:latin typeface="Consolas"/>
              </a:rPr>
              <a:t>32</a:t>
            </a:r>
          </a:p>
          <a:p>
            <a:pPr algn="r">
              <a:lnSpc>
                <a:spcPct val="100000"/>
              </a:lnSpc>
            </a:pPr>
            <a:r>
              <a:rPr sz="1600">
                <a:solidFill>
                  <a:srgbClr val="4F5D6A"/>
                </a:solidFill>
                <a:latin typeface="Consolas"/>
              </a:rPr>
              <a:t>33</a:t>
            </a:r>
          </a:p>
          <a:p>
            <a:pPr algn="r">
              <a:lnSpc>
                <a:spcPct val="100000"/>
              </a:lnSpc>
            </a:pPr>
            <a:r>
              <a:rPr sz="1600">
                <a:solidFill>
                  <a:srgbClr val="4F5D6A"/>
                </a:solidFill>
                <a:latin typeface="Consolas"/>
              </a:rPr>
              <a:t>34</a:t>
            </a:r>
          </a:p>
          <a:p>
            <a:pPr algn="r">
              <a:lnSpc>
                <a:spcPct val="100000"/>
              </a:lnSpc>
            </a:pPr>
            <a:r>
              <a:rPr sz="1600">
                <a:solidFill>
                  <a:srgbClr val="4F5D6A"/>
                </a:solidFill>
                <a:latin typeface="Consolas"/>
              </a:rPr>
              <a:t>35</a:t>
            </a:r>
          </a:p>
          <a:p>
            <a:pPr algn="r">
              <a:lnSpc>
                <a:spcPct val="100000"/>
              </a:lnSpc>
            </a:pPr>
            <a:r>
              <a:rPr sz="1600">
                <a:solidFill>
                  <a:srgbClr val="4F5D6A"/>
                </a:solidFill>
                <a:latin typeface="Consolas"/>
              </a:rPr>
              <a:t>36</a:t>
            </a:r>
          </a:p>
          <a:p>
            <a:pPr algn="r">
              <a:lnSpc>
                <a:spcPct val="100000"/>
              </a:lnSpc>
            </a:pPr>
            <a:r>
              <a:rPr sz="1600">
                <a:solidFill>
                  <a:srgbClr val="4F5D6A"/>
                </a:solidFill>
                <a:latin typeface="Consolas"/>
              </a:rPr>
              <a:t>37</a:t>
            </a:r>
          </a:p>
          <a:p>
            <a:pPr algn="r">
              <a:lnSpc>
                <a:spcPct val="100000"/>
              </a:lnSpc>
            </a:pPr>
            <a:r>
              <a:rPr sz="1600">
                <a:solidFill>
                  <a:srgbClr val="4F5D6A"/>
                </a:solidFill>
                <a:latin typeface="Consolas"/>
              </a:rPr>
              <a:t>38</a:t>
            </a:r>
          </a:p>
          <a:p>
            <a:pPr algn="r">
              <a:lnSpc>
                <a:spcPct val="100000"/>
              </a:lnSpc>
            </a:pPr>
            <a:r>
              <a:rPr sz="16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Monitored Service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§27.6  ·  Handout p. 177     </a:t>
            </a:r>
            <a:fld id="{5A1DDFF0-65EC-4702-9E48-9ED4DB79810B}"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promotion gate: refuse to ship a worse model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76144"/>
          </a:xfrm>
          <a:prstGeom prst="roundRect">
            <a:avLst>
              <a:gd name="adj" fmla="val 34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the promotion gate: refuse to ship a worse model ----------------- def promotion_gate(new_metrics, prod_metrics, slices): if new_metrics[&quot;pr_auc&quot;] &lt; prod_metrics[&quot;pr_auc&quot;]: raise RuntimeError(&quot;BLOCKED: new model is worse on the benchmark set&quot;) for s in slices: # fairness slices, Chapter 28 if new_metrics[s][&quot;recall&quot;] &lt; prod_metrics[s][&quot;recall&quot;] - 0.05: raise RuntimeError(f&quot;BLOCKED: recall regressed on slice '{s}'&quot;) return True"/>
          <p:cNvSpPr txBox="1"/>
          <p:nvPr/>
        </p:nvSpPr>
        <p:spPr>
          <a:xfrm>
            <a:off x="1362456" y="2523744"/>
            <a:ext cx="9987991" cy="218236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the promotion gate: refuse to ship a worse model -----------------</a:t>
            </a:r>
          </a:p>
          <a:p>
            <a:pPr>
              <a:lnSpc>
                <a:spcPct val="100000"/>
              </a:lnSpc>
              <a:spcAft>
                <a:spcPts val="0"/>
              </a:spcAft>
            </a:pP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promotion_gate</a:t>
            </a:r>
            <a:r>
              <a:rPr sz="1700" i="0">
                <a:solidFill>
                  <a:srgbClr val="AEB6BF"/>
                </a:solidFill>
                <a:latin typeface="Consolas"/>
              </a:rPr>
              <a:t>(</a:t>
            </a:r>
            <a:r>
              <a:rPr sz="1700" i="0">
                <a:solidFill>
                  <a:srgbClr val="E8EDF2"/>
                </a:solidFill>
                <a:latin typeface="Consolas"/>
              </a:rPr>
              <a:t>new_metrics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prod_metrics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slices</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new_metrics</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pr_auc</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&lt;</a:t>
            </a:r>
            <a:r>
              <a:rPr sz="1700" i="0">
                <a:solidFill>
                  <a:srgbClr val="E8EDF2"/>
                </a:solidFill>
                <a:latin typeface="Consolas"/>
              </a:rPr>
              <a:t> </a:t>
            </a:r>
            <a:r>
              <a:rPr sz="1700" i="0">
                <a:solidFill>
                  <a:srgbClr val="E8EDF2"/>
                </a:solidFill>
                <a:latin typeface="Consolas"/>
              </a:rPr>
              <a:t>prod_metrics</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pr_auc</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raise</a:t>
            </a:r>
            <a:r>
              <a:rPr sz="1700" i="0">
                <a:solidFill>
                  <a:srgbClr val="E8EDF2"/>
                </a:solidFill>
                <a:latin typeface="Consolas"/>
              </a:rPr>
              <a:t> </a:t>
            </a:r>
            <a:r>
              <a:rPr sz="1700" i="0">
                <a:solidFill>
                  <a:srgbClr val="E8EDF2"/>
                </a:solidFill>
                <a:latin typeface="Consolas"/>
              </a:rPr>
              <a:t>RuntimeError</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BLOCKED: new model is worse on the benchmark set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s</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slices</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fairness slices, Chapter 28</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new_metrics</a:t>
            </a:r>
            <a:r>
              <a:rPr sz="1700" i="0">
                <a:solidFill>
                  <a:srgbClr val="AEB6BF"/>
                </a:solidFill>
                <a:latin typeface="Consolas"/>
              </a:rPr>
              <a:t>[</a:t>
            </a:r>
            <a:r>
              <a:rPr sz="1700" i="0">
                <a:solidFill>
                  <a:srgbClr val="E8EDF2"/>
                </a:solidFill>
                <a:latin typeface="Consolas"/>
              </a:rPr>
              <a:t>s</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recall</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&lt;</a:t>
            </a:r>
            <a:r>
              <a:rPr sz="1700" i="0">
                <a:solidFill>
                  <a:srgbClr val="E8EDF2"/>
                </a:solidFill>
                <a:latin typeface="Consolas"/>
              </a:rPr>
              <a:t> </a:t>
            </a:r>
            <a:r>
              <a:rPr sz="1700" i="0">
                <a:solidFill>
                  <a:srgbClr val="E8EDF2"/>
                </a:solidFill>
                <a:latin typeface="Consolas"/>
              </a:rPr>
              <a:t>prod_metrics</a:t>
            </a:r>
            <a:r>
              <a:rPr sz="1700" i="0">
                <a:solidFill>
                  <a:srgbClr val="AEB6BF"/>
                </a:solidFill>
                <a:latin typeface="Consolas"/>
              </a:rPr>
              <a:t>[</a:t>
            </a:r>
            <a:r>
              <a:rPr sz="1700" i="0">
                <a:solidFill>
                  <a:srgbClr val="E8EDF2"/>
                </a:solidFill>
                <a:latin typeface="Consolas"/>
              </a:rPr>
              <a:t>s</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recall</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0.05</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raise</a:t>
            </a:r>
            <a:r>
              <a:rPr sz="1700" i="0">
                <a:solidFill>
                  <a:srgbClr val="E8EDF2"/>
                </a:solidFill>
                <a:latin typeface="Consolas"/>
              </a:rPr>
              <a:t> </a:t>
            </a:r>
            <a:r>
              <a:rPr sz="1700" i="0">
                <a:solidFill>
                  <a:srgbClr val="E8EDF2"/>
                </a:solidFill>
                <a:latin typeface="Consolas"/>
              </a:rPr>
              <a:t>RuntimeError</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BLOCKED: recall regressed on slice </a:t>
            </a:r>
            <a:r>
              <a:rPr sz="1700" i="0">
                <a:solidFill>
                  <a:srgbClr val="7DCEA0"/>
                </a:solidFill>
                <a:latin typeface="Consolas"/>
              </a:rPr>
              <a:t>'</a:t>
            </a:r>
            <a:r>
              <a:rPr sz="1700" i="0">
                <a:solidFill>
                  <a:srgbClr val="7DCEA0"/>
                </a:solidFill>
                <a:latin typeface="Consolas"/>
              </a:rPr>
              <a:t>{</a:t>
            </a:r>
            <a:r>
              <a:rPr sz="1700" i="0">
                <a:solidFill>
                  <a:srgbClr val="E8EDF2"/>
                </a:solidFill>
                <a:latin typeface="Consolas"/>
              </a:rPr>
              <a:t>s</a:t>
            </a:r>
            <a:r>
              <a:rPr sz="1700" i="0">
                <a:solidFill>
                  <a:srgbClr val="7DCEA0"/>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5DADE2"/>
                </a:solidFill>
                <a:latin typeface="Consolas"/>
              </a:rPr>
              <a:t>True</a:t>
            </a:r>
          </a:p>
        </p:txBody>
      </p:sp>
      <p:sp>
        <p:nvSpPr>
          <p:cNvPr id="15" name="!!code-num"/>
          <p:cNvSpPr txBox="1"/>
          <p:nvPr/>
        </p:nvSpPr>
        <p:spPr>
          <a:xfrm>
            <a:off x="768096" y="2523744"/>
            <a:ext cx="393192" cy="21823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40</a:t>
            </a:r>
          </a:p>
          <a:p>
            <a:pPr algn="r">
              <a:lnSpc>
                <a:spcPct val="100000"/>
              </a:lnSpc>
            </a:pPr>
            <a:r>
              <a:rPr sz="1700">
                <a:solidFill>
                  <a:srgbClr val="4F5D6A"/>
                </a:solidFill>
                <a:latin typeface="Consolas"/>
              </a:rPr>
              <a:t>41</a:t>
            </a:r>
          </a:p>
          <a:p>
            <a:pPr algn="r">
              <a:lnSpc>
                <a:spcPct val="100000"/>
              </a:lnSpc>
            </a:pPr>
            <a:r>
              <a:rPr sz="1700">
                <a:solidFill>
                  <a:srgbClr val="4F5D6A"/>
                </a:solidFill>
                <a:latin typeface="Consolas"/>
              </a:rPr>
              <a:t>42</a:t>
            </a:r>
          </a:p>
          <a:p>
            <a:pPr algn="r">
              <a:lnSpc>
                <a:spcPct val="100000"/>
              </a:lnSpc>
            </a:pPr>
            <a:r>
              <a:rPr sz="1700">
                <a:solidFill>
                  <a:srgbClr val="4F5D6A"/>
                </a:solidFill>
                <a:latin typeface="Consolas"/>
              </a:rPr>
              <a:t>43</a:t>
            </a:r>
          </a:p>
          <a:p>
            <a:pPr algn="r">
              <a:lnSpc>
                <a:spcPct val="100000"/>
              </a:lnSpc>
            </a:pPr>
            <a:r>
              <a:rPr sz="1700">
                <a:solidFill>
                  <a:srgbClr val="4F5D6A"/>
                </a:solidFill>
                <a:latin typeface="Consolas"/>
              </a:rPr>
              <a:t>44</a:t>
            </a:r>
          </a:p>
          <a:p>
            <a:pPr algn="r">
              <a:lnSpc>
                <a:spcPct val="100000"/>
              </a:lnSpc>
            </a:pPr>
            <a:r>
              <a:rPr sz="1700">
                <a:solidFill>
                  <a:srgbClr val="4F5D6A"/>
                </a:solidFill>
                <a:latin typeface="Consolas"/>
              </a:rPr>
              <a:t>45</a:t>
            </a:r>
          </a:p>
          <a:p>
            <a:pPr algn="r">
              <a:lnSpc>
                <a:spcPct val="100000"/>
              </a:lnSpc>
            </a:pPr>
            <a:r>
              <a:rPr sz="1700">
                <a:solidFill>
                  <a:srgbClr val="4F5D6A"/>
                </a:solidFill>
                <a:latin typeface="Consolas"/>
              </a:rPr>
              <a:t>46</a:t>
            </a:r>
          </a:p>
          <a:p>
            <a:pPr algn="r">
              <a:lnSpc>
                <a:spcPct val="100000"/>
              </a:lnSpc>
            </a:pPr>
            <a:r>
              <a:rPr sz="1700">
                <a:solidFill>
                  <a:srgbClr val="4F5D6A"/>
                </a:solidFill>
                <a:latin typeface="Consolas"/>
              </a:rPr>
              <a:t>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Define training–serving skew and give a concrete example. What eliminates the whole class of bug?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27  ·  MLOps: Deployment, Monitoring and Reliability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182  ·  answers in Appendix D     </a:t>
            </a:r>
            <a:fld id="{6DF85058-5708-45B4-B934-12C7F67852D6}"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Define training–serving skew and give a concrete example. What eliminates the whole class of bug?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Training and serving compute features with different code, so they disagree subtly — for example a different timezone or null convention. Example: training uses </a:t>
            </a:r>
            <a:r>
              <a:rPr sz="2050" b="0" i="0">
                <a:solidFill>
                  <a:srgbClr val="1F4E79"/>
                </a:solidFill>
                <a:latin typeface="Consolas"/>
              </a:rPr>
              <a:t>fillna(median)</a:t>
            </a:r>
            <a:r>
              <a:rPr sz="2200" b="0" i="0">
                <a:solidFill>
                  <a:srgbClr val="1C252B"/>
                </a:solidFill>
                <a:latin typeface="Segoe UI"/>
              </a:rPr>
              <a:t> and serving uses </a:t>
            </a:r>
            <a:r>
              <a:rPr sz="2050" b="0" i="0">
                <a:solidFill>
                  <a:srgbClr val="1F4E79"/>
                </a:solidFill>
                <a:latin typeface="Consolas"/>
              </a:rPr>
              <a:t>fillna(0)</a:t>
            </a:r>
            <a:r>
              <a:rPr sz="2200" b="0" i="0">
                <a:solidFill>
                  <a:srgbClr val="1C252B"/>
                </a:solidFill>
                <a:latin typeface="Segoe UI"/>
              </a:rPr>
              <a:t>. A </a:t>
            </a:r>
            <a:r>
              <a:rPr sz="2200" b="1" i="0">
                <a:solidFill>
                  <a:srgbClr val="1C252B"/>
                </a:solidFill>
                <a:latin typeface="Segoe UI"/>
              </a:rPr>
              <a:t>feature store</a:t>
            </a:r>
            <a:r>
              <a:rPr sz="2200" b="0" i="0">
                <a:solidFill>
                  <a:srgbClr val="1C252B"/>
                </a:solidFill>
                <a:latin typeface="Segoe UI"/>
              </a:rPr>
              <a:t> eliminates the class of bug by computing features once for both paths.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  answers in Appendix D     </a:t>
            </a:r>
            <a:fld id="{D18C745E-BF7E-4F06-BF28-1B891E64AC08}"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outcome labels arrive three months late. Which monitoring layers give you a same-day signal, and what can each actually detect?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27  ·  MLOps: Deployment, Monitoring and Reliability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182  ·  answers in Appendix D     </a:t>
            </a:r>
            <a:fld id="{AAC6FDF9-BEB9-4EE4-88B5-EBFDD4EAEDF0}"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outcome labels arrive three months late. Which monitoring layers give you a same-day signal, and what can each actually detect?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Layers 1 and 2</a:t>
            </a:r>
            <a:r>
              <a:rPr sz="2200" b="0" i="0">
                <a:solidFill>
                  <a:srgbClr val="1C252B"/>
                </a:solidFill>
                <a:latin typeface="Segoe UI"/>
              </a:rPr>
              <a:t> — input distributions and prediction distributions. Layer 1 detects broken pipelines, changed upstream schemas and data drift; layer 2 detects a model whose behaviour has shifted, e.g. flagging 12% where it used to flag 3%.</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  answers in Appendix D     </a:t>
            </a:r>
            <a:fld id="{BB20C698-2DE9-4035-931A-07681853EC47}"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retrained model scores better offline. Why is that insufficient reason to replace the production model immediately?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27  ·  MLOps: Deployment, Monitoring and Reliability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182  ·  answers in Appendix D     </a:t>
            </a:r>
            <a:fld id="{B299AF48-2491-46D2-A7FB-ACFFB6B3E5F5}"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retrained model scores better offline. Why is that insufficient reason to replace the production model immediately?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offline metrics do not capture training–serving skew, latency, or the effect on real behaviour. Shadow and canary deployment test those on live traffic before the new model drives any decision.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  answers in Appendix D     </a:t>
            </a:r>
            <a:fld id="{92D80132-7FA9-4C56-B42B-9B4991F21806}"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EAD3A76A-5D81-4DC1-BD58-9B45A3E0BB90}"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MLOps closes the loop: train, validate, register, package, roll out, monitor, detect drift, retrain.</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 automated promotion gate that blocks a worse model prevents the most common production incident.</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Choose the simplest serving pattern that meets the latency the decision genuinely needs.</a:t>
            </a:r>
          </a:p>
        </p:txBody>
      </p:sp>
      <p:sp>
        <p:nvSpPr>
          <p:cNvPr id="16" name="!!sb3">
            <a:extLst>
              <a:ext uri="{C183D7F6-B498-43B3-948B-1728B52AA6E4}">
                <adec:decorative xmlns:adec="http://schemas.microsoft.com/office/drawing/2017/decorative" val="1"/>
              </a:ext>
            </a:extLst>
          </p:cNvPr>
          <p:cNvSpPr/>
          <p:nvPr/>
        </p:nvSpPr>
        <p:spPr>
          <a:xfrm>
            <a:off x="658368" y="363870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69356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62955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Training–serving skew is eliminated by computing features in one place, not by testing harder.</a:t>
            </a:r>
          </a:p>
        </p:txBody>
      </p:sp>
      <p:sp>
        <p:nvSpPr>
          <p:cNvPr id="19" name="!!sb4">
            <a:extLst>
              <a:ext uri="{C183D7F6-B498-43B3-948B-1728B52AA6E4}">
                <adec:decorative xmlns:adec="http://schemas.microsoft.com/office/drawing/2017/decorative" val="1"/>
              </a:ext>
            </a:extLst>
          </p:cNvPr>
          <p:cNvSpPr/>
          <p:nvPr/>
        </p:nvSpPr>
        <p:spPr>
          <a:xfrm>
            <a:off x="658368" y="422391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27878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214774"/>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Version code, data, environment, parameters and artefact under one run ID, and log every prediction with the version that made it.</a:t>
            </a:r>
          </a:p>
        </p:txBody>
      </p:sp>
      <p:sp>
        <p:nvSpPr>
          <p:cNvPr id="22" name="!!sb5">
            <a:extLst>
              <a:ext uri="{C183D7F6-B498-43B3-948B-1728B52AA6E4}">
                <adec:decorative xmlns:adec="http://schemas.microsoft.com/office/drawing/2017/decorative" val="1"/>
              </a:ext>
            </a:extLst>
          </p:cNvPr>
          <p:cNvSpPr/>
          <p:nvPr/>
        </p:nvSpPr>
        <p:spPr>
          <a:xfrm>
            <a:off x="658368" y="494568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00054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493654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Monitor inputs and predictions for an immediate signal; outcomes and business impact arrive later but are what matter.</a:t>
            </a:r>
          </a:p>
        </p:txBody>
      </p:sp>
      <p:sp>
        <p:nvSpPr>
          <p:cNvPr id="25" name="!!sb6">
            <a:extLst>
              <a:ext uri="{C183D7F6-B498-43B3-948B-1728B52AA6E4}">
                <adec:decorative xmlns:adec="http://schemas.microsoft.com/office/drawing/2017/decorative" val="1"/>
              </a:ext>
            </a:extLst>
          </p:cNvPr>
          <p:cNvSpPr/>
          <p:nvPr/>
        </p:nvSpPr>
        <p:spPr>
          <a:xfrm>
            <a:off x="658368" y="566745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sbn6"/>
          <p:cNvSpPr txBox="1"/>
          <p:nvPr/>
        </p:nvSpPr>
        <p:spPr>
          <a:xfrm>
            <a:off x="658368" y="572231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27" name="!!st6"/>
          <p:cNvSpPr txBox="1"/>
          <p:nvPr/>
        </p:nvSpPr>
        <p:spPr>
          <a:xfrm>
            <a:off x="1298448" y="5658307"/>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Roll out via shadow then canary, keep rollback to one command, and keep the old model deployable for a full outcome cycle.</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58357E22-055F-48E2-A341-43D13F426C27}"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Running a new model on live traffic without acting on its output is called:</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canary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shadow</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rollback</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A/B testing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8A217B80-EA49-4AD7-816A-A922D33EA8DA}"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monitoring layer requires no ground truth?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outcome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business impact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input distribution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precision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27  ·  MLOps: Deployment, Monitoring and Reliability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182     </a:t>
            </a:r>
            <a:fld id="{E96C19DB-3878-4228-932F-4B2A143D41C3}"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List the five things that must be versioned to reproduce a prediction, and say what goes wrong if the environment is omitted.</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ground-truth lag and its consequence for how you design alerting.</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a sudden </a:t>
            </a:r>
            <a:r>
              <a:rPr sz="1900" b="0" i="1">
                <a:solidFill>
                  <a:srgbClr val="1C252B"/>
                </a:solidFill>
                <a:latin typeface="Segoe UI"/>
              </a:rPr>
              <a:t>drop</a:t>
            </a:r>
            <a:r>
              <a:rPr sz="1900" b="0" i="0">
                <a:solidFill>
                  <a:srgbClr val="1C252B"/>
                </a:solidFill>
                <a:latin typeface="Segoe UI"/>
              </a:rPr>
              <a:t> in alert volume be as serious as a spike?</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the monitoring plan for the predictive maintenance model of Chapter 25: state what you measure at each of the four layers, the alert threshold for each, and who is paged.</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team wants to auto-retrain and auto-deploy nightly. Give three arguments in favour, three risks, and the specific gates you would require before agreeing — noting where the security domain differs.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27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28 — Responsible AI and Data Ethics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27, pages 175–182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Monitored service; fairness measurement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27  ·  MLOps: Deployment, Monitoring and Reliability</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740DDEFE-78BD-482B-AA36-46211050D66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27: MLOps: Deployment, Monitoring and Reliability</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