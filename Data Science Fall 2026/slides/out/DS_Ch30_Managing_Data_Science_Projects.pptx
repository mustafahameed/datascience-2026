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A94B54-2750-4431-A66B-151D76388DC7}">
          <p14:sldIdLst>
            <p14:sldId id="256"/>
            <p14:sldId id="257"/>
            <p14:sldId id="258"/>
            <p14:sldId id="259"/>
            <p14:sldId id="260"/>
          </p14:sldIdLst>
        </p14:section>
        <p14:section name="30.1 Why Data Science Projects Are Different" id="{B4DFE1F9-2FB4-4528-80AD-4B319195F02E}">
          <p14:sldIdLst>
            <p14:sldId id="261"/>
            <p14:sldId id="262"/>
            <p14:sldId id="263"/>
          </p14:sldIdLst>
        </p14:section>
        <p14:section name="30.2 Gates, Not a Plan" id="{C99C5AF5-64E0-4E18-8ED0-F9940EA7356B}">
          <p14:sldIdLst>
            <p14:sldId id="264"/>
            <p14:sldId id="265"/>
            <p14:sldId id="266"/>
          </p14:sldIdLst>
        </p14:section>
        <p14:section name="30.3 Estimation Under Genuine Uncertainty" id="{8DB4C80E-530A-4B49-B0A8-51B336373C85}">
          <p14:sldIdLst>
            <p14:sldId id="267"/>
            <p14:sldId id="268"/>
            <p14:sldId id="269"/>
            <p14:sldId id="270"/>
            <p14:sldId id="271"/>
          </p14:sldIdLst>
        </p14:section>
        <p14:section name="30.4 Metrics and Dashboards" id="{DF24F12E-A82F-414F-8BDB-597367E5D16F}">
          <p14:sldIdLst>
            <p14:sldId id="272"/>
          </p14:sldIdLst>
        </p14:section>
        <p14:section name="30.5 Risk" id="{B6237C13-C12C-4A74-B33C-40F6F52250EF}">
          <p14:sldIdLst>
            <p14:sldId id="273"/>
            <p14:sldId id="274"/>
            <p14:sldId id="275"/>
          </p14:sldIdLst>
        </p14:section>
        <p14:section name="Four lenses" id="{2C5E0745-5992-44FD-B3A5-D89FB9A0E66F}">
          <p14:sldIdLst>
            <p14:sldId id="276"/>
            <p14:sldId id="277"/>
            <p14:sldId id="278"/>
            <p14:sldId id="279"/>
            <p14:sldId id="280"/>
          </p14:sldIdLst>
        </p14:section>
        <p14:section name="Lab" id="{78734270-564D-4048-9CC4-068C9F22A53F}">
          <p14:sldIdLst>
            <p14:sldId id="281"/>
            <p14:sldId id="282"/>
            <p14:sldId id="283"/>
            <p14:sldId id="284"/>
          </p14:sldIdLst>
        </p14:section>
        <p14:section name="Checkpoint" id="{F61358D0-9E1E-419D-B6F5-DA13AB9586CF}">
          <p14:sldIdLst>
            <p14:sldId id="285"/>
            <p14:sldId id="286"/>
            <p14:sldId id="287"/>
            <p14:sldId id="288"/>
            <p14:sldId id="289"/>
            <p14:sldId id="290"/>
          </p14:sldIdLst>
        </p14:section>
        <p14:section name="Wrap-up" id="{53392B38-94C1-4D0F-90B4-0B6B5361D7C9}">
          <p14:sldIdLst>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30: Managing Data Science Projects. Part 6 — Professional Practice. Week 16: MLOps; ethics; practice &amp; capstone. Handout pages 196–201.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(CRISP-DM, framing, business versus model metrics), Chapter 27 (what “done” actually means) and Chapter 28.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project lifecycle; scope, time, cost, quality; agile; sprint; velocity; spike; decision gate; technical debt; reference class forecasting; leading and lagging indicator; RAID log; stakeholder.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30.1 (handout p. 197): A data science project as a sequence of decision gates. Because feasibility is unknown at the start, the plan must be structured to discover it cheaply and to permit an honourable stop.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30.2 (handout p. 198): Three kinds of project metric, ordered by when each becomes available. Leading indicators are for acting on, lagging for deciding gates, outcome measures for justifying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Education projects have an immovable constraint the others do not: the academic calendar. A model that misses the start of semester is useless for a year, and you cannot compress a cohort. Plan backwards from week 1 of the semester, and note that gate criteria involving student outcomes take a full term to evaluate — so the first genuine outcome evidence arrives after the second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This chapter is the project-management lens in full. The distilled version: gate the project so infeasibility is discovered in weeks rather than months, commit to decisions rather than to outcomes, and budget for the operating phase from the beginning.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critical path runs through hardware procurement, not software. Sensors have lead times, sites need physical access, and connectivity contracts take weeks. Pilot on 20 devices before committing to 4,000: fleet failure modes are invisible at bench scale, and the cost of discovering them post-deployment is measured in site visits. Budget for the fact that firmware updates across a fleet are themselves a project.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Success is invisible — the business case rests on incidents that did not occur — so agree the metrics before starting: mean time to detect, mean time to respond, coverage of monitored assets, alerts per analyst. Detection engineering is continuous maintenance rather than a delivery, so the operating budget is not optional. And note the tension with Chapter 29: publishing your method helps attackers, which constrains how openly the project can be documented.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Feasibility is unknown at the start. In software you know the feature can be built and estimate how long; here the signal may simply not be in the data, and no planning discipline can determine that in advance.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Commit to a gate: a date, a deliverable and a decision — “in three weeks we will report whether the data supports 70% recall at a 20% flag rate.” Explain that a date is within your control and a result is not, and that a fabricated accuracy figure would be worse than useless for planning.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 it is the process working. Three weeks of effort established that the project was not viable, instead of nine months. Naming the gates in advance is what makes this an outcome rather than a defeat.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31 — Communicating Data Science. READ: Handout Chapter 30, pages 196–201.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image" Target="../media/image37.png"/><Relationship Id="rId11" Type="http://schemas.openxmlformats.org/officeDocument/2006/relationships/image" Target="../media/image38.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31.png"/><Relationship Id="rId5" Type="http://schemas.openxmlformats.org/officeDocument/2006/relationships/image" Target="../media/image41.svg"/><Relationship Id="rId6" Type="http://schemas.openxmlformats.org/officeDocument/2006/relationships/image" Target="../media/image33.png"/><Relationship Id="rId7" Type="http://schemas.openxmlformats.org/officeDocument/2006/relationships/image" Target="../media/image42.svg"/><Relationship Id="rId8" Type="http://schemas.openxmlformats.org/officeDocument/2006/relationships/image" Target="../media/image35.png"/><Relationship Id="rId9" Type="http://schemas.openxmlformats.org/officeDocument/2006/relationships/image" Target="../media/image43.svg"/><Relationship Id="rId10" Type="http://schemas.openxmlformats.org/officeDocument/2006/relationships/image" Target="../media/image37.png"/><Relationship Id="rId11" Type="http://schemas.openxmlformats.org/officeDocument/2006/relationships/image" Target="../media/image44.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3.png"/><Relationship Id="rId5" Type="http://schemas.openxmlformats.org/officeDocument/2006/relationships/image" Target="../media/image47.svg"/><Relationship Id="rId6" Type="http://schemas.openxmlformats.org/officeDocument/2006/relationships/image" Target="../media/image31.png"/><Relationship Id="rId7" Type="http://schemas.openxmlformats.org/officeDocument/2006/relationships/image" Target="../media/image48.svg"/><Relationship Id="rId8" Type="http://schemas.openxmlformats.org/officeDocument/2006/relationships/image" Target="../media/image35.png"/><Relationship Id="rId9" Type="http://schemas.openxmlformats.org/officeDocument/2006/relationships/image" Target="../media/image49.svg"/><Relationship Id="rId10" Type="http://schemas.openxmlformats.org/officeDocument/2006/relationships/image" Target="../media/image37.png"/><Relationship Id="rId11" Type="http://schemas.openxmlformats.org/officeDocument/2006/relationships/image" Target="../media/image50.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5.png"/><Relationship Id="rId5" Type="http://schemas.openxmlformats.org/officeDocument/2006/relationships/image" Target="../media/image53.svg"/><Relationship Id="rId6" Type="http://schemas.openxmlformats.org/officeDocument/2006/relationships/image" Target="../media/image31.png"/><Relationship Id="rId7" Type="http://schemas.openxmlformats.org/officeDocument/2006/relationships/image" Target="../media/image54.svg"/><Relationship Id="rId8" Type="http://schemas.openxmlformats.org/officeDocument/2006/relationships/image" Target="../media/image33.png"/><Relationship Id="rId9" Type="http://schemas.openxmlformats.org/officeDocument/2006/relationships/image" Target="../media/image55.svg"/><Relationship Id="rId10" Type="http://schemas.openxmlformats.org/officeDocument/2006/relationships/image" Target="../media/image37.png"/><Relationship Id="rId11" Type="http://schemas.openxmlformats.org/officeDocument/2006/relationships/image" Target="../media/image56.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37.png"/><Relationship Id="rId5" Type="http://schemas.openxmlformats.org/officeDocument/2006/relationships/image" Target="../media/image59.svg"/><Relationship Id="rId6" Type="http://schemas.openxmlformats.org/officeDocument/2006/relationships/image" Target="../media/image31.png"/><Relationship Id="rId7" Type="http://schemas.openxmlformats.org/officeDocument/2006/relationships/image" Target="../media/image60.svg"/><Relationship Id="rId8" Type="http://schemas.openxmlformats.org/officeDocument/2006/relationships/image" Target="../media/image33.png"/><Relationship Id="rId9" Type="http://schemas.openxmlformats.org/officeDocument/2006/relationships/image" Target="../media/image61.svg"/><Relationship Id="rId10" Type="http://schemas.openxmlformats.org/officeDocument/2006/relationships/image" Target="../media/image35.png"/><Relationship Id="rId11" Type="http://schemas.openxmlformats.org/officeDocument/2006/relationships/image" Target="../media/image62.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30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Managing Data Science Projects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PROFESSIONAL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30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02D1FE5F-211E-44A8-8594-1C8B25F7299D}"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750675" y="1755648"/>
            <a:ext cx="166377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750675" y="2029967"/>
            <a:ext cx="1663779"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7098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0795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972685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6354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00840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99169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299101"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29910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Managing Data Science Projects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The Data Science Lifecycle</a:t>
            </a:r>
          </a:p>
        </p:txBody>
      </p:sp>
      <p:sp>
        <p:nvSpPr>
          <p:cNvPr id="88" name="!!chipBU2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2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2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27  </a:t>
            </a:r>
            <a:r>
              <a:rPr sz="1400" b="0" i="0">
                <a:solidFill>
                  <a:srgbClr val="1C252B"/>
                </a:solidFill>
                <a:latin typeface="Segoe UI"/>
              </a:rPr>
              <a:t>MLOps: Deployment, Monitoring and Reliability</a:t>
            </a:r>
          </a:p>
        </p:txBody>
      </p:sp>
      <p:sp>
        <p:nvSpPr>
          <p:cNvPr id="91" name="!!chipBU2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2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2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28  </a:t>
            </a:r>
            <a:r>
              <a:rPr sz="1400" b="0" i="0">
                <a:solidFill>
                  <a:srgbClr val="1C252B"/>
                </a:solidFill>
                <a:latin typeface="Segoe UI"/>
              </a:rPr>
              <a:t>Responsible AI and Data Ethics</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D563F186-E828-4A37-A114-D0C348E5F93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why data science projects fail differently from software projects.</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Structure</a:t>
            </a:r>
            <a:r>
              <a:rPr sz="2100" b="0" i="0">
                <a:solidFill>
                  <a:srgbClr val="1C252B"/>
                </a:solidFill>
                <a:latin typeface="Segoe UI"/>
              </a:rPr>
              <a:t> a project as a sequence of decision gates rather than a fixed plan.</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Estimate</a:t>
            </a:r>
            <a:r>
              <a:rPr sz="2100" b="0" i="0">
                <a:solidFill>
                  <a:srgbClr val="1C252B"/>
                </a:solidFill>
                <a:latin typeface="Segoe UI"/>
              </a:rPr>
              <a:t> work whose outcome is genuinely unknown.</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Select</a:t>
            </a:r>
            <a:r>
              <a:rPr sz="2100" b="0" i="0">
                <a:solidFill>
                  <a:srgbClr val="1C252B"/>
                </a:solidFill>
                <a:latin typeface="Segoe UI"/>
              </a:rPr>
              <a:t> metrics and build a dashboard that supports delivery decisions.</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Identify</a:t>
            </a:r>
            <a:r>
              <a:rPr sz="2100" b="0" i="0">
                <a:solidFill>
                  <a:srgbClr val="1C252B"/>
                </a:solidFill>
                <a:latin typeface="Segoe UI"/>
              </a:rPr>
              <a:t> and </a:t>
            </a:r>
            <a:r>
              <a:rPr sz="2100" b="1" i="0">
                <a:solidFill>
                  <a:srgbClr val="1C252B"/>
                </a:solidFill>
                <a:latin typeface="Segoe UI"/>
              </a:rPr>
              <a:t>mitigate</a:t>
            </a:r>
            <a:r>
              <a:rPr sz="2100" b="0" i="0">
                <a:solidFill>
                  <a:srgbClr val="1C252B"/>
                </a:solidFill>
                <a:latin typeface="Segoe UI"/>
              </a:rPr>
              <a:t> the risks specific to AI-enabled projects.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E108A726-9D3B-45AD-9968-FBDC1080D180}" type="slidenum">
              <a:rPr lang="en-GB" sz="1000">
                <a:solidFill>
                  <a:srgbClr val="8795A1"/>
                </a:solidFill>
                <a:latin typeface="Segoe UI"/>
              </a:rPr>
              <a:t>4</a:t>
            </a:fld>
          </a:p>
        </p:txBody>
      </p:sp>
      <p:sp>
        <p:nvSpPr>
          <p:cNvPr id="7" name="!!term-project lifecy">
            <a:extLst>
              <a:ext uri="{C183D7F6-B498-43B3-948B-1728B52AA6E4}">
                <adec:decorative xmlns:adec="http://schemas.microsoft.com/office/drawing/2017/decorative" val="1"/>
              </a:ext>
            </a:extLst>
          </p:cNvPr>
          <p:cNvSpPr/>
          <p:nvPr/>
        </p:nvSpPr>
        <p:spPr>
          <a:xfrm>
            <a:off x="658368" y="1847088"/>
            <a:ext cx="19484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oject lifecy">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oject lifecy"/>
          <p:cNvSpPr txBox="1"/>
          <p:nvPr/>
        </p:nvSpPr>
        <p:spPr>
          <a:xfrm>
            <a:off x="950976" y="1955291"/>
            <a:ext cx="176556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project lifecycle</a:t>
            </a:r>
          </a:p>
        </p:txBody>
      </p:sp>
      <p:sp>
        <p:nvSpPr>
          <p:cNvPr id="10" name="!!term-scope, time, c">
            <a:extLst>
              <a:ext uri="{C183D7F6-B498-43B3-948B-1728B52AA6E4}">
                <adec:decorative xmlns:adec="http://schemas.microsoft.com/office/drawing/2017/decorative" val="1"/>
              </a:ext>
            </a:extLst>
          </p:cNvPr>
          <p:cNvSpPr/>
          <p:nvPr/>
        </p:nvSpPr>
        <p:spPr>
          <a:xfrm>
            <a:off x="2753116" y="1847088"/>
            <a:ext cx="28179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cope, time, c">
            <a:extLst>
              <a:ext uri="{C183D7F6-B498-43B3-948B-1728B52AA6E4}">
                <adec:decorative xmlns:adec="http://schemas.microsoft.com/office/drawing/2017/decorative" val="1"/>
              </a:ext>
            </a:extLst>
          </p:cNvPr>
          <p:cNvSpPr/>
          <p:nvPr/>
        </p:nvSpPr>
        <p:spPr>
          <a:xfrm>
            <a:off x="28811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cope, time, c"/>
          <p:cNvSpPr txBox="1"/>
          <p:nvPr/>
        </p:nvSpPr>
        <p:spPr>
          <a:xfrm>
            <a:off x="3045724" y="1955291"/>
            <a:ext cx="263504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scope, time, cost, quality</a:t>
            </a:r>
          </a:p>
        </p:txBody>
      </p:sp>
      <p:sp>
        <p:nvSpPr>
          <p:cNvPr id="13" name="!!term-agile">
            <a:extLst>
              <a:ext uri="{C183D7F6-B498-43B3-948B-1728B52AA6E4}">
                <adec:decorative xmlns:adec="http://schemas.microsoft.com/office/drawing/2017/decorative" val="1"/>
              </a:ext>
            </a:extLst>
          </p:cNvPr>
          <p:cNvSpPr/>
          <p:nvPr/>
        </p:nvSpPr>
        <p:spPr>
          <a:xfrm>
            <a:off x="5717347" y="1847088"/>
            <a:ext cx="9024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gile">
            <a:extLst>
              <a:ext uri="{C183D7F6-B498-43B3-948B-1728B52AA6E4}">
                <adec:decorative xmlns:adec="http://schemas.microsoft.com/office/drawing/2017/decorative" val="1"/>
              </a:ext>
            </a:extLst>
          </p:cNvPr>
          <p:cNvSpPr/>
          <p:nvPr/>
        </p:nvSpPr>
        <p:spPr>
          <a:xfrm>
            <a:off x="584536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gile"/>
          <p:cNvSpPr txBox="1"/>
          <p:nvPr/>
        </p:nvSpPr>
        <p:spPr>
          <a:xfrm>
            <a:off x="6009955" y="1955291"/>
            <a:ext cx="71959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agile</a:t>
            </a:r>
          </a:p>
        </p:txBody>
      </p:sp>
      <p:sp>
        <p:nvSpPr>
          <p:cNvPr id="16" name="!!term-sprint">
            <a:extLst>
              <a:ext uri="{C183D7F6-B498-43B3-948B-1728B52AA6E4}">
                <adec:decorative xmlns:adec="http://schemas.microsoft.com/office/drawing/2017/decorative" val="1"/>
              </a:ext>
            </a:extLst>
          </p:cNvPr>
          <p:cNvSpPr/>
          <p:nvPr/>
        </p:nvSpPr>
        <p:spPr>
          <a:xfrm>
            <a:off x="6766122" y="1847088"/>
            <a:ext cx="9909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print">
            <a:extLst>
              <a:ext uri="{C183D7F6-B498-43B3-948B-1728B52AA6E4}">
                <adec:decorative xmlns:adec="http://schemas.microsoft.com/office/drawing/2017/decorative" val="1"/>
              </a:ext>
            </a:extLst>
          </p:cNvPr>
          <p:cNvSpPr/>
          <p:nvPr/>
        </p:nvSpPr>
        <p:spPr>
          <a:xfrm>
            <a:off x="689413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print"/>
          <p:cNvSpPr txBox="1"/>
          <p:nvPr/>
        </p:nvSpPr>
        <p:spPr>
          <a:xfrm>
            <a:off x="7058730" y="1955291"/>
            <a:ext cx="80811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sprint</a:t>
            </a:r>
          </a:p>
        </p:txBody>
      </p:sp>
      <p:sp>
        <p:nvSpPr>
          <p:cNvPr id="19" name="!!term-velocity">
            <a:extLst>
              <a:ext uri="{C183D7F6-B498-43B3-948B-1728B52AA6E4}">
                <adec:decorative xmlns:adec="http://schemas.microsoft.com/office/drawing/2017/decorative" val="1"/>
              </a:ext>
            </a:extLst>
          </p:cNvPr>
          <p:cNvSpPr/>
          <p:nvPr/>
        </p:nvSpPr>
        <p:spPr>
          <a:xfrm>
            <a:off x="7903424" y="1847088"/>
            <a:ext cx="11781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velocity">
            <a:extLst>
              <a:ext uri="{C183D7F6-B498-43B3-948B-1728B52AA6E4}">
                <adec:decorative xmlns:adec="http://schemas.microsoft.com/office/drawing/2017/decorative" val="1"/>
              </a:ext>
            </a:extLst>
          </p:cNvPr>
          <p:cNvSpPr/>
          <p:nvPr/>
        </p:nvSpPr>
        <p:spPr>
          <a:xfrm>
            <a:off x="803144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velocity"/>
          <p:cNvSpPr txBox="1"/>
          <p:nvPr/>
        </p:nvSpPr>
        <p:spPr>
          <a:xfrm>
            <a:off x="8196032" y="1955291"/>
            <a:ext cx="99528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velocity</a:t>
            </a:r>
          </a:p>
        </p:txBody>
      </p:sp>
      <p:sp>
        <p:nvSpPr>
          <p:cNvPr id="22" name="!!term-spike">
            <a:extLst>
              <a:ext uri="{C183D7F6-B498-43B3-948B-1728B52AA6E4}">
                <adec:decorative xmlns:adec="http://schemas.microsoft.com/office/drawing/2017/decorative" val="1"/>
              </a:ext>
            </a:extLst>
          </p:cNvPr>
          <p:cNvSpPr/>
          <p:nvPr/>
        </p:nvSpPr>
        <p:spPr>
          <a:xfrm>
            <a:off x="9227892" y="1847088"/>
            <a:ext cx="9396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pike">
            <a:extLst>
              <a:ext uri="{C183D7F6-B498-43B3-948B-1728B52AA6E4}">
                <adec:decorative xmlns:adec="http://schemas.microsoft.com/office/drawing/2017/decorative" val="1"/>
              </a:ext>
            </a:extLst>
          </p:cNvPr>
          <p:cNvSpPr/>
          <p:nvPr/>
        </p:nvSpPr>
        <p:spPr>
          <a:xfrm>
            <a:off x="93559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pike"/>
          <p:cNvSpPr txBox="1"/>
          <p:nvPr/>
        </p:nvSpPr>
        <p:spPr>
          <a:xfrm>
            <a:off x="9520500" y="1955291"/>
            <a:ext cx="75673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spike</a:t>
            </a:r>
          </a:p>
        </p:txBody>
      </p:sp>
      <p:sp>
        <p:nvSpPr>
          <p:cNvPr id="25" name="!!term-decision gate">
            <a:extLst>
              <a:ext uri="{C183D7F6-B498-43B3-948B-1728B52AA6E4}">
                <adec:decorative xmlns:adec="http://schemas.microsoft.com/office/drawing/2017/decorative" val="1"/>
              </a:ext>
            </a:extLst>
          </p:cNvPr>
          <p:cNvSpPr/>
          <p:nvPr/>
        </p:nvSpPr>
        <p:spPr>
          <a:xfrm>
            <a:off x="658368" y="2468880"/>
            <a:ext cx="17311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ecision gat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ecision gate"/>
          <p:cNvSpPr txBox="1"/>
          <p:nvPr/>
        </p:nvSpPr>
        <p:spPr>
          <a:xfrm>
            <a:off x="950976" y="2577084"/>
            <a:ext cx="154824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decision gate</a:t>
            </a:r>
          </a:p>
        </p:txBody>
      </p:sp>
      <p:sp>
        <p:nvSpPr>
          <p:cNvPr id="28" name="!!term-technical debt">
            <a:extLst>
              <a:ext uri="{C183D7F6-B498-43B3-948B-1728B52AA6E4}">
                <adec:decorative xmlns:adec="http://schemas.microsoft.com/office/drawing/2017/decorative" val="1"/>
              </a:ext>
            </a:extLst>
          </p:cNvPr>
          <p:cNvSpPr/>
          <p:nvPr/>
        </p:nvSpPr>
        <p:spPr>
          <a:xfrm>
            <a:off x="2535795" y="2468880"/>
            <a:ext cx="18095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technical debt">
            <a:extLst>
              <a:ext uri="{C183D7F6-B498-43B3-948B-1728B52AA6E4}">
                <adec:decorative xmlns:adec="http://schemas.microsoft.com/office/drawing/2017/decorative" val="1"/>
              </a:ext>
            </a:extLst>
          </p:cNvPr>
          <p:cNvSpPr/>
          <p:nvPr/>
        </p:nvSpPr>
        <p:spPr>
          <a:xfrm>
            <a:off x="266381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technical debt"/>
          <p:cNvSpPr txBox="1"/>
          <p:nvPr/>
        </p:nvSpPr>
        <p:spPr>
          <a:xfrm>
            <a:off x="2828403" y="2577084"/>
            <a:ext cx="16266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technical debt</a:t>
            </a:r>
          </a:p>
        </p:txBody>
      </p:sp>
      <p:sp>
        <p:nvSpPr>
          <p:cNvPr id="31" name="!!term-reference clas">
            <a:extLst>
              <a:ext uri="{C183D7F6-B498-43B3-948B-1728B52AA6E4}">
                <adec:decorative xmlns:adec="http://schemas.microsoft.com/office/drawing/2017/decorative" val="1"/>
              </a:ext>
            </a:extLst>
          </p:cNvPr>
          <p:cNvSpPr/>
          <p:nvPr/>
        </p:nvSpPr>
        <p:spPr>
          <a:xfrm>
            <a:off x="4491621" y="2468880"/>
            <a:ext cx="30018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ference clas">
            <a:extLst>
              <a:ext uri="{C183D7F6-B498-43B3-948B-1728B52AA6E4}">
                <adec:decorative xmlns:adec="http://schemas.microsoft.com/office/drawing/2017/decorative" val="1"/>
              </a:ext>
            </a:extLst>
          </p:cNvPr>
          <p:cNvSpPr/>
          <p:nvPr/>
        </p:nvSpPr>
        <p:spPr>
          <a:xfrm>
            <a:off x="461963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ference clas"/>
          <p:cNvSpPr txBox="1"/>
          <p:nvPr/>
        </p:nvSpPr>
        <p:spPr>
          <a:xfrm>
            <a:off x="4784229" y="2577084"/>
            <a:ext cx="28190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reference class forecasting</a:t>
            </a:r>
          </a:p>
        </p:txBody>
      </p:sp>
      <p:sp>
        <p:nvSpPr>
          <p:cNvPr id="34" name="!!term-leading and la">
            <a:extLst>
              <a:ext uri="{C183D7F6-B498-43B3-948B-1728B52AA6E4}">
                <adec:decorative xmlns:adec="http://schemas.microsoft.com/office/drawing/2017/decorative" val="1"/>
              </a:ext>
            </a:extLst>
          </p:cNvPr>
          <p:cNvSpPr/>
          <p:nvPr/>
        </p:nvSpPr>
        <p:spPr>
          <a:xfrm>
            <a:off x="7639820" y="2468880"/>
            <a:ext cx="32918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leading and la">
            <a:extLst>
              <a:ext uri="{C183D7F6-B498-43B3-948B-1728B52AA6E4}">
                <adec:decorative xmlns:adec="http://schemas.microsoft.com/office/drawing/2017/decorative" val="1"/>
              </a:ext>
            </a:extLst>
          </p:cNvPr>
          <p:cNvSpPr/>
          <p:nvPr/>
        </p:nvSpPr>
        <p:spPr>
          <a:xfrm>
            <a:off x="77678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leading and la"/>
          <p:cNvSpPr txBox="1"/>
          <p:nvPr/>
        </p:nvSpPr>
        <p:spPr>
          <a:xfrm>
            <a:off x="7932428" y="2577084"/>
            <a:ext cx="310892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leading and lagging indicator</a:t>
            </a:r>
          </a:p>
        </p:txBody>
      </p:sp>
      <p:sp>
        <p:nvSpPr>
          <p:cNvPr id="37" name="!!term-RAID log">
            <a:extLst>
              <a:ext uri="{C183D7F6-B498-43B3-948B-1728B52AA6E4}">
                <adec:decorative xmlns:adec="http://schemas.microsoft.com/office/drawing/2017/decorative" val="1"/>
              </a:ext>
            </a:extLst>
          </p:cNvPr>
          <p:cNvSpPr/>
          <p:nvPr/>
        </p:nvSpPr>
        <p:spPr>
          <a:xfrm>
            <a:off x="658368" y="3090672"/>
            <a:ext cx="12979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AID lo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AID log"/>
          <p:cNvSpPr txBox="1"/>
          <p:nvPr/>
        </p:nvSpPr>
        <p:spPr>
          <a:xfrm>
            <a:off x="950976" y="3198876"/>
            <a:ext cx="111510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RAID log</a:t>
            </a:r>
          </a:p>
        </p:txBody>
      </p:sp>
      <p:sp>
        <p:nvSpPr>
          <p:cNvPr id="40" name="!!term-stakeholder">
            <a:extLst>
              <a:ext uri="{C183D7F6-B498-43B3-948B-1728B52AA6E4}">
                <adec:decorative xmlns:adec="http://schemas.microsoft.com/office/drawing/2017/decorative" val="1"/>
              </a:ext>
            </a:extLst>
          </p:cNvPr>
          <p:cNvSpPr/>
          <p:nvPr/>
        </p:nvSpPr>
        <p:spPr>
          <a:xfrm>
            <a:off x="2102654" y="3090672"/>
            <a:ext cx="15720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takeholder">
            <a:extLst>
              <a:ext uri="{C183D7F6-B498-43B3-948B-1728B52AA6E4}">
                <adec:decorative xmlns:adec="http://schemas.microsoft.com/office/drawing/2017/decorative" val="1"/>
              </a:ext>
            </a:extLst>
          </p:cNvPr>
          <p:cNvSpPr/>
          <p:nvPr/>
        </p:nvSpPr>
        <p:spPr>
          <a:xfrm>
            <a:off x="223067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takeholder"/>
          <p:cNvSpPr txBox="1"/>
          <p:nvPr/>
        </p:nvSpPr>
        <p:spPr>
          <a:xfrm>
            <a:off x="2395262" y="3198876"/>
            <a:ext cx="138920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stakeholder</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196–201     </a:t>
            </a:r>
            <a:fld id="{0613BB8C-92FE-491E-A050-910BC04434AA}" type="slidenum">
              <a:rPr lang="en-GB" sz="1000">
                <a:solidFill>
                  <a:srgbClr val="8795A1"/>
                </a:solidFill>
                <a:latin typeface="Segoe UI"/>
              </a:rPr>
              <a:t>5</a:t>
            </a:fld>
          </a:p>
        </p:txBody>
      </p:sp>
      <p:sp>
        <p:nvSpPr>
          <p:cNvPr id="7" name="!!ag0" descr="Go to section 30.1 Why Data Science Projects Are Differen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Data Science Projects Are Different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196  ›</a:t>
            </a:r>
          </a:p>
        </p:txBody>
      </p:sp>
      <p:sp>
        <p:nvSpPr>
          <p:cNvPr id="12" name="!!ag1" descr="Go to section 30.2 Gates, Not a Pla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Gates, Not a Plan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197  ›</a:t>
            </a:r>
          </a:p>
        </p:txBody>
      </p:sp>
      <p:sp>
        <p:nvSpPr>
          <p:cNvPr id="17" name="!!ag2" descr="Go to section 30.3 Estimation Under Genuine Uncertaint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Estimation Under Genuine Uncertainty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197  ›</a:t>
            </a:r>
          </a:p>
        </p:txBody>
      </p:sp>
      <p:sp>
        <p:nvSpPr>
          <p:cNvPr id="22" name="!!ag3" descr="Go to section 30.4 Metrics and Dashboard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Metrics and Dashboards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198  ›</a:t>
            </a:r>
          </a:p>
        </p:txBody>
      </p:sp>
      <p:sp>
        <p:nvSpPr>
          <p:cNvPr id="27" name="!!ag4" descr="Go to section 30.5 Risk">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30.5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Risk</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Data Science Projects Are Different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30.1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30.1   Why Data Science Projects Are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30.2   Gates, Not a Plan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30.3   Estimation Under Genuine Uncertainty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30.4   Metrics and Dashboards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30.5   Risk</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§30.1     </a:t>
            </a:r>
            <a:fld id="{E5F9C4A1-8AF1-47EA-891C-664158EA02F8}"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Property That Breaks Normal Planning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§30.1  ·  Handout p. 196     </a:t>
            </a:r>
            <a:fld id="{98EE7805-5FFC-4315-9123-525A0DFC0A97}"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a software project you know at the outset that the feature can be built; the uncertainty is how long it takes. In a data science project you do not know whether the thing is </a:t>
            </a:r>
            <a:r>
              <a:rPr sz="2300" b="0" i="1">
                <a:solidFill>
                  <a:srgbClr val="1C252B"/>
                </a:solidFill>
                <a:latin typeface="Segoe UI"/>
              </a:rPr>
              <a:t>possible at all</a:t>
            </a:r>
            <a:r>
              <a:rPr sz="2300" b="0" i="0">
                <a:solidFill>
                  <a:srgbClr val="1C252B"/>
                </a:solidFill>
                <a:latin typeface="Segoe UI"/>
              </a:rPr>
              <a:t> until you have done a substantial part of the work. The signal may not be in the data. No amount of planning discipline removes this, and a plan that pretends otherwise will be wrong.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Data Science Projects Are Different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§30.1  ·  Handout p. 196     </a:t>
            </a:r>
            <a:fld id="{056A468B-A765-4C00-80B0-79748B9837A6}"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8" cy="4279392"/>
        </p:xfrm>
        <a:graphic>
          <a:graphicData uri="http://schemas.openxmlformats.org/drawingml/2006/table">
            <a:tbl>
              <a:tblPr firstRow="0" bandRow="0" firstCol="0" lastRow="0" lastCol="0" bandCol="0">
                <a:tableStyleId>{2D5ABB26-0587-4C30-8999-92F81FD0307C}</a:tableStyleId>
              </a:tblPr>
              <a:tblGrid>
                <a:gridCol w="2567698"/>
                <a:gridCol w="3851548"/>
                <a:gridCol w="4455712"/>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Software project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Data science project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Feasibility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Known at the start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Unknown until you try</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Definition of done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Acceptance criteria pass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metric threshold that may be unreachable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Estimation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Reference classes work reasonably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Highly unreliable before the data is understood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Main risk</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Scope creep</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The data does not support the question</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After delivery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Maintenance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Continuous retraining and monitoring</a:t>
                      </a:r>
                      <a:r>
                        <a:rPr sz="1700" b="0" i="0">
                          <a:solidFill>
                            <a:srgbClr val="1C252B"/>
                          </a:solidFill>
                          <a:latin typeface="Segoe UI"/>
                        </a:rPr>
                        <a:t> (Chapter 27)</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Biggest cost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Development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Data acquisition and preparation (Figure 2.3)</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Failure mode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Late or over budget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Delivered, deployed, and quietly wrong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Gates, Not a Plan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30.1   Why Data Science Projects Are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30.2   Gates, Not a Plan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30.3   Estimation Under Genuine Uncertainty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30.4   Metrics and Dashboards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30.5   Risk</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§30.2     </a:t>
            </a:r>
            <a:fld id="{7606A379-498B-4E0C-98E4-99858604815D}"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data science project as a sequence of decision gates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30.1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§30.2  ·  Handout p. 197     </a:t>
            </a:r>
            <a:fld id="{88922D6B-C46B-41D6-BF7A-BDBC71FEA16B}" type="slidenum">
              <a:rPr lang="en-GB" sz="1000">
                <a:solidFill>
                  <a:srgbClr val="8795A1"/>
                </a:solidFill>
                <a:latin typeface="Segoe UI"/>
              </a:rPr>
              <a:t>10</a:t>
            </a:fld>
          </a:p>
        </p:txBody>
      </p:sp>
      <p:pic>
        <p:nvPicPr>
          <p:cNvPr id="6" name="!!figure" descr="Figure 30.1. A data science project as a sequence of decision gates. Because feasibility is unknown at the start, the plan must be structured to discover it cheaply and to permit an honourable sto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44092" y="1737360"/>
            <a:ext cx="770351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Because feasibility is unknown at the start, the plan must be structured to discover it cheaply and to permit an honourable stop.</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Make Stopping Respectable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§30.2  ·  Handout p. 197     </a:t>
            </a:r>
            <a:fld id="{16F18302-66F8-48D8-85E9-63BEBB2F2A15}"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Teams continue doomed projects because stopping looks like failure. Fix this with process: name the gates and their criteria in the project charter, so that stopping at a gate is the plan working rather than the team losing. A group that has killed projects at gate 2 is more trustworthy than one that has never killed anything.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Estimation Under Genuine Uncertainty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30.1   Why Data Science Projects Are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30.2   Gates, Not a Plan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30.3   Estimation Under Genuine Uncertainty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30.4   Metrics and Dashboards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30.5   Risk</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§30.3     </a:t>
            </a:r>
            <a:fld id="{8F875B3E-5725-4B99-9794-31F16F4D1218}"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Estimating a Task Nobody Can Estimate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§30.3  ·  Handout p. 197     </a:t>
            </a:r>
            <a:fld id="{04F8E36D-7C4C-4510-9FB3-F2E16F103805}"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18639"/>
          </a:xfrm>
          <a:prstGeom prst="roundRect">
            <a:avLst>
              <a:gd name="adj" fmla="val 452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186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“How long to build the dropout model?”</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wrong answer:</a:t>
            </a:r>
            <a:r>
              <a:rPr sz="1900" b="0" i="0">
                <a:solidFill>
                  <a:srgbClr val="1C252B"/>
                </a:solidFill>
                <a:latin typeface="Segoe UI"/>
              </a:rPr>
              <a:t> “six weeks” — a single number, which will be treated as a commitment and will be wrong.</a:t>
            </a:r>
          </a:p>
        </p:txBody>
      </p:sp>
      <p:sp>
        <p:nvSpPr>
          <p:cNvPr id="11" name="body-2"/>
          <p:cNvSpPr txBox="1"/>
          <p:nvPr/>
        </p:nvSpPr>
        <p:spPr>
          <a:xfrm>
            <a:off x="1042416" y="3180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Better — decompose by uncertainty type.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Estimating a Task Nobody Can Estimate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§30.3  ·  Handout p. 197     </a:t>
            </a:r>
            <a:fld id="{33F9114C-B684-4EB7-BECA-F272B0A026F7}"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5790"/>
          </a:xfrm>
          <a:prstGeom prst="roundRect">
            <a:avLst>
              <a:gd name="adj" fmla="val 211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579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10200102" cy="2731008"/>
        </p:xfrm>
        <a:graphic>
          <a:graphicData uri="http://schemas.openxmlformats.org/drawingml/2006/table">
            <a:tbl>
              <a:tblPr firstRow="0" bandRow="0" firstCol="0" lastRow="0" lastCol="0" bandCol="0">
                <a:tableStyleId>{2D5ABB26-0587-4C30-8999-92F81FD0307C}</a:tableStyleId>
              </a:tblPr>
              <a:tblGrid>
                <a:gridCol w="3105493"/>
                <a:gridCol w="1877740"/>
                <a:gridCol w="5216869"/>
              </a:tblGrid>
              <a:tr h="390144">
                <a:tc>
                  <a:txBody>
                    <a:bodyPr wrap="square"/>
                    <a:lstStyle/>
                    <a:p>
                      <a:pPr algn="l"/>
                      <a:r>
                        <a:rPr sz="1600" b="1" i="0">
                          <a:solidFill>
                            <a:srgbClr val="1A5276"/>
                          </a:solidFill>
                          <a:latin typeface="Segoe UI"/>
                        </a:rPr>
                        <a:t>Activity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Estimate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Why this confidence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Data access and permissions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1–4 weeks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Depends on other people; historically the longest pole</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Data audit and cleaning</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2 weeks </a:t>
                      </a:r>
                      <a:r>
                        <a:rPr sz="1600" b="0" i="0">
                          <a:solidFill>
                            <a:srgbClr val="1C252B"/>
                          </a:solidFill>
                          <a:latin typeface="Cambria"/>
                        </a:rPr>
                        <a:t>±</a:t>
                      </a:r>
                      <a:r>
                        <a:rPr sz="1600" b="0" i="0">
                          <a:solidFill>
                            <a:srgbClr val="1C252B"/>
                          </a:solidFill>
                          <a:latin typeface="Segoe UI"/>
                        </a:rPr>
                        <a:t>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Similar to three past projects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Feature engineering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1–3 weeks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Depends on what the audit reveals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Baseline model</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3 days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Genuinely routine</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Reaching the target metric</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1" i="0">
                          <a:solidFill>
                            <a:srgbClr val="1C252B"/>
                          </a:solidFill>
                          <a:latin typeface="Segoe UI"/>
                        </a:rPr>
                        <a:t>unbounded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1" i="0">
                          <a:solidFill>
                            <a:srgbClr val="1C252B"/>
                          </a:solidFill>
                          <a:latin typeface="Segoe UI"/>
                        </a:rPr>
                        <a:t>May be impossible</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Deployment and monitoring</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2 weeks</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Reference class exists</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42416" y="487540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to actually commit to.</a:t>
            </a:r>
            <a:r>
              <a:rPr sz="1900" b="0" i="0">
                <a:solidFill>
                  <a:srgbClr val="1C252B"/>
                </a:solidFill>
                <a:latin typeface="Segoe UI"/>
              </a:rPr>
              <a:t> Not the outcome, but the </a:t>
            </a:r>
            <a:r>
              <a:rPr sz="1900" b="0" i="1">
                <a:solidFill>
                  <a:srgbClr val="1C252B"/>
                </a:solidFill>
                <a:latin typeface="Segoe UI"/>
              </a:rPr>
              <a:t>gate</a:t>
            </a:r>
            <a:r>
              <a:rPr sz="1900" b="0" i="0">
                <a:solidFill>
                  <a:srgbClr val="1C252B"/>
                </a:solidFill>
                <a:latin typeface="Segoe UI"/>
              </a:rPr>
              <a:t>: </a:t>
            </a:r>
            <a:r>
              <a:rPr sz="1900" b="0" i="1">
                <a:solidFill>
                  <a:srgbClr val="1C252B"/>
                </a:solidFill>
                <a:latin typeface="Segoe UI"/>
              </a:rPr>
              <a:t>“In three weeks we will report whether the data contains enough signal to reach 70% recall at 20% flag rate. If it does, delivery is a further 6–8 weeks. If it does not, we will recommend stopping and explain why.”</a:t>
            </a:r>
          </a:p>
        </p:txBody>
      </p:sp>
      <p:sp>
        <p:nvSpPr>
          <p:cNvPr id="11" name="body-1bar">
            <a:extLst>
              <a:ext uri="{C183D7F6-B498-43B3-948B-1728B52AA6E4}">
                <adec:decorative xmlns:adec="http://schemas.microsoft.com/office/drawing/2017/decorative" val="1"/>
              </a:ext>
            </a:extLst>
          </p:cNvPr>
          <p:cNvSpPr/>
          <p:nvPr/>
        </p:nvSpPr>
        <p:spPr>
          <a:xfrm>
            <a:off x="841248" y="489369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Estimating a Task Nobody Can Estimate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§30.3  ·  Handout p. 197     </a:t>
            </a:r>
            <a:fld id="{1A38D8DE-9080-4C4F-BA63-4A3493715E5D}"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this is better management, not evasion.</a:t>
            </a:r>
            <a:r>
              <a:rPr sz="1900" b="0" i="0">
                <a:solidFill>
                  <a:srgbClr val="1C252B"/>
                </a:solidFill>
                <a:latin typeface="Segoe UI"/>
              </a:rPr>
              <a:t> It commits to a date, a deliverable and a decision — all of which are within the team’s control — and declines to commit to a result that is not. A stakeholder given this can plan; a stakeholder given “six weeks” cannot, because the number is fiction.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Spike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§30.3  ·  Handout p. 197     </a:t>
            </a:r>
            <a:fld id="{DCE517FA-7B7E-4355-BB0A-B9C35F0E85C1}"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strictly time-boxed investigation whose deliverable is </a:t>
            </a:r>
            <a:r>
              <a:rPr sz="2300" b="0" i="1">
                <a:solidFill>
                  <a:srgbClr val="1C252B"/>
                </a:solidFill>
                <a:latin typeface="Segoe UI"/>
              </a:rPr>
              <a:t>knowledge</a:t>
            </a:r>
            <a:r>
              <a:rPr sz="2300" b="0" i="0">
                <a:solidFill>
                  <a:srgbClr val="1C252B"/>
                </a:solidFill>
                <a:latin typeface="Segoe UI"/>
              </a:rPr>
              <a:t>, not working software: “spend three days determining whether the clickstream contains week-4 signal.” The time box is the point — it converts open-ended research into a bounded commitment.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kinds of project metric, ordered by when each becomes available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30.2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§30.4  ·  Handout p. 198     </a:t>
            </a:r>
            <a:fld id="{98EB7C1C-74B4-47DE-9DCF-06CB1530B7BF}" type="slidenum">
              <a:rPr lang="en-GB" sz="1000">
                <a:solidFill>
                  <a:srgbClr val="8795A1"/>
                </a:solidFill>
                <a:latin typeface="Segoe UI"/>
              </a:rPr>
              <a:t>17</a:t>
            </a:fld>
          </a:p>
        </p:txBody>
      </p:sp>
      <p:pic>
        <p:nvPicPr>
          <p:cNvPr id="6" name="!!figure" descr="Figure 30.2. Three kinds of project metric, ordered by when each becomes available. Leading indicators are for acting on, lagging for deciding gates, outcome measures for justifying the wor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79338"/>
            <a:ext cx="10874959" cy="377007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Leading indicators are for acting on, lagging for deciding gates, outcome measures for justifying the work.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Risk</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30.5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30.1   Why Data Science Projects Are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30.2   Gates, Not a Plan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30.3   Estimation Under Genuine Uncertainty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30.4   Metrics and Dashboards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30.5   Risk</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§30.5     </a:t>
            </a:r>
            <a:fld id="{CE371172-7231-4208-A1D0-07E5EACF6C11}" type="slidenum">
              <a:rPr lang="en-GB" sz="1000">
                <a:solidFill>
                  <a:srgbClr val="8795A1"/>
                </a:solidFill>
                <a:latin typeface="Segoe UI"/>
              </a:rPr>
              <a:t>18</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Risk</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0D105B1D-F0AC-49B4-9EC0-0E17A5D0EE6D}"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10874957" cy="3877056"/>
        </p:xfrm>
        <a:graphic>
          <a:graphicData uri="http://schemas.openxmlformats.org/drawingml/2006/table">
            <a:tbl>
              <a:tblPr firstRow="0" bandRow="0" firstCol="0" lastRow="0" lastCol="0" bandCol="0">
                <a:tableStyleId>{2D5ABB26-0587-4C30-8999-92F81FD0307C}</a:tableStyleId>
              </a:tblPr>
              <a:tblGrid>
                <a:gridCol w="2598036"/>
                <a:gridCol w="2690527"/>
                <a:gridCol w="5586394"/>
              </a:tblGrid>
              <a:tr h="359664">
                <a:tc>
                  <a:txBody>
                    <a:bodyPr wrap="square"/>
                    <a:lstStyle/>
                    <a:p>
                      <a:pPr algn="l"/>
                      <a:r>
                        <a:rPr sz="1400" b="1" i="0">
                          <a:solidFill>
                            <a:srgbClr val="1A5276"/>
                          </a:solidFill>
                          <a:latin typeface="Segoe UI"/>
                        </a:rPr>
                        <a:t>Risk</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Likelihood</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Mitigation</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The data lacks the signal</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1" i="0">
                          <a:solidFill>
                            <a:srgbClr val="1C252B"/>
                          </a:solidFill>
                          <a:latin typeface="Segoe UI"/>
                        </a:rPr>
                        <a:t>High</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Gate 2 at three weeks; agree in advance that this ends the project</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Data access takes months</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1" i="0">
                          <a:solidFill>
                            <a:srgbClr val="1C252B"/>
                          </a:solidFill>
                          <a:latin typeface="Segoe UI"/>
                        </a:rPr>
                        <a:t>High</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Start the request on day one, in parallel with everything else</a:t>
                      </a:r>
                      <a:endParaRPr sz="1400"/>
                    </a:p>
                  </a:txBody>
                  <a:tcPr marL="109728" marR="109728" marT="64008" marB="45720" anchor="t">
                    <a:lnL w="0" cmpd="sng">
                      <a:noFill/>
                    </a:lnL>
                    <a:lnR w="0" cmpd="sng">
                      <a:noFill/>
                    </a:lnR>
                    <a:lnT w="9525" cmpd="sng">
                      <a:noFill/>
                    </a:lnT>
                    <a:lnB w="9525" cmpd="sng">
                      <a:noFill/>
                    </a:lnB>
                    <a:solidFill>
                      <a:srgbClr val="FEF7F1"/>
                    </a:solidFill>
                  </a:tcPr>
                </a:tc>
              </a:tr>
              <a:tr h="359664">
                <a:tc>
                  <a:txBody>
                    <a:bodyPr wrap="square"/>
                    <a:lstStyle/>
                    <a:p>
                      <a:pPr algn="l"/>
                      <a:r>
                        <a:rPr sz="1400" b="0" i="0">
                          <a:solidFill>
                            <a:srgbClr val="1C252B"/>
                          </a:solidFill>
                          <a:latin typeface="Segoe UI"/>
                        </a:rPr>
                        <a:t>Leakage inflates results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High</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Independent review of the split and features (Chapter 7)</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Stakeholder expects certainty</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High</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Communicate in ranges and probabilities from the first meeting (Chapter 31)</a:t>
                      </a:r>
                      <a:endParaRPr sz="1400"/>
                    </a:p>
                  </a:txBody>
                  <a:tcPr marL="109728" marR="109728" marT="64008" marB="45720" anchor="t">
                    <a:lnL w="0" cmpd="sng">
                      <a:noFill/>
                    </a:lnL>
                    <a:lnR w="0" cmpd="sng">
                      <a:noFill/>
                    </a:lnR>
                    <a:lnT w="9525" cmpd="sng">
                      <a:noFill/>
                    </a:lnT>
                    <a:lnB w="9525" cmpd="sng">
                      <a:noFill/>
                    </a:lnB>
                    <a:solidFill>
                      <a:srgbClr val="FEF7F1"/>
                    </a:solidFill>
                  </a:tcPr>
                </a:tc>
              </a:tr>
              <a:tr h="573024">
                <a:tc>
                  <a:txBody>
                    <a:bodyPr wrap="square"/>
                    <a:lstStyle/>
                    <a:p>
                      <a:pPr algn="l"/>
                      <a:r>
                        <a:rPr sz="1400" b="0" i="0">
                          <a:solidFill>
                            <a:srgbClr val="1C252B"/>
                          </a:solidFill>
                          <a:latin typeface="Segoe UI"/>
                        </a:rPr>
                        <a:t>The model is unfair to a subgroup</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Moderate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Subgroup metrics in the gate criteria, not after deployment</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Nobody uses the output</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Moderate</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Frame around the decision (Chapter 2); involve the user from gate 1</a:t>
                      </a:r>
                      <a:endParaRPr sz="1400"/>
                    </a:p>
                  </a:txBody>
                  <a:tcPr marL="109728" marR="109728" marT="64008" marB="45720" anchor="t">
                    <a:lnL w="0" cmpd="sng">
                      <a:noFill/>
                    </a:lnL>
                    <a:lnR w="0" cmpd="sng">
                      <a:noFill/>
                    </a:lnR>
                    <a:lnT w="9525" cmpd="sng">
                      <a:noFill/>
                    </a:lnT>
                    <a:lnB w="9525" cmpd="sng">
                      <a:noFill/>
                    </a:lnB>
                    <a:solidFill>
                      <a:srgbClr val="FEF7F1"/>
                    </a:solidFill>
                  </a:tcPr>
                </a:tc>
              </a:tr>
              <a:tr h="359664">
                <a:tc>
                  <a:txBody>
                    <a:bodyPr wrap="square"/>
                    <a:lstStyle/>
                    <a:p>
                      <a:pPr algn="l"/>
                      <a:r>
                        <a:rPr sz="1400" b="0" i="0">
                          <a:solidFill>
                            <a:srgbClr val="1C252B"/>
                          </a:solidFill>
                          <a:latin typeface="Segoe UI"/>
                        </a:rPr>
                        <a:t>Model decays after launch</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1" i="0">
                          <a:solidFill>
                            <a:srgbClr val="1C252B"/>
                          </a:solidFill>
                          <a:latin typeface="Segoe UI"/>
                        </a:rPr>
                        <a:t>Certain</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Budget ongoing MLOps effort from the start (Chapter 27)</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Key person leaves</a:t>
                      </a:r>
                      <a:endParaRPr sz="14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400" b="0" i="0">
                          <a:solidFill>
                            <a:srgbClr val="1C252B"/>
                          </a:solidFill>
                          <a:latin typeface="Segoe UI"/>
                        </a:rPr>
                        <a:t>Moderate</a:t>
                      </a:r>
                      <a:endParaRPr sz="14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400" b="0" i="0">
                          <a:solidFill>
                            <a:srgbClr val="1C252B"/>
                          </a:solidFill>
                          <a:latin typeface="Segoe UI"/>
                        </a:rPr>
                        <a:t>Reproducible pipelines, not notebooks (Chapter 29)</a:t>
                      </a:r>
                      <a:endParaRPr sz="14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Budget for After Launch</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906E6E1D-1B95-42D5-B8AC-2D7FCAF5C3E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commonest structural error in data science project planning is treating deployment as the end. A deployed model needs monitoring, periodic retraining, incident response and eventual retirement. Plan roughly 20–30% of the build effort per year, indefinitely. A project plan that ends at deployment is planning a system that will silently decay (Figure 19.4).</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Managing the Work</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08598839-7CA4-4C1D-8E5F-B5CC4277444C}"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Education projects have an immovable constraint the others do not: the </a:t>
            </a:r>
            <a:r>
              <a:rPr sz="2300" b="0" i="1">
                <a:solidFill>
                  <a:srgbClr val="1C252B"/>
                </a:solidFill>
                <a:latin typeface="Segoe UI"/>
              </a:rPr>
              <a:t>academic calendar</a:t>
            </a:r>
            <a:r>
              <a:rPr sz="2300" b="0" i="0">
                <a:solidFill>
                  <a:srgbClr val="1C252B"/>
                </a:solidFill>
                <a:latin typeface="Segoe UI"/>
              </a:rPr>
              <a: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chapter is the project-management lens in full.</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critical path runs through </a:t>
            </a:r>
            <a:r>
              <a:rPr sz="2300" b="0" i="1">
                <a:solidFill>
                  <a:srgbClr val="1C252B"/>
                </a:solidFill>
                <a:latin typeface="Segoe UI"/>
              </a:rPr>
              <a:t>hardware procurement</a:t>
            </a:r>
            <a:r>
              <a:rPr sz="2300" b="0" i="0">
                <a:solidFill>
                  <a:srgbClr val="1C252B"/>
                </a:solidFill>
                <a:latin typeface="Segoe UI"/>
              </a:rPr>
              <a:t>, not software.</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Success is invisible — the business case rests on incidents that did not occur — so agree the metrics before starting: mean time to detect, mean time to respond, coverage of monitored assets, alerts per analyst.</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Managing the Work</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2253DC99-C8B6-4088-A840-A826156FC515}"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Education projects have an immovable constraint the others do not: the </a:t>
            </a:r>
            <a:r>
              <a:rPr sz="2200" b="0" i="1">
                <a:solidFill>
                  <a:srgbClr val="1C252B"/>
                </a:solidFill>
                <a:latin typeface="Segoe UI"/>
              </a:rPr>
              <a:t>academic calendar</a:t>
            </a:r>
            <a:r>
              <a:rPr sz="2200" b="0" i="0">
                <a:solidFill>
                  <a:srgbClr val="1C252B"/>
                </a:solidFill>
                <a:latin typeface="Segoe UI"/>
              </a:rPr>
              <a:t>. A model that misses the start of semester is useless for a year, and you cannot compress a cohort. Plan backwards from week 1 of the semester, and note that gate criteria involving student outcomes take a full term to evaluate — so the first genuine outcome evidence arrives after the second deployment.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Managing the Work</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D61E5E95-2D91-4522-9325-E8A0C1077B11}"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This chapter is the project-management lens in full. The distilled version: gate the project so infeasibility is discovered in weeks rather than months, commit to decisions rather than to outcomes, and budget for the operating phase from the beginning.</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Managing the Work</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7615B7E3-C5C2-4A96-93EA-099CD7916D66}"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critical path runs through </a:t>
            </a:r>
            <a:r>
              <a:rPr sz="2200" b="0" i="1">
                <a:solidFill>
                  <a:srgbClr val="1C252B"/>
                </a:solidFill>
                <a:latin typeface="Segoe UI"/>
              </a:rPr>
              <a:t>hardware procurement</a:t>
            </a:r>
            <a:r>
              <a:rPr sz="2200" b="0" i="0">
                <a:solidFill>
                  <a:srgbClr val="1C252B"/>
                </a:solidFill>
                <a:latin typeface="Segoe UI"/>
              </a:rPr>
              <a:t>, not software. Sensors have lead times, sites need physical access, and connectivity contracts take weeks. Pilot on 20 devices before committing to 4,000: fleet failure modes are invisible at bench scale, and the cost of discovering them post-deployment is measured in site visits. Budget for the fact that firmware updates across a fleet are themselves a project.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Managing the Work</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0B83A1A7-FF2C-436F-A133-805D69F46D6C}"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Success is invisible — the business case rests on incidents that did not occur — so agree the metrics before starting: mean time to detect, mean time to respond, coverage of monitored assets, alerts per analyst. Detection engineering is continuous maintenance rather than a delivery, so the operating budget is not optional. And note the tension with Chapter 29: publishing your method helps attackers, which constrains how openly the project can be documented.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Project Charter That Fits on One Page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BB9AF2F2-211E-4954-BFEC-E1A79B7A584B}" type="slidenum">
              <a:rPr lang="en-GB" sz="1000">
                <a:solidFill>
                  <a:srgbClr val="8795A1"/>
                </a:solidFill>
                <a:latin typeface="Segoe UI"/>
              </a:rPr>
              <a:t>26</a:t>
            </a:fld>
          </a:p>
        </p:txBody>
      </p:sp>
      <p:sp>
        <p:nvSpPr>
          <p:cNvPr id="7" name="!!lfTHIS">
            <a:extLst>
              <a:ext uri="{C183D7F6-B498-43B3-948B-1728B52AA6E4}">
                <adec:decorative xmlns:adec="http://schemas.microsoft.com/office/drawing/2017/decorative" val="1"/>
              </a:ext>
            </a:extLst>
          </p:cNvPr>
          <p:cNvSpPr/>
          <p:nvPr/>
        </p:nvSpPr>
        <p:spPr>
          <a:xfrm>
            <a:off x="658368"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11" name="!!lfWHAT">
            <a:extLst>
              <a:ext uri="{C183D7F6-B498-43B3-948B-1728B52AA6E4}">
                <adec:decorative xmlns:adec="http://schemas.microsoft.com/office/drawing/2017/decorative" val="1"/>
              </a:ext>
            </a:extLst>
          </p:cNvPr>
          <p:cNvSpPr/>
          <p:nvPr/>
        </p:nvSpPr>
        <p:spPr>
          <a:xfrm>
            <a:off x="6233007"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6233007"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6507327"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6507327"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28 lines of Text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Charter That Fits on One Page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6BE8F011-E498-4F7D-AD38-CEB09EFE2A09}"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a:t>
            </a:r>
          </a:p>
        </p:txBody>
      </p:sp>
      <p:sp>
        <p:nvSpPr>
          <p:cNvPr id="14" name="!!code-text" descr="PROJECT Early identification of at-risk first-year students SPONSOR Head of Department DATE 2026-09-01 DECISION Which students receive an outreach call in week 5. (If no decision changes, there is no project.) USERS Three academic advisers. Involved from gate 1, not shown a demo at the end. SUCCESS &gt;= 70% of eventual failures identified, flagging &lt;= 20% of the cohort. BASELINE Current rule (&quot;missed two labs&quot;) achieves ~45% recall at 15% flag rate. The model must beat THIS, not chance. GATES G1 wk 1 Framing agreed, data access requested, decision confirmed -&gt; go/no-go G2 wk 3 Signal check: can ANY model reach 60% recall at 20% flags? -&gt; go/no-go G3 wk 5 Baseline beaten on walk-forward validation -&gt; go/no-go G4 wk 9 Subgroup fairness within 5pp; monitoring plan signed off -&gt; go/no-go Stopping at any gate is a valid, expected outcome."/>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PROJECT        Early identification of at-risk first-year students</a:t>
            </a:r>
          </a:p>
          <a:p>
            <a:pPr>
              <a:lnSpc>
                <a:spcPct val="100000"/>
              </a:lnSpc>
              <a:spcAft>
                <a:spcPts val="0"/>
              </a:spcAft>
            </a:pPr>
            <a:r>
              <a:rPr sz="1400" i="0">
                <a:solidFill>
                  <a:srgbClr val="E8EDF2"/>
                </a:solidFill>
                <a:latin typeface="Consolas"/>
              </a:rPr>
              <a:t>SPONSOR        Head of Department          DATE  2026-09-01</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DECISION       Which students receive an outreach call in week 5.</a:t>
            </a:r>
          </a:p>
          <a:p>
            <a:pPr>
              <a:lnSpc>
                <a:spcPct val="100000"/>
              </a:lnSpc>
              <a:spcAft>
                <a:spcPts val="0"/>
              </a:spcAft>
            </a:pPr>
            <a:r>
              <a:rPr sz="1400" i="0">
                <a:solidFill>
                  <a:srgbClr val="E8EDF2"/>
                </a:solidFill>
                <a:latin typeface="Consolas"/>
              </a:rPr>
              <a:t>               (If no decision changes, there is no project.)</a:t>
            </a:r>
          </a:p>
          <a:p>
            <a:pPr>
              <a:lnSpc>
                <a:spcPct val="100000"/>
              </a:lnSpc>
              <a:spcAft>
                <a:spcPts val="0"/>
              </a:spcAft>
            </a:pPr>
            <a:r>
              <a:rPr sz="1400" i="0">
                <a:solidFill>
                  <a:srgbClr val="E8EDF2"/>
                </a:solidFill>
                <a:latin typeface="Consolas"/>
              </a:rPr>
              <a:t>USERS          Three academic advisers. Involved from gate 1, not shown a demo at the end.</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SUCCESS        &gt;= 70% of eventual failures identified, flagging &lt;= 20% of the cohort.</a:t>
            </a:r>
          </a:p>
          <a:p>
            <a:pPr>
              <a:lnSpc>
                <a:spcPct val="100000"/>
              </a:lnSpc>
              <a:spcAft>
                <a:spcPts val="0"/>
              </a:spcAft>
            </a:pPr>
            <a:r>
              <a:rPr sz="1400" i="0">
                <a:solidFill>
                  <a:srgbClr val="E8EDF2"/>
                </a:solidFill>
                <a:latin typeface="Consolas"/>
              </a:rPr>
              <a:t>BASELINE       Current rule ("missed two labs") achieves ~45% recall at 15% flag rate.</a:t>
            </a:r>
          </a:p>
          <a:p>
            <a:pPr>
              <a:lnSpc>
                <a:spcPct val="100000"/>
              </a:lnSpc>
              <a:spcAft>
                <a:spcPts val="0"/>
              </a:spcAft>
            </a:pPr>
            <a:r>
              <a:rPr sz="1400" i="0">
                <a:solidFill>
                  <a:srgbClr val="E8EDF2"/>
                </a:solidFill>
                <a:latin typeface="Consolas"/>
              </a:rPr>
              <a:t>               The model must beat THIS, not chance.</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GATES</a:t>
            </a:r>
          </a:p>
          <a:p>
            <a:pPr>
              <a:lnSpc>
                <a:spcPct val="100000"/>
              </a:lnSpc>
              <a:spcAft>
                <a:spcPts val="0"/>
              </a:spcAft>
            </a:pPr>
            <a:r>
              <a:rPr sz="1400" i="0">
                <a:solidFill>
                  <a:srgbClr val="E8EDF2"/>
                </a:solidFill>
                <a:latin typeface="Consolas"/>
              </a:rPr>
              <a:t>  G1  wk 1   Framing agreed, data access requested, decision confirmed  -&gt; go/no-go</a:t>
            </a:r>
          </a:p>
          <a:p>
            <a:pPr>
              <a:lnSpc>
                <a:spcPct val="100000"/>
              </a:lnSpc>
              <a:spcAft>
                <a:spcPts val="0"/>
              </a:spcAft>
            </a:pPr>
            <a:r>
              <a:rPr sz="1400" i="0">
                <a:solidFill>
                  <a:srgbClr val="E8EDF2"/>
                </a:solidFill>
                <a:latin typeface="Consolas"/>
              </a:rPr>
              <a:t>  G2  wk 3   Signal check: can ANY model reach 60% recall at 20% flags?  -&gt; go/no-go</a:t>
            </a:r>
          </a:p>
          <a:p>
            <a:pPr>
              <a:lnSpc>
                <a:spcPct val="100000"/>
              </a:lnSpc>
              <a:spcAft>
                <a:spcPts val="0"/>
              </a:spcAft>
            </a:pPr>
            <a:r>
              <a:rPr sz="1400" i="0">
                <a:solidFill>
                  <a:srgbClr val="E8EDF2"/>
                </a:solidFill>
                <a:latin typeface="Consolas"/>
              </a:rPr>
              <a:t>  G3  wk 5   Baseline beaten on walk-forward validation                  -&gt; go/no-go</a:t>
            </a:r>
          </a:p>
          <a:p>
            <a:pPr>
              <a:lnSpc>
                <a:spcPct val="100000"/>
              </a:lnSpc>
              <a:spcAft>
                <a:spcPts val="0"/>
              </a:spcAft>
            </a:pPr>
            <a:r>
              <a:rPr sz="1400" i="0">
                <a:solidFill>
                  <a:srgbClr val="E8EDF2"/>
                </a:solidFill>
                <a:latin typeface="Consolas"/>
              </a:rPr>
              <a:t>  G4  wk 9   Subgroup fairness within 5pp; monitoring plan signed off    -&gt; go/no-go</a:t>
            </a:r>
          </a:p>
          <a:p>
            <a:pPr>
              <a:lnSpc>
                <a:spcPct val="100000"/>
              </a:lnSpc>
              <a:spcAft>
                <a:spcPts val="0"/>
              </a:spcAft>
            </a:pPr>
            <a:r>
              <a:rPr sz="1400" i="0">
                <a:solidFill>
                  <a:srgbClr val="E8EDF2"/>
                </a:solidFill>
                <a:latin typeface="Consolas"/>
              </a:rPr>
              <a:t>             Stopping at any gate is a valid, expected outcome.</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Project Charter That Fits on One Page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6B0EF2DB-F552-4F33-806B-BC82613FEFA1}"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889504"/>
          </a:xfrm>
          <a:prstGeom prst="roundRect">
            <a:avLst>
              <a:gd name="adj" fmla="val 3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a:t>
            </a:r>
          </a:p>
        </p:txBody>
      </p:sp>
      <p:sp>
        <p:nvSpPr>
          <p:cNvPr id="13" name="!!code-text" descr="OUT OF SCOPE Grading, disciplinary use, any automated action without a human. ETHICS Equal opportunity as the fairness criterion (approved by X, 2026-09-01). Counterfactual explanation shown to the adviser. Student may contest. TOP RISKS 1. Signal absent -&gt; G2 kills the project at 3 weeks 2. Data access slow -&gt; requested day 1; escalation path named 3. Leakage -&gt; split and features reviewed by Y at G3 AFTER LAUNCH 0.5 day/week monitoring; annual retrain per cohort; owner named: Z. Review for retirement after 3 years."/>
          <p:cNvSpPr txBox="1"/>
          <p:nvPr/>
        </p:nvSpPr>
        <p:spPr>
          <a:xfrm>
            <a:off x="1362456" y="2066543"/>
            <a:ext cx="9987991" cy="23957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OUT OF SCOPE   Grading, disciplinary use, any automated action without a human.</a:t>
            </a:r>
          </a:p>
          <a:p>
            <a:pPr>
              <a:lnSpc>
                <a:spcPct val="100000"/>
              </a:lnSpc>
              <a:spcAft>
                <a:spcPts val="0"/>
              </a:spcAft>
            </a:pPr>
            <a:r>
              <a:rPr sz="1500" i="0">
                <a:solidFill>
                  <a:srgbClr val="E8EDF2"/>
                </a:solidFill>
                <a:latin typeface="Consolas"/>
              </a:rPr>
              <a:t>ETHICS         Equal opportunity as the fairness criterion (approved by X, 2026-09-01).</a:t>
            </a:r>
          </a:p>
          <a:p>
            <a:pPr>
              <a:lnSpc>
                <a:spcPct val="100000"/>
              </a:lnSpc>
              <a:spcAft>
                <a:spcPts val="0"/>
              </a:spcAft>
            </a:pPr>
            <a:r>
              <a:rPr sz="1500" i="0">
                <a:solidFill>
                  <a:srgbClr val="E8EDF2"/>
                </a:solidFill>
                <a:latin typeface="Consolas"/>
              </a:rPr>
              <a:t>               Counterfactual explanation shown to the adviser. Student may contest.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TOP RISKS      1. Signal absent            -&gt; G2 kills the project at 3 weeks</a:t>
            </a:r>
          </a:p>
          <a:p>
            <a:pPr>
              <a:lnSpc>
                <a:spcPct val="100000"/>
              </a:lnSpc>
              <a:spcAft>
                <a:spcPts val="0"/>
              </a:spcAft>
            </a:pPr>
            <a:r>
              <a:rPr sz="1500" i="0">
                <a:solidFill>
                  <a:srgbClr val="E8EDF2"/>
                </a:solidFill>
                <a:latin typeface="Consolas"/>
              </a:rPr>
              <a:t>               2. Data access slow          -&gt; requested day 1; escalation path named</a:t>
            </a:r>
          </a:p>
          <a:p>
            <a:pPr>
              <a:lnSpc>
                <a:spcPct val="100000"/>
              </a:lnSpc>
              <a:spcAft>
                <a:spcPts val="0"/>
              </a:spcAft>
            </a:pPr>
            <a:r>
              <a:rPr sz="1500" i="0">
                <a:solidFill>
                  <a:srgbClr val="E8EDF2"/>
                </a:solidFill>
                <a:latin typeface="Consolas"/>
              </a:rPr>
              <a:t>               3. Leakage                   -&gt; split and features reviewed by Y at G3</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AFTER LAUNCH   0.5 day/week monitoring; annual retrain per cohort; owner named: Z.</a:t>
            </a:r>
          </a:p>
          <a:p>
            <a:pPr>
              <a:lnSpc>
                <a:spcPct val="100000"/>
              </a:lnSpc>
              <a:spcAft>
                <a:spcPts val="0"/>
              </a:spcAft>
            </a:pPr>
            <a:r>
              <a:rPr sz="1500" i="0">
                <a:solidFill>
                  <a:srgbClr val="E8EDF2"/>
                </a:solidFill>
                <a:latin typeface="Consolas"/>
              </a:rPr>
              <a:t>               Review for retirement after 3 years.</a:t>
            </a:r>
          </a:p>
        </p:txBody>
      </p:sp>
      <p:sp>
        <p:nvSpPr>
          <p:cNvPr id="14" name="!!code-num"/>
          <p:cNvSpPr txBox="1"/>
          <p:nvPr/>
        </p:nvSpPr>
        <p:spPr>
          <a:xfrm>
            <a:off x="768096" y="2066543"/>
            <a:ext cx="393192" cy="23957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a:p>
            <a:pPr algn="r">
              <a:lnSpc>
                <a:spcPct val="100000"/>
              </a:lnSpc>
            </a:pPr>
            <a:r>
              <a:rPr sz="1500">
                <a:solidFill>
                  <a:srgbClr val="4F5D6A"/>
                </a:solidFill>
                <a:latin typeface="Consolas"/>
              </a:rPr>
              <a:t>23</a:t>
            </a:r>
          </a:p>
          <a:p>
            <a:pPr algn="r">
              <a:lnSpc>
                <a:spcPct val="100000"/>
              </a:lnSpc>
            </a:pPr>
            <a:r>
              <a:rPr sz="1500">
                <a:solidFill>
                  <a:srgbClr val="4F5D6A"/>
                </a:solidFill>
                <a:latin typeface="Consolas"/>
              </a:rPr>
              <a:t>24</a:t>
            </a:r>
          </a:p>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§30.5  ·  Handout p. 198     </a:t>
            </a:r>
            <a:fld id="{812CA92E-4FFD-4DD3-84EA-58313E2AEA69}"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Everything on this page is a commitment the team can keep.</a:t>
            </a:r>
            <a:r>
              <a:rPr sz="2300" b="0" i="0">
                <a:solidFill>
                  <a:srgbClr val="1C252B"/>
                </a:solidFill>
                <a:latin typeface="Segoe UI"/>
              </a:rPr>
              <a:t> Note what is absent: a promised accuracy figure, and a delivery date for a result nobody can yet know is achievable.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389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 data science project not be planned the way a software feature can? Name the specific property.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30  ·  Managing Data Science Projects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201  ·  answers in Appendix D     </a:t>
            </a:r>
            <a:fld id="{9B8CAEED-D33B-43B4-B952-0CFB249812A9}"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a data science project not be planned the way a software feature can? Name the specific property.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Feasibility is unknown at the start. In software you know the feature can be built and estimate how long; here the signal may simply not be in the data, and no planning discipline can determine that in advance.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  answers in Appendix D     </a:t>
            </a:r>
            <a:fld id="{1ECCF7CB-17FB-4D4C-922F-211C280C599A}"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485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sponsor asks for a delivery date and an accuracy figure. What do you commit to instead, and how do you explain the difference?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30  ·  Managing Data Science Projects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201  ·  answers in Appendix D     </a:t>
            </a:r>
            <a:fld id="{BF0A260A-BE03-4D08-BE14-F072CAFDCCA0}"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sponsor asks for a delivery date and an accuracy figure. What do you commit to instead, and how do you explain the difference?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Commit to a </a:t>
            </a:r>
            <a:r>
              <a:rPr sz="2200" b="0" i="1">
                <a:solidFill>
                  <a:srgbClr val="1C252B"/>
                </a:solidFill>
                <a:latin typeface="Segoe UI"/>
              </a:rPr>
              <a:t>gate</a:t>
            </a:r>
            <a:r>
              <a:rPr sz="2200" b="0" i="0">
                <a:solidFill>
                  <a:srgbClr val="1C252B"/>
                </a:solidFill>
                <a:latin typeface="Segoe UI"/>
              </a:rPr>
              <a:t>: a date, a deliverable and a decision — “in three weeks we will report whether the data supports 70% recall at a 20% flag rate.” Explain that a date is within your control and a result is not, and that a fabricated accuracy figure would be worse than useless for planning.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  answers in Appendix D     </a:t>
            </a:r>
            <a:fld id="{87D6DFEB-0D4E-457F-AC5F-710AF577414D}"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5814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project is killed at gate 2 after three weeks. Was this a failure?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30  ·  Managing Data Science Projects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201  ·  answers in Appendix D     </a:t>
            </a:r>
            <a:fld id="{69BBEC53-E28B-402E-AD16-06D7343B7028}"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Your project is killed at gate 2 after three weeks. Was this a failure?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 it is the process working. Three weeks of effort established that the project was not viable, instead of nine months. Naming the gates in advance is what makes this an outcome rather than a defeat.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  answers in Appendix D     </a:t>
            </a:r>
            <a:fld id="{ECC9FEB4-20ED-427F-B07C-66C619EADD54}"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11DE56E7-7BF2-4038-9499-2F083315DBEC}"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Data science projects differ because feasibility is unknown until you try; planning must be built around discovering that cheaply.</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Structure the work as decision gates with criteria agreed in advance, each able to end the project honourably.</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Estimate by decomposing into activities of different uncertainty, and commit to gates and deliverables rather than to results.</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Use time-boxed spikes for open-ended investigation.</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Track leading indicators to act, lagging indicators to decide gates, and outcome measures to justify the work.</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largest planning error is treating deployment as the end. Budget 20–30% of build effort per year for operations, indefinitely.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91385EEA-A145-4A68-81FF-C8DC7CEB8F4F}"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distinctive risk of a data science project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scope creep</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data may not support the question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poor UI</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server capacity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392E2D8B-B7DD-47E7-A93D-97D7E650A0B3}"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time-boxed investigation whose output is knowledge is a:</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sprint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spike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gate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epic</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30  ·  Managing Data Science Projects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201     </a:t>
            </a:r>
            <a:fld id="{C08FC906-4B6A-4BB3-BB26-E7D8FBEADBCC}"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project killed at an early gate can be a success of the process.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leading and two lagging indicators for a data science project, and say how each is used differently.</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the operating phase be budgeted at the start rather than requested later?</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a one-page charter for a predictive maintenance project on 150 HVAC units, including four gates with explicit criteria, three risks with mitigations, and what you commit to versus what you decline to commit to.</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sponsor says “the model must be 95% accurate”. Explain, in terms they would accept, why that specification is both unhelpful and possibly meaningless, and propose a replacement.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30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30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31 — Communicating Data Science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30, pages 196–201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30  ·  Managing Data Science Projects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529B4DCA-26A9-4C2E-962C-E30C6E3625BE}"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30: Managing Data Science Projects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