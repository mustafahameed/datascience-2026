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7.svg" ContentType="image/svg+xml"/>
  <Override PartName="/ppt/media/image89.svg" ContentType="image/svg+xml"/>
  <Override PartName="/ppt/media/image90.svg" ContentType="image/svg+xml"/>
  <Override PartName="/ppt/media/image91.svg" ContentType="image/svg+xml"/>
  <Override PartName="/ppt/media/image92.svg" ContentType="image/svg+xml"/>
  <Override PartName="/ppt/media/image93.svg" ContentType="image/svg+xml"/>
  <Override PartName="/ppt/media/image95.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2802CAC-339A-46F8-ABDB-F1FE8D01F022}">
          <p14:sldIdLst>
            <p14:sldId id="256"/>
            <p14:sldId id="257"/>
            <p14:sldId id="258"/>
            <p14:sldId id="259"/>
            <p14:sldId id="260"/>
          </p14:sldIdLst>
        </p14:section>
        <p14:section name="12.1 The Simplest Useful Model" id="{78E78B47-5031-4D72-AB0E-0A7574E5677F}">
          <p14:sldIdLst>
            <p14:sldId id="261"/>
            <p14:sldId id="262"/>
            <p14:sldId id="263"/>
            <p14:sldId id="264"/>
            <p14:sldId id="265"/>
            <p14:sldId id="266"/>
            <p14:sldId id="267"/>
          </p14:sldIdLst>
        </p14:section>
        <p14:section name="12.2 Measuring Regression Error" id="{15F812F8-741D-4657-8476-66ABF184939C}">
          <p14:sldIdLst>
            <p14:sldId id="268"/>
            <p14:sldId id="269"/>
            <p14:sldId id="270"/>
          </p14:sldIdLst>
        </p14:section>
        <p14:section name="12.3 Checking the Assumptions" id="{E35F64EF-BB86-48E1-815C-C51ABC6A91D8}">
          <p14:sldIdLst>
            <p14:sldId id="271"/>
            <p14:sldId id="272"/>
            <p14:sldId id="273"/>
          </p14:sldIdLst>
        </p14:section>
        <p14:section name="12.4 Polynomial Regression and Overfitting" id="{8D2AF298-F054-4A85-AD7A-B6F1DC1DF598}">
          <p14:sldIdLst>
            <p14:sldId id="274"/>
          </p14:sldIdLst>
        </p14:section>
        <p14:section name="12.5 Regularisation: Ridge and Lasso" id="{72AFE26F-F03B-449A-BD7C-5F03D4FCF299}">
          <p14:sldIdLst>
            <p14:sldId id="275"/>
            <p14:sldId id="276"/>
            <p14:sldId id="277"/>
            <p14:sldId id="278"/>
          </p14:sldIdLst>
        </p14:section>
        <p14:section name="Pitfalls" id="{D8128165-76AF-4DDC-9AC8-E2678C482430}">
          <p14:sldIdLst>
            <p14:sldId id="279"/>
          </p14:sldIdLst>
        </p14:section>
        <p14:section name="Four lenses" id="{42755CB3-B685-4A8F-8BB8-7AC821835803}">
          <p14:sldIdLst>
            <p14:sldId id="280"/>
            <p14:sldId id="281"/>
            <p14:sldId id="282"/>
            <p14:sldId id="283"/>
            <p14:sldId id="284"/>
          </p14:sldIdLst>
        </p14:section>
        <p14:section name="Lab" id="{0860C09E-1C9E-4C7D-B813-C7B0BF6A048E}">
          <p14:sldIdLst>
            <p14:sldId id="285"/>
            <p14:sldId id="286"/>
            <p14:sldId id="287"/>
            <p14:sldId id="288"/>
            <p14:sldId id="289"/>
          </p14:sldIdLst>
        </p14:section>
        <p14:section name="Checkpoint" id="{5D77B192-9910-49E2-93FB-F4314C810D9A}">
          <p14:sldIdLst>
            <p14:sldId id="290"/>
            <p14:sldId id="291"/>
            <p14:sldId id="292"/>
            <p14:sldId id="293"/>
            <p14:sldId id="294"/>
            <p14:sldId id="295"/>
          </p14:sldIdLst>
        </p14:section>
        <p14:section name="Wrap-up" id="{ECD4710A-C859-4015-944C-53878297D4EC}">
          <p14:sldIdLst>
            <p14:sldId id="296"/>
            <p14:sldId id="297"/>
            <p14:sldId id="298"/>
            <p14:sldId id="299"/>
            <p14:sldId id="30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12: Supervised Learning I: Regression. Part 3 — Machine Learning Core. Week 7: ML fundamentals; regression (revision). Handout pages 76–81.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4 (gradient descent, dot products), Chapter 11 (train/test, bias–variance) and Chapter 8 (correlation, multicollinearity). Revision note: revises Machine Learning Fall 2026, Chapter 5 (Linear Regression).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regression; intercept; coefficient; residual; least squares; MAE; MSE; RMSE; R2; homoscedasticity; polynomial regression; regularisation; ridge (L2); lasso (L1).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12.1 (handout p. 77): Simple linear regression. The fitted line minimises the sum of squared residuals — squaring, rather than taking absolute values, is what makes large errors disproportionately costly and gives the closed-form solution.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regression makes assumptions, and the residual plot checks nearly all of them at once. Producing it should be automatic.</a:t>
            </a:r>
          </a:p>
          <a:p/>
          <a:p>
            <a:r>
              <a:t>Figure 12.2 (handout p. 78): Residual plots. Only the left panel is acceptable. A curve means the relationship is non-linear; a fan means the error variance changes with the prediction, so your confidence intervals are wrong even if the coefficients are not.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12.3 (handout p. 79): Ridge versus lasso as the penalty strength grows. Ridge keeps every feature but makes each less influential; lasso eliminates features one by one, which is why it doubles as automatic feature selection.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Predict final mark from week-4 engagement. Report RMSE in marks — a figure a programme director understands — rather than R2. Expect R2 around 0.35–0.5: human outcomes are genuinely noisy, and a claimed 0.95 almost certainly indicates leakage. Lasso is useful for reducing 300 clickstream features to the handful you can defend in a meeting.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Predict task effort in hours from historical features. Use MAE, because project managers think in “typically wrong by about 4 hours” and because effort data is long-tailed enough that RMSE would be dominated by two disastrous projects. Beware heteroscedasticity: large tasks have much larger absolute errors, so consider modelling log(hours) instead.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Predict remaining useful life of a component from sensor trends. Here RMSE is right, since one large underestimate means an unplanned stoppage. Check the residual plot for curvature — degradation is usually non-linear, accelerating near failure, so a straight line will systematically over-predict life at exactly the moment accuracy matters most.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Regression is less common here than classification, but it appears in capacity and risk forecasting: predicting expected alert volume for staffing, or expected breach cost for insurance. Residuals will fan out badly (heteroscedastic) because incident cost is long-tailed — model the log, and report a prediction interval rather than a point estimate.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Fit.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Diagnose: ALWAYS plot residuals vs fitted.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Regularise (note: scaling is mandatory).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RMSE far exceeding MAE means the errors are dominated by a few very large ones — the error distribution has a long tail. Investigate those cases specifically; they may be a distinct sub-population.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The features are on different scales. If x1 ranges 0–100 and x2 ranges 0–5, then x1 contributes up to 50 and x2 up to 60 — roughly comparable. Standardise before comparing coefficients.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Heteroscedasticity: the error variance grows with the prediction. Remedies: model log(y) instead, or use weighted least squares. The coefficients may still be usable, but the confidence intervals are wrong.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13 — Supervised Learning II: Classification. READ: Handout Chapter 12, pages 76–81. THIS WEEK'S LAB: Split, baseline, diagnose; fit &amp; regularise. ASSESSMENT: Assignment 1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3.xml"/><Relationship Id="rId7" Type="http://schemas.openxmlformats.org/officeDocument/2006/relationships/slide" Target="slide16.xml"/><Relationship Id="rId8" Type="http://schemas.openxmlformats.org/officeDocument/2006/relationships/slide" Target="slide19.xml"/><Relationship Id="rId9"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5.svg"/><Relationship Id="rId4" Type="http://schemas.openxmlformats.org/officeDocument/2006/relationships/image" Target="../media/image16.png"/><Relationship Id="rId5" Type="http://schemas.openxmlformats.org/officeDocument/2006/relationships/image" Target="../media/image17.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4.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30.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7.svg"/><Relationship Id="rId4" Type="http://schemas.openxmlformats.org/officeDocument/2006/relationships/image" Target="../media/image38.png"/><Relationship Id="rId5" Type="http://schemas.openxmlformats.org/officeDocument/2006/relationships/image" Target="../media/image39.sv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image" Target="../media/image48.png"/><Relationship Id="rId5" Type="http://schemas.openxmlformats.org/officeDocument/2006/relationships/image" Target="../media/image49.svg"/><Relationship Id="rId6" Type="http://schemas.openxmlformats.org/officeDocument/2006/relationships/image" Target="../media/image50.png"/><Relationship Id="rId7" Type="http://schemas.openxmlformats.org/officeDocument/2006/relationships/image" Target="../media/image51.svg"/><Relationship Id="rId8" Type="http://schemas.openxmlformats.org/officeDocument/2006/relationships/image" Target="../media/image52.png"/><Relationship Id="rId9" Type="http://schemas.openxmlformats.org/officeDocument/2006/relationships/image" Target="../media/image53.svg"/><Relationship Id="rId10" Type="http://schemas.openxmlformats.org/officeDocument/2006/relationships/image" Target="../media/image54.png"/><Relationship Id="rId11" Type="http://schemas.openxmlformats.org/officeDocument/2006/relationships/image" Target="../media/image55.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image" Target="../media/image48.png"/><Relationship Id="rId5" Type="http://schemas.openxmlformats.org/officeDocument/2006/relationships/image" Target="../media/image58.svg"/><Relationship Id="rId6" Type="http://schemas.openxmlformats.org/officeDocument/2006/relationships/image" Target="../media/image50.png"/><Relationship Id="rId7" Type="http://schemas.openxmlformats.org/officeDocument/2006/relationships/image" Target="../media/image59.svg"/><Relationship Id="rId8" Type="http://schemas.openxmlformats.org/officeDocument/2006/relationships/image" Target="../media/image52.png"/><Relationship Id="rId9" Type="http://schemas.openxmlformats.org/officeDocument/2006/relationships/image" Target="../media/image60.svg"/><Relationship Id="rId10" Type="http://schemas.openxmlformats.org/officeDocument/2006/relationships/image" Target="../media/image54.png"/><Relationship Id="rId11" Type="http://schemas.openxmlformats.org/officeDocument/2006/relationships/image" Target="../media/image61.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50.png"/><Relationship Id="rId5" Type="http://schemas.openxmlformats.org/officeDocument/2006/relationships/image" Target="../media/image64.svg"/><Relationship Id="rId6" Type="http://schemas.openxmlformats.org/officeDocument/2006/relationships/image" Target="../media/image48.png"/><Relationship Id="rId7" Type="http://schemas.openxmlformats.org/officeDocument/2006/relationships/image" Target="../media/image65.svg"/><Relationship Id="rId8" Type="http://schemas.openxmlformats.org/officeDocument/2006/relationships/image" Target="../media/image52.png"/><Relationship Id="rId9" Type="http://schemas.openxmlformats.org/officeDocument/2006/relationships/image" Target="../media/image66.svg"/><Relationship Id="rId10" Type="http://schemas.openxmlformats.org/officeDocument/2006/relationships/image" Target="../media/image54.png"/><Relationship Id="rId11" Type="http://schemas.openxmlformats.org/officeDocument/2006/relationships/image" Target="../media/image67.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image" Target="../media/image52.png"/><Relationship Id="rId5" Type="http://schemas.openxmlformats.org/officeDocument/2006/relationships/image" Target="../media/image70.svg"/><Relationship Id="rId6" Type="http://schemas.openxmlformats.org/officeDocument/2006/relationships/image" Target="../media/image48.png"/><Relationship Id="rId7" Type="http://schemas.openxmlformats.org/officeDocument/2006/relationships/image" Target="../media/image71.svg"/><Relationship Id="rId8" Type="http://schemas.openxmlformats.org/officeDocument/2006/relationships/image" Target="../media/image50.png"/><Relationship Id="rId9" Type="http://schemas.openxmlformats.org/officeDocument/2006/relationships/image" Target="../media/image72.svg"/><Relationship Id="rId10" Type="http://schemas.openxmlformats.org/officeDocument/2006/relationships/image" Target="../media/image54.png"/><Relationship Id="rId11" Type="http://schemas.openxmlformats.org/officeDocument/2006/relationships/image" Target="../media/image73.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5.svg"/><Relationship Id="rId4" Type="http://schemas.openxmlformats.org/officeDocument/2006/relationships/image" Target="../media/image54.png"/><Relationship Id="rId5" Type="http://schemas.openxmlformats.org/officeDocument/2006/relationships/image" Target="../media/image76.svg"/><Relationship Id="rId6" Type="http://schemas.openxmlformats.org/officeDocument/2006/relationships/image" Target="../media/image48.png"/><Relationship Id="rId7" Type="http://schemas.openxmlformats.org/officeDocument/2006/relationships/image" Target="../media/image77.svg"/><Relationship Id="rId8" Type="http://schemas.openxmlformats.org/officeDocument/2006/relationships/image" Target="../media/image50.png"/><Relationship Id="rId9" Type="http://schemas.openxmlformats.org/officeDocument/2006/relationships/image" Target="../media/image78.svg"/><Relationship Id="rId10" Type="http://schemas.openxmlformats.org/officeDocument/2006/relationships/image" Target="../media/image52.png"/><Relationship Id="rId11" Type="http://schemas.openxmlformats.org/officeDocument/2006/relationships/image" Target="../media/image79.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7.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8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9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9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9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9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5.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6.png"/><Relationship Id="rId3" Type="http://schemas.openxmlformats.org/officeDocument/2006/relationships/image" Target="../media/image9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6.png"/><Relationship Id="rId3" Type="http://schemas.openxmlformats.org/officeDocument/2006/relationships/image" Target="../media/image98.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6.png"/><Relationship Id="rId3" Type="http://schemas.openxmlformats.org/officeDocument/2006/relationships/image" Target="../media/image99.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Supervised Learning I: Regression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MACHINE LEARNING CORE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12  ·  WEEK 7</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76     </a:t>
            </a:r>
            <a:fld id="{5E1D0F1D-5DF4-4860-8264-FAFF699EDE19}"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94532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945328"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408250"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40825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2405714"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Supervised Learning I: Regression</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4  </a:t>
            </a:r>
            <a:r>
              <a:rPr sz="1400" b="0" i="0">
                <a:solidFill>
                  <a:srgbClr val="1C252B"/>
                </a:solidFill>
                <a:latin typeface="Segoe UI"/>
              </a:rPr>
              <a:t>The Mathematical Toolkit</a:t>
            </a:r>
          </a:p>
        </p:txBody>
      </p:sp>
      <p:sp>
        <p:nvSpPr>
          <p:cNvPr id="88" name="!!chipBU8">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8">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8"/>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Exploratory Data Analysis and Visualisation</a:t>
            </a:r>
          </a:p>
        </p:txBody>
      </p:sp>
      <p:sp>
        <p:nvSpPr>
          <p:cNvPr id="91" name="!!chipBU11">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11">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11"/>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Machine Learning Fundamentals</a:t>
            </a:r>
          </a:p>
        </p:txBody>
      </p:sp>
      <p:sp>
        <p:nvSpPr>
          <p:cNvPr id="9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5" name="!!chipUS13">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13">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13"/>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Supervised Learning II: Classification</a:t>
            </a:r>
          </a:p>
        </p:txBody>
      </p:sp>
      <p:sp>
        <p:nvSpPr>
          <p:cNvPr id="98" name="!!chipUS17">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chipbUS17">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chiptUS17"/>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Neural Network Foundations</a:t>
            </a:r>
          </a:p>
        </p:txBody>
      </p:sp>
      <p:sp>
        <p:nvSpPr>
          <p:cNvPr id="10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2" name="!!pfill">
            <a:extLst>
              <a:ext uri="{C183D7F6-B498-43B3-948B-1728B52AA6E4}">
                <adec:decorative xmlns:adec="http://schemas.microsoft.com/office/drawing/2017/decorative" val="1"/>
              </a:ext>
            </a:extLst>
          </p:cNvPr>
          <p:cNvSpPr/>
          <p:nvPr/>
        </p:nvSpPr>
        <p:spPr>
          <a:xfrm>
            <a:off x="0" y="0"/>
            <a:ext cx="54185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76     </a:t>
            </a:r>
            <a:fld id="{2903856B-0293-44D5-8001-DF2AF28A5C45}"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Fit</a:t>
            </a:r>
            <a:r>
              <a:rPr sz="2100" b="0" i="0">
                <a:solidFill>
                  <a:srgbClr val="1C252B"/>
                </a:solidFill>
                <a:latin typeface="Segoe UI"/>
              </a:rPr>
              <a:t> and </a:t>
            </a:r>
            <a:r>
              <a:rPr sz="2100" b="1" i="0">
                <a:solidFill>
                  <a:srgbClr val="1C252B"/>
                </a:solidFill>
                <a:latin typeface="Segoe UI"/>
              </a:rPr>
              <a:t>interpret</a:t>
            </a:r>
            <a:r>
              <a:rPr sz="2100" b="0" i="0">
                <a:solidFill>
                  <a:srgbClr val="1C252B"/>
                </a:solidFill>
                <a:latin typeface="Segoe UI"/>
              </a:rPr>
              <a:t> a simple and a multiple linear regression, including the meaning of each coefficient.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Compute</a:t>
            </a:r>
            <a:r>
              <a:rPr sz="2100" b="0" i="0">
                <a:solidFill>
                  <a:srgbClr val="1C252B"/>
                </a:solidFill>
                <a:latin typeface="Segoe UI"/>
              </a:rPr>
              <a:t> and </a:t>
            </a:r>
            <a:r>
              <a:rPr sz="2100" b="1" i="0">
                <a:solidFill>
                  <a:srgbClr val="1C252B"/>
                </a:solidFill>
                <a:latin typeface="Segoe UI"/>
              </a:rPr>
              <a:t>interpret</a:t>
            </a:r>
            <a:r>
              <a:rPr sz="2100" b="0" i="0">
                <a:solidFill>
                  <a:srgbClr val="1C252B"/>
                </a:solidFill>
                <a:latin typeface="Segoe UI"/>
              </a:rPr>
              <a:t> MAE, RMSE and </a:t>
            </a:r>
            <a:r>
              <a:rPr sz="2100" b="0" i="1">
                <a:solidFill>
                  <a:srgbClr val="1C252B"/>
                </a:solidFill>
                <a:latin typeface="Cambria"/>
              </a:rPr>
              <a:t>R</a:t>
            </a:r>
            <a:r>
              <a:rPr sz="2100" b="0" i="0" baseline="30000">
                <a:solidFill>
                  <a:srgbClr val="1C252B"/>
                </a:solidFill>
                <a:latin typeface="Cambria"/>
              </a:rPr>
              <a:t>2</a:t>
            </a:r>
            <a:r>
              <a:rPr sz="2100" b="0" i="0">
                <a:solidFill>
                  <a:srgbClr val="1C252B"/>
                </a:solidFill>
                <a:latin typeface="Segoe UI"/>
              </a:rPr>
              <a:t>, and choose between them.</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Check</a:t>
            </a:r>
            <a:r>
              <a:rPr sz="2100" b="0" i="0">
                <a:solidFill>
                  <a:srgbClr val="1C252B"/>
                </a:solidFill>
                <a:latin typeface="Segoe UI"/>
              </a:rPr>
              <a:t> the assumptions of linear regression using a residual plot.</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how ridge and lasso regularisation control overfitting, and what distinguishes them.</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Recognise</a:t>
            </a:r>
            <a:r>
              <a:rPr sz="2100" b="0" i="0">
                <a:solidFill>
                  <a:srgbClr val="1C252B"/>
                </a:solidFill>
                <a:latin typeface="Segoe UI"/>
              </a:rPr>
              <a:t> when a linear model is the wrong tool.</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127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76     </a:t>
            </a:r>
            <a:fld id="{6233C6AE-12D9-48CD-8C12-00C172F83E93}" type="slidenum">
              <a:rPr lang="en-GB" sz="1000">
                <a:solidFill>
                  <a:srgbClr val="8795A1"/>
                </a:solidFill>
                <a:latin typeface="Segoe UI"/>
              </a:rPr>
              <a:t>4</a:t>
            </a:fld>
          </a:p>
        </p:txBody>
      </p:sp>
      <p:sp>
        <p:nvSpPr>
          <p:cNvPr id="7" name="!!term-regression">
            <a:extLst>
              <a:ext uri="{C183D7F6-B498-43B3-948B-1728B52AA6E4}">
                <adec:decorative xmlns:adec="http://schemas.microsoft.com/office/drawing/2017/decorative" val="1"/>
              </a:ext>
            </a:extLst>
          </p:cNvPr>
          <p:cNvSpPr/>
          <p:nvPr/>
        </p:nvSpPr>
        <p:spPr>
          <a:xfrm>
            <a:off x="658368" y="1847088"/>
            <a:ext cx="13866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regress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regression"/>
          <p:cNvSpPr txBox="1"/>
          <p:nvPr/>
        </p:nvSpPr>
        <p:spPr>
          <a:xfrm>
            <a:off x="950976" y="1962911"/>
            <a:ext cx="120376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regression</a:t>
            </a:r>
          </a:p>
        </p:txBody>
      </p:sp>
      <p:sp>
        <p:nvSpPr>
          <p:cNvPr id="10" name="!!term-intercept">
            <a:extLst>
              <a:ext uri="{C183D7F6-B498-43B3-948B-1728B52AA6E4}">
                <adec:decorative xmlns:adec="http://schemas.microsoft.com/office/drawing/2017/decorative" val="1"/>
              </a:ext>
            </a:extLst>
          </p:cNvPr>
          <p:cNvSpPr/>
          <p:nvPr/>
        </p:nvSpPr>
        <p:spPr>
          <a:xfrm>
            <a:off x="2191318" y="1847088"/>
            <a:ext cx="12533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intercept">
            <a:extLst>
              <a:ext uri="{C183D7F6-B498-43B3-948B-1728B52AA6E4}">
                <adec:decorative xmlns:adec="http://schemas.microsoft.com/office/drawing/2017/decorative" val="1"/>
              </a:ext>
            </a:extLst>
          </p:cNvPr>
          <p:cNvSpPr/>
          <p:nvPr/>
        </p:nvSpPr>
        <p:spPr>
          <a:xfrm>
            <a:off x="231933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intercept"/>
          <p:cNvSpPr txBox="1"/>
          <p:nvPr/>
        </p:nvSpPr>
        <p:spPr>
          <a:xfrm>
            <a:off x="2483926" y="1962911"/>
            <a:ext cx="107051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intercept</a:t>
            </a:r>
          </a:p>
        </p:txBody>
      </p:sp>
      <p:sp>
        <p:nvSpPr>
          <p:cNvPr id="13" name="!!term-coefficient">
            <a:extLst>
              <a:ext uri="{C183D7F6-B498-43B3-948B-1728B52AA6E4}">
                <adec:decorative xmlns:adec="http://schemas.microsoft.com/office/drawing/2017/decorative" val="1"/>
              </a:ext>
            </a:extLst>
          </p:cNvPr>
          <p:cNvSpPr/>
          <p:nvPr/>
        </p:nvSpPr>
        <p:spPr>
          <a:xfrm>
            <a:off x="3591013" y="1847088"/>
            <a:ext cx="13863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coefficient">
            <a:extLst>
              <a:ext uri="{C183D7F6-B498-43B3-948B-1728B52AA6E4}">
                <adec:decorative xmlns:adec="http://schemas.microsoft.com/office/drawing/2017/decorative" val="1"/>
              </a:ext>
            </a:extLst>
          </p:cNvPr>
          <p:cNvSpPr/>
          <p:nvPr/>
        </p:nvSpPr>
        <p:spPr>
          <a:xfrm>
            <a:off x="371902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coefficient"/>
          <p:cNvSpPr txBox="1"/>
          <p:nvPr/>
        </p:nvSpPr>
        <p:spPr>
          <a:xfrm>
            <a:off x="3883621" y="1962911"/>
            <a:ext cx="120343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coefficient</a:t>
            </a:r>
          </a:p>
        </p:txBody>
      </p:sp>
      <p:sp>
        <p:nvSpPr>
          <p:cNvPr id="16" name="!!term-residual">
            <a:extLst>
              <a:ext uri="{C183D7F6-B498-43B3-948B-1728B52AA6E4}">
                <adec:decorative xmlns:adec="http://schemas.microsoft.com/office/drawing/2017/decorative" val="1"/>
              </a:ext>
            </a:extLst>
          </p:cNvPr>
          <p:cNvSpPr/>
          <p:nvPr/>
        </p:nvSpPr>
        <p:spPr>
          <a:xfrm>
            <a:off x="5123633" y="1847088"/>
            <a:ext cx="11524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residual">
            <a:extLst>
              <a:ext uri="{C183D7F6-B498-43B3-948B-1728B52AA6E4}">
                <adec:decorative xmlns:adec="http://schemas.microsoft.com/office/drawing/2017/decorative" val="1"/>
              </a:ext>
            </a:extLst>
          </p:cNvPr>
          <p:cNvSpPr/>
          <p:nvPr/>
        </p:nvSpPr>
        <p:spPr>
          <a:xfrm>
            <a:off x="525164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residual"/>
          <p:cNvSpPr txBox="1"/>
          <p:nvPr/>
        </p:nvSpPr>
        <p:spPr>
          <a:xfrm>
            <a:off x="5416241" y="1962911"/>
            <a:ext cx="96959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residual</a:t>
            </a:r>
          </a:p>
        </p:txBody>
      </p:sp>
      <p:sp>
        <p:nvSpPr>
          <p:cNvPr id="19" name="!!term-least squares">
            <a:extLst>
              <a:ext uri="{C183D7F6-B498-43B3-948B-1728B52AA6E4}">
                <adec:decorative xmlns:adec="http://schemas.microsoft.com/office/drawing/2017/decorative" val="1"/>
              </a:ext>
            </a:extLst>
          </p:cNvPr>
          <p:cNvSpPr/>
          <p:nvPr/>
        </p:nvSpPr>
        <p:spPr>
          <a:xfrm>
            <a:off x="6422417" y="1847088"/>
            <a:ext cx="16190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least squares">
            <a:extLst>
              <a:ext uri="{C183D7F6-B498-43B3-948B-1728B52AA6E4}">
                <adec:decorative xmlns:adec="http://schemas.microsoft.com/office/drawing/2017/decorative" val="1"/>
              </a:ext>
            </a:extLst>
          </p:cNvPr>
          <p:cNvSpPr/>
          <p:nvPr/>
        </p:nvSpPr>
        <p:spPr>
          <a:xfrm>
            <a:off x="655043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least squares"/>
          <p:cNvSpPr txBox="1"/>
          <p:nvPr/>
        </p:nvSpPr>
        <p:spPr>
          <a:xfrm>
            <a:off x="6715025" y="1962911"/>
            <a:ext cx="143615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least squares</a:t>
            </a:r>
          </a:p>
        </p:txBody>
      </p:sp>
      <p:sp>
        <p:nvSpPr>
          <p:cNvPr id="22" name="!!term-MAE">
            <a:extLst>
              <a:ext uri="{C183D7F6-B498-43B3-948B-1728B52AA6E4}">
                <adec:decorative xmlns:adec="http://schemas.microsoft.com/office/drawing/2017/decorative" val="1"/>
              </a:ext>
            </a:extLst>
          </p:cNvPr>
          <p:cNvSpPr/>
          <p:nvPr/>
        </p:nvSpPr>
        <p:spPr>
          <a:xfrm>
            <a:off x="8187752" y="1847088"/>
            <a:ext cx="8635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AE">
            <a:extLst>
              <a:ext uri="{C183D7F6-B498-43B3-948B-1728B52AA6E4}">
                <adec:decorative xmlns:adec="http://schemas.microsoft.com/office/drawing/2017/decorative" val="1"/>
              </a:ext>
            </a:extLst>
          </p:cNvPr>
          <p:cNvSpPr/>
          <p:nvPr/>
        </p:nvSpPr>
        <p:spPr>
          <a:xfrm>
            <a:off x="831576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AE"/>
          <p:cNvSpPr txBox="1"/>
          <p:nvPr/>
        </p:nvSpPr>
        <p:spPr>
          <a:xfrm>
            <a:off x="8480360" y="1962911"/>
            <a:ext cx="68071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MAE</a:t>
            </a:r>
          </a:p>
        </p:txBody>
      </p:sp>
      <p:sp>
        <p:nvSpPr>
          <p:cNvPr id="25" name="!!term-MSE">
            <a:extLst>
              <a:ext uri="{C183D7F6-B498-43B3-948B-1728B52AA6E4}">
                <adec:decorative xmlns:adec="http://schemas.microsoft.com/office/drawing/2017/decorative" val="1"/>
              </a:ext>
            </a:extLst>
          </p:cNvPr>
          <p:cNvSpPr/>
          <p:nvPr/>
        </p:nvSpPr>
        <p:spPr>
          <a:xfrm>
            <a:off x="9197652" y="1847088"/>
            <a:ext cx="8399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MSE">
            <a:extLst>
              <a:ext uri="{C183D7F6-B498-43B3-948B-1728B52AA6E4}">
                <adec:decorative xmlns:adec="http://schemas.microsoft.com/office/drawing/2017/decorative" val="1"/>
              </a:ext>
            </a:extLst>
          </p:cNvPr>
          <p:cNvSpPr/>
          <p:nvPr/>
        </p:nvSpPr>
        <p:spPr>
          <a:xfrm>
            <a:off x="932566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MSE"/>
          <p:cNvSpPr txBox="1"/>
          <p:nvPr/>
        </p:nvSpPr>
        <p:spPr>
          <a:xfrm>
            <a:off x="9490260" y="1962911"/>
            <a:ext cx="65708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MSE</a:t>
            </a:r>
          </a:p>
        </p:txBody>
      </p:sp>
      <p:sp>
        <p:nvSpPr>
          <p:cNvPr id="28" name="!!term-RMSE">
            <a:extLst>
              <a:ext uri="{C183D7F6-B498-43B3-948B-1728B52AA6E4}">
                <adec:decorative xmlns:adec="http://schemas.microsoft.com/office/drawing/2017/decorative" val="1"/>
              </a:ext>
            </a:extLst>
          </p:cNvPr>
          <p:cNvSpPr/>
          <p:nvPr/>
        </p:nvSpPr>
        <p:spPr>
          <a:xfrm>
            <a:off x="10183924" y="1847088"/>
            <a:ext cx="9639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MSE">
            <a:extLst>
              <a:ext uri="{C183D7F6-B498-43B3-948B-1728B52AA6E4}">
                <adec:decorative xmlns:adec="http://schemas.microsoft.com/office/drawing/2017/decorative" val="1"/>
              </a:ext>
            </a:extLst>
          </p:cNvPr>
          <p:cNvSpPr/>
          <p:nvPr/>
        </p:nvSpPr>
        <p:spPr>
          <a:xfrm>
            <a:off x="1031194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MSE"/>
          <p:cNvSpPr txBox="1"/>
          <p:nvPr/>
        </p:nvSpPr>
        <p:spPr>
          <a:xfrm>
            <a:off x="10476532" y="1962911"/>
            <a:ext cx="7810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RMSE</a:t>
            </a:r>
          </a:p>
        </p:txBody>
      </p:sp>
      <p:sp>
        <p:nvSpPr>
          <p:cNvPr id="31" name="!!term-R2">
            <a:extLst>
              <a:ext uri="{C183D7F6-B498-43B3-948B-1728B52AA6E4}">
                <adec:decorative xmlns:adec="http://schemas.microsoft.com/office/drawing/2017/decorative" val="1"/>
              </a:ext>
            </a:extLst>
          </p:cNvPr>
          <p:cNvSpPr/>
          <p:nvPr/>
        </p:nvSpPr>
        <p:spPr>
          <a:xfrm>
            <a:off x="658368" y="2468880"/>
            <a:ext cx="6745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2">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2"/>
          <p:cNvSpPr txBox="1"/>
          <p:nvPr/>
        </p:nvSpPr>
        <p:spPr>
          <a:xfrm>
            <a:off x="950976" y="2584704"/>
            <a:ext cx="49169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R2</a:t>
            </a:r>
          </a:p>
        </p:txBody>
      </p:sp>
      <p:sp>
        <p:nvSpPr>
          <p:cNvPr id="34" name="!!term-homoscedastici">
            <a:extLst>
              <a:ext uri="{C183D7F6-B498-43B3-948B-1728B52AA6E4}">
                <adec:decorative xmlns:adec="http://schemas.microsoft.com/office/drawing/2017/decorative" val="1"/>
              </a:ext>
            </a:extLst>
          </p:cNvPr>
          <p:cNvSpPr/>
          <p:nvPr/>
        </p:nvSpPr>
        <p:spPr>
          <a:xfrm>
            <a:off x="1479243" y="2468880"/>
            <a:ext cx="20219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homoscedastici">
            <a:extLst>
              <a:ext uri="{C183D7F6-B498-43B3-948B-1728B52AA6E4}">
                <adec:decorative xmlns:adec="http://schemas.microsoft.com/office/drawing/2017/decorative" val="1"/>
              </a:ext>
            </a:extLst>
          </p:cNvPr>
          <p:cNvSpPr/>
          <p:nvPr/>
        </p:nvSpPr>
        <p:spPr>
          <a:xfrm>
            <a:off x="160725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homoscedastici"/>
          <p:cNvSpPr txBox="1"/>
          <p:nvPr/>
        </p:nvSpPr>
        <p:spPr>
          <a:xfrm>
            <a:off x="1771851" y="2584704"/>
            <a:ext cx="183911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homoscedasticity</a:t>
            </a:r>
          </a:p>
        </p:txBody>
      </p:sp>
      <p:sp>
        <p:nvSpPr>
          <p:cNvPr id="37" name="!!term-polynomial reg">
            <a:extLst>
              <a:ext uri="{C183D7F6-B498-43B3-948B-1728B52AA6E4}">
                <adec:decorative xmlns:adec="http://schemas.microsoft.com/office/drawing/2017/decorative" val="1"/>
              </a:ext>
            </a:extLst>
          </p:cNvPr>
          <p:cNvSpPr/>
          <p:nvPr/>
        </p:nvSpPr>
        <p:spPr>
          <a:xfrm>
            <a:off x="3647541" y="2468880"/>
            <a:ext cx="24602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olynomial reg">
            <a:extLst>
              <a:ext uri="{C183D7F6-B498-43B3-948B-1728B52AA6E4}">
                <adec:decorative xmlns:adec="http://schemas.microsoft.com/office/drawing/2017/decorative" val="1"/>
              </a:ext>
            </a:extLst>
          </p:cNvPr>
          <p:cNvSpPr/>
          <p:nvPr/>
        </p:nvSpPr>
        <p:spPr>
          <a:xfrm>
            <a:off x="377555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olynomial reg"/>
          <p:cNvSpPr txBox="1"/>
          <p:nvPr/>
        </p:nvSpPr>
        <p:spPr>
          <a:xfrm>
            <a:off x="3940149" y="2584704"/>
            <a:ext cx="227739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polynomial regression</a:t>
            </a:r>
          </a:p>
        </p:txBody>
      </p:sp>
      <p:sp>
        <p:nvSpPr>
          <p:cNvPr id="40" name="!!term-regularisation">
            <a:extLst>
              <a:ext uri="{C183D7F6-B498-43B3-948B-1728B52AA6E4}">
                <adec:decorative xmlns:adec="http://schemas.microsoft.com/office/drawing/2017/decorative" val="1"/>
              </a:ext>
            </a:extLst>
          </p:cNvPr>
          <p:cNvSpPr/>
          <p:nvPr/>
        </p:nvSpPr>
        <p:spPr>
          <a:xfrm>
            <a:off x="6254119" y="2468880"/>
            <a:ext cx="16892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regularisation">
            <a:extLst>
              <a:ext uri="{C183D7F6-B498-43B3-948B-1728B52AA6E4}">
                <adec:decorative xmlns:adec="http://schemas.microsoft.com/office/drawing/2017/decorative" val="1"/>
              </a:ext>
            </a:extLst>
          </p:cNvPr>
          <p:cNvSpPr/>
          <p:nvPr/>
        </p:nvSpPr>
        <p:spPr>
          <a:xfrm>
            <a:off x="638213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regularisation"/>
          <p:cNvSpPr txBox="1"/>
          <p:nvPr/>
        </p:nvSpPr>
        <p:spPr>
          <a:xfrm>
            <a:off x="6546727" y="2584704"/>
            <a:ext cx="15064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regularisation</a:t>
            </a:r>
          </a:p>
        </p:txBody>
      </p:sp>
      <p:sp>
        <p:nvSpPr>
          <p:cNvPr id="43" name="!!term-ridge (L2)">
            <a:extLst>
              <a:ext uri="{C183D7F6-B498-43B3-948B-1728B52AA6E4}">
                <adec:decorative xmlns:adec="http://schemas.microsoft.com/office/drawing/2017/decorative" val="1"/>
              </a:ext>
            </a:extLst>
          </p:cNvPr>
          <p:cNvSpPr/>
          <p:nvPr/>
        </p:nvSpPr>
        <p:spPr>
          <a:xfrm>
            <a:off x="8089716" y="2468880"/>
            <a:ext cx="13050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ridge (L2)">
            <a:extLst>
              <a:ext uri="{C183D7F6-B498-43B3-948B-1728B52AA6E4}">
                <adec:decorative xmlns:adec="http://schemas.microsoft.com/office/drawing/2017/decorative" val="1"/>
              </a:ext>
            </a:extLst>
          </p:cNvPr>
          <p:cNvSpPr/>
          <p:nvPr/>
        </p:nvSpPr>
        <p:spPr>
          <a:xfrm>
            <a:off x="821773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ridge (L2)"/>
          <p:cNvSpPr txBox="1"/>
          <p:nvPr/>
        </p:nvSpPr>
        <p:spPr>
          <a:xfrm>
            <a:off x="8382324" y="2584704"/>
            <a:ext cx="112218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ridge (L2)</a:t>
            </a:r>
          </a:p>
        </p:txBody>
      </p:sp>
      <p:sp>
        <p:nvSpPr>
          <p:cNvPr id="46" name="!!term-lasso (L1)">
            <a:extLst>
              <a:ext uri="{C183D7F6-B498-43B3-948B-1728B52AA6E4}">
                <adec:decorative xmlns:adec="http://schemas.microsoft.com/office/drawing/2017/decorative" val="1"/>
              </a:ext>
            </a:extLst>
          </p:cNvPr>
          <p:cNvSpPr/>
          <p:nvPr/>
        </p:nvSpPr>
        <p:spPr>
          <a:xfrm>
            <a:off x="9541089" y="2468880"/>
            <a:ext cx="128309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lasso (L1)">
            <a:extLst>
              <a:ext uri="{C183D7F6-B498-43B3-948B-1728B52AA6E4}">
                <adec:decorative xmlns:adec="http://schemas.microsoft.com/office/drawing/2017/decorative" val="1"/>
              </a:ext>
            </a:extLst>
          </p:cNvPr>
          <p:cNvSpPr/>
          <p:nvPr/>
        </p:nvSpPr>
        <p:spPr>
          <a:xfrm>
            <a:off x="966910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lasso (L1)"/>
          <p:cNvSpPr txBox="1"/>
          <p:nvPr/>
        </p:nvSpPr>
        <p:spPr>
          <a:xfrm>
            <a:off x="9833697" y="2584704"/>
            <a:ext cx="110021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lasso (L1)</a:t>
            </a:r>
          </a:p>
        </p:txBody>
      </p:sp>
      <p:sp>
        <p:nvSpPr>
          <p:cNvPr id="49"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108370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76–81     </a:t>
            </a:r>
            <a:fld id="{040C645D-4A9C-43C7-8241-98182A9B0A17}" type="slidenum">
              <a:rPr lang="en-GB" sz="1000">
                <a:solidFill>
                  <a:srgbClr val="8795A1"/>
                </a:solidFill>
                <a:latin typeface="Segoe UI"/>
              </a:rPr>
              <a:t>5</a:t>
            </a:fld>
          </a:p>
        </p:txBody>
      </p:sp>
      <p:sp>
        <p:nvSpPr>
          <p:cNvPr id="7" name="!!ag0" descr="Go to section 12.1 The Simplest Useful Model">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Simplest Useful Model</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76  ›</a:t>
            </a:r>
          </a:p>
        </p:txBody>
      </p:sp>
      <p:sp>
        <p:nvSpPr>
          <p:cNvPr id="12" name="!!ag1" descr="Go to section 12.2 Measuring Regression Error">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Measuring Regression Error</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78  ›</a:t>
            </a:r>
          </a:p>
        </p:txBody>
      </p:sp>
      <p:sp>
        <p:nvSpPr>
          <p:cNvPr id="17" name="!!ag2" descr="Go to section 12.3 Checking the Assumption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Checking the Assumptions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78  ›</a:t>
            </a:r>
          </a:p>
        </p:txBody>
      </p:sp>
      <p:sp>
        <p:nvSpPr>
          <p:cNvPr id="22" name="!!ag3" descr="Go to section 12.4 Polynomial Regression and Overfitt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Polynomial Regression and Overfitting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79  ›</a:t>
            </a:r>
          </a:p>
        </p:txBody>
      </p:sp>
      <p:sp>
        <p:nvSpPr>
          <p:cNvPr id="27" name="!!ag4" descr="Go to section 12.5 Regularisation: Ridge and Lasso">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12.5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Regularisation: Ridge and Lasso</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79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Simplest Useful Model</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12.1   The Simplest Useful Model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12.2   Measuring Regression Error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12.3   Checking the Assumptions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12.4   Polynomial Regression and Overfitting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12.5   Regularisation: Ridge and Lasso</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§12.1     </a:t>
            </a:r>
            <a:fld id="{3DB03913-83DA-452B-AFC3-8BC1793685D0}"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6255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Simple Linear Regression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§12.1  ·  Handout p. 76     </a:t>
            </a:r>
            <a:fld id="{F482C161-2221-4917-84AB-AE442EE3BCA6}"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29550"/>
          </a:xfrm>
          <a:prstGeom prst="roundRect">
            <a:avLst>
              <a:gd name="adj" fmla="val 3763"/>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2955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Predict a continuous target </a:t>
            </a:r>
            <a:r>
              <a:rPr sz="2300" b="0" i="1">
                <a:solidFill>
                  <a:srgbClr val="1C252B"/>
                </a:solidFill>
                <a:latin typeface="Cambria"/>
              </a:rPr>
              <a:t>y</a:t>
            </a:r>
            <a:r>
              <a:rPr sz="2300" b="0" i="0">
                <a:solidFill>
                  <a:srgbClr val="1C252B"/>
                </a:solidFill>
                <a:latin typeface="Segoe UI"/>
              </a:rPr>
              <a:t> from one feature </a:t>
            </a:r>
            <a:r>
              <a:rPr sz="2300" b="0" i="1">
                <a:solidFill>
                  <a:srgbClr val="1C252B"/>
                </a:solidFill>
                <a:latin typeface="Cambria"/>
              </a:rPr>
              <a:t>x</a:t>
            </a:r>
            <a:r>
              <a:rPr sz="2300" b="0" i="0">
                <a:solidFill>
                  <a:srgbClr val="1C252B"/>
                </a:solidFill>
                <a:latin typeface="Segoe UI"/>
              </a:rPr>
              <a:t> using a straight line:</a:t>
            </a:r>
          </a:p>
        </p:txBody>
      </p:sp>
      <p:pic>
        <p:nvPicPr>
          <p:cNvPr id="10" name="body-1" descr="\hat{y} = w_0 + w_1 x"/>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392826"/>
          </a:xfrm>
          <a:prstGeom prst="rect">
            <a:avLst/>
          </a:prstGeom>
        </p:spPr>
      </p:pic>
      <p:sp>
        <p:nvSpPr>
          <p:cNvPr id="11" name="body-2"/>
          <p:cNvSpPr txBox="1"/>
          <p:nvPr/>
        </p:nvSpPr>
        <p:spPr>
          <a:xfrm>
            <a:off x="1060704" y="3126933"/>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where </a:t>
            </a:r>
            <a:r>
              <a:rPr sz="2300" b="0" i="1">
                <a:solidFill>
                  <a:srgbClr val="1C252B"/>
                </a:solidFill>
                <a:latin typeface="Cambria"/>
              </a:rPr>
              <a:t>w</a:t>
            </a:r>
            <a:r>
              <a:rPr sz="2300" b="0" i="0" baseline="-25000">
                <a:solidFill>
                  <a:srgbClr val="1C252B"/>
                </a:solidFill>
                <a:latin typeface="Cambria"/>
              </a:rPr>
              <a:t>0</a:t>
            </a:r>
            <a:r>
              <a:rPr sz="2300" b="0" i="0">
                <a:solidFill>
                  <a:srgbClr val="1C252B"/>
                </a:solidFill>
                <a:latin typeface="Segoe UI"/>
              </a:rPr>
              <a:t> is the </a:t>
            </a:r>
            <a:r>
              <a:rPr sz="2300" b="1" i="0">
                <a:solidFill>
                  <a:srgbClr val="1A5276"/>
                </a:solidFill>
                <a:latin typeface="Segoe UI"/>
              </a:rPr>
              <a:t>intercept</a:t>
            </a:r>
            <a:r>
              <a:rPr sz="2300" b="0" i="0">
                <a:solidFill>
                  <a:srgbClr val="1C252B"/>
                </a:solidFill>
                <a:latin typeface="Segoe UI"/>
              </a:rPr>
              <a:t> (the prediction when </a:t>
            </a:r>
            <a:r>
              <a:rPr sz="2300" b="0" i="1">
                <a:solidFill>
                  <a:srgbClr val="1C252B"/>
                </a:solidFill>
                <a:latin typeface="Cambria"/>
              </a:rPr>
              <a:t>x</a:t>
            </a:r>
            <a:r>
              <a:rPr sz="2300" b="0" i="0">
                <a:solidFill>
                  <a:srgbClr val="1C252B"/>
                </a:solidFill>
                <a:latin typeface="Cambria"/>
              </a:rPr>
              <a:t>=0</a:t>
            </a:r>
            <a:r>
              <a:rPr sz="2300" b="0" i="0">
                <a:solidFill>
                  <a:srgbClr val="1C252B"/>
                </a:solidFill>
                <a:latin typeface="Segoe UI"/>
              </a:rPr>
              <a:t>) and </a:t>
            </a:r>
            <a:r>
              <a:rPr sz="2300" b="0" i="1">
                <a:solidFill>
                  <a:srgbClr val="1C252B"/>
                </a:solidFill>
                <a:latin typeface="Cambria"/>
              </a:rPr>
              <a:t>w</a:t>
            </a:r>
            <a:r>
              <a:rPr sz="2300" b="0" i="0" baseline="-25000">
                <a:solidFill>
                  <a:srgbClr val="1C252B"/>
                </a:solidFill>
                <a:latin typeface="Cambria"/>
              </a:rPr>
              <a:t>1</a:t>
            </a:r>
            <a:r>
              <a:rPr sz="2300" b="0" i="0">
                <a:solidFill>
                  <a:srgbClr val="1C252B"/>
                </a:solidFill>
                <a:latin typeface="Segoe UI"/>
              </a:rPr>
              <a:t> is the </a:t>
            </a:r>
            <a:r>
              <a:rPr sz="2300" b="1" i="0">
                <a:solidFill>
                  <a:srgbClr val="1A5276"/>
                </a:solidFill>
                <a:latin typeface="Segoe UI"/>
              </a:rPr>
              <a:t>slope</a:t>
            </a:r>
            <a:r>
              <a:rPr sz="2300" b="0" i="0">
                <a:solidFill>
                  <a:srgbClr val="1C252B"/>
                </a:solidFill>
                <a:latin typeface="Segoe UI"/>
              </a:rPr>
              <a:t> (the change in </a:t>
            </a:r>
            <a:r>
              <a:rPr sz="2300" b="0" i="1">
                <a:solidFill>
                  <a:srgbClr val="1C252B"/>
                </a:solidFill>
                <a:latin typeface="Cambria"/>
              </a:rPr>
              <a:t>ŷ</a:t>
            </a:r>
            <a:r>
              <a:rPr sz="2300" b="0" i="0">
                <a:solidFill>
                  <a:srgbClr val="1C252B"/>
                </a:solidFill>
                <a:latin typeface="Segoe UI"/>
              </a:rPr>
              <a:t> per one-unit change in </a:t>
            </a:r>
            <a:r>
              <a:rPr sz="2300" b="0" i="1">
                <a:solidFill>
                  <a:srgbClr val="1C252B"/>
                </a:solidFill>
                <a:latin typeface="Cambria"/>
              </a:rPr>
              <a:t>x</a:t>
            </a:r>
            <a:r>
              <a:rPr sz="2300" b="0" i="0">
                <a:solidFill>
                  <a:srgbClr val="1C252B"/>
                </a:solidFill>
                <a:latin typeface="Segoe UI"/>
              </a:rPr>
              <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89648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Residual and Least Squares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§12.1  ·  Handout p. 76     </a:t>
            </a:r>
            <a:fld id="{DB4AE65E-D7B6-4AA6-9CB9-4900C1452358}"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49288"/>
          </a:xfrm>
          <a:prstGeom prst="roundRect">
            <a:avLst>
              <a:gd name="adj" fmla="val 677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4928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he residual for observation i is ei = yi − ŷi — the vertical gap between the point and the line. Least squares chooses w0 and w1 to minimise Σi ei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727496"/>
          </a:xfrm>
          <a:prstGeom prst="rect">
            <a:avLst/>
          </a:prstGeom>
        </p:spPr>
      </p:pic>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16741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Simple linear regression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§12.1  ·  Handout p. 76     </a:t>
            </a:r>
            <a:fld id="{5C5040C5-CBDE-45F9-8C48-D9712806E131}" type="slidenum">
              <a:rPr lang="en-GB" sz="1000">
                <a:solidFill>
                  <a:srgbClr val="8795A1"/>
                </a:solidFill>
                <a:latin typeface="Segoe UI"/>
              </a:rPr>
              <a:t>9</a:t>
            </a:fld>
          </a:p>
        </p:txBody>
      </p:sp>
      <p:pic>
        <p:nvPicPr>
          <p:cNvPr id="6" name="!!figure" descr="Figure 12.1. Simple linear regression. The fitted line minimises the sum of squared residuals — squaring, rather than taking absolute values, is what makes large errors disproportionately costly and gives the closed-form solut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80709" y="1737360"/>
            <a:ext cx="7830275"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fitted line minimises the sum of squared residuals — squaring, rather than taking absolute values, is what makes large errors disproportionately costly and gives the closed-form solution.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a Multiple Regression</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§12.1.1  ·  Handout p. 77     </a:t>
            </a:r>
            <a:fld id="{7A2E971B-D519-43AC-9B7C-0D469A987EFA}"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79302"/>
          </a:xfrm>
          <a:prstGeom prst="roundRect">
            <a:avLst>
              <a:gd name="adj" fmla="val 270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7930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model predicting final mark from three features returns:</a:t>
            </a:r>
          </a:p>
        </p:txBody>
      </p:sp>
      <p:pic>
        <p:nvPicPr>
          <p:cNvPr id="10" name="body-1" descr="\hat{y} \;=\; 18.4 \;+\; 0.41\,(\text{attendance\%}) \;+\; 2.15\,(\text{quizzes}) \;-\; 1.62\,(\text{days\_since\_logi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445537"/>
            <a:ext cx="10234879" cy="324520"/>
          </a:xfrm>
          <a:prstGeom prst="rect">
            <a:avLst/>
          </a:prstGeom>
        </p:spPr>
      </p:pic>
      <p:sp>
        <p:nvSpPr>
          <p:cNvPr id="11" name="body-2"/>
          <p:cNvSpPr txBox="1"/>
          <p:nvPr/>
        </p:nvSpPr>
        <p:spPr>
          <a:xfrm>
            <a:off x="1042416" y="290277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Intercept 18.4:</a:t>
            </a:r>
            <a:r>
              <a:rPr sz="1900" b="0" i="0">
                <a:solidFill>
                  <a:srgbClr val="1C252B"/>
                </a:solidFill>
                <a:latin typeface="Segoe UI"/>
              </a:rPr>
              <a:t> the predicted mark for a student with 0% attendance, 0 quizzes and 0 days since last login. This combination is impossible, so the intercept here is a mathematical anchor, not a meaningful quantity. Report it, do not interpret it.</a:t>
            </a:r>
          </a:p>
        </p:txBody>
      </p:sp>
      <p:sp>
        <p:nvSpPr>
          <p:cNvPr id="12" name="body-2bar">
            <a:extLst>
              <a:ext uri="{C183D7F6-B498-43B3-948B-1728B52AA6E4}">
                <adec:decorative xmlns:adec="http://schemas.microsoft.com/office/drawing/2017/decorative" val="1"/>
              </a:ext>
            </a:extLst>
          </p:cNvPr>
          <p:cNvSpPr/>
          <p:nvPr/>
        </p:nvSpPr>
        <p:spPr>
          <a:xfrm>
            <a:off x="841248" y="292106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3938915"/>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Cambria"/>
              </a:rPr>
              <a:t>+0.41</a:t>
            </a:r>
            <a:r>
              <a:rPr sz="1900" b="1" i="0">
                <a:solidFill>
                  <a:srgbClr val="1C252B"/>
                </a:solidFill>
                <a:latin typeface="Segoe UI"/>
              </a:rPr>
              <a:t> on attendance:</a:t>
            </a:r>
            <a:r>
              <a:rPr sz="1900" b="0" i="0">
                <a:solidFill>
                  <a:srgbClr val="1C252B"/>
                </a:solidFill>
                <a:latin typeface="Segoe UI"/>
              </a:rPr>
              <a:t> each additional percentage point of attendance is associated with 0.41 more marks, </a:t>
            </a:r>
            <a:r>
              <a:rPr sz="1900" b="0" i="1">
                <a:solidFill>
                  <a:srgbClr val="1C252B"/>
                </a:solidFill>
                <a:latin typeface="Segoe UI"/>
              </a:rPr>
              <a:t>holding quizzes and recency constant</a:t>
            </a:r>
            <a:r>
              <a:rPr sz="1900" b="0" i="0">
                <a:solidFill>
                  <a:srgbClr val="1C252B"/>
                </a:solidFill>
                <a:latin typeface="Segoe UI"/>
              </a:rPr>
              <a:t>. Those five words are the whole meaning of a multiple-regression coefficient.</a:t>
            </a:r>
          </a:p>
        </p:txBody>
      </p:sp>
      <p:sp>
        <p:nvSpPr>
          <p:cNvPr id="14" name="body-3bar">
            <a:extLst>
              <a:ext uri="{C183D7F6-B498-43B3-948B-1728B52AA6E4}">
                <adec:decorative xmlns:adec="http://schemas.microsoft.com/office/drawing/2017/decorative" val="1"/>
              </a:ext>
            </a:extLst>
          </p:cNvPr>
          <p:cNvSpPr/>
          <p:nvPr/>
        </p:nvSpPr>
        <p:spPr>
          <a:xfrm>
            <a:off x="841248" y="3957203"/>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right)">
                                      <p:cBhvr>
                                        <p:cTn id="21" dur="42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a Multiple Regression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§12.1.1  ·  Handout p. 77     </a:t>
            </a:r>
            <a:fld id="{713B8F4E-E572-4527-BAB9-0078AD745605}"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24351"/>
          </a:xfrm>
          <a:prstGeom prst="roundRect">
            <a:avLst>
              <a:gd name="adj" fmla="val 259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243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Cambria"/>
              </a:rPr>
              <a:t>+2.15</a:t>
            </a:r>
            <a:r>
              <a:rPr sz="1900" b="1" i="0">
                <a:solidFill>
                  <a:srgbClr val="1C252B"/>
                </a:solidFill>
                <a:latin typeface="Segoe UI"/>
              </a:rPr>
              <a:t> on quizzes:</a:t>
            </a:r>
            <a:r>
              <a:rPr sz="1900" b="0" i="0">
                <a:solidFill>
                  <a:srgbClr val="1C252B"/>
                </a:solidFill>
                <a:latin typeface="Segoe UI"/>
              </a:rPr>
              <a:t> each extra quiz completed is worth 2.15 marks, again holding the others fixed. Note this coefficient is larger than attendance’s, but that does </a:t>
            </a:r>
            <a:r>
              <a:rPr sz="1900" b="0" i="1">
                <a:solidFill>
                  <a:srgbClr val="1C252B"/>
                </a:solidFill>
                <a:latin typeface="Segoe UI"/>
              </a:rPr>
              <a:t>not</a:t>
            </a:r>
            <a:r>
              <a:rPr sz="1900" b="0" i="0">
                <a:solidFill>
                  <a:srgbClr val="1C252B"/>
                </a:solidFill>
                <a:latin typeface="Segoe UI"/>
              </a:rPr>
              <a:t> make quizzes more important — quizzes range 0–10 while attendance ranges 0–100. Over their full ranges, attendance contributes up to 41 marks and quizzes up to 21.5.</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Cambria"/>
              </a:rPr>
              <a:t>−1.62</a:t>
            </a:r>
            <a:r>
              <a:rPr sz="1900" b="1" i="0">
                <a:solidFill>
                  <a:srgbClr val="1C252B"/>
                </a:solidFill>
                <a:latin typeface="Segoe UI"/>
              </a:rPr>
              <a:t> on days since login:</a:t>
            </a:r>
            <a:r>
              <a:rPr sz="1900" b="0" i="0">
                <a:solidFill>
                  <a:srgbClr val="1C252B"/>
                </a:solidFill>
                <a:latin typeface="Segoe UI"/>
              </a:rPr>
              <a:t> each day of absence costs 1.62 marks. The negative sign is a sanity check that passed.</a:t>
            </a:r>
          </a:p>
        </p:txBody>
      </p:sp>
      <p:sp>
        <p:nvSpPr>
          <p:cNvPr id="12" name="body-1bar">
            <a:extLst>
              <a:ext uri="{C183D7F6-B498-43B3-948B-1728B52AA6E4}">
                <adec:decorative xmlns:adec="http://schemas.microsoft.com/office/drawing/2017/decorative" val="1"/>
              </a:ext>
            </a:extLst>
          </p:cNvPr>
          <p:cNvSpPr/>
          <p:nvPr/>
        </p:nvSpPr>
        <p:spPr>
          <a:xfrm>
            <a:off x="841248" y="336725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08396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causal warning.</a:t>
            </a:r>
            <a:r>
              <a:rPr sz="1900" b="0" i="0">
                <a:solidFill>
                  <a:srgbClr val="1C252B"/>
                </a:solidFill>
                <a:latin typeface="Segoe UI"/>
              </a:rPr>
              <a:t> None of this says that forcing a student to attend would raise their mark by 0.41 per point. These are associations, conditional on the other variables in the model (Chapter 10).</a:t>
            </a:r>
          </a:p>
        </p:txBody>
      </p:sp>
      <p:sp>
        <p:nvSpPr>
          <p:cNvPr id="14" name="body-2bar">
            <a:extLst>
              <a:ext uri="{C183D7F6-B498-43B3-948B-1728B52AA6E4}">
                <adec:decorative xmlns:adec="http://schemas.microsoft.com/office/drawing/2017/decorative" val="1"/>
              </a:ext>
            </a:extLst>
          </p:cNvPr>
          <p:cNvSpPr/>
          <p:nvPr/>
        </p:nvSpPr>
        <p:spPr>
          <a:xfrm>
            <a:off x="841248" y="410225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298019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Coefficient Size Is Not Importance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§12.1.1  ·  Handout p. 77     </a:t>
            </a:r>
            <a:fld id="{67E05414-92A5-4E70-BB90-71BB33D9EC84}"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To compare importance across features, either standardise the features first (Chapter 7) so all coefficients are on the same scale, or report the effect over each feature’s realistic range. Comparing raw coefficients on different units is meaningless and is a standard exam trap.</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25111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Measuring Regression Error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12.1   The Simplest Useful Model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12.2   Measuring Regression Error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12.3   Checking the Assumptions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12.4   Polynomial Regression and Overfitting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12.5   Regularisation: Ridge and Lasso</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§12.2     </a:t>
            </a:r>
            <a:fld id="{5AF6A3E0-1E48-41AA-AA89-4A691D6AD31C}" type="slidenum">
              <a:rPr lang="en-GB" sz="1000">
                <a:solidFill>
                  <a:srgbClr val="8795A1"/>
                </a:solidFill>
                <a:latin typeface="Segoe UI"/>
              </a:rPr>
              <a:t>13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52204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Error Metrics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§12.2  ·  Handout p. 78     </a:t>
            </a:r>
            <a:fld id="{F1454C05-3FED-47BC-A2EB-2FCB5948D8D1}"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13663"/>
          </a:xfrm>
          <a:prstGeom prst="roundRect">
            <a:avLst>
              <a:gd name="adj" fmla="val 267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1366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ext{MAE} = \frac{1}{n}\sum_{i}\left|y_i - \hat{y}_i\right| \qquad \text{RMSE} = \sqrt{\frac{1}{n}\sum_{i}\left(y_i - \hat{y}_i\right)^2} \qquad R^2 = 1 - \frac{\sum_i (y_i-\hat{y}_i)^2}{\sum_i (y_i-\bar{y})^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1902134"/>
          </a:xfrm>
          <a:prstGeom prst="rect">
            <a:avLst/>
          </a:prstGeom>
        </p:spPr>
      </p:pic>
      <p:sp>
        <p:nvSpPr>
          <p:cNvPr id="10" name="body-1"/>
          <p:cNvSpPr txBox="1"/>
          <p:nvPr/>
        </p:nvSpPr>
        <p:spPr>
          <a:xfrm>
            <a:off x="1060704" y="411104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MAE and RMSE are in the units of </a:t>
            </a:r>
            <a:r>
              <a:rPr sz="2300" b="0" i="1">
                <a:solidFill>
                  <a:srgbClr val="1C252B"/>
                </a:solidFill>
                <a:latin typeface="Cambria"/>
              </a:rPr>
              <a:t>y</a:t>
            </a:r>
            <a:r>
              <a:rPr sz="2300" b="0" i="0">
                <a:solidFill>
                  <a:srgbClr val="1C252B"/>
                </a:solidFill>
                <a:latin typeface="Segoe UI"/>
              </a:rPr>
              <a:t>; </a:t>
            </a:r>
            <a:r>
              <a:rPr sz="2300" b="0" i="1">
                <a:solidFill>
                  <a:srgbClr val="1C252B"/>
                </a:solidFill>
                <a:latin typeface="Cambria"/>
              </a:rPr>
              <a:t>R</a:t>
            </a:r>
            <a:r>
              <a:rPr sz="2300" b="0" i="0" baseline="30000">
                <a:solidFill>
                  <a:srgbClr val="1C252B"/>
                </a:solidFill>
                <a:latin typeface="Cambria"/>
              </a:rPr>
              <a:t>2</a:t>
            </a:r>
            <a:r>
              <a:rPr sz="2300" b="0" i="0">
                <a:solidFill>
                  <a:srgbClr val="1C252B"/>
                </a:solidFill>
                <a:latin typeface="Segoe UI"/>
              </a:rPr>
              <a:t> is the proportion of variance explained and is unitless.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7929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MAE versus RMSE, and Why the Choice Matters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§12.2  ·  Handout p. 78     </a:t>
            </a:r>
            <a:fld id="{90097117-DFF8-458E-8754-9581C5E37AEB}"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56963"/>
          </a:xfrm>
          <a:prstGeom prst="roundRect">
            <a:avLst>
              <a:gd name="adj" fmla="val 200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5696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Two models predict resolution time (minutes) for five tickets. True values: </a:t>
            </a:r>
            <a:r>
              <a:rPr sz="1600" b="0" i="0">
                <a:solidFill>
                  <a:srgbClr val="1C252B"/>
                </a:solidFill>
                <a:latin typeface="Cambria"/>
              </a:rPr>
              <a:t>10, 12, 15, 20, 25</a:t>
            </a:r>
            <a:r>
              <a:rPr sz="1600" b="0" i="0">
                <a:solidFill>
                  <a:srgbClr val="1C252B"/>
                </a:solidFill>
                <a:latin typeface="Segoe UI"/>
              </a:rPr>
              <a:t>.</a:t>
            </a:r>
          </a:p>
        </p:txBody>
      </p:sp>
      <p:sp>
        <p:nvSpPr>
          <p:cNvPr id="10" name="body-1"/>
          <p:cNvSpPr txBox="1"/>
          <p:nvPr/>
        </p:nvSpPr>
        <p:spPr>
          <a:xfrm>
            <a:off x="1042416" y="2377033"/>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Model A errors:</a:t>
            </a:r>
            <a:r>
              <a:rPr sz="1600" b="0" i="0">
                <a:solidFill>
                  <a:srgbClr val="1C252B"/>
                </a:solidFill>
                <a:latin typeface="Segoe UI"/>
              </a:rPr>
              <a:t> </a:t>
            </a:r>
            <a:r>
              <a:rPr sz="1600" b="0" i="0">
                <a:solidFill>
                  <a:srgbClr val="1C252B"/>
                </a:solidFill>
                <a:latin typeface="Cambria"/>
              </a:rPr>
              <a:t>3, 3, 3, 3, 3</a:t>
            </a:r>
            <a:r>
              <a:rPr sz="1600" b="0" i="0">
                <a:solidFill>
                  <a:srgbClr val="1C252B"/>
                </a:solidFill>
                <a:latin typeface="Segoe UI"/>
              </a:rPr>
              <a:t> (consistently a little off)</a:t>
            </a:r>
          </a:p>
        </p:txBody>
      </p:sp>
      <p:sp>
        <p:nvSpPr>
          <p:cNvPr id="11" name="body-2"/>
          <p:cNvSpPr txBox="1"/>
          <p:nvPr/>
        </p:nvSpPr>
        <p:spPr>
          <a:xfrm>
            <a:off x="1042416" y="2742387"/>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Model B errors:</a:t>
            </a:r>
            <a:r>
              <a:rPr sz="1600" b="0" i="0">
                <a:solidFill>
                  <a:srgbClr val="1C252B"/>
                </a:solidFill>
                <a:latin typeface="Segoe UI"/>
              </a:rPr>
              <a:t> </a:t>
            </a:r>
            <a:r>
              <a:rPr sz="1600" b="0" i="0">
                <a:solidFill>
                  <a:srgbClr val="1C252B"/>
                </a:solidFill>
                <a:latin typeface="Cambria"/>
              </a:rPr>
              <a:t>0, 0, 0, 0, 15</a:t>
            </a:r>
            <a:r>
              <a:rPr sz="1600" b="0" i="0">
                <a:solidFill>
                  <a:srgbClr val="1C252B"/>
                </a:solidFill>
                <a:latin typeface="Segoe UI"/>
              </a:rPr>
              <a:t> (perfect except one disaster)</a:t>
            </a:r>
          </a:p>
        </p:txBody>
      </p:sp>
      <p:sp>
        <p:nvSpPr>
          <p:cNvPr id="12" name="body-3"/>
          <p:cNvSpPr txBox="1"/>
          <p:nvPr/>
        </p:nvSpPr>
        <p:spPr>
          <a:xfrm>
            <a:off x="1042416" y="3107740"/>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MAE:</a:t>
            </a:r>
            <a:r>
              <a:rPr sz="1600" b="0" i="0">
                <a:solidFill>
                  <a:srgbClr val="1C252B"/>
                </a:solidFill>
                <a:latin typeface="Segoe UI"/>
              </a:rPr>
              <a:t> A </a:t>
            </a:r>
            <a:r>
              <a:rPr sz="1600" b="0" i="0">
                <a:solidFill>
                  <a:srgbClr val="1C252B"/>
                </a:solidFill>
                <a:latin typeface="Cambria"/>
              </a:rPr>
              <a:t>= 15/5 = 3.0</a:t>
            </a:r>
            <a:r>
              <a:rPr sz="1600" b="0" i="0">
                <a:solidFill>
                  <a:srgbClr val="1C252B"/>
                </a:solidFill>
                <a:latin typeface="Segoe UI"/>
              </a:rPr>
              <a:t>. B </a:t>
            </a:r>
            <a:r>
              <a:rPr sz="1600" b="0" i="0">
                <a:solidFill>
                  <a:srgbClr val="1C252B"/>
                </a:solidFill>
                <a:latin typeface="Cambria"/>
              </a:rPr>
              <a:t>= 15/5 = 3.0</a:t>
            </a:r>
            <a:r>
              <a:rPr sz="1600" b="0" i="0">
                <a:solidFill>
                  <a:srgbClr val="1C252B"/>
                </a:solidFill>
                <a:latin typeface="Segoe UI"/>
              </a:rPr>
              <a:t>. </a:t>
            </a:r>
            <a:r>
              <a:rPr sz="1600" b="0" i="1">
                <a:solidFill>
                  <a:srgbClr val="1C252B"/>
                </a:solidFill>
                <a:latin typeface="Segoe UI"/>
              </a:rPr>
              <a:t>Identical.</a:t>
            </a:r>
          </a:p>
        </p:txBody>
      </p:sp>
      <p:sp>
        <p:nvSpPr>
          <p:cNvPr id="13" name="body-4"/>
          <p:cNvSpPr txBox="1"/>
          <p:nvPr/>
        </p:nvSpPr>
        <p:spPr>
          <a:xfrm>
            <a:off x="1042416" y="3473094"/>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RMSE:</a:t>
            </a:r>
            <a:r>
              <a:rPr sz="1600" b="0" i="0">
                <a:solidFill>
                  <a:srgbClr val="1C252B"/>
                </a:solidFill>
                <a:latin typeface="Segoe UI"/>
              </a:rPr>
              <a:t> A </a:t>
            </a:r>
            <a:r>
              <a:rPr sz="1600" b="0" i="0">
                <a:solidFill>
                  <a:srgbClr val="1C252B"/>
                </a:solidFill>
                <a:latin typeface="Cambria"/>
              </a:rPr>
              <a:t>= √(45/5) = √9 = 3.0</a:t>
            </a:r>
            <a:r>
              <a:rPr sz="1600" b="0" i="0">
                <a:solidFill>
                  <a:srgbClr val="1C252B"/>
                </a:solidFill>
                <a:latin typeface="Segoe UI"/>
              </a:rPr>
              <a:t>. B </a:t>
            </a:r>
            <a:r>
              <a:rPr sz="1600" b="0" i="0">
                <a:solidFill>
                  <a:srgbClr val="1C252B"/>
                </a:solidFill>
                <a:latin typeface="Cambria"/>
              </a:rPr>
              <a:t>= √(225/5) = √(45) ≈ 6.7</a:t>
            </a:r>
            <a:r>
              <a:rPr sz="1600" b="0" i="0">
                <a:solidFill>
                  <a:srgbClr val="1C252B"/>
                </a:solidFill>
                <a:latin typeface="Segoe UI"/>
              </a:rPr>
              <a:t>.</a:t>
            </a:r>
          </a:p>
        </p:txBody>
      </p:sp>
      <p:sp>
        <p:nvSpPr>
          <p:cNvPr id="14" name="body-5"/>
          <p:cNvSpPr txBox="1"/>
          <p:nvPr/>
        </p:nvSpPr>
        <p:spPr>
          <a:xfrm>
            <a:off x="1042416" y="3838448"/>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Interpretation.</a:t>
            </a:r>
            <a:r>
              <a:rPr sz="1600" b="0" i="0">
                <a:solidFill>
                  <a:srgbClr val="1C252B"/>
                </a:solidFill>
                <a:latin typeface="Segoe UI"/>
              </a:rPr>
              <a:t> MAE says the two models are equally good. RMSE says B is more than twice as bad, because squaring punishes the single 15-minute error far more than five 3-minute ones.</a:t>
            </a:r>
          </a:p>
        </p:txBody>
      </p:sp>
      <p:sp>
        <p:nvSpPr>
          <p:cNvPr id="15" name="body-6"/>
          <p:cNvSpPr txBox="1"/>
          <p:nvPr/>
        </p:nvSpPr>
        <p:spPr>
          <a:xfrm>
            <a:off x="1042416" y="4457395"/>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Which is right?</a:t>
            </a:r>
            <a:r>
              <a:rPr sz="1600" b="0" i="0">
                <a:solidFill>
                  <a:srgbClr val="1C252B"/>
                </a:solidFill>
                <a:latin typeface="Segoe UI"/>
              </a:rPr>
              <a:t> It depends entirely on the cost of a large error:</a:t>
            </a:r>
          </a:p>
        </p:txBody>
      </p:sp>
      <p:sp>
        <p:nvSpPr>
          <p:cNvPr id="16" name="body-7"/>
          <p:cNvSpPr txBox="1"/>
          <p:nvPr/>
        </p:nvSpPr>
        <p:spPr>
          <a:xfrm>
            <a:off x="1042416" y="4822748"/>
            <a:ext cx="10234879" cy="877620"/>
          </a:xfrm>
          <a:prstGeom prst="rect">
            <a:avLst/>
          </a:prstGeom>
          <a:noFill/>
        </p:spPr>
        <p:txBody>
          <a:bodyPr wrap="square" anchor="t" lIns="0" rIns="0" tIns="0" bIns="0">
            <a:noAutofit/>
          </a:bodyPr>
          <a:lstStyle/>
          <a:p>
            <a:pPr algn="l" marL="178905" indent="-178905">
              <a:lnSpc>
                <a:spcPct val="104000"/>
              </a:lnSpc>
              <a:spcBef>
                <a:spcPts val="0"/>
              </a:spcBef>
              <a:spcAft>
                <a:spcPts val="560"/>
              </a:spcAft>
            </a:pPr>
            <a:r>
              <a:rPr sz="1600" b="1">
                <a:solidFill>
                  <a:srgbClr val="7D6608"/>
                </a:solidFill>
                <a:latin typeface="Segoe UI"/>
              </a:rPr>
              <a:t>•	</a:t>
            </a:r>
            <a:r>
              <a:rPr sz="1600" b="0" i="1">
                <a:solidFill>
                  <a:srgbClr val="1C252B"/>
                </a:solidFill>
                <a:latin typeface="Segoe UI"/>
              </a:rPr>
              <a:t>Ticket triage:</a:t>
            </a:r>
            <a:r>
              <a:rPr sz="1600" b="0" i="0">
                <a:solidFill>
                  <a:srgbClr val="1C252B"/>
                </a:solidFill>
                <a:latin typeface="Segoe UI"/>
              </a:rPr>
              <a:t> a 15-minute miss on one ticket is no worse than three 5-minute misses. Use MAE.</a:t>
            </a:r>
          </a:p>
          <a:p>
            <a:pPr algn="l" marL="178905" indent="-178905">
              <a:lnSpc>
                <a:spcPct val="104000"/>
              </a:lnSpc>
              <a:spcBef>
                <a:spcPts val="0"/>
              </a:spcBef>
              <a:spcAft>
                <a:spcPts val="0"/>
              </a:spcAft>
            </a:pPr>
            <a:r>
              <a:rPr sz="1600" b="1">
                <a:solidFill>
                  <a:srgbClr val="7D6608"/>
                </a:solidFill>
                <a:latin typeface="Segoe UI"/>
              </a:rPr>
              <a:t>•	</a:t>
            </a:r>
            <a:r>
              <a:rPr sz="1600" b="0" i="1">
                <a:solidFill>
                  <a:srgbClr val="1C252B"/>
                </a:solidFill>
                <a:latin typeface="Segoe UI"/>
              </a:rPr>
              <a:t>Predicting remaining life of a turbine:</a:t>
            </a:r>
            <a:r>
              <a:rPr sz="1600" b="0" i="0">
                <a:solidFill>
                  <a:srgbClr val="1C252B"/>
                </a:solidFill>
                <a:latin typeface="Segoe UI"/>
              </a:rPr>
              <a:t> one catastrophic underestimate is far worse than many small ones. Use RMSE.</a:t>
            </a:r>
          </a:p>
        </p:txBody>
      </p:sp>
      <p:sp>
        <p:nvSpPr>
          <p:cNvPr id="17" name="body-8"/>
          <p:cNvSpPr txBox="1"/>
          <p:nvPr/>
        </p:nvSpPr>
        <p:spPr>
          <a:xfrm>
            <a:off x="1042416" y="576640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Choosing the metric is a business decision, made at framing time (Chapter 2), not a technical default.</a:t>
            </a:r>
          </a:p>
        </p:txBody>
      </p:sp>
      <p:sp>
        <p:nvSpPr>
          <p:cNvPr id="4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6">
                                            <p:txEl>
                                              <p:pRg st="0" end="0"/>
                                            </p:txEl>
                                          </p:spTgt>
                                        </p:tgtEl>
                                        <p:attrNameLst>
                                          <p:attrName>style.visibility</p:attrName>
                                        </p:attrNameLst>
                                      </p:cBhvr>
                                      <p:to>
                                        <p:strVal val="visible"/>
                                      </p:to>
                                    </p:set>
                                    <p:animEffect transition="in" filter="fade">
                                      <p:cBhvr>
                                        <p:cTn id="38" dur="350"/>
                                        <p:tgtEl>
                                          <p:spTgt spid="16">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6">
                                            <p:txEl>
                                              <p:pRg st="1" end="1"/>
                                            </p:txEl>
                                          </p:spTgt>
                                        </p:tgtEl>
                                        <p:attrNameLst>
                                          <p:attrName>style.visibility</p:attrName>
                                        </p:attrNameLst>
                                      </p:cBhvr>
                                      <p:to>
                                        <p:strVal val="visible"/>
                                      </p:to>
                                    </p:set>
                                    <p:animEffect transition="in" filter="fade">
                                      <p:cBhvr>
                                        <p:cTn id="43" dur="350"/>
                                        <p:tgtEl>
                                          <p:spTgt spid="16">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right)">
                                      <p:cBhvr>
                                        <p:cTn id="48"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Checking the Assumptions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12.1   The Simplest Useful Model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12.2   Measuring Regression Error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12.3   Checking the Assumptions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12.4   Polynomial Regression and Overfitting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12.5   Regularisation: Ridge and Lasso</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§12.3     </a:t>
            </a:r>
            <a:fld id="{059B70D1-91E1-45B8-BD4E-699C43D0D972}" type="slidenum">
              <a:rPr lang="en-GB" sz="1000">
                <a:solidFill>
                  <a:srgbClr val="8795A1"/>
                </a:solidFill>
                <a:latin typeface="Segoe UI"/>
              </a:rPr>
              <a:t>16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33482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Residual plots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12.2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78     </a:t>
            </a:r>
            <a:fld id="{BA7905F4-1609-4797-BEBC-D5C2DD72CBE2}" type="slidenum">
              <a:rPr lang="en-GB" sz="1000">
                <a:solidFill>
                  <a:srgbClr val="8795A1"/>
                </a:solidFill>
                <a:latin typeface="Segoe UI"/>
              </a:rPr>
              <a:t>17</a:t>
            </a:fld>
          </a:p>
        </p:txBody>
      </p:sp>
      <p:pic>
        <p:nvPicPr>
          <p:cNvPr id="6" name="!!figure" descr="Figure 12.2. Residual plots. Only the left panel is acceptable. A curve means the relationship is non-linear; a fan means the error variance changes with the prediction, so your confidence intervals are wrong even if the coefficients are no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25486"/>
            <a:ext cx="10874959" cy="266549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Only the left panel is acceptable. A curve means the relationship is non-linear; a fan means the error variance changes with the prediction, so your confidence intervals are wrong even if the coefficients are not.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6057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Checking the Assumptions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78     </a:t>
            </a:r>
            <a:fld id="{FE50B2F2-9850-4B9D-BE27-E33407D4E169}"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7" cy="3727704"/>
        </p:xfrm>
        <a:graphic>
          <a:graphicData uri="http://schemas.openxmlformats.org/drawingml/2006/table">
            <a:tbl>
              <a:tblPr firstRow="0" bandRow="0" firstCol="0" lastRow="0" lastCol="0" bandCol="0">
                <a:tableStyleId>{2D5ABB26-0587-4C30-8999-92F81FD0307C}</a:tableStyleId>
              </a:tblPr>
              <a:tblGrid>
                <a:gridCol w="2509605"/>
                <a:gridCol w="3650335"/>
                <a:gridCol w="4715017"/>
              </a:tblGrid>
              <a:tr h="405384">
                <a:tc>
                  <a:txBody>
                    <a:bodyPr wrap="square"/>
                    <a:lstStyle/>
                    <a:p>
                      <a:pPr algn="l"/>
                      <a:r>
                        <a:rPr sz="1700" b="1" i="0">
                          <a:solidFill>
                            <a:srgbClr val="1A5276"/>
                          </a:solidFill>
                          <a:latin typeface="Segoe UI"/>
                        </a:rPr>
                        <a:t>Assumption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Check</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If violated</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Linearity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Residuals vs. fitted show no pattern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Add polynomial terms, transform, or use a tree-based model</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Independence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Domain knowledge; residuals vs. time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Use time-series methods (Chapter 19)</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Homoscedasticity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Residual spread constant across </a:t>
                      </a:r>
                      <a:r>
                        <a:rPr sz="1700" b="0" i="1">
                          <a:solidFill>
                            <a:srgbClr val="1C252B"/>
                          </a:solidFill>
                          <a:latin typeface="Cambria"/>
                        </a:rPr>
                        <a: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Log-transform </a:t>
                      </a:r>
                      <a:r>
                        <a:rPr sz="1700" b="0" i="1">
                          <a:solidFill>
                            <a:srgbClr val="1C252B"/>
                          </a:solidFill>
                          <a:latin typeface="Cambria"/>
                        </a:rPr>
                        <a:t>y</a:t>
                      </a:r>
                      <a:r>
                        <a:rPr sz="1700" b="0" i="0">
                          <a:solidFill>
                            <a:srgbClr val="1C252B"/>
                          </a:solidFill>
                          <a:latin typeface="Segoe UI"/>
                        </a:rPr>
                        <a:t>, or use weighted least squares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Normal residuals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Q–Q plot or histogram of residuals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Only matters for confidence intervals, not for prediction</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No multicollinearity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Correlation matrix; variance inflation factor</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Drop one of the pair, or use ridge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Polynomial Regression and Overfitting</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§12.4  ·  Handout p. 79     </a:t>
            </a:r>
            <a:fld id="{41829942-7C60-4A68-A615-0C6D1AB2FA8C}" type="slidenum">
              <a:rPr lang="en-GB" sz="1000">
                <a:solidFill>
                  <a:srgbClr val="8795A1"/>
                </a:solidFill>
                <a:latin typeface="Segoe UI"/>
              </a:rPr>
              <a:t>19</a:t>
            </a:fld>
          </a:p>
        </p:txBody>
      </p:sp>
      <p:sp>
        <p:nvSpPr>
          <p:cNvPr id="7" name="!!stbar">
            <a:extLst>
              <a:ext uri="{C183D7F6-B498-43B3-948B-1728B52AA6E4}">
                <adec:decorative xmlns:adec="http://schemas.microsoft.com/office/drawing/2017/decorative" val="1"/>
              </a:ext>
            </a:extLst>
          </p:cNvPr>
          <p:cNvSpPr/>
          <p:nvPr/>
        </p:nvSpPr>
        <p:spPr>
          <a:xfrm>
            <a:off x="658368" y="1810512"/>
            <a:ext cx="73152" cy="119969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1281988"/>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Adding powers of </a:t>
            </a:r>
            <a:r>
              <a:rPr sz="2600" b="0" i="1">
                <a:solidFill>
                  <a:srgbClr val="1C252B"/>
                </a:solidFill>
                <a:latin typeface="Cambria"/>
              </a:rPr>
              <a:t>x</a:t>
            </a:r>
            <a:r>
              <a:rPr sz="2600" b="0" i="0">
                <a:solidFill>
                  <a:srgbClr val="1C252B"/>
                </a:solidFill>
                <a:latin typeface="Segoe UI"/>
              </a:rPr>
              <a:t> lets a linear model fit curves — </a:t>
            </a:r>
            <a:r>
              <a:rPr sz="2600" b="0" i="1">
                <a:solidFill>
                  <a:srgbClr val="1C252B"/>
                </a:solidFill>
                <a:latin typeface="Cambria"/>
              </a:rPr>
              <a:t>ŷ</a:t>
            </a:r>
            <a:r>
              <a:rPr sz="2600" b="0" i="0">
                <a:solidFill>
                  <a:srgbClr val="1C252B"/>
                </a:solidFill>
                <a:latin typeface="Cambria"/>
              </a:rPr>
              <a:t> = </a:t>
            </a:r>
            <a:r>
              <a:rPr sz="2600" b="0" i="1">
                <a:solidFill>
                  <a:srgbClr val="1C252B"/>
                </a:solidFill>
                <a:latin typeface="Cambria"/>
              </a:rPr>
              <a:t>w</a:t>
            </a:r>
            <a:r>
              <a:rPr sz="2600" b="0" i="0" baseline="-25000">
                <a:solidFill>
                  <a:srgbClr val="1C252B"/>
                </a:solidFill>
                <a:latin typeface="Cambria"/>
              </a:rPr>
              <a:t>0</a:t>
            </a:r>
            <a:r>
              <a:rPr sz="2600" b="0" i="0">
                <a:solidFill>
                  <a:srgbClr val="1C252B"/>
                </a:solidFill>
                <a:latin typeface="Cambria"/>
              </a:rPr>
              <a:t> + </a:t>
            </a:r>
            <a:r>
              <a:rPr sz="2600" b="0" i="1">
                <a:solidFill>
                  <a:srgbClr val="1C252B"/>
                </a:solidFill>
                <a:latin typeface="Cambria"/>
              </a:rPr>
              <a:t>w</a:t>
            </a:r>
            <a:r>
              <a:rPr sz="2600" b="0" i="0" baseline="-25000">
                <a:solidFill>
                  <a:srgbClr val="1C252B"/>
                </a:solidFill>
                <a:latin typeface="Cambria"/>
              </a:rPr>
              <a:t>1</a:t>
            </a:r>
            <a:r>
              <a:rPr sz="2600" b="0" i="0">
                <a:solidFill>
                  <a:srgbClr val="1C252B"/>
                </a:solidFill>
                <a:latin typeface="Cambria"/>
              </a:rPr>
              <a:t> </a:t>
            </a:r>
            <a:r>
              <a:rPr sz="2600" b="0" i="1">
                <a:solidFill>
                  <a:srgbClr val="1C252B"/>
                </a:solidFill>
                <a:latin typeface="Cambria"/>
              </a:rPr>
              <a:t>x</a:t>
            </a:r>
            <a:r>
              <a:rPr sz="2600" b="0" i="0">
                <a:solidFill>
                  <a:srgbClr val="1C252B"/>
                </a:solidFill>
                <a:latin typeface="Cambria"/>
              </a:rPr>
              <a:t> + </a:t>
            </a:r>
            <a:r>
              <a:rPr sz="2600" b="0" i="1">
                <a:solidFill>
                  <a:srgbClr val="1C252B"/>
                </a:solidFill>
                <a:latin typeface="Cambria"/>
              </a:rPr>
              <a:t>w</a:t>
            </a:r>
            <a:r>
              <a:rPr sz="2600" b="0" i="0" baseline="-25000">
                <a:solidFill>
                  <a:srgbClr val="1C252B"/>
                </a:solidFill>
                <a:latin typeface="Cambria"/>
              </a:rPr>
              <a:t>2</a:t>
            </a:r>
            <a:r>
              <a:rPr sz="2600" b="0" i="0">
                <a:solidFill>
                  <a:srgbClr val="1C252B"/>
                </a:solidFill>
                <a:latin typeface="Cambria"/>
              </a:rPr>
              <a:t> </a:t>
            </a:r>
            <a:r>
              <a:rPr sz="2600" b="0" i="1">
                <a:solidFill>
                  <a:srgbClr val="1C252B"/>
                </a:solidFill>
                <a:latin typeface="Cambria"/>
              </a:rPr>
              <a:t>x</a:t>
            </a:r>
            <a:r>
              <a:rPr sz="2600" b="0" i="0" baseline="30000">
                <a:solidFill>
                  <a:srgbClr val="1C252B"/>
                </a:solidFill>
                <a:latin typeface="Cambria"/>
              </a:rPr>
              <a:t>2</a:t>
            </a:r>
            <a:r>
              <a:rPr sz="2600" b="0" i="0">
                <a:solidFill>
                  <a:srgbClr val="1C252B"/>
                </a:solidFill>
                <a:latin typeface="Cambria"/>
              </a:rPr>
              <a:t> + …</a:t>
            </a:r>
            <a:r>
              <a:rPr sz="2600" b="0" i="0">
                <a:solidFill>
                  <a:srgbClr val="1C252B"/>
                </a:solidFill>
                <a:latin typeface="Segoe UI"/>
              </a:rPr>
              <a:t> is still </a:t>
            </a:r>
            <a:r>
              <a:rPr sz="2600" b="0" i="1">
                <a:solidFill>
                  <a:srgbClr val="1C252B"/>
                </a:solidFill>
                <a:latin typeface="Segoe UI"/>
              </a:rPr>
              <a:t>linear in the parameters</a:t>
            </a:r>
            <a:r>
              <a:rPr sz="2600" b="0" i="0">
                <a:solidFill>
                  <a:srgbClr val="1C252B"/>
                </a:solidFill>
                <a:latin typeface="Segoe UI"/>
              </a:rPr>
              <a:t>, so the same machinery applies. It is also the fastest way to overfit ever devised.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14760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Regularisation: Ridge and Lasso</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12.1   The Simplest Useful Model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12.2   Measuring Regression Error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12.3   Checking the Assumptions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12.4   Polynomial Regression and Overfitting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12.5   Regularisation: Ridge and Lasso</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§12.5     </a:t>
            </a:r>
            <a:fld id="{0F021F0B-109C-45D9-A892-111E76540557}" type="slidenum">
              <a:rPr lang="en-GB" sz="1000">
                <a:solidFill>
                  <a:srgbClr val="8795A1"/>
                </a:solidFill>
                <a:latin typeface="Segoe UI"/>
              </a:rPr>
              <a:t>20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Ridge (L2) and Lasso (L1)</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79     </a:t>
            </a:r>
            <a:fld id="{7A6E518F-C49B-410F-A315-96153C9AF9C7}"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75046"/>
          </a:xfrm>
          <a:prstGeom prst="roundRect">
            <a:avLst>
              <a:gd name="adj" fmla="val 318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7504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Both add a penalty on coefficient size to the loss:</a:t>
            </a:r>
          </a:p>
        </p:txBody>
      </p:sp>
      <p:pic>
        <p:nvPicPr>
          <p:cNvPr id="10" name="body-1" descr="\text{Ridge: } \sum_i e_i^2 + \lambda \sum_j w_j^2 \qquad\qquad \text{Lasso: } \sum_i e_i^2 + \lambda \sum_j \left|w_j\righ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838321"/>
          </a:xfrm>
          <a:prstGeom prst="rect">
            <a:avLst/>
          </a:prstGeom>
        </p:spPr>
      </p:pic>
      <p:sp>
        <p:nvSpPr>
          <p:cNvPr id="11" name="body-2"/>
          <p:cNvSpPr txBox="1"/>
          <p:nvPr/>
        </p:nvSpPr>
        <p:spPr>
          <a:xfrm>
            <a:off x="1060704" y="3572428"/>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Cambria"/>
              </a:rPr>
              <a:t>λ</a:t>
            </a:r>
            <a:r>
              <a:rPr sz="2300" b="0" i="0">
                <a:solidFill>
                  <a:srgbClr val="1C252B"/>
                </a:solidFill>
                <a:latin typeface="Segoe UI"/>
              </a:rPr>
              <a:t> controls the strength. Ridge </a:t>
            </a:r>
            <a:r>
              <a:rPr sz="2300" b="0" i="1">
                <a:solidFill>
                  <a:srgbClr val="1C252B"/>
                </a:solidFill>
                <a:latin typeface="Segoe UI"/>
              </a:rPr>
              <a:t>shrinks</a:t>
            </a:r>
            <a:r>
              <a:rPr sz="2300" b="0" i="0">
                <a:solidFill>
                  <a:srgbClr val="1C252B"/>
                </a:solidFill>
                <a:latin typeface="Segoe UI"/>
              </a:rPr>
              <a:t> coefficients towards zero; lasso can set them </a:t>
            </a:r>
            <a:r>
              <a:rPr sz="2300" b="0" i="1">
                <a:solidFill>
                  <a:srgbClr val="1C252B"/>
                </a:solidFill>
                <a:latin typeface="Segoe UI"/>
              </a:rPr>
              <a:t>exactly</a:t>
            </a:r>
            <a:r>
              <a:rPr sz="2300" b="0" i="0">
                <a:solidFill>
                  <a:srgbClr val="1C252B"/>
                </a:solidFill>
                <a:latin typeface="Segoe UI"/>
              </a:rPr>
              <a:t> to zero, performing feature selection.</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68945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Ridge versus lasso as the penalty strength grows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12.3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79     </a:t>
            </a:r>
            <a:fld id="{21FEED5D-D703-47DC-9F4B-044D4F87E439}" type="slidenum">
              <a:rPr lang="en-GB" sz="1000">
                <a:solidFill>
                  <a:srgbClr val="8795A1"/>
                </a:solidFill>
                <a:latin typeface="Segoe UI"/>
              </a:rPr>
              <a:t>22</a:t>
            </a:fld>
          </a:p>
        </p:txBody>
      </p:sp>
      <p:pic>
        <p:nvPicPr>
          <p:cNvPr id="6" name="!!figure" descr="Figure 12.3. Ridge versus lasso as the penalty strength grows. Ridge keeps every feature but makes each less influential; lasso eliminates features one by one, which is why it doubles as automatic feature select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38770"/>
            <a:ext cx="10874959" cy="3732446"/>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Ridge keeps every feature but makes each less influential; lasso eliminates features one by one, which is why it doubles as automatic feature selection.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9603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One to Reach For</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79     </a:t>
            </a:r>
            <a:fld id="{0092D293-F918-447D-909C-F548B775FAEF}"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03243"/>
          </a:xfrm>
          <a:prstGeom prst="roundRect">
            <a:avLst>
              <a:gd name="adj" fmla="val 234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0324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437434"/>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F618D"/>
                </a:solidFill>
                <a:latin typeface="Segoe UI"/>
              </a:rPr>
              <a:t>•	</a:t>
            </a:r>
            <a:r>
              <a:rPr sz="2300" b="1" i="0">
                <a:solidFill>
                  <a:srgbClr val="1F618D"/>
                </a:solidFill>
                <a:latin typeface="Segoe UI"/>
              </a:rPr>
              <a:t>Ridge</a:t>
            </a:r>
            <a:r>
              <a:rPr sz="2300" b="0" i="0">
                <a:solidFill>
                  <a:srgbClr val="1C252B"/>
                </a:solidFill>
                <a:latin typeface="Segoe UI"/>
              </a:rPr>
              <a:t> when features are correlated and you believe most of them matter a little. It handles multicollinearity gracefully.</a:t>
            </a:r>
          </a:p>
          <a:p>
            <a:pPr algn="l" marL="257176" indent="-257176">
              <a:lnSpc>
                <a:spcPct val="104000"/>
              </a:lnSpc>
              <a:spcBef>
                <a:spcPts val="0"/>
              </a:spcBef>
              <a:spcAft>
                <a:spcPts val="804"/>
              </a:spcAft>
            </a:pPr>
            <a:r>
              <a:rPr sz="2300" b="1">
                <a:solidFill>
                  <a:srgbClr val="1F618D"/>
                </a:solidFill>
                <a:latin typeface="Segoe UI"/>
              </a:rPr>
              <a:t>•	</a:t>
            </a:r>
            <a:r>
              <a:rPr sz="2300" b="1" i="0">
                <a:solidFill>
                  <a:srgbClr val="1F618D"/>
                </a:solidFill>
                <a:latin typeface="Segoe UI"/>
              </a:rPr>
              <a:t>Lasso</a:t>
            </a:r>
            <a:r>
              <a:rPr sz="2300" b="0" i="0">
                <a:solidFill>
                  <a:srgbClr val="1C252B"/>
                </a:solidFill>
                <a:latin typeface="Segoe UI"/>
              </a:rPr>
              <a:t> when you suspect most features are irrelevant and want a short, explainable model. Common with wide clickstream or log-derived feature sets.</a:t>
            </a:r>
          </a:p>
          <a:p>
            <a:pPr algn="l" marL="257176" indent="-257176">
              <a:lnSpc>
                <a:spcPct val="104000"/>
              </a:lnSpc>
              <a:spcBef>
                <a:spcPts val="0"/>
              </a:spcBef>
              <a:spcAft>
                <a:spcPts val="0"/>
              </a:spcAft>
            </a:pPr>
            <a:r>
              <a:rPr sz="2300" b="1">
                <a:solidFill>
                  <a:srgbClr val="1F618D"/>
                </a:solidFill>
                <a:latin typeface="Segoe UI"/>
              </a:rPr>
              <a:t>•	</a:t>
            </a:r>
            <a:r>
              <a:rPr sz="2300" b="1" i="0">
                <a:solidFill>
                  <a:srgbClr val="1F618D"/>
                </a:solidFill>
                <a:latin typeface="Segoe UI"/>
              </a:rPr>
              <a:t>Elastic net</a:t>
            </a:r>
            <a:r>
              <a:rPr sz="2300" b="0" i="0">
                <a:solidFill>
                  <a:srgbClr val="1C252B"/>
                </a:solidFill>
                <a:latin typeface="Segoe UI"/>
              </a:rPr>
              <a:t> (both penalties) when you cannot decide, which is often.</a:t>
            </a:r>
          </a:p>
        </p:txBody>
      </p:sp>
      <p:sp>
        <p:nvSpPr>
          <p:cNvPr id="10" name="body-1"/>
          <p:cNvSpPr txBox="1"/>
          <p:nvPr/>
        </p:nvSpPr>
        <p:spPr>
          <a:xfrm>
            <a:off x="1060704" y="460062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Regularisation requires scaled features (Chapter 7) — otherwise the penalty falls hardest on whichever feature happens to have small units.</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62313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79     </a:t>
            </a:r>
            <a:fld id="{305A199B-A3D9-469D-9D6A-78EB134F3C53}" type="slidenum">
              <a:rPr lang="en-GB" sz="1000">
                <a:solidFill>
                  <a:srgbClr val="8795A1"/>
                </a:solidFill>
                <a:latin typeface="Segoe UI"/>
              </a:rPr>
              <a:t>24</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Interpreting the intercept</a:t>
            </a:r>
            <a:r>
              <a:rPr sz="2100" b="0" i="0">
                <a:solidFill>
                  <a:srgbClr val="1C252B"/>
                </a:solidFill>
                <a:latin typeface="Segoe UI"/>
              </a:rPr>
              <a:t> when </a:t>
            </a:r>
            <a:r>
              <a:rPr sz="2100" b="0" i="1">
                <a:solidFill>
                  <a:srgbClr val="1C252B"/>
                </a:solidFill>
                <a:latin typeface="Cambria"/>
              </a:rPr>
              <a:t>x</a:t>
            </a:r>
            <a:r>
              <a:rPr sz="2100" b="0" i="0">
                <a:solidFill>
                  <a:srgbClr val="1C252B"/>
                </a:solidFill>
                <a:latin typeface="Cambria"/>
              </a:rPr>
              <a:t>=0</a:t>
            </a:r>
            <a:r>
              <a:rPr sz="2100" b="0" i="0">
                <a:solidFill>
                  <a:srgbClr val="1C252B"/>
                </a:solidFill>
                <a:latin typeface="Segoe UI"/>
              </a:rPr>
              <a:t> is impossible.</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Comparing raw coefficients</a:t>
            </a:r>
            <a:r>
              <a:rPr sz="2100" b="0" i="0">
                <a:solidFill>
                  <a:srgbClr val="1C252B"/>
                </a:solidFill>
                <a:latin typeface="Segoe UI"/>
              </a:rPr>
              <a:t> across features on different scales.</a:t>
            </a:r>
          </a:p>
        </p:txBody>
      </p:sp>
      <p:sp>
        <p:nvSpPr>
          <p:cNvPr id="13" name="!!pb2">
            <a:extLst>
              <a:ext uri="{C183D7F6-B498-43B3-948B-1728B52AA6E4}">
                <adec:decorative xmlns:adec="http://schemas.microsoft.com/office/drawing/2017/decorative" val="1"/>
              </a:ext>
            </a:extLst>
          </p:cNvPr>
          <p:cNvSpPr/>
          <p:nvPr/>
        </p:nvSpPr>
        <p:spPr>
          <a:xfrm>
            <a:off x="658368" y="288950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291236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2871216"/>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Reporting </a:t>
            </a:r>
            <a:r>
              <a:rPr sz="2100" b="1" i="1">
                <a:solidFill>
                  <a:srgbClr val="1C252B"/>
                </a:solidFill>
                <a:latin typeface="Cambria"/>
              </a:rPr>
              <a:t>R</a:t>
            </a:r>
            <a:r>
              <a:rPr sz="2100" b="1" i="0" baseline="30000">
                <a:solidFill>
                  <a:srgbClr val="1C252B"/>
                </a:solidFill>
                <a:latin typeface="Cambria"/>
              </a:rPr>
              <a:t>2</a:t>
            </a:r>
            <a:r>
              <a:rPr sz="2100" b="1" i="0">
                <a:solidFill>
                  <a:srgbClr val="1C252B"/>
                </a:solidFill>
                <a:latin typeface="Segoe UI"/>
              </a:rPr>
              <a:t> alone.</a:t>
            </a:r>
            <a:r>
              <a:rPr sz="2100" b="0" i="0">
                <a:solidFill>
                  <a:srgbClr val="1C252B"/>
                </a:solidFill>
                <a:latin typeface="Segoe UI"/>
              </a:rPr>
              <a:t> </a:t>
            </a:r>
            <a:r>
              <a:rPr sz="2100" b="0" i="1">
                <a:solidFill>
                  <a:srgbClr val="1C252B"/>
                </a:solidFill>
                <a:latin typeface="Cambria"/>
              </a:rPr>
              <a:t>R</a:t>
            </a:r>
            <a:r>
              <a:rPr sz="2100" b="0" i="0" baseline="30000">
                <a:solidFill>
                  <a:srgbClr val="1C252B"/>
                </a:solidFill>
                <a:latin typeface="Cambria"/>
              </a:rPr>
              <a:t>2</a:t>
            </a:r>
            <a:r>
              <a:rPr sz="2100" b="0" i="0">
                <a:solidFill>
                  <a:srgbClr val="1C252B"/>
                </a:solidFill>
                <a:latin typeface="Segoe UI"/>
              </a:rPr>
              <a:t> never decreases when you add a feature, even a random one. Use adjusted </a:t>
            </a:r>
            <a:r>
              <a:rPr sz="2100" b="0" i="1">
                <a:solidFill>
                  <a:srgbClr val="1C252B"/>
                </a:solidFill>
                <a:latin typeface="Cambria"/>
              </a:rPr>
              <a:t>R</a:t>
            </a:r>
            <a:r>
              <a:rPr sz="2100" b="0" i="0" baseline="30000">
                <a:solidFill>
                  <a:srgbClr val="1C252B"/>
                </a:solidFill>
                <a:latin typeface="Cambria"/>
              </a:rPr>
              <a:t>2</a:t>
            </a:r>
            <a:r>
              <a:rPr sz="2100" b="0" i="0">
                <a:solidFill>
                  <a:srgbClr val="1C252B"/>
                </a:solidFill>
                <a:latin typeface="Segoe UI"/>
              </a:rPr>
              <a:t>, or better, validation RMSE.</a:t>
            </a:r>
          </a:p>
        </p:txBody>
      </p:sp>
      <p:sp>
        <p:nvSpPr>
          <p:cNvPr id="16" name="!!pb3">
            <a:extLst>
              <a:ext uri="{C183D7F6-B498-43B3-948B-1728B52AA6E4}">
                <adec:decorative xmlns:adec="http://schemas.microsoft.com/office/drawing/2017/decorative" val="1"/>
              </a:ext>
            </a:extLst>
          </p:cNvPr>
          <p:cNvSpPr/>
          <p:nvPr/>
        </p:nvSpPr>
        <p:spPr>
          <a:xfrm>
            <a:off x="658368" y="37563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7792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38067"/>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Extrapolating.</a:t>
            </a:r>
            <a:r>
              <a:rPr sz="2100" b="0" i="0">
                <a:solidFill>
                  <a:srgbClr val="1C252B"/>
                </a:solidFill>
                <a:latin typeface="Segoe UI"/>
              </a:rPr>
              <a:t> A model fitted on attendance 30–95% says nothing about 5%.</a:t>
            </a:r>
          </a:p>
        </p:txBody>
      </p:sp>
      <p:sp>
        <p:nvSpPr>
          <p:cNvPr id="19" name="!!pb4">
            <a:extLst>
              <a:ext uri="{C183D7F6-B498-43B3-948B-1728B52AA6E4}">
                <adec:decorative xmlns:adec="http://schemas.microsoft.com/office/drawing/2017/decorative" val="1"/>
              </a:ext>
            </a:extLst>
          </p:cNvPr>
          <p:cNvSpPr/>
          <p:nvPr/>
        </p:nvSpPr>
        <p:spPr>
          <a:xfrm>
            <a:off x="658368" y="432328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34614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304995"/>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Regularising unscaled features.</a:t>
            </a:r>
            <a:r>
              <a:rPr sz="2100" b="0" i="0">
                <a:solidFill>
                  <a:srgbClr val="1C252B"/>
                </a:solidFill>
                <a:latin typeface="Segoe UI"/>
              </a:rPr>
              <a:t> The penalty becomes arbitrary.</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5022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Regression</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3F3C9A5D-1423-4910-B51F-720B4DBD246F}" type="slidenum">
              <a:rPr lang="en-GB" sz="1000">
                <a:solidFill>
                  <a:srgbClr val="8795A1"/>
                </a:solidFill>
                <a:latin typeface="Segoe UI"/>
              </a:rPr>
              <a:t>25</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Predict final mark from week-4 engagement.</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Predict task effort in hours from historical features.</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Predict remaining useful life of a component from sensor trends.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Regression is less common here than classification, but it appears in capacity and risk forecasting: predicting expected alert volume for staffing, or expected breach cost for insurance.</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Regression</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7FAA82C6-A5A3-4663-B5C5-7A882B4E1A28}" type="slidenum">
              <a:rPr lang="en-GB" sz="1000">
                <a:solidFill>
                  <a:srgbClr val="8795A1"/>
                </a:solidFill>
                <a:latin typeface="Segoe UI"/>
              </a:rPr>
              <a:t>26</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 final mark from week-4 engagement. Report RMSE in marks — a figure a programme director understands — rather than </a:t>
            </a:r>
            <a:r>
              <a:rPr sz="2200" b="0" i="1">
                <a:solidFill>
                  <a:srgbClr val="1C252B"/>
                </a:solidFill>
                <a:latin typeface="Cambria"/>
              </a:rPr>
              <a:t>R</a:t>
            </a:r>
            <a:r>
              <a:rPr sz="2200" b="0" i="0" baseline="30000">
                <a:solidFill>
                  <a:srgbClr val="1C252B"/>
                </a:solidFill>
                <a:latin typeface="Cambria"/>
              </a:rPr>
              <a:t>2</a:t>
            </a:r>
            <a:r>
              <a:rPr sz="2200" b="0" i="0">
                <a:solidFill>
                  <a:srgbClr val="1C252B"/>
                </a:solidFill>
                <a:latin typeface="Segoe UI"/>
              </a:rPr>
              <a:t>. Expect </a:t>
            </a:r>
            <a:r>
              <a:rPr sz="2200" b="0" i="1">
                <a:solidFill>
                  <a:srgbClr val="1C252B"/>
                </a:solidFill>
                <a:latin typeface="Cambria"/>
              </a:rPr>
              <a:t>R</a:t>
            </a:r>
            <a:r>
              <a:rPr sz="2200" b="0" i="0" baseline="30000">
                <a:solidFill>
                  <a:srgbClr val="1C252B"/>
                </a:solidFill>
                <a:latin typeface="Cambria"/>
              </a:rPr>
              <a:t>2</a:t>
            </a:r>
            <a:r>
              <a:rPr sz="2200" b="0" i="0">
                <a:solidFill>
                  <a:srgbClr val="1C252B"/>
                </a:solidFill>
                <a:latin typeface="Segoe UI"/>
              </a:rPr>
              <a:t> around 0.35–0.5: human outcomes are genuinely noisy, and a claimed 0.95 almost certainly indicates leakage. Lasso is useful for reducing 300 clickstream features to the handful you can defend in a meeting.</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4409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Regression</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C19579BE-887E-4E26-8F11-2D190E5C268B}" type="slidenum">
              <a:rPr lang="en-GB" sz="1000">
                <a:solidFill>
                  <a:srgbClr val="8795A1"/>
                </a:solidFill>
                <a:latin typeface="Segoe UI"/>
              </a:rPr>
              <a:t>27</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 task effort in hours from historical features. Use MAE, because project managers think in “typically wrong by about 4 hours” and because effort data is long-tailed enough that RMSE would be dominated by two disastrous projects. Beware heteroscedasticity: large tasks have much larger absolute errors, so consider modelling </a:t>
            </a:r>
            <a:r>
              <a:rPr sz="2200" b="0" i="0">
                <a:solidFill>
                  <a:srgbClr val="1C252B"/>
                </a:solidFill>
                <a:latin typeface="Cambria"/>
              </a:rPr>
              <a:t>log(</a:t>
            </a:r>
            <a:r>
              <a:rPr sz="2200" b="0" i="0">
                <a:solidFill>
                  <a:srgbClr val="1C252B"/>
                </a:solidFill>
                <a:latin typeface="Segoe UI"/>
              </a:rPr>
              <a:t>hours</a:t>
            </a:r>
            <a:r>
              <a:rPr sz="2200" b="0" i="0">
                <a:solidFill>
                  <a:srgbClr val="1C252B"/>
                </a:solidFill>
                <a:latin typeface="Cambria"/>
              </a:rPr>
              <a:t>)</a:t>
            </a:r>
            <a:r>
              <a:rPr sz="2200" b="0" i="0">
                <a:solidFill>
                  <a:srgbClr val="1C252B"/>
                </a:solidFill>
                <a:latin typeface="Segoe UI"/>
              </a:rPr>
              <a:t> instead.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Regression</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E8FD5219-8ADE-4582-9DF2-EA3BE1B157EA}" type="slidenum">
              <a:rPr lang="en-GB" sz="1000">
                <a:solidFill>
                  <a:srgbClr val="8795A1"/>
                </a:solidFill>
                <a:latin typeface="Segoe UI"/>
              </a:rPr>
              <a:t>28</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 remaining useful life of a component from sensor trends. Here RMSE is right, since one large underestimate means an unplanned stoppage. Check the residual plot for curvature — degradation is usually non-linear, accelerating near failure, so a straight line will systematically over-predict life at exactly the moment accuracy matters most.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5859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Regression</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5F9E9198-D0B0-427F-B89B-001F60E7E8B7}" type="slidenum">
              <a:rPr lang="en-GB" sz="1000">
                <a:solidFill>
                  <a:srgbClr val="8795A1"/>
                </a:solidFill>
                <a:latin typeface="Segoe UI"/>
              </a:rPr>
              <a:t>29</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Regression is less common here than classification, but it appears in capacity and risk forecasting: predicting expected alert volume for staffing, or expected breach cost for insurance. Residuals will fan out badly (heteroscedastic) because incident cost is long-tailed — model the log, and report a prediction interval rather than a point estimate.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85687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Fit, Diagnose, Regularise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79     </a:t>
            </a:r>
            <a:fld id="{E598FC3B-3CE9-4EF5-96F0-30A14E4924FD}" type="slidenum">
              <a:rPr lang="en-GB" sz="1000">
                <a:solidFill>
                  <a:srgbClr val="8795A1"/>
                </a:solidFill>
                <a:latin typeface="Segoe UI"/>
              </a:rPr>
              <a:t>30</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Fit</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Diagnose: ALWAYS plot residuals vs fitted</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Regularise (note: scaling is mandatory)</a:t>
            </a:r>
          </a:p>
        </p:txBody>
      </p:sp>
      <p:sp>
        <p:nvSpPr>
          <p:cNvPr id="1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7: Split, baseline, diagnose; fit &amp; regularise</a:t>
            </a:r>
          </a:p>
        </p:txBody>
      </p:sp>
      <p:sp>
        <p:nvSpPr>
          <p:cNvPr id="2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30 lines of Python</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Fit, Diagnose, Regularise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79     </a:t>
            </a:r>
            <a:fld id="{761F1FEE-6DEC-4A91-8CD6-010791A2A797}"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98904"/>
          </a:xfrm>
          <a:prstGeom prst="roundRect">
            <a:avLst>
              <a:gd name="adj" fmla="val 481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numpy as np, matplotlib.pyplot as plt from sklearn.linear_model import LinearRegression, RidgeCV, LassoCV from sklearn.metrics import mean_absolute_error, mean_squared_error, r2_score from sklearn.pipeline import make_pipeline from sklearn.preprocessing import StandardScaler"/>
          <p:cNvSpPr txBox="1"/>
          <p:nvPr/>
        </p:nvSpPr>
        <p:spPr>
          <a:xfrm>
            <a:off x="1362456" y="2523744"/>
            <a:ext cx="9987991" cy="1405128"/>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import</a:t>
            </a:r>
            <a:r>
              <a:rPr sz="1700" i="0">
                <a:solidFill>
                  <a:srgbClr val="E8EDF2"/>
                </a:solidFill>
                <a:latin typeface="Consolas"/>
              </a:rPr>
              <a:t> </a:t>
            </a:r>
            <a:r>
              <a:rPr sz="1700" i="0">
                <a:solidFill>
                  <a:srgbClr val="76D7C4"/>
                </a:solidFill>
                <a:latin typeface="Consolas"/>
              </a:rPr>
              <a:t>numpy</a:t>
            </a:r>
            <a:r>
              <a:rPr sz="1700" i="0">
                <a:solidFill>
                  <a:srgbClr val="E8EDF2"/>
                </a:solidFill>
                <a:latin typeface="Consolas"/>
              </a:rPr>
              <a:t> </a:t>
            </a:r>
            <a:r>
              <a:rPr sz="1700" i="0">
                <a:solidFill>
                  <a:srgbClr val="5DADE2"/>
                </a:solidFill>
                <a:latin typeface="Consolas"/>
              </a:rPr>
              <a:t>as</a:t>
            </a:r>
            <a:r>
              <a:rPr sz="1700" i="0">
                <a:solidFill>
                  <a:srgbClr val="E8EDF2"/>
                </a:solidFill>
                <a:latin typeface="Consolas"/>
              </a:rPr>
              <a:t> </a:t>
            </a:r>
            <a:r>
              <a:rPr sz="1700" i="0">
                <a:solidFill>
                  <a:srgbClr val="76D7C4"/>
                </a:solidFill>
                <a:latin typeface="Consolas"/>
              </a:rPr>
              <a:t>np</a:t>
            </a:r>
            <a:r>
              <a:rPr sz="1700" i="0">
                <a:solidFill>
                  <a:srgbClr val="AEB6BF"/>
                </a:solidFill>
                <a:latin typeface="Consolas"/>
              </a:rPr>
              <a:t>,</a:t>
            </a:r>
            <a:r>
              <a:rPr sz="1700" i="0">
                <a:solidFill>
                  <a:srgbClr val="E8EDF2"/>
                </a:solidFill>
                <a:latin typeface="Consolas"/>
              </a:rPr>
              <a:t> </a:t>
            </a:r>
            <a:r>
              <a:rPr sz="1700" i="0">
                <a:solidFill>
                  <a:srgbClr val="76D7C4"/>
                </a:solidFill>
                <a:latin typeface="Consolas"/>
              </a:rPr>
              <a:t>matplotlib</a:t>
            </a:r>
            <a:r>
              <a:rPr sz="1700" i="0">
                <a:solidFill>
                  <a:srgbClr val="76D7C4"/>
                </a:solidFill>
                <a:latin typeface="Consolas"/>
              </a:rPr>
              <a:t>.</a:t>
            </a:r>
            <a:r>
              <a:rPr sz="1700" i="0">
                <a:solidFill>
                  <a:srgbClr val="76D7C4"/>
                </a:solidFill>
                <a:latin typeface="Consolas"/>
              </a:rPr>
              <a:t>pyplot</a:t>
            </a:r>
            <a:r>
              <a:rPr sz="1700" i="0">
                <a:solidFill>
                  <a:srgbClr val="E8EDF2"/>
                </a:solidFill>
                <a:latin typeface="Consolas"/>
              </a:rPr>
              <a:t> </a:t>
            </a:r>
            <a:r>
              <a:rPr sz="1700" i="0">
                <a:solidFill>
                  <a:srgbClr val="5DADE2"/>
                </a:solidFill>
                <a:latin typeface="Consolas"/>
              </a:rPr>
              <a:t>as</a:t>
            </a:r>
            <a:r>
              <a:rPr sz="1700" i="0">
                <a:solidFill>
                  <a:srgbClr val="E8EDF2"/>
                </a:solidFill>
                <a:latin typeface="Consolas"/>
              </a:rPr>
              <a:t> </a:t>
            </a:r>
            <a:r>
              <a:rPr sz="1700" i="0">
                <a:solidFill>
                  <a:srgbClr val="76D7C4"/>
                </a:solidFill>
                <a:latin typeface="Consolas"/>
              </a:rPr>
              <a:t>plt</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linear_model</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LinearRegression</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RidgeCV</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LassoCV</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metrics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mean_absolute_error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mean_squared_error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r2_score</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pipeline</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make_pipeline</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preprocessing</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StandardScaler</a:t>
            </a:r>
          </a:p>
        </p:txBody>
      </p:sp>
      <p:sp>
        <p:nvSpPr>
          <p:cNvPr id="15" name="!!code-num"/>
          <p:cNvSpPr txBox="1"/>
          <p:nvPr/>
        </p:nvSpPr>
        <p:spPr>
          <a:xfrm>
            <a:off x="768096" y="2523744"/>
            <a:ext cx="393192" cy="140512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a:t>
            </a:r>
          </a:p>
          <a:p>
            <a:pPr algn="r">
              <a:lnSpc>
                <a:spcPct val="100000"/>
              </a:lnSpc>
            </a:pPr>
            <a:r>
              <a:rPr sz="1700">
                <a:solidFill>
                  <a:srgbClr val="4F5D6A"/>
                </a:solidFill>
                <a:latin typeface="Consolas"/>
              </a:rPr>
              <a:t>2</a:t>
            </a:r>
          </a:p>
          <a:p>
            <a:pPr algn="r">
              <a:lnSpc>
                <a:spcPct val="100000"/>
              </a:lnSpc>
            </a:pPr>
            <a:r>
              <a:rPr sz="1700">
                <a:solidFill>
                  <a:srgbClr val="4F5D6A"/>
                </a:solidFill>
                <a:latin typeface="Consolas"/>
              </a:rPr>
              <a:t>3</a:t>
            </a:r>
          </a:p>
          <a:p>
            <a:pPr algn="r">
              <a:lnSpc>
                <a:spcPct val="100000"/>
              </a:lnSpc>
            </a:pPr>
            <a:r>
              <a:rPr sz="1700">
                <a:solidFill>
                  <a:srgbClr val="4F5D6A"/>
                </a:solidFill>
                <a:latin typeface="Consolas"/>
              </a:rPr>
              <a:t>4</a:t>
            </a:r>
          </a:p>
          <a:p>
            <a:pPr algn="r">
              <a:lnSpc>
                <a:spcPct val="100000"/>
              </a:lnSpc>
            </a:pPr>
            <a:r>
              <a:rPr sz="1700">
                <a:solidFill>
                  <a:srgbClr val="4F5D6A"/>
                </a:solidFill>
                <a:latin typeface="Consolas"/>
              </a:rPr>
              <a:t>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987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Fit, Diagnose, Regularise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79     </a:t>
            </a:r>
            <a:fld id="{F953B834-6922-487F-ABAD-D1F2E0DCA44B}"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194304"/>
          </a:xfrm>
          <a:prstGeom prst="roundRect">
            <a:avLst>
              <a:gd name="adj" fmla="val 286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fit --------------------------------------------------------------- lin = LinearRegression().fit(X_tr, y_tr) pred = lin.predict(X_te) print(&quot;MAE :&quot;, mean_absolute_error(y_te, pred)) # typical error print(&quot;RMSE:&quot;, mean_squared_error(y_te, pred) ** 0.5) # penalises big misses print(&quot;R2 :&quot;, r2_score(y_te, pred)) for name, coef in zip(feature_names, lin.coef_): print(f&quot; {name:24s} {coef:+.3f}&quot;)"/>
          <p:cNvSpPr txBox="1"/>
          <p:nvPr/>
        </p:nvSpPr>
        <p:spPr>
          <a:xfrm>
            <a:off x="1362456" y="2523744"/>
            <a:ext cx="9987991" cy="270052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fit ---------------------------------------------------------------</a:t>
            </a:r>
          </a:p>
          <a:p>
            <a:pPr>
              <a:lnSpc>
                <a:spcPct val="100000"/>
              </a:lnSpc>
              <a:spcAft>
                <a:spcPts val="0"/>
              </a:spcAft>
            </a:pPr>
            <a:r>
              <a:rPr sz="1700" i="0">
                <a:solidFill>
                  <a:srgbClr val="E8EDF2"/>
                </a:solidFill>
                <a:latin typeface="Consolas"/>
              </a:rPr>
              <a:t>lin</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LinearRegression</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p>
          <a:p>
            <a:pPr>
              <a:lnSpc>
                <a:spcPct val="100000"/>
              </a:lnSpc>
              <a:spcAft>
                <a:spcPts val="0"/>
              </a:spcAft>
            </a:pPr>
            <a:r>
              <a:rPr sz="1700" i="0">
                <a:solidFill>
                  <a:srgbClr val="E8EDF2"/>
                </a:solidFill>
                <a:latin typeface="Consolas"/>
              </a:rPr>
              <a:t>pred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lin</a:t>
            </a:r>
            <a:r>
              <a:rPr sz="1700" i="0">
                <a:solidFill>
                  <a:srgbClr val="AEB6BF"/>
                </a:solidFill>
                <a:latin typeface="Consolas"/>
              </a:rPr>
              <a:t>.</a:t>
            </a:r>
            <a:r>
              <a:rPr sz="1700" i="0">
                <a:solidFill>
                  <a:srgbClr val="E8EDF2"/>
                </a:solidFill>
                <a:latin typeface="Consolas"/>
              </a:rPr>
              <a:t>predict</a:t>
            </a:r>
            <a:r>
              <a:rPr sz="1700" i="0">
                <a:solidFill>
                  <a:srgbClr val="AEB6BF"/>
                </a:solidFill>
                <a:latin typeface="Consolas"/>
              </a:rPr>
              <a:t>(</a:t>
            </a:r>
            <a:r>
              <a:rPr sz="1700" i="0">
                <a:solidFill>
                  <a:srgbClr val="E8EDF2"/>
                </a:solidFill>
                <a:latin typeface="Consolas"/>
              </a:rPr>
              <a:t>X_te</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MAE :</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mean_absolute_error</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pred</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typical error</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RMSE:</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mean_squared_error</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pred</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0.5</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penalises big misses</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R2  :</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r2_score</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pred</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name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coef</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C39BD3"/>
                </a:solidFill>
                <a:latin typeface="Consolas"/>
              </a:rPr>
              <a:t>zip</a:t>
            </a:r>
            <a:r>
              <a:rPr sz="1700" i="0">
                <a:solidFill>
                  <a:srgbClr val="AEB6BF"/>
                </a:solidFill>
                <a:latin typeface="Consolas"/>
              </a:rPr>
              <a:t>(</a:t>
            </a:r>
            <a:r>
              <a:rPr sz="1700" i="0">
                <a:solidFill>
                  <a:srgbClr val="E8EDF2"/>
                </a:solidFill>
                <a:latin typeface="Consolas"/>
              </a:rPr>
              <a:t>feature_names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lin</a:t>
            </a:r>
            <a:r>
              <a:rPr sz="1700" i="0">
                <a:solidFill>
                  <a:srgbClr val="AEB6BF"/>
                </a:solidFill>
                <a:latin typeface="Consolas"/>
              </a:rPr>
              <a:t>.</a:t>
            </a:r>
            <a:r>
              <a:rPr sz="1700" i="0">
                <a:solidFill>
                  <a:srgbClr val="E8EDF2"/>
                </a:solidFill>
                <a:latin typeface="Consolas"/>
              </a:rPr>
              <a:t>coef_</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r>
              <a:rPr sz="1700" i="0">
                <a:solidFill>
                  <a:srgbClr val="E8EDF2"/>
                </a:solidFill>
                <a:latin typeface="Consolas"/>
              </a:rPr>
              <a:t>name</a:t>
            </a:r>
            <a:r>
              <a:rPr sz="1700" i="0">
                <a:solidFill>
                  <a:srgbClr val="7DCEA0"/>
                </a:solidFill>
                <a:latin typeface="Consolas"/>
              </a:rPr>
              <a:t>:</a:t>
            </a:r>
            <a:r>
              <a:rPr sz="1700" i="0">
                <a:solidFill>
                  <a:srgbClr val="7DCEA0"/>
                </a:solidFill>
                <a:latin typeface="Consolas"/>
              </a:rPr>
              <a:t>24s</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r>
              <a:rPr sz="1700" i="0">
                <a:solidFill>
                  <a:srgbClr val="E8EDF2"/>
                </a:solidFill>
                <a:latin typeface="Consolas"/>
              </a:rPr>
              <a:t>coef</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p:txBody>
      </p:sp>
      <p:sp>
        <p:nvSpPr>
          <p:cNvPr id="15" name="!!code-num"/>
          <p:cNvSpPr txBox="1"/>
          <p:nvPr/>
        </p:nvSpPr>
        <p:spPr>
          <a:xfrm>
            <a:off x="768096" y="2523744"/>
            <a:ext cx="393192" cy="270052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6</a:t>
            </a:r>
          </a:p>
          <a:p>
            <a:pPr algn="r">
              <a:lnSpc>
                <a:spcPct val="100000"/>
              </a:lnSpc>
            </a:pPr>
            <a:r>
              <a:rPr sz="1700">
                <a:solidFill>
                  <a:srgbClr val="4F5D6A"/>
                </a:solidFill>
                <a:latin typeface="Consolas"/>
              </a:rPr>
              <a:t>7</a:t>
            </a:r>
          </a:p>
          <a:p>
            <a:pPr algn="r">
              <a:lnSpc>
                <a:spcPct val="100000"/>
              </a:lnSpc>
            </a:pPr>
            <a:r>
              <a:rPr sz="1700">
                <a:solidFill>
                  <a:srgbClr val="4F5D6A"/>
                </a:solidFill>
                <a:latin typeface="Consolas"/>
              </a:rPr>
              <a:t>8</a:t>
            </a:r>
          </a:p>
          <a:p>
            <a:pPr algn="r">
              <a:lnSpc>
                <a:spcPct val="100000"/>
              </a:lnSpc>
            </a:pPr>
            <a:r>
              <a:rPr sz="1700">
                <a:solidFill>
                  <a:srgbClr val="4F5D6A"/>
                </a:solidFill>
                <a:latin typeface="Consolas"/>
              </a:rPr>
              <a:t>9</a:t>
            </a:r>
          </a:p>
          <a:p>
            <a:pPr algn="r">
              <a:lnSpc>
                <a:spcPct val="100000"/>
              </a:lnSpc>
            </a:pPr>
            <a:r>
              <a:rPr sz="1700">
                <a:solidFill>
                  <a:srgbClr val="4F5D6A"/>
                </a:solidFill>
                <a:latin typeface="Consolas"/>
              </a:rPr>
              <a:t>10</a:t>
            </a:r>
          </a:p>
          <a:p>
            <a:pPr algn="r">
              <a:lnSpc>
                <a:spcPct val="100000"/>
              </a:lnSpc>
            </a:pPr>
            <a:r>
              <a:rPr sz="1700">
                <a:solidFill>
                  <a:srgbClr val="4F5D6A"/>
                </a:solidFill>
                <a:latin typeface="Consolas"/>
              </a:rPr>
              <a:t>11</a:t>
            </a:r>
          </a:p>
          <a:p>
            <a:pPr algn="r">
              <a:lnSpc>
                <a:spcPct val="100000"/>
              </a:lnSpc>
            </a:pPr>
            <a:r>
              <a:rPr sz="1700">
                <a:solidFill>
                  <a:srgbClr val="4F5D6A"/>
                </a:solidFill>
                <a:latin typeface="Consolas"/>
              </a:rPr>
              <a:t>12</a:t>
            </a:r>
          </a:p>
          <a:p>
            <a:pPr algn="r">
              <a:lnSpc>
                <a:spcPct val="100000"/>
              </a:lnSpc>
            </a:pPr>
            <a:r>
              <a:rPr sz="1700">
                <a:solidFill>
                  <a:srgbClr val="4F5D6A"/>
                </a:solidFill>
                <a:latin typeface="Consolas"/>
              </a:rPr>
              <a:t>13</a:t>
            </a:r>
          </a:p>
          <a:p>
            <a:pPr algn="r">
              <a:lnSpc>
                <a:spcPct val="100000"/>
              </a:lnSpc>
            </a:pPr>
            <a:r>
              <a:rPr sz="1700">
                <a:solidFill>
                  <a:srgbClr val="4F5D6A"/>
                </a:solidFill>
                <a:latin typeface="Consolas"/>
              </a:rPr>
              <a:t>14</a:t>
            </a:r>
          </a:p>
          <a:p>
            <a:pPr algn="r">
              <a:lnSpc>
                <a:spcPct val="100000"/>
              </a:lnSpc>
            </a:pPr>
            <a:r>
              <a:rPr sz="17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6964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Fit, Diagnose, Regularise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79     </a:t>
            </a:r>
            <a:fld id="{42AFC7F1-026A-4979-ADCD-A5B486E1DDA0}"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Diagnose: ALWAYS plot residuals vs fitted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diagnose: ALWAYS plot residuals vs fitted ------------------------- plt.scatter(pred, y_te - pred, s=12) plt.axhline(0, ls=&quot;--&quot;, c=&quot;grey&quot;) plt.xlabel(&quot;predicted&quot;); plt.ylabel(&quot;residual&quot;); plt.show() # curve -&gt; non-linear; fan -&gt; heteroscedastic; random cloud -&gt; fine"/>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diagnose: ALWAYS plot residuals vs fitted -------------------------</a:t>
            </a:r>
          </a:p>
          <a:p>
            <a:pPr>
              <a:lnSpc>
                <a:spcPct val="100000"/>
              </a:lnSpc>
              <a:spcAft>
                <a:spcPts val="0"/>
              </a:spcAft>
            </a:pPr>
            <a:r>
              <a:rPr sz="1800" i="0">
                <a:solidFill>
                  <a:srgbClr val="E8EDF2"/>
                </a:solidFill>
                <a:latin typeface="Consolas"/>
              </a:rPr>
              <a:t>plt</a:t>
            </a:r>
            <a:r>
              <a:rPr sz="1800" i="0">
                <a:solidFill>
                  <a:srgbClr val="AEB6BF"/>
                </a:solidFill>
                <a:latin typeface="Consolas"/>
              </a:rPr>
              <a:t>.</a:t>
            </a:r>
            <a:r>
              <a:rPr sz="1800" i="0">
                <a:solidFill>
                  <a:srgbClr val="E8EDF2"/>
                </a:solidFill>
                <a:latin typeface="Consolas"/>
              </a:rPr>
              <a:t>scatter</a:t>
            </a:r>
            <a:r>
              <a:rPr sz="1800" i="0">
                <a:solidFill>
                  <a:srgbClr val="AEB6BF"/>
                </a:solidFill>
                <a:latin typeface="Consolas"/>
              </a:rPr>
              <a:t>(</a:t>
            </a:r>
            <a:r>
              <a:rPr sz="1800" i="0">
                <a:solidFill>
                  <a:srgbClr val="E8EDF2"/>
                </a:solidFill>
                <a:latin typeface="Consolas"/>
              </a:rPr>
              <a:t>pred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a:t>
            </a:r>
            <a:r>
              <a:rPr sz="1800" i="0">
                <a:solidFill>
                  <a:srgbClr val="AEB6BF"/>
                </a:solidFill>
                <a:latin typeface="Consolas"/>
              </a:rPr>
              <a:t>=</a:t>
            </a:r>
            <a:r>
              <a:rPr sz="1800" i="0">
                <a:solidFill>
                  <a:srgbClr val="F7DC6F"/>
                </a:solidFill>
                <a:latin typeface="Consolas"/>
              </a:rPr>
              <a:t>12</a:t>
            </a:r>
            <a:r>
              <a:rPr sz="1800" i="0">
                <a:solidFill>
                  <a:srgbClr val="AEB6BF"/>
                </a:solidFill>
                <a:latin typeface="Consolas"/>
              </a:rPr>
              <a:t>)</a:t>
            </a:r>
          </a:p>
          <a:p>
            <a:pPr>
              <a:lnSpc>
                <a:spcPct val="100000"/>
              </a:lnSpc>
              <a:spcAft>
                <a:spcPts val="0"/>
              </a:spcAft>
            </a:pPr>
            <a:r>
              <a:rPr sz="1800" i="0">
                <a:solidFill>
                  <a:srgbClr val="E8EDF2"/>
                </a:solidFill>
                <a:latin typeface="Consolas"/>
              </a:rPr>
              <a:t>plt</a:t>
            </a:r>
            <a:r>
              <a:rPr sz="1800" i="0">
                <a:solidFill>
                  <a:srgbClr val="AEB6BF"/>
                </a:solidFill>
                <a:latin typeface="Consolas"/>
              </a:rPr>
              <a:t>.</a:t>
            </a:r>
            <a:r>
              <a:rPr sz="1800" i="0">
                <a:solidFill>
                  <a:srgbClr val="E8EDF2"/>
                </a:solidFill>
                <a:latin typeface="Consolas"/>
              </a:rPr>
              <a:t>axhline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ls</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grey</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plt</a:t>
            </a:r>
            <a:r>
              <a:rPr sz="1800" i="0">
                <a:solidFill>
                  <a:srgbClr val="AEB6BF"/>
                </a:solidFill>
                <a:latin typeface="Consolas"/>
              </a:rPr>
              <a:t>.</a:t>
            </a:r>
            <a:r>
              <a:rPr sz="1800" i="0">
                <a:solidFill>
                  <a:srgbClr val="E8EDF2"/>
                </a:solidFill>
                <a:latin typeface="Consolas"/>
              </a:rPr>
              <a:t>xlabel</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predicted</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plt</a:t>
            </a:r>
            <a:r>
              <a:rPr sz="1800" i="0">
                <a:solidFill>
                  <a:srgbClr val="AEB6BF"/>
                </a:solidFill>
                <a:latin typeface="Consolas"/>
              </a:rPr>
              <a:t>.</a:t>
            </a:r>
            <a:r>
              <a:rPr sz="1800" i="0">
                <a:solidFill>
                  <a:srgbClr val="E8EDF2"/>
                </a:solidFill>
                <a:latin typeface="Consolas"/>
              </a:rPr>
              <a:t>ylabel</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residual</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plt</a:t>
            </a:r>
            <a:r>
              <a:rPr sz="1800" i="0">
                <a:solidFill>
                  <a:srgbClr val="AEB6BF"/>
                </a:solidFill>
                <a:latin typeface="Consolas"/>
              </a:rPr>
              <a:t>.</a:t>
            </a:r>
            <a:r>
              <a:rPr sz="1800" i="0">
                <a:solidFill>
                  <a:srgbClr val="E8EDF2"/>
                </a:solidFill>
                <a:latin typeface="Consolas"/>
              </a:rPr>
              <a:t>show</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1">
                <a:solidFill>
                  <a:srgbClr val="8795A1"/>
                </a:solidFill>
                <a:latin typeface="Consolas"/>
              </a:rPr>
              <a:t># curve  -&gt; non-linear;  fan -&gt; heteroscedastic;  random cloud -&gt; fine</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4057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Fit, Diagnose, Regularise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79     </a:t>
            </a:r>
            <a:fld id="{2BC586EA-242D-43B2-A5C9-ACD350FD64FE}"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Regularise (note: scaling is mandatory)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17064"/>
          </a:xfrm>
          <a:prstGeom prst="roundRect">
            <a:avLst>
              <a:gd name="adj" fmla="val 378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regularise (note: scaling is mandatory) --------------------------- ridge = make_pipeline(StandardScaler(), RidgeCV(alphas=np.logspace(-3, 3, 25))) lasso = make_pipeline(StandardScaler(), LassoCV(cv=5, random_state=0)) ridge.fit(X_tr, y_tr); lasso.fit(X_tr, y_tr) kept = (lasso[-1].coef_ != 0).sum() print(f&quot;lasso kept {kept} of {X_tr.shape[1]} features&quot;)"/>
          <p:cNvSpPr txBox="1"/>
          <p:nvPr/>
        </p:nvSpPr>
        <p:spPr>
          <a:xfrm>
            <a:off x="1362456" y="2523744"/>
            <a:ext cx="9987991" cy="192328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regularise (note: scaling is mandatory) ---------------------------</a:t>
            </a:r>
          </a:p>
          <a:p>
            <a:pPr>
              <a:lnSpc>
                <a:spcPct val="100000"/>
              </a:lnSpc>
              <a:spcAft>
                <a:spcPts val="0"/>
              </a:spcAft>
            </a:pPr>
            <a:r>
              <a:rPr sz="1700" i="0">
                <a:solidFill>
                  <a:srgbClr val="E8EDF2"/>
                </a:solidFill>
                <a:latin typeface="Consolas"/>
              </a:rPr>
              <a:t>ridge</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make_pipeline</a:t>
            </a:r>
            <a:r>
              <a:rPr sz="1700" i="0">
                <a:solidFill>
                  <a:srgbClr val="AEB6BF"/>
                </a:solidFill>
                <a:latin typeface="Consolas"/>
              </a:rPr>
              <a:t>(</a:t>
            </a:r>
            <a:r>
              <a:rPr sz="1700" i="0">
                <a:solidFill>
                  <a:srgbClr val="E8EDF2"/>
                </a:solidFill>
                <a:latin typeface="Consolas"/>
              </a:rPr>
              <a:t>StandardScaler</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RidgeCV</a:t>
            </a:r>
            <a:r>
              <a:rPr sz="1700" i="0">
                <a:solidFill>
                  <a:srgbClr val="AEB6BF"/>
                </a:solidFill>
                <a:latin typeface="Consolas"/>
              </a:rPr>
              <a:t>(</a:t>
            </a:r>
            <a:r>
              <a:rPr sz="1700" i="0">
                <a:solidFill>
                  <a:srgbClr val="E8EDF2"/>
                </a:solidFill>
                <a:latin typeface="Consolas"/>
              </a:rPr>
              <a:t>alphas</a:t>
            </a:r>
            <a:r>
              <a:rPr sz="1700" i="0">
                <a:solidFill>
                  <a:srgbClr val="AEB6BF"/>
                </a:solidFill>
                <a:latin typeface="Consolas"/>
              </a:rPr>
              <a:t>=</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logspace</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3</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25</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lasso</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make_pipeline</a:t>
            </a:r>
            <a:r>
              <a:rPr sz="1700" i="0">
                <a:solidFill>
                  <a:srgbClr val="AEB6BF"/>
                </a:solidFill>
                <a:latin typeface="Consolas"/>
              </a:rPr>
              <a:t>(</a:t>
            </a:r>
            <a:r>
              <a:rPr sz="1700" i="0">
                <a:solidFill>
                  <a:srgbClr val="E8EDF2"/>
                </a:solidFill>
                <a:latin typeface="Consolas"/>
              </a:rPr>
              <a:t>StandardScaler</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LassoCV</a:t>
            </a:r>
            <a:r>
              <a:rPr sz="1700" i="0">
                <a:solidFill>
                  <a:srgbClr val="AEB6BF"/>
                </a:solidFill>
                <a:latin typeface="Consolas"/>
              </a:rPr>
              <a:t>(</a:t>
            </a:r>
            <a:r>
              <a:rPr sz="1700" i="0">
                <a:solidFill>
                  <a:srgbClr val="E8EDF2"/>
                </a:solidFill>
                <a:latin typeface="Consolas"/>
              </a:rPr>
              <a:t>cv</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ridge</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lasso</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0">
                <a:solidFill>
                  <a:srgbClr val="E8EDF2"/>
                </a:solidFill>
                <a:latin typeface="Consolas"/>
              </a:rPr>
              <a:t>kept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lasso</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coef_</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sum</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lasso kept </a:t>
            </a:r>
            <a:r>
              <a:rPr sz="1700" i="0">
                <a:solidFill>
                  <a:srgbClr val="7DCEA0"/>
                </a:solidFill>
                <a:latin typeface="Consolas"/>
              </a:rPr>
              <a:t>{</a:t>
            </a:r>
            <a:r>
              <a:rPr sz="1700" i="0">
                <a:solidFill>
                  <a:srgbClr val="E8EDF2"/>
                </a:solidFill>
                <a:latin typeface="Consolas"/>
              </a:rPr>
              <a:t>kept</a:t>
            </a:r>
            <a:r>
              <a:rPr sz="1700" i="0">
                <a:solidFill>
                  <a:srgbClr val="7DCEA0"/>
                </a:solidFill>
                <a:latin typeface="Consolas"/>
              </a:rPr>
              <a:t>}</a:t>
            </a:r>
            <a:r>
              <a:rPr sz="1700" i="0">
                <a:solidFill>
                  <a:srgbClr val="7DCEA0"/>
                </a:solidFill>
                <a:latin typeface="Consolas"/>
              </a:rPr>
              <a:t> of </a:t>
            </a:r>
            <a:r>
              <a:rPr sz="1700" i="0">
                <a:solidFill>
                  <a:srgbClr val="7DCEA0"/>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shape</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 features</a:t>
            </a:r>
            <a:r>
              <a:rPr sz="1700" i="0">
                <a:solidFill>
                  <a:srgbClr val="7DCEA0"/>
                </a:solidFill>
                <a:latin typeface="Consolas"/>
              </a:rPr>
              <a:t>"</a:t>
            </a:r>
            <a:r>
              <a:rPr sz="1700" i="0">
                <a:solidFill>
                  <a:srgbClr val="AEB6BF"/>
                </a:solidFill>
                <a:latin typeface="Consolas"/>
              </a:rPr>
              <a:t>)</a:t>
            </a:r>
          </a:p>
        </p:txBody>
      </p:sp>
      <p:sp>
        <p:nvSpPr>
          <p:cNvPr id="15" name="!!code-num"/>
          <p:cNvSpPr txBox="1"/>
          <p:nvPr/>
        </p:nvSpPr>
        <p:spPr>
          <a:xfrm>
            <a:off x="768096" y="2523744"/>
            <a:ext cx="393192" cy="192328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21</a:t>
            </a:r>
          </a:p>
          <a:p>
            <a:pPr algn="r">
              <a:lnSpc>
                <a:spcPct val="100000"/>
              </a:lnSpc>
            </a:pPr>
            <a:r>
              <a:rPr sz="1700">
                <a:solidFill>
                  <a:srgbClr val="4F5D6A"/>
                </a:solidFill>
                <a:latin typeface="Consolas"/>
              </a:rPr>
              <a:t>22</a:t>
            </a:r>
          </a:p>
          <a:p>
            <a:pPr algn="r">
              <a:lnSpc>
                <a:spcPct val="100000"/>
              </a:lnSpc>
            </a:pPr>
            <a:r>
              <a:rPr sz="1700">
                <a:solidFill>
                  <a:srgbClr val="4F5D6A"/>
                </a:solidFill>
                <a:latin typeface="Consolas"/>
              </a:rPr>
              <a:t>23</a:t>
            </a:r>
          </a:p>
          <a:p>
            <a:pPr algn="r">
              <a:lnSpc>
                <a:spcPct val="100000"/>
              </a:lnSpc>
            </a:pPr>
            <a:r>
              <a:rPr sz="1700">
                <a:solidFill>
                  <a:srgbClr val="4F5D6A"/>
                </a:solidFill>
                <a:latin typeface="Consolas"/>
              </a:rPr>
              <a:t>24</a:t>
            </a:r>
          </a:p>
          <a:p>
            <a:pPr algn="r">
              <a:lnSpc>
                <a:spcPct val="100000"/>
              </a:lnSpc>
            </a:pPr>
            <a:r>
              <a:rPr sz="1700">
                <a:solidFill>
                  <a:srgbClr val="4F5D6A"/>
                </a:solidFill>
                <a:latin typeface="Consolas"/>
              </a:rPr>
              <a:t>25</a:t>
            </a:r>
          </a:p>
          <a:p>
            <a:pPr algn="r">
              <a:lnSpc>
                <a:spcPct val="100000"/>
              </a:lnSpc>
            </a:pPr>
            <a:r>
              <a:rPr sz="1700">
                <a:solidFill>
                  <a:srgbClr val="4F5D6A"/>
                </a:solidFill>
                <a:latin typeface="Consolas"/>
              </a:rPr>
              <a:t>26</a:t>
            </a:r>
          </a:p>
          <a:p>
            <a:pPr algn="r">
              <a:lnSpc>
                <a:spcPct val="100000"/>
              </a:lnSpc>
            </a:pPr>
            <a:r>
              <a:rPr sz="1700">
                <a:solidFill>
                  <a:srgbClr val="4F5D6A"/>
                </a:solidFill>
                <a:latin typeface="Consolas"/>
              </a:rPr>
              <a:t>27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2115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model has MAE 4.0 and RMSE 11.0. What does the gap between them tell you about the error distribution?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12  ·  Supervised Learning I: Regression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81  ·  answers in Appendix D     </a:t>
            </a:r>
            <a:fld id="{C0A6ADF1-F985-43C3-9120-4A2EB60A2C7E}"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model has MAE 4.0 and RMSE 11.0. What does the gap between them tell you about the error distribution?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RMSE far exceeding MAE means the errors are dominated by a few very large ones — the error distribution has a long tail. Investigate those cases specifically; they may be a distinct sub-population.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  answers in Appendix D     </a:t>
            </a:r>
            <a:fld id="{BB014D89-67B0-433C-B37E-6DA34A31DF25}"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In </a:t>
            </a:r>
            <a:r>
              <a:rPr sz="3400" b="0" i="1">
                <a:solidFill>
                  <a:srgbClr val="FFFFFF"/>
                </a:solidFill>
                <a:latin typeface="Cambria"/>
              </a:rPr>
              <a:t>ŷ</a:t>
            </a:r>
            <a:r>
              <a:rPr sz="3400" b="0" i="0">
                <a:solidFill>
                  <a:srgbClr val="FFFFFF"/>
                </a:solidFill>
                <a:latin typeface="Cambria"/>
              </a:rPr>
              <a:t> = 30 + 0.5</a:t>
            </a:r>
            <a:r>
              <a:rPr sz="3400" b="0" i="1">
                <a:solidFill>
                  <a:srgbClr val="FFFFFF"/>
                </a:solidFill>
                <a:latin typeface="Cambria"/>
              </a:rPr>
              <a:t>x</a:t>
            </a:r>
            <a:r>
              <a:rPr sz="3400" b="0" i="0" baseline="-25000">
                <a:solidFill>
                  <a:srgbClr val="FFFFFF"/>
                </a:solidFill>
                <a:latin typeface="Cambria"/>
              </a:rPr>
              <a:t>1</a:t>
            </a:r>
            <a:r>
              <a:rPr sz="3400" b="0" i="0">
                <a:solidFill>
                  <a:srgbClr val="FFFFFF"/>
                </a:solidFill>
                <a:latin typeface="Cambria"/>
              </a:rPr>
              <a:t> + 12</a:t>
            </a:r>
            <a:r>
              <a:rPr sz="3400" b="0" i="1">
                <a:solidFill>
                  <a:srgbClr val="FFFFFF"/>
                </a:solidFill>
                <a:latin typeface="Cambria"/>
              </a:rPr>
              <a:t>x</a:t>
            </a:r>
            <a:r>
              <a:rPr sz="3400" b="0" i="0" baseline="-25000">
                <a:solidFill>
                  <a:srgbClr val="FFFFFF"/>
                </a:solidFill>
                <a:latin typeface="Cambria"/>
              </a:rPr>
              <a:t>2</a:t>
            </a:r>
            <a:r>
              <a:rPr sz="3400" b="0" i="0">
                <a:solidFill>
                  <a:srgbClr val="FFFFFF"/>
                </a:solidFill>
                <a:latin typeface="Segoe UI Semibold"/>
              </a:rPr>
              <a:t>, is </a:t>
            </a:r>
            <a:r>
              <a:rPr sz="3400" b="0" i="1">
                <a:solidFill>
                  <a:srgbClr val="FFFFFF"/>
                </a:solidFill>
                <a:latin typeface="Cambria"/>
              </a:rPr>
              <a:t>x</a:t>
            </a:r>
            <a:r>
              <a:rPr sz="3400" b="0" i="0" baseline="-25000">
                <a:solidFill>
                  <a:srgbClr val="FFFFFF"/>
                </a:solidFill>
                <a:latin typeface="Cambria"/>
              </a:rPr>
              <a:t>2</a:t>
            </a:r>
            <a:r>
              <a:rPr sz="3400" b="0" i="0">
                <a:solidFill>
                  <a:srgbClr val="FFFFFF"/>
                </a:solidFill>
                <a:latin typeface="Segoe UI Semibold"/>
              </a:rPr>
              <a:t> twelve times more important than </a:t>
            </a:r>
            <a:r>
              <a:rPr sz="3400" b="0" i="1">
                <a:solidFill>
                  <a:srgbClr val="FFFFFF"/>
                </a:solidFill>
                <a:latin typeface="Cambria"/>
              </a:rPr>
              <a:t>x</a:t>
            </a:r>
            <a:r>
              <a:rPr sz="3400" b="0" i="0" baseline="-25000">
                <a:solidFill>
                  <a:srgbClr val="FFFFFF"/>
                </a:solidFill>
                <a:latin typeface="Cambria"/>
              </a:rPr>
              <a:t>1</a:t>
            </a:r>
            <a:r>
              <a:rPr sz="3400" b="0" i="0">
                <a:solidFill>
                  <a:srgbClr val="FFFFFF"/>
                </a:solidFill>
                <a:latin typeface="Segoe UI Semibold"/>
              </a:rPr>
              <a:t>? Explain.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12  ·  Supervised Learning I: Regression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81  ·  answers in Appendix D     </a:t>
            </a:r>
            <a:fld id="{98B61888-FDFA-4481-8C2D-26F945815BD8}"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In </a:t>
            </a:r>
            <a:r>
              <a:rPr sz="2400" b="0" i="1">
                <a:solidFill>
                  <a:srgbClr val="1A5276"/>
                </a:solidFill>
                <a:latin typeface="Cambria"/>
              </a:rPr>
              <a:t>ŷ</a:t>
            </a:r>
            <a:r>
              <a:rPr sz="2400" b="0" i="0">
                <a:solidFill>
                  <a:srgbClr val="1A5276"/>
                </a:solidFill>
                <a:latin typeface="Cambria"/>
              </a:rPr>
              <a:t> = 30 + 0.5</a:t>
            </a:r>
            <a:r>
              <a:rPr sz="2400" b="0" i="1">
                <a:solidFill>
                  <a:srgbClr val="1A5276"/>
                </a:solidFill>
                <a:latin typeface="Cambria"/>
              </a:rPr>
              <a:t>x</a:t>
            </a:r>
            <a:r>
              <a:rPr sz="2400" b="0" i="0" baseline="-25000">
                <a:solidFill>
                  <a:srgbClr val="1A5276"/>
                </a:solidFill>
                <a:latin typeface="Cambria"/>
              </a:rPr>
              <a:t>1</a:t>
            </a:r>
            <a:r>
              <a:rPr sz="2400" b="0" i="0">
                <a:solidFill>
                  <a:srgbClr val="1A5276"/>
                </a:solidFill>
                <a:latin typeface="Cambria"/>
              </a:rPr>
              <a:t> + 12</a:t>
            </a:r>
            <a:r>
              <a:rPr sz="2400" b="0" i="1">
                <a:solidFill>
                  <a:srgbClr val="1A5276"/>
                </a:solidFill>
                <a:latin typeface="Cambria"/>
              </a:rPr>
              <a:t>x</a:t>
            </a:r>
            <a:r>
              <a:rPr sz="2400" b="0" i="0" baseline="-25000">
                <a:solidFill>
                  <a:srgbClr val="1A5276"/>
                </a:solidFill>
                <a:latin typeface="Cambria"/>
              </a:rPr>
              <a:t>2</a:t>
            </a:r>
            <a:r>
              <a:rPr sz="2400" b="0" i="0">
                <a:solidFill>
                  <a:srgbClr val="1A5276"/>
                </a:solidFill>
                <a:latin typeface="Segoe UI Semibold"/>
              </a:rPr>
              <a:t>, is </a:t>
            </a:r>
            <a:r>
              <a:rPr sz="2400" b="0" i="1">
                <a:solidFill>
                  <a:srgbClr val="1A5276"/>
                </a:solidFill>
                <a:latin typeface="Cambria"/>
              </a:rPr>
              <a:t>x</a:t>
            </a:r>
            <a:r>
              <a:rPr sz="2400" b="0" i="0" baseline="-25000">
                <a:solidFill>
                  <a:srgbClr val="1A5276"/>
                </a:solidFill>
                <a:latin typeface="Cambria"/>
              </a:rPr>
              <a:t>2</a:t>
            </a:r>
            <a:r>
              <a:rPr sz="2400" b="0" i="0">
                <a:solidFill>
                  <a:srgbClr val="1A5276"/>
                </a:solidFill>
                <a:latin typeface="Segoe UI Semibold"/>
              </a:rPr>
              <a:t> twelve times more important than </a:t>
            </a:r>
            <a:r>
              <a:rPr sz="2400" b="0" i="1">
                <a:solidFill>
                  <a:srgbClr val="1A5276"/>
                </a:solidFill>
                <a:latin typeface="Cambria"/>
              </a:rPr>
              <a:t>x</a:t>
            </a:r>
            <a:r>
              <a:rPr sz="2400" b="0" i="0" baseline="-25000">
                <a:solidFill>
                  <a:srgbClr val="1A5276"/>
                </a:solidFill>
                <a:latin typeface="Cambria"/>
              </a:rPr>
              <a:t>1</a:t>
            </a:r>
            <a:r>
              <a:rPr sz="2400" b="0" i="0">
                <a:solidFill>
                  <a:srgbClr val="1A5276"/>
                </a:solidFill>
                <a:latin typeface="Segoe UI Semibold"/>
              </a:rPr>
              <a:t>? Explain.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The features are on different scales. If </a:t>
            </a:r>
            <a:r>
              <a:rPr sz="2200" b="0" i="1">
                <a:solidFill>
                  <a:srgbClr val="1C252B"/>
                </a:solidFill>
                <a:latin typeface="Cambria"/>
              </a:rPr>
              <a:t>x</a:t>
            </a:r>
            <a:r>
              <a:rPr sz="2200" b="0" i="0" baseline="-25000">
                <a:solidFill>
                  <a:srgbClr val="1C252B"/>
                </a:solidFill>
                <a:latin typeface="Cambria"/>
              </a:rPr>
              <a:t>1</a:t>
            </a:r>
            <a:r>
              <a:rPr sz="2200" b="0" i="0">
                <a:solidFill>
                  <a:srgbClr val="1C252B"/>
                </a:solidFill>
                <a:latin typeface="Segoe UI"/>
              </a:rPr>
              <a:t> ranges 0–100 and </a:t>
            </a:r>
            <a:r>
              <a:rPr sz="2200" b="0" i="1">
                <a:solidFill>
                  <a:srgbClr val="1C252B"/>
                </a:solidFill>
                <a:latin typeface="Cambria"/>
              </a:rPr>
              <a:t>x</a:t>
            </a:r>
            <a:r>
              <a:rPr sz="2200" b="0" i="0" baseline="-25000">
                <a:solidFill>
                  <a:srgbClr val="1C252B"/>
                </a:solidFill>
                <a:latin typeface="Cambria"/>
              </a:rPr>
              <a:t>2</a:t>
            </a:r>
            <a:r>
              <a:rPr sz="2200" b="0" i="0">
                <a:solidFill>
                  <a:srgbClr val="1C252B"/>
                </a:solidFill>
                <a:latin typeface="Segoe UI"/>
              </a:rPr>
              <a:t> ranges 0–5, then </a:t>
            </a:r>
            <a:r>
              <a:rPr sz="2200" b="0" i="1">
                <a:solidFill>
                  <a:srgbClr val="1C252B"/>
                </a:solidFill>
                <a:latin typeface="Cambria"/>
              </a:rPr>
              <a:t>x</a:t>
            </a:r>
            <a:r>
              <a:rPr sz="2200" b="0" i="0" baseline="-25000">
                <a:solidFill>
                  <a:srgbClr val="1C252B"/>
                </a:solidFill>
                <a:latin typeface="Cambria"/>
              </a:rPr>
              <a:t>1</a:t>
            </a:r>
            <a:r>
              <a:rPr sz="2200" b="0" i="0">
                <a:solidFill>
                  <a:srgbClr val="1C252B"/>
                </a:solidFill>
                <a:latin typeface="Segoe UI"/>
              </a:rPr>
              <a:t> contributes up to 50 and </a:t>
            </a:r>
            <a:r>
              <a:rPr sz="2200" b="0" i="1">
                <a:solidFill>
                  <a:srgbClr val="1C252B"/>
                </a:solidFill>
                <a:latin typeface="Cambria"/>
              </a:rPr>
              <a:t>x</a:t>
            </a:r>
            <a:r>
              <a:rPr sz="2200" b="0" i="0" baseline="-25000">
                <a:solidFill>
                  <a:srgbClr val="1C252B"/>
                </a:solidFill>
                <a:latin typeface="Cambria"/>
              </a:rPr>
              <a:t>2</a:t>
            </a:r>
            <a:r>
              <a:rPr sz="2200" b="0" i="0">
                <a:solidFill>
                  <a:srgbClr val="1C252B"/>
                </a:solidFill>
                <a:latin typeface="Segoe UI"/>
              </a:rPr>
              <a:t> up to 60 — roughly comparable. Standardise before comparing coefficients.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  answers in Appendix D     </a:t>
            </a:r>
            <a:fld id="{F7A7EAFF-08CB-4564-AC64-3E52C49A93AF}"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9520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residual plot shows a clear fan shape widening to the right. Name the violation and give one remedy.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12  ·  Supervised Learning I: Regression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81  ·  answers in Appendix D     </a:t>
            </a:r>
            <a:fld id="{3B2E3803-286E-42E1-B339-427859760EB8}"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Your residual plot shows a clear fan shape widening to the right. Name the violation and give one remedy.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Heteroscedasticity: the error variance grows with the prediction. Remedies: model </a:t>
            </a:r>
            <a:r>
              <a:rPr sz="2200" b="0" i="0">
                <a:solidFill>
                  <a:srgbClr val="1C252B"/>
                </a:solidFill>
                <a:latin typeface="Cambria"/>
              </a:rPr>
              <a:t>log(</a:t>
            </a:r>
            <a:r>
              <a:rPr sz="2200" b="0" i="1">
                <a:solidFill>
                  <a:srgbClr val="1C252B"/>
                </a:solidFill>
                <a:latin typeface="Cambria"/>
              </a:rPr>
              <a:t>y</a:t>
            </a:r>
            <a:r>
              <a:rPr sz="2200" b="0" i="0">
                <a:solidFill>
                  <a:srgbClr val="1C252B"/>
                </a:solidFill>
                <a:latin typeface="Cambria"/>
              </a:rPr>
              <a:t>)</a:t>
            </a:r>
            <a:r>
              <a:rPr sz="2200" b="0" i="0">
                <a:solidFill>
                  <a:srgbClr val="1C252B"/>
                </a:solidFill>
                <a:latin typeface="Segoe UI"/>
              </a:rPr>
              <a:t> instead, or use weighted least squares. The coefficients may still be usable, but the confidence intervals are wrong.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  answers in Appendix D     </a:t>
            </a:r>
            <a:fld id="{B66EBA6A-947A-474A-B314-F1A253EE0FA8}"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6FD3DFDD-2A69-490A-9E5B-058B346E3269}" type="slidenum">
              <a:rPr lang="en-GB" sz="1000">
                <a:solidFill>
                  <a:srgbClr val="8795A1"/>
                </a:solidFill>
                <a:latin typeface="Segoe UI"/>
              </a:rPr>
              <a:t>41</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Linear regression fits </a:t>
            </a:r>
            <a:r>
              <a:rPr sz="2100" b="0" i="1">
                <a:solidFill>
                  <a:srgbClr val="1C252B"/>
                </a:solidFill>
                <a:latin typeface="Cambria"/>
              </a:rPr>
              <a:t>ŷ</a:t>
            </a:r>
            <a:r>
              <a:rPr sz="2100" b="0" i="0">
                <a:solidFill>
                  <a:srgbClr val="1C252B"/>
                </a:solidFill>
                <a:latin typeface="Cambria"/>
              </a:rPr>
              <a:t> = </a:t>
            </a:r>
            <a:r>
              <a:rPr sz="2100" b="0" i="1">
                <a:solidFill>
                  <a:srgbClr val="1C252B"/>
                </a:solidFill>
                <a:latin typeface="Cambria"/>
              </a:rPr>
              <a:t>w</a:t>
            </a:r>
            <a:r>
              <a:rPr sz="2100" b="0" i="0" baseline="-25000">
                <a:solidFill>
                  <a:srgbClr val="1C252B"/>
                </a:solidFill>
                <a:latin typeface="Cambria"/>
              </a:rPr>
              <a:t>0</a:t>
            </a:r>
            <a:r>
              <a:rPr sz="2100" b="0" i="0">
                <a:solidFill>
                  <a:srgbClr val="1C252B"/>
                </a:solidFill>
                <a:latin typeface="Cambria"/>
              </a:rPr>
              <a:t> + Σ</a:t>
            </a:r>
            <a:r>
              <a:rPr sz="2100" b="0" i="1" baseline="-25000">
                <a:solidFill>
                  <a:srgbClr val="1C252B"/>
                </a:solidFill>
                <a:latin typeface="Cambria"/>
              </a:rPr>
              <a:t>j</a:t>
            </a:r>
            <a:r>
              <a:rPr sz="2100" b="0" i="0">
                <a:solidFill>
                  <a:srgbClr val="1C252B"/>
                </a:solidFill>
                <a:latin typeface="Cambria"/>
              </a:rPr>
              <a:t> </a:t>
            </a:r>
            <a:r>
              <a:rPr sz="2100" b="0" i="1">
                <a:solidFill>
                  <a:srgbClr val="1C252B"/>
                </a:solidFill>
                <a:latin typeface="Cambria"/>
              </a:rPr>
              <a:t>w</a:t>
            </a:r>
            <a:r>
              <a:rPr sz="2100" b="0" i="1" baseline="-25000">
                <a:solidFill>
                  <a:srgbClr val="1C252B"/>
                </a:solidFill>
                <a:latin typeface="Cambria"/>
              </a:rPr>
              <a:t>j</a:t>
            </a:r>
            <a:r>
              <a:rPr sz="2100" b="0" i="0">
                <a:solidFill>
                  <a:srgbClr val="1C252B"/>
                </a:solidFill>
                <a:latin typeface="Cambria"/>
              </a:rPr>
              <a:t> </a:t>
            </a:r>
            <a:r>
              <a:rPr sz="2100" b="0" i="1">
                <a:solidFill>
                  <a:srgbClr val="1C252B"/>
                </a:solidFill>
                <a:latin typeface="Cambria"/>
              </a:rPr>
              <a:t>x</a:t>
            </a:r>
            <a:r>
              <a:rPr sz="2100" b="0" i="1" baseline="-25000">
                <a:solidFill>
                  <a:srgbClr val="1C252B"/>
                </a:solidFill>
                <a:latin typeface="Cambria"/>
              </a:rPr>
              <a:t>j</a:t>
            </a:r>
            <a:r>
              <a:rPr sz="2100" b="0" i="0">
                <a:solidFill>
                  <a:srgbClr val="1C252B"/>
                </a:solidFill>
                <a:latin typeface="Segoe UI"/>
              </a:rPr>
              <a:t> by minimising squared residuals.</a:t>
            </a:r>
          </a:p>
        </p:txBody>
      </p:sp>
      <p:sp>
        <p:nvSpPr>
          <p:cNvPr id="10" name="!!sb1">
            <a:extLst>
              <a:ext uri="{C183D7F6-B498-43B3-948B-1728B52AA6E4}">
                <adec:decorative xmlns:adec="http://schemas.microsoft.com/office/drawing/2017/decorative" val="1"/>
              </a:ext>
            </a:extLst>
          </p:cNvPr>
          <p:cNvSpPr/>
          <p:nvPr/>
        </p:nvSpPr>
        <p:spPr>
          <a:xfrm>
            <a:off x="658368" y="233172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38658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322576"/>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coefficient is the change in </a:t>
            </a:r>
            <a:r>
              <a:rPr sz="2100" b="0" i="1">
                <a:solidFill>
                  <a:srgbClr val="1C252B"/>
                </a:solidFill>
                <a:latin typeface="Cambria"/>
              </a:rPr>
              <a:t>ŷ</a:t>
            </a:r>
            <a:r>
              <a:rPr sz="2100" b="0" i="0">
                <a:solidFill>
                  <a:srgbClr val="1C252B"/>
                </a:solidFill>
                <a:latin typeface="Segoe UI"/>
              </a:rPr>
              <a:t> per unit of that feature </a:t>
            </a:r>
            <a:r>
              <a:rPr sz="2100" b="0" i="1">
                <a:solidFill>
                  <a:srgbClr val="1C252B"/>
                </a:solidFill>
                <a:latin typeface="Segoe UI"/>
              </a:rPr>
              <a:t>holding the others constant</a:t>
            </a:r>
            <a:r>
              <a:rPr sz="2100" b="0" i="0">
                <a:solidFill>
                  <a:srgbClr val="1C252B"/>
                </a:solidFill>
                <a:latin typeface="Segoe UI"/>
              </a:rPr>
              <a:t> — and is an association, not a causal effect.</a:t>
            </a:r>
          </a:p>
        </p:txBody>
      </p:sp>
      <p:sp>
        <p:nvSpPr>
          <p:cNvPr id="13" name="!!sb2">
            <a:extLst>
              <a:ext uri="{C183D7F6-B498-43B3-948B-1728B52AA6E4}">
                <adec:decorative xmlns:adec="http://schemas.microsoft.com/office/drawing/2017/decorative" val="1"/>
              </a:ext>
            </a:extLst>
          </p:cNvPr>
          <p:cNvSpPr/>
          <p:nvPr/>
        </p:nvSpPr>
        <p:spPr>
          <a:xfrm>
            <a:off x="658368" y="318028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3514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71139"/>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MAE treats all errors equally; RMSE punishes large ones. Choose from the cost of being badly wrong.</a:t>
            </a:r>
          </a:p>
        </p:txBody>
      </p:sp>
      <p:sp>
        <p:nvSpPr>
          <p:cNvPr id="16" name="!!sb3">
            <a:extLst>
              <a:ext uri="{C183D7F6-B498-43B3-948B-1728B52AA6E4}">
                <adec:decorative xmlns:adec="http://schemas.microsoft.com/office/drawing/2017/decorative" val="1"/>
              </a:ext>
            </a:extLst>
          </p:cNvPr>
          <p:cNvSpPr/>
          <p:nvPr/>
        </p:nvSpPr>
        <p:spPr>
          <a:xfrm>
            <a:off x="658368" y="40288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837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1970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1">
                <a:solidFill>
                  <a:srgbClr val="1C252B"/>
                </a:solidFill>
                <a:latin typeface="Cambria"/>
              </a:rPr>
              <a:t>R</a:t>
            </a:r>
            <a:r>
              <a:rPr sz="2100" b="0" i="0" baseline="30000">
                <a:solidFill>
                  <a:srgbClr val="1C252B"/>
                </a:solidFill>
                <a:latin typeface="Cambria"/>
              </a:rPr>
              <a:t>2</a:t>
            </a:r>
            <a:r>
              <a:rPr sz="2100" b="0" i="0">
                <a:solidFill>
                  <a:srgbClr val="1C252B"/>
                </a:solidFill>
                <a:latin typeface="Segoe UI"/>
              </a:rPr>
              <a:t> never falls when features are added, so never use it alone for model selection.</a:t>
            </a:r>
          </a:p>
        </p:txBody>
      </p:sp>
      <p:sp>
        <p:nvSpPr>
          <p:cNvPr id="19" name="!!sb4">
            <a:extLst>
              <a:ext uri="{C183D7F6-B498-43B3-948B-1728B52AA6E4}">
                <adec:decorative xmlns:adec="http://schemas.microsoft.com/office/drawing/2017/decorative" val="1"/>
              </a:ext>
            </a:extLst>
          </p:cNvPr>
          <p:cNvSpPr/>
          <p:nvPr/>
        </p:nvSpPr>
        <p:spPr>
          <a:xfrm>
            <a:off x="658368" y="461406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6892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04918"/>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residual plot checks linearity and homoscedasticity at a glance. Produce it every time.</a:t>
            </a:r>
          </a:p>
        </p:txBody>
      </p:sp>
      <p:sp>
        <p:nvSpPr>
          <p:cNvPr id="22" name="!!sb5">
            <a:extLst>
              <a:ext uri="{C183D7F6-B498-43B3-948B-1728B52AA6E4}">
                <adec:decorative xmlns:adec="http://schemas.microsoft.com/office/drawing/2017/decorative" val="1"/>
              </a:ext>
            </a:extLst>
          </p:cNvPr>
          <p:cNvSpPr/>
          <p:nvPr/>
        </p:nvSpPr>
        <p:spPr>
          <a:xfrm>
            <a:off x="658368" y="546262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1748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453481"/>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Ridge shrinks coefficients; lasso zeroes them and thereby selects features. Both require scaled inputs.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0798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80448CD1-1718-4DBB-B265-10CBCEE49284}"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metric most heavily penalises a single very large error?</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MAE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RMSE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R</a:t>
            </a:r>
            <a:r>
              <a:rPr sz="2000" b="0" i="0" baseline="30000">
                <a:solidFill>
                  <a:srgbClr val="1C252B"/>
                </a:solidFill>
                <a:latin typeface="Cambria"/>
              </a:rPr>
              <a:t>2</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median absolute error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789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AD5970BC-3A42-45CB-9291-3B5A9C110A5D}"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Lasso differs from ridge principally because it can: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handle non-linearity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set coefficients exactly to zero</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work without scaling</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fit faster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498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12  ·  Supervised Learning I: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D7FC3913-7BB5-4245-99A2-230281A22808}" type="slidenum">
              <a:rPr lang="en-GB" sz="1000">
                <a:solidFill>
                  <a:srgbClr val="8795A1"/>
                </a:solidFill>
                <a:latin typeface="Segoe UI"/>
              </a:rPr>
              <a:t>44</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t>
            </a:r>
            <a:r>
              <a:rPr sz="1900" b="0" i="1">
                <a:solidFill>
                  <a:srgbClr val="1C252B"/>
                </a:solidFill>
                <a:latin typeface="Cambria"/>
              </a:rPr>
              <a:t>R</a:t>
            </a:r>
            <a:r>
              <a:rPr sz="1900" b="0" i="0" baseline="30000">
                <a:solidFill>
                  <a:srgbClr val="1C252B"/>
                </a:solidFill>
                <a:latin typeface="Cambria"/>
              </a:rPr>
              <a:t>2</a:t>
            </a:r>
            <a:r>
              <a:rPr sz="1900" b="0" i="0">
                <a:solidFill>
                  <a:srgbClr val="1C252B"/>
                </a:solidFill>
                <a:latin typeface="Segoe UI"/>
              </a:rPr>
              <a:t> should not be used to decide whether to add a feature.</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residual plot shows a clear parabola. What is wrong and what are two options for fixing it?</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must features be standardised before ridge or lasso?</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Given </a:t>
            </a:r>
            <a:r>
              <a:rPr sz="1900" b="0" i="1">
                <a:solidFill>
                  <a:srgbClr val="1C252B"/>
                </a:solidFill>
                <a:latin typeface="Cambria"/>
              </a:rPr>
              <a:t>ŷ</a:t>
            </a:r>
            <a:r>
              <a:rPr sz="1900" b="0" i="0">
                <a:solidFill>
                  <a:srgbClr val="1C252B"/>
                </a:solidFill>
                <a:latin typeface="Cambria"/>
              </a:rPr>
              <a:t> = 12.0 + 0.55 (</a:t>
            </a:r>
            <a:r>
              <a:rPr sz="1900" b="0" i="0">
                <a:solidFill>
                  <a:srgbClr val="1C252B"/>
                </a:solidFill>
                <a:latin typeface="Segoe UI"/>
              </a:rPr>
              <a:t>attendance</a:t>
            </a:r>
            <a:r>
              <a:rPr sz="1900" b="0" i="0">
                <a:solidFill>
                  <a:srgbClr val="1C252B"/>
                </a:solidFill>
                <a:latin typeface="Cambria"/>
              </a:rPr>
              <a:t>) + 1.9 (</a:t>
            </a:r>
            <a:r>
              <a:rPr sz="1900" b="0" i="0">
                <a:solidFill>
                  <a:srgbClr val="1C252B"/>
                </a:solidFill>
                <a:latin typeface="Segoe UI"/>
              </a:rPr>
              <a:t>quizzes</a:t>
            </a:r>
            <a:r>
              <a:rPr sz="1900" b="0" i="0">
                <a:solidFill>
                  <a:srgbClr val="1C252B"/>
                </a:solidFill>
                <a:latin typeface="Cambria"/>
              </a:rPr>
              <a:t>) − 0.8 (</a:t>
            </a:r>
            <a:r>
              <a:rPr sz="1900" b="0" i="0">
                <a:solidFill>
                  <a:srgbClr val="1C252B"/>
                </a:solidFill>
                <a:latin typeface="Segoe UI"/>
              </a:rPr>
              <a:t>days_absent</a:t>
            </a:r>
            <a:r>
              <a:rPr sz="1900" b="0" i="0">
                <a:solidFill>
                  <a:srgbClr val="1C252B"/>
                </a:solidFill>
                <a:latin typeface="Cambria"/>
              </a:rPr>
              <a:t>)</a:t>
            </a:r>
            <a:r>
              <a:rPr sz="1900" b="0" i="0">
                <a:solidFill>
                  <a:srgbClr val="1C252B"/>
                </a:solidFill>
                <a:latin typeface="Segoe UI"/>
              </a:rPr>
              <a:t>, predict the mark for a student with attendance 70%, 6 quizzes, 3 days absent. Then state, in one sentence each, the correct and the incorrect interpretation of the attendance coefficient.</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are predicting remaining useful life for turbine components. Argue for a specific error metric, predict what the residual plot will look like and why, and say what you would do about it.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07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13 — Supervised Learning II: Classification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12, pages 76–81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Split, baseline, diagnose; fit &amp; regularise</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1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12  ·  Supervised Learning I: Regression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E9059C0F-09B4-4FE1-A543-816A9BB4293F}"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Supervised Learning I: Regression</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