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4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79.svg" ContentType="image/svg+xml"/>
  <Override PartName="/ppt/media/image8.svg" ContentType="image/svg+xml"/>
  <Override PartName="/ppt/media/image8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8AD2C6D-4256-4DC0-B4B9-68E2FDBC9511}">
          <p14:sldIdLst>
            <p14:sldId id="256"/>
            <p14:sldId id="257"/>
            <p14:sldId id="258"/>
            <p14:sldId id="259"/>
            <p14:sldId id="260"/>
          </p14:sldIdLst>
        </p14:section>
        <p14:section name="24.1 Service Models" id="{38320B62-BD93-4FBE-B158-8017C712EA50}">
          <p14:sldIdLst>
            <p14:sldId id="261"/>
          </p14:sldIdLst>
        </p14:section>
        <p14:section name="24.2 Virtual Machines, Containers, Serverless" id="{8DC8ED4F-48C2-433C-B5CE-6F728E352FF7}">
          <p14:sldIdLst>
            <p14:sldId id="262"/>
            <p14:sldId id="263"/>
            <p14:sldId id="264"/>
            <p14:sldId id="265"/>
          </p14:sldIdLst>
        </p14:section>
        <p14:section name="24.3 Cloud, Fog and Edge" id="{F6A17521-E960-412A-B2EE-E4064AF04746}">
          <p14:sldIdLst>
            <p14:sldId id="266"/>
            <p14:sldId id="267"/>
            <p14:sldId id="268"/>
            <p14:sldId id="269"/>
            <p14:sldId id="270"/>
          </p14:sldIdLst>
        </p14:section>
        <p14:section name="24.4 Cost and the Shared Responsibility Model" id="{4ED0863A-3B48-45AE-B203-530DA5630E01}">
          <p14:sldIdLst>
            <p14:sldId id="271"/>
            <p14:sldId id="272"/>
            <p14:sldId id="273"/>
          </p14:sldIdLst>
        </p14:section>
        <p14:section name="Four lenses" id="{90EBCBA0-EA0C-4F28-9D6F-AE44D79C86A6}">
          <p14:sldIdLst>
            <p14:sldId id="274"/>
            <p14:sldId id="275"/>
            <p14:sldId id="276"/>
            <p14:sldId id="277"/>
            <p14:sldId id="278"/>
          </p14:sldIdLst>
        </p14:section>
        <p14:section name="Lab" id="{3A489DAC-55A7-4FD5-97AF-879E7BB1483B}">
          <p14:sldIdLst>
            <p14:sldId id="279"/>
            <p14:sldId id="280"/>
            <p14:sldId id="281"/>
            <p14:sldId id="282"/>
          </p14:sldIdLst>
        </p14:section>
        <p14:section name="Checkpoint" id="{5BC98EA6-FE20-4C25-8FEE-55F299E890C6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Wrap-up" id="{DFCFDCA7-3F40-4DAC-BA2D-40BFBBFC6010}">
          <p14:sldIdLst>
            <p14:sldId id="289"/>
            <p14:sldId id="290"/>
            <p14:sldId id="291"/>
            <p14:sldId id="292"/>
            <p14:sldId id="2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24: Cloud and Edge Computing for Data Science. Part 5 — Data Science in Systems Context. Week 14: Data engineering; cloud and edge. Handout pages 156–161.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23 (pipelines and storage). This chapter supplies the deployment substrate for Chapter 25 and Chapter 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IaaS / PaaS / SaaS; public, private, hybrid cloud; elasticity; virtual machine; container; image; Kubernetes; serverless; GPU; cloud, fog and edge; latency; quantisation; shared responsibility; data residency; egress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24.1 (handout p. 156): The service models as a stack of responsibilities. Reading which layers are yours tells you exactly what you must secure, patch and pay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24.2 (handout p. 157): Virtual machines versus containers. For data science the decisive property is not efficiency but reproducibility: the container image is an exact, versioned record of the environment a result was produced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24.3 (handout p. 158): The three tiers. Placement is decided by the latency the decision requires and the bandwidth you can afford — not by where the computation is most convenient to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method, four domains. Each of the next four slides opens one lens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Analytics. Almost entirely cloud, since inference is nightly rather than real time and volumes are modest. The dominant constraint is not technical but legal: data residency. Student records may be required to remain in a specific jurisdiction, which decides your region before any performance consideration. Encrypt at rest and in transit, and restrict access by role — most staff need aggregates, not individual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Management. Nearly all the tooling is SaaS — tracker, CI, chat — so the data science work is integration rather than infrastructure. The relevant risks are lock-in and API stability: a vendor changing its API without notice breaks your pipeline (Chapter 23), and export capability should be checked before adoption,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Internet of Things. This lens is the whole reason the chapter exists, and the worked example is its canonical form: train in the cloud, infer at the edge, aggregate at the fog. Devices must also be updatable over the air, because a model that cannot be redeployed cannot respond to the drift of Chapter 19. Budget bandwidth per device before choosing a model size — on cellular-connected fleets, bandwidth, not accuracy, sets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Cybersecurity. Cloud brings both new defences and a much larger attack surface. Log collection benefits enormously from elastic storage, and managed detection services are genuinely good. But the shared responsibility line is where organisations fail: public buckets, over-permissive IAM roles, and unencrypted snapshots are all on the customer’s side. Add to that the multi-tenancy question — your workload shares hardware with strangers — and containers’ weaker isolation compared with virtual machines becomes a real consideration for sensitive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what the room will have at the end of the lab, then let them start. Circulate rather than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Dockerfile: an exact, versioned record of the environment.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Serve.py: a minimal scoring service.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Build, run, and shrink for the edge.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You are, entirely. Under shared responsibility the provider secures the infrastructure; access configuration and data are the customer’s side of the line. Nearly all publicised “cloud breaches” are of this kind.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(i) It pins the system libraries, interpreter version and OS packages, not just Python packages; (ii) it is a single immutable artefact that can be re-run identically months later, whereas pip install -r resolves differently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 edge. Cloud round-trip latency alone is 50–500 ms, so the budget cannot be met; and a network outage would remove all protection. Safety-critical latency is not negotiable by improving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25 — Data Science for the Internet of Things. READ: Handout Chapter 24, pages 156–161. THIS WEEK'S LAB: Data contracts; containerise a model. ASSESSMENT: Capstone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11.xml"/><Relationship Id="rId8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27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image" Target="../media/image30.png"/><Relationship Id="rId5" Type="http://schemas.openxmlformats.org/officeDocument/2006/relationships/image" Target="../media/image31.svg"/><Relationship Id="rId6" Type="http://schemas.openxmlformats.org/officeDocument/2006/relationships/image" Target="../media/image32.png"/><Relationship Id="rId7" Type="http://schemas.openxmlformats.org/officeDocument/2006/relationships/image" Target="../media/image33.svg"/><Relationship Id="rId8" Type="http://schemas.openxmlformats.org/officeDocument/2006/relationships/image" Target="../media/image34.png"/><Relationship Id="rId9" Type="http://schemas.openxmlformats.org/officeDocument/2006/relationships/image" Target="../media/image35.svg"/><Relationship Id="rId10" Type="http://schemas.openxmlformats.org/officeDocument/2006/relationships/image" Target="../media/image36.png"/><Relationship Id="rId11" Type="http://schemas.openxmlformats.org/officeDocument/2006/relationships/image" Target="../media/image37.svg"/><Relationship Id="rId1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svg"/><Relationship Id="rId4" Type="http://schemas.openxmlformats.org/officeDocument/2006/relationships/image" Target="../media/image30.png"/><Relationship Id="rId5" Type="http://schemas.openxmlformats.org/officeDocument/2006/relationships/image" Target="../media/image40.svg"/><Relationship Id="rId6" Type="http://schemas.openxmlformats.org/officeDocument/2006/relationships/image" Target="../media/image32.png"/><Relationship Id="rId7" Type="http://schemas.openxmlformats.org/officeDocument/2006/relationships/image" Target="../media/image41.svg"/><Relationship Id="rId8" Type="http://schemas.openxmlformats.org/officeDocument/2006/relationships/image" Target="../media/image34.png"/><Relationship Id="rId9" Type="http://schemas.openxmlformats.org/officeDocument/2006/relationships/image" Target="../media/image42.svg"/><Relationship Id="rId10" Type="http://schemas.openxmlformats.org/officeDocument/2006/relationships/image" Target="../media/image36.png"/><Relationship Id="rId11" Type="http://schemas.openxmlformats.org/officeDocument/2006/relationships/image" Target="../media/image43.svg"/><Relationship Id="rId1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5.svg"/><Relationship Id="rId4" Type="http://schemas.openxmlformats.org/officeDocument/2006/relationships/image" Target="../media/image32.png"/><Relationship Id="rId5" Type="http://schemas.openxmlformats.org/officeDocument/2006/relationships/image" Target="../media/image46.svg"/><Relationship Id="rId6" Type="http://schemas.openxmlformats.org/officeDocument/2006/relationships/image" Target="../media/image30.png"/><Relationship Id="rId7" Type="http://schemas.openxmlformats.org/officeDocument/2006/relationships/image" Target="../media/image47.svg"/><Relationship Id="rId8" Type="http://schemas.openxmlformats.org/officeDocument/2006/relationships/image" Target="../media/image34.png"/><Relationship Id="rId9" Type="http://schemas.openxmlformats.org/officeDocument/2006/relationships/image" Target="../media/image48.svg"/><Relationship Id="rId10" Type="http://schemas.openxmlformats.org/officeDocument/2006/relationships/image" Target="../media/image36.png"/><Relationship Id="rId11" Type="http://schemas.openxmlformats.org/officeDocument/2006/relationships/image" Target="../media/image49.svg"/><Relationship Id="rId1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3" Type="http://schemas.openxmlformats.org/officeDocument/2006/relationships/image" Target="../media/image51.svg"/><Relationship Id="rId4" Type="http://schemas.openxmlformats.org/officeDocument/2006/relationships/image" Target="../media/image34.png"/><Relationship Id="rId5" Type="http://schemas.openxmlformats.org/officeDocument/2006/relationships/image" Target="../media/image52.svg"/><Relationship Id="rId6" Type="http://schemas.openxmlformats.org/officeDocument/2006/relationships/image" Target="../media/image30.png"/><Relationship Id="rId7" Type="http://schemas.openxmlformats.org/officeDocument/2006/relationships/image" Target="../media/image53.svg"/><Relationship Id="rId8" Type="http://schemas.openxmlformats.org/officeDocument/2006/relationships/image" Target="../media/image32.png"/><Relationship Id="rId9" Type="http://schemas.openxmlformats.org/officeDocument/2006/relationships/image" Target="../media/image54.svg"/><Relationship Id="rId10" Type="http://schemas.openxmlformats.org/officeDocument/2006/relationships/image" Target="../media/image36.png"/><Relationship Id="rId11" Type="http://schemas.openxmlformats.org/officeDocument/2006/relationships/image" Target="../media/image55.svg"/><Relationship Id="rId1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image" Target="../media/image36.png"/><Relationship Id="rId5" Type="http://schemas.openxmlformats.org/officeDocument/2006/relationships/image" Target="../media/image58.svg"/><Relationship Id="rId6" Type="http://schemas.openxmlformats.org/officeDocument/2006/relationships/image" Target="../media/image30.png"/><Relationship Id="rId7" Type="http://schemas.openxmlformats.org/officeDocument/2006/relationships/image" Target="../media/image59.svg"/><Relationship Id="rId8" Type="http://schemas.openxmlformats.org/officeDocument/2006/relationships/image" Target="../media/image32.png"/><Relationship Id="rId9" Type="http://schemas.openxmlformats.org/officeDocument/2006/relationships/image" Target="../media/image60.svg"/><Relationship Id="rId10" Type="http://schemas.openxmlformats.org/officeDocument/2006/relationships/image" Target="../media/image34.png"/><Relationship Id="rId11" Type="http://schemas.openxmlformats.org/officeDocument/2006/relationships/image" Target="../media/image61.svg"/><Relationship Id="rId1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3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4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5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6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68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0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71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2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73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4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5.png"/><Relationship Id="rId3" Type="http://schemas.openxmlformats.org/officeDocument/2006/relationships/image" Target="../media/image76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png"/><Relationship Id="rId3" Type="http://schemas.openxmlformats.org/officeDocument/2006/relationships/image" Target="../media/image78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png"/><Relationship Id="rId3" Type="http://schemas.openxmlformats.org/officeDocument/2006/relationships/image" Target="../media/image79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png"/><Relationship Id="rId3" Type="http://schemas.openxmlformats.org/officeDocument/2006/relationships/image" Target="../media/image80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88674"/>
                </a:solidFill>
                <a:latin typeface="Segoe UI Black"/>
              </a:rPr>
              <a:t>24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Cloud and Edge Computing for Data Science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CD9D4"/>
                </a:solidFill>
                <a:latin typeface="Segoe UI"/>
              </a:rPr>
              <a:t>PART V  ·  DATA SCIENCE IN SYSTEMS CONTEXT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CD9D4"/>
                </a:solidFill>
                <a:latin typeface="Segoe UI"/>
              </a:rPr>
              <a:t>CHAPTER 24  ·  WEEK 14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E4E0"/>
                </a:solidFill>
                <a:latin typeface="Segoe UI"/>
              </a:rPr>
              <a:t>Data Science — From Foundations to Intelligent Systems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0C5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3BFB9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BD0CC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FB9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156     </a:t>
            </a:r>
            <a:fld id="{D4C0AEFE-289E-4345-8DCE-948C96024B8B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634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63443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740856" y="1755648"/>
            <a:ext cx="107133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0856" y="2029967"/>
            <a:ext cx="107133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4141374" y="1755648"/>
            <a:ext cx="1634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41374" y="2029967"/>
            <a:ext cx="163443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6104991" y="1755648"/>
            <a:ext cx="1634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4991" y="2029967"/>
            <a:ext cx="163443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068608" y="1755648"/>
            <a:ext cx="16637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68608" y="2029967"/>
            <a:ext cx="1663779" cy="4572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061571" y="1755648"/>
            <a:ext cx="135288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61571" y="2029967"/>
            <a:ext cx="135288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422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66198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4972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94353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1652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22508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80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5066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7962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178818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117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06973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17039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262559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8589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29071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0138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318869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1688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34702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7557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402611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910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430766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065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458921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62205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487076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3755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515231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25304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543386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1174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598973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2723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627128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4273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655283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2582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683438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737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711593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88921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739748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4791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795335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65" name="!!dot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35484" y="2112264"/>
            <a:ext cx="566928" cy="566928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dotn24"/>
          <p:cNvSpPr txBox="1"/>
          <p:nvPr/>
        </p:nvSpPr>
        <p:spPr>
          <a:xfrm>
            <a:off x="8335484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24</a:t>
            </a:r>
          </a:p>
        </p:txBody>
      </p:sp>
      <p:sp>
        <p:nvSpPr>
          <p:cNvPr id="67" name="!!dot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878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dotn25"/>
          <p:cNvSpPr txBox="1"/>
          <p:nvPr/>
        </p:nvSpPr>
        <p:spPr>
          <a:xfrm>
            <a:off x="882734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25</a:t>
            </a:r>
          </a:p>
        </p:txBody>
      </p:sp>
      <p:sp>
        <p:nvSpPr>
          <p:cNvPr id="69" name="!!dot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0033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dotn26"/>
          <p:cNvSpPr txBox="1"/>
          <p:nvPr/>
        </p:nvSpPr>
        <p:spPr>
          <a:xfrm>
            <a:off x="91088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26</a:t>
            </a:r>
          </a:p>
        </p:txBody>
      </p:sp>
      <p:sp>
        <p:nvSpPr>
          <p:cNvPr id="71" name="!!dot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8188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dotn27"/>
          <p:cNvSpPr txBox="1"/>
          <p:nvPr/>
        </p:nvSpPr>
        <p:spPr>
          <a:xfrm>
            <a:off x="939044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27</a:t>
            </a:r>
          </a:p>
        </p:txBody>
      </p:sp>
      <p:sp>
        <p:nvSpPr>
          <p:cNvPr id="73" name="!!dot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77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dotn28"/>
          <p:cNvSpPr txBox="1"/>
          <p:nvPr/>
        </p:nvSpPr>
        <p:spPr>
          <a:xfrm>
            <a:off x="99463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28</a:t>
            </a:r>
          </a:p>
        </p:txBody>
      </p:sp>
      <p:sp>
        <p:nvSpPr>
          <p:cNvPr id="75" name="!!dot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1930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dotn29"/>
          <p:cNvSpPr txBox="1"/>
          <p:nvPr/>
        </p:nvSpPr>
        <p:spPr>
          <a:xfrm>
            <a:off x="1022786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29</a:t>
            </a:r>
          </a:p>
        </p:txBody>
      </p:sp>
      <p:sp>
        <p:nvSpPr>
          <p:cNvPr id="77" name="!!dot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0085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dotn30"/>
          <p:cNvSpPr txBox="1"/>
          <p:nvPr/>
        </p:nvSpPr>
        <p:spPr>
          <a:xfrm>
            <a:off x="1050941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30</a:t>
            </a:r>
          </a:p>
        </p:txBody>
      </p:sp>
      <p:sp>
        <p:nvSpPr>
          <p:cNvPr id="79" name="!!dot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240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!!dotn31"/>
          <p:cNvSpPr txBox="1"/>
          <p:nvPr/>
        </p:nvSpPr>
        <p:spPr>
          <a:xfrm>
            <a:off x="1079096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31</a:t>
            </a:r>
          </a:p>
        </p:txBody>
      </p:sp>
      <p:sp>
        <p:nvSpPr>
          <p:cNvPr id="81" name="!!dot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6395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dotn32"/>
          <p:cNvSpPr txBox="1"/>
          <p:nvPr/>
        </p:nvSpPr>
        <p:spPr>
          <a:xfrm>
            <a:off x="1107251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32</a:t>
            </a:r>
          </a:p>
        </p:txBody>
      </p:sp>
      <p:sp>
        <p:nvSpPr>
          <p:cNvPr id="83" name="!!dotlabel"/>
          <p:cNvSpPr txBox="1"/>
          <p:nvPr/>
        </p:nvSpPr>
        <p:spPr>
          <a:xfrm>
            <a:off x="6332948" y="2798064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7964"/>
                </a:solidFill>
                <a:latin typeface="Segoe UI"/>
              </a:rPr>
              <a:t>Cloud and Edge Computing for Data Science</a:t>
            </a:r>
          </a:p>
        </p:txBody>
      </p:sp>
      <p:sp>
        <p:nvSpPr>
          <p:cNvPr id="8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85" name="!!chipBU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!!chipbBU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!!chiptBU23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Data Engineering at Scale</a:t>
            </a:r>
          </a:p>
        </p:txBody>
      </p:sp>
      <p:sp>
        <p:nvSpPr>
          <p:cNvPr id="88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89" name="!!chipUS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!!chipbUS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!!chiptUS25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Data Science for the Internet of Things</a:t>
            </a:r>
          </a:p>
        </p:txBody>
      </p:sp>
      <p:sp>
        <p:nvSpPr>
          <p:cNvPr id="92" name="!!chipUS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!!chipbUS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!!chiptUS27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27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MLOps: Deployment, Monitoring and Reliability</a:t>
            </a:r>
          </a:p>
        </p:txBody>
      </p:sp>
      <p:sp>
        <p:nvSpPr>
          <p:cNvPr id="9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166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156     </a:t>
            </a:r>
            <a:fld id="{FCD23077-3CA5-4769-9281-D0B24C07463E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Distinguish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IaaS, PaaS and SaaS, and say who is responsible for what in each.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16352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how containers differ from virtual machines and why that matters for reproducibility.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715207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Choose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between cloud, fog and edge placement for a given inference workload.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318711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Estimate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and control the cost of a data science workload.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81067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4940503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4922215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shared responsibility model to a cloud deployment.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62502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156     </a:t>
            </a:r>
            <a:fld id="{F105DEB2-D558-42D8-989C-06327C32D5B4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IaaS / PaaS /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207204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IaaS / PaaS /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IaaS / PaaS / "/>
          <p:cNvSpPr txBox="1"/>
          <p:nvPr/>
        </p:nvSpPr>
        <p:spPr>
          <a:xfrm>
            <a:off x="950976" y="1962911"/>
            <a:ext cx="188916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IaaS / PaaS / SaaS</a:t>
            </a:r>
          </a:p>
        </p:txBody>
      </p:sp>
      <p:sp>
        <p:nvSpPr>
          <p:cNvPr id="10" name="!!term-public, priv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6720" y="1847088"/>
            <a:ext cx="297449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public, priv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0473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public, privat"/>
          <p:cNvSpPr txBox="1"/>
          <p:nvPr/>
        </p:nvSpPr>
        <p:spPr>
          <a:xfrm>
            <a:off x="3169328" y="1962911"/>
            <a:ext cx="279161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public, private, hybrid cloud</a:t>
            </a:r>
          </a:p>
        </p:txBody>
      </p:sp>
      <p:sp>
        <p:nvSpPr>
          <p:cNvPr id="13" name="!!term-elastic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7520" y="1847088"/>
            <a:ext cx="122775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elastic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553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elasticity"/>
          <p:cNvSpPr txBox="1"/>
          <p:nvPr/>
        </p:nvSpPr>
        <p:spPr>
          <a:xfrm>
            <a:off x="6290128" y="1962911"/>
            <a:ext cx="104487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elasticity</a:t>
            </a:r>
          </a:p>
        </p:txBody>
      </p:sp>
      <p:sp>
        <p:nvSpPr>
          <p:cNvPr id="16" name="!!term-virtual mach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1583" y="1847088"/>
            <a:ext cx="183347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virtual mach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959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virtual machin"/>
          <p:cNvSpPr txBox="1"/>
          <p:nvPr/>
        </p:nvSpPr>
        <p:spPr>
          <a:xfrm>
            <a:off x="7664191" y="1962911"/>
            <a:ext cx="165059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virtual machine</a:t>
            </a:r>
          </a:p>
        </p:txBody>
      </p:sp>
      <p:sp>
        <p:nvSpPr>
          <p:cNvPr id="19" name="!!term-contai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1365" y="1847088"/>
            <a:ext cx="129719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contai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7938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container"/>
          <p:cNvSpPr txBox="1"/>
          <p:nvPr/>
        </p:nvSpPr>
        <p:spPr>
          <a:xfrm>
            <a:off x="9643973" y="1962911"/>
            <a:ext cx="111431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container</a:t>
            </a:r>
          </a:p>
        </p:txBody>
      </p:sp>
      <p:sp>
        <p:nvSpPr>
          <p:cNvPr id="22" name="!!term-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00349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image"/>
          <p:cNvSpPr txBox="1"/>
          <p:nvPr/>
        </p:nvSpPr>
        <p:spPr>
          <a:xfrm>
            <a:off x="950976" y="2584704"/>
            <a:ext cx="82061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image</a:t>
            </a:r>
          </a:p>
        </p:txBody>
      </p:sp>
      <p:sp>
        <p:nvSpPr>
          <p:cNvPr id="25" name="!!term-Kubernet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8171" y="2468880"/>
            <a:ext cx="147105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Kubernet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36187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Kubernetes"/>
          <p:cNvSpPr txBox="1"/>
          <p:nvPr/>
        </p:nvSpPr>
        <p:spPr>
          <a:xfrm>
            <a:off x="2100779" y="2584704"/>
            <a:ext cx="128817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Kubernetes</a:t>
            </a:r>
          </a:p>
        </p:txBody>
      </p:sp>
      <p:sp>
        <p:nvSpPr>
          <p:cNvPr id="28" name="!!term-serverle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5529" y="2468880"/>
            <a:ext cx="132155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serverle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53545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serverless"/>
          <p:cNvSpPr txBox="1"/>
          <p:nvPr/>
        </p:nvSpPr>
        <p:spPr>
          <a:xfrm>
            <a:off x="3718137" y="2584704"/>
            <a:ext cx="113867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serverless</a:t>
            </a:r>
          </a:p>
        </p:txBody>
      </p:sp>
      <p:sp>
        <p:nvSpPr>
          <p:cNvPr id="31" name="!!term-GP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3385" y="2468880"/>
            <a:ext cx="83955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GP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140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GPU"/>
          <p:cNvSpPr txBox="1"/>
          <p:nvPr/>
        </p:nvSpPr>
        <p:spPr>
          <a:xfrm>
            <a:off x="5185993" y="2584704"/>
            <a:ext cx="65667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GPU</a:t>
            </a:r>
          </a:p>
        </p:txBody>
      </p:sp>
      <p:sp>
        <p:nvSpPr>
          <p:cNvPr id="34" name="!!term-cloud, fog 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9243" y="2468880"/>
            <a:ext cx="227527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cloud, fog 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725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cloud, fog and"/>
          <p:cNvSpPr txBox="1"/>
          <p:nvPr/>
        </p:nvSpPr>
        <p:spPr>
          <a:xfrm>
            <a:off x="6171851" y="2584704"/>
            <a:ext cx="209239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cloud, fog and edge</a:t>
            </a:r>
          </a:p>
        </p:txBody>
      </p:sp>
      <p:sp>
        <p:nvSpPr>
          <p:cNvPr id="37" name="!!term-latenc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0818" y="2468880"/>
            <a:ext cx="108658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latenc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2883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latency"/>
          <p:cNvSpPr txBox="1"/>
          <p:nvPr/>
        </p:nvSpPr>
        <p:spPr>
          <a:xfrm>
            <a:off x="8593426" y="2584704"/>
            <a:ext cx="90370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latency</a:t>
            </a:r>
          </a:p>
        </p:txBody>
      </p:sp>
      <p:sp>
        <p:nvSpPr>
          <p:cNvPr id="40" name="!!term-quantis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33708" y="2468880"/>
            <a:ext cx="157409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quantis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6172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quantisation"/>
          <p:cNvSpPr txBox="1"/>
          <p:nvPr/>
        </p:nvSpPr>
        <p:spPr>
          <a:xfrm>
            <a:off x="9826316" y="2584704"/>
            <a:ext cx="139121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quantisation</a:t>
            </a:r>
          </a:p>
        </p:txBody>
      </p:sp>
      <p:sp>
        <p:nvSpPr>
          <p:cNvPr id="43" name="!!term-shared respon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231891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termd-shared respon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termt-shared respons"/>
          <p:cNvSpPr txBox="1"/>
          <p:nvPr/>
        </p:nvSpPr>
        <p:spPr>
          <a:xfrm>
            <a:off x="950976" y="3206496"/>
            <a:ext cx="213603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shared responsibility</a:t>
            </a:r>
          </a:p>
        </p:txBody>
      </p:sp>
      <p:sp>
        <p:nvSpPr>
          <p:cNvPr id="46" name="!!term-data residenc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23591" y="3090672"/>
            <a:ext cx="176142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!!termd-data residenc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1607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termt-data residency"/>
          <p:cNvSpPr txBox="1"/>
          <p:nvPr/>
        </p:nvSpPr>
        <p:spPr>
          <a:xfrm>
            <a:off x="3416199" y="3206496"/>
            <a:ext cx="157854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data residency</a:t>
            </a:r>
          </a:p>
        </p:txBody>
      </p:sp>
      <p:sp>
        <p:nvSpPr>
          <p:cNvPr id="49" name="!!term-egress cos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31317" y="3090672"/>
            <a:ext cx="145777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termd-egress cos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9333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!!termt-egress cost"/>
          <p:cNvSpPr txBox="1"/>
          <p:nvPr/>
        </p:nvSpPr>
        <p:spPr>
          <a:xfrm>
            <a:off x="5323925" y="3206496"/>
            <a:ext cx="127489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egress cost</a:t>
            </a:r>
          </a:p>
        </p:txBody>
      </p:sp>
      <p:sp>
        <p:nvSpPr>
          <p:cNvPr id="52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5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83336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156–161     </a:t>
            </a:r>
            <a:fld id="{68BB6063-FFA9-402B-AE14-1822577FAFBB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24.1 Service Models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24.1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Service Models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156  ›</a:t>
            </a:r>
          </a:p>
        </p:txBody>
      </p:sp>
      <p:sp>
        <p:nvSpPr>
          <p:cNvPr id="12" name="!!ag1" descr="Go to section 24.2 Virtual Machines, Containers, Serverless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24.2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Virtual Machines, Containers, Serverless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157  ›</a:t>
            </a:r>
          </a:p>
        </p:txBody>
      </p:sp>
      <p:sp>
        <p:nvSpPr>
          <p:cNvPr id="17" name="!!ag2" descr="Go to section 24.3 Cloud, Fog and Edge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24.3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Cloud, Fog and Edge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157  ›</a:t>
            </a:r>
          </a:p>
        </p:txBody>
      </p:sp>
      <p:sp>
        <p:nvSpPr>
          <p:cNvPr id="22" name="!!ag3" descr="Go to section 24.4 Cost and the Shared Responsibility Model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24.4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Cost and the Shared Responsibility Model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158  ›</a:t>
            </a:r>
          </a:p>
        </p:txBody>
      </p:sp>
      <p:sp>
        <p:nvSpPr>
          <p:cNvPr id="2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04170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service models as a stack of responsibilities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07964"/>
                </a:solidFill>
                <a:latin typeface="Segoe UI"/>
              </a:rPr>
              <a:t>FIGURE 24.1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§24.1  ·  Handout p. 156     </a:t>
            </a:r>
            <a:fld id="{BB3730F4-186B-45DE-9C59-1558934E3E9C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pic>
        <p:nvPicPr>
          <p:cNvPr id="6" name="!!figure" descr="Figure 24.1. The service models as a stack of responsibilities. Reading which layers are yours tells you exactly what you must secure, patch and pay for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7891" y="1737360"/>
            <a:ext cx="8995912" cy="4009948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930188"/>
            <a:ext cx="54864" cy="306019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911900"/>
            <a:ext cx="10600639" cy="4888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Reading which layers are yours tells you exactly what you must secure, patch and pay for.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925004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Virtual Machines, Containers, Serverless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7D7D0"/>
                </a:solidFill>
                <a:latin typeface="Segoe UI"/>
              </a:rPr>
              <a:t>SECTION 2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24.2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24.1   Service Models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964"/>
                </a:solidFill>
                <a:latin typeface="Segoe UI"/>
              </a:rPr>
              <a:t>24.2   Virtual Machines, Containers, Serverless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24.3   Cloud, Fog and Edge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24.4   Cost and the Shared Responsibility Model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§24.2     </a:t>
            </a:r>
            <a:fld id="{42132911-98D2-4C87-9E51-B8EEBEF4E392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4583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Container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§24.2  ·  Handout p. 157     </a:t>
            </a:r>
            <a:fld id="{06604F64-577C-46A1-AD64-490DF494C97C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package containing an application together with its libraries and configuration, sharing the host operating system kernel rather than running a full guest OS. Starts in under a second, measured in megabytes, and runs identically wherever it is deployed.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566672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Virtual machines versus containers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07964"/>
                </a:solidFill>
                <a:latin typeface="Segoe UI"/>
              </a:rPr>
              <a:t>FIGURE 24.2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§24.2  ·  Handout p. 157     </a:t>
            </a:r>
            <a:fld id="{B5EACE7F-D748-4C3C-A852-EE249A27C7EC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pic>
        <p:nvPicPr>
          <p:cNvPr id="6" name="!!figure" descr="Figure 24.2. Virtual machines versus containers. For data science the decisive property is not efficiency but reproducibility: the container image is an exact, versioned record of the environment a result was produced in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6987" y="1737360"/>
            <a:ext cx="7917719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For data science the decisive property is not efficiency but reproducibility: the container image is an exact, versioned record of the environment a result was produced in.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87506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Serverless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§24.2  ·  Handout p. 157     </a:t>
            </a:r>
            <a:fld id="{7F81D041-03B3-44F4-B0F8-7D438C379936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809036"/>
          </a:xfrm>
          <a:prstGeom prst="roundRect">
            <a:avLst>
              <a:gd name="adj" fmla="val 3255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80903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22329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You supply a function; the provider runs it on demand and bills per invocation. Nothing is running — or being paid for — between calls. Excellent for intermittent, short, stateless work such as scoring a single record on arrival. Poor for long training jobs, for anything needing a GPU, and for workloads sensitive to the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cold start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delay on the first call after an idle period.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08340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Cloud, Fog and Edge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7D7D0"/>
                </a:solidFill>
                <a:latin typeface="Segoe UI"/>
              </a:rPr>
              <a:t>SECTION 3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24.3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24.1   Service Models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24.2   Virtual Machines, Containers, Serverless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964"/>
                </a:solidFill>
                <a:latin typeface="Segoe UI"/>
              </a:rPr>
              <a:t>24.3   Cloud, Fog and Edge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24.4   Cost and the Shared Responsibility Model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§24.3     </a:t>
            </a:r>
            <a:fld id="{1B1072EB-E82D-494F-B027-FD9299E99DEA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529174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Edge, Fog and Cloud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§24.3  ·  Handout p. 157     </a:t>
            </a:r>
            <a:fld id="{55CCCCF0-D1AA-4BE5-8180-B6C04D4A71C2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715414"/>
          </a:xfrm>
          <a:prstGeom prst="roundRect">
            <a:avLst>
              <a:gd name="adj" fmla="val 5330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715414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Edge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computation on or beside the device that generates the data.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Fog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an intermediate tier — a gateway or local server serving a site.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Cloud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centralised, effectively unlimited compute, far away in network terms.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85000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three tiers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07964"/>
                </a:solidFill>
                <a:latin typeface="Segoe UI"/>
              </a:rPr>
              <a:t>FIGURE 24.3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§24.3  ·  Handout p. 157     </a:t>
            </a:r>
            <a:fld id="{FF46297F-33B4-4988-9B4C-4231D7C54287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pic>
        <p:nvPicPr>
          <p:cNvPr id="6" name="!!figure" descr="Figure 24.3. The three tiers. Placement is decided by the latency the decision requires and the bandwidth you can afford — not by where the computation is most convenient to write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8899" y="1737360"/>
            <a:ext cx="8313897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Placement is decided by the latency the decision requires and the bandwidth you can afford — not by where the computation is most convenient to write.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7084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Should the Model Run?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§24.3  ·  Handout p. 157     </a:t>
            </a:r>
            <a:fld id="{175BBDAA-B041-4F00-931F-A12EA8E7B45C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922496"/>
          </a:xfrm>
          <a:prstGeom prst="roundRect">
            <a:avLst>
              <a:gd name="adj" fmla="val 2331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9224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400 motors, each producing 6 channels at 100 Hz. A vibration anomaly must trigger a shutdown.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746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Option A — send everything to the cloud.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3180537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Data rate: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400 × 6 × 100 × 4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bytes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960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kB/s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≈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83 GB/day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≈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30 TB/year. Round-trip latency: 100–300 ms. Also: if the link drops, the factory has no protection at all.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42416" y="3915537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Option B — everything at the edge.</a:t>
            </a:r>
          </a:p>
        </p:txBody>
      </p:sp>
      <p:sp>
        <p:nvSpPr>
          <p:cNvPr id="13" name="body-4"/>
          <p:cNvSpPr txBox="1"/>
          <p:nvPr/>
        </p:nvSpPr>
        <p:spPr>
          <a:xfrm>
            <a:off x="1042416" y="4349394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Latency: under 10 ms; no bandwidth cost; works offline. But a microcontroller cannot train, and cannot see the other 399 motors, so it can never learn what fleet-wide normal looks like.</a:t>
            </a:r>
          </a:p>
        </p:txBody>
      </p:sp>
      <p:sp>
        <p:nvSpPr>
          <p:cNvPr id="14" name="body-5"/>
          <p:cNvSpPr txBox="1"/>
          <p:nvPr/>
        </p:nvSpPr>
        <p:spPr>
          <a:xfrm>
            <a:off x="1042416" y="5084394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Option C — split (the answer).</a:t>
            </a:r>
          </a:p>
        </p:txBody>
      </p:sp>
      <p:sp>
        <p:nvSpPr>
          <p:cNvPr id="2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9167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Should the Model Run?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§24.3  ·  Handout p. 157     </a:t>
            </a:r>
            <a:fld id="{9DF7123A-DCCA-4315-8044-D4F700FD8785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162831"/>
          </a:xfrm>
          <a:prstGeom prst="roundRect">
            <a:avLst>
              <a:gd name="adj" fmla="val 2196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16283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23226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665"/>
              </a:spcAft>
            </a:pPr>
            <a:r>
              <a:rPr sz="1900" b="1">
                <a:solidFill>
                  <a:srgbClr val="7D6608"/>
                </a:solidFill>
                <a:latin typeface="Segoe UI"/>
              </a:rPr>
              <a:t>•	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Edge: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compute window statistics on-device and run a quantised threshold model. Trigger shutdown locally in under 10 ms. Transmit only features and alerts — roughly 1 kB per device per minute, which is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400 ×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kB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× 525,600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minutes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≈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210 GB/year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in total.</a:t>
            </a:r>
          </a:p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665"/>
              </a:spcAft>
            </a:pPr>
            <a:r>
              <a:rPr sz="1900" b="1">
                <a:solidFill>
                  <a:srgbClr val="7D6608"/>
                </a:solidFill>
                <a:latin typeface="Segoe UI"/>
              </a:rPr>
              <a:t>•	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Fog: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site gateway correlates across all 400 motors, catching site-wide events no single device could see.</a:t>
            </a:r>
          </a:p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D6608"/>
                </a:solidFill>
                <a:latin typeface="Segoe UI"/>
              </a:rPr>
              <a:t>•	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Cloud: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retrain the model monthly on the accumulated feature history and push the updated model back to the devices.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4421301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Result: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bandwidth falls from 30 TB to 210 GB — a factor of about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140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the safety-critical decision meets its latency budget, protection survives a network outage, and the model still improves from fleet-wide learning. Note that the constraint that decided this was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latency and availability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not accuracy.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439589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1251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Cost and the Shared Responsibility Model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7D7D0"/>
                </a:solidFill>
                <a:latin typeface="Segoe UI"/>
              </a:rPr>
              <a:t>SECTION 4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24.4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24.1   Service Models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24.2   Virtual Machines, Containers, Serverless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24.3   Cloud, Fog and Edge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964"/>
                </a:solidFill>
                <a:latin typeface="Segoe UI"/>
              </a:rPr>
              <a:t>24.4   Cost and the Shared Responsibility Model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§24.4     </a:t>
            </a:r>
            <a:fld id="{30B1BFD7-2129-4B7B-AD71-2E6AA4767EC3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3334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Costs That Surprise Students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§24.4  ·  Handout p. 158     </a:t>
            </a:r>
            <a:fld id="{16EBD93B-A88A-4C59-8450-49788F08500E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09364"/>
          </a:xfrm>
          <a:prstGeom prst="roundRect">
            <a:avLst>
              <a:gd name="adj" fmla="val 2172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093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36332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•	</a:t>
            </a:r>
            <a:r>
              <a:rPr sz="2300" b="1" i="0">
                <a:solidFill>
                  <a:srgbClr val="A93226"/>
                </a:solidFill>
                <a:latin typeface="Segoe UI"/>
              </a:rPr>
              <a:t>Idle GPUs.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 GPU instance left running overnight costs the same as one training. Shut them down; use spot instances for interruptible work.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•	</a:t>
            </a:r>
            <a:r>
              <a:rPr sz="2300" b="1" i="0">
                <a:solidFill>
                  <a:srgbClr val="A93226"/>
                </a:solidFill>
                <a:latin typeface="Segoe UI"/>
              </a:rPr>
              <a:t>Egress.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Moving data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into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 cloud is usually free; moving it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out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charged per gigabyte. This is what makes Option A above expensive forever, not just once.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•	</a:t>
            </a:r>
            <a:r>
              <a:rPr sz="2300" b="1" i="0">
                <a:solidFill>
                  <a:srgbClr val="A93226"/>
                </a:solidFill>
                <a:latin typeface="Segoe UI"/>
              </a:rPr>
              <a:t>Cross-region traffic.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Storage in one region and compute in another pays egress on every read.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•	</a:t>
            </a:r>
            <a:r>
              <a:rPr sz="2300" b="1" i="0">
                <a:solidFill>
                  <a:srgbClr val="A93226"/>
                </a:solidFill>
                <a:latin typeface="Segoe UI"/>
              </a:rPr>
              <a:t>Forgotten storage.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Nobody deletes the 2 TB of intermediate Parquet from March. Set lifecycle rules on creation.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5417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Shared Responsibility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§24.4  ·  Handout p. 158     </a:t>
            </a:r>
            <a:fld id="{0B2430AD-5E8A-41A5-B4B4-9181777CA7DB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444496"/>
          </a:xfrm>
          <a:prstGeom prst="roundRect">
            <a:avLst>
              <a:gd name="adj" fmla="val 3740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444496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provider secures the cloud — physical sites, hardware, hypervisor, managed services. You secure what is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in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 cloud — your data, access control, network configuration and application code. Nearly every publicised “cloud breach” is a failure on the customer’s side of this line, most often a misconfigured storage bucket.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77501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Four lenses: Cloud and Edge</a:t>
            </a:r>
          </a:p>
        </p:txBody>
      </p:sp>
      <p:pic>
        <p:nvPicPr>
          <p:cNvPr id="3" name="!!kicker-icon" descr="compass-123953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23953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   </a:t>
            </a:r>
            <a:fld id="{8B4A49FF-54CF-45DE-8AC9-76AD2C0BEA6E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5318607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419498" cy="256032"/>
          </a:xfrm>
          <a:prstGeom prst="rect">
            <a:avLst/>
          </a:prstGeom>
        </p:spPr>
      </p:pic>
      <p:sp>
        <p:nvSpPr>
          <p:cNvPr id="11" name="!!lensn-LA"/>
          <p:cNvSpPr txBox="1"/>
          <p:nvPr/>
        </p:nvSpPr>
        <p:spPr>
          <a:xfrm>
            <a:off x="1425337" y="1837943"/>
            <a:ext cx="4460197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2" name="!!lensb-LA-0"/>
          <p:cNvSpPr txBox="1"/>
          <p:nvPr/>
        </p:nvSpPr>
        <p:spPr>
          <a:xfrm>
            <a:off x="896112" y="2414016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Almost entirely cloud, since inference is nightly rather than real time and volumes are modest.</a:t>
            </a:r>
          </a:p>
        </p:txBody>
      </p:sp>
      <p:sp>
        <p:nvSpPr>
          <p:cNvPr id="13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1737360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1737360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121408"/>
            <a:ext cx="5318607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5887" y="1856231"/>
            <a:ext cx="301783" cy="256032"/>
          </a:xfrm>
          <a:prstGeom prst="rect">
            <a:avLst/>
          </a:prstGeom>
        </p:spPr>
      </p:pic>
      <p:sp>
        <p:nvSpPr>
          <p:cNvPr id="17" name="!!lensn-PM"/>
          <p:cNvSpPr txBox="1"/>
          <p:nvPr/>
        </p:nvSpPr>
        <p:spPr>
          <a:xfrm>
            <a:off x="6863974" y="1837943"/>
            <a:ext cx="4577912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8" name="!!lensb-PM-0"/>
          <p:cNvSpPr txBox="1"/>
          <p:nvPr/>
        </p:nvSpPr>
        <p:spPr>
          <a:xfrm>
            <a:off x="6452463" y="2414016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Nearly all the tooling is SaaS — tracker, CI, chat — so the data science work is integration rather than infrastructure.</a:t>
            </a:r>
          </a:p>
        </p:txBody>
      </p:sp>
      <p:sp>
        <p:nvSpPr>
          <p:cNvPr id="19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33087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33087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17136"/>
            <a:ext cx="5318607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2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536" y="4251959"/>
            <a:ext cx="256032" cy="256032"/>
          </a:xfrm>
          <a:prstGeom prst="rect">
            <a:avLst/>
          </a:prstGeom>
        </p:spPr>
      </p:pic>
      <p:sp>
        <p:nvSpPr>
          <p:cNvPr id="23" name="!!lensn-IOT"/>
          <p:cNvSpPr txBox="1"/>
          <p:nvPr/>
        </p:nvSpPr>
        <p:spPr>
          <a:xfrm>
            <a:off x="1261872" y="4233672"/>
            <a:ext cx="4623663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4" name="!!lensb-IOT-0"/>
          <p:cNvSpPr txBox="1"/>
          <p:nvPr/>
        </p:nvSpPr>
        <p:spPr>
          <a:xfrm>
            <a:off x="896112" y="4809744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This lens is the whole reason the chapter exists, and the worked example is its canonical form: train in the cloud, infer at the edge, aggregate at the fog.</a:t>
            </a:r>
          </a:p>
        </p:txBody>
      </p:sp>
      <p:sp>
        <p:nvSpPr>
          <p:cNvPr id="25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133087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133087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517136"/>
            <a:ext cx="5318607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8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5887" y="4251959"/>
            <a:ext cx="256032" cy="256032"/>
          </a:xfrm>
          <a:prstGeom prst="rect">
            <a:avLst/>
          </a:prstGeom>
        </p:spPr>
      </p:pic>
      <p:sp>
        <p:nvSpPr>
          <p:cNvPr id="29" name="!!lensn-SEC"/>
          <p:cNvSpPr txBox="1"/>
          <p:nvPr/>
        </p:nvSpPr>
        <p:spPr>
          <a:xfrm>
            <a:off x="6818223" y="4233672"/>
            <a:ext cx="4623663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30" name="!!lensb-SEC-0"/>
          <p:cNvSpPr txBox="1"/>
          <p:nvPr/>
        </p:nvSpPr>
        <p:spPr>
          <a:xfrm>
            <a:off x="6452463" y="4809744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Cloud brings both new defences and a much larger attack surface.</a:t>
            </a:r>
          </a:p>
        </p:txBody>
      </p:sp>
      <p:sp>
        <p:nvSpPr>
          <p:cNvPr id="3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Learning Analytics: Cloud and Edge</a:t>
            </a:r>
          </a:p>
        </p:txBody>
      </p:sp>
      <p:pic>
        <p:nvPicPr>
          <p:cNvPr id="3" name="!!kicker-icon" descr="compass-6C3483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6C3483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   </a:t>
            </a:r>
            <a:fld id="{F60988B5-A1D1-4115-A8DE-D03E7AA65FA3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6F3F8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419498" cy="256032"/>
          </a:xfrm>
          <a:prstGeom prst="rect">
            <a:avLst/>
          </a:prstGeom>
        </p:spPr>
      </p:pic>
      <p:sp>
        <p:nvSpPr>
          <p:cNvPr id="11" name="!!lensn-LA"/>
          <p:cNvSpPr txBox="1"/>
          <p:nvPr/>
        </p:nvSpPr>
        <p:spPr>
          <a:xfrm>
            <a:off x="1425337" y="1837943"/>
            <a:ext cx="7181909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2" name="!!lensb-LA-0"/>
          <p:cNvSpPr txBox="1"/>
          <p:nvPr/>
        </p:nvSpPr>
        <p:spPr>
          <a:xfrm>
            <a:off x="896112" y="2432304"/>
            <a:ext cx="7583119" cy="24865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Almost entirely cloud, since inference is nightly rather than real time and volumes are modest. The dominant constraint is not technical but legal: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data residency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Student records may be required to remain in a specific jurisdiction, which decides your region before any performance consideration. Encrypt at rest and in transit, and restrict access by role — most staff need aggregates, not individual records.</a:t>
            </a:r>
          </a:p>
        </p:txBody>
      </p:sp>
      <p:sp>
        <p:nvSpPr>
          <p:cNvPr id="13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301783" cy="256032"/>
          </a:xfrm>
          <a:prstGeom prst="rect">
            <a:avLst/>
          </a:prstGeom>
        </p:spPr>
      </p:pic>
      <p:sp>
        <p:nvSpPr>
          <p:cNvPr id="17" name="!!lensn-PM"/>
          <p:cNvSpPr txBox="1"/>
          <p:nvPr/>
        </p:nvSpPr>
        <p:spPr>
          <a:xfrm>
            <a:off x="9585686" y="1837943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8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256032" cy="256032"/>
          </a:xfrm>
          <a:prstGeom prst="rect">
            <a:avLst/>
          </a:prstGeom>
        </p:spPr>
      </p:pic>
      <p:sp>
        <p:nvSpPr>
          <p:cNvPr id="22" name="!!lensn-IOT"/>
          <p:cNvSpPr txBox="1"/>
          <p:nvPr/>
        </p:nvSpPr>
        <p:spPr>
          <a:xfrm>
            <a:off x="9539935" y="2496312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1668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Project Management: Cloud and Edge</a:t>
            </a:r>
          </a:p>
        </p:txBody>
      </p:sp>
      <p:pic>
        <p:nvPicPr>
          <p:cNvPr id="3" name="!!kicker-icon" descr="compass-1F618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F618D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   </a:t>
            </a:r>
            <a:fld id="{D68BF77C-A000-4090-B05C-82E6E7A92E5E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2F6F8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301783" cy="256032"/>
          </a:xfrm>
          <a:prstGeom prst="rect">
            <a:avLst/>
          </a:prstGeom>
        </p:spPr>
      </p:pic>
      <p:sp>
        <p:nvSpPr>
          <p:cNvPr id="11" name="!!lensn-PM"/>
          <p:cNvSpPr txBox="1"/>
          <p:nvPr/>
        </p:nvSpPr>
        <p:spPr>
          <a:xfrm>
            <a:off x="1307622" y="1837943"/>
            <a:ext cx="7299624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2" name="!!lensb-PM-0"/>
          <p:cNvSpPr txBox="1"/>
          <p:nvPr/>
        </p:nvSpPr>
        <p:spPr>
          <a:xfrm>
            <a:off x="896112" y="2432304"/>
            <a:ext cx="7583119" cy="21378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Nearly all the tooling is SaaS — tracker, CI, chat — so the data science work is integration rather than infrastructure. The relevant risks are lock-in and API stability: a vendor changing its API without notice breaks your pipeline (Chapter 23), and export capability should be checked before adoption, not after.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256032" cy="256032"/>
          </a:xfrm>
          <a:prstGeom prst="rect">
            <a:avLst/>
          </a:prstGeom>
        </p:spPr>
      </p:pic>
      <p:sp>
        <p:nvSpPr>
          <p:cNvPr id="22" name="!!lensn-IOT"/>
          <p:cNvSpPr txBox="1"/>
          <p:nvPr/>
        </p:nvSpPr>
        <p:spPr>
          <a:xfrm>
            <a:off x="9539935" y="2496312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3751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Internet of Things: Cloud and Edge</a:t>
            </a:r>
          </a:p>
        </p:txBody>
      </p:sp>
      <p:pic>
        <p:nvPicPr>
          <p:cNvPr id="3" name="!!kicker-icon" descr="compass-117864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864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   </a:t>
            </a:r>
            <a:fld id="{0AE80513-D04F-42BE-AE47-2294C803101C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1F7F6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256032" cy="256032"/>
          </a:xfrm>
          <a:prstGeom prst="rect">
            <a:avLst/>
          </a:prstGeom>
        </p:spPr>
      </p:pic>
      <p:sp>
        <p:nvSpPr>
          <p:cNvPr id="11" name="!!lensn-IOT"/>
          <p:cNvSpPr txBox="1"/>
          <p:nvPr/>
        </p:nvSpPr>
        <p:spPr>
          <a:xfrm>
            <a:off x="1261872" y="1837943"/>
            <a:ext cx="734537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12" name="!!lensb-IOT-0"/>
          <p:cNvSpPr txBox="1"/>
          <p:nvPr/>
        </p:nvSpPr>
        <p:spPr>
          <a:xfrm>
            <a:off x="896112" y="2432304"/>
            <a:ext cx="7583119" cy="283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This lens is the whole reason the chapter exists, and the worked example is its canonical form: train in the cloud, infer at the edge, aggregate at the fog. Devices must also be updatable over the air, because a model that cannot be redeployed cannot respond to the drift of Chapter 19. Budget bandwidth per device before choosing a model size — on cellular-connected fleets, bandwidth, not accuracy, sets the architecture.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301783" cy="256032"/>
          </a:xfrm>
          <a:prstGeom prst="rect">
            <a:avLst/>
          </a:prstGeom>
        </p:spPr>
      </p:pic>
      <p:sp>
        <p:nvSpPr>
          <p:cNvPr id="22" name="!!lensn-PM"/>
          <p:cNvSpPr txBox="1"/>
          <p:nvPr/>
        </p:nvSpPr>
        <p:spPr>
          <a:xfrm>
            <a:off x="9585686" y="2496312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5834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Cybersecurity: Cloud and Edge</a:t>
            </a:r>
          </a:p>
        </p:txBody>
      </p:sp>
      <p:pic>
        <p:nvPicPr>
          <p:cNvPr id="3" name="!!kicker-icon" descr="compass-922B2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922B21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   </a:t>
            </a:r>
            <a:fld id="{4F1A99C4-FAC5-434A-A5E2-7F69913EBB0F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8F2F2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256032" cy="256032"/>
          </a:xfrm>
          <a:prstGeom prst="rect">
            <a:avLst/>
          </a:prstGeom>
        </p:spPr>
      </p:pic>
      <p:sp>
        <p:nvSpPr>
          <p:cNvPr id="11" name="!!lensn-SEC"/>
          <p:cNvSpPr txBox="1"/>
          <p:nvPr/>
        </p:nvSpPr>
        <p:spPr>
          <a:xfrm>
            <a:off x="1261872" y="1837943"/>
            <a:ext cx="734537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12" name="!!lensb-SEC-0"/>
          <p:cNvSpPr txBox="1"/>
          <p:nvPr/>
        </p:nvSpPr>
        <p:spPr>
          <a:xfrm>
            <a:off x="896112" y="2432304"/>
            <a:ext cx="7583119" cy="35326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Cloud brings both new defences and a much larger attack surface. Log collection benefits enormously from elastic storage, and managed detection services are genuinely good. But the shared responsibility line is where organisations fail: public buckets, over-permissive IAM roles, and unencrypted snapshots are all on the customer’s side. Add to that the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multi-tenancy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question — your workload shares hardware with strangers — and containers’ weaker isolation compared with virtual machines becomes a real consideration for sensitive processing.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301783" cy="256032"/>
          </a:xfrm>
          <a:prstGeom prst="rect">
            <a:avLst/>
          </a:prstGeom>
        </p:spPr>
      </p:pic>
      <p:sp>
        <p:nvSpPr>
          <p:cNvPr id="22" name="!!lensn-PM"/>
          <p:cNvSpPr txBox="1"/>
          <p:nvPr/>
        </p:nvSpPr>
        <p:spPr>
          <a:xfrm>
            <a:off x="9585686" y="2496312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23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IOT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7918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Containerise a Model for Reproducibility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§24.4  ·  Handout p. 158     </a:t>
            </a:r>
            <a:fld id="{927E8CD0-F63F-45FD-89BB-A099032BC017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labsteps-h"/>
          <p:cNvSpPr txBox="1"/>
          <p:nvPr/>
        </p:nvSpPr>
        <p:spPr>
          <a:xfrm>
            <a:off x="658368" y="17373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8" name="!!labsteps"/>
          <p:cNvSpPr txBox="1"/>
          <p:nvPr/>
        </p:nvSpPr>
        <p:spPr>
          <a:xfrm>
            <a:off x="658368" y="2121408"/>
            <a:ext cx="10874959" cy="1104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1.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Dockerfile: an exact, versioned record of the environment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2.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Serve.py: a minimal scoring service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3.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Build, run, and shrink for the edge</a:t>
            </a:r>
          </a:p>
        </p:txBody>
      </p:sp>
      <p:sp>
        <p:nvSpPr>
          <p:cNvPr id="19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5300319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lflTHIS"/>
          <p:cNvSpPr txBox="1"/>
          <p:nvPr/>
        </p:nvSpPr>
        <p:spPr>
          <a:xfrm>
            <a:off x="932688" y="5376672"/>
            <a:ext cx="488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22" name="!!lfvTHIS"/>
          <p:cNvSpPr txBox="1"/>
          <p:nvPr/>
        </p:nvSpPr>
        <p:spPr>
          <a:xfrm>
            <a:off x="932688" y="5669280"/>
            <a:ext cx="4888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14: Data contracts; containerise a model</a:t>
            </a:r>
          </a:p>
        </p:txBody>
      </p:sp>
      <p:sp>
        <p:nvSpPr>
          <p:cNvPr id="23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5212080"/>
            <a:ext cx="5300319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flWHAT"/>
          <p:cNvSpPr txBox="1"/>
          <p:nvPr/>
        </p:nvSpPr>
        <p:spPr>
          <a:xfrm>
            <a:off x="6507327" y="5376672"/>
            <a:ext cx="488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26" name="!!lfvWHAT"/>
          <p:cNvSpPr txBox="1"/>
          <p:nvPr/>
        </p:nvSpPr>
        <p:spPr>
          <a:xfrm>
            <a:off x="6507327" y="5669280"/>
            <a:ext cx="4888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3 listings, 41 lines of Python, Shell</a:t>
            </a:r>
          </a:p>
        </p:txBody>
      </p:sp>
      <p:sp>
        <p:nvSpPr>
          <p:cNvPr id="2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70001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Containerise a Model for Reproducibility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1  ·  LISTING 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§24.4  ·  Handout p. 158     </a:t>
            </a:r>
            <a:fld id="{5A82E7F8-F13E-46C8-9E20-2E403B4E7BC1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Dockerfile: an exact, versioned record of the environment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194304"/>
          </a:xfrm>
          <a:prstGeom prst="roundRect">
            <a:avLst>
              <a:gd name="adj" fmla="val 286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Shell</a:t>
            </a:r>
          </a:p>
        </p:txBody>
      </p:sp>
      <p:sp>
        <p:nvSpPr>
          <p:cNvPr id="14" name="!!code-text" descr="# ---- Dockerfile: an exact, versioned record of the environment -------- FROM python:3.11-slim # pin the version. never use :latest WORKDIR /app COPY requirements.txt . RUN pip install --no-cache-dir -r requirements.txt COPY model.pkl serve.py ./ EXPOSE 8080 CMD [&quot;python&quot;, &quot;serve.py&quot;]"/>
          <p:cNvSpPr txBox="1"/>
          <p:nvPr/>
        </p:nvSpPr>
        <p:spPr>
          <a:xfrm>
            <a:off x="1362456" y="2523744"/>
            <a:ext cx="9987991" cy="2700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---- Dockerfile: an exact, versioned record of the environment 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0">
                <a:solidFill>
                  <a:srgbClr val="E8EDF2"/>
                </a:solidFill>
                <a:latin typeface="Consolas"/>
              </a:rPr>
              <a:t>FROM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python:3.11-slim</a:t>
            </a:r>
            <a:r>
              <a:rPr sz="17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700" i="1">
                <a:solidFill>
                  <a:srgbClr val="8795A1"/>
                </a:solidFill>
                <a:latin typeface="Consolas"/>
              </a:rPr>
              <a:t># pin the version. never use :latest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0">
                <a:solidFill>
                  <a:srgbClr val="E8EDF2"/>
                </a:solidFill>
                <a:latin typeface="Consolas"/>
              </a:rPr>
              <a:t>WORKDIR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0">
                <a:solidFill>
                  <a:srgbClr val="E8EDF2"/>
                </a:solidFill>
                <a:latin typeface="Consolas"/>
              </a:rPr>
              <a:t>COPY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requirements.txt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0">
                <a:solidFill>
                  <a:srgbClr val="E8EDF2"/>
                </a:solidFill>
                <a:latin typeface="Consolas"/>
              </a:rPr>
              <a:t>RUN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pip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install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--no-cache-dir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-r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requirements.txt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0">
                <a:solidFill>
                  <a:srgbClr val="E8EDF2"/>
                </a:solidFill>
                <a:latin typeface="Consolas"/>
              </a:rPr>
              <a:t>COPY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model.pkl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serve.py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./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0">
                <a:solidFill>
                  <a:srgbClr val="E8EDF2"/>
                </a:solidFill>
                <a:latin typeface="Consolas"/>
              </a:rPr>
              <a:t>EXPOSE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F7DC6F"/>
                </a:solidFill>
                <a:latin typeface="Consolas"/>
              </a:rPr>
              <a:t>8080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0">
                <a:solidFill>
                  <a:srgbClr val="E8EDF2"/>
                </a:solidFill>
                <a:latin typeface="Consolas"/>
              </a:rPr>
              <a:t>CMD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AEB6BF"/>
                </a:solidFill>
                <a:latin typeface="Consolas"/>
              </a:rPr>
              <a:t>[</a:t>
            </a:r>
            <a:r>
              <a:rPr sz="1700" i="0">
                <a:solidFill>
                  <a:srgbClr val="7DCEA0"/>
                </a:solidFill>
                <a:latin typeface="Consolas"/>
              </a:rPr>
              <a:t>"python"</a:t>
            </a:r>
            <a:r>
              <a:rPr sz="1700" i="0">
                <a:solidFill>
                  <a:srgbClr val="E8EDF2"/>
                </a:solidFill>
                <a:latin typeface="Consolas"/>
              </a:rPr>
              <a:t>,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7DCEA0"/>
                </a:solidFill>
                <a:latin typeface="Consolas"/>
              </a:rPr>
              <a:t>"serve.py"</a:t>
            </a:r>
            <a:r>
              <a:rPr sz="1700" i="0">
                <a:solidFill>
                  <a:srgbClr val="AEB6BF"/>
                </a:solidFill>
                <a:latin typeface="Consolas"/>
              </a:rPr>
              <a:t>]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2700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10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020852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Containerise a Model for Reproducibility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1  ·  LISTING 2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§24.4  ·  Handout p. 158     </a:t>
            </a:r>
            <a:fld id="{BC70D585-0EE7-464B-806B-AB4DBAEB6B0F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Serve.py: a minimal scoring service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224528"/>
          </a:xfrm>
          <a:prstGeom prst="roundRect">
            <a:avLst>
              <a:gd name="adj" fmla="val 2164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# ---- serve.py: a minimal scoring service ----------------------------- import joblib, pandas as pd from flask import Flask, request, jsonify app = Flask(__name__) model = joblib.load(&quot;model.pkl&quot;) @app.route(&quot;/health&quot;) # every service needs this def health(): return {&quot;status&quot;: &quot;ok&quot;}, 200 @app.route(&quot;/predict&quot;, methods=[&quot;POST&quot;]) def predict(): df = pd.DataFrame(request.get_json()[&quot;rows&quot;]) proba = model.predict_proba(df)[:, 1] return jsonify({&quot;scores&quot;: proba.tolist()}) if __name__ == &quot;__main__&quot;: app.run(host=&quot;0.0.0.0&quot;, port=8080)"/>
          <p:cNvSpPr txBox="1"/>
          <p:nvPr/>
        </p:nvSpPr>
        <p:spPr>
          <a:xfrm>
            <a:off x="1362456" y="2523744"/>
            <a:ext cx="9987991" cy="373075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# ---- serve.py: a minimal scoring service 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6D7C4"/>
                </a:solidFill>
                <a:latin typeface="Consolas"/>
              </a:rPr>
              <a:t>joblib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6D7C4"/>
                </a:solidFill>
                <a:latin typeface="Consolas"/>
              </a:rPr>
              <a:t>pandas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as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6D7C4"/>
                </a:solidFill>
                <a:latin typeface="Consolas"/>
              </a:rPr>
              <a:t>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from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6D7C4"/>
                </a:solidFill>
                <a:latin typeface="Consolas"/>
              </a:rPr>
              <a:t>flask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Flask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request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jsonify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app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Flask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__name__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model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joblib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load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model.pkl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F0B27A"/>
                </a:solidFill>
                <a:latin typeface="Consolas"/>
              </a:rPr>
              <a:t>@app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route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/health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                    </a:t>
            </a:r>
            <a:r>
              <a:rPr sz="1300" i="1">
                <a:solidFill>
                  <a:srgbClr val="8795A1"/>
                </a:solidFill>
                <a:latin typeface="Consolas"/>
              </a:rPr>
              <a:t># every service needs this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def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health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status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ok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F0B27A"/>
                </a:solidFill>
                <a:latin typeface="Consolas"/>
              </a:rPr>
              <a:t>@app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route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/predict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methods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POST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def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predict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pd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DataFrame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request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get_json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rows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proba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model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predict_proba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jsonify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scores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proba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tolist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__name__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__main__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app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run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host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0.0.0.0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port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F7DC6F"/>
                </a:solidFill>
                <a:latin typeface="Consolas"/>
              </a:rPr>
              <a:t>8080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73075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41686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Containerise a Model for Reproducibility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1  ·  LISTING 3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§24.4  ·  Handout p. 158     </a:t>
            </a:r>
            <a:fld id="{174DF576-A9BA-4E04-834C-8F48C8448DEC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Build, run, and shrink for the edge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712463"/>
          </a:xfrm>
          <a:prstGeom prst="roundRect">
            <a:avLst>
              <a:gd name="adj" fmla="val 2463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Shell</a:t>
            </a:r>
          </a:p>
        </p:txBody>
      </p:sp>
      <p:sp>
        <p:nvSpPr>
          <p:cNvPr id="14" name="!!code-text" descr="# ---- build, run, and shrink for the edge ----------------------------- docker build -t risk-model:2026.08.1 . # tag with a version, not &quot;latest&quot; docker run -p 8080:8080 risk-model:2026.08.1 # For an edge device, the same model must be made small: # quantise float32 -&gt; int8 (roughly 4x smaller, 2-3x faster) # int4 goes smaller still, and most current edge hardware has an NPU that # runs integer arithmetic far faster than its CPU -- so the quantised model # is not merely smaller, it is the only one the accelerator will run. # python -m tf.lite.TFLiteConverter ... with optimizations=[OPTIMIZE_FOR_SIZE] # Then measure accuracy AFTER quantisation -- it usually drops a little, # and whether that drop is acceptable is a Chapter 14 question."/>
          <p:cNvSpPr txBox="1"/>
          <p:nvPr/>
        </p:nvSpPr>
        <p:spPr>
          <a:xfrm>
            <a:off x="1362456" y="2523744"/>
            <a:ext cx="9987991" cy="32186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---- build, run, and shrink for the edge 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0">
                <a:solidFill>
                  <a:srgbClr val="E8EDF2"/>
                </a:solidFill>
                <a:latin typeface="Consolas"/>
              </a:rPr>
              <a:t>docker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build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-t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risk-model:2026.08.1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.</a:t>
            </a:r>
            <a:r>
              <a:rPr sz="1700" i="0">
                <a:solidFill>
                  <a:srgbClr val="E8EDF2"/>
                </a:solidFill>
                <a:latin typeface="Consolas"/>
              </a:rPr>
              <a:t>    </a:t>
            </a:r>
            <a:r>
              <a:rPr sz="1700" i="1">
                <a:solidFill>
                  <a:srgbClr val="8795A1"/>
                </a:solidFill>
                <a:latin typeface="Consolas"/>
              </a:rPr>
              <a:t># tag with a version, not "latest"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0">
                <a:solidFill>
                  <a:srgbClr val="E8EDF2"/>
                </a:solidFill>
                <a:latin typeface="Consolas"/>
              </a:rPr>
              <a:t>docker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run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-p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F7DC6F"/>
                </a:solidFill>
                <a:latin typeface="Consolas"/>
              </a:rPr>
              <a:t>8080</a:t>
            </a:r>
            <a:r>
              <a:rPr sz="1700" i="0">
                <a:solidFill>
                  <a:srgbClr val="E8EDF2"/>
                </a:solidFill>
                <a:latin typeface="Consolas"/>
              </a:rPr>
              <a:t>:8080</a:t>
            </a:r>
            <a:r>
              <a:rPr sz="1700" i="0">
                <a:solidFill>
                  <a:srgbClr val="E8EDF2"/>
                </a:solidFill>
                <a:latin typeface="Consolas"/>
              </a:rPr>
              <a:t> </a:t>
            </a:r>
            <a:r>
              <a:rPr sz="1700" i="0">
                <a:solidFill>
                  <a:srgbClr val="E8EDF2"/>
                </a:solidFill>
                <a:latin typeface="Consolas"/>
              </a:rPr>
              <a:t>risk-model:2026.08.1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For an edge device, the same model must be made small: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  quantise float32 -&gt; int8   (roughly 4x smaller, 2-3x faster)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  int4 goes smaller still, and most current edge hardware has an NPU that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  runs integer arithmetic far faster than its CPU -- so the quantised model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  is not merely smaller, it is the only one the accelerator will run.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  python -m tf.lite.TFLiteConverter ... with optimizations=[OPTIMIZE_FOR_SIZE]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Then measure accuracy AFTER quantisation -- it usually drops a little,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i="1">
                <a:solidFill>
                  <a:srgbClr val="8795A1"/>
                </a:solidFill>
                <a:latin typeface="Consolas"/>
              </a:rPr>
              <a:t># and whether that drop is acceptable is a Chapter 14 question.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2186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700">
                <a:solidFill>
                  <a:srgbClr val="4F5D6A"/>
                </a:solidFill>
                <a:latin typeface="Consolas"/>
              </a:rPr>
              <a:t>12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662520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Under the shared responsibility model, who is accountable for a publicly readable storage bucket containing student records?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161  ·  answers in Appendix D     </a:t>
            </a:r>
            <a:fld id="{0AD8EF6B-90DA-444D-8021-7E934DD8E339}" type="slidenum">
              <a:rPr lang="en-GB" sz="1000">
                <a:solidFill>
                  <a:srgbClr val="D5DEE5"/>
                </a:solidFill>
                <a:latin typeface="Segoe UI"/>
              </a:rPr>
              <a:t>28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Under the shared responsibility model, who is accountable for a publicly readable storage bucket containing student records?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6B9A"/>
                </a:solidFill>
                <a:latin typeface="Segoe UI"/>
              </a:rPr>
              <a:t>You are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entirely. Under shared responsibility the provider secures the infrastructure; access configuration and data are the customer’s side of the line. Nearly all publicised “cloud breaches” are of this kind.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·  answers in Appendix D     </a:t>
            </a:r>
            <a:fld id="{8BEE4485-AE17-4157-9590-E264CED76585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30418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Give two reasons why a container is a better answer to “it worked on my laptop” than a </a:t>
            </a:r>
            <a:r>
              <a:rPr sz="3200" b="0" i="0">
                <a:solidFill>
                  <a:srgbClr val="FFFFFF"/>
                </a:solidFill>
                <a:latin typeface="Consolas"/>
              </a:rPr>
              <a:t>requirements.txt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file.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161  ·  answers in Appendix D     </a:t>
            </a:r>
            <a:fld id="{1B5E0E67-5197-4C87-8359-73564EA5023B}" type="slidenum">
              <a:rPr lang="en-GB" sz="1000">
                <a:solidFill>
                  <a:srgbClr val="D5DEE5"/>
                </a:solidFill>
                <a:latin typeface="Segoe UI"/>
              </a:rPr>
              <a:t>30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Give two reasons why a container is a better answer to “it worked on my laptop” than a </a:t>
            </a:r>
            <a:r>
              <a:rPr sz="2250" b="0" i="0">
                <a:solidFill>
                  <a:srgbClr val="1A5276"/>
                </a:solidFill>
                <a:latin typeface="Consolas"/>
              </a:rPr>
              <a:t>requirements.txt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file.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(i) It pins the system libraries, interpreter version and OS packages, not just Python packages; (ii) it is a single immutable artefact that can be re-run identically months later, whereas </a:t>
            </a:r>
            <a:r>
              <a:rPr sz="2050" b="0" i="0">
                <a:solidFill>
                  <a:srgbClr val="1F4E79"/>
                </a:solidFill>
                <a:latin typeface="Consolas"/>
              </a:rPr>
              <a:t>pip install -r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resolves differently over time.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·  answers in Appendix D     </a:t>
            </a:r>
            <a:fld id="{3FE005A7-7B29-476C-8D56-03EE7B84BBF3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945856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 safety shutdown must occur within 20 ms of detection. Which tier must the inference run on, and why is that not negotiable?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161  ·  answers in Appendix D     </a:t>
            </a:r>
            <a:fld id="{93A752E9-DA49-40BC-A10C-8C97404BF380}" type="slidenum">
              <a:rPr lang="en-GB" sz="1000">
                <a:solidFill>
                  <a:srgbClr val="D5DEE5"/>
                </a:solidFill>
                <a:latin typeface="Segoe UI"/>
              </a:rPr>
              <a:t>32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 safety shutdown must occur within 20 ms of detection. Which tier must the inference run on, and why is that not negotiable?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edge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Cloud round-trip latency alone is 50–500 ms, so the budget cannot be met; and a network outage would remove all protection. Safety-critical latency is not negotiable by improving the model.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·  answers in Appendix D     </a:t>
            </a:r>
            <a:fld id="{8AA7E99E-1FBF-4BCB-8507-D7D5714441EF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87524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   </a:t>
            </a:r>
            <a:fld id="{153174F9-314B-4AA5-9625-E5B56F94CD98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6339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IaaS, PaaS and SaaS differ in how much of the stack you manage — but the data layer is always yours.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63367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618231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554223"/>
            <a:ext cx="10234879" cy="6339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Containers share the host kernel, start in under a second, and pin the entire environment, which is what makes results reproducible.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38023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435095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37108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Serverless suits short, intermittent, stateless work; not training, not GPUs.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65447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402031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956303"/>
            <a:ext cx="10234879" cy="6339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Edge, fog and cloud trade latency against compute. The standard pattern is train in the cloud, infer at the edge.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83717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773168"/>
            <a:ext cx="10234879" cy="6339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Placement is decided by latency requirements, bandwidth cost and offline availability — not by convenience.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59917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65404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590032"/>
            <a:ext cx="10234879" cy="6339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Egress, idle GPUs and forgotten storage are the costs that surprise people; misconfiguration on the customer’s side causes most cloud breaches.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0835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   </a:t>
            </a:r>
            <a:fld id="{800156D3-1268-4A87-A8C5-2A50C79B4CEC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Containers differ from virtual machines principally because they: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are more secure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share the host kernel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cannot run Linux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require a GPU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229192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   </a:t>
            </a:r>
            <a:fld id="{25BA37B0-BBF8-4455-91E5-D3D6966BA639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Which workload is least suited to serverless?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scoring one record on arrival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nightly 6-hour GPU training job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resizing an uploaded image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responding to a webhook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55002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161     </a:t>
            </a:r>
            <a:fld id="{0990A926-1796-442B-A6B5-CF3F00BA0B55}" type="slidenum">
              <a:rPr lang="en-GB" sz="1000">
                <a:solidFill>
                  <a:srgbClr val="8795A1"/>
                </a:solidFill>
                <a:latin typeface="Segoe UI"/>
              </a:rPr>
              <a:t>37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data residency and give a scenario where it overrides a performance-based choice of region.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773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6185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5910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Why is egress cost a recurring rather than a one-off concern in an IoT architecture?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798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13913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079699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What is a cold start, and which deployment model suffers from it?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18585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3659733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3600297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hospital wants real-time patient-monitoring alerts. Specify which computation runs at the edge, fog and cloud, and justify each placement by latency, bandwidth, privacy and availability.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414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478261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4723180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Estimate the annual bandwidth for 250 devices sending 4 channels at 50 Hz as 4-byte floats. Then propose an edge-feature scheme and estimate the new figure, showing your working.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87086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38470"/>
                </a:solidFill>
                <a:latin typeface="Segoe UI Black"/>
              </a:rPr>
              <a:t>24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24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25 — Data Science for the Internet of Things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24, pages 156–161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Data contracts; containerise a model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Capstone set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24  ·  Cloud and Edge Computing for Data Science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F9773DAE-DBD7-4EF5-B615-B99BFECEA25E}" type="slidenum">
              <a:rPr lang="en-GB" sz="1000">
                <a:solidFill>
                  <a:srgbClr val="D5DEE5"/>
                </a:solidFill>
                <a:latin typeface="Segoe UI"/>
              </a:rPr>
              <a:t>38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ta Science Fall 2026">
  <a:themeElements>
    <a:clrScheme name="Data Sci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Data Sci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24: Cloud and Edge Computing for Data Science</dc:title>
  <dc:subject>Data Science — From Foundations to Intelligent Systems · BSIT · Fall 2026</dc:subject>
  <dc:creator>Dr. Mustafa Hameed</dc:creator>
  <cp:keywords>data science; lecture slides; BSIT;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