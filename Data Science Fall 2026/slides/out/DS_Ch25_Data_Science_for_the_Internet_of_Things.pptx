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6.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4.svg" ContentType="image/svg+xml"/>
  <Override PartName="/ppt/media/image86.svg" ContentType="image/svg+xml"/>
  <Override PartName="/ppt/media/image87.svg" ContentType="image/svg+xml"/>
  <Override PartName="/ppt/media/image8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11B126-D72B-4555-8E50-A8626AAB3A8E}">
          <p14:sldIdLst>
            <p14:sldId id="256"/>
            <p14:sldId id="257"/>
            <p14:sldId id="258"/>
            <p14:sldId id="259"/>
            <p14:sldId id="260"/>
          </p14:sldIdLst>
        </p14:section>
        <p14:section name="25.1 The Architecture, and Where Data Science Lives in It" id="{CEEEE34D-D2AF-4411-B07F-DA8373C5289D}">
          <p14:sldIdLst>
            <p14:sldId id="261"/>
          </p14:sldIdLst>
        </p14:section>
        <p14:section name="25.2 What Telemetry Data Is Like" id="{A580DA8E-69A1-4774-B812-875544F88F32}">
          <p14:sldIdLst>
            <p14:sldId id="262"/>
            <p14:sldId id="263"/>
            <p14:sldId id="264"/>
            <p14:sldId id="265"/>
          </p14:sldIdLst>
        </p14:section>
        <p14:section name="25.3 Sensor Fusion" id="{40E77200-B4C8-430C-AECF-CCD625F5110E}">
          <p14:sldIdLst>
            <p14:sldId id="266"/>
            <p14:sldId id="267"/>
            <p14:sldId id="268"/>
            <p14:sldId id="269"/>
          </p14:sldIdLst>
        </p14:section>
        <p14:section name="25.4 Predictive Maintenance End to End" id="{5EDCD21B-0404-4CFD-8E7A-B6D8A275BE0A}">
          <p14:sldIdLst>
            <p14:sldId id="270"/>
            <p14:sldId id="271"/>
            <p14:sldId id="272"/>
            <p14:sldId id="273"/>
            <p14:sldId id="274"/>
            <p14:sldId id="275"/>
          </p14:sldIdLst>
        </p14:section>
        <p14:section name="Four lenses" id="{E1210783-B94F-4211-9E00-7F242B4FE67D}">
          <p14:sldIdLst>
            <p14:sldId id="276"/>
            <p14:sldId id="277"/>
            <p14:sldId id="278"/>
            <p14:sldId id="279"/>
            <p14:sldId id="280"/>
          </p14:sldIdLst>
        </p14:section>
        <p14:section name="Lab" id="{E79A8C03-A6A2-4AF9-8F46-934E17C0A2C7}">
          <p14:sldIdLst>
            <p14:sldId id="281"/>
            <p14:sldId id="282"/>
            <p14:sldId id="283"/>
            <p14:sldId id="284"/>
            <p14:sldId id="285"/>
            <p14:sldId id="286"/>
            <p14:sldId id="287"/>
            <p14:sldId id="288"/>
          </p14:sldIdLst>
        </p14:section>
        <p14:section name="Checkpoint" id="{43659717-45F1-4E6E-8B24-2986B60BC7A4}">
          <p14:sldIdLst>
            <p14:sldId id="289"/>
            <p14:sldId id="290"/>
            <p14:sldId id="291"/>
            <p14:sldId id="292"/>
            <p14:sldId id="293"/>
            <p14:sldId id="294"/>
          </p14:sldIdLst>
        </p14:section>
        <p14:section name="Wrap-up" id="{946B184E-2770-461D-AA91-F9B8EFC837F4}">
          <p14:sldIdLst>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25: Data Science for the Internet of Things. Part 5 — Data Science in Systems Context. Week 15: Data science for IoT and cybersecurity. Handout pages 162–167.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The four chapters this one is built on: Chapter 19 (streaming, windowing, drift), Chapter 16 (anomaly detection without labels), Chapter 15 (window aggregations) and Chapter 24 (edge inference). This is the chapter those were preparing you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telemetry; sensor; actuator; MQTT; gateway; device twin; sampling rate; sensor drift; calibration; sensor fusion; predictive maintenance; remaining useful life; digital twin; over-the-air update.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25.1 (handout p. 162): The IoT reference architecture, annotated with where data science actually runs. Analytics is not a single box at the end — it is distributed across four tiers with different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25.2 (handout p. 163): Four telemetry signatures. Distinguishing a failing sensor (top right, bottom left) from a failing machine (bottom right) is the central diagnostic skill in IoT analytics — and range checks alone cannot do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25.3 (handout p. 164): Predictive maintenance as an assembly of earlier chapters. Nothing here is new technique — the contribution of this chapter is the ordering, the constraints and the operational criteria.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IoT enters the campus as occupancy sensors, lab equipment usage, library gate counts and environmental monitoring. Room-occupancy telemetry against timetable data reveals which sessions are genuinely attended — objectively, without a register. Deploy this carefully: sensing that can identify individuals’ movements is surveillance, and requires the consent and proportionality analysis of Chapter 28, not merely a privacy notice.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IoT projects are unusually hard to manage and worth studying as a project type. They combine hardware lead times, firmware, connectivity contracts and analytics, so the critical path runs through procurement rather than code. Pilot on 20 devices before committing to 4,000 — the failure modes of a fleet are not visible at bench scale, and the cost of discovering them after deployment is measured in truck rolls.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This chapter is the IoT lens in full. The distilled version: aggregate before you model, treat sensor faults as a distinct class from machine faults, place inference where the latency budget demands, and evaluate on stoppages prevented rather than on AUC.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IoT devices are a serious and growing attack surface: default credentials, firmware that is never patched, and plaintext protocols. Two data science consequences follow. First, compromised devices produce anomalous telemetry, so your maintenance anomaly detector is also, incidentally, an intrusion detector — and you should treat unexplained anomalies as a security question, not only an engineering one. Second, telemetry can be forged: an attacker who controls a device can send readings that look healthy while the machine is damaged, or that trigger unnecessary shutdowns. Sensor fusion across independent physics is a partial defence, because forging three correlated channels consistently is much harder than forging 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Resample to a fixed grid; device clocks cannot be trusted.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Sensor health checks BEFORE any modelling.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Window features (Chapter 15).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Unsupervised: there are no failure labels.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Alert on PERSISTENCE, not on a single reading.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sensor is stuck — a common failure mode that produces a plausible constant. The check is rolling variance too low: a real process always shows some noise.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the decision is made per device per maintenance cycle, not per reading. At raw grain the class balance is absurd, nearly every row is healthy, and the effective sample size is the number of failures, not the number of rows.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A 24-hour warning cannot trigger a three-week procurement, so the prediction cannot change the outcome. A model with lower recall but a four-week lead time would be more valuable.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26 — Data Science for Cybersecurity. READ: Handout Chapter 25, pages 162–167. THIS WEEK'S LAB: Telemetry to alert; per-entity baselines &amp; evasion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5.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1.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40.png"/><Relationship Id="rId11" Type="http://schemas.openxmlformats.org/officeDocument/2006/relationships/image" Target="../media/image41.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34.png"/><Relationship Id="rId5" Type="http://schemas.openxmlformats.org/officeDocument/2006/relationships/image" Target="../media/image44.svg"/><Relationship Id="rId6" Type="http://schemas.openxmlformats.org/officeDocument/2006/relationships/image" Target="../media/image36.png"/><Relationship Id="rId7" Type="http://schemas.openxmlformats.org/officeDocument/2006/relationships/image" Target="../media/image45.svg"/><Relationship Id="rId8" Type="http://schemas.openxmlformats.org/officeDocument/2006/relationships/image" Target="../media/image38.png"/><Relationship Id="rId9" Type="http://schemas.openxmlformats.org/officeDocument/2006/relationships/image" Target="../media/image46.svg"/><Relationship Id="rId10" Type="http://schemas.openxmlformats.org/officeDocument/2006/relationships/image" Target="../media/image40.png"/><Relationship Id="rId11" Type="http://schemas.openxmlformats.org/officeDocument/2006/relationships/image" Target="../media/image47.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image" Target="../media/image36.png"/><Relationship Id="rId5" Type="http://schemas.openxmlformats.org/officeDocument/2006/relationships/image" Target="../media/image50.svg"/><Relationship Id="rId6" Type="http://schemas.openxmlformats.org/officeDocument/2006/relationships/image" Target="../media/image34.png"/><Relationship Id="rId7" Type="http://schemas.openxmlformats.org/officeDocument/2006/relationships/image" Target="../media/image51.svg"/><Relationship Id="rId8" Type="http://schemas.openxmlformats.org/officeDocument/2006/relationships/image" Target="../media/image38.png"/><Relationship Id="rId9" Type="http://schemas.openxmlformats.org/officeDocument/2006/relationships/image" Target="../media/image52.svg"/><Relationship Id="rId10" Type="http://schemas.openxmlformats.org/officeDocument/2006/relationships/image" Target="../media/image40.png"/><Relationship Id="rId11" Type="http://schemas.openxmlformats.org/officeDocument/2006/relationships/image" Target="../media/image53.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image" Target="../media/image38.png"/><Relationship Id="rId5" Type="http://schemas.openxmlformats.org/officeDocument/2006/relationships/image" Target="../media/image56.svg"/><Relationship Id="rId6" Type="http://schemas.openxmlformats.org/officeDocument/2006/relationships/image" Target="../media/image34.png"/><Relationship Id="rId7" Type="http://schemas.openxmlformats.org/officeDocument/2006/relationships/image" Target="../media/image57.svg"/><Relationship Id="rId8" Type="http://schemas.openxmlformats.org/officeDocument/2006/relationships/image" Target="../media/image36.png"/><Relationship Id="rId9" Type="http://schemas.openxmlformats.org/officeDocument/2006/relationships/image" Target="../media/image58.svg"/><Relationship Id="rId10" Type="http://schemas.openxmlformats.org/officeDocument/2006/relationships/image" Target="../media/image40.png"/><Relationship Id="rId11" Type="http://schemas.openxmlformats.org/officeDocument/2006/relationships/image" Target="../media/image59.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40.png"/><Relationship Id="rId5" Type="http://schemas.openxmlformats.org/officeDocument/2006/relationships/image" Target="../media/image62.svg"/><Relationship Id="rId6" Type="http://schemas.openxmlformats.org/officeDocument/2006/relationships/image" Target="../media/image34.png"/><Relationship Id="rId7" Type="http://schemas.openxmlformats.org/officeDocument/2006/relationships/image" Target="../media/image63.svg"/><Relationship Id="rId8" Type="http://schemas.openxmlformats.org/officeDocument/2006/relationships/image" Target="../media/image36.png"/><Relationship Id="rId9" Type="http://schemas.openxmlformats.org/officeDocument/2006/relationships/image" Target="../media/image64.svg"/><Relationship Id="rId10" Type="http://schemas.openxmlformats.org/officeDocument/2006/relationships/image" Target="../media/image38.png"/><Relationship Id="rId11" Type="http://schemas.openxmlformats.org/officeDocument/2006/relationships/image" Target="../media/image65.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7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8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8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8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25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Data Science for the Internet of Things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DATA SCIENCE IN SYSTEMS CONTEXT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25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E439B8E0-6FF5-446F-A446-98C303923945}"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66377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663779"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17034"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61703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614498"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Data Science for the Internet of Things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15">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15">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15"/>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15  </a:t>
            </a:r>
            <a:r>
              <a:rPr sz="1400" b="0" i="0">
                <a:solidFill>
                  <a:srgbClr val="1C252B"/>
                </a:solidFill>
                <a:latin typeface="Segoe UI"/>
              </a:rPr>
              <a:t>Feature Engineering and Ensembles</a:t>
            </a:r>
          </a:p>
        </p:txBody>
      </p:sp>
      <p:sp>
        <p:nvSpPr>
          <p:cNvPr id="88" name="!!chipBU16">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6">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6"/>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16  </a:t>
            </a:r>
            <a:r>
              <a:rPr sz="1400" b="0" i="0">
                <a:solidFill>
                  <a:srgbClr val="1C252B"/>
                </a:solidFill>
                <a:latin typeface="Segoe UI"/>
              </a:rPr>
              <a:t>Unsupervised Learning and Anomaly Detection</a:t>
            </a:r>
          </a:p>
        </p:txBody>
      </p:sp>
      <p:sp>
        <p:nvSpPr>
          <p:cNvPr id="91" name="!!chipBU19">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19">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19"/>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19  </a:t>
            </a:r>
            <a:r>
              <a:rPr sz="1400" b="0" i="0">
                <a:solidFill>
                  <a:srgbClr val="1C252B"/>
                </a:solidFill>
                <a:latin typeface="Segoe UI"/>
              </a:rPr>
              <a:t>Sequences, Time Series and Streaming Analytics</a:t>
            </a:r>
          </a:p>
        </p:txBody>
      </p:sp>
      <p:sp>
        <p:nvSpPr>
          <p:cNvPr id="94" name="!!chipBU24">
            <a:extLst>
              <a:ext uri="{C183D7F6-B498-43B3-948B-1728B52AA6E4}">
                <adec:decorative xmlns:adec="http://schemas.microsoft.com/office/drawing/2017/decorative" val="1"/>
              </a:ext>
            </a:extLst>
          </p:cNvPr>
          <p:cNvSpPr/>
          <p:nvPr/>
        </p:nvSpPr>
        <p:spPr>
          <a:xfrm>
            <a:off x="658368"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5" name="!!chipbBU24">
            <a:extLst>
              <a:ext uri="{C183D7F6-B498-43B3-948B-1728B52AA6E4}">
                <adec:decorative xmlns:adec="http://schemas.microsoft.com/office/drawing/2017/decorative" val="1"/>
              </a:ext>
            </a:extLst>
          </p:cNvPr>
          <p:cNvSpPr/>
          <p:nvPr/>
        </p:nvSpPr>
        <p:spPr>
          <a:xfrm>
            <a:off x="658368"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tBU24"/>
          <p:cNvSpPr txBox="1"/>
          <p:nvPr/>
        </p:nvSpPr>
        <p:spPr>
          <a:xfrm>
            <a:off x="859536"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24  </a:t>
            </a:r>
            <a:r>
              <a:rPr sz="1400" b="0" i="0">
                <a:solidFill>
                  <a:srgbClr val="1C252B"/>
                </a:solidFill>
                <a:latin typeface="Segoe UI"/>
              </a:rPr>
              <a:t>Cloud and Edge Computing for Data Science</a:t>
            </a:r>
          </a:p>
        </p:txBody>
      </p:sp>
      <p:sp>
        <p:nvSpPr>
          <p:cNvPr id="97"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8"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9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FEB16B87-7BA9-479E-B687-775F90005F91}"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the IoT reference architecture and where analytics sits within it.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Characterise</a:t>
            </a:r>
            <a:r>
              <a:rPr sz="2100" b="0" i="0">
                <a:solidFill>
                  <a:srgbClr val="1C252B"/>
                </a:solidFill>
                <a:latin typeface="Segoe UI"/>
              </a:rPr>
              <a:t> telemetry data and the failure modes specific to sensors.</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Design</a:t>
            </a:r>
            <a:r>
              <a:rPr sz="2100" b="0" i="0">
                <a:solidFill>
                  <a:srgbClr val="1C252B"/>
                </a:solidFill>
                <a:latin typeface="Segoe UI"/>
              </a:rPr>
              <a:t> a predictive maintenance system end to end, from framing to deployment.</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736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Apply</a:t>
            </a:r>
            <a:r>
              <a:rPr sz="2100" b="0" i="0">
                <a:solidFill>
                  <a:srgbClr val="1C252B"/>
                </a:solidFill>
                <a:latin typeface="Segoe UI"/>
              </a:rPr>
              <a:t> sensor fusion and explain why multiple weak sensors beat one good one.</a:t>
            </a:r>
          </a:p>
        </p:txBody>
      </p:sp>
      <p:sp>
        <p:nvSpPr>
          <p:cNvPr id="20" name="!!ob4">
            <a:extLst>
              <a:ext uri="{C183D7F6-B498-43B3-948B-1728B52AA6E4}">
                <adec:decorative xmlns:adec="http://schemas.microsoft.com/office/drawing/2017/decorative" val="1"/>
              </a:ext>
            </a:extLst>
          </p:cNvPr>
          <p:cNvSpPr/>
          <p:nvPr/>
        </p:nvSpPr>
        <p:spPr>
          <a:xfrm>
            <a:off x="658368" y="463600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69544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67715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Evaluate</a:t>
            </a:r>
            <a:r>
              <a:rPr sz="2100" b="0" i="0">
                <a:solidFill>
                  <a:srgbClr val="1C252B"/>
                </a:solidFill>
                <a:latin typeface="Segoe UI"/>
              </a:rPr>
              <a:t> an IoT model against operational rather than statistical criteria.</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B98A39BC-4924-4C71-831F-790BF10D74CD}" type="slidenum">
              <a:rPr lang="en-GB" sz="1000">
                <a:solidFill>
                  <a:srgbClr val="8795A1"/>
                </a:solidFill>
                <a:latin typeface="Segoe UI"/>
              </a:rPr>
              <a:t>4</a:t>
            </a:fld>
          </a:p>
        </p:txBody>
      </p:sp>
      <p:sp>
        <p:nvSpPr>
          <p:cNvPr id="7" name="!!term-telemetry">
            <a:extLst>
              <a:ext uri="{C183D7F6-B498-43B3-948B-1728B52AA6E4}">
                <adec:decorative xmlns:adec="http://schemas.microsoft.com/office/drawing/2017/decorative" val="1"/>
              </a:ext>
            </a:extLst>
          </p:cNvPr>
          <p:cNvSpPr/>
          <p:nvPr/>
        </p:nvSpPr>
        <p:spPr>
          <a:xfrm>
            <a:off x="658368" y="1847088"/>
            <a:ext cx="13057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telemetry">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telemetry"/>
          <p:cNvSpPr txBox="1"/>
          <p:nvPr/>
        </p:nvSpPr>
        <p:spPr>
          <a:xfrm>
            <a:off x="950976" y="1962911"/>
            <a:ext cx="11229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telemetry</a:t>
            </a:r>
          </a:p>
        </p:txBody>
      </p:sp>
      <p:sp>
        <p:nvSpPr>
          <p:cNvPr id="10" name="!!term-sensor">
            <a:extLst>
              <a:ext uri="{C183D7F6-B498-43B3-948B-1728B52AA6E4}">
                <adec:decorative xmlns:adec="http://schemas.microsoft.com/office/drawing/2017/decorative" val="1"/>
              </a:ext>
            </a:extLst>
          </p:cNvPr>
          <p:cNvSpPr/>
          <p:nvPr/>
        </p:nvSpPr>
        <p:spPr>
          <a:xfrm>
            <a:off x="2110465" y="1847088"/>
            <a:ext cx="10339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ensor">
            <a:extLst>
              <a:ext uri="{C183D7F6-B498-43B3-948B-1728B52AA6E4}">
                <adec:decorative xmlns:adec="http://schemas.microsoft.com/office/drawing/2017/decorative" val="1"/>
              </a:ext>
            </a:extLst>
          </p:cNvPr>
          <p:cNvSpPr/>
          <p:nvPr/>
        </p:nvSpPr>
        <p:spPr>
          <a:xfrm>
            <a:off x="223848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ensor"/>
          <p:cNvSpPr txBox="1"/>
          <p:nvPr/>
        </p:nvSpPr>
        <p:spPr>
          <a:xfrm>
            <a:off x="2403073" y="1962911"/>
            <a:ext cx="8510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sensor</a:t>
            </a:r>
          </a:p>
        </p:txBody>
      </p:sp>
      <p:sp>
        <p:nvSpPr>
          <p:cNvPr id="13" name="!!term-actuator">
            <a:extLst>
              <a:ext uri="{C183D7F6-B498-43B3-948B-1728B52AA6E4}">
                <adec:decorative xmlns:adec="http://schemas.microsoft.com/office/drawing/2017/decorative" val="1"/>
              </a:ext>
            </a:extLst>
          </p:cNvPr>
          <p:cNvSpPr/>
          <p:nvPr/>
        </p:nvSpPr>
        <p:spPr>
          <a:xfrm>
            <a:off x="3290736" y="1847088"/>
            <a:ext cx="11970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actuator">
            <a:extLst>
              <a:ext uri="{C183D7F6-B498-43B3-948B-1728B52AA6E4}">
                <adec:decorative xmlns:adec="http://schemas.microsoft.com/office/drawing/2017/decorative" val="1"/>
              </a:ext>
            </a:extLst>
          </p:cNvPr>
          <p:cNvSpPr/>
          <p:nvPr/>
        </p:nvSpPr>
        <p:spPr>
          <a:xfrm>
            <a:off x="341875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actuator"/>
          <p:cNvSpPr txBox="1"/>
          <p:nvPr/>
        </p:nvSpPr>
        <p:spPr>
          <a:xfrm>
            <a:off x="3583344" y="1962911"/>
            <a:ext cx="101417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actuator</a:t>
            </a:r>
          </a:p>
        </p:txBody>
      </p:sp>
      <p:sp>
        <p:nvSpPr>
          <p:cNvPr id="16" name="!!term-MQTT">
            <a:extLst>
              <a:ext uri="{C183D7F6-B498-43B3-948B-1728B52AA6E4}">
                <adec:decorative xmlns:adec="http://schemas.microsoft.com/office/drawing/2017/decorative" val="1"/>
              </a:ext>
            </a:extLst>
          </p:cNvPr>
          <p:cNvSpPr/>
          <p:nvPr/>
        </p:nvSpPr>
        <p:spPr>
          <a:xfrm>
            <a:off x="4634098" y="1847088"/>
            <a:ext cx="9984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MQTT">
            <a:extLst>
              <a:ext uri="{C183D7F6-B498-43B3-948B-1728B52AA6E4}">
                <adec:decorative xmlns:adec="http://schemas.microsoft.com/office/drawing/2017/decorative" val="1"/>
              </a:ext>
            </a:extLst>
          </p:cNvPr>
          <p:cNvSpPr/>
          <p:nvPr/>
        </p:nvSpPr>
        <p:spPr>
          <a:xfrm>
            <a:off x="476211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MQTT"/>
          <p:cNvSpPr txBox="1"/>
          <p:nvPr/>
        </p:nvSpPr>
        <p:spPr>
          <a:xfrm>
            <a:off x="4926706" y="1962911"/>
            <a:ext cx="81556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MQTT</a:t>
            </a:r>
          </a:p>
        </p:txBody>
      </p:sp>
      <p:sp>
        <p:nvSpPr>
          <p:cNvPr id="19" name="!!term-gateway">
            <a:extLst>
              <a:ext uri="{C183D7F6-B498-43B3-948B-1728B52AA6E4}">
                <adec:decorative xmlns:adec="http://schemas.microsoft.com/office/drawing/2017/decorative" val="1"/>
              </a:ext>
            </a:extLst>
          </p:cNvPr>
          <p:cNvSpPr/>
          <p:nvPr/>
        </p:nvSpPr>
        <p:spPr>
          <a:xfrm>
            <a:off x="5778843" y="1847088"/>
            <a:ext cx="12007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gateway">
            <a:extLst>
              <a:ext uri="{C183D7F6-B498-43B3-948B-1728B52AA6E4}">
                <adec:decorative xmlns:adec="http://schemas.microsoft.com/office/drawing/2017/decorative" val="1"/>
              </a:ext>
            </a:extLst>
          </p:cNvPr>
          <p:cNvSpPr/>
          <p:nvPr/>
        </p:nvSpPr>
        <p:spPr>
          <a:xfrm>
            <a:off x="590685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gateway"/>
          <p:cNvSpPr txBox="1"/>
          <p:nvPr/>
        </p:nvSpPr>
        <p:spPr>
          <a:xfrm>
            <a:off x="6071451" y="1962911"/>
            <a:ext cx="101790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gateway</a:t>
            </a:r>
          </a:p>
        </p:txBody>
      </p:sp>
      <p:sp>
        <p:nvSpPr>
          <p:cNvPr id="22" name="!!term-device twin">
            <a:extLst>
              <a:ext uri="{C183D7F6-B498-43B3-948B-1728B52AA6E4}">
                <adec:decorative xmlns:adec="http://schemas.microsoft.com/office/drawing/2017/decorative" val="1"/>
              </a:ext>
            </a:extLst>
          </p:cNvPr>
          <p:cNvSpPr/>
          <p:nvPr/>
        </p:nvSpPr>
        <p:spPr>
          <a:xfrm>
            <a:off x="7125935" y="1847088"/>
            <a:ext cx="14673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device twin">
            <a:extLst>
              <a:ext uri="{C183D7F6-B498-43B3-948B-1728B52AA6E4}">
                <adec:decorative xmlns:adec="http://schemas.microsoft.com/office/drawing/2017/decorative" val="1"/>
              </a:ext>
            </a:extLst>
          </p:cNvPr>
          <p:cNvSpPr/>
          <p:nvPr/>
        </p:nvSpPr>
        <p:spPr>
          <a:xfrm>
            <a:off x="72539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device twin"/>
          <p:cNvSpPr txBox="1"/>
          <p:nvPr/>
        </p:nvSpPr>
        <p:spPr>
          <a:xfrm>
            <a:off x="7418543" y="1962911"/>
            <a:ext cx="12844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device twin</a:t>
            </a:r>
          </a:p>
        </p:txBody>
      </p:sp>
      <p:sp>
        <p:nvSpPr>
          <p:cNvPr id="25" name="!!term-sampling rate">
            <a:extLst>
              <a:ext uri="{C183D7F6-B498-43B3-948B-1728B52AA6E4}">
                <adec:decorative xmlns:adec="http://schemas.microsoft.com/office/drawing/2017/decorative" val="1"/>
              </a:ext>
            </a:extLst>
          </p:cNvPr>
          <p:cNvSpPr/>
          <p:nvPr/>
        </p:nvSpPr>
        <p:spPr>
          <a:xfrm>
            <a:off x="8739595" y="1847088"/>
            <a:ext cx="16853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ampling rate">
            <a:extLst>
              <a:ext uri="{C183D7F6-B498-43B3-948B-1728B52AA6E4}">
                <adec:decorative xmlns:adec="http://schemas.microsoft.com/office/drawing/2017/decorative" val="1"/>
              </a:ext>
            </a:extLst>
          </p:cNvPr>
          <p:cNvSpPr/>
          <p:nvPr/>
        </p:nvSpPr>
        <p:spPr>
          <a:xfrm>
            <a:off x="886761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ampling rate"/>
          <p:cNvSpPr txBox="1"/>
          <p:nvPr/>
        </p:nvSpPr>
        <p:spPr>
          <a:xfrm>
            <a:off x="9032203" y="1962911"/>
            <a:ext cx="15024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sampling rate</a:t>
            </a:r>
          </a:p>
        </p:txBody>
      </p:sp>
      <p:sp>
        <p:nvSpPr>
          <p:cNvPr id="28" name="!!term-sensor drift">
            <a:extLst>
              <a:ext uri="{C183D7F6-B498-43B3-948B-1728B52AA6E4}">
                <adec:decorative xmlns:adec="http://schemas.microsoft.com/office/drawing/2017/decorative" val="1"/>
              </a:ext>
            </a:extLst>
          </p:cNvPr>
          <p:cNvSpPr/>
          <p:nvPr/>
        </p:nvSpPr>
        <p:spPr>
          <a:xfrm>
            <a:off x="658368" y="2468880"/>
            <a:ext cx="14703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ensor drif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ensor drift"/>
          <p:cNvSpPr txBox="1"/>
          <p:nvPr/>
        </p:nvSpPr>
        <p:spPr>
          <a:xfrm>
            <a:off x="950976" y="2584704"/>
            <a:ext cx="128743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sensor drift</a:t>
            </a:r>
          </a:p>
        </p:txBody>
      </p:sp>
      <p:sp>
        <p:nvSpPr>
          <p:cNvPr id="31" name="!!term-calibration">
            <a:extLst>
              <a:ext uri="{C183D7F6-B498-43B3-948B-1728B52AA6E4}">
                <adec:decorative xmlns:adec="http://schemas.microsoft.com/office/drawing/2017/decorative" val="1"/>
              </a:ext>
            </a:extLst>
          </p:cNvPr>
          <p:cNvSpPr/>
          <p:nvPr/>
        </p:nvSpPr>
        <p:spPr>
          <a:xfrm>
            <a:off x="2274987" y="2468880"/>
            <a:ext cx="13991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calibration">
            <a:extLst>
              <a:ext uri="{C183D7F6-B498-43B3-948B-1728B52AA6E4}">
                <adec:decorative xmlns:adec="http://schemas.microsoft.com/office/drawing/2017/decorative" val="1"/>
              </a:ext>
            </a:extLst>
          </p:cNvPr>
          <p:cNvSpPr/>
          <p:nvPr/>
        </p:nvSpPr>
        <p:spPr>
          <a:xfrm>
            <a:off x="240300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calibration"/>
          <p:cNvSpPr txBox="1"/>
          <p:nvPr/>
        </p:nvSpPr>
        <p:spPr>
          <a:xfrm>
            <a:off x="2567595" y="2584704"/>
            <a:ext cx="12162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calibration</a:t>
            </a:r>
          </a:p>
        </p:txBody>
      </p:sp>
      <p:sp>
        <p:nvSpPr>
          <p:cNvPr id="34" name="!!term-sensor fusion">
            <a:extLst>
              <a:ext uri="{C183D7F6-B498-43B3-948B-1728B52AA6E4}">
                <adec:decorative xmlns:adec="http://schemas.microsoft.com/office/drawing/2017/decorative" val="1"/>
              </a:ext>
            </a:extLst>
          </p:cNvPr>
          <p:cNvSpPr/>
          <p:nvPr/>
        </p:nvSpPr>
        <p:spPr>
          <a:xfrm>
            <a:off x="3820458" y="2468880"/>
            <a:ext cx="16497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ensor fusion">
            <a:extLst>
              <a:ext uri="{C183D7F6-B498-43B3-948B-1728B52AA6E4}">
                <adec:decorative xmlns:adec="http://schemas.microsoft.com/office/drawing/2017/decorative" val="1"/>
              </a:ext>
            </a:extLst>
          </p:cNvPr>
          <p:cNvSpPr/>
          <p:nvPr/>
        </p:nvSpPr>
        <p:spPr>
          <a:xfrm>
            <a:off x="394847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ensor fusion"/>
          <p:cNvSpPr txBox="1"/>
          <p:nvPr/>
        </p:nvSpPr>
        <p:spPr>
          <a:xfrm>
            <a:off x="4113066" y="2584704"/>
            <a:ext cx="14668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sensor fusion</a:t>
            </a:r>
          </a:p>
        </p:txBody>
      </p:sp>
      <p:sp>
        <p:nvSpPr>
          <p:cNvPr id="37" name="!!term-predictive mai">
            <a:extLst>
              <a:ext uri="{C183D7F6-B498-43B3-948B-1728B52AA6E4}">
                <adec:decorative xmlns:adec="http://schemas.microsoft.com/office/drawing/2017/decorative" val="1"/>
              </a:ext>
            </a:extLst>
          </p:cNvPr>
          <p:cNvSpPr/>
          <p:nvPr/>
        </p:nvSpPr>
        <p:spPr>
          <a:xfrm>
            <a:off x="5616510" y="2468880"/>
            <a:ext cx="25684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redictive mai">
            <a:extLst>
              <a:ext uri="{C183D7F6-B498-43B3-948B-1728B52AA6E4}">
                <adec:decorative xmlns:adec="http://schemas.microsoft.com/office/drawing/2017/decorative" val="1"/>
              </a:ext>
            </a:extLst>
          </p:cNvPr>
          <p:cNvSpPr/>
          <p:nvPr/>
        </p:nvSpPr>
        <p:spPr>
          <a:xfrm>
            <a:off x="574452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redictive mai"/>
          <p:cNvSpPr txBox="1"/>
          <p:nvPr/>
        </p:nvSpPr>
        <p:spPr>
          <a:xfrm>
            <a:off x="5909118" y="2584704"/>
            <a:ext cx="238558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predictive maintenance</a:t>
            </a:r>
          </a:p>
        </p:txBody>
      </p:sp>
      <p:sp>
        <p:nvSpPr>
          <p:cNvPr id="40" name="!!term-remaining usef">
            <a:extLst>
              <a:ext uri="{C183D7F6-B498-43B3-948B-1728B52AA6E4}">
                <adec:decorative xmlns:adec="http://schemas.microsoft.com/office/drawing/2017/decorative" val="1"/>
              </a:ext>
            </a:extLst>
          </p:cNvPr>
          <p:cNvSpPr/>
          <p:nvPr/>
        </p:nvSpPr>
        <p:spPr>
          <a:xfrm>
            <a:off x="8331276" y="2468880"/>
            <a:ext cx="22934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emaining usef">
            <a:extLst>
              <a:ext uri="{C183D7F6-B498-43B3-948B-1728B52AA6E4}">
                <adec:decorative xmlns:adec="http://schemas.microsoft.com/office/drawing/2017/decorative" val="1"/>
              </a:ext>
            </a:extLst>
          </p:cNvPr>
          <p:cNvSpPr/>
          <p:nvPr/>
        </p:nvSpPr>
        <p:spPr>
          <a:xfrm>
            <a:off x="845929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emaining usef"/>
          <p:cNvSpPr txBox="1"/>
          <p:nvPr/>
        </p:nvSpPr>
        <p:spPr>
          <a:xfrm>
            <a:off x="8623884" y="2584704"/>
            <a:ext cx="21105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remaining useful life</a:t>
            </a:r>
          </a:p>
        </p:txBody>
      </p:sp>
      <p:sp>
        <p:nvSpPr>
          <p:cNvPr id="43" name="!!term-digital twin">
            <a:extLst>
              <a:ext uri="{C183D7F6-B498-43B3-948B-1728B52AA6E4}">
                <adec:decorative xmlns:adec="http://schemas.microsoft.com/office/drawing/2017/decorative" val="1"/>
              </a:ext>
            </a:extLst>
          </p:cNvPr>
          <p:cNvSpPr/>
          <p:nvPr/>
        </p:nvSpPr>
        <p:spPr>
          <a:xfrm>
            <a:off x="658368" y="3090672"/>
            <a:ext cx="14536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digital twi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digital twin"/>
          <p:cNvSpPr txBox="1"/>
          <p:nvPr/>
        </p:nvSpPr>
        <p:spPr>
          <a:xfrm>
            <a:off x="950976" y="3206496"/>
            <a:ext cx="12707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digital twin</a:t>
            </a:r>
          </a:p>
        </p:txBody>
      </p:sp>
      <p:sp>
        <p:nvSpPr>
          <p:cNvPr id="46" name="!!term-over-the-air u">
            <a:extLst>
              <a:ext uri="{C183D7F6-B498-43B3-948B-1728B52AA6E4}">
                <adec:decorative xmlns:adec="http://schemas.microsoft.com/office/drawing/2017/decorative" val="1"/>
              </a:ext>
            </a:extLst>
          </p:cNvPr>
          <p:cNvSpPr/>
          <p:nvPr/>
        </p:nvSpPr>
        <p:spPr>
          <a:xfrm>
            <a:off x="2258348" y="3090672"/>
            <a:ext cx="22317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over-the-air u">
            <a:extLst>
              <a:ext uri="{C183D7F6-B498-43B3-948B-1728B52AA6E4}">
                <adec:decorative xmlns:adec="http://schemas.microsoft.com/office/drawing/2017/decorative" val="1"/>
              </a:ext>
            </a:extLst>
          </p:cNvPr>
          <p:cNvSpPr/>
          <p:nvPr/>
        </p:nvSpPr>
        <p:spPr>
          <a:xfrm>
            <a:off x="238636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over-the-air u"/>
          <p:cNvSpPr txBox="1"/>
          <p:nvPr/>
        </p:nvSpPr>
        <p:spPr>
          <a:xfrm>
            <a:off x="2550956" y="3206496"/>
            <a:ext cx="204882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over-the-air update</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162–167     </a:t>
            </a:r>
            <a:fld id="{B7D339AD-B088-4611-926E-90D858D311C4}" type="slidenum">
              <a:rPr lang="en-GB" sz="1000">
                <a:solidFill>
                  <a:srgbClr val="8795A1"/>
                </a:solidFill>
                <a:latin typeface="Segoe UI"/>
              </a:rPr>
              <a:t>5</a:t>
            </a:fld>
          </a:p>
        </p:txBody>
      </p:sp>
      <p:sp>
        <p:nvSpPr>
          <p:cNvPr id="7" name="!!ag0" descr="Go to section 25.1 The Architecture, and Where Data Science Lives in I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Architecture, and Where Data Science Lives in It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162  ›</a:t>
            </a:r>
          </a:p>
        </p:txBody>
      </p:sp>
      <p:sp>
        <p:nvSpPr>
          <p:cNvPr id="12" name="!!ag1" descr="Go to section 25.2 What Telemetry Data Is Lik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Telemetry Data Is Like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162  ›</a:t>
            </a:r>
          </a:p>
        </p:txBody>
      </p:sp>
      <p:sp>
        <p:nvSpPr>
          <p:cNvPr id="17" name="!!ag2" descr="Go to section 25.3 Sensor Fusion">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Sensor Fusion</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163  ›</a:t>
            </a:r>
          </a:p>
        </p:txBody>
      </p:sp>
      <p:sp>
        <p:nvSpPr>
          <p:cNvPr id="22" name="!!ag3" descr="Go to section 25.4 Predictive Maintenance End to End">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25.4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Predictive Maintenance End to End</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164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IoT reference architecture, annotated with where data science actually runs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§25.1  ·  Handout p. 162     </a:t>
            </a:r>
            <a:fld id="{C5A66672-1CC1-438E-AF12-CD877D9CF682}" type="slidenum">
              <a:rPr lang="en-GB" sz="1000">
                <a:solidFill>
                  <a:srgbClr val="8795A1"/>
                </a:solidFill>
                <a:latin typeface="Segoe UI"/>
              </a:rPr>
              <a:t>6</a:t>
            </a:fld>
          </a:p>
        </p:txBody>
      </p:sp>
      <p:pic>
        <p:nvPicPr>
          <p:cNvPr id="6" name="!!figure" descr="Figure 25.1. The IoT reference architecture, annotated with where data science actually runs. Analytics is not a single box at the end — it is distributed across four tiers with different capabiliti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2704" y="1737360"/>
            <a:ext cx="986628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Analytics is not a single box at the end — it is distributed across four tiers with different capabilities.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Telemetry Data Is Like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25.2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25.1   The Architecture, and Where Data Science Lives in It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25.2   What Telemetry Data Is Like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25.3   Sensor Fusion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25.4   Predictive Maintenance End to End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§25.2     </a:t>
            </a:r>
            <a:fld id="{2832D693-184C-4F1F-8E68-EC78A0F0B289}"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Telemetry Data Is Like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§25.2  ·  Handout p. 162     </a:t>
            </a:r>
            <a:fld id="{FC9798C6-1C4C-4BB7-880A-EE1C7D24DFC2}"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10874959" cy="4340352"/>
        </p:xfrm>
        <a:graphic>
          <a:graphicData uri="http://schemas.openxmlformats.org/drawingml/2006/table">
            <a:tbl>
              <a:tblPr firstRow="0" bandRow="0" firstCol="0" lastRow="0" lastCol="0" bandCol="0">
                <a:tableStyleId>{2D5ABB26-0587-4C30-8999-92F81FD0307C}</a:tableStyleId>
              </a:tblPr>
              <a:tblGrid>
                <a:gridCol w="2450695"/>
                <a:gridCol w="3522874"/>
                <a:gridCol w="4901390"/>
              </a:tblGrid>
              <a:tr h="390144">
                <a:tc>
                  <a:txBody>
                    <a:bodyPr wrap="square"/>
                    <a:lstStyle/>
                    <a:p>
                      <a:pPr algn="l"/>
                      <a:r>
                        <a:rPr sz="1600" b="1" i="0">
                          <a:solidFill>
                            <a:srgbClr val="1A5276"/>
                          </a:solidFill>
                          <a:latin typeface="Segoe UI"/>
                        </a:rPr>
                        <a:t>Property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Consequence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What you must do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Very high volume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Cannot store or query raw indefinitely</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Pre-aggregate to minute/hour grains; retain raw only briefly (Chapter 23)</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Highly autocorrelated</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Effective sample size  row count</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Never trust a </a:t>
                      </a:r>
                      <a:r>
                        <a:rPr sz="1600" b="0" i="1">
                          <a:solidFill>
                            <a:srgbClr val="1C252B"/>
                          </a:solidFill>
                          <a:latin typeface="Cambria"/>
                        </a:rPr>
                        <a:t>p</a:t>
                      </a:r>
                      <a:r>
                        <a:rPr sz="1600" b="0" i="0">
                          <a:solidFill>
                            <a:srgbClr val="1C252B"/>
                          </a:solidFill>
                          <a:latin typeface="Segoe UI"/>
                        </a:rPr>
                        <a:t>-value computed on raw readings (Chapter 9)</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Irregular timestamps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Clocks drift across a fleet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Resample to a fixed grid; use the gateway’s clock, not the device’s</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Duplicates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At-least-once delivery guarantees them</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Idempotent ingestion keyed on (device, timestamp)</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Out of order</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Network delay and buffering</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Watermarks; decide how long to wait (Chapter 19)</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Missing bursts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Connectivity loss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Forward fill </a:t>
                      </a:r>
                      <a:r>
                        <a:rPr sz="1600" b="0" i="1">
                          <a:solidFill>
                            <a:srgbClr val="1C252B"/>
                          </a:solidFill>
                          <a:latin typeface="Segoe UI"/>
                        </a:rPr>
                        <a:t>with a cap</a:t>
                      </a:r>
                      <a:r>
                        <a:rPr sz="1600" b="0" i="0">
                          <a:solidFill>
                            <a:srgbClr val="1C252B"/>
                          </a:solidFill>
                          <a:latin typeface="Segoe UI"/>
                        </a:rPr>
                        <a:t>, plus a </a:t>
                      </a:r>
                      <a:r>
                        <a:rPr sz="1500" b="0" i="0">
                          <a:solidFill>
                            <a:srgbClr val="1F4E79"/>
                          </a:solidFill>
                          <a:latin typeface="Consolas"/>
                        </a:rPr>
                        <a:t>was_missing</a:t>
                      </a:r>
                      <a:r>
                        <a:rPr sz="1600" b="0" i="0">
                          <a:solidFill>
                            <a:srgbClr val="1C252B"/>
                          </a:solidFill>
                          <a:latin typeface="Segoe UI"/>
                        </a:rPr>
                        <a:t> flag</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Extremely imbalanced labels</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600" b="0" i="0">
                          <a:solidFill>
                            <a:srgbClr val="1C252B"/>
                          </a:solidFill>
                          <a:latin typeface="Segoe UI"/>
                        </a:rPr>
                        <a:t>Equipment rarely fails</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600" b="0" i="0">
                          <a:solidFill>
                            <a:srgbClr val="1C252B"/>
                          </a:solidFill>
                          <a:latin typeface="Segoe UI"/>
                        </a:rPr>
                        <a:t>Anomaly detection, not classification (Chapter 16)</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Failure Mode That Catches Everyone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§25.2  ·  Handout p. 162     </a:t>
            </a:r>
            <a:fld id="{2C9D9512-53FF-4B84-8172-23AABBDEEF54}"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sensor that fails often reports a </a:t>
            </a:r>
            <a:r>
              <a:rPr sz="2300" b="0" i="1">
                <a:solidFill>
                  <a:srgbClr val="1C252B"/>
                </a:solidFill>
                <a:latin typeface="Segoe UI"/>
              </a:rPr>
              <a:t>perfectly plausible constant</a:t>
            </a:r>
            <a:r>
              <a:rPr sz="2300" b="0" i="0">
                <a:solidFill>
                  <a:srgbClr val="1C252B"/>
                </a:solidFill>
                <a:latin typeface="Segoe UI"/>
              </a:rPr>
              <a:t>. Nothing is null, nothing is out of range, no error is logged — and the model sees a machine in flawless health. Add a check for </a:t>
            </a:r>
            <a:r>
              <a:rPr sz="2300" b="0" i="1">
                <a:solidFill>
                  <a:srgbClr val="1C252B"/>
                </a:solidFill>
                <a:latin typeface="Segoe UI"/>
              </a:rPr>
              <a:t>variance too low</a:t>
            </a:r>
            <a:r>
              <a:rPr sz="2300" b="0" i="0">
                <a:solidFill>
                  <a:srgbClr val="1C252B"/>
                </a:solidFill>
                <a:latin typeface="Segoe UI"/>
              </a:rPr>
              <a:t> alongside your range checks. A temperature that has not changed by 0.01 degrees in six hours is not a stable process; it is a dead thermistor.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telemetry signatures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25.2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§25.2  ·  Handout p. 162     </a:t>
            </a:r>
            <a:fld id="{A969E392-D133-4A03-A89D-41D7B6624D2D}" type="slidenum">
              <a:rPr lang="en-GB" sz="1000">
                <a:solidFill>
                  <a:srgbClr val="8795A1"/>
                </a:solidFill>
                <a:latin typeface="Segoe UI"/>
              </a:rPr>
              <a:t>10</a:t>
            </a:fld>
          </a:p>
        </p:txBody>
      </p:sp>
      <p:pic>
        <p:nvPicPr>
          <p:cNvPr id="6" name="!!figure" descr="Figure 25.2. Four telemetry signatures. Distinguishing a failing sensor (top right, bottom left) from a failing machine (bottom right) is the central diagnostic skill in IoT analytics — and range checks alone cannot do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41361" y="1737360"/>
            <a:ext cx="830897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Distinguishing a failing sensor (top right, bottom left) from a failing machine (bottom right) is the central diagnostic skill in IoT analytics — and range checks alone cannot do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Sensor Fusion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25.3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25.1   The Architecture, and Where Data Science Lives in It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25.2   What Telemetry Data Is Like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25.3   Sensor Fusion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25.4   Predictive Maintenance End to End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§25.3     </a:t>
            </a:r>
            <a:fld id="{A21D77F0-D7C6-401C-91C9-226E4DA1C7AA}" type="slidenum">
              <a:rPr lang="en-GB" sz="1000">
                <a:solidFill>
                  <a:srgbClr val="8795A1"/>
                </a:solidFill>
                <a:latin typeface="Segoe UI"/>
              </a:rPr>
              <a:t>11</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Sensor Fusion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§25.3  ·  Handout p. 163     </a:t>
            </a:r>
            <a:fld id="{6CD1F968-5F56-4C04-9115-8E85B05A668F}"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Combining readings from several sensors to produce an estimate better than any one of them. Sensors fail and drift independently, so their errors partly cancel — the same argument that makes ensembles work (Chapter 15), applied to hardware.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Three Cheap Sensors Beat One Good One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§25.3  ·  Handout p. 163     </a:t>
            </a:r>
            <a:fld id="{3F309838-0B3F-40A5-AE07-BEF9064B08AD}"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34413"/>
          </a:xfrm>
          <a:prstGeom prst="roundRect">
            <a:avLst>
              <a:gd name="adj" fmla="val 201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3441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bearing is monitored for overheating.</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Single sensor.</a:t>
            </a:r>
            <a:r>
              <a:rPr sz="1900" b="0" i="0">
                <a:solidFill>
                  <a:srgbClr val="1C252B"/>
                </a:solidFill>
                <a:latin typeface="Segoe UI"/>
              </a:rPr>
              <a:t> One precise thermometer, </a:t>
            </a:r>
            <a:r>
              <a:rPr sz="1900" b="0" i="0">
                <a:solidFill>
                  <a:srgbClr val="1C252B"/>
                </a:solidFill>
                <a:latin typeface="Cambria"/>
              </a:rPr>
              <a:t>σ = 0.5°</a:t>
            </a:r>
            <a:r>
              <a:rPr sz="1900" b="0" i="0">
                <a:solidFill>
                  <a:srgbClr val="1C252B"/>
                </a:solidFill>
                <a:latin typeface="Segoe UI"/>
              </a:rPr>
              <a:t>C. If it sticks (Figure 25.2, top right), you have no monitoring at all and no way to know.</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Three cheap sensors,</a:t>
            </a:r>
            <a:r>
              <a:rPr sz="1900" b="0" i="0">
                <a:solidFill>
                  <a:srgbClr val="1C252B"/>
                </a:solidFill>
                <a:latin typeface="Segoe UI"/>
              </a:rPr>
              <a:t> each </a:t>
            </a:r>
            <a:r>
              <a:rPr sz="1900" b="0" i="0">
                <a:solidFill>
                  <a:srgbClr val="1C252B"/>
                </a:solidFill>
                <a:latin typeface="Cambria"/>
              </a:rPr>
              <a:t>σ = 1.5°</a:t>
            </a:r>
            <a:r>
              <a:rPr sz="1900" b="0" i="0">
                <a:solidFill>
                  <a:srgbClr val="1C252B"/>
                </a:solidFill>
                <a:latin typeface="Segoe UI"/>
              </a:rPr>
              <a:t>C, averaged. Because their errors are independent, the standard error of the mean is</a:t>
            </a:r>
          </a:p>
        </p:txBody>
      </p:sp>
      <p:pic>
        <p:nvPicPr>
          <p:cNvPr id="12" name="body-3" descr="\frac{1.5}{\sqrt{3}} = 0.87^\circ\text{C}"/>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915537"/>
            <a:ext cx="10234879" cy="611916"/>
          </a:xfrm>
          <a:prstGeom prst="rect">
            <a:avLst/>
          </a:prstGeom>
        </p:spPr>
      </p:pic>
      <p:sp>
        <p:nvSpPr>
          <p:cNvPr id="13" name="body-4"/>
          <p:cNvSpPr txBox="1"/>
          <p:nvPr/>
        </p:nvSpPr>
        <p:spPr>
          <a:xfrm>
            <a:off x="1042416" y="4660168"/>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 worse than the single precise sensor on accuracy alone.</a:t>
            </a:r>
          </a:p>
        </p:txBody>
      </p:sp>
      <p:sp>
        <p:nvSpPr>
          <p:cNvPr id="14" name="body-5"/>
          <p:cNvSpPr txBox="1"/>
          <p:nvPr/>
        </p:nvSpPr>
        <p:spPr>
          <a:xfrm>
            <a:off x="1042416" y="5094025"/>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But now add the disagreement check.</a:t>
            </a:r>
            <a:r>
              <a:rPr sz="1900" b="0" i="0">
                <a:solidFill>
                  <a:srgbClr val="1C252B"/>
                </a:solidFill>
                <a:latin typeface="Segoe UI"/>
              </a:rPr>
              <a:t> If one sensor reads </a:t>
            </a:r>
            <a:r>
              <a:rPr sz="1900" b="0" i="0">
                <a:solidFill>
                  <a:srgbClr val="1C252B"/>
                </a:solidFill>
                <a:latin typeface="Cambria"/>
              </a:rPr>
              <a:t>71.4</a:t>
            </a:r>
            <a:r>
              <a:rPr sz="1900" b="0" i="0">
                <a:solidFill>
                  <a:srgbClr val="1C252B"/>
                </a:solidFill>
                <a:latin typeface="Segoe UI"/>
              </a:rPr>
              <a:t> and the other two read </a:t>
            </a:r>
            <a:r>
              <a:rPr sz="1900" b="0" i="0">
                <a:solidFill>
                  <a:srgbClr val="1C252B"/>
                </a:solidFill>
                <a:latin typeface="Cambria"/>
              </a:rPr>
              <a:t>77.2</a:t>
            </a:r>
            <a:r>
              <a:rPr sz="1900" b="0" i="0">
                <a:solidFill>
                  <a:srgbClr val="1C252B"/>
                </a:solidFill>
                <a:latin typeface="Segoe UI"/>
              </a:rPr>
              <a:t> and </a:t>
            </a:r>
            <a:r>
              <a:rPr sz="1900" b="0" i="0">
                <a:solidFill>
                  <a:srgbClr val="1C252B"/>
                </a:solidFill>
                <a:latin typeface="Cambria"/>
              </a:rPr>
              <a:t>77.6</a:t>
            </a:r>
            <a:r>
              <a:rPr sz="1900" b="0" i="0">
                <a:solidFill>
                  <a:srgbClr val="1C252B"/>
                </a:solidFill>
                <a:latin typeface="Segoe UI"/>
              </a:rPr>
              <a:t>, the odd one out is identifiable and can be excluded. With a single sensor that comparison does not exist.</a:t>
            </a:r>
          </a:p>
        </p:txBody>
      </p:sp>
      <p:sp>
        <p:nvSpPr>
          <p:cNvPr id="15" name="body-5bar">
            <a:extLst>
              <a:ext uri="{C183D7F6-B498-43B3-948B-1728B52AA6E4}">
                <adec:decorative xmlns:adec="http://schemas.microsoft.com/office/drawing/2017/decorative" val="1"/>
              </a:ext>
            </a:extLst>
          </p:cNvPr>
          <p:cNvSpPr/>
          <p:nvPr/>
        </p:nvSpPr>
        <p:spPr>
          <a:xfrm>
            <a:off x="841248" y="5112313"/>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Three Cheap Sensors Beat One Good One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§25.3  ·  Handout p. 163     </a:t>
            </a:r>
            <a:fld id="{2A5E2967-6469-4002-B900-28338E768A6D}"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add a different physical quantity.</a:t>
            </a:r>
            <a:r>
              <a:rPr sz="1900" b="0" i="0">
                <a:solidFill>
                  <a:srgbClr val="1C252B"/>
                </a:solidFill>
                <a:latin typeface="Segoe UI"/>
              </a:rPr>
              <a:t> Combine temperature with vibration and current draw. A failing bearing raises all three; a failing </a:t>
            </a:r>
            <a:r>
              <a:rPr sz="1900" b="0" i="1">
                <a:solidFill>
                  <a:srgbClr val="1C252B"/>
                </a:solidFill>
                <a:latin typeface="Segoe UI"/>
              </a:rPr>
              <a:t>thermistor</a:t>
            </a:r>
            <a:r>
              <a:rPr sz="1900" b="0" i="0">
                <a:solidFill>
                  <a:srgbClr val="1C252B"/>
                </a:solidFill>
                <a:latin typeface="Segoe UI"/>
              </a:rPr>
              <a:t> moves only temperature. This is the decisive advantage: fusion across </a:t>
            </a:r>
            <a:r>
              <a:rPr sz="1900" b="0" i="1">
                <a:solidFill>
                  <a:srgbClr val="1C252B"/>
                </a:solidFill>
                <a:latin typeface="Segoe UI"/>
              </a:rPr>
              <a:t>different physics</a:t>
            </a:r>
            <a:r>
              <a:rPr sz="1900" b="0" i="0">
                <a:solidFill>
                  <a:srgbClr val="1C252B"/>
                </a:solidFill>
                <a:latin typeface="Segoe UI"/>
              </a:rPr>
              <a:t> distinguishes a broken machine from a broken sensor, which no amount of precision in one channel can achieve.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Conclusion:</a:t>
            </a:r>
            <a:r>
              <a:rPr sz="1900" b="0" i="0">
                <a:solidFill>
                  <a:srgbClr val="1C252B"/>
                </a:solidFill>
                <a:latin typeface="Segoe UI"/>
              </a:rPr>
              <a:t> the design goal is not the most accurate sensor but the most </a:t>
            </a:r>
            <a:r>
              <a:rPr sz="1900" b="0" i="1">
                <a:solidFill>
                  <a:srgbClr val="1C252B"/>
                </a:solidFill>
                <a:latin typeface="Segoe UI"/>
              </a:rPr>
              <a:t>diagnosable</a:t>
            </a:r>
            <a:r>
              <a:rPr sz="1900" b="0" i="0">
                <a:solidFill>
                  <a:srgbClr val="1C252B"/>
                </a:solidFill>
                <a:latin typeface="Segoe UI"/>
              </a:rPr>
              <a:t> sensor set. Redundancy buys fault detection; diversity buys attribution.</a:t>
            </a:r>
          </a:p>
        </p:txBody>
      </p:sp>
      <p:sp>
        <p:nvSpPr>
          <p:cNvPr id="12" name="body-1bar">
            <a:extLst>
              <a:ext uri="{C183D7F6-B498-43B3-948B-1728B52AA6E4}">
                <adec:decorative xmlns:adec="http://schemas.microsoft.com/office/drawing/2017/decorative" val="1"/>
              </a:ext>
            </a:extLst>
          </p:cNvPr>
          <p:cNvSpPr/>
          <p:nvPr/>
        </p:nvSpPr>
        <p:spPr>
          <a:xfrm>
            <a:off x="841248" y="336725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Predictive Maintenance End to End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25.4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25.1   The Architecture, and Where Data Science Lives in It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25.2   What Telemetry Data Is Like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25.3   Sensor Fusion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25.4   Predictive Maintenance End to End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§25.4     </a:t>
            </a:r>
            <a:fld id="{D6FC606D-03BE-4DDE-9C7C-65C5DD5B9267}" type="slidenum">
              <a:rPr lang="en-GB" sz="1000">
                <a:solidFill>
                  <a:srgbClr val="8795A1"/>
                </a:solidFill>
                <a:latin typeface="Segoe UI"/>
              </a:rPr>
              <a:t>15</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Predictive maintenance as an assembly of earlier chapters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25.3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852D1151-4408-432E-9658-1FFA4C4AC527}" type="slidenum">
              <a:rPr lang="en-GB" sz="1000">
                <a:solidFill>
                  <a:srgbClr val="8795A1"/>
                </a:solidFill>
                <a:latin typeface="Segoe UI"/>
              </a:rPr>
              <a:t>16</a:t>
            </a:fld>
          </a:p>
        </p:txBody>
      </p:sp>
      <p:pic>
        <p:nvPicPr>
          <p:cNvPr id="6" name="!!figure" descr="Figure 25.3. Predictive maintenance as an assembly of earlier chapters. Nothing here is new technique — the contribution of this chapter is the ordering, the constraints and the operational criteria."/>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89423"/>
            <a:ext cx="10874959" cy="287157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Nothing here is new technique — the contribution of this chapter is the ordering, the constraints and the operational criteria.</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Framing a Predictive Maintenance Model Properly</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F4B8C4B2-B5D6-40A9-B62B-E6CDA1A7C66F}"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90924"/>
          </a:xfrm>
          <a:prstGeom prst="roundRect">
            <a:avLst>
              <a:gd name="adj" fmla="val 223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9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Applying the six framing questions of Chapter 2 to 400 motors.</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1. Decision:</a:t>
            </a:r>
            <a:r>
              <a:rPr sz="1900" b="0" i="0">
                <a:solidFill>
                  <a:srgbClr val="1C252B"/>
                </a:solidFill>
                <a:latin typeface="Segoe UI"/>
              </a:rPr>
              <a:t> whether to schedule a motor for inspection in this week’s maintenance window. </a:t>
            </a:r>
            <a:r>
              <a:rPr sz="1900" b="0" i="1">
                <a:solidFill>
                  <a:srgbClr val="1C252B"/>
                </a:solidFill>
                <a:latin typeface="Segoe UI"/>
              </a:rPr>
              <a:t>Not</a:t>
            </a:r>
            <a:r>
              <a:rPr sz="1900" b="0" i="0">
                <a:solidFill>
                  <a:srgbClr val="1C252B"/>
                </a:solidFill>
                <a:latin typeface="Segoe UI"/>
              </a:rPr>
              <a:t> “predict failure” — there is a specific action with a specific capacity.</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2. Unit:</a:t>
            </a:r>
            <a:r>
              <a:rPr sz="1900" b="0" i="0">
                <a:solidFill>
                  <a:srgbClr val="1C252B"/>
                </a:solidFill>
                <a:latin typeface="Segoe UI"/>
              </a:rPr>
              <a:t> one motor on one day. So the modelling table has </a:t>
            </a:r>
            <a:r>
              <a:rPr sz="1900" b="0" i="0">
                <a:solidFill>
                  <a:srgbClr val="1C252B"/>
                </a:solidFill>
                <a:latin typeface="Cambria"/>
              </a:rPr>
              <a:t>400 × 365 = 146,000</a:t>
            </a:r>
            <a:r>
              <a:rPr sz="1900" b="0" i="0">
                <a:solidFill>
                  <a:srgbClr val="1C252B"/>
                </a:solidFill>
                <a:latin typeface="Segoe UI"/>
              </a:rPr>
              <a:t> rows per year, not 12 billion raw readings.</a:t>
            </a:r>
          </a:p>
        </p:txBody>
      </p:sp>
      <p:sp>
        <p:nvSpPr>
          <p:cNvPr id="12" name="body-3"/>
          <p:cNvSpPr txBox="1"/>
          <p:nvPr/>
        </p:nvSpPr>
        <p:spPr>
          <a:xfrm>
            <a:off x="1042416" y="391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3. Target:</a:t>
            </a:r>
            <a:r>
              <a:rPr sz="1900" b="0" i="0">
                <a:solidFill>
                  <a:srgbClr val="1C252B"/>
                </a:solidFill>
                <a:latin typeface="Segoe UI"/>
              </a:rPr>
              <a:t> does this motor fail within the next 30 days? The horizon comes from parts lead time (3 weeks) plus scheduling slack, not from the data.</a:t>
            </a:r>
          </a:p>
        </p:txBody>
      </p:sp>
      <p:sp>
        <p:nvSpPr>
          <p:cNvPr id="13" name="body-4"/>
          <p:cNvSpPr txBox="1"/>
          <p:nvPr/>
        </p:nvSpPr>
        <p:spPr>
          <a:xfrm>
            <a:off x="1042416" y="4650536"/>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4. Timing:</a:t>
            </a:r>
            <a:r>
              <a:rPr sz="1900" b="0" i="0">
                <a:solidFill>
                  <a:srgbClr val="1C252B"/>
                </a:solidFill>
                <a:latin typeface="Segoe UI"/>
              </a:rPr>
              <a:t> only telemetry up to and including today. Any feature computed over the failure window is a leak (Chapter 7) — and in this domain the leak is easy to introduce, because maintenance records are timestamped when they are </a:t>
            </a:r>
            <a:r>
              <a:rPr sz="1900" b="0" i="1">
                <a:solidFill>
                  <a:srgbClr val="1C252B"/>
                </a:solidFill>
                <a:latin typeface="Segoe UI"/>
              </a:rPr>
              <a:t>entered</a:t>
            </a:r>
            <a:r>
              <a:rPr sz="1900" b="0" i="0">
                <a:solidFill>
                  <a:srgbClr val="1C252B"/>
                </a:solidFill>
                <a:latin typeface="Segoe UI"/>
              </a:rPr>
              <a:t>, often after the failure.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Framing a Predictive Maintenance Model Properly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02EE178E-7EAE-4214-A78C-4B2707822D84}"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5494"/>
          </a:xfrm>
          <a:prstGeom prst="roundRect">
            <a:avLst>
              <a:gd name="adj" fmla="val 23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5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5. Criterion:</a:t>
            </a:r>
            <a:r>
              <a:rPr sz="1900" b="0" i="0">
                <a:solidFill>
                  <a:srgbClr val="1C252B"/>
                </a:solidFill>
                <a:latin typeface="Segoe UI"/>
              </a:rPr>
              <a:t> prevent </a:t>
            </a:r>
            <a:r>
              <a:rPr sz="1900" b="0" i="0">
                <a:solidFill>
                  <a:srgbClr val="1C252B"/>
                </a:solidFill>
                <a:latin typeface="Cambria"/>
              </a:rPr>
              <a:t>≥ 80%</a:t>
            </a:r>
            <a:r>
              <a:rPr sz="1900" b="0" i="0">
                <a:solidFill>
                  <a:srgbClr val="1C252B"/>
                </a:solidFill>
                <a:latin typeface="Segoe UI"/>
              </a:rPr>
              <a:t> of unplanned stoppages with </a:t>
            </a:r>
            <a:r>
              <a:rPr sz="1900" b="0" i="0">
                <a:solidFill>
                  <a:srgbClr val="1C252B"/>
                </a:solidFill>
                <a:latin typeface="Cambria"/>
              </a:rPr>
              <a:t>≤ 5</a:t>
            </a:r>
            <a:r>
              <a:rPr sz="1900" b="0" i="0">
                <a:solidFill>
                  <a:srgbClr val="1C252B"/>
                </a:solidFill>
                <a:latin typeface="Segoe UI"/>
              </a:rPr>
              <a:t> unnecessary teardowns per 100 motors per year. Note this is recall-at-fixed-precision, expressed in the operations manager’s units.</a:t>
            </a:r>
          </a:p>
        </p:txBody>
      </p:sp>
      <p:sp>
        <p:nvSpPr>
          <p:cNvPr id="10"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6. Baseline:</a:t>
            </a:r>
            <a:r>
              <a:rPr sz="1900" b="0" i="0">
                <a:solidFill>
                  <a:srgbClr val="1C252B"/>
                </a:solidFill>
                <a:latin typeface="Segoe UI"/>
              </a:rPr>
              <a:t> fixed-interval servicing every 90 days, which currently catches about 45% of failures and performs 4 inspections per motor per year. The model must beat </a:t>
            </a:r>
            <a:r>
              <a:rPr sz="1900" b="0" i="1">
                <a:solidFill>
                  <a:srgbClr val="1C252B"/>
                </a:solidFill>
                <a:latin typeface="Segoe UI"/>
              </a:rPr>
              <a:t>that</a:t>
            </a:r>
            <a:r>
              <a:rPr sz="1900" b="0" i="0">
                <a:solidFill>
                  <a:srgbClr val="1C252B"/>
                </a:solidFill>
                <a:latin typeface="Segoe UI"/>
              </a:rPr>
              <a:t>, not beat random.</a:t>
            </a:r>
          </a:p>
        </p:txBody>
      </p:sp>
      <p:sp>
        <p:nvSpPr>
          <p:cNvPr id="11" name="body-2"/>
          <p:cNvSpPr txBox="1"/>
          <p:nvPr/>
        </p:nvSpPr>
        <p:spPr>
          <a:xfrm>
            <a:off x="1042416" y="4083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this framing prevents.</a:t>
            </a:r>
            <a:r>
              <a:rPr sz="1900" b="0" i="0">
                <a:solidFill>
                  <a:srgbClr val="1C252B"/>
                </a:solidFill>
                <a:latin typeface="Segoe UI"/>
              </a:rPr>
              <a:t> Without question 2, someone builds a model on raw readings and reports 99.99% accuracy (nearly every reading is from a healthy motor). Without question 6, a model catching 60% of failures sounds impressive until you notice the calendar already catches 45% for free.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Evaluate on Operational Criteria, Not Statistical Ones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22C3EF13-555F-43AC-880F-5B84F1F878E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20820"/>
          </a:xfrm>
          <a:prstGeom prst="roundRect">
            <a:avLst>
              <a:gd name="adj" fmla="val 227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2082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Report these four numbers, in this order:</a:t>
            </a:r>
          </a:p>
        </p:txBody>
      </p:sp>
      <p:sp>
        <p:nvSpPr>
          <p:cNvPr id="10" name="body-1"/>
          <p:cNvSpPr txBox="1"/>
          <p:nvPr/>
        </p:nvSpPr>
        <p:spPr>
          <a:xfrm>
            <a:off x="1060704" y="2504947"/>
            <a:ext cx="10161727" cy="2214372"/>
          </a:xfrm>
          <a:prstGeom prst="rect">
            <a:avLst/>
          </a:prstGeom>
          <a:noFill/>
        </p:spPr>
        <p:txBody>
          <a:bodyPr wrap="square" anchor="t" lIns="0" rIns="0" tIns="0" bIns="0">
            <a:noAutofit/>
          </a:bodyPr>
          <a:lstStyle/>
          <a:p>
            <a:pPr algn="l" marL="482452" indent="-482452">
              <a:lnSpc>
                <a:spcPct val="104000"/>
              </a:lnSpc>
              <a:spcBef>
                <a:spcPts val="0"/>
              </a:spcBef>
              <a:spcAft>
                <a:spcPts val="700"/>
              </a:spcAft>
            </a:pPr>
            <a:r>
              <a:rPr sz="2000" b="1">
                <a:solidFill>
                  <a:srgbClr val="A93226"/>
                </a:solidFill>
                <a:latin typeface="Segoe UI"/>
              </a:rPr>
              <a:t>1.	</a:t>
            </a:r>
            <a:r>
              <a:rPr sz="2000" b="1" i="0">
                <a:solidFill>
                  <a:srgbClr val="A93226"/>
                </a:solidFill>
                <a:latin typeface="Segoe UI"/>
              </a:rPr>
              <a:t>Unplanned stoppages prevented per year</a:t>
            </a:r>
            <a:r>
              <a:rPr sz="2000" b="0" i="0">
                <a:solidFill>
                  <a:srgbClr val="1C252B"/>
                </a:solidFill>
                <a:latin typeface="Segoe UI"/>
              </a:rPr>
              <a:t> — the business metric.</a:t>
            </a:r>
          </a:p>
          <a:p>
            <a:pPr algn="l" marL="482452" indent="-482452">
              <a:lnSpc>
                <a:spcPct val="104000"/>
              </a:lnSpc>
              <a:spcBef>
                <a:spcPts val="0"/>
              </a:spcBef>
              <a:spcAft>
                <a:spcPts val="700"/>
              </a:spcAft>
            </a:pPr>
            <a:r>
              <a:rPr sz="2000" b="1">
                <a:solidFill>
                  <a:srgbClr val="A93226"/>
                </a:solidFill>
                <a:latin typeface="Segoe UI"/>
              </a:rPr>
              <a:t>2.	</a:t>
            </a:r>
            <a:r>
              <a:rPr sz="2000" b="1" i="0">
                <a:solidFill>
                  <a:srgbClr val="A93226"/>
                </a:solidFill>
                <a:latin typeface="Segoe UI"/>
              </a:rPr>
              <a:t>Unnecessary inspections per year</a:t>
            </a:r>
            <a:r>
              <a:rPr sz="2000" b="0" i="0">
                <a:solidFill>
                  <a:srgbClr val="1C252B"/>
                </a:solidFill>
                <a:latin typeface="Segoe UI"/>
              </a:rPr>
              <a:t> — the cost of false positives, in technician-days.</a:t>
            </a:r>
          </a:p>
          <a:p>
            <a:pPr algn="l" marL="482452" indent="-482452">
              <a:lnSpc>
                <a:spcPct val="104000"/>
              </a:lnSpc>
              <a:spcBef>
                <a:spcPts val="0"/>
              </a:spcBef>
              <a:spcAft>
                <a:spcPts val="700"/>
              </a:spcAft>
            </a:pPr>
            <a:r>
              <a:rPr sz="2000" b="1">
                <a:solidFill>
                  <a:srgbClr val="A93226"/>
                </a:solidFill>
                <a:latin typeface="Segoe UI"/>
              </a:rPr>
              <a:t>3.	</a:t>
            </a:r>
            <a:r>
              <a:rPr sz="2000" b="1" i="0">
                <a:solidFill>
                  <a:srgbClr val="A93226"/>
                </a:solidFill>
                <a:latin typeface="Segoe UI"/>
              </a:rPr>
              <a:t>Warning lead time</a:t>
            </a:r>
            <a:r>
              <a:rPr sz="2000" b="0" i="0">
                <a:solidFill>
                  <a:srgbClr val="1C252B"/>
                </a:solidFill>
                <a:latin typeface="Segoe UI"/>
              </a:rPr>
              <a:t> — a correct prediction 2 days ahead is useless if parts take 3 weeks. A model with lower recall but longer lead time is often the better model.</a:t>
            </a:r>
          </a:p>
          <a:p>
            <a:pPr algn="l" marL="482452" indent="-482452">
              <a:lnSpc>
                <a:spcPct val="104000"/>
              </a:lnSpc>
              <a:spcBef>
                <a:spcPts val="0"/>
              </a:spcBef>
              <a:spcAft>
                <a:spcPts val="0"/>
              </a:spcAft>
            </a:pPr>
            <a:r>
              <a:rPr sz="2000" b="1">
                <a:solidFill>
                  <a:srgbClr val="A93226"/>
                </a:solidFill>
                <a:latin typeface="Segoe UI"/>
              </a:rPr>
              <a:t>4.	</a:t>
            </a:r>
            <a:r>
              <a:rPr sz="2000" b="1" i="0">
                <a:solidFill>
                  <a:srgbClr val="A93226"/>
                </a:solidFill>
                <a:latin typeface="Segoe UI"/>
              </a:rPr>
              <a:t>Alerts per technician per week</a:t>
            </a:r>
            <a:r>
              <a:rPr sz="2000" b="0" i="0">
                <a:solidFill>
                  <a:srgbClr val="1C252B"/>
                </a:solidFill>
                <a:latin typeface="Segoe UI"/>
              </a:rPr>
              <a:t> — if this exceeds what the team can act on, the system will be ignored regardless of its PR-AUC.</a:t>
            </a:r>
          </a:p>
        </p:txBody>
      </p:sp>
      <p:sp>
        <p:nvSpPr>
          <p:cNvPr id="11" name="body-2"/>
          <p:cNvSpPr txBox="1"/>
          <p:nvPr/>
        </p:nvSpPr>
        <p:spPr>
          <a:xfrm>
            <a:off x="1060704" y="4813300"/>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Point 3 is the one students miss: for maintenance, </a:t>
            </a:r>
            <a:r>
              <a:rPr sz="2000" b="0" i="1">
                <a:solidFill>
                  <a:srgbClr val="1C252B"/>
                </a:solidFill>
                <a:latin typeface="Segoe UI"/>
              </a:rPr>
              <a:t>when</a:t>
            </a:r>
            <a:r>
              <a:rPr sz="2000" b="0" i="0">
                <a:solidFill>
                  <a:srgbClr val="1C252B"/>
                </a:solidFill>
                <a:latin typeface="Segoe UI"/>
              </a:rPr>
              <a:t> you are right matters as much as </a:t>
            </a:r>
            <a:r>
              <a:rPr sz="2000" b="0" i="1">
                <a:solidFill>
                  <a:srgbClr val="1C252B"/>
                </a:solidFill>
                <a:latin typeface="Segoe UI"/>
              </a:rPr>
              <a:t>whether</a:t>
            </a:r>
            <a:r>
              <a:rPr sz="2000" b="0" i="0">
                <a:solidFill>
                  <a:srgbClr val="1C252B"/>
                </a:solidFill>
                <a:latin typeface="Segoe UI"/>
              </a:rPr>
              <a: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Digital Twin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60A51DA1-38D0-4B70-B115-792F990A135D}"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live software model of a physical asset, continuously updated from its telemetry. It supports asking counterfactual questions — “what happens if we run this pump 20% faster?” — without touching the equipment, and provides a simulated baseline against which real behaviour can be compared.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IoT Analytics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3820B91E-E48C-41E8-9C8C-8D62DC7624F9}"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IoT enters the campus as occupancy sensors, lab equipment usage, library gate counts and environmental monitoring.</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IoT projects are unusually hard to manage and worth studying as a project type.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chapter is the IoT lens in full.</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IoT devices are a serious and growing attack surface: default credentials, firmware that is never patched, and plaintext protocols.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IoT Analytics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1D441BAE-5D39-4C07-B2CC-791D3D00E975}"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IoT enters the campus as occupancy sensors, lab equipment usage, library gate counts and environmental monitoring. Room-occupancy telemetry against timetable data reveals which sessions are genuinely attended — objectively, without a register. </a:t>
            </a:r>
            <a:r>
              <a:rPr sz="2200" b="1" i="0">
                <a:solidFill>
                  <a:srgbClr val="1C252B"/>
                </a:solidFill>
                <a:latin typeface="Segoe UI"/>
              </a:rPr>
              <a:t>Deploy this carefully:</a:t>
            </a:r>
            <a:r>
              <a:rPr sz="2200" b="0" i="0">
                <a:solidFill>
                  <a:srgbClr val="1C252B"/>
                </a:solidFill>
                <a:latin typeface="Segoe UI"/>
              </a:rPr>
              <a:t> sensing that can identify individuals’ movements is surveillance, and requires the consent and proportionality analysis of Chapter 28, not merely a privacy notice.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IoT Analytics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4A407DCE-26AD-448D-8D1A-B7281EAB60EA}" type="slidenum">
              <a:rPr lang="en-GB" sz="1000">
                <a:solidFill>
                  <a:srgbClr val="8795A1"/>
                </a:solidFill>
                <a:latin typeface="Segoe UI"/>
              </a:rPr>
              <a:t>23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IoT projects are unusually hard to manage and worth studying as a project type. They combine hardware lead times, firmware, connectivity contracts and analytics, so the critical path runs through procurement rather than code. Pilot on 20 devices before committing to 4,000 — the failure modes of a fleet are not visible at bench scale, and the cost of discovering them after deployment is measured in truck rolls.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IoT Analytics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2FD9572A-7860-4A6C-8680-F0EA0FAF3872}" type="slidenum">
              <a:rPr lang="en-GB" sz="1000">
                <a:solidFill>
                  <a:srgbClr val="8795A1"/>
                </a:solidFill>
                <a:latin typeface="Segoe UI"/>
              </a:rPr>
              <a:t>24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This chapter is the IoT lens in full. The distilled version: aggregate before you model, treat sensor faults as a distinct class from machine faults, place inference where the latency budget demands, and evaluate on stoppages prevented rather than on AUC.</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IoT Analytics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490EED65-9F82-4303-82AE-96585CC89EDB}" type="slidenum">
              <a:rPr lang="en-GB" sz="1000">
                <a:solidFill>
                  <a:srgbClr val="8795A1"/>
                </a:solidFill>
                <a:latin typeface="Segoe UI"/>
              </a:rPr>
              <a:t>25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3659428"/>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IoT devices are a serious and growing attack surface: default credentials, firmware that is never patched, and plaintext protocols. Two data science consequences follow. First, </a:t>
            </a:r>
            <a:r>
              <a:rPr sz="1900" b="1" i="0">
                <a:solidFill>
                  <a:srgbClr val="1C252B"/>
                </a:solidFill>
                <a:latin typeface="Segoe UI"/>
              </a:rPr>
              <a:t>compromised devices produce anomalous telemetry</a:t>
            </a:r>
            <a:r>
              <a:rPr sz="1900" b="0" i="0">
                <a:solidFill>
                  <a:srgbClr val="1C252B"/>
                </a:solidFill>
                <a:latin typeface="Segoe UI"/>
              </a:rPr>
              <a:t>, so your maintenance anomaly detector is also, incidentally, an intrusion detector — and you should treat unexplained anomalies as a security question, not only an engineering one. Second, telemetry can be </a:t>
            </a:r>
            <a:r>
              <a:rPr sz="1900" b="0" i="1">
                <a:solidFill>
                  <a:srgbClr val="1C252B"/>
                </a:solidFill>
                <a:latin typeface="Segoe UI"/>
              </a:rPr>
              <a:t>forged</a:t>
            </a:r>
            <a:r>
              <a:rPr sz="1900" b="0" i="0">
                <a:solidFill>
                  <a:srgbClr val="1C252B"/>
                </a:solidFill>
                <a:latin typeface="Segoe UI"/>
              </a:rPr>
              <a:t>: an attacker who controls a device can send readings that look healthy while the machine is damaged, or that trigger unnecessary shutdowns. Sensor fusion across independent physics is a partial defence, because forging three correlated channels consistently is much harder than forging one.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Telemetry to Alert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17E1EDBD-6E63-46FD-ABB2-FC5C38102C34}" type="slidenum">
              <a:rPr lang="en-GB" sz="1000">
                <a:solidFill>
                  <a:srgbClr val="8795A1"/>
                </a:solidFill>
                <a:latin typeface="Segoe UI"/>
              </a:rPr>
              <a:t>26</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82879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Resample to a fixed grid; device clocks cannot be trusted</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Sensor health checks BEFORE any modelling</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Window features (Chapter 15)</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Unsupervised: there are no failure labels</a:t>
            </a:r>
          </a:p>
          <a:p>
            <a:pPr algn="l" marL="459473" indent="-459473">
              <a:lnSpc>
                <a:spcPct val="100000"/>
              </a:lnSpc>
              <a:spcBef>
                <a:spcPts val="0"/>
              </a:spcBef>
              <a:spcAft>
                <a:spcPts val="0"/>
              </a:spcAft>
            </a:pPr>
            <a:r>
              <a:rPr sz="1900" b="1">
                <a:solidFill>
                  <a:srgbClr val="117A65"/>
                </a:solidFill>
                <a:latin typeface="Segoe UI"/>
              </a:rPr>
              <a:t>5.	</a:t>
            </a:r>
            <a:r>
              <a:rPr sz="1900" b="0" i="0">
                <a:solidFill>
                  <a:srgbClr val="1C252B"/>
                </a:solidFill>
                <a:latin typeface="Segoe UI"/>
              </a:rPr>
              <a:t>Alert on PERSISTENCE, not on a single reading</a:t>
            </a:r>
          </a:p>
        </p:txBody>
      </p:sp>
      <p:sp>
        <p:nvSpPr>
          <p:cNvPr id="2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15: Telemetry to alert; per-entity baselines &amp; evasion test</a:t>
            </a:r>
          </a:p>
        </p:txBody>
      </p:sp>
      <p:sp>
        <p:nvSpPr>
          <p:cNvPr id="3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47 lines of Python</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3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Telemetry to Alert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ADAC6922-A8D1-4180-A5AC-FFF8455091FA}"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pandas as pd, numpy as np from sklearn.ensemble import IsolationForest"/>
          <p:cNvSpPr txBox="1"/>
          <p:nvPr/>
        </p:nvSpPr>
        <p:spPr>
          <a:xfrm>
            <a:off x="1362456" y="2523744"/>
            <a:ext cx="9987991" cy="719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pandas</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pd</a:t>
            </a:r>
            <a:r>
              <a:rPr sz="2000" i="0">
                <a:solidFill>
                  <a:srgbClr val="AEB6BF"/>
                </a:solidFill>
                <a:latin typeface="Consolas"/>
              </a:rPr>
              <a: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ensemble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IsolationForest</a:t>
            </a:r>
          </a:p>
        </p:txBody>
      </p:sp>
      <p:sp>
        <p:nvSpPr>
          <p:cNvPr id="15" name="!!code-num"/>
          <p:cNvSpPr txBox="1"/>
          <p:nvPr/>
        </p:nvSpPr>
        <p:spPr>
          <a:xfrm>
            <a:off x="768096" y="2523744"/>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Telemetry to Alert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2074E6C4-6949-4AD5-8966-1FE2FF215D2E}"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Resample to a fixed grid; device clocks cannot be trusted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157984"/>
          </a:xfrm>
          <a:prstGeom prst="roundRect">
            <a:avLst>
              <a:gd name="adj" fmla="val 42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resample to a fixed grid; device clocks cannot be trusted ------- t = (raw.set_index(&quot;gateway_ts&quot;) # gateway clock, not device clock .groupby(&quot;device_id&quot;) .resample(&quot;1min&quot;) .agg(temp=(&quot;temp&quot;, &quot;mean&quot;), vib=(&quot;vib&quot;, &quot;mean&quot;), current=(&quot;current&quot;, &quot;mean&quot;), n=(&quot;temp&quot;, &quot;size&quot;)))"/>
          <p:cNvSpPr txBox="1"/>
          <p:nvPr/>
        </p:nvSpPr>
        <p:spPr>
          <a:xfrm>
            <a:off x="1362456" y="2523744"/>
            <a:ext cx="9987991" cy="166420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--- 1. resample to a fixed grid; device clocks cannot be trusted -------</a:t>
            </a:r>
          </a:p>
          <a:p>
            <a:pPr>
              <a:lnSpc>
                <a:spcPct val="100000"/>
              </a:lnSpc>
              <a:spcAft>
                <a:spcPts val="0"/>
              </a:spcAft>
            </a:pPr>
            <a:r>
              <a:rPr sz="1700" i="0">
                <a:solidFill>
                  <a:srgbClr val="E8EDF2"/>
                </a:solidFill>
                <a:latin typeface="Consolas"/>
              </a:rPr>
              <a:t>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raw</a:t>
            </a:r>
            <a:r>
              <a:rPr sz="1700" i="0">
                <a:solidFill>
                  <a:srgbClr val="AEB6BF"/>
                </a:solidFill>
                <a:latin typeface="Consolas"/>
              </a:rPr>
              <a:t>.</a:t>
            </a:r>
            <a:r>
              <a:rPr sz="1700" i="0">
                <a:solidFill>
                  <a:srgbClr val="E8EDF2"/>
                </a:solidFill>
                <a:latin typeface="Consolas"/>
              </a:rPr>
              <a:t>set_index</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gateway_ts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gateway clock, not device clock</a:t>
            </a:r>
          </a:p>
          <a:p>
            <a:pPr>
              <a:lnSpc>
                <a:spcPct val="100000"/>
              </a:lnSpc>
              <a:spcAft>
                <a:spcPts val="0"/>
              </a:spcAft>
            </a:pP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groupby</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device_id</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resample</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1min</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agg</a:t>
            </a:r>
            <a:r>
              <a:rPr sz="1700" i="0">
                <a:solidFill>
                  <a:srgbClr val="AEB6BF"/>
                </a:solidFill>
                <a:latin typeface="Consolas"/>
              </a:rPr>
              <a:t>(</a:t>
            </a:r>
            <a:r>
              <a:rPr sz="1700" i="0">
                <a:solidFill>
                  <a:srgbClr val="E8EDF2"/>
                </a:solidFill>
                <a:latin typeface="Consolas"/>
              </a:rPr>
              <a:t>temp</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temp</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mean</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vib</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vib</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mean</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current</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current</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mean</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temp</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size</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p:txBody>
      </p:sp>
      <p:sp>
        <p:nvSpPr>
          <p:cNvPr id="15" name="!!code-num"/>
          <p:cNvSpPr txBox="1"/>
          <p:nvPr/>
        </p:nvSpPr>
        <p:spPr>
          <a:xfrm>
            <a:off x="768096" y="2523744"/>
            <a:ext cx="393192" cy="166420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Telemetry to Alert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69471754-24B1-4968-9EAD-0FA77905DEE4}"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Sensor health checks BEFORE any modelling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889504"/>
          </a:xfrm>
          <a:prstGeom prst="roundRect">
            <a:avLst>
              <a:gd name="adj" fmla="val 3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sensor health checks BEFORE any modelling ---------------------- w = 60 # one hour health = t.groupby(&quot;device_id&quot;).rolling(w, min_periods=30).agg([&quot;std&quot;, &quot;mean&quot;]) stuck = health[(&quot;temp&quot;, &quot;std&quot;)] &lt; 0.01 # dead sensor, not a stable process missing = t[&quot;n&quot;] == 0 # no readings arrived at all drifted = (health[(&quot;temp&quot;, &quot;mean&quot;)] - health[(&quot;temp&quot;, &quot;mean&quot;)].groupby(&quot;device_id&quot;).transform(&quot;first&quot;)).abs() &gt; 5 t[&quot;sensor_suspect&quot;] = stuck | missing | drifted # exclude from training; alert separately"/>
          <p:cNvSpPr txBox="1"/>
          <p:nvPr/>
        </p:nvSpPr>
        <p:spPr>
          <a:xfrm>
            <a:off x="1362456" y="2523744"/>
            <a:ext cx="9987991" cy="2395728"/>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--- 2. sensor health checks BEFORE any modelling ----------------------</a:t>
            </a:r>
          </a:p>
          <a:p>
            <a:pPr>
              <a:lnSpc>
                <a:spcPct val="100000"/>
              </a:lnSpc>
              <a:spcAft>
                <a:spcPts val="0"/>
              </a:spcAft>
            </a:pPr>
            <a:r>
              <a:rPr sz="1500" i="0">
                <a:solidFill>
                  <a:srgbClr val="E8EDF2"/>
                </a:solidFill>
                <a:latin typeface="Consolas"/>
              </a:rPr>
              <a:t>w</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60</a:t>
            </a:r>
            <a:r>
              <a:rPr sz="1500" i="0">
                <a:solidFill>
                  <a:srgbClr val="E8EDF2"/>
                </a:solidFill>
                <a:latin typeface="Consolas"/>
              </a:rPr>
              <a:t>  </a:t>
            </a:r>
            <a:r>
              <a:rPr sz="1500" i="1">
                <a:solidFill>
                  <a:srgbClr val="8795A1"/>
                </a:solidFill>
                <a:latin typeface="Consolas"/>
              </a:rPr>
              <a:t># one hour</a:t>
            </a:r>
          </a:p>
          <a:p>
            <a:pPr>
              <a:lnSpc>
                <a:spcPct val="100000"/>
              </a:lnSpc>
              <a:spcAft>
                <a:spcPts val="0"/>
              </a:spcAft>
            </a:pPr>
            <a:r>
              <a:rPr sz="1500" i="0">
                <a:solidFill>
                  <a:srgbClr val="E8EDF2"/>
                </a:solidFill>
                <a:latin typeface="Consolas"/>
              </a:rPr>
              <a:t>health</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device_id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rolling</a:t>
            </a:r>
            <a:r>
              <a:rPr sz="1500" i="0">
                <a:solidFill>
                  <a:srgbClr val="AEB6BF"/>
                </a:solidFill>
                <a:latin typeface="Consolas"/>
              </a:rPr>
              <a:t>(</a:t>
            </a:r>
            <a:r>
              <a:rPr sz="1500" i="0">
                <a:solidFill>
                  <a:srgbClr val="E8EDF2"/>
                </a:solidFill>
                <a:latin typeface="Consolas"/>
              </a:rPr>
              <a:t>w</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min_periods</a:t>
            </a:r>
            <a:r>
              <a:rPr sz="1500" i="0">
                <a:solidFill>
                  <a:srgbClr val="AEB6BF"/>
                </a:solidFill>
                <a:latin typeface="Consolas"/>
              </a:rPr>
              <a:t>=</a:t>
            </a:r>
            <a:r>
              <a:rPr sz="1500" i="0">
                <a:solidFill>
                  <a:srgbClr val="F7DC6F"/>
                </a:solidFill>
                <a:latin typeface="Consolas"/>
              </a:rPr>
              <a:t>30</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agg</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std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mean</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stuck</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health</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temp</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std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&lt;</a:t>
            </a:r>
            <a:r>
              <a:rPr sz="1500" i="0">
                <a:solidFill>
                  <a:srgbClr val="E8EDF2"/>
                </a:solidFill>
                <a:latin typeface="Consolas"/>
              </a:rPr>
              <a:t> </a:t>
            </a:r>
            <a:r>
              <a:rPr sz="1500" i="0">
                <a:solidFill>
                  <a:srgbClr val="F7DC6F"/>
                </a:solidFill>
                <a:latin typeface="Consolas"/>
              </a:rPr>
              <a:t>0.01</a:t>
            </a:r>
            <a:r>
              <a:rPr sz="1500" i="0">
                <a:solidFill>
                  <a:srgbClr val="E8EDF2"/>
                </a:solidFill>
                <a:latin typeface="Consolas"/>
              </a:rPr>
              <a:t>        </a:t>
            </a:r>
            <a:r>
              <a:rPr sz="1500" i="1">
                <a:solidFill>
                  <a:srgbClr val="8795A1"/>
                </a:solidFill>
                <a:latin typeface="Consolas"/>
              </a:rPr>
              <a:t># dead sensor, not a stable process</a:t>
            </a:r>
          </a:p>
          <a:p>
            <a:pPr>
              <a:lnSpc>
                <a:spcPct val="100000"/>
              </a:lnSpc>
              <a:spcAft>
                <a:spcPts val="0"/>
              </a:spcAft>
            </a:pPr>
            <a:r>
              <a:rPr sz="1500" i="0">
                <a:solidFill>
                  <a:srgbClr val="E8EDF2"/>
                </a:solidFill>
                <a:latin typeface="Consolas"/>
              </a:rPr>
              <a:t>missing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n</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a:t>
            </a:r>
            <a:r>
              <a:rPr sz="1500" i="0">
                <a:solidFill>
                  <a:srgbClr val="E8EDF2"/>
                </a:solidFill>
                <a:latin typeface="Consolas"/>
              </a:rPr>
              <a:t>                            </a:t>
            </a:r>
            <a:r>
              <a:rPr sz="1500" i="1">
                <a:solidFill>
                  <a:srgbClr val="8795A1"/>
                </a:solidFill>
                <a:latin typeface="Consolas"/>
              </a:rPr>
              <a:t># no readings arrived at all</a:t>
            </a:r>
          </a:p>
          <a:p>
            <a:pPr>
              <a:lnSpc>
                <a:spcPct val="100000"/>
              </a:lnSpc>
              <a:spcAft>
                <a:spcPts val="0"/>
              </a:spcAft>
            </a:pPr>
            <a:r>
              <a:rPr sz="1500" i="0">
                <a:solidFill>
                  <a:srgbClr val="E8EDF2"/>
                </a:solidFill>
                <a:latin typeface="Consolas"/>
              </a:rPr>
              <a:t>drifted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health</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temp</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mean</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health</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temp</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mean</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device_id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first</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abs</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F7DC6F"/>
                </a:solidFill>
                <a:latin typeface="Consolas"/>
              </a:rPr>
              <a:t>5</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sensor_suspect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stuck</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missing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drifted</a:t>
            </a:r>
            <a:r>
              <a:rPr sz="1500" i="0">
                <a:solidFill>
                  <a:srgbClr val="E8EDF2"/>
                </a:solidFill>
                <a:latin typeface="Consolas"/>
              </a:rPr>
              <a:t>  </a:t>
            </a:r>
            <a:r>
              <a:rPr sz="1500" i="1">
                <a:solidFill>
                  <a:srgbClr val="8795A1"/>
                </a:solidFill>
                <a:latin typeface="Consolas"/>
              </a:rPr>
              <a:t># exclude from training; alert separately</a:t>
            </a:r>
          </a:p>
        </p:txBody>
      </p:sp>
      <p:sp>
        <p:nvSpPr>
          <p:cNvPr id="15" name="!!code-num"/>
          <p:cNvSpPr txBox="1"/>
          <p:nvPr/>
        </p:nvSpPr>
        <p:spPr>
          <a:xfrm>
            <a:off x="768096" y="2523744"/>
            <a:ext cx="393192" cy="23957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a:p>
            <a:pPr algn="r">
              <a:lnSpc>
                <a:spcPct val="100000"/>
              </a:lnSpc>
            </a:pPr>
            <a:r>
              <a:rPr sz="1500">
                <a:solidFill>
                  <a:srgbClr val="4F5D6A"/>
                </a:solidFill>
                <a:latin typeface="Consolas"/>
              </a:rPr>
              <a:t>17</a:t>
            </a:r>
          </a:p>
          <a:p>
            <a:pPr algn="r">
              <a:lnSpc>
                <a:spcPct val="100000"/>
              </a:lnSpc>
            </a:pPr>
            <a:r>
              <a:rPr sz="15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Telemetry to Alert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D31D1840-7446-4979-8E86-8CD40940B16D}"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Window features (Chapter 15)</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73424"/>
          </a:xfrm>
          <a:prstGeom prst="roundRect">
            <a:avLst>
              <a:gd name="adj" fmla="val 24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3. window features (Chapter 15) ----------------------------------- g = t.groupby(&quot;device_id&quot;) feat = pd.DataFrame(index=t.index) for col in (&quot;temp&quot;, &quot;vib&quot;, &quot;current&quot;): feat[f&quot;{col}_mean_1h&quot;] = g[col].transform(lambda s: s.rolling(60).mean()) feat[f&quot;{col}_std_1h&quot;] = g[col].transform(lambda s: s.rolling(60).std()) feat[f&quot;{col}_max_24h&quot;] = g[col].transform(lambda s: s.rolling(1440).max()) feat[f&quot;{col}_slope_24h&quot;] = g[col].transform( lambda s: s.rolling(1440).apply(lambda v: np.polyfit(range(len(v)), v, 1)[0], raw=True)) # rising variance is the degradation signature of Figure 25.2, bottom right feat[&quot;vib_var_ratio&quot;] = feat[&quot;vib_std_1h&quot;] / g[&quot;vib&quot;].transform( lambda s: s.rolling(10080).std()) # this hour vs this week"/>
          <p:cNvSpPr txBox="1"/>
          <p:nvPr/>
        </p:nvSpPr>
        <p:spPr>
          <a:xfrm>
            <a:off x="1362456" y="2523744"/>
            <a:ext cx="9987991" cy="327964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--- 3. window features (Chapter 15) -----------------------------------</a:t>
            </a:r>
          </a:p>
          <a:p>
            <a:pPr>
              <a:lnSpc>
                <a:spcPct val="100000"/>
              </a:lnSpc>
              <a:spcAft>
                <a:spcPts val="0"/>
              </a:spcAft>
            </a:pPr>
            <a:r>
              <a:rPr sz="1600" i="0">
                <a:solidFill>
                  <a:srgbClr val="E8EDF2"/>
                </a:solidFill>
                <a:latin typeface="Consolas"/>
              </a:rPr>
              <a:t>g</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a:t>
            </a:r>
            <a:r>
              <a:rPr sz="1600" i="0">
                <a:solidFill>
                  <a:srgbClr val="AEB6BF"/>
                </a:solidFill>
                <a:latin typeface="Consolas"/>
              </a:rPr>
              <a:t>.</a:t>
            </a:r>
            <a:r>
              <a:rPr sz="1600" i="0">
                <a:solidFill>
                  <a:srgbClr val="E8EDF2"/>
                </a:solidFill>
                <a:latin typeface="Consolas"/>
              </a:rPr>
              <a:t>groupby</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device_id</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feat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pd</a:t>
            </a:r>
            <a:r>
              <a:rPr sz="1600" i="0">
                <a:solidFill>
                  <a:srgbClr val="AEB6BF"/>
                </a:solidFill>
                <a:latin typeface="Consolas"/>
              </a:rPr>
              <a:t>.</a:t>
            </a:r>
            <a:r>
              <a:rPr sz="1600" i="0">
                <a:solidFill>
                  <a:srgbClr val="E8EDF2"/>
                </a:solidFill>
                <a:latin typeface="Consolas"/>
              </a:rPr>
              <a:t>DataFrame</a:t>
            </a:r>
            <a:r>
              <a:rPr sz="1600" i="0">
                <a:solidFill>
                  <a:srgbClr val="AEB6BF"/>
                </a:solidFill>
                <a:latin typeface="Consolas"/>
              </a:rPr>
              <a:t>(</a:t>
            </a:r>
            <a:r>
              <a:rPr sz="1600" i="0">
                <a:solidFill>
                  <a:srgbClr val="E8EDF2"/>
                </a:solidFill>
                <a:latin typeface="Consolas"/>
              </a:rPr>
              <a:t>index</a:t>
            </a:r>
            <a:r>
              <a:rPr sz="1600" i="0">
                <a:solidFill>
                  <a:srgbClr val="AEB6BF"/>
                </a:solidFill>
                <a:latin typeface="Consolas"/>
              </a:rPr>
              <a:t>=</a:t>
            </a:r>
            <a:r>
              <a:rPr sz="1600" i="0">
                <a:solidFill>
                  <a:srgbClr val="E8EDF2"/>
                </a:solidFill>
                <a:latin typeface="Consolas"/>
              </a:rPr>
              <a:t>t</a:t>
            </a:r>
            <a:r>
              <a:rPr sz="1600" i="0">
                <a:solidFill>
                  <a:srgbClr val="AEB6BF"/>
                </a:solidFill>
                <a:latin typeface="Consolas"/>
              </a:rPr>
              <a:t>.</a:t>
            </a:r>
            <a:r>
              <a:rPr sz="1600" i="0">
                <a:solidFill>
                  <a:srgbClr val="E8EDF2"/>
                </a:solidFill>
                <a:latin typeface="Consolas"/>
              </a:rPr>
              <a:t>index</a:t>
            </a:r>
            <a:r>
              <a:rPr sz="1600" i="0">
                <a:solidFill>
                  <a:srgbClr val="AEB6BF"/>
                </a:solidFill>
                <a:latin typeface="Consolas"/>
              </a:rPr>
              <a:t>)</a:t>
            </a:r>
          </a:p>
          <a:p>
            <a:pPr>
              <a:lnSpc>
                <a:spcPct val="100000"/>
              </a:lnSpc>
              <a:spcAft>
                <a:spcPts val="0"/>
              </a:spcAft>
            </a:pP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col</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temp</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vib</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current</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feat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a:t>
            </a:r>
            <a:r>
              <a:rPr sz="1600" i="0">
                <a:solidFill>
                  <a:srgbClr val="E8EDF2"/>
                </a:solidFill>
                <a:latin typeface="Consolas"/>
              </a:rPr>
              <a:t>col</a:t>
            </a:r>
            <a:r>
              <a:rPr sz="1600" i="0">
                <a:solidFill>
                  <a:srgbClr val="7DCEA0"/>
                </a:solidFill>
                <a:latin typeface="Consolas"/>
              </a:rPr>
              <a:t>}</a:t>
            </a:r>
            <a:r>
              <a:rPr sz="1600" i="0">
                <a:solidFill>
                  <a:srgbClr val="7DCEA0"/>
                </a:solidFill>
                <a:latin typeface="Consolas"/>
              </a:rPr>
              <a:t>_mean_1h</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g</a:t>
            </a:r>
            <a:r>
              <a:rPr sz="1600" i="0">
                <a:solidFill>
                  <a:srgbClr val="AEB6BF"/>
                </a:solidFill>
                <a:latin typeface="Consolas"/>
              </a:rPr>
              <a:t>[</a:t>
            </a:r>
            <a:r>
              <a:rPr sz="1600" i="0">
                <a:solidFill>
                  <a:srgbClr val="E8EDF2"/>
                </a:solidFill>
                <a:latin typeface="Consolas"/>
              </a:rPr>
              <a:t>col</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transform</a:t>
            </a:r>
            <a:r>
              <a:rPr sz="1600" i="0">
                <a:solidFill>
                  <a:srgbClr val="AEB6BF"/>
                </a:solidFill>
                <a:latin typeface="Consolas"/>
              </a:rPr>
              <a:t>(</a:t>
            </a:r>
            <a:r>
              <a:rPr sz="1600" i="0">
                <a:solidFill>
                  <a:srgbClr val="5DADE2"/>
                </a:solidFill>
                <a:latin typeface="Consolas"/>
              </a:rPr>
              <a:t>lambda</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rolling</a:t>
            </a:r>
            <a:r>
              <a:rPr sz="1600" i="0">
                <a:solidFill>
                  <a:srgbClr val="AEB6BF"/>
                </a:solidFill>
                <a:latin typeface="Consolas"/>
              </a:rPr>
              <a:t>(</a:t>
            </a:r>
            <a:r>
              <a:rPr sz="1600" i="0">
                <a:solidFill>
                  <a:srgbClr val="F7DC6F"/>
                </a:solidFill>
                <a:latin typeface="Consolas"/>
              </a:rPr>
              <a:t>60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mean</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feat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a:t>
            </a:r>
            <a:r>
              <a:rPr sz="1600" i="0">
                <a:solidFill>
                  <a:srgbClr val="E8EDF2"/>
                </a:solidFill>
                <a:latin typeface="Consolas"/>
              </a:rPr>
              <a:t>col</a:t>
            </a:r>
            <a:r>
              <a:rPr sz="1600" i="0">
                <a:solidFill>
                  <a:srgbClr val="7DCEA0"/>
                </a:solidFill>
                <a:latin typeface="Consolas"/>
              </a:rPr>
              <a:t>}</a:t>
            </a:r>
            <a:r>
              <a:rPr sz="1600" i="0">
                <a:solidFill>
                  <a:srgbClr val="7DCEA0"/>
                </a:solidFill>
                <a:latin typeface="Consolas"/>
              </a:rPr>
              <a:t>_std_1h</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g</a:t>
            </a:r>
            <a:r>
              <a:rPr sz="1600" i="0">
                <a:solidFill>
                  <a:srgbClr val="AEB6BF"/>
                </a:solidFill>
                <a:latin typeface="Consolas"/>
              </a:rPr>
              <a:t>[</a:t>
            </a:r>
            <a:r>
              <a:rPr sz="1600" i="0">
                <a:solidFill>
                  <a:srgbClr val="E8EDF2"/>
                </a:solidFill>
                <a:latin typeface="Consolas"/>
              </a:rPr>
              <a:t>col</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transform</a:t>
            </a:r>
            <a:r>
              <a:rPr sz="1600" i="0">
                <a:solidFill>
                  <a:srgbClr val="AEB6BF"/>
                </a:solidFill>
                <a:latin typeface="Consolas"/>
              </a:rPr>
              <a:t>(</a:t>
            </a:r>
            <a:r>
              <a:rPr sz="1600" i="0">
                <a:solidFill>
                  <a:srgbClr val="5DADE2"/>
                </a:solidFill>
                <a:latin typeface="Consolas"/>
              </a:rPr>
              <a:t>lambda</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rolling</a:t>
            </a:r>
            <a:r>
              <a:rPr sz="1600" i="0">
                <a:solidFill>
                  <a:srgbClr val="AEB6BF"/>
                </a:solidFill>
                <a:latin typeface="Consolas"/>
              </a:rPr>
              <a:t>(</a:t>
            </a:r>
            <a:r>
              <a:rPr sz="1600" i="0">
                <a:solidFill>
                  <a:srgbClr val="F7DC6F"/>
                </a:solidFill>
                <a:latin typeface="Consolas"/>
              </a:rPr>
              <a:t>60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std</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feat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a:t>
            </a:r>
            <a:r>
              <a:rPr sz="1600" i="0">
                <a:solidFill>
                  <a:srgbClr val="E8EDF2"/>
                </a:solidFill>
                <a:latin typeface="Consolas"/>
              </a:rPr>
              <a:t>col</a:t>
            </a:r>
            <a:r>
              <a:rPr sz="1600" i="0">
                <a:solidFill>
                  <a:srgbClr val="7DCEA0"/>
                </a:solidFill>
                <a:latin typeface="Consolas"/>
              </a:rPr>
              <a:t>}</a:t>
            </a:r>
            <a:r>
              <a:rPr sz="1600" i="0">
                <a:solidFill>
                  <a:srgbClr val="7DCEA0"/>
                </a:solidFill>
                <a:latin typeface="Consolas"/>
              </a:rPr>
              <a:t>_max_24h</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g</a:t>
            </a:r>
            <a:r>
              <a:rPr sz="1600" i="0">
                <a:solidFill>
                  <a:srgbClr val="AEB6BF"/>
                </a:solidFill>
                <a:latin typeface="Consolas"/>
              </a:rPr>
              <a:t>[</a:t>
            </a:r>
            <a:r>
              <a:rPr sz="1600" i="0">
                <a:solidFill>
                  <a:srgbClr val="E8EDF2"/>
                </a:solidFill>
                <a:latin typeface="Consolas"/>
              </a:rPr>
              <a:t>col</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transform</a:t>
            </a:r>
            <a:r>
              <a:rPr sz="1600" i="0">
                <a:solidFill>
                  <a:srgbClr val="AEB6BF"/>
                </a:solidFill>
                <a:latin typeface="Consolas"/>
              </a:rPr>
              <a:t>(</a:t>
            </a:r>
            <a:r>
              <a:rPr sz="1600" i="0">
                <a:solidFill>
                  <a:srgbClr val="5DADE2"/>
                </a:solidFill>
                <a:latin typeface="Consolas"/>
              </a:rPr>
              <a:t>lambda</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rolling</a:t>
            </a:r>
            <a:r>
              <a:rPr sz="1600" i="0">
                <a:solidFill>
                  <a:srgbClr val="AEB6BF"/>
                </a:solidFill>
                <a:latin typeface="Consolas"/>
              </a:rPr>
              <a:t>(</a:t>
            </a:r>
            <a:r>
              <a:rPr sz="1600" i="0">
                <a:solidFill>
                  <a:srgbClr val="F7DC6F"/>
                </a:solidFill>
                <a:latin typeface="Consolas"/>
              </a:rPr>
              <a:t>1440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max</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feat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a:t>
            </a:r>
            <a:r>
              <a:rPr sz="1600" i="0">
                <a:solidFill>
                  <a:srgbClr val="E8EDF2"/>
                </a:solidFill>
                <a:latin typeface="Consolas"/>
              </a:rPr>
              <a:t>col</a:t>
            </a:r>
            <a:r>
              <a:rPr sz="1600" i="0">
                <a:solidFill>
                  <a:srgbClr val="7DCEA0"/>
                </a:solidFill>
                <a:latin typeface="Consolas"/>
              </a:rPr>
              <a:t>}</a:t>
            </a:r>
            <a:r>
              <a:rPr sz="1600" i="0">
                <a:solidFill>
                  <a:srgbClr val="7DCEA0"/>
                </a:solidFill>
                <a:latin typeface="Consolas"/>
              </a:rPr>
              <a:t>_slope_24h</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g</a:t>
            </a:r>
            <a:r>
              <a:rPr sz="1600" i="0">
                <a:solidFill>
                  <a:srgbClr val="AEB6BF"/>
                </a:solidFill>
                <a:latin typeface="Consolas"/>
              </a:rPr>
              <a:t>[</a:t>
            </a:r>
            <a:r>
              <a:rPr sz="1600" i="0">
                <a:solidFill>
                  <a:srgbClr val="E8EDF2"/>
                </a:solidFill>
                <a:latin typeface="Consolas"/>
              </a:rPr>
              <a:t>col</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transform</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lambda</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rolling</a:t>
            </a:r>
            <a:r>
              <a:rPr sz="1600" i="0">
                <a:solidFill>
                  <a:srgbClr val="AEB6BF"/>
                </a:solidFill>
                <a:latin typeface="Consolas"/>
              </a:rPr>
              <a:t>(</a:t>
            </a:r>
            <a:r>
              <a:rPr sz="1600" i="0">
                <a:solidFill>
                  <a:srgbClr val="F7DC6F"/>
                </a:solidFill>
                <a:latin typeface="Consolas"/>
              </a:rPr>
              <a:t>1440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apply</a:t>
            </a:r>
            <a:r>
              <a:rPr sz="1600" i="0">
                <a:solidFill>
                  <a:srgbClr val="AEB6BF"/>
                </a:solidFill>
                <a:latin typeface="Consolas"/>
              </a:rPr>
              <a:t>(</a:t>
            </a:r>
            <a:r>
              <a:rPr sz="1600" i="0">
                <a:solidFill>
                  <a:srgbClr val="5DADE2"/>
                </a:solidFill>
                <a:latin typeface="Consolas"/>
              </a:rPr>
              <a:t>lambda</a:t>
            </a:r>
            <a:r>
              <a:rPr sz="1600" i="0">
                <a:solidFill>
                  <a:srgbClr val="E8EDF2"/>
                </a:solidFill>
                <a:latin typeface="Consolas"/>
              </a:rPr>
              <a:t> </a:t>
            </a:r>
            <a:r>
              <a:rPr sz="1600" i="0">
                <a:solidFill>
                  <a:srgbClr val="E8EDF2"/>
                </a:solidFill>
                <a:latin typeface="Consolas"/>
              </a:rPr>
              <a:t>v</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polyfit</a:t>
            </a:r>
            <a:r>
              <a:rPr sz="1600" i="0">
                <a:solidFill>
                  <a:srgbClr val="AEB6BF"/>
                </a:solidFill>
                <a:latin typeface="Consolas"/>
              </a:rPr>
              <a:t>(</a:t>
            </a:r>
            <a:r>
              <a:rPr sz="1600" i="0">
                <a:solidFill>
                  <a:srgbClr val="C39BD3"/>
                </a:solidFill>
                <a:latin typeface="Consolas"/>
              </a:rPr>
              <a:t>range</a:t>
            </a:r>
            <a:r>
              <a:rPr sz="1600" i="0">
                <a:solidFill>
                  <a:srgbClr val="AEB6BF"/>
                </a:solidFill>
                <a:latin typeface="Consolas"/>
              </a:rPr>
              <a:t>(</a:t>
            </a:r>
            <a:r>
              <a:rPr sz="1600" i="0">
                <a:solidFill>
                  <a:srgbClr val="C39BD3"/>
                </a:solidFill>
                <a:latin typeface="Consolas"/>
              </a:rPr>
              <a:t>len</a:t>
            </a:r>
            <a:r>
              <a:rPr sz="1600" i="0">
                <a:solidFill>
                  <a:srgbClr val="AEB6BF"/>
                </a:solidFill>
                <a:latin typeface="Consolas"/>
              </a:rPr>
              <a:t>(</a:t>
            </a:r>
            <a:r>
              <a:rPr sz="1600" i="0">
                <a:solidFill>
                  <a:srgbClr val="E8EDF2"/>
                </a:solidFill>
                <a:latin typeface="Consolas"/>
              </a:rPr>
              <a:t>v</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v</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raw</a:t>
            </a:r>
            <a:r>
              <a:rPr sz="1600" i="0">
                <a:solidFill>
                  <a:srgbClr val="AEB6BF"/>
                </a:solidFill>
                <a:latin typeface="Consolas"/>
              </a:rPr>
              <a:t>=</a:t>
            </a:r>
            <a:r>
              <a:rPr sz="1600" i="0">
                <a:solidFill>
                  <a:srgbClr val="5DADE2"/>
                </a:solidFill>
                <a:latin typeface="Consolas"/>
              </a:rPr>
              <a:t>True</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1">
                <a:solidFill>
                  <a:srgbClr val="8795A1"/>
                </a:solidFill>
                <a:latin typeface="Consolas"/>
              </a:rPr>
              <a:t># rising variance is the degradation signature of Figure 25.2, bottom right</a:t>
            </a:r>
          </a:p>
          <a:p>
            <a:pPr>
              <a:lnSpc>
                <a:spcPct val="100000"/>
              </a:lnSpc>
              <a:spcAft>
                <a:spcPts val="0"/>
              </a:spcAft>
            </a:pPr>
            <a:r>
              <a:rPr sz="1600" i="0">
                <a:solidFill>
                  <a:srgbClr val="E8EDF2"/>
                </a:solidFill>
                <a:latin typeface="Consolas"/>
              </a:rPr>
              <a:t>feat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vib_var_ratio</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feat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vib_std_1h</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g</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vib</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transform</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lambda</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a:t>
            </a:r>
            <a:r>
              <a:rPr sz="1600" i="0">
                <a:solidFill>
                  <a:srgbClr val="AEB6BF"/>
                </a:solidFill>
                <a:latin typeface="Consolas"/>
              </a:rPr>
              <a:t>.</a:t>
            </a:r>
            <a:r>
              <a:rPr sz="1600" i="0">
                <a:solidFill>
                  <a:srgbClr val="E8EDF2"/>
                </a:solidFill>
                <a:latin typeface="Consolas"/>
              </a:rPr>
              <a:t>rolling</a:t>
            </a:r>
            <a:r>
              <a:rPr sz="1600" i="0">
                <a:solidFill>
                  <a:srgbClr val="AEB6BF"/>
                </a:solidFill>
                <a:latin typeface="Consolas"/>
              </a:rPr>
              <a:t>(</a:t>
            </a:r>
            <a:r>
              <a:rPr sz="1600" i="0">
                <a:solidFill>
                  <a:srgbClr val="F7DC6F"/>
                </a:solidFill>
                <a:latin typeface="Consolas"/>
              </a:rPr>
              <a:t>10080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std</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this hour vs this week</a:t>
            </a:r>
          </a:p>
        </p:txBody>
      </p:sp>
      <p:sp>
        <p:nvSpPr>
          <p:cNvPr id="15" name="!!code-num"/>
          <p:cNvSpPr txBox="1"/>
          <p:nvPr/>
        </p:nvSpPr>
        <p:spPr>
          <a:xfrm>
            <a:off x="768096" y="2523744"/>
            <a:ext cx="393192" cy="327964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19</a:t>
            </a:r>
          </a:p>
          <a:p>
            <a:pPr algn="r">
              <a:lnSpc>
                <a:spcPct val="100000"/>
              </a:lnSpc>
            </a:pPr>
            <a:r>
              <a:rPr sz="1600">
                <a:solidFill>
                  <a:srgbClr val="4F5D6A"/>
                </a:solidFill>
                <a:latin typeface="Consolas"/>
              </a:rPr>
              <a:t>20</a:t>
            </a:r>
          </a:p>
          <a:p>
            <a:pPr algn="r">
              <a:lnSpc>
                <a:spcPct val="100000"/>
              </a:lnSpc>
            </a:pPr>
            <a:r>
              <a:rPr sz="1600">
                <a:solidFill>
                  <a:srgbClr val="4F5D6A"/>
                </a:solidFill>
                <a:latin typeface="Consolas"/>
              </a:rPr>
              <a:t>21</a:t>
            </a:r>
          </a:p>
          <a:p>
            <a:pPr algn="r">
              <a:lnSpc>
                <a:spcPct val="100000"/>
              </a:lnSpc>
            </a:pPr>
            <a:r>
              <a:rPr sz="1600">
                <a:solidFill>
                  <a:srgbClr val="4F5D6A"/>
                </a:solidFill>
                <a:latin typeface="Consolas"/>
              </a:rPr>
              <a:t>22</a:t>
            </a:r>
          </a:p>
          <a:p>
            <a:pPr algn="r">
              <a:lnSpc>
                <a:spcPct val="100000"/>
              </a:lnSpc>
            </a:pPr>
            <a:r>
              <a:rPr sz="1600">
                <a:solidFill>
                  <a:srgbClr val="4F5D6A"/>
                </a:solidFill>
                <a:latin typeface="Consolas"/>
              </a:rPr>
              <a:t>23</a:t>
            </a:r>
          </a:p>
          <a:p>
            <a:pPr algn="r">
              <a:lnSpc>
                <a:spcPct val="100000"/>
              </a:lnSpc>
            </a:pPr>
            <a:r>
              <a:rPr sz="1600">
                <a:solidFill>
                  <a:srgbClr val="4F5D6A"/>
                </a:solidFill>
                <a:latin typeface="Consolas"/>
              </a:rPr>
              <a:t>24</a:t>
            </a:r>
          </a:p>
          <a:p>
            <a:pPr algn="r">
              <a:lnSpc>
                <a:spcPct val="100000"/>
              </a:lnSpc>
            </a:pPr>
            <a:r>
              <a:rPr sz="1600">
                <a:solidFill>
                  <a:srgbClr val="4F5D6A"/>
                </a:solidFill>
                <a:latin typeface="Consolas"/>
              </a:rPr>
              <a:t>25</a:t>
            </a:r>
          </a:p>
          <a:p>
            <a:pPr algn="r">
              <a:lnSpc>
                <a:spcPct val="100000"/>
              </a:lnSpc>
            </a:pPr>
            <a:r>
              <a:rPr sz="1600">
                <a:solidFill>
                  <a:srgbClr val="4F5D6A"/>
                </a:solidFill>
                <a:latin typeface="Consolas"/>
              </a:rPr>
              <a:t>26</a:t>
            </a:r>
          </a:p>
          <a:p>
            <a:pPr algn="r">
              <a:lnSpc>
                <a:spcPct val="100000"/>
              </a:lnSpc>
            </a:pPr>
            <a:r>
              <a:rPr sz="1600">
                <a:solidFill>
                  <a:srgbClr val="4F5D6A"/>
                </a:solidFill>
                <a:latin typeface="Consolas"/>
              </a:rPr>
              <a:t>27</a:t>
            </a:r>
          </a:p>
          <a:p>
            <a:pPr algn="r">
              <a:lnSpc>
                <a:spcPct val="100000"/>
              </a:lnSpc>
            </a:pPr>
            <a:r>
              <a:rPr sz="1600">
                <a:solidFill>
                  <a:srgbClr val="4F5D6A"/>
                </a:solidFill>
                <a:latin typeface="Consolas"/>
              </a:rPr>
              <a:t>28</a:t>
            </a:r>
          </a:p>
          <a:p>
            <a:pPr algn="r">
              <a:lnSpc>
                <a:spcPct val="100000"/>
              </a:lnSpc>
            </a:pPr>
            <a:r>
              <a:rPr sz="1600">
                <a:solidFill>
                  <a:srgbClr val="4F5D6A"/>
                </a:solidFill>
                <a:latin typeface="Consolas"/>
              </a:rPr>
              <a:t>29</a:t>
            </a:r>
          </a:p>
          <a:p>
            <a:pPr algn="r">
              <a:lnSpc>
                <a:spcPct val="100000"/>
              </a:lnSpc>
            </a:pPr>
            <a:r>
              <a:rPr sz="1600">
                <a:solidFill>
                  <a:srgbClr val="4F5D6A"/>
                </a:solidFill>
                <a:latin typeface="Consolas"/>
              </a:rPr>
              <a:t>30</a:t>
            </a:r>
          </a:p>
          <a:p>
            <a:pPr algn="r">
              <a:lnSpc>
                <a:spcPct val="100000"/>
              </a:lnSpc>
            </a:pPr>
            <a:r>
              <a:rPr sz="1600">
                <a:solidFill>
                  <a:srgbClr val="4F5D6A"/>
                </a:solidFill>
                <a:latin typeface="Consolas"/>
              </a:rPr>
              <a:t>31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Telemetry to Alert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48943162-CF74-4A77-8B35-ABDAE100C677}"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Unsupervised: there are no failure labels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4. unsupervised: there are no failure labels ---------------------- train = feat[~t[&quot;sensor_suspect&quot;]].dropna() iso = IsolationForest(contamination=0.005, random_state=0).fit(train) feat[&quot;score&quot;] = -iso.score_samples(feat.fillna(0))"/>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unsupervised: there are no failure labels ----------------------</a:t>
            </a:r>
          </a:p>
          <a:p>
            <a:pPr>
              <a:lnSpc>
                <a:spcPct val="100000"/>
              </a:lnSpc>
              <a:spcAft>
                <a:spcPts val="0"/>
              </a:spcAft>
            </a:pPr>
            <a:r>
              <a:rPr sz="1800" i="0">
                <a:solidFill>
                  <a:srgbClr val="E8EDF2"/>
                </a:solidFill>
                <a:latin typeface="Consolas"/>
              </a:rPr>
              <a:t>train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feat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sensor_suspect</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dropna</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iso</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IsolationForest</a:t>
            </a:r>
            <a:r>
              <a:rPr sz="1800" i="0">
                <a:solidFill>
                  <a:srgbClr val="AEB6BF"/>
                </a:solidFill>
                <a:latin typeface="Consolas"/>
              </a:rPr>
              <a:t>(</a:t>
            </a:r>
            <a:r>
              <a:rPr sz="1800" i="0">
                <a:solidFill>
                  <a:srgbClr val="E8EDF2"/>
                </a:solidFill>
                <a:latin typeface="Consolas"/>
              </a:rPr>
              <a:t>contamination</a:t>
            </a:r>
            <a:r>
              <a:rPr sz="1800" i="0">
                <a:solidFill>
                  <a:srgbClr val="AEB6BF"/>
                </a:solidFill>
                <a:latin typeface="Consolas"/>
              </a:rPr>
              <a:t>=</a:t>
            </a:r>
            <a:r>
              <a:rPr sz="1800" i="0">
                <a:solidFill>
                  <a:srgbClr val="F7DC6F"/>
                </a:solidFill>
                <a:latin typeface="Consolas"/>
              </a:rPr>
              <a:t>0.005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train</a:t>
            </a:r>
            <a:r>
              <a:rPr sz="1800" i="0">
                <a:solidFill>
                  <a:srgbClr val="AEB6BF"/>
                </a:solidFill>
                <a:latin typeface="Consolas"/>
              </a:rPr>
              <a:t>)</a:t>
            </a:r>
          </a:p>
          <a:p>
            <a:pPr>
              <a:lnSpc>
                <a:spcPct val="100000"/>
              </a:lnSpc>
              <a:spcAft>
                <a:spcPts val="0"/>
              </a:spcAft>
            </a:pPr>
            <a:r>
              <a:rPr sz="1800" i="0">
                <a:solidFill>
                  <a:srgbClr val="E8EDF2"/>
                </a:solidFill>
                <a:latin typeface="Consolas"/>
              </a:rPr>
              <a:t>feat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score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iso</a:t>
            </a:r>
            <a:r>
              <a:rPr sz="1800" i="0">
                <a:solidFill>
                  <a:srgbClr val="AEB6BF"/>
                </a:solidFill>
                <a:latin typeface="Consolas"/>
              </a:rPr>
              <a:t>.</a:t>
            </a:r>
            <a:r>
              <a:rPr sz="1800" i="0">
                <a:solidFill>
                  <a:srgbClr val="E8EDF2"/>
                </a:solidFill>
                <a:latin typeface="Consolas"/>
              </a:rPr>
              <a:t>score_samples</a:t>
            </a:r>
            <a:r>
              <a:rPr sz="1800" i="0">
                <a:solidFill>
                  <a:srgbClr val="AEB6BF"/>
                </a:solidFill>
                <a:latin typeface="Consolas"/>
              </a:rPr>
              <a:t>(</a:t>
            </a:r>
            <a:r>
              <a:rPr sz="1800" i="0">
                <a:solidFill>
                  <a:srgbClr val="E8EDF2"/>
                </a:solidFill>
                <a:latin typeface="Consolas"/>
              </a:rPr>
              <a:t>feat</a:t>
            </a:r>
            <a:r>
              <a:rPr sz="1800" i="0">
                <a:solidFill>
                  <a:srgbClr val="AEB6BF"/>
                </a:solidFill>
                <a:latin typeface="Consolas"/>
              </a:rPr>
              <a:t>.</a:t>
            </a:r>
            <a:r>
              <a:rPr sz="1800" i="0">
                <a:solidFill>
                  <a:srgbClr val="E8EDF2"/>
                </a:solidFill>
                <a:latin typeface="Consolas"/>
              </a:rPr>
              <a:t>fillna</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Telemetry to Alert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7BE20436-A3C1-404D-928E-652DBD5C14FB}"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Alert on PERSISTENCE, not on a single reading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03704"/>
          </a:xfrm>
          <a:prstGeom prst="roundRect">
            <a:avLst>
              <a:gd name="adj" fmla="val 41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5. alert on PERSISTENCE, not on a single reading ------------------ # One anomalous minute is noise. Six of the last ten is a signal. flag = feat[&quot;score&quot;] &gt; np.percentile(feat[&quot;score&quot;], 99.5) feat[&quot;alert&quot;] = flag.groupby(level=&quot;device_id&quot;).transform( lambda s: s.rolling(10).sum() &gt;= 6) print(feat.groupby(level=&quot;device_id&quot;)[&quot;alert&quot;].sum().sort_values(ascending=False).head())"/>
          <p:cNvSpPr txBox="1"/>
          <p:nvPr/>
        </p:nvSpPr>
        <p:spPr>
          <a:xfrm>
            <a:off x="1362456" y="2523744"/>
            <a:ext cx="9987991" cy="1709928"/>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--- 5. alert on PERSISTENCE, not on a single reading ------------------</a:t>
            </a:r>
          </a:p>
          <a:p>
            <a:pPr>
              <a:lnSpc>
                <a:spcPct val="100000"/>
              </a:lnSpc>
              <a:spcAft>
                <a:spcPts val="0"/>
              </a:spcAft>
            </a:pPr>
            <a:r>
              <a:rPr sz="1500" i="1">
                <a:solidFill>
                  <a:srgbClr val="8795A1"/>
                </a:solidFill>
                <a:latin typeface="Consolas"/>
              </a:rPr>
              <a:t># One anomalous minute is noise. Six of the last ten is a signal.</a:t>
            </a:r>
          </a:p>
          <a:p>
            <a:pPr>
              <a:lnSpc>
                <a:spcPct val="100000"/>
              </a:lnSpc>
              <a:spcAft>
                <a:spcPts val="0"/>
              </a:spcAft>
            </a:pPr>
            <a:r>
              <a:rPr sz="1500" i="0">
                <a:solidFill>
                  <a:srgbClr val="E8EDF2"/>
                </a:solidFill>
                <a:latin typeface="Consolas"/>
              </a:rPr>
              <a:t>flag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feat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score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percentile</a:t>
            </a:r>
            <a:r>
              <a:rPr sz="1500" i="0">
                <a:solidFill>
                  <a:srgbClr val="AEB6BF"/>
                </a:solidFill>
                <a:latin typeface="Consolas"/>
              </a:rPr>
              <a:t>(</a:t>
            </a:r>
            <a:r>
              <a:rPr sz="1500" i="0">
                <a:solidFill>
                  <a:srgbClr val="E8EDF2"/>
                </a:solidFill>
                <a:latin typeface="Consolas"/>
              </a:rPr>
              <a:t>feat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score</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99.5</a:t>
            </a:r>
            <a:r>
              <a:rPr sz="1500" i="0">
                <a:solidFill>
                  <a:srgbClr val="AEB6BF"/>
                </a:solidFill>
                <a:latin typeface="Consolas"/>
              </a:rPr>
              <a:t>)</a:t>
            </a:r>
          </a:p>
          <a:p>
            <a:pPr>
              <a:lnSpc>
                <a:spcPct val="100000"/>
              </a:lnSpc>
              <a:spcAft>
                <a:spcPts val="0"/>
              </a:spcAft>
            </a:pPr>
            <a:r>
              <a:rPr sz="1500" i="0">
                <a:solidFill>
                  <a:srgbClr val="E8EDF2"/>
                </a:solidFill>
                <a:latin typeface="Consolas"/>
              </a:rPr>
              <a:t>feat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alert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flag</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E8EDF2"/>
                </a:solidFill>
                <a:latin typeface="Consolas"/>
              </a:rPr>
              <a:t>level</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device_id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rolling</a:t>
            </a:r>
            <a:r>
              <a:rPr sz="1500" i="0">
                <a:solidFill>
                  <a:srgbClr val="AEB6BF"/>
                </a:solidFill>
                <a:latin typeface="Consolas"/>
              </a:rPr>
              <a:t>(</a:t>
            </a:r>
            <a:r>
              <a:rPr sz="1500" i="0">
                <a:solidFill>
                  <a:srgbClr val="F7DC6F"/>
                </a:solidFill>
                <a:latin typeface="Consolas"/>
              </a:rPr>
              <a:t>10</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sum</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6</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E8EDF2"/>
                </a:solidFill>
                <a:latin typeface="Consolas"/>
              </a:rPr>
              <a:t>feat</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E8EDF2"/>
                </a:solidFill>
                <a:latin typeface="Consolas"/>
              </a:rPr>
              <a:t>level</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device_id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alert</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sum</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sort_values</a:t>
            </a:r>
            <a:r>
              <a:rPr sz="1500" i="0">
                <a:solidFill>
                  <a:srgbClr val="AEB6BF"/>
                </a:solidFill>
                <a:latin typeface="Consolas"/>
              </a:rPr>
              <a:t>(</a:t>
            </a:r>
            <a:r>
              <a:rPr sz="1500" i="0">
                <a:solidFill>
                  <a:srgbClr val="E8EDF2"/>
                </a:solidFill>
                <a:latin typeface="Consolas"/>
              </a:rPr>
              <a:t>ascending</a:t>
            </a:r>
            <a:r>
              <a:rPr sz="1500" i="0">
                <a:solidFill>
                  <a:srgbClr val="AEB6BF"/>
                </a:solidFill>
                <a:latin typeface="Consolas"/>
              </a:rPr>
              <a:t>=</a:t>
            </a:r>
            <a:r>
              <a:rPr sz="1500" i="0">
                <a:solidFill>
                  <a:srgbClr val="5DADE2"/>
                </a:solidFill>
                <a:latin typeface="Consolas"/>
              </a:rPr>
              <a:t>False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head</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p:txBody>
      </p:sp>
      <p:sp>
        <p:nvSpPr>
          <p:cNvPr id="15" name="!!code-num"/>
          <p:cNvSpPr txBox="1"/>
          <p:nvPr/>
        </p:nvSpPr>
        <p:spPr>
          <a:xfrm>
            <a:off x="768096" y="2523744"/>
            <a:ext cx="393192" cy="1709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36</a:t>
            </a:r>
          </a:p>
          <a:p>
            <a:pPr algn="r">
              <a:lnSpc>
                <a:spcPct val="100000"/>
              </a:lnSpc>
            </a:pPr>
            <a:r>
              <a:rPr sz="1500">
                <a:solidFill>
                  <a:srgbClr val="4F5D6A"/>
                </a:solidFill>
                <a:latin typeface="Consolas"/>
              </a:rPr>
              <a:t>37</a:t>
            </a:r>
          </a:p>
          <a:p>
            <a:pPr algn="r">
              <a:lnSpc>
                <a:spcPct val="100000"/>
              </a:lnSpc>
            </a:pPr>
            <a:r>
              <a:rPr sz="1500">
                <a:solidFill>
                  <a:srgbClr val="4F5D6A"/>
                </a:solidFill>
                <a:latin typeface="Consolas"/>
              </a:rPr>
              <a:t>38</a:t>
            </a:r>
          </a:p>
          <a:p>
            <a:pPr algn="r">
              <a:lnSpc>
                <a:spcPct val="100000"/>
              </a:lnSpc>
            </a:pPr>
            <a:r>
              <a:rPr sz="1500">
                <a:solidFill>
                  <a:srgbClr val="4F5D6A"/>
                </a:solidFill>
                <a:latin typeface="Consolas"/>
              </a:rPr>
              <a:t>39</a:t>
            </a:r>
          </a:p>
          <a:p>
            <a:pPr algn="r">
              <a:lnSpc>
                <a:spcPct val="100000"/>
              </a:lnSpc>
            </a:pPr>
            <a:r>
              <a:rPr sz="1500">
                <a:solidFill>
                  <a:srgbClr val="4F5D6A"/>
                </a:solidFill>
                <a:latin typeface="Consolas"/>
              </a:rPr>
              <a:t>40</a:t>
            </a:r>
          </a:p>
          <a:p>
            <a:pPr algn="r">
              <a:lnSpc>
                <a:spcPct val="100000"/>
              </a:lnSpc>
            </a:pPr>
            <a:r>
              <a:rPr sz="1500">
                <a:solidFill>
                  <a:srgbClr val="4F5D6A"/>
                </a:solidFill>
                <a:latin typeface="Consolas"/>
              </a:rPr>
              <a:t>41</a:t>
            </a:r>
          </a:p>
          <a:p>
            <a:pPr algn="r">
              <a:lnSpc>
                <a:spcPct val="100000"/>
              </a:lnSpc>
            </a:pPr>
            <a:r>
              <a:rPr sz="15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§25.4  ·  Handout p. 164     </a:t>
            </a:r>
            <a:fld id="{977A7E0A-AE9F-420B-BE41-C64DF6947EE4}"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Step 5 is the one that makes this deployable.</a:t>
            </a:r>
            <a:r>
              <a:rPr sz="2300" b="0" i="0">
                <a:solidFill>
                  <a:srgbClr val="1C252B"/>
                </a:solidFill>
                <a:latin typeface="Segoe UI"/>
              </a:rPr>
              <a:t> Alerting on every anomalous reading generates hundreds of alerts a day and the system is switched off within a week. Requiring persistence trades a little detection latency for a false-alarm rate technicians will tolerate — the practical form of the base-rate argument from Chapter 6.</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temperature sensor has reported 71.6</a:t>
            </a:r>
            <a:r>
              <a:rPr sz="3400" b="0" i="0">
                <a:solidFill>
                  <a:srgbClr val="FFFFFF"/>
                </a:solidFill>
                <a:latin typeface="Cambria"/>
              </a:rPr>
              <a:t>°</a:t>
            </a:r>
            <a:r>
              <a:rPr sz="3400" b="0" i="0">
                <a:solidFill>
                  <a:srgbClr val="FFFFFF"/>
                </a:solidFill>
                <a:latin typeface="Segoe UI Semibold"/>
              </a:rPr>
              <a:t>C exactly for eight hours. Range and null checks both pass. What is wrong, and what check catches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25  ·  Data Science for the Internet of Things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167  ·  answers in Appendix D     </a:t>
            </a:r>
            <a:fld id="{9F283F44-CE5E-4BAD-A1A6-ECEB79FC9987}"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temperature sensor has reported 71.6</a:t>
            </a:r>
            <a:r>
              <a:rPr sz="2400" b="0" i="0">
                <a:solidFill>
                  <a:srgbClr val="1A5276"/>
                </a:solidFill>
                <a:latin typeface="Cambria"/>
              </a:rPr>
              <a:t>°</a:t>
            </a:r>
            <a:r>
              <a:rPr sz="2400" b="0" i="0">
                <a:solidFill>
                  <a:srgbClr val="1A5276"/>
                </a:solidFill>
                <a:latin typeface="Segoe UI Semibold"/>
              </a:rPr>
              <a:t>C exactly for eight hours. Range and null checks both pass. What is wrong, and what check catches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sensor is stuck — a common failure mode that produces a plausible constant. The check is </a:t>
            </a:r>
            <a:r>
              <a:rPr sz="2200" b="1" i="0">
                <a:solidFill>
                  <a:srgbClr val="1C252B"/>
                </a:solidFill>
                <a:latin typeface="Segoe UI"/>
              </a:rPr>
              <a:t>rolling variance too low</a:t>
            </a:r>
            <a:r>
              <a:rPr sz="2200" b="0" i="0">
                <a:solidFill>
                  <a:srgbClr val="1C252B"/>
                </a:solidFill>
                <a:latin typeface="Segoe UI"/>
              </a:rPr>
              <a:t>: a real process always shows some noise.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  answers in Appendix D     </a:t>
            </a:r>
            <a:fld id="{DE20AF32-5941-4AEC-A5DD-C48A141A5BBE}"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979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is “one row per raw reading” almost never the right unit of analysis for a predictive maintenance model?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25  ·  Data Science for the Internet of Things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167  ·  answers in Appendix D     </a:t>
            </a:r>
            <a:fld id="{6B00E393-848D-4468-B264-53078B4D393A}"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is “one row per raw reading” almost never the right unit of analysis for a predictive maintenance model?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decision is made per device per maintenance cycle, not per reading. At raw grain the class balance is absurd, nearly every row is healthy, and the effective sample size is the number of failures, not the number of rows.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  answers in Appendix D     </a:t>
            </a:r>
            <a:fld id="{85EC34BD-E716-448C-8701-926F2E7C901D}"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5210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predicts failures with 85% recall but only 24 hours ahead, while parts take three weeks to arrive. Is it useful?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25  ·  Data Science for the Internet of Things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167  ·  answers in Appendix D     </a:t>
            </a:r>
            <a:fld id="{14482FF8-AC6F-4E37-A2B2-0224EEDE1031}"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predicts failures with 85% recall but only 24 hours ahead, while parts take three weeks to arrive. Is it useful?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A 24-hour warning cannot trigger a three-week procurement, so the prediction cannot change the outcome. A model with lower recall but a four-week lead time would be more valuable.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  answers in Appendix D     </a:t>
            </a:r>
            <a:fld id="{9CBA7B6D-5234-45F7-8851-B70E63811A7F}"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CFBF7CA6-61C2-4465-B0A9-0BC3460854AB}"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IoT analytics is distributed across device, gateway, platform and application, each with different compute, latency and context.</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Telemetry is high-volume, autocorrelated, duplicated, out of order and almost never labelled — so aggregate first and expect to work unsupervised.</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Distinguishing a failing sensor from a failing machine is the core diagnostic skill; a stuck sensor passes every conventional validity check.</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Sensor fusion across </a:t>
            </a:r>
            <a:r>
              <a:rPr sz="1900" b="0" i="1">
                <a:solidFill>
                  <a:srgbClr val="1C252B"/>
                </a:solidFill>
                <a:latin typeface="Segoe UI"/>
              </a:rPr>
              <a:t>different physical quantities</a:t>
            </a:r>
            <a:r>
              <a:rPr sz="1900" b="0" i="0">
                <a:solidFill>
                  <a:srgbClr val="1C252B"/>
                </a:solidFill>
                <a:latin typeface="Segoe UI"/>
              </a:rPr>
              <a:t> is what makes that distinction possible.</a:t>
            </a:r>
          </a:p>
        </p:txBody>
      </p:sp>
      <p:sp>
        <p:nvSpPr>
          <p:cNvPr id="19" name="!!sb4">
            <a:extLst>
              <a:ext uri="{C183D7F6-B498-43B3-948B-1728B52AA6E4}">
                <adec:decorative xmlns:adec="http://schemas.microsoft.com/office/drawing/2017/decorative" val="1"/>
              </a:ext>
            </a:extLst>
          </p:cNvPr>
          <p:cNvSpPr/>
          <p:nvPr/>
        </p:nvSpPr>
        <p:spPr>
          <a:xfrm>
            <a:off x="658368" y="468721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74207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7807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Frame predictive maintenance around the maintenance decision, at a device-day grain, with the horizon set by parts lead time and the baseline set by the existing service interval.</a:t>
            </a:r>
          </a:p>
        </p:txBody>
      </p:sp>
      <p:sp>
        <p:nvSpPr>
          <p:cNvPr id="22" name="!!sb5">
            <a:extLst>
              <a:ext uri="{C183D7F6-B498-43B3-948B-1728B52AA6E4}">
                <adec:decorative xmlns:adec="http://schemas.microsoft.com/office/drawing/2017/decorative" val="1"/>
              </a:ext>
            </a:extLst>
          </p:cNvPr>
          <p:cNvSpPr/>
          <p:nvPr/>
        </p:nvSpPr>
        <p:spPr>
          <a:xfrm>
            <a:off x="658368" y="547237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2724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63235"/>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Evaluate on stoppages prevented, unnecessary inspections, warning lead time and alerts per technician — and alert on persistence, not on single readings.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D0A08C8C-F137-462A-915D-8EBF79D4CE7A}"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At-least-once delivery in an IoT platform means ingestion must be: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fast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idempotent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encrypted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batched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80006A0F-45A7-4386-9365-D51AC8D02E9F}" type="slidenum">
              <a:rPr lang="en-GB" sz="1000">
                <a:solidFill>
                  <a:srgbClr val="8795A1"/>
                </a:solidFill>
                <a:latin typeface="Segoe UI"/>
              </a:rPr>
              <a:t>42</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signature indicates genuine mechanical degradation rather than sensor failure?</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variance collapsing to zero</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slow baseline shift in one channel</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3141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growing variance across correlated channels</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missing readings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25  ·  Data Science for the Internet of Things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167     </a:t>
            </a:r>
            <a:fld id="{98265768-2ACD-43EB-A3F8-A8A08141C33E}"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warning lead time can matter more than recall in predictive maintenance.</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reasons predictive maintenance is usually an unsupervised problem in practice.</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How does sensor fusion across different physical quantities help distinguish a broken sensor from a broken machine?</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a predictive maintenance system for 150 HVAC units in a university. Answer all six framing questions, name the features you would build, state where inference runs and why, and give the four numbers you would report to the estates manager.</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attacker compromises 30 devices and makes them report healthy readings while the equipment degrades. Describe three data-side defences, and explain which of them your existing anomaly detector already provides.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25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26 — Data Science for Cybersecurity</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25, pages 162–167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Telemetry to alert; per-entity baselines &amp; evasion test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25  ·  Data Science for the Internet of Things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F10FB399-A537-4DD6-AA1D-1CDDD68B8044}"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25: Data Science for the Internet of Things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