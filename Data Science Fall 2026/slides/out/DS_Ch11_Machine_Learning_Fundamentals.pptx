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3.svg" ContentType="image/svg+xml"/>
  <Override PartName="/ppt/media/image85.svg" ContentType="image/svg+xml"/>
  <Override PartName="/ppt/media/image86.svg" ContentType="image/svg+xml"/>
  <Override PartName="/ppt/media/image8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D287E4-94F7-441B-B849-655454393493}">
          <p14:sldIdLst>
            <p14:sldId id="256"/>
            <p14:sldId id="257"/>
            <p14:sldId id="258"/>
            <p14:sldId id="259"/>
            <p14:sldId id="260"/>
          </p14:sldIdLst>
        </p14:section>
        <p14:section name="11.1 What Learning Means Here" id="{B91B23E6-B9D0-426B-B1E6-30A1D2C3D9C0}">
          <p14:sldIdLst>
            <p14:sldId id="261"/>
            <p14:sldId id="262"/>
            <p14:sldId id="263"/>
          </p14:sldIdLst>
        </p14:section>
        <p14:section name="11.2 The Four Paradigms" id="{15912847-3506-4274-BA99-649A0C40B00A}">
          <p14:sldIdLst>
            <p14:sldId id="264"/>
            <p14:sldId id="265"/>
            <p14:sldId id="266"/>
          </p14:sldIdLst>
        </p14:section>
        <p14:section name="11.3 The Three-Way Split" id="{9DA09104-6CDB-4D05-B830-CED160FB8A78}">
          <p14:sldIdLst>
            <p14:sldId id="267"/>
            <p14:sldId id="268"/>
            <p14:sldId id="269"/>
            <p14:sldId id="270"/>
          </p14:sldIdLst>
        </p14:section>
        <p14:section name="11.4 Overfitting, Underfitting and the Learning Curve" id="{55D6653E-B5CF-4897-851D-72C3391F42B8}">
          <p14:sldIdLst>
            <p14:sldId id="271"/>
            <p14:sldId id="272"/>
            <p14:sldId id="273"/>
            <p14:sldId id="274"/>
            <p14:sldId id="275"/>
            <p14:sldId id="276"/>
          </p14:sldIdLst>
        </p14:section>
        <p14:section name="11.5 Baselines and the No Free Lunch Theorem" id="{6E7E7C78-3845-4044-9943-50C2FC6735D5}">
          <p14:sldIdLst>
            <p14:sldId id="277"/>
            <p14:sldId id="278"/>
            <p14:sldId id="279"/>
          </p14:sldIdLst>
        </p14:section>
        <p14:section name="Four lenses" id="{8A1A2BAD-AFE1-4851-BDD7-D7E75C37B407}">
          <p14:sldIdLst>
            <p14:sldId id="280"/>
            <p14:sldId id="281"/>
            <p14:sldId id="282"/>
            <p14:sldId id="283"/>
            <p14:sldId id="284"/>
          </p14:sldIdLst>
        </p14:section>
        <p14:section name="Lab" id="{EB1C9B0F-0AA9-4E1F-9777-0CED5669F33E}">
          <p14:sldIdLst>
            <p14:sldId id="285"/>
            <p14:sldId id="286"/>
            <p14:sldId id="287"/>
            <p14:sldId id="288"/>
          </p14:sldIdLst>
        </p14:section>
        <p14:section name="Checkpoint" id="{AB7A7490-34DE-4205-98D8-C47D14F51C50}">
          <p14:sldIdLst>
            <p14:sldId id="289"/>
            <p14:sldId id="290"/>
            <p14:sldId id="291"/>
            <p14:sldId id="292"/>
            <p14:sldId id="293"/>
            <p14:sldId id="294"/>
          </p14:sldIdLst>
        </p14:section>
        <p14:section name="Wrap-up" id="{13CE886D-0153-45F8-AC5E-CB38B8613F5C}">
          <p14:sldIdLst>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Machine Learning Fundamentals. Part 3 — Machine Learning Core. Week 7: ML fundamentals; regression (revision). Handout pages 70–75.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(vectors, loss, gradient descent), Chapter 7 (splitting and leakage) and Chapter 5. Revision note: this chapter, and the rest of Part III, revises Machine Learning Fall 2026 rather than teaching from zero — the mapping is set out below.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supervised / unsupervised / reinforcement learning; label; training, validation and test sets; generalisation; overfitting; underfitting; bias; variance; learning curve; hyperparameter; baseline; no free lunch.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crucial word is generalisation. Memorising the training data is trivial and worthless; the goal is performance on data the model has never seen. Everything in this chapter exists to protect that distinction.</a:t>
            </a:r>
          </a:p>
          <a:p/>
          <a:p>
            <a:r>
              <a:t>Figure 11.1 (handout p. 71): The learning paradigms, organised by how much supervision the data provides. Chapters 12–15 cover the supervised branch; Chapter 16 covers the unsupervised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11.2 (handout p. 72): The three-way split and the discipline it demands. The validation set exists precisely so that the test set can stay untouched — without it, every tuning decision contaminates your final estimate.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11.3 (handout p. 72): The same 13 points fitted three ways. The overfitted curve passes through every point and has zero training error — and would predict badly for any new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11.4 (handout p. 72): Two diagnostic plots you should produce for every model. Left: where a given complexity sits on the trade-off. Right: whether more data would help — a gap that is still closing says collect more; two curves that have converged high say the model is too simple.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Paradigm: supervised classification — labels exist because past outcomes are recorded. Split: by student, and stratified, since failures are the minority. Baseline: “flag anyone who missed two labs”, which is what staff already do; beat that or the model adds nothing. Overfitting risk: high, because n is small (one cohort) and p is large (hundreds of clickstream features).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Paradigm: supervised, but with painfully few rows — a team may have 40 completed sprints, ever. Split: chronological, never random: predicting March from April is meaningless. Baseline: last sprint’s velocity. Overfitting risk: severe. With n=40, prefer a two-feature model you can explain over a tuned gradient-boosting machine you cannot.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Paradigm: supervised for predictive maintenance if failure records exist; unsupervised anomaly detection if they do not — which is the common case, since well-maintained equipment rarely fails. Split: by device and chronologically. Baseline: fixed-interval servicing. Data: abundant rows but very few positive labels, so the effective sample size is the failure count, not the row count.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Paradigm: supervised where labelled attacks exist, unsupervised otherwise; in practice both, side by side. Split: strictly chronological — training on 2026 attacks to detect 2025 ones proves nothing. Baseline: the existing signature rules. Special difficulty: the data distribution is actively changed by an adversary, so the i.i.d. assumption underlying all of Part III is false here. Chapter 26 confronts this directly.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Overfitting (high variance). Remedies: simplify the model or regularise; obtain more training data; use early stopping; reduce the feature count.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every look at the test score followed by a change is a form of fitting to it. After twenty such iterations the test set has effectively become a validation set, and its score no longer estimates performance on genuinely unseen data.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By machine. Readings from the same machine are highly correlated, so splitting by row would put near-identical rows in both train and test — leakage that inflates the score.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12 — Supervised Learning I: Regression. READ: Handout Chapter 11, pages 70–75. THIS WEEK'S LAB: Split, baseline, diagnose; fit &amp; regularise. ASSESSMENT: Assignment 1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6.xml"/><Relationship Id="rId9" Type="http://schemas.openxmlformats.org/officeDocument/2006/relationships/slide" Target="slide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8.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image" Target="../media/image37.png"/><Relationship Id="rId5" Type="http://schemas.openxmlformats.org/officeDocument/2006/relationships/image" Target="../media/image38.svg"/><Relationship Id="rId6" Type="http://schemas.openxmlformats.org/officeDocument/2006/relationships/image" Target="../media/image39.png"/><Relationship Id="rId7" Type="http://schemas.openxmlformats.org/officeDocument/2006/relationships/image" Target="../media/image40.svg"/><Relationship Id="rId8" Type="http://schemas.openxmlformats.org/officeDocument/2006/relationships/image" Target="../media/image41.png"/><Relationship Id="rId9" Type="http://schemas.openxmlformats.org/officeDocument/2006/relationships/image" Target="../media/image42.svg"/><Relationship Id="rId10" Type="http://schemas.openxmlformats.org/officeDocument/2006/relationships/image" Target="../media/image43.png"/><Relationship Id="rId11" Type="http://schemas.openxmlformats.org/officeDocument/2006/relationships/image" Target="../media/image44.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37.png"/><Relationship Id="rId5" Type="http://schemas.openxmlformats.org/officeDocument/2006/relationships/image" Target="../media/image47.svg"/><Relationship Id="rId6" Type="http://schemas.openxmlformats.org/officeDocument/2006/relationships/image" Target="../media/image39.png"/><Relationship Id="rId7" Type="http://schemas.openxmlformats.org/officeDocument/2006/relationships/image" Target="../media/image48.svg"/><Relationship Id="rId8" Type="http://schemas.openxmlformats.org/officeDocument/2006/relationships/image" Target="../media/image41.png"/><Relationship Id="rId9" Type="http://schemas.openxmlformats.org/officeDocument/2006/relationships/image" Target="../media/image49.svg"/><Relationship Id="rId10" Type="http://schemas.openxmlformats.org/officeDocument/2006/relationships/image" Target="../media/image43.png"/><Relationship Id="rId11" Type="http://schemas.openxmlformats.org/officeDocument/2006/relationships/image" Target="../media/image50.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39.png"/><Relationship Id="rId5" Type="http://schemas.openxmlformats.org/officeDocument/2006/relationships/image" Target="../media/image53.svg"/><Relationship Id="rId6" Type="http://schemas.openxmlformats.org/officeDocument/2006/relationships/image" Target="../media/image37.png"/><Relationship Id="rId7" Type="http://schemas.openxmlformats.org/officeDocument/2006/relationships/image" Target="../media/image54.svg"/><Relationship Id="rId8" Type="http://schemas.openxmlformats.org/officeDocument/2006/relationships/image" Target="../media/image41.png"/><Relationship Id="rId9" Type="http://schemas.openxmlformats.org/officeDocument/2006/relationships/image" Target="../media/image55.svg"/><Relationship Id="rId10" Type="http://schemas.openxmlformats.org/officeDocument/2006/relationships/image" Target="../media/image43.png"/><Relationship Id="rId11" Type="http://schemas.openxmlformats.org/officeDocument/2006/relationships/image" Target="../media/image56.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41.png"/><Relationship Id="rId5" Type="http://schemas.openxmlformats.org/officeDocument/2006/relationships/image" Target="../media/image59.svg"/><Relationship Id="rId6" Type="http://schemas.openxmlformats.org/officeDocument/2006/relationships/image" Target="../media/image37.png"/><Relationship Id="rId7" Type="http://schemas.openxmlformats.org/officeDocument/2006/relationships/image" Target="../media/image60.svg"/><Relationship Id="rId8" Type="http://schemas.openxmlformats.org/officeDocument/2006/relationships/image" Target="../media/image39.png"/><Relationship Id="rId9" Type="http://schemas.openxmlformats.org/officeDocument/2006/relationships/image" Target="../media/image61.svg"/><Relationship Id="rId10" Type="http://schemas.openxmlformats.org/officeDocument/2006/relationships/image" Target="../media/image43.png"/><Relationship Id="rId11" Type="http://schemas.openxmlformats.org/officeDocument/2006/relationships/image" Target="../media/image62.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image" Target="../media/image43.png"/><Relationship Id="rId5" Type="http://schemas.openxmlformats.org/officeDocument/2006/relationships/image" Target="../media/image65.svg"/><Relationship Id="rId6" Type="http://schemas.openxmlformats.org/officeDocument/2006/relationships/image" Target="../media/image37.png"/><Relationship Id="rId7" Type="http://schemas.openxmlformats.org/officeDocument/2006/relationships/image" Target="../media/image66.svg"/><Relationship Id="rId8" Type="http://schemas.openxmlformats.org/officeDocument/2006/relationships/image" Target="../media/image39.png"/><Relationship Id="rId9" Type="http://schemas.openxmlformats.org/officeDocument/2006/relationships/image" Target="../media/image67.svg"/><Relationship Id="rId10" Type="http://schemas.openxmlformats.org/officeDocument/2006/relationships/image" Target="../media/image41.png"/><Relationship Id="rId11" Type="http://schemas.openxmlformats.org/officeDocument/2006/relationships/image" Target="../media/image68.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8.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8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8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6.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7.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Machine Learning Fundamentals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MACHINE LEARNING CORE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11  ·  WEEK 7</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70     </a:t>
            </a:r>
            <a:fld id="{3912C6ED-E9C5-47A2-997F-A2600BBBB8EC}"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296822" y="1755648"/>
            <a:ext cx="178988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296822" y="2029967"/>
            <a:ext cx="1789880"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26701"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12670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2124165"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Machine Learning Fundamentals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The Mathematical Toolkit</a:t>
            </a:r>
          </a:p>
        </p:txBody>
      </p:sp>
      <p:sp>
        <p:nvSpPr>
          <p:cNvPr id="88" name="!!chipBU5">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5">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5"/>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5  </a:t>
            </a:r>
            <a:r>
              <a:rPr sz="1400" b="0" i="0">
                <a:solidFill>
                  <a:srgbClr val="1C252B"/>
                </a:solidFill>
                <a:latin typeface="Segoe UI"/>
              </a:rPr>
              <a:t>Describing Data: Centre, Spread and Shape</a:t>
            </a:r>
          </a:p>
        </p:txBody>
      </p:sp>
      <p:sp>
        <p:nvSpPr>
          <p:cNvPr id="91"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Acquisition, Wrangling and Cleaning</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chipUS1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1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1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Supervised Learning I: Regression</a:t>
            </a:r>
          </a:p>
        </p:txBody>
      </p:sp>
      <p:sp>
        <p:nvSpPr>
          <p:cNvPr id="98" name="!!chipUS14">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14">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14"/>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Model Evaluation and Selection</a:t>
            </a:r>
          </a:p>
        </p:txBody>
      </p:sp>
      <p:sp>
        <p:nvSpPr>
          <p:cNvPr id="101" name="!!chipUS17">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chipbUS17">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3" name="!!chiptUS17"/>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Neural Network Foundations</a:t>
            </a:r>
          </a:p>
        </p:txBody>
      </p:sp>
      <p:sp>
        <p:nvSpPr>
          <p:cNvPr id="10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5"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70     </a:t>
            </a:r>
            <a:fld id="{38BED671-94C1-4CFD-85A8-A18563DE56F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Distinguish</a:t>
            </a:r>
            <a:r>
              <a:rPr sz="2100" b="0" i="0">
                <a:solidFill>
                  <a:srgbClr val="1C252B"/>
                </a:solidFill>
                <a:latin typeface="Segoe UI"/>
              </a:rPr>
              <a:t> supervised, unsupervised, semi-supervised and reinforcement learning, and match a problem to the right one.</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the purpose of the train/validation/test split and why the test set may be used only once.</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Diagnose</a:t>
            </a:r>
            <a:r>
              <a:rPr sz="2100" b="0" i="0">
                <a:solidFill>
                  <a:srgbClr val="1C252B"/>
                </a:solidFill>
                <a:latin typeface="Segoe UI"/>
              </a:rPr>
              <a:t> overfitting and underfitting from a learning curve.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the bias–variance trade-off and how model complexity moves along it.</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Justify</a:t>
            </a:r>
            <a:r>
              <a:rPr sz="2100" b="0" i="0">
                <a:solidFill>
                  <a:srgbClr val="1C252B"/>
                </a:solidFill>
                <a:latin typeface="Segoe UI"/>
              </a:rPr>
              <a:t> why a baseline must precede any model.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70     </a:t>
            </a:r>
            <a:fld id="{88EE877A-5DAA-4C5F-9240-B8E0F83E661F}" type="slidenum">
              <a:rPr lang="en-GB" sz="1000">
                <a:solidFill>
                  <a:srgbClr val="8795A1"/>
                </a:solidFill>
                <a:latin typeface="Segoe UI"/>
              </a:rPr>
              <a:t>4</a:t>
            </a:fld>
          </a:p>
        </p:txBody>
      </p:sp>
      <p:sp>
        <p:nvSpPr>
          <p:cNvPr id="7" name="!!term-supervised / u">
            <a:extLst>
              <a:ext uri="{C183D7F6-B498-43B3-948B-1728B52AA6E4}">
                <adec:decorative xmlns:adec="http://schemas.microsoft.com/office/drawing/2017/decorative" val="1"/>
              </a:ext>
            </a:extLst>
          </p:cNvPr>
          <p:cNvSpPr/>
          <p:nvPr/>
        </p:nvSpPr>
        <p:spPr>
          <a:xfrm>
            <a:off x="658368" y="1847088"/>
            <a:ext cx="53893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upervised / u">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upervised / u"/>
          <p:cNvSpPr txBox="1"/>
          <p:nvPr/>
        </p:nvSpPr>
        <p:spPr>
          <a:xfrm>
            <a:off x="950976" y="1955291"/>
            <a:ext cx="520649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supervised / unsupervised / reinforcement learning</a:t>
            </a:r>
          </a:p>
        </p:txBody>
      </p:sp>
      <p:sp>
        <p:nvSpPr>
          <p:cNvPr id="10" name="!!term-label">
            <a:extLst>
              <a:ext uri="{C183D7F6-B498-43B3-948B-1728B52AA6E4}">
                <adec:decorative xmlns:adec="http://schemas.microsoft.com/office/drawing/2017/decorative" val="1"/>
              </a:ext>
            </a:extLst>
          </p:cNvPr>
          <p:cNvSpPr/>
          <p:nvPr/>
        </p:nvSpPr>
        <p:spPr>
          <a:xfrm>
            <a:off x="6194043" y="1847088"/>
            <a:ext cx="9022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abel">
            <a:extLst>
              <a:ext uri="{C183D7F6-B498-43B3-948B-1728B52AA6E4}">
                <adec:decorative xmlns:adec="http://schemas.microsoft.com/office/drawing/2017/decorative" val="1"/>
              </a:ext>
            </a:extLst>
          </p:cNvPr>
          <p:cNvSpPr/>
          <p:nvPr/>
        </p:nvSpPr>
        <p:spPr>
          <a:xfrm>
            <a:off x="632205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abel"/>
          <p:cNvSpPr txBox="1"/>
          <p:nvPr/>
        </p:nvSpPr>
        <p:spPr>
          <a:xfrm>
            <a:off x="6486651" y="1955291"/>
            <a:ext cx="71937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label</a:t>
            </a:r>
          </a:p>
        </p:txBody>
      </p:sp>
      <p:sp>
        <p:nvSpPr>
          <p:cNvPr id="13" name="!!term-training, vali">
            <a:extLst>
              <a:ext uri="{C183D7F6-B498-43B3-948B-1728B52AA6E4}">
                <adec:decorative xmlns:adec="http://schemas.microsoft.com/office/drawing/2017/decorative" val="1"/>
              </a:ext>
            </a:extLst>
          </p:cNvPr>
          <p:cNvSpPr/>
          <p:nvPr/>
        </p:nvSpPr>
        <p:spPr>
          <a:xfrm>
            <a:off x="7242598" y="1847088"/>
            <a:ext cx="35253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raining, vali">
            <a:extLst>
              <a:ext uri="{C183D7F6-B498-43B3-948B-1728B52AA6E4}">
                <adec:decorative xmlns:adec="http://schemas.microsoft.com/office/drawing/2017/decorative" val="1"/>
              </a:ext>
            </a:extLst>
          </p:cNvPr>
          <p:cNvSpPr/>
          <p:nvPr/>
        </p:nvSpPr>
        <p:spPr>
          <a:xfrm>
            <a:off x="737061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raining, vali"/>
          <p:cNvSpPr txBox="1"/>
          <p:nvPr/>
        </p:nvSpPr>
        <p:spPr>
          <a:xfrm>
            <a:off x="7535206" y="1955291"/>
            <a:ext cx="334251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training, validation and test sets</a:t>
            </a:r>
          </a:p>
        </p:txBody>
      </p:sp>
      <p:sp>
        <p:nvSpPr>
          <p:cNvPr id="16" name="!!term-generalisation">
            <a:extLst>
              <a:ext uri="{C183D7F6-B498-43B3-948B-1728B52AA6E4}">
                <adec:decorative xmlns:adec="http://schemas.microsoft.com/office/drawing/2017/decorative" val="1"/>
              </a:ext>
            </a:extLst>
          </p:cNvPr>
          <p:cNvSpPr/>
          <p:nvPr/>
        </p:nvSpPr>
        <p:spPr>
          <a:xfrm>
            <a:off x="658368" y="2468880"/>
            <a:ext cx="18060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generalisatio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generalisation"/>
          <p:cNvSpPr txBox="1"/>
          <p:nvPr/>
        </p:nvSpPr>
        <p:spPr>
          <a:xfrm>
            <a:off x="950976" y="2577084"/>
            <a:ext cx="162314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generalisation</a:t>
            </a:r>
          </a:p>
        </p:txBody>
      </p:sp>
      <p:sp>
        <p:nvSpPr>
          <p:cNvPr id="19" name="!!term-overfitting">
            <a:extLst>
              <a:ext uri="{C183D7F6-B498-43B3-948B-1728B52AA6E4}">
                <adec:decorative xmlns:adec="http://schemas.microsoft.com/office/drawing/2017/decorative" val="1"/>
              </a:ext>
            </a:extLst>
          </p:cNvPr>
          <p:cNvSpPr/>
          <p:nvPr/>
        </p:nvSpPr>
        <p:spPr>
          <a:xfrm>
            <a:off x="2610697" y="2468880"/>
            <a:ext cx="14444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overfitting">
            <a:extLst>
              <a:ext uri="{C183D7F6-B498-43B3-948B-1728B52AA6E4}">
                <adec:decorative xmlns:adec="http://schemas.microsoft.com/office/drawing/2017/decorative" val="1"/>
              </a:ext>
            </a:extLst>
          </p:cNvPr>
          <p:cNvSpPr/>
          <p:nvPr/>
        </p:nvSpPr>
        <p:spPr>
          <a:xfrm>
            <a:off x="27387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overfitting"/>
          <p:cNvSpPr txBox="1"/>
          <p:nvPr/>
        </p:nvSpPr>
        <p:spPr>
          <a:xfrm>
            <a:off x="2903305" y="2577084"/>
            <a:ext cx="126159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overfitting</a:t>
            </a:r>
          </a:p>
        </p:txBody>
      </p:sp>
      <p:sp>
        <p:nvSpPr>
          <p:cNvPr id="22" name="!!term-underfitting">
            <a:extLst>
              <a:ext uri="{C183D7F6-B498-43B3-948B-1728B52AA6E4}">
                <adec:decorative xmlns:adec="http://schemas.microsoft.com/office/drawing/2017/decorative" val="1"/>
              </a:ext>
            </a:extLst>
          </p:cNvPr>
          <p:cNvSpPr/>
          <p:nvPr/>
        </p:nvSpPr>
        <p:spPr>
          <a:xfrm>
            <a:off x="4201473" y="2468880"/>
            <a:ext cx="15889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underfitting">
            <a:extLst>
              <a:ext uri="{C183D7F6-B498-43B3-948B-1728B52AA6E4}">
                <adec:decorative xmlns:adec="http://schemas.microsoft.com/office/drawing/2017/decorative" val="1"/>
              </a:ext>
            </a:extLst>
          </p:cNvPr>
          <p:cNvSpPr/>
          <p:nvPr/>
        </p:nvSpPr>
        <p:spPr>
          <a:xfrm>
            <a:off x="432948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underfitting"/>
          <p:cNvSpPr txBox="1"/>
          <p:nvPr/>
        </p:nvSpPr>
        <p:spPr>
          <a:xfrm>
            <a:off x="4494081" y="2577084"/>
            <a:ext cx="140607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underfitting</a:t>
            </a:r>
          </a:p>
        </p:txBody>
      </p:sp>
      <p:sp>
        <p:nvSpPr>
          <p:cNvPr id="25" name="!!term-bias">
            <a:extLst>
              <a:ext uri="{C183D7F6-B498-43B3-948B-1728B52AA6E4}">
                <adec:decorative xmlns:adec="http://schemas.microsoft.com/office/drawing/2017/decorative" val="1"/>
              </a:ext>
            </a:extLst>
          </p:cNvPr>
          <p:cNvSpPr/>
          <p:nvPr/>
        </p:nvSpPr>
        <p:spPr>
          <a:xfrm>
            <a:off x="5936733" y="2468880"/>
            <a:ext cx="8271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bias">
            <a:extLst>
              <a:ext uri="{C183D7F6-B498-43B3-948B-1728B52AA6E4}">
                <adec:decorative xmlns:adec="http://schemas.microsoft.com/office/drawing/2017/decorative" val="1"/>
              </a:ext>
            </a:extLst>
          </p:cNvPr>
          <p:cNvSpPr/>
          <p:nvPr/>
        </p:nvSpPr>
        <p:spPr>
          <a:xfrm>
            <a:off x="606474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bias"/>
          <p:cNvSpPr txBox="1"/>
          <p:nvPr/>
        </p:nvSpPr>
        <p:spPr>
          <a:xfrm>
            <a:off x="6229341" y="2577084"/>
            <a:ext cx="64427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bias</a:t>
            </a:r>
          </a:p>
        </p:txBody>
      </p:sp>
      <p:sp>
        <p:nvSpPr>
          <p:cNvPr id="28" name="!!term-variance">
            <a:extLst>
              <a:ext uri="{C183D7F6-B498-43B3-948B-1728B52AA6E4}">
                <adec:decorative xmlns:adec="http://schemas.microsoft.com/office/drawing/2017/decorative" val="1"/>
              </a:ext>
            </a:extLst>
          </p:cNvPr>
          <p:cNvSpPr/>
          <p:nvPr/>
        </p:nvSpPr>
        <p:spPr>
          <a:xfrm>
            <a:off x="6910193" y="2468880"/>
            <a:ext cx="12400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variance">
            <a:extLst>
              <a:ext uri="{C183D7F6-B498-43B3-948B-1728B52AA6E4}">
                <adec:decorative xmlns:adec="http://schemas.microsoft.com/office/drawing/2017/decorative" val="1"/>
              </a:ext>
            </a:extLst>
          </p:cNvPr>
          <p:cNvSpPr/>
          <p:nvPr/>
        </p:nvSpPr>
        <p:spPr>
          <a:xfrm>
            <a:off x="703820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variance"/>
          <p:cNvSpPr txBox="1"/>
          <p:nvPr/>
        </p:nvSpPr>
        <p:spPr>
          <a:xfrm>
            <a:off x="7202801" y="2577084"/>
            <a:ext cx="105712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variance</a:t>
            </a:r>
          </a:p>
        </p:txBody>
      </p:sp>
      <p:sp>
        <p:nvSpPr>
          <p:cNvPr id="31" name="!!term-learning curve">
            <a:extLst>
              <a:ext uri="{C183D7F6-B498-43B3-948B-1728B52AA6E4}">
                <adec:decorative xmlns:adec="http://schemas.microsoft.com/office/drawing/2017/decorative" val="1"/>
              </a:ext>
            </a:extLst>
          </p:cNvPr>
          <p:cNvSpPr/>
          <p:nvPr/>
        </p:nvSpPr>
        <p:spPr>
          <a:xfrm>
            <a:off x="8296500" y="2468880"/>
            <a:ext cx="18125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learning curve">
            <a:extLst>
              <a:ext uri="{C183D7F6-B498-43B3-948B-1728B52AA6E4}">
                <adec:decorative xmlns:adec="http://schemas.microsoft.com/office/drawing/2017/decorative" val="1"/>
              </a:ext>
            </a:extLst>
          </p:cNvPr>
          <p:cNvSpPr/>
          <p:nvPr/>
        </p:nvSpPr>
        <p:spPr>
          <a:xfrm>
            <a:off x="842451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learning curve"/>
          <p:cNvSpPr txBox="1"/>
          <p:nvPr/>
        </p:nvSpPr>
        <p:spPr>
          <a:xfrm>
            <a:off x="8589108" y="2577084"/>
            <a:ext cx="162964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learning curve</a:t>
            </a:r>
          </a:p>
        </p:txBody>
      </p:sp>
      <p:sp>
        <p:nvSpPr>
          <p:cNvPr id="34" name="!!term-hyperparameter">
            <a:extLst>
              <a:ext uri="{C183D7F6-B498-43B3-948B-1728B52AA6E4}">
                <adec:decorative xmlns:adec="http://schemas.microsoft.com/office/drawing/2017/decorative" val="1"/>
              </a:ext>
            </a:extLst>
          </p:cNvPr>
          <p:cNvSpPr/>
          <p:nvPr/>
        </p:nvSpPr>
        <p:spPr>
          <a:xfrm>
            <a:off x="658368" y="3090672"/>
            <a:ext cx="19929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hyperparameter">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hyperparameter"/>
          <p:cNvSpPr txBox="1"/>
          <p:nvPr/>
        </p:nvSpPr>
        <p:spPr>
          <a:xfrm>
            <a:off x="950976" y="3198876"/>
            <a:ext cx="181003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hyperparameter</a:t>
            </a:r>
          </a:p>
        </p:txBody>
      </p:sp>
      <p:sp>
        <p:nvSpPr>
          <p:cNvPr id="37" name="!!term-baseline">
            <a:extLst>
              <a:ext uri="{C183D7F6-B498-43B3-948B-1728B52AA6E4}">
                <adec:decorative xmlns:adec="http://schemas.microsoft.com/office/drawing/2017/decorative" val="1"/>
              </a:ext>
            </a:extLst>
          </p:cNvPr>
          <p:cNvSpPr/>
          <p:nvPr/>
        </p:nvSpPr>
        <p:spPr>
          <a:xfrm>
            <a:off x="2797590" y="3090672"/>
            <a:ext cx="12353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baseline">
            <a:extLst>
              <a:ext uri="{C183D7F6-B498-43B3-948B-1728B52AA6E4}">
                <adec:decorative xmlns:adec="http://schemas.microsoft.com/office/drawing/2017/decorative" val="1"/>
              </a:ext>
            </a:extLst>
          </p:cNvPr>
          <p:cNvSpPr/>
          <p:nvPr/>
        </p:nvSpPr>
        <p:spPr>
          <a:xfrm>
            <a:off x="292560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baseline"/>
          <p:cNvSpPr txBox="1"/>
          <p:nvPr/>
        </p:nvSpPr>
        <p:spPr>
          <a:xfrm>
            <a:off x="3090198" y="3198876"/>
            <a:ext cx="10525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baseline</a:t>
            </a:r>
          </a:p>
        </p:txBody>
      </p:sp>
      <p:sp>
        <p:nvSpPr>
          <p:cNvPr id="40" name="!!term-no free lunch">
            <a:extLst>
              <a:ext uri="{C183D7F6-B498-43B3-948B-1728B52AA6E4}">
                <adec:decorative xmlns:adec="http://schemas.microsoft.com/office/drawing/2017/decorative" val="1"/>
              </a:ext>
            </a:extLst>
          </p:cNvPr>
          <p:cNvSpPr/>
          <p:nvPr/>
        </p:nvSpPr>
        <p:spPr>
          <a:xfrm>
            <a:off x="4179289" y="3090672"/>
            <a:ext cx="17181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no free lunch">
            <a:extLst>
              <a:ext uri="{C183D7F6-B498-43B3-948B-1728B52AA6E4}">
                <adec:decorative xmlns:adec="http://schemas.microsoft.com/office/drawing/2017/decorative" val="1"/>
              </a:ext>
            </a:extLst>
          </p:cNvPr>
          <p:cNvSpPr/>
          <p:nvPr/>
        </p:nvSpPr>
        <p:spPr>
          <a:xfrm>
            <a:off x="430730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no free lunch"/>
          <p:cNvSpPr txBox="1"/>
          <p:nvPr/>
        </p:nvSpPr>
        <p:spPr>
          <a:xfrm>
            <a:off x="4471897" y="3198876"/>
            <a:ext cx="153523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no free lunch</a:t>
            </a:r>
          </a:p>
        </p:txBody>
      </p:sp>
      <p:sp>
        <p:nvSpPr>
          <p:cNvPr id="43"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70–75     </a:t>
            </a:r>
            <a:fld id="{4888A61C-06C8-4226-8B3B-A3D106485B8E}" type="slidenum">
              <a:rPr lang="en-GB" sz="1000">
                <a:solidFill>
                  <a:srgbClr val="8795A1"/>
                </a:solidFill>
                <a:latin typeface="Segoe UI"/>
              </a:rPr>
              <a:t>5</a:t>
            </a:fld>
          </a:p>
        </p:txBody>
      </p:sp>
      <p:sp>
        <p:nvSpPr>
          <p:cNvPr id="7" name="!!ag0" descr="Go to section 11.1 What Learning Means Her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Learning Means Here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70  ›</a:t>
            </a:r>
          </a:p>
        </p:txBody>
      </p:sp>
      <p:sp>
        <p:nvSpPr>
          <p:cNvPr id="12" name="!!ag1" descr="Go to section 11.2 The Four Paradigm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Four Paradigms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71  ›</a:t>
            </a:r>
          </a:p>
        </p:txBody>
      </p:sp>
      <p:sp>
        <p:nvSpPr>
          <p:cNvPr id="17" name="!!ag2" descr="Go to section 11.3 The Three-Way Spli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Three-Way Split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71  ›</a:t>
            </a:r>
          </a:p>
        </p:txBody>
      </p:sp>
      <p:sp>
        <p:nvSpPr>
          <p:cNvPr id="22" name="!!ag3" descr="Go to section 11.4 Overfitting, Underfitting and the Learning Curv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Overfitting, Underfitting and the Learning Curve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72  ›</a:t>
            </a:r>
          </a:p>
        </p:txBody>
      </p:sp>
      <p:sp>
        <p:nvSpPr>
          <p:cNvPr id="27" name="!!ag4" descr="Go to section 11.5 Baselines and the No Free Lunch Theorem">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Baselines and the No Free Lunch Theorem</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73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Learning Means Here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11.1   What Learning Means 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The Four Paradigms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The Three-Way Split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Overfitting, Underfitting and the Learning Curve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Baselines and the No Free Lunch Theorem</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§11.1     </a:t>
            </a:r>
            <a:fld id="{557C4187-8F5C-401F-A06B-1629DB061578}"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Part III Is Revision, Not First Exposure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§11.1  ·  Handout p. 70     </a:t>
            </a:r>
            <a:fld id="{E6B614AE-FC7E-4C2C-979E-A8725201FE53}"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5696"/>
          </a:xfrm>
          <a:prstGeom prst="roundRect">
            <a:avLst>
              <a:gd name="adj" fmla="val 206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56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84962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Every algorithm in Chapters 11–16 was already built from first principles in </a:t>
            </a:r>
            <a:r>
              <a:rPr sz="2000" b="0" i="1">
                <a:solidFill>
                  <a:srgbClr val="1C252B"/>
                </a:solidFill>
                <a:latin typeface="Segoe UI"/>
              </a:rPr>
              <a:t>Machine Learning Fall 2026</a:t>
            </a:r>
            <a:r>
              <a:rPr sz="2000" b="0" i="0">
                <a:solidFill>
                  <a:srgbClr val="1C252B"/>
                </a:solidFill>
                <a:latin typeface="Segoe UI"/>
              </a:rPr>
              <a:t>, taken as a prerequisite immediately before this course: Chapter 11 revises ML’s Chapters 1, 3 and 7; Chapter 12 revises ML’s Chapter 5; Chapter 13 surveys ML’s Chapters 6 and 9–12; Chapter 14 revises ML’s Chapter 8; Chapter 15’s ensembles revise ML’s Chapter 14 (feature engineering is new); Chapter 16’s clustering and PCA revise ML’s Chapters 15–16 (anomaly detection is new). These three weeks therefore move at revision pace: derivations are not repeated, and the emphasis shifts to applying each method correctly inside the data science lifecycle (Chapter 2) and reading its result through the Four Lenses. Part III finishes in Week 9 of the schedule, one week clear of the midterm, so no Machine-Learning-overlapping topic is left unfinished when that exam is set. If a term below is unfamiliar, the gap is in </a:t>
            </a:r>
            <a:r>
              <a:rPr sz="2000" b="0" i="1">
                <a:solidFill>
                  <a:srgbClr val="1C252B"/>
                </a:solidFill>
                <a:latin typeface="Segoe UI"/>
              </a:rPr>
              <a:t>Machine Learning</a:t>
            </a:r>
            <a:r>
              <a:rPr sz="2000" b="0" i="0">
                <a:solidFill>
                  <a:srgbClr val="1C252B"/>
                </a:solidFill>
                <a:latin typeface="Segoe UI"/>
              </a:rPr>
              <a:t>, not in this chapter — revisit it before continuing.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Machine Learning, Operationally</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§11.1  ·  Handout p. 70     </a:t>
            </a:r>
            <a:fld id="{4ACDF8CC-8013-4158-8148-22AA86665EC4}"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program learns from experience </a:t>
            </a:r>
            <a:r>
              <a:rPr sz="2300" b="0" i="1">
                <a:solidFill>
                  <a:srgbClr val="1C252B"/>
                </a:solidFill>
                <a:latin typeface="Cambria"/>
              </a:rPr>
              <a:t>E</a:t>
            </a:r>
            <a:r>
              <a:rPr sz="2300" b="0" i="0">
                <a:solidFill>
                  <a:srgbClr val="1C252B"/>
                </a:solidFill>
                <a:latin typeface="Segoe UI"/>
              </a:rPr>
              <a:t> with respect to task </a:t>
            </a:r>
            <a:r>
              <a:rPr sz="2300" b="0" i="1">
                <a:solidFill>
                  <a:srgbClr val="1C252B"/>
                </a:solidFill>
                <a:latin typeface="Cambria"/>
              </a:rPr>
              <a:t>T</a:t>
            </a:r>
            <a:r>
              <a:rPr sz="2300" b="0" i="0">
                <a:solidFill>
                  <a:srgbClr val="1C252B"/>
                </a:solidFill>
                <a:latin typeface="Segoe UI"/>
              </a:rPr>
              <a:t> and performance measure </a:t>
            </a:r>
            <a:r>
              <a:rPr sz="2300" b="0" i="1">
                <a:solidFill>
                  <a:srgbClr val="1C252B"/>
                </a:solidFill>
                <a:latin typeface="Cambria"/>
              </a:rPr>
              <a:t>P</a:t>
            </a:r>
            <a:r>
              <a:rPr sz="2300" b="0" i="0">
                <a:solidFill>
                  <a:srgbClr val="1C252B"/>
                </a:solidFill>
                <a:latin typeface="Segoe UI"/>
              </a:rPr>
              <a:t> if its performance on </a:t>
            </a:r>
            <a:r>
              <a:rPr sz="2300" b="0" i="1">
                <a:solidFill>
                  <a:srgbClr val="1C252B"/>
                </a:solidFill>
                <a:latin typeface="Cambria"/>
              </a:rPr>
              <a:t>T</a:t>
            </a:r>
            <a:r>
              <a:rPr sz="2300" b="0" i="0">
                <a:solidFill>
                  <a:srgbClr val="1C252B"/>
                </a:solidFill>
                <a:latin typeface="Segoe UI"/>
              </a:rPr>
              <a:t>, measured by </a:t>
            </a:r>
            <a:r>
              <a:rPr sz="2300" b="0" i="1">
                <a:solidFill>
                  <a:srgbClr val="1C252B"/>
                </a:solidFill>
                <a:latin typeface="Cambria"/>
              </a:rPr>
              <a:t>P</a:t>
            </a:r>
            <a:r>
              <a:rPr sz="2300" b="0" i="0">
                <a:solidFill>
                  <a:srgbClr val="1C252B"/>
                </a:solidFill>
                <a:latin typeface="Segoe UI"/>
              </a:rPr>
              <a:t>, improves with </a:t>
            </a:r>
            <a:r>
              <a:rPr sz="2300" b="0" i="1">
                <a:solidFill>
                  <a:srgbClr val="1C252B"/>
                </a:solidFill>
                <a:latin typeface="Cambria"/>
              </a:rPr>
              <a:t>E</a:t>
            </a:r>
            <a:r>
              <a:rPr sz="2300" b="0" i="0">
                <a:solidFill>
                  <a:srgbClr val="1C252B"/>
                </a:solidFill>
                <a:latin typeface="Segoe UI"/>
              </a:rPr>
              <a:t>. (Mitchell, 1997.) In practice: </a:t>
            </a:r>
            <a:r>
              <a:rPr sz="2300" b="0" i="1">
                <a:solidFill>
                  <a:srgbClr val="1C252B"/>
                </a:solidFill>
                <a:latin typeface="Cambria"/>
              </a:rPr>
              <a:t>E</a:t>
            </a:r>
            <a:r>
              <a:rPr sz="2300" b="0" i="0">
                <a:solidFill>
                  <a:srgbClr val="1C252B"/>
                </a:solidFill>
                <a:latin typeface="Segoe UI"/>
              </a:rPr>
              <a:t> is your training data, </a:t>
            </a:r>
            <a:r>
              <a:rPr sz="2300" b="0" i="1">
                <a:solidFill>
                  <a:srgbClr val="1C252B"/>
                </a:solidFill>
                <a:latin typeface="Cambria"/>
              </a:rPr>
              <a:t>T</a:t>
            </a:r>
            <a:r>
              <a:rPr sz="2300" b="0" i="0">
                <a:solidFill>
                  <a:srgbClr val="1C252B"/>
                </a:solidFill>
                <a:latin typeface="Segoe UI"/>
              </a:rPr>
              <a:t> is the prediction you framed in Chapter 2, and </a:t>
            </a:r>
            <a:r>
              <a:rPr sz="2300" b="0" i="1">
                <a:solidFill>
                  <a:srgbClr val="1C252B"/>
                </a:solidFill>
                <a:latin typeface="Cambria"/>
              </a:rPr>
              <a:t>P</a:t>
            </a:r>
            <a:r>
              <a:rPr sz="2300" b="0" i="0">
                <a:solidFill>
                  <a:srgbClr val="1C252B"/>
                </a:solidFill>
                <a:latin typeface="Segoe UI"/>
              </a:rPr>
              <a:t> is the metric of Chapter 14.</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Four Paradigms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What Learning Means 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11.2   The Four Paradigms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The Three-Way Split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Overfitting, Underfitting and the Learning Curve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Baselines and the No Free Lunch Theorem</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§11.2     </a:t>
            </a:r>
            <a:fld id="{AB0D74E1-6051-48C7-9047-25EB4626DECB}"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learning paradigms, organised by how much supervision the data provides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71     </a:t>
            </a:r>
            <a:fld id="{72C2790D-00E4-48BF-B4F0-65029A607A3F}" type="slidenum">
              <a:rPr lang="en-GB" sz="1000">
                <a:solidFill>
                  <a:srgbClr val="8795A1"/>
                </a:solidFill>
                <a:latin typeface="Segoe UI"/>
              </a:rPr>
              <a:t>10</a:t>
            </a:fld>
          </a:p>
        </p:txBody>
      </p:sp>
      <p:pic>
        <p:nvPicPr>
          <p:cNvPr id="6" name="!!figure" descr="Figure 11.1. The learning paradigms, organised by how much supervision the data provides. Chapters 12–15 cover the supervised branch; Chapter 16 covers the unsupervised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89488"/>
            <a:ext cx="10874959" cy="371207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Chapters 12–15 cover the supervised branch; Chapter 16 covers the unsupervised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Question That Picks Your Paradigm</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71     </a:t>
            </a:r>
            <a:fld id="{6E79050B-F8A9-45AB-A1B7-75C5DC698139}"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Do I have examples of the right answer?</a:t>
            </a:r>
            <a:r>
              <a:rPr sz="2300" b="0" i="0">
                <a:solidFill>
                  <a:srgbClr val="1C252B"/>
                </a:solidFill>
                <a:latin typeface="Segoe UI"/>
              </a:rPr>
              <a:t> If yes, supervised. If no, but you want structure, unsupervised. If you have a few answers and lots of unlabelled data, semi-supervised. If the answer only emerges from acting and seeing what happens, reinforcement.</a:t>
            </a:r>
          </a:p>
        </p:txBody>
      </p:sp>
      <p:sp>
        <p:nvSpPr>
          <p:cNvPr id="10" name="body-1"/>
          <p:cNvSpPr txBox="1"/>
          <p:nvPr/>
        </p:nvSpPr>
        <p:spPr>
          <a:xfrm>
            <a:off x="1060704" y="366707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practice the binding constraint is almost never the algorithm — it is whether anyone will pay to label 5,000 examples.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Three-Way Split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What Learning Means 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The Four Paradigms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11.3   The Three-Way Split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Overfitting, Underfitting and the Learning Curve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Baselines and the No Free Lunch Theorem</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§11.3     </a:t>
            </a:r>
            <a:fld id="{69FE7674-BA78-4076-8A01-BBF68FD787AF}"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Training, Validation and Test Sets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71     </a:t>
            </a:r>
            <a:fld id="{469DCACD-AE1D-4942-98E2-CFEEBAA1FE23}"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65806"/>
          </a:xfrm>
          <a:prstGeom prst="roundRect">
            <a:avLst>
              <a:gd name="adj" fmla="val 330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6580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Training set</a:t>
            </a:r>
            <a:r>
              <a:rPr sz="2300" b="0" i="0">
                <a:solidFill>
                  <a:srgbClr val="1C252B"/>
                </a:solidFill>
                <a:latin typeface="Segoe UI"/>
              </a:rPr>
              <a:t> (typically 60–70%): the model learns its parameters here.</a:t>
            </a:r>
          </a:p>
        </p:txBody>
      </p:sp>
      <p:sp>
        <p:nvSpPr>
          <p:cNvPr id="10" name="body-1"/>
          <p:cNvSpPr txBox="1"/>
          <p:nvPr/>
        </p:nvSpPr>
        <p:spPr>
          <a:xfrm>
            <a:off x="1060704" y="257345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Validation set</a:t>
            </a:r>
            <a:r>
              <a:rPr sz="2300" b="0" i="0">
                <a:solidFill>
                  <a:srgbClr val="1C252B"/>
                </a:solidFill>
                <a:latin typeface="Segoe UI"/>
              </a:rPr>
              <a:t> (15–20%): you compare models and tune hyperparameters here.</a:t>
            </a:r>
          </a:p>
        </p:txBody>
      </p:sp>
      <p:sp>
        <p:nvSpPr>
          <p:cNvPr id="11" name="body-2"/>
          <p:cNvSpPr txBox="1"/>
          <p:nvPr/>
        </p:nvSpPr>
        <p:spPr>
          <a:xfrm>
            <a:off x="1060704" y="3463188"/>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Test set</a:t>
            </a:r>
            <a:r>
              <a:rPr sz="2300" b="0" i="0">
                <a:solidFill>
                  <a:srgbClr val="1C252B"/>
                </a:solidFill>
                <a:latin typeface="Segoe UI"/>
              </a:rPr>
              <a:t> (15–20%): used </a:t>
            </a:r>
            <a:r>
              <a:rPr sz="2300" b="1" i="0">
                <a:solidFill>
                  <a:srgbClr val="1C252B"/>
                </a:solidFill>
                <a:latin typeface="Segoe UI"/>
              </a:rPr>
              <a:t>once</a:t>
            </a:r>
            <a:r>
              <a:rPr sz="2300" b="0" i="0">
                <a:solidFill>
                  <a:srgbClr val="1C252B"/>
                </a:solidFill>
                <a:latin typeface="Segoe UI"/>
              </a:rPr>
              <a:t>, at the very end, to estimate real-world performance.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three-way split and the discipline it demands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71     </a:t>
            </a:r>
            <a:fld id="{9CAF024F-D9D2-42A5-AEEF-84AF8EF35292}" type="slidenum">
              <a:rPr lang="en-GB" sz="1000">
                <a:solidFill>
                  <a:srgbClr val="8795A1"/>
                </a:solidFill>
                <a:latin typeface="Segoe UI"/>
              </a:rPr>
              <a:t>14</a:t>
            </a:fld>
          </a:p>
        </p:txBody>
      </p:sp>
      <p:pic>
        <p:nvPicPr>
          <p:cNvPr id="6" name="!!figure" descr="Figure 11.2. The three-way split and the discipline it demands. The validation set exists precisely so that the test set can stay untouched — without it, every tuning decision contaminates your final estimat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35131"/>
            <a:ext cx="10874959" cy="318181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validation set exists precisely so that the test set can stay untouched — without it, every tuning decision contaminates your final estimate.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Stratify, and Split by Entity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71     </a:t>
            </a:r>
            <a:fld id="{2D7D3115-4A0D-4C3A-876B-1C48A0BBD505}"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classes are imbalanced, use a </a:t>
            </a:r>
            <a:r>
              <a:rPr sz="2300" b="0" i="1">
                <a:solidFill>
                  <a:srgbClr val="1C252B"/>
                </a:solidFill>
                <a:latin typeface="Segoe UI"/>
              </a:rPr>
              <a:t>stratified</a:t>
            </a:r>
            <a:r>
              <a:rPr sz="2300" b="0" i="0">
                <a:solidFill>
                  <a:srgbClr val="1C252B"/>
                </a:solidFill>
                <a:latin typeface="Segoe UI"/>
              </a:rPr>
              <a:t> split so each part keeps the same class proportions — otherwise a rare class may be absent from the test set entirely. And when rows are grouped (many readings per device, many sessions per user), split by </a:t>
            </a:r>
            <a:r>
              <a:rPr sz="2300" b="0" i="1">
                <a:solidFill>
                  <a:srgbClr val="1C252B"/>
                </a:solidFill>
                <a:latin typeface="Segoe UI"/>
              </a:rPr>
              <a:t>device</a:t>
            </a:r>
            <a:r>
              <a:rPr sz="2300" b="0" i="0">
                <a:solidFill>
                  <a:srgbClr val="1C252B"/>
                </a:solidFill>
                <a:latin typeface="Segoe UI"/>
              </a:rPr>
              <a:t> or </a:t>
            </a:r>
            <a:r>
              <a:rPr sz="2300" b="0" i="1">
                <a:solidFill>
                  <a:srgbClr val="1C252B"/>
                </a:solidFill>
                <a:latin typeface="Segoe UI"/>
              </a:rPr>
              <a:t>user</a:t>
            </a:r>
            <a:r>
              <a:rPr sz="2300" b="0" i="0">
                <a:solidFill>
                  <a:srgbClr val="1C252B"/>
                </a:solidFill>
                <a:latin typeface="Segoe UI"/>
              </a:rPr>
              <a:t>, not by row: the same entity appearing in both train and test is leakage (Chapter 7).</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Overfitting, Underfitting and the Learning Curve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What Learning Means 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The Four Paradigms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The Three-Way Split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11.4   Overfitting, Underfitting and the Learning Curve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Baselines and the No Free Lunch Theorem</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§11.4     </a:t>
            </a:r>
            <a:fld id="{F06E9FB3-F5D8-4DF4-B7DB-C6343532D175}" type="slidenum">
              <a:rPr lang="en-GB" sz="1000">
                <a:solidFill>
                  <a:srgbClr val="8795A1"/>
                </a:solidFill>
                <a:latin typeface="Segoe UI"/>
              </a:rPr>
              <a:t>16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Overfitting and Underfitting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72     </a:t>
            </a:r>
            <a:fld id="{E204560B-B3A0-41D0-89DE-6087FF0F309B}"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40610"/>
          </a:xfrm>
          <a:prstGeom prst="roundRect">
            <a:avLst>
              <a:gd name="adj" fmla="val 408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4061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Overfitting</a:t>
            </a:r>
            <a:r>
              <a:rPr sz="2300" b="0" i="0">
                <a:solidFill>
                  <a:srgbClr val="1C252B"/>
                </a:solidFill>
                <a:latin typeface="Segoe UI"/>
              </a:rPr>
              <a:t>: the model has learned the noise as well as the signal. Training error is low, validation error is high.</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Underfitting</a:t>
            </a:r>
            <a:r>
              <a:rPr sz="2300" b="0" i="0">
                <a:solidFill>
                  <a:srgbClr val="1C252B"/>
                </a:solidFill>
                <a:latin typeface="Segoe UI"/>
              </a:rPr>
              <a:t>: the model is too simple to capture the signal. Both errors are high.</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13 points fitted three ways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72     </a:t>
            </a:r>
            <a:fld id="{0A11F0E6-5C47-48E6-86E6-0784BC602215}" type="slidenum">
              <a:rPr lang="en-GB" sz="1000">
                <a:solidFill>
                  <a:srgbClr val="8795A1"/>
                </a:solidFill>
                <a:latin typeface="Segoe UI"/>
              </a:rPr>
              <a:t>18</a:t>
            </a:fld>
          </a:p>
        </p:txBody>
      </p:sp>
      <p:pic>
        <p:nvPicPr>
          <p:cNvPr id="6" name="!!figure" descr="Figure 11.3. The same 13 points fitted three ways. The overfitted curve passes through every point and has zero training error — and would predict badly for any new observa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83654"/>
            <a:ext cx="10874959" cy="290453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overfitted curve passes through every point and has zero training error — and would predict badly for any new observation.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diagnostic plots you should produce for every model</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72     </a:t>
            </a:r>
            <a:fld id="{2EE0C4AB-1B4D-4DDB-9E99-D1C6E3B2E490}" type="slidenum">
              <a:rPr lang="en-GB" sz="1000">
                <a:solidFill>
                  <a:srgbClr val="8795A1"/>
                </a:solidFill>
                <a:latin typeface="Segoe UI"/>
              </a:rPr>
              <a:t>19</a:t>
            </a:fld>
          </a:p>
        </p:txBody>
      </p:sp>
      <p:pic>
        <p:nvPicPr>
          <p:cNvPr id="6" name="!!figure" descr="Figure 11.4. Two diagnostic plots you should produce for every model. Left: where a given complexity sits on the trade-off. Right: whether more data would help — a gap that is still closing says collect more; two curves that have converged high say the model is too simp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66" y="1737360"/>
            <a:ext cx="1072696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Left: where a given complexity sits on the trade-off. Right: whether more data would help — a gap that is still closing says collect more; two curves that have converged high say the model is too simple.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Bias–Variance Trade-off</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72     </a:t>
            </a:r>
            <a:fld id="{8FA288E2-842A-45E7-A7EA-D4D0008CB989}"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91184"/>
          </a:xfrm>
          <a:prstGeom prst="roundRect">
            <a:avLst>
              <a:gd name="adj" fmla="val 286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9118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Bias</a:t>
            </a:r>
            <a:r>
              <a:rPr sz="2300" b="0" i="0">
                <a:solidFill>
                  <a:srgbClr val="1C252B"/>
                </a:solidFill>
                <a:latin typeface="Segoe UI"/>
              </a:rPr>
              <a:t> is error from wrong assumptions — the model is too rigid to represent the truth. </a:t>
            </a:r>
            <a:r>
              <a:rPr sz="2300" b="1" i="0">
                <a:solidFill>
                  <a:srgbClr val="1A5276"/>
                </a:solidFill>
                <a:latin typeface="Segoe UI"/>
              </a:rPr>
              <a:t>Variance</a:t>
            </a:r>
            <a:r>
              <a:rPr sz="2300" b="0" i="0">
                <a:solidFill>
                  <a:srgbClr val="1C252B"/>
                </a:solidFill>
                <a:latin typeface="Segoe UI"/>
              </a:rPr>
              <a:t> is error from sensitivity to the particular training sample — fit it again on different data and you get a very different model. Total expected error decomposes as</a:t>
            </a:r>
          </a:p>
        </p:txBody>
      </p:sp>
      <p:pic>
        <p:nvPicPr>
          <p:cNvPr id="10" name="body-1" descr="\text{Error} = \text{Bias}^2 + \text{Variance} + \text{irreducible nois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667074"/>
            <a:ext cx="10161727" cy="425378"/>
          </a:xfrm>
          <a:prstGeom prst="rect">
            <a:avLst/>
          </a:prstGeom>
        </p:spPr>
      </p:pic>
      <p:sp>
        <p:nvSpPr>
          <p:cNvPr id="11" name="body-2"/>
          <p:cNvSpPr txBox="1"/>
          <p:nvPr/>
        </p:nvSpPr>
        <p:spPr>
          <a:xfrm>
            <a:off x="1060704" y="4253108"/>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Simple models have high bias and low variance; complex models the reverse.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Overfitting, Underfitting and the Learning Curve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72     </a:t>
            </a:r>
            <a:fld id="{63A03859-EEB4-4EE7-B645-BE79A18FBB9B}" type="slidenum">
              <a:rPr lang="en-GB" sz="1000">
                <a:solidFill>
                  <a:srgbClr val="8795A1"/>
                </a:solidFill>
                <a:latin typeface="Segoe UI"/>
              </a:rPr>
              <a:t>21</a:t>
            </a:fld>
          </a:p>
        </p:txBody>
      </p:sp>
      <p:graphicFrame>
        <p:nvGraphicFramePr>
          <p:cNvPr id="7" name="!!table"/>
          <p:cNvGraphicFramePr>
            <a:graphicFrameLocks noGrp="1"/>
          </p:cNvGraphicFramePr>
          <p:nvPr/>
        </p:nvGraphicFramePr>
        <p:xfrm>
          <a:off x="658368" y="1737360"/>
          <a:ext cx="10874958" cy="3322320"/>
        </p:xfrm>
        <a:graphic>
          <a:graphicData uri="http://schemas.openxmlformats.org/drawingml/2006/table">
            <a:tbl>
              <a:tblPr firstRow="0" bandRow="0" firstCol="0" lastRow="0" lastCol="0" bandCol="0">
                <a:tableStyleId>{2D5ABB26-0587-4C30-8999-92F81FD0307C}</a:tableStyleId>
              </a:tblPr>
              <a:tblGrid>
                <a:gridCol w="2585654"/>
                <a:gridCol w="3802433"/>
                <a:gridCol w="4486871"/>
              </a:tblGrid>
              <a:tr h="405384">
                <a:tc>
                  <a:txBody>
                    <a:bodyPr wrap="square"/>
                    <a:lstStyle/>
                    <a:p>
                      <a:pPr algn="l"/>
                      <a:r>
                        <a:rPr sz="1700" b="1" i="0">
                          <a:solidFill>
                            <a:srgbClr val="1A5276"/>
                          </a:solidFill>
                          <a:latin typeface="Segoe UI"/>
                        </a:rPr>
                        <a:t>Symptom</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Diagnosis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to do</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923544">
                <a:tc>
                  <a:txBody>
                    <a:bodyPr wrap="square"/>
                    <a:lstStyle/>
                    <a:p>
                      <a:pPr algn="l"/>
                      <a:r>
                        <a:rPr sz="1700" b="0" i="0">
                          <a:solidFill>
                            <a:srgbClr val="1C252B"/>
                          </a:solidFill>
                          <a:latin typeface="Segoe UI"/>
                        </a:rPr>
                        <a:t>Train error high, validation error similarly high</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Underfitting (high bias)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More complex model, better features, train longer, less regularisation</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0" i="0">
                          <a:solidFill>
                            <a:srgbClr val="1C252B"/>
                          </a:solidFill>
                          <a:latin typeface="Segoe UI"/>
                        </a:rPr>
                        <a:t>Train error low, validation error much higher</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Overfitting (high variance)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More data, simpler model, more regularisation (Chapter 15), early stopping</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Both low and close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Good fit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Stop. Verify once on the test set</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Validation </a:t>
                      </a:r>
                      <a:r>
                        <a:rPr sz="1700" b="0" i="1">
                          <a:solidFill>
                            <a:srgbClr val="1C252B"/>
                          </a:solidFill>
                          <a:latin typeface="Segoe UI"/>
                        </a:rPr>
                        <a:t>better</a:t>
                      </a:r>
                      <a:r>
                        <a:rPr sz="1700" b="0" i="0">
                          <a:solidFill>
                            <a:srgbClr val="1C252B"/>
                          </a:solidFill>
                          <a:latin typeface="Segoe UI"/>
                        </a:rPr>
                        <a:t> than train</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Suspect a bug</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Usually a leak or a mis-specified split</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Baselines and the No Free Lunch Theorem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What Learning Means 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The Four Paradigms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The Three-Way Split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Overfitting, Underfitting and the Learning Curve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11.5   Baselines and the No Free Lunch Theorem</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§11.5     </a:t>
            </a:r>
            <a:fld id="{4B96AF9B-DABC-4254-9ED4-6FB385FBF00F}" type="slidenum">
              <a:rPr lang="en-GB" sz="1000">
                <a:solidFill>
                  <a:srgbClr val="8795A1"/>
                </a:solidFill>
                <a:latin typeface="Segoe UI"/>
              </a:rPr>
              <a:t>22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Always Build the Baseline First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73     </a:t>
            </a:r>
            <a:fld id="{BF49F0DD-7C18-4814-BC39-4F206E83166E}"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01592"/>
          </a:xfrm>
          <a:prstGeom prst="roundRect">
            <a:avLst>
              <a:gd name="adj" fmla="val 240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0159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Before any model, compute what a trivial rule achieves:</a:t>
            </a:r>
          </a:p>
        </p:txBody>
      </p:sp>
      <p:sp>
        <p:nvSpPr>
          <p:cNvPr id="10" name="body-1"/>
          <p:cNvSpPr txBox="1"/>
          <p:nvPr/>
        </p:nvSpPr>
        <p:spPr>
          <a:xfrm>
            <a:off x="1060704" y="2573451"/>
            <a:ext cx="10161727" cy="181058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F618D"/>
                </a:solidFill>
                <a:latin typeface="Segoe UI"/>
              </a:rPr>
              <a:t>•	</a:t>
            </a:r>
            <a:r>
              <a:rPr sz="2300" b="0" i="1">
                <a:solidFill>
                  <a:srgbClr val="1C252B"/>
                </a:solidFill>
                <a:latin typeface="Segoe UI"/>
              </a:rPr>
              <a:t>Classification:</a:t>
            </a:r>
            <a:r>
              <a:rPr sz="2300" b="0" i="0">
                <a:solidFill>
                  <a:srgbClr val="1C252B"/>
                </a:solidFill>
                <a:latin typeface="Segoe UI"/>
              </a:rPr>
              <a:t> always predict the majority class.</a:t>
            </a:r>
          </a:p>
          <a:p>
            <a:pPr algn="l" marL="257176" indent="-257176">
              <a:lnSpc>
                <a:spcPct val="104000"/>
              </a:lnSpc>
              <a:spcBef>
                <a:spcPts val="0"/>
              </a:spcBef>
              <a:spcAft>
                <a:spcPts val="804"/>
              </a:spcAft>
            </a:pPr>
            <a:r>
              <a:rPr sz="2300" b="1">
                <a:solidFill>
                  <a:srgbClr val="1F618D"/>
                </a:solidFill>
                <a:latin typeface="Segoe UI"/>
              </a:rPr>
              <a:t>•	</a:t>
            </a:r>
            <a:r>
              <a:rPr sz="2300" b="0" i="1">
                <a:solidFill>
                  <a:srgbClr val="1C252B"/>
                </a:solidFill>
                <a:latin typeface="Segoe UI"/>
              </a:rPr>
              <a:t>Regression:</a:t>
            </a:r>
            <a:r>
              <a:rPr sz="2300" b="0" i="0">
                <a:solidFill>
                  <a:srgbClr val="1C252B"/>
                </a:solidFill>
                <a:latin typeface="Segoe UI"/>
              </a:rPr>
              <a:t> always predict the mean.</a:t>
            </a:r>
          </a:p>
          <a:p>
            <a:pPr algn="l" marL="257176" indent="-257176">
              <a:lnSpc>
                <a:spcPct val="104000"/>
              </a:lnSpc>
              <a:spcBef>
                <a:spcPts val="0"/>
              </a:spcBef>
              <a:spcAft>
                <a:spcPts val="804"/>
              </a:spcAft>
            </a:pPr>
            <a:r>
              <a:rPr sz="2300" b="1">
                <a:solidFill>
                  <a:srgbClr val="1F618D"/>
                </a:solidFill>
                <a:latin typeface="Segoe UI"/>
              </a:rPr>
              <a:t>•	</a:t>
            </a:r>
            <a:r>
              <a:rPr sz="2300" b="0" i="1">
                <a:solidFill>
                  <a:srgbClr val="1C252B"/>
                </a:solidFill>
                <a:latin typeface="Segoe UI"/>
              </a:rPr>
              <a:t>Time series:</a:t>
            </a:r>
            <a:r>
              <a:rPr sz="2300" b="0" i="0">
                <a:solidFill>
                  <a:srgbClr val="1C252B"/>
                </a:solidFill>
                <a:latin typeface="Segoe UI"/>
              </a:rPr>
              <a:t> predict that tomorrow equals today.</a:t>
            </a:r>
          </a:p>
          <a:p>
            <a:pPr algn="l" marL="257176" indent="-257176">
              <a:lnSpc>
                <a:spcPct val="104000"/>
              </a:lnSpc>
              <a:spcBef>
                <a:spcPts val="0"/>
              </a:spcBef>
              <a:spcAft>
                <a:spcPts val="0"/>
              </a:spcAft>
            </a:pPr>
            <a:r>
              <a:rPr sz="2300" b="1">
                <a:solidFill>
                  <a:srgbClr val="1F618D"/>
                </a:solidFill>
                <a:latin typeface="Segoe UI"/>
              </a:rPr>
              <a:t>•	</a:t>
            </a:r>
            <a:r>
              <a:rPr sz="2300" b="0" i="1">
                <a:solidFill>
                  <a:srgbClr val="1C252B"/>
                </a:solidFill>
                <a:latin typeface="Segoe UI"/>
              </a:rPr>
              <a:t>Domain rule:</a:t>
            </a:r>
            <a:r>
              <a:rPr sz="2300" b="0" i="0">
                <a:solidFill>
                  <a:srgbClr val="1C252B"/>
                </a:solidFill>
                <a:latin typeface="Segoe UI"/>
              </a:rPr>
              <a:t> whatever the humans currently do.</a:t>
            </a:r>
          </a:p>
        </p:txBody>
      </p:sp>
      <p:sp>
        <p:nvSpPr>
          <p:cNvPr id="11" name="body-2"/>
          <p:cNvSpPr txBox="1"/>
          <p:nvPr/>
        </p:nvSpPr>
        <p:spPr>
          <a:xfrm>
            <a:off x="1060704" y="449897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model that does not beat all four is not a result. This takes five minutes and has saved more student projects than any algorithm.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 Free Lunch</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73     </a:t>
            </a:r>
            <a:fld id="{2CEC9A0D-B993-45D7-AFBE-2524E67F2AEB}"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Averaged over all possible problems, no algorithm outperforms any other. There is no universally best model — only models better suited to the structure of a particular problem. This is why Chapter 14 exists, and why “which algorithm is best?” is not a well-formed question.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Setting Up a Learning Problem</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4423FFB0-44BC-4D76-B70C-FCF71E04FA35}" type="slidenum">
              <a:rPr lang="en-GB" sz="1000">
                <a:solidFill>
                  <a:srgbClr val="8795A1"/>
                </a:solidFill>
                <a:latin typeface="Segoe UI"/>
              </a:rPr>
              <a:t>25</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Paradigm:</a:t>
            </a:r>
            <a:r>
              <a:rPr sz="2300" b="0" i="0">
                <a:solidFill>
                  <a:srgbClr val="1C252B"/>
                </a:solidFill>
                <a:latin typeface="Segoe UI"/>
              </a:rPr>
              <a:t> supervised classification — labels exist because past outcomes are recorded.</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Paradigm:</a:t>
            </a:r>
            <a:r>
              <a:rPr sz="2300" b="0" i="0">
                <a:solidFill>
                  <a:srgbClr val="1C252B"/>
                </a:solidFill>
                <a:latin typeface="Segoe UI"/>
              </a:rPr>
              <a:t> supervised, but with painfully few rows — a team may have 40 completed sprints, ever.</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1">
                <a:solidFill>
                  <a:srgbClr val="1C252B"/>
                </a:solidFill>
                <a:latin typeface="Segoe UI"/>
              </a:rPr>
              <a:t>Paradigm:</a:t>
            </a:r>
            <a:r>
              <a:rPr sz="1800" b="0" i="0">
                <a:solidFill>
                  <a:srgbClr val="1C252B"/>
                </a:solidFill>
                <a:latin typeface="Segoe UI"/>
              </a:rPr>
              <a:t> supervised for predictive maintenance if failure records exist; unsupervised anomaly detection if they do not — which is the common case, since well-maintained equipment rarely fails.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Paradigm:</a:t>
            </a:r>
            <a:r>
              <a:rPr sz="2200" b="0" i="0">
                <a:solidFill>
                  <a:srgbClr val="1C252B"/>
                </a:solidFill>
                <a:latin typeface="Segoe UI"/>
              </a:rPr>
              <a:t> supervised where labelled attacks exist, unsupervised otherwise; in practice both, side by side.</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Setting Up a Learning Problem</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71162838-0A14-4598-A254-052AF282C96F}" type="slidenum">
              <a:rPr lang="en-GB" sz="1000">
                <a:solidFill>
                  <a:srgbClr val="8795A1"/>
                </a:solidFill>
                <a:latin typeface="Segoe UI"/>
              </a:rPr>
              <a:t>26</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Paradigm:</a:t>
            </a:r>
            <a:r>
              <a:rPr sz="2200" b="0" i="0">
                <a:solidFill>
                  <a:srgbClr val="1C252B"/>
                </a:solidFill>
                <a:latin typeface="Segoe UI"/>
              </a:rPr>
              <a:t> supervised classification — labels exist because past outcomes are recorded. </a:t>
            </a:r>
            <a:r>
              <a:rPr sz="2200" b="0" i="1">
                <a:solidFill>
                  <a:srgbClr val="1C252B"/>
                </a:solidFill>
                <a:latin typeface="Segoe UI"/>
              </a:rPr>
              <a:t>Split:</a:t>
            </a:r>
            <a:r>
              <a:rPr sz="2200" b="0" i="0">
                <a:solidFill>
                  <a:srgbClr val="1C252B"/>
                </a:solidFill>
                <a:latin typeface="Segoe UI"/>
              </a:rPr>
              <a:t> by student, and stratified, since failures are the minority. </a:t>
            </a:r>
            <a:r>
              <a:rPr sz="2200" b="0" i="1">
                <a:solidFill>
                  <a:srgbClr val="1C252B"/>
                </a:solidFill>
                <a:latin typeface="Segoe UI"/>
              </a:rPr>
              <a:t>Baseline:</a:t>
            </a:r>
            <a:r>
              <a:rPr sz="2200" b="0" i="0">
                <a:solidFill>
                  <a:srgbClr val="1C252B"/>
                </a:solidFill>
                <a:latin typeface="Segoe UI"/>
              </a:rPr>
              <a:t> “flag anyone who missed two labs”, which is what staff already do; beat that or the model adds nothing. </a:t>
            </a:r>
            <a:r>
              <a:rPr sz="2200" b="0" i="1">
                <a:solidFill>
                  <a:srgbClr val="1C252B"/>
                </a:solidFill>
                <a:latin typeface="Segoe UI"/>
              </a:rPr>
              <a:t>Overfitting risk:</a:t>
            </a:r>
            <a:r>
              <a:rPr sz="2200" b="0" i="0">
                <a:solidFill>
                  <a:srgbClr val="1C252B"/>
                </a:solidFill>
                <a:latin typeface="Segoe UI"/>
              </a:rPr>
              <a:t> high, because </a:t>
            </a:r>
            <a:r>
              <a:rPr sz="2200" b="0" i="1">
                <a:solidFill>
                  <a:srgbClr val="1C252B"/>
                </a:solidFill>
                <a:latin typeface="Cambria"/>
              </a:rPr>
              <a:t>n</a:t>
            </a:r>
            <a:r>
              <a:rPr sz="2200" b="0" i="0">
                <a:solidFill>
                  <a:srgbClr val="1C252B"/>
                </a:solidFill>
                <a:latin typeface="Segoe UI"/>
              </a:rPr>
              <a:t> is small (one cohort) and </a:t>
            </a:r>
            <a:r>
              <a:rPr sz="2200" b="0" i="1">
                <a:solidFill>
                  <a:srgbClr val="1C252B"/>
                </a:solidFill>
                <a:latin typeface="Cambria"/>
              </a:rPr>
              <a:t>p</a:t>
            </a:r>
            <a:r>
              <a:rPr sz="2200" b="0" i="0">
                <a:solidFill>
                  <a:srgbClr val="1C252B"/>
                </a:solidFill>
                <a:latin typeface="Segoe UI"/>
              </a:rPr>
              <a:t> is large (hundreds of clickstream features).</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Setting Up a Learning Problem</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C303F369-43F8-4DE1-8359-30CF277548BA}" type="slidenum">
              <a:rPr lang="en-GB" sz="1000">
                <a:solidFill>
                  <a:srgbClr val="8795A1"/>
                </a:solidFill>
                <a:latin typeface="Segoe UI"/>
              </a:rPr>
              <a:t>27</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Paradigm:</a:t>
            </a:r>
            <a:r>
              <a:rPr sz="2200" b="0" i="0">
                <a:solidFill>
                  <a:srgbClr val="1C252B"/>
                </a:solidFill>
                <a:latin typeface="Segoe UI"/>
              </a:rPr>
              <a:t> supervised, but with painfully few rows — a team may have 40 completed sprints, ever. </a:t>
            </a:r>
            <a:r>
              <a:rPr sz="2200" b="0" i="1">
                <a:solidFill>
                  <a:srgbClr val="1C252B"/>
                </a:solidFill>
                <a:latin typeface="Segoe UI"/>
              </a:rPr>
              <a:t>Split:</a:t>
            </a:r>
            <a:r>
              <a:rPr sz="2200" b="0" i="0">
                <a:solidFill>
                  <a:srgbClr val="1C252B"/>
                </a:solidFill>
                <a:latin typeface="Segoe UI"/>
              </a:rPr>
              <a:t> chronological, never random: predicting March from April is meaningless. </a:t>
            </a:r>
            <a:r>
              <a:rPr sz="2200" b="0" i="1">
                <a:solidFill>
                  <a:srgbClr val="1C252B"/>
                </a:solidFill>
                <a:latin typeface="Segoe UI"/>
              </a:rPr>
              <a:t>Baseline:</a:t>
            </a:r>
            <a:r>
              <a:rPr sz="2200" b="0" i="0">
                <a:solidFill>
                  <a:srgbClr val="1C252B"/>
                </a:solidFill>
                <a:latin typeface="Segoe UI"/>
              </a:rPr>
              <a:t> last sprint’s velocity. </a:t>
            </a:r>
            <a:r>
              <a:rPr sz="2200" b="0" i="1">
                <a:solidFill>
                  <a:srgbClr val="1C252B"/>
                </a:solidFill>
                <a:latin typeface="Segoe UI"/>
              </a:rPr>
              <a:t>Overfitting risk:</a:t>
            </a:r>
            <a:r>
              <a:rPr sz="2200" b="0" i="0">
                <a:solidFill>
                  <a:srgbClr val="1C252B"/>
                </a:solidFill>
                <a:latin typeface="Segoe UI"/>
              </a:rPr>
              <a:t> severe. With </a:t>
            </a:r>
            <a:r>
              <a:rPr sz="2200" b="0" i="1">
                <a:solidFill>
                  <a:srgbClr val="1C252B"/>
                </a:solidFill>
                <a:latin typeface="Cambria"/>
              </a:rPr>
              <a:t>n</a:t>
            </a:r>
            <a:r>
              <a:rPr sz="2200" b="0" i="0">
                <a:solidFill>
                  <a:srgbClr val="1C252B"/>
                </a:solidFill>
                <a:latin typeface="Cambria"/>
              </a:rPr>
              <a:t>=40</a:t>
            </a:r>
            <a:r>
              <a:rPr sz="2200" b="0" i="0">
                <a:solidFill>
                  <a:srgbClr val="1C252B"/>
                </a:solidFill>
                <a:latin typeface="Segoe UI"/>
              </a:rPr>
              <a:t>, prefer a two-feature model you can explain over a tuned gradient-boosting machine you cannot.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Setting Up a Learning Problem</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84CFD953-6300-4410-9F27-B6C992A9E9A7}" type="slidenum">
              <a:rPr lang="en-GB" sz="1000">
                <a:solidFill>
                  <a:srgbClr val="8795A1"/>
                </a:solidFill>
                <a:latin typeface="Segoe UI"/>
              </a:rPr>
              <a:t>28</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Paradigm:</a:t>
            </a:r>
            <a:r>
              <a:rPr sz="2200" b="0" i="0">
                <a:solidFill>
                  <a:srgbClr val="1C252B"/>
                </a:solidFill>
                <a:latin typeface="Segoe UI"/>
              </a:rPr>
              <a:t> supervised for predictive maintenance if failure records exist; unsupervised anomaly detection if they do not — which is the common case, since well-maintained equipment rarely fails. </a:t>
            </a:r>
            <a:r>
              <a:rPr sz="2200" b="0" i="1">
                <a:solidFill>
                  <a:srgbClr val="1C252B"/>
                </a:solidFill>
                <a:latin typeface="Segoe UI"/>
              </a:rPr>
              <a:t>Split:</a:t>
            </a:r>
            <a:r>
              <a:rPr sz="2200" b="0" i="0">
                <a:solidFill>
                  <a:srgbClr val="1C252B"/>
                </a:solidFill>
                <a:latin typeface="Segoe UI"/>
              </a:rPr>
              <a:t> by device </a:t>
            </a:r>
            <a:r>
              <a:rPr sz="2200" b="0" i="1">
                <a:solidFill>
                  <a:srgbClr val="1C252B"/>
                </a:solidFill>
                <a:latin typeface="Segoe UI"/>
              </a:rPr>
              <a:t>and</a:t>
            </a:r>
            <a:r>
              <a:rPr sz="2200" b="0" i="0">
                <a:solidFill>
                  <a:srgbClr val="1C252B"/>
                </a:solidFill>
                <a:latin typeface="Segoe UI"/>
              </a:rPr>
              <a:t> chronologically. </a:t>
            </a:r>
            <a:r>
              <a:rPr sz="2200" b="0" i="1">
                <a:solidFill>
                  <a:srgbClr val="1C252B"/>
                </a:solidFill>
                <a:latin typeface="Segoe UI"/>
              </a:rPr>
              <a:t>Baseline:</a:t>
            </a:r>
            <a:r>
              <a:rPr sz="2200" b="0" i="0">
                <a:solidFill>
                  <a:srgbClr val="1C252B"/>
                </a:solidFill>
                <a:latin typeface="Segoe UI"/>
              </a:rPr>
              <a:t> fixed-interval servicing. </a:t>
            </a:r>
            <a:r>
              <a:rPr sz="2200" b="0" i="1">
                <a:solidFill>
                  <a:srgbClr val="1C252B"/>
                </a:solidFill>
                <a:latin typeface="Segoe UI"/>
              </a:rPr>
              <a:t>Data:</a:t>
            </a:r>
            <a:r>
              <a:rPr sz="2200" b="0" i="0">
                <a:solidFill>
                  <a:srgbClr val="1C252B"/>
                </a:solidFill>
                <a:latin typeface="Segoe UI"/>
              </a:rPr>
              <a:t> abundant rows but very few positive labels, so the effective sample size is the failure count, not the row count.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Setting Up a Learning Problem</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17A1B773-78B8-4DC0-AC58-5ED913A9C838}" type="slidenum">
              <a:rPr lang="en-GB" sz="1000">
                <a:solidFill>
                  <a:srgbClr val="8795A1"/>
                </a:solidFill>
                <a:latin typeface="Segoe UI"/>
              </a:rPr>
              <a:t>29</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Paradigm:</a:t>
            </a:r>
            <a:r>
              <a:rPr sz="2200" b="0" i="0">
                <a:solidFill>
                  <a:srgbClr val="1C252B"/>
                </a:solidFill>
                <a:latin typeface="Segoe UI"/>
              </a:rPr>
              <a:t> supervised where labelled attacks exist, unsupervised otherwise; in practice both, side by side. </a:t>
            </a:r>
            <a:r>
              <a:rPr sz="2200" b="0" i="1">
                <a:solidFill>
                  <a:srgbClr val="1C252B"/>
                </a:solidFill>
                <a:latin typeface="Segoe UI"/>
              </a:rPr>
              <a:t>Split:</a:t>
            </a:r>
            <a:r>
              <a:rPr sz="2200" b="0" i="0">
                <a:solidFill>
                  <a:srgbClr val="1C252B"/>
                </a:solidFill>
                <a:latin typeface="Segoe UI"/>
              </a:rPr>
              <a:t> strictly chronological — training on 2026 attacks to detect 2025 ones proves nothing. </a:t>
            </a:r>
            <a:r>
              <a:rPr sz="2200" b="0" i="1">
                <a:solidFill>
                  <a:srgbClr val="1C252B"/>
                </a:solidFill>
                <a:latin typeface="Segoe UI"/>
              </a:rPr>
              <a:t>Baseline:</a:t>
            </a:r>
            <a:r>
              <a:rPr sz="2200" b="0" i="0">
                <a:solidFill>
                  <a:srgbClr val="1C252B"/>
                </a:solidFill>
                <a:latin typeface="Segoe UI"/>
              </a:rPr>
              <a:t> the existing signature rules. </a:t>
            </a:r>
            <a:r>
              <a:rPr sz="2200" b="0" i="1">
                <a:solidFill>
                  <a:srgbClr val="1C252B"/>
                </a:solidFill>
                <a:latin typeface="Segoe UI"/>
              </a:rPr>
              <a:t>Special difficulty:</a:t>
            </a:r>
            <a:r>
              <a:rPr sz="2200" b="0" i="0">
                <a:solidFill>
                  <a:srgbClr val="1C252B"/>
                </a:solidFill>
                <a:latin typeface="Segoe UI"/>
              </a:rPr>
              <a:t> the data distribution is actively changed by an adversary, so the i.i.d. assumption underlying all of Part III is false here. Chapter 26 confronts this directly.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Split, Baseline, Diagnose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73     </a:t>
            </a:r>
            <a:fld id="{1C03211B-73EB-4616-82E7-D96F65425E2C}" type="slidenum">
              <a:rPr lang="en-GB" sz="1000">
                <a:solidFill>
                  <a:srgbClr val="8795A1"/>
                </a:solidFill>
                <a:latin typeface="Segoe UI"/>
              </a:rPr>
              <a:t>30</a:t>
            </a:fld>
          </a:p>
        </p:txBody>
      </p:sp>
      <p:sp>
        <p:nvSpPr>
          <p:cNvPr id="7" name="!!lfTHIS">
            <a:extLst>
              <a:ext uri="{C183D7F6-B498-43B3-948B-1728B52AA6E4}">
                <adec:decorative xmlns:adec="http://schemas.microsoft.com/office/drawing/2017/decorative" val="1"/>
              </a:ext>
            </a:extLst>
          </p:cNvPr>
          <p:cNvSpPr/>
          <p:nvPr/>
        </p:nvSpPr>
        <p:spPr>
          <a:xfrm>
            <a:off x="658368"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fbTHIS">
            <a:extLst>
              <a:ext uri="{C183D7F6-B498-43B3-948B-1728B52AA6E4}">
                <adec:decorative xmlns:adec="http://schemas.microsoft.com/office/drawing/2017/decorative" val="1"/>
              </a:ext>
            </a:extLst>
          </p:cNvPr>
          <p:cNvSpPr/>
          <p:nvPr/>
        </p:nvSpPr>
        <p:spPr>
          <a:xfrm>
            <a:off x="658368"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lTHIS"/>
          <p:cNvSpPr txBox="1"/>
          <p:nvPr/>
        </p:nvSpPr>
        <p:spPr>
          <a:xfrm>
            <a:off x="932688"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0" name="!!lfvTHIS"/>
          <p:cNvSpPr txBox="1"/>
          <p:nvPr/>
        </p:nvSpPr>
        <p:spPr>
          <a:xfrm>
            <a:off x="932688"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7: Split, baseline, diagnose; fit &amp; regularise</a:t>
            </a:r>
          </a:p>
        </p:txBody>
      </p:sp>
      <p:sp>
        <p:nvSpPr>
          <p:cNvPr id="11" name="!!lfWHAT">
            <a:extLst>
              <a:ext uri="{C183D7F6-B498-43B3-948B-1728B52AA6E4}">
                <adec:decorative xmlns:adec="http://schemas.microsoft.com/office/drawing/2017/decorative" val="1"/>
              </a:ext>
            </a:extLst>
          </p:cNvPr>
          <p:cNvSpPr/>
          <p:nvPr/>
        </p:nvSpPr>
        <p:spPr>
          <a:xfrm>
            <a:off x="6233007"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lfbWHAT">
            <a:extLst>
              <a:ext uri="{C183D7F6-B498-43B3-948B-1728B52AA6E4}">
                <adec:decorative xmlns:adec="http://schemas.microsoft.com/office/drawing/2017/decorative" val="1"/>
              </a:ext>
            </a:extLst>
          </p:cNvPr>
          <p:cNvSpPr/>
          <p:nvPr/>
        </p:nvSpPr>
        <p:spPr>
          <a:xfrm>
            <a:off x="6233007"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lWHAT"/>
          <p:cNvSpPr txBox="1"/>
          <p:nvPr/>
        </p:nvSpPr>
        <p:spPr>
          <a:xfrm>
            <a:off x="6507327"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4" name="!!lfvWHAT"/>
          <p:cNvSpPr txBox="1"/>
          <p:nvPr/>
        </p:nvSpPr>
        <p:spPr>
          <a:xfrm>
            <a:off x="6507327"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29 lines of Python</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Split, Baseline, Diagnose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73     </a:t>
            </a:r>
            <a:fld id="{007E64F2-4FDB-40C8-8970-325D2D50C99D}"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numpy as np from sklearn.model_selection import train_test_split, learning_curve from sklearn.dummy import DummyClassifier from sklearn.tree import DecisionTreeClassifier import matplotlib.pyplot as plt X, y = ... # your features and labels # 1. Stratified split -- keeps the rare class present everywhere. X_tr, X_te, y_tr, y_te = train_test_split( X, y, test_size=0.2, stratify=y, random_state=42) # 2. BASELINE FIRST. Never skip this. base = DummyClassifier(strategy=&quot;most_frequent&quot;).fit(X_tr, y_tr) print(f&quot;baseline accuracy: {base.score(X_tr, y_tr):.3f}&quot;)"/>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numpy</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np</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sklearn</a:t>
            </a:r>
            <a:r>
              <a:rPr sz="1600" i="0">
                <a:solidFill>
                  <a:srgbClr val="76D7C4"/>
                </a:solidFill>
                <a:latin typeface="Consolas"/>
              </a:rPr>
              <a:t>.</a:t>
            </a:r>
            <a:r>
              <a:rPr sz="1600" i="0">
                <a:solidFill>
                  <a:srgbClr val="76D7C4"/>
                </a:solidFill>
                <a:latin typeface="Consolas"/>
              </a:rPr>
              <a:t>model_selection</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train_test_split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learning_curve</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sklearn</a:t>
            </a:r>
            <a:r>
              <a:rPr sz="1600" i="0">
                <a:solidFill>
                  <a:srgbClr val="76D7C4"/>
                </a:solidFill>
                <a:latin typeface="Consolas"/>
              </a:rPr>
              <a:t>.</a:t>
            </a:r>
            <a:r>
              <a:rPr sz="1600" i="0">
                <a:solidFill>
                  <a:srgbClr val="76D7C4"/>
                </a:solidFill>
                <a:latin typeface="Consolas"/>
              </a:rPr>
              <a:t>dummy</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DummyClassifier</a:t>
            </a:r>
          </a:p>
          <a:p>
            <a:pPr>
              <a:lnSpc>
                <a:spcPct val="100000"/>
              </a:lnSpc>
              <a:spcAft>
                <a:spcPts val="0"/>
              </a:spcAft>
            </a:pPr>
            <a:r>
              <a:rPr sz="1600" i="0">
                <a:solidFill>
                  <a:srgbClr val="5DADE2"/>
                </a:solidFill>
                <a:latin typeface="Consolas"/>
              </a:rPr>
              <a:t>from</a:t>
            </a:r>
            <a:r>
              <a:rPr sz="1600" i="0">
                <a:solidFill>
                  <a:srgbClr val="E8EDF2"/>
                </a:solidFill>
                <a:latin typeface="Consolas"/>
              </a:rPr>
              <a:t> </a:t>
            </a:r>
            <a:r>
              <a:rPr sz="1600" i="0">
                <a:solidFill>
                  <a:srgbClr val="76D7C4"/>
                </a:solidFill>
                <a:latin typeface="Consolas"/>
              </a:rPr>
              <a:t>sklearn</a:t>
            </a:r>
            <a:r>
              <a:rPr sz="1600" i="0">
                <a:solidFill>
                  <a:srgbClr val="76D7C4"/>
                </a:solidFill>
                <a:latin typeface="Consolas"/>
              </a:rPr>
              <a:t>.</a:t>
            </a:r>
            <a:r>
              <a:rPr sz="1600" i="0">
                <a:solidFill>
                  <a:srgbClr val="76D7C4"/>
                </a:solidFill>
                <a:latin typeface="Consolas"/>
              </a:rPr>
              <a:t>tree</a:t>
            </a:r>
            <a:r>
              <a:rPr sz="1600" i="0">
                <a:solidFill>
                  <a:srgbClr val="E8EDF2"/>
                </a:solidFill>
                <a:latin typeface="Consolas"/>
              </a:rPr>
              <a:t> </a:t>
            </a:r>
            <a:r>
              <a:rPr sz="1600" i="0">
                <a:solidFill>
                  <a:srgbClr val="5DADE2"/>
                </a:solidFill>
                <a:latin typeface="Consolas"/>
              </a:rPr>
              <a:t>import</a:t>
            </a:r>
            <a:r>
              <a:rPr sz="1600" i="0">
                <a:solidFill>
                  <a:srgbClr val="E8EDF2"/>
                </a:solidFill>
                <a:latin typeface="Consolas"/>
              </a:rPr>
              <a:t> </a:t>
            </a:r>
            <a:r>
              <a:rPr sz="1600" i="0">
                <a:solidFill>
                  <a:srgbClr val="E8EDF2"/>
                </a:solidFill>
                <a:latin typeface="Consolas"/>
              </a:rPr>
              <a:t>DecisionTreeClassifier</a:t>
            </a:r>
          </a:p>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matplotlib</a:t>
            </a:r>
            <a:r>
              <a:rPr sz="1600" i="0">
                <a:solidFill>
                  <a:srgbClr val="76D7C4"/>
                </a:solidFill>
                <a:latin typeface="Consolas"/>
              </a:rPr>
              <a:t>.</a:t>
            </a:r>
            <a:r>
              <a:rPr sz="1600" i="0">
                <a:solidFill>
                  <a:srgbClr val="76D7C4"/>
                </a:solidFill>
                <a:latin typeface="Consolas"/>
              </a:rPr>
              <a:t>pyplot</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plt</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X</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your features and labels</a:t>
            </a:r>
          </a:p>
          <a:p>
            <a:pPr>
              <a:lnSpc>
                <a:spcPct val="100000"/>
              </a:lnSpc>
              <a:spcAft>
                <a:spcPts val="0"/>
              </a:spcAft>
            </a:pPr>
            <a:r>
              <a:rPr sz="1600">
                <a:latin typeface="Consolas"/>
              </a:rPr>
              <a:t> </a:t>
            </a:r>
          </a:p>
          <a:p>
            <a:pPr>
              <a:lnSpc>
                <a:spcPct val="100000"/>
              </a:lnSpc>
              <a:spcAft>
                <a:spcPts val="0"/>
              </a:spcAft>
            </a:pPr>
            <a:r>
              <a:rPr sz="1600" i="1">
                <a:solidFill>
                  <a:srgbClr val="8795A1"/>
                </a:solidFill>
                <a:latin typeface="Consolas"/>
              </a:rPr>
              <a:t># 1. Stratified split -- keeps the rare class present everywhere.</a:t>
            </a:r>
          </a:p>
          <a:p>
            <a:pPr>
              <a:lnSpc>
                <a:spcPct val="100000"/>
              </a:lnSpc>
              <a:spcAft>
                <a:spcPts val="0"/>
              </a:spcAft>
            </a:pPr>
            <a:r>
              <a:rPr sz="1600" i="0">
                <a:solidFill>
                  <a:srgbClr val="E8EDF2"/>
                </a:solidFill>
                <a:latin typeface="Consolas"/>
              </a:rPr>
              <a:t>X_tr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X_te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y_te</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train_test_split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X</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test_size</a:t>
            </a:r>
            <a:r>
              <a:rPr sz="1600" i="0">
                <a:solidFill>
                  <a:srgbClr val="AEB6BF"/>
                </a:solidFill>
                <a:latin typeface="Consolas"/>
              </a:rPr>
              <a:t>=</a:t>
            </a:r>
            <a:r>
              <a:rPr sz="1600" i="0">
                <a:solidFill>
                  <a:srgbClr val="F7DC6F"/>
                </a:solidFill>
                <a:latin typeface="Consolas"/>
              </a:rPr>
              <a:t>0.2</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stratify</a:t>
            </a:r>
            <a:r>
              <a:rPr sz="1600" i="0">
                <a:solidFill>
                  <a:srgbClr val="AEB6BF"/>
                </a:solidFill>
                <a:latin typeface="Consolas"/>
              </a:rPr>
              <a:t>=</a:t>
            </a:r>
            <a:r>
              <a:rPr sz="1600" i="0">
                <a:solidFill>
                  <a:srgbClr val="E8EDF2"/>
                </a:solidFill>
                <a:latin typeface="Consolas"/>
              </a:rPr>
              <a:t>y</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random_state</a:t>
            </a:r>
            <a:r>
              <a:rPr sz="1600" i="0">
                <a:solidFill>
                  <a:srgbClr val="AEB6BF"/>
                </a:solidFill>
                <a:latin typeface="Consolas"/>
              </a:rPr>
              <a:t>=</a:t>
            </a:r>
            <a:r>
              <a:rPr sz="1600" i="0">
                <a:solidFill>
                  <a:srgbClr val="F7DC6F"/>
                </a:solidFill>
                <a:latin typeface="Consolas"/>
              </a:rPr>
              <a:t>42</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1">
                <a:solidFill>
                  <a:srgbClr val="8795A1"/>
                </a:solidFill>
                <a:latin typeface="Consolas"/>
              </a:rPr>
              <a:t># 2. BASELINE FIRST. Never skip this.</a:t>
            </a:r>
          </a:p>
          <a:p>
            <a:pPr>
              <a:lnSpc>
                <a:spcPct val="100000"/>
              </a:lnSpc>
              <a:spcAft>
                <a:spcPts val="0"/>
              </a:spcAft>
            </a:pPr>
            <a:r>
              <a:rPr sz="1600" i="0">
                <a:solidFill>
                  <a:srgbClr val="E8EDF2"/>
                </a:solidFill>
                <a:latin typeface="Consolas"/>
              </a:rPr>
              <a:t>base</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DummyClassifier</a:t>
            </a:r>
            <a:r>
              <a:rPr sz="1600" i="0">
                <a:solidFill>
                  <a:srgbClr val="AEB6BF"/>
                </a:solidFill>
                <a:latin typeface="Consolas"/>
              </a:rPr>
              <a:t>(</a:t>
            </a:r>
            <a:r>
              <a:rPr sz="1600" i="0">
                <a:solidFill>
                  <a:srgbClr val="E8EDF2"/>
                </a:solidFill>
                <a:latin typeface="Consolas"/>
              </a:rPr>
              <a:t>strategy</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most_frequent</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fit</a:t>
            </a:r>
            <a:r>
              <a:rPr sz="1600" i="0">
                <a:solidFill>
                  <a:srgbClr val="AEB6BF"/>
                </a:solidFill>
                <a:latin typeface="Consolas"/>
              </a:rPr>
              <a:t>(</a:t>
            </a:r>
            <a:r>
              <a:rPr sz="1600" i="0">
                <a:solidFill>
                  <a:srgbClr val="E8EDF2"/>
                </a:solidFill>
                <a:latin typeface="Consolas"/>
              </a:rPr>
              <a:t>X_tr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y_tr</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baseline accuracy: </a:t>
            </a:r>
            <a:r>
              <a:rPr sz="1600" i="0">
                <a:solidFill>
                  <a:srgbClr val="7DCEA0"/>
                </a:solidFill>
                <a:latin typeface="Consolas"/>
              </a:rPr>
              <a:t>{</a:t>
            </a:r>
            <a:r>
              <a:rPr sz="1600" i="0">
                <a:solidFill>
                  <a:srgbClr val="E8EDF2"/>
                </a:solidFill>
                <a:latin typeface="Consolas"/>
              </a:rPr>
              <a:t>base</a:t>
            </a:r>
            <a:r>
              <a:rPr sz="1600" i="0">
                <a:solidFill>
                  <a:srgbClr val="AEB6BF"/>
                </a:solidFill>
                <a:latin typeface="Consolas"/>
              </a:rPr>
              <a:t>.</a:t>
            </a:r>
            <a:r>
              <a:rPr sz="1600" i="0">
                <a:solidFill>
                  <a:srgbClr val="E8EDF2"/>
                </a:solidFill>
                <a:latin typeface="Consolas"/>
              </a:rPr>
              <a:t>score</a:t>
            </a:r>
            <a:r>
              <a:rPr sz="1600" i="0">
                <a:solidFill>
                  <a:srgbClr val="AEB6BF"/>
                </a:solidFill>
                <a:latin typeface="Consolas"/>
              </a:rPr>
              <a:t>(</a:t>
            </a:r>
            <a:r>
              <a:rPr sz="1600" i="0">
                <a:solidFill>
                  <a:srgbClr val="E8EDF2"/>
                </a:solidFill>
                <a:latin typeface="Consolas"/>
              </a:rPr>
              <a:t>X_tr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y_tr</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.3f</a:t>
            </a:r>
            <a:r>
              <a:rPr sz="1600" i="0">
                <a:solidFill>
                  <a:srgbClr val="7DCEA0"/>
                </a:solidFill>
                <a:latin typeface="Consolas"/>
              </a:rPr>
              <a:t>}</a:t>
            </a:r>
            <a:r>
              <a:rPr sz="1600" i="0">
                <a:solidFill>
                  <a:srgbClr val="7DCEA0"/>
                </a:solidFill>
                <a:latin typeface="Consolas"/>
              </a:rPr>
              <a:t>"</a:t>
            </a:r>
            <a:r>
              <a:rPr sz="1600" i="0">
                <a:solidFill>
                  <a:srgbClr val="AEB6BF"/>
                </a:solidFill>
                <a:latin typeface="Consolas"/>
              </a:rPr>
              <a: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a:t>
            </a:r>
          </a:p>
          <a:p>
            <a:pPr algn="r">
              <a:lnSpc>
                <a:spcPct val="100000"/>
              </a:lnSpc>
            </a:pPr>
            <a:r>
              <a:rPr sz="1600">
                <a:solidFill>
                  <a:srgbClr val="4F5D6A"/>
                </a:solidFill>
                <a:latin typeface="Consolas"/>
              </a:rPr>
              <a:t>2</a:t>
            </a:r>
          </a:p>
          <a:p>
            <a:pPr algn="r">
              <a:lnSpc>
                <a:spcPct val="100000"/>
              </a:lnSpc>
            </a:pPr>
            <a:r>
              <a:rPr sz="1600">
                <a:solidFill>
                  <a:srgbClr val="4F5D6A"/>
                </a:solidFill>
                <a:latin typeface="Consolas"/>
              </a:rPr>
              <a:t>3</a:t>
            </a:r>
          </a:p>
          <a:p>
            <a:pPr algn="r">
              <a:lnSpc>
                <a:spcPct val="100000"/>
              </a:lnSpc>
            </a:pPr>
            <a:r>
              <a:rPr sz="1600">
                <a:solidFill>
                  <a:srgbClr val="4F5D6A"/>
                </a:solidFill>
                <a:latin typeface="Consolas"/>
              </a:rPr>
              <a:t>4</a:t>
            </a:r>
          </a:p>
          <a:p>
            <a:pPr algn="r">
              <a:lnSpc>
                <a:spcPct val="100000"/>
              </a:lnSpc>
            </a:pPr>
            <a:r>
              <a:rPr sz="1600">
                <a:solidFill>
                  <a:srgbClr val="4F5D6A"/>
                </a:solidFill>
                <a:latin typeface="Consolas"/>
              </a:rPr>
              <a:t>5</a:t>
            </a:r>
          </a:p>
          <a:p>
            <a:pPr algn="r">
              <a:lnSpc>
                <a:spcPct val="100000"/>
              </a:lnSpc>
            </a:pPr>
            <a:r>
              <a:rPr sz="1600">
                <a:solidFill>
                  <a:srgbClr val="4F5D6A"/>
                </a:solidFill>
                <a:latin typeface="Consolas"/>
              </a:rPr>
              <a:t>6</a:t>
            </a:r>
          </a:p>
          <a:p>
            <a:pPr algn="r">
              <a:lnSpc>
                <a:spcPct val="100000"/>
              </a:lnSpc>
            </a:pPr>
            <a:r>
              <a:rPr sz="1600">
                <a:solidFill>
                  <a:srgbClr val="4F5D6A"/>
                </a:solidFill>
                <a:latin typeface="Consolas"/>
              </a:rPr>
              <a:t>7</a:t>
            </a:r>
          </a:p>
          <a:p>
            <a:pPr algn="r">
              <a:lnSpc>
                <a:spcPct val="100000"/>
              </a:lnSpc>
            </a:pPr>
            <a:r>
              <a:rPr sz="1600">
                <a:solidFill>
                  <a:srgbClr val="4F5D6A"/>
                </a:solidFill>
                <a:latin typeface="Consolas"/>
              </a:rPr>
              <a:t>8</a:t>
            </a:r>
          </a:p>
          <a:p>
            <a:pPr algn="r">
              <a:lnSpc>
                <a:spcPct val="100000"/>
              </a:lnSpc>
            </a:pPr>
            <a:r>
              <a:rPr sz="1600">
                <a:solidFill>
                  <a:srgbClr val="4F5D6A"/>
                </a:solidFill>
                <a:latin typeface="Consolas"/>
              </a:rPr>
              <a:t>9</a:t>
            </a:r>
          </a:p>
          <a:p>
            <a:pPr algn="r">
              <a:lnSpc>
                <a:spcPct val="100000"/>
              </a:lnSpc>
            </a:pPr>
            <a:r>
              <a:rPr sz="1600">
                <a:solidFill>
                  <a:srgbClr val="4F5D6A"/>
                </a:solidFill>
                <a:latin typeface="Consolas"/>
              </a:rPr>
              <a:t>10</a:t>
            </a:r>
          </a:p>
          <a:p>
            <a:pPr algn="r">
              <a:lnSpc>
                <a:spcPct val="100000"/>
              </a:lnSpc>
            </a:pPr>
            <a:r>
              <a:rPr sz="1600">
                <a:solidFill>
                  <a:srgbClr val="4F5D6A"/>
                </a:solidFill>
                <a:latin typeface="Consolas"/>
              </a:rPr>
              <a:t>11</a:t>
            </a:r>
          </a:p>
          <a:p>
            <a:pPr algn="r">
              <a:lnSpc>
                <a:spcPct val="100000"/>
              </a:lnSpc>
            </a:pPr>
            <a:r>
              <a:rPr sz="1600">
                <a:solidFill>
                  <a:srgbClr val="4F5D6A"/>
                </a:solidFill>
                <a:latin typeface="Consolas"/>
              </a:rPr>
              <a:t>12</a:t>
            </a:r>
          </a:p>
          <a:p>
            <a:pPr algn="r">
              <a:lnSpc>
                <a:spcPct val="100000"/>
              </a:lnSpc>
            </a:pPr>
            <a:r>
              <a:rPr sz="1600">
                <a:solidFill>
                  <a:srgbClr val="4F5D6A"/>
                </a:solidFill>
                <a:latin typeface="Consolas"/>
              </a:rPr>
              <a:t>13</a:t>
            </a:r>
          </a:p>
          <a:p>
            <a:pPr algn="r">
              <a:lnSpc>
                <a:spcPct val="100000"/>
              </a:lnSpc>
            </a:pPr>
            <a:r>
              <a:rPr sz="1600">
                <a:solidFill>
                  <a:srgbClr val="4F5D6A"/>
                </a:solidFill>
                <a:latin typeface="Consolas"/>
              </a:rPr>
              <a:t>14</a:t>
            </a:r>
          </a:p>
          <a:p>
            <a:pPr algn="r">
              <a:lnSpc>
                <a:spcPct val="100000"/>
              </a:lnSpc>
            </a:pPr>
            <a:r>
              <a:rPr sz="16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Split, Baseline, Diagnose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73     </a:t>
            </a:r>
            <a:fld id="{59CCB9B5-A395-4FCE-A1AC-2CE0D2455AE6}" type="slidenum">
              <a:rPr lang="en-GB" sz="1000">
                <a:solidFill>
                  <a:srgbClr val="8795A1"/>
                </a:solidFill>
                <a:latin typeface="Segoe UI"/>
              </a:rPr>
              <a:t>32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3" name="!!code-text" descr="# 3. Overfitting demonstration: an unconstrained tree memorises. deep = DecisionTreeClassifier().fit(X_tr, y_tr) print(f&quot;deep tree train {deep.score(X_tr, y_tr):.3f}&quot;) # ~1.000 -- memorised shallow = DecisionTreeClassifier(max_depth=3).fit(X_tr, y_tr) print(f&quot;depth-3 train {shallow.score(X_tr, y_tr):.3f}&quot;) # 4. Learning curve: would more data help? sizes, tr_sc, va_sc = learning_curve( DecisionTreeClassifier(max_depth=5), X_tr, y_tr, cv=5, train_sizes=np.linspace(0.1, 1.0, 8)) plt.plot(sizes, tr_sc.mean(1), label=&quot;training&quot;) plt.plot(sizes, va_sc.mean(1), label=&quot;validation&quot;) plt.xlabel(&quot;training examples&quot;); plt.ylabel(&quot;accuracy&quot;); plt.legend(); plt.show()"/>
          <p:cNvSpPr txBox="1"/>
          <p:nvPr/>
        </p:nvSpPr>
        <p:spPr>
          <a:xfrm>
            <a:off x="1362456" y="2066543"/>
            <a:ext cx="9987991" cy="347776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3. Overfitting demonstration: an unconstrained tree memorises.</a:t>
            </a:r>
          </a:p>
          <a:p>
            <a:pPr>
              <a:lnSpc>
                <a:spcPct val="100000"/>
              </a:lnSpc>
              <a:spcAft>
                <a:spcPts val="0"/>
              </a:spcAft>
            </a:pPr>
            <a:r>
              <a:rPr sz="1700" i="0">
                <a:solidFill>
                  <a:srgbClr val="E8EDF2"/>
                </a:solidFill>
                <a:latin typeface="Consolas"/>
              </a:rPr>
              <a:t>deep</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DecisionTreeClassifier</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deep tree  train </a:t>
            </a:r>
            <a:r>
              <a:rPr sz="1700" i="0">
                <a:solidFill>
                  <a:srgbClr val="7DCEA0"/>
                </a:solidFill>
                <a:latin typeface="Consolas"/>
              </a:rPr>
              <a:t>{</a:t>
            </a:r>
            <a:r>
              <a:rPr sz="1700" i="0">
                <a:solidFill>
                  <a:srgbClr val="E8EDF2"/>
                </a:solidFill>
                <a:latin typeface="Consolas"/>
              </a:rPr>
              <a:t>deep</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~1.000 -- memorised</a:t>
            </a:r>
          </a:p>
          <a:p>
            <a:pPr>
              <a:lnSpc>
                <a:spcPct val="100000"/>
              </a:lnSpc>
              <a:spcAft>
                <a:spcPts val="0"/>
              </a:spcAft>
            </a:pPr>
            <a:r>
              <a:rPr sz="1700" i="0">
                <a:solidFill>
                  <a:srgbClr val="E8EDF2"/>
                </a:solidFill>
                <a:latin typeface="Consolas"/>
              </a:rPr>
              <a:t>shallow</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DecisionTreeClassifier</a:t>
            </a:r>
            <a:r>
              <a:rPr sz="1700" i="0">
                <a:solidFill>
                  <a:srgbClr val="AEB6BF"/>
                </a:solidFill>
                <a:latin typeface="Consolas"/>
              </a:rPr>
              <a:t>(</a:t>
            </a:r>
            <a:r>
              <a:rPr sz="1700" i="0">
                <a:solidFill>
                  <a:srgbClr val="E8EDF2"/>
                </a:solidFill>
                <a:latin typeface="Consolas"/>
              </a:rPr>
              <a:t>max_depth</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depth-3    train </a:t>
            </a:r>
            <a:r>
              <a:rPr sz="1700" i="0">
                <a:solidFill>
                  <a:srgbClr val="7DCEA0"/>
                </a:solidFill>
                <a:latin typeface="Consolas"/>
              </a:rPr>
              <a:t>{</a:t>
            </a:r>
            <a:r>
              <a:rPr sz="1700" i="0">
                <a:solidFill>
                  <a:srgbClr val="E8EDF2"/>
                </a:solidFill>
                <a:latin typeface="Consolas"/>
              </a:rPr>
              <a:t>shallow</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1">
                <a:solidFill>
                  <a:srgbClr val="8795A1"/>
                </a:solidFill>
                <a:latin typeface="Consolas"/>
              </a:rPr>
              <a:t># 4. Learning curve: would more data help?</a:t>
            </a:r>
          </a:p>
          <a:p>
            <a:pPr>
              <a:lnSpc>
                <a:spcPct val="100000"/>
              </a:lnSpc>
              <a:spcAft>
                <a:spcPts val="0"/>
              </a:spcAft>
            </a:pPr>
            <a:r>
              <a:rPr sz="1700" i="0">
                <a:solidFill>
                  <a:srgbClr val="E8EDF2"/>
                </a:solidFill>
                <a:latin typeface="Consolas"/>
              </a:rPr>
              <a:t>sizes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tr_sc</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va_sc</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learning_curve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DecisionTreeClassifier</a:t>
            </a:r>
            <a:r>
              <a:rPr sz="1700" i="0">
                <a:solidFill>
                  <a:srgbClr val="AEB6BF"/>
                </a:solidFill>
                <a:latin typeface="Consolas"/>
              </a:rPr>
              <a:t>(</a:t>
            </a:r>
            <a:r>
              <a:rPr sz="1700" i="0">
                <a:solidFill>
                  <a:srgbClr val="E8EDF2"/>
                </a:solidFill>
                <a:latin typeface="Consolas"/>
              </a:rPr>
              <a:t>max_depth</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cv</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train_sizes</a:t>
            </a:r>
            <a:r>
              <a:rPr sz="1700" i="0">
                <a:solidFill>
                  <a:srgbClr val="AEB6BF"/>
                </a:solidFill>
                <a:latin typeface="Consolas"/>
              </a:rPr>
              <a:t>=</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linspace</a:t>
            </a:r>
            <a:r>
              <a:rPr sz="1700" i="0">
                <a:solidFill>
                  <a:srgbClr val="AEB6BF"/>
                </a:solidFill>
                <a:latin typeface="Consolas"/>
              </a:rPr>
              <a:t>(</a:t>
            </a:r>
            <a:r>
              <a:rPr sz="1700" i="0">
                <a:solidFill>
                  <a:srgbClr val="F7DC6F"/>
                </a:solidFill>
                <a:latin typeface="Consolas"/>
              </a:rPr>
              <a:t>0.1</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8</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plt</a:t>
            </a:r>
            <a:r>
              <a:rPr sz="1700" i="0">
                <a:solidFill>
                  <a:srgbClr val="AEB6BF"/>
                </a:solidFill>
                <a:latin typeface="Consolas"/>
              </a:rPr>
              <a:t>.</a:t>
            </a:r>
            <a:r>
              <a:rPr sz="1700" i="0">
                <a:solidFill>
                  <a:srgbClr val="E8EDF2"/>
                </a:solidFill>
                <a:latin typeface="Consolas"/>
              </a:rPr>
              <a:t>plot</a:t>
            </a:r>
            <a:r>
              <a:rPr sz="1700" i="0">
                <a:solidFill>
                  <a:srgbClr val="AEB6BF"/>
                </a:solidFill>
                <a:latin typeface="Consolas"/>
              </a:rPr>
              <a:t>(</a:t>
            </a:r>
            <a:r>
              <a:rPr sz="1700" i="0">
                <a:solidFill>
                  <a:srgbClr val="E8EDF2"/>
                </a:solidFill>
                <a:latin typeface="Consolas"/>
              </a:rPr>
              <a:t>sizes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tr_sc</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label</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training</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plt</a:t>
            </a:r>
            <a:r>
              <a:rPr sz="1700" i="0">
                <a:solidFill>
                  <a:srgbClr val="AEB6BF"/>
                </a:solidFill>
                <a:latin typeface="Consolas"/>
              </a:rPr>
              <a:t>.</a:t>
            </a:r>
            <a:r>
              <a:rPr sz="1700" i="0">
                <a:solidFill>
                  <a:srgbClr val="E8EDF2"/>
                </a:solidFill>
                <a:latin typeface="Consolas"/>
              </a:rPr>
              <a:t>plot</a:t>
            </a:r>
            <a:r>
              <a:rPr sz="1700" i="0">
                <a:solidFill>
                  <a:srgbClr val="AEB6BF"/>
                </a:solidFill>
                <a:latin typeface="Consolas"/>
              </a:rPr>
              <a:t>(</a:t>
            </a:r>
            <a:r>
              <a:rPr sz="1700" i="0">
                <a:solidFill>
                  <a:srgbClr val="E8EDF2"/>
                </a:solidFill>
                <a:latin typeface="Consolas"/>
              </a:rPr>
              <a:t>sizes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va_sc</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label</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validation</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plt</a:t>
            </a:r>
            <a:r>
              <a:rPr sz="1700" i="0">
                <a:solidFill>
                  <a:srgbClr val="AEB6BF"/>
                </a:solidFill>
                <a:latin typeface="Consolas"/>
              </a:rPr>
              <a:t>.</a:t>
            </a:r>
            <a:r>
              <a:rPr sz="1700" i="0">
                <a:solidFill>
                  <a:srgbClr val="E8EDF2"/>
                </a:solidFill>
                <a:latin typeface="Consolas"/>
              </a:rPr>
              <a:t>xlabel</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training examples</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plt</a:t>
            </a:r>
            <a:r>
              <a:rPr sz="1700" i="0">
                <a:solidFill>
                  <a:srgbClr val="AEB6BF"/>
                </a:solidFill>
                <a:latin typeface="Consolas"/>
              </a:rPr>
              <a:t>.</a:t>
            </a:r>
            <a:r>
              <a:rPr sz="1700" i="0">
                <a:solidFill>
                  <a:srgbClr val="E8EDF2"/>
                </a:solidFill>
                <a:latin typeface="Consolas"/>
              </a:rPr>
              <a:t>ylabel</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accuracy</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plt</a:t>
            </a:r>
            <a:r>
              <a:rPr sz="1700" i="0">
                <a:solidFill>
                  <a:srgbClr val="AEB6BF"/>
                </a:solidFill>
                <a:latin typeface="Consolas"/>
              </a:rPr>
              <a:t>.</a:t>
            </a:r>
            <a:r>
              <a:rPr sz="1700" i="0">
                <a:solidFill>
                  <a:srgbClr val="E8EDF2"/>
                </a:solidFill>
                <a:latin typeface="Consolas"/>
              </a:rPr>
              <a:t>legend</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plt</a:t>
            </a:r>
            <a:r>
              <a:rPr sz="1700" i="0">
                <a:solidFill>
                  <a:srgbClr val="AEB6BF"/>
                </a:solidFill>
                <a:latin typeface="Consolas"/>
              </a:rPr>
              <a:t>.</a:t>
            </a:r>
            <a:r>
              <a:rPr sz="1700" i="0">
                <a:solidFill>
                  <a:srgbClr val="E8EDF2"/>
                </a:solidFill>
                <a:latin typeface="Consolas"/>
              </a:rPr>
              <a:t>show</a:t>
            </a:r>
            <a:r>
              <a:rPr sz="1700" i="0">
                <a:solidFill>
                  <a:srgbClr val="AEB6BF"/>
                </a:solidFill>
                <a:latin typeface="Consolas"/>
              </a:rPr>
              <a:t>(</a:t>
            </a:r>
            <a:r>
              <a:rPr sz="1700" i="0">
                <a:solidFill>
                  <a:srgbClr val="AEB6BF"/>
                </a:solidFill>
                <a:latin typeface="Consolas"/>
              </a:rPr>
              <a:t>)</a:t>
            </a:r>
          </a:p>
        </p:txBody>
      </p:sp>
      <p:sp>
        <p:nvSpPr>
          <p:cNvPr id="14" name="!!code-num"/>
          <p:cNvSpPr txBox="1"/>
          <p:nvPr/>
        </p:nvSpPr>
        <p:spPr>
          <a:xfrm>
            <a:off x="768096" y="2066543"/>
            <a:ext cx="393192" cy="347776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16</a:t>
            </a:r>
          </a:p>
          <a:p>
            <a:pPr algn="r">
              <a:lnSpc>
                <a:spcPct val="100000"/>
              </a:lnSpc>
            </a:pPr>
            <a:r>
              <a:rPr sz="1700">
                <a:solidFill>
                  <a:srgbClr val="4F5D6A"/>
                </a:solidFill>
                <a:latin typeface="Consolas"/>
              </a:rPr>
              <a:t>17</a:t>
            </a:r>
          </a:p>
          <a:p>
            <a:pPr algn="r">
              <a:lnSpc>
                <a:spcPct val="100000"/>
              </a:lnSpc>
            </a:pPr>
            <a:r>
              <a:rPr sz="1700">
                <a:solidFill>
                  <a:srgbClr val="4F5D6A"/>
                </a:solidFill>
                <a:latin typeface="Consolas"/>
              </a:rPr>
              <a:t>18</a:t>
            </a:r>
          </a:p>
          <a:p>
            <a:pPr algn="r">
              <a:lnSpc>
                <a:spcPct val="100000"/>
              </a:lnSpc>
            </a:pPr>
            <a:r>
              <a:rPr sz="1700">
                <a:solidFill>
                  <a:srgbClr val="4F5D6A"/>
                </a:solidFill>
                <a:latin typeface="Consolas"/>
              </a:rPr>
              <a:t>19</a:t>
            </a:r>
          </a:p>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a:p>
            <a:pPr algn="r">
              <a:lnSpc>
                <a:spcPct val="100000"/>
              </a:lnSpc>
            </a:pPr>
            <a:r>
              <a:rPr sz="1700">
                <a:solidFill>
                  <a:srgbClr val="4F5D6A"/>
                </a:solidFill>
                <a:latin typeface="Consolas"/>
              </a:rPr>
              <a:t>25</a:t>
            </a:r>
          </a:p>
          <a:p>
            <a:pPr algn="r">
              <a:lnSpc>
                <a:spcPct val="100000"/>
              </a:lnSpc>
            </a:pPr>
            <a:r>
              <a:rPr sz="1700">
                <a:solidFill>
                  <a:srgbClr val="4F5D6A"/>
                </a:solidFill>
                <a:latin typeface="Consolas"/>
              </a:rPr>
              <a:t>26</a:t>
            </a:r>
          </a:p>
          <a:p>
            <a:pPr algn="r">
              <a:lnSpc>
                <a:spcPct val="100000"/>
              </a:lnSpc>
            </a:pPr>
            <a:r>
              <a:rPr sz="1700">
                <a:solidFill>
                  <a:srgbClr val="4F5D6A"/>
                </a:solidFill>
                <a:latin typeface="Consolas"/>
              </a:rPr>
              <a:t>27</a:t>
            </a:r>
          </a:p>
          <a:p>
            <a:pPr algn="r">
              <a:lnSpc>
                <a:spcPct val="100000"/>
              </a:lnSpc>
            </a:pPr>
            <a:r>
              <a:rPr sz="1700">
                <a:solidFill>
                  <a:srgbClr val="4F5D6A"/>
                </a:solidFill>
                <a:latin typeface="Consolas"/>
              </a:rPr>
              <a:t>28</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73     </a:t>
            </a:r>
            <a:fld id="{6CD687A9-FBE5-430F-B551-D5245109BADA}"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Read the curve:</a:t>
            </a:r>
            <a:r>
              <a:rPr sz="2300" b="0" i="0">
                <a:solidFill>
                  <a:srgbClr val="1C252B"/>
                </a:solidFill>
                <a:latin typeface="Segoe UI"/>
              </a:rPr>
              <a:t> still converging </a:t>
            </a:r>
            <a:r>
              <a:rPr sz="2300" b="0" i="0">
                <a:solidFill>
                  <a:srgbClr val="1C252B"/>
                </a:solidFill>
                <a:latin typeface="Cambria"/>
              </a:rPr>
              <a:t>⇒</a:t>
            </a:r>
            <a:r>
              <a:rPr sz="2300" b="0" i="0">
                <a:solidFill>
                  <a:srgbClr val="1C252B"/>
                </a:solidFill>
                <a:latin typeface="Segoe UI"/>
              </a:rPr>
              <a:t> collect more data. Converged with a gap </a:t>
            </a:r>
            <a:r>
              <a:rPr sz="2300" b="0" i="0">
                <a:solidFill>
                  <a:srgbClr val="1C252B"/>
                </a:solidFill>
                <a:latin typeface="Cambria"/>
              </a:rPr>
              <a:t>⇒</a:t>
            </a:r>
            <a:r>
              <a:rPr sz="2300" b="0" i="0">
                <a:solidFill>
                  <a:srgbClr val="1C252B"/>
                </a:solidFill>
                <a:latin typeface="Segoe UI"/>
              </a:rPr>
              <a:t> regularise. Converged with no gap but low </a:t>
            </a:r>
            <a:r>
              <a:rPr sz="2300" b="0" i="0">
                <a:solidFill>
                  <a:srgbClr val="1C252B"/>
                </a:solidFill>
                <a:latin typeface="Cambria"/>
              </a:rPr>
              <a:t>⇒</a:t>
            </a:r>
            <a:r>
              <a:rPr sz="2300" b="0" i="0">
                <a:solidFill>
                  <a:srgbClr val="1C252B"/>
                </a:solidFill>
                <a:latin typeface="Segoe UI"/>
              </a:rPr>
              <a:t> the model is too simple or the features are inadequate.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scores 0.99 on training and 0.61 on validation. Name the problem and give two remedies.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11  ·  Machine Learning Fundamentals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75  ·  answers in Appendix D     </a:t>
            </a:r>
            <a:fld id="{8A8D46E7-C5EA-4659-8E16-AE152DFC836C}"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scores 0.99 on training and 0.61 on validation. Name the problem and give two remedies.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Overfitting (high variance). Remedies: simplify the model or regularise; obtain more training data; use early stopping; reduce the feature count.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  answers in Appendix D     </a:t>
            </a:r>
            <a:fld id="{BB0AF54A-E4ED-4D2E-938A-7F3EBE292B64}"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979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the test set be used only once, and what exactly goes wrong on the twentieth use?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11  ·  Machine Learning Fundamentals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75  ·  answers in Appendix D     </a:t>
            </a:r>
            <a:fld id="{FF64A99F-16E4-4125-A9DC-D830D4C96005}"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can the test set be used only once, and what exactly goes wrong on the twentieth use?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every look at the test score followed by a change is a form of fitting to it. After twenty such iterations the test set has effectively become a validation set, and its score no longer estimates performance on genuinely unseen data.</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  answers in Appendix D     </a:t>
            </a:r>
            <a:fld id="{63F6EA75-A922-4E36-B38C-9D2A2CDBA282}"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5210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have 400 sensor readings from each of 10 machines. Should you split by row or by machine? Justify.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11  ·  Machine Learning Fundamentals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75  ·  answers in Appendix D     </a:t>
            </a:r>
            <a:fld id="{42F6CAF2-0266-47CE-8E1A-1E94AC46639D}"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have 400 sensor readings from each of 10 machines. Should you split by row or by machine? Justify.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By </a:t>
            </a:r>
            <a:r>
              <a:rPr sz="2200" b="1" i="0">
                <a:solidFill>
                  <a:srgbClr val="1C252B"/>
                </a:solidFill>
                <a:latin typeface="Segoe UI"/>
              </a:rPr>
              <a:t>machine</a:t>
            </a:r>
            <a:r>
              <a:rPr sz="2200" b="0" i="0">
                <a:solidFill>
                  <a:srgbClr val="1C252B"/>
                </a:solidFill>
                <a:latin typeface="Segoe UI"/>
              </a:rPr>
              <a:t>. Readings from the same machine are highly correlated, so splitting by row would put near-identical rows in both train and test — leakage that inflates the score.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  answers in Appendix D     </a:t>
            </a:r>
            <a:fld id="{D33B62BC-B376-4F30-B5AF-32BD2F3F1F0E}"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382A4AE8-A824-4925-BE74-C44A648505F6}"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Learning means </a:t>
            </a:r>
            <a:r>
              <a:rPr sz="2000" b="0" i="1">
                <a:solidFill>
                  <a:srgbClr val="1C252B"/>
                </a:solidFill>
                <a:latin typeface="Segoe UI"/>
              </a:rPr>
              <a:t>generalising</a:t>
            </a:r>
            <a:r>
              <a:rPr sz="2000" b="0" i="0">
                <a:solidFill>
                  <a:srgbClr val="1C252B"/>
                </a:solidFill>
                <a:latin typeface="Segoe UI"/>
              </a:rPr>
              <a:t>, not memorising. Everything here protects that distinction.</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Choose the paradigm by asking whether examples of the right answer exist; labelling cost usually decides the project.</a:t>
            </a:r>
          </a:p>
        </p:txBody>
      </p:sp>
      <p:sp>
        <p:nvSpPr>
          <p:cNvPr id="13" name="!!sb2">
            <a:extLst>
              <a:ext uri="{C183D7F6-B498-43B3-948B-1728B52AA6E4}">
                <adec:decorative xmlns:adec="http://schemas.microsoft.com/office/drawing/2017/decorative" val="1"/>
              </a:ext>
            </a:extLst>
          </p:cNvPr>
          <p:cNvSpPr/>
          <p:nvPr/>
        </p:nvSpPr>
        <p:spPr>
          <a:xfrm>
            <a:off x="658368" y="314858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0344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3944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Train fits parameters, validation chooses models, test is used once. Stratify for imbalance and split by entity when rows are grouped.</a:t>
            </a:r>
          </a:p>
        </p:txBody>
      </p:sp>
      <p:sp>
        <p:nvSpPr>
          <p:cNvPr id="16" name="!!sb3">
            <a:extLst>
              <a:ext uri="{C183D7F6-B498-43B3-948B-1728B52AA6E4}">
                <adec:decorative xmlns:adec="http://schemas.microsoft.com/office/drawing/2017/decorative" val="1"/>
              </a:ext>
            </a:extLst>
          </p:cNvPr>
          <p:cNvSpPr/>
          <p:nvPr/>
        </p:nvSpPr>
        <p:spPr>
          <a:xfrm>
            <a:off x="658368" y="396544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4"/>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Overfitting is low train / high validation error; underfitting is both high. Learning curves tell you which, and whether more data would help.</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Bias–variance: simple models are rigid and stable, complex ones are flexible and jumpy. The best model is at the balance point, not at either end.</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 the baseline before the model. No free lunch means there is no universally best algorithm.</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92220050-5D7D-4773-82BC-CE3904CD112C}"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High training accuracy with much lower validation accuracy indicates: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underfitting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overfitting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high bias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leakage only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AAD0B527-B513-4C1C-96FC-A7F7D2955AE5}"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simple, rigid model typically has: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high bias, low variance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low bias, high variance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both high</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both low</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11  ·  Machine Learning Fundamentals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7C2DBB53-2D0B-420F-9D75-A26EF3AF70D0}"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role of the validation set and why it is needed given that a test set already exists.</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two sensible baselines for a regression problem and one for a time series.</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What does a learning curve whose two lines have converged at a high error tell you? What would you do next?</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have 40 sprints of project data and 60 candidate features. Explain the specific overfitting danger, and describe the model and validation strategy you would choose instead of a complex learner.</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colleague reports 99.4% accuracy detecting network intrusions where 0.6% of traffic is malicious. Explain why this number is uninformative, name the baseline it must be compared against, and state what you would ask to see instead.</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12 — Supervised Learning I: Regression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11, pages 70–75</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Split, baseline, diagnose; fit &amp; regularise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11  ·  Machine Learning Fundamentals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F43F5240-B465-4335-85A5-0D8D31409BCB}"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Machine Learning Fundamentals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