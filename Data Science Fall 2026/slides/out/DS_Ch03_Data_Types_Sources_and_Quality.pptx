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71.svg" ContentType="image/svg+xml"/>
  <Override PartName="/ppt/media/image73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77F05D8-95F1-4608-9063-80CCCDBD8CCD}">
          <p14:sldIdLst>
            <p14:sldId id="256"/>
            <p14:sldId id="257"/>
            <p14:sldId id="258"/>
            <p14:sldId id="259"/>
            <p14:sldId id="260"/>
          </p14:sldIdLst>
        </p14:section>
        <p14:section name="3.1 The Shape of a Dataset" id="{F0413194-FA32-41ED-8FA2-6E8A3A55DF2D}">
          <p14:sldIdLst>
            <p14:sldId id="261"/>
            <p14:sldId id="262"/>
            <p14:sldId id="263"/>
          </p14:sldIdLst>
        </p14:section>
        <p14:section name="3.2 Three Kinds of Data" id="{A8E3F9F1-734A-4C21-9B77-2C91F91BF9D5}">
          <p14:sldIdLst>
            <p14:sldId id="264"/>
          </p14:sldIdLst>
        </p14:section>
        <p14:section name="3.3 Measurement Scales" id="{93D5FD4C-3538-4B3C-B444-42D678930530}">
          <p14:sldIdLst>
            <p14:sldId id="265"/>
            <p14:sldId id="266"/>
            <p14:sldId id="267"/>
            <p14:sldId id="268"/>
          </p14:sldIdLst>
        </p14:section>
        <p14:section name="3.4 Tidy Data" id="{B0204D16-781B-4937-8280-0884878B5F16}">
          <p14:sldIdLst>
            <p14:sldId id="269"/>
            <p14:sldId id="270"/>
            <p14:sldId id="271"/>
          </p14:sldIdLst>
        </p14:section>
        <p14:section name="3.5 Data Quality" id="{668C919B-750B-4A55-8DA6-32D5E3E09E7B}">
          <p14:sldIdLst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3.6 Provenance and Metadata" id="{1B1B4332-72D0-40FD-935E-95AEE42575EE}">
          <p14:sldIdLst>
            <p14:sldId id="278"/>
            <p14:sldId id="279"/>
            <p14:sldId id="280"/>
          </p14:sldIdLst>
        </p14:section>
        <p14:section name="Four lenses" id="{8191E6B5-5211-428C-85C0-6E6B492AA348}">
          <p14:sldIdLst>
            <p14:sldId id="281"/>
            <p14:sldId id="282"/>
            <p14:sldId id="283"/>
            <p14:sldId id="284"/>
            <p14:sldId id="285"/>
          </p14:sldIdLst>
        </p14:section>
        <p14:section name="Lab" id="{19E15B65-6CEF-45A2-9EE0-74CF16BC4B0E}">
          <p14:sldIdLst>
            <p14:sldId id="286"/>
            <p14:sldId id="287"/>
            <p14:sldId id="288"/>
            <p14:sldId id="289"/>
          </p14:sldIdLst>
        </p14:section>
        <p14:section name="Checkpoint" id="{B7A033D5-543C-451F-831C-17CC2B76CADB}">
          <p14:sldIdLst>
            <p14:sldId id="290"/>
            <p14:sldId id="291"/>
            <p14:sldId id="292"/>
            <p14:sldId id="293"/>
            <p14:sldId id="294"/>
            <p14:sldId id="295"/>
          </p14:sldIdLst>
        </p14:section>
        <p14:section name="Wrap-up" id="{BC3A83D4-1C14-460E-AC1A-7EA673F27E75}">
          <p14:sldIdLst>
            <p14:sldId id="296"/>
            <p14:sldId id="297"/>
            <p14:sldId id="298"/>
            <p14:sldId id="299"/>
            <p14:sldId id="30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3: Data: Types, Sources and Quality. Part 1 — Foundations of Data. Week 2: Data and the mathematical toolkit. Handout pages 17–22.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 the chapter. Before you start: Chapter 2 — the framing questions, especially “one row is one what?”, which this chapter makes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these out: they are the chapter's contract with the room. Each click adds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define these now; they arrive one at a time. This slide is for the students' notes. Terms: observation; feature; structured / semi-structured / unstructured; nominal, ordinal, interval, ratio; tidy data; metadata; provenance; data quality dimensions; MCAR, MAR, MNAR; granularity.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route through the chapter. Each row is a link: click it to jump to that section in the slide show.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apparently trivial question “what is one row?” is the source of more confusion than any other in applied work, because the same underlying reality admits several answers.</a:t>
            </a:r>
          </a:p>
          <a:p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3.1 (handout p. 18): The three kinds of data. Most organisational data is not the tidy table beginners picture; the majority is semi-structured logs and unstructured documents, which is why Chapters 7, 20 and 23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Knowing that a column contains numbers is not enough. Postcodes are numbers you must never average; temperatures in Celsius are numbers you may average but must not double.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table row by row: pick the row the room is most likely to get wrong and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 3.2 (handout p. 19): Messy versus tidy layout of the same attendance data. On the left, week is not a variable but three column names, so you cannot filter, group or plot by it. Reshaping to the right is the single most common preparation step in real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click adds one step of the working. Ask for the next number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a value is missing determines what you are allowed to do about it. This is one of the few places in the course where a philosophical distinction has an immediate practical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Pause. Name the question this section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method, four domains. Each of the next four slides opens one lens in full.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Analytics. Structured: enrolment records, grades, demographics. Semi-structured: VLE clickstream (JSON events with timestamps). Unstructured: forum posts, essay submissions. Key quality risk: uniqueness — one human may hold several accounts across systems, and joining them wrongly either fragments or fabricates a student. Typical missingness: MNAR, because disengaged students stop generating data at exactly the moment you most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Management. Structured: issue trackers, timesheets, commit counts. Semi-structured: CI/CD pipeline logs. Unstructured: retrospective notes, requirement documents. Key quality risk: accuracy — effort is self-reported and rounded to comfortable numbers. Typical missingness: MAR, since teams under pressure log less, and “under pressure” is itself observable from the sprint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Internet of Things. Structured: time-stamped numeric telemetry, one row per sensor per interval. Semi-structured: MQTT payloads with device-specific fields. Unstructured: camera and audio streams. Key quality risk: validity and timeliness — clock drift across a fleet makes timestamps disagree, and a reading that arrives two hours late is not the same as a reading that is on time. Typical missingness: MCAR from packet loss, but MNAR when a failing sensor stops reporting — and the failing ones are the ones you care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Cybersecurity. Structured: NetFlow records, authentication events. Semi-structured: syslog, firewall and SIEM logs. Unstructured: malware binaries, phishing email bodies. Key quality risk: completeness and consistency — log sources fail silently, and an attacker’s first act is often to clear or disable logging. Typical missingness: MNAR by design, because the adversary is deliberately creating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this on any new dataset before doing anything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Set-up. 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code aloud; ask what each line would print before running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box aloud, then ask for an example from the room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(a) nominal — it is an identifier, not a quantity; (b) ordinal; (c) interval — 0°C is not the absence of temperature; (d) ratio.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The mean is dragged towards −999, and the variance is inflated enormously; both become meaningless. The mechanism is most likely MNAR, since a sensor fails to obtain a reading for reasons related to the condition being measured — so encode the absence rather than imputing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room. Do not advance until someone commits to an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(Appendix D): Aggregation. You lose the time within the week at which attendance occurred, the identity of the specific sessions missed, and any within-week pattern. Whether that matters depends on the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room to say each takeaway before you reveal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a show of hands for each option before discussing. (The handout does not print MCQ answers.)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these for independent study. Model answers are not printed in the handout.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Close. NEXT: Chapter 4 — The Mathematical Toolkit. READ: Handout Chapter 3, pages 17–22. THIS WEEK'S LAB: Ten-minute audit; distance &amp; descent.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3000" kern="1200" b="0">
          <a:solidFill>
            <a:srgbClr val="1A527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sv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10.svg"/><Relationship Id="rId4" Type="http://schemas.openxmlformats.org/officeDocument/2006/relationships/notesSlide" Target="../notesSlides/notesSlide5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0.xml"/><Relationship Id="rId8" Type="http://schemas.openxmlformats.org/officeDocument/2006/relationships/slide" Target="slide14.xml"/><Relationship Id="rId9" Type="http://schemas.openxmlformats.org/officeDocument/2006/relationships/slide" Target="slide17.xml"/><Relationship Id="rId10" Type="http://schemas.openxmlformats.org/officeDocument/2006/relationships/slide" Target="slide2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2.sv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17.sv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19.sv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21.sv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22.sv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25.sv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26.sv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image" Target="../media/image27.sv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Relationship Id="rId3" Type="http://schemas.openxmlformats.org/officeDocument/2006/relationships/image" Target="../media/image28.sv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Relationship Id="rId3" Type="http://schemas.openxmlformats.org/officeDocument/2006/relationships/image" Target="../media/image31.sv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Relationship Id="rId3" Type="http://schemas.openxmlformats.org/officeDocument/2006/relationships/image" Target="../media/image32.svg"/><Relationship Id="rId4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Relationship Id="rId4" Type="http://schemas.openxmlformats.org/officeDocument/2006/relationships/image" Target="../media/image35.png"/><Relationship Id="rId5" Type="http://schemas.openxmlformats.org/officeDocument/2006/relationships/image" Target="../media/image36.svg"/><Relationship Id="rId6" Type="http://schemas.openxmlformats.org/officeDocument/2006/relationships/image" Target="../media/image37.png"/><Relationship Id="rId7" Type="http://schemas.openxmlformats.org/officeDocument/2006/relationships/image" Target="../media/image38.svg"/><Relationship Id="rId8" Type="http://schemas.openxmlformats.org/officeDocument/2006/relationships/image" Target="../media/image39.png"/><Relationship Id="rId9" Type="http://schemas.openxmlformats.org/officeDocument/2006/relationships/image" Target="../media/image40.svg"/><Relationship Id="rId10" Type="http://schemas.openxmlformats.org/officeDocument/2006/relationships/image" Target="../media/image41.png"/><Relationship Id="rId11" Type="http://schemas.openxmlformats.org/officeDocument/2006/relationships/image" Target="../media/image42.svg"/><Relationship Id="rId1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Relationship Id="rId4" Type="http://schemas.openxmlformats.org/officeDocument/2006/relationships/image" Target="../media/image35.png"/><Relationship Id="rId5" Type="http://schemas.openxmlformats.org/officeDocument/2006/relationships/image" Target="../media/image45.svg"/><Relationship Id="rId6" Type="http://schemas.openxmlformats.org/officeDocument/2006/relationships/image" Target="../media/image37.png"/><Relationship Id="rId7" Type="http://schemas.openxmlformats.org/officeDocument/2006/relationships/image" Target="../media/image46.svg"/><Relationship Id="rId8" Type="http://schemas.openxmlformats.org/officeDocument/2006/relationships/image" Target="../media/image39.png"/><Relationship Id="rId9" Type="http://schemas.openxmlformats.org/officeDocument/2006/relationships/image" Target="../media/image47.svg"/><Relationship Id="rId10" Type="http://schemas.openxmlformats.org/officeDocument/2006/relationships/image" Target="../media/image41.png"/><Relationship Id="rId11" Type="http://schemas.openxmlformats.org/officeDocument/2006/relationships/image" Target="../media/image48.svg"/><Relationship Id="rId1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9.png"/><Relationship Id="rId3" Type="http://schemas.openxmlformats.org/officeDocument/2006/relationships/image" Target="../media/image50.svg"/><Relationship Id="rId4" Type="http://schemas.openxmlformats.org/officeDocument/2006/relationships/image" Target="../media/image37.png"/><Relationship Id="rId5" Type="http://schemas.openxmlformats.org/officeDocument/2006/relationships/image" Target="../media/image51.svg"/><Relationship Id="rId6" Type="http://schemas.openxmlformats.org/officeDocument/2006/relationships/image" Target="../media/image35.png"/><Relationship Id="rId7" Type="http://schemas.openxmlformats.org/officeDocument/2006/relationships/image" Target="../media/image52.svg"/><Relationship Id="rId8" Type="http://schemas.openxmlformats.org/officeDocument/2006/relationships/image" Target="../media/image39.png"/><Relationship Id="rId9" Type="http://schemas.openxmlformats.org/officeDocument/2006/relationships/image" Target="../media/image53.svg"/><Relationship Id="rId10" Type="http://schemas.openxmlformats.org/officeDocument/2006/relationships/image" Target="../media/image41.png"/><Relationship Id="rId11" Type="http://schemas.openxmlformats.org/officeDocument/2006/relationships/image" Target="../media/image54.svg"/><Relationship Id="rId1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5.png"/><Relationship Id="rId3" Type="http://schemas.openxmlformats.org/officeDocument/2006/relationships/image" Target="../media/image56.svg"/><Relationship Id="rId4" Type="http://schemas.openxmlformats.org/officeDocument/2006/relationships/image" Target="../media/image39.png"/><Relationship Id="rId5" Type="http://schemas.openxmlformats.org/officeDocument/2006/relationships/image" Target="../media/image57.svg"/><Relationship Id="rId6" Type="http://schemas.openxmlformats.org/officeDocument/2006/relationships/image" Target="../media/image35.png"/><Relationship Id="rId7" Type="http://schemas.openxmlformats.org/officeDocument/2006/relationships/image" Target="../media/image58.svg"/><Relationship Id="rId8" Type="http://schemas.openxmlformats.org/officeDocument/2006/relationships/image" Target="../media/image37.png"/><Relationship Id="rId9" Type="http://schemas.openxmlformats.org/officeDocument/2006/relationships/image" Target="../media/image59.svg"/><Relationship Id="rId10" Type="http://schemas.openxmlformats.org/officeDocument/2006/relationships/image" Target="../media/image41.png"/><Relationship Id="rId11" Type="http://schemas.openxmlformats.org/officeDocument/2006/relationships/image" Target="../media/image60.svg"/><Relationship Id="rId1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1.png"/><Relationship Id="rId3" Type="http://schemas.openxmlformats.org/officeDocument/2006/relationships/image" Target="../media/image62.svg"/><Relationship Id="rId4" Type="http://schemas.openxmlformats.org/officeDocument/2006/relationships/image" Target="../media/image41.png"/><Relationship Id="rId5" Type="http://schemas.openxmlformats.org/officeDocument/2006/relationships/image" Target="../media/image63.svg"/><Relationship Id="rId6" Type="http://schemas.openxmlformats.org/officeDocument/2006/relationships/image" Target="../media/image35.png"/><Relationship Id="rId7" Type="http://schemas.openxmlformats.org/officeDocument/2006/relationships/image" Target="../media/image64.svg"/><Relationship Id="rId8" Type="http://schemas.openxmlformats.org/officeDocument/2006/relationships/image" Target="../media/image37.png"/><Relationship Id="rId9" Type="http://schemas.openxmlformats.org/officeDocument/2006/relationships/image" Target="../media/image65.svg"/><Relationship Id="rId10" Type="http://schemas.openxmlformats.org/officeDocument/2006/relationships/image" Target="../media/image39.png"/><Relationship Id="rId11" Type="http://schemas.openxmlformats.org/officeDocument/2006/relationships/image" Target="../media/image66.svg"/><Relationship Id="rId1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68.sv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69.svg"/><Relationship Id="rId4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70.sv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7.png"/><Relationship Id="rId3" Type="http://schemas.openxmlformats.org/officeDocument/2006/relationships/image" Target="../media/image71.sv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3.sv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5.svg"/><Relationship Id="rId4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6.svg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7.svg"/><Relationship Id="rId4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2.png"/><Relationship Id="rId3" Type="http://schemas.openxmlformats.org/officeDocument/2006/relationships/image" Target="../media/image78.svg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4.png"/><Relationship Id="rId3" Type="http://schemas.openxmlformats.org/officeDocument/2006/relationships/image" Target="../media/image79.svg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0.png"/><Relationship Id="rId3" Type="http://schemas.openxmlformats.org/officeDocument/2006/relationships/image" Target="../media/image81.svg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83.svg"/><Relationship Id="rId4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84.sv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2.png"/><Relationship Id="rId3" Type="http://schemas.openxmlformats.org/officeDocument/2006/relationships/image" Target="../media/image85.svg"/><Relationship Id="rId4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316384"/>
                </a:solidFill>
                <a:latin typeface="Segoe UI Black"/>
              </a:rPr>
              <a:t>03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2304288"/>
            <a:ext cx="8503920" cy="192024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600" b="0">
                <a:solidFill>
                  <a:srgbClr val="FFFFFF"/>
                </a:solidFill>
                <a:latin typeface="Segoe UI Semibold"/>
              </a:rPr>
              <a:t>Data: Types, Sources and Quality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29844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tpart"/>
          <p:cNvSpPr txBox="1"/>
          <p:nvPr/>
        </p:nvSpPr>
        <p:spPr>
          <a:xfrm>
            <a:off x="658368" y="1517904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CFD9"/>
                </a:solidFill>
                <a:latin typeface="Segoe UI"/>
              </a:rPr>
              <a:t>PART I  ·  FOUNDATIONS OF DATA</a:t>
            </a:r>
          </a:p>
        </p:txBody>
      </p:sp>
      <p:sp>
        <p:nvSpPr>
          <p:cNvPr id="6" name="!!tch"/>
          <p:cNvSpPr txBox="1"/>
          <p:nvPr/>
        </p:nvSpPr>
        <p:spPr>
          <a:xfrm>
            <a:off x="658368" y="186537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80">
                <a:solidFill>
                  <a:srgbClr val="BFCFD9"/>
                </a:solidFill>
                <a:latin typeface="Segoe UI"/>
              </a:rPr>
              <a:t>CHAPTER 3  ·  WEEK 2</a:t>
            </a:r>
          </a:p>
        </p:txBody>
      </p:sp>
      <p:sp>
        <p:nvSpPr>
          <p:cNvPr id="7" name="!!tsub"/>
          <p:cNvSpPr txBox="1"/>
          <p:nvPr/>
        </p:nvSpPr>
        <p:spPr>
          <a:xfrm>
            <a:off x="658368" y="4315968"/>
            <a:ext cx="850392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1DCE4"/>
                </a:solidFill>
                <a:latin typeface="Segoe UI"/>
              </a:rPr>
              <a:t>Data Science — From Foundations to Intelligent Systems</a:t>
            </a:r>
          </a:p>
        </p:txBody>
      </p:sp>
      <p:sp>
        <p:nvSpPr>
          <p:cNvPr id="8" name="!!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5285232"/>
            <a:ext cx="12191695" cy="1572767"/>
          </a:xfrm>
          <a:prstGeom prst="rect">
            <a:avLst/>
          </a:prstGeom>
          <a:solidFill>
            <a:srgbClr val="133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ab"/>
          <p:cNvSpPr txBox="1"/>
          <p:nvPr/>
        </p:nvSpPr>
        <p:spPr>
          <a:xfrm>
            <a:off x="658368" y="5541264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A5B5BE"/>
                </a:solidFill>
                <a:latin typeface="Segoe UI"/>
              </a:rPr>
              <a:t>LECTURER</a:t>
            </a:r>
          </a:p>
        </p:txBody>
      </p:sp>
      <p:sp>
        <p:nvSpPr>
          <p:cNvPr id="10" name="!!author"/>
          <p:cNvSpPr txBox="1"/>
          <p:nvPr/>
        </p:nvSpPr>
        <p:spPr>
          <a:xfrm>
            <a:off x="658368" y="577900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Dr. Mustafa Hameed</a:t>
            </a:r>
          </a:p>
        </p:txBody>
      </p:sp>
      <p:sp>
        <p:nvSpPr>
          <p:cNvPr id="11" name="!!dept"/>
          <p:cNvSpPr txBox="1"/>
          <p:nvPr/>
        </p:nvSpPr>
        <p:spPr>
          <a:xfrm>
            <a:off x="658368" y="6181344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DC8CF"/>
                </a:solidFill>
                <a:latin typeface="Segoe UI"/>
              </a:rPr>
              <a:t>Department of Information Technology  ·  BSIT · Fall 2026</a:t>
            </a:r>
          </a:p>
        </p:txBody>
      </p:sp>
      <p:sp>
        <p:nvSpPr>
          <p:cNvPr id="12" name="!!uni"/>
          <p:cNvSpPr txBox="1"/>
          <p:nvPr/>
        </p:nvSpPr>
        <p:spPr>
          <a:xfrm>
            <a:off x="5205818" y="5687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60">
                <a:solidFill>
                  <a:srgbClr val="FFFFFF"/>
                </a:solidFill>
                <a:latin typeface="Segoe UI"/>
              </a:rPr>
              <a:t>THE ISLAMIA UNIVERSITY OF BAHAWALPUR</a:t>
            </a:r>
          </a:p>
        </p:txBody>
      </p:sp>
      <p:sp>
        <p:nvSpPr>
          <p:cNvPr id="13" name="!!uni2"/>
          <p:cNvSpPr txBox="1"/>
          <p:nvPr/>
        </p:nvSpPr>
        <p:spPr>
          <a:xfrm>
            <a:off x="5205818" y="59618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5B5BE"/>
                </a:solidFill>
                <a:latin typeface="Segoe UI"/>
              </a:rPr>
              <a:t>Bahawalpur, Pakistan</a:t>
            </a:r>
          </a:p>
        </p:txBody>
      </p:sp>
      <p:pic>
        <p:nvPicPr>
          <p:cNvPr id="14" name="!!logo-iub-logo-white" descr="The Islamia University of Bahawalpu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98" y="5486400"/>
            <a:ext cx="904084" cy="896112"/>
          </a:xfrm>
          <a:prstGeom prst="rect">
            <a:avLst/>
          </a:prstGeom>
        </p:spPr>
      </p:pic>
      <p:pic>
        <p:nvPicPr>
          <p:cNvPr id="15" name="!!logo-dit-logo" descr="Department of Information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3614" y="5486400"/>
            <a:ext cx="869712" cy="896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Where this chapter sits</a:t>
            </a:r>
          </a:p>
        </p:txBody>
      </p:sp>
      <p:pic>
        <p:nvPicPr>
          <p:cNvPr id="3" name="!!kicker-icon" descr="map-signs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THE COURSE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17     </a:t>
            </a:r>
            <a:fld id="{28AEA444-62E3-42FF-B734-D59CC042503A}" type="slidenum">
              <a:rPr lang="en-GB" sz="1000">
                <a:solidFill>
                  <a:srgbClr val="8795A1"/>
                </a:solidFill>
                <a:latin typeface="Segoe UI"/>
              </a:rPr>
              <a:t>2</a:t>
            </a:fld>
          </a:p>
        </p:txBody>
      </p:sp>
      <p:sp>
        <p:nvSpPr>
          <p:cNvPr id="7" name="!!rp1"/>
          <p:cNvSpPr txBox="1"/>
          <p:nvPr/>
        </p:nvSpPr>
        <p:spPr>
          <a:xfrm>
            <a:off x="777240" y="1755648"/>
            <a:ext cx="194532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A5276"/>
                </a:solidFill>
                <a:latin typeface="Segoe UI"/>
              </a:rPr>
              <a:t>PART I</a:t>
            </a:r>
          </a:p>
        </p:txBody>
      </p:sp>
      <p:sp>
        <p:nvSpPr>
          <p:cNvPr id="8" name="!!rp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029967"/>
            <a:ext cx="1945328" cy="4572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rp2"/>
          <p:cNvSpPr txBox="1"/>
          <p:nvPr/>
        </p:nvSpPr>
        <p:spPr>
          <a:xfrm>
            <a:off x="3051752" y="1755648"/>
            <a:ext cx="107133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</a:t>
            </a:r>
          </a:p>
        </p:txBody>
      </p:sp>
      <p:sp>
        <p:nvSpPr>
          <p:cNvPr id="10" name="!!rp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51752" y="2029967"/>
            <a:ext cx="107133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p3"/>
          <p:cNvSpPr txBox="1"/>
          <p:nvPr/>
        </p:nvSpPr>
        <p:spPr>
          <a:xfrm>
            <a:off x="4452270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III</a:t>
            </a:r>
          </a:p>
        </p:txBody>
      </p:sp>
      <p:sp>
        <p:nvSpPr>
          <p:cNvPr id="12" name="!!rp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52270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rp4"/>
          <p:cNvSpPr txBox="1"/>
          <p:nvPr/>
        </p:nvSpPr>
        <p:spPr>
          <a:xfrm>
            <a:off x="6415887" y="1755648"/>
            <a:ext cx="1634432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IV</a:t>
            </a:r>
          </a:p>
        </p:txBody>
      </p:sp>
      <p:sp>
        <p:nvSpPr>
          <p:cNvPr id="14" name="!!rpl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15887" y="2029967"/>
            <a:ext cx="1634432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rp5"/>
          <p:cNvSpPr txBox="1"/>
          <p:nvPr/>
        </p:nvSpPr>
        <p:spPr>
          <a:xfrm>
            <a:off x="8379504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</a:t>
            </a:r>
          </a:p>
        </p:txBody>
      </p:sp>
      <p:sp>
        <p:nvSpPr>
          <p:cNvPr id="16" name="!!rpl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79504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p6"/>
          <p:cNvSpPr txBox="1"/>
          <p:nvPr/>
        </p:nvSpPr>
        <p:spPr>
          <a:xfrm>
            <a:off x="10061571" y="1755648"/>
            <a:ext cx="1352883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98A4AE"/>
                </a:solidFill>
                <a:latin typeface="Segoe UI"/>
              </a:rPr>
              <a:t>PART VI</a:t>
            </a:r>
          </a:p>
        </p:txBody>
      </p:sp>
      <p:sp>
        <p:nvSpPr>
          <p:cNvPr id="18" name="!!rpl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61571" y="2029967"/>
            <a:ext cx="1352883" cy="27432"/>
          </a:xfrm>
          <a:prstGeom prst="rect">
            <a:avLst/>
          </a:prstGeom>
          <a:solidFill>
            <a:srgbClr val="D9E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342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dotn1"/>
          <p:cNvSpPr txBox="1"/>
          <p:nvPr/>
        </p:nvSpPr>
        <p:spPr>
          <a:xfrm>
            <a:off x="66198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1" name="!!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4972" y="2258568"/>
            <a:ext cx="274320" cy="274320"/>
          </a:xfrm>
          <a:prstGeom prst="ellipse">
            <a:avLst/>
          </a:prstGeom>
          <a:solidFill>
            <a:srgbClr val="3C6C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dotn2"/>
          <p:cNvSpPr txBox="1"/>
          <p:nvPr/>
        </p:nvSpPr>
        <p:spPr>
          <a:xfrm>
            <a:off x="94353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3" name="!!do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25665" y="2112264"/>
            <a:ext cx="566928" cy="566928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dotn3"/>
          <p:cNvSpPr txBox="1"/>
          <p:nvPr/>
        </p:nvSpPr>
        <p:spPr>
          <a:xfrm>
            <a:off x="1325665" y="2240280"/>
            <a:ext cx="566928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5" name="!!do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0896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dotn4"/>
          <p:cNvSpPr txBox="1"/>
          <p:nvPr/>
        </p:nvSpPr>
        <p:spPr>
          <a:xfrm>
            <a:off x="181752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4967"/>
                </a:solidFill>
                <a:latin typeface="Segoe UI"/>
              </a:rPr>
              <a:t>4</a:t>
            </a:r>
          </a:p>
        </p:txBody>
      </p:sp>
      <p:sp>
        <p:nvSpPr>
          <p:cNvPr id="27" name="!!dot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9051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dotn5"/>
          <p:cNvSpPr txBox="1"/>
          <p:nvPr/>
        </p:nvSpPr>
        <p:spPr>
          <a:xfrm>
            <a:off x="209907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4967"/>
                </a:solidFill>
                <a:latin typeface="Segoe UI"/>
              </a:rPr>
              <a:t>5</a:t>
            </a:r>
          </a:p>
        </p:txBody>
      </p:sp>
      <p:sp>
        <p:nvSpPr>
          <p:cNvPr id="29" name="!!dot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7206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A0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dotn6"/>
          <p:cNvSpPr txBox="1"/>
          <p:nvPr/>
        </p:nvSpPr>
        <p:spPr>
          <a:xfrm>
            <a:off x="238062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4967"/>
                </a:solidFill>
                <a:latin typeface="Segoe UI"/>
              </a:rPr>
              <a:t>6</a:t>
            </a:r>
          </a:p>
        </p:txBody>
      </p:sp>
      <p:sp>
        <p:nvSpPr>
          <p:cNvPr id="31" name="!!dot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2793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dotn7"/>
          <p:cNvSpPr txBox="1"/>
          <p:nvPr/>
        </p:nvSpPr>
        <p:spPr>
          <a:xfrm>
            <a:off x="29364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7</a:t>
            </a:r>
          </a:p>
        </p:txBody>
      </p:sp>
      <p:sp>
        <p:nvSpPr>
          <p:cNvPr id="33" name="!!dot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94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dotn8"/>
          <p:cNvSpPr txBox="1"/>
          <p:nvPr/>
        </p:nvSpPr>
        <p:spPr>
          <a:xfrm>
            <a:off x="32180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8</a:t>
            </a:r>
          </a:p>
        </p:txBody>
      </p:sp>
      <p:sp>
        <p:nvSpPr>
          <p:cNvPr id="35" name="!!dot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9103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dotn9"/>
          <p:cNvSpPr txBox="1"/>
          <p:nvPr/>
        </p:nvSpPr>
        <p:spPr>
          <a:xfrm>
            <a:off x="349959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9</a:t>
            </a:r>
          </a:p>
        </p:txBody>
      </p:sp>
      <p:sp>
        <p:nvSpPr>
          <p:cNvPr id="37" name="!!dot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258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CBC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dotn10"/>
          <p:cNvSpPr txBox="1"/>
          <p:nvPr/>
        </p:nvSpPr>
        <p:spPr>
          <a:xfrm>
            <a:off x="378114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A73A3"/>
                </a:solidFill>
                <a:latin typeface="Segoe UI"/>
              </a:rPr>
              <a:t>10</a:t>
            </a:r>
          </a:p>
        </p:txBody>
      </p:sp>
      <p:sp>
        <p:nvSpPr>
          <p:cNvPr id="39" name="!!dot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42845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0" name="!!dotn11"/>
          <p:cNvSpPr txBox="1"/>
          <p:nvPr/>
        </p:nvSpPr>
        <p:spPr>
          <a:xfrm>
            <a:off x="433701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11</a:t>
            </a:r>
          </a:p>
        </p:txBody>
      </p:sp>
      <p:sp>
        <p:nvSpPr>
          <p:cNvPr id="41" name="!!dot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1000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2" name="!!dotn12"/>
          <p:cNvSpPr txBox="1"/>
          <p:nvPr/>
        </p:nvSpPr>
        <p:spPr>
          <a:xfrm>
            <a:off x="461856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12</a:t>
            </a:r>
          </a:p>
        </p:txBody>
      </p:sp>
      <p:sp>
        <p:nvSpPr>
          <p:cNvPr id="43" name="!!dot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9155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4" name="!!dotn13"/>
          <p:cNvSpPr txBox="1"/>
          <p:nvPr/>
        </p:nvSpPr>
        <p:spPr>
          <a:xfrm>
            <a:off x="490011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13</a:t>
            </a:r>
          </a:p>
        </p:txBody>
      </p:sp>
      <p:sp>
        <p:nvSpPr>
          <p:cNvPr id="45" name="!!dot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7310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6" name="!!dotn14"/>
          <p:cNvSpPr txBox="1"/>
          <p:nvPr/>
        </p:nvSpPr>
        <p:spPr>
          <a:xfrm>
            <a:off x="518166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14</a:t>
            </a:r>
          </a:p>
        </p:txBody>
      </p:sp>
      <p:sp>
        <p:nvSpPr>
          <p:cNvPr id="47" name="!!dot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54651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8" name="!!dotn15"/>
          <p:cNvSpPr txBox="1"/>
          <p:nvPr/>
        </p:nvSpPr>
        <p:spPr>
          <a:xfrm>
            <a:off x="5463211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15</a:t>
            </a:r>
          </a:p>
        </p:txBody>
      </p:sp>
      <p:sp>
        <p:nvSpPr>
          <p:cNvPr id="49" name="!!dot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3620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8D2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0" name="!!dotn16"/>
          <p:cNvSpPr txBox="1"/>
          <p:nvPr/>
        </p:nvSpPr>
        <p:spPr>
          <a:xfrm>
            <a:off x="574476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59355"/>
                </a:solidFill>
                <a:latin typeface="Segoe UI"/>
              </a:rPr>
              <a:t>16</a:t>
            </a:r>
          </a:p>
        </p:txBody>
      </p:sp>
      <p:sp>
        <p:nvSpPr>
          <p:cNvPr id="51" name="!!dot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2070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2" name="!!dotn17"/>
          <p:cNvSpPr txBox="1"/>
          <p:nvPr/>
        </p:nvSpPr>
        <p:spPr>
          <a:xfrm>
            <a:off x="6300630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17</a:t>
            </a:r>
          </a:p>
        </p:txBody>
      </p:sp>
      <p:sp>
        <p:nvSpPr>
          <p:cNvPr id="53" name="!!dot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361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4" name="!!dotn18"/>
          <p:cNvSpPr txBox="1"/>
          <p:nvPr/>
        </p:nvSpPr>
        <p:spPr>
          <a:xfrm>
            <a:off x="658217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18</a:t>
            </a:r>
          </a:p>
        </p:txBody>
      </p:sp>
      <p:sp>
        <p:nvSpPr>
          <p:cNvPr id="55" name="!!dot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55169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6" name="!!dotn19"/>
          <p:cNvSpPr txBox="1"/>
          <p:nvPr/>
        </p:nvSpPr>
        <p:spPr>
          <a:xfrm>
            <a:off x="6863729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19</a:t>
            </a:r>
          </a:p>
        </p:txBody>
      </p:sp>
      <p:sp>
        <p:nvSpPr>
          <p:cNvPr id="57" name="!!dot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671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8" name="!!dotn20"/>
          <p:cNvSpPr txBox="1"/>
          <p:nvPr/>
        </p:nvSpPr>
        <p:spPr>
          <a:xfrm>
            <a:off x="714527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20</a:t>
            </a:r>
          </a:p>
        </p:txBody>
      </p:sp>
      <p:sp>
        <p:nvSpPr>
          <p:cNvPr id="59" name="!!dot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18268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dotn21"/>
          <p:cNvSpPr txBox="1"/>
          <p:nvPr/>
        </p:nvSpPr>
        <p:spPr>
          <a:xfrm>
            <a:off x="7426828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21</a:t>
            </a:r>
          </a:p>
        </p:txBody>
      </p:sp>
      <p:sp>
        <p:nvSpPr>
          <p:cNvPr id="61" name="!!dot2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9981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C19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2" name="!!dotn22"/>
          <p:cNvSpPr txBox="1"/>
          <p:nvPr/>
        </p:nvSpPr>
        <p:spPr>
          <a:xfrm>
            <a:off x="770837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73E93"/>
                </a:solidFill>
                <a:latin typeface="Segoe UI"/>
              </a:rPr>
              <a:t>22</a:t>
            </a:r>
          </a:p>
        </p:txBody>
      </p:sp>
      <p:sp>
        <p:nvSpPr>
          <p:cNvPr id="63" name="!!dot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55687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4" name="!!dotn23"/>
          <p:cNvSpPr txBox="1"/>
          <p:nvPr/>
        </p:nvSpPr>
        <p:spPr>
          <a:xfrm>
            <a:off x="8264247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23</a:t>
            </a:r>
          </a:p>
        </p:txBody>
      </p:sp>
      <p:sp>
        <p:nvSpPr>
          <p:cNvPr id="65" name="!!dot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3723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6" name="!!dotn24"/>
          <p:cNvSpPr txBox="1"/>
          <p:nvPr/>
        </p:nvSpPr>
        <p:spPr>
          <a:xfrm>
            <a:off x="854579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24</a:t>
            </a:r>
          </a:p>
        </p:txBody>
      </p:sp>
      <p:sp>
        <p:nvSpPr>
          <p:cNvPr id="67" name="!!dot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18786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8" name="!!dotn25"/>
          <p:cNvSpPr txBox="1"/>
          <p:nvPr/>
        </p:nvSpPr>
        <p:spPr>
          <a:xfrm>
            <a:off x="8827346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25</a:t>
            </a:r>
          </a:p>
        </p:txBody>
      </p:sp>
      <p:sp>
        <p:nvSpPr>
          <p:cNvPr id="69" name="!!dot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0033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0" name="!!dotn26"/>
          <p:cNvSpPr txBox="1"/>
          <p:nvPr/>
        </p:nvSpPr>
        <p:spPr>
          <a:xfrm>
            <a:off x="910889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26</a:t>
            </a:r>
          </a:p>
        </p:txBody>
      </p:sp>
      <p:sp>
        <p:nvSpPr>
          <p:cNvPr id="71" name="!!dot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81885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7CB6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2" name="!!dotn27"/>
          <p:cNvSpPr txBox="1"/>
          <p:nvPr/>
        </p:nvSpPr>
        <p:spPr>
          <a:xfrm>
            <a:off x="9390445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36959"/>
                </a:solidFill>
                <a:latin typeface="Segoe UI"/>
              </a:rPr>
              <a:t>27</a:t>
            </a:r>
          </a:p>
        </p:txBody>
      </p:sp>
      <p:sp>
        <p:nvSpPr>
          <p:cNvPr id="73" name="!!dot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3775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4" name="!!dotn28"/>
          <p:cNvSpPr txBox="1"/>
          <p:nvPr/>
        </p:nvSpPr>
        <p:spPr>
          <a:xfrm>
            <a:off x="994631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28</a:t>
            </a:r>
          </a:p>
        </p:txBody>
      </p:sp>
      <p:sp>
        <p:nvSpPr>
          <p:cNvPr id="75" name="!!dot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319304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6" name="!!dotn29"/>
          <p:cNvSpPr txBox="1"/>
          <p:nvPr/>
        </p:nvSpPr>
        <p:spPr>
          <a:xfrm>
            <a:off x="10227864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29</a:t>
            </a:r>
          </a:p>
        </p:txBody>
      </p:sp>
      <p:sp>
        <p:nvSpPr>
          <p:cNvPr id="77" name="!!dot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600853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8" name="!!dotn30"/>
          <p:cNvSpPr txBox="1"/>
          <p:nvPr/>
        </p:nvSpPr>
        <p:spPr>
          <a:xfrm>
            <a:off x="10509413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30</a:t>
            </a:r>
          </a:p>
        </p:txBody>
      </p:sp>
      <p:sp>
        <p:nvSpPr>
          <p:cNvPr id="79" name="!!dot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8240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0" name="!!dotn31"/>
          <p:cNvSpPr txBox="1"/>
          <p:nvPr/>
        </p:nvSpPr>
        <p:spPr>
          <a:xfrm>
            <a:off x="1079096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31</a:t>
            </a:r>
          </a:p>
        </p:txBody>
      </p:sp>
      <p:sp>
        <p:nvSpPr>
          <p:cNvPr id="81" name="!!dot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63952" y="2258568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D7C5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2" name="!!dotn32"/>
          <p:cNvSpPr txBox="1"/>
          <p:nvPr/>
        </p:nvSpPr>
        <p:spPr>
          <a:xfrm>
            <a:off x="11072512" y="2295144"/>
            <a:ext cx="457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87F11"/>
                </a:solidFill>
                <a:latin typeface="Segoe UI"/>
              </a:rPr>
              <a:t>32</a:t>
            </a:r>
          </a:p>
        </p:txBody>
      </p:sp>
      <p:sp>
        <p:nvSpPr>
          <p:cNvPr id="83" name="!!dotlabel"/>
          <p:cNvSpPr txBox="1"/>
          <p:nvPr/>
        </p:nvSpPr>
        <p:spPr>
          <a:xfrm>
            <a:off x="658368" y="2798064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A5276"/>
                </a:solidFill>
                <a:latin typeface="Segoe UI"/>
              </a:rPr>
              <a:t>Data: Types, Sources and Quality</a:t>
            </a:r>
          </a:p>
        </p:txBody>
      </p:sp>
      <p:sp>
        <p:nvSpPr>
          <p:cNvPr id="84" name="!!dep-BUILD"/>
          <p:cNvSpPr txBox="1"/>
          <p:nvPr/>
        </p:nvSpPr>
        <p:spPr>
          <a:xfrm>
            <a:off x="658368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BUILDS ON</a:t>
            </a:r>
          </a:p>
        </p:txBody>
      </p:sp>
      <p:sp>
        <p:nvSpPr>
          <p:cNvPr id="85" name="!!chip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6" name="!!chipbBU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7" name="!!chiptBU2"/>
          <p:cNvSpPr txBox="1"/>
          <p:nvPr/>
        </p:nvSpPr>
        <p:spPr>
          <a:xfrm>
            <a:off x="859536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2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Data Science Lifecycle</a:t>
            </a:r>
          </a:p>
        </p:txBody>
      </p:sp>
      <p:sp>
        <p:nvSpPr>
          <p:cNvPr id="88" name="!!dep-USED "/>
          <p:cNvSpPr txBox="1"/>
          <p:nvPr/>
        </p:nvSpPr>
        <p:spPr>
          <a:xfrm>
            <a:off x="6324447" y="3419856"/>
            <a:ext cx="520887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5F6F7B"/>
                </a:solidFill>
                <a:latin typeface="Segoe UI"/>
              </a:rPr>
              <a:t>USED LATER IN</a:t>
            </a:r>
          </a:p>
        </p:txBody>
      </p:sp>
      <p:sp>
        <p:nvSpPr>
          <p:cNvPr id="89" name="!!chipUS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0" name="!!chipbUS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3785616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1" name="!!chiptUS4"/>
          <p:cNvSpPr txBox="1"/>
          <p:nvPr/>
        </p:nvSpPr>
        <p:spPr>
          <a:xfrm>
            <a:off x="6525615" y="3877056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4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The Mathematical Toolkit</a:t>
            </a:r>
          </a:p>
        </p:txBody>
      </p:sp>
      <p:sp>
        <p:nvSpPr>
          <p:cNvPr id="92" name="!!chipUS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8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3" name="!!chipbUS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297680"/>
            <a:ext cx="64008" cy="42062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4" name="!!chiptUS5"/>
          <p:cNvSpPr txBox="1"/>
          <p:nvPr/>
        </p:nvSpPr>
        <p:spPr>
          <a:xfrm>
            <a:off x="6525615" y="4389120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A5276"/>
                </a:solidFill>
                <a:latin typeface="Segoe UI"/>
              </a:rPr>
              <a:t>Ch 5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Describing Data: Centre, Spread and Shape</a:t>
            </a:r>
          </a:p>
        </p:txBody>
      </p:sp>
      <p:sp>
        <p:nvSpPr>
          <p:cNvPr id="95" name="!!chipUS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9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6" name="!!chipbUS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4809744"/>
            <a:ext cx="64008" cy="420624"/>
          </a:xfrm>
          <a:prstGeom prst="rect">
            <a:avLst/>
          </a:prstGeom>
          <a:solidFill>
            <a:srgbClr val="2367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7" name="!!chiptUS7"/>
          <p:cNvSpPr txBox="1"/>
          <p:nvPr/>
        </p:nvSpPr>
        <p:spPr>
          <a:xfrm>
            <a:off x="6525615" y="4901184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6794"/>
                </a:solidFill>
                <a:latin typeface="Segoe UI"/>
              </a:rPr>
              <a:t>Ch 7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Acquisition, Wrangling and Cleaning</a:t>
            </a:r>
          </a:p>
        </p:txBody>
      </p:sp>
      <p:sp>
        <p:nvSpPr>
          <p:cNvPr id="98" name="!!chip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5208879" cy="420624"/>
          </a:xfrm>
          <a:prstGeom prst="roundRect">
            <a:avLst>
              <a:gd name="adj" fmla="val 17391"/>
            </a:avLst>
          </a:prstGeom>
          <a:solidFill>
            <a:srgbClr val="E7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9" name="!!chipbUS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24447" y="5321808"/>
            <a:ext cx="64008" cy="420624"/>
          </a:xfrm>
          <a:prstGeom prst="rect">
            <a:avLst/>
          </a:prstGeom>
          <a:solidFill>
            <a:srgbClr val="1079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0" name="!!chiptUS23"/>
          <p:cNvSpPr txBox="1"/>
          <p:nvPr/>
        </p:nvSpPr>
        <p:spPr>
          <a:xfrm>
            <a:off x="6525615" y="5413248"/>
            <a:ext cx="49345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7964"/>
                </a:solidFill>
                <a:latin typeface="Segoe UI"/>
              </a:rPr>
              <a:t>Ch 23  </a:t>
            </a:r>
            <a:r>
              <a:rPr sz="1400" b="0" i="0">
                <a:solidFill>
                  <a:srgbClr val="1C252B"/>
                </a:solidFill>
                <a:latin typeface="Segoe UI"/>
              </a:rPr>
              <a:t>Data Engineering at Scale</a:t>
            </a:r>
          </a:p>
        </p:txBody>
      </p:sp>
      <p:sp>
        <p:nvSpPr>
          <p:cNvPr id="10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185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you will be able to do</a:t>
            </a:r>
          </a:p>
        </p:txBody>
      </p:sp>
      <p:pic>
        <p:nvPicPr>
          <p:cNvPr id="3" name="!!kicker-icon" descr="bullsey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LEARNING OUTCOMES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17     </a:t>
            </a:r>
            <a:fld id="{4298712D-7757-4E02-93DB-DF2B1407B4C9}" type="slidenum">
              <a:rPr lang="en-GB" sz="1000">
                <a:solidFill>
                  <a:srgbClr val="8795A1"/>
                </a:solidFill>
                <a:latin typeface="Segoe UI"/>
              </a:rPr>
              <a:t>3</a:t>
            </a:fld>
          </a:p>
        </p:txBody>
      </p:sp>
      <p:sp>
        <p:nvSpPr>
          <p:cNvPr id="7" name="!!olead"/>
          <p:cNvSpPr txBox="1"/>
          <p:nvPr/>
        </p:nvSpPr>
        <p:spPr>
          <a:xfrm>
            <a:off x="658368" y="173736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5F6F7B"/>
                </a:solidFill>
                <a:latin typeface="Segoe UI"/>
              </a:rPr>
              <a:t>By the end of this chapter you will be able to:</a:t>
            </a:r>
          </a:p>
        </p:txBody>
      </p:sp>
      <p:sp>
        <p:nvSpPr>
          <p:cNvPr id="8" name="!!o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21991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obn0"/>
          <p:cNvSpPr txBox="1"/>
          <p:nvPr/>
        </p:nvSpPr>
        <p:spPr>
          <a:xfrm>
            <a:off x="658368" y="228142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0" name="!!ot0"/>
          <p:cNvSpPr txBox="1"/>
          <p:nvPr/>
        </p:nvSpPr>
        <p:spPr>
          <a:xfrm>
            <a:off x="1316736" y="221284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Classify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data as structured, semi-structured or unstructured, and state what each implies for storage and analysis.</a:t>
            </a:r>
          </a:p>
        </p:txBody>
      </p:sp>
      <p:sp>
        <p:nvSpPr>
          <p:cNvPr id="11" name="!!o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70555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obn1"/>
          <p:cNvSpPr txBox="1"/>
          <p:nvPr/>
        </p:nvSpPr>
        <p:spPr>
          <a:xfrm>
            <a:off x="658368" y="312999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3" name="!!ot1"/>
          <p:cNvSpPr txBox="1"/>
          <p:nvPr/>
        </p:nvSpPr>
        <p:spPr>
          <a:xfrm>
            <a:off x="1316736" y="3061411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Assign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variable to its correct measurement scale — nominal, ordinal, interval or ratio — and explain which operations that permits.</a:t>
            </a:r>
          </a:p>
        </p:txBody>
      </p:sp>
      <p:sp>
        <p:nvSpPr>
          <p:cNvPr id="14" name="!!o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919118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obn2"/>
          <p:cNvSpPr txBox="1"/>
          <p:nvPr/>
        </p:nvSpPr>
        <p:spPr>
          <a:xfrm>
            <a:off x="658368" y="3978554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6" name="!!ot2"/>
          <p:cNvSpPr txBox="1"/>
          <p:nvPr/>
        </p:nvSpPr>
        <p:spPr>
          <a:xfrm>
            <a:off x="1316736" y="3960266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Evaluate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a dataset against the six dimensions of data quality.</a:t>
            </a:r>
          </a:p>
        </p:txBody>
      </p:sp>
      <p:sp>
        <p:nvSpPr>
          <p:cNvPr id="17" name="!!o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22622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obn3"/>
          <p:cNvSpPr txBox="1"/>
          <p:nvPr/>
        </p:nvSpPr>
        <p:spPr>
          <a:xfrm>
            <a:off x="658368" y="4582058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9" name="!!ot3"/>
          <p:cNvSpPr txBox="1"/>
          <p:nvPr/>
        </p:nvSpPr>
        <p:spPr>
          <a:xfrm>
            <a:off x="1316736" y="4513478"/>
            <a:ext cx="10216591" cy="6656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Distinguish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three mechanisms of missingness and explain why the distinction changes what you may do about it.</a:t>
            </a:r>
          </a:p>
        </p:txBody>
      </p:sp>
      <p:sp>
        <p:nvSpPr>
          <p:cNvPr id="20" name="!!o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71185"/>
            <a:ext cx="420624" cy="420624"/>
          </a:xfrm>
          <a:prstGeom prst="ellipse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obn4"/>
          <p:cNvSpPr txBox="1"/>
          <p:nvPr/>
        </p:nvSpPr>
        <p:spPr>
          <a:xfrm>
            <a:off x="658368" y="5430621"/>
            <a:ext cx="42062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2" name="!!ot4"/>
          <p:cNvSpPr txBox="1"/>
          <p:nvPr/>
        </p:nvSpPr>
        <p:spPr>
          <a:xfrm>
            <a:off x="1316736" y="5412333"/>
            <a:ext cx="10216591" cy="420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5276"/>
                </a:solidFill>
                <a:latin typeface="Segoe UI"/>
              </a:rPr>
              <a:t>Describe</a:t>
            </a:r>
            <a:r>
              <a:rPr sz="2100" b="0" i="0">
                <a:solidFill>
                  <a:srgbClr val="1C252B"/>
                </a:solidFill>
                <a:latin typeface="Segoe UI"/>
              </a:rPr>
              <a:t> the characteristic data of each of the four running domains.</a:t>
            </a:r>
          </a:p>
        </p:txBody>
      </p:sp>
      <p:sp>
        <p:nvSpPr>
          <p:cNvPr id="5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2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Vocabulary for this chapter</a:t>
            </a:r>
          </a:p>
        </p:txBody>
      </p:sp>
      <p:pic>
        <p:nvPicPr>
          <p:cNvPr id="3" name="!!kicker-icon" descr="tags-8E44A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7256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8E44AD"/>
                </a:solidFill>
                <a:latin typeface="Segoe UI"/>
              </a:rPr>
              <a:t>KEY TERMS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17     </a:t>
            </a:r>
            <a:fld id="{BF3DB725-93A1-41EF-A750-EE36F4607170}" type="slidenum">
              <a:rPr lang="en-GB" sz="1000">
                <a:solidFill>
                  <a:srgbClr val="8795A1"/>
                </a:solidFill>
                <a:latin typeface="Segoe UI"/>
              </a:rPr>
              <a:t>4</a:t>
            </a:fld>
          </a:p>
        </p:txBody>
      </p:sp>
      <p:sp>
        <p:nvSpPr>
          <p:cNvPr id="7" name="!!term-observ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847088"/>
            <a:ext cx="158191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ermd-observati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termt-observation"/>
          <p:cNvSpPr txBox="1"/>
          <p:nvPr/>
        </p:nvSpPr>
        <p:spPr>
          <a:xfrm>
            <a:off x="950976" y="1955291"/>
            <a:ext cx="139903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observation</a:t>
            </a:r>
          </a:p>
        </p:txBody>
      </p:sp>
      <p:sp>
        <p:nvSpPr>
          <p:cNvPr id="10" name="!!term-fea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86591" y="1847088"/>
            <a:ext cx="1126167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termd-featur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7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termt-feature"/>
          <p:cNvSpPr txBox="1"/>
          <p:nvPr/>
        </p:nvSpPr>
        <p:spPr>
          <a:xfrm>
            <a:off x="2679199" y="1955291"/>
            <a:ext cx="943287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feature</a:t>
            </a:r>
          </a:p>
        </p:txBody>
      </p:sp>
      <p:sp>
        <p:nvSpPr>
          <p:cNvPr id="13" name="!!term-structured / 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59062" y="1847088"/>
            <a:ext cx="4616313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termd-structured / 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87078" y="2039112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termt-structured / s"/>
          <p:cNvSpPr txBox="1"/>
          <p:nvPr/>
        </p:nvSpPr>
        <p:spPr>
          <a:xfrm>
            <a:off x="3951670" y="1955291"/>
            <a:ext cx="4433433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structured / semi-structured / unstructured</a:t>
            </a:r>
          </a:p>
        </p:txBody>
      </p:sp>
      <p:sp>
        <p:nvSpPr>
          <p:cNvPr id="16" name="!!term-nominal, ord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68880"/>
            <a:ext cx="338961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termd-nominal, ordi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termt-nominal, ordin"/>
          <p:cNvSpPr txBox="1"/>
          <p:nvPr/>
        </p:nvSpPr>
        <p:spPr>
          <a:xfrm>
            <a:off x="950976" y="2577084"/>
            <a:ext cx="320673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nominal, ordinal, interval, ratio</a:t>
            </a:r>
          </a:p>
        </p:txBody>
      </p:sp>
      <p:sp>
        <p:nvSpPr>
          <p:cNvPr id="19" name="!!term-tidy da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4288" y="2468880"/>
            <a:ext cx="1292036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termd-tidy da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230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termt-tidy data"/>
          <p:cNvSpPr txBox="1"/>
          <p:nvPr/>
        </p:nvSpPr>
        <p:spPr>
          <a:xfrm>
            <a:off x="4486896" y="2577084"/>
            <a:ext cx="1109156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tidy data</a:t>
            </a:r>
          </a:p>
        </p:txBody>
      </p:sp>
      <p:sp>
        <p:nvSpPr>
          <p:cNvPr id="22" name="!!term-metada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32628" y="2468880"/>
            <a:ext cx="1358982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termd-metada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60644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termt-metadata"/>
          <p:cNvSpPr txBox="1"/>
          <p:nvPr/>
        </p:nvSpPr>
        <p:spPr>
          <a:xfrm>
            <a:off x="5925236" y="2577084"/>
            <a:ext cx="1176102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metadata</a:t>
            </a:r>
          </a:p>
        </p:txBody>
      </p:sp>
      <p:sp>
        <p:nvSpPr>
          <p:cNvPr id="25" name="!!term-provena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7915" y="2468880"/>
            <a:ext cx="1572969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termd-provenanc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5931" y="2660904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termt-provenance"/>
          <p:cNvSpPr txBox="1"/>
          <p:nvPr/>
        </p:nvSpPr>
        <p:spPr>
          <a:xfrm>
            <a:off x="7430523" y="2577084"/>
            <a:ext cx="1390089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provenance</a:t>
            </a:r>
          </a:p>
        </p:txBody>
      </p:sp>
      <p:sp>
        <p:nvSpPr>
          <p:cNvPr id="28" name="!!term-data quality 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90672"/>
            <a:ext cx="2748558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termd-data quality 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638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termt-data quality d"/>
          <p:cNvSpPr txBox="1"/>
          <p:nvPr/>
        </p:nvSpPr>
        <p:spPr>
          <a:xfrm>
            <a:off x="950976" y="3198876"/>
            <a:ext cx="2565678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data quality dimensions</a:t>
            </a:r>
          </a:p>
        </p:txBody>
      </p:sp>
      <p:sp>
        <p:nvSpPr>
          <p:cNvPr id="31" name="!!term-MCAR, MAR, 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53230" y="3090672"/>
            <a:ext cx="2370664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termd-MCAR, MAR, 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81246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termt-MCAR, MAR, MNA"/>
          <p:cNvSpPr txBox="1"/>
          <p:nvPr/>
        </p:nvSpPr>
        <p:spPr>
          <a:xfrm>
            <a:off x="3845838" y="3198876"/>
            <a:ext cx="2187784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MCAR, MAR, MNAR</a:t>
            </a:r>
          </a:p>
        </p:txBody>
      </p:sp>
      <p:sp>
        <p:nvSpPr>
          <p:cNvPr id="34" name="!!term-granular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70198" y="3090672"/>
            <a:ext cx="1483185" cy="475488"/>
          </a:xfrm>
          <a:prstGeom prst="roundRect">
            <a:avLst>
              <a:gd name="adj" fmla="val 50000"/>
            </a:avLst>
          </a:prstGeom>
          <a:solidFill>
            <a:srgbClr val="F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5" name="!!termd-granularity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8214" y="3282696"/>
            <a:ext cx="91440" cy="91440"/>
          </a:xfrm>
          <a:prstGeom prst="ellipse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6" name="!!termt-granularity"/>
          <p:cNvSpPr txBox="1"/>
          <p:nvPr/>
        </p:nvSpPr>
        <p:spPr>
          <a:xfrm>
            <a:off x="6362806" y="3198876"/>
            <a:ext cx="1300305" cy="3108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C252B"/>
                </a:solidFill>
                <a:latin typeface="Segoe UI"/>
              </a:rPr>
              <a:t>granularity</a:t>
            </a:r>
          </a:p>
        </p:txBody>
      </p:sp>
      <p:sp>
        <p:nvSpPr>
          <p:cNvPr id="37" name="!!termnote"/>
          <p:cNvSpPr txBox="1"/>
          <p:nvPr/>
        </p:nvSpPr>
        <p:spPr>
          <a:xfrm>
            <a:off x="658368" y="3913632"/>
            <a:ext cx="1087495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F6F7B"/>
                </a:solidFill>
                <a:latin typeface="Segoe UI"/>
              </a:rPr>
              <a:t>Each term is defined where it first matters — not here.</a:t>
            </a:r>
          </a:p>
        </p:txBody>
      </p:sp>
      <p:sp>
        <p:nvSpPr>
          <p:cNvPr id="3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370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 this chapter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THIS CHAPTER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pp. 17–22     </a:t>
            </a:r>
            <a:fld id="{B02D5E20-578A-4FA3-B367-8BE28BD8E0E1}" type="slidenum">
              <a:rPr lang="en-GB" sz="1000">
                <a:solidFill>
                  <a:srgbClr val="8795A1"/>
                </a:solidFill>
                <a:latin typeface="Segoe UI"/>
              </a:rPr>
              <a:t>5</a:t>
            </a:fld>
          </a:p>
        </p:txBody>
      </p:sp>
      <p:sp>
        <p:nvSpPr>
          <p:cNvPr id="7" name="!!ag0" descr="Go to section 3.1 The Shape of a Dataset">
            <a:hlinkClick action="ppaction://hlinksldjump" r:id="rId5"/>
          </p:cNvPr>
          <p:cNvSpPr/>
          <p:nvPr/>
        </p:nvSpPr>
        <p:spPr>
          <a:xfrm>
            <a:off x="658368" y="17739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ag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7393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agn0"/>
          <p:cNvSpPr txBox="1"/>
          <p:nvPr/>
        </p:nvSpPr>
        <p:spPr>
          <a:xfrm>
            <a:off x="932688" y="19202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3.1</a:t>
            </a:r>
          </a:p>
        </p:txBody>
      </p:sp>
      <p:sp>
        <p:nvSpPr>
          <p:cNvPr id="10" name="!!agt0"/>
          <p:cNvSpPr txBox="1"/>
          <p:nvPr/>
        </p:nvSpPr>
        <p:spPr>
          <a:xfrm>
            <a:off x="1847088" y="19202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The Shape of a Dataset</a:t>
            </a:r>
          </a:p>
        </p:txBody>
      </p:sp>
      <p:sp>
        <p:nvSpPr>
          <p:cNvPr id="11" name="!!agp0"/>
          <p:cNvSpPr txBox="1"/>
          <p:nvPr/>
        </p:nvSpPr>
        <p:spPr>
          <a:xfrm>
            <a:off x="9795967" y="19476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17  ›</a:t>
            </a:r>
          </a:p>
        </p:txBody>
      </p:sp>
      <p:sp>
        <p:nvSpPr>
          <p:cNvPr id="12" name="!!ag1" descr="Go to section 3.2 Three Kinds of Data">
            <a:hlinkClick action="ppaction://hlinksldjump" r:id="rId6"/>
          </p:cNvPr>
          <p:cNvSpPr/>
          <p:nvPr/>
        </p:nvSpPr>
        <p:spPr>
          <a:xfrm>
            <a:off x="658368" y="2414015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ag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5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agn1"/>
          <p:cNvSpPr txBox="1"/>
          <p:nvPr/>
        </p:nvSpPr>
        <p:spPr>
          <a:xfrm>
            <a:off x="932688" y="256032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3.2</a:t>
            </a:r>
          </a:p>
        </p:txBody>
      </p:sp>
      <p:sp>
        <p:nvSpPr>
          <p:cNvPr id="15" name="!!agt1"/>
          <p:cNvSpPr txBox="1"/>
          <p:nvPr/>
        </p:nvSpPr>
        <p:spPr>
          <a:xfrm>
            <a:off x="1847088" y="256032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Three Kinds of Data</a:t>
            </a:r>
          </a:p>
        </p:txBody>
      </p:sp>
      <p:sp>
        <p:nvSpPr>
          <p:cNvPr id="16" name="!!agp1"/>
          <p:cNvSpPr txBox="1"/>
          <p:nvPr/>
        </p:nvSpPr>
        <p:spPr>
          <a:xfrm>
            <a:off x="9795967" y="2587751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18  ›</a:t>
            </a:r>
          </a:p>
        </p:txBody>
      </p:sp>
      <p:sp>
        <p:nvSpPr>
          <p:cNvPr id="17" name="!!ag2" descr="Go to section 3.3 Measurement Scales">
            <a:hlinkClick action="ppaction://hlinksldjump" r:id="rId7"/>
          </p:cNvPr>
          <p:cNvSpPr/>
          <p:nvPr/>
        </p:nvSpPr>
        <p:spPr>
          <a:xfrm>
            <a:off x="658368" y="305409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ag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5409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agn2"/>
          <p:cNvSpPr txBox="1"/>
          <p:nvPr/>
        </p:nvSpPr>
        <p:spPr>
          <a:xfrm>
            <a:off x="932688" y="320040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3.3</a:t>
            </a:r>
          </a:p>
        </p:txBody>
      </p:sp>
      <p:sp>
        <p:nvSpPr>
          <p:cNvPr id="20" name="!!agt2"/>
          <p:cNvSpPr txBox="1"/>
          <p:nvPr/>
        </p:nvSpPr>
        <p:spPr>
          <a:xfrm>
            <a:off x="1847088" y="320040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Measurement Scales</a:t>
            </a:r>
          </a:p>
        </p:txBody>
      </p:sp>
      <p:sp>
        <p:nvSpPr>
          <p:cNvPr id="21" name="!!agp2"/>
          <p:cNvSpPr txBox="1"/>
          <p:nvPr/>
        </p:nvSpPr>
        <p:spPr>
          <a:xfrm>
            <a:off x="9795967" y="322783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18  ›</a:t>
            </a:r>
          </a:p>
        </p:txBody>
      </p:sp>
      <p:sp>
        <p:nvSpPr>
          <p:cNvPr id="22" name="!!ag3" descr="Go to section 3.4 Tidy Data">
            <a:hlinkClick action="ppaction://hlinksldjump" r:id="rId8"/>
          </p:cNvPr>
          <p:cNvSpPr/>
          <p:nvPr/>
        </p:nvSpPr>
        <p:spPr>
          <a:xfrm>
            <a:off x="658368" y="369417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ag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69417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agn3"/>
          <p:cNvSpPr txBox="1"/>
          <p:nvPr/>
        </p:nvSpPr>
        <p:spPr>
          <a:xfrm>
            <a:off x="932688" y="384048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3.4</a:t>
            </a:r>
          </a:p>
        </p:txBody>
      </p:sp>
      <p:sp>
        <p:nvSpPr>
          <p:cNvPr id="25" name="!!agt3"/>
          <p:cNvSpPr txBox="1"/>
          <p:nvPr/>
        </p:nvSpPr>
        <p:spPr>
          <a:xfrm>
            <a:off x="1847088" y="384048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Tidy Data</a:t>
            </a:r>
          </a:p>
        </p:txBody>
      </p:sp>
      <p:sp>
        <p:nvSpPr>
          <p:cNvPr id="26" name="!!agp3"/>
          <p:cNvSpPr txBox="1"/>
          <p:nvPr/>
        </p:nvSpPr>
        <p:spPr>
          <a:xfrm>
            <a:off x="9795967" y="386791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19  ›</a:t>
            </a:r>
          </a:p>
        </p:txBody>
      </p:sp>
      <p:sp>
        <p:nvSpPr>
          <p:cNvPr id="27" name="!!ag4" descr="Go to section 3.5 Data Quality">
            <a:hlinkClick action="ppaction://hlinksldjump" r:id="rId9"/>
          </p:cNvPr>
          <p:cNvSpPr/>
          <p:nvPr/>
        </p:nvSpPr>
        <p:spPr>
          <a:xfrm>
            <a:off x="658368" y="433425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8" name="!!ag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33425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agn4"/>
          <p:cNvSpPr txBox="1"/>
          <p:nvPr/>
        </p:nvSpPr>
        <p:spPr>
          <a:xfrm>
            <a:off x="932688" y="448056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3.5</a:t>
            </a:r>
          </a:p>
        </p:txBody>
      </p:sp>
      <p:sp>
        <p:nvSpPr>
          <p:cNvPr id="30" name="!!agt4"/>
          <p:cNvSpPr txBox="1"/>
          <p:nvPr/>
        </p:nvSpPr>
        <p:spPr>
          <a:xfrm>
            <a:off x="1847088" y="448056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Data Quality</a:t>
            </a:r>
          </a:p>
        </p:txBody>
      </p:sp>
      <p:sp>
        <p:nvSpPr>
          <p:cNvPr id="31" name="!!agp4"/>
          <p:cNvSpPr txBox="1"/>
          <p:nvPr/>
        </p:nvSpPr>
        <p:spPr>
          <a:xfrm>
            <a:off x="9795967" y="450799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19  ›</a:t>
            </a:r>
          </a:p>
        </p:txBody>
      </p:sp>
      <p:sp>
        <p:nvSpPr>
          <p:cNvPr id="32" name="!!ag5" descr="Go to section 3.6 Provenance and Metadata">
            <a:hlinkClick action="ppaction://hlinksldjump" r:id="rId10"/>
          </p:cNvPr>
          <p:cNvSpPr/>
          <p:nvPr/>
        </p:nvSpPr>
        <p:spPr>
          <a:xfrm>
            <a:off x="658368" y="4974336"/>
            <a:ext cx="10874959" cy="566928"/>
          </a:xfrm>
          <a:prstGeom prst="roundRect">
            <a:avLst>
              <a:gd name="adj" fmla="val 9677"/>
            </a:avLst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3" name="!!ag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974336"/>
            <a:ext cx="64008" cy="566928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4" name="!!agn5"/>
          <p:cNvSpPr txBox="1"/>
          <p:nvPr/>
        </p:nvSpPr>
        <p:spPr>
          <a:xfrm>
            <a:off x="932688" y="5120640"/>
            <a:ext cx="91440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A5276"/>
                </a:solidFill>
                <a:latin typeface="Segoe UI Semibold"/>
              </a:rPr>
              <a:t>3.6</a:t>
            </a:r>
          </a:p>
        </p:txBody>
      </p:sp>
      <p:sp>
        <p:nvSpPr>
          <p:cNvPr id="35" name="!!agt5"/>
          <p:cNvSpPr txBox="1"/>
          <p:nvPr/>
        </p:nvSpPr>
        <p:spPr>
          <a:xfrm>
            <a:off x="1847088" y="5120640"/>
            <a:ext cx="81317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Provenance and Metadata</a:t>
            </a:r>
          </a:p>
        </p:txBody>
      </p:sp>
      <p:sp>
        <p:nvSpPr>
          <p:cNvPr id="36" name="!!agp5"/>
          <p:cNvSpPr txBox="1"/>
          <p:nvPr/>
        </p:nvSpPr>
        <p:spPr>
          <a:xfrm>
            <a:off x="9795967" y="5148072"/>
            <a:ext cx="15544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F6F7B"/>
                </a:solidFill>
                <a:latin typeface="Segoe UI"/>
              </a:rPr>
              <a:t>p. 20  ›</a:t>
            </a:r>
          </a:p>
        </p:txBody>
      </p:sp>
      <p:sp>
        <p:nvSpPr>
          <p:cNvPr id="37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8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35463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The Shape of a Dataset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1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3.1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3.1   The Shape of a Dataset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Three Kinds of Data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Measurement Scales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Tidy Data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Data Quality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Provenance and Metadata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§3.1     </a:t>
            </a:r>
            <a:fld id="{668A1242-2F95-43F0-985F-5396179A77BF}" type="slidenum">
              <a:rPr lang="en-GB" sz="1000">
                <a:solidFill>
                  <a:srgbClr val="8795A1"/>
                </a:solidFill>
                <a:latin typeface="Segoe UI"/>
              </a:rPr>
              <a:t>6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2555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Observation and Feature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§3.1  ·  Handout p. 17     </a:t>
            </a:r>
            <a:fld id="{E6D52036-F29F-437C-AC94-2F14721D0250}" type="slidenum">
              <a:rPr lang="en-GB" sz="1000">
                <a:solidFill>
                  <a:srgbClr val="8795A1"/>
                </a:solidFill>
                <a:latin typeface="Segoe UI"/>
              </a:rPr>
              <a:t>7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An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observation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(row, record, example, instance) is one thing you measured. A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feature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(column, variable, attribute, field) is one property measured about every thing. The number of observations is written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; the number of features </a:t>
            </a:r>
            <a:r>
              <a:rPr sz="2300" b="0" i="1">
                <a:solidFill>
                  <a:srgbClr val="1C252B"/>
                </a:solidFill>
                <a:latin typeface="Cambria"/>
              </a:rPr>
              <a:t>p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89648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Same Data, Four Granularities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§3.1  ·  Handout p. 17     </a:t>
            </a:r>
            <a:fld id="{04ECF93A-773E-42A1-B9FA-868DC81121D1}" type="slidenum">
              <a:rPr lang="en-GB" sz="1000">
                <a:solidFill>
                  <a:srgbClr val="8795A1"/>
                </a:solidFill>
                <a:latin typeface="Segoe UI"/>
              </a:rPr>
              <a:t>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463643"/>
          </a:xfrm>
          <a:prstGeom prst="roundRect">
            <a:avLst>
              <a:gd name="adj" fmla="val 204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463643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31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A university has swipe-card records for lecture attendance.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422702"/>
            <a:ext cx="10234879" cy="199750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01268" indent="-201268">
              <a:lnSpc>
                <a:spcPct val="104000"/>
              </a:lnSpc>
              <a:spcBef>
                <a:spcPts val="0"/>
              </a:spcBef>
              <a:spcAft>
                <a:spcPts val="630"/>
              </a:spcAft>
            </a:pPr>
            <a:r>
              <a:rPr sz="1800" b="1">
                <a:solidFill>
                  <a:srgbClr val="7D6608"/>
                </a:solidFill>
                <a:latin typeface="Segoe UI"/>
              </a:rPr>
              <a:t>•	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One row per swipe: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95,000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Features: student, room, timestamp. This is the raw </a:t>
            </a:r>
            <a:r>
              <a:rPr sz="1800" b="1" i="0">
                <a:solidFill>
                  <a:srgbClr val="1A5276"/>
                </a:solidFill>
                <a:latin typeface="Segoe UI"/>
              </a:rPr>
              <a:t>granularity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: it records attendances only, because a student who stays away swipes nothing.</a:t>
            </a:r>
          </a:p>
          <a:p>
            <a:pPr algn="l" marL="201268" indent="-201268">
              <a:lnSpc>
                <a:spcPct val="104000"/>
              </a:lnSpc>
              <a:spcBef>
                <a:spcPts val="0"/>
              </a:spcBef>
              <a:spcAft>
                <a:spcPts val="630"/>
              </a:spcAft>
            </a:pPr>
            <a:r>
              <a:rPr sz="1800" b="1">
                <a:solidFill>
                  <a:srgbClr val="7D6608"/>
                </a:solidFill>
                <a:latin typeface="Segoe UI"/>
              </a:rPr>
              <a:t>•	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One row per student per lecture: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120,000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— one row for each of the 2,000 students at each of the 60 lectures, whether they came or not. Feature: attended yes/no.</a:t>
            </a:r>
          </a:p>
          <a:p>
            <a:pPr algn="l" marL="201268" indent="-201268">
              <a:lnSpc>
                <a:spcPct val="104000"/>
              </a:lnSpc>
              <a:spcBef>
                <a:spcPts val="0"/>
              </a:spcBef>
              <a:spcAft>
                <a:spcPts val="630"/>
              </a:spcAft>
            </a:pPr>
            <a:r>
              <a:rPr sz="1800" b="1">
                <a:solidFill>
                  <a:srgbClr val="7D6608"/>
                </a:solidFill>
                <a:latin typeface="Segoe UI"/>
              </a:rPr>
              <a:t>•	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One row per student per week: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24,000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Feature: lectures attended out of 5.</a:t>
            </a:r>
          </a:p>
          <a:p>
            <a:pPr algn="l" marL="201268" indent="-201268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D6608"/>
                </a:solidFill>
                <a:latin typeface="Segoe UI"/>
              </a:rPr>
              <a:t>•	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One row per student: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1">
                <a:solidFill>
                  <a:srgbClr val="1C252B"/>
                </a:solidFill>
                <a:latin typeface="Cambria"/>
              </a:rPr>
              <a:t>n</a:t>
            </a:r>
            <a:r>
              <a:rPr sz="1800" b="0" i="0">
                <a:solidFill>
                  <a:srgbClr val="1C252B"/>
                </a:solidFill>
                <a:latin typeface="Cambria"/>
              </a:rPr>
              <a:t> ≈ 2,000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. Feature: overall attendance percentage.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4500219"/>
            <a:ext cx="10234879" cy="1472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7D6608"/>
                </a:solidFill>
                <a:latin typeface="Segoe UI"/>
              </a:rPr>
              <a:t>Why it matters.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If the frame says “predict which 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student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fails”, the modelling table must have one row per student — so the other three must be aggregated up. Every aggregation destroys information (row 4 cannot tell you </a:t>
            </a:r>
            <a:r>
              <a:rPr sz="1800" b="0" i="1">
                <a:solidFill>
                  <a:srgbClr val="1C252B"/>
                </a:solidFill>
                <a:latin typeface="Segoe UI"/>
              </a:rPr>
              <a:t>when</a:t>
            </a:r>
            <a:r>
              <a:rPr sz="1800" b="0" i="0">
                <a:solidFill>
                  <a:srgbClr val="1C252B"/>
                </a:solidFill>
                <a:latin typeface="Segoe UI"/>
              </a:rPr>
              <a:t> attendance collapsed) and every disaggregation invents none. Choose the coarsest granularity that still contains the signal, and do the aggregation deliberately rather than by accident.</a:t>
            </a:r>
          </a:p>
        </p:txBody>
      </p:sp>
      <p:sp>
        <p:nvSpPr>
          <p:cNvPr id="12" name="body-2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8" y="4518507"/>
            <a:ext cx="54864" cy="1408176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16741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three kinds of data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3.1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§3.2  ·  Handout p. 18     </a:t>
            </a:r>
            <a:fld id="{7B48760A-3414-44A8-8BA9-FAC8857957C3}" type="slidenum">
              <a:rPr lang="en-GB" sz="1000">
                <a:solidFill>
                  <a:srgbClr val="8795A1"/>
                </a:solidFill>
                <a:latin typeface="Segoe UI"/>
              </a:rPr>
              <a:t>9</a:t>
            </a:fld>
          </a:p>
        </p:txBody>
      </p:sp>
      <p:pic>
        <p:nvPicPr>
          <p:cNvPr id="6" name="!!figure" descr="Figure 3.1. The three kinds of data. Most organisational data is not the tidy table beginners picture; the majority is semi-structured logs and unstructured documents, which is why Chapters 7, 20 and 23 exist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926809"/>
            <a:ext cx="10874959" cy="2657937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Most organisational data is not the tidy table beginners picture; the majority is semi-structured logs and unstructured documents, which is why Chapters 7, 20 and 23 exist.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43833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Measurement Scales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3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3.3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The Shape of a Dataset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Three Kinds of Data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3.3   Measurement Scales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Tidy Data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Data Quality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Provenance and Metadata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§3.3     </a:t>
            </a:r>
            <a:fld id="{B436D5FD-ADFC-4B5E-BEF2-4A34F4CA4103}" type="slidenum">
              <a:rPr lang="en-GB" sz="1000">
                <a:solidFill>
                  <a:srgbClr val="8795A1"/>
                </a:solidFill>
                <a:latin typeface="Segoe UI"/>
              </a:rPr>
              <a:t>10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70926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Four Measurement Scales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§3.3  ·  Handout p. 18     </a:t>
            </a:r>
            <a:fld id="{5CCA24B7-2016-4827-94A0-0C1C963DD8F1}" type="slidenum">
              <a:rPr lang="en-GB" sz="1000">
                <a:solidFill>
                  <a:srgbClr val="8795A1"/>
                </a:solidFill>
                <a:latin typeface="Segoe UI"/>
              </a:rPr>
              <a:t>11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291001"/>
          </a:xfrm>
          <a:prstGeom prst="roundRect">
            <a:avLst>
              <a:gd name="adj" fmla="val 2778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291001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Nominal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named categories, no order (blood group, protocol, department).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937992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Ordinal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ordered categories, unequal or unknown gaps (grade A/B/C, severity low/medium/high).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60704" y="3827729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Interval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numeric, equal gaps,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arbitrary zero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(Celsius, calendar year).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60704" y="4352924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Ratio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numeric, equal gaps,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true zero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(count, duration, bytes, kelvin).</a:t>
            </a:r>
          </a:p>
        </p:txBody>
      </p:sp>
      <p:sp>
        <p:nvSpPr>
          <p:cNvPr id="13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298019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Measurement Scales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AT A GLANCE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§3.3  ·  Handout p. 18     </a:t>
            </a:r>
            <a:fld id="{A4E42447-E24D-48E5-B57C-932A7A58A970}" type="slidenum">
              <a:rPr lang="en-GB" sz="1000">
                <a:solidFill>
                  <a:srgbClr val="8795A1"/>
                </a:solidFill>
                <a:latin typeface="Segoe UI"/>
              </a:rPr>
              <a:t>12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534965" cy="202692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370260"/>
                <a:gridCol w="1975053"/>
                <a:gridCol w="1575799"/>
                <a:gridCol w="2360875"/>
                <a:gridCol w="3252978"/>
              </a:tblGrid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Scale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Legal operations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Centre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Example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Nonsense you must avoid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Nominal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=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≠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Mode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TCP / UDP / ICMP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“the average protocol is 1.7”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Ordinal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=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&lt;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&gt;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Median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Low / Med / High risk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“High is exactly twice Medium”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EF7F1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Interval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+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−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Mean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Temperature in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°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“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20°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 is twice as hot as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10°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C”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Ratio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+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−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×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Cambria"/>
                        </a:rPr>
                        <a:t>÷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Mean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Packets per second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(none — all operations valid)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EF7F1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25111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Encoded-Category Trap</a:t>
            </a:r>
          </a:p>
        </p:txBody>
      </p:sp>
      <p:pic>
        <p:nvPicPr>
          <p:cNvPr id="3" name="!!kicker-icon" descr="exclamation-triangle-E74C3C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45688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E74C3C"/>
                </a:solidFill>
                <a:latin typeface="Segoe UI"/>
              </a:rPr>
              <a:t>WATCH OUT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§3.3  ·  Handout p. 18     </a:t>
            </a:r>
            <a:fld id="{2B83DE7D-1A7F-4C16-B8DF-1E0DA6CAC7A5}" type="slidenum">
              <a:rPr lang="en-GB" sz="1000">
                <a:solidFill>
                  <a:srgbClr val="8795A1"/>
                </a:solidFill>
                <a:latin typeface="Segoe UI"/>
              </a:rPr>
              <a:t>13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444496"/>
          </a:xfrm>
          <a:prstGeom prst="roundRect">
            <a:avLst>
              <a:gd name="adj" fmla="val 3740"/>
            </a:avLst>
          </a:prstGeom>
          <a:solidFill>
            <a:srgbClr val="FDED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444496"/>
          </a:xfrm>
          <a:prstGeom prst="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8684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moment you encode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{TCP, UDP, ICMP}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as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{1, 2, 3}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so a model will accept it, every algorithm downstream will happily compute that UDP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− 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TCP</a:t>
            </a:r>
            <a:r>
              <a:rPr sz="2300" b="0" i="0">
                <a:solidFill>
                  <a:srgbClr val="1C252B"/>
                </a:solidFill>
                <a:latin typeface="Cambria"/>
              </a:rPr>
              <a:t> = 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TCP and that ICMP is “larger” than the others. This is why Chapter 7 teaches one-hot encoding: it preserves the nominal scale instead of silently promoting it to ratio.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52204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Tidy Data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4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3.4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The Shape of a Dataset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Three Kinds of Data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Measurement Scales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3.4   Tidy Data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Data Quality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Provenance and Metadata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§3.4     </a:t>
            </a:r>
            <a:fld id="{9CB3FA6A-FA12-4B32-831C-DF0117582D96}" type="slidenum">
              <a:rPr lang="en-GB" sz="1000">
                <a:solidFill>
                  <a:srgbClr val="8795A1"/>
                </a:solidFill>
                <a:latin typeface="Segoe UI"/>
              </a:rPr>
              <a:t>14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379297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Tidy Data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§3.4  ·  Handout p. 19     </a:t>
            </a:r>
            <a:fld id="{F728BF9A-1949-43D9-8395-D9922C24A2C5}" type="slidenum">
              <a:rPr lang="en-GB" sz="1000">
                <a:solidFill>
                  <a:srgbClr val="8795A1"/>
                </a:solidFill>
                <a:latin typeface="Segoe UI"/>
              </a:rPr>
              <a:t>15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A dataset is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tidy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when (1) each variable forms a column, (2) each observation forms a row, and (3) each type of observational unit forms a table. Almost every analysis tool assumes tidy input, and almost no real dataset arrives that way.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06389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Messy versus tidy layout of the same attendance data</a:t>
            </a:r>
          </a:p>
        </p:txBody>
      </p:sp>
      <p:sp>
        <p:nvSpPr>
          <p:cNvPr id="3" name="!!kicker"/>
          <p:cNvSpPr txBox="1"/>
          <p:nvPr/>
        </p:nvSpPr>
        <p:spPr>
          <a:xfrm>
            <a:off x="658368" y="402336"/>
            <a:ext cx="10874959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FIGURE 3.2</a:t>
            </a:r>
          </a:p>
        </p:txBody>
      </p:sp>
      <p:sp>
        <p:nvSpPr>
          <p:cNvPr id="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§3.4  ·  Handout p. 19     </a:t>
            </a:r>
            <a:fld id="{C57F81B1-7758-4E7C-B3D5-E0F2180C00C5}" type="slidenum">
              <a:rPr lang="en-GB" sz="1000">
                <a:solidFill>
                  <a:srgbClr val="8795A1"/>
                </a:solidFill>
                <a:latin typeface="Segoe UI"/>
              </a:rPr>
              <a:t>16</a:t>
            </a:fld>
          </a:p>
        </p:txBody>
      </p:sp>
      <p:pic>
        <p:nvPicPr>
          <p:cNvPr id="6" name="!!figure" descr="Figure 3.2. Messy versus tidy layout of the same attendance data. On the left, week is not a variable but three column names, so you cannot filter, group or plot by it. Reshaping to the right is the single most common preparation step in real projects.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750950"/>
            <a:ext cx="10874959" cy="3662845"/>
          </a:xfrm>
          <a:prstGeom prst="rect">
            <a:avLst/>
          </a:prstGeom>
        </p:spPr>
      </p:pic>
      <p:sp>
        <p:nvSpPr>
          <p:cNvPr id="7" name="!!take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60745"/>
            <a:ext cx="54864" cy="575462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take"/>
          <p:cNvSpPr txBox="1"/>
          <p:nvPr/>
        </p:nvSpPr>
        <p:spPr>
          <a:xfrm>
            <a:off x="877824" y="5642457"/>
            <a:ext cx="10600639" cy="758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3E4C57"/>
                </a:solidFill>
                <a:latin typeface="Segoe UI"/>
              </a:rPr>
              <a:t>On the left, week is not a variable but three column names, so you cannot filter, group or plot by it. Reshaping to the right is the single most common preparation step in real projects.</a:t>
            </a:r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33482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Data Quality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5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3.5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The Shape of a Dataset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Three Kinds of Data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Measurement Scales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Tidy Data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3.5   Data Quality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3.6   Provenance and Metadata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§3.5     </a:t>
            </a:r>
            <a:fld id="{4016E320-8037-45B7-B2EF-1F61BF576ECA}" type="slidenum">
              <a:rPr lang="en-GB" sz="1000">
                <a:solidFill>
                  <a:srgbClr val="8795A1"/>
                </a:solidFill>
                <a:latin typeface="Segoe UI"/>
              </a:rPr>
              <a:t>17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60575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Six Dimensions of Data Quality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19     </a:t>
            </a:r>
            <a:fld id="{1A0BB0DC-0934-465B-8A49-D1E6B2B3692E}" type="slidenum">
              <a:rPr lang="en-GB" sz="1000">
                <a:solidFill>
                  <a:srgbClr val="8795A1"/>
                </a:solidFill>
                <a:latin typeface="Segoe UI"/>
              </a:rPr>
              <a:t>18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A5276"/>
                </a:solidFill>
                <a:latin typeface="Segoe UI"/>
              </a:rPr>
              <a:t>Completeness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is anything missing?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Accuracy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does it match reality?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Consistency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do different sources agree?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Timeliness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is it current enough for the decision?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Validity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does it satisfy the rules of its own schema? </a:t>
            </a:r>
            <a:r>
              <a:rPr sz="2300" b="1" i="0">
                <a:solidFill>
                  <a:srgbClr val="1A5276"/>
                </a:solidFill>
                <a:latin typeface="Segoe UI"/>
              </a:rPr>
              <a:t>Uniqueness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is each real-world entity represented once?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87667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Auditing a Student Records Extract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19     </a:t>
            </a:r>
            <a:fld id="{9D11F853-5DDD-4990-839A-97DC32A7413D}" type="slidenum">
              <a:rPr lang="en-GB" sz="1000">
                <a:solidFill>
                  <a:srgbClr val="8795A1"/>
                </a:solidFill>
                <a:latin typeface="Segoe UI"/>
              </a:rPr>
              <a:t>19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4223639"/>
          </a:xfrm>
          <a:prstGeom prst="roundRect">
            <a:avLst>
              <a:gd name="adj" fmla="val 2164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4223639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An extract of 2,000 student records is handed over. Applying the six dimensions in order: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44553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Completeness: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prior_qualification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is empty for 640 rows (32%). Not fatal, but no model may treat it as reliably present.</a:t>
            </a:r>
          </a:p>
        </p:txBody>
      </p:sp>
      <p:sp>
        <p:nvSpPr>
          <p:cNvPr id="11" name="body-2"/>
          <p:cNvSpPr txBox="1"/>
          <p:nvPr/>
        </p:nvSpPr>
        <p:spPr>
          <a:xfrm>
            <a:off x="1042416" y="318053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Accuracy: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12 students have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age = 0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. Compare against date of birth: these are placeholder values, not newborns.</a:t>
            </a:r>
          </a:p>
        </p:txBody>
      </p:sp>
      <p:sp>
        <p:nvSpPr>
          <p:cNvPr id="12" name="body-3"/>
          <p:cNvSpPr txBox="1"/>
          <p:nvPr/>
        </p:nvSpPr>
        <p:spPr>
          <a:xfrm>
            <a:off x="1042416" y="3915537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Consistency: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registry lists 2,000 students; the VLE lists 2,043. The extra 43 are staff test accounts. Left in, they would be modelled as students who never fail.</a:t>
            </a:r>
          </a:p>
        </p:txBody>
      </p:sp>
      <p:sp>
        <p:nvSpPr>
          <p:cNvPr id="13" name="body-4"/>
          <p:cNvSpPr txBox="1"/>
          <p:nvPr/>
        </p:nvSpPr>
        <p:spPr>
          <a:xfrm>
            <a:off x="1042416" y="4650536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Timeliness: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attendance_pct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was computed in week 12 but the model is to run in week 4. This is a </a:t>
            </a:r>
            <a:r>
              <a:rPr sz="1900" b="0" i="1">
                <a:solidFill>
                  <a:srgbClr val="1C252B"/>
                </a:solidFill>
                <a:latin typeface="Segoe UI"/>
              </a:rPr>
              <a:t>framing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violation (Chapter 2, question 4), discovered here.</a:t>
            </a:r>
          </a:p>
        </p:txBody>
      </p:sp>
      <p:sp>
        <p:nvSpPr>
          <p:cNvPr id="14" name="body-5"/>
          <p:cNvSpPr txBox="1"/>
          <p:nvPr/>
        </p:nvSpPr>
        <p:spPr>
          <a:xfrm>
            <a:off x="1042416" y="5385536"/>
            <a:ext cx="10234879" cy="3468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Validity: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3 rows carry </a:t>
            </a:r>
            <a:r>
              <a:rPr sz="1800" b="0" i="0">
                <a:solidFill>
                  <a:srgbClr val="1F4E79"/>
                </a:solidFill>
                <a:latin typeface="Consolas"/>
              </a:rPr>
              <a:t>final_grade = "Z"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, which is not in the permitted grade set.</a:t>
            </a:r>
          </a:p>
        </p:txBody>
      </p:sp>
      <p:sp>
        <p:nvSpPr>
          <p:cNvPr id="2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4760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Auditing a Student Records Extract (continued)</a:t>
            </a:r>
          </a:p>
        </p:txBody>
      </p:sp>
      <p:pic>
        <p:nvPicPr>
          <p:cNvPr id="3" name="!!kicker-icon" descr="calculator-B7950B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7950B"/>
                </a:solidFill>
                <a:latin typeface="Segoe UI"/>
              </a:rPr>
              <a:t>WORKED EXAMPLE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  ·  Handout p. 19     </a:t>
            </a:r>
            <a:fld id="{E12B4ACF-ABEB-4C9C-9BBD-749C99FE82F9}" type="slidenum">
              <a:rPr lang="en-GB" sz="1000">
                <a:solidFill>
                  <a:srgbClr val="8795A1"/>
                </a:solidFill>
                <a:latin typeface="Segoe UI"/>
              </a:rPr>
              <a:t>20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885924"/>
          </a:xfrm>
          <a:prstGeom prst="roundRect">
            <a:avLst>
              <a:gd name="adj" fmla="val 4848"/>
            </a:avLst>
          </a:prstGeom>
          <a:solidFill>
            <a:srgbClr val="FBF8EC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885924"/>
          </a:xfrm>
          <a:prstGeom prst="rect">
            <a:avLst/>
          </a:prstGeom>
          <a:solidFill>
            <a:srgbClr val="B79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42416" y="2011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Uniqueness: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8 students appear twice, having transferred between programmes. Deduplicating naively by student ID would silently drop one of their two enrolments.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42416" y="2746679"/>
            <a:ext cx="10234879" cy="6480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7D6608"/>
                </a:solidFill>
                <a:latin typeface="Segoe UI"/>
              </a:rPr>
              <a:t>Verdict: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 the dataset is usable, but only after documented decisions on each of the six. The audit takes an afternoon; skipping it costs weeks.</a:t>
            </a:r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418531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Missing Data: Three Mechanisms</a:t>
            </a:r>
          </a:p>
        </p:txBody>
      </p:sp>
      <p:pic>
        <p:nvPicPr>
          <p:cNvPr id="3" name="!!kicker-icon" descr="table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5007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AT A GLANCE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§3.5.1  ·  Handout p. 20     </a:t>
            </a:r>
            <a:fld id="{A04E2B10-681B-49AB-B89A-32B8DB2FC4E0}" type="slidenum">
              <a:rPr lang="en-GB" sz="1000">
                <a:solidFill>
                  <a:srgbClr val="8795A1"/>
                </a:solidFill>
                <a:latin typeface="Segoe UI"/>
              </a:rPr>
              <a:t>21</a:t>
            </a:fld>
          </a:p>
        </p:txBody>
      </p:sp>
      <p:graphicFrame>
        <p:nvGraphicFramePr>
          <p:cNvPr id="7" name="!!table"/>
          <p:cNvGraphicFramePr>
            <a:graphicFrameLocks noGrp="1"/>
          </p:cNvGraphicFramePr>
          <p:nvPr/>
        </p:nvGraphicFramePr>
        <p:xfrm>
          <a:off x="658368" y="1737360"/>
          <a:ext cx="10874958" cy="3694176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963534"/>
                <a:gridCol w="4078109"/>
                <a:gridCol w="4833315"/>
              </a:tblGrid>
              <a:tr h="405384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Mechanism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Meaning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>
                          <a:solidFill>
                            <a:srgbClr val="1A5276"/>
                          </a:solidFill>
                          <a:latin typeface="Segoe UI"/>
                        </a:rPr>
                        <a:t>Example and consequence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solidFill>
                        <a:srgbClr val="1A5276"/>
                      </a:solidFill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DDE5EA"/>
                    </a:solidFill>
                  </a:tcPr>
                </a:tc>
              </a:tr>
              <a:tr h="92354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MCAR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Segoe UI"/>
                        </a:rPr>
                        <a:t>completely at random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Missingness is unrelated to anything, observed or not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A sensor drops packets when the network is congested, independent of the reading. Dropping those rows is safe, just wasteful.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18262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MAR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Segoe UI"/>
                        </a:rPr>
                        <a:t>at random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Missingness depends on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Segoe UI"/>
                        </a:rPr>
                        <a:t>observed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variables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Part-time students skip the optional survey more often. Missingness is predictable from </a:t>
                      </a:r>
                      <a:r>
                        <a:rPr sz="1600" b="0" i="0">
                          <a:solidFill>
                            <a:srgbClr val="1F4E79"/>
                          </a:solidFill>
                          <a:latin typeface="Consolas"/>
                        </a:rPr>
                        <a:t>enrolment_type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, so imputation conditional on it is defensible.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solidFill>
                      <a:srgbClr val="F2F8FC"/>
                    </a:solidFill>
                  </a:tcPr>
                </a:tc>
              </a:tr>
              <a:tr h="1182624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MNAR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Segoe UI"/>
                        </a:rPr>
                        <a:t>not at random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Missingness depends on the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Segoe UI"/>
                        </a:rPr>
                        <a:t>unobserved value itself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Students who are failing stop submitting the self-assessment. The missingness </a:t>
                      </a:r>
                      <a:r>
                        <a:rPr sz="1700" b="0" i="1">
                          <a:solidFill>
                            <a:srgbClr val="1C252B"/>
                          </a:solidFill>
                          <a:latin typeface="Segoe UI"/>
                        </a:rPr>
                        <a:t>is</a:t>
                      </a:r>
                      <a:r>
                        <a:rPr sz="1700" b="0" i="0">
                          <a:solidFill>
                            <a:srgbClr val="1C252B"/>
                          </a:solidFill>
                          <a:latin typeface="Segoe UI"/>
                        </a:rPr>
                        <a:t> the signal. Imputing it destroys the very information you needed.</a:t>
                      </a:r>
                      <a:endParaRPr sz="1700"/>
                    </a:p>
                  </a:txBody>
                  <a:tcPr marL="109728" marR="109728" marT="64008" marB="45720" anchor="t">
                    <a:lnL w="0" cmpd="sng">
                      <a:noFill/>
                    </a:lnL>
                    <a:lnR w="0" cmpd="sng">
                      <a:noFill/>
                    </a:lnR>
                    <a:lnT w="19050" cmpd="sng">
                      <a:noFill/>
                    </a:lnT>
                    <a:lnB w="19050" cmpd="sng">
                      <a:solidFill>
                        <a:srgbClr val="1A527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68945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The MNAR Rule of Thumb</a:t>
            </a:r>
          </a:p>
        </p:txBody>
      </p:sp>
      <p:pic>
        <p:nvPicPr>
          <p:cNvPr id="3" name="!!kicker-icon" descr="lightbulb-2E86C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52915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E86C1"/>
                </a:solidFill>
                <a:latin typeface="Segoe UI"/>
              </a:rPr>
              <a:t>CONCEPT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§3.5.1  ·  Handout p. 20     </a:t>
            </a:r>
            <a:fld id="{DD9C2677-3656-4FFF-8C50-FDE9C6D1AA18}" type="slidenum">
              <a:rPr lang="en-GB" sz="1000">
                <a:solidFill>
                  <a:srgbClr val="8795A1"/>
                </a:solidFill>
                <a:latin typeface="Segoe UI"/>
              </a:rPr>
              <a:t>22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2079955"/>
          </a:xfrm>
          <a:prstGeom prst="roundRect">
            <a:avLst>
              <a:gd name="adj" fmla="val 4396"/>
            </a:avLst>
          </a:prstGeom>
          <a:solidFill>
            <a:srgbClr val="EBF5FB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2079955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50388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If you suspect MNAR, do not impute —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encode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. Add a boolean column </a:t>
            </a:r>
            <a:r>
              <a:rPr sz="2150" b="0" i="0">
                <a:solidFill>
                  <a:srgbClr val="1F4E79"/>
                </a:solidFill>
                <a:latin typeface="Consolas"/>
              </a:rPr>
              <a:t>was_missing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and let the model use the fact of absence as a feature. In learning analytics and in security logging, absence is very often the strongest signal in the dataset.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96038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4846320" y="1874519"/>
            <a:ext cx="6659575" cy="182880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6000"/>
              </a:lnSpc>
            </a:pPr>
            <a:r>
              <a:rPr sz="3800" b="0">
                <a:solidFill>
                  <a:srgbClr val="1C252B"/>
                </a:solidFill>
                <a:latin typeface="Segoe UI Semibold"/>
              </a:rPr>
              <a:t>Provenance and Metadata</a:t>
            </a:r>
          </a:p>
        </p:txBody>
      </p:sp>
      <p:sp>
        <p:nvSpPr>
          <p:cNvPr id="3" name="!!d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4" name="!!dsec"/>
          <p:cNvSpPr txBox="1"/>
          <p:nvPr/>
        </p:nvSpPr>
        <p:spPr>
          <a:xfrm>
            <a:off x="658368" y="192024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80">
                <a:solidFill>
                  <a:srgbClr val="BACBD6"/>
                </a:solidFill>
                <a:latin typeface="Segoe UI"/>
              </a:rPr>
              <a:t>SECTION 6 OF 6</a:t>
            </a:r>
          </a:p>
        </p:txBody>
      </p:sp>
      <p:sp>
        <p:nvSpPr>
          <p:cNvPr id="5" name="!!dnum"/>
          <p:cNvSpPr txBox="1"/>
          <p:nvPr/>
        </p:nvSpPr>
        <p:spPr>
          <a:xfrm>
            <a:off x="621792" y="2249424"/>
            <a:ext cx="333756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0" i="0">
                <a:solidFill>
                  <a:srgbClr val="FFFFFF"/>
                </a:solidFill>
                <a:latin typeface="Segoe UI Semibold"/>
              </a:rPr>
              <a:t>3.6</a:t>
            </a:r>
          </a:p>
        </p:txBody>
      </p:sp>
      <p:sp>
        <p:nvSpPr>
          <p:cNvPr id="6" name="!!dl0"/>
          <p:cNvSpPr txBox="1"/>
          <p:nvPr/>
        </p:nvSpPr>
        <p:spPr>
          <a:xfrm>
            <a:off x="4846320" y="416052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3.1   The Shape of a Dataset</a:t>
            </a:r>
          </a:p>
        </p:txBody>
      </p:sp>
      <p:sp>
        <p:nvSpPr>
          <p:cNvPr id="7" name="!!dl1"/>
          <p:cNvSpPr txBox="1"/>
          <p:nvPr/>
        </p:nvSpPr>
        <p:spPr>
          <a:xfrm>
            <a:off x="4846320" y="4434840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3.2   Three Kinds of Data</a:t>
            </a:r>
          </a:p>
        </p:txBody>
      </p:sp>
      <p:sp>
        <p:nvSpPr>
          <p:cNvPr id="8" name="!!dl2"/>
          <p:cNvSpPr txBox="1"/>
          <p:nvPr/>
        </p:nvSpPr>
        <p:spPr>
          <a:xfrm>
            <a:off x="4846320" y="470915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3.3   Measurement Scales</a:t>
            </a:r>
          </a:p>
        </p:txBody>
      </p:sp>
      <p:sp>
        <p:nvSpPr>
          <p:cNvPr id="9" name="!!dl3"/>
          <p:cNvSpPr txBox="1"/>
          <p:nvPr/>
        </p:nvSpPr>
        <p:spPr>
          <a:xfrm>
            <a:off x="4846320" y="498347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3.4   Tidy Data</a:t>
            </a:r>
          </a:p>
        </p:txBody>
      </p:sp>
      <p:sp>
        <p:nvSpPr>
          <p:cNvPr id="10" name="!!dl4"/>
          <p:cNvSpPr txBox="1"/>
          <p:nvPr/>
        </p:nvSpPr>
        <p:spPr>
          <a:xfrm>
            <a:off x="4846320" y="525779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8A4AE"/>
                </a:solidFill>
                <a:latin typeface="Segoe UI"/>
              </a:rPr>
              <a:t>3.5   Data Quality</a:t>
            </a:r>
          </a:p>
        </p:txBody>
      </p:sp>
      <p:sp>
        <p:nvSpPr>
          <p:cNvPr id="11" name="!!dl5"/>
          <p:cNvSpPr txBox="1"/>
          <p:nvPr/>
        </p:nvSpPr>
        <p:spPr>
          <a:xfrm>
            <a:off x="4846320" y="5532119"/>
            <a:ext cx="66595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5276"/>
                </a:solidFill>
                <a:latin typeface="Segoe UI"/>
              </a:rPr>
              <a:t>3.6   Provenance and Metadata</a:t>
            </a:r>
          </a:p>
        </p:txBody>
      </p:sp>
      <p:sp>
        <p:nvSpPr>
          <p:cNvPr id="12" name="!!footL"/>
          <p:cNvSpPr txBox="1"/>
          <p:nvPr/>
        </p:nvSpPr>
        <p:spPr>
          <a:xfrm>
            <a:off x="4846320" y="6437376"/>
            <a:ext cx="45720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</a:t>
            </a:r>
          </a:p>
        </p:txBody>
      </p:sp>
      <p:sp>
        <p:nvSpPr>
          <p:cNvPr id="13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§3.6     </a:t>
            </a:r>
            <a:fld id="{57F741FC-BFDA-4333-8F01-A21E21593487}" type="slidenum">
              <a:rPr lang="en-GB" sz="1000">
                <a:solidFill>
                  <a:srgbClr val="8795A1"/>
                </a:solidFill>
                <a:latin typeface="Segoe UI"/>
              </a:rPr>
              <a:t>23</a:t>
            </a:fld>
          </a:p>
        </p:txBody>
      </p:sp>
      <p:sp>
        <p:nvSpPr>
          <p:cNvPr id="1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23131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push dir="u"/>
      </p:transition>
    </mc:Choice>
    <mc:Fallback>
      <p:transition spd="med">
        <p:push dir="u"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Provenance</a:t>
            </a:r>
          </a:p>
        </p:txBody>
      </p:sp>
      <p:pic>
        <p:nvPicPr>
          <p:cNvPr id="3" name="!!kicker-icon" descr="book-B35900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314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B35900"/>
                </a:solidFill>
                <a:latin typeface="Segoe UI"/>
              </a:rPr>
              <a:t>DEFINITION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20     </a:t>
            </a:r>
            <a:fld id="{0D3F09E8-E8A0-4B4A-A36B-C053D72B81B5}" type="slidenum">
              <a:rPr lang="en-GB" sz="1000">
                <a:solidFill>
                  <a:srgbClr val="8795A1"/>
                </a:solidFill>
                <a:latin typeface="Segoe UI"/>
              </a:rPr>
              <a:t>24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715414"/>
          </a:xfrm>
          <a:prstGeom prst="roundRect">
            <a:avLst>
              <a:gd name="adj" fmla="val 5330"/>
            </a:avLst>
          </a:prstGeom>
          <a:solidFill>
            <a:srgbClr val="FDF2E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715414"/>
          </a:xfrm>
          <a:prstGeom prst="rect">
            <a:avLst/>
          </a:prstGeom>
          <a:solidFill>
            <a:srgbClr val="B35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11393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The documented history of a dataset: where it came from, who produced it, when, under what definitions, and what has been done to it since. A dataset without provenance is an anecdote.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50223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Provenance and Metadata</a:t>
            </a:r>
          </a:p>
        </p:txBody>
      </p:sp>
      <p:pic>
        <p:nvPicPr>
          <p:cNvPr id="3" name="!!kicker-icon" descr="list-ul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6883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IN BRIEF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20     </a:t>
            </a:r>
            <a:fld id="{A2121F4F-C694-4267-97D2-76E9E4DEDD37}" type="slidenum">
              <a:rPr lang="en-GB" sz="1000">
                <a:solidFill>
                  <a:srgbClr val="8795A1"/>
                </a:solidFill>
                <a:latin typeface="Segoe UI"/>
              </a:rPr>
              <a:t>25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3276396"/>
          </a:xfrm>
          <a:prstGeom prst="roundRect">
            <a:avLst>
              <a:gd name="adj" fmla="val 2790"/>
            </a:avLst>
          </a:prstGeom>
          <a:solidFill>
            <a:srgbClr val="F2F6F9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3276396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4102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1C252B"/>
                </a:solidFill>
                <a:latin typeface="Segoe UI"/>
              </a:rPr>
              <a:t>Minimum metadata to record for every dataset you use in this course:</a:t>
            </a:r>
          </a:p>
        </p:txBody>
      </p:sp>
      <p:sp>
        <p:nvSpPr>
          <p:cNvPr id="10" name="body-1"/>
          <p:cNvSpPr txBox="1"/>
          <p:nvPr/>
        </p:nvSpPr>
        <p:spPr>
          <a:xfrm>
            <a:off x="1060704" y="2573451"/>
            <a:ext cx="10161727" cy="21751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Source system and extraction date.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The definition of each column, </a:t>
            </a:r>
            <a:r>
              <a:rPr sz="2300" b="0" i="1">
                <a:solidFill>
                  <a:srgbClr val="1C252B"/>
                </a:solidFill>
                <a:latin typeface="Segoe UI"/>
              </a:rPr>
              <a:t>in the words of the people who generate it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— “active user” means something specific and probably surprising.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804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Known quality issues and the decisions you took about them.</a:t>
            </a:r>
          </a:p>
          <a:p>
            <a:pPr algn="l" marL="257176" indent="-257176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A5276"/>
                </a:solidFill>
                <a:latin typeface="Segoe UI"/>
              </a:rPr>
              <a:t>•	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Licence and permitted use, especially for personal data (see Chapter 28).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73164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38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8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8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8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Four lenses: Characteristic Data</a:t>
            </a:r>
          </a:p>
        </p:txBody>
      </p:sp>
      <p:pic>
        <p:nvPicPr>
          <p:cNvPr id="3" name="!!kicker-icon" descr="compass-12395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2395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A5419676-E33E-4D1B-A7DC-70C5A159CB11}" type="slidenum">
              <a:rPr lang="en-GB" sz="1000">
                <a:solidFill>
                  <a:srgbClr val="8795A1"/>
                </a:solidFill>
                <a:latin typeface="Segoe UI"/>
              </a:rPr>
              <a:t>26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5318607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4460197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enrolment records, grades, demographics.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1737360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121408"/>
            <a:ext cx="5318607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5887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6863974" y="1837943"/>
            <a:ext cx="4577912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b-PM-0"/>
          <p:cNvSpPr txBox="1"/>
          <p:nvPr/>
        </p:nvSpPr>
        <p:spPr>
          <a:xfrm>
            <a:off x="6452463" y="2414016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issue trackers, timesheets, commit counts.</a:t>
            </a:r>
          </a:p>
        </p:txBody>
      </p:sp>
      <p:sp>
        <p:nvSpPr>
          <p:cNvPr id="19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517136"/>
            <a:ext cx="5318607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2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536" y="4251959"/>
            <a:ext cx="256032" cy="256032"/>
          </a:xfrm>
          <a:prstGeom prst="rect">
            <a:avLst/>
          </a:prstGeom>
        </p:spPr>
      </p:pic>
      <p:sp>
        <p:nvSpPr>
          <p:cNvPr id="23" name="!!lensn-IOT"/>
          <p:cNvSpPr txBox="1"/>
          <p:nvPr/>
        </p:nvSpPr>
        <p:spPr>
          <a:xfrm>
            <a:off x="1261872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4" name="!!lensb-IOT-0"/>
          <p:cNvSpPr txBox="1"/>
          <p:nvPr/>
        </p:nvSpPr>
        <p:spPr>
          <a:xfrm>
            <a:off x="896112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time-stamped numeric telemetry, one row per sensor per interval.</a:t>
            </a:r>
          </a:p>
        </p:txBody>
      </p:sp>
      <p:sp>
        <p:nvSpPr>
          <p:cNvPr id="25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2176272"/>
          </a:xfrm>
          <a:prstGeom prst="roundRect">
            <a:avLst>
              <a:gd name="adj" fmla="val 4201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6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133087"/>
            <a:ext cx="5318607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7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4517136"/>
            <a:ext cx="5318607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8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15887" y="4251959"/>
            <a:ext cx="256032" cy="256032"/>
          </a:xfrm>
          <a:prstGeom prst="rect">
            <a:avLst/>
          </a:prstGeom>
        </p:spPr>
      </p:pic>
      <p:sp>
        <p:nvSpPr>
          <p:cNvPr id="29" name="!!lensn-SEC"/>
          <p:cNvSpPr txBox="1"/>
          <p:nvPr/>
        </p:nvSpPr>
        <p:spPr>
          <a:xfrm>
            <a:off x="6818223" y="4233672"/>
            <a:ext cx="4623663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30" name="!!lensb-SEC-0"/>
          <p:cNvSpPr txBox="1"/>
          <p:nvPr/>
        </p:nvSpPr>
        <p:spPr>
          <a:xfrm>
            <a:off x="6452463" y="4809744"/>
            <a:ext cx="4861407" cy="14081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NetFlow records, authentication events.</a:t>
            </a:r>
          </a:p>
        </p:txBody>
      </p:sp>
      <p:sp>
        <p:nvSpPr>
          <p:cNvPr id="31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32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04409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Learning Analytics: Characteristic Data</a:t>
            </a:r>
          </a:p>
        </p:txBody>
      </p:sp>
      <p:pic>
        <p:nvPicPr>
          <p:cNvPr id="3" name="!!kicker-icon" descr="compass-6C3483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6C3483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492D0795-A975-4838-A51B-63FDE5D5D9A9}" type="slidenum">
              <a:rPr lang="en-GB" sz="1000">
                <a:solidFill>
                  <a:srgbClr val="8795A1"/>
                </a:solidFill>
                <a:latin typeface="Segoe UI"/>
              </a:rPr>
              <a:t>27</a:t>
            </a:fld>
          </a:p>
        </p:txBody>
      </p:sp>
      <p:sp>
        <p:nvSpPr>
          <p:cNvPr id="7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6F3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419498" cy="256032"/>
          </a:xfrm>
          <a:prstGeom prst="rect">
            <a:avLst/>
          </a:prstGeom>
        </p:spPr>
      </p:pic>
      <p:sp>
        <p:nvSpPr>
          <p:cNvPr id="11" name="!!lensn-LA"/>
          <p:cNvSpPr txBox="1"/>
          <p:nvPr/>
        </p:nvSpPr>
        <p:spPr>
          <a:xfrm>
            <a:off x="1425337" y="1837943"/>
            <a:ext cx="7181909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2" name="!!lensb-LA-0"/>
          <p:cNvSpPr txBox="1"/>
          <p:nvPr/>
        </p:nvSpPr>
        <p:spPr>
          <a:xfrm>
            <a:off x="896112" y="2432304"/>
            <a:ext cx="7583119" cy="28352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enrolment records, grades, demographics.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Semi-structured: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VLE clickstream (JSON events with timestamps).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Unstructured: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forum posts, essay submissions.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Key quality risk: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uniqueness — one human may hold several accounts across systems, and joining them wrongly either fragments or fabricates a student.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Typical missingness: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MNAR, because disengaged students stop generating data at exactly the moment you most need it.</a:t>
            </a:r>
          </a:p>
        </p:txBody>
      </p:sp>
      <p:sp>
        <p:nvSpPr>
          <p:cNvPr id="13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301783" cy="256032"/>
          </a:xfrm>
          <a:prstGeom prst="rect">
            <a:avLst/>
          </a:prstGeom>
        </p:spPr>
      </p:pic>
      <p:sp>
        <p:nvSpPr>
          <p:cNvPr id="17" name="!!lensn-PM"/>
          <p:cNvSpPr txBox="1"/>
          <p:nvPr/>
        </p:nvSpPr>
        <p:spPr>
          <a:xfrm>
            <a:off x="9585686" y="1837943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315017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Project Management: Characteristic Data</a:t>
            </a:r>
          </a:p>
        </p:txBody>
      </p:sp>
      <p:pic>
        <p:nvPicPr>
          <p:cNvPr id="3" name="!!kicker-icon" descr="compass-1F618D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F618D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2B80CF9B-C049-4936-8AFC-CE7CF1C0BB27}" type="slidenum">
              <a:rPr lang="en-GB" sz="1000">
                <a:solidFill>
                  <a:srgbClr val="8795A1"/>
                </a:solidFill>
                <a:latin typeface="Segoe UI"/>
              </a:rPr>
              <a:t>28</a:t>
            </a:fld>
          </a:p>
        </p:txBody>
      </p:sp>
      <p:sp>
        <p:nvSpPr>
          <p:cNvPr id="7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2F6F8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301783" cy="256032"/>
          </a:xfrm>
          <a:prstGeom prst="rect">
            <a:avLst/>
          </a:prstGeom>
        </p:spPr>
      </p:pic>
      <p:sp>
        <p:nvSpPr>
          <p:cNvPr id="11" name="!!lensn-PM"/>
          <p:cNvSpPr txBox="1"/>
          <p:nvPr/>
        </p:nvSpPr>
        <p:spPr>
          <a:xfrm>
            <a:off x="1307622" y="1837943"/>
            <a:ext cx="7299624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12" name="!!lensb-PM-0"/>
          <p:cNvSpPr txBox="1"/>
          <p:nvPr/>
        </p:nvSpPr>
        <p:spPr>
          <a:xfrm>
            <a:off x="896112" y="2432304"/>
            <a:ext cx="7583119" cy="24865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issue trackers, timesheets, commit counts.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Semi-structured: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CI/CD pipeline logs.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Unstructured: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retrospective notes, requirement documents.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Key quality risk: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accuracy — effort is self-reported and rounded to comfortable numbers.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Typical missingness: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MAR, since teams under pressure log less, and “under pressure” is itself observable from the sprint data.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256032" cy="256032"/>
          </a:xfrm>
          <a:prstGeom prst="rect">
            <a:avLst/>
          </a:prstGeom>
        </p:spPr>
      </p:pic>
      <p:sp>
        <p:nvSpPr>
          <p:cNvPr id="22" name="!!lensn-IOT"/>
          <p:cNvSpPr txBox="1"/>
          <p:nvPr/>
        </p:nvSpPr>
        <p:spPr>
          <a:xfrm>
            <a:off x="9539935" y="2496312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58594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Internet of Things: Characteristic Data</a:t>
            </a:r>
          </a:p>
        </p:txBody>
      </p:sp>
      <p:pic>
        <p:nvPicPr>
          <p:cNvPr id="3" name="!!kicker-icon" descr="compass-117864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864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8AB8A4E6-7813-41A0-B1A3-4636C8C0EAA2}" type="slidenum">
              <a:rPr lang="en-GB" sz="1000">
                <a:solidFill>
                  <a:srgbClr val="8795A1"/>
                </a:solidFill>
                <a:latin typeface="Segoe UI"/>
              </a:rPr>
              <a:t>29</a:t>
            </a:fld>
          </a:p>
        </p:txBody>
      </p:sp>
      <p:sp>
        <p:nvSpPr>
          <p:cNvPr id="7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1F7F6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IOT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12" name="!!lensb-IOT-0"/>
          <p:cNvSpPr txBox="1"/>
          <p:nvPr/>
        </p:nvSpPr>
        <p:spPr>
          <a:xfrm>
            <a:off x="896112" y="2432304"/>
            <a:ext cx="7583119" cy="35326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time-stamped numeric telemetry, one row per sensor per interval.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Semi-structured: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MQTT payloads with device-specific fields.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Unstructured: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camera and audio streams.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Key quality risk: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validity and timeliness — clock drift across a fleet makes timestamps disagree, and a reading that arrives two hours late is not the same as a reading that is on time.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Typical missingness: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MCAR from packet loss, but MNAR when a failing sensor stops reporting — and the failing ones are the ones you care about.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8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SEC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7856870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Cybersecurity: Characteristic Data</a:t>
            </a:r>
          </a:p>
        </p:txBody>
      </p:sp>
      <p:pic>
        <p:nvPicPr>
          <p:cNvPr id="3" name="!!kicker-icon" descr="compass-922B21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922B21"/>
                </a:solidFill>
                <a:latin typeface="Segoe UI"/>
              </a:rPr>
              <a:t>FOUR LENSES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A55EE9B0-A149-4C6D-B12D-DAFEF7E42796}" type="slidenum">
              <a:rPr lang="en-GB" sz="1000">
                <a:solidFill>
                  <a:srgbClr val="8795A1"/>
                </a:solidFill>
                <a:latin typeface="Segoe UI"/>
              </a:rPr>
              <a:t>30</a:t>
            </a:fld>
          </a:p>
        </p:txBody>
      </p:sp>
      <p:sp>
        <p:nvSpPr>
          <p:cNvPr id="7" name="!!lens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572000"/>
          </a:xfrm>
          <a:prstGeom prst="roundRect">
            <a:avLst>
              <a:gd name="adj" fmla="val 2000"/>
            </a:avLst>
          </a:prstGeom>
          <a:solidFill>
            <a:srgbClr val="F8F2F2"/>
          </a:solidFill>
          <a:ln>
            <a:noFill/>
          </a:ln>
          <a:effectLst>
            <a:outerShdw blurRad="177800" dist="38100" dir="5400000" algn="t" rotWithShape="0">
              <a:srgbClr val="1C252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lensh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040319" cy="493776"/>
          </a:xfrm>
          <a:prstGeom prst="roundRect">
            <a:avLst>
              <a:gd name="adj" fmla="val 18518"/>
            </a:avLst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ensh2-SE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21408"/>
            <a:ext cx="8040319" cy="109728"/>
          </a:xfrm>
          <a:prstGeom prst="rect">
            <a:avLst/>
          </a:prstGeom>
          <a:solidFill>
            <a:srgbClr val="922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0" name="!!lensi-SEC" descr="shield-alt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536" y="1856231"/>
            <a:ext cx="256032" cy="256032"/>
          </a:xfrm>
          <a:prstGeom prst="rect">
            <a:avLst/>
          </a:prstGeom>
        </p:spPr>
      </p:pic>
      <p:sp>
        <p:nvSpPr>
          <p:cNvPr id="11" name="!!lensn-SEC"/>
          <p:cNvSpPr txBox="1"/>
          <p:nvPr/>
        </p:nvSpPr>
        <p:spPr>
          <a:xfrm>
            <a:off x="1261872" y="1837943"/>
            <a:ext cx="734537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100">
                <a:solidFill>
                  <a:srgbClr val="FFFFFF"/>
                </a:solidFill>
                <a:latin typeface="Segoe UI"/>
              </a:rPr>
              <a:t>CYBERSECURITY</a:t>
            </a:r>
          </a:p>
        </p:txBody>
      </p:sp>
      <p:sp>
        <p:nvSpPr>
          <p:cNvPr id="12" name="!!lensb-SEC-0"/>
          <p:cNvSpPr txBox="1"/>
          <p:nvPr/>
        </p:nvSpPr>
        <p:spPr>
          <a:xfrm>
            <a:off x="896112" y="2432304"/>
            <a:ext cx="7583119" cy="248655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1">
                <a:solidFill>
                  <a:srgbClr val="1C252B"/>
                </a:solidFill>
                <a:latin typeface="Segoe UI"/>
              </a:rPr>
              <a:t>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NetFlow records, authentication events.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Semi-structured: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syslog, firewall and SIEM logs.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Unstructured: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malware binaries, phishing email bodies.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Key quality risk: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completeness and consistency — log sources fail silently, and an attacker’s first act is often to clear or disable logging.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Typical missingness: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MNAR by design, because the adversary is deliberately creating the gap.</a:t>
            </a:r>
          </a:p>
        </p:txBody>
      </p:sp>
      <p:sp>
        <p:nvSpPr>
          <p:cNvPr id="13" name="!!lens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6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ensh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1737360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5" name="!!lensh2-L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121408"/>
            <a:ext cx="2596896" cy="109728"/>
          </a:xfrm>
          <a:prstGeom prst="rect">
            <a:avLst/>
          </a:prstGeom>
          <a:solidFill>
            <a:srgbClr val="6C3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16" name="!!lensi-LA" descr="graduation-ca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37599" y="1856231"/>
            <a:ext cx="419498" cy="256032"/>
          </a:xfrm>
          <a:prstGeom prst="rect">
            <a:avLst/>
          </a:prstGeom>
        </p:spPr>
      </p:pic>
      <p:sp>
        <p:nvSpPr>
          <p:cNvPr id="17" name="!!lensn-LA"/>
          <p:cNvSpPr txBox="1"/>
          <p:nvPr/>
        </p:nvSpPr>
        <p:spPr>
          <a:xfrm>
            <a:off x="9703401" y="1837943"/>
            <a:ext cx="1738485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Learning Analytics</a:t>
            </a:r>
          </a:p>
        </p:txBody>
      </p:sp>
      <p:sp>
        <p:nvSpPr>
          <p:cNvPr id="18" name="!!lens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2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9" name="!!lensh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395728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lensh2-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2779776"/>
            <a:ext cx="2596896" cy="109728"/>
          </a:xfrm>
          <a:prstGeom prst="rect">
            <a:avLst/>
          </a:prstGeom>
          <a:solidFill>
            <a:srgbClr val="1F61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1" name="!!lensi-PM" descr="tasks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37599" y="2514600"/>
            <a:ext cx="301783" cy="256032"/>
          </a:xfrm>
          <a:prstGeom prst="rect">
            <a:avLst/>
          </a:prstGeom>
        </p:spPr>
      </p:pic>
      <p:sp>
        <p:nvSpPr>
          <p:cNvPr id="22" name="!!lensn-PM"/>
          <p:cNvSpPr txBox="1"/>
          <p:nvPr/>
        </p:nvSpPr>
        <p:spPr>
          <a:xfrm>
            <a:off x="9585686" y="2496312"/>
            <a:ext cx="1856200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Project Management</a:t>
            </a:r>
          </a:p>
        </p:txBody>
      </p:sp>
      <p:sp>
        <p:nvSpPr>
          <p:cNvPr id="23" name="!!lens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F1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4" name="!!lensh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054096"/>
            <a:ext cx="2596896" cy="493776"/>
          </a:xfrm>
          <a:prstGeom prst="roundRect">
            <a:avLst>
              <a:gd name="adj" fmla="val 18518"/>
            </a:avLst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lensh2-IO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431" y="3438144"/>
            <a:ext cx="2596896" cy="109728"/>
          </a:xfrm>
          <a:prstGeom prst="rect">
            <a:avLst/>
          </a:prstGeom>
          <a:solidFill>
            <a:srgbClr val="117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pic>
        <p:nvPicPr>
          <p:cNvPr id="26" name="!!lensi-IOT" descr="microchip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37599" y="3172968"/>
            <a:ext cx="256032" cy="256032"/>
          </a:xfrm>
          <a:prstGeom prst="rect">
            <a:avLst/>
          </a:prstGeom>
        </p:spPr>
      </p:pic>
      <p:sp>
        <p:nvSpPr>
          <p:cNvPr id="27" name="!!lensn-IOT"/>
          <p:cNvSpPr txBox="1"/>
          <p:nvPr/>
        </p:nvSpPr>
        <p:spPr>
          <a:xfrm>
            <a:off x="9539935" y="3154679"/>
            <a:ext cx="1901951" cy="292608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Internet of Things</a:t>
            </a:r>
          </a:p>
        </p:txBody>
      </p:sp>
      <p:sp>
        <p:nvSpPr>
          <p:cNvPr id="28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9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12779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700">
        <p159:morph option="byObject"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Try it yourself: A Ten-Minute Data Audit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20     </a:t>
            </a:r>
            <a:fld id="{FBA6E2F8-20EE-4F5D-8C59-62B2550B92D3}" type="slidenum">
              <a:rPr lang="en-GB" sz="1000">
                <a:solidFill>
                  <a:srgbClr val="8795A1"/>
                </a:solidFill>
                <a:latin typeface="Segoe UI"/>
              </a:rPr>
              <a:t>31</a:t>
            </a:fld>
          </a:p>
        </p:txBody>
      </p:sp>
      <p:sp>
        <p:nvSpPr>
          <p:cNvPr id="7" name="body-0"/>
          <p:cNvSpPr txBox="1"/>
          <p:nvPr/>
        </p:nvSpPr>
        <p:spPr>
          <a:xfrm>
            <a:off x="658368" y="1737360"/>
            <a:ext cx="10874959" cy="3627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Run this on any new dataset before doing anything else.</a:t>
            </a:r>
          </a:p>
        </p:txBody>
      </p:sp>
      <p:sp>
        <p:nvSpPr>
          <p:cNvPr id="8" name="!!lf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65248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lfbTH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365248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lflTHIS"/>
          <p:cNvSpPr txBox="1"/>
          <p:nvPr/>
        </p:nvSpPr>
        <p:spPr>
          <a:xfrm>
            <a:off x="932688" y="2529840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THIS WEEK'S LAB</a:t>
            </a:r>
          </a:p>
        </p:txBody>
      </p:sp>
      <p:sp>
        <p:nvSpPr>
          <p:cNvPr id="11" name="!!lfvTHIS"/>
          <p:cNvSpPr txBox="1"/>
          <p:nvPr/>
        </p:nvSpPr>
        <p:spPr>
          <a:xfrm>
            <a:off x="932688" y="2822448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Week 2: Ten-minute audit; distance &amp; descent</a:t>
            </a:r>
          </a:p>
        </p:txBody>
      </p:sp>
      <p:sp>
        <p:nvSpPr>
          <p:cNvPr id="12" name="!!lf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365248"/>
            <a:ext cx="5300319" cy="1078992"/>
          </a:xfrm>
          <a:prstGeom prst="roundRect">
            <a:avLst>
              <a:gd name="adj" fmla="val 8474"/>
            </a:avLst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lfbWHA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365248"/>
            <a:ext cx="64008" cy="1078992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lflWHAT"/>
          <p:cNvSpPr txBox="1"/>
          <p:nvPr/>
        </p:nvSpPr>
        <p:spPr>
          <a:xfrm>
            <a:off x="6507327" y="2529840"/>
            <a:ext cx="488883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40">
                <a:solidFill>
                  <a:srgbClr val="0E6655"/>
                </a:solidFill>
                <a:latin typeface="Segoe UI"/>
              </a:rPr>
              <a:t>WHAT YOU WILL RUN</a:t>
            </a:r>
          </a:p>
        </p:txBody>
      </p:sp>
      <p:sp>
        <p:nvSpPr>
          <p:cNvPr id="15" name="!!lfvWHAT"/>
          <p:cNvSpPr txBox="1"/>
          <p:nvPr/>
        </p:nvSpPr>
        <p:spPr>
          <a:xfrm>
            <a:off x="6507327" y="2822448"/>
            <a:ext cx="488883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C252B"/>
                </a:solidFill>
                <a:latin typeface="Segoe UI"/>
              </a:rPr>
              <a:t>1 listing, 21 lines of Python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39872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A Ten-Minute Data Audit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1 OF 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20     </a:t>
            </a:r>
            <a:fld id="{BDDA1E0E-8C6F-41CA-A03F-E3746553559B}" type="slidenum">
              <a:rPr lang="en-GB" sz="1000">
                <a:solidFill>
                  <a:srgbClr val="8795A1"/>
                </a:solidFill>
                <a:latin typeface="Segoe UI"/>
              </a:rPr>
              <a:t>32</a:t>
            </a:fld>
          </a:p>
        </p:txBody>
      </p:sp>
      <p:sp>
        <p:nvSpPr>
          <p:cNvPr id="7" name="!!codehead"/>
          <p:cNvSpPr txBox="1"/>
          <p:nvPr/>
        </p:nvSpPr>
        <p:spPr>
          <a:xfrm>
            <a:off x="658368" y="1627631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E6655"/>
                </a:solidFill>
                <a:latin typeface="Segoe UI Semibold"/>
              </a:rPr>
              <a:t>Set-up</a:t>
            </a:r>
          </a:p>
        </p:txBody>
      </p:sp>
      <p:sp>
        <p:nvSpPr>
          <p:cNvPr id="8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084831"/>
            <a:ext cx="10874959" cy="4224528"/>
          </a:xfrm>
          <a:prstGeom prst="roundRect">
            <a:avLst>
              <a:gd name="adj" fmla="val 2164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24048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2199132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2199132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2199132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code-label"/>
          <p:cNvSpPr txBox="1"/>
          <p:nvPr/>
        </p:nvSpPr>
        <p:spPr>
          <a:xfrm>
            <a:off x="1527048" y="21488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4" name="!!code-text" descr="import pandas as pd def audit(df): print(f&quot;shape: {df.shape[0]} rows x {df.shape[1]} columns\n&quot;) print(&quot;-- completeness (% missing) --&quot;) print((df.isna().mean() * 100).round(1).sort_values(ascending=False), &quot;\n&quot;) print(&quot;-- uniqueness --&quot;) print(f&quot;duplicate rows: {df.duplicated().sum()}\n&quot;) print(&quot;-- validity: candidate placeholder values --&quot;) for c in df.select_dtypes(&quot;number&quot;): odd = df[c].isin([0, -1, -999]).sum() if odd: print(f&quot; {c}: {odd} rows equal 0/-1/-999&quot;) print(&quot;\n-- scale check: how many distinct values? --&quot;) print(df.nunique().sort_values()) # few distinct + numeric =&gt; probably nominal"/>
          <p:cNvSpPr txBox="1"/>
          <p:nvPr/>
        </p:nvSpPr>
        <p:spPr>
          <a:xfrm>
            <a:off x="1362456" y="2523744"/>
            <a:ext cx="9987991" cy="37307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import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6D7C4"/>
                </a:solidFill>
                <a:latin typeface="Consolas"/>
              </a:rPr>
              <a:t>pandas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5DADE2"/>
                </a:solidFill>
                <a:latin typeface="Consolas"/>
              </a:rPr>
              <a:t>as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6D7C4"/>
                </a:solidFill>
                <a:latin typeface="Consolas"/>
              </a:rPr>
              <a:t>pd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5DADE2"/>
                </a:solidFill>
                <a:latin typeface="Consolas"/>
              </a:rPr>
              <a:t>def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C39BD3"/>
                </a:solidFill>
                <a:latin typeface="Consolas"/>
              </a:rPr>
              <a:t>audit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f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shape: </a:t>
            </a:r>
            <a:r>
              <a:rPr sz="1300" i="0">
                <a:solidFill>
                  <a:srgbClr val="7DCEA0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shape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7DCEA0"/>
                </a:solidFill>
                <a:latin typeface="Consolas"/>
              </a:rPr>
              <a:t>}</a:t>
            </a:r>
            <a:r>
              <a:rPr sz="1300" i="0">
                <a:solidFill>
                  <a:srgbClr val="7DCEA0"/>
                </a:solidFill>
                <a:latin typeface="Consolas"/>
              </a:rPr>
              <a:t> rows x </a:t>
            </a:r>
            <a:r>
              <a:rPr sz="1300" i="0">
                <a:solidFill>
                  <a:srgbClr val="7DCEA0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shape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7DCEA0"/>
                </a:solidFill>
                <a:latin typeface="Consolas"/>
              </a:rPr>
              <a:t>}</a:t>
            </a:r>
            <a:r>
              <a:rPr sz="1300" i="0">
                <a:solidFill>
                  <a:srgbClr val="7DCEA0"/>
                </a:solidFill>
                <a:latin typeface="Consolas"/>
              </a:rPr>
              <a:t> columns</a:t>
            </a:r>
            <a:r>
              <a:rPr sz="1300" i="0">
                <a:solidFill>
                  <a:srgbClr val="7DCEA0"/>
                </a:solidFill>
                <a:latin typeface="Consolas"/>
              </a:rPr>
              <a:t>\n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-- completeness (</a:t>
            </a:r>
            <a:r>
              <a:rPr sz="1300" i="0">
                <a:solidFill>
                  <a:srgbClr val="7DCEA0"/>
                </a:solidFill>
                <a:latin typeface="Consolas"/>
              </a:rPr>
              <a:t>%</a:t>
            </a:r>
            <a:r>
              <a:rPr sz="1300" i="0">
                <a:solidFill>
                  <a:srgbClr val="7DCEA0"/>
                </a:solidFill>
                <a:latin typeface="Consolas"/>
              </a:rPr>
              <a:t> missing) --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isna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mean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*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F7DC6F"/>
                </a:solidFill>
                <a:latin typeface="Consolas"/>
              </a:rPr>
              <a:t>100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round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sort_values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ascending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5DADE2"/>
                </a:solidFill>
                <a:latin typeface="Consolas"/>
              </a:rPr>
              <a:t>False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\n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-- uniqueness --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f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duplicate rows: </a:t>
            </a:r>
            <a:r>
              <a:rPr sz="1300" i="0">
                <a:solidFill>
                  <a:srgbClr val="7DCEA0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duplicated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sum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7DCEA0"/>
                </a:solidFill>
                <a:latin typeface="Consolas"/>
              </a:rPr>
              <a:t>}</a:t>
            </a:r>
            <a:r>
              <a:rPr sz="1300" i="0">
                <a:solidFill>
                  <a:srgbClr val="7DCEA0"/>
                </a:solidFill>
                <a:latin typeface="Consolas"/>
              </a:rPr>
              <a:t>\n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-- validity: candidate placeholder values --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for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c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in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select_dtypes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number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E8EDF2"/>
                </a:solidFill>
                <a:latin typeface="Consolas"/>
              </a:rPr>
              <a:t>odd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=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E8EDF2"/>
                </a:solidFill>
                <a:latin typeface="Consolas"/>
              </a:rPr>
              <a:t>c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isin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[</a:t>
            </a:r>
            <a:r>
              <a:rPr sz="1300" i="0">
                <a:solidFill>
                  <a:srgbClr val="F7DC6F"/>
                </a:solidFill>
                <a:latin typeface="Consolas"/>
              </a:rPr>
              <a:t>0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-</a:t>
            </a:r>
            <a:r>
              <a:rPr sz="1300" i="0">
                <a:solidFill>
                  <a:srgbClr val="F7DC6F"/>
                </a:solidFill>
                <a:latin typeface="Consolas"/>
              </a:rPr>
              <a:t>1</a:t>
            </a:r>
            <a:r>
              <a:rPr sz="1300" i="0">
                <a:solidFill>
                  <a:srgbClr val="AEB6BF"/>
                </a:solidFill>
                <a:latin typeface="Consolas"/>
              </a:rPr>
              <a:t>,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AEB6BF"/>
                </a:solidFill>
                <a:latin typeface="Consolas"/>
              </a:rPr>
              <a:t>-</a:t>
            </a:r>
            <a:r>
              <a:rPr sz="1300" i="0">
                <a:solidFill>
                  <a:srgbClr val="F7DC6F"/>
                </a:solidFill>
                <a:latin typeface="Consolas"/>
              </a:rPr>
              <a:t>999</a:t>
            </a:r>
            <a:r>
              <a:rPr sz="1300" i="0">
                <a:solidFill>
                  <a:srgbClr val="AEB6BF"/>
                </a:solidFill>
                <a:latin typeface="Consolas"/>
              </a:rPr>
              <a:t>]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sum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</a:t>
            </a:r>
            <a:r>
              <a:rPr sz="1300" i="0">
                <a:solidFill>
                  <a:srgbClr val="5DADE2"/>
                </a:solidFill>
                <a:latin typeface="Consolas"/>
              </a:rPr>
              <a:t>if</a:t>
            </a:r>
            <a:r>
              <a:rPr sz="1300" i="0">
                <a:solidFill>
                  <a:srgbClr val="E8EDF2"/>
                </a:solidFill>
                <a:latin typeface="Consolas"/>
              </a:rPr>
              <a:t> </a:t>
            </a:r>
            <a:r>
              <a:rPr sz="1300" i="0">
                <a:solidFill>
                  <a:srgbClr val="E8EDF2"/>
                </a:solidFill>
                <a:latin typeface="Consolas"/>
              </a:rPr>
              <a:t>odd</a:t>
            </a:r>
            <a:r>
              <a:rPr sz="1300" i="0">
                <a:solidFill>
                  <a:srgbClr val="AEB6BF"/>
                </a:solidFill>
                <a:latin typeface="Consolas"/>
              </a:rPr>
              <a:t>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    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f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  </a:t>
            </a:r>
            <a:r>
              <a:rPr sz="1300" i="0">
                <a:solidFill>
                  <a:srgbClr val="7DCEA0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c</a:t>
            </a:r>
            <a:r>
              <a:rPr sz="1300" i="0">
                <a:solidFill>
                  <a:srgbClr val="7DCEA0"/>
                </a:solidFill>
                <a:latin typeface="Consolas"/>
              </a:rPr>
              <a:t>}</a:t>
            </a:r>
            <a:r>
              <a:rPr sz="1300" i="0">
                <a:solidFill>
                  <a:srgbClr val="7DCEA0"/>
                </a:solidFill>
                <a:latin typeface="Consolas"/>
              </a:rPr>
              <a:t>: </a:t>
            </a:r>
            <a:r>
              <a:rPr sz="1300" i="0">
                <a:solidFill>
                  <a:srgbClr val="7DCEA0"/>
                </a:solidFill>
                <a:latin typeface="Consolas"/>
              </a:rPr>
              <a:t>{</a:t>
            </a:r>
            <a:r>
              <a:rPr sz="1300" i="0">
                <a:solidFill>
                  <a:srgbClr val="E8EDF2"/>
                </a:solidFill>
                <a:latin typeface="Consolas"/>
              </a:rPr>
              <a:t>odd</a:t>
            </a:r>
            <a:r>
              <a:rPr sz="1300" i="0">
                <a:solidFill>
                  <a:srgbClr val="7DCEA0"/>
                </a:solidFill>
                <a:latin typeface="Consolas"/>
              </a:rPr>
              <a:t>}</a:t>
            </a:r>
            <a:r>
              <a:rPr sz="1300" i="0">
                <a:solidFill>
                  <a:srgbClr val="7DCEA0"/>
                </a:solidFill>
                <a:latin typeface="Consolas"/>
              </a:rPr>
              <a:t> rows equal 0/-1/-999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7DCEA0"/>
                </a:solidFill>
                <a:latin typeface="Consolas"/>
              </a:rPr>
              <a:t>\n</a:t>
            </a:r>
            <a:r>
              <a:rPr sz="1300" i="0">
                <a:solidFill>
                  <a:srgbClr val="7DCEA0"/>
                </a:solidFill>
                <a:latin typeface="Consolas"/>
              </a:rPr>
              <a:t>-- scale check: how many distinct values? --</a:t>
            </a:r>
            <a:r>
              <a:rPr sz="1300" i="0">
                <a:solidFill>
                  <a:srgbClr val="7DCEA0"/>
                </a:solidFill>
                <a:latin typeface="Consolas"/>
              </a:rPr>
              <a:t>"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i="0">
                <a:solidFill>
                  <a:srgbClr val="E8EDF2"/>
                </a:solidFill>
                <a:latin typeface="Consolas"/>
              </a:rPr>
              <a:t>    </a:t>
            </a:r>
            <a:r>
              <a:rPr sz="1300" i="0">
                <a:solidFill>
                  <a:srgbClr val="C39BD3"/>
                </a:solidFill>
                <a:latin typeface="Consolas"/>
              </a:rPr>
              <a:t>print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E8EDF2"/>
                </a:solidFill>
                <a:latin typeface="Consolas"/>
              </a:rPr>
              <a:t>df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nunique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.</a:t>
            </a:r>
            <a:r>
              <a:rPr sz="1300" i="0">
                <a:solidFill>
                  <a:srgbClr val="E8EDF2"/>
                </a:solidFill>
                <a:latin typeface="Consolas"/>
              </a:rPr>
              <a:t>sort_values</a:t>
            </a:r>
            <a:r>
              <a:rPr sz="1300" i="0">
                <a:solidFill>
                  <a:srgbClr val="AEB6BF"/>
                </a:solidFill>
                <a:latin typeface="Consolas"/>
              </a:rPr>
              <a:t>(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AEB6BF"/>
                </a:solidFill>
                <a:latin typeface="Consolas"/>
              </a:rPr>
              <a:t>)</a:t>
            </a:r>
            <a:r>
              <a:rPr sz="1300" i="0">
                <a:solidFill>
                  <a:srgbClr val="E8EDF2"/>
                </a:solidFill>
                <a:latin typeface="Consolas"/>
              </a:rPr>
              <a:t>   </a:t>
            </a:r>
            <a:r>
              <a:rPr sz="1300" i="1">
                <a:solidFill>
                  <a:srgbClr val="8795A1"/>
                </a:solidFill>
                <a:latin typeface="Consolas"/>
              </a:rPr>
              <a:t># few distinct + numeric =&gt; probably nominal</a:t>
            </a:r>
          </a:p>
        </p:txBody>
      </p:sp>
      <p:sp>
        <p:nvSpPr>
          <p:cNvPr id="15" name="!!code-num"/>
          <p:cNvSpPr txBox="1"/>
          <p:nvPr/>
        </p:nvSpPr>
        <p:spPr>
          <a:xfrm>
            <a:off x="768096" y="2523744"/>
            <a:ext cx="393192" cy="3730752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9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10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11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12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13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14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15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16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17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18</a:t>
            </a:r>
          </a:p>
          <a:p>
            <a:pPr algn="r">
              <a:lnSpc>
                <a:spcPct val="100000"/>
              </a:lnSpc>
            </a:pPr>
            <a:r>
              <a:rPr sz="1300">
                <a:solidFill>
                  <a:srgbClr val="4F5D6A"/>
                </a:solidFill>
                <a:latin typeface="Consolas"/>
              </a:rPr>
              <a:t>19</a:t>
            </a:r>
          </a:p>
        </p:txBody>
      </p:sp>
      <p:sp>
        <p:nvSpPr>
          <p:cNvPr id="16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66964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600" b="0">
                <a:solidFill>
                  <a:srgbClr val="1A5276"/>
                </a:solidFill>
                <a:latin typeface="Segoe UI Semibold"/>
              </a:rPr>
              <a:t>A Ten-Minute Data Audit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LAB  ·  STEP 2 OF 2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20     </a:t>
            </a:r>
            <a:fld id="{4EEDA2C2-B4DD-4752-B6F4-A12E6CCA28CA}" type="slidenum">
              <a:rPr lang="en-GB" sz="1000">
                <a:solidFill>
                  <a:srgbClr val="8795A1"/>
                </a:solidFill>
                <a:latin typeface="Segoe UI"/>
              </a:rPr>
              <a:t>33</a:t>
            </a:fld>
          </a:p>
        </p:txBody>
      </p:sp>
      <p:sp>
        <p:nvSpPr>
          <p:cNvPr id="7" name="!!code-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627631"/>
            <a:ext cx="10874959" cy="908303"/>
          </a:xfrm>
          <a:prstGeom prst="roundRect">
            <a:avLst>
              <a:gd name="adj" fmla="val 10067"/>
            </a:avLst>
          </a:prstGeom>
          <a:solidFill>
            <a:srgbClr val="1E2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ode-se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947672"/>
            <a:ext cx="10838383" cy="10972"/>
          </a:xfrm>
          <a:prstGeom prst="rect">
            <a:avLst/>
          </a:prstGeom>
          <a:solidFill>
            <a:srgbClr val="28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ode-do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536" y="1741931"/>
            <a:ext cx="100584" cy="100584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code-do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2415" y="1741931"/>
            <a:ext cx="100584" cy="100584"/>
          </a:xfrm>
          <a:prstGeom prst="ellipse">
            <a:avLst/>
          </a:prstGeom>
          <a:solidFill>
            <a:srgbClr val="F4D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code-do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5295" y="1741931"/>
            <a:ext cx="100584" cy="100584"/>
          </a:xfrm>
          <a:prstGeom prst="ellipse">
            <a:avLst/>
          </a:prstGeom>
          <a:solidFill>
            <a:srgbClr val="58D6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ode-label"/>
          <p:cNvSpPr txBox="1"/>
          <p:nvPr/>
        </p:nvSpPr>
        <p:spPr>
          <a:xfrm>
            <a:off x="1527048" y="1691639"/>
            <a:ext cx="977767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FB0BF"/>
                </a:solidFill>
                <a:latin typeface="Segoe UI"/>
              </a:rPr>
              <a:t>Python</a:t>
            </a:r>
          </a:p>
        </p:txBody>
      </p:sp>
      <p:sp>
        <p:nvSpPr>
          <p:cNvPr id="13" name="!!code-text" descr="audit(pd.read_csv(&quot;your_data.csv&quot;))"/>
          <p:cNvSpPr txBox="1"/>
          <p:nvPr/>
        </p:nvSpPr>
        <p:spPr>
          <a:xfrm>
            <a:off x="1362456" y="2066543"/>
            <a:ext cx="9987991" cy="4145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2000" i="0">
                <a:solidFill>
                  <a:srgbClr val="E8EDF2"/>
                </a:solidFill>
                <a:latin typeface="Consolas"/>
              </a:rPr>
              <a:t>audit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E8EDF2"/>
                </a:solidFill>
                <a:latin typeface="Consolas"/>
              </a:rPr>
              <a:t>pd</a:t>
            </a:r>
            <a:r>
              <a:rPr sz="2000" i="0">
                <a:solidFill>
                  <a:srgbClr val="AEB6BF"/>
                </a:solidFill>
                <a:latin typeface="Consolas"/>
              </a:rPr>
              <a:t>.</a:t>
            </a:r>
            <a:r>
              <a:rPr sz="2000" i="0">
                <a:solidFill>
                  <a:srgbClr val="E8EDF2"/>
                </a:solidFill>
                <a:latin typeface="Consolas"/>
              </a:rPr>
              <a:t>read_csv</a:t>
            </a:r>
            <a:r>
              <a:rPr sz="2000" i="0">
                <a:solidFill>
                  <a:srgbClr val="AEB6BF"/>
                </a:solidFill>
                <a:latin typeface="Consolas"/>
              </a:rPr>
              <a:t>(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7DCEA0"/>
                </a:solidFill>
                <a:latin typeface="Consolas"/>
              </a:rPr>
              <a:t>your_data.csv</a:t>
            </a:r>
            <a:r>
              <a:rPr sz="2000" i="0">
                <a:solidFill>
                  <a:srgbClr val="7DCEA0"/>
                </a:solidFill>
                <a:latin typeface="Consolas"/>
              </a:rPr>
              <a:t>"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  <a:r>
              <a:rPr sz="2000" i="0">
                <a:solidFill>
                  <a:srgbClr val="AEB6BF"/>
                </a:solidFill>
                <a:latin typeface="Consolas"/>
              </a:rPr>
              <a:t>)</a:t>
            </a:r>
          </a:p>
        </p:txBody>
      </p:sp>
      <p:sp>
        <p:nvSpPr>
          <p:cNvPr id="14" name="!!code-num"/>
          <p:cNvSpPr txBox="1"/>
          <p:nvPr/>
        </p:nvSpPr>
        <p:spPr>
          <a:xfrm>
            <a:off x="768096" y="2066543"/>
            <a:ext cx="393192" cy="414527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r">
              <a:lnSpc>
                <a:spcPct val="100000"/>
              </a:lnSpc>
            </a:pPr>
            <a:r>
              <a:rPr sz="2000">
                <a:solidFill>
                  <a:srgbClr val="4F5D6A"/>
                </a:solidFill>
                <a:latin typeface="Consolas"/>
              </a:rPr>
              <a:t>20</a:t>
            </a:r>
          </a:p>
        </p:txBody>
      </p:sp>
      <p:sp>
        <p:nvSpPr>
          <p:cNvPr id="15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6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94057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00">
        <p159:morph option="byObject"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the lab shows</a:t>
            </a:r>
          </a:p>
        </p:txBody>
      </p:sp>
      <p:pic>
        <p:nvPicPr>
          <p:cNvPr id="3" name="!!kicker-icon" descr="flask-117A65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92583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17A65"/>
                </a:solidFill>
                <a:latin typeface="Segoe UI"/>
              </a:rPr>
              <a:t>TRY IT YOURSELF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§3.6  ·  Handout p. 20     </a:t>
            </a:r>
            <a:fld id="{608BDF52-FCA9-43EE-9413-4348A2A6816E}" type="slidenum">
              <a:rPr lang="en-GB" sz="1000">
                <a:solidFill>
                  <a:srgbClr val="8795A1"/>
                </a:solidFill>
                <a:latin typeface="Segoe UI"/>
              </a:rPr>
              <a:t>34</a:t>
            </a:fld>
          </a:p>
        </p:txBody>
      </p:sp>
      <p:sp>
        <p:nvSpPr>
          <p:cNvPr id="7" name="!!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10874959" cy="1350873"/>
          </a:xfrm>
          <a:prstGeom prst="roundRect">
            <a:avLst>
              <a:gd name="adj" fmla="val 6768"/>
            </a:avLst>
          </a:prstGeom>
          <a:solidFill>
            <a:srgbClr val="EEF6F4"/>
          </a:solidFill>
          <a:ln>
            <a:noFill/>
          </a:ln>
          <a:effectLst>
            <a:outerShdw blurRad="127000" dist="25400" dir="5400000" algn="t" rotWithShape="0">
              <a:srgbClr val="1C252B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card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37360"/>
            <a:ext cx="82296" cy="1350873"/>
          </a:xfrm>
          <a:prstGeom prst="rect">
            <a:avLst/>
          </a:prstGeom>
          <a:solidFill>
            <a:srgbClr val="117A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body-0"/>
          <p:cNvSpPr txBox="1"/>
          <p:nvPr/>
        </p:nvSpPr>
        <p:spPr>
          <a:xfrm>
            <a:off x="1060704" y="2048255"/>
            <a:ext cx="10161727" cy="7748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E6655"/>
                </a:solidFill>
                <a:latin typeface="Segoe UI"/>
              </a:rPr>
              <a:t>Read the last output carefully.</a:t>
            </a:r>
            <a:r>
              <a:rPr sz="2300" b="0" i="0">
                <a:solidFill>
                  <a:srgbClr val="1C252B"/>
                </a:solidFill>
                <a:latin typeface="Segoe UI"/>
              </a:rPr>
              <a:t> A numeric column with only four distinct values is almost certainly a category wearing a number’s clothing.</a:t>
            </a:r>
          </a:p>
        </p:txBody>
      </p:sp>
      <p:sp>
        <p:nvSpPr>
          <p:cNvPr id="1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211503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Classify each by measurement scale: (a) student ID, (b) satisfaction on a 1–5 Likert scale, (c) CPU temperature in </a:t>
            </a:r>
            <a:r>
              <a:rPr sz="3400" b="0" i="0">
                <a:solidFill>
                  <a:srgbClr val="FFFFFF"/>
                </a:solidFill>
                <a:latin typeface="Cambria"/>
              </a:rPr>
              <a:t>°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C, (d) number of failed logins.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1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22  ·  answers in Appendix D     </a:t>
            </a:r>
            <a:fld id="{27CB106F-7C77-4909-BE78-AE2D747A65F7}" type="slidenum">
              <a:rPr lang="en-GB" sz="1000">
                <a:solidFill>
                  <a:srgbClr val="D5DEE5"/>
                </a:solidFill>
                <a:latin typeface="Segoe UI"/>
              </a:rPr>
              <a:t>35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747979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Classify each by measurement scale: (a) student ID, (b) satisfaction on a 1–5 Likert scale, (c) CPU temperature in </a:t>
            </a:r>
            <a:r>
              <a:rPr sz="2400" b="0" i="0">
                <a:solidFill>
                  <a:srgbClr val="1A5276"/>
                </a:solidFill>
                <a:latin typeface="Cambria"/>
              </a:rPr>
              <a:t>°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C, (d) number of failed logins.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1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62963"/>
            <a:ext cx="64008" cy="69738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1762963"/>
            <a:ext cx="10509199" cy="74310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(a) nominal — it is an identifier, not a quantity; (b) ordinal; (c) interval —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0°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C is not the absence of temperature; (d) ratio.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·  answers in Appendix D     </a:t>
            </a:r>
            <a:fld id="{AE2C6FCB-6371-4DD1-8FB3-FD6F91710E38}" type="slidenum">
              <a:rPr lang="en-GB" sz="1000">
                <a:solidFill>
                  <a:srgbClr val="8795A1"/>
                </a:solidFill>
                <a:latin typeface="Segoe UI"/>
              </a:rPr>
              <a:t>36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753356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 sensor reports </a:t>
            </a:r>
            <a:r>
              <a:rPr sz="3200" b="0" i="0">
                <a:solidFill>
                  <a:srgbClr val="FFFFFF"/>
                </a:solidFill>
                <a:latin typeface="Consolas"/>
              </a:rPr>
              <a:t>-999</a:t>
            </a:r>
            <a:r>
              <a:rPr sz="3400" b="0" i="0">
                <a:solidFill>
                  <a:srgbClr val="FFFFFF"/>
                </a:solidFill>
                <a:latin typeface="Segoe UI Semibold"/>
              </a:rPr>
              <a:t> when it cannot obtain a reading. What are the two things that will go wrong if you leave those values in and compute a mean? What is the missingness mechanism most likely to be?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2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22  ·  answers in Appendix D     </a:t>
            </a:r>
            <a:fld id="{2DE704CC-8490-4C27-A9D9-5EC78CEC489E}" type="slidenum">
              <a:rPr lang="en-GB" sz="1000">
                <a:solidFill>
                  <a:srgbClr val="D5DEE5"/>
                </a:solidFill>
                <a:latin typeface="Segoe UI"/>
              </a:rPr>
              <a:t>37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 sensor reports </a:t>
            </a:r>
            <a:r>
              <a:rPr sz="2250" b="0" i="0">
                <a:solidFill>
                  <a:srgbClr val="1A5276"/>
                </a:solidFill>
                <a:latin typeface="Consolas"/>
              </a:rPr>
              <a:t>-999</a:t>
            </a:r>
            <a:r>
              <a:rPr sz="2400" b="0" i="0">
                <a:solidFill>
                  <a:srgbClr val="1A5276"/>
                </a:solidFill>
                <a:latin typeface="Segoe UI Semibold"/>
              </a:rPr>
              <a:t> when it cannot obtain a reading. What are the two things that will go wrong if you leave those values in and compute a mean? What is the missingness mechanism most likely to be?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2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1394764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14404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The mean is dragged towards </a:t>
            </a:r>
            <a:r>
              <a:rPr sz="2200" b="0" i="0">
                <a:solidFill>
                  <a:srgbClr val="1C252B"/>
                </a:solidFill>
                <a:latin typeface="Cambria"/>
              </a:rPr>
              <a:t>−999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and the variance is inflated enormously; both become meaningless. The mechanism is most likely </a:t>
            </a:r>
            <a:r>
              <a:rPr sz="2200" b="1" i="0">
                <a:solidFill>
                  <a:srgbClr val="1C252B"/>
                </a:solidFill>
                <a:latin typeface="Segoe UI"/>
              </a:rPr>
              <a:t>MNAR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, since a sensor fails to obtain a reading for reasons related to the condition being measured — so encode the absence rather than imputing it.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·  answers in Appendix D     </a:t>
            </a:r>
            <a:fld id="{40BFC7F2-9E3E-4062-BC14-10DFE6395653}" type="slidenum">
              <a:rPr lang="en-GB" sz="1000">
                <a:solidFill>
                  <a:srgbClr val="8795A1"/>
                </a:solidFill>
                <a:latin typeface="Segoe UI"/>
              </a:rPr>
              <a:t>38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295209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669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2011680"/>
            <a:ext cx="10874959" cy="301752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400" b="0" i="0">
                <a:solidFill>
                  <a:srgbClr val="FFFFFF"/>
                </a:solidFill>
                <a:latin typeface="Segoe UI Semibold"/>
              </a:rPr>
              <a:t>Attendance data is stored one row per swipe. Your frame requires one row per student per week. Is that aggregation or disaggregation, and what information is lost?</a:t>
            </a:r>
          </a:p>
        </p:txBody>
      </p:sp>
      <p:pic>
        <p:nvPicPr>
          <p:cNvPr id="3" name="!!qicon" descr="question-circle-FFFFFF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1298448"/>
            <a:ext cx="396772" cy="384048"/>
          </a:xfrm>
          <a:prstGeom prst="rect">
            <a:avLst/>
          </a:prstGeom>
        </p:spPr>
      </p:pic>
      <p:sp>
        <p:nvSpPr>
          <p:cNvPr id="4" name="!!qlab"/>
          <p:cNvSpPr txBox="1"/>
          <p:nvPr/>
        </p:nvSpPr>
        <p:spPr>
          <a:xfrm>
            <a:off x="1225295" y="1344168"/>
            <a:ext cx="73152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200">
                <a:solidFill>
                  <a:srgbClr val="BDD1DF"/>
                </a:solidFill>
                <a:latin typeface="Segoe UI"/>
              </a:rPr>
              <a:t>CHECKPOINT  3 OF 3</a:t>
            </a:r>
          </a:p>
        </p:txBody>
      </p:sp>
      <p:sp>
        <p:nvSpPr>
          <p:cNvPr id="5" name="!!qhint"/>
          <p:cNvSpPr txBox="1"/>
          <p:nvPr/>
        </p:nvSpPr>
        <p:spPr>
          <a:xfrm>
            <a:off x="658368" y="5760720"/>
            <a:ext cx="10874959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9CBACF"/>
                </a:solidFill>
                <a:latin typeface="Segoe UI"/>
              </a:rPr>
              <a:t>Discuss with the person next to you, then advance.</a:t>
            </a:r>
          </a:p>
        </p:txBody>
      </p:sp>
      <p:sp>
        <p:nvSpPr>
          <p:cNvPr id="6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7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B9C6D0"/>
                </a:solidFill>
                <a:latin typeface="Segoe UI"/>
              </a:rPr>
              <a:t>Handout p. 22  ·  answers in Appendix D     </a:t>
            </a:r>
            <a:fld id="{77E6C754-B4D9-4B6F-B834-B3E8077987D9}" type="slidenum">
              <a:rPr lang="en-GB" sz="1000">
                <a:solidFill>
                  <a:srgbClr val="D5DEE5"/>
                </a:solidFill>
                <a:latin typeface="Segoe UI"/>
              </a:rPr>
              <a:t>39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q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109910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2400" b="0" i="0">
                <a:solidFill>
                  <a:srgbClr val="1A5276"/>
                </a:solidFill>
                <a:latin typeface="Segoe UI Semibold"/>
              </a:rPr>
              <a:t>Attendance data is stored one row per swipe. Your frame requires one row per student per week. Is that aggregation or disaggregation, and what information is lost?</a:t>
            </a:r>
          </a:p>
        </p:txBody>
      </p:sp>
      <p:pic>
        <p:nvPicPr>
          <p:cNvPr id="3" name="!!kicker-icon" descr="check-256B9A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90630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56B9A"/>
                </a:solidFill>
                <a:latin typeface="Segoe UI"/>
              </a:rPr>
              <a:t>CHECKPOINT 3 OF 3  ·  ANSWER</a:t>
            </a:r>
          </a:p>
        </p:txBody>
      </p:sp>
      <p:sp>
        <p:nvSpPr>
          <p:cNvPr id="5" name="!!a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114092"/>
            <a:ext cx="64008" cy="1046073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ans-0"/>
          <p:cNvSpPr txBox="1"/>
          <p:nvPr/>
        </p:nvSpPr>
        <p:spPr>
          <a:xfrm>
            <a:off x="987552" y="2114092"/>
            <a:ext cx="10509199" cy="109179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C252B"/>
                </a:solidFill>
                <a:latin typeface="Segoe UI"/>
              </a:rPr>
              <a:t>Aggregation. You lose the </a:t>
            </a:r>
            <a:r>
              <a:rPr sz="2200" b="0" i="1">
                <a:solidFill>
                  <a:srgbClr val="1C252B"/>
                </a:solidFill>
                <a:latin typeface="Segoe UI"/>
              </a:rPr>
              <a:t>time within the week</a:t>
            </a:r>
            <a:r>
              <a:rPr sz="2200" b="0" i="0">
                <a:solidFill>
                  <a:srgbClr val="1C252B"/>
                </a:solidFill>
                <a:latin typeface="Segoe UI"/>
              </a:rPr>
              <a:t> at which attendance occurred, the identity of the specific sessions missed, and any within-week pattern. Whether that matters depends on the frame.</a:t>
            </a:r>
          </a:p>
        </p:txBody>
      </p:sp>
      <p:sp>
        <p:nvSpPr>
          <p:cNvPr id="7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8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·  answers in Appendix D     </a:t>
            </a:r>
            <a:fld id="{F6C90B97-5368-42ED-8E64-B183DA57052C}" type="slidenum">
              <a:rPr lang="en-GB" sz="1000">
                <a:solidFill>
                  <a:srgbClr val="8795A1"/>
                </a:solidFill>
                <a:latin typeface="Segoe UI"/>
              </a:rPr>
              <a:t>40</a:t>
            </a:fld>
          </a:p>
        </p:txBody>
      </p:sp>
      <p:sp>
        <p:nvSpPr>
          <p:cNvPr id="9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3706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xmlns:p159="http://schemas.microsoft.com/office/powerpoint/2015/09/main" Requires="p159">
      <p:transition spd="slow" p14:dur="650">
        <p159:morph option="byObject"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What to take away</a:t>
            </a:r>
          </a:p>
        </p:txBody>
      </p:sp>
      <p:pic>
        <p:nvPicPr>
          <p:cNvPr id="3" name="!!kicker-icon" descr="clipboard-check-15425E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166837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5425E"/>
                </a:solidFill>
                <a:latin typeface="Segoe UI"/>
              </a:rPr>
              <a:t>CHAPTER SUMMARY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3B14A33F-C25C-4C1E-956E-C81091799850}" type="slidenum">
              <a:rPr lang="en-GB" sz="1000">
                <a:solidFill>
                  <a:srgbClr val="8795A1"/>
                </a:solidFill>
                <a:latin typeface="Segoe UI"/>
              </a:rPr>
              <a:t>41</a:t>
            </a:fld>
          </a:p>
        </p:txBody>
      </p:sp>
      <p:sp>
        <p:nvSpPr>
          <p:cNvPr id="7" name="!!sb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465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sbn0"/>
          <p:cNvSpPr txBox="1"/>
          <p:nvPr/>
        </p:nvSpPr>
        <p:spPr>
          <a:xfrm>
            <a:off x="658368" y="18013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9" name="!!st0"/>
          <p:cNvSpPr txBox="1"/>
          <p:nvPr/>
        </p:nvSpPr>
        <p:spPr>
          <a:xfrm>
            <a:off x="1298448" y="1737360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An observation is a row, a feature is a column, and deciding what one row represents (granularity) is a framing decision, not a technical one.</a:t>
            </a:r>
          </a:p>
        </p:txBody>
      </p:sp>
      <p:sp>
        <p:nvSpPr>
          <p:cNvPr id="10" name="!!sb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63367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sbn1"/>
          <p:cNvSpPr txBox="1"/>
          <p:nvPr/>
        </p:nvSpPr>
        <p:spPr>
          <a:xfrm>
            <a:off x="658368" y="2618231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12" name="!!st1"/>
          <p:cNvSpPr txBox="1"/>
          <p:nvPr/>
        </p:nvSpPr>
        <p:spPr>
          <a:xfrm>
            <a:off x="1298448" y="2554223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Data is structured, semi-structured or unstructured; most real data is not the first.</a:t>
            </a:r>
          </a:p>
        </p:txBody>
      </p:sp>
      <p:sp>
        <p:nvSpPr>
          <p:cNvPr id="13" name="!!sb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148583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sbn2"/>
          <p:cNvSpPr txBox="1"/>
          <p:nvPr/>
        </p:nvSpPr>
        <p:spPr>
          <a:xfrm>
            <a:off x="658368" y="3203447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15" name="!!st2"/>
          <p:cNvSpPr txBox="1"/>
          <p:nvPr/>
        </p:nvSpPr>
        <p:spPr>
          <a:xfrm>
            <a:off x="1298448" y="3139440"/>
            <a:ext cx="102348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The measurement scale — nominal, ordinal, interval, ratio — determines which operations are meaningful. Encoding a category as a number does not make arithmetic on it valid.</a:t>
            </a:r>
          </a:p>
        </p:txBody>
      </p:sp>
      <p:sp>
        <p:nvSpPr>
          <p:cNvPr id="16" name="!!sb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8243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sbn3"/>
          <p:cNvSpPr txBox="1"/>
          <p:nvPr/>
        </p:nvSpPr>
        <p:spPr>
          <a:xfrm>
            <a:off x="658368" y="433730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18" name="!!st3"/>
          <p:cNvSpPr txBox="1"/>
          <p:nvPr/>
        </p:nvSpPr>
        <p:spPr>
          <a:xfrm>
            <a:off x="1298448" y="4273296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Tidy data means one variable per column, one observation per row. Most data arrives untidy.</a:t>
            </a:r>
          </a:p>
        </p:txBody>
      </p:sp>
      <p:sp>
        <p:nvSpPr>
          <p:cNvPr id="19" name="!!sb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099304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sbn4"/>
          <p:cNvSpPr txBox="1"/>
          <p:nvPr/>
        </p:nvSpPr>
        <p:spPr>
          <a:xfrm>
            <a:off x="658368" y="5154168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21" name="!!st4"/>
          <p:cNvSpPr txBox="1"/>
          <p:nvPr/>
        </p:nvSpPr>
        <p:spPr>
          <a:xfrm>
            <a:off x="1298448" y="5090160"/>
            <a:ext cx="10234879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Quality has six dimensions; audit all six before modelling.</a:t>
            </a:r>
          </a:p>
        </p:txBody>
      </p:sp>
      <p:sp>
        <p:nvSpPr>
          <p:cNvPr id="22" name="!!sb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684519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1542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sbn5"/>
          <p:cNvSpPr txBox="1"/>
          <p:nvPr/>
        </p:nvSpPr>
        <p:spPr>
          <a:xfrm>
            <a:off x="658368" y="5739384"/>
            <a:ext cx="40233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4" name="!!st5"/>
          <p:cNvSpPr txBox="1"/>
          <p:nvPr/>
        </p:nvSpPr>
        <p:spPr>
          <a:xfrm>
            <a:off x="1298448" y="5675375"/>
            <a:ext cx="10234879" cy="6339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Missingness is MCAR, MAR or MNAR. Under MNAR, encode the absence rather than imputing it — the gap is the signal.</a:t>
            </a:r>
          </a:p>
        </p:txBody>
      </p:sp>
      <p:sp>
        <p:nvSpPr>
          <p:cNvPr id="70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71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10798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8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6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19" dur="26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6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30" dur="26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6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41" dur="26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6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52" dur="26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6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(in)">
                                      <p:cBhvr>
                                        <p:cTn id="63" dur="26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6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1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9D882668-68F5-4055-8179-C0F8D9A53593}" type="slidenum">
              <a:rPr lang="en-GB" sz="1000">
                <a:solidFill>
                  <a:srgbClr val="8795A1"/>
                </a:solidFill>
                <a:latin typeface="Segoe UI"/>
              </a:rPr>
              <a:t>42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Which is a ratio-scale variable?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Calendar year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Temperature in </a:t>
            </a:r>
            <a:r>
              <a:rPr sz="2000" b="0" i="0">
                <a:solidFill>
                  <a:srgbClr val="1C252B"/>
                </a:solidFill>
                <a:latin typeface="Cambria"/>
              </a:rPr>
              <a:t>°</a:t>
            </a:r>
            <a:r>
              <a:rPr sz="2000" b="0" i="0">
                <a:solidFill>
                  <a:srgbClr val="1C252B"/>
                </a:solidFill>
                <a:latin typeface="Segoe UI"/>
              </a:rPr>
              <a:t>C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Number of packets sent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Severity rated low/medium/high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378915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Quick check 2 of 2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 ·  MULTIPLE CHOICE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0B34C41E-19F3-46B4-8319-5B142C49130B}" type="slidenum">
              <a:rPr lang="en-GB" sz="1000">
                <a:solidFill>
                  <a:srgbClr val="8795A1"/>
                </a:solidFill>
                <a:latin typeface="Segoe UI"/>
              </a:rPr>
              <a:t>43</a:t>
            </a:fld>
          </a:p>
        </p:txBody>
      </p:sp>
      <p:sp>
        <p:nvSpPr>
          <p:cNvPr id="7" name="!!mstem"/>
          <p:cNvSpPr txBox="1"/>
          <p:nvPr/>
        </p:nvSpPr>
        <p:spPr>
          <a:xfrm>
            <a:off x="658368" y="1737360"/>
            <a:ext cx="10874959" cy="45780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1C252B"/>
                </a:solidFill>
                <a:latin typeface="Segoe UI"/>
              </a:rPr>
              <a:t>JSON log events are best described as:</a:t>
            </a:r>
          </a:p>
        </p:txBody>
      </p:sp>
      <p:sp>
        <p:nvSpPr>
          <p:cNvPr id="8" name="!!mo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mo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0" name="!!molt0"/>
          <p:cNvSpPr txBox="1"/>
          <p:nvPr/>
        </p:nvSpPr>
        <p:spPr>
          <a:xfrm>
            <a:off x="841247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A</a:t>
            </a:r>
          </a:p>
        </p:txBody>
      </p:sp>
      <p:sp>
        <p:nvSpPr>
          <p:cNvPr id="11" name="!!mot0"/>
          <p:cNvSpPr txBox="1"/>
          <p:nvPr/>
        </p:nvSpPr>
        <p:spPr>
          <a:xfrm>
            <a:off x="1481328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structured</a:t>
            </a:r>
          </a:p>
        </p:txBody>
      </p:sp>
      <p:sp>
        <p:nvSpPr>
          <p:cNvPr id="12" name="!!mo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251520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3" name="!!mo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27895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molt1"/>
          <p:cNvSpPr txBox="1"/>
          <p:nvPr/>
        </p:nvSpPr>
        <p:spPr>
          <a:xfrm>
            <a:off x="6397599" y="287182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B</a:t>
            </a:r>
          </a:p>
        </p:txBody>
      </p:sp>
      <p:sp>
        <p:nvSpPr>
          <p:cNvPr id="15" name="!!mot1"/>
          <p:cNvSpPr txBox="1"/>
          <p:nvPr/>
        </p:nvSpPr>
        <p:spPr>
          <a:xfrm>
            <a:off x="7037679" y="286572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semi-structured</a:t>
            </a:r>
          </a:p>
        </p:txBody>
      </p:sp>
      <p:sp>
        <p:nvSpPr>
          <p:cNvPr id="16" name="!!mo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mo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1247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8" name="!!molt2"/>
          <p:cNvSpPr txBox="1"/>
          <p:nvPr/>
        </p:nvSpPr>
        <p:spPr>
          <a:xfrm>
            <a:off x="841247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C</a:t>
            </a:r>
          </a:p>
        </p:txBody>
      </p:sp>
      <p:sp>
        <p:nvSpPr>
          <p:cNvPr id="19" name="!!mot2"/>
          <p:cNvSpPr txBox="1"/>
          <p:nvPr/>
        </p:nvSpPr>
        <p:spPr>
          <a:xfrm>
            <a:off x="1481328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unstructured</a:t>
            </a:r>
          </a:p>
        </p:txBody>
      </p:sp>
      <p:sp>
        <p:nvSpPr>
          <p:cNvPr id="20" name="!!mo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4719" y="3703929"/>
            <a:ext cx="5318607" cy="1005840"/>
          </a:xfrm>
          <a:prstGeom prst="roundRect">
            <a:avLst>
              <a:gd name="adj" fmla="val 9090"/>
            </a:avLst>
          </a:prstGeom>
          <a:solidFill>
            <a:srgbClr val="F4F7F9"/>
          </a:solidFill>
          <a:ln w="12700">
            <a:solidFill>
              <a:srgbClr val="D9E1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1" name="!!mol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97599" y="397824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2" name="!!molt3"/>
          <p:cNvSpPr txBox="1"/>
          <p:nvPr/>
        </p:nvSpPr>
        <p:spPr>
          <a:xfrm>
            <a:off x="6397599" y="4060545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D</a:t>
            </a:r>
          </a:p>
        </p:txBody>
      </p:sp>
      <p:sp>
        <p:nvSpPr>
          <p:cNvPr id="23" name="!!mot3"/>
          <p:cNvSpPr txBox="1"/>
          <p:nvPr/>
        </p:nvSpPr>
        <p:spPr>
          <a:xfrm>
            <a:off x="7037679" y="4054449"/>
            <a:ext cx="4312767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C252B"/>
                </a:solidFill>
                <a:latin typeface="Segoe UI"/>
              </a:rPr>
              <a:t>tidy</a:t>
            </a:r>
          </a:p>
        </p:txBody>
      </p:sp>
      <p:sp>
        <p:nvSpPr>
          <p:cNvPr id="24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5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649842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676656"/>
            <a:ext cx="10874959" cy="932688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3000" b="0">
                <a:solidFill>
                  <a:srgbClr val="1A5276"/>
                </a:solidFill>
                <a:latin typeface="Segoe UI Semibold"/>
              </a:rPr>
              <a:t>For your notebook</a:t>
            </a:r>
          </a:p>
        </p:txBody>
      </p:sp>
      <p:pic>
        <p:nvPicPr>
          <p:cNvPr id="3" name="!!kicker-icon" descr="pen-fancy-1A5276.pn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8368" y="411480"/>
            <a:ext cx="219456" cy="219456"/>
          </a:xfrm>
          <a:prstGeom prst="rect">
            <a:avLst/>
          </a:prstGeom>
        </p:spPr>
      </p:pic>
      <p:sp>
        <p:nvSpPr>
          <p:cNvPr id="4" name="!!kicker"/>
          <p:cNvSpPr txBox="1"/>
          <p:nvPr/>
        </p:nvSpPr>
        <p:spPr>
          <a:xfrm>
            <a:off x="987552" y="402336"/>
            <a:ext cx="10545775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1A5276"/>
                </a:solidFill>
                <a:latin typeface="Segoe UI"/>
              </a:rPr>
              <a:t>REVIEW QUESTIONS</a:t>
            </a:r>
          </a:p>
        </p:txBody>
      </p:sp>
      <p:sp>
        <p:nvSpPr>
          <p:cNvPr id="5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8A4AE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6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00">
                <a:solidFill>
                  <a:srgbClr val="98A4AE"/>
                </a:solidFill>
                <a:latin typeface="Segoe UI"/>
              </a:rPr>
              <a:t>Handout p. 22     </a:t>
            </a:r>
            <a:fld id="{F38E097E-C6A2-4A5A-9DEB-5A1E0854691E}" type="slidenum">
              <a:rPr lang="en-GB" sz="1000">
                <a:solidFill>
                  <a:srgbClr val="8795A1"/>
                </a:solidFill>
                <a:latin typeface="Segoe UI"/>
              </a:rPr>
              <a:t>44</a:t>
            </a:fld>
          </a:p>
        </p:txBody>
      </p:sp>
      <p:sp>
        <p:nvSpPr>
          <p:cNvPr id="7" name="!!rt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5564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8" name="!!rtt0"/>
          <p:cNvSpPr txBox="1"/>
          <p:nvPr/>
        </p:nvSpPr>
        <p:spPr>
          <a:xfrm>
            <a:off x="658368" y="1796795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9" name="!!rq0"/>
          <p:cNvSpPr txBox="1"/>
          <p:nvPr/>
        </p:nvSpPr>
        <p:spPr>
          <a:xfrm>
            <a:off x="1892807" y="173736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Explain why it is invalid to say “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20°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C is twice as warm as </a:t>
            </a:r>
            <a:r>
              <a:rPr sz="1900" b="0" i="0">
                <a:solidFill>
                  <a:srgbClr val="1C252B"/>
                </a:solidFill>
                <a:latin typeface="Cambria"/>
              </a:rPr>
              <a:t>10°</a:t>
            </a:r>
            <a:r>
              <a:rPr sz="1900" b="0" i="0">
                <a:solidFill>
                  <a:srgbClr val="1C252B"/>
                </a:solidFill>
                <a:latin typeface="Segoe UI"/>
              </a:rPr>
              <a:t>C” but valid to say “200 packets is twice as many as 100”.</a:t>
            </a:r>
          </a:p>
        </p:txBody>
      </p:sp>
      <p:sp>
        <p:nvSpPr>
          <p:cNvPr id="10" name="!!rt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577388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1" name="!!rtt1"/>
          <p:cNvSpPr txBox="1"/>
          <p:nvPr/>
        </p:nvSpPr>
        <p:spPr>
          <a:xfrm>
            <a:off x="658368" y="2618536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2" name="!!rq1"/>
          <p:cNvSpPr txBox="1"/>
          <p:nvPr/>
        </p:nvSpPr>
        <p:spPr>
          <a:xfrm>
            <a:off x="1892807" y="2559100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Define MNAR and give an example from cybersecurity in which the missingness itself is the most informative feature available.</a:t>
            </a:r>
          </a:p>
        </p:txBody>
      </p:sp>
      <p:sp>
        <p:nvSpPr>
          <p:cNvPr id="13" name="!!rt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399129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6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4" name="!!rtt2"/>
          <p:cNvSpPr txBox="1"/>
          <p:nvPr/>
        </p:nvSpPr>
        <p:spPr>
          <a:xfrm>
            <a:off x="658368" y="3440277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36794"/>
                </a:solidFill>
                <a:latin typeface="Segoe UI"/>
              </a:rPr>
              <a:t>SHORT</a:t>
            </a:r>
          </a:p>
        </p:txBody>
      </p:sp>
      <p:sp>
        <p:nvSpPr>
          <p:cNvPr id="15" name="!!rq2"/>
          <p:cNvSpPr txBox="1"/>
          <p:nvPr/>
        </p:nvSpPr>
        <p:spPr>
          <a:xfrm>
            <a:off x="1892807" y="3380841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A dataset has no provenance record. List two specific risks this creates for a project that reaches deployment.</a:t>
            </a:r>
          </a:p>
        </p:txBody>
      </p:sp>
      <p:sp>
        <p:nvSpPr>
          <p:cNvPr id="16" name="!!rt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22087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7" name="!!rtt3"/>
          <p:cNvSpPr txBox="1"/>
          <p:nvPr/>
        </p:nvSpPr>
        <p:spPr>
          <a:xfrm>
            <a:off x="658368" y="4262018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18" name="!!rq3"/>
          <p:cNvSpPr txBox="1"/>
          <p:nvPr/>
        </p:nvSpPr>
        <p:spPr>
          <a:xfrm>
            <a:off x="1892807" y="4202582"/>
            <a:ext cx="9549079" cy="90342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You are given swipe-card, VLE-clickstream and grade data for 2,000 students. Design the granularity of your modelling table for the frame “predict in week 4 whether a student will fail”, and list the aggregations required to get there.</a:t>
            </a:r>
          </a:p>
        </p:txBody>
      </p:sp>
      <p:sp>
        <p:nvSpPr>
          <p:cNvPr id="19" name="!!rt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5343753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2E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0" name="!!rtt4"/>
          <p:cNvSpPr txBox="1"/>
          <p:nvPr/>
        </p:nvSpPr>
        <p:spPr>
          <a:xfrm>
            <a:off x="658368" y="5384901"/>
            <a:ext cx="10515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107964"/>
                </a:solidFill>
                <a:latin typeface="Segoe UI"/>
              </a:rPr>
              <a:t>APPLIED</a:t>
            </a:r>
          </a:p>
        </p:txBody>
      </p:sp>
      <p:sp>
        <p:nvSpPr>
          <p:cNvPr id="21" name="!!rq4"/>
          <p:cNvSpPr txBox="1"/>
          <p:nvPr/>
        </p:nvSpPr>
        <p:spPr>
          <a:xfrm>
            <a:off x="1892807" y="5325465"/>
            <a:ext cx="9549079" cy="6022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1C252B"/>
                </a:solidFill>
                <a:latin typeface="Segoe UI"/>
              </a:rPr>
              <a:t>For an IoT fleet of 400 motors reporting every 10 seconds, audit the dataset against all six quality dimensions: for each, state one concrete check you would run.</a:t>
            </a:r>
          </a:p>
        </p:txBody>
      </p:sp>
      <p:sp>
        <p:nvSpPr>
          <p:cNvPr id="22" name="!!p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23" name="!!p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1920768" cy="54864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!!w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430975" y="-502920"/>
            <a:ext cx="5486400" cy="4572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0" b="0" i="0">
                <a:solidFill>
                  <a:srgbClr val="2C6081"/>
                </a:solidFill>
                <a:latin typeface="Segoe UI Black"/>
              </a:rPr>
              <a:t>03</a:t>
            </a:r>
          </a:p>
        </p:txBody>
      </p:sp>
      <p:sp>
        <p:nvSpPr>
          <p:cNvPr id="2" name="!!title"/>
          <p:cNvSpPr>
            <a:spLocks noGrp="1"/>
          </p:cNvSpPr>
          <p:nvPr>
            <p:ph type="title"/>
          </p:nvPr>
        </p:nvSpPr>
        <p:spPr>
          <a:xfrm>
            <a:off x="658368" y="1243584"/>
            <a:ext cx="8229600" cy="822960"/>
          </a:xfrm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</a:pPr>
            <a:r>
              <a:rPr sz="4000" b="0">
                <a:solidFill>
                  <a:srgbClr val="FFFFFF"/>
                </a:solidFill>
                <a:latin typeface="Segoe UI Semibold"/>
              </a:rPr>
              <a:t>End of Chapter 3</a:t>
            </a:r>
          </a:p>
        </p:txBody>
      </p:sp>
      <p:sp>
        <p:nvSpPr>
          <p:cNvPr id="4" name="!!t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024128"/>
            <a:ext cx="82296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5" name="!!cl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6" name="!!cll0"/>
          <p:cNvSpPr txBox="1"/>
          <p:nvPr/>
        </p:nvSpPr>
        <p:spPr>
          <a:xfrm>
            <a:off x="932688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NEXT</a:t>
            </a:r>
          </a:p>
        </p:txBody>
      </p:sp>
      <p:sp>
        <p:nvSpPr>
          <p:cNvPr id="7" name="!!clv0"/>
          <p:cNvSpPr txBox="1"/>
          <p:nvPr/>
        </p:nvSpPr>
        <p:spPr>
          <a:xfrm>
            <a:off x="932688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FFFFFF"/>
                </a:solidFill>
                <a:latin typeface="Segoe UI Semibold"/>
              </a:rPr>
              <a:t>Chapter 4 — The Mathematical Toolkit</a:t>
            </a:r>
          </a:p>
        </p:txBody>
      </p:sp>
      <p:sp>
        <p:nvSpPr>
          <p:cNvPr id="8" name="!!cl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33007" y="2286000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9" name="!!cll1"/>
          <p:cNvSpPr txBox="1"/>
          <p:nvPr/>
        </p:nvSpPr>
        <p:spPr>
          <a:xfrm>
            <a:off x="6507327" y="2468880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READ</a:t>
            </a:r>
          </a:p>
        </p:txBody>
      </p:sp>
      <p:sp>
        <p:nvSpPr>
          <p:cNvPr id="10" name="!!clv1"/>
          <p:cNvSpPr txBox="1"/>
          <p:nvPr/>
        </p:nvSpPr>
        <p:spPr>
          <a:xfrm>
            <a:off x="6507327" y="2761488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Handout Chapter 3, pages 17–22</a:t>
            </a:r>
          </a:p>
        </p:txBody>
      </p:sp>
      <p:sp>
        <p:nvSpPr>
          <p:cNvPr id="11" name="!!cl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584448"/>
            <a:ext cx="5300319" cy="1097280"/>
          </a:xfrm>
          <a:prstGeom prst="roundRect">
            <a:avLst>
              <a:gd name="adj" fmla="val 8333"/>
            </a:avLst>
          </a:prstGeom>
          <a:solidFill>
            <a:srgbClr val="144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</a:p>
        </p:txBody>
      </p:sp>
      <p:sp>
        <p:nvSpPr>
          <p:cNvPr id="12" name="!!cll2"/>
          <p:cNvSpPr txBox="1"/>
          <p:nvPr/>
        </p:nvSpPr>
        <p:spPr>
          <a:xfrm>
            <a:off x="932688" y="3767328"/>
            <a:ext cx="4751679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spc="160">
                <a:solidFill>
                  <a:srgbClr val="A8BDCB"/>
                </a:solidFill>
                <a:latin typeface="Segoe UI"/>
              </a:rPr>
              <a:t>THIS WEEK'S LAB</a:t>
            </a:r>
          </a:p>
        </p:txBody>
      </p:sp>
      <p:sp>
        <p:nvSpPr>
          <p:cNvPr id="13" name="!!clv2"/>
          <p:cNvSpPr txBox="1"/>
          <p:nvPr/>
        </p:nvSpPr>
        <p:spPr>
          <a:xfrm>
            <a:off x="932688" y="4059935"/>
            <a:ext cx="4751679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  <a:latin typeface="Segoe UI Semibold"/>
              </a:rPr>
              <a:t>Ten-minute audit; distance &amp; descent</a:t>
            </a:r>
          </a:p>
        </p:txBody>
      </p:sp>
      <p:sp>
        <p:nvSpPr>
          <p:cNvPr id="14" name="!!footL"/>
          <p:cNvSpPr txBox="1"/>
          <p:nvPr/>
        </p:nvSpPr>
        <p:spPr>
          <a:xfrm>
            <a:off x="658368" y="6437376"/>
            <a:ext cx="6742474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B9C6D0"/>
                </a:solidFill>
                <a:latin typeface="Segoe UI"/>
              </a:rPr>
              <a:t>Data Science  ·  Chapter 3  ·  Data: Types, Sources and Quality</a:t>
            </a:r>
          </a:p>
        </p:txBody>
      </p:sp>
      <p:sp>
        <p:nvSpPr>
          <p:cNvPr id="15" name="!!footR"/>
          <p:cNvSpPr txBox="1"/>
          <p:nvPr/>
        </p:nvSpPr>
        <p:spPr>
          <a:xfrm>
            <a:off x="6639595" y="6437376"/>
            <a:ext cx="4893731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fld id="{E5530127-4C1A-410E-89D7-BCDD5C86628C}" type="slidenum">
              <a:rPr lang="en-GB" sz="1000">
                <a:solidFill>
                  <a:srgbClr val="D5DEE5"/>
                </a:solidFill>
                <a:latin typeface="Segoe UI"/>
              </a:rPr>
              <a:t>45</a:t>
            </a:fld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45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ta Science Fall 2026">
  <a:themeElements>
    <a:clrScheme name="Data Science Fall 2026">
      <a:dk1>
        <a:srgbClr val="1C252B"/>
      </a:dk1>
      <a:lt1>
        <a:srgbClr val="FFFFFF"/>
      </a:lt1>
      <a:dk2>
        <a:srgbClr val="1A5276"/>
      </a:dk2>
      <a:lt2>
        <a:srgbClr val="EBF5FB"/>
      </a:lt2>
      <a:accent1>
        <a:srgbClr val="1A5276"/>
      </a:accent1>
      <a:accent2>
        <a:srgbClr val="2E86C1"/>
      </a:accent2>
      <a:accent3>
        <a:srgbClr val="E74C3C"/>
      </a:accent3>
      <a:accent4>
        <a:srgbClr val="27AE60"/>
      </a:accent4>
      <a:accent5>
        <a:srgbClr val="8E44AD"/>
      </a:accent5>
      <a:accent6>
        <a:srgbClr val="B7950B"/>
      </a:accent6>
      <a:hlink>
        <a:srgbClr val="2E86C1"/>
      </a:hlink>
      <a:folHlink>
        <a:srgbClr val="8E44AD"/>
      </a:folHlink>
    </a:clrScheme>
    <a:fontScheme name="Data Science Fall 2026">
      <a:majorFont>
        <a:latin typeface="Segoe UI Semi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Data: Types, Sources and Quality</dc:title>
  <dc:subject>Data Science — From Foundations to Intelligent Systems · BSIT · Fall 2026</dc:subject>
  <dc:creator>Dr. Mustafa Hameed</dc:creator>
  <cp:keywords>data science; lecture slides; BSIT; Fall 2026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Lecture slides</cp:category>
</cp:coreProperties>
</file>