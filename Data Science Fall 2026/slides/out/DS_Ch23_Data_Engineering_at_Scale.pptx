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3.svg" ContentType="image/svg+xml"/>
  <Override PartName="/ppt/media/image8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6C15E5B-DDA0-4EEA-BF22-ED7D90F84F02}">
          <p14:sldIdLst>
            <p14:sldId id="256"/>
            <p14:sldId id="257"/>
            <p14:sldId id="258"/>
            <p14:sldId id="259"/>
            <p14:sldId id="260"/>
          </p14:sldIdLst>
        </p14:section>
        <p14:section name="23.1 Why Data Engineering Exists" id="{1838627F-6A69-4A3D-9782-2B0681C35173}">
          <p14:sldIdLst>
            <p14:sldId id="261"/>
          </p14:sldIdLst>
        </p14:section>
        <p14:section name="23.2 Pipelines" id="{BABA5454-9690-4FD4-A7B1-93A826C89679}">
          <p14:sldIdLst>
            <p14:sldId id="262"/>
            <p14:sldId id="263"/>
            <p14:sldId id="264"/>
            <p14:sldId id="265"/>
          </p14:sldIdLst>
        </p14:section>
        <p14:section name="23.3 Where Data Lives" id="{FA619A0C-186D-4CE2-A901-F825AC9434A5}">
          <p14:sldIdLst>
            <p14:sldId id="266"/>
          </p14:sldIdLst>
        </p14:section>
        <p14:section name="23.4 Big Data: The Five V’s" id="{D6CCF5F3-4742-4625-B454-F7CC942B4303}">
          <p14:sldIdLst>
            <p14:sldId id="267"/>
            <p14:sldId id="268"/>
            <p14:sldId id="269"/>
          </p14:sldIdLst>
        </p14:section>
        <p14:section name="23.5 Parallelism and Partitioning" id="{EC1E54A3-A3D7-46CF-BCED-4C4FB1427D9A}">
          <p14:sldIdLst>
            <p14:sldId id="270"/>
            <p14:sldId id="271"/>
            <p14:sldId id="272"/>
          </p14:sldIdLst>
        </p14:section>
        <p14:section name="23.6 Data Contracts and Automated Quality" id="{97EC9F4E-87B3-4494-8488-8B639B014FE3}">
          <p14:sldIdLst>
            <p14:sldId id="273"/>
            <p14:sldId id="274"/>
            <p14:sldId id="275"/>
            <p14:sldId id="276"/>
          </p14:sldIdLst>
        </p14:section>
        <p14:section name="Four lenses" id="{79AE4865-E4C5-4B41-9926-F16026B5533B}">
          <p14:sldIdLst>
            <p14:sldId id="277"/>
            <p14:sldId id="278"/>
            <p14:sldId id="279"/>
            <p14:sldId id="280"/>
            <p14:sldId id="281"/>
          </p14:sldIdLst>
        </p14:section>
        <p14:section name="Lab" id="{12611CE2-F504-4ECF-AA9B-45269E462D52}">
          <p14:sldIdLst>
            <p14:sldId id="282"/>
            <p14:sldId id="283"/>
            <p14:sldId id="284"/>
            <p14:sldId id="285"/>
            <p14:sldId id="286"/>
          </p14:sldIdLst>
        </p14:section>
        <p14:section name="Checkpoint" id="{14F61E4A-1952-495F-A2B8-211E35988883}">
          <p14:sldIdLst>
            <p14:sldId id="287"/>
            <p14:sldId id="288"/>
            <p14:sldId id="289"/>
            <p14:sldId id="290"/>
            <p14:sldId id="291"/>
            <p14:sldId id="292"/>
          </p14:sldIdLst>
        </p14:section>
        <p14:section name="Wrap-up" id="{A351BAEE-E34D-410F-AE08-2EBFBC3D066E}">
          <p14:sldIdLst>
            <p14:sldId id="293"/>
            <p14:sldId id="294"/>
            <p14:sldId id="295"/>
            <p14:sldId id="296"/>
            <p14:sldId id="29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23: Data Engineering at Scale. Part 5 — Data Science in Systems Context. Week 14: Data engineering; cloud and edge. Handout pages 150–155.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(quality dimensions), Chapter 7 (the transformations a pipeline automates) and Chapter 19 (batch versus stream).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data pipeline; ETL / ELT; orchestration; DAG; idempotence; data warehouse; data lake; lakehouse; schema-on-read / schema-on-write; the five V’s; partitioning; MapReduce; Spark; data contract; lineage.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23.1 (handout p. 151): A data pipeline as a DAG. The quarantine branch is the part beginners omit and the part that saves projects: data that fails validation must stop, not flow onwards.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23.2 (handout p. 151): Warehouse, lake and lakehouse. The real distinction is when you commit to a schema — before loading, or at query time — and that choice determines how expensive it is to change your mind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23.3 (handout p. 152): Map–reduce over partitioned data. Spark is a modern, in-memory implementation of this idea; the principle — split, compute independently, combine — is what makes data larger than one machine tractable.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Sources are the registry (nightly batch), the VLE (API, hourly) and swipe readers (near real time). Grain conflicts are the recurring problem: registry is one row per enrolment, VLE is one row per click. Land both raw, then build a conformed weekly student table. Governance is unusually strict: this is personal data about identifiable young people, so lineage is not merely good practice but a requirement (Chapter 28).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Volumes are trivial — everything fits in a spreadsheet — so the engineering problem is not scale but integration. Ticket tracker, git, timesheets and CI logs each identify the same work item differently, and reconciling those identifiers is most of the work. A data contract with each tool’s owner is worth more here than any distributed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The genuine big-data case in this course: 400 devices × 6 sensors × 1 Hz is 200 million rows a day. Partition by date and device, store in a columnar format, and pre-aggregate to minute and hour grains — almost no query needs raw 1 Hz data. Expect duplicates from at-least-once delivery and out-of-order arrival from network delay, so ingestion must be idempotent and windowing must use watermarks (Chapter 19).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Log volumes are enormous and retention is often mandated by regulation, so the lake pattern dominates: land everything raw, index selectively. Two engineering requirements are specific to this domain — logs must be tamper-evident, because an attacker’s first act is to alter them, and lineage must be strong enough to stand up in an investigation. Ingestion latency is itself a security control: a detection pipeline with a six-hour lag cannot stop anything.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Idempotent means re-running a task produces the same result rather than duplicating or compounding its effect. It matters because failures are normal: a job that half-completed must be safe to re-run without producing double-counted rows.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300 MB fits comfortably in memory; pandas will be faster to write, faster to run and far easier to debug. Distributed tooling on small data adds days of complexity for negative benefit.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Completeness, caught by the row-count / volume check against a rolling median. Every individual row is valid, so type, range and null checks all pass — only the count reveals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24 — Cloud and Edge Computing for Data Science. READ: Handout Chapter 23, pages 150–155. THIS WEEK'S LAB: Data contracts; containerise a model. ASSESSMENT: Capstone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15.xml"/><Relationship Id="rId10"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7.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30.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image" Target="../media/image35.png"/><Relationship Id="rId7" Type="http://schemas.openxmlformats.org/officeDocument/2006/relationships/image" Target="../media/image36.svg"/><Relationship Id="rId8" Type="http://schemas.openxmlformats.org/officeDocument/2006/relationships/image" Target="../media/image37.png"/><Relationship Id="rId9" Type="http://schemas.openxmlformats.org/officeDocument/2006/relationships/image" Target="../media/image38.svg"/><Relationship Id="rId10" Type="http://schemas.openxmlformats.org/officeDocument/2006/relationships/image" Target="../media/image39.png"/><Relationship Id="rId11" Type="http://schemas.openxmlformats.org/officeDocument/2006/relationships/image" Target="../media/image40.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33.png"/><Relationship Id="rId5" Type="http://schemas.openxmlformats.org/officeDocument/2006/relationships/image" Target="../media/image43.svg"/><Relationship Id="rId6" Type="http://schemas.openxmlformats.org/officeDocument/2006/relationships/image" Target="../media/image35.png"/><Relationship Id="rId7" Type="http://schemas.openxmlformats.org/officeDocument/2006/relationships/image" Target="../media/image44.svg"/><Relationship Id="rId8" Type="http://schemas.openxmlformats.org/officeDocument/2006/relationships/image" Target="../media/image37.png"/><Relationship Id="rId9" Type="http://schemas.openxmlformats.org/officeDocument/2006/relationships/image" Target="../media/image45.svg"/><Relationship Id="rId10" Type="http://schemas.openxmlformats.org/officeDocument/2006/relationships/image" Target="../media/image39.png"/><Relationship Id="rId11" Type="http://schemas.openxmlformats.org/officeDocument/2006/relationships/image" Target="../media/image46.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image" Target="../media/image35.png"/><Relationship Id="rId5" Type="http://schemas.openxmlformats.org/officeDocument/2006/relationships/image" Target="../media/image49.svg"/><Relationship Id="rId6" Type="http://schemas.openxmlformats.org/officeDocument/2006/relationships/image" Target="../media/image33.png"/><Relationship Id="rId7" Type="http://schemas.openxmlformats.org/officeDocument/2006/relationships/image" Target="../media/image50.svg"/><Relationship Id="rId8" Type="http://schemas.openxmlformats.org/officeDocument/2006/relationships/image" Target="../media/image37.png"/><Relationship Id="rId9" Type="http://schemas.openxmlformats.org/officeDocument/2006/relationships/image" Target="../media/image51.svg"/><Relationship Id="rId10" Type="http://schemas.openxmlformats.org/officeDocument/2006/relationships/image" Target="../media/image39.png"/><Relationship Id="rId11" Type="http://schemas.openxmlformats.org/officeDocument/2006/relationships/image" Target="../media/image52.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37.png"/><Relationship Id="rId5" Type="http://schemas.openxmlformats.org/officeDocument/2006/relationships/image" Target="../media/image55.svg"/><Relationship Id="rId6" Type="http://schemas.openxmlformats.org/officeDocument/2006/relationships/image" Target="../media/image33.png"/><Relationship Id="rId7" Type="http://schemas.openxmlformats.org/officeDocument/2006/relationships/image" Target="../media/image56.svg"/><Relationship Id="rId8" Type="http://schemas.openxmlformats.org/officeDocument/2006/relationships/image" Target="../media/image35.png"/><Relationship Id="rId9" Type="http://schemas.openxmlformats.org/officeDocument/2006/relationships/image" Target="../media/image57.svg"/><Relationship Id="rId10" Type="http://schemas.openxmlformats.org/officeDocument/2006/relationships/image" Target="../media/image39.png"/><Relationship Id="rId11" Type="http://schemas.openxmlformats.org/officeDocument/2006/relationships/image" Target="../media/image58.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39.png"/><Relationship Id="rId5" Type="http://schemas.openxmlformats.org/officeDocument/2006/relationships/image" Target="../media/image61.svg"/><Relationship Id="rId6" Type="http://schemas.openxmlformats.org/officeDocument/2006/relationships/image" Target="../media/image33.png"/><Relationship Id="rId7" Type="http://schemas.openxmlformats.org/officeDocument/2006/relationships/image" Target="../media/image62.svg"/><Relationship Id="rId8" Type="http://schemas.openxmlformats.org/officeDocument/2006/relationships/image" Target="../media/image35.png"/><Relationship Id="rId9" Type="http://schemas.openxmlformats.org/officeDocument/2006/relationships/image" Target="../media/image63.svg"/><Relationship Id="rId10" Type="http://schemas.openxmlformats.org/officeDocument/2006/relationships/image" Target="../media/image37.png"/><Relationship Id="rId11" Type="http://schemas.openxmlformats.org/officeDocument/2006/relationships/image" Target="../media/image64.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23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Data Engineering at Scale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DATA SCIENCE IN SYSTEMS CONTEXT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23  ·  WEEK 14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150     </a:t>
            </a:r>
            <a:fld id="{F8B18620-F384-48DE-A13E-2162508A8A4A}"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224056" y="1755648"/>
            <a:ext cx="150833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224056" y="2029967"/>
            <a:ext cx="1508331"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53935"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05393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051399"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Data Engineering at Scale</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Data: Types, Sources and Quality</a:t>
            </a:r>
          </a:p>
        </p:txBody>
      </p:sp>
      <p:sp>
        <p:nvSpPr>
          <p:cNvPr id="88"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Acquisition, Wrangling and Cleaning</a:t>
            </a:r>
          </a:p>
        </p:txBody>
      </p:sp>
      <p:sp>
        <p:nvSpPr>
          <p:cNvPr id="91" name="!!chipBU19">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19">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19"/>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19  </a:t>
            </a:r>
            <a:r>
              <a:rPr sz="1400" b="0" i="0">
                <a:solidFill>
                  <a:srgbClr val="1C252B"/>
                </a:solidFill>
                <a:latin typeface="Segoe UI"/>
              </a:rPr>
              <a:t>Sequences, Time Series and Streaming Analytics</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chipUS2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2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2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24  </a:t>
            </a:r>
            <a:r>
              <a:rPr sz="1400" b="0" i="0">
                <a:solidFill>
                  <a:srgbClr val="1C252B"/>
                </a:solidFill>
                <a:latin typeface="Segoe UI"/>
              </a:rPr>
              <a:t>Cloud and Edge Computing for Data Science</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58055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150     </a:t>
            </a:r>
            <a:fld id="{E16E226E-9B99-4590-96E6-97C6FE12CEE2}"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a data pipeline and distinguish ETL from ELT.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Compare</a:t>
            </a:r>
            <a:r>
              <a:rPr sz="2100" b="0" i="0">
                <a:solidFill>
                  <a:srgbClr val="1C252B"/>
                </a:solidFill>
                <a:latin typeface="Segoe UI"/>
              </a:rPr>
              <a:t> data warehouses, lakes and lakehouses, and choose one for a stated need.</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the five V’s of big data and what each demands technically.</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736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how partitioning and parallelism make large computations tractable.</a:t>
            </a:r>
          </a:p>
        </p:txBody>
      </p:sp>
      <p:sp>
        <p:nvSpPr>
          <p:cNvPr id="20" name="!!ob4">
            <a:extLst>
              <a:ext uri="{C183D7F6-B498-43B3-948B-1728B52AA6E4}">
                <adec:decorative xmlns:adec="http://schemas.microsoft.com/office/drawing/2017/decorative" val="1"/>
              </a:ext>
            </a:extLst>
          </p:cNvPr>
          <p:cNvSpPr/>
          <p:nvPr/>
        </p:nvSpPr>
        <p:spPr>
          <a:xfrm>
            <a:off x="658368" y="463600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69544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67715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Specify</a:t>
            </a:r>
            <a:r>
              <a:rPr sz="2100" b="0" i="0">
                <a:solidFill>
                  <a:srgbClr val="1C252B"/>
                </a:solidFill>
                <a:latin typeface="Segoe UI"/>
              </a:rPr>
              <a:t> data quality checks that run automatically in a pipeline.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708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150     </a:t>
            </a:r>
            <a:fld id="{1D007D29-3485-4E50-B232-0D23220B237C}" type="slidenum">
              <a:rPr lang="en-GB" sz="1000">
                <a:solidFill>
                  <a:srgbClr val="8795A1"/>
                </a:solidFill>
                <a:latin typeface="Segoe UI"/>
              </a:rPr>
              <a:t>4</a:t>
            </a:fld>
          </a:p>
        </p:txBody>
      </p:sp>
      <p:sp>
        <p:nvSpPr>
          <p:cNvPr id="7" name="!!term-data pipeline">
            <a:extLst>
              <a:ext uri="{C183D7F6-B498-43B3-948B-1728B52AA6E4}">
                <adec:decorative xmlns:adec="http://schemas.microsoft.com/office/drawing/2017/decorative" val="1"/>
              </a:ext>
            </a:extLst>
          </p:cNvPr>
          <p:cNvSpPr/>
          <p:nvPr/>
        </p:nvSpPr>
        <p:spPr>
          <a:xfrm>
            <a:off x="658368" y="1847088"/>
            <a:ext cx="16273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data pipelin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data pipeline"/>
          <p:cNvSpPr txBox="1"/>
          <p:nvPr/>
        </p:nvSpPr>
        <p:spPr>
          <a:xfrm>
            <a:off x="950976" y="1962911"/>
            <a:ext cx="144448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data pipeline</a:t>
            </a:r>
          </a:p>
        </p:txBody>
      </p:sp>
      <p:sp>
        <p:nvSpPr>
          <p:cNvPr id="10" name="!!term-ETL / ELT">
            <a:extLst>
              <a:ext uri="{C183D7F6-B498-43B3-948B-1728B52AA6E4}">
                <adec:decorative xmlns:adec="http://schemas.microsoft.com/office/drawing/2017/decorative" val="1"/>
              </a:ext>
            </a:extLst>
          </p:cNvPr>
          <p:cNvSpPr/>
          <p:nvPr/>
        </p:nvSpPr>
        <p:spPr>
          <a:xfrm>
            <a:off x="2432035" y="1847088"/>
            <a:ext cx="12553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ETL / ELT">
            <a:extLst>
              <a:ext uri="{C183D7F6-B498-43B3-948B-1728B52AA6E4}">
                <adec:decorative xmlns:adec="http://schemas.microsoft.com/office/drawing/2017/decorative" val="1"/>
              </a:ext>
            </a:extLst>
          </p:cNvPr>
          <p:cNvSpPr/>
          <p:nvPr/>
        </p:nvSpPr>
        <p:spPr>
          <a:xfrm>
            <a:off x="25600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ETL / ELT"/>
          <p:cNvSpPr txBox="1"/>
          <p:nvPr/>
        </p:nvSpPr>
        <p:spPr>
          <a:xfrm>
            <a:off x="2724643" y="1962911"/>
            <a:ext cx="10724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ETL / ELT</a:t>
            </a:r>
          </a:p>
        </p:txBody>
      </p:sp>
      <p:sp>
        <p:nvSpPr>
          <p:cNvPr id="13" name="!!term-orchestration">
            <a:extLst>
              <a:ext uri="{C183D7F6-B498-43B3-948B-1728B52AA6E4}">
                <adec:decorative xmlns:adec="http://schemas.microsoft.com/office/drawing/2017/decorative" val="1"/>
              </a:ext>
            </a:extLst>
          </p:cNvPr>
          <p:cNvSpPr/>
          <p:nvPr/>
        </p:nvSpPr>
        <p:spPr>
          <a:xfrm>
            <a:off x="3833700" y="1847088"/>
            <a:ext cx="16488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rchestration">
            <a:extLst>
              <a:ext uri="{C183D7F6-B498-43B3-948B-1728B52AA6E4}">
                <adec:decorative xmlns:adec="http://schemas.microsoft.com/office/drawing/2017/decorative" val="1"/>
              </a:ext>
            </a:extLst>
          </p:cNvPr>
          <p:cNvSpPr/>
          <p:nvPr/>
        </p:nvSpPr>
        <p:spPr>
          <a:xfrm>
            <a:off x="39617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rchestration"/>
          <p:cNvSpPr txBox="1"/>
          <p:nvPr/>
        </p:nvSpPr>
        <p:spPr>
          <a:xfrm>
            <a:off x="4126308" y="1962911"/>
            <a:ext cx="14659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orchestration</a:t>
            </a:r>
          </a:p>
        </p:txBody>
      </p:sp>
      <p:sp>
        <p:nvSpPr>
          <p:cNvPr id="16" name="!!term-DAG">
            <a:extLst>
              <a:ext uri="{C183D7F6-B498-43B3-948B-1728B52AA6E4}">
                <adec:decorative xmlns:adec="http://schemas.microsoft.com/office/drawing/2017/decorative" val="1"/>
              </a:ext>
            </a:extLst>
          </p:cNvPr>
          <p:cNvSpPr/>
          <p:nvPr/>
        </p:nvSpPr>
        <p:spPr>
          <a:xfrm>
            <a:off x="5628881" y="1847088"/>
            <a:ext cx="8599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AG">
            <a:extLst>
              <a:ext uri="{C183D7F6-B498-43B3-948B-1728B52AA6E4}">
                <adec:decorative xmlns:adec="http://schemas.microsoft.com/office/drawing/2017/decorative" val="1"/>
              </a:ext>
            </a:extLst>
          </p:cNvPr>
          <p:cNvSpPr/>
          <p:nvPr/>
        </p:nvSpPr>
        <p:spPr>
          <a:xfrm>
            <a:off x="575689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AG"/>
          <p:cNvSpPr txBox="1"/>
          <p:nvPr/>
        </p:nvSpPr>
        <p:spPr>
          <a:xfrm>
            <a:off x="5921489" y="1962911"/>
            <a:ext cx="67709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DAG</a:t>
            </a:r>
          </a:p>
        </p:txBody>
      </p:sp>
      <p:sp>
        <p:nvSpPr>
          <p:cNvPr id="19" name="!!term-idempotence">
            <a:extLst>
              <a:ext uri="{C183D7F6-B498-43B3-948B-1728B52AA6E4}">
                <adec:decorative xmlns:adec="http://schemas.microsoft.com/office/drawing/2017/decorative" val="1"/>
              </a:ext>
            </a:extLst>
          </p:cNvPr>
          <p:cNvSpPr/>
          <p:nvPr/>
        </p:nvSpPr>
        <p:spPr>
          <a:xfrm>
            <a:off x="6635163" y="1847088"/>
            <a:ext cx="16414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dempotence">
            <a:extLst>
              <a:ext uri="{C183D7F6-B498-43B3-948B-1728B52AA6E4}">
                <adec:decorative xmlns:adec="http://schemas.microsoft.com/office/drawing/2017/decorative" val="1"/>
              </a:ext>
            </a:extLst>
          </p:cNvPr>
          <p:cNvSpPr/>
          <p:nvPr/>
        </p:nvSpPr>
        <p:spPr>
          <a:xfrm>
            <a:off x="676317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dempotence"/>
          <p:cNvSpPr txBox="1"/>
          <p:nvPr/>
        </p:nvSpPr>
        <p:spPr>
          <a:xfrm>
            <a:off x="6927771" y="1962911"/>
            <a:ext cx="145855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idempotence</a:t>
            </a:r>
          </a:p>
        </p:txBody>
      </p:sp>
      <p:sp>
        <p:nvSpPr>
          <p:cNvPr id="22" name="!!term-data warehouse">
            <a:extLst>
              <a:ext uri="{C183D7F6-B498-43B3-948B-1728B52AA6E4}">
                <adec:decorative xmlns:adec="http://schemas.microsoft.com/office/drawing/2017/decorative" val="1"/>
              </a:ext>
            </a:extLst>
          </p:cNvPr>
          <p:cNvSpPr/>
          <p:nvPr/>
        </p:nvSpPr>
        <p:spPr>
          <a:xfrm>
            <a:off x="8422899" y="1847088"/>
            <a:ext cx="18872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data warehouse">
            <a:extLst>
              <a:ext uri="{C183D7F6-B498-43B3-948B-1728B52AA6E4}">
                <adec:decorative xmlns:adec="http://schemas.microsoft.com/office/drawing/2017/decorative" val="1"/>
              </a:ext>
            </a:extLst>
          </p:cNvPr>
          <p:cNvSpPr/>
          <p:nvPr/>
        </p:nvSpPr>
        <p:spPr>
          <a:xfrm>
            <a:off x="855091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data warehouse"/>
          <p:cNvSpPr txBox="1"/>
          <p:nvPr/>
        </p:nvSpPr>
        <p:spPr>
          <a:xfrm>
            <a:off x="8715507" y="1962911"/>
            <a:ext cx="170435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data warehouse</a:t>
            </a:r>
          </a:p>
        </p:txBody>
      </p:sp>
      <p:sp>
        <p:nvSpPr>
          <p:cNvPr id="25" name="!!term-data lake">
            <a:extLst>
              <a:ext uri="{C183D7F6-B498-43B3-948B-1728B52AA6E4}">
                <adec:decorative xmlns:adec="http://schemas.microsoft.com/office/drawing/2017/decorative" val="1"/>
              </a:ext>
            </a:extLst>
          </p:cNvPr>
          <p:cNvSpPr/>
          <p:nvPr/>
        </p:nvSpPr>
        <p:spPr>
          <a:xfrm>
            <a:off x="658368" y="2468880"/>
            <a:ext cx="12660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data lak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data lake"/>
          <p:cNvSpPr txBox="1"/>
          <p:nvPr/>
        </p:nvSpPr>
        <p:spPr>
          <a:xfrm>
            <a:off x="950976" y="2584704"/>
            <a:ext cx="10831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data lake</a:t>
            </a:r>
          </a:p>
        </p:txBody>
      </p:sp>
      <p:sp>
        <p:nvSpPr>
          <p:cNvPr id="28" name="!!term-lakehouse">
            <a:extLst>
              <a:ext uri="{C183D7F6-B498-43B3-948B-1728B52AA6E4}">
                <adec:decorative xmlns:adec="http://schemas.microsoft.com/office/drawing/2017/decorative" val="1"/>
              </a:ext>
            </a:extLst>
          </p:cNvPr>
          <p:cNvSpPr/>
          <p:nvPr/>
        </p:nvSpPr>
        <p:spPr>
          <a:xfrm>
            <a:off x="2070709" y="2468880"/>
            <a:ext cx="13582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lakehouse">
            <a:extLst>
              <a:ext uri="{C183D7F6-B498-43B3-948B-1728B52AA6E4}">
                <adec:decorative xmlns:adec="http://schemas.microsoft.com/office/drawing/2017/decorative" val="1"/>
              </a:ext>
            </a:extLst>
          </p:cNvPr>
          <p:cNvSpPr/>
          <p:nvPr/>
        </p:nvSpPr>
        <p:spPr>
          <a:xfrm>
            <a:off x="219872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lakehouse"/>
          <p:cNvSpPr txBox="1"/>
          <p:nvPr/>
        </p:nvSpPr>
        <p:spPr>
          <a:xfrm>
            <a:off x="2363317" y="2584704"/>
            <a:ext cx="117539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lakehouse</a:t>
            </a:r>
          </a:p>
        </p:txBody>
      </p:sp>
      <p:sp>
        <p:nvSpPr>
          <p:cNvPr id="31" name="!!term-schema-on-read">
            <a:extLst>
              <a:ext uri="{C183D7F6-B498-43B3-948B-1728B52AA6E4}">
                <adec:decorative xmlns:adec="http://schemas.microsoft.com/office/drawing/2017/decorative" val="1"/>
              </a:ext>
            </a:extLst>
          </p:cNvPr>
          <p:cNvSpPr/>
          <p:nvPr/>
        </p:nvSpPr>
        <p:spPr>
          <a:xfrm>
            <a:off x="3575284" y="2468880"/>
            <a:ext cx="36879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schema-on-read">
            <a:extLst>
              <a:ext uri="{C183D7F6-B498-43B3-948B-1728B52AA6E4}">
                <adec:decorative xmlns:adec="http://schemas.microsoft.com/office/drawing/2017/decorative" val="1"/>
              </a:ext>
            </a:extLst>
          </p:cNvPr>
          <p:cNvSpPr/>
          <p:nvPr/>
        </p:nvSpPr>
        <p:spPr>
          <a:xfrm>
            <a:off x="370330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schema-on-read"/>
          <p:cNvSpPr txBox="1"/>
          <p:nvPr/>
        </p:nvSpPr>
        <p:spPr>
          <a:xfrm>
            <a:off x="3867892" y="2584704"/>
            <a:ext cx="35050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schema-on-read / schema-on-write</a:t>
            </a:r>
          </a:p>
        </p:txBody>
      </p:sp>
      <p:sp>
        <p:nvSpPr>
          <p:cNvPr id="34" name="!!term-the five V’s">
            <a:extLst>
              <a:ext uri="{C183D7F6-B498-43B3-948B-1728B52AA6E4}">
                <adec:decorative xmlns:adec="http://schemas.microsoft.com/office/drawing/2017/decorative" val="1"/>
              </a:ext>
            </a:extLst>
          </p:cNvPr>
          <p:cNvSpPr/>
          <p:nvPr/>
        </p:nvSpPr>
        <p:spPr>
          <a:xfrm>
            <a:off x="7409502" y="2468880"/>
            <a:ext cx="14350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the five V’s">
            <a:extLst>
              <a:ext uri="{C183D7F6-B498-43B3-948B-1728B52AA6E4}">
                <adec:decorative xmlns:adec="http://schemas.microsoft.com/office/drawing/2017/decorative" val="1"/>
              </a:ext>
            </a:extLst>
          </p:cNvPr>
          <p:cNvSpPr/>
          <p:nvPr/>
        </p:nvSpPr>
        <p:spPr>
          <a:xfrm>
            <a:off x="753751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the five V’s"/>
          <p:cNvSpPr txBox="1"/>
          <p:nvPr/>
        </p:nvSpPr>
        <p:spPr>
          <a:xfrm>
            <a:off x="7702110" y="2584704"/>
            <a:ext cx="125214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the five V’s</a:t>
            </a:r>
          </a:p>
        </p:txBody>
      </p:sp>
      <p:sp>
        <p:nvSpPr>
          <p:cNvPr id="37" name="!!term-partitioning">
            <a:extLst>
              <a:ext uri="{C183D7F6-B498-43B3-948B-1728B52AA6E4}">
                <adec:decorative xmlns:adec="http://schemas.microsoft.com/office/drawing/2017/decorative" val="1"/>
              </a:ext>
            </a:extLst>
          </p:cNvPr>
          <p:cNvSpPr/>
          <p:nvPr/>
        </p:nvSpPr>
        <p:spPr>
          <a:xfrm>
            <a:off x="8990832" y="2468880"/>
            <a:ext cx="15076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artitioning">
            <a:extLst>
              <a:ext uri="{C183D7F6-B498-43B3-948B-1728B52AA6E4}">
                <adec:decorative xmlns:adec="http://schemas.microsoft.com/office/drawing/2017/decorative" val="1"/>
              </a:ext>
            </a:extLst>
          </p:cNvPr>
          <p:cNvSpPr/>
          <p:nvPr/>
        </p:nvSpPr>
        <p:spPr>
          <a:xfrm>
            <a:off x="911884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artitioning"/>
          <p:cNvSpPr txBox="1"/>
          <p:nvPr/>
        </p:nvSpPr>
        <p:spPr>
          <a:xfrm>
            <a:off x="9283440" y="2584704"/>
            <a:ext cx="13247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partitioning</a:t>
            </a:r>
          </a:p>
        </p:txBody>
      </p:sp>
      <p:sp>
        <p:nvSpPr>
          <p:cNvPr id="40" name="!!term-MapReduce">
            <a:extLst>
              <a:ext uri="{C183D7F6-B498-43B3-948B-1728B52AA6E4}">
                <adec:decorative xmlns:adec="http://schemas.microsoft.com/office/drawing/2017/decorative" val="1"/>
              </a:ext>
            </a:extLst>
          </p:cNvPr>
          <p:cNvSpPr/>
          <p:nvPr/>
        </p:nvSpPr>
        <p:spPr>
          <a:xfrm>
            <a:off x="658368" y="3090672"/>
            <a:ext cx="15282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apReduc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apReduce"/>
          <p:cNvSpPr txBox="1"/>
          <p:nvPr/>
        </p:nvSpPr>
        <p:spPr>
          <a:xfrm>
            <a:off x="950976" y="3206496"/>
            <a:ext cx="13453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MapReduce</a:t>
            </a:r>
          </a:p>
        </p:txBody>
      </p:sp>
      <p:sp>
        <p:nvSpPr>
          <p:cNvPr id="43" name="!!term-Spark">
            <a:extLst>
              <a:ext uri="{C183D7F6-B498-43B3-948B-1728B52AA6E4}">
                <adec:decorative xmlns:adec="http://schemas.microsoft.com/office/drawing/2017/decorative" val="1"/>
              </a:ext>
            </a:extLst>
          </p:cNvPr>
          <p:cNvSpPr/>
          <p:nvPr/>
        </p:nvSpPr>
        <p:spPr>
          <a:xfrm>
            <a:off x="2332872" y="3090672"/>
            <a:ext cx="9514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park">
            <a:extLst>
              <a:ext uri="{C183D7F6-B498-43B3-948B-1728B52AA6E4}">
                <adec:decorative xmlns:adec="http://schemas.microsoft.com/office/drawing/2017/decorative" val="1"/>
              </a:ext>
            </a:extLst>
          </p:cNvPr>
          <p:cNvSpPr/>
          <p:nvPr/>
        </p:nvSpPr>
        <p:spPr>
          <a:xfrm>
            <a:off x="246088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park"/>
          <p:cNvSpPr txBox="1"/>
          <p:nvPr/>
        </p:nvSpPr>
        <p:spPr>
          <a:xfrm>
            <a:off x="2625480" y="3206496"/>
            <a:ext cx="76855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Spark</a:t>
            </a:r>
          </a:p>
        </p:txBody>
      </p:sp>
      <p:sp>
        <p:nvSpPr>
          <p:cNvPr id="46" name="!!term-data contract">
            <a:extLst>
              <a:ext uri="{C183D7F6-B498-43B3-948B-1728B52AA6E4}">
                <adec:decorative xmlns:adec="http://schemas.microsoft.com/office/drawing/2017/decorative" val="1"/>
              </a:ext>
            </a:extLst>
          </p:cNvPr>
          <p:cNvSpPr/>
          <p:nvPr/>
        </p:nvSpPr>
        <p:spPr>
          <a:xfrm>
            <a:off x="3430610" y="3090672"/>
            <a:ext cx="16474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data contract">
            <a:extLst>
              <a:ext uri="{C183D7F6-B498-43B3-948B-1728B52AA6E4}">
                <adec:decorative xmlns:adec="http://schemas.microsoft.com/office/drawing/2017/decorative" val="1"/>
              </a:ext>
            </a:extLst>
          </p:cNvPr>
          <p:cNvSpPr/>
          <p:nvPr/>
        </p:nvSpPr>
        <p:spPr>
          <a:xfrm>
            <a:off x="355862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data contract"/>
          <p:cNvSpPr txBox="1"/>
          <p:nvPr/>
        </p:nvSpPr>
        <p:spPr>
          <a:xfrm>
            <a:off x="3723218" y="3206496"/>
            <a:ext cx="14645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data contract</a:t>
            </a:r>
          </a:p>
        </p:txBody>
      </p:sp>
      <p:sp>
        <p:nvSpPr>
          <p:cNvPr id="49" name="!!term-lineage">
            <a:extLst>
              <a:ext uri="{C183D7F6-B498-43B3-948B-1728B52AA6E4}">
                <adec:decorative xmlns:adec="http://schemas.microsoft.com/office/drawing/2017/decorative" val="1"/>
              </a:ext>
            </a:extLst>
          </p:cNvPr>
          <p:cNvSpPr/>
          <p:nvPr/>
        </p:nvSpPr>
        <p:spPr>
          <a:xfrm>
            <a:off x="5224383" y="3090672"/>
            <a:ext cx="11009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lineage">
            <a:extLst>
              <a:ext uri="{C183D7F6-B498-43B3-948B-1728B52AA6E4}">
                <adec:decorative xmlns:adec="http://schemas.microsoft.com/office/drawing/2017/decorative" val="1"/>
              </a:ext>
            </a:extLst>
          </p:cNvPr>
          <p:cNvSpPr/>
          <p:nvPr/>
        </p:nvSpPr>
        <p:spPr>
          <a:xfrm>
            <a:off x="535239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lineage"/>
          <p:cNvSpPr txBox="1"/>
          <p:nvPr/>
        </p:nvSpPr>
        <p:spPr>
          <a:xfrm>
            <a:off x="5516991" y="3206496"/>
            <a:ext cx="91803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lineage</a:t>
            </a:r>
          </a:p>
        </p:txBody>
      </p:sp>
      <p:sp>
        <p:nvSpPr>
          <p:cNvPr id="52"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116111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150–155     </a:t>
            </a:r>
            <a:fld id="{AC94CA28-CF86-4790-BCE0-48E0450F5E84}" type="slidenum">
              <a:rPr lang="en-GB" sz="1000">
                <a:solidFill>
                  <a:srgbClr val="8795A1"/>
                </a:solidFill>
                <a:latin typeface="Segoe UI"/>
              </a:rPr>
              <a:t>5</a:t>
            </a:fld>
          </a:p>
        </p:txBody>
      </p:sp>
      <p:sp>
        <p:nvSpPr>
          <p:cNvPr id="7" name="!!ag0" descr="Go to section 23.1 Why Data Engineering Exist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Data Engineering Exists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150  ›</a:t>
            </a:r>
          </a:p>
        </p:txBody>
      </p:sp>
      <p:sp>
        <p:nvSpPr>
          <p:cNvPr id="12" name="!!ag1" descr="Go to section 23.2 Pipelin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Pipelines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150  ›</a:t>
            </a:r>
          </a:p>
        </p:txBody>
      </p:sp>
      <p:sp>
        <p:nvSpPr>
          <p:cNvPr id="17" name="!!ag2" descr="Go to section 23.3 Where Data Live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Data Lives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151  ›</a:t>
            </a:r>
          </a:p>
        </p:txBody>
      </p:sp>
      <p:sp>
        <p:nvSpPr>
          <p:cNvPr id="22" name="!!ag3" descr="Go to section 23.4 Big Data: The Five V’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Big Data: The Five V’s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151  ›</a:t>
            </a:r>
          </a:p>
        </p:txBody>
      </p:sp>
      <p:sp>
        <p:nvSpPr>
          <p:cNvPr id="27" name="!!ag4" descr="Go to section 23.5 Parallelism and Partition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23.5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Parallelism and Partitioning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152  ›</a:t>
            </a:r>
          </a:p>
        </p:txBody>
      </p:sp>
      <p:sp>
        <p:nvSpPr>
          <p:cNvPr id="32" name="!!ag5" descr="Go to section 23.6 Data Contracts and Automated Quality">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23.6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Data Contracts and Automated Quality</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152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45139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Uncomfortable Ratio</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§23.1  ·  Handout p. 150     </a:t>
            </a:r>
            <a:fld id="{6C2D4E12-DB68-490D-B0B1-0F3509B6B738}"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model that runs once in a notebook needs no engineering. A model that must run every morning on yesterday’s data, for the next three years, needs a great deal of it. Most data science that reaches production is 20% modelling and 80% making data arrive reliably — and the 80% is what this chapter is about.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Pipelines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Why Data Engineering Exists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23.2   Pipelines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Where Data Lives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Big Data: The Five V’s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Parallelism and Partitioning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23.6   Data Contracts and Automated Quality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§23.2     </a:t>
            </a:r>
            <a:fld id="{0110030B-5740-47EB-A18C-1401B0637A0F}"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Pipeline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150     </a:t>
            </a:r>
            <a:fld id="{1D90F2B4-EED0-4671-B6D9-B3BDF49CA8A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automated, scheduled sequence of steps that moves data from source systems to a form analysts and models can use. Steps are arranged as a </a:t>
            </a:r>
            <a:r>
              <a:rPr sz="2300" b="1" i="0">
                <a:solidFill>
                  <a:srgbClr val="1A5276"/>
                </a:solidFill>
                <a:latin typeface="Segoe UI"/>
              </a:rPr>
              <a:t>directed acyclic graph</a:t>
            </a:r>
            <a:r>
              <a:rPr sz="2300" b="0" i="0">
                <a:solidFill>
                  <a:srgbClr val="1C252B"/>
                </a:solidFill>
                <a:latin typeface="Segoe UI"/>
              </a:rPr>
              <a:t> (DAG): each task declares what it depends on, and the orchestrator works out the order and what can run in parallel.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222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data pipeline as a DAG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150     </a:t>
            </a:r>
            <a:fld id="{5D242550-837F-45DB-A7F9-CE4EF18A5E3D}" type="slidenum">
              <a:rPr lang="en-GB" sz="1000">
                <a:solidFill>
                  <a:srgbClr val="8795A1"/>
                </a:solidFill>
                <a:latin typeface="Segoe UI"/>
              </a:rPr>
              <a:t>9</a:t>
            </a:fld>
          </a:p>
        </p:txBody>
      </p:sp>
      <p:pic>
        <p:nvPicPr>
          <p:cNvPr id="6" name="!!figure" descr="Figure 23.1. A data pipeline as a DAG. The quarantine branch is the part beginners omit and the part that saves projects: data that fails validation must stop, not flow onward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7813" y="1737360"/>
            <a:ext cx="937606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quarantine branch is the part beginners omit and the part that saves projects: data that fails validation must stop, not flow onwards.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61250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ETL versus ELT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150     </a:t>
            </a:r>
            <a:fld id="{CF854E66-4A4E-48D6-952B-D52CABD392A4}"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ETL</a:t>
            </a:r>
            <a:r>
              <a:rPr sz="2300" b="0" i="0">
                <a:solidFill>
                  <a:srgbClr val="1C252B"/>
                </a:solidFill>
                <a:latin typeface="Segoe UI"/>
              </a:rPr>
              <a:t>: Extract, Transform, then Load — transform before storing, so the warehouse holds only clean, modelled data. </a:t>
            </a:r>
            <a:r>
              <a:rPr sz="2300" b="1" i="0">
                <a:solidFill>
                  <a:srgbClr val="1A5276"/>
                </a:solidFill>
                <a:latin typeface="Segoe UI"/>
              </a:rPr>
              <a:t>ELT</a:t>
            </a:r>
            <a:r>
              <a:rPr sz="2300" b="0" i="0">
                <a:solidFill>
                  <a:srgbClr val="1C252B"/>
                </a:solidFill>
                <a:latin typeface="Segoe UI"/>
              </a:rPr>
              <a:t>: Extract, Load, then Transform — land the raw data first and transform inside the destination system. ELT dominates modern practice because storage is cheap and keeping the raw data lets you re-derive everything when requirements change.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9027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Warehouse, lake and lakehouse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23.2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151     </a:t>
            </a:r>
            <a:fld id="{9F7BDA48-F8F3-49C0-ABE8-7C59763E5DEA}" type="slidenum">
              <a:rPr lang="en-GB" sz="1000">
                <a:solidFill>
                  <a:srgbClr val="8795A1"/>
                </a:solidFill>
                <a:latin typeface="Segoe UI"/>
              </a:rPr>
              <a:t>11</a:t>
            </a:fld>
          </a:p>
        </p:txBody>
      </p:sp>
      <p:pic>
        <p:nvPicPr>
          <p:cNvPr id="6" name="!!figure" descr="Figure 23.2. Warehouse, lake and lakehouse. The real distinction is when you commit to a schema — before loading, or at query time — and that choice determines how expensive it is to change your mind lat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20501" y="1737360"/>
            <a:ext cx="895069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real distinction is when you commit to a schema — before loading, or at query time — and that choice determines how expensive it is to change your mind later.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19306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Big Data: The Five V’s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Why Data Engineering Exists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Pipelines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Where Data Lives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23.4   Big Data: The Five V’s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Parallelism and Partitioning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23.6   Data Contracts and Automated Quality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§23.4     </a:t>
            </a:r>
            <a:fld id="{55759F71-FDE2-4862-8D59-10DA761AA956}" type="slidenum">
              <a:rPr lang="en-GB" sz="1000">
                <a:solidFill>
                  <a:srgbClr val="8795A1"/>
                </a:solidFill>
                <a:latin typeface="Segoe UI"/>
              </a:rPr>
              <a:t>12</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Big Data: The Five V’s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§23.4  ·  Handout p. 151     </a:t>
            </a:r>
            <a:fld id="{89BED0CA-4140-4362-A72A-205F4DFA3D49}" type="slidenum">
              <a:rPr lang="en-GB" sz="1000">
                <a:solidFill>
                  <a:srgbClr val="8795A1"/>
                </a:solidFill>
                <a:latin typeface="Segoe UI"/>
              </a:rPr>
              <a:t>13</a:t>
            </a:fld>
          </a:p>
        </p:txBody>
      </p:sp>
      <p:graphicFrame>
        <p:nvGraphicFramePr>
          <p:cNvPr id="7" name="!!table"/>
          <p:cNvGraphicFramePr>
            <a:graphicFrameLocks noGrp="1"/>
          </p:cNvGraphicFramePr>
          <p:nvPr/>
        </p:nvGraphicFramePr>
        <p:xfrm>
          <a:off x="658368" y="1737360"/>
          <a:ext cx="10874958" cy="3468624"/>
        </p:xfrm>
        <a:graphic>
          <a:graphicData uri="http://schemas.openxmlformats.org/drawingml/2006/table">
            <a:tbl>
              <a:tblPr firstRow="0" bandRow="0" firstCol="0" lastRow="0" lastCol="0" bandCol="0">
                <a:tableStyleId>{2D5ABB26-0587-4C30-8999-92F81FD0307C}</a:tableStyleId>
              </a:tblPr>
              <a:tblGrid>
                <a:gridCol w="1786600"/>
                <a:gridCol w="3340166"/>
                <a:gridCol w="5748192"/>
              </a:tblGrid>
              <a:tr h="405384">
                <a:tc>
                  <a:txBody>
                    <a:bodyPr wrap="square"/>
                    <a:lstStyle/>
                    <a:p>
                      <a:pPr algn="l"/>
                      <a:r>
                        <a:rPr sz="1700" b="1" i="0">
                          <a:solidFill>
                            <a:srgbClr val="1A5276"/>
                          </a:solidFill>
                          <a:latin typeface="Segoe UI"/>
                        </a:rPr>
                        <a:t>V</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Meaning</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it forces you to do</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Volume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More data than one machine holds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Partition across machines; move the computation to the data, not the reverse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Velocity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Arriving faster than batch can absorb</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Stream processing and windowing (Chapter 19)</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Variety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Structured, semi-structured and unstructured together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Schema-on-read; a lake rather than a warehouse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Veracity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Quality varies and cannot be assumed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Automated validation, quarantine, lineage</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Value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Most of it is never used</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Prioritise ruthlessly; storage is cheap but attention is not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7736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“Big Data” Is Rarer Than Claimed</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§23.4  ·  Handout p. 151     </a:t>
            </a:r>
            <a:fld id="{6E7169C4-2180-4AF4-9395-6053A9133F7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dataset is big when it does not fit on one machine. A year of records for 2,000 students is a few hundred megabytes and belongs in pandas, not in Spark. Reaching for distributed tooling on data that fits in memory adds days of complexity for negative benefit. Measure first.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Parallelism and Partitioning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Why Data Engineering Exists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Pipelines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Where Data Lives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Big Data: The Five V’s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23.5   Parallelism and Partitioning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23.6   Data Contracts and Automated Quality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§23.5     </a:t>
            </a:r>
            <a:fld id="{E19B4A30-7936-4C46-AA4C-2059AA431B47}" type="slidenum">
              <a:rPr lang="en-GB" sz="1000">
                <a:solidFill>
                  <a:srgbClr val="8795A1"/>
                </a:solidFill>
                <a:latin typeface="Segoe UI"/>
              </a:rPr>
              <a:t>15</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35417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Partitioning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152     </a:t>
            </a:r>
            <a:fld id="{50115345-0DCE-4597-B4C9-47889D51C519}"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Split data into independent chunks — by date, by device, by region — so that each can be processed on a different machine simultaneously, and so that a query for one day reads one partition instead of the whole dataset.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444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Map–reduce over partitioned data</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23.3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152     </a:t>
            </a:r>
            <a:fld id="{A56664DA-8960-446A-9A83-83E226C4B411}" type="slidenum">
              <a:rPr lang="en-GB" sz="1000">
                <a:solidFill>
                  <a:srgbClr val="8795A1"/>
                </a:solidFill>
                <a:latin typeface="Segoe UI"/>
              </a:rPr>
              <a:t>17</a:t>
            </a:fld>
          </a:p>
        </p:txBody>
      </p:sp>
      <p:pic>
        <p:nvPicPr>
          <p:cNvPr id="6" name="!!figure" descr="Figure 23.3. Map–reduce over partitioned data. Spark is a modern, in-memory implementation of this idea; the principle — split, compute independently, combine — is what makes data larger than one machine tractab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2392" y="1737360"/>
            <a:ext cx="938691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Spark is a modern, in-memory implementation of this idea; the principle — split, compute independently, combine — is what makes data larger than one machine tractable.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9347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Data Contracts and Automated Quality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Why Data Engineering Exists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Pipelines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Where Data Lives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Big Data: The Five V’s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Parallelism and Partitioning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23.6   Data Contracts and Automated Quality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§23.6     </a:t>
            </a:r>
            <a:fld id="{D8126C1D-865B-4B3B-B794-5892980C2073}" type="slidenum">
              <a:rPr lang="en-GB" sz="1000">
                <a:solidFill>
                  <a:srgbClr val="8795A1"/>
                </a:solidFill>
                <a:latin typeface="Segoe UI"/>
              </a:rPr>
              <a:t>18</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Contract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2EC4C433-9ED1-47D8-990E-5C09839F9139}"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explicit, versioned agreement between a data producer and its consumers: which fields exist, their types, their permitted ranges, their nullability, and the freshness guarantee. Enforced automatically at ingestion, it converts a silent breakage into a loud, attributable failure.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51529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Writing Checks That Would Have Caught Real Failures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FBAEEA87-7978-4496-8503-3F6C431836EE}"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7489"/>
          </a:xfrm>
          <a:prstGeom prst="roundRect">
            <a:avLst>
              <a:gd name="adj" fmla="val 210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748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Each check below corresponds to a failure from the audit in Chapter 3.</a:t>
            </a:r>
          </a:p>
        </p:txBody>
      </p:sp>
      <p:graphicFrame>
        <p:nvGraphicFramePr>
          <p:cNvPr id="10" name="body-1"/>
          <p:cNvGraphicFramePr>
            <a:graphicFrameLocks noGrp="1"/>
          </p:cNvGraphicFramePr>
          <p:nvPr/>
        </p:nvGraphicFramePr>
        <p:xfrm>
          <a:off x="1042416" y="2445537"/>
          <a:ext cx="10234878" cy="3364992"/>
        </p:xfrm>
        <a:graphic>
          <a:graphicData uri="http://schemas.openxmlformats.org/drawingml/2006/table">
            <a:tbl>
              <a:tblPr firstRow="0" bandRow="0" firstCol="0" lastRow="0" lastCol="0" bandCol="0">
                <a:tableStyleId>{2D5ABB26-0587-4C30-8999-92F81FD0307C}</a:tableStyleId>
              </a:tblPr>
              <a:tblGrid>
                <a:gridCol w="2227035"/>
                <a:gridCol w="4826364"/>
                <a:gridCol w="3181479"/>
              </a:tblGrid>
              <a:tr h="390144">
                <a:tc>
                  <a:txBody>
                    <a:bodyPr wrap="square"/>
                    <a:lstStyle/>
                    <a:p>
                      <a:pPr algn="l"/>
                      <a:r>
                        <a:rPr sz="1600" b="1" i="0">
                          <a:solidFill>
                            <a:srgbClr val="1A5276"/>
                          </a:solidFill>
                          <a:latin typeface="Segoe UI"/>
                        </a:rPr>
                        <a:t>Dimension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Automated check</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Action on failure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Completeness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F4E79"/>
                          </a:solidFill>
                          <a:latin typeface="Consolas"/>
                        </a:rPr>
                        <a:t>null_rate(prior_qual) &lt; 0.40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warn; block if </a:t>
                      </a:r>
                      <a:r>
                        <a:rPr sz="1600" b="0" i="0">
                          <a:solidFill>
                            <a:srgbClr val="1C252B"/>
                          </a:solidFill>
                          <a:latin typeface="Cambria"/>
                        </a:rPr>
                        <a:t>&gt;0.6</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Validity</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F4E79"/>
                          </a:solidFill>
                          <a:latin typeface="Consolas"/>
                        </a:rPr>
                        <a:t>final_grade IN (A,B,C,D,F)</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quarantine the rows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Accuracy</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F4E79"/>
                          </a:solidFill>
                          <a:latin typeface="Consolas"/>
                        </a:rPr>
                        <a:t>age BETWEEN 15 AND 90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quarantine, alert owner</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Uniqueness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F4E79"/>
                          </a:solidFill>
                          <a:latin typeface="Consolas"/>
                        </a:rPr>
                        <a:t>count(*) = count(DISTINCT student_id, term)</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block the run</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Timeliness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F4E79"/>
                          </a:solidFill>
                          <a:latin typeface="Consolas"/>
                        </a:rPr>
                        <a:t>max(loaded_at) &gt; now() - 26h</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page on-call</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Consistency</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F4E79"/>
                          </a:solidFill>
                          <a:latin typeface="Consolas"/>
                        </a:rPr>
                        <a:t>|registry_count </a:t>
                      </a:r>
                      <a:r>
                        <a:rPr sz="1600" b="0" i="0">
                          <a:solidFill>
                            <a:srgbClr val="1C252B"/>
                          </a:solidFill>
                          <a:latin typeface="Cambria"/>
                        </a:rPr>
                        <a:t>−</a:t>
                      </a:r>
                      <a:r>
                        <a:rPr sz="1500" b="0" i="0">
                          <a:solidFill>
                            <a:srgbClr val="1F4E79"/>
                          </a:solidFill>
                          <a:latin typeface="Consolas"/>
                        </a:rPr>
                        <a:t> vle_count| &lt; 50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warn</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Volume</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F4E79"/>
                          </a:solidFill>
                          <a:latin typeface="Consolas"/>
                        </a:rPr>
                        <a:t>row_count</a:t>
                      </a:r>
                      <a:r>
                        <a:rPr sz="1600" b="0" i="0">
                          <a:solidFill>
                            <a:srgbClr val="1C252B"/>
                          </a:solidFill>
                          <a:latin typeface="Segoe UI"/>
                        </a:rPr>
                        <a:t> within </a:t>
                      </a:r>
                      <a:r>
                        <a:rPr sz="1600" b="0" i="0">
                          <a:solidFill>
                            <a:srgbClr val="1C252B"/>
                          </a:solidFill>
                          <a:latin typeface="Cambria"/>
                        </a:rPr>
                        <a:t>±30%</a:t>
                      </a:r>
                      <a:r>
                        <a:rPr sz="1600" b="0" i="0">
                          <a:solidFill>
                            <a:srgbClr val="1C252B"/>
                          </a:solidFill>
                          <a:latin typeface="Segoe UI"/>
                        </a:rPr>
                        <a:t> of the 7-day median</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600" b="0" i="0">
                          <a:solidFill>
                            <a:srgbClr val="1C252B"/>
                          </a:solidFill>
                          <a:latin typeface="Segoe UI"/>
                        </a:rPr>
                        <a:t>block the run</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80556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Writing Checks That Would Have Caught Real Failures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5DBF2DBB-4A15-4E48-8940-3B0E202FDBE5}"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54352"/>
          </a:xfrm>
          <a:prstGeom prst="roundRect">
            <a:avLst>
              <a:gd name="adj" fmla="val 445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543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last check is the most valuable and the least obvious.</a:t>
            </a:r>
            <a:r>
              <a:rPr sz="1900" b="0" i="0">
                <a:solidFill>
                  <a:srgbClr val="1C252B"/>
                </a:solidFill>
                <a:latin typeface="Segoe UI"/>
              </a:rPr>
              <a:t> A source that silently starts returning 10% of its usual rows breaks no type and violates no range — every individual row is valid. Only the </a:t>
            </a:r>
            <a:r>
              <a:rPr sz="1900" b="0" i="1">
                <a:solidFill>
                  <a:srgbClr val="1C252B"/>
                </a:solidFill>
                <a:latin typeface="Segoe UI"/>
              </a:rPr>
              <a:t>row count</a:t>
            </a:r>
            <a:r>
              <a:rPr sz="1900" b="0" i="0">
                <a:solidFill>
                  <a:srgbClr val="1C252B"/>
                </a:solidFill>
                <a:latin typeface="Segoe UI"/>
              </a:rPr>
              <a:t> reveals it, and without that check the model quietly trains on a biased tenth of the population. Volume anomaly detection is the cheapest high-value check in any pipeline.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Data Engineering</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F3D7A905-1B49-4F55-A55A-FF031BB587AE}"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Sources are the registry (nightly batch), the VLE (API, hourly) and swipe readers (near real time).</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Volumes are trivial — everything fits in a spreadsheet — so the engineering problem is not scale but </a:t>
            </a:r>
            <a:r>
              <a:rPr sz="2200" b="0" i="1">
                <a:solidFill>
                  <a:srgbClr val="1C252B"/>
                </a:solidFill>
                <a:latin typeface="Segoe UI"/>
              </a:rPr>
              <a:t>integration</a:t>
            </a:r>
            <a:r>
              <a:rPr sz="2200" b="0" i="0">
                <a:solidFill>
                  <a:srgbClr val="1C252B"/>
                </a:solidFill>
                <a:latin typeface="Segoe UI"/>
              </a:rPr>
              <a:t>.</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genuine big-data case in this course: 400 devices </a:t>
            </a:r>
            <a:r>
              <a:rPr sz="2300" b="0" i="0">
                <a:solidFill>
                  <a:srgbClr val="1C252B"/>
                </a:solidFill>
                <a:latin typeface="Cambria"/>
              </a:rPr>
              <a:t>×</a:t>
            </a:r>
            <a:r>
              <a:rPr sz="2300" b="0" i="0">
                <a:solidFill>
                  <a:srgbClr val="1C252B"/>
                </a:solidFill>
                <a:latin typeface="Segoe UI"/>
              </a:rPr>
              <a:t> 6 sensors </a:t>
            </a:r>
            <a:r>
              <a:rPr sz="2300" b="0" i="0">
                <a:solidFill>
                  <a:srgbClr val="1C252B"/>
                </a:solidFill>
                <a:latin typeface="Cambria"/>
              </a:rPr>
              <a:t>×</a:t>
            </a:r>
            <a:r>
              <a:rPr sz="2300" b="0" i="0">
                <a:solidFill>
                  <a:srgbClr val="1C252B"/>
                </a:solidFill>
                <a:latin typeface="Segoe UI"/>
              </a:rPr>
              <a:t> 1 Hz is 200 million rows a day.</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Log volumes are enormous and retention is often mandated by regulation, so the lake pattern dominates: land everything raw, index selectively.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38612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Data Engineering</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C6B55CF6-8A9B-4C10-81DC-55D4B4C4BC71}"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Sources are the registry (nightly batch), the VLE (API, hourly) and swipe readers (near real time). Grain conflicts are the recurring problem: registry is one row per enrolment, VLE is one row per click. Land both raw, then build a conformed weekly student table. </a:t>
            </a:r>
            <a:r>
              <a:rPr sz="2200" b="1" i="0">
                <a:solidFill>
                  <a:srgbClr val="1C252B"/>
                </a:solidFill>
                <a:latin typeface="Segoe UI"/>
              </a:rPr>
              <a:t>Governance is unusually strict:</a:t>
            </a:r>
            <a:r>
              <a:rPr sz="2200" b="0" i="0">
                <a:solidFill>
                  <a:srgbClr val="1C252B"/>
                </a:solidFill>
                <a:latin typeface="Segoe UI"/>
              </a:rPr>
              <a:t> this is personal data about identifiable young people, so lineage is not merely good practice but a requirement (Chapter 28).</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67640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Data Engineering</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2ECCC17A-B775-4D87-8EFA-0ED6BD7ECCFE}" type="slidenum">
              <a:rPr lang="en-GB" sz="1000">
                <a:solidFill>
                  <a:srgbClr val="8795A1"/>
                </a:solidFill>
                <a:latin typeface="Segoe UI"/>
              </a:rPr>
              <a:t>24</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Volumes are trivial — everything fits in a spreadsheet — so the engineering problem is not scale but </a:t>
            </a:r>
            <a:r>
              <a:rPr sz="2200" b="0" i="1">
                <a:solidFill>
                  <a:srgbClr val="1C252B"/>
                </a:solidFill>
                <a:latin typeface="Segoe UI"/>
              </a:rPr>
              <a:t>integration</a:t>
            </a:r>
            <a:r>
              <a:rPr sz="2200" b="0" i="0">
                <a:solidFill>
                  <a:srgbClr val="1C252B"/>
                </a:solidFill>
                <a:latin typeface="Segoe UI"/>
              </a:rPr>
              <a:t>. Ticket tracker, git, timesheets and CI logs each identify the same work item differently, and reconciling those identifiers is most of the work. A data contract with each tool’s owner is worth more here than any distributed technology.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Data Engineering</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C5362900-E22F-452E-969C-1CB565EBF88D}" type="slidenum">
              <a:rPr lang="en-GB" sz="1000">
                <a:solidFill>
                  <a:srgbClr val="8795A1"/>
                </a:solidFill>
                <a:latin typeface="Segoe UI"/>
              </a:rPr>
              <a:t>25</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genuine big-data case in this course: 400 devices </a:t>
            </a:r>
            <a:r>
              <a:rPr sz="2200" b="0" i="0">
                <a:solidFill>
                  <a:srgbClr val="1C252B"/>
                </a:solidFill>
                <a:latin typeface="Cambria"/>
              </a:rPr>
              <a:t>×</a:t>
            </a:r>
            <a:r>
              <a:rPr sz="2200" b="0" i="0">
                <a:solidFill>
                  <a:srgbClr val="1C252B"/>
                </a:solidFill>
                <a:latin typeface="Segoe UI"/>
              </a:rPr>
              <a:t> 6 sensors </a:t>
            </a:r>
            <a:r>
              <a:rPr sz="2200" b="0" i="0">
                <a:solidFill>
                  <a:srgbClr val="1C252B"/>
                </a:solidFill>
                <a:latin typeface="Cambria"/>
              </a:rPr>
              <a:t>×</a:t>
            </a:r>
            <a:r>
              <a:rPr sz="2200" b="0" i="0">
                <a:solidFill>
                  <a:srgbClr val="1C252B"/>
                </a:solidFill>
                <a:latin typeface="Segoe UI"/>
              </a:rPr>
              <a:t> 1 Hz is 200 million rows a day. Partition by date and device, store in a columnar format, and pre-aggregate to minute and hour grains — almost no query needs raw 1 Hz data. Expect duplicates from at-least-once delivery and out-of-order arrival from network delay, so ingestion must be idempotent and windowing must use watermarks (Chapter 19).</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569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Data Engineering</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A96A5436-6EBC-4A9B-A780-8BD3E782DA9A}" type="slidenum">
              <a:rPr lang="en-GB" sz="1000">
                <a:solidFill>
                  <a:srgbClr val="8795A1"/>
                </a:solidFill>
                <a:latin typeface="Segoe UI"/>
              </a:rPr>
              <a:t>26</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Log volumes are enormous and retention is often mandated by regulation, so the lake pattern dominates: land everything raw, index selectively. Two engineering requirements are specific to this domain — logs must be </a:t>
            </a:r>
            <a:r>
              <a:rPr sz="2200" b="1" i="0">
                <a:solidFill>
                  <a:srgbClr val="1C252B"/>
                </a:solidFill>
                <a:latin typeface="Segoe UI"/>
              </a:rPr>
              <a:t>tamper-evident</a:t>
            </a:r>
            <a:r>
              <a:rPr sz="2200" b="0" i="0">
                <a:solidFill>
                  <a:srgbClr val="1C252B"/>
                </a:solidFill>
                <a:latin typeface="Segoe UI"/>
              </a:rPr>
              <a:t>, because an attacker’s first act is to alter them, and lineage must be strong enough to stand up in an investigation. Ingestion latency is itself a security control: a detection pipeline with a six-hour lag cannot stop anything.</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472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Pipeline Task with Contracts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3C8DCDFC-4991-4B05-8E20-2713A985034E}" type="slidenum">
              <a:rPr lang="en-GB" sz="1000">
                <a:solidFill>
                  <a:srgbClr val="8795A1"/>
                </a:solidFill>
                <a:latin typeface="Segoe UI"/>
              </a:rPr>
              <a:t>27</a:t>
            </a:fld>
          </a:p>
        </p:txBody>
      </p:sp>
      <p:sp>
        <p:nvSpPr>
          <p:cNvPr id="7" name="!!lfTHIS">
            <a:extLst>
              <a:ext uri="{C183D7F6-B498-43B3-948B-1728B52AA6E4}">
                <adec:decorative xmlns:adec="http://schemas.microsoft.com/office/drawing/2017/decorative" val="1"/>
              </a:ext>
            </a:extLst>
          </p:cNvPr>
          <p:cNvSpPr/>
          <p:nvPr/>
        </p:nvSpPr>
        <p:spPr>
          <a:xfrm>
            <a:off x="658368"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fbTHIS">
            <a:extLst>
              <a:ext uri="{C183D7F6-B498-43B3-948B-1728B52AA6E4}">
                <adec:decorative xmlns:adec="http://schemas.microsoft.com/office/drawing/2017/decorative" val="1"/>
              </a:ext>
            </a:extLst>
          </p:cNvPr>
          <p:cNvSpPr/>
          <p:nvPr/>
        </p:nvSpPr>
        <p:spPr>
          <a:xfrm>
            <a:off x="658368"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lTHIS"/>
          <p:cNvSpPr txBox="1"/>
          <p:nvPr/>
        </p:nvSpPr>
        <p:spPr>
          <a:xfrm>
            <a:off x="932688"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0" name="!!lfvTHIS"/>
          <p:cNvSpPr txBox="1"/>
          <p:nvPr/>
        </p:nvSpPr>
        <p:spPr>
          <a:xfrm>
            <a:off x="932688"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14: Data contracts; containerise a model</a:t>
            </a:r>
          </a:p>
        </p:txBody>
      </p:sp>
      <p:sp>
        <p:nvSpPr>
          <p:cNvPr id="11" name="!!lfWHAT">
            <a:extLst>
              <a:ext uri="{C183D7F6-B498-43B3-948B-1728B52AA6E4}">
                <adec:decorative xmlns:adec="http://schemas.microsoft.com/office/drawing/2017/decorative" val="1"/>
              </a:ext>
            </a:extLst>
          </p:cNvPr>
          <p:cNvSpPr/>
          <p:nvPr/>
        </p:nvSpPr>
        <p:spPr>
          <a:xfrm>
            <a:off x="6233007"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lfbWHAT">
            <a:extLst>
              <a:ext uri="{C183D7F6-B498-43B3-948B-1728B52AA6E4}">
                <adec:decorative xmlns:adec="http://schemas.microsoft.com/office/drawing/2017/decorative" val="1"/>
              </a:ext>
            </a:extLst>
          </p:cNvPr>
          <p:cNvSpPr/>
          <p:nvPr/>
        </p:nvSpPr>
        <p:spPr>
          <a:xfrm>
            <a:off x="6233007"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lWHAT"/>
          <p:cNvSpPr txBox="1"/>
          <p:nvPr/>
        </p:nvSpPr>
        <p:spPr>
          <a:xfrm>
            <a:off x="6507327"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4" name="!!lfvWHAT"/>
          <p:cNvSpPr txBox="1"/>
          <p:nvPr/>
        </p:nvSpPr>
        <p:spPr>
          <a:xfrm>
            <a:off x="6507327"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52 lines of Python</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83751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Pipeline Task with Contracts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40899F63-8DC0-45DC-9DFD-073ADAC70DAA}"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pandas as pd from datetime import datetime, timedelta class DataContractViolation(Exception): pass CONTRACT = { &quot;required&quot;: [&quot;student_id&quot;, &quot;term&quot;, &quot;attendance_pct&quot;, &quot;loaded_at&quot;], &quot;ranges&quot;: {&quot;attendance_pct&quot;: (0, 100), &quot;age&quot;: (15, 90)}, &quot;allowed&quot;: {&quot;final_grade&quot;: {&quot;A&quot;, &quot;B&quot;, &quot;C&quot;, &quot;D&quot;, &quot;F&quot;}}, &quot;unique_on&quot;: [&quot;student_id&quot;, &quot;term&quot;], &quot;max_null&quot;: {&quot;prior_qualification&quot;: 0.40}, &quot;freshness_hours&quot;: 26, }"/>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import</a:t>
            </a:r>
            <a:r>
              <a:rPr sz="1800" i="0">
                <a:solidFill>
                  <a:srgbClr val="E8EDF2"/>
                </a:solidFill>
                <a:latin typeface="Consolas"/>
              </a:rPr>
              <a:t> </a:t>
            </a:r>
            <a:r>
              <a:rPr sz="1800" i="0">
                <a:solidFill>
                  <a:srgbClr val="76D7C4"/>
                </a:solidFill>
                <a:latin typeface="Consolas"/>
              </a:rPr>
              <a:t>pandas</a:t>
            </a:r>
            <a:r>
              <a:rPr sz="1800" i="0">
                <a:solidFill>
                  <a:srgbClr val="E8EDF2"/>
                </a:solidFill>
                <a:latin typeface="Consolas"/>
              </a:rPr>
              <a:t> </a:t>
            </a:r>
            <a:r>
              <a:rPr sz="1800" i="0">
                <a:solidFill>
                  <a:srgbClr val="5DADE2"/>
                </a:solidFill>
                <a:latin typeface="Consolas"/>
              </a:rPr>
              <a:t>as</a:t>
            </a:r>
            <a:r>
              <a:rPr sz="1800" i="0">
                <a:solidFill>
                  <a:srgbClr val="E8EDF2"/>
                </a:solidFill>
                <a:latin typeface="Consolas"/>
              </a:rPr>
              <a:t> </a:t>
            </a:r>
            <a:r>
              <a:rPr sz="1800" i="0">
                <a:solidFill>
                  <a:srgbClr val="76D7C4"/>
                </a:solidFill>
                <a:latin typeface="Consolas"/>
              </a:rPr>
              <a:t>pd</a:t>
            </a:r>
          </a:p>
          <a:p>
            <a:pPr>
              <a:lnSpc>
                <a:spcPct val="100000"/>
              </a:lnSpc>
              <a:spcAft>
                <a:spcPts val="0"/>
              </a:spcAft>
            </a:pPr>
            <a:r>
              <a:rPr sz="1800" i="0">
                <a:solidFill>
                  <a:srgbClr val="5DADE2"/>
                </a:solidFill>
                <a:latin typeface="Consolas"/>
              </a:rPr>
              <a:t>from</a:t>
            </a:r>
            <a:r>
              <a:rPr sz="1800" i="0">
                <a:solidFill>
                  <a:srgbClr val="E8EDF2"/>
                </a:solidFill>
                <a:latin typeface="Consolas"/>
              </a:rPr>
              <a:t> </a:t>
            </a:r>
            <a:r>
              <a:rPr sz="1800" i="0">
                <a:solidFill>
                  <a:srgbClr val="76D7C4"/>
                </a:solidFill>
                <a:latin typeface="Consolas"/>
              </a:rPr>
              <a:t>datetime</a:t>
            </a:r>
            <a:r>
              <a:rPr sz="1800" i="0">
                <a:solidFill>
                  <a:srgbClr val="E8EDF2"/>
                </a:solidFill>
                <a:latin typeface="Consolas"/>
              </a:rPr>
              <a:t> </a:t>
            </a:r>
            <a:r>
              <a:rPr sz="1800" i="0">
                <a:solidFill>
                  <a:srgbClr val="5DADE2"/>
                </a:solidFill>
                <a:latin typeface="Consolas"/>
              </a:rPr>
              <a:t>import</a:t>
            </a:r>
            <a:r>
              <a:rPr sz="1800" i="0">
                <a:solidFill>
                  <a:srgbClr val="E8EDF2"/>
                </a:solidFill>
                <a:latin typeface="Consolas"/>
              </a:rPr>
              <a:t> </a:t>
            </a:r>
            <a:r>
              <a:rPr sz="1800" i="0">
                <a:solidFill>
                  <a:srgbClr val="E8EDF2"/>
                </a:solidFill>
                <a:latin typeface="Consolas"/>
              </a:rPr>
              <a:t>datetime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timedelta</a:t>
            </a:r>
          </a:p>
          <a:p>
            <a:pPr>
              <a:lnSpc>
                <a:spcPct val="100000"/>
              </a:lnSpc>
              <a:spcAft>
                <a:spcPts val="0"/>
              </a:spcAft>
            </a:pPr>
            <a:r>
              <a:rPr sz="1800">
                <a:latin typeface="Consolas"/>
              </a:rPr>
              <a:t> </a:t>
            </a:r>
          </a:p>
          <a:p>
            <a:pPr>
              <a:lnSpc>
                <a:spcPct val="100000"/>
              </a:lnSpc>
              <a:spcAft>
                <a:spcPts val="0"/>
              </a:spcAft>
            </a:pPr>
            <a:r>
              <a:rPr sz="1800" i="0">
                <a:solidFill>
                  <a:srgbClr val="5DADE2"/>
                </a:solidFill>
                <a:latin typeface="Consolas"/>
              </a:rPr>
              <a:t>class</a:t>
            </a:r>
            <a:r>
              <a:rPr sz="1800" i="0">
                <a:solidFill>
                  <a:srgbClr val="E8EDF2"/>
                </a:solidFill>
                <a:latin typeface="Consolas"/>
              </a:rPr>
              <a:t> </a:t>
            </a:r>
            <a:r>
              <a:rPr sz="1800" i="0">
                <a:solidFill>
                  <a:srgbClr val="76D7C4"/>
                </a:solidFill>
                <a:latin typeface="Consolas"/>
              </a:rPr>
              <a:t>DataContractViolation</a:t>
            </a:r>
            <a:r>
              <a:rPr sz="1800" i="0">
                <a:solidFill>
                  <a:srgbClr val="AEB6BF"/>
                </a:solidFill>
                <a:latin typeface="Consolas"/>
              </a:rPr>
              <a:t>(</a:t>
            </a:r>
            <a:r>
              <a:rPr sz="1800" i="0">
                <a:solidFill>
                  <a:srgbClr val="E8EDF2"/>
                </a:solidFill>
                <a:latin typeface="Consolas"/>
              </a:rPr>
              <a:t>Exception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pass</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CONTRACT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required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student_id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term</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attendance_pct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loaded_at</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ranges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attendance_pct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age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90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allowed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final_grade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unique_on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student_id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term</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max_null</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prior_qualification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0.40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freshness_hours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26</a:t>
            </a:r>
            <a:r>
              <a:rPr sz="1800" i="0">
                <a:solidFill>
                  <a:srgbClr val="AEB6BF"/>
                </a:solidFill>
                <a:latin typeface="Consolas"/>
              </a:rPr>
              <a:t>,</a:t>
            </a:r>
          </a:p>
          <a:p>
            <a:pPr>
              <a:lnSpc>
                <a:spcPct val="100000"/>
              </a:lnSpc>
              <a:spcAft>
                <a:spcPts val="0"/>
              </a:spcAft>
            </a:pPr>
            <a:r>
              <a:rPr sz="1800" i="0">
                <a:solidFill>
                  <a:srgbClr val="AEB6BF"/>
                </a:solidFill>
                <a:latin typeface="Consolas"/>
              </a:rPr>
              <a: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Pipeline Task with Contracts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8DA303AE-8696-428E-BC92-1913201FB251}" type="slidenum">
              <a:rPr lang="en-GB" sz="1000">
                <a:solidFill>
                  <a:srgbClr val="8795A1"/>
                </a:solidFill>
                <a:latin typeface="Segoe UI"/>
              </a:rPr>
              <a:t>29</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712463"/>
          </a:xfrm>
          <a:prstGeom prst="roundRect">
            <a:avLst>
              <a:gd name="adj" fmla="val 24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3" name="!!code-text" descr="def validate(df, contract=CONTRACT): &quot;&quot;&quot;Returns (clean_rows, quarantined_rows). Blocks on structural failures.&quot;&quot;&quot; missing = set(contract[&quot;required&quot;]) - set(df.columns) if missing: raise DataContractViolation(f&quot;missing required columns: {missing}&quot;) if df.duplicated(contract[&quot;unique_on&quot;]).any(): raise DataContractViolation(&quot;uniqueness violated -- run blocked&quot;) age = (datetime.now() - df[&quot;loaded_at&quot;].max()).total_seconds() / 3600 if age &gt; contract[&quot;freshness_hours&quot;]: raise DataContractViolation(f&quot;stale data: {age:.1f}h old&quot;)"/>
          <p:cNvSpPr txBox="1"/>
          <p:nvPr/>
        </p:nvSpPr>
        <p:spPr>
          <a:xfrm>
            <a:off x="1362456" y="2066543"/>
            <a:ext cx="9987991" cy="3218687"/>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def</a:t>
            </a:r>
            <a:r>
              <a:rPr sz="1700" i="0">
                <a:solidFill>
                  <a:srgbClr val="E8EDF2"/>
                </a:solidFill>
                <a:latin typeface="Consolas"/>
              </a:rPr>
              <a:t> </a:t>
            </a:r>
            <a:r>
              <a:rPr sz="1700" i="0">
                <a:solidFill>
                  <a:srgbClr val="C39BD3"/>
                </a:solidFill>
                <a:latin typeface="Consolas"/>
              </a:rPr>
              <a:t>validate</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contract</a:t>
            </a:r>
            <a:r>
              <a:rPr sz="1700" i="0">
                <a:solidFill>
                  <a:srgbClr val="AEB6BF"/>
                </a:solidFill>
                <a:latin typeface="Consolas"/>
              </a:rPr>
              <a:t>=</a:t>
            </a:r>
            <a:r>
              <a:rPr sz="1700" i="0">
                <a:solidFill>
                  <a:srgbClr val="E8EDF2"/>
                </a:solidFill>
                <a:latin typeface="Consolas"/>
              </a:rPr>
              <a:t>CONTRACT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"""Returns (clean_rows, quarantined_rows). Blocks on structural failures."""</a:t>
            </a:r>
          </a:p>
          <a:p>
            <a:pPr>
              <a:lnSpc>
                <a:spcPct val="100000"/>
              </a:lnSpc>
              <a:spcAft>
                <a:spcPts val="0"/>
              </a:spcAft>
            </a:pPr>
            <a:r>
              <a:rPr sz="1700" i="0">
                <a:solidFill>
                  <a:srgbClr val="E8EDF2"/>
                </a:solidFill>
                <a:latin typeface="Consolas"/>
              </a:rPr>
              <a:t>    </a:t>
            </a:r>
            <a:r>
              <a:rPr sz="1700" i="0">
                <a:solidFill>
                  <a:srgbClr val="E8EDF2"/>
                </a:solidFill>
                <a:latin typeface="Consolas"/>
              </a:rPr>
              <a:t>missing</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set</a:t>
            </a:r>
            <a:r>
              <a:rPr sz="1700" i="0">
                <a:solidFill>
                  <a:srgbClr val="AEB6BF"/>
                </a:solidFill>
                <a:latin typeface="Consolas"/>
              </a:rPr>
              <a:t>(</a:t>
            </a:r>
            <a:r>
              <a:rPr sz="1700" i="0">
                <a:solidFill>
                  <a:srgbClr val="E8EDF2"/>
                </a:solidFill>
                <a:latin typeface="Consolas"/>
              </a:rPr>
              <a:t>contract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required</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set</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columns</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missing</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raise</a:t>
            </a:r>
            <a:r>
              <a:rPr sz="1700" i="0">
                <a:solidFill>
                  <a:srgbClr val="E8EDF2"/>
                </a:solidFill>
                <a:latin typeface="Consolas"/>
              </a:rPr>
              <a:t> </a:t>
            </a:r>
            <a:r>
              <a:rPr sz="1700" i="0">
                <a:solidFill>
                  <a:srgbClr val="E8EDF2"/>
                </a:solidFill>
                <a:latin typeface="Consolas"/>
              </a:rPr>
              <a:t>DataContractViolation</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missing required columns: </a:t>
            </a:r>
            <a:r>
              <a:rPr sz="1700" i="0">
                <a:solidFill>
                  <a:srgbClr val="7DCEA0"/>
                </a:solidFill>
                <a:latin typeface="Consolas"/>
              </a:rPr>
              <a:t>{</a:t>
            </a:r>
            <a:r>
              <a:rPr sz="1700" i="0">
                <a:solidFill>
                  <a:srgbClr val="E8EDF2"/>
                </a:solidFill>
                <a:latin typeface="Consolas"/>
              </a:rPr>
              <a:t>missing</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duplicated</a:t>
            </a:r>
            <a:r>
              <a:rPr sz="1700" i="0">
                <a:solidFill>
                  <a:srgbClr val="AEB6BF"/>
                </a:solidFill>
                <a:latin typeface="Consolas"/>
              </a:rPr>
              <a:t>(</a:t>
            </a:r>
            <a:r>
              <a:rPr sz="1700" i="0">
                <a:solidFill>
                  <a:srgbClr val="E8EDF2"/>
                </a:solidFill>
                <a:latin typeface="Consolas"/>
              </a:rPr>
              <a:t>contract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unique_on</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any</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raise</a:t>
            </a:r>
            <a:r>
              <a:rPr sz="1700" i="0">
                <a:solidFill>
                  <a:srgbClr val="E8EDF2"/>
                </a:solidFill>
                <a:latin typeface="Consolas"/>
              </a:rPr>
              <a:t> </a:t>
            </a:r>
            <a:r>
              <a:rPr sz="1700" i="0">
                <a:solidFill>
                  <a:srgbClr val="E8EDF2"/>
                </a:solidFill>
                <a:latin typeface="Consolas"/>
              </a:rPr>
              <a:t>DataContractViolation</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uniqueness violated -- run blocked</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    </a:t>
            </a:r>
            <a:r>
              <a:rPr sz="1700" i="0">
                <a:solidFill>
                  <a:srgbClr val="E8EDF2"/>
                </a:solidFill>
                <a:latin typeface="Consolas"/>
              </a:rPr>
              <a:t>age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datetime</a:t>
            </a:r>
            <a:r>
              <a:rPr sz="1700" i="0">
                <a:solidFill>
                  <a:srgbClr val="AEB6BF"/>
                </a:solidFill>
                <a:latin typeface="Consolas"/>
              </a:rPr>
              <a:t>.</a:t>
            </a:r>
            <a:r>
              <a:rPr sz="1700" i="0">
                <a:solidFill>
                  <a:srgbClr val="E8EDF2"/>
                </a:solidFill>
                <a:latin typeface="Consolas"/>
              </a:rPr>
              <a:t>now</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df</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loaded_at</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max</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total_seconds</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3600</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age</a:t>
            </a:r>
            <a:r>
              <a:rPr sz="1700" i="0">
                <a:solidFill>
                  <a:srgbClr val="E8EDF2"/>
                </a:solidFill>
                <a:latin typeface="Consolas"/>
              </a:rPr>
              <a:t> </a:t>
            </a:r>
            <a:r>
              <a:rPr sz="1700" i="0">
                <a:solidFill>
                  <a:srgbClr val="AEB6BF"/>
                </a:solidFill>
                <a:latin typeface="Consolas"/>
              </a:rPr>
              <a:t>&gt;</a:t>
            </a:r>
            <a:r>
              <a:rPr sz="1700" i="0">
                <a:solidFill>
                  <a:srgbClr val="E8EDF2"/>
                </a:solidFill>
                <a:latin typeface="Consolas"/>
              </a:rPr>
              <a:t> </a:t>
            </a:r>
            <a:r>
              <a:rPr sz="1700" i="0">
                <a:solidFill>
                  <a:srgbClr val="E8EDF2"/>
                </a:solidFill>
                <a:latin typeface="Consolas"/>
              </a:rPr>
              <a:t>contract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freshness_hours</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raise</a:t>
            </a:r>
            <a:r>
              <a:rPr sz="1700" i="0">
                <a:solidFill>
                  <a:srgbClr val="E8EDF2"/>
                </a:solidFill>
                <a:latin typeface="Consolas"/>
              </a:rPr>
              <a:t> </a:t>
            </a:r>
            <a:r>
              <a:rPr sz="1700" i="0">
                <a:solidFill>
                  <a:srgbClr val="E8EDF2"/>
                </a:solidFill>
                <a:latin typeface="Consolas"/>
              </a:rPr>
              <a:t>DataContractViolation</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stale data: </a:t>
            </a:r>
            <a:r>
              <a:rPr sz="1700" i="0">
                <a:solidFill>
                  <a:srgbClr val="7DCEA0"/>
                </a:solidFill>
                <a:latin typeface="Consolas"/>
              </a:rPr>
              <a:t>{</a:t>
            </a:r>
            <a:r>
              <a:rPr sz="1700" i="0">
                <a:solidFill>
                  <a:srgbClr val="E8EDF2"/>
                </a:solidFill>
                <a:latin typeface="Consolas"/>
              </a:rPr>
              <a:t>age</a:t>
            </a:r>
            <a:r>
              <a:rPr sz="1700" i="0">
                <a:solidFill>
                  <a:srgbClr val="7DCEA0"/>
                </a:solidFill>
                <a:latin typeface="Consolas"/>
              </a:rPr>
              <a:t>:</a:t>
            </a:r>
            <a:r>
              <a:rPr sz="1700" i="0">
                <a:solidFill>
                  <a:srgbClr val="7DCEA0"/>
                </a:solidFill>
                <a:latin typeface="Consolas"/>
              </a:rPr>
              <a:t>.1f</a:t>
            </a:r>
            <a:r>
              <a:rPr sz="1700" i="0">
                <a:solidFill>
                  <a:srgbClr val="7DCEA0"/>
                </a:solidFill>
                <a:latin typeface="Consolas"/>
              </a:rPr>
              <a:t>}</a:t>
            </a:r>
            <a:r>
              <a:rPr sz="1700" i="0">
                <a:solidFill>
                  <a:srgbClr val="7DCEA0"/>
                </a:solidFill>
                <a:latin typeface="Consolas"/>
              </a:rPr>
              <a:t>h old</a:t>
            </a:r>
            <a:r>
              <a:rPr sz="1700" i="0">
                <a:solidFill>
                  <a:srgbClr val="7DCEA0"/>
                </a:solidFill>
                <a:latin typeface="Consolas"/>
              </a:rPr>
              <a:t>"</a:t>
            </a:r>
            <a:r>
              <a:rPr sz="1700" i="0">
                <a:solidFill>
                  <a:srgbClr val="AEB6BF"/>
                </a:solidFill>
                <a:latin typeface="Consolas"/>
              </a:rPr>
              <a:t>)</a:t>
            </a:r>
          </a:p>
        </p:txBody>
      </p:sp>
      <p:sp>
        <p:nvSpPr>
          <p:cNvPr id="14" name="!!code-num"/>
          <p:cNvSpPr txBox="1"/>
          <p:nvPr/>
        </p:nvSpPr>
        <p:spPr>
          <a:xfrm>
            <a:off x="768096" y="2066543"/>
            <a:ext cx="393192" cy="321868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15</a:t>
            </a:r>
          </a:p>
          <a:p>
            <a:pPr algn="r">
              <a:lnSpc>
                <a:spcPct val="100000"/>
              </a:lnSpc>
            </a:pPr>
            <a:r>
              <a:rPr sz="1700">
                <a:solidFill>
                  <a:srgbClr val="4F5D6A"/>
                </a:solidFill>
                <a:latin typeface="Consolas"/>
              </a:rPr>
              <a:t>16</a:t>
            </a:r>
          </a:p>
          <a:p>
            <a:pPr algn="r">
              <a:lnSpc>
                <a:spcPct val="100000"/>
              </a:lnSpc>
            </a:pPr>
            <a:r>
              <a:rPr sz="1700">
                <a:solidFill>
                  <a:srgbClr val="4F5D6A"/>
                </a:solidFill>
                <a:latin typeface="Consolas"/>
              </a:rPr>
              <a:t>17</a:t>
            </a:r>
          </a:p>
          <a:p>
            <a:pPr algn="r">
              <a:lnSpc>
                <a:spcPct val="100000"/>
              </a:lnSpc>
            </a:pPr>
            <a:r>
              <a:rPr sz="1700">
                <a:solidFill>
                  <a:srgbClr val="4F5D6A"/>
                </a:solidFill>
                <a:latin typeface="Consolas"/>
              </a:rPr>
              <a:t>18</a:t>
            </a:r>
          </a:p>
          <a:p>
            <a:pPr algn="r">
              <a:lnSpc>
                <a:spcPct val="100000"/>
              </a:lnSpc>
            </a:pPr>
            <a:r>
              <a:rPr sz="1700">
                <a:solidFill>
                  <a:srgbClr val="4F5D6A"/>
                </a:solidFill>
                <a:latin typeface="Consolas"/>
              </a:rPr>
              <a:t>19</a:t>
            </a:r>
          </a:p>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a:p>
            <a:pPr algn="r">
              <a:lnSpc>
                <a:spcPct val="100000"/>
              </a:lnSpc>
            </a:pPr>
            <a:r>
              <a:rPr sz="1700">
                <a:solidFill>
                  <a:srgbClr val="4F5D6A"/>
                </a:solidFill>
                <a:latin typeface="Consolas"/>
              </a:rPr>
              <a:t>25</a:t>
            </a:r>
          </a:p>
          <a:p>
            <a:pPr algn="r">
              <a:lnSpc>
                <a:spcPct val="100000"/>
              </a:lnSpc>
            </a:pPr>
            <a:r>
              <a:rPr sz="1700">
                <a:solidFill>
                  <a:srgbClr val="4F5D6A"/>
                </a:solidFill>
                <a:latin typeface="Consolas"/>
              </a:rPr>
              <a:t>26</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4180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Pipeline Task with Contracts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42E6C9FB-CDF4-4694-9AC6-E292490BF24B}" type="slidenum">
              <a:rPr lang="en-GB" sz="1000">
                <a:solidFill>
                  <a:srgbClr val="8795A1"/>
                </a:solidFill>
                <a:latin typeface="Segoe UI"/>
              </a:rPr>
              <a:t>30</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575304"/>
          </a:xfrm>
          <a:prstGeom prst="roundRect">
            <a:avLst>
              <a:gd name="adj" fmla="val 25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3" name="!!code-text" descr="bad = pd.Series(False, index=df.index) for col, (lo, hi) in contract[&quot;ranges&quot;].items(): if col in df: bad |= ~df[col].between(lo, hi) &amp; df[col].notna() for col, allowed in contract[&quot;allowed&quot;].items(): if col in df: bad |= ~df[col].isin(allowed) &amp; df[col].notna() for col, limit in contract[&quot;max_null&quot;].items(): if col in df and df[col].isna().mean() &gt; limit: print(f&quot;WARN: {col} is {df[col].isna().mean():.0%} null (limit {limit:.0%})&quot;) return df[~bad], df[bad] # quarantine, never silently drop"/>
          <p:cNvSpPr txBox="1"/>
          <p:nvPr/>
        </p:nvSpPr>
        <p:spPr>
          <a:xfrm>
            <a:off x="1362456" y="2066543"/>
            <a:ext cx="9987991" cy="30815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0">
                <a:solidFill>
                  <a:srgbClr val="E8EDF2"/>
                </a:solidFill>
                <a:latin typeface="Consolas"/>
              </a:rPr>
              <a:t>bad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Series</a:t>
            </a:r>
            <a:r>
              <a:rPr sz="1500" i="0">
                <a:solidFill>
                  <a:srgbClr val="AEB6BF"/>
                </a:solidFill>
                <a:latin typeface="Consolas"/>
              </a:rPr>
              <a:t>(</a:t>
            </a:r>
            <a:r>
              <a:rPr sz="1500" i="0">
                <a:solidFill>
                  <a:srgbClr val="5DADE2"/>
                </a:solidFill>
                <a:latin typeface="Consolas"/>
              </a:rPr>
              <a:t>False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index</a:t>
            </a:r>
            <a:r>
              <a:rPr sz="1500" i="0">
                <a:solidFill>
                  <a:srgbClr val="AEB6BF"/>
                </a:solidFill>
                <a:latin typeface="Consolas"/>
              </a:rPr>
              <a:t>=</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index</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col</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lo</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hi</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contract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ranges</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items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col</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bad</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between</a:t>
            </a:r>
            <a:r>
              <a:rPr sz="1500" i="0">
                <a:solidFill>
                  <a:srgbClr val="AEB6BF"/>
                </a:solidFill>
                <a:latin typeface="Consolas"/>
              </a:rPr>
              <a:t>(</a:t>
            </a:r>
            <a:r>
              <a:rPr sz="1500" i="0">
                <a:solidFill>
                  <a:srgbClr val="E8EDF2"/>
                </a:solidFill>
                <a:latin typeface="Consolas"/>
              </a:rPr>
              <a:t>lo</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hi</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&amp;</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notna</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col</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allowed</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contract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allowed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items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col</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bad</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isin</a:t>
            </a:r>
            <a:r>
              <a:rPr sz="1500" i="0">
                <a:solidFill>
                  <a:srgbClr val="AEB6BF"/>
                </a:solidFill>
                <a:latin typeface="Consolas"/>
              </a:rPr>
              <a:t>(</a:t>
            </a:r>
            <a:r>
              <a:rPr sz="1500" i="0">
                <a:solidFill>
                  <a:srgbClr val="E8EDF2"/>
                </a:solidFill>
                <a:latin typeface="Consolas"/>
              </a:rPr>
              <a:t>allowed</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&amp;</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notna</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col</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limit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contract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max_null</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items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col</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df</a:t>
            </a:r>
            <a:r>
              <a:rPr sz="1500" i="0">
                <a:solidFill>
                  <a:srgbClr val="E8EDF2"/>
                </a:solidFill>
                <a:latin typeface="Consolas"/>
              </a:rPr>
              <a:t> </a:t>
            </a:r>
            <a:r>
              <a:rPr sz="1500" i="0">
                <a:solidFill>
                  <a:srgbClr val="AEB6BF"/>
                </a:solidFill>
                <a:latin typeface="Consolas"/>
              </a:rPr>
              <a:t>and</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isna</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E8EDF2"/>
                </a:solidFill>
                <a:latin typeface="Consolas"/>
              </a:rPr>
              <a:t>limit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f</a:t>
            </a:r>
            <a:r>
              <a:rPr sz="1500" i="0">
                <a:solidFill>
                  <a:srgbClr val="7DCEA0"/>
                </a:solidFill>
                <a:latin typeface="Consolas"/>
              </a:rPr>
              <a:t>"</a:t>
            </a:r>
            <a:r>
              <a:rPr sz="1500" i="0">
                <a:solidFill>
                  <a:srgbClr val="7DCEA0"/>
                </a:solidFill>
                <a:latin typeface="Consolas"/>
              </a:rPr>
              <a:t>WARN: </a:t>
            </a:r>
            <a:r>
              <a:rPr sz="1500" i="0">
                <a:solidFill>
                  <a:srgbClr val="7DCEA0"/>
                </a:solidFill>
                <a:latin typeface="Consolas"/>
              </a:rPr>
              <a:t>{</a:t>
            </a:r>
            <a:r>
              <a:rPr sz="1500" i="0">
                <a:solidFill>
                  <a:srgbClr val="E8EDF2"/>
                </a:solidFill>
                <a:latin typeface="Consolas"/>
              </a:rPr>
              <a:t>col</a:t>
            </a:r>
            <a:r>
              <a:rPr sz="1500" i="0">
                <a:solidFill>
                  <a:srgbClr val="7DCEA0"/>
                </a:solidFill>
                <a:latin typeface="Consolas"/>
              </a:rPr>
              <a:t>}</a:t>
            </a:r>
            <a:r>
              <a:rPr sz="1500" i="0">
                <a:solidFill>
                  <a:srgbClr val="7DCEA0"/>
                </a:solidFill>
                <a:latin typeface="Consolas"/>
              </a:rPr>
              <a:t> is </a:t>
            </a:r>
            <a:r>
              <a:rPr sz="1500" i="0">
                <a:solidFill>
                  <a:srgbClr val="7DCEA0"/>
                </a:solidFill>
                <a:latin typeface="Consolas"/>
              </a:rPr>
              <a:t>{</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isna</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.0%</a:t>
            </a:r>
            <a:r>
              <a:rPr sz="1500" i="0">
                <a:solidFill>
                  <a:srgbClr val="7DCEA0"/>
                </a:solidFill>
                <a:latin typeface="Consolas"/>
              </a:rPr>
              <a:t>}</a:t>
            </a:r>
            <a:r>
              <a:rPr sz="1500" i="0">
                <a:solidFill>
                  <a:srgbClr val="7DCEA0"/>
                </a:solidFill>
                <a:latin typeface="Consolas"/>
              </a:rPr>
              <a:t> null (limit </a:t>
            </a:r>
            <a:r>
              <a:rPr sz="1500" i="0">
                <a:solidFill>
                  <a:srgbClr val="7DCEA0"/>
                </a:solidFill>
                <a:latin typeface="Consolas"/>
              </a:rPr>
              <a:t>{</a:t>
            </a:r>
            <a:r>
              <a:rPr sz="1500" i="0">
                <a:solidFill>
                  <a:srgbClr val="E8EDF2"/>
                </a:solidFill>
                <a:latin typeface="Consolas"/>
              </a:rPr>
              <a:t>limit</a:t>
            </a:r>
            <a:r>
              <a:rPr sz="1500" i="0">
                <a:solidFill>
                  <a:srgbClr val="7DCEA0"/>
                </a:solidFill>
                <a:latin typeface="Consolas"/>
              </a:rPr>
              <a:t>:</a:t>
            </a:r>
            <a:r>
              <a:rPr sz="1500" i="0">
                <a:solidFill>
                  <a:srgbClr val="7DCEA0"/>
                </a:solidFill>
                <a:latin typeface="Consolas"/>
              </a:rPr>
              <a:t>.0%</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bad</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bad</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quarantine, never silently drop</a:t>
            </a:r>
          </a:p>
        </p:txBody>
      </p:sp>
      <p:sp>
        <p:nvSpPr>
          <p:cNvPr id="14" name="!!code-num"/>
          <p:cNvSpPr txBox="1"/>
          <p:nvPr/>
        </p:nvSpPr>
        <p:spPr>
          <a:xfrm>
            <a:off x="768096" y="2066543"/>
            <a:ext cx="393192" cy="30815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27</a:t>
            </a:r>
          </a:p>
          <a:p>
            <a:pPr algn="r">
              <a:lnSpc>
                <a:spcPct val="100000"/>
              </a:lnSpc>
            </a:pPr>
            <a:r>
              <a:rPr sz="1500">
                <a:solidFill>
                  <a:srgbClr val="4F5D6A"/>
                </a:solidFill>
                <a:latin typeface="Consolas"/>
              </a:rPr>
              <a:t>28</a:t>
            </a:r>
          </a:p>
          <a:p>
            <a:pPr algn="r">
              <a:lnSpc>
                <a:spcPct val="100000"/>
              </a:lnSpc>
            </a:pPr>
            <a:r>
              <a:rPr sz="1500">
                <a:solidFill>
                  <a:srgbClr val="4F5D6A"/>
                </a:solidFill>
                <a:latin typeface="Consolas"/>
              </a:rPr>
              <a:t>29</a:t>
            </a:r>
          </a:p>
          <a:p>
            <a:pPr algn="r">
              <a:lnSpc>
                <a:spcPct val="100000"/>
              </a:lnSpc>
            </a:pPr>
            <a:r>
              <a:rPr sz="1500">
                <a:solidFill>
                  <a:srgbClr val="4F5D6A"/>
                </a:solidFill>
                <a:latin typeface="Consolas"/>
              </a:rPr>
              <a:t>30</a:t>
            </a:r>
          </a:p>
          <a:p>
            <a:pPr algn="r">
              <a:lnSpc>
                <a:spcPct val="100000"/>
              </a:lnSpc>
            </a:pPr>
            <a:r>
              <a:rPr sz="1500">
                <a:solidFill>
                  <a:srgbClr val="4F5D6A"/>
                </a:solidFill>
                <a:latin typeface="Consolas"/>
              </a:rPr>
              <a:t>31</a:t>
            </a:r>
          </a:p>
          <a:p>
            <a:pPr algn="r">
              <a:lnSpc>
                <a:spcPct val="100000"/>
              </a:lnSpc>
            </a:pPr>
            <a:r>
              <a:rPr sz="1500">
                <a:solidFill>
                  <a:srgbClr val="4F5D6A"/>
                </a:solidFill>
                <a:latin typeface="Consolas"/>
              </a:rPr>
              <a:t>32</a:t>
            </a:r>
          </a:p>
          <a:p>
            <a:pPr algn="r">
              <a:lnSpc>
                <a:spcPct val="100000"/>
              </a:lnSpc>
            </a:pPr>
            <a:r>
              <a:rPr sz="1500">
                <a:solidFill>
                  <a:srgbClr val="4F5D6A"/>
                </a:solidFill>
                <a:latin typeface="Consolas"/>
              </a:rPr>
              <a:t>33</a:t>
            </a:r>
          </a:p>
          <a:p>
            <a:pPr algn="r">
              <a:lnSpc>
                <a:spcPct val="100000"/>
              </a:lnSpc>
            </a:pPr>
            <a:r>
              <a:rPr sz="1500">
                <a:solidFill>
                  <a:srgbClr val="4F5D6A"/>
                </a:solidFill>
                <a:latin typeface="Consolas"/>
              </a:rPr>
              <a:t>34</a:t>
            </a:r>
          </a:p>
          <a:p>
            <a:pPr algn="r">
              <a:lnSpc>
                <a:spcPct val="100000"/>
              </a:lnSpc>
            </a:pPr>
            <a:r>
              <a:rPr sz="1500">
                <a:solidFill>
                  <a:srgbClr val="4F5D6A"/>
                </a:solidFill>
                <a:latin typeface="Consolas"/>
              </a:rPr>
              <a:t>35</a:t>
            </a:r>
          </a:p>
          <a:p>
            <a:pPr algn="r">
              <a:lnSpc>
                <a:spcPct val="100000"/>
              </a:lnSpc>
            </a:pPr>
            <a:r>
              <a:rPr sz="1500">
                <a:solidFill>
                  <a:srgbClr val="4F5D6A"/>
                </a:solidFill>
                <a:latin typeface="Consolas"/>
              </a:rPr>
              <a:t>36</a:t>
            </a:r>
          </a:p>
          <a:p>
            <a:pPr algn="r">
              <a:lnSpc>
                <a:spcPct val="100000"/>
              </a:lnSpc>
            </a:pPr>
            <a:r>
              <a:rPr sz="1500">
                <a:solidFill>
                  <a:srgbClr val="4F5D6A"/>
                </a:solidFill>
                <a:latin typeface="Consolas"/>
              </a:rPr>
              <a:t>37</a:t>
            </a:r>
          </a:p>
          <a:p>
            <a:pPr algn="r">
              <a:lnSpc>
                <a:spcPct val="100000"/>
              </a:lnSpc>
            </a:pPr>
            <a:r>
              <a:rPr sz="1500">
                <a:solidFill>
                  <a:srgbClr val="4F5D6A"/>
                </a:solidFill>
                <a:latin typeface="Consolas"/>
              </a:rPr>
              <a:t>38</a:t>
            </a:r>
          </a:p>
          <a:p>
            <a:pPr algn="r">
              <a:lnSpc>
                <a:spcPct val="100000"/>
              </a:lnSpc>
            </a:pPr>
            <a:r>
              <a:rPr sz="1500">
                <a:solidFill>
                  <a:srgbClr val="4F5D6A"/>
                </a:solidFill>
                <a:latin typeface="Consolas"/>
              </a:rPr>
              <a:t>39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Pipeline Task with Contracts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152     </a:t>
            </a:r>
            <a:fld id="{8F88FEF3-5F3A-4D8B-BF74-874366F45386}" type="slidenum">
              <a:rPr lang="en-GB" sz="1000">
                <a:solidFill>
                  <a:srgbClr val="8795A1"/>
                </a:solidFill>
                <a:latin typeface="Segoe UI"/>
              </a:rPr>
              <a:t>31</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041903"/>
          </a:xfrm>
          <a:prstGeom prst="roundRect">
            <a:avLst>
              <a:gd name="adj" fmla="val 30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3" name="!!code-text" descr="def check_volume(df, history_median, tolerance=0.30): &quot;&quot;&quot;The cheapest high-value check: did the source quietly shrink?&quot;&quot;&quot; ratio = len(df) / history_median if abs(ratio - 1) &gt; tolerance: raise DataContractViolation( f&quot;row count {len(df)} is {ratio:.0%} of the 7-day median -- run blocked&quot;) # clean, quarantined = validate(raw_df) # check_volume(clean, history_median=1987) # quarantined.to_parquet(f&quot;quarantine/{datetime.now():%Y-%m-%d}.parquet&quot;)"/>
          <p:cNvSpPr txBox="1"/>
          <p:nvPr/>
        </p:nvSpPr>
        <p:spPr>
          <a:xfrm>
            <a:off x="1362456" y="2066543"/>
            <a:ext cx="9987991" cy="2548127"/>
          </a:xfrm>
          <a:prstGeom prst="rect">
            <a:avLst/>
          </a:prstGeom>
          <a:noFill/>
        </p:spPr>
        <p:txBody>
          <a:bodyPr wrap="none" anchor="t" lIns="0" rIns="0" tIns="0" bIns="0">
            <a:noAutofit/>
          </a:bodyPr>
          <a:lstStyle/>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check_volume</a:t>
            </a:r>
            <a:r>
              <a:rPr sz="1600" i="0">
                <a:solidFill>
                  <a:srgbClr val="AEB6BF"/>
                </a:solidFill>
                <a:latin typeface="Consolas"/>
              </a:rPr>
              <a:t>(</a:t>
            </a:r>
            <a:r>
              <a:rPr sz="1600" i="0">
                <a:solidFill>
                  <a:srgbClr val="E8EDF2"/>
                </a:solidFill>
                <a:latin typeface="Consolas"/>
              </a:rPr>
              <a:t>df</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history_median</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tolerance</a:t>
            </a:r>
            <a:r>
              <a:rPr sz="1600" i="0">
                <a:solidFill>
                  <a:srgbClr val="AEB6BF"/>
                </a:solidFill>
                <a:latin typeface="Consolas"/>
              </a:rPr>
              <a:t>=</a:t>
            </a:r>
            <a:r>
              <a:rPr sz="1600" i="0">
                <a:solidFill>
                  <a:srgbClr val="F7DC6F"/>
                </a:solidFill>
                <a:latin typeface="Consolas"/>
              </a:rPr>
              <a:t>0.30</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"""The cheapest high-value check: did the source quietly shrink?"""</a:t>
            </a:r>
          </a:p>
          <a:p>
            <a:pPr>
              <a:lnSpc>
                <a:spcPct val="100000"/>
              </a:lnSpc>
              <a:spcAft>
                <a:spcPts val="0"/>
              </a:spcAft>
            </a:pPr>
            <a:r>
              <a:rPr sz="1600" i="0">
                <a:solidFill>
                  <a:srgbClr val="E8EDF2"/>
                </a:solidFill>
                <a:latin typeface="Consolas"/>
              </a:rPr>
              <a:t>    </a:t>
            </a:r>
            <a:r>
              <a:rPr sz="1600" i="0">
                <a:solidFill>
                  <a:srgbClr val="E8EDF2"/>
                </a:solidFill>
                <a:latin typeface="Consolas"/>
              </a:rPr>
              <a:t>ratio</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len</a:t>
            </a:r>
            <a:r>
              <a:rPr sz="1600" i="0">
                <a:solidFill>
                  <a:srgbClr val="AEB6BF"/>
                </a:solidFill>
                <a:latin typeface="Consolas"/>
              </a:rPr>
              <a:t>(</a:t>
            </a:r>
            <a:r>
              <a:rPr sz="1600" i="0">
                <a:solidFill>
                  <a:srgbClr val="E8EDF2"/>
                </a:solidFill>
                <a:latin typeface="Consolas"/>
              </a:rPr>
              <a:t>df</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history_median</a:t>
            </a:r>
          </a:p>
          <a:p>
            <a:pPr>
              <a:lnSpc>
                <a:spcPct val="100000"/>
              </a:lnSpc>
              <a:spcAft>
                <a:spcPts val="0"/>
              </a:spcAft>
            </a:pPr>
            <a:r>
              <a:rPr sz="1600" i="0">
                <a:solidFill>
                  <a:srgbClr val="E8EDF2"/>
                </a:solidFill>
                <a:latin typeface="Consolas"/>
              </a:rPr>
              <a:t>    </a:t>
            </a:r>
            <a:r>
              <a:rPr sz="1600" i="0">
                <a:solidFill>
                  <a:srgbClr val="5DADE2"/>
                </a:solidFill>
                <a:latin typeface="Consolas"/>
              </a:rPr>
              <a:t>if</a:t>
            </a:r>
            <a:r>
              <a:rPr sz="1600" i="0">
                <a:solidFill>
                  <a:srgbClr val="E8EDF2"/>
                </a:solidFill>
                <a:latin typeface="Consolas"/>
              </a:rPr>
              <a:t> </a:t>
            </a:r>
            <a:r>
              <a:rPr sz="1600" i="0">
                <a:solidFill>
                  <a:srgbClr val="C39BD3"/>
                </a:solidFill>
                <a:latin typeface="Consolas"/>
              </a:rPr>
              <a:t>abs</a:t>
            </a:r>
            <a:r>
              <a:rPr sz="1600" i="0">
                <a:solidFill>
                  <a:srgbClr val="AEB6BF"/>
                </a:solidFill>
                <a:latin typeface="Consolas"/>
              </a:rPr>
              <a:t>(</a:t>
            </a:r>
            <a:r>
              <a:rPr sz="1600" i="0">
                <a:solidFill>
                  <a:srgbClr val="E8EDF2"/>
                </a:solidFill>
                <a:latin typeface="Consolas"/>
              </a:rPr>
              <a:t>ratio</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&gt;</a:t>
            </a:r>
            <a:r>
              <a:rPr sz="1600" i="0">
                <a:solidFill>
                  <a:srgbClr val="E8EDF2"/>
                </a:solidFill>
                <a:latin typeface="Consolas"/>
              </a:rPr>
              <a:t> </a:t>
            </a:r>
            <a:r>
              <a:rPr sz="1600" i="0">
                <a:solidFill>
                  <a:srgbClr val="E8EDF2"/>
                </a:solidFill>
                <a:latin typeface="Consolas"/>
              </a:rPr>
              <a:t>tolerance</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raise</a:t>
            </a:r>
            <a:r>
              <a:rPr sz="1600" i="0">
                <a:solidFill>
                  <a:srgbClr val="E8EDF2"/>
                </a:solidFill>
                <a:latin typeface="Consolas"/>
              </a:rPr>
              <a:t> </a:t>
            </a:r>
            <a:r>
              <a:rPr sz="1600" i="0">
                <a:solidFill>
                  <a:srgbClr val="E8EDF2"/>
                </a:solidFill>
                <a:latin typeface="Consolas"/>
              </a:rPr>
              <a:t>DataContractViolation</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row count </a:t>
            </a:r>
            <a:r>
              <a:rPr sz="1600" i="0">
                <a:solidFill>
                  <a:srgbClr val="7DCEA0"/>
                </a:solidFill>
                <a:latin typeface="Consolas"/>
              </a:rPr>
              <a:t>{</a:t>
            </a:r>
            <a:r>
              <a:rPr sz="1600" i="0">
                <a:solidFill>
                  <a:srgbClr val="C39BD3"/>
                </a:solidFill>
                <a:latin typeface="Consolas"/>
              </a:rPr>
              <a:t>len</a:t>
            </a:r>
            <a:r>
              <a:rPr sz="1600" i="0">
                <a:solidFill>
                  <a:srgbClr val="AEB6BF"/>
                </a:solidFill>
                <a:latin typeface="Consolas"/>
              </a:rPr>
              <a:t>(</a:t>
            </a:r>
            <a:r>
              <a:rPr sz="1600" i="0">
                <a:solidFill>
                  <a:srgbClr val="E8EDF2"/>
                </a:solidFill>
                <a:latin typeface="Consolas"/>
              </a:rPr>
              <a:t>df</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 is </a:t>
            </a:r>
            <a:r>
              <a:rPr sz="1600" i="0">
                <a:solidFill>
                  <a:srgbClr val="7DCEA0"/>
                </a:solidFill>
                <a:latin typeface="Consolas"/>
              </a:rPr>
              <a:t>{</a:t>
            </a:r>
            <a:r>
              <a:rPr sz="1600" i="0">
                <a:solidFill>
                  <a:srgbClr val="E8EDF2"/>
                </a:solidFill>
                <a:latin typeface="Consolas"/>
              </a:rPr>
              <a:t>ratio</a:t>
            </a:r>
            <a:r>
              <a:rPr sz="1600" i="0">
                <a:solidFill>
                  <a:srgbClr val="7DCEA0"/>
                </a:solidFill>
                <a:latin typeface="Consolas"/>
              </a:rPr>
              <a:t>:</a:t>
            </a:r>
            <a:r>
              <a:rPr sz="1600" i="0">
                <a:solidFill>
                  <a:srgbClr val="7DCEA0"/>
                </a:solidFill>
                <a:latin typeface="Consolas"/>
              </a:rPr>
              <a:t>.0%</a:t>
            </a:r>
            <a:r>
              <a:rPr sz="1600" i="0">
                <a:solidFill>
                  <a:srgbClr val="7DCEA0"/>
                </a:solidFill>
                <a:latin typeface="Consolas"/>
              </a:rPr>
              <a:t>}</a:t>
            </a:r>
            <a:r>
              <a:rPr sz="1600" i="0">
                <a:solidFill>
                  <a:srgbClr val="7DCEA0"/>
                </a:solidFill>
                <a:latin typeface="Consolas"/>
              </a:rPr>
              <a:t> of the 7-day median -- run blocked</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1">
                <a:solidFill>
                  <a:srgbClr val="8795A1"/>
                </a:solidFill>
                <a:latin typeface="Consolas"/>
              </a:rPr>
              <a:t># clean, quarantined = validate(raw_df)</a:t>
            </a:r>
          </a:p>
          <a:p>
            <a:pPr>
              <a:lnSpc>
                <a:spcPct val="100000"/>
              </a:lnSpc>
              <a:spcAft>
                <a:spcPts val="0"/>
              </a:spcAft>
            </a:pPr>
            <a:r>
              <a:rPr sz="1600" i="1">
                <a:solidFill>
                  <a:srgbClr val="8795A1"/>
                </a:solidFill>
                <a:latin typeface="Consolas"/>
              </a:rPr>
              <a:t># check_volume(clean, history_median=1987)</a:t>
            </a:r>
          </a:p>
          <a:p>
            <a:pPr>
              <a:lnSpc>
                <a:spcPct val="100000"/>
              </a:lnSpc>
              <a:spcAft>
                <a:spcPts val="0"/>
              </a:spcAft>
            </a:pPr>
            <a:r>
              <a:rPr sz="1600" i="1">
                <a:solidFill>
                  <a:srgbClr val="8795A1"/>
                </a:solidFill>
                <a:latin typeface="Consolas"/>
              </a:rPr>
              <a:t># quarantined.to_parquet(f"quarantine/{datetime.now():%Y-%m-%d}.parquet")</a:t>
            </a:r>
          </a:p>
        </p:txBody>
      </p:sp>
      <p:sp>
        <p:nvSpPr>
          <p:cNvPr id="14" name="!!code-num"/>
          <p:cNvSpPr txBox="1"/>
          <p:nvPr/>
        </p:nvSpPr>
        <p:spPr>
          <a:xfrm>
            <a:off x="768096" y="2066543"/>
            <a:ext cx="393192" cy="254812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40</a:t>
            </a:r>
          </a:p>
          <a:p>
            <a:pPr algn="r">
              <a:lnSpc>
                <a:spcPct val="100000"/>
              </a:lnSpc>
            </a:pPr>
            <a:r>
              <a:rPr sz="1600">
                <a:solidFill>
                  <a:srgbClr val="4F5D6A"/>
                </a:solidFill>
                <a:latin typeface="Consolas"/>
              </a:rPr>
              <a:t>41</a:t>
            </a:r>
          </a:p>
          <a:p>
            <a:pPr algn="r">
              <a:lnSpc>
                <a:spcPct val="100000"/>
              </a:lnSpc>
            </a:pPr>
            <a:r>
              <a:rPr sz="1600">
                <a:solidFill>
                  <a:srgbClr val="4F5D6A"/>
                </a:solidFill>
                <a:latin typeface="Consolas"/>
              </a:rPr>
              <a:t>42</a:t>
            </a:r>
          </a:p>
          <a:p>
            <a:pPr algn="r">
              <a:lnSpc>
                <a:spcPct val="100000"/>
              </a:lnSpc>
            </a:pPr>
            <a:r>
              <a:rPr sz="1600">
                <a:solidFill>
                  <a:srgbClr val="4F5D6A"/>
                </a:solidFill>
                <a:latin typeface="Consolas"/>
              </a:rPr>
              <a:t>43</a:t>
            </a:r>
          </a:p>
          <a:p>
            <a:pPr algn="r">
              <a:lnSpc>
                <a:spcPct val="100000"/>
              </a:lnSpc>
            </a:pPr>
            <a:r>
              <a:rPr sz="1600">
                <a:solidFill>
                  <a:srgbClr val="4F5D6A"/>
                </a:solidFill>
                <a:latin typeface="Consolas"/>
              </a:rPr>
              <a:t>44</a:t>
            </a:r>
          </a:p>
          <a:p>
            <a:pPr algn="r">
              <a:lnSpc>
                <a:spcPct val="100000"/>
              </a:lnSpc>
            </a:pPr>
            <a:r>
              <a:rPr sz="1600">
                <a:solidFill>
                  <a:srgbClr val="4F5D6A"/>
                </a:solidFill>
                <a:latin typeface="Consolas"/>
              </a:rPr>
              <a:t>45</a:t>
            </a:r>
          </a:p>
          <a:p>
            <a:pPr algn="r">
              <a:lnSpc>
                <a:spcPct val="100000"/>
              </a:lnSpc>
            </a:pPr>
            <a:r>
              <a:rPr sz="1600">
                <a:solidFill>
                  <a:srgbClr val="4F5D6A"/>
                </a:solidFill>
                <a:latin typeface="Consolas"/>
              </a:rPr>
              <a:t>46</a:t>
            </a:r>
          </a:p>
          <a:p>
            <a:pPr algn="r">
              <a:lnSpc>
                <a:spcPct val="100000"/>
              </a:lnSpc>
            </a:pPr>
            <a:r>
              <a:rPr sz="1600">
                <a:solidFill>
                  <a:srgbClr val="4F5D6A"/>
                </a:solidFill>
                <a:latin typeface="Consolas"/>
              </a:rPr>
              <a:t>47</a:t>
            </a:r>
          </a:p>
          <a:p>
            <a:pPr algn="r">
              <a:lnSpc>
                <a:spcPct val="100000"/>
              </a:lnSpc>
            </a:pPr>
            <a:r>
              <a:rPr sz="1600">
                <a:solidFill>
                  <a:srgbClr val="4F5D6A"/>
                </a:solidFill>
                <a:latin typeface="Consolas"/>
              </a:rPr>
              <a:t>48</a:t>
            </a:r>
          </a:p>
          <a:p>
            <a:pPr algn="r">
              <a:lnSpc>
                <a:spcPct val="100000"/>
              </a:lnSpc>
            </a:pPr>
            <a:r>
              <a:rPr sz="1600">
                <a:solidFill>
                  <a:srgbClr val="4F5D6A"/>
                </a:solidFill>
                <a:latin typeface="Consolas"/>
              </a:rPr>
              <a:t>49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99863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What does it mean for a pipeline task to be idempotent, and why does it matter when a job is re-run after a failure?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23  ·  Data Engineering at Scale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155  ·  answers in Appendix D     </a:t>
            </a:r>
            <a:fld id="{EEE94F42-6233-49F8-8288-E392A8E17428}"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What does it mean for a pipeline task to be idempotent, and why does it matter when a job is re-run after a failure?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Idempotent means re-running a task produces the same result rather than duplicating or compounding its effect. It matters because failures are normal: a job that half-completed must be safe to re-run without producing double-counted rows.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  answers in Appendix D     </a:t>
            </a:r>
            <a:fld id="{82398160-64AC-4B96-A031-23ECBF3AAD0B}"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7918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dataset is 300 MB. Should you use Spark? Justify.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23  ·  Data Engineering at Scale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155  ·  answers in Appendix D     </a:t>
            </a:r>
            <a:fld id="{65CD5AB1-F04B-4FBA-A957-9A403348D44A}"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Your dataset is 300 MB. Should you use Spark? Justify.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300 MB fits comfortably in memory; pandas will be faster to write, faster to run and far easier to debug. Distributed tooling on small data adds days of complexity for negative benefit.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  answers in Appendix D     </a:t>
            </a:r>
            <a:fld id="{1F53236F-D8DD-4558-B7DD-BF79EA326000}"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source silently starts returning 10% of its usual rows. Which of the six quality dimensions catches this, and which check specifically?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23  ·  Data Engineering at Scale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155  ·  answers in Appendix D     </a:t>
            </a:r>
            <a:fld id="{683C9796-D281-443D-882B-FB298F3F85BC}"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source silently starts returning 10% of its usual rows. Which of the six quality dimensions catches this, and which check specifically?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Completeness</a:t>
            </a:r>
            <a:r>
              <a:rPr sz="2200" b="0" i="0">
                <a:solidFill>
                  <a:srgbClr val="1C252B"/>
                </a:solidFill>
                <a:latin typeface="Segoe UI"/>
              </a:rPr>
              <a:t>, caught by the </a:t>
            </a:r>
            <a:r>
              <a:rPr sz="2200" b="1" i="0">
                <a:solidFill>
                  <a:srgbClr val="1C252B"/>
                </a:solidFill>
                <a:latin typeface="Segoe UI"/>
              </a:rPr>
              <a:t>row-count / volume check</a:t>
            </a:r>
            <a:r>
              <a:rPr sz="2200" b="0" i="0">
                <a:solidFill>
                  <a:srgbClr val="1C252B"/>
                </a:solidFill>
                <a:latin typeface="Segoe UI"/>
              </a:rPr>
              <a:t> against a rolling median. Every individual row is valid, so type, range and null checks all pass — only the count reveals 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  answers in Appendix D     </a:t>
            </a:r>
            <a:fld id="{3CA4165B-F487-404A-A17C-54C9D229E6B4}"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4030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968C9AEA-4062-4487-9782-5DF713841B94}" type="slidenum">
              <a:rPr lang="en-GB" sz="1000">
                <a:solidFill>
                  <a:srgbClr val="8795A1"/>
                </a:solidFill>
                <a:latin typeface="Segoe UI"/>
              </a:rPr>
              <a:t>38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Pipelines are DAGs of scheduled tasks; they must be idempotent, fail loudly and record lineage.</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ELT has largely displaced ETL because cheap storage makes keeping the raw data worthwhile.</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Warehouses fix the schema on write, lakes on read, lakehouses attempt both. The choice is about when you commit.</a:t>
            </a:r>
          </a:p>
        </p:txBody>
      </p:sp>
      <p:sp>
        <p:nvSpPr>
          <p:cNvPr id="16" name="!!sb3">
            <a:extLst>
              <a:ext uri="{C183D7F6-B498-43B3-948B-1728B52AA6E4}">
                <adec:decorative xmlns:adec="http://schemas.microsoft.com/office/drawing/2017/decorative" val="1"/>
              </a:ext>
            </a:extLst>
          </p:cNvPr>
          <p:cNvSpPr/>
          <p:nvPr/>
        </p:nvSpPr>
        <p:spPr>
          <a:xfrm>
            <a:off x="658368" y="419709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519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8795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five V’s each impose a technical requirement; veracity is the one most often ignored.</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Partition by what you filter on. Shuffles across the network are the expensive operation.</a:t>
            </a:r>
          </a:p>
        </p:txBody>
      </p:sp>
      <p:sp>
        <p:nvSpPr>
          <p:cNvPr id="22" name="!!sb5">
            <a:extLst>
              <a:ext uri="{C183D7F6-B498-43B3-948B-1728B52AA6E4}">
                <adec:decorative xmlns:adec="http://schemas.microsoft.com/office/drawing/2017/decorative" val="1"/>
              </a:ext>
            </a:extLst>
          </p:cNvPr>
          <p:cNvSpPr/>
          <p:nvPr/>
        </p:nvSpPr>
        <p:spPr>
          <a:xfrm>
            <a:off x="658368" y="536752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223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5838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Data contracts turn silent breakage into an attributable failure, and a row-count check is the cheapest valuable test you can write.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3058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981248EE-6593-4867-934A-FC2C76C49F6B}"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Schema-on-read is characteristic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data warehouse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data lake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ETL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relational database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208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B3163F3A-6522-41CA-B3B9-14E73D5BFA9E}"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operation forces an expensive network shuffle?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filtering one partition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per-row transformation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join across partitions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reading a column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1113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23  ·  Data Engineering at Scale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18843B99-762D-4134-AE65-B375B786EC3C}" type="slidenum">
              <a:rPr lang="en-GB" sz="1000">
                <a:solidFill>
                  <a:srgbClr val="8795A1"/>
                </a:solidFill>
                <a:latin typeface="Segoe UI"/>
              </a:rPr>
              <a:t>41</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idempotence and give an example of a non-idempotent pipeline step and its consequence.</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quarantine branch is preferable to dropping invalid rows.</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ingestion latency a security control in a detection pipeline?</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the ingestion layer for 400 IoT devices reporting 6 channels at 1 Hz. Specify the storage format, partitioning scheme, aggregation grains, and how you handle duplicates and late arrivals.</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Write six data-contract checks for a nightly student enrolment feed, stating for each whether failure should warn, quarantine or block the run — and justify the three that block.</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141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23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23</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24 — Cloud and Edge Computing for Data Science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23, pages 150–155</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Data contracts; containerise a model</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Capstone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23  ·  Data Engineering at Scale</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B1AC669B-E747-43F0-B0D0-E81B1E4E9D7E}"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Data Engineering at Scale</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