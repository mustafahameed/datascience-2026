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27B5F0-8BA3-44E8-85CD-C627CF4FAC2E}">
          <p14:sldIdLst>
            <p14:sldId id="256"/>
            <p14:sldId id="257"/>
            <p14:sldId id="258"/>
            <p14:sldId id="259"/>
            <p14:sldId id="260"/>
          </p14:sldIdLst>
        </p14:section>
        <p14:section name="8.1 What EDA Is For" id="{2583A29D-7620-4B7D-ACBB-0237244DFCC9}">
          <p14:sldIdLst>
            <p14:sldId id="261"/>
            <p14:sldId id="262"/>
            <p14:sldId id="263"/>
          </p14:sldIdLst>
        </p14:section>
        <p14:section name="8.2 Choosing the Right Chart" id="{72EB9DB1-C87C-4F23-8A46-9D8D389816BB}">
          <p14:sldIdLst>
            <p14:sldId id="264"/>
            <p14:sldId id="265"/>
            <p14:sldId id="266"/>
          </p14:sldIdLst>
        </p14:section>
        <p14:section name="8.3 Bivariate Exploration" id="{BE41C88A-C05C-4BAC-A280-219606DBF5DC}">
          <p14:sldIdLst>
            <p14:sldId id="267"/>
            <p14:sldId id="268"/>
            <p14:sldId id="269"/>
            <p14:sldId id="270"/>
            <p14:sldId id="271"/>
          </p14:sldIdLst>
        </p14:section>
        <p14:section name="8.4 The Third Variable" id="{9B7FA30F-2FA5-40E7-AE85-5A62CED48750}">
          <p14:sldIdLst>
            <p14:sldId id="272"/>
            <p14:sldId id="273"/>
            <p14:sldId id="274"/>
          </p14:sldIdLst>
        </p14:section>
        <p14:section name="8.5 Visualisation Anti-Patterns" id="{29621F63-7BE1-4C7D-A8D9-D564896751ED}">
          <p14:sldIdLst>
            <p14:sldId id="275"/>
            <p14:sldId id="276"/>
            <p14:sldId id="277"/>
          </p14:sldIdLst>
        </p14:section>
        <p14:section name="Four lenses" id="{6F36AA43-BA34-40F7-AED1-20EC6603FC11}">
          <p14:sldIdLst>
            <p14:sldId id="278"/>
            <p14:sldId id="279"/>
            <p14:sldId id="280"/>
            <p14:sldId id="281"/>
            <p14:sldId id="282"/>
          </p14:sldIdLst>
        </p14:section>
        <p14:section name="Lab" id="{D99391D1-A201-4D98-8DFA-E865D44F4D3D}">
          <p14:sldIdLst>
            <p14:sldId id="283"/>
            <p14:sldId id="284"/>
            <p14:sldId id="285"/>
            <p14:sldId id="286"/>
            <p14:sldId id="287"/>
            <p14:sldId id="288"/>
            <p14:sldId id="289"/>
          </p14:sldIdLst>
        </p14:section>
        <p14:section name="Checkpoint" id="{6C506D7E-4DC9-46DE-B8EB-18FE79394833}">
          <p14:sldIdLst>
            <p14:sldId id="290"/>
            <p14:sldId id="291"/>
            <p14:sldId id="292"/>
            <p14:sldId id="293"/>
            <p14:sldId id="294"/>
            <p14:sldId id="295"/>
          </p14:sldIdLst>
        </p14:section>
        <p14:section name="Wrap-up" id="{C06D6790-A7FF-49CE-9E1C-728A1EF11086}">
          <p14:sldIdLst>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Exploratory Data Analysis and Visualisation. Part 2 — From Data to Insight. Week 5: Exploratory analysis. Handout pages 49–54.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5 (centre, spread, shape) and Chapter 7 (you cannot explore data you have not cleaned).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exploratory data analysis; univariate, bivariate, multivariate; histogram; boxplot; scatterplot; correlation matrix; heatmap; small multiples; multicollinearity; Simpson’s paradox; data-ink;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choice is almost entirely determined by the types of the variables involved — which is why Chapter 3 came first.</a:t>
            </a:r>
          </a:p>
          <a:p/>
          <a:p>
            <a:r>
              <a:t>Figure 8.1 (handout p. 50): Chart selection by variable type. Almost every “which chart should I use?” question is answered by identifying the types involved and reading off this grid.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8.2 (handout p. 50): Four scatterplots. The second has a perfect relationship and a correlation near zero; the fourth has a correlation near 0.9 created entirely by one point. This is why you plot the data before trusting any correlation coefficient.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8.3 (handout p. 51): Simpson’s paradox. The same points, plotted twice. Aggregated, tutorial use appears to lower marks; within each programme it raises them. Programme is a confounder — students on the harder programme use tutorials more and score lower for unrelated reasons.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Plot engagement over the weeks of the semester as one line per student, faintly, with the cohort median in bold — the “spaghetti plot”. The shape of individual disengagement (a cliff in week 5 versus a slow decline) is invisible in any average and is exactly what the intervention design needs. Always split by programme before presenting: Simpson’s paradox is endemic in education data.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Plot estimated against actual effort as a scatterplot with the y=x line drawn. The systematic gap above that line is the estimation bias, and it is far more persuasive to a team than any summary statistic. A cumulative flow diagram shows where work piles up; a burn-down chart alone does 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With 400 devices you cannot plot 400 lines. Use a heatmap of device × time with colour as the reading: a failing sensor appears as a stripe, a site-wide outage as a vertical band. This one chart replaces 400 line charts and reveals patterns none of them would show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Log-scale nearly everything — counts of events per source are long-tailed, and a linear axis renders all but the largest invisible. Plot volume by hour of day to establish the normal diurnal rhythm, because deviation from the rhythm is more informative than raw volume. Never truncate an axis on a security chart: it is how a small anomaly is made to look like a crisis, and how a real one gets missed.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Univariate: shape of every numeric column.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Bivariate: relationships and multicollinearity.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third variable: always check before presenting.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Multicollinearity. Drop one of the pair (or use ridge). Keeping both adds almost no information and makes the coefficients unstable and uninterpretable.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Yes — a strong non-linear one. Pearson’s r measures only linear association, which is why Figure 8.2 exists.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heatmap with servers on one axis and days on the other, colour showing the failure rate. Forty line charts cannot be compared visually, and a single chart with forty lines is illegible; the heatmap makes both per-server and site-wide patterns visible at once.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9 — Inferential Statistics. READ: Handout Chapter 8, pages 49–54. THIS WEEK'S LAB: Standard EDA pass. ASSESSMENT: Assignment 1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image" Target="../media/image37.png"/><Relationship Id="rId9" Type="http://schemas.openxmlformats.org/officeDocument/2006/relationships/image" Target="../media/image38.svg"/><Relationship Id="rId10" Type="http://schemas.openxmlformats.org/officeDocument/2006/relationships/image" Target="../media/image39.png"/><Relationship Id="rId11" Type="http://schemas.openxmlformats.org/officeDocument/2006/relationships/image" Target="../media/image40.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33.png"/><Relationship Id="rId5" Type="http://schemas.openxmlformats.org/officeDocument/2006/relationships/image" Target="../media/image43.svg"/><Relationship Id="rId6" Type="http://schemas.openxmlformats.org/officeDocument/2006/relationships/image" Target="../media/image35.png"/><Relationship Id="rId7" Type="http://schemas.openxmlformats.org/officeDocument/2006/relationships/image" Target="../media/image44.svg"/><Relationship Id="rId8" Type="http://schemas.openxmlformats.org/officeDocument/2006/relationships/image" Target="../media/image37.png"/><Relationship Id="rId9" Type="http://schemas.openxmlformats.org/officeDocument/2006/relationships/image" Target="../media/image45.svg"/><Relationship Id="rId10" Type="http://schemas.openxmlformats.org/officeDocument/2006/relationships/image" Target="../media/image39.png"/><Relationship Id="rId11" Type="http://schemas.openxmlformats.org/officeDocument/2006/relationships/image" Target="../media/image46.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5.png"/><Relationship Id="rId5" Type="http://schemas.openxmlformats.org/officeDocument/2006/relationships/image" Target="../media/image49.svg"/><Relationship Id="rId6" Type="http://schemas.openxmlformats.org/officeDocument/2006/relationships/image" Target="../media/image33.png"/><Relationship Id="rId7" Type="http://schemas.openxmlformats.org/officeDocument/2006/relationships/image" Target="../media/image50.svg"/><Relationship Id="rId8" Type="http://schemas.openxmlformats.org/officeDocument/2006/relationships/image" Target="../media/image37.png"/><Relationship Id="rId9" Type="http://schemas.openxmlformats.org/officeDocument/2006/relationships/image" Target="../media/image51.svg"/><Relationship Id="rId10" Type="http://schemas.openxmlformats.org/officeDocument/2006/relationships/image" Target="../media/image39.png"/><Relationship Id="rId11" Type="http://schemas.openxmlformats.org/officeDocument/2006/relationships/image" Target="../media/image52.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37.png"/><Relationship Id="rId5" Type="http://schemas.openxmlformats.org/officeDocument/2006/relationships/image" Target="../media/image55.svg"/><Relationship Id="rId6" Type="http://schemas.openxmlformats.org/officeDocument/2006/relationships/image" Target="../media/image33.png"/><Relationship Id="rId7" Type="http://schemas.openxmlformats.org/officeDocument/2006/relationships/image" Target="../media/image56.svg"/><Relationship Id="rId8" Type="http://schemas.openxmlformats.org/officeDocument/2006/relationships/image" Target="../media/image35.png"/><Relationship Id="rId9" Type="http://schemas.openxmlformats.org/officeDocument/2006/relationships/image" Target="../media/image57.svg"/><Relationship Id="rId10" Type="http://schemas.openxmlformats.org/officeDocument/2006/relationships/image" Target="../media/image39.png"/><Relationship Id="rId11" Type="http://schemas.openxmlformats.org/officeDocument/2006/relationships/image" Target="../media/image58.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39.png"/><Relationship Id="rId5" Type="http://schemas.openxmlformats.org/officeDocument/2006/relationships/image" Target="../media/image61.svg"/><Relationship Id="rId6" Type="http://schemas.openxmlformats.org/officeDocument/2006/relationships/image" Target="../media/image33.png"/><Relationship Id="rId7" Type="http://schemas.openxmlformats.org/officeDocument/2006/relationships/image" Target="../media/image62.svg"/><Relationship Id="rId8" Type="http://schemas.openxmlformats.org/officeDocument/2006/relationships/image" Target="../media/image35.png"/><Relationship Id="rId9" Type="http://schemas.openxmlformats.org/officeDocument/2006/relationships/image" Target="../media/image63.svg"/><Relationship Id="rId10" Type="http://schemas.openxmlformats.org/officeDocument/2006/relationships/image" Target="../media/image37.png"/><Relationship Id="rId11" Type="http://schemas.openxmlformats.org/officeDocument/2006/relationships/image" Target="../media/image64.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8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Exploratory Data Analysis and Visualisation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FROM DATA TO INSIGHT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8  ·  WEEK 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49     </a:t>
            </a:r>
            <a:fld id="{898BE356-2024-46D4-80DA-3B35CC8E958B}"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38222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382229"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007733"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00773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100519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Exploratory Data Analysis and Visualisation</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5  </a:t>
            </a:r>
            <a:r>
              <a:rPr sz="1400" b="0" i="0">
                <a:solidFill>
                  <a:srgbClr val="1C252B"/>
                </a:solidFill>
                <a:latin typeface="Segoe UI"/>
              </a:rPr>
              <a:t>Describing Data: Centre, Spread and Shape</a:t>
            </a:r>
          </a:p>
        </p:txBody>
      </p:sp>
      <p:sp>
        <p:nvSpPr>
          <p:cNvPr id="88"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Acquisition, Wrangling and Cleaning</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1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1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1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10  </a:t>
            </a:r>
            <a:r>
              <a:rPr sz="1400" b="0" i="0">
                <a:solidFill>
                  <a:srgbClr val="1C252B"/>
                </a:solidFill>
                <a:latin typeface="Segoe UI"/>
              </a:rPr>
              <a:t>Relationships and Causality</a:t>
            </a:r>
          </a:p>
        </p:txBody>
      </p:sp>
      <p:sp>
        <p:nvSpPr>
          <p:cNvPr id="95" name="!!chipUS12">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2">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2"/>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Supervised Learning I: Regression</a:t>
            </a:r>
          </a:p>
        </p:txBody>
      </p:sp>
      <p:sp>
        <p:nvSpPr>
          <p:cNvPr id="98" name="!!chipUS3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3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3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31  </a:t>
            </a:r>
            <a:r>
              <a:rPr sz="1400" b="0" i="0">
                <a:solidFill>
                  <a:srgbClr val="1C252B"/>
                </a:solidFill>
                <a:latin typeface="Segoe UI"/>
              </a:rPr>
              <a:t>Communicating Data Science</a:t>
            </a:r>
          </a:p>
        </p:txBody>
      </p:sp>
      <p:sp>
        <p:nvSpPr>
          <p:cNvPr id="10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49     </a:t>
            </a:r>
            <a:fld id="{1A52D495-C460-4D80-B795-E9311125566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Conduct</a:t>
            </a:r>
            <a:r>
              <a:rPr sz="2100" b="0" i="0">
                <a:solidFill>
                  <a:srgbClr val="1C252B"/>
                </a:solidFill>
                <a:latin typeface="Segoe UI"/>
              </a:rPr>
              <a:t> a structured EDA: univariate, then bivariate, then multivariate.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Select</a:t>
            </a:r>
            <a:r>
              <a:rPr sz="2100" b="0" i="0">
                <a:solidFill>
                  <a:srgbClr val="1C252B"/>
                </a:solidFill>
                <a:latin typeface="Segoe UI"/>
              </a:rPr>
              <a:t> the correct chart for a given pair of variable types.</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Read</a:t>
            </a:r>
            <a:r>
              <a:rPr sz="2100" b="0" i="0">
                <a:solidFill>
                  <a:srgbClr val="1C252B"/>
                </a:solidFill>
                <a:latin typeface="Segoe UI"/>
              </a:rPr>
              <a:t> a correlation heatmap and recognise multicollinearity.</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2336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Identify</a:t>
            </a:r>
            <a:r>
              <a:rPr sz="2100" b="0" i="0">
                <a:solidFill>
                  <a:srgbClr val="1C252B"/>
                </a:solidFill>
                <a:latin typeface="Segoe UI"/>
              </a:rPr>
              <a:t> the common visualisation anti-patterns and explain the distortion each causes.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Design</a:t>
            </a:r>
            <a:r>
              <a:rPr sz="2100" b="0" i="0">
                <a:solidFill>
                  <a:srgbClr val="1C252B"/>
                </a:solidFill>
                <a:latin typeface="Segoe UI"/>
              </a:rPr>
              <a:t> a dashboard around the decision it supports rather than the data available.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49     </a:t>
            </a:r>
            <a:fld id="{40C9D95E-F49A-4FAF-92F5-9792B7278C7C}" type="slidenum">
              <a:rPr lang="en-GB" sz="1000">
                <a:solidFill>
                  <a:srgbClr val="8795A1"/>
                </a:solidFill>
                <a:latin typeface="Segoe UI"/>
              </a:rPr>
              <a:t>4</a:t>
            </a:fld>
          </a:p>
        </p:txBody>
      </p:sp>
      <p:sp>
        <p:nvSpPr>
          <p:cNvPr id="7" name="!!term-exploratory da">
            <a:extLst>
              <a:ext uri="{C183D7F6-B498-43B3-948B-1728B52AA6E4}">
                <adec:decorative xmlns:adec="http://schemas.microsoft.com/office/drawing/2017/decorative" val="1"/>
              </a:ext>
            </a:extLst>
          </p:cNvPr>
          <p:cNvSpPr/>
          <p:nvPr/>
        </p:nvSpPr>
        <p:spPr>
          <a:xfrm>
            <a:off x="658368" y="1847088"/>
            <a:ext cx="28407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exploratory da">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exploratory da"/>
          <p:cNvSpPr txBox="1"/>
          <p:nvPr/>
        </p:nvSpPr>
        <p:spPr>
          <a:xfrm>
            <a:off x="950976" y="1955291"/>
            <a:ext cx="265783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exploratory data analysis</a:t>
            </a:r>
          </a:p>
        </p:txBody>
      </p:sp>
      <p:sp>
        <p:nvSpPr>
          <p:cNvPr id="10" name="!!term-univariate, bi">
            <a:extLst>
              <a:ext uri="{C183D7F6-B498-43B3-948B-1728B52AA6E4}">
                <adec:decorative xmlns:adec="http://schemas.microsoft.com/office/drawing/2017/decorative" val="1"/>
              </a:ext>
            </a:extLst>
          </p:cNvPr>
          <p:cNvSpPr/>
          <p:nvPr/>
        </p:nvSpPr>
        <p:spPr>
          <a:xfrm>
            <a:off x="3645391" y="1847088"/>
            <a:ext cx="35840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univariate, bi">
            <a:extLst>
              <a:ext uri="{C183D7F6-B498-43B3-948B-1728B52AA6E4}">
                <adec:decorative xmlns:adec="http://schemas.microsoft.com/office/drawing/2017/decorative" val="1"/>
              </a:ext>
            </a:extLst>
          </p:cNvPr>
          <p:cNvSpPr/>
          <p:nvPr/>
        </p:nvSpPr>
        <p:spPr>
          <a:xfrm>
            <a:off x="377340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univariate, bi"/>
          <p:cNvSpPr txBox="1"/>
          <p:nvPr/>
        </p:nvSpPr>
        <p:spPr>
          <a:xfrm>
            <a:off x="3937999" y="1955291"/>
            <a:ext cx="340113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univariate, bivariate, multivariate</a:t>
            </a:r>
          </a:p>
        </p:txBody>
      </p:sp>
      <p:sp>
        <p:nvSpPr>
          <p:cNvPr id="13" name="!!term-histogram">
            <a:extLst>
              <a:ext uri="{C183D7F6-B498-43B3-948B-1728B52AA6E4}">
                <adec:decorative xmlns:adec="http://schemas.microsoft.com/office/drawing/2017/decorative" val="1"/>
              </a:ext>
            </a:extLst>
          </p:cNvPr>
          <p:cNvSpPr/>
          <p:nvPr/>
        </p:nvSpPr>
        <p:spPr>
          <a:xfrm>
            <a:off x="7375712" y="1847088"/>
            <a:ext cx="14219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histogram">
            <a:extLst>
              <a:ext uri="{C183D7F6-B498-43B3-948B-1728B52AA6E4}">
                <adec:decorative xmlns:adec="http://schemas.microsoft.com/office/drawing/2017/decorative" val="1"/>
              </a:ext>
            </a:extLst>
          </p:cNvPr>
          <p:cNvSpPr/>
          <p:nvPr/>
        </p:nvSpPr>
        <p:spPr>
          <a:xfrm>
            <a:off x="75037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histogram"/>
          <p:cNvSpPr txBox="1"/>
          <p:nvPr/>
        </p:nvSpPr>
        <p:spPr>
          <a:xfrm>
            <a:off x="7668320" y="1955291"/>
            <a:ext cx="123905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histogram</a:t>
            </a:r>
          </a:p>
        </p:txBody>
      </p:sp>
      <p:sp>
        <p:nvSpPr>
          <p:cNvPr id="16" name="!!term-boxplot">
            <a:extLst>
              <a:ext uri="{C183D7F6-B498-43B3-948B-1728B52AA6E4}">
                <adec:decorative xmlns:adec="http://schemas.microsoft.com/office/drawing/2017/decorative" val="1"/>
              </a:ext>
            </a:extLst>
          </p:cNvPr>
          <p:cNvSpPr/>
          <p:nvPr/>
        </p:nvSpPr>
        <p:spPr>
          <a:xfrm>
            <a:off x="8943954" y="1847088"/>
            <a:ext cx="11849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boxplot">
            <a:extLst>
              <a:ext uri="{C183D7F6-B498-43B3-948B-1728B52AA6E4}">
                <adec:decorative xmlns:adec="http://schemas.microsoft.com/office/drawing/2017/decorative" val="1"/>
              </a:ext>
            </a:extLst>
          </p:cNvPr>
          <p:cNvSpPr/>
          <p:nvPr/>
        </p:nvSpPr>
        <p:spPr>
          <a:xfrm>
            <a:off x="907197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boxplot"/>
          <p:cNvSpPr txBox="1"/>
          <p:nvPr/>
        </p:nvSpPr>
        <p:spPr>
          <a:xfrm>
            <a:off x="9236562" y="1955291"/>
            <a:ext cx="100208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boxplot</a:t>
            </a:r>
          </a:p>
        </p:txBody>
      </p:sp>
      <p:sp>
        <p:nvSpPr>
          <p:cNvPr id="19" name="!!term-scatterplot">
            <a:extLst>
              <a:ext uri="{C183D7F6-B498-43B3-948B-1728B52AA6E4}">
                <adec:decorative xmlns:adec="http://schemas.microsoft.com/office/drawing/2017/decorative" val="1"/>
              </a:ext>
            </a:extLst>
          </p:cNvPr>
          <p:cNvSpPr/>
          <p:nvPr/>
        </p:nvSpPr>
        <p:spPr>
          <a:xfrm>
            <a:off x="658368" y="2468880"/>
            <a:ext cx="14736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catterplo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catterplot"/>
          <p:cNvSpPr txBox="1"/>
          <p:nvPr/>
        </p:nvSpPr>
        <p:spPr>
          <a:xfrm>
            <a:off x="950976" y="2577084"/>
            <a:ext cx="129080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scatterplot</a:t>
            </a:r>
          </a:p>
        </p:txBody>
      </p:sp>
      <p:sp>
        <p:nvSpPr>
          <p:cNvPr id="22" name="!!term-correlation ma">
            <a:extLst>
              <a:ext uri="{C183D7F6-B498-43B3-948B-1728B52AA6E4}">
                <adec:decorative xmlns:adec="http://schemas.microsoft.com/office/drawing/2017/decorative" val="1"/>
              </a:ext>
            </a:extLst>
          </p:cNvPr>
          <p:cNvSpPr/>
          <p:nvPr/>
        </p:nvSpPr>
        <p:spPr>
          <a:xfrm>
            <a:off x="2278360" y="2468880"/>
            <a:ext cx="21528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rrelation ma">
            <a:extLst>
              <a:ext uri="{C183D7F6-B498-43B3-948B-1728B52AA6E4}">
                <adec:decorative xmlns:adec="http://schemas.microsoft.com/office/drawing/2017/decorative" val="1"/>
              </a:ext>
            </a:extLst>
          </p:cNvPr>
          <p:cNvSpPr/>
          <p:nvPr/>
        </p:nvSpPr>
        <p:spPr>
          <a:xfrm>
            <a:off x="240637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rrelation ma"/>
          <p:cNvSpPr txBox="1"/>
          <p:nvPr/>
        </p:nvSpPr>
        <p:spPr>
          <a:xfrm>
            <a:off x="2570968" y="2577084"/>
            <a:ext cx="196994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correlation matrix</a:t>
            </a:r>
          </a:p>
        </p:txBody>
      </p:sp>
      <p:sp>
        <p:nvSpPr>
          <p:cNvPr id="25" name="!!term-heatmap">
            <a:extLst>
              <a:ext uri="{C183D7F6-B498-43B3-948B-1728B52AA6E4}">
                <adec:decorative xmlns:adec="http://schemas.microsoft.com/office/drawing/2017/decorative" val="1"/>
              </a:ext>
            </a:extLst>
          </p:cNvPr>
          <p:cNvSpPr/>
          <p:nvPr/>
        </p:nvSpPr>
        <p:spPr>
          <a:xfrm>
            <a:off x="4577488" y="2468880"/>
            <a:ext cx="12966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heatmap">
            <a:extLst>
              <a:ext uri="{C183D7F6-B498-43B3-948B-1728B52AA6E4}">
                <adec:decorative xmlns:adec="http://schemas.microsoft.com/office/drawing/2017/decorative" val="1"/>
              </a:ext>
            </a:extLst>
          </p:cNvPr>
          <p:cNvSpPr/>
          <p:nvPr/>
        </p:nvSpPr>
        <p:spPr>
          <a:xfrm>
            <a:off x="470550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heatmap"/>
          <p:cNvSpPr txBox="1"/>
          <p:nvPr/>
        </p:nvSpPr>
        <p:spPr>
          <a:xfrm>
            <a:off x="4870096" y="2577084"/>
            <a:ext cx="111378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heatmap</a:t>
            </a:r>
          </a:p>
        </p:txBody>
      </p:sp>
      <p:sp>
        <p:nvSpPr>
          <p:cNvPr id="28" name="!!term-small multiple">
            <a:extLst>
              <a:ext uri="{C183D7F6-B498-43B3-948B-1728B52AA6E4}">
                <adec:decorative xmlns:adec="http://schemas.microsoft.com/office/drawing/2017/decorative" val="1"/>
              </a:ext>
            </a:extLst>
          </p:cNvPr>
          <p:cNvSpPr/>
          <p:nvPr/>
        </p:nvSpPr>
        <p:spPr>
          <a:xfrm>
            <a:off x="6020453" y="2468880"/>
            <a:ext cx="18877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mall multiple">
            <a:extLst>
              <a:ext uri="{C183D7F6-B498-43B3-948B-1728B52AA6E4}">
                <adec:decorative xmlns:adec="http://schemas.microsoft.com/office/drawing/2017/decorative" val="1"/>
              </a:ext>
            </a:extLst>
          </p:cNvPr>
          <p:cNvSpPr/>
          <p:nvPr/>
        </p:nvSpPr>
        <p:spPr>
          <a:xfrm>
            <a:off x="614846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mall multiple"/>
          <p:cNvSpPr txBox="1"/>
          <p:nvPr/>
        </p:nvSpPr>
        <p:spPr>
          <a:xfrm>
            <a:off x="6313061" y="2577084"/>
            <a:ext cx="170484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small multiples</a:t>
            </a:r>
          </a:p>
        </p:txBody>
      </p:sp>
      <p:sp>
        <p:nvSpPr>
          <p:cNvPr id="31" name="!!term-multicollinear">
            <a:extLst>
              <a:ext uri="{C183D7F6-B498-43B3-948B-1728B52AA6E4}">
                <adec:decorative xmlns:adec="http://schemas.microsoft.com/office/drawing/2017/decorative" val="1"/>
              </a:ext>
            </a:extLst>
          </p:cNvPr>
          <p:cNvSpPr/>
          <p:nvPr/>
        </p:nvSpPr>
        <p:spPr>
          <a:xfrm>
            <a:off x="8054484" y="2468880"/>
            <a:ext cx="19881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ulticollinear">
            <a:extLst>
              <a:ext uri="{C183D7F6-B498-43B3-948B-1728B52AA6E4}">
                <adec:decorative xmlns:adec="http://schemas.microsoft.com/office/drawing/2017/decorative" val="1"/>
              </a:ext>
            </a:extLst>
          </p:cNvPr>
          <p:cNvSpPr/>
          <p:nvPr/>
        </p:nvSpPr>
        <p:spPr>
          <a:xfrm>
            <a:off x="81825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ulticollinear"/>
          <p:cNvSpPr txBox="1"/>
          <p:nvPr/>
        </p:nvSpPr>
        <p:spPr>
          <a:xfrm>
            <a:off x="8347092" y="2577084"/>
            <a:ext cx="180526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multicollinearity</a:t>
            </a:r>
          </a:p>
        </p:txBody>
      </p:sp>
      <p:sp>
        <p:nvSpPr>
          <p:cNvPr id="34" name="!!term-Simpson’s para">
            <a:extLst>
              <a:ext uri="{C183D7F6-B498-43B3-948B-1728B52AA6E4}">
                <adec:decorative xmlns:adec="http://schemas.microsoft.com/office/drawing/2017/decorative" val="1"/>
              </a:ext>
            </a:extLst>
          </p:cNvPr>
          <p:cNvSpPr/>
          <p:nvPr/>
        </p:nvSpPr>
        <p:spPr>
          <a:xfrm>
            <a:off x="658368" y="3090672"/>
            <a:ext cx="22693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impson’s para">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impson’s para"/>
          <p:cNvSpPr txBox="1"/>
          <p:nvPr/>
        </p:nvSpPr>
        <p:spPr>
          <a:xfrm>
            <a:off x="950976" y="3198876"/>
            <a:ext cx="208642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Simpson’s paradox</a:t>
            </a:r>
          </a:p>
        </p:txBody>
      </p:sp>
      <p:sp>
        <p:nvSpPr>
          <p:cNvPr id="37" name="!!term-data-ink">
            <a:extLst>
              <a:ext uri="{C183D7F6-B498-43B3-948B-1728B52AA6E4}">
                <adec:decorative xmlns:adec="http://schemas.microsoft.com/office/drawing/2017/decorative" val="1"/>
              </a:ext>
            </a:extLst>
          </p:cNvPr>
          <p:cNvSpPr/>
          <p:nvPr/>
        </p:nvSpPr>
        <p:spPr>
          <a:xfrm>
            <a:off x="3073974" y="3090672"/>
            <a:ext cx="12429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ata-ink">
            <a:extLst>
              <a:ext uri="{C183D7F6-B498-43B3-948B-1728B52AA6E4}">
                <adec:decorative xmlns:adec="http://schemas.microsoft.com/office/drawing/2017/decorative" val="1"/>
              </a:ext>
            </a:extLst>
          </p:cNvPr>
          <p:cNvSpPr/>
          <p:nvPr/>
        </p:nvSpPr>
        <p:spPr>
          <a:xfrm>
            <a:off x="320199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ata-ink"/>
          <p:cNvSpPr txBox="1"/>
          <p:nvPr/>
        </p:nvSpPr>
        <p:spPr>
          <a:xfrm>
            <a:off x="3366582" y="3198876"/>
            <a:ext cx="106004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data-ink</a:t>
            </a:r>
          </a:p>
        </p:txBody>
      </p:sp>
      <p:sp>
        <p:nvSpPr>
          <p:cNvPr id="40" name="!!term-dashboard">
            <a:extLst>
              <a:ext uri="{C183D7F6-B498-43B3-948B-1728B52AA6E4}">
                <adec:decorative xmlns:adec="http://schemas.microsoft.com/office/drawing/2017/decorative" val="1"/>
              </a:ext>
            </a:extLst>
          </p:cNvPr>
          <p:cNvSpPr/>
          <p:nvPr/>
        </p:nvSpPr>
        <p:spPr>
          <a:xfrm>
            <a:off x="4463205" y="3090672"/>
            <a:ext cx="14756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dashboard">
            <a:extLst>
              <a:ext uri="{C183D7F6-B498-43B3-948B-1728B52AA6E4}">
                <adec:decorative xmlns:adec="http://schemas.microsoft.com/office/drawing/2017/decorative" val="1"/>
              </a:ext>
            </a:extLst>
          </p:cNvPr>
          <p:cNvSpPr/>
          <p:nvPr/>
        </p:nvSpPr>
        <p:spPr>
          <a:xfrm>
            <a:off x="459122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dashboard"/>
          <p:cNvSpPr txBox="1"/>
          <p:nvPr/>
        </p:nvSpPr>
        <p:spPr>
          <a:xfrm>
            <a:off x="4755813" y="3198876"/>
            <a:ext cx="129272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dashboard</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49–54     </a:t>
            </a:r>
            <a:fld id="{8C8C36EF-E726-4C4F-BFFE-FC6EFF3B5F12}" type="slidenum">
              <a:rPr lang="en-GB" sz="1000">
                <a:solidFill>
                  <a:srgbClr val="8795A1"/>
                </a:solidFill>
                <a:latin typeface="Segoe UI"/>
              </a:rPr>
              <a:t>5</a:t>
            </a:fld>
          </a:p>
        </p:txBody>
      </p:sp>
      <p:sp>
        <p:nvSpPr>
          <p:cNvPr id="7" name="!!ag0" descr="Go to section 8.1 What EDA Is Fo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EDA Is For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49  ›</a:t>
            </a:r>
          </a:p>
        </p:txBody>
      </p:sp>
      <p:sp>
        <p:nvSpPr>
          <p:cNvPr id="12" name="!!ag1" descr="Go to section 8.2 Choosing the Right Char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the Right Chart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49  ›</a:t>
            </a:r>
          </a:p>
        </p:txBody>
      </p:sp>
      <p:sp>
        <p:nvSpPr>
          <p:cNvPr id="17" name="!!ag2" descr="Go to section 8.3 Bivariate Exploratio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Bivariate Exploration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50  ›</a:t>
            </a:r>
          </a:p>
        </p:txBody>
      </p:sp>
      <p:sp>
        <p:nvSpPr>
          <p:cNvPr id="22" name="!!ag3" descr="Go to section 8.4 The Third Variabl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Third Variable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51  ›</a:t>
            </a:r>
          </a:p>
        </p:txBody>
      </p:sp>
      <p:sp>
        <p:nvSpPr>
          <p:cNvPr id="27" name="!!ag4" descr="Go to section 8.5 Visualisation Anti-Pattern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Visualisation Anti-Patterns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51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EDA Is For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8.1   What EDA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Choosing the Right Chart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Bivariate Exploration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Third Variable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Visualisation Anti-Patterns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§8.1     </a:t>
            </a:r>
            <a:fld id="{F59C5DBA-1D80-4C46-95A1-D336932EF740}"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Exploratory Data Analysis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49     </a:t>
            </a:r>
            <a:fld id="{C814C67B-03F0-4910-94DB-5D7E516A8CCE}"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systematic use of summaries and graphics to understand a dataset’s structure, find its problems and generate hypotheses — </a:t>
            </a:r>
            <a:r>
              <a:rPr sz="2300" b="0" i="1">
                <a:solidFill>
                  <a:srgbClr val="1C252B"/>
                </a:solidFill>
                <a:latin typeface="Segoe UI"/>
              </a:rPr>
              <a:t>before</a:t>
            </a:r>
            <a:r>
              <a:rPr sz="2300" b="0" i="0">
                <a:solidFill>
                  <a:srgbClr val="1C252B"/>
                </a:solidFill>
                <a:latin typeface="Segoe UI"/>
              </a:rPr>
              <a:t> any model is fitted. Its output is not a chart; it is a list of things you now know and things you now suspect.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EDA Is For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49     </a:t>
            </a:r>
            <a:fld id="{5CFB6507-0B9F-48A5-B6BD-A26E9C631095}"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EDA answers four questions, in order:</a:t>
            </a:r>
          </a:p>
        </p:txBody>
      </p:sp>
      <p:sp>
        <p:nvSpPr>
          <p:cNvPr id="10" name="body-1"/>
          <p:cNvSpPr txBox="1"/>
          <p:nvPr/>
        </p:nvSpPr>
        <p:spPr>
          <a:xfrm>
            <a:off x="1060704" y="2573451"/>
            <a:ext cx="10161727" cy="2539669"/>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1A5276"/>
                </a:solidFill>
                <a:latin typeface="Segoe UI"/>
              </a:rPr>
              <a:t>1.	</a:t>
            </a:r>
            <a:r>
              <a:rPr sz="2300" b="0" i="0">
                <a:solidFill>
                  <a:srgbClr val="1C252B"/>
                </a:solidFill>
                <a:latin typeface="Segoe UI"/>
              </a:rPr>
              <a:t>What does each variable look like on its own? (distribution, outliers, missingness)</a:t>
            </a:r>
          </a:p>
          <a:p>
            <a:pPr algn="l" marL="554820" indent="-554820">
              <a:lnSpc>
                <a:spcPct val="104000"/>
              </a:lnSpc>
              <a:spcBef>
                <a:spcPts val="0"/>
              </a:spcBef>
              <a:spcAft>
                <a:spcPts val="804"/>
              </a:spcAft>
            </a:pPr>
            <a:r>
              <a:rPr sz="2300" b="1">
                <a:solidFill>
                  <a:srgbClr val="1A5276"/>
                </a:solidFill>
                <a:latin typeface="Segoe UI"/>
              </a:rPr>
              <a:t>2.	</a:t>
            </a:r>
            <a:r>
              <a:rPr sz="2300" b="0" i="0">
                <a:solidFill>
                  <a:srgbClr val="1C252B"/>
                </a:solidFill>
                <a:latin typeface="Segoe UI"/>
              </a:rPr>
              <a:t>How do pairs of variables relate? (correlation, group differences)</a:t>
            </a:r>
          </a:p>
          <a:p>
            <a:pPr algn="l" marL="554820" indent="-554820">
              <a:lnSpc>
                <a:spcPct val="104000"/>
              </a:lnSpc>
              <a:spcBef>
                <a:spcPts val="0"/>
              </a:spcBef>
              <a:spcAft>
                <a:spcPts val="804"/>
              </a:spcAft>
            </a:pPr>
            <a:r>
              <a:rPr sz="2300" b="1">
                <a:solidFill>
                  <a:srgbClr val="1A5276"/>
                </a:solidFill>
                <a:latin typeface="Segoe UI"/>
              </a:rPr>
              <a:t>3.	</a:t>
            </a:r>
            <a:r>
              <a:rPr sz="2300" b="0" i="0">
                <a:solidFill>
                  <a:srgbClr val="1C252B"/>
                </a:solidFill>
                <a:latin typeface="Segoe UI"/>
              </a:rPr>
              <a:t>Does anything change when a third variable is held constant? (confounding)</a:t>
            </a:r>
          </a:p>
          <a:p>
            <a:pPr algn="l" marL="554820" indent="-554820">
              <a:lnSpc>
                <a:spcPct val="104000"/>
              </a:lnSpc>
              <a:spcBef>
                <a:spcPts val="0"/>
              </a:spcBef>
              <a:spcAft>
                <a:spcPts val="0"/>
              </a:spcAft>
            </a:pPr>
            <a:r>
              <a:rPr sz="2300" b="1">
                <a:solidFill>
                  <a:srgbClr val="1A5276"/>
                </a:solidFill>
                <a:latin typeface="Segoe UI"/>
              </a:rPr>
              <a:t>4.	</a:t>
            </a:r>
            <a:r>
              <a:rPr sz="2300" b="0" i="0">
                <a:solidFill>
                  <a:srgbClr val="1C252B"/>
                </a:solidFill>
                <a:latin typeface="Segoe UI"/>
              </a:rPr>
              <a:t>Is anything here that should not be? (impossible values, leaks, duplicates)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 the Right Chart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What EDA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8.2   Choosing the Right Chart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Bivariate Exploration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Third Variable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Visualisation Anti-Patterns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§8.2     </a:t>
            </a:r>
            <a:fld id="{93F558D6-103A-4480-A33D-5592B5938329}"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Chart selection by variable type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49     </a:t>
            </a:r>
            <a:fld id="{42F707ED-3A64-4D2D-98FC-BD43EB5BB10F}" type="slidenum">
              <a:rPr lang="en-GB" sz="1000">
                <a:solidFill>
                  <a:srgbClr val="8795A1"/>
                </a:solidFill>
                <a:latin typeface="Segoe UI"/>
              </a:rPr>
              <a:t>10</a:t>
            </a:fld>
          </a:p>
        </p:txBody>
      </p:sp>
      <p:pic>
        <p:nvPicPr>
          <p:cNvPr id="6" name="!!figure" descr="Figure 8.1. Chart selection by variable type. Almost every “which chart should I use?” question is answered by identifying the types involved and reading off this gri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8194" y="1737360"/>
            <a:ext cx="1073530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Almost every “which chart should I use?” question is answered by identifying the types involved and reading off this grid.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Not a Pie Chart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49     </a:t>
            </a:r>
            <a:fld id="{052B6D71-4F27-4738-AC7E-ECE96BFF5C2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Humans compare lengths accurately and angles badly. A bar chart lets a reader rank six categories at a glance; a pie chart of the same data does not. Reserve pies for the one case they handle well: two or three parts of an obvious whole.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Bivariate Exploration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What EDA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Choosing the Right Chart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8.3   Bivariate Exploration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Third Variable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Visualisation Anti-Patterns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§8.3     </a:t>
            </a:r>
            <a:fld id="{45F3D323-069A-44DA-9EED-422945AA2EA9}"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scatterplots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50     </a:t>
            </a:r>
            <a:fld id="{2224280F-3B09-468F-B61F-ABC2FD743E60}" type="slidenum">
              <a:rPr lang="en-GB" sz="1000">
                <a:solidFill>
                  <a:srgbClr val="8795A1"/>
                </a:solidFill>
                <a:latin typeface="Segoe UI"/>
              </a:rPr>
              <a:t>13</a:t>
            </a:fld>
          </a:p>
        </p:txBody>
      </p:sp>
      <p:pic>
        <p:nvPicPr>
          <p:cNvPr id="6" name="!!figure" descr="Figure 8.2. Four scatterplots. The second has a perfect relationship and a correlation near zero; the fourth has a correlation near 0.9 created entirely by one point. This is why you plot the data before trusting any correlation coeffici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72143"/>
            <a:ext cx="10874959" cy="239888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second has a perfect relationship and a correlation near zero; the fourth has a correlation near 0.9 created entirely by one point. This is why you plot the data before trusting any correlation coefficient.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Pearson Correlation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50     </a:t>
            </a:r>
            <a:fld id="{2D0E7CE3-5853-463B-A90E-E36AEC8CE437}"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r</a:t>
            </a:r>
            <a:r>
              <a:rPr sz="2300" b="0" i="0">
                <a:solidFill>
                  <a:srgbClr val="1C252B"/>
                </a:solidFill>
                <a:latin typeface="Segoe UI"/>
              </a:rPr>
              <a:t> measures the strength and direction of a </a:t>
            </a:r>
            <a:r>
              <a:rPr sz="2300" b="0" i="1">
                <a:solidFill>
                  <a:srgbClr val="1C252B"/>
                </a:solidFill>
                <a:latin typeface="Segoe UI"/>
              </a:rPr>
              <a:t>linear</a:t>
            </a:r>
            <a:r>
              <a:rPr sz="2300" b="0" i="0">
                <a:solidFill>
                  <a:srgbClr val="1C252B"/>
                </a:solidFill>
                <a:latin typeface="Segoe UI"/>
              </a:rPr>
              <a:t> relationship, on a scale from </a:t>
            </a:r>
            <a:r>
              <a:rPr sz="2300" b="0" i="0">
                <a:solidFill>
                  <a:srgbClr val="1C252B"/>
                </a:solidFill>
                <a:latin typeface="Cambria"/>
              </a:rPr>
              <a:t>−1</a:t>
            </a:r>
            <a:r>
              <a:rPr sz="2300" b="0" i="0">
                <a:solidFill>
                  <a:srgbClr val="1C252B"/>
                </a:solidFill>
                <a:latin typeface="Segoe UI"/>
              </a:rPr>
              <a:t> to </a:t>
            </a:r>
            <a:r>
              <a:rPr sz="2300" b="0" i="0">
                <a:solidFill>
                  <a:srgbClr val="1C252B"/>
                </a:solidFill>
                <a:latin typeface="Cambria"/>
              </a:rPr>
              <a:t>+1</a:t>
            </a:r>
            <a:r>
              <a:rPr sz="2300" b="0" i="0">
                <a:solidFill>
                  <a:srgbClr val="1C252B"/>
                </a:solidFill>
                <a:latin typeface="Segoe UI"/>
              </a:rPr>
              <a:t>. Zero means no </a:t>
            </a:r>
            <a:r>
              <a:rPr sz="2300" b="0" i="1">
                <a:solidFill>
                  <a:srgbClr val="1C252B"/>
                </a:solidFill>
                <a:latin typeface="Segoe UI"/>
              </a:rPr>
              <a:t>linear</a:t>
            </a:r>
            <a:r>
              <a:rPr sz="2300" b="0" i="0">
                <a:solidFill>
                  <a:srgbClr val="1C252B"/>
                </a:solidFill>
                <a:latin typeface="Segoe UI"/>
              </a:rPr>
              <a:t> relationship — it does not mean no relationship, as Figure 8.2 shows.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 Correlation Matrix</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50     </a:t>
            </a:r>
            <a:fld id="{A18B89FF-F89E-4180-A083-01F43EE7855C}"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9503"/>
          </a:xfrm>
          <a:prstGeom prst="roundRect">
            <a:avLst>
              <a:gd name="adj" fmla="val 20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950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engagement dataset gives these correlations with the target </a:t>
            </a:r>
            <a:r>
              <a:rPr sz="1800" b="0" i="0">
                <a:solidFill>
                  <a:srgbClr val="1F4E79"/>
                </a:solidFill>
                <a:latin typeface="Consolas"/>
              </a:rPr>
              <a:t>final_mark</a:t>
            </a:r>
            <a:r>
              <a:rPr sz="1900" b="0" i="0">
                <a:solidFill>
                  <a:srgbClr val="1C252B"/>
                </a:solidFill>
                <a:latin typeface="Segoe UI"/>
              </a:rPr>
              <a:t>:</a:t>
            </a:r>
          </a:p>
        </p:txBody>
      </p:sp>
      <p:graphicFrame>
        <p:nvGraphicFramePr>
          <p:cNvPr id="10" name="body-1"/>
          <p:cNvGraphicFramePr>
            <a:graphicFrameLocks noGrp="1"/>
          </p:cNvGraphicFramePr>
          <p:nvPr/>
        </p:nvGraphicFramePr>
        <p:xfrm>
          <a:off x="1042416" y="2445537"/>
          <a:ext cx="5197021" cy="2340864"/>
        </p:xfrm>
        <a:graphic>
          <a:graphicData uri="http://schemas.openxmlformats.org/drawingml/2006/table">
            <a:tbl>
              <a:tblPr firstRow="0" bandRow="0" firstCol="0" lastRow="0" lastCol="0" bandCol="0">
                <a:tableStyleId>{2D5ABB26-0587-4C30-8999-92F81FD0307C}</a:tableStyleId>
              </a:tblPr>
              <a:tblGrid>
                <a:gridCol w="1821412"/>
                <a:gridCol w="1394118"/>
                <a:gridCol w="1981491"/>
              </a:tblGrid>
              <a:tr h="390144">
                <a:tc>
                  <a:txBody>
                    <a:bodyPr wrap="square"/>
                    <a:lstStyle/>
                    <a:p>
                      <a:pPr algn="l"/>
                      <a:r>
                        <a:rPr sz="1600" b="1" i="0">
                          <a:solidFill>
                            <a:srgbClr val="1A5276"/>
                          </a:solidFill>
                          <a:latin typeface="Segoe UI"/>
                        </a:rPr>
                        <a:t>Feature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1">
                          <a:solidFill>
                            <a:srgbClr val="1A5276"/>
                          </a:solidFill>
                          <a:latin typeface="Cambria"/>
                        </a:rPr>
                        <a:t>r</a:t>
                      </a:r>
                      <a:r>
                        <a:rPr sz="1600" b="1" i="0">
                          <a:solidFill>
                            <a:srgbClr val="1A5276"/>
                          </a:solidFill>
                          <a:latin typeface="Segoe UI"/>
                        </a:rPr>
                        <a:t> with mark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1">
                          <a:solidFill>
                            <a:srgbClr val="1A5276"/>
                          </a:solidFill>
                          <a:latin typeface="Cambria"/>
                        </a:rPr>
                        <a:t>r</a:t>
                      </a:r>
                      <a:r>
                        <a:rPr sz="1600" b="1" i="0">
                          <a:solidFill>
                            <a:srgbClr val="1A5276"/>
                          </a:solidFill>
                          <a:latin typeface="Segoe UI"/>
                        </a:rPr>
                        <a:t> with attendance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attendance_pct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0.62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lectures_watched</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0.58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quizzes_done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0.55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0.41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forum_posts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0.21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0.18</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days_since_login</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Cambria"/>
                        </a:rPr>
                        <a:t>−0.49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Cambria"/>
                        </a:rPr>
                        <a:t>−0.73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91911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1 — predictive strength.</a:t>
            </a:r>
            <a:r>
              <a:rPr sz="1900" b="0" i="0">
                <a:solidFill>
                  <a:srgbClr val="1C252B"/>
                </a:solidFill>
                <a:latin typeface="Segoe UI"/>
              </a:rPr>
              <a:t> Attendance is the strongest single predictor at </a:t>
            </a:r>
            <a:r>
              <a:rPr sz="1900" b="0" i="1">
                <a:solidFill>
                  <a:srgbClr val="1C252B"/>
                </a:solidFill>
                <a:latin typeface="Cambria"/>
              </a:rPr>
              <a:t>r</a:t>
            </a:r>
            <a:r>
              <a:rPr sz="1900" b="0" i="0">
                <a:solidFill>
                  <a:srgbClr val="1C252B"/>
                </a:solidFill>
                <a:latin typeface="Cambria"/>
              </a:rPr>
              <a:t> = 0.62</a:t>
            </a:r>
            <a:r>
              <a:rPr sz="1900" b="0" i="0">
                <a:solidFill>
                  <a:srgbClr val="1C252B"/>
                </a:solidFill>
                <a:latin typeface="Segoe UI"/>
              </a:rPr>
              <a:t>. Squaring it, </a:t>
            </a:r>
            <a:r>
              <a:rPr sz="1900" b="0" i="1">
                <a:solidFill>
                  <a:srgbClr val="1C252B"/>
                </a:solidFill>
                <a:latin typeface="Cambria"/>
              </a:rPr>
              <a:t>r</a:t>
            </a:r>
            <a:r>
              <a:rPr sz="1900" b="0" i="0" baseline="30000">
                <a:solidFill>
                  <a:srgbClr val="1C252B"/>
                </a:solidFill>
                <a:latin typeface="Cambria"/>
              </a:rPr>
              <a:t>2</a:t>
            </a:r>
            <a:r>
              <a:rPr sz="1900" b="0" i="0">
                <a:solidFill>
                  <a:srgbClr val="1C252B"/>
                </a:solidFill>
                <a:latin typeface="Cambria"/>
              </a:rPr>
              <a:t> = 0.38</a:t>
            </a:r>
            <a:r>
              <a:rPr sz="1900" b="0" i="0">
                <a:solidFill>
                  <a:srgbClr val="1C252B"/>
                </a:solidFill>
                <a:latin typeface="Segoe UI"/>
              </a:rPr>
              <a:t>: attendance alone accounts for about 38% of the variation in marks. Useful, but 62% is elsewhere.</a:t>
            </a:r>
          </a:p>
        </p:txBody>
      </p:sp>
      <p:sp>
        <p:nvSpPr>
          <p:cNvPr id="12" name="body-2bar">
            <a:extLst>
              <a:ext uri="{C183D7F6-B498-43B3-948B-1728B52AA6E4}">
                <adec:decorative xmlns:adec="http://schemas.microsoft.com/office/drawing/2017/decorative" val="1"/>
              </a:ext>
            </a:extLst>
          </p:cNvPr>
          <p:cNvSpPr/>
          <p:nvPr/>
        </p:nvSpPr>
        <p:spPr>
          <a:xfrm>
            <a:off x="841248" y="4937404"/>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 Correlation Matrix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50     </a:t>
            </a:r>
            <a:fld id="{14198A51-1E54-4B12-BA21-044CB2B3415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2 — multicollinearity.</a:t>
            </a:r>
            <a:r>
              <a:rPr sz="1900" b="0" i="0">
                <a:solidFill>
                  <a:srgbClr val="1C252B"/>
                </a:solidFill>
                <a:latin typeface="Segoe UI"/>
              </a:rPr>
              <a:t> </a:t>
            </a:r>
            <a:r>
              <a:rPr sz="1800" b="0" i="0">
                <a:solidFill>
                  <a:srgbClr val="1F4E79"/>
                </a:solidFill>
                <a:latin typeface="Consolas"/>
              </a:rPr>
              <a:t>attendance_pct</a:t>
            </a:r>
            <a:r>
              <a:rPr sz="1900" b="0" i="0">
                <a:solidFill>
                  <a:srgbClr val="1C252B"/>
                </a:solidFill>
                <a:latin typeface="Segoe UI"/>
              </a:rPr>
              <a:t> and </a:t>
            </a:r>
            <a:r>
              <a:rPr sz="1800" b="0" i="0">
                <a:solidFill>
                  <a:srgbClr val="1F4E79"/>
                </a:solidFill>
                <a:latin typeface="Consolas"/>
              </a:rPr>
              <a:t>lectures_watched</a:t>
            </a:r>
            <a:r>
              <a:rPr sz="1900" b="0" i="0">
                <a:solidFill>
                  <a:srgbClr val="1C252B"/>
                </a:solidFill>
                <a:latin typeface="Segoe UI"/>
              </a:rPr>
              <a:t> correlate at 0.94 with </a:t>
            </a:r>
            <a:r>
              <a:rPr sz="1900" b="0" i="1">
                <a:solidFill>
                  <a:srgbClr val="1C252B"/>
                </a:solidFill>
                <a:latin typeface="Segoe UI"/>
              </a:rPr>
              <a:t>each other</a:t>
            </a:r>
            <a:r>
              <a:rPr sz="1900" b="0" i="0">
                <a:solidFill>
                  <a:srgbClr val="1C252B"/>
                </a:solidFill>
                <a:latin typeface="Segoe UI"/>
              </a:rPr>
              <a:t>. They are nearly the same variable measured twice. Including both adds almost no information and makes the coefficients of a linear model unstable and uninterpretable (Chapter 12). Keep one.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3 — the weak feature.</a:t>
            </a:r>
            <a:r>
              <a:rPr sz="1900" b="0" i="0">
                <a:solidFill>
                  <a:srgbClr val="1C252B"/>
                </a:solidFill>
                <a:latin typeface="Segoe UI"/>
              </a:rPr>
              <a:t> </a:t>
            </a:r>
            <a:r>
              <a:rPr sz="1800" b="0" i="0">
                <a:solidFill>
                  <a:srgbClr val="1F4E79"/>
                </a:solidFill>
                <a:latin typeface="Consolas"/>
              </a:rPr>
              <a:t>forum_posts</a:t>
            </a:r>
            <a:r>
              <a:rPr sz="1900" b="0" i="0">
                <a:solidFill>
                  <a:srgbClr val="1C252B"/>
                </a:solidFill>
                <a:latin typeface="Segoe UI"/>
              </a:rPr>
              <a:t> at </a:t>
            </a:r>
            <a:r>
              <a:rPr sz="1900" b="0" i="1">
                <a:solidFill>
                  <a:srgbClr val="1C252B"/>
                </a:solidFill>
                <a:latin typeface="Cambria"/>
              </a:rPr>
              <a:t>r</a:t>
            </a:r>
            <a:r>
              <a:rPr sz="1900" b="0" i="0">
                <a:solidFill>
                  <a:srgbClr val="1C252B"/>
                </a:solidFill>
                <a:latin typeface="Cambria"/>
              </a:rPr>
              <a:t> = 0.21</a:t>
            </a:r>
            <a:r>
              <a:rPr sz="1900" b="0" i="0">
                <a:solidFill>
                  <a:srgbClr val="1C252B"/>
                </a:solidFill>
                <a:latin typeface="Segoe UI"/>
              </a:rPr>
              <a:t> looks negligible. Do not drop it yet: correlation only sees linear effects, and a feature that is weak alone can be valuable in combination (Chapter 15).</a:t>
            </a:r>
          </a:p>
        </p:txBody>
      </p:sp>
      <p:sp>
        <p:nvSpPr>
          <p:cNvPr id="12" name="body-1bar">
            <a:extLst>
              <a:ext uri="{C183D7F6-B498-43B3-948B-1728B52AA6E4}">
                <adec:decorative xmlns:adec="http://schemas.microsoft.com/office/drawing/2017/decorative" val="1"/>
              </a:ext>
            </a:extLst>
          </p:cNvPr>
          <p:cNvSpPr/>
          <p:nvPr/>
        </p:nvSpPr>
        <p:spPr>
          <a:xfrm>
            <a:off x="841248" y="336725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385106"/>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4 — sign.</a:t>
            </a:r>
            <a:r>
              <a:rPr sz="1900" b="0" i="0">
                <a:solidFill>
                  <a:srgbClr val="1C252B"/>
                </a:solidFill>
                <a:latin typeface="Segoe UI"/>
              </a:rPr>
              <a:t> </a:t>
            </a:r>
            <a:r>
              <a:rPr sz="1800" b="0" i="0">
                <a:solidFill>
                  <a:srgbClr val="1F4E79"/>
                </a:solidFill>
                <a:latin typeface="Consolas"/>
              </a:rPr>
              <a:t>days_since_login</a:t>
            </a:r>
            <a:r>
              <a:rPr sz="1900" b="0" i="0">
                <a:solidFill>
                  <a:srgbClr val="1C252B"/>
                </a:solidFill>
                <a:latin typeface="Segoe UI"/>
              </a:rPr>
              <a:t> is negative, as it should be. A positive sign here would have signalled a data error worth chasing.</a:t>
            </a:r>
          </a:p>
        </p:txBody>
      </p:sp>
      <p:sp>
        <p:nvSpPr>
          <p:cNvPr id="14" name="body-2bar">
            <a:extLst>
              <a:ext uri="{C183D7F6-B498-43B3-948B-1728B52AA6E4}">
                <adec:decorative xmlns:adec="http://schemas.microsoft.com/office/drawing/2017/decorative" val="1"/>
              </a:ext>
            </a:extLst>
          </p:cNvPr>
          <p:cNvSpPr/>
          <p:nvPr/>
        </p:nvSpPr>
        <p:spPr>
          <a:xfrm>
            <a:off x="841248" y="4403394"/>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Third Variable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What EDA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Choosing the Right Chart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Bivariate Exploration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8.4   The Third Variable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Visualisation Anti-Patterns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§8.4     </a:t>
            </a:r>
            <a:fld id="{854C0CC1-0BCC-4CDE-BBBE-17914EDAA91B}"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Simpson’s Paradox</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51     </a:t>
            </a:r>
            <a:fld id="{5634ABE0-6DF2-4B7E-856D-9EA3E27FA06E}"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relationship visible in aggregated data can </a:t>
            </a:r>
            <a:r>
              <a:rPr sz="2300" b="0" i="1">
                <a:solidFill>
                  <a:srgbClr val="1C252B"/>
                </a:solidFill>
                <a:latin typeface="Segoe UI"/>
              </a:rPr>
              <a:t>reverse</a:t>
            </a:r>
            <a:r>
              <a:rPr sz="2300" b="0" i="0">
                <a:solidFill>
                  <a:srgbClr val="1C252B"/>
                </a:solidFill>
                <a:latin typeface="Segoe UI"/>
              </a:rPr>
              <a:t> when the data is split by a third variable. A university may show that students who use the online tutorials score </a:t>
            </a:r>
            <a:r>
              <a:rPr sz="2300" b="0" i="1">
                <a:solidFill>
                  <a:srgbClr val="1C252B"/>
                </a:solidFill>
                <a:latin typeface="Segoe UI"/>
              </a:rPr>
              <a:t>lower</a:t>
            </a:r>
            <a:r>
              <a:rPr sz="2300" b="0" i="0">
                <a:solidFill>
                  <a:srgbClr val="1C252B"/>
                </a:solidFill>
                <a:latin typeface="Segoe UI"/>
              </a:rPr>
              <a:t> overall — while within every individual programme, tutorial users score higher. The aggregate is dominated by the fact that harder programmes both recommend tutorials more and mark more severely.</a:t>
            </a:r>
          </a:p>
        </p:txBody>
      </p:sp>
      <p:sp>
        <p:nvSpPr>
          <p:cNvPr id="10" name="body-1"/>
          <p:cNvSpPr txBox="1"/>
          <p:nvPr/>
        </p:nvSpPr>
        <p:spPr>
          <a:xfrm>
            <a:off x="1060704" y="43961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practical instruction: whenever you show a relationship, ask what the obvious grouping variable is, and re-plot within groups before you present it. Chapter 10 treats this properly as confounding.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Simpson’s paradox</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51     </a:t>
            </a:r>
            <a:fld id="{E5B2F53C-EEF5-4B0E-8758-BE57E3C93029}" type="slidenum">
              <a:rPr lang="en-GB" sz="1000">
                <a:solidFill>
                  <a:srgbClr val="8795A1"/>
                </a:solidFill>
                <a:latin typeface="Segoe UI"/>
              </a:rPr>
              <a:t>19</a:t>
            </a:fld>
          </a:p>
        </p:txBody>
      </p:sp>
      <p:pic>
        <p:nvPicPr>
          <p:cNvPr id="6" name="!!figure" descr="Figure 8.3. Simpson’s paradox. The same points, plotted twice. Aggregated, tutorial use appears to lower marks; within each programme it raises them. Programme is a confounder — students on the harder programme use tutorials more and score lower for unrelated reason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7138" y="1737360"/>
            <a:ext cx="9377417"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same points, plotted twice. Aggregated, tutorial use appears to lower marks; within each programme it raises them. Programme is a confounder — students on the harder programme use tutorials more and score lower for unrelated reasons.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Visualisation Anti-Patterns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What EDA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Choosing the Right Chart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Bivariate Exploration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Third Variable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8.5   Visualisation Anti-Patterns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§8.5     </a:t>
            </a:r>
            <a:fld id="{9F26C0E2-FC68-487F-AB4A-026E8395B988}" type="slidenum">
              <a:rPr lang="en-GB" sz="1000">
                <a:solidFill>
                  <a:srgbClr val="8795A1"/>
                </a:solidFill>
                <a:latin typeface="Segoe UI"/>
              </a:rPr>
              <a:t>20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Visualisation Anti-Patterns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8B7A1115-F75D-4709-AC13-17336A7CF837}"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8" cy="4142232"/>
        </p:xfrm>
        <a:graphic>
          <a:graphicData uri="http://schemas.openxmlformats.org/drawingml/2006/table">
            <a:tbl>
              <a:tblPr firstRow="0" bandRow="0" firstCol="0" lastRow="0" lastCol="0" bandCol="0">
                <a:tableStyleId>{2D5ABB26-0587-4C30-8999-92F81FD0307C}</a:tableStyleId>
              </a:tblPr>
              <a:tblGrid>
                <a:gridCol w="3149988"/>
                <a:gridCol w="3899985"/>
                <a:gridCol w="3824985"/>
              </a:tblGrid>
              <a:tr h="374904">
                <a:tc>
                  <a:txBody>
                    <a:bodyPr wrap="square"/>
                    <a:lstStyle/>
                    <a:p>
                      <a:pPr algn="l"/>
                      <a:r>
                        <a:rPr sz="1500" b="1" i="0">
                          <a:solidFill>
                            <a:srgbClr val="1A5276"/>
                          </a:solidFill>
                          <a:latin typeface="Segoe UI"/>
                        </a:rPr>
                        <a:t>Anti-pattern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The distortion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The fix</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Truncated </a:t>
                      </a:r>
                      <a:r>
                        <a:rPr sz="1500" b="0" i="1">
                          <a:solidFill>
                            <a:srgbClr val="1C252B"/>
                          </a:solidFill>
                          <a:latin typeface="Cambria"/>
                        </a:rPr>
                        <a:t>y</a:t>
                      </a:r>
                      <a:r>
                        <a:rPr sz="1500" b="0" i="0">
                          <a:solidFill>
                            <a:srgbClr val="1C252B"/>
                          </a:solidFill>
                          <a:latin typeface="Segoe UI"/>
                        </a:rPr>
                        <a:t>-axis on a bar chart</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Bar length no longer encodes value; a 2% change looks like a doubling</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Bars must start at zero. Use a line chart if you need to zoom</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Dual </a:t>
                      </a:r>
                      <a:r>
                        <a:rPr sz="1500" b="0" i="1">
                          <a:solidFill>
                            <a:srgbClr val="1C252B"/>
                          </a:solidFill>
                          <a:latin typeface="Cambria"/>
                        </a:rPr>
                        <a:t>y</a:t>
                      </a:r>
                      <a:r>
                        <a:rPr sz="1500" b="0" i="0">
                          <a:solidFill>
                            <a:srgbClr val="1C252B"/>
                          </a:solidFill>
                          <a:latin typeface="Segoe UI"/>
                        </a:rPr>
                        <a:t>-axes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The apparent correlation depends entirely on where you set the two scales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Two stacked panels sharing an </a:t>
                      </a:r>
                      <a:r>
                        <a:rPr sz="1500" b="0" i="1">
                          <a:solidFill>
                            <a:srgbClr val="1C252B"/>
                          </a:solidFill>
                          <a:latin typeface="Cambria"/>
                        </a:rPr>
                        <a:t>x</a:t>
                      </a:r>
                      <a:r>
                        <a:rPr sz="1500" b="0" i="0">
                          <a:solidFill>
                            <a:srgbClr val="1C252B"/>
                          </a:solidFill>
                          <a:latin typeface="Segoe UI"/>
                        </a:rPr>
                        <a:t>-axis</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3-D effects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Perspective makes near bars look larger</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Never use them</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Rainbow colour scale</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Not perceptually uniform; invents boundaries that are not in the data</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Sequential (light-to-dark) for magnitude, diverging for signed</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Red/green as the only cue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Invisible to about 1 in 12 men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Add shape or position; use blue/orange</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Too many lines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Above five series nothing is legible</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Small multiples, or highlight one and grey the rest</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Averaging away the shape</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A single mean hides bimodality entirely</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Show the distribution: histogram, boxplot or strip plot</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Test for Any Chart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182DCAD9-D651-4428-BE6E-503DC2D24AA8}"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Cover the title and hand it to a colleague. If they cannot state the main message in one sentence within about ten seconds, the chart is not finished. This test catches more problems than any style guide.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Exploratory Analysis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FF499DBD-4CD3-493A-95CE-3D44113A7669}"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Plot engagement over the weeks of the semester as one line per student, faintly, with the cohort median in bold — the “spaghetti plot”.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Plot estimated against actual effort as a scatterplot with the </a:t>
            </a:r>
            <a:r>
              <a:rPr sz="2300" b="0" i="1">
                <a:solidFill>
                  <a:srgbClr val="1C252B"/>
                </a:solidFill>
                <a:latin typeface="Cambria"/>
              </a:rPr>
              <a:t>y</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Segoe UI"/>
              </a:rPr>
              <a:t> line drawn.</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400 devices you cannot plot 400 lines.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Log-scale nearly everything — counts of events per source are long-tailed, and a linear axis renders all but the largest invisible.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Exploratory Analysis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4121B786-72BC-4D82-A8D6-18284D97E07C}"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Plot engagement over the weeks of the semester as one line per student, faintly, with the cohort median in bold — the “spaghetti plot”. The </a:t>
            </a:r>
            <a:r>
              <a:rPr sz="2200" b="0" i="1">
                <a:solidFill>
                  <a:srgbClr val="1C252B"/>
                </a:solidFill>
                <a:latin typeface="Segoe UI"/>
              </a:rPr>
              <a:t>shape</a:t>
            </a:r>
            <a:r>
              <a:rPr sz="2200" b="0" i="0">
                <a:solidFill>
                  <a:srgbClr val="1C252B"/>
                </a:solidFill>
                <a:latin typeface="Segoe UI"/>
              </a:rPr>
              <a:t> of individual disengagement (a cliff in week 5 versus a slow decline) is invisible in any average and is exactly what the intervention design needs. Always split by programme before presenting: Simpson’s paradox is endemic in education data.</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Exploratory Analysis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B859F933-5216-490C-96E8-D4EF4F7E8DAC}"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Plot estimated against actual effort as a scatterplot with the </a:t>
            </a:r>
            <a:r>
              <a:rPr sz="2200" b="0" i="1">
                <a:solidFill>
                  <a:srgbClr val="1C252B"/>
                </a:solidFill>
                <a:latin typeface="Cambria"/>
              </a:rPr>
              <a:t>y</a:t>
            </a:r>
            <a:r>
              <a:rPr sz="2200" b="0" i="0">
                <a:solidFill>
                  <a:srgbClr val="1C252B"/>
                </a:solidFill>
                <a:latin typeface="Cambria"/>
              </a:rPr>
              <a:t>=</a:t>
            </a:r>
            <a:r>
              <a:rPr sz="2200" b="0" i="1">
                <a:solidFill>
                  <a:srgbClr val="1C252B"/>
                </a:solidFill>
                <a:latin typeface="Cambria"/>
              </a:rPr>
              <a:t>x</a:t>
            </a:r>
            <a:r>
              <a:rPr sz="2200" b="0" i="0">
                <a:solidFill>
                  <a:srgbClr val="1C252B"/>
                </a:solidFill>
                <a:latin typeface="Segoe UI"/>
              </a:rPr>
              <a:t> line drawn. The systematic gap above that line </a:t>
            </a:r>
            <a:r>
              <a:rPr sz="2200" b="0" i="1">
                <a:solidFill>
                  <a:srgbClr val="1C252B"/>
                </a:solidFill>
                <a:latin typeface="Segoe UI"/>
              </a:rPr>
              <a:t>is</a:t>
            </a:r>
            <a:r>
              <a:rPr sz="2200" b="0" i="0">
                <a:solidFill>
                  <a:srgbClr val="1C252B"/>
                </a:solidFill>
                <a:latin typeface="Segoe UI"/>
              </a:rPr>
              <a:t> the estimation bias, and it is far more persuasive to a team than any summary statistic. A cumulative flow diagram shows where work piles up; a burn-down chart alone does not.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Exploratory Analysis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86F05FF6-A056-4FA0-9A8D-4C84E29C755F}"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400 devices you cannot plot 400 lines. Use a heatmap of device </a:t>
            </a:r>
            <a:r>
              <a:rPr sz="2200" b="0" i="0">
                <a:solidFill>
                  <a:srgbClr val="1C252B"/>
                </a:solidFill>
                <a:latin typeface="Cambria"/>
              </a:rPr>
              <a:t>×</a:t>
            </a:r>
            <a:r>
              <a:rPr sz="2200" b="0" i="0">
                <a:solidFill>
                  <a:srgbClr val="1C252B"/>
                </a:solidFill>
                <a:latin typeface="Segoe UI"/>
              </a:rPr>
              <a:t> time with colour as the reading: a failing sensor appears as a stripe, a site-wide outage as a vertical band. This one chart replaces 400 line charts and reveals patterns none of them would show individually.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Exploratory Analysis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18429EDD-AB2E-4548-AC22-6939850F908F}"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Log-scale nearly everything — counts of events per source are long-tailed, and a linear axis renders all but the largest invisible. Plot volume by hour of day to establish the normal diurnal rhythm, because </a:t>
            </a:r>
            <a:r>
              <a:rPr sz="2200" b="0" i="1">
                <a:solidFill>
                  <a:srgbClr val="1C252B"/>
                </a:solidFill>
                <a:latin typeface="Segoe UI"/>
              </a:rPr>
              <a:t>deviation from the rhythm</a:t>
            </a:r>
            <a:r>
              <a:rPr sz="2200" b="0" i="0">
                <a:solidFill>
                  <a:srgbClr val="1C252B"/>
                </a:solidFill>
                <a:latin typeface="Segoe UI"/>
              </a:rPr>
              <a:t> is more informative than raw volume. Never truncate an axis on a security chart: it is how a small anomaly is made to look like a crisis, and how a real one gets missed.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65FBDD98-ACFA-4195-B66E-785D1DD136CE}" type="slidenum">
              <a:rPr lang="en-GB" sz="1000">
                <a:solidFill>
                  <a:srgbClr val="8795A1"/>
                </a:solidFill>
                <a:latin typeface="Segoe UI"/>
              </a:rPr>
              <a:t>28</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Univariate: shape of every numeric column</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Bivariate: relationships and multicollinearity</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The third variable: always check before presenting</a:t>
            </a:r>
          </a:p>
        </p:txBody>
      </p:sp>
      <p:sp>
        <p:nvSpPr>
          <p:cNvPr id="1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5: Standard EDA pass</a:t>
            </a:r>
          </a:p>
        </p:txBody>
      </p:sp>
      <p:sp>
        <p:nvSpPr>
          <p:cNvPr id="2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2 listings, 29 lines of Python, R</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8EC1C5C9-4737-4B7D-9A62-691BD4DCECD0}"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matplotlib.pyplot as plt, seaborn as sns df = pd.read_csv(&quot;students.csv&quot;)"/>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pandas</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pd</a:t>
            </a:r>
            <a:r>
              <a:rPr sz="2000" i="0">
                <a:solidFill>
                  <a:srgbClr val="AEB6BF"/>
                </a:solidFill>
                <a:latin typeface="Consolas"/>
              </a:rPr>
              <a:t>,</a:t>
            </a:r>
            <a:r>
              <a:rPr sz="2000" i="0">
                <a:solidFill>
                  <a:srgbClr val="E8EDF2"/>
                </a:solidFill>
                <a:latin typeface="Consolas"/>
              </a:rPr>
              <a:t> </a:t>
            </a:r>
            <a:r>
              <a:rPr sz="2000" i="0">
                <a:solidFill>
                  <a:srgbClr val="76D7C4"/>
                </a:solidFill>
                <a:latin typeface="Consolas"/>
              </a:rPr>
              <a:t>matplotlib</a:t>
            </a:r>
            <a:r>
              <a:rPr sz="2000" i="0">
                <a:solidFill>
                  <a:srgbClr val="76D7C4"/>
                </a:solidFill>
                <a:latin typeface="Consolas"/>
              </a:rPr>
              <a:t>.</a:t>
            </a:r>
            <a:r>
              <a:rPr sz="2000" i="0">
                <a:solidFill>
                  <a:srgbClr val="76D7C4"/>
                </a:solidFill>
                <a:latin typeface="Consolas"/>
              </a:rPr>
              <a:t>pyplot</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plt</a:t>
            </a:r>
            <a:r>
              <a:rPr sz="2000" i="0">
                <a:solidFill>
                  <a:srgbClr val="AEB6BF"/>
                </a:solidFill>
                <a:latin typeface="Consolas"/>
              </a:rPr>
              <a:t>,</a:t>
            </a:r>
            <a:r>
              <a:rPr sz="2000" i="0">
                <a:solidFill>
                  <a:srgbClr val="E8EDF2"/>
                </a:solidFill>
                <a:latin typeface="Consolas"/>
              </a:rPr>
              <a:t> </a:t>
            </a:r>
            <a:r>
              <a:rPr sz="2000" i="0">
                <a:solidFill>
                  <a:srgbClr val="76D7C4"/>
                </a:solidFill>
                <a:latin typeface="Consolas"/>
              </a:rPr>
              <a:t>seaborn</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sns</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df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pd</a:t>
            </a:r>
            <a:r>
              <a:rPr sz="2000" i="0">
                <a:solidFill>
                  <a:srgbClr val="AEB6BF"/>
                </a:solidFill>
                <a:latin typeface="Consolas"/>
              </a:rPr>
              <a:t>.</a:t>
            </a:r>
            <a:r>
              <a:rPr sz="2000" i="0">
                <a:solidFill>
                  <a:srgbClr val="E8EDF2"/>
                </a:solidFill>
                <a:latin typeface="Consolas"/>
              </a:rPr>
              <a:t>read_csv</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students.csv</a:t>
            </a:r>
            <a:r>
              <a:rPr sz="2000" i="0">
                <a:solidFill>
                  <a:srgbClr val="7DCEA0"/>
                </a:solidFill>
                <a:latin typeface="Consolas"/>
              </a:rPr>
              <a:t>"</a:t>
            </a:r>
            <a:r>
              <a:rPr sz="2000" i="0">
                <a:solidFill>
                  <a:srgbClr val="AEB6BF"/>
                </a:solidFill>
                <a:latin typeface="Consolas"/>
              </a:rPr>
              <a:t>)</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C9668726-EB2A-4891-8BA4-6A8A8198918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Univariate: shape of every numeric column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univariate: shape of every numeric column --------------------- df.select_dtypes(&quot;number&quot;).hist(bins=30, figsize=(11, 7)) plt.tight_layout(); plt.show()"/>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--- 1. univariate: shape of every numeric column ---------------------</a:t>
            </a:r>
          </a:p>
          <a:p>
            <a:pPr>
              <a:lnSpc>
                <a:spcPct val="100000"/>
              </a:lnSpc>
              <a:spcAft>
                <a:spcPts val="0"/>
              </a:spcAft>
            </a:pPr>
            <a:r>
              <a:rPr sz="1900" i="0">
                <a:solidFill>
                  <a:srgbClr val="E8EDF2"/>
                </a:solidFill>
                <a:latin typeface="Consolas"/>
              </a:rPr>
              <a:t>df</a:t>
            </a:r>
            <a:r>
              <a:rPr sz="1900" i="0">
                <a:solidFill>
                  <a:srgbClr val="AEB6BF"/>
                </a:solidFill>
                <a:latin typeface="Consolas"/>
              </a:rPr>
              <a:t>.</a:t>
            </a:r>
            <a:r>
              <a:rPr sz="1900" i="0">
                <a:solidFill>
                  <a:srgbClr val="E8EDF2"/>
                </a:solidFill>
                <a:latin typeface="Consolas"/>
              </a:rPr>
              <a:t>select_dtypes</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number</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hist</a:t>
            </a:r>
            <a:r>
              <a:rPr sz="1900" i="0">
                <a:solidFill>
                  <a:srgbClr val="AEB6BF"/>
                </a:solidFill>
                <a:latin typeface="Consolas"/>
              </a:rPr>
              <a:t>(</a:t>
            </a:r>
            <a:r>
              <a:rPr sz="1900" i="0">
                <a:solidFill>
                  <a:srgbClr val="E8EDF2"/>
                </a:solidFill>
                <a:latin typeface="Consolas"/>
              </a:rPr>
              <a:t>bins</a:t>
            </a:r>
            <a:r>
              <a:rPr sz="1900" i="0">
                <a:solidFill>
                  <a:srgbClr val="AEB6BF"/>
                </a:solidFill>
                <a:latin typeface="Consolas"/>
              </a:rPr>
              <a:t>=</a:t>
            </a:r>
            <a:r>
              <a:rPr sz="1900" i="0">
                <a:solidFill>
                  <a:srgbClr val="F7DC6F"/>
                </a:solidFill>
                <a:latin typeface="Consolas"/>
              </a:rPr>
              <a:t>30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figsize</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11</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7</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plt</a:t>
            </a:r>
            <a:r>
              <a:rPr sz="1900" i="0">
                <a:solidFill>
                  <a:srgbClr val="AEB6BF"/>
                </a:solidFill>
                <a:latin typeface="Consolas"/>
              </a:rPr>
              <a:t>.</a:t>
            </a:r>
            <a:r>
              <a:rPr sz="1900" i="0">
                <a:solidFill>
                  <a:srgbClr val="E8EDF2"/>
                </a:solidFill>
                <a:latin typeface="Consolas"/>
              </a:rPr>
              <a:t>tight_layout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plt</a:t>
            </a:r>
            <a:r>
              <a:rPr sz="1900" i="0">
                <a:solidFill>
                  <a:srgbClr val="AEB6BF"/>
                </a:solidFill>
                <a:latin typeface="Consolas"/>
              </a:rPr>
              <a:t>.</a:t>
            </a:r>
            <a:r>
              <a:rPr sz="1900" i="0">
                <a:solidFill>
                  <a:srgbClr val="E8EDF2"/>
                </a:solidFill>
                <a:latin typeface="Consolas"/>
              </a:rPr>
              <a:t>show</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86CDB655-0FFA-4AD3-9062-7A87F1755DB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Bivariate: relationships and multicollinearity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bivariate: relationships and multicollinearity ---------------- corr = df.select_dtypes(&quot;number&quot;).corr() sns.heatmap(corr, annot=True, fmt=&quot;.2f&quot;, cmap=&quot;RdBu_r&quot;, center=0, vmin=-1, vmax=1) # diverging scale for signed values plt.show() # Flag pairs that are nearly the same variable measured twice. import numpy as np high = (corr.abs() &gt; 0.85) &amp; (corr.abs() &lt; 1.0) print(&quot;multicollinear pairs:&quot;, [(a, b) for a in corr.index for b in corr.columns if high.loc[a, b] and a &lt; b])"/>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bivariate: relationships and multicollinearity ----------------</a:t>
            </a:r>
          </a:p>
          <a:p>
            <a:pPr>
              <a:lnSpc>
                <a:spcPct val="100000"/>
              </a:lnSpc>
              <a:spcAft>
                <a:spcPts val="0"/>
              </a:spcAft>
            </a:pPr>
            <a:r>
              <a:rPr sz="1800" i="0">
                <a:solidFill>
                  <a:srgbClr val="E8EDF2"/>
                </a:solidFill>
                <a:latin typeface="Consolas"/>
              </a:rPr>
              <a:t>corr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df</a:t>
            </a:r>
            <a:r>
              <a:rPr sz="1800" i="0">
                <a:solidFill>
                  <a:srgbClr val="AEB6BF"/>
                </a:solidFill>
                <a:latin typeface="Consolas"/>
              </a:rPr>
              <a:t>.</a:t>
            </a:r>
            <a:r>
              <a:rPr sz="1800" i="0">
                <a:solidFill>
                  <a:srgbClr val="E8EDF2"/>
                </a:solidFill>
                <a:latin typeface="Consolas"/>
              </a:rPr>
              <a:t>select_dtypes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number</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corr</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sns</a:t>
            </a:r>
            <a:r>
              <a:rPr sz="1800" i="0">
                <a:solidFill>
                  <a:srgbClr val="AEB6BF"/>
                </a:solidFill>
                <a:latin typeface="Consolas"/>
              </a:rPr>
              <a:t>.</a:t>
            </a:r>
            <a:r>
              <a:rPr sz="1800" i="0">
                <a:solidFill>
                  <a:srgbClr val="E8EDF2"/>
                </a:solidFill>
                <a:latin typeface="Consolas"/>
              </a:rPr>
              <a:t>heatmap</a:t>
            </a:r>
            <a:r>
              <a:rPr sz="1800" i="0">
                <a:solidFill>
                  <a:srgbClr val="AEB6BF"/>
                </a:solidFill>
                <a:latin typeface="Consolas"/>
              </a:rPr>
              <a:t>(</a:t>
            </a:r>
            <a:r>
              <a:rPr sz="1800" i="0">
                <a:solidFill>
                  <a:srgbClr val="E8EDF2"/>
                </a:solidFill>
                <a:latin typeface="Consolas"/>
              </a:rPr>
              <a:t>corr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annot</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fmt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cmap</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RdBu_r</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center</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vmin</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vmax</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diverging scale for signed values</a:t>
            </a:r>
          </a:p>
          <a:p>
            <a:pPr>
              <a:lnSpc>
                <a:spcPct val="100000"/>
              </a:lnSpc>
              <a:spcAft>
                <a:spcPts val="0"/>
              </a:spcAft>
            </a:pP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show</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Flag pairs that are nearly the same variable measured twice.</a:t>
            </a:r>
          </a:p>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numpy</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np</a:t>
            </a:r>
          </a:p>
          <a:p>
            <a:pPr>
              <a:lnSpc>
                <a:spcPct val="100000"/>
              </a:lnSpc>
              <a:spcAft>
                <a:spcPts val="0"/>
              </a:spcAft>
            </a:pPr>
            <a:r>
              <a:rPr sz="1800" i="0">
                <a:solidFill>
                  <a:srgbClr val="E8EDF2"/>
                </a:solidFill>
                <a:latin typeface="Consolas"/>
              </a:rPr>
              <a:t>high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corr</a:t>
            </a:r>
            <a:r>
              <a:rPr sz="1800" i="0">
                <a:solidFill>
                  <a:srgbClr val="AEB6BF"/>
                </a:solidFill>
                <a:latin typeface="Consolas"/>
              </a:rPr>
              <a:t>.</a:t>
            </a:r>
            <a:r>
              <a:rPr sz="1800" i="0">
                <a:solidFill>
                  <a:srgbClr val="E8EDF2"/>
                </a:solidFill>
                <a:latin typeface="Consolas"/>
              </a:rPr>
              <a:t>abs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0.85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corr</a:t>
            </a:r>
            <a:r>
              <a:rPr sz="1800" i="0">
                <a:solidFill>
                  <a:srgbClr val="AEB6BF"/>
                </a:solidFill>
                <a:latin typeface="Consolas"/>
              </a:rPr>
              <a:t>.</a:t>
            </a:r>
            <a:r>
              <a:rPr sz="1800" i="0">
                <a:solidFill>
                  <a:srgbClr val="E8EDF2"/>
                </a:solidFill>
                <a:latin typeface="Consolas"/>
              </a:rPr>
              <a:t>abs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multicollinear pairs: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corr</a:t>
            </a:r>
            <a:r>
              <a:rPr sz="1800" i="0">
                <a:solidFill>
                  <a:srgbClr val="AEB6BF"/>
                </a:solidFill>
                <a:latin typeface="Consolas"/>
              </a:rPr>
              <a:t>.</a:t>
            </a:r>
            <a:r>
              <a:rPr sz="1800" i="0">
                <a:solidFill>
                  <a:srgbClr val="E8EDF2"/>
                </a:solidFill>
                <a:latin typeface="Consolas"/>
              </a:rPr>
              <a:t>index</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corr</a:t>
            </a:r>
            <a:r>
              <a:rPr sz="1800" i="0">
                <a:solidFill>
                  <a:srgbClr val="AEB6BF"/>
                </a:solidFill>
                <a:latin typeface="Consolas"/>
              </a:rPr>
              <a:t>.</a:t>
            </a:r>
            <a:r>
              <a:rPr sz="1800" i="0">
                <a:solidFill>
                  <a:srgbClr val="E8EDF2"/>
                </a:solidFill>
                <a:latin typeface="Consolas"/>
              </a:rPr>
              <a:t>columns</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high</a:t>
            </a:r>
            <a:r>
              <a:rPr sz="1800" i="0">
                <a:solidFill>
                  <a:srgbClr val="AEB6BF"/>
                </a:solidFill>
                <a:latin typeface="Consolas"/>
              </a:rPr>
              <a:t>.</a:t>
            </a:r>
            <a:r>
              <a:rPr sz="1800" i="0">
                <a:solidFill>
                  <a:srgbClr val="E8EDF2"/>
                </a:solidFill>
                <a:latin typeface="Consolas"/>
              </a:rPr>
              <a:t>loc</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and</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F4F2ABFD-A6ED-46D5-8B12-F3E542D3CB97}"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third variable: always check before presenting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the third variable: always check before presenting ------------ sns.lmplot(data=df, x=&quot;tutorial_hours&quot;, y=&quot;final_mark&quot;, hue=&quot;programme&quot;, height=4) # per-group, not aggregated plt.show()"/>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third variable: always check before presenting ------------</a:t>
            </a:r>
          </a:p>
          <a:p>
            <a:pPr>
              <a:lnSpc>
                <a:spcPct val="100000"/>
              </a:lnSpc>
              <a:spcAft>
                <a:spcPts val="0"/>
              </a:spcAft>
            </a:pPr>
            <a:r>
              <a:rPr sz="1900" i="0">
                <a:solidFill>
                  <a:srgbClr val="E8EDF2"/>
                </a:solidFill>
                <a:latin typeface="Consolas"/>
              </a:rPr>
              <a:t>sns</a:t>
            </a:r>
            <a:r>
              <a:rPr sz="1900" i="0">
                <a:solidFill>
                  <a:srgbClr val="AEB6BF"/>
                </a:solidFill>
                <a:latin typeface="Consolas"/>
              </a:rPr>
              <a:t>.</a:t>
            </a:r>
            <a:r>
              <a:rPr sz="1900" i="0">
                <a:solidFill>
                  <a:srgbClr val="E8EDF2"/>
                </a:solidFill>
                <a:latin typeface="Consolas"/>
              </a:rPr>
              <a:t>lmplot</a:t>
            </a:r>
            <a:r>
              <a:rPr sz="1900" i="0">
                <a:solidFill>
                  <a:srgbClr val="AEB6BF"/>
                </a:solidFill>
                <a:latin typeface="Consolas"/>
              </a:rPr>
              <a:t>(</a:t>
            </a:r>
            <a:r>
              <a:rPr sz="1900" i="0">
                <a:solidFill>
                  <a:srgbClr val="E8EDF2"/>
                </a:solidFill>
                <a:latin typeface="Consolas"/>
              </a:rPr>
              <a:t>data</a:t>
            </a:r>
            <a:r>
              <a:rPr sz="1900" i="0">
                <a:solidFill>
                  <a:srgbClr val="AEB6BF"/>
                </a:solidFill>
                <a:latin typeface="Consolas"/>
              </a:rPr>
              <a:t>=</a:t>
            </a:r>
            <a:r>
              <a:rPr sz="1900" i="0">
                <a:solidFill>
                  <a:srgbClr val="E8EDF2"/>
                </a:solidFill>
                <a:latin typeface="Consolas"/>
              </a:rPr>
              <a:t>df</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x</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tutorial_hours</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y</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final_mark</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hue</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programme</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height</a:t>
            </a:r>
            <a:r>
              <a:rPr sz="1900" i="0">
                <a:solidFill>
                  <a:srgbClr val="AEB6BF"/>
                </a:solidFill>
                <a:latin typeface="Consolas"/>
              </a:rPr>
              <a:t>=</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per-group, not aggregated</a:t>
            </a:r>
          </a:p>
          <a:p>
            <a:pPr>
              <a:lnSpc>
                <a:spcPct val="100000"/>
              </a:lnSpc>
              <a:spcAft>
                <a:spcPts val="0"/>
              </a:spcAft>
            </a:pPr>
            <a:r>
              <a:rPr sz="1900" i="0">
                <a:solidFill>
                  <a:srgbClr val="E8EDF2"/>
                </a:solidFill>
                <a:latin typeface="Consolas"/>
              </a:rPr>
              <a:t>plt</a:t>
            </a:r>
            <a:r>
              <a:rPr sz="1900" i="0">
                <a:solidFill>
                  <a:srgbClr val="AEB6BF"/>
                </a:solidFill>
                <a:latin typeface="Consolas"/>
              </a:rPr>
              <a:t>.</a:t>
            </a:r>
            <a:r>
              <a:rPr sz="1900" i="0">
                <a:solidFill>
                  <a:srgbClr val="E8EDF2"/>
                </a:solidFill>
                <a:latin typeface="Consolas"/>
              </a:rPr>
              <a:t>show</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Standard EDA Pass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  ·  LISTING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8B6ABDED-E926-4242-BCD0-CE7539310F6C}"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R</a:t>
            </a:r>
          </a:p>
        </p:txBody>
      </p:sp>
      <p:sp>
        <p:nvSpPr>
          <p:cNvPr id="14" name="!!code-text" descr="library(tidyverse); library(GGally) ggpairs(select(df, where(is.numeric))) ggplot(df, aes(tutorial_hours, final_mark, colour = programme)) + geom_point() + geom_smooth(method = &quot;lm&quot;)"/>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0">
                <a:solidFill>
                  <a:srgbClr val="C39BD3"/>
                </a:solidFill>
                <a:latin typeface="Consolas"/>
              </a:rPr>
              <a:t>library</a:t>
            </a:r>
            <a:r>
              <a:rPr sz="2000" i="0">
                <a:solidFill>
                  <a:srgbClr val="AEB6BF"/>
                </a:solidFill>
                <a:latin typeface="Consolas"/>
              </a:rPr>
              <a:t>(</a:t>
            </a:r>
            <a:r>
              <a:rPr sz="2000" i="0">
                <a:solidFill>
                  <a:srgbClr val="E8EDF2"/>
                </a:solidFill>
                <a:latin typeface="Consolas"/>
              </a:rPr>
              <a:t>tidyverse</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library</a:t>
            </a:r>
            <a:r>
              <a:rPr sz="2000" i="0">
                <a:solidFill>
                  <a:srgbClr val="AEB6BF"/>
                </a:solidFill>
                <a:latin typeface="Consolas"/>
              </a:rPr>
              <a:t>(</a:t>
            </a:r>
            <a:r>
              <a:rPr sz="2000" i="0">
                <a:solidFill>
                  <a:srgbClr val="E8EDF2"/>
                </a:solidFill>
                <a:latin typeface="Consolas"/>
              </a:rPr>
              <a:t>GGally</a:t>
            </a:r>
            <a:r>
              <a:rPr sz="2000" i="0">
                <a:solidFill>
                  <a:srgbClr val="AEB6BF"/>
                </a:solidFill>
                <a:latin typeface="Consolas"/>
              </a:rPr>
              <a:t>)</a:t>
            </a:r>
          </a:p>
          <a:p>
            <a:pPr>
              <a:lnSpc>
                <a:spcPct val="100000"/>
              </a:lnSpc>
              <a:spcAft>
                <a:spcPts val="0"/>
              </a:spcAft>
            </a:pPr>
            <a:r>
              <a:rPr sz="2000" i="0">
                <a:solidFill>
                  <a:srgbClr val="C39BD3"/>
                </a:solidFill>
                <a:latin typeface="Consolas"/>
              </a:rPr>
              <a:t>ggpairs</a:t>
            </a:r>
            <a:r>
              <a:rPr sz="2000" i="0">
                <a:solidFill>
                  <a:srgbClr val="AEB6BF"/>
                </a:solidFill>
                <a:latin typeface="Consolas"/>
              </a:rPr>
              <a:t>(</a:t>
            </a:r>
            <a:r>
              <a:rPr sz="2000" i="0">
                <a:solidFill>
                  <a:srgbClr val="C39BD3"/>
                </a:solidFill>
                <a:latin typeface="Consolas"/>
              </a:rPr>
              <a:t>select</a:t>
            </a:r>
            <a:r>
              <a:rPr sz="2000" i="0">
                <a:solidFill>
                  <a:srgbClr val="AEB6BF"/>
                </a:solidFill>
                <a:latin typeface="Consolas"/>
              </a:rPr>
              <a:t>(</a:t>
            </a:r>
            <a:r>
              <a:rPr sz="2000" i="0">
                <a:solidFill>
                  <a:srgbClr val="E8EDF2"/>
                </a:solidFill>
                <a:latin typeface="Consolas"/>
              </a:rPr>
              <a:t>df</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where</a:t>
            </a:r>
            <a:r>
              <a:rPr sz="2000" i="0">
                <a:solidFill>
                  <a:srgbClr val="AEB6BF"/>
                </a:solidFill>
                <a:latin typeface="Consolas"/>
              </a:rPr>
              <a:t>(</a:t>
            </a:r>
            <a:r>
              <a:rPr sz="2000" i="0">
                <a:solidFill>
                  <a:srgbClr val="E8EDF2"/>
                </a:solidFill>
                <a:latin typeface="Consolas"/>
              </a:rPr>
              <a:t>is.numeric</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C39BD3"/>
                </a:solidFill>
                <a:latin typeface="Consolas"/>
              </a:rPr>
              <a:t>ggplot</a:t>
            </a:r>
            <a:r>
              <a:rPr sz="2000" i="0">
                <a:solidFill>
                  <a:srgbClr val="AEB6BF"/>
                </a:solidFill>
                <a:latin typeface="Consolas"/>
              </a:rPr>
              <a:t>(</a:t>
            </a:r>
            <a:r>
              <a:rPr sz="2000" i="0">
                <a:solidFill>
                  <a:srgbClr val="E8EDF2"/>
                </a:solidFill>
                <a:latin typeface="Consolas"/>
              </a:rPr>
              <a:t>df</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aes</a:t>
            </a:r>
            <a:r>
              <a:rPr sz="2000" i="0">
                <a:solidFill>
                  <a:srgbClr val="AEB6BF"/>
                </a:solidFill>
                <a:latin typeface="Consolas"/>
              </a:rPr>
              <a:t>(</a:t>
            </a:r>
            <a:r>
              <a:rPr sz="2000" i="0">
                <a:solidFill>
                  <a:srgbClr val="E8EDF2"/>
                </a:solidFill>
                <a:latin typeface="Consolas"/>
              </a:rPr>
              <a:t>tutorial_hours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final_mark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colour</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programme</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geom_point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geom_smooth</a:t>
            </a:r>
            <a:r>
              <a:rPr sz="2000" i="0">
                <a:solidFill>
                  <a:srgbClr val="AEB6BF"/>
                </a:solidFill>
                <a:latin typeface="Consolas"/>
              </a:rPr>
              <a:t>(</a:t>
            </a:r>
            <a:r>
              <a:rPr sz="2000" i="0">
                <a:solidFill>
                  <a:srgbClr val="E8EDF2"/>
                </a:solidFill>
                <a:latin typeface="Consolas"/>
              </a:rPr>
              <a:t>method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lm"</a:t>
            </a:r>
            <a:r>
              <a:rPr sz="20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51     </a:t>
            </a:r>
            <a:fld id="{10318276-D265-4461-9679-E326D093711D}"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R equivalent</a:t>
            </a:r>
            <a:r>
              <a:rPr sz="2300" b="0" i="0">
                <a:solidFill>
                  <a:srgbClr val="1C252B"/>
                </a:solidFill>
                <a:latin typeface="Segoe UI"/>
              </a:rPr>
              <a:t>, matching the repo’s existing </a:t>
            </a:r>
            <a:r>
              <a:rPr sz="2150" b="0" i="0">
                <a:solidFill>
                  <a:srgbClr val="1F4E79"/>
                </a:solidFill>
                <a:latin typeface="Consolas"/>
              </a:rPr>
              <a:t>mtcars</a:t>
            </a:r>
            <a:r>
              <a:rPr sz="2300" b="0" i="0">
                <a:solidFill>
                  <a:srgbClr val="1C252B"/>
                </a:solidFill>
                <a:latin typeface="Segoe UI"/>
              </a:rPr>
              <a:t> EDA lab:</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Two features correlate at </a:t>
            </a:r>
            <a:r>
              <a:rPr sz="3400" b="0" i="1">
                <a:solidFill>
                  <a:srgbClr val="FFFFFF"/>
                </a:solidFill>
                <a:latin typeface="Cambria"/>
              </a:rPr>
              <a:t>r</a:t>
            </a:r>
            <a:r>
              <a:rPr sz="3400" b="0" i="0">
                <a:solidFill>
                  <a:srgbClr val="FFFFFF"/>
                </a:solidFill>
                <a:latin typeface="Cambria"/>
              </a:rPr>
              <a:t> = 0.96</a:t>
            </a:r>
            <a:r>
              <a:rPr sz="3400" b="0" i="0">
                <a:solidFill>
                  <a:srgbClr val="FFFFFF"/>
                </a:solidFill>
                <a:latin typeface="Segoe UI Semibold"/>
              </a:rPr>
              <a:t> with each other. What is this called and what should you do before fitting a linear model?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8  ·  Exploratory Data Analysis and Visualisation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54  ·  answers in Appendix D     </a:t>
            </a:r>
            <a:fld id="{07FF02C5-AA3D-4F08-8032-01F2A61C743A}"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Two features correlate at </a:t>
            </a:r>
            <a:r>
              <a:rPr sz="2400" b="0" i="1">
                <a:solidFill>
                  <a:srgbClr val="1A5276"/>
                </a:solidFill>
                <a:latin typeface="Cambria"/>
              </a:rPr>
              <a:t>r</a:t>
            </a:r>
            <a:r>
              <a:rPr sz="2400" b="0" i="0">
                <a:solidFill>
                  <a:srgbClr val="1A5276"/>
                </a:solidFill>
                <a:latin typeface="Cambria"/>
              </a:rPr>
              <a:t> = 0.96</a:t>
            </a:r>
            <a:r>
              <a:rPr sz="2400" b="0" i="0">
                <a:solidFill>
                  <a:srgbClr val="1A5276"/>
                </a:solidFill>
                <a:latin typeface="Segoe UI Semibold"/>
              </a:rPr>
              <a:t> with each other. What is this called and what should you do before fitting a linear model?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Multicollinearity. Drop one of the pair (or use ridge). Keeping both adds almost no information and makes the coefficients unstable and uninterpretable.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  answers in Appendix D     </a:t>
            </a:r>
            <a:fld id="{F4F64473-9E3D-4BE8-8468-6D747A560195}"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scatterplot shows a clear U-shape and </a:t>
            </a:r>
            <a:r>
              <a:rPr sz="3400" b="0" i="1">
                <a:solidFill>
                  <a:srgbClr val="FFFFFF"/>
                </a:solidFill>
                <a:latin typeface="Cambria"/>
              </a:rPr>
              <a:t>r</a:t>
            </a:r>
            <a:r>
              <a:rPr sz="3400" b="0" i="0">
                <a:solidFill>
                  <a:srgbClr val="FFFFFF"/>
                </a:solidFill>
                <a:latin typeface="Cambria"/>
              </a:rPr>
              <a:t> = 0.02</a:t>
            </a:r>
            <a:r>
              <a:rPr sz="3400" b="0" i="0">
                <a:solidFill>
                  <a:srgbClr val="FFFFFF"/>
                </a:solidFill>
                <a:latin typeface="Segoe UI Semibold"/>
              </a:rPr>
              <a:t>. Is there a relationship?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8  ·  Exploratory Data Analysis and Visualisation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54  ·  answers in Appendix D     </a:t>
            </a:r>
            <a:fld id="{D972CA44-C308-42DB-A446-5766562AFEC1}"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A scatterplot shows a clear U-shape and </a:t>
            </a:r>
            <a:r>
              <a:rPr sz="2400" b="0" i="1">
                <a:solidFill>
                  <a:srgbClr val="1A5276"/>
                </a:solidFill>
                <a:latin typeface="Cambria"/>
              </a:rPr>
              <a:t>r</a:t>
            </a:r>
            <a:r>
              <a:rPr sz="2400" b="0" i="0">
                <a:solidFill>
                  <a:srgbClr val="1A5276"/>
                </a:solidFill>
                <a:latin typeface="Cambria"/>
              </a:rPr>
              <a:t> = 0.02</a:t>
            </a:r>
            <a:r>
              <a:rPr sz="2400" b="0" i="0">
                <a:solidFill>
                  <a:srgbClr val="1A5276"/>
                </a:solidFill>
                <a:latin typeface="Segoe UI Semibold"/>
              </a:rPr>
              <a:t>. Is there a relationship?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Yes — a strong non-linear one. Pearson’s </a:t>
            </a:r>
            <a:r>
              <a:rPr sz="2200" b="0" i="1">
                <a:solidFill>
                  <a:srgbClr val="1C252B"/>
                </a:solidFill>
                <a:latin typeface="Cambria"/>
              </a:rPr>
              <a:t>r</a:t>
            </a:r>
            <a:r>
              <a:rPr sz="2200" b="0" i="0">
                <a:solidFill>
                  <a:srgbClr val="1C252B"/>
                </a:solidFill>
                <a:latin typeface="Segoe UI"/>
              </a:rPr>
              <a:t> measures only </a:t>
            </a:r>
            <a:r>
              <a:rPr sz="2200" b="0" i="1">
                <a:solidFill>
                  <a:srgbClr val="1C252B"/>
                </a:solidFill>
                <a:latin typeface="Segoe UI"/>
              </a:rPr>
              <a:t>linear</a:t>
            </a:r>
            <a:r>
              <a:rPr sz="2200" b="0" i="0">
                <a:solidFill>
                  <a:srgbClr val="1C252B"/>
                </a:solidFill>
                <a:latin typeface="Segoe UI"/>
              </a:rPr>
              <a:t> association, which is why Figure 8.2 exists.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  answers in Appendix D     </a:t>
            </a:r>
            <a:fld id="{FEE65628-864A-454F-BA2A-451D76D00FE1}"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must compare failure rates across 40 servers over 30 days. Which chart, and why not 40 line charts?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8  ·  Exploratory Data Analysis and Visualisation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54  ·  answers in Appendix D     </a:t>
            </a:r>
            <a:fld id="{A5F75A1D-6F87-494B-B745-8983E37D1B46}"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must compare failure rates across 40 servers over 30 days. Which chart, and why not 40 line charts?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heatmap with servers on one axis and days on the other, colour showing the failure rate. Forty line charts cannot be compared visually, and a single chart with forty lines is illegible; the heatmap makes both per-server and site-wide patterns visible at once.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  answers in Appendix D     </a:t>
            </a:r>
            <a:fld id="{FDC10780-9EE5-4650-ADBE-89DBE89C0AEB}"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46A31081-D8A5-401E-95FD-FCC0D61B00DA}"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EDA runs univariate </a:t>
            </a:r>
            <a:r>
              <a:rPr sz="2000" b="0" i="0">
                <a:solidFill>
                  <a:srgbClr val="1C252B"/>
                </a:solidFill>
                <a:latin typeface="Cambria"/>
              </a:rPr>
              <a:t>→</a:t>
            </a:r>
            <a:r>
              <a:rPr sz="2000" b="0" i="0">
                <a:solidFill>
                  <a:srgbClr val="1C252B"/>
                </a:solidFill>
                <a:latin typeface="Segoe UI"/>
              </a:rPr>
              <a:t> bivariate </a:t>
            </a:r>
            <a:r>
              <a:rPr sz="2000" b="0" i="0">
                <a:solidFill>
                  <a:srgbClr val="1C252B"/>
                </a:solidFill>
                <a:latin typeface="Cambria"/>
              </a:rPr>
              <a:t>→</a:t>
            </a:r>
            <a:r>
              <a:rPr sz="2000" b="0" i="0">
                <a:solidFill>
                  <a:srgbClr val="1C252B"/>
                </a:solidFill>
                <a:latin typeface="Segoe UI"/>
              </a:rPr>
              <a:t> multivariate, and its output is knowledge and hypotheses, not pictures.</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Chart choice follows from variable types; the grid in Figure 8.1 answers almost every case.</a:t>
            </a:r>
          </a:p>
        </p:txBody>
      </p:sp>
      <p:sp>
        <p:nvSpPr>
          <p:cNvPr id="13" name="!!sb2">
            <a:extLst>
              <a:ext uri="{C183D7F6-B498-43B3-948B-1728B52AA6E4}">
                <adec:decorative xmlns:adec="http://schemas.microsoft.com/office/drawing/2017/decorative" val="1"/>
              </a:ext>
            </a:extLst>
          </p:cNvPr>
          <p:cNvSpPr/>
          <p:nvPr/>
        </p:nvSpPr>
        <p:spPr>
          <a:xfrm>
            <a:off x="658368" y="31485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Pearson’s </a:t>
            </a:r>
            <a:r>
              <a:rPr sz="2000" b="0" i="1">
                <a:solidFill>
                  <a:srgbClr val="1C252B"/>
                </a:solidFill>
                <a:latin typeface="Cambria"/>
              </a:rPr>
              <a:t>r</a:t>
            </a:r>
            <a:r>
              <a:rPr sz="2000" b="0" i="0">
                <a:solidFill>
                  <a:srgbClr val="1C252B"/>
                </a:solidFill>
                <a:latin typeface="Segoe UI"/>
              </a:rPr>
              <a:t> measures </a:t>
            </a:r>
            <a:r>
              <a:rPr sz="2000" b="0" i="1">
                <a:solidFill>
                  <a:srgbClr val="1C252B"/>
                </a:solidFill>
                <a:latin typeface="Segoe UI"/>
              </a:rPr>
              <a:t>linear</a:t>
            </a:r>
            <a:r>
              <a:rPr sz="2000" b="0" i="0">
                <a:solidFill>
                  <a:srgbClr val="1C252B"/>
                </a:solidFill>
                <a:latin typeface="Segoe UI"/>
              </a:rPr>
              <a:t> association only, and is easily dominated by a single high-leverage point. Always plot before trusting it.</a:t>
            </a:r>
          </a:p>
        </p:txBody>
      </p:sp>
      <p:sp>
        <p:nvSpPr>
          <p:cNvPr id="16" name="!!sb3">
            <a:extLst>
              <a:ext uri="{C183D7F6-B498-43B3-948B-1728B52AA6E4}">
                <adec:decorative xmlns:adec="http://schemas.microsoft.com/office/drawing/2017/decorative" val="1"/>
              </a:ext>
            </a:extLst>
          </p:cNvPr>
          <p:cNvSpPr/>
          <p:nvPr/>
        </p:nvSpPr>
        <p:spPr>
          <a:xfrm>
            <a:off x="658368" y="396544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Correlations above about 0.85 between features signal multicollinearity; keep one of the pair.</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Simpson’s paradox means an aggregate relationship can reverse within groups. Always check the obvious grouping variable.</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Truncated axes, dual axes, 3-D effects and rainbow scales are distortions, not styles.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548681CB-9401-4B72-9791-6DCA05B9226D}"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Pearson’s </a:t>
            </a:r>
            <a:r>
              <a:rPr sz="2600" b="0" i="1">
                <a:solidFill>
                  <a:srgbClr val="1C252B"/>
                </a:solidFill>
                <a:latin typeface="Cambria"/>
              </a:rPr>
              <a:t>r</a:t>
            </a:r>
            <a:r>
              <a:rPr sz="2600" b="0" i="0">
                <a:solidFill>
                  <a:srgbClr val="1C252B"/>
                </a:solidFill>
                <a:latin typeface="Segoe UI"/>
              </a:rPr>
              <a:t> of 0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relationship</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linear relationship</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variables are independent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data is normal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C9B2A94E-8B64-43DA-AF5F-4A528E9C15EF}" type="slidenum">
              <a:rPr lang="en-GB" sz="1000">
                <a:solidFill>
                  <a:srgbClr val="8795A1"/>
                </a:solidFill>
                <a:latin typeface="Segoe UI"/>
              </a:rPr>
              <a:t>43</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For comparing the distribution of a numeric variable across five categories, the best chart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pie chart</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stacked bar</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boxplot by group</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3-D column chart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8  ·  Exploratory Data Analysis and Visualisation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AC9BDBF8-9716-4AB8-8563-4F9F7CDF2787}"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bar chart must start at zero but a line chart need not.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multicollinearity and state one concrete problem it causes.</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Simpson’s paradox in two sentences and give an example from any domain.</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are handed a dataset of 15,000 login events with columns </a:t>
            </a:r>
            <a:r>
              <a:rPr sz="1800" b="0" i="0">
                <a:solidFill>
                  <a:srgbClr val="1F4E79"/>
                </a:solidFill>
                <a:latin typeface="Consolas"/>
              </a:rPr>
              <a:t>user</a:t>
            </a:r>
            <a:r>
              <a:rPr sz="1900" b="0" i="0">
                <a:solidFill>
                  <a:srgbClr val="1C252B"/>
                </a:solidFill>
                <a:latin typeface="Segoe UI"/>
              </a:rPr>
              <a:t>, </a:t>
            </a:r>
            <a:r>
              <a:rPr sz="1800" b="0" i="0">
                <a:solidFill>
                  <a:srgbClr val="1F4E79"/>
                </a:solidFill>
                <a:latin typeface="Consolas"/>
              </a:rPr>
              <a:t>timestamp</a:t>
            </a:r>
            <a:r>
              <a:rPr sz="1900" b="0" i="0">
                <a:solidFill>
                  <a:srgbClr val="1C252B"/>
                </a:solidFill>
                <a:latin typeface="Segoe UI"/>
              </a:rPr>
              <a:t>, </a:t>
            </a:r>
            <a:r>
              <a:rPr sz="1800" b="0" i="0">
                <a:solidFill>
                  <a:srgbClr val="1F4E79"/>
                </a:solidFill>
                <a:latin typeface="Consolas"/>
              </a:rPr>
              <a:t>source_ip</a:t>
            </a:r>
            <a:r>
              <a:rPr sz="1900" b="0" i="0">
                <a:solidFill>
                  <a:srgbClr val="1C252B"/>
                </a:solidFill>
                <a:latin typeface="Segoe UI"/>
              </a:rPr>
              <a:t>, </a:t>
            </a:r>
            <a:r>
              <a:rPr sz="1800" b="0" i="0">
                <a:solidFill>
                  <a:srgbClr val="1F4E79"/>
                </a:solidFill>
                <a:latin typeface="Consolas"/>
              </a:rPr>
              <a:t>success</a:t>
            </a:r>
            <a:r>
              <a:rPr sz="1900" b="0" i="0">
                <a:solidFill>
                  <a:srgbClr val="1C252B"/>
                </a:solidFill>
                <a:latin typeface="Segoe UI"/>
              </a:rPr>
              <a:t>, </a:t>
            </a:r>
            <a:r>
              <a:rPr sz="1800" b="0" i="0">
                <a:solidFill>
                  <a:srgbClr val="1F4E79"/>
                </a:solidFill>
                <a:latin typeface="Consolas"/>
              </a:rPr>
              <a:t>duration_s</a:t>
            </a:r>
            <a:r>
              <a:rPr sz="1900" b="0" i="0">
                <a:solidFill>
                  <a:srgbClr val="1C252B"/>
                </a:solidFill>
                <a:latin typeface="Segoe UI"/>
              </a:rPr>
              <a:t>. Write the EDA plan: list the charts you would produce, in order, and state what each is meant to reveal.</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manager presents a chart with a truncated </a:t>
            </a:r>
            <a:r>
              <a:rPr sz="1900" b="0" i="1">
                <a:solidFill>
                  <a:srgbClr val="1C252B"/>
                </a:solidFill>
                <a:latin typeface="Cambria"/>
              </a:rPr>
              <a:t>y</a:t>
            </a:r>
            <a:r>
              <a:rPr sz="1900" b="0" i="0">
                <a:solidFill>
                  <a:srgbClr val="1C252B"/>
                </a:solidFill>
                <a:latin typeface="Segoe UI"/>
              </a:rPr>
              <a:t>-axis showing incidents “up 300%” (from 4 to 12). Rewrite the chart specification honestly, and say what additional context the reader needs.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9 — Inferential Statistics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8, pages 49–54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Standard EDA pass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8  ·  Exploratory Data Analysis and Visualisation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8FA8C73-4046-47E6-9322-3AC140D61536}"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Exploratory Data Analysis and Visualisation</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