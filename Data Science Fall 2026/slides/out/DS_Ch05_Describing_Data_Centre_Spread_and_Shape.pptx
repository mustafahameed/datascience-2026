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1.svg" ContentType="image/svg+xml"/>
  <Override PartName="/ppt/media/image23.svg" ContentType="image/svg+xml"/>
  <Override PartName="/ppt/media/image25.svg" ContentType="image/svg+xml"/>
  <Override PartName="/ppt/media/image26.svg" ContentType="image/svg+xml"/>
  <Override PartName="/ppt/media/image28.svg" ContentType="image/svg+xml"/>
  <Override PartName="/ppt/media/image29.svg" ContentType="image/svg+xml"/>
  <Override PartName="/ppt/media/image30.svg" ContentType="image/svg+xml"/>
  <Override PartName="/ppt/media/image32.svg" ContentType="image/svg+xml"/>
  <Override PartName="/ppt/media/image33.svg" ContentType="image/svg+xml"/>
  <Override PartName="/ppt/media/image35.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2.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9.svg" ContentType="image/svg+xml"/>
  <Override PartName="/ppt/media/image8.svg" ContentType="image/svg+xml"/>
  <Override PartName="/ppt/media/image81.svg" ContentType="image/svg+xml"/>
  <Override PartName="/ppt/media/image82.svg" ContentType="image/svg+xml"/>
  <Override PartName="/ppt/media/image83.svg" ContentType="image/svg+xml"/>
  <Override PartName="/ppt/media/image84.svg" ContentType="image/svg+xml"/>
  <Override PartName="/ppt/media/image85.svg" ContentType="image/svg+xml"/>
  <Override PartName="/ppt/media/image87.svg" ContentType="image/svg+xml"/>
  <Override PartName="/ppt/media/image89.svg" ContentType="image/svg+xml"/>
  <Override PartName="/ppt/media/image90.svg" ContentType="image/svg+xml"/>
  <Override PartName="/ppt/media/image9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B6799CA-8EF5-4D21-B2F7-53EA0B65EDF3}">
          <p14:sldIdLst>
            <p14:sldId id="256"/>
            <p14:sldId id="257"/>
            <p14:sldId id="258"/>
            <p14:sldId id="259"/>
            <p14:sldId id="260"/>
          </p14:sldIdLst>
        </p14:section>
        <p14:section name="5.1 Why Summarise at All" id="{FE8147BF-9C3A-4773-A32A-CF9D42906964}">
          <p14:sldIdLst>
            <p14:sldId id="261"/>
          </p14:sldIdLst>
        </p14:section>
        <p14:section name="5.2 Measures of Centre" id="{7F0EC396-5BBE-4F97-BF1E-519621AFADBB}">
          <p14:sldIdLst>
            <p14:sldId id="262"/>
            <p14:sldId id="263"/>
            <p14:sldId id="264"/>
            <p14:sldId id="265"/>
          </p14:sldIdLst>
        </p14:section>
        <p14:section name="5.3 Measures of Spread" id="{2F47BC15-DE5E-48D2-9329-C7A52117A26D}">
          <p14:sldIdLst>
            <p14:sldId id="266"/>
            <p14:sldId id="267"/>
            <p14:sldId id="268"/>
            <p14:sldId id="269"/>
            <p14:sldId id="270"/>
            <p14:sldId id="271"/>
            <p14:sldId id="272"/>
          </p14:sldIdLst>
        </p14:section>
        <p14:section name="5.4 Shape: Skew and the Distributions You Will Meet" id="{36E48435-648B-4312-A15B-94D07E901C1B}">
          <p14:sldIdLst>
            <p14:sldId id="273"/>
            <p14:sldId id="274"/>
            <p14:sldId id="275"/>
            <p14:sldId id="276"/>
            <p14:sldId id="277"/>
            <p14:sldId id="278"/>
          </p14:sldIdLst>
        </p14:section>
        <p14:section name="Four lenses" id="{83BB0B27-CF8E-4555-82EE-CD3AB79DFD6E}">
          <p14:sldIdLst>
            <p14:sldId id="279"/>
            <p14:sldId id="280"/>
            <p14:sldId id="281"/>
            <p14:sldId id="282"/>
            <p14:sldId id="283"/>
          </p14:sldIdLst>
        </p14:section>
        <p14:section name="Lab" id="{BB2E5A34-5F6B-4A14-8131-7ECED008F773}">
          <p14:sldIdLst>
            <p14:sldId id="284"/>
            <p14:sldId id="285"/>
            <p14:sldId id="286"/>
            <p14:sldId id="287"/>
          </p14:sldIdLst>
        </p14:section>
        <p14:section name="Checkpoint" id="{8BA6A3D3-32C2-4F27-BB67-7E4C98675346}">
          <p14:sldIdLst>
            <p14:sldId id="288"/>
            <p14:sldId id="289"/>
            <p14:sldId id="290"/>
            <p14:sldId id="291"/>
            <p14:sldId id="292"/>
            <p14:sldId id="293"/>
          </p14:sldIdLst>
        </p14:section>
        <p14:section name="Wrap-up" id="{30102779-4E45-463B-B4EF-7730779549FE}">
          <p14:sldIdLst>
            <p14:sldId id="294"/>
            <p14:sldId id="295"/>
            <p14:sldId id="296"/>
            <p14:sldId id="297"/>
            <p14:sldId id="29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5: Describing Data: Centre, Spread and Shape. Part 1 — Foundations of Data. Week 3: Describing data; probability. Handout pages 29–34.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3 (measurement scales — they decide which summary is legal) and Chapter 4 (summation notation).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mean; median; mode; range; variance; standard deviation; quartile; interquartile range; outlier; skewness; normal, uniform, binomial, Poisson and long-tailed distributions; robustness.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datasets can share a mean and be nothing alike. Spread is what distinguishes “every server responds in about 40 ms” from “servers respond in 5 ms or 200 ms depending on the day”.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5.1 (handout p. 31): Anatomy of a boxplot. The box holds the middle 50% of the data, the whiskers reach the furthest point within 1.5×IQR of the box, and anything beyond is drawn individually as a candidate outlier. A boxplot shows centre, spread, skew and outliers in one object.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5.2 (handout p. 31): Skew and what it does to the centre. The mean is dragged towards the long tail; the median stays put. If mean and median differ substantially, the distribution is skewed and you should report the median.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5.3 (handout p. 32): Four shapes you will meet constantly. Recognising which one a variable follows tells you which summary to report, which model assumptions are safe, and whether “three standard deviations” means anything.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Time spent on an assignment is strongly right-skewed: most students take 2–4 hours, a few take thirty. Report the median hours, not the mean, or every published figure will overstate typical effort and demoralise students who compare themselves to it. The IQR is the honest measure of “how much do students vary”.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Task completion times are right-skewed for the same reason: a task can overrun without limit but cannot finish in less than zero. This is why median-based forecasting beats mean-based estimation, and why experienced estimators quote ranges (Q1–Q3) rather than points. A sprint planned on mean velocity will miss more often than it hits.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Sensor readings around a controlled set point are approximately normal, so the standard deviation is meaningful and a 3σ rule is defensible. Battery life and time-between-failures are long-tailed, so it is not. The same fleet therefore needs different summaries for different channels — do not apply one rule across the telemetry.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Failed logins per minute per account is a Poisson count, usually with a mode of zero. The mean is a poor description and the standard deviation is nearly meaningless. What matters is the tail: the 99.9th percentile, and how far above it a given account sits. Note also that the outlier you would delete in the learning-analytics lens is the alert you would escalate here.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Strongly right-skewed. Publish the median of 12, with the IQR; the mean of 45 describes almost none of the observations.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Mean = 24/5 = 4.8. Median = 4. s2 = ((2−4.8)2+(4−4.8)2+(4−4.8)2+(5−4.8)2+(9−4.8)2)/4 = (7.84+0.64+0.64+0.04+17.64)/4 = 6.7, so s ≈ 2.59.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the values are unordered category labels. “Average protocol” has no meaning, and a median requires an ordering that does not exist. Only the most frequent value is defined.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6 — Probability and Uncertainty. READ: Handout Chapter 5, pages 29–34. THIS WEEK'S LAB: Centre, spread, shape; base-rate simulation. ASSESSMENT: Quiz 1 (Ch 1–4).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1.xml"/><Relationship Id="rId8" Type="http://schemas.openxmlformats.org/officeDocument/2006/relationships/slide" Target="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1.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6.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9.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30.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33.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36.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image" Target="../media/image41.png"/><Relationship Id="rId5" Type="http://schemas.openxmlformats.org/officeDocument/2006/relationships/image" Target="../media/image42.svg"/><Relationship Id="rId6" Type="http://schemas.openxmlformats.org/officeDocument/2006/relationships/image" Target="../media/image43.png"/><Relationship Id="rId7" Type="http://schemas.openxmlformats.org/officeDocument/2006/relationships/image" Target="../media/image44.svg"/><Relationship Id="rId8" Type="http://schemas.openxmlformats.org/officeDocument/2006/relationships/image" Target="../media/image45.png"/><Relationship Id="rId9" Type="http://schemas.openxmlformats.org/officeDocument/2006/relationships/image" Target="../media/image46.svg"/><Relationship Id="rId10" Type="http://schemas.openxmlformats.org/officeDocument/2006/relationships/image" Target="../media/image47.png"/><Relationship Id="rId11" Type="http://schemas.openxmlformats.org/officeDocument/2006/relationships/image" Target="../media/image48.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image" Target="../media/image41.png"/><Relationship Id="rId5" Type="http://schemas.openxmlformats.org/officeDocument/2006/relationships/image" Target="../media/image51.svg"/><Relationship Id="rId6" Type="http://schemas.openxmlformats.org/officeDocument/2006/relationships/image" Target="../media/image43.png"/><Relationship Id="rId7" Type="http://schemas.openxmlformats.org/officeDocument/2006/relationships/image" Target="../media/image52.svg"/><Relationship Id="rId8" Type="http://schemas.openxmlformats.org/officeDocument/2006/relationships/image" Target="../media/image45.png"/><Relationship Id="rId9" Type="http://schemas.openxmlformats.org/officeDocument/2006/relationships/image" Target="../media/image53.svg"/><Relationship Id="rId10" Type="http://schemas.openxmlformats.org/officeDocument/2006/relationships/image" Target="../media/image47.png"/><Relationship Id="rId11" Type="http://schemas.openxmlformats.org/officeDocument/2006/relationships/image" Target="../media/image54.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image" Target="../media/image43.png"/><Relationship Id="rId5" Type="http://schemas.openxmlformats.org/officeDocument/2006/relationships/image" Target="../media/image57.svg"/><Relationship Id="rId6" Type="http://schemas.openxmlformats.org/officeDocument/2006/relationships/image" Target="../media/image41.png"/><Relationship Id="rId7" Type="http://schemas.openxmlformats.org/officeDocument/2006/relationships/image" Target="../media/image58.svg"/><Relationship Id="rId8" Type="http://schemas.openxmlformats.org/officeDocument/2006/relationships/image" Target="../media/image45.png"/><Relationship Id="rId9" Type="http://schemas.openxmlformats.org/officeDocument/2006/relationships/image" Target="../media/image59.svg"/><Relationship Id="rId10" Type="http://schemas.openxmlformats.org/officeDocument/2006/relationships/image" Target="../media/image47.png"/><Relationship Id="rId11" Type="http://schemas.openxmlformats.org/officeDocument/2006/relationships/image" Target="../media/image60.svg"/><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svg"/><Relationship Id="rId4" Type="http://schemas.openxmlformats.org/officeDocument/2006/relationships/image" Target="../media/image45.png"/><Relationship Id="rId5" Type="http://schemas.openxmlformats.org/officeDocument/2006/relationships/image" Target="../media/image63.svg"/><Relationship Id="rId6" Type="http://schemas.openxmlformats.org/officeDocument/2006/relationships/image" Target="../media/image41.png"/><Relationship Id="rId7" Type="http://schemas.openxmlformats.org/officeDocument/2006/relationships/image" Target="../media/image64.svg"/><Relationship Id="rId8" Type="http://schemas.openxmlformats.org/officeDocument/2006/relationships/image" Target="../media/image43.png"/><Relationship Id="rId9" Type="http://schemas.openxmlformats.org/officeDocument/2006/relationships/image" Target="../media/image65.svg"/><Relationship Id="rId10" Type="http://schemas.openxmlformats.org/officeDocument/2006/relationships/image" Target="../media/image47.png"/><Relationship Id="rId11" Type="http://schemas.openxmlformats.org/officeDocument/2006/relationships/image" Target="../media/image66.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image" Target="../media/image68.svg"/><Relationship Id="rId4" Type="http://schemas.openxmlformats.org/officeDocument/2006/relationships/image" Target="../media/image47.png"/><Relationship Id="rId5" Type="http://schemas.openxmlformats.org/officeDocument/2006/relationships/image" Target="../media/image69.svg"/><Relationship Id="rId6" Type="http://schemas.openxmlformats.org/officeDocument/2006/relationships/image" Target="../media/image41.png"/><Relationship Id="rId7" Type="http://schemas.openxmlformats.org/officeDocument/2006/relationships/image" Target="../media/image70.svg"/><Relationship Id="rId8" Type="http://schemas.openxmlformats.org/officeDocument/2006/relationships/image" Target="../media/image43.png"/><Relationship Id="rId9" Type="http://schemas.openxmlformats.org/officeDocument/2006/relationships/image" Target="../media/image71.svg"/><Relationship Id="rId10" Type="http://schemas.openxmlformats.org/officeDocument/2006/relationships/image" Target="../media/image45.png"/><Relationship Id="rId11" Type="http://schemas.openxmlformats.org/officeDocument/2006/relationships/image" Target="../media/image72.sv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4.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5.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6.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image" Target="../media/image77.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79.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1.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2.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3.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4.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5.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image" Target="../media/image87.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image" Target="../media/image89.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image" Target="../media/image90.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image" Target="../media/image91.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05</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Describing Data: Centre, Spread and Shape</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FOUNDATIONS OF DATA</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5  ·  WEEK 3</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29     </a:t>
            </a:r>
            <a:fld id="{9F4CAF8B-0798-480A-8501-3FB4216A5F97}" type="slidenum">
              <a:rPr lang="en-GB" sz="1000">
                <a:solidFill>
                  <a:srgbClr val="8795A1"/>
                </a:solidFill>
                <a:latin typeface="Segoe UI"/>
              </a:rPr>
              <a:t>2</a:t>
            </a:fld>
          </a:p>
        </p:txBody>
      </p:sp>
      <p:sp>
        <p:nvSpPr>
          <p:cNvPr id="7" name="!!rp1"/>
          <p:cNvSpPr txBox="1"/>
          <p:nvPr/>
        </p:nvSpPr>
        <p:spPr>
          <a:xfrm>
            <a:off x="777240" y="1755648"/>
            <a:ext cx="194532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945328"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3051752"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3051752"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45227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45227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415887"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415887"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88764"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888764"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9" name="!!dot6">
            <a:extLst>
              <a:ext uri="{C183D7F6-B498-43B3-948B-1728B52AA6E4}">
                <adec:decorative xmlns:adec="http://schemas.microsoft.com/office/drawing/2017/decorative" val="1"/>
              </a:ext>
            </a:extLst>
          </p:cNvPr>
          <p:cNvSpPr/>
          <p:nvPr/>
        </p:nvSpPr>
        <p:spPr>
          <a:xfrm>
            <a:off x="2472066"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3806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027935"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9364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309485"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2180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591034"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49959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872584"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7811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42845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3370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71000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6185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99155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9001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527310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518166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55465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46321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836200"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7447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39207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63006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67361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58217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95516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86372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723671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714527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51826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42682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658368"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Describing Data: Centre, Spread and Shape</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3">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3">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3"/>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Data: Types, Sources and Quality</a:t>
            </a:r>
          </a:p>
        </p:txBody>
      </p:sp>
      <p:sp>
        <p:nvSpPr>
          <p:cNvPr id="88" name="!!chipBU4">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4">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4"/>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4  </a:t>
            </a:r>
            <a:r>
              <a:rPr sz="1400" b="0" i="0">
                <a:solidFill>
                  <a:srgbClr val="1C252B"/>
                </a:solidFill>
                <a:latin typeface="Segoe UI"/>
              </a:rPr>
              <a:t>The Mathematical Toolkit</a:t>
            </a:r>
          </a:p>
        </p:txBody>
      </p:sp>
      <p:sp>
        <p:nvSpPr>
          <p:cNvPr id="9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2" name="!!chipUS6">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bUS6">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4" name="!!chiptUS6"/>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6  </a:t>
            </a:r>
            <a:r>
              <a:rPr sz="1400" b="0" i="0">
                <a:solidFill>
                  <a:srgbClr val="1C252B"/>
                </a:solidFill>
                <a:latin typeface="Segoe UI"/>
              </a:rPr>
              <a:t>Probability and Uncertainty</a:t>
            </a:r>
          </a:p>
        </p:txBody>
      </p:sp>
      <p:sp>
        <p:nvSpPr>
          <p:cNvPr id="95" name="!!chipUS8">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chipbUS8">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chiptUS8"/>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8  </a:t>
            </a:r>
            <a:r>
              <a:rPr sz="1400" b="0" i="0">
                <a:solidFill>
                  <a:srgbClr val="1C252B"/>
                </a:solidFill>
                <a:latin typeface="Segoe UI"/>
              </a:rPr>
              <a:t>Exploratory Data Analysis and Visualisation</a:t>
            </a:r>
          </a:p>
        </p:txBody>
      </p:sp>
      <p:sp>
        <p:nvSpPr>
          <p:cNvPr id="98" name="!!chipUS9">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9" name="!!chipbUS9">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0" name="!!chiptUS9"/>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9  </a:t>
            </a:r>
            <a:r>
              <a:rPr sz="1400" b="0" i="0">
                <a:solidFill>
                  <a:srgbClr val="1C252B"/>
                </a:solidFill>
                <a:latin typeface="Segoe UI"/>
              </a:rPr>
              <a:t>Inferential Statistics</a:t>
            </a:r>
          </a:p>
        </p:txBody>
      </p:sp>
      <p:sp>
        <p:nvSpPr>
          <p:cNvPr id="101" name="!!chipUS11">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2" name="!!chipbUS11">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3" name="!!chiptUS11"/>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11  </a:t>
            </a:r>
            <a:r>
              <a:rPr sz="1400" b="0" i="0">
                <a:solidFill>
                  <a:srgbClr val="1C252B"/>
                </a:solidFill>
                <a:latin typeface="Segoe UI"/>
              </a:rPr>
              <a:t>Machine Learning Fundamentals</a:t>
            </a:r>
          </a:p>
        </p:txBody>
      </p:sp>
      <p:sp>
        <p:nvSpPr>
          <p:cNvPr id="104" name="!!chipUS19">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5" name="!!chipbUS19">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6" name="!!chiptUS19"/>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19  </a:t>
            </a:r>
            <a:r>
              <a:rPr sz="1400" b="0" i="0">
                <a:solidFill>
                  <a:srgbClr val="1C252B"/>
                </a:solidFill>
                <a:latin typeface="Segoe UI"/>
              </a:rPr>
              <a:t>Sequences, Time Series and Streaming Analytics</a:t>
            </a:r>
          </a:p>
        </p:txBody>
      </p:sp>
      <p:sp>
        <p:nvSpPr>
          <p:cNvPr id="10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8" name="!!pfill">
            <a:extLst>
              <a:ext uri="{C183D7F6-B498-43B3-948B-1728B52AA6E4}">
                <adec:decorative xmlns:adec="http://schemas.microsoft.com/office/drawing/2017/decorative" val="1"/>
              </a:ext>
            </a:extLst>
          </p:cNvPr>
          <p:cNvSpPr/>
          <p:nvPr/>
        </p:nvSpPr>
        <p:spPr>
          <a:xfrm>
            <a:off x="0" y="0"/>
            <a:ext cx="56705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29     </a:t>
            </a:r>
            <a:fld id="{1044AD88-CB4E-405B-9580-6FB9174D6372}"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Compute</a:t>
            </a:r>
            <a:r>
              <a:rPr sz="2100" b="0" i="0">
                <a:solidFill>
                  <a:srgbClr val="1C252B"/>
                </a:solidFill>
                <a:latin typeface="Segoe UI"/>
              </a:rPr>
              <a:t> and </a:t>
            </a:r>
            <a:r>
              <a:rPr sz="2100" b="1" i="0">
                <a:solidFill>
                  <a:srgbClr val="1C252B"/>
                </a:solidFill>
                <a:latin typeface="Segoe UI"/>
              </a:rPr>
              <a:t>choose between</a:t>
            </a:r>
            <a:r>
              <a:rPr sz="2100" b="0" i="0">
                <a:solidFill>
                  <a:srgbClr val="1C252B"/>
                </a:solidFill>
                <a:latin typeface="Segoe UI"/>
              </a:rPr>
              <a:t> the mean, median and mode for a given variable.</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Compute</a:t>
            </a:r>
            <a:r>
              <a:rPr sz="2100" b="0" i="0">
                <a:solidFill>
                  <a:srgbClr val="1C252B"/>
                </a:solidFill>
                <a:latin typeface="Segoe UI"/>
              </a:rPr>
              <a:t> range, variance, standard deviation and the interquartile range, and say what each is robust to.</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Read</a:t>
            </a:r>
            <a:r>
              <a:rPr sz="2100" b="0" i="0">
                <a:solidFill>
                  <a:srgbClr val="1C252B"/>
                </a:solidFill>
                <a:latin typeface="Segoe UI"/>
              </a:rPr>
              <a:t> a boxplot and identify outliers by the </a:t>
            </a:r>
            <a:r>
              <a:rPr sz="2100" b="0" i="0">
                <a:solidFill>
                  <a:srgbClr val="1C252B"/>
                </a:solidFill>
                <a:latin typeface="Cambria"/>
              </a:rPr>
              <a:t>1.5 × </a:t>
            </a:r>
            <a:r>
              <a:rPr sz="2100" b="0" i="0">
                <a:solidFill>
                  <a:srgbClr val="1C252B"/>
                </a:solidFill>
                <a:latin typeface="Segoe UI"/>
              </a:rPr>
              <a:t>IQR rule.</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268419"/>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Recognise</a:t>
            </a:r>
            <a:r>
              <a:rPr sz="2100" b="0" i="0">
                <a:solidFill>
                  <a:srgbClr val="1C252B"/>
                </a:solidFill>
                <a:latin typeface="Segoe UI"/>
              </a:rPr>
              <a:t> skew from a histogram and predict how it displaces the mean relative to the median.</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1698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Identify</a:t>
            </a:r>
            <a:r>
              <a:rPr sz="2100" b="0" i="0">
                <a:solidFill>
                  <a:srgbClr val="1C252B"/>
                </a:solidFill>
                <a:latin typeface="Segoe UI"/>
              </a:rPr>
              <a:t> which common distribution a variable plausibly follows and why that matters.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5058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29     </a:t>
            </a:r>
            <a:fld id="{B470A512-CCCD-4BA1-BD99-E08429B08050}" type="slidenum">
              <a:rPr lang="en-GB" sz="1000">
                <a:solidFill>
                  <a:srgbClr val="8795A1"/>
                </a:solidFill>
                <a:latin typeface="Segoe UI"/>
              </a:rPr>
              <a:t>4</a:t>
            </a:fld>
          </a:p>
        </p:txBody>
      </p:sp>
      <p:sp>
        <p:nvSpPr>
          <p:cNvPr id="7" name="!!term-mean">
            <a:extLst>
              <a:ext uri="{C183D7F6-B498-43B3-948B-1728B52AA6E4}">
                <adec:decorative xmlns:adec="http://schemas.microsoft.com/office/drawing/2017/decorative" val="1"/>
              </a:ext>
            </a:extLst>
          </p:cNvPr>
          <p:cNvSpPr/>
          <p:nvPr/>
        </p:nvSpPr>
        <p:spPr>
          <a:xfrm>
            <a:off x="658368" y="1847088"/>
            <a:ext cx="98042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mea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mean"/>
          <p:cNvSpPr txBox="1"/>
          <p:nvPr/>
        </p:nvSpPr>
        <p:spPr>
          <a:xfrm>
            <a:off x="950976" y="1955291"/>
            <a:ext cx="79754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mean</a:t>
            </a:r>
          </a:p>
        </p:txBody>
      </p:sp>
      <p:sp>
        <p:nvSpPr>
          <p:cNvPr id="10" name="!!term-median">
            <a:extLst>
              <a:ext uri="{C183D7F6-B498-43B3-948B-1728B52AA6E4}">
                <adec:decorative xmlns:adec="http://schemas.microsoft.com/office/drawing/2017/decorative" val="1"/>
              </a:ext>
            </a:extLst>
          </p:cNvPr>
          <p:cNvSpPr/>
          <p:nvPr/>
        </p:nvSpPr>
        <p:spPr>
          <a:xfrm>
            <a:off x="1785100" y="1847088"/>
            <a:ext cx="11634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median">
            <a:extLst>
              <a:ext uri="{C183D7F6-B498-43B3-948B-1728B52AA6E4}">
                <adec:decorative xmlns:adec="http://schemas.microsoft.com/office/drawing/2017/decorative" val="1"/>
              </a:ext>
            </a:extLst>
          </p:cNvPr>
          <p:cNvSpPr/>
          <p:nvPr/>
        </p:nvSpPr>
        <p:spPr>
          <a:xfrm>
            <a:off x="191311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median"/>
          <p:cNvSpPr txBox="1"/>
          <p:nvPr/>
        </p:nvSpPr>
        <p:spPr>
          <a:xfrm>
            <a:off x="2077708" y="1955291"/>
            <a:ext cx="98054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median</a:t>
            </a:r>
          </a:p>
        </p:txBody>
      </p:sp>
      <p:sp>
        <p:nvSpPr>
          <p:cNvPr id="13" name="!!term-mode">
            <a:extLst>
              <a:ext uri="{C183D7F6-B498-43B3-948B-1728B52AA6E4}">
                <adec:decorative xmlns:adec="http://schemas.microsoft.com/office/drawing/2017/decorative" val="1"/>
              </a:ext>
            </a:extLst>
          </p:cNvPr>
          <p:cNvSpPr/>
          <p:nvPr/>
        </p:nvSpPr>
        <p:spPr>
          <a:xfrm>
            <a:off x="3094833" y="1847088"/>
            <a:ext cx="100244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mode">
            <a:extLst>
              <a:ext uri="{C183D7F6-B498-43B3-948B-1728B52AA6E4}">
                <adec:decorative xmlns:adec="http://schemas.microsoft.com/office/drawing/2017/decorative" val="1"/>
              </a:ext>
            </a:extLst>
          </p:cNvPr>
          <p:cNvSpPr/>
          <p:nvPr/>
        </p:nvSpPr>
        <p:spPr>
          <a:xfrm>
            <a:off x="322284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mode"/>
          <p:cNvSpPr txBox="1"/>
          <p:nvPr/>
        </p:nvSpPr>
        <p:spPr>
          <a:xfrm>
            <a:off x="3387441" y="1955291"/>
            <a:ext cx="81956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mode</a:t>
            </a:r>
          </a:p>
        </p:txBody>
      </p:sp>
      <p:sp>
        <p:nvSpPr>
          <p:cNvPr id="16" name="!!term-range">
            <a:extLst>
              <a:ext uri="{C183D7F6-B498-43B3-948B-1728B52AA6E4}">
                <adec:decorative xmlns:adec="http://schemas.microsoft.com/office/drawing/2017/decorative" val="1"/>
              </a:ext>
            </a:extLst>
          </p:cNvPr>
          <p:cNvSpPr/>
          <p:nvPr/>
        </p:nvSpPr>
        <p:spPr>
          <a:xfrm>
            <a:off x="4243587" y="1847088"/>
            <a:ext cx="99716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range">
            <a:extLst>
              <a:ext uri="{C183D7F6-B498-43B3-948B-1728B52AA6E4}">
                <adec:decorative xmlns:adec="http://schemas.microsoft.com/office/drawing/2017/decorative" val="1"/>
              </a:ext>
            </a:extLst>
          </p:cNvPr>
          <p:cNvSpPr/>
          <p:nvPr/>
        </p:nvSpPr>
        <p:spPr>
          <a:xfrm>
            <a:off x="437160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range"/>
          <p:cNvSpPr txBox="1"/>
          <p:nvPr/>
        </p:nvSpPr>
        <p:spPr>
          <a:xfrm>
            <a:off x="4536195" y="1955291"/>
            <a:ext cx="81428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range</a:t>
            </a:r>
          </a:p>
        </p:txBody>
      </p:sp>
      <p:sp>
        <p:nvSpPr>
          <p:cNvPr id="19" name="!!term-variance">
            <a:extLst>
              <a:ext uri="{C183D7F6-B498-43B3-948B-1728B52AA6E4}">
                <adec:decorative xmlns:adec="http://schemas.microsoft.com/office/drawing/2017/decorative" val="1"/>
              </a:ext>
            </a:extLst>
          </p:cNvPr>
          <p:cNvSpPr/>
          <p:nvPr/>
        </p:nvSpPr>
        <p:spPr>
          <a:xfrm>
            <a:off x="5387055" y="1847088"/>
            <a:ext cx="124000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variance">
            <a:extLst>
              <a:ext uri="{C183D7F6-B498-43B3-948B-1728B52AA6E4}">
                <adec:decorative xmlns:adec="http://schemas.microsoft.com/office/drawing/2017/decorative" val="1"/>
              </a:ext>
            </a:extLst>
          </p:cNvPr>
          <p:cNvSpPr/>
          <p:nvPr/>
        </p:nvSpPr>
        <p:spPr>
          <a:xfrm>
            <a:off x="551507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variance"/>
          <p:cNvSpPr txBox="1"/>
          <p:nvPr/>
        </p:nvSpPr>
        <p:spPr>
          <a:xfrm>
            <a:off x="5679663" y="1955291"/>
            <a:ext cx="105712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variance</a:t>
            </a:r>
          </a:p>
        </p:txBody>
      </p:sp>
      <p:sp>
        <p:nvSpPr>
          <p:cNvPr id="22" name="!!term-standard devia">
            <a:extLst>
              <a:ext uri="{C183D7F6-B498-43B3-948B-1728B52AA6E4}">
                <adec:decorative xmlns:adec="http://schemas.microsoft.com/office/drawing/2017/decorative" val="1"/>
              </a:ext>
            </a:extLst>
          </p:cNvPr>
          <p:cNvSpPr/>
          <p:nvPr/>
        </p:nvSpPr>
        <p:spPr>
          <a:xfrm>
            <a:off x="6773362" y="1847088"/>
            <a:ext cx="224949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standard devia">
            <a:extLst>
              <a:ext uri="{C183D7F6-B498-43B3-948B-1728B52AA6E4}">
                <adec:decorative xmlns:adec="http://schemas.microsoft.com/office/drawing/2017/decorative" val="1"/>
              </a:ext>
            </a:extLst>
          </p:cNvPr>
          <p:cNvSpPr/>
          <p:nvPr/>
        </p:nvSpPr>
        <p:spPr>
          <a:xfrm>
            <a:off x="690137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standard devia"/>
          <p:cNvSpPr txBox="1"/>
          <p:nvPr/>
        </p:nvSpPr>
        <p:spPr>
          <a:xfrm>
            <a:off x="7065970" y="1955291"/>
            <a:ext cx="206661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standard deviation</a:t>
            </a:r>
          </a:p>
        </p:txBody>
      </p:sp>
      <p:sp>
        <p:nvSpPr>
          <p:cNvPr id="25" name="!!term-quartile">
            <a:extLst>
              <a:ext uri="{C183D7F6-B498-43B3-948B-1728B52AA6E4}">
                <adec:decorative xmlns:adec="http://schemas.microsoft.com/office/drawing/2017/decorative" val="1"/>
              </a:ext>
            </a:extLst>
          </p:cNvPr>
          <p:cNvSpPr/>
          <p:nvPr/>
        </p:nvSpPr>
        <p:spPr>
          <a:xfrm>
            <a:off x="9169166" y="1847088"/>
            <a:ext cx="117850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quartile">
            <a:extLst>
              <a:ext uri="{C183D7F6-B498-43B3-948B-1728B52AA6E4}">
                <adec:decorative xmlns:adec="http://schemas.microsoft.com/office/drawing/2017/decorative" val="1"/>
              </a:ext>
            </a:extLst>
          </p:cNvPr>
          <p:cNvSpPr/>
          <p:nvPr/>
        </p:nvSpPr>
        <p:spPr>
          <a:xfrm>
            <a:off x="929718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quartile"/>
          <p:cNvSpPr txBox="1"/>
          <p:nvPr/>
        </p:nvSpPr>
        <p:spPr>
          <a:xfrm>
            <a:off x="9461774" y="1955291"/>
            <a:ext cx="99562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quartile</a:t>
            </a:r>
          </a:p>
        </p:txBody>
      </p:sp>
      <p:sp>
        <p:nvSpPr>
          <p:cNvPr id="28" name="!!term-interquartile ">
            <a:extLst>
              <a:ext uri="{C183D7F6-B498-43B3-948B-1728B52AA6E4}">
                <adec:decorative xmlns:adec="http://schemas.microsoft.com/office/drawing/2017/decorative" val="1"/>
              </a:ext>
            </a:extLst>
          </p:cNvPr>
          <p:cNvSpPr/>
          <p:nvPr/>
        </p:nvSpPr>
        <p:spPr>
          <a:xfrm>
            <a:off x="658368" y="2468880"/>
            <a:ext cx="224142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interquartile ">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interquartile "/>
          <p:cNvSpPr txBox="1"/>
          <p:nvPr/>
        </p:nvSpPr>
        <p:spPr>
          <a:xfrm>
            <a:off x="950976" y="2577084"/>
            <a:ext cx="205854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interquartile range</a:t>
            </a:r>
          </a:p>
        </p:txBody>
      </p:sp>
      <p:sp>
        <p:nvSpPr>
          <p:cNvPr id="31" name="!!term-outlier">
            <a:extLst>
              <a:ext uri="{C183D7F6-B498-43B3-948B-1728B52AA6E4}">
                <adec:decorative xmlns:adec="http://schemas.microsoft.com/office/drawing/2017/decorative" val="1"/>
              </a:ext>
            </a:extLst>
          </p:cNvPr>
          <p:cNvSpPr/>
          <p:nvPr/>
        </p:nvSpPr>
        <p:spPr>
          <a:xfrm>
            <a:off x="3046095" y="2468880"/>
            <a:ext cx="106565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outlier">
            <a:extLst>
              <a:ext uri="{C183D7F6-B498-43B3-948B-1728B52AA6E4}">
                <adec:decorative xmlns:adec="http://schemas.microsoft.com/office/drawing/2017/decorative" val="1"/>
              </a:ext>
            </a:extLst>
          </p:cNvPr>
          <p:cNvSpPr/>
          <p:nvPr/>
        </p:nvSpPr>
        <p:spPr>
          <a:xfrm>
            <a:off x="317411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outlier"/>
          <p:cNvSpPr txBox="1"/>
          <p:nvPr/>
        </p:nvSpPr>
        <p:spPr>
          <a:xfrm>
            <a:off x="3338703" y="2577084"/>
            <a:ext cx="88277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outlier</a:t>
            </a:r>
          </a:p>
        </p:txBody>
      </p:sp>
      <p:sp>
        <p:nvSpPr>
          <p:cNvPr id="34" name="!!term-skewness">
            <a:extLst>
              <a:ext uri="{C183D7F6-B498-43B3-948B-1728B52AA6E4}">
                <adec:decorative xmlns:adec="http://schemas.microsoft.com/office/drawing/2017/decorative" val="1"/>
              </a:ext>
            </a:extLst>
          </p:cNvPr>
          <p:cNvSpPr/>
          <p:nvPr/>
        </p:nvSpPr>
        <p:spPr>
          <a:xfrm>
            <a:off x="4258052" y="2468880"/>
            <a:ext cx="134261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skewness">
            <a:extLst>
              <a:ext uri="{C183D7F6-B498-43B3-948B-1728B52AA6E4}">
                <adec:decorative xmlns:adec="http://schemas.microsoft.com/office/drawing/2017/decorative" val="1"/>
              </a:ext>
            </a:extLst>
          </p:cNvPr>
          <p:cNvSpPr/>
          <p:nvPr/>
        </p:nvSpPr>
        <p:spPr>
          <a:xfrm>
            <a:off x="438606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skewness"/>
          <p:cNvSpPr txBox="1"/>
          <p:nvPr/>
        </p:nvSpPr>
        <p:spPr>
          <a:xfrm>
            <a:off x="4550660" y="2577084"/>
            <a:ext cx="115973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skewness</a:t>
            </a:r>
          </a:p>
        </p:txBody>
      </p:sp>
      <p:sp>
        <p:nvSpPr>
          <p:cNvPr id="37" name="!!term-normal, unifor">
            <a:extLst>
              <a:ext uri="{C183D7F6-B498-43B3-948B-1728B52AA6E4}">
                <adec:decorative xmlns:adec="http://schemas.microsoft.com/office/drawing/2017/decorative" val="1"/>
              </a:ext>
            </a:extLst>
          </p:cNvPr>
          <p:cNvSpPr/>
          <p:nvPr/>
        </p:nvSpPr>
        <p:spPr>
          <a:xfrm>
            <a:off x="658368" y="3090672"/>
            <a:ext cx="66266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normal, unifor">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normal, unifor"/>
          <p:cNvSpPr txBox="1"/>
          <p:nvPr/>
        </p:nvSpPr>
        <p:spPr>
          <a:xfrm>
            <a:off x="950976" y="3198876"/>
            <a:ext cx="644379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normal, uniform, binomial, Poisson and long-tailed distributions</a:t>
            </a:r>
          </a:p>
        </p:txBody>
      </p:sp>
      <p:sp>
        <p:nvSpPr>
          <p:cNvPr id="40" name="!!term-robustness">
            <a:extLst>
              <a:ext uri="{C183D7F6-B498-43B3-948B-1728B52AA6E4}">
                <adec:decorative xmlns:adec="http://schemas.microsoft.com/office/drawing/2017/decorative" val="1"/>
              </a:ext>
            </a:extLst>
          </p:cNvPr>
          <p:cNvSpPr/>
          <p:nvPr/>
        </p:nvSpPr>
        <p:spPr>
          <a:xfrm>
            <a:off x="7431348" y="3090672"/>
            <a:ext cx="14932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robustness">
            <a:extLst>
              <a:ext uri="{C183D7F6-B498-43B3-948B-1728B52AA6E4}">
                <adec:decorative xmlns:adec="http://schemas.microsoft.com/office/drawing/2017/decorative" val="1"/>
              </a:ext>
            </a:extLst>
          </p:cNvPr>
          <p:cNvSpPr/>
          <p:nvPr/>
        </p:nvSpPr>
        <p:spPr>
          <a:xfrm>
            <a:off x="755936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robustness"/>
          <p:cNvSpPr txBox="1"/>
          <p:nvPr/>
        </p:nvSpPr>
        <p:spPr>
          <a:xfrm>
            <a:off x="7723956" y="3198876"/>
            <a:ext cx="131039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robustness</a:t>
            </a:r>
          </a:p>
        </p:txBody>
      </p:sp>
      <p:sp>
        <p:nvSpPr>
          <p:cNvPr id="43"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pfill">
            <a:extLst>
              <a:ext uri="{C183D7F6-B498-43B3-948B-1728B52AA6E4}">
                <adec:decorative xmlns:adec="http://schemas.microsoft.com/office/drawing/2017/decorative" val="1"/>
              </a:ext>
            </a:extLst>
          </p:cNvPr>
          <p:cNvSpPr/>
          <p:nvPr/>
        </p:nvSpPr>
        <p:spPr>
          <a:xfrm>
            <a:off x="0" y="0"/>
            <a:ext cx="11341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29–34     </a:t>
            </a:r>
            <a:fld id="{E0EFC3F8-6B9E-4E69-A800-527DDB73E744}" type="slidenum">
              <a:rPr lang="en-GB" sz="1000">
                <a:solidFill>
                  <a:srgbClr val="8795A1"/>
                </a:solidFill>
                <a:latin typeface="Segoe UI"/>
              </a:rPr>
              <a:t>5</a:t>
            </a:fld>
          </a:p>
        </p:txBody>
      </p:sp>
      <p:sp>
        <p:nvSpPr>
          <p:cNvPr id="7" name="!!ag0" descr="Go to section 5.1 Why Summarise at All">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5.1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Summarise at All</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29  ›</a:t>
            </a:r>
          </a:p>
        </p:txBody>
      </p:sp>
      <p:sp>
        <p:nvSpPr>
          <p:cNvPr id="12" name="!!ag1" descr="Go to section 5.2 Measures of Centre">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5.2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Measures of Centre</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29  ›</a:t>
            </a:r>
          </a:p>
        </p:txBody>
      </p:sp>
      <p:sp>
        <p:nvSpPr>
          <p:cNvPr id="17" name="!!ag2" descr="Go to section 5.3 Measures of Spread">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5.3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Measures of Spread</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30  ›</a:t>
            </a:r>
          </a:p>
        </p:txBody>
      </p:sp>
      <p:sp>
        <p:nvSpPr>
          <p:cNvPr id="22" name="!!ag3" descr="Go to section 5.4 Shape: Skew and the Distributions You Will Meet">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5.4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Shape: Skew and the Distributions You Will Meet</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31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41763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Summarise at All</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§5.1  ·  Handout p. 29     </a:t>
            </a:r>
            <a:fld id="{3E200ADC-1114-4AE8-99BD-6D1DAD583C02}"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161178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1694078"/>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You cannot look at 400,000 rows. A summary replaces a dataset with a handful of numbers that preserve what matters and discard what does not — and the entire skill lies in knowing which is which. Every summary is a deliberate loss of information.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70116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Measures of Centre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5.2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5.1   Why Summarise at All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5.2   Measures of Centre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5.3   Measures of Spread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5.4   Shape: Skew and the Distributions You Will Meet</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§5.2     </a:t>
            </a:r>
            <a:fld id="{D0E1AD8F-F82C-40B1-8E4A-9F70EC464D2F}" type="slidenum">
              <a:rPr lang="en-GB" sz="1000">
                <a:solidFill>
                  <a:srgbClr val="8795A1"/>
                </a:solidFill>
                <a:latin typeface="Segoe UI"/>
              </a:rPr>
              <a:t>7</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98469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Mean, Median, Mode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§5.2  ·  Handout p. 29     </a:t>
            </a:r>
            <a:fld id="{9FA65B44-B9AE-4611-80B5-825D86BA86D0}"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57093"/>
          </a:xfrm>
          <a:prstGeom prst="roundRect">
            <a:avLst>
              <a:gd name="adj" fmla="val 320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5709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The mean x̄ = 1/nΣi=1n xi is the arithmetic averag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048255"/>
            <a:ext cx="10161727" cy="455828"/>
          </a:xfrm>
          <a:prstGeom prst="rect">
            <a:avLst/>
          </a:prstGeom>
        </p:spPr>
      </p:pic>
      <p:sp>
        <p:nvSpPr>
          <p:cNvPr id="10" name="body-1"/>
          <p:cNvSpPr txBox="1"/>
          <p:nvPr/>
        </p:nvSpPr>
        <p:spPr>
          <a:xfrm>
            <a:off x="1060704" y="2664739"/>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median</a:t>
            </a:r>
            <a:r>
              <a:rPr sz="2300" b="0" i="0">
                <a:solidFill>
                  <a:srgbClr val="1C252B"/>
                </a:solidFill>
                <a:latin typeface="Segoe UI"/>
              </a:rPr>
              <a:t> is the middle value when the data is sorted (the average of the two middle values if </a:t>
            </a:r>
            <a:r>
              <a:rPr sz="2300" b="0" i="1">
                <a:solidFill>
                  <a:srgbClr val="1C252B"/>
                </a:solidFill>
                <a:latin typeface="Cambria"/>
              </a:rPr>
              <a:t>n</a:t>
            </a:r>
            <a:r>
              <a:rPr sz="2300" b="0" i="0">
                <a:solidFill>
                  <a:srgbClr val="1C252B"/>
                </a:solidFill>
                <a:latin typeface="Segoe UI"/>
              </a:rPr>
              <a:t> is even).</a:t>
            </a:r>
          </a:p>
        </p:txBody>
      </p:sp>
      <p:sp>
        <p:nvSpPr>
          <p:cNvPr id="11" name="body-2"/>
          <p:cNvSpPr txBox="1"/>
          <p:nvPr/>
        </p:nvSpPr>
        <p:spPr>
          <a:xfrm>
            <a:off x="1060704" y="355447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mode</a:t>
            </a:r>
            <a:r>
              <a:rPr sz="2300" b="0" i="0">
                <a:solidFill>
                  <a:srgbClr val="1C252B"/>
                </a:solidFill>
                <a:latin typeface="Segoe UI"/>
              </a:rPr>
              <a:t> is the most frequently occurring value — the only centre that is meaningful for nominal data.</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26822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When the Mean Lies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§5.2  ·  Handout p. 29     </a:t>
            </a:r>
            <a:fld id="{10FE8B82-7321-4E22-A025-D7B45F058E08}"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23639"/>
          </a:xfrm>
          <a:prstGeom prst="roundRect">
            <a:avLst>
              <a:gd name="adj" fmla="val 216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236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Response times in milliseconds for seven API calls: 12, 14, 15, 15, 17, 19, 8400</a:t>
            </a:r>
          </a:p>
        </p:txBody>
      </p:sp>
      <p:sp>
        <p:nvSpPr>
          <p:cNvPr id="10" name="body-1"/>
          <p:cNvSpPr txBox="1"/>
          <p:nvPr/>
        </p:nvSpPr>
        <p:spPr>
          <a:xfrm>
            <a:off x="1042416" y="244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Mean:</a:t>
            </a:r>
            <a:r>
              <a:rPr sz="1900" b="0" i="0">
                <a:solidFill>
                  <a:srgbClr val="1C252B"/>
                </a:solidFill>
                <a:latin typeface="Segoe UI"/>
              </a:rPr>
              <a:t> </a:t>
            </a:r>
            <a:r>
              <a:rPr sz="1900" b="0" i="0">
                <a:solidFill>
                  <a:srgbClr val="1C252B"/>
                </a:solidFill>
                <a:latin typeface="Cambria"/>
              </a:rPr>
              <a:t>(12+14+15+15+17+19+8400)/7 = 8492/7 ≈ 1213</a:t>
            </a:r>
            <a:r>
              <a:rPr sz="1900" b="0" i="0">
                <a:solidFill>
                  <a:srgbClr val="1C252B"/>
                </a:solidFill>
                <a:latin typeface="Segoe UI"/>
              </a:rPr>
              <a:t> ms.</a:t>
            </a:r>
          </a:p>
        </p:txBody>
      </p:sp>
      <p:sp>
        <p:nvSpPr>
          <p:cNvPr id="11" name="body-2"/>
          <p:cNvSpPr txBox="1"/>
          <p:nvPr/>
        </p:nvSpPr>
        <p:spPr>
          <a:xfrm>
            <a:off x="1042416" y="287939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Median:</a:t>
            </a:r>
            <a:r>
              <a:rPr sz="1900" b="0" i="0">
                <a:solidFill>
                  <a:srgbClr val="1C252B"/>
                </a:solidFill>
                <a:latin typeface="Segoe UI"/>
              </a:rPr>
              <a:t> sorted, the 4th of 7 values is </a:t>
            </a:r>
            <a:r>
              <a:rPr sz="1900" b="0" i="0">
                <a:solidFill>
                  <a:srgbClr val="1C252B"/>
                </a:solidFill>
                <a:latin typeface="Cambria"/>
              </a:rPr>
              <a:t>15</a:t>
            </a:r>
            <a:r>
              <a:rPr sz="1900" b="0" i="0">
                <a:solidFill>
                  <a:srgbClr val="1C252B"/>
                </a:solidFill>
                <a:latin typeface="Segoe UI"/>
              </a:rPr>
              <a:t> ms.</a:t>
            </a:r>
          </a:p>
        </p:txBody>
      </p:sp>
      <p:sp>
        <p:nvSpPr>
          <p:cNvPr id="12" name="body-3"/>
          <p:cNvSpPr txBox="1"/>
          <p:nvPr/>
        </p:nvSpPr>
        <p:spPr>
          <a:xfrm>
            <a:off x="1042416" y="331325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Mode:</a:t>
            </a:r>
            <a:r>
              <a:rPr sz="1900" b="0" i="0">
                <a:solidFill>
                  <a:srgbClr val="1C252B"/>
                </a:solidFill>
                <a:latin typeface="Segoe UI"/>
              </a:rPr>
              <a:t> </a:t>
            </a:r>
            <a:r>
              <a:rPr sz="1900" b="0" i="0">
                <a:solidFill>
                  <a:srgbClr val="1C252B"/>
                </a:solidFill>
                <a:latin typeface="Cambria"/>
              </a:rPr>
              <a:t>15</a:t>
            </a:r>
            <a:r>
              <a:rPr sz="1900" b="0" i="0">
                <a:solidFill>
                  <a:srgbClr val="1C252B"/>
                </a:solidFill>
                <a:latin typeface="Segoe UI"/>
              </a:rPr>
              <a:t> ms.</a:t>
            </a:r>
          </a:p>
        </p:txBody>
      </p:sp>
      <p:sp>
        <p:nvSpPr>
          <p:cNvPr id="13" name="body-4"/>
          <p:cNvSpPr txBox="1"/>
          <p:nvPr/>
        </p:nvSpPr>
        <p:spPr>
          <a:xfrm>
            <a:off x="1042416" y="374710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Interpretation.</a:t>
            </a:r>
            <a:r>
              <a:rPr sz="1900" b="0" i="0">
                <a:solidFill>
                  <a:srgbClr val="1C252B"/>
                </a:solidFill>
                <a:latin typeface="Segoe UI"/>
              </a:rPr>
              <a:t> The mean of 1213 ms describes not a single one of the seven calls. Six were under 20 ms; one timed out. Reporting “average response time is 1.2 seconds” would be technically correct and completely misleading.</a:t>
            </a:r>
          </a:p>
        </p:txBody>
      </p:sp>
      <p:sp>
        <p:nvSpPr>
          <p:cNvPr id="14" name="body-5"/>
          <p:cNvSpPr txBox="1"/>
          <p:nvPr/>
        </p:nvSpPr>
        <p:spPr>
          <a:xfrm>
            <a:off x="1042416" y="4783251"/>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rule this illustrates:</a:t>
            </a:r>
            <a:r>
              <a:rPr sz="1900" b="0" i="0">
                <a:solidFill>
                  <a:srgbClr val="1C252B"/>
                </a:solidFill>
                <a:latin typeface="Segoe UI"/>
              </a:rPr>
              <a:t> the mean is </a:t>
            </a:r>
            <a:r>
              <a:rPr sz="1900" b="1" i="0">
                <a:solidFill>
                  <a:srgbClr val="1A5276"/>
                </a:solidFill>
                <a:latin typeface="Segoe UI"/>
              </a:rPr>
              <a:t>sensitive</a:t>
            </a:r>
            <a:r>
              <a:rPr sz="1900" b="0" i="0">
                <a:solidFill>
                  <a:srgbClr val="1C252B"/>
                </a:solidFill>
                <a:latin typeface="Segoe UI"/>
              </a:rPr>
              <a:t> to extreme values, the median is </a:t>
            </a:r>
            <a:r>
              <a:rPr sz="1900" b="1" i="0">
                <a:solidFill>
                  <a:srgbClr val="1A5276"/>
                </a:solidFill>
                <a:latin typeface="Segoe UI"/>
              </a:rPr>
              <a:t>robust</a:t>
            </a:r>
            <a:r>
              <a:rPr sz="1900" b="0" i="0">
                <a:solidFill>
                  <a:srgbClr val="1C252B"/>
                </a:solidFill>
                <a:latin typeface="Segoe UI"/>
              </a:rPr>
              <a:t> to them. Report the median for anything with a long tail — response times, salaries, session durations, file sizes — which in practice is most operational data you will ever meet.</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255175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Measures of Centre</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§5.2  ·  Handout p. 29     </a:t>
            </a:r>
            <a:fld id="{C4912FD2-2B63-434F-8084-375DBEC92120}" type="slidenum">
              <a:rPr lang="en-GB" sz="1000">
                <a:solidFill>
                  <a:srgbClr val="8795A1"/>
                </a:solidFill>
                <a:latin typeface="Segoe UI"/>
              </a:rPr>
              <a:t>10</a:t>
            </a:fld>
          </a:p>
        </p:txBody>
      </p:sp>
      <p:graphicFrame>
        <p:nvGraphicFramePr>
          <p:cNvPr id="7" name="!!table"/>
          <p:cNvGraphicFramePr>
            <a:graphicFrameLocks noGrp="1"/>
          </p:cNvGraphicFramePr>
          <p:nvPr/>
        </p:nvGraphicFramePr>
        <p:xfrm>
          <a:off x="658368" y="1737360"/>
          <a:ext cx="10874957" cy="2398776"/>
        </p:xfrm>
        <a:graphic>
          <a:graphicData uri="http://schemas.openxmlformats.org/drawingml/2006/table">
            <a:tbl>
              <a:tblPr firstRow="0" bandRow="0" firstCol="0" lastRow="0" lastCol="0" bandCol="0">
                <a:tableStyleId>{2D5ABB26-0587-4C30-8999-92F81FD0307C}</a:tableStyleId>
              </a:tblPr>
              <a:tblGrid>
                <a:gridCol w="1531684"/>
                <a:gridCol w="2297526"/>
                <a:gridCol w="3063368"/>
                <a:gridCol w="3982379"/>
              </a:tblGrid>
              <a:tr h="405384">
                <a:tc>
                  <a:txBody>
                    <a:bodyPr wrap="square"/>
                    <a:lstStyle/>
                    <a:p>
                      <a:pPr algn="l"/>
                      <a:r>
                        <a:rPr sz="1700" b="1" i="0">
                          <a:solidFill>
                            <a:srgbClr val="1A5276"/>
                          </a:solidFill>
                          <a:latin typeface="Segoe UI"/>
                        </a:rPr>
                        <a:t>Measure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Valid for</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Robust to outliers?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Use when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Mean</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Interval, ratio</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No — one value can move it arbitrarily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Data is roughly symmetric and you need to do further arithmetic</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Median</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Ordinal, interval, ratio</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Yes — unaffected by how extreme the extremes are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Data is skewed, or outliers are present and genuine</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Mode</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Any, including nominal</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Yes</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The variable is categorical, or you want the most typical case</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83527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Measures of Spread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5.3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5.1   Why Summarise at All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5.2   Measures of Centre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5.3   Measures of Spread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5.4   Shape: Skew and the Distributions You Will Meet</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§5.3     </a:t>
            </a:r>
            <a:fld id="{A4537A49-4D23-4D73-B95B-C239818E53A8}" type="slidenum">
              <a:rPr lang="en-GB" sz="1000">
                <a:solidFill>
                  <a:srgbClr val="8795A1"/>
                </a:solidFill>
                <a:latin typeface="Segoe UI"/>
              </a:rPr>
              <a:t>11</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11880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Variance and Standard Deviation</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§5.3  ·  Handout p. 30     </a:t>
            </a:r>
            <a:fld id="{4AE76610-2E9A-41E7-8EA5-47C61F97B513}"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10011"/>
          </a:xfrm>
          <a:prstGeom prst="roundRect">
            <a:avLst>
              <a:gd name="adj" fmla="val 3037"/>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1001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sample variance</a:t>
            </a:r>
            <a:r>
              <a:rPr sz="2300" b="0" i="0">
                <a:solidFill>
                  <a:srgbClr val="1C252B"/>
                </a:solidFill>
                <a:latin typeface="Segoe UI"/>
              </a:rPr>
              <a:t> is</a:t>
            </a:r>
          </a:p>
        </p:txBody>
      </p:sp>
      <p:pic>
        <p:nvPicPr>
          <p:cNvPr id="10" name="body-1" descr="s^2 \;=\; \frac{1}{n-1}\sum_{i=1}^{n}\left(x_i - \bar{x}\right)^2"/>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2573451"/>
            <a:ext cx="10161727" cy="973287"/>
          </a:xfrm>
          <a:prstGeom prst="rect">
            <a:avLst/>
          </a:prstGeom>
        </p:spPr>
      </p:pic>
      <p:sp>
        <p:nvSpPr>
          <p:cNvPr id="11" name="body-2"/>
          <p:cNvSpPr txBox="1"/>
          <p:nvPr/>
        </p:nvSpPr>
        <p:spPr>
          <a:xfrm>
            <a:off x="1060704" y="3707394"/>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and the </a:t>
            </a:r>
            <a:r>
              <a:rPr sz="2300" b="1" i="0">
                <a:solidFill>
                  <a:srgbClr val="1A5276"/>
                </a:solidFill>
                <a:latin typeface="Segoe UI"/>
              </a:rPr>
              <a:t>standard deviation</a:t>
            </a:r>
            <a:r>
              <a:rPr sz="2300" b="0" i="0">
                <a:solidFill>
                  <a:srgbClr val="1C252B"/>
                </a:solidFill>
                <a:latin typeface="Segoe UI"/>
              </a:rPr>
              <a:t> is </a:t>
            </a:r>
            <a:r>
              <a:rPr sz="2300" b="0" i="1">
                <a:solidFill>
                  <a:srgbClr val="1C252B"/>
                </a:solidFill>
                <a:latin typeface="Cambria"/>
              </a:rPr>
              <a:t>s</a:t>
            </a:r>
            <a:r>
              <a:rPr sz="2300" b="0" i="0">
                <a:solidFill>
                  <a:srgbClr val="1C252B"/>
                </a:solidFill>
                <a:latin typeface="Cambria"/>
              </a:rPr>
              <a:t> = √(</a:t>
            </a:r>
            <a:r>
              <a:rPr sz="2300" b="0" i="1">
                <a:solidFill>
                  <a:srgbClr val="1C252B"/>
                </a:solidFill>
                <a:latin typeface="Cambria"/>
              </a:rPr>
              <a:t>s</a:t>
            </a:r>
            <a:r>
              <a:rPr sz="2300" b="0" i="0" baseline="30000">
                <a:solidFill>
                  <a:srgbClr val="1C252B"/>
                </a:solidFill>
                <a:latin typeface="Cambria"/>
              </a:rPr>
              <a:t>2</a:t>
            </a:r>
            <a:r>
              <a:rPr sz="2300" b="0" i="0">
                <a:solidFill>
                  <a:srgbClr val="1C252B"/>
                </a:solidFill>
                <a:latin typeface="Cambria"/>
              </a:rPr>
              <a:t>)</a:t>
            </a:r>
            <a:r>
              <a:rPr sz="2300" b="0" i="0">
                <a:solidFill>
                  <a:srgbClr val="1C252B"/>
                </a:solidFill>
                <a:latin typeface="Segoe UI"/>
              </a:rPr>
              <a:t>. The standard deviation is the more useful of the two because it is expressed in the </a:t>
            </a:r>
            <a:r>
              <a:rPr sz="2300" b="0" i="1">
                <a:solidFill>
                  <a:srgbClr val="1C252B"/>
                </a:solidFill>
                <a:latin typeface="Segoe UI"/>
              </a:rPr>
              <a:t>same units</a:t>
            </a:r>
            <a:r>
              <a:rPr sz="2300" b="0" i="0">
                <a:solidFill>
                  <a:srgbClr val="1C252B"/>
                </a:solidFill>
                <a:latin typeface="Segoe UI"/>
              </a:rPr>
              <a:t> as the data.</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40233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Divide by n−1?</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§5.3  ·  Handout p. 30     </a:t>
            </a:r>
            <a:fld id="{917AE18C-94CE-48CE-9999-405C4F5BD262}"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Because </a:t>
            </a:r>
            <a:r>
              <a:rPr sz="2300" b="0" i="1">
                <a:solidFill>
                  <a:srgbClr val="1C252B"/>
                </a:solidFill>
                <a:latin typeface="Cambria"/>
              </a:rPr>
              <a:t>x̄</a:t>
            </a:r>
            <a:r>
              <a:rPr sz="2300" b="0" i="0">
                <a:solidFill>
                  <a:srgbClr val="1C252B"/>
                </a:solidFill>
                <a:latin typeface="Segoe UI"/>
              </a:rPr>
              <a:t> was itself estimated from the same data, the deviations are very slightly too small on average. Dividing by </a:t>
            </a:r>
            <a:r>
              <a:rPr sz="2300" b="0" i="1">
                <a:solidFill>
                  <a:srgbClr val="1C252B"/>
                </a:solidFill>
                <a:latin typeface="Cambria"/>
              </a:rPr>
              <a:t>n</a:t>
            </a:r>
            <a:r>
              <a:rPr sz="2300" b="0" i="0">
                <a:solidFill>
                  <a:srgbClr val="1C252B"/>
                </a:solidFill>
                <a:latin typeface="Cambria"/>
              </a:rPr>
              <a:t>−1</a:t>
            </a:r>
            <a:r>
              <a:rPr sz="2300" b="0" i="0">
                <a:solidFill>
                  <a:srgbClr val="1C252B"/>
                </a:solidFill>
                <a:latin typeface="Segoe UI"/>
              </a:rPr>
              <a:t> rather than </a:t>
            </a:r>
            <a:r>
              <a:rPr sz="2300" b="0" i="1">
                <a:solidFill>
                  <a:srgbClr val="1C252B"/>
                </a:solidFill>
                <a:latin typeface="Cambria"/>
              </a:rPr>
              <a:t>n</a:t>
            </a:r>
            <a:r>
              <a:rPr sz="2300" b="0" i="0">
                <a:solidFill>
                  <a:srgbClr val="1C252B"/>
                </a:solidFill>
                <a:latin typeface="Segoe UI"/>
              </a:rPr>
              <a:t> corrects the bias. For large </a:t>
            </a:r>
            <a:r>
              <a:rPr sz="2300" b="0" i="1">
                <a:solidFill>
                  <a:srgbClr val="1C252B"/>
                </a:solidFill>
                <a:latin typeface="Cambria"/>
              </a:rPr>
              <a:t>n</a:t>
            </a:r>
            <a:r>
              <a:rPr sz="2300" b="0" i="0">
                <a:solidFill>
                  <a:srgbClr val="1C252B"/>
                </a:solidFill>
                <a:latin typeface="Segoe UI"/>
              </a:rPr>
              <a:t> the difference is negligible; for the small samples you will meet in project management data it is not.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68586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Quartiles and the Interquartile Range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§5.3  ·  Handout p. 30     </a:t>
            </a:r>
            <a:fld id="{0E4EE8B1-8F6E-4763-90DD-B811F094059F}"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Sort the data. </a:t>
            </a:r>
            <a:r>
              <a:rPr sz="2300" b="1" i="0">
                <a:solidFill>
                  <a:srgbClr val="1A5276"/>
                </a:solidFill>
                <a:latin typeface="Segoe UI"/>
              </a:rPr>
              <a:t>Q1</a:t>
            </a:r>
            <a:r>
              <a:rPr sz="2300" b="0" i="0">
                <a:solidFill>
                  <a:srgbClr val="1C252B"/>
                </a:solidFill>
                <a:latin typeface="Segoe UI"/>
              </a:rPr>
              <a:t> is the value below which 25% falls, </a:t>
            </a:r>
            <a:r>
              <a:rPr sz="2300" b="1" i="0">
                <a:solidFill>
                  <a:srgbClr val="1A5276"/>
                </a:solidFill>
                <a:latin typeface="Segoe UI"/>
              </a:rPr>
              <a:t>Q2</a:t>
            </a:r>
            <a:r>
              <a:rPr sz="2300" b="0" i="0">
                <a:solidFill>
                  <a:srgbClr val="1C252B"/>
                </a:solidFill>
                <a:latin typeface="Segoe UI"/>
              </a:rPr>
              <a:t> is the median, </a:t>
            </a:r>
            <a:r>
              <a:rPr sz="2300" b="1" i="0">
                <a:solidFill>
                  <a:srgbClr val="1A5276"/>
                </a:solidFill>
                <a:latin typeface="Segoe UI"/>
              </a:rPr>
              <a:t>Q3</a:t>
            </a:r>
            <a:r>
              <a:rPr sz="2300" b="0" i="0">
                <a:solidFill>
                  <a:srgbClr val="1C252B"/>
                </a:solidFill>
                <a:latin typeface="Segoe UI"/>
              </a:rPr>
              <a:t> is the value below which 75% falls. The </a:t>
            </a:r>
            <a:r>
              <a:rPr sz="2300" b="1" i="0">
                <a:solidFill>
                  <a:srgbClr val="1A5276"/>
                </a:solidFill>
                <a:latin typeface="Segoe UI"/>
              </a:rPr>
              <a:t>interquartile range</a:t>
            </a:r>
            <a:r>
              <a:rPr sz="2300" b="0" i="0">
                <a:solidFill>
                  <a:srgbClr val="1C252B"/>
                </a:solidFill>
                <a:latin typeface="Segoe UI"/>
              </a:rPr>
              <a:t> is IQR</a:t>
            </a:r>
            <a:r>
              <a:rPr sz="2300" b="0" i="0">
                <a:solidFill>
                  <a:srgbClr val="1C252B"/>
                </a:solidFill>
                <a:latin typeface="Cambria"/>
              </a:rPr>
              <a:t> = </a:t>
            </a:r>
            <a:r>
              <a:rPr sz="2300" b="0" i="1">
                <a:solidFill>
                  <a:srgbClr val="1C252B"/>
                </a:solidFill>
                <a:latin typeface="Cambria"/>
              </a:rPr>
              <a:t>Q</a:t>
            </a:r>
            <a:r>
              <a:rPr sz="2300" b="0" i="0">
                <a:solidFill>
                  <a:srgbClr val="1C252B"/>
                </a:solidFill>
                <a:latin typeface="Cambria"/>
              </a:rPr>
              <a:t>3 − </a:t>
            </a:r>
            <a:r>
              <a:rPr sz="2300" b="0" i="1">
                <a:solidFill>
                  <a:srgbClr val="1C252B"/>
                </a:solidFill>
                <a:latin typeface="Cambria"/>
              </a:rPr>
              <a:t>Q</a:t>
            </a:r>
            <a:r>
              <a:rPr sz="2300" b="0" i="0">
                <a:solidFill>
                  <a:srgbClr val="1C252B"/>
                </a:solidFill>
                <a:latin typeface="Cambria"/>
              </a:rPr>
              <a:t>1</a:t>
            </a:r>
            <a:r>
              <a:rPr sz="2300" b="0" i="0">
                <a:solidFill>
                  <a:srgbClr val="1C252B"/>
                </a:solidFill>
                <a:latin typeface="Segoe UI"/>
              </a:rPr>
              <a:t>: the width of the middle half of the data. Like the median, it is robust.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96938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Anatomy of a boxplot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5.1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§5.3  ·  Handout p. 30     </a:t>
            </a:r>
            <a:fld id="{8B340321-2E3E-4134-983B-D9B7694F6C79}" type="slidenum">
              <a:rPr lang="en-GB" sz="1000">
                <a:solidFill>
                  <a:srgbClr val="8795A1"/>
                </a:solidFill>
                <a:latin typeface="Segoe UI"/>
              </a:rPr>
              <a:t>15</a:t>
            </a:fld>
          </a:p>
        </p:txBody>
      </p:sp>
      <p:pic>
        <p:nvPicPr>
          <p:cNvPr id="6" name="!!figure" descr="Figure 5.1. Anatomy of a boxplot. The box holds the middle 50% of the data, the whiskers reach the furthest point within 1.5×IQR of the box, and anything beyond is drawn individually as a candidate outlier. A boxplot shows centre, spread, skew and outliers in one objec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93054" y="1737360"/>
            <a:ext cx="9205586" cy="3471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box holds the middle 50% of the data, the whiskers reach the furthest point within 1.5×IQR of the box, and anything beyond is drawn individually as a candidate outlier. A boxplot shows centre, spread, skew and outliers in one object.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25291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1.5 × IQR Rule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§5.3  ·  Handout p. 30     </a:t>
            </a:r>
            <a:fld id="{3A87DE22-57A7-4534-A168-0ADACD025919}"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value is flagged as a candidate </a:t>
            </a:r>
            <a:r>
              <a:rPr sz="2300" b="1" i="0">
                <a:solidFill>
                  <a:srgbClr val="1A5276"/>
                </a:solidFill>
                <a:latin typeface="Segoe UI"/>
              </a:rPr>
              <a:t>outlier</a:t>
            </a:r>
            <a:r>
              <a:rPr sz="2300" b="0" i="0">
                <a:solidFill>
                  <a:srgbClr val="1C252B"/>
                </a:solidFill>
                <a:latin typeface="Segoe UI"/>
              </a:rPr>
              <a:t> if it lies below </a:t>
            </a:r>
            <a:r>
              <a:rPr sz="2300" b="0" i="1">
                <a:solidFill>
                  <a:srgbClr val="1C252B"/>
                </a:solidFill>
                <a:latin typeface="Cambria"/>
              </a:rPr>
              <a:t>Q</a:t>
            </a:r>
            <a:r>
              <a:rPr sz="2300" b="0" i="0">
                <a:solidFill>
                  <a:srgbClr val="1C252B"/>
                </a:solidFill>
                <a:latin typeface="Cambria"/>
              </a:rPr>
              <a:t>1 − 1.5 </a:t>
            </a:r>
            <a:r>
              <a:rPr sz="2300" b="0" i="0">
                <a:solidFill>
                  <a:srgbClr val="1C252B"/>
                </a:solidFill>
                <a:latin typeface="Segoe UI"/>
              </a:rPr>
              <a:t>IQR or above </a:t>
            </a:r>
            <a:r>
              <a:rPr sz="2300" b="0" i="1">
                <a:solidFill>
                  <a:srgbClr val="1C252B"/>
                </a:solidFill>
                <a:latin typeface="Cambria"/>
              </a:rPr>
              <a:t>Q</a:t>
            </a:r>
            <a:r>
              <a:rPr sz="2300" b="0" i="0">
                <a:solidFill>
                  <a:srgbClr val="1C252B"/>
                </a:solidFill>
                <a:latin typeface="Cambria"/>
              </a:rPr>
              <a:t>3 + 1.5 </a:t>
            </a:r>
            <a:r>
              <a:rPr sz="2300" b="0" i="0">
                <a:solidFill>
                  <a:srgbClr val="1C252B"/>
                </a:solidFill>
                <a:latin typeface="Segoe UI"/>
              </a:rPr>
              <a:t>IQR. “Candidate” is the operative word: the rule identifies unusual values, not wrong ones.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53644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Applying the Outlier Rule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§5.3  ·  Handout p. 30     </a:t>
            </a:r>
            <a:fld id="{00440DB8-68DF-4A7F-82C0-1E822BBABB38}"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61688"/>
          </a:xfrm>
          <a:prstGeom prst="roundRect">
            <a:avLst>
              <a:gd name="adj" fmla="val 209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6168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Login durations (minutes) for one account over ten sessions: 4, 5, 6, 6, 7, 8, 9, 11, 14, 96</a:t>
            </a:r>
          </a:p>
        </p:txBody>
      </p:sp>
      <p:sp>
        <p:nvSpPr>
          <p:cNvPr id="10" name="body-1"/>
          <p:cNvSpPr txBox="1"/>
          <p:nvPr/>
        </p:nvSpPr>
        <p:spPr>
          <a:xfrm>
            <a:off x="1042416" y="2422702"/>
            <a:ext cx="1023487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Q1</a:t>
            </a:r>
            <a:r>
              <a:rPr sz="1800" b="0" i="0">
                <a:solidFill>
                  <a:srgbClr val="1C252B"/>
                </a:solidFill>
                <a:latin typeface="Segoe UI"/>
              </a:rPr>
              <a:t> (25th percentile) </a:t>
            </a:r>
            <a:r>
              <a:rPr sz="1800" b="0" i="0">
                <a:solidFill>
                  <a:srgbClr val="1C252B"/>
                </a:solidFill>
                <a:latin typeface="Cambria"/>
              </a:rPr>
              <a:t>= 6</a:t>
            </a:r>
            <a:r>
              <a:rPr sz="1800" b="0" i="0">
                <a:solidFill>
                  <a:srgbClr val="1C252B"/>
                </a:solidFill>
                <a:latin typeface="Segoe UI"/>
              </a:rPr>
              <a:t>. </a:t>
            </a:r>
            <a:r>
              <a:rPr sz="1800" b="1" i="0">
                <a:solidFill>
                  <a:srgbClr val="1C252B"/>
                </a:solidFill>
                <a:latin typeface="Segoe UI"/>
              </a:rPr>
              <a:t>Q3</a:t>
            </a:r>
            <a:r>
              <a:rPr sz="1800" b="0" i="0">
                <a:solidFill>
                  <a:srgbClr val="1C252B"/>
                </a:solidFill>
                <a:latin typeface="Segoe UI"/>
              </a:rPr>
              <a:t> (75th percentile) </a:t>
            </a:r>
            <a:r>
              <a:rPr sz="1800" b="0" i="0">
                <a:solidFill>
                  <a:srgbClr val="1C252B"/>
                </a:solidFill>
                <a:latin typeface="Cambria"/>
              </a:rPr>
              <a:t>= 11</a:t>
            </a:r>
            <a:r>
              <a:rPr sz="1800" b="0" i="0">
                <a:solidFill>
                  <a:srgbClr val="1C252B"/>
                </a:solidFill>
                <a:latin typeface="Segoe UI"/>
              </a:rPr>
              <a:t>.</a:t>
            </a:r>
          </a:p>
        </p:txBody>
      </p:sp>
      <p:sp>
        <p:nvSpPr>
          <p:cNvPr id="11" name="body-2"/>
          <p:cNvSpPr txBox="1"/>
          <p:nvPr/>
        </p:nvSpPr>
        <p:spPr>
          <a:xfrm>
            <a:off x="1042416" y="2833725"/>
            <a:ext cx="1023487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IQR</a:t>
            </a:r>
            <a:r>
              <a:rPr sz="1800" b="0" i="0">
                <a:solidFill>
                  <a:srgbClr val="1C252B"/>
                </a:solidFill>
                <a:latin typeface="Segoe UI"/>
              </a:rPr>
              <a:t> </a:t>
            </a:r>
            <a:r>
              <a:rPr sz="1800" b="0" i="0">
                <a:solidFill>
                  <a:srgbClr val="1C252B"/>
                </a:solidFill>
                <a:latin typeface="Cambria"/>
              </a:rPr>
              <a:t>= 11 − 6 = 5</a:t>
            </a:r>
            <a:r>
              <a:rPr sz="1800" b="0" i="0">
                <a:solidFill>
                  <a:srgbClr val="1C252B"/>
                </a:solidFill>
                <a:latin typeface="Segoe UI"/>
              </a:rPr>
              <a:t>.</a:t>
            </a:r>
          </a:p>
        </p:txBody>
      </p:sp>
      <p:sp>
        <p:nvSpPr>
          <p:cNvPr id="12" name="body-3"/>
          <p:cNvSpPr txBox="1"/>
          <p:nvPr/>
        </p:nvSpPr>
        <p:spPr>
          <a:xfrm>
            <a:off x="1042416" y="3244748"/>
            <a:ext cx="1023487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Fences:</a:t>
            </a:r>
            <a:r>
              <a:rPr sz="1800" b="0" i="0">
                <a:solidFill>
                  <a:srgbClr val="1C252B"/>
                </a:solidFill>
                <a:latin typeface="Segoe UI"/>
              </a:rPr>
              <a:t> lower </a:t>
            </a:r>
            <a:r>
              <a:rPr sz="1800" b="0" i="0">
                <a:solidFill>
                  <a:srgbClr val="1C252B"/>
                </a:solidFill>
                <a:latin typeface="Cambria"/>
              </a:rPr>
              <a:t>= 6 − 1.5(5) = −1.5</a:t>
            </a:r>
            <a:r>
              <a:rPr sz="1800" b="0" i="0">
                <a:solidFill>
                  <a:srgbClr val="1C252B"/>
                </a:solidFill>
                <a:latin typeface="Segoe UI"/>
              </a:rPr>
              <a:t>; upper </a:t>
            </a:r>
            <a:r>
              <a:rPr sz="1800" b="0" i="0">
                <a:solidFill>
                  <a:srgbClr val="1C252B"/>
                </a:solidFill>
                <a:latin typeface="Cambria"/>
              </a:rPr>
              <a:t>= 11 + 1.5(5) = 18.5</a:t>
            </a:r>
            <a:r>
              <a:rPr sz="1800" b="0" i="0">
                <a:solidFill>
                  <a:srgbClr val="1C252B"/>
                </a:solidFill>
                <a:latin typeface="Segoe UI"/>
              </a:rPr>
              <a:t>.</a:t>
            </a:r>
          </a:p>
        </p:txBody>
      </p:sp>
      <p:sp>
        <p:nvSpPr>
          <p:cNvPr id="13" name="body-4"/>
          <p:cNvSpPr txBox="1"/>
          <p:nvPr/>
        </p:nvSpPr>
        <p:spPr>
          <a:xfrm>
            <a:off x="1042416" y="3655771"/>
            <a:ext cx="1023487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Flagged:</a:t>
            </a:r>
            <a:r>
              <a:rPr sz="1800" b="0" i="0">
                <a:solidFill>
                  <a:srgbClr val="1C252B"/>
                </a:solidFill>
                <a:latin typeface="Segoe UI"/>
              </a:rPr>
              <a:t> 96 only.</a:t>
            </a:r>
          </a:p>
        </p:txBody>
      </p:sp>
      <p:sp>
        <p:nvSpPr>
          <p:cNvPr id="14" name="body-5"/>
          <p:cNvSpPr txBox="1"/>
          <p:nvPr/>
        </p:nvSpPr>
        <p:spPr>
          <a:xfrm>
            <a:off x="1042416" y="4066794"/>
            <a:ext cx="1023487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7D6608"/>
                </a:solidFill>
                <a:latin typeface="Segoe UI"/>
              </a:rPr>
              <a:t>And now the part that matters.</a:t>
            </a:r>
            <a:r>
              <a:rPr sz="1800" b="0" i="0">
                <a:solidFill>
                  <a:srgbClr val="1C252B"/>
                </a:solidFill>
                <a:latin typeface="Segoe UI"/>
              </a:rPr>
              <a:t> What you do next depends entirely on domain, not statistics:</a:t>
            </a:r>
          </a:p>
        </p:txBody>
      </p:sp>
      <p:sp>
        <p:nvSpPr>
          <p:cNvPr id="15" name="body-6"/>
          <p:cNvSpPr txBox="1"/>
          <p:nvPr/>
        </p:nvSpPr>
        <p:spPr>
          <a:xfrm>
            <a:off x="1042416" y="4477816"/>
            <a:ext cx="10234879" cy="981608"/>
          </a:xfrm>
          <a:prstGeom prst="rect">
            <a:avLst/>
          </a:prstGeom>
          <a:noFill/>
        </p:spPr>
        <p:txBody>
          <a:bodyPr wrap="square" anchor="t" lIns="0" rIns="0" tIns="0" bIns="0">
            <a:noAutofit/>
          </a:bodyPr>
          <a:lstStyle/>
          <a:p>
            <a:pPr algn="l" marL="201268" indent="-201268">
              <a:lnSpc>
                <a:spcPct val="104000"/>
              </a:lnSpc>
              <a:spcBef>
                <a:spcPts val="0"/>
              </a:spcBef>
              <a:spcAft>
                <a:spcPts val="630"/>
              </a:spcAft>
            </a:pPr>
            <a:r>
              <a:rPr sz="1800" b="1">
                <a:solidFill>
                  <a:srgbClr val="7D6608"/>
                </a:solidFill>
                <a:latin typeface="Segoe UI"/>
              </a:rPr>
              <a:t>•	</a:t>
            </a:r>
            <a:r>
              <a:rPr sz="1800" b="0" i="1">
                <a:solidFill>
                  <a:srgbClr val="1C252B"/>
                </a:solidFill>
                <a:latin typeface="Segoe UI"/>
              </a:rPr>
              <a:t>Learning analytics:</a:t>
            </a:r>
            <a:r>
              <a:rPr sz="1800" b="0" i="0">
                <a:solidFill>
                  <a:srgbClr val="1C252B"/>
                </a:solidFill>
                <a:latin typeface="Segoe UI"/>
              </a:rPr>
              <a:t> probably a student who left a tab open. Cap or remove.</a:t>
            </a:r>
          </a:p>
          <a:p>
            <a:pPr algn="l" marL="201268" indent="-201268">
              <a:lnSpc>
                <a:spcPct val="104000"/>
              </a:lnSpc>
              <a:spcBef>
                <a:spcPts val="0"/>
              </a:spcBef>
              <a:spcAft>
                <a:spcPts val="0"/>
              </a:spcAft>
            </a:pPr>
            <a:r>
              <a:rPr sz="1800" b="1">
                <a:solidFill>
                  <a:srgbClr val="7D6608"/>
                </a:solidFill>
                <a:latin typeface="Segoe UI"/>
              </a:rPr>
              <a:t>•	</a:t>
            </a:r>
            <a:r>
              <a:rPr sz="1800" b="0" i="1">
                <a:solidFill>
                  <a:srgbClr val="1C252B"/>
                </a:solidFill>
                <a:latin typeface="Segoe UI"/>
              </a:rPr>
              <a:t>Cybersecurity:</a:t>
            </a:r>
            <a:r>
              <a:rPr sz="1800" b="0" i="0">
                <a:solidFill>
                  <a:srgbClr val="1C252B"/>
                </a:solidFill>
                <a:latin typeface="Segoe UI"/>
              </a:rPr>
              <a:t> a 96-minute session on an account that normally runs 6 minutes is precisely what you are paid to notice. </a:t>
            </a:r>
            <a:r>
              <a:rPr sz="1800" b="1" i="0">
                <a:solidFill>
                  <a:srgbClr val="1C252B"/>
                </a:solidFill>
                <a:latin typeface="Segoe UI"/>
              </a:rPr>
              <a:t>Do not remove it.</a:t>
            </a:r>
            <a:r>
              <a:rPr sz="1800" b="0" i="0">
                <a:solidFill>
                  <a:srgbClr val="1C252B"/>
                </a:solidFill>
                <a:latin typeface="Segoe UI"/>
              </a:rPr>
              <a:t> In Chapter 16 the outlier becomes the target.</a:t>
            </a:r>
          </a:p>
        </p:txBody>
      </p:sp>
      <p:sp>
        <p:nvSpPr>
          <p:cNvPr id="16" name="body-7"/>
          <p:cNvSpPr txBox="1"/>
          <p:nvPr/>
        </p:nvSpPr>
        <p:spPr>
          <a:xfrm>
            <a:off x="1042416" y="5539435"/>
            <a:ext cx="10234879" cy="33101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Never delete outliers because a rule flagged them. Investigate, decide, and record the decision.</a:t>
            </a:r>
          </a:p>
        </p:txBody>
      </p:sp>
      <p:sp>
        <p:nvSpPr>
          <p:cNvPr id="4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pfill">
            <a:extLst>
              <a:ext uri="{C183D7F6-B498-43B3-948B-1728B52AA6E4}">
                <adec:decorative xmlns:adec="http://schemas.microsoft.com/office/drawing/2017/decorative" val="1"/>
              </a:ext>
            </a:extLst>
          </p:cNvPr>
          <p:cNvSpPr/>
          <p:nvPr/>
        </p:nvSpPr>
        <p:spPr>
          <a:xfrm>
            <a:off x="0" y="0"/>
            <a:ext cx="481997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5">
                                            <p:txEl>
                                              <p:pRg st="0" end="0"/>
                                            </p:txEl>
                                          </p:spTgt>
                                        </p:tgtEl>
                                        <p:attrNameLst>
                                          <p:attrName>style.visibility</p:attrName>
                                        </p:attrNameLst>
                                      </p:cBhvr>
                                      <p:to>
                                        <p:strVal val="visible"/>
                                      </p:to>
                                    </p:set>
                                    <p:animEffect transition="in" filter="fade">
                                      <p:cBhvr>
                                        <p:cTn id="33" dur="350"/>
                                        <p:tgtEl>
                                          <p:spTgt spid="15">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5">
                                            <p:txEl>
                                              <p:pRg st="1" end="1"/>
                                            </p:txEl>
                                          </p:spTgt>
                                        </p:tgtEl>
                                        <p:attrNameLst>
                                          <p:attrName>style.visibility</p:attrName>
                                        </p:attrNameLst>
                                      </p:cBhvr>
                                      <p:to>
                                        <p:strVal val="visible"/>
                                      </p:to>
                                    </p:set>
                                    <p:animEffect transition="in" filter="fade">
                                      <p:cBhvr>
                                        <p:cTn id="38" dur="350"/>
                                        <p:tgtEl>
                                          <p:spTgt spid="15">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wipe(right)">
                                      <p:cBhvr>
                                        <p:cTn id="43"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Shape: Skew and the Distributions You Will Meet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5.4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5.1   Why Summarise at All</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5.2   Measures of Centre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5.3   Measures of Spread</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5.4   Shape: Skew and the Distributions You Will Meet</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§5.4     </a:t>
            </a:r>
            <a:fld id="{A3AC9AA8-F3CD-4B2B-A8C0-F844D60EAA3F}" type="slidenum">
              <a:rPr lang="en-GB" sz="1000">
                <a:solidFill>
                  <a:srgbClr val="8795A1"/>
                </a:solidFill>
                <a:latin typeface="Segoe UI"/>
              </a:rPr>
              <a:t>18</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10350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Skew and what it does to the centre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5.2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  ·  Handout p. 31     </a:t>
            </a:r>
            <a:fld id="{D721BCA6-03B2-4E7B-BE4B-91E5167D2640}" type="slidenum">
              <a:rPr lang="en-GB" sz="1000">
                <a:solidFill>
                  <a:srgbClr val="8795A1"/>
                </a:solidFill>
                <a:latin typeface="Segoe UI"/>
              </a:rPr>
              <a:t>19</a:t>
            </a:fld>
          </a:p>
        </p:txBody>
      </p:sp>
      <p:pic>
        <p:nvPicPr>
          <p:cNvPr id="6" name="!!figure" descr="Figure 5.2. Skew and what it does to the centre. The mean is dragged towards the long tail; the median stays put. If mean and median differ substantially, the distribution is skewed and you should report the media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15351"/>
            <a:ext cx="10874959" cy="3294841"/>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mean is dragged towards the long tail; the median stays put. If mean and median differ substantially, the distribution is skewed and you should report the median.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38702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Diagnostic You Can Do in Your Head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  ·  Handout p. 31     </a:t>
            </a:r>
            <a:fld id="{9763F9B6-B030-4DC3-B656-268F6D853F6E}"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Compare the mean and the median. If </a:t>
            </a:r>
            <a:r>
              <a:rPr sz="2300" b="0" i="1">
                <a:solidFill>
                  <a:srgbClr val="1C252B"/>
                </a:solidFill>
                <a:latin typeface="Cambria"/>
              </a:rPr>
              <a:t>x̄</a:t>
            </a:r>
            <a:r>
              <a:rPr sz="2300" b="0" i="0">
                <a:solidFill>
                  <a:srgbClr val="1C252B"/>
                </a:solidFill>
                <a:latin typeface="Cambria"/>
              </a:rPr>
              <a:t> ≫ </a:t>
            </a:r>
            <a:r>
              <a:rPr sz="2300" b="0" i="0">
                <a:solidFill>
                  <a:srgbClr val="1C252B"/>
                </a:solidFill>
                <a:latin typeface="Segoe UI"/>
              </a:rPr>
              <a:t>median, the data is right-skewed — there is a long tail of large values. If </a:t>
            </a:r>
            <a:r>
              <a:rPr sz="2300" b="0" i="1">
                <a:solidFill>
                  <a:srgbClr val="1C252B"/>
                </a:solidFill>
                <a:latin typeface="Cambria"/>
              </a:rPr>
              <a:t>x̄</a:t>
            </a:r>
            <a:r>
              <a:rPr sz="2300" b="0" i="0">
                <a:solidFill>
                  <a:srgbClr val="1C252B"/>
                </a:solidFill>
                <a:latin typeface="Cambria"/>
              </a:rPr>
              <a:t> ≪ </a:t>
            </a:r>
            <a:r>
              <a:rPr sz="2300" b="0" i="0">
                <a:solidFill>
                  <a:srgbClr val="1C252B"/>
                </a:solidFill>
                <a:latin typeface="Segoe UI"/>
              </a:rPr>
              <a:t>median, it is left-skewed. If they are close, it is roughly symmetric. This one comparison tells you more about a variable than any single number.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67055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shapes you will meet constantly</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5.3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§5.4.1  ·  Handout p. 32     </a:t>
            </a:r>
            <a:fld id="{3B78BE83-4E27-4AD1-A32B-BFDD067B4159}" type="slidenum">
              <a:rPr lang="en-GB" sz="1000">
                <a:solidFill>
                  <a:srgbClr val="8795A1"/>
                </a:solidFill>
                <a:latin typeface="Segoe UI"/>
              </a:rPr>
              <a:t>21</a:t>
            </a:fld>
          </a:p>
        </p:txBody>
      </p:sp>
      <p:pic>
        <p:nvPicPr>
          <p:cNvPr id="6" name="!!figure" descr="Figure 5.3. Four shapes you will meet constantly. Recognising which one a variable follows tells you which summary to report, which model assumptions are safe, and whether “three standard deviations” means anythi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37231"/>
            <a:ext cx="10874959" cy="2598383"/>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Recognising which one a variable follows tells you which summary to report, which model assumptions are safe, and whether “three standard deviations” means anything.</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95408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Distributions Worth Recognising</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§5.4.1  ·  Handout p. 32     </a:t>
            </a:r>
            <a:fld id="{59B41FA2-16A8-45BA-A8E9-32F480CB7B79}" type="slidenum">
              <a:rPr lang="en-GB" sz="1000">
                <a:solidFill>
                  <a:srgbClr val="8795A1"/>
                </a:solidFill>
                <a:latin typeface="Segoe UI"/>
              </a:rPr>
              <a:t>22</a:t>
            </a:fld>
          </a:p>
        </p:txBody>
      </p:sp>
      <p:graphicFrame>
        <p:nvGraphicFramePr>
          <p:cNvPr id="7" name="!!table"/>
          <p:cNvGraphicFramePr>
            <a:graphicFrameLocks noGrp="1"/>
          </p:cNvGraphicFramePr>
          <p:nvPr/>
        </p:nvGraphicFramePr>
        <p:xfrm>
          <a:off x="658368" y="1737360"/>
          <a:ext cx="10874958" cy="3468624"/>
        </p:xfrm>
        <a:graphic>
          <a:graphicData uri="http://schemas.openxmlformats.org/drawingml/2006/table">
            <a:tbl>
              <a:tblPr firstRow="0" bandRow="0" firstCol="0" lastRow="0" lastCol="0" bandCol="0">
                <a:tableStyleId>{2D5ABB26-0587-4C30-8999-92F81FD0307C}</a:tableStyleId>
              </a:tblPr>
              <a:tblGrid>
                <a:gridCol w="1812493"/>
                <a:gridCol w="3776027"/>
                <a:gridCol w="5286438"/>
              </a:tblGrid>
              <a:tr h="405384">
                <a:tc>
                  <a:txBody>
                    <a:bodyPr wrap="square"/>
                    <a:lstStyle/>
                    <a:p>
                      <a:pPr algn="l"/>
                      <a:r>
                        <a:rPr sz="1700" b="1" i="0">
                          <a:solidFill>
                            <a:srgbClr val="1A5276"/>
                          </a:solidFill>
                          <a:latin typeface="Segoe UI"/>
                        </a:rPr>
                        <a:t>Distribution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Arises when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You will meet it as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Normal</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Many small independent effects add up</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Exam marks, measurement error, sensor noise around a set point</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Uniform</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Every value equally likely</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Random IDs, hash outputs, a well-shuffled sample</a:t>
                      </a:r>
                      <a:endParaRPr sz="1700"/>
                    </a:p>
                  </a:txBody>
                  <a:tcPr marL="109728" marR="109728" marT="64008" marB="45720" anchor="t">
                    <a:lnL w="0" cmpd="sng">
                      <a:noFill/>
                    </a:lnL>
                    <a:lnR w="0" cmpd="sng">
                      <a:noFill/>
                    </a:lnR>
                    <a:lnT w="9525" cmpd="sng">
                      <a:noFill/>
                    </a:lnT>
                    <a:lnB w="9525" cmpd="sng">
                      <a:noFill/>
                    </a:lnB>
                    <a:solidFill>
                      <a:srgbClr val="FEF7F1"/>
                    </a:solidFill>
                  </a:tcPr>
                </a:tc>
              </a:tr>
              <a:tr h="664464">
                <a:tc>
                  <a:txBody>
                    <a:bodyPr wrap="square"/>
                    <a:lstStyle/>
                    <a:p>
                      <a:pPr algn="l"/>
                      <a:r>
                        <a:rPr sz="1700" b="0" i="0">
                          <a:solidFill>
                            <a:srgbClr val="1C252B"/>
                          </a:solidFill>
                          <a:latin typeface="Segoe UI"/>
                        </a:rPr>
                        <a:t>Binomial</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1">
                          <a:solidFill>
                            <a:srgbClr val="1C252B"/>
                          </a:solidFill>
                          <a:latin typeface="Cambria"/>
                        </a:rPr>
                        <a:t>n</a:t>
                      </a:r>
                      <a:r>
                        <a:rPr sz="1700" b="0" i="0">
                          <a:solidFill>
                            <a:srgbClr val="1C252B"/>
                          </a:solidFill>
                          <a:latin typeface="Segoe UI"/>
                        </a:rPr>
                        <a:t> independent yes/no trials with fixed probability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Number of quizzes passed out of 10; number of packets dropped out of 1000</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Poisson</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Counts of rare events in a fixed window</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Failed logins per minute; defects per release; sensor faults per day</a:t>
                      </a:r>
                      <a:endParaRPr sz="1700"/>
                    </a:p>
                  </a:txBody>
                  <a:tcPr marL="109728" marR="109728" marT="64008" marB="45720" anchor="t">
                    <a:lnL w="0" cmpd="sng">
                      <a:noFill/>
                    </a:lnL>
                    <a:lnR w="0" cmpd="sng">
                      <a:noFill/>
                    </a:lnR>
                    <a:lnT w="9525" cmpd="sng">
                      <a:noFill/>
                    </a:lnT>
                    <a:lnB w="9525" cmpd="sng">
                      <a:noFill/>
                    </a:lnB>
                    <a:solidFill>
                      <a:srgbClr val="FEF7F1"/>
                    </a:solidFill>
                  </a:tcPr>
                </a:tc>
              </a:tr>
              <a:tr h="664464">
                <a:tc>
                  <a:txBody>
                    <a:bodyPr wrap="square"/>
                    <a:lstStyle/>
                    <a:p>
                      <a:pPr algn="l"/>
                      <a:r>
                        <a:rPr sz="1700" b="0" i="0">
                          <a:solidFill>
                            <a:srgbClr val="1C252B"/>
                          </a:solidFill>
                          <a:latin typeface="Segoe UI"/>
                        </a:rPr>
                        <a:t>Long-tailed</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Multiplicative effects, “rich get richer”</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Response times, file sizes, session lengths, incident cost</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62376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Not Everything Is Normal</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§5.4.1  ·  Handout p. 32     </a:t>
            </a:r>
            <a:fld id="{57BE1889-2A0F-4312-9EDD-625FA18F4EA9}"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173577"/>
          </a:xfrm>
          <a:prstGeom prst="roundRect">
            <a:avLst>
              <a:gd name="adj" fmla="val 2881"/>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173577"/>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59750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normal distribution is the default assumption of a great deal of classical statistics, and a great deal of operational data violates it badly. Response times cannot be negative and have a long right tail; counts of rare security events are Poisson, not normal. Applying a rule like “flag anything beyond three standard deviations” to a long-tailed variable will flag a large fraction of perfectly normal traffic. Chapter 9 returns to when normality can be assumed anyway.</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52113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Summarising a Variable</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34     </a:t>
            </a:r>
            <a:fld id="{B9F28A06-513D-4D4F-9C99-1D8591EA401F}" type="slidenum">
              <a:rPr lang="en-GB" sz="1000">
                <a:solidFill>
                  <a:srgbClr val="8795A1"/>
                </a:solidFill>
                <a:latin typeface="Segoe UI"/>
              </a:rPr>
              <a:t>24</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Time spent on an assignment is strongly right-skewed: most students take 2–4 hours, a few take thirty.</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Task completion times are right-skewed for the same reason: a task can overrun without limit but cannot finish in less than zero.</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Sensor readings around a controlled set point are approximately normal, so the standard deviation is meaningful and a </a:t>
            </a:r>
            <a:r>
              <a:rPr sz="2200" b="0" i="0">
                <a:solidFill>
                  <a:srgbClr val="1C252B"/>
                </a:solidFill>
                <a:latin typeface="Cambria"/>
              </a:rPr>
              <a:t>3σ</a:t>
            </a:r>
            <a:r>
              <a:rPr sz="2200" b="0" i="0">
                <a:solidFill>
                  <a:srgbClr val="1C252B"/>
                </a:solidFill>
                <a:latin typeface="Segoe UI"/>
              </a:rPr>
              <a:t> rule is defensible.</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Failed logins per minute per account is a Poisson count, usually with a mode of zero.</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80466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Summarising a Variable</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34     </a:t>
            </a:r>
            <a:fld id="{018CED68-707F-4811-9BD2-CE832AC3F32A}" type="slidenum">
              <a:rPr lang="en-GB" sz="1000">
                <a:solidFill>
                  <a:srgbClr val="8795A1"/>
                </a:solidFill>
                <a:latin typeface="Segoe UI"/>
              </a:rPr>
              <a:t>25</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Time spent on an assignment is strongly right-skewed: most students take 2–4 hours, a few take thirty. Report the </a:t>
            </a:r>
            <a:r>
              <a:rPr sz="2200" b="0" i="1">
                <a:solidFill>
                  <a:srgbClr val="1C252B"/>
                </a:solidFill>
                <a:latin typeface="Segoe UI"/>
              </a:rPr>
              <a:t>median</a:t>
            </a:r>
            <a:r>
              <a:rPr sz="2200" b="0" i="0">
                <a:solidFill>
                  <a:srgbClr val="1C252B"/>
                </a:solidFill>
                <a:latin typeface="Segoe UI"/>
              </a:rPr>
              <a:t> hours, not the mean, or every published figure will overstate typical effort and demoralise students who compare themselves to it. The IQR is the honest measure of “how much do students vary”.</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08819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Summarising a Variable</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34     </a:t>
            </a:r>
            <a:fld id="{2ADAC494-3647-4725-87B0-EB92A4250763}" type="slidenum">
              <a:rPr lang="en-GB" sz="1000">
                <a:solidFill>
                  <a:srgbClr val="8795A1"/>
                </a:solidFill>
                <a:latin typeface="Segoe UI"/>
              </a:rPr>
              <a:t>26</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Task completion times are right-skewed for the same reason: a task can overrun without limit but cannot finish in less than zero. This is why median-based forecasting beats mean-based estimation, and why experienced estimators quote ranges (Q1–Q3) rather than points. A sprint planned on mean velocity will miss more often than it hits.</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37172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Summarising a Variable</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34     </a:t>
            </a:r>
            <a:fld id="{5F550395-E0AC-412E-9E86-D04F42490AAC}" type="slidenum">
              <a:rPr lang="en-GB" sz="1000">
                <a:solidFill>
                  <a:srgbClr val="8795A1"/>
                </a:solidFill>
                <a:latin typeface="Segoe UI"/>
              </a:rPr>
              <a:t>27</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Sensor readings around a controlled set point are approximately normal, so the standard deviation is meaningful and a </a:t>
            </a:r>
            <a:r>
              <a:rPr sz="2200" b="0" i="0">
                <a:solidFill>
                  <a:srgbClr val="1C252B"/>
                </a:solidFill>
                <a:latin typeface="Cambria"/>
              </a:rPr>
              <a:t>3σ</a:t>
            </a:r>
            <a:r>
              <a:rPr sz="2200" b="0" i="0">
                <a:solidFill>
                  <a:srgbClr val="1C252B"/>
                </a:solidFill>
                <a:latin typeface="Segoe UI"/>
              </a:rPr>
              <a:t> rule is defensible. Battery life and time-between-failures are long-tailed, so it is not. The same fleet therefore needs different summaries for different channels — do not apply one rule across the telemetry.</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65525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Summarising a Variable</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34     </a:t>
            </a:r>
            <a:fld id="{B2A95ACC-A544-415A-A583-3535C102694D}" type="slidenum">
              <a:rPr lang="en-GB" sz="1000">
                <a:solidFill>
                  <a:srgbClr val="8795A1"/>
                </a:solidFill>
                <a:latin typeface="Segoe UI"/>
              </a:rPr>
              <a:t>28</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Failed logins per minute per account is a Poisson count, usually with a mode of zero. The mean is a poor description and the standard deviation is nearly meaningless. What matters is the </a:t>
            </a:r>
            <a:r>
              <a:rPr sz="2200" b="0" i="1">
                <a:solidFill>
                  <a:srgbClr val="1C252B"/>
                </a:solidFill>
                <a:latin typeface="Segoe UI"/>
              </a:rPr>
              <a:t>tail</a:t>
            </a:r>
            <a:r>
              <a:rPr sz="2200" b="0" i="0">
                <a:solidFill>
                  <a:srgbClr val="1C252B"/>
                </a:solidFill>
                <a:latin typeface="Segoe UI"/>
              </a:rPr>
              <a:t>: the 99.9th percentile, and how far above it a given account sits. Note also that the outlier you would delete in the learning-analytics lens is the alert you would escalate here.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93877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Centre, Spread and Shape in Eight Lines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§5.4.1  ·  Handout p. 32     </a:t>
            </a:r>
            <a:fld id="{519F271E-A0F1-4051-B301-0C3FD1B8AE49}" type="slidenum">
              <a:rPr lang="en-GB" sz="1000">
                <a:solidFill>
                  <a:srgbClr val="8795A1"/>
                </a:solidFill>
                <a:latin typeface="Segoe UI"/>
              </a:rPr>
              <a:t>29</a:t>
            </a:fld>
          </a:p>
        </p:txBody>
      </p:sp>
      <p:sp>
        <p:nvSpPr>
          <p:cNvPr id="7" name="!!lfTHIS">
            <a:extLst>
              <a:ext uri="{C183D7F6-B498-43B3-948B-1728B52AA6E4}">
                <adec:decorative xmlns:adec="http://schemas.microsoft.com/office/drawing/2017/decorative" val="1"/>
              </a:ext>
            </a:extLst>
          </p:cNvPr>
          <p:cNvSpPr/>
          <p:nvPr/>
        </p:nvSpPr>
        <p:spPr>
          <a:xfrm>
            <a:off x="658368" y="1920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fbTHIS">
            <a:extLst>
              <a:ext uri="{C183D7F6-B498-43B3-948B-1728B52AA6E4}">
                <adec:decorative xmlns:adec="http://schemas.microsoft.com/office/drawing/2017/decorative" val="1"/>
              </a:ext>
            </a:extLst>
          </p:cNvPr>
          <p:cNvSpPr/>
          <p:nvPr/>
        </p:nvSpPr>
        <p:spPr>
          <a:xfrm>
            <a:off x="658368" y="1920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lTHIS"/>
          <p:cNvSpPr txBox="1"/>
          <p:nvPr/>
        </p:nvSpPr>
        <p:spPr>
          <a:xfrm>
            <a:off x="932688" y="2084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0" name="!!lfvTHIS"/>
          <p:cNvSpPr txBox="1"/>
          <p:nvPr/>
        </p:nvSpPr>
        <p:spPr>
          <a:xfrm>
            <a:off x="932688" y="2377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3: Centre, spread, shape; base-rate simulation</a:t>
            </a:r>
          </a:p>
        </p:txBody>
      </p:sp>
      <p:sp>
        <p:nvSpPr>
          <p:cNvPr id="11" name="!!lfWHAT">
            <a:extLst>
              <a:ext uri="{C183D7F6-B498-43B3-948B-1728B52AA6E4}">
                <adec:decorative xmlns:adec="http://schemas.microsoft.com/office/drawing/2017/decorative" val="1"/>
              </a:ext>
            </a:extLst>
          </p:cNvPr>
          <p:cNvSpPr/>
          <p:nvPr/>
        </p:nvSpPr>
        <p:spPr>
          <a:xfrm>
            <a:off x="6233007" y="1920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lfbWHAT">
            <a:extLst>
              <a:ext uri="{C183D7F6-B498-43B3-948B-1728B52AA6E4}">
                <adec:decorative xmlns:adec="http://schemas.microsoft.com/office/drawing/2017/decorative" val="1"/>
              </a:ext>
            </a:extLst>
          </p:cNvPr>
          <p:cNvSpPr/>
          <p:nvPr/>
        </p:nvSpPr>
        <p:spPr>
          <a:xfrm>
            <a:off x="6233007" y="1920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lWHAT"/>
          <p:cNvSpPr txBox="1"/>
          <p:nvPr/>
        </p:nvSpPr>
        <p:spPr>
          <a:xfrm>
            <a:off x="6507327" y="2084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4" name="!!lfvWHAT"/>
          <p:cNvSpPr txBox="1"/>
          <p:nvPr/>
        </p:nvSpPr>
        <p:spPr>
          <a:xfrm>
            <a:off x="6507327" y="2377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2 listings, 20 lines of Python, R</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22230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Centre, Spread and Shape in Eight Lines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  ·  LISTING 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§5.4.1  ·  Handout p. 32     </a:t>
            </a:r>
            <a:fld id="{7891BDEA-18FD-453A-9287-B418AF450FC8}"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import numpy as np, pandas as pd rt = pd.Series([12, 14, 15, 15, 17, 19, 8400]) # response times (ms) print(&quot;mean :&quot;, rt.mean()) # 1213.1 &lt;- describes nothing print(&quot;median :&quot;, rt.median()) # 15.0 &lt;- describes six of seven print(&quot;std :&quot;, rt.std()) # huge, and equally misleading print(&quot;IQR :&quot;, rt.quantile(.75) - rt.quantile(.25)) q1, q3 = rt.quantile(.25), rt.quantile(.75) iqr = q3 - q1 outliers = rt[(rt &lt; q1 - 1.5*iqr) | (rt &gt; q3 + 1.5*iqr)] print(&quot;flagged:&quot;, list(outliers)) # The skew diagnostic you can do in your head: print(&quot;mean &gt;&gt; median ?&quot;, rt.mean() &gt; 2 * rt.median()) # True =&gt; right-skewed"/>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500" i="0">
                <a:solidFill>
                  <a:srgbClr val="5DADE2"/>
                </a:solidFill>
                <a:latin typeface="Consolas"/>
              </a:rPr>
              <a:t>import</a:t>
            </a:r>
            <a:r>
              <a:rPr sz="1500" i="0">
                <a:solidFill>
                  <a:srgbClr val="E8EDF2"/>
                </a:solidFill>
                <a:latin typeface="Consolas"/>
              </a:rPr>
              <a:t> </a:t>
            </a:r>
            <a:r>
              <a:rPr sz="1500" i="0">
                <a:solidFill>
                  <a:srgbClr val="76D7C4"/>
                </a:solidFill>
                <a:latin typeface="Consolas"/>
              </a:rPr>
              <a:t>numpy</a:t>
            </a:r>
            <a:r>
              <a:rPr sz="1500" i="0">
                <a:solidFill>
                  <a:srgbClr val="E8EDF2"/>
                </a:solidFill>
                <a:latin typeface="Consolas"/>
              </a:rPr>
              <a:t> </a:t>
            </a:r>
            <a:r>
              <a:rPr sz="1500" i="0">
                <a:solidFill>
                  <a:srgbClr val="5DADE2"/>
                </a:solidFill>
                <a:latin typeface="Consolas"/>
              </a:rPr>
              <a:t>as</a:t>
            </a:r>
            <a:r>
              <a:rPr sz="1500" i="0">
                <a:solidFill>
                  <a:srgbClr val="E8EDF2"/>
                </a:solidFill>
                <a:latin typeface="Consolas"/>
              </a:rPr>
              <a:t> </a:t>
            </a:r>
            <a:r>
              <a:rPr sz="1500" i="0">
                <a:solidFill>
                  <a:srgbClr val="76D7C4"/>
                </a:solidFill>
                <a:latin typeface="Consolas"/>
              </a:rPr>
              <a:t>np</a:t>
            </a:r>
            <a:r>
              <a:rPr sz="1500" i="0">
                <a:solidFill>
                  <a:srgbClr val="AEB6BF"/>
                </a:solidFill>
                <a:latin typeface="Consolas"/>
              </a:rPr>
              <a:t>,</a:t>
            </a:r>
            <a:r>
              <a:rPr sz="1500" i="0">
                <a:solidFill>
                  <a:srgbClr val="E8EDF2"/>
                </a:solidFill>
                <a:latin typeface="Consolas"/>
              </a:rPr>
              <a:t> </a:t>
            </a:r>
            <a:r>
              <a:rPr sz="1500" i="0">
                <a:solidFill>
                  <a:srgbClr val="76D7C4"/>
                </a:solidFill>
                <a:latin typeface="Consolas"/>
              </a:rPr>
              <a:t>pandas</a:t>
            </a:r>
            <a:r>
              <a:rPr sz="1500" i="0">
                <a:solidFill>
                  <a:srgbClr val="E8EDF2"/>
                </a:solidFill>
                <a:latin typeface="Consolas"/>
              </a:rPr>
              <a:t> </a:t>
            </a:r>
            <a:r>
              <a:rPr sz="1500" i="0">
                <a:solidFill>
                  <a:srgbClr val="5DADE2"/>
                </a:solidFill>
                <a:latin typeface="Consolas"/>
              </a:rPr>
              <a:t>as</a:t>
            </a:r>
            <a:r>
              <a:rPr sz="1500" i="0">
                <a:solidFill>
                  <a:srgbClr val="E8EDF2"/>
                </a:solidFill>
                <a:latin typeface="Consolas"/>
              </a:rPr>
              <a:t> </a:t>
            </a:r>
            <a:r>
              <a:rPr sz="1500" i="0">
                <a:solidFill>
                  <a:srgbClr val="76D7C4"/>
                </a:solidFill>
                <a:latin typeface="Consolas"/>
              </a:rPr>
              <a:t>pd</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rt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pd</a:t>
            </a:r>
            <a:r>
              <a:rPr sz="1500" i="0">
                <a:solidFill>
                  <a:srgbClr val="AEB6BF"/>
                </a:solidFill>
                <a:latin typeface="Consolas"/>
              </a:rPr>
              <a:t>.</a:t>
            </a:r>
            <a:r>
              <a:rPr sz="1500" i="0">
                <a:solidFill>
                  <a:srgbClr val="E8EDF2"/>
                </a:solidFill>
                <a:latin typeface="Consolas"/>
              </a:rPr>
              <a:t>Series</a:t>
            </a:r>
            <a:r>
              <a:rPr sz="1500" i="0">
                <a:solidFill>
                  <a:srgbClr val="AEB6BF"/>
                </a:solidFill>
                <a:latin typeface="Consolas"/>
              </a:rPr>
              <a:t>(</a:t>
            </a:r>
            <a:r>
              <a:rPr sz="1500" i="0">
                <a:solidFill>
                  <a:srgbClr val="AEB6BF"/>
                </a:solidFill>
                <a:latin typeface="Consolas"/>
              </a:rPr>
              <a:t>[</a:t>
            </a:r>
            <a:r>
              <a:rPr sz="1500" i="0">
                <a:solidFill>
                  <a:srgbClr val="F7DC6F"/>
                </a:solidFill>
                <a:latin typeface="Consolas"/>
              </a:rPr>
              <a:t>12</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14</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15</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15</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17</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19</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8400</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response times (ms)</a:t>
            </a:r>
          </a:p>
          <a:p>
            <a:pPr>
              <a:lnSpc>
                <a:spcPct val="100000"/>
              </a:lnSpc>
              <a:spcAft>
                <a:spcPts val="0"/>
              </a:spcAft>
            </a:pPr>
            <a:r>
              <a:rPr sz="1500">
                <a:latin typeface="Consolas"/>
              </a:rPr>
              <a:t> </a:t>
            </a:r>
          </a:p>
          <a:p>
            <a:pPr>
              <a:lnSpc>
                <a:spcPct val="100000"/>
              </a:lnSpc>
              <a:spcAft>
                <a:spcPts val="0"/>
              </a:spcAft>
            </a:pP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mean   :</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rt</a:t>
            </a:r>
            <a:r>
              <a:rPr sz="1500" i="0">
                <a:solidFill>
                  <a:srgbClr val="AEB6BF"/>
                </a:solidFill>
                <a:latin typeface="Consolas"/>
              </a:rPr>
              <a:t>.</a:t>
            </a:r>
            <a:r>
              <a:rPr sz="1500" i="0">
                <a:solidFill>
                  <a:srgbClr val="E8EDF2"/>
                </a:solidFill>
                <a:latin typeface="Consolas"/>
              </a:rPr>
              <a:t>mean</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1213.1  &lt;- describes nothing</a:t>
            </a:r>
          </a:p>
          <a:p>
            <a:pPr>
              <a:lnSpc>
                <a:spcPct val="100000"/>
              </a:lnSpc>
              <a:spcAft>
                <a:spcPts val="0"/>
              </a:spcAft>
            </a:pP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median :</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rt</a:t>
            </a:r>
            <a:r>
              <a:rPr sz="1500" i="0">
                <a:solidFill>
                  <a:srgbClr val="AEB6BF"/>
                </a:solidFill>
                <a:latin typeface="Consolas"/>
              </a:rPr>
              <a:t>.</a:t>
            </a:r>
            <a:r>
              <a:rPr sz="1500" i="0">
                <a:solidFill>
                  <a:srgbClr val="E8EDF2"/>
                </a:solidFill>
                <a:latin typeface="Consolas"/>
              </a:rPr>
              <a:t>median</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15.0    &lt;- describes six of seven</a:t>
            </a:r>
          </a:p>
          <a:p>
            <a:pPr>
              <a:lnSpc>
                <a:spcPct val="100000"/>
              </a:lnSpc>
              <a:spcAft>
                <a:spcPts val="0"/>
              </a:spcAft>
            </a:pP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std    :</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rt</a:t>
            </a:r>
            <a:r>
              <a:rPr sz="1500" i="0">
                <a:solidFill>
                  <a:srgbClr val="AEB6BF"/>
                </a:solidFill>
                <a:latin typeface="Consolas"/>
              </a:rPr>
              <a:t>.</a:t>
            </a:r>
            <a:r>
              <a:rPr sz="1500" i="0">
                <a:solidFill>
                  <a:srgbClr val="E8EDF2"/>
                </a:solidFill>
                <a:latin typeface="Consolas"/>
              </a:rPr>
              <a:t>std</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huge, and equally misleading</a:t>
            </a:r>
          </a:p>
          <a:p>
            <a:pPr>
              <a:lnSpc>
                <a:spcPct val="100000"/>
              </a:lnSpc>
              <a:spcAft>
                <a:spcPts val="0"/>
              </a:spcAft>
            </a:pP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IQR    :</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rt</a:t>
            </a:r>
            <a:r>
              <a:rPr sz="1500" i="0">
                <a:solidFill>
                  <a:srgbClr val="AEB6BF"/>
                </a:solidFill>
                <a:latin typeface="Consolas"/>
              </a:rPr>
              <a:t>.</a:t>
            </a:r>
            <a:r>
              <a:rPr sz="1500" i="0">
                <a:solidFill>
                  <a:srgbClr val="E8EDF2"/>
                </a:solidFill>
                <a:latin typeface="Consolas"/>
              </a:rPr>
              <a:t>quantile</a:t>
            </a:r>
            <a:r>
              <a:rPr sz="1500" i="0">
                <a:solidFill>
                  <a:srgbClr val="AEB6BF"/>
                </a:solidFill>
                <a:latin typeface="Consolas"/>
              </a:rPr>
              <a:t>(</a:t>
            </a:r>
            <a:r>
              <a:rPr sz="1500" i="0">
                <a:solidFill>
                  <a:srgbClr val="F7DC6F"/>
                </a:solidFill>
                <a:latin typeface="Consolas"/>
              </a:rPr>
              <a:t>.75</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rt</a:t>
            </a:r>
            <a:r>
              <a:rPr sz="1500" i="0">
                <a:solidFill>
                  <a:srgbClr val="AEB6BF"/>
                </a:solidFill>
                <a:latin typeface="Consolas"/>
              </a:rPr>
              <a:t>.</a:t>
            </a:r>
            <a:r>
              <a:rPr sz="1500" i="0">
                <a:solidFill>
                  <a:srgbClr val="E8EDF2"/>
                </a:solidFill>
                <a:latin typeface="Consolas"/>
              </a:rPr>
              <a:t>quantile</a:t>
            </a:r>
            <a:r>
              <a:rPr sz="1500" i="0">
                <a:solidFill>
                  <a:srgbClr val="AEB6BF"/>
                </a:solidFill>
                <a:latin typeface="Consolas"/>
              </a:rPr>
              <a:t>(</a:t>
            </a:r>
            <a:r>
              <a:rPr sz="1500" i="0">
                <a:solidFill>
                  <a:srgbClr val="F7DC6F"/>
                </a:solidFill>
                <a:latin typeface="Consolas"/>
              </a:rPr>
              <a:t>.25</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q1</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q3</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rt</a:t>
            </a:r>
            <a:r>
              <a:rPr sz="1500" i="0">
                <a:solidFill>
                  <a:srgbClr val="AEB6BF"/>
                </a:solidFill>
                <a:latin typeface="Consolas"/>
              </a:rPr>
              <a:t>.</a:t>
            </a:r>
            <a:r>
              <a:rPr sz="1500" i="0">
                <a:solidFill>
                  <a:srgbClr val="E8EDF2"/>
                </a:solidFill>
                <a:latin typeface="Consolas"/>
              </a:rPr>
              <a:t>quantile</a:t>
            </a:r>
            <a:r>
              <a:rPr sz="1500" i="0">
                <a:solidFill>
                  <a:srgbClr val="AEB6BF"/>
                </a:solidFill>
                <a:latin typeface="Consolas"/>
              </a:rPr>
              <a:t>(</a:t>
            </a:r>
            <a:r>
              <a:rPr sz="1500" i="0">
                <a:solidFill>
                  <a:srgbClr val="F7DC6F"/>
                </a:solidFill>
                <a:latin typeface="Consolas"/>
              </a:rPr>
              <a:t>.25</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rt</a:t>
            </a:r>
            <a:r>
              <a:rPr sz="1500" i="0">
                <a:solidFill>
                  <a:srgbClr val="AEB6BF"/>
                </a:solidFill>
                <a:latin typeface="Consolas"/>
              </a:rPr>
              <a:t>.</a:t>
            </a:r>
            <a:r>
              <a:rPr sz="1500" i="0">
                <a:solidFill>
                  <a:srgbClr val="E8EDF2"/>
                </a:solidFill>
                <a:latin typeface="Consolas"/>
              </a:rPr>
              <a:t>quantile</a:t>
            </a:r>
            <a:r>
              <a:rPr sz="1500" i="0">
                <a:solidFill>
                  <a:srgbClr val="AEB6BF"/>
                </a:solidFill>
                <a:latin typeface="Consolas"/>
              </a:rPr>
              <a:t>(</a:t>
            </a:r>
            <a:r>
              <a:rPr sz="1500" i="0">
                <a:solidFill>
                  <a:srgbClr val="F7DC6F"/>
                </a:solidFill>
                <a:latin typeface="Consolas"/>
              </a:rPr>
              <a:t>.75</a:t>
            </a:r>
            <a:r>
              <a:rPr sz="1500" i="0">
                <a:solidFill>
                  <a:srgbClr val="AEB6BF"/>
                </a:solidFill>
                <a:latin typeface="Consolas"/>
              </a:rPr>
              <a:t>)</a:t>
            </a:r>
          </a:p>
          <a:p>
            <a:pPr>
              <a:lnSpc>
                <a:spcPct val="100000"/>
              </a:lnSpc>
              <a:spcAft>
                <a:spcPts val="0"/>
              </a:spcAft>
            </a:pPr>
            <a:r>
              <a:rPr sz="1500" i="0">
                <a:solidFill>
                  <a:srgbClr val="E8EDF2"/>
                </a:solidFill>
                <a:latin typeface="Consolas"/>
              </a:rPr>
              <a:t>iqr</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q3</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q1</a:t>
            </a:r>
          </a:p>
          <a:p>
            <a:pPr>
              <a:lnSpc>
                <a:spcPct val="100000"/>
              </a:lnSpc>
              <a:spcAft>
                <a:spcPts val="0"/>
              </a:spcAft>
            </a:pPr>
            <a:r>
              <a:rPr sz="1500" i="0">
                <a:solidFill>
                  <a:srgbClr val="E8EDF2"/>
                </a:solidFill>
                <a:latin typeface="Consolas"/>
              </a:rPr>
              <a:t>outliers</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rt</a:t>
            </a:r>
            <a:r>
              <a:rPr sz="1500" i="0">
                <a:solidFill>
                  <a:srgbClr val="E8EDF2"/>
                </a:solidFill>
                <a:latin typeface="Consolas"/>
              </a:rPr>
              <a:t> </a:t>
            </a:r>
            <a:r>
              <a:rPr sz="1500" i="0">
                <a:solidFill>
                  <a:srgbClr val="AEB6BF"/>
                </a:solidFill>
                <a:latin typeface="Consolas"/>
              </a:rPr>
              <a:t>&lt;</a:t>
            </a:r>
            <a:r>
              <a:rPr sz="1500" i="0">
                <a:solidFill>
                  <a:srgbClr val="E8EDF2"/>
                </a:solidFill>
                <a:latin typeface="Consolas"/>
              </a:rPr>
              <a:t> </a:t>
            </a:r>
            <a:r>
              <a:rPr sz="1500" i="0">
                <a:solidFill>
                  <a:srgbClr val="E8EDF2"/>
                </a:solidFill>
                <a:latin typeface="Consolas"/>
              </a:rPr>
              <a:t>q1</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1.5</a:t>
            </a:r>
            <a:r>
              <a:rPr sz="1500" i="0">
                <a:solidFill>
                  <a:srgbClr val="AEB6BF"/>
                </a:solidFill>
                <a:latin typeface="Consolas"/>
              </a:rPr>
              <a:t>*</a:t>
            </a:r>
            <a:r>
              <a:rPr sz="1500" i="0">
                <a:solidFill>
                  <a:srgbClr val="E8EDF2"/>
                </a:solidFill>
                <a:latin typeface="Consolas"/>
              </a:rPr>
              <a:t>iqr</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rt</a:t>
            </a:r>
            <a:r>
              <a:rPr sz="1500" i="0">
                <a:solidFill>
                  <a:srgbClr val="E8EDF2"/>
                </a:solidFill>
                <a:latin typeface="Consolas"/>
              </a:rPr>
              <a:t> </a:t>
            </a:r>
            <a:r>
              <a:rPr sz="1500" i="0">
                <a:solidFill>
                  <a:srgbClr val="AEB6BF"/>
                </a:solidFill>
                <a:latin typeface="Consolas"/>
              </a:rPr>
              <a:t>&gt;</a:t>
            </a:r>
            <a:r>
              <a:rPr sz="1500" i="0">
                <a:solidFill>
                  <a:srgbClr val="E8EDF2"/>
                </a:solidFill>
                <a:latin typeface="Consolas"/>
              </a:rPr>
              <a:t> </a:t>
            </a:r>
            <a:r>
              <a:rPr sz="1500" i="0">
                <a:solidFill>
                  <a:srgbClr val="E8EDF2"/>
                </a:solidFill>
                <a:latin typeface="Consolas"/>
              </a:rPr>
              <a:t>q3</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1.5</a:t>
            </a:r>
            <a:r>
              <a:rPr sz="1500" i="0">
                <a:solidFill>
                  <a:srgbClr val="AEB6BF"/>
                </a:solidFill>
                <a:latin typeface="Consolas"/>
              </a:rPr>
              <a:t>*</a:t>
            </a:r>
            <a:r>
              <a:rPr sz="1500" i="0">
                <a:solidFill>
                  <a:srgbClr val="E8EDF2"/>
                </a:solidFill>
                <a:latin typeface="Consolas"/>
              </a:rPr>
              <a:t>iqr</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flagged:</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list</a:t>
            </a:r>
            <a:r>
              <a:rPr sz="1500" i="0">
                <a:solidFill>
                  <a:srgbClr val="AEB6BF"/>
                </a:solidFill>
                <a:latin typeface="Consolas"/>
              </a:rPr>
              <a:t>(</a:t>
            </a:r>
            <a:r>
              <a:rPr sz="1500" i="0">
                <a:solidFill>
                  <a:srgbClr val="E8EDF2"/>
                </a:solidFill>
                <a:latin typeface="Consolas"/>
              </a:rPr>
              <a:t>outliers</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1">
                <a:solidFill>
                  <a:srgbClr val="8795A1"/>
                </a:solidFill>
                <a:latin typeface="Consolas"/>
              </a:rPr>
              <a:t># The skew diagnostic you can do in your head:</a:t>
            </a:r>
          </a:p>
          <a:p>
            <a:pPr>
              <a:lnSpc>
                <a:spcPct val="100000"/>
              </a:lnSpc>
              <a:spcAft>
                <a:spcPts val="0"/>
              </a:spcAft>
            </a:pP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mean &gt;&gt; median ?</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rt</a:t>
            </a:r>
            <a:r>
              <a:rPr sz="1500" i="0">
                <a:solidFill>
                  <a:srgbClr val="AEB6BF"/>
                </a:solidFill>
                <a:latin typeface="Consolas"/>
              </a:rPr>
              <a:t>.</a:t>
            </a:r>
            <a:r>
              <a:rPr sz="1500" i="0">
                <a:solidFill>
                  <a:srgbClr val="E8EDF2"/>
                </a:solidFill>
                <a:latin typeface="Consolas"/>
              </a:rPr>
              <a:t>mean</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&gt;</a:t>
            </a:r>
            <a:r>
              <a:rPr sz="1500" i="0">
                <a:solidFill>
                  <a:srgbClr val="E8EDF2"/>
                </a:solidFill>
                <a:latin typeface="Consolas"/>
              </a:rPr>
              <a:t> </a:t>
            </a:r>
            <a:r>
              <a:rPr sz="1500" i="0">
                <a:solidFill>
                  <a:srgbClr val="F7DC6F"/>
                </a:solidFill>
                <a:latin typeface="Consolas"/>
              </a:rPr>
              <a:t>2</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rt</a:t>
            </a:r>
            <a:r>
              <a:rPr sz="1500" i="0">
                <a:solidFill>
                  <a:srgbClr val="AEB6BF"/>
                </a:solidFill>
                <a:latin typeface="Consolas"/>
              </a:rPr>
              <a:t>.</a:t>
            </a:r>
            <a:r>
              <a:rPr sz="1500" i="0">
                <a:solidFill>
                  <a:srgbClr val="E8EDF2"/>
                </a:solidFill>
                <a:latin typeface="Consolas"/>
              </a:rPr>
              <a:t>median</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True =&gt; right-skewed</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1</a:t>
            </a:r>
          </a:p>
          <a:p>
            <a:pPr algn="r">
              <a:lnSpc>
                <a:spcPct val="100000"/>
              </a:lnSpc>
            </a:pPr>
            <a:r>
              <a:rPr sz="1500">
                <a:solidFill>
                  <a:srgbClr val="4F5D6A"/>
                </a:solidFill>
                <a:latin typeface="Consolas"/>
              </a:rPr>
              <a:t>2</a:t>
            </a:r>
          </a:p>
          <a:p>
            <a:pPr algn="r">
              <a:lnSpc>
                <a:spcPct val="100000"/>
              </a:lnSpc>
            </a:pPr>
            <a:r>
              <a:rPr sz="1500">
                <a:solidFill>
                  <a:srgbClr val="4F5D6A"/>
                </a:solidFill>
                <a:latin typeface="Consolas"/>
              </a:rPr>
              <a:t>3</a:t>
            </a:r>
          </a:p>
          <a:p>
            <a:pPr algn="r">
              <a:lnSpc>
                <a:spcPct val="100000"/>
              </a:lnSpc>
            </a:pPr>
            <a:r>
              <a:rPr sz="1500">
                <a:solidFill>
                  <a:srgbClr val="4F5D6A"/>
                </a:solidFill>
                <a:latin typeface="Consolas"/>
              </a:rPr>
              <a:t>4</a:t>
            </a:r>
          </a:p>
          <a:p>
            <a:pPr algn="r">
              <a:lnSpc>
                <a:spcPct val="100000"/>
              </a:lnSpc>
            </a:pPr>
            <a:r>
              <a:rPr sz="1500">
                <a:solidFill>
                  <a:srgbClr val="4F5D6A"/>
                </a:solidFill>
                <a:latin typeface="Consolas"/>
              </a:rPr>
              <a:t>5</a:t>
            </a:r>
          </a:p>
          <a:p>
            <a:pPr algn="r">
              <a:lnSpc>
                <a:spcPct val="100000"/>
              </a:lnSpc>
            </a:pPr>
            <a:r>
              <a:rPr sz="1500">
                <a:solidFill>
                  <a:srgbClr val="4F5D6A"/>
                </a:solidFill>
                <a:latin typeface="Consolas"/>
              </a:rPr>
              <a:t>6</a:t>
            </a:r>
          </a:p>
          <a:p>
            <a:pPr algn="r">
              <a:lnSpc>
                <a:spcPct val="100000"/>
              </a:lnSpc>
            </a:pPr>
            <a:r>
              <a:rPr sz="1500">
                <a:solidFill>
                  <a:srgbClr val="4F5D6A"/>
                </a:solidFill>
                <a:latin typeface="Consolas"/>
              </a:rPr>
              <a:t>7</a:t>
            </a:r>
          </a:p>
          <a:p>
            <a:pPr algn="r">
              <a:lnSpc>
                <a:spcPct val="100000"/>
              </a:lnSpc>
            </a:pPr>
            <a:r>
              <a:rPr sz="1500">
                <a:solidFill>
                  <a:srgbClr val="4F5D6A"/>
                </a:solidFill>
                <a:latin typeface="Consolas"/>
              </a:rPr>
              <a:t>8</a:t>
            </a:r>
          </a:p>
          <a:p>
            <a:pPr algn="r">
              <a:lnSpc>
                <a:spcPct val="100000"/>
              </a:lnSpc>
            </a:pPr>
            <a:r>
              <a:rPr sz="1500">
                <a:solidFill>
                  <a:srgbClr val="4F5D6A"/>
                </a:solidFill>
                <a:latin typeface="Consolas"/>
              </a:rPr>
              <a:t>9</a:t>
            </a:r>
          </a:p>
          <a:p>
            <a:pPr algn="r">
              <a:lnSpc>
                <a:spcPct val="100000"/>
              </a:lnSpc>
            </a:pPr>
            <a:r>
              <a:rPr sz="1500">
                <a:solidFill>
                  <a:srgbClr val="4F5D6A"/>
                </a:solidFill>
                <a:latin typeface="Consolas"/>
              </a:rPr>
              <a:t>10</a:t>
            </a:r>
          </a:p>
          <a:p>
            <a:pPr algn="r">
              <a:lnSpc>
                <a:spcPct val="100000"/>
              </a:lnSpc>
            </a:pPr>
            <a:r>
              <a:rPr sz="1500">
                <a:solidFill>
                  <a:srgbClr val="4F5D6A"/>
                </a:solidFill>
                <a:latin typeface="Consolas"/>
              </a:rPr>
              <a:t>11</a:t>
            </a:r>
          </a:p>
          <a:p>
            <a:pPr algn="r">
              <a:lnSpc>
                <a:spcPct val="100000"/>
              </a:lnSpc>
            </a:pPr>
            <a:r>
              <a:rPr sz="1500">
                <a:solidFill>
                  <a:srgbClr val="4F5D6A"/>
                </a:solidFill>
                <a:latin typeface="Consolas"/>
              </a:rPr>
              <a:t>12</a:t>
            </a:r>
          </a:p>
          <a:p>
            <a:pPr algn="r">
              <a:lnSpc>
                <a:spcPct val="100000"/>
              </a:lnSpc>
            </a:pPr>
            <a:r>
              <a:rPr sz="1500">
                <a:solidFill>
                  <a:srgbClr val="4F5D6A"/>
                </a:solidFill>
                <a:latin typeface="Consolas"/>
              </a:rPr>
              <a:t>13</a:t>
            </a:r>
          </a:p>
          <a:p>
            <a:pPr algn="r">
              <a:lnSpc>
                <a:spcPct val="100000"/>
              </a:lnSpc>
            </a:pPr>
            <a:r>
              <a:rPr sz="1500">
                <a:solidFill>
                  <a:srgbClr val="4F5D6A"/>
                </a:solidFill>
                <a:latin typeface="Consolas"/>
              </a:rPr>
              <a:t>14</a:t>
            </a:r>
          </a:p>
          <a:p>
            <a:pPr algn="r">
              <a:lnSpc>
                <a:spcPct val="100000"/>
              </a:lnSpc>
            </a:pPr>
            <a:r>
              <a:rPr sz="1500">
                <a:solidFill>
                  <a:srgbClr val="4F5D6A"/>
                </a:solidFill>
                <a:latin typeface="Consolas"/>
              </a:rPr>
              <a:t>15</a:t>
            </a:r>
          </a:p>
          <a:p>
            <a:pPr algn="r">
              <a:lnSpc>
                <a:spcPct val="100000"/>
              </a:lnSpc>
            </a:pPr>
            <a:r>
              <a:rPr sz="1500">
                <a:solidFill>
                  <a:srgbClr val="4F5D6A"/>
                </a:solidFill>
                <a:latin typeface="Consolas"/>
              </a:rPr>
              <a:t>16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0583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Centre, Spread and Shape in Eight Lines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  ·  LISTING 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§5.4.1  ·  Handout p. 32     </a:t>
            </a:r>
            <a:fld id="{FABD984B-7304-44B1-B522-F56760E5108A}"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822703"/>
          </a:xfrm>
          <a:prstGeom prst="roundRect">
            <a:avLst>
              <a:gd name="adj" fmla="val 501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R</a:t>
            </a:r>
          </a:p>
        </p:txBody>
      </p:sp>
      <p:sp>
        <p:nvSpPr>
          <p:cNvPr id="14" name="!!code-text" descr="rt &lt;- c(12, 14, 15, 15, 17, 19, 8400) summary(rt) # min, Q1, median, mean, Q3, max in one call IQR(rt) boxplot(rt, horizontal = TRUE)"/>
          <p:cNvSpPr txBox="1"/>
          <p:nvPr/>
        </p:nvSpPr>
        <p:spPr>
          <a:xfrm>
            <a:off x="1362456" y="2523744"/>
            <a:ext cx="9987991" cy="1328928"/>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rt</a:t>
            </a:r>
            <a:r>
              <a:rPr sz="2000" i="0">
                <a:solidFill>
                  <a:srgbClr val="E8EDF2"/>
                </a:solidFill>
                <a:latin typeface="Consolas"/>
              </a:rPr>
              <a:t> </a:t>
            </a:r>
            <a:r>
              <a:rPr sz="2000" i="0">
                <a:solidFill>
                  <a:srgbClr val="AEB6BF"/>
                </a:solidFill>
                <a:latin typeface="Consolas"/>
              </a:rPr>
              <a:t>&lt;-</a:t>
            </a:r>
            <a:r>
              <a:rPr sz="2000" i="0">
                <a:solidFill>
                  <a:srgbClr val="E8EDF2"/>
                </a:solidFill>
                <a:latin typeface="Consolas"/>
              </a:rPr>
              <a:t> </a:t>
            </a:r>
            <a:r>
              <a:rPr sz="2000" i="0">
                <a:solidFill>
                  <a:srgbClr val="C39BD3"/>
                </a:solidFill>
                <a:latin typeface="Consolas"/>
              </a:rPr>
              <a:t>c</a:t>
            </a:r>
            <a:r>
              <a:rPr sz="2000" i="0">
                <a:solidFill>
                  <a:srgbClr val="AEB6BF"/>
                </a:solidFill>
                <a:latin typeface="Consolas"/>
              </a:rPr>
              <a:t>(</a:t>
            </a:r>
            <a:r>
              <a:rPr sz="2000" i="0">
                <a:solidFill>
                  <a:srgbClr val="F7DC6F"/>
                </a:solidFill>
                <a:latin typeface="Consolas"/>
              </a:rPr>
              <a:t>12</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14</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15</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15</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17</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19</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8400</a:t>
            </a:r>
            <a:r>
              <a:rPr sz="2000" i="0">
                <a:solidFill>
                  <a:srgbClr val="AEB6BF"/>
                </a:solidFill>
                <a:latin typeface="Consolas"/>
              </a:rPr>
              <a:t>)</a:t>
            </a:r>
          </a:p>
          <a:p>
            <a:pPr>
              <a:lnSpc>
                <a:spcPct val="100000"/>
              </a:lnSpc>
              <a:spcAft>
                <a:spcPts val="0"/>
              </a:spcAft>
            </a:pPr>
            <a:r>
              <a:rPr sz="2000" i="0">
                <a:solidFill>
                  <a:srgbClr val="C39BD3"/>
                </a:solidFill>
                <a:latin typeface="Consolas"/>
              </a:rPr>
              <a:t>summary</a:t>
            </a:r>
            <a:r>
              <a:rPr sz="2000" i="0">
                <a:solidFill>
                  <a:srgbClr val="AEB6BF"/>
                </a:solidFill>
                <a:latin typeface="Consolas"/>
              </a:rPr>
              <a:t>(</a:t>
            </a:r>
            <a:r>
              <a:rPr sz="2000" i="0">
                <a:solidFill>
                  <a:srgbClr val="E8EDF2"/>
                </a:solidFill>
                <a:latin typeface="Consolas"/>
              </a:rPr>
              <a:t>rt</a:t>
            </a:r>
            <a:r>
              <a:rPr sz="2000" i="0">
                <a:solidFill>
                  <a:srgbClr val="AEB6BF"/>
                </a:solidFill>
                <a:latin typeface="Consolas"/>
              </a:rPr>
              <a:t>)</a:t>
            </a:r>
            <a:r>
              <a:rPr sz="2000" i="0">
                <a:solidFill>
                  <a:srgbClr val="E8EDF2"/>
                </a:solidFill>
                <a:latin typeface="Consolas"/>
              </a:rPr>
              <a:t>          </a:t>
            </a:r>
            <a:r>
              <a:rPr sz="2000" i="1">
                <a:solidFill>
                  <a:srgbClr val="8795A1"/>
                </a:solidFill>
                <a:latin typeface="Consolas"/>
              </a:rPr>
              <a:t># min, Q1, median, mean, Q3, max in one call</a:t>
            </a:r>
          </a:p>
          <a:p>
            <a:pPr>
              <a:lnSpc>
                <a:spcPct val="100000"/>
              </a:lnSpc>
              <a:spcAft>
                <a:spcPts val="0"/>
              </a:spcAft>
            </a:pPr>
            <a:r>
              <a:rPr sz="2000" i="0">
                <a:solidFill>
                  <a:srgbClr val="C39BD3"/>
                </a:solidFill>
                <a:latin typeface="Consolas"/>
              </a:rPr>
              <a:t>IQR</a:t>
            </a:r>
            <a:r>
              <a:rPr sz="2000" i="0">
                <a:solidFill>
                  <a:srgbClr val="AEB6BF"/>
                </a:solidFill>
                <a:latin typeface="Consolas"/>
              </a:rPr>
              <a:t>(</a:t>
            </a:r>
            <a:r>
              <a:rPr sz="2000" i="0">
                <a:solidFill>
                  <a:srgbClr val="E8EDF2"/>
                </a:solidFill>
                <a:latin typeface="Consolas"/>
              </a:rPr>
              <a:t>rt</a:t>
            </a:r>
            <a:r>
              <a:rPr sz="2000" i="0">
                <a:solidFill>
                  <a:srgbClr val="AEB6BF"/>
                </a:solidFill>
                <a:latin typeface="Consolas"/>
              </a:rPr>
              <a:t>)</a:t>
            </a:r>
          </a:p>
          <a:p>
            <a:pPr>
              <a:lnSpc>
                <a:spcPct val="100000"/>
              </a:lnSpc>
              <a:spcAft>
                <a:spcPts val="0"/>
              </a:spcAft>
            </a:pPr>
            <a:r>
              <a:rPr sz="2000" i="0">
                <a:solidFill>
                  <a:srgbClr val="C39BD3"/>
                </a:solidFill>
                <a:latin typeface="Consolas"/>
              </a:rPr>
              <a:t>boxplot</a:t>
            </a:r>
            <a:r>
              <a:rPr sz="2000" i="0">
                <a:solidFill>
                  <a:srgbClr val="AEB6BF"/>
                </a:solidFill>
                <a:latin typeface="Consolas"/>
              </a:rPr>
              <a:t>(</a:t>
            </a:r>
            <a:r>
              <a:rPr sz="2000" i="0">
                <a:solidFill>
                  <a:srgbClr val="E8EDF2"/>
                </a:solidFill>
                <a:latin typeface="Consolas"/>
              </a:rPr>
              <a:t>rt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horizontal</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TRUE</a:t>
            </a:r>
            <a:r>
              <a:rPr sz="2000" i="0">
                <a:solidFill>
                  <a:srgbClr val="AEB6BF"/>
                </a:solidFill>
                <a:latin typeface="Consolas"/>
              </a:rPr>
              <a:t>)</a:t>
            </a:r>
          </a:p>
        </p:txBody>
      </p:sp>
      <p:sp>
        <p:nvSpPr>
          <p:cNvPr id="15" name="!!code-num"/>
          <p:cNvSpPr txBox="1"/>
          <p:nvPr/>
        </p:nvSpPr>
        <p:spPr>
          <a:xfrm>
            <a:off x="768096" y="2523744"/>
            <a:ext cx="393192" cy="13289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a:t>
            </a:r>
          </a:p>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8936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§5.4.1  ·  Handout p. 32     </a:t>
            </a:r>
            <a:fld id="{C9DFD717-FC78-4612-8C3F-6358D87AA875}" type="slidenum">
              <a:rPr lang="en-GB" sz="1000">
                <a:solidFill>
                  <a:srgbClr val="8795A1"/>
                </a:solidFill>
                <a:latin typeface="Segoe UI"/>
              </a:rPr>
              <a:t>32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986332"/>
          </a:xfrm>
          <a:prstGeom prst="roundRect">
            <a:avLst>
              <a:gd name="adj" fmla="val 927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98633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R equivalent</a:t>
            </a:r>
            <a:r>
              <a:rPr sz="2300" b="0" i="0">
                <a:solidFill>
                  <a:srgbClr val="1C252B"/>
                </a:solidFill>
                <a:latin typeface="Segoe UI"/>
              </a:rPr>
              <a:t> (the repo’s existing Quarto labs use this style):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07288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variable has mean 45 and median 12. What shape is it, and which figure would you publish?</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5  ·  Describing Data: Centre, Spread and Shape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34  ·  answers in Appendix D     </a:t>
            </a:r>
            <a:fld id="{FF39664B-C9F8-47F4-876F-0C9B995D7453}"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variable has mean 45 and median 12. What shape is it, and which figure would you publish?</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Strongly right-skewed. Publish the </a:t>
            </a:r>
            <a:r>
              <a:rPr sz="2200" b="1" i="0">
                <a:solidFill>
                  <a:srgbClr val="1C252B"/>
                </a:solidFill>
                <a:latin typeface="Segoe UI"/>
              </a:rPr>
              <a:t>median</a:t>
            </a:r>
            <a:r>
              <a:rPr sz="2200" b="0" i="0">
                <a:solidFill>
                  <a:srgbClr val="1C252B"/>
                </a:solidFill>
                <a:latin typeface="Segoe UI"/>
              </a:rPr>
              <a:t> of 12, with the IQR; the mean of 45 describes almost none of the observations.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34  ·  answers in Appendix D     </a:t>
            </a:r>
            <a:fld id="{D5BD662F-8ED0-421E-8B2D-AA0C5A35EE12}"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63994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For the data </a:t>
            </a:r>
            <a:r>
              <a:rPr sz="3400" b="0" i="0">
                <a:solidFill>
                  <a:srgbClr val="FFFFFF"/>
                </a:solidFill>
                <a:latin typeface="Cambria"/>
              </a:rPr>
              <a:t>2, 4, 4, 5, 9</a:t>
            </a:r>
            <a:r>
              <a:rPr sz="3400" b="0" i="0">
                <a:solidFill>
                  <a:srgbClr val="FFFFFF"/>
                </a:solidFill>
                <a:latin typeface="Segoe UI Semibold"/>
              </a:rPr>
              <a:t>: compute the mean, the median and the sample standard deviation.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5  ·  Describing Data: Centre, Spread and Shape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34  ·  answers in Appendix D     </a:t>
            </a:r>
            <a:fld id="{74788B1B-7F2E-4C82-BC98-B149227D785C}"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For the data </a:t>
            </a:r>
            <a:r>
              <a:rPr sz="2400" b="0" i="0">
                <a:solidFill>
                  <a:srgbClr val="1A5276"/>
                </a:solidFill>
                <a:latin typeface="Cambria"/>
              </a:rPr>
              <a:t>2, 4, 4, 5, 9</a:t>
            </a:r>
            <a:r>
              <a:rPr sz="2400" b="0" i="0">
                <a:solidFill>
                  <a:srgbClr val="1A5276"/>
                </a:solidFill>
                <a:latin typeface="Segoe UI Semibold"/>
              </a:rPr>
              <a:t>: compute the mean, the median and the sample standard deviation.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Mean </a:t>
            </a:r>
            <a:r>
              <a:rPr sz="2200" b="0" i="0">
                <a:solidFill>
                  <a:srgbClr val="1C252B"/>
                </a:solidFill>
                <a:latin typeface="Cambria"/>
              </a:rPr>
              <a:t>= 24/5 = 4.8</a:t>
            </a:r>
            <a:r>
              <a:rPr sz="2200" b="0" i="0">
                <a:solidFill>
                  <a:srgbClr val="1C252B"/>
                </a:solidFill>
                <a:latin typeface="Segoe UI"/>
              </a:rPr>
              <a:t>. Median </a:t>
            </a:r>
            <a:r>
              <a:rPr sz="2200" b="0" i="0">
                <a:solidFill>
                  <a:srgbClr val="1C252B"/>
                </a:solidFill>
                <a:latin typeface="Cambria"/>
              </a:rPr>
              <a:t>= 4</a:t>
            </a:r>
            <a:r>
              <a:rPr sz="2200" b="0" i="0">
                <a:solidFill>
                  <a:srgbClr val="1C252B"/>
                </a:solidFill>
                <a:latin typeface="Segoe UI"/>
              </a:rPr>
              <a:t>. </a:t>
            </a:r>
            <a:r>
              <a:rPr sz="2200" b="0" i="1">
                <a:solidFill>
                  <a:srgbClr val="1C252B"/>
                </a:solidFill>
                <a:latin typeface="Cambria"/>
              </a:rPr>
              <a:t>s</a:t>
            </a:r>
            <a:r>
              <a:rPr sz="2200" b="0" i="0" baseline="30000">
                <a:solidFill>
                  <a:srgbClr val="1C252B"/>
                </a:solidFill>
                <a:latin typeface="Cambria"/>
              </a:rPr>
              <a:t>2</a:t>
            </a:r>
            <a:r>
              <a:rPr sz="2200" b="0" i="0">
                <a:solidFill>
                  <a:srgbClr val="1C252B"/>
                </a:solidFill>
                <a:latin typeface="Cambria"/>
              </a:rPr>
              <a:t> = ((2−4.8)</a:t>
            </a:r>
            <a:r>
              <a:rPr sz="2200" b="0" i="0" baseline="30000">
                <a:solidFill>
                  <a:srgbClr val="1C252B"/>
                </a:solidFill>
                <a:latin typeface="Cambria"/>
              </a:rPr>
              <a:t>2</a:t>
            </a:r>
            <a:r>
              <a:rPr sz="2200" b="0" i="0">
                <a:solidFill>
                  <a:srgbClr val="1C252B"/>
                </a:solidFill>
                <a:latin typeface="Cambria"/>
              </a:rPr>
              <a:t>+(4−4.8)</a:t>
            </a:r>
            <a:r>
              <a:rPr sz="2200" b="0" i="0" baseline="30000">
                <a:solidFill>
                  <a:srgbClr val="1C252B"/>
                </a:solidFill>
                <a:latin typeface="Cambria"/>
              </a:rPr>
              <a:t>2</a:t>
            </a:r>
            <a:r>
              <a:rPr sz="2200" b="0" i="0">
                <a:solidFill>
                  <a:srgbClr val="1C252B"/>
                </a:solidFill>
                <a:latin typeface="Cambria"/>
              </a:rPr>
              <a:t>+(4−4.8)</a:t>
            </a:r>
            <a:r>
              <a:rPr sz="2200" b="0" i="0" baseline="30000">
                <a:solidFill>
                  <a:srgbClr val="1C252B"/>
                </a:solidFill>
                <a:latin typeface="Cambria"/>
              </a:rPr>
              <a:t>2</a:t>
            </a:r>
            <a:r>
              <a:rPr sz="2200" b="0" i="0">
                <a:solidFill>
                  <a:srgbClr val="1C252B"/>
                </a:solidFill>
                <a:latin typeface="Cambria"/>
              </a:rPr>
              <a:t>+(5−4.8)</a:t>
            </a:r>
            <a:r>
              <a:rPr sz="2200" b="0" i="0" baseline="30000">
                <a:solidFill>
                  <a:srgbClr val="1C252B"/>
                </a:solidFill>
                <a:latin typeface="Cambria"/>
              </a:rPr>
              <a:t>2</a:t>
            </a:r>
            <a:r>
              <a:rPr sz="2200" b="0" i="0">
                <a:solidFill>
                  <a:srgbClr val="1C252B"/>
                </a:solidFill>
                <a:latin typeface="Cambria"/>
              </a:rPr>
              <a:t>+(9−4.8)</a:t>
            </a:r>
            <a:r>
              <a:rPr sz="2200" b="0" i="0" baseline="30000">
                <a:solidFill>
                  <a:srgbClr val="1C252B"/>
                </a:solidFill>
                <a:latin typeface="Cambria"/>
              </a:rPr>
              <a:t>2</a:t>
            </a:r>
            <a:r>
              <a:rPr sz="2200" b="0" i="0">
                <a:solidFill>
                  <a:srgbClr val="1C252B"/>
                </a:solidFill>
                <a:latin typeface="Cambria"/>
              </a:rPr>
              <a:t>)/4 = (7.84+0.64+0.64+0.04+17.64)/4 = 6.7</a:t>
            </a:r>
            <a:r>
              <a:rPr sz="2200" b="0" i="0">
                <a:solidFill>
                  <a:srgbClr val="1C252B"/>
                </a:solidFill>
                <a:latin typeface="Segoe UI"/>
              </a:rPr>
              <a:t>, so </a:t>
            </a:r>
            <a:r>
              <a:rPr sz="2200" b="0" i="1">
                <a:solidFill>
                  <a:srgbClr val="1C252B"/>
                </a:solidFill>
                <a:latin typeface="Cambria"/>
              </a:rPr>
              <a:t>s</a:t>
            </a:r>
            <a:r>
              <a:rPr sz="2200" b="0" i="0">
                <a:solidFill>
                  <a:srgbClr val="1C252B"/>
                </a:solidFill>
                <a:latin typeface="Cambria"/>
              </a:rPr>
              <a:t> ≈ 2.59</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34  ·  answers in Appendix D     </a:t>
            </a:r>
            <a:fld id="{14F9C856-0D01-476B-B11E-B1A396AEAE02}"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0700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is the mode the only measure of centre available for the variable </a:t>
            </a:r>
            <a:r>
              <a:rPr sz="3200" b="0" i="0">
                <a:solidFill>
                  <a:srgbClr val="FFFFFF"/>
                </a:solidFill>
                <a:latin typeface="Consolas"/>
              </a:rPr>
              <a:t>protocol</a:t>
            </a:r>
            <a:r>
              <a:rPr sz="3400" b="0" i="0">
                <a:solidFill>
                  <a:srgbClr val="FFFFFF"/>
                </a:solidFill>
                <a:latin typeface="Segoe UI Semibold"/>
              </a:rPr>
              <a:t> </a:t>
            </a:r>
            <a:r>
              <a:rPr sz="3400" b="0" i="0">
                <a:solidFill>
                  <a:srgbClr val="FFFFFF"/>
                </a:solidFill>
                <a:latin typeface="Cambria"/>
              </a:rPr>
              <a:t>∈</a:t>
            </a:r>
            <a:r>
              <a:rPr sz="3400" b="0" i="0">
                <a:solidFill>
                  <a:srgbClr val="FFFFFF"/>
                </a:solidFill>
                <a:latin typeface="Segoe UI Semibold"/>
              </a:rPr>
              <a:t> {TCP, UDP, ICMP}?</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5  ·  Describing Data: Centre, Spread and Shape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34  ·  answers in Appendix D     </a:t>
            </a:r>
            <a:fld id="{E2A537AF-2D3E-4C41-A6D2-91E913B92D2B}"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is the mode the only measure of centre available for the variable </a:t>
            </a:r>
            <a:r>
              <a:rPr sz="2250" b="0" i="0">
                <a:solidFill>
                  <a:srgbClr val="1A5276"/>
                </a:solidFill>
                <a:latin typeface="Consolas"/>
              </a:rPr>
              <a:t>protocol</a:t>
            </a:r>
            <a:r>
              <a:rPr sz="2400" b="0" i="0">
                <a:solidFill>
                  <a:srgbClr val="1A5276"/>
                </a:solidFill>
                <a:latin typeface="Segoe UI Semibold"/>
              </a:rPr>
              <a:t> </a:t>
            </a:r>
            <a:r>
              <a:rPr sz="2400" b="0" i="0">
                <a:solidFill>
                  <a:srgbClr val="1A5276"/>
                </a:solidFill>
                <a:latin typeface="Cambria"/>
              </a:rPr>
              <a:t>∈</a:t>
            </a:r>
            <a:r>
              <a:rPr sz="2400" b="0" i="0">
                <a:solidFill>
                  <a:srgbClr val="1A5276"/>
                </a:solidFill>
                <a:latin typeface="Segoe UI Semibold"/>
              </a:rPr>
              <a:t> {TCP, UDP, ICMP}?</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the values are unordered category labels. “Average protocol” has no meaning, and a median requires an ordering that does not exist. Only the most frequent value is defined.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34  ·  answers in Appendix D     </a:t>
            </a:r>
            <a:fld id="{A69E45C3-869F-414E-8FA5-CE12058ADC9F}"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7405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34     </a:t>
            </a:r>
            <a:fld id="{98DDA36C-E8C0-44B2-B697-CBC13D8AB85E}" type="slidenum">
              <a:rPr lang="en-GB" sz="1000">
                <a:solidFill>
                  <a:srgbClr val="8795A1"/>
                </a:solidFill>
                <a:latin typeface="Segoe UI"/>
              </a:rPr>
              <a:t>39</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mean is sensitive to extremes; the median and IQR are robust. Skewed data should be summarised by the median.</a:t>
            </a:r>
          </a:p>
        </p:txBody>
      </p:sp>
      <p:sp>
        <p:nvSpPr>
          <p:cNvPr id="10" name="!!sb1">
            <a:extLst>
              <a:ext uri="{C183D7F6-B498-43B3-948B-1728B52AA6E4}">
                <adec:decorative xmlns:adec="http://schemas.microsoft.com/office/drawing/2017/decorative" val="1"/>
              </a:ext>
            </a:extLst>
          </p:cNvPr>
          <p:cNvSpPr/>
          <p:nvPr/>
        </p:nvSpPr>
        <p:spPr>
          <a:xfrm>
            <a:off x="658368" y="25950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499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85923"/>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Standard deviation is variance in the original units, which is why it is the one usually reported.</a:t>
            </a:r>
          </a:p>
        </p:txBody>
      </p:sp>
      <p:sp>
        <p:nvSpPr>
          <p:cNvPr id="13" name="!!sb2">
            <a:extLst>
              <a:ext uri="{C183D7F6-B498-43B3-948B-1728B52AA6E4}">
                <adec:decorative xmlns:adec="http://schemas.microsoft.com/office/drawing/2017/decorative" val="1"/>
              </a:ext>
            </a:extLst>
          </p:cNvPr>
          <p:cNvSpPr/>
          <p:nvPr/>
        </p:nvSpPr>
        <p:spPr>
          <a:xfrm>
            <a:off x="658368" y="344363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9849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34486"/>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a:t>
            </a:r>
            <a:r>
              <a:rPr sz="2100" b="0" i="0">
                <a:solidFill>
                  <a:srgbClr val="1C252B"/>
                </a:solidFill>
                <a:latin typeface="Cambria"/>
              </a:rPr>
              <a:t>1.5×</a:t>
            </a:r>
            <a:r>
              <a:rPr sz="2100" b="0" i="0">
                <a:solidFill>
                  <a:srgbClr val="1C252B"/>
                </a:solidFill>
                <a:latin typeface="Segoe UI"/>
              </a:rPr>
              <a:t>IQR rule identifies </a:t>
            </a:r>
            <a:r>
              <a:rPr sz="2100" b="0" i="1">
                <a:solidFill>
                  <a:srgbClr val="1C252B"/>
                </a:solidFill>
                <a:latin typeface="Segoe UI"/>
              </a:rPr>
              <a:t>candidate</a:t>
            </a:r>
            <a:r>
              <a:rPr sz="2100" b="0" i="0">
                <a:solidFill>
                  <a:srgbClr val="1C252B"/>
                </a:solidFill>
                <a:latin typeface="Segoe UI"/>
              </a:rPr>
              <a:t> outliers. Whether to remove them is a domain decision, never a statistical one — in security they are the target.</a:t>
            </a:r>
          </a:p>
        </p:txBody>
      </p:sp>
      <p:sp>
        <p:nvSpPr>
          <p:cNvPr id="16" name="!!sb3">
            <a:extLst>
              <a:ext uri="{C183D7F6-B498-43B3-948B-1728B52AA6E4}">
                <adec:decorative xmlns:adec="http://schemas.microsoft.com/office/drawing/2017/decorative" val="1"/>
              </a:ext>
            </a:extLst>
          </p:cNvPr>
          <p:cNvSpPr/>
          <p:nvPr/>
        </p:nvSpPr>
        <p:spPr>
          <a:xfrm>
            <a:off x="658368" y="429219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34705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283049"/>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Comparing mean with median is a free, instant diagnostic of skew.</a:t>
            </a:r>
          </a:p>
        </p:txBody>
      </p:sp>
      <p:sp>
        <p:nvSpPr>
          <p:cNvPr id="19" name="!!sb4">
            <a:extLst>
              <a:ext uri="{C183D7F6-B498-43B3-948B-1728B52AA6E4}">
                <adec:decorative xmlns:adec="http://schemas.microsoft.com/office/drawing/2017/decorative" val="1"/>
              </a:ext>
            </a:extLst>
          </p:cNvPr>
          <p:cNvSpPr/>
          <p:nvPr/>
        </p:nvSpPr>
        <p:spPr>
          <a:xfrm>
            <a:off x="658368" y="487740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3227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68265"/>
            <a:ext cx="10234879" cy="66568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Normal, uniform, binomial, Poisson and long-tailed shapes each imply different valid summaries. Assuming normality by default is a common and costly error.</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105758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34     </a:t>
            </a:r>
            <a:fld id="{4BED0617-DB72-4C2C-B92E-DDF45534E5A2}" type="slidenum">
              <a:rPr lang="en-GB" sz="1000">
                <a:solidFill>
                  <a:srgbClr val="8795A1"/>
                </a:solidFill>
                <a:latin typeface="Segoe UI"/>
              </a:rPr>
              <a:t>40</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measure of centre is unaffected by a single extreme value?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Mean</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Median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Variance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Standard deviation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411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34     </a:t>
            </a:r>
            <a:fld id="{C380930F-428E-4890-B3B0-0339DD9A011F}" type="slidenum">
              <a:rPr lang="en-GB" sz="1000">
                <a:solidFill>
                  <a:srgbClr val="8795A1"/>
                </a:solidFill>
                <a:latin typeface="Segoe UI"/>
              </a:rPr>
              <a:t>41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If mean </a:t>
            </a:r>
            <a:r>
              <a:rPr sz="2600" b="0" i="0">
                <a:solidFill>
                  <a:srgbClr val="1C252B"/>
                </a:solidFill>
                <a:latin typeface="Cambria"/>
              </a:rPr>
              <a:t>&gt;</a:t>
            </a:r>
            <a:r>
              <a:rPr sz="2600" b="0" i="0">
                <a:solidFill>
                  <a:srgbClr val="1C252B"/>
                </a:solidFill>
                <a:latin typeface="Segoe UI"/>
              </a:rPr>
              <a:t> median, the distribution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left-skewed</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symmetric</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right-skewed</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uniform</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2463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5  ·  Describing Data: Centre, Spread and Shape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34     </a:t>
            </a:r>
            <a:fld id="{598C6055-92DA-41DE-AA02-C5D614F19D02}" type="slidenum">
              <a:rPr lang="en-GB" sz="1000">
                <a:solidFill>
                  <a:srgbClr val="8795A1"/>
                </a:solidFill>
                <a:latin typeface="Segoe UI"/>
              </a:rPr>
              <a:t>42</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a:t>
            </a:r>
            <a:r>
              <a:rPr sz="1900" b="0" i="0">
                <a:solidFill>
                  <a:srgbClr val="1C252B"/>
                </a:solidFill>
                <a:latin typeface="Cambria"/>
              </a:rPr>
              <a:t>1.5×</a:t>
            </a:r>
            <a:r>
              <a:rPr sz="1900" b="0" i="0">
                <a:solidFill>
                  <a:srgbClr val="1C252B"/>
                </a:solidFill>
                <a:latin typeface="Segoe UI"/>
              </a:rPr>
              <a:t>IQR rule and explain why its output should be called “candidates” rather than “outliers”.</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variance divided by </a:t>
            </a:r>
            <a:r>
              <a:rPr sz="1900" b="0" i="1">
                <a:solidFill>
                  <a:srgbClr val="1C252B"/>
                </a:solidFill>
                <a:latin typeface="Cambria"/>
              </a:rPr>
              <a:t>n</a:t>
            </a:r>
            <a:r>
              <a:rPr sz="1900" b="0" i="0">
                <a:solidFill>
                  <a:srgbClr val="1C252B"/>
                </a:solidFill>
                <a:latin typeface="Cambria"/>
              </a:rPr>
              <a:t>−1</a:t>
            </a:r>
            <a:r>
              <a:rPr sz="1900" b="0" i="0">
                <a:solidFill>
                  <a:srgbClr val="1C252B"/>
                </a:solidFill>
                <a:latin typeface="Segoe UI"/>
              </a:rPr>
              <a:t> rather than </a:t>
            </a:r>
            <a:r>
              <a:rPr sz="1900" b="0" i="1">
                <a:solidFill>
                  <a:srgbClr val="1C252B"/>
                </a:solidFill>
                <a:latin typeface="Cambria"/>
              </a:rPr>
              <a:t>n</a:t>
            </a:r>
            <a:r>
              <a:rPr sz="1900" b="0" i="0">
                <a:solidFill>
                  <a:srgbClr val="1C252B"/>
                </a:solidFill>
                <a:latin typeface="Segoe UI"/>
              </a:rPr>
              <a:t> for a sample?</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one variable from IoT telemetry that is approximately normal and one that is long-tailed, and say how your reporting differs between them.</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Session durations (minutes) for one user: </a:t>
            </a:r>
            <a:r>
              <a:rPr sz="1900" b="0" i="0">
                <a:solidFill>
                  <a:srgbClr val="1C252B"/>
                </a:solidFill>
                <a:latin typeface="Cambria"/>
              </a:rPr>
              <a:t>3, 4, 4, 5, 5, 6, 7, 9, 12, 140</a:t>
            </a:r>
            <a:r>
              <a:rPr sz="1900" b="0" i="0">
                <a:solidFill>
                  <a:srgbClr val="1C252B"/>
                </a:solidFill>
                <a:latin typeface="Segoe UI"/>
              </a:rPr>
              <a:t>. Compute Q1, Q3, IQR and the fences; identify flagged values; then argue both for keeping and for removing the 140, naming the domain in which each argument wins.</a:t>
            </a:r>
          </a:p>
        </p:txBody>
      </p:sp>
      <p:sp>
        <p:nvSpPr>
          <p:cNvPr id="19" name="!!rt4">
            <a:extLst>
              <a:ext uri="{C183D7F6-B498-43B3-948B-1728B52AA6E4}">
                <adec:decorative xmlns:adec="http://schemas.microsoft.com/office/drawing/2017/decorative" val="1"/>
              </a:ext>
            </a:extLst>
          </p:cNvPr>
          <p:cNvSpPr/>
          <p:nvPr/>
        </p:nvSpPr>
        <p:spPr>
          <a:xfrm>
            <a:off x="658368" y="5042611"/>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08375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024323"/>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dashboard reports “average time on task: 47 minutes” for an online course. Explain what could be wrong with this headline and propose two better numbers to display alongside it.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0816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05</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5</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6 — Probability and Uncertainty</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5, pages 29–34</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Centre, spread, shape; base-rate simulation</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Quiz 1 (Ch 1–4)</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5  ·  Describing Data: Centre, Spread and Shape</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AC20E8F0-4CB4-4105-9F6D-70FAA5528EC1}"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Describing Data: Centre, Spread and Shape</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