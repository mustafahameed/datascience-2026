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00.svg" ContentType="image/svg+xml"/>
  <Override PartName="/ppt/media/image102.svg" ContentType="image/svg+xml"/>
  <Override PartName="/ppt/media/image103.svg" ContentType="image/svg+xml"/>
  <Override PartName="/ppt/media/image104.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88.svg" ContentType="image/svg+xml"/>
  <Override PartName="/ppt/media/image89.svg" ContentType="image/svg+xml"/>
  <Override PartName="/ppt/media/image90.svg" ContentType="image/svg+xml"/>
  <Override PartName="/ppt/media/image92.svg" ContentType="image/svg+xml"/>
  <Override PartName="/ppt/media/image94.svg" ContentType="image/svg+xml"/>
  <Override PartName="/ppt/media/image95.svg" ContentType="image/svg+xml"/>
  <Override PartName="/ppt/media/image96.svg" ContentType="image/svg+xml"/>
  <Override PartName="/ppt/media/image97.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0EDD5A0-2987-428B-8097-11196B79CB1C}">
          <p14:sldIdLst>
            <p14:sldId id="256"/>
            <p14:sldId id="257"/>
            <p14:sldId id="258"/>
            <p14:sldId id="259"/>
            <p14:sldId id="260"/>
          </p14:sldIdLst>
        </p14:section>
        <p14:section name="14.1 Why This Chapter Is the Hinge of Part III" id="{25386144-AFDD-4028-AEFC-FCAF1EE9B240}">
          <p14:sldIdLst>
            <p14:sldId id="261"/>
          </p14:sldIdLst>
        </p14:section>
        <p14:section name="14.2 The Confusion Matrix" id="{25C77A7E-A6AD-44FE-88F5-6226312BC871}">
          <p14:sldIdLst>
            <p14:sldId id="262"/>
            <p14:sldId id="263"/>
            <p14:sldId id="264"/>
            <p14:sldId id="265"/>
            <p14:sldId id="266"/>
            <p14:sldId id="267"/>
          </p14:sldIdLst>
        </p14:section>
        <p14:section name="14.3 Trading Precision Against Recall" id="{3403A749-4756-4ED1-BA85-F8E9733AD190}">
          <p14:sldIdLst>
            <p14:sldId id="268"/>
            <p14:sldId id="269"/>
            <p14:sldId id="270"/>
            <p14:sldId id="271"/>
            <p14:sldId id="272"/>
          </p14:sldIdLst>
        </p14:section>
        <p14:section name="14.4 Choosing the Threshold from Costs" id="{51D752E6-1776-49ED-919C-CD677807DBF6}">
          <p14:sldIdLst>
            <p14:sldId id="273"/>
            <p14:sldId id="274"/>
          </p14:sldIdLst>
        </p14:section>
        <p14:section name="14.5 Cross-Validation" id="{7F05C042-580D-4BED-A853-F676310BF531}">
          <p14:sldIdLst>
            <p14:sldId id="275"/>
            <p14:sldId id="276"/>
            <p14:sldId id="277"/>
            <p14:sldId id="278"/>
          </p14:sldIdLst>
        </p14:section>
        <p14:section name="Pitfalls" id="{F4A0E142-FC96-4C7D-8F43-D06BF6BC091E}">
          <p14:sldIdLst>
            <p14:sldId id="279"/>
          </p14:sldIdLst>
        </p14:section>
        <p14:section name="Four lenses" id="{83E5659B-6A54-4C8A-AFC4-5F4820165688}">
          <p14:sldIdLst>
            <p14:sldId id="280"/>
            <p14:sldId id="281"/>
            <p14:sldId id="282"/>
            <p14:sldId id="283"/>
            <p14:sldId id="284"/>
          </p14:sldIdLst>
        </p14:section>
        <p14:section name="Lab" id="{7016CE57-997A-4619-80E9-55EFC3ED1C88}">
          <p14:sldIdLst>
            <p14:sldId id="285"/>
            <p14:sldId id="286"/>
            <p14:sldId id="287"/>
            <p14:sldId id="288"/>
            <p14:sldId id="289"/>
            <p14:sldId id="290"/>
            <p14:sldId id="291"/>
          </p14:sldIdLst>
        </p14:section>
        <p14:section name="Checkpoint" id="{5FE25C6B-3B14-4E46-8634-E3E80990B741}">
          <p14:sldIdLst>
            <p14:sldId id="292"/>
            <p14:sldId id="293"/>
            <p14:sldId id="294"/>
            <p14:sldId id="295"/>
            <p14:sldId id="296"/>
            <p14:sldId id="297"/>
          </p14:sldIdLst>
        </p14:section>
        <p14:section name="Wrap-up" id="{B1909454-26BD-43B3-A590-7FCAD179249B}">
          <p14:sldIdLst>
            <p14:sldId id="298"/>
            <p14:sldId id="299"/>
            <p14:sldId id="300"/>
            <p14:sldId id="301"/>
            <p14:sldId id="30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14: Model Evaluation and Selection. Part 3 — Machine Learning Core. Week 8: Classification; evaluation (revision). Handout pages 88–94.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6 (the base-rate arithmetic — precision is the posterior computed there), Chapter 11 (splits) and Chapter 13 (thresholds). Revision note: revises Machine Learning Fall 2026, Chapter 8 (Measuring Classifier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confusion matrix; true/false positive and negative; accuracy; precision; recall (sensitivity); specificity; F1 score; ROC curve; AUC; precision–recall curve; class imbalance; threshold tuning; k-fold cross-validation; stratification.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14.1 (handout p. 89): The confusion matrix and the five metrics derived from it. Learn which cells each metric uses; every question in this chapter reduces to that.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14.2 (handout p. 90): Left: every metric depends on the threshold, so quoting one without the threshold is incomplete. Right: the ROC curve sweeps all thresholds at once; AUC is the area beneath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14.3 (handout p. 91): Five-fold cross-validation. Every observation is used for validation exactly once, so the performance estimate uses all the data and comes with a measure of its own stability.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Optimise recall at a fixed staffing budget. A missed at-risk student is far costlier than an unnecessary supportive phone call, as the worked example quantified. Report precision alongside it so staff know what proportion of calls will find someone who was fine — if that proportion is too embarrassing, the programme will quietly stop making the calls regardless of what your metric says.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Use F1 or balanced accuracy: over- and under-forecasting a sprint carry roughly comparable costs, so neither error dominates. Beware tiny validation folds — with 40 sprints, 5-fold cross-validation validates on eight sprints at a time, so report the standard deviation across folds and expect it to be large.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Optimise recall, then constrain precision by maintenance capacity. A missed failure stops a line; an unnecessary inspection costs an hour. But note the second constraint: too many false alarms and technicians begin ignoring the system, which converts a precision problem into a recall problem in the real world. Use PR curves, since failures are rare.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Use the PR curve and report precision at fixed recall, e.g. “precision 0.42 at 80% recall”. ROC-AUC will look excellent and mean nothing, for the reason in the alert box above. Also track alerts per analyst per hour — a metric that appears in no textbook and decides whether the system is used. And set the threshold from the cost ratio, not from 0.5, because in this domain the two errors differ by orders of magnitude.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Baseline first.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four cells.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Threshold-free comparison; prefer PR-AUC when positives are rare.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Choose the threshold from COSTS, not from 0.5.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Cross-validate, stratified, whole pipeline inside the folds.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 — it is worse than useless. Predicting the majority class always would score 97%. The model is 0.5 points below doing nothing.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Precision = 60/500 = 12%. Recall = 60/(60+20) = 60/80 = 75%.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Ask for the precision–recall curve and for precision at a stated recall. With 0.2% positives, ROC-AUC is dominated by the enormous negative class and can look excellent while the alerts are mostly wrong.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15 — Feature Engineering and Ensembles. READ: Handout Chapter 14, pages 88–94. THIS WEEK'S LAB: Five classifiers; evaluate honestly.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3.xml"/><Relationship Id="rId8" Type="http://schemas.openxmlformats.org/officeDocument/2006/relationships/slide" Target="slide18.xml"/><Relationship Id="rId9"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9.png"/><Relationship Id="rId5" Type="http://schemas.openxmlformats.org/officeDocument/2006/relationships/image" Target="../media/image20.svg"/><Relationship Id="rId6" Type="http://schemas.openxmlformats.org/officeDocument/2006/relationships/image" Target="../media/image21.png"/><Relationship Id="rId7" Type="http://schemas.openxmlformats.org/officeDocument/2006/relationships/image" Target="../media/image22.sv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svg"/><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6.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7.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8.sv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41.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2.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51.png"/><Relationship Id="rId5" Type="http://schemas.openxmlformats.org/officeDocument/2006/relationships/image" Target="../media/image52.svg"/><Relationship Id="rId6" Type="http://schemas.openxmlformats.org/officeDocument/2006/relationships/image" Target="../media/image53.png"/><Relationship Id="rId7" Type="http://schemas.openxmlformats.org/officeDocument/2006/relationships/image" Target="../media/image54.svg"/><Relationship Id="rId8" Type="http://schemas.openxmlformats.org/officeDocument/2006/relationships/image" Target="../media/image55.png"/><Relationship Id="rId9" Type="http://schemas.openxmlformats.org/officeDocument/2006/relationships/image" Target="../media/image56.svg"/><Relationship Id="rId10" Type="http://schemas.openxmlformats.org/officeDocument/2006/relationships/image" Target="../media/image57.png"/><Relationship Id="rId11" Type="http://schemas.openxmlformats.org/officeDocument/2006/relationships/image" Target="../media/image58.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image" Target="../media/image51.png"/><Relationship Id="rId5" Type="http://schemas.openxmlformats.org/officeDocument/2006/relationships/image" Target="../media/image61.svg"/><Relationship Id="rId6" Type="http://schemas.openxmlformats.org/officeDocument/2006/relationships/image" Target="../media/image53.png"/><Relationship Id="rId7" Type="http://schemas.openxmlformats.org/officeDocument/2006/relationships/image" Target="../media/image62.svg"/><Relationship Id="rId8" Type="http://schemas.openxmlformats.org/officeDocument/2006/relationships/image" Target="../media/image55.png"/><Relationship Id="rId9" Type="http://schemas.openxmlformats.org/officeDocument/2006/relationships/image" Target="../media/image63.svg"/><Relationship Id="rId10" Type="http://schemas.openxmlformats.org/officeDocument/2006/relationships/image" Target="../media/image57.png"/><Relationship Id="rId11" Type="http://schemas.openxmlformats.org/officeDocument/2006/relationships/image" Target="../media/image64.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image" Target="../media/image53.png"/><Relationship Id="rId5" Type="http://schemas.openxmlformats.org/officeDocument/2006/relationships/image" Target="../media/image67.svg"/><Relationship Id="rId6" Type="http://schemas.openxmlformats.org/officeDocument/2006/relationships/image" Target="../media/image51.png"/><Relationship Id="rId7" Type="http://schemas.openxmlformats.org/officeDocument/2006/relationships/image" Target="../media/image68.svg"/><Relationship Id="rId8" Type="http://schemas.openxmlformats.org/officeDocument/2006/relationships/image" Target="../media/image55.png"/><Relationship Id="rId9" Type="http://schemas.openxmlformats.org/officeDocument/2006/relationships/image" Target="../media/image69.svg"/><Relationship Id="rId10" Type="http://schemas.openxmlformats.org/officeDocument/2006/relationships/image" Target="../media/image57.png"/><Relationship Id="rId11" Type="http://schemas.openxmlformats.org/officeDocument/2006/relationships/image" Target="../media/image70.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2.svg"/><Relationship Id="rId4" Type="http://schemas.openxmlformats.org/officeDocument/2006/relationships/image" Target="../media/image55.png"/><Relationship Id="rId5" Type="http://schemas.openxmlformats.org/officeDocument/2006/relationships/image" Target="../media/image73.svg"/><Relationship Id="rId6" Type="http://schemas.openxmlformats.org/officeDocument/2006/relationships/image" Target="../media/image51.png"/><Relationship Id="rId7" Type="http://schemas.openxmlformats.org/officeDocument/2006/relationships/image" Target="../media/image74.svg"/><Relationship Id="rId8" Type="http://schemas.openxmlformats.org/officeDocument/2006/relationships/image" Target="../media/image53.png"/><Relationship Id="rId9" Type="http://schemas.openxmlformats.org/officeDocument/2006/relationships/image" Target="../media/image75.svg"/><Relationship Id="rId10" Type="http://schemas.openxmlformats.org/officeDocument/2006/relationships/image" Target="../media/image57.png"/><Relationship Id="rId11" Type="http://schemas.openxmlformats.org/officeDocument/2006/relationships/image" Target="../media/image76.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78.svg"/><Relationship Id="rId4" Type="http://schemas.openxmlformats.org/officeDocument/2006/relationships/image" Target="../media/image57.png"/><Relationship Id="rId5" Type="http://schemas.openxmlformats.org/officeDocument/2006/relationships/image" Target="../media/image79.svg"/><Relationship Id="rId6" Type="http://schemas.openxmlformats.org/officeDocument/2006/relationships/image" Target="../media/image51.png"/><Relationship Id="rId7" Type="http://schemas.openxmlformats.org/officeDocument/2006/relationships/image" Target="../media/image80.svg"/><Relationship Id="rId8" Type="http://schemas.openxmlformats.org/officeDocument/2006/relationships/image" Target="../media/image53.png"/><Relationship Id="rId9" Type="http://schemas.openxmlformats.org/officeDocument/2006/relationships/image" Target="../media/image81.svg"/><Relationship Id="rId10" Type="http://schemas.openxmlformats.org/officeDocument/2006/relationships/image" Target="../media/image55.png"/><Relationship Id="rId11" Type="http://schemas.openxmlformats.org/officeDocument/2006/relationships/image" Target="../media/image82.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4.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5.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6.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7.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8.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9.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90.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2.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3.png"/><Relationship Id="rId3" Type="http://schemas.openxmlformats.org/officeDocument/2006/relationships/image" Target="../media/image94.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5.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3.png"/><Relationship Id="rId3" Type="http://schemas.openxmlformats.org/officeDocument/2006/relationships/image" Target="../media/image96.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7.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3.png"/><Relationship Id="rId3" Type="http://schemas.openxmlformats.org/officeDocument/2006/relationships/image" Target="../media/image98.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9.png"/><Relationship Id="rId3" Type="http://schemas.openxmlformats.org/officeDocument/2006/relationships/image" Target="../media/image100.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1.png"/><Relationship Id="rId3" Type="http://schemas.openxmlformats.org/officeDocument/2006/relationships/image" Target="../media/image102.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1.png"/><Relationship Id="rId3" Type="http://schemas.openxmlformats.org/officeDocument/2006/relationships/image" Target="../media/image103.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1.png"/><Relationship Id="rId3" Type="http://schemas.openxmlformats.org/officeDocument/2006/relationships/image" Target="../media/image104.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14</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Model Evaluation and Selection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MACHINE LEARNING CORE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14  ·  WEEK 8</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88     </a:t>
            </a:r>
            <a:fld id="{105BB812-D9CB-4DBD-94A6-B02682190353}"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94532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945328"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71349"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971349"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2968813"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Model Evaluation and Selection</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6">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6">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6"/>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6  </a:t>
            </a:r>
            <a:r>
              <a:rPr sz="1400" b="0" i="0">
                <a:solidFill>
                  <a:srgbClr val="1C252B"/>
                </a:solidFill>
                <a:latin typeface="Segoe UI"/>
              </a:rPr>
              <a:t>Probability and Uncertainty</a:t>
            </a:r>
          </a:p>
        </p:txBody>
      </p:sp>
      <p:sp>
        <p:nvSpPr>
          <p:cNvPr id="88" name="!!chipBU11">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11">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11"/>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Machine Learning Fundamentals</a:t>
            </a:r>
          </a:p>
        </p:txBody>
      </p:sp>
      <p:sp>
        <p:nvSpPr>
          <p:cNvPr id="91" name="!!chipBU13">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2" name="!!chipbBU13">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tBU13"/>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Supervised Learning II: Classification</a:t>
            </a:r>
          </a:p>
        </p:txBody>
      </p:sp>
      <p:sp>
        <p:nvSpPr>
          <p:cNvPr id="9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5" name="!!chipUS15">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15">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15"/>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15  </a:t>
            </a:r>
            <a:r>
              <a:rPr sz="1400" b="0" i="0">
                <a:solidFill>
                  <a:srgbClr val="1C252B"/>
                </a:solidFill>
                <a:latin typeface="Segoe UI"/>
              </a:rPr>
              <a:t>Feature Engineering and Ensembles</a:t>
            </a:r>
          </a:p>
        </p:txBody>
      </p:sp>
      <p:sp>
        <p:nvSpPr>
          <p:cNvPr id="98" name="!!chipUS16">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chipbUS16">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chiptUS16"/>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16  </a:t>
            </a:r>
            <a:r>
              <a:rPr sz="1400" b="0" i="0">
                <a:solidFill>
                  <a:srgbClr val="1C252B"/>
                </a:solidFill>
                <a:latin typeface="Segoe UI"/>
              </a:rPr>
              <a:t>Unsupervised Learning and Anomaly Detection</a:t>
            </a:r>
          </a:p>
        </p:txBody>
      </p:sp>
      <p:sp>
        <p:nvSpPr>
          <p:cNvPr id="101" name="!!chipUS19">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2" name="!!chipbUS19">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3" name="!!chiptUS19"/>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19  </a:t>
            </a:r>
            <a:r>
              <a:rPr sz="1400" b="0" i="0">
                <a:solidFill>
                  <a:srgbClr val="1C252B"/>
                </a:solidFill>
                <a:latin typeface="Segoe UI"/>
              </a:rPr>
              <a:t>Sequences, Time Series and Streaming Analytics</a:t>
            </a:r>
          </a:p>
        </p:txBody>
      </p:sp>
      <p:sp>
        <p:nvSpPr>
          <p:cNvPr id="104" name="!!chipUS26">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5" name="!!chipbUS26">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6" name="!!chiptUS26"/>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26  </a:t>
            </a:r>
            <a:r>
              <a:rPr sz="1400" b="0" i="0">
                <a:solidFill>
                  <a:srgbClr val="1C252B"/>
                </a:solidFill>
                <a:latin typeface="Segoe UI"/>
              </a:rPr>
              <a:t>Data Science for Cybersecurity</a:t>
            </a:r>
          </a:p>
        </p:txBody>
      </p:sp>
      <p:sp>
        <p:nvSpPr>
          <p:cNvPr id="107" name="!!chipUS27">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8" name="!!chipbUS27">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9" name="!!chiptUS27"/>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27  </a:t>
            </a:r>
            <a:r>
              <a:rPr sz="1400" b="0" i="0">
                <a:solidFill>
                  <a:srgbClr val="1C252B"/>
                </a:solidFill>
                <a:latin typeface="Segoe UI"/>
              </a:rPr>
              <a:t>MLOps: Deployment, Monitoring and Reliability</a:t>
            </a:r>
          </a:p>
        </p:txBody>
      </p:sp>
      <p:sp>
        <p:nvSpPr>
          <p:cNvPr id="1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1" name="!!pfill">
            <a:extLst>
              <a:ext uri="{C183D7F6-B498-43B3-948B-1728B52AA6E4}">
                <adec:decorative xmlns:adec="http://schemas.microsoft.com/office/drawing/2017/decorative" val="1"/>
              </a:ext>
            </a:extLst>
          </p:cNvPr>
          <p:cNvSpPr/>
          <p:nvPr/>
        </p:nvSpPr>
        <p:spPr>
          <a:xfrm>
            <a:off x="0" y="0"/>
            <a:ext cx="51879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88     </a:t>
            </a:r>
            <a:fld id="{EB78887C-DA99-4921-A9EE-4DF370A9A17E}"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Build</a:t>
            </a:r>
            <a:r>
              <a:rPr sz="2100" b="0" i="0">
                <a:solidFill>
                  <a:srgbClr val="1C252B"/>
                </a:solidFill>
                <a:latin typeface="Segoe UI"/>
              </a:rPr>
              <a:t> a confusion matrix and derive accuracy, precision, recall, specificity and </a:t>
            </a:r>
            <a:r>
              <a:rPr sz="2100" b="0" i="1">
                <a:solidFill>
                  <a:srgbClr val="1C252B"/>
                </a:solidFill>
                <a:latin typeface="Cambria"/>
              </a:rPr>
              <a:t>F</a:t>
            </a:r>
            <a:r>
              <a:rPr sz="2100" b="0" i="0" baseline="-25000">
                <a:solidFill>
                  <a:srgbClr val="1C252B"/>
                </a:solidFill>
                <a:latin typeface="Cambria"/>
              </a:rPr>
              <a:t>1</a:t>
            </a:r>
            <a:r>
              <a:rPr sz="2100" b="0" i="0">
                <a:solidFill>
                  <a:srgbClr val="1C252B"/>
                </a:solidFill>
                <a:latin typeface="Segoe UI"/>
              </a:rPr>
              <a:t> from it.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why accuracy is misleading under class imbalance, and choose an appropriate metric instead.</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Read</a:t>
            </a:r>
            <a:r>
              <a:rPr sz="2100" b="0" i="0">
                <a:solidFill>
                  <a:srgbClr val="1C252B"/>
                </a:solidFill>
                <a:latin typeface="Segoe UI"/>
              </a:rPr>
              <a:t> an ROC curve and a precision–recall curve, and say which to use when.</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Select</a:t>
            </a:r>
            <a:r>
              <a:rPr sz="2100" b="0" i="0">
                <a:solidFill>
                  <a:srgbClr val="1C252B"/>
                </a:solidFill>
                <a:latin typeface="Segoe UI"/>
              </a:rPr>
              <a:t> a decision threshold from the costs of the two error types.</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Apply</a:t>
            </a:r>
            <a:r>
              <a:rPr sz="2100" b="0" i="0">
                <a:solidFill>
                  <a:srgbClr val="1C252B"/>
                </a:solidFill>
                <a:latin typeface="Segoe UI"/>
              </a:rPr>
              <a:t> k-fold cross-validation and explain why it beats a single split.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781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88     </a:t>
            </a:r>
            <a:fld id="{08D8AF2E-D823-4BF0-A230-A821087C17BC}" type="slidenum">
              <a:rPr lang="en-GB" sz="1000">
                <a:solidFill>
                  <a:srgbClr val="8795A1"/>
                </a:solidFill>
                <a:latin typeface="Segoe UI"/>
              </a:rPr>
              <a:t>4</a:t>
            </a:fld>
          </a:p>
        </p:txBody>
      </p:sp>
      <p:sp>
        <p:nvSpPr>
          <p:cNvPr id="7" name="!!term-confusion matr">
            <a:extLst>
              <a:ext uri="{C183D7F6-B498-43B3-948B-1728B52AA6E4}">
                <adec:decorative xmlns:adec="http://schemas.microsoft.com/office/drawing/2017/decorative" val="1"/>
              </a:ext>
            </a:extLst>
          </p:cNvPr>
          <p:cNvSpPr/>
          <p:nvPr/>
        </p:nvSpPr>
        <p:spPr>
          <a:xfrm>
            <a:off x="658368" y="1847088"/>
            <a:ext cx="196085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onfusion matr">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onfusion matr"/>
          <p:cNvSpPr txBox="1"/>
          <p:nvPr/>
        </p:nvSpPr>
        <p:spPr>
          <a:xfrm>
            <a:off x="950976" y="1962911"/>
            <a:ext cx="177797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confusion matrix</a:t>
            </a:r>
          </a:p>
        </p:txBody>
      </p:sp>
      <p:sp>
        <p:nvSpPr>
          <p:cNvPr id="10" name="!!term-true/false pos">
            <a:extLst>
              <a:ext uri="{C183D7F6-B498-43B3-948B-1728B52AA6E4}">
                <adec:decorative xmlns:adec="http://schemas.microsoft.com/office/drawing/2017/decorative" val="1"/>
              </a:ext>
            </a:extLst>
          </p:cNvPr>
          <p:cNvSpPr/>
          <p:nvPr/>
        </p:nvSpPr>
        <p:spPr>
          <a:xfrm>
            <a:off x="2765523" y="1847088"/>
            <a:ext cx="331072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true/false pos">
            <a:extLst>
              <a:ext uri="{C183D7F6-B498-43B3-948B-1728B52AA6E4}">
                <adec:decorative xmlns:adec="http://schemas.microsoft.com/office/drawing/2017/decorative" val="1"/>
              </a:ext>
            </a:extLst>
          </p:cNvPr>
          <p:cNvSpPr/>
          <p:nvPr/>
        </p:nvSpPr>
        <p:spPr>
          <a:xfrm>
            <a:off x="289353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true/false pos"/>
          <p:cNvSpPr txBox="1"/>
          <p:nvPr/>
        </p:nvSpPr>
        <p:spPr>
          <a:xfrm>
            <a:off x="3058131" y="1962911"/>
            <a:ext cx="312784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true/false positive and negative</a:t>
            </a:r>
          </a:p>
        </p:txBody>
      </p:sp>
      <p:sp>
        <p:nvSpPr>
          <p:cNvPr id="13" name="!!term-accuracy">
            <a:extLst>
              <a:ext uri="{C183D7F6-B498-43B3-948B-1728B52AA6E4}">
                <adec:decorative xmlns:adec="http://schemas.microsoft.com/office/drawing/2017/decorative" val="1"/>
              </a:ext>
            </a:extLst>
          </p:cNvPr>
          <p:cNvSpPr/>
          <p:nvPr/>
        </p:nvSpPr>
        <p:spPr>
          <a:xfrm>
            <a:off x="6222550" y="1847088"/>
            <a:ext cx="12269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accuracy">
            <a:extLst>
              <a:ext uri="{C183D7F6-B498-43B3-948B-1728B52AA6E4}">
                <adec:decorative xmlns:adec="http://schemas.microsoft.com/office/drawing/2017/decorative" val="1"/>
              </a:ext>
            </a:extLst>
          </p:cNvPr>
          <p:cNvSpPr/>
          <p:nvPr/>
        </p:nvSpPr>
        <p:spPr>
          <a:xfrm>
            <a:off x="635056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accuracy"/>
          <p:cNvSpPr txBox="1"/>
          <p:nvPr/>
        </p:nvSpPr>
        <p:spPr>
          <a:xfrm>
            <a:off x="6515158" y="1962911"/>
            <a:ext cx="104404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accuracy</a:t>
            </a:r>
          </a:p>
        </p:txBody>
      </p:sp>
      <p:sp>
        <p:nvSpPr>
          <p:cNvPr id="16" name="!!term-precision">
            <a:extLst>
              <a:ext uri="{C183D7F6-B498-43B3-948B-1728B52AA6E4}">
                <adec:decorative xmlns:adec="http://schemas.microsoft.com/office/drawing/2017/decorative" val="1"/>
              </a:ext>
            </a:extLst>
          </p:cNvPr>
          <p:cNvSpPr/>
          <p:nvPr/>
        </p:nvSpPr>
        <p:spPr>
          <a:xfrm>
            <a:off x="7595784" y="1847088"/>
            <a:ext cx="12639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precision">
            <a:extLst>
              <a:ext uri="{C183D7F6-B498-43B3-948B-1728B52AA6E4}">
                <adec:decorative xmlns:adec="http://schemas.microsoft.com/office/drawing/2017/decorative" val="1"/>
              </a:ext>
            </a:extLst>
          </p:cNvPr>
          <p:cNvSpPr/>
          <p:nvPr/>
        </p:nvSpPr>
        <p:spPr>
          <a:xfrm>
            <a:off x="772380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precision"/>
          <p:cNvSpPr txBox="1"/>
          <p:nvPr/>
        </p:nvSpPr>
        <p:spPr>
          <a:xfrm>
            <a:off x="7888392" y="1962911"/>
            <a:ext cx="108110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precision</a:t>
            </a:r>
          </a:p>
        </p:txBody>
      </p:sp>
      <p:sp>
        <p:nvSpPr>
          <p:cNvPr id="19" name="!!term-recall (sensit">
            <a:extLst>
              <a:ext uri="{C183D7F6-B498-43B3-948B-1728B52AA6E4}">
                <adec:decorative xmlns:adec="http://schemas.microsoft.com/office/drawing/2017/decorative" val="1"/>
              </a:ext>
            </a:extLst>
          </p:cNvPr>
          <p:cNvSpPr/>
          <p:nvPr/>
        </p:nvSpPr>
        <p:spPr>
          <a:xfrm>
            <a:off x="9006076" y="1847088"/>
            <a:ext cx="19950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ecall (sensit">
            <a:extLst>
              <a:ext uri="{C183D7F6-B498-43B3-948B-1728B52AA6E4}">
                <adec:decorative xmlns:adec="http://schemas.microsoft.com/office/drawing/2017/decorative" val="1"/>
              </a:ext>
            </a:extLst>
          </p:cNvPr>
          <p:cNvSpPr/>
          <p:nvPr/>
        </p:nvSpPr>
        <p:spPr>
          <a:xfrm>
            <a:off x="913409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ecall (sensit"/>
          <p:cNvSpPr txBox="1"/>
          <p:nvPr/>
        </p:nvSpPr>
        <p:spPr>
          <a:xfrm>
            <a:off x="9298684" y="1962911"/>
            <a:ext cx="181212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recall (sensitivity)</a:t>
            </a:r>
          </a:p>
        </p:txBody>
      </p:sp>
      <p:sp>
        <p:nvSpPr>
          <p:cNvPr id="22" name="!!term-specificity">
            <a:extLst>
              <a:ext uri="{C183D7F6-B498-43B3-948B-1728B52AA6E4}">
                <adec:decorative xmlns:adec="http://schemas.microsoft.com/office/drawing/2017/decorative" val="1"/>
              </a:ext>
            </a:extLst>
          </p:cNvPr>
          <p:cNvSpPr/>
          <p:nvPr/>
        </p:nvSpPr>
        <p:spPr>
          <a:xfrm>
            <a:off x="658368" y="2468880"/>
            <a:ext cx="13344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pecificity">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pecificity"/>
          <p:cNvSpPr txBox="1"/>
          <p:nvPr/>
        </p:nvSpPr>
        <p:spPr>
          <a:xfrm>
            <a:off x="950976" y="2584704"/>
            <a:ext cx="115161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specificity</a:t>
            </a:r>
          </a:p>
        </p:txBody>
      </p:sp>
      <p:sp>
        <p:nvSpPr>
          <p:cNvPr id="25" name="!!term-F1 score">
            <a:extLst>
              <a:ext uri="{C183D7F6-B498-43B3-948B-1728B52AA6E4}">
                <adec:decorative xmlns:adec="http://schemas.microsoft.com/office/drawing/2017/decorative" val="1"/>
              </a:ext>
            </a:extLst>
          </p:cNvPr>
          <p:cNvSpPr/>
          <p:nvPr/>
        </p:nvSpPr>
        <p:spPr>
          <a:xfrm>
            <a:off x="2139171" y="2468880"/>
            <a:ext cx="11941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F1 score">
            <a:extLst>
              <a:ext uri="{C183D7F6-B498-43B3-948B-1728B52AA6E4}">
                <adec:decorative xmlns:adec="http://schemas.microsoft.com/office/drawing/2017/decorative" val="1"/>
              </a:ext>
            </a:extLst>
          </p:cNvPr>
          <p:cNvSpPr/>
          <p:nvPr/>
        </p:nvSpPr>
        <p:spPr>
          <a:xfrm>
            <a:off x="226718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F1 score"/>
          <p:cNvSpPr txBox="1"/>
          <p:nvPr/>
        </p:nvSpPr>
        <p:spPr>
          <a:xfrm>
            <a:off x="2431779" y="2584704"/>
            <a:ext cx="101125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F1 score</a:t>
            </a:r>
          </a:p>
        </p:txBody>
      </p:sp>
      <p:sp>
        <p:nvSpPr>
          <p:cNvPr id="28" name="!!term-ROC curve">
            <a:extLst>
              <a:ext uri="{C183D7F6-B498-43B3-948B-1728B52AA6E4}">
                <adec:decorative xmlns:adec="http://schemas.microsoft.com/office/drawing/2017/decorative" val="1"/>
              </a:ext>
            </a:extLst>
          </p:cNvPr>
          <p:cNvSpPr/>
          <p:nvPr/>
        </p:nvSpPr>
        <p:spPr>
          <a:xfrm>
            <a:off x="3479615" y="2468880"/>
            <a:ext cx="13971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OC curve">
            <a:extLst>
              <a:ext uri="{C183D7F6-B498-43B3-948B-1728B52AA6E4}">
                <adec:decorative xmlns:adec="http://schemas.microsoft.com/office/drawing/2017/decorative" val="1"/>
              </a:ext>
            </a:extLst>
          </p:cNvPr>
          <p:cNvSpPr/>
          <p:nvPr/>
        </p:nvSpPr>
        <p:spPr>
          <a:xfrm>
            <a:off x="360763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OC curve"/>
          <p:cNvSpPr txBox="1"/>
          <p:nvPr/>
        </p:nvSpPr>
        <p:spPr>
          <a:xfrm>
            <a:off x="3772223" y="2584704"/>
            <a:ext cx="121429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ROC curve</a:t>
            </a:r>
          </a:p>
        </p:txBody>
      </p:sp>
      <p:sp>
        <p:nvSpPr>
          <p:cNvPr id="31" name="!!term-AUC">
            <a:extLst>
              <a:ext uri="{C183D7F6-B498-43B3-948B-1728B52AA6E4}">
                <adec:decorative xmlns:adec="http://schemas.microsoft.com/office/drawing/2017/decorative" val="1"/>
              </a:ext>
            </a:extLst>
          </p:cNvPr>
          <p:cNvSpPr/>
          <p:nvPr/>
        </p:nvSpPr>
        <p:spPr>
          <a:xfrm>
            <a:off x="5023090" y="2468880"/>
            <a:ext cx="8432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AUC">
            <a:extLst>
              <a:ext uri="{C183D7F6-B498-43B3-948B-1728B52AA6E4}">
                <adec:decorative xmlns:adec="http://schemas.microsoft.com/office/drawing/2017/decorative" val="1"/>
              </a:ext>
            </a:extLst>
          </p:cNvPr>
          <p:cNvSpPr/>
          <p:nvPr/>
        </p:nvSpPr>
        <p:spPr>
          <a:xfrm>
            <a:off x="515110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AUC"/>
          <p:cNvSpPr txBox="1"/>
          <p:nvPr/>
        </p:nvSpPr>
        <p:spPr>
          <a:xfrm>
            <a:off x="5315698" y="2584704"/>
            <a:ext cx="66036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AUC</a:t>
            </a:r>
          </a:p>
        </p:txBody>
      </p:sp>
      <p:sp>
        <p:nvSpPr>
          <p:cNvPr id="34" name="!!term-precision–reca">
            <a:extLst>
              <a:ext uri="{C183D7F6-B498-43B3-948B-1728B52AA6E4}">
                <adec:decorative xmlns:adec="http://schemas.microsoft.com/office/drawing/2017/decorative" val="1"/>
              </a:ext>
            </a:extLst>
          </p:cNvPr>
          <p:cNvSpPr/>
          <p:nvPr/>
        </p:nvSpPr>
        <p:spPr>
          <a:xfrm>
            <a:off x="6012636" y="2468880"/>
            <a:ext cx="23994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precision–reca">
            <a:extLst>
              <a:ext uri="{C183D7F6-B498-43B3-948B-1728B52AA6E4}">
                <adec:decorative xmlns:adec="http://schemas.microsoft.com/office/drawing/2017/decorative" val="1"/>
              </a:ext>
            </a:extLst>
          </p:cNvPr>
          <p:cNvSpPr/>
          <p:nvPr/>
        </p:nvSpPr>
        <p:spPr>
          <a:xfrm>
            <a:off x="614065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precision–reca"/>
          <p:cNvSpPr txBox="1"/>
          <p:nvPr/>
        </p:nvSpPr>
        <p:spPr>
          <a:xfrm>
            <a:off x="6305244" y="2584704"/>
            <a:ext cx="22165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precision–recall curve</a:t>
            </a:r>
          </a:p>
        </p:txBody>
      </p:sp>
      <p:sp>
        <p:nvSpPr>
          <p:cNvPr id="37" name="!!term-class imbalanc">
            <a:extLst>
              <a:ext uri="{C183D7F6-B498-43B3-948B-1728B52AA6E4}">
                <adec:decorative xmlns:adec="http://schemas.microsoft.com/office/drawing/2017/decorative" val="1"/>
              </a:ext>
            </a:extLst>
          </p:cNvPr>
          <p:cNvSpPr/>
          <p:nvPr/>
        </p:nvSpPr>
        <p:spPr>
          <a:xfrm>
            <a:off x="8558388" y="2468880"/>
            <a:ext cx="18559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class imbalanc">
            <a:extLst>
              <a:ext uri="{C183D7F6-B498-43B3-948B-1728B52AA6E4}">
                <adec:decorative xmlns:adec="http://schemas.microsoft.com/office/drawing/2017/decorative" val="1"/>
              </a:ext>
            </a:extLst>
          </p:cNvPr>
          <p:cNvSpPr/>
          <p:nvPr/>
        </p:nvSpPr>
        <p:spPr>
          <a:xfrm>
            <a:off x="868640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class imbalanc"/>
          <p:cNvSpPr txBox="1"/>
          <p:nvPr/>
        </p:nvSpPr>
        <p:spPr>
          <a:xfrm>
            <a:off x="8850996" y="2584704"/>
            <a:ext cx="167305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class imbalance</a:t>
            </a:r>
          </a:p>
        </p:txBody>
      </p:sp>
      <p:sp>
        <p:nvSpPr>
          <p:cNvPr id="40" name="!!term-threshold tuni">
            <a:extLst>
              <a:ext uri="{C183D7F6-B498-43B3-948B-1728B52AA6E4}">
                <adec:decorative xmlns:adec="http://schemas.microsoft.com/office/drawing/2017/decorative" val="1"/>
              </a:ext>
            </a:extLst>
          </p:cNvPr>
          <p:cNvSpPr/>
          <p:nvPr/>
        </p:nvSpPr>
        <p:spPr>
          <a:xfrm>
            <a:off x="658368" y="3090672"/>
            <a:ext cx="195707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threshold tuni">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threshold tuni"/>
          <p:cNvSpPr txBox="1"/>
          <p:nvPr/>
        </p:nvSpPr>
        <p:spPr>
          <a:xfrm>
            <a:off x="950976" y="3206496"/>
            <a:ext cx="177419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threshold tuning</a:t>
            </a:r>
          </a:p>
        </p:txBody>
      </p:sp>
      <p:sp>
        <p:nvSpPr>
          <p:cNvPr id="43" name="!!term-k-fold cross-v">
            <a:extLst>
              <a:ext uri="{C183D7F6-B498-43B3-948B-1728B52AA6E4}">
                <adec:decorative xmlns:adec="http://schemas.microsoft.com/office/drawing/2017/decorative" val="1"/>
              </a:ext>
            </a:extLst>
          </p:cNvPr>
          <p:cNvSpPr/>
          <p:nvPr/>
        </p:nvSpPr>
        <p:spPr>
          <a:xfrm>
            <a:off x="2761750" y="3090672"/>
            <a:ext cx="24797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k-fold cross-v">
            <a:extLst>
              <a:ext uri="{C183D7F6-B498-43B3-948B-1728B52AA6E4}">
                <adec:decorative xmlns:adec="http://schemas.microsoft.com/office/drawing/2017/decorative" val="1"/>
              </a:ext>
            </a:extLst>
          </p:cNvPr>
          <p:cNvSpPr/>
          <p:nvPr/>
        </p:nvSpPr>
        <p:spPr>
          <a:xfrm>
            <a:off x="288976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k-fold cross-v"/>
          <p:cNvSpPr txBox="1"/>
          <p:nvPr/>
        </p:nvSpPr>
        <p:spPr>
          <a:xfrm>
            <a:off x="3054358" y="3206496"/>
            <a:ext cx="229684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k-fold cross-validation</a:t>
            </a:r>
          </a:p>
        </p:txBody>
      </p:sp>
      <p:sp>
        <p:nvSpPr>
          <p:cNvPr id="46" name="!!term-stratification">
            <a:extLst>
              <a:ext uri="{C183D7F6-B498-43B3-948B-1728B52AA6E4}">
                <adec:decorative xmlns:adec="http://schemas.microsoft.com/office/drawing/2017/decorative" val="1"/>
              </a:ext>
            </a:extLst>
          </p:cNvPr>
          <p:cNvSpPr/>
          <p:nvPr/>
        </p:nvSpPr>
        <p:spPr>
          <a:xfrm>
            <a:off x="5387781" y="3090672"/>
            <a:ext cx="15705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stratification">
            <a:extLst>
              <a:ext uri="{C183D7F6-B498-43B3-948B-1728B52AA6E4}">
                <adec:decorative xmlns:adec="http://schemas.microsoft.com/office/drawing/2017/decorative" val="1"/>
              </a:ext>
            </a:extLst>
          </p:cNvPr>
          <p:cNvSpPr/>
          <p:nvPr/>
        </p:nvSpPr>
        <p:spPr>
          <a:xfrm>
            <a:off x="551579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stratification"/>
          <p:cNvSpPr txBox="1"/>
          <p:nvPr/>
        </p:nvSpPr>
        <p:spPr>
          <a:xfrm>
            <a:off x="5680389" y="3206496"/>
            <a:ext cx="138769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stratification</a:t>
            </a:r>
          </a:p>
        </p:txBody>
      </p:sp>
      <p:sp>
        <p:nvSpPr>
          <p:cNvPr id="49"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103759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88–94     </a:t>
            </a:r>
            <a:fld id="{16D22603-CD76-49FF-8688-BE986C16B03E}" type="slidenum">
              <a:rPr lang="en-GB" sz="1000">
                <a:solidFill>
                  <a:srgbClr val="8795A1"/>
                </a:solidFill>
                <a:latin typeface="Segoe UI"/>
              </a:rPr>
              <a:t>5</a:t>
            </a:fld>
          </a:p>
        </p:txBody>
      </p:sp>
      <p:sp>
        <p:nvSpPr>
          <p:cNvPr id="7" name="!!ag0" descr="Go to section 14.1 Why This Chapter Is the Hinge of Part III">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14.1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This Chapter Is the Hinge of Part III</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88  ›</a:t>
            </a:r>
          </a:p>
        </p:txBody>
      </p:sp>
      <p:sp>
        <p:nvSpPr>
          <p:cNvPr id="12" name="!!ag1" descr="Go to section 14.2 The Confusion Matrix">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14.2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Confusion Matrix</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88  ›</a:t>
            </a:r>
          </a:p>
        </p:txBody>
      </p:sp>
      <p:sp>
        <p:nvSpPr>
          <p:cNvPr id="17" name="!!ag2" descr="Go to section 14.3 Trading Precision Against Recall">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14.3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Trading Precision Against Recall</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89  ›</a:t>
            </a:r>
          </a:p>
        </p:txBody>
      </p:sp>
      <p:sp>
        <p:nvSpPr>
          <p:cNvPr id="22" name="!!ag3" descr="Go to section 14.4 Choosing the Threshold from Cost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14.4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Choosing the Threshold from Costs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90  ›</a:t>
            </a:r>
          </a:p>
        </p:txBody>
      </p:sp>
      <p:sp>
        <p:nvSpPr>
          <p:cNvPr id="27" name="!!ag4" descr="Go to section 14.5 Cross-Validation">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14.5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Cross-Validation</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91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29698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This Chapter Is the Hinge of Part III</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§14.1  ·  Handout p. 88     </a:t>
            </a:r>
            <a:fld id="{368EE8FA-840E-4E94-BE23-FF6B31875B95}"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202387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106168"/>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You cannot improve what you cannot measure, and you cannot choose between the models of Chapter 13 without a number that reflects what you actually care about. Every remaining chapter of this book assumes you can evaluate honestly. Most published failures of applied machine learning are failures of evaluation, not of algorithms.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55638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Confusion Matrix</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14.1   Why This Chapter Is the Hinge of Part III</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14.2   The Confusion Matrix</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14.3   Trading Precision Against Recall</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14.4   Choosing the Threshold from Costs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14.5   Cross-Validation</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§14.2     </a:t>
            </a:r>
            <a:fld id="{8591D36E-5C75-4E86-8422-F3F800AE4EB8}" type="slidenum">
              <a:rPr lang="en-GB" sz="1000">
                <a:solidFill>
                  <a:srgbClr val="8795A1"/>
                </a:solidFill>
                <a:latin typeface="Segoe UI"/>
              </a:rPr>
              <a:t>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8157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Confusion Matrix</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88     </a:t>
            </a:r>
            <a:fld id="{B4A965D6-90DF-4267-97FA-9BCC0190B429}"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table cross-tabulating predictions against truth. For two classes it has four cells: </a:t>
            </a:r>
            <a:r>
              <a:rPr sz="2300" b="1" i="0">
                <a:solidFill>
                  <a:srgbClr val="1A5276"/>
                </a:solidFill>
                <a:latin typeface="Segoe UI"/>
              </a:rPr>
              <a:t>true positives</a:t>
            </a:r>
            <a:r>
              <a:rPr sz="2300" b="0" i="0">
                <a:solidFill>
                  <a:srgbClr val="1C252B"/>
                </a:solidFill>
                <a:latin typeface="Segoe UI"/>
              </a:rPr>
              <a:t> (TP), </a:t>
            </a:r>
            <a:r>
              <a:rPr sz="2300" b="1" i="0">
                <a:solidFill>
                  <a:srgbClr val="1A5276"/>
                </a:solidFill>
                <a:latin typeface="Segoe UI"/>
              </a:rPr>
              <a:t>false positives</a:t>
            </a:r>
            <a:r>
              <a:rPr sz="2300" b="0" i="0">
                <a:solidFill>
                  <a:srgbClr val="1C252B"/>
                </a:solidFill>
                <a:latin typeface="Segoe UI"/>
              </a:rPr>
              <a:t> (FP), </a:t>
            </a:r>
            <a:r>
              <a:rPr sz="2300" b="1" i="0">
                <a:solidFill>
                  <a:srgbClr val="1A5276"/>
                </a:solidFill>
                <a:latin typeface="Segoe UI"/>
              </a:rPr>
              <a:t>false negatives</a:t>
            </a:r>
            <a:r>
              <a:rPr sz="2300" b="0" i="0">
                <a:solidFill>
                  <a:srgbClr val="1C252B"/>
                </a:solidFill>
                <a:latin typeface="Segoe UI"/>
              </a:rPr>
              <a:t> (FN) and </a:t>
            </a:r>
            <a:r>
              <a:rPr sz="2300" b="1" i="0">
                <a:solidFill>
                  <a:srgbClr val="1A5276"/>
                </a:solidFill>
                <a:latin typeface="Segoe UI"/>
              </a:rPr>
              <a:t>true negatives</a:t>
            </a:r>
            <a:r>
              <a:rPr sz="2300" b="0" i="0">
                <a:solidFill>
                  <a:srgbClr val="1C252B"/>
                </a:solidFill>
                <a:latin typeface="Segoe UI"/>
              </a:rPr>
              <a:t> (TN). Every classification metric is some ratio of these four numbers.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07518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confusion matrix and the five metrics derived from it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14.1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88     </a:t>
            </a:r>
            <a:fld id="{498C89C2-161C-4A5F-A24D-1FE738E575B9}" type="slidenum">
              <a:rPr lang="en-GB" sz="1000">
                <a:solidFill>
                  <a:srgbClr val="8795A1"/>
                </a:solidFill>
                <a:latin typeface="Segoe UI"/>
              </a:rPr>
              <a:t>9</a:t>
            </a:fld>
          </a:p>
        </p:txBody>
      </p:sp>
      <p:pic>
        <p:nvPicPr>
          <p:cNvPr id="6" name="!!figure" descr="Figure 14.1. The confusion matrix and the five metrics derived from it. Learn which cells each metric uses; every question in this chapter reduces to tha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260" y="1737360"/>
            <a:ext cx="10389174"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Learn which cells each metric uses; every question in this chapter reduces to that.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3345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Model, Five Metrics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88     </a:t>
            </a:r>
            <a:fld id="{3BA71EF7-7A6B-43CA-AB3C-211C2EBDAFE3}"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59137"/>
          </a:xfrm>
          <a:prstGeom prst="roundRect">
            <a:avLst>
              <a:gd name="adj" fmla="val 205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5913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intrusion detector is run on 10,000 sessions, of which 100 are genuine attacks. It flags 190 sessions, of which 80 are real attacks.</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Fill in the four cells:</a:t>
            </a:r>
          </a:p>
        </p:txBody>
      </p:sp>
      <p:sp>
        <p:nvSpPr>
          <p:cNvPr id="11" name="body-2"/>
          <p:cNvSpPr txBox="1"/>
          <p:nvPr/>
        </p:nvSpPr>
        <p:spPr>
          <a:xfrm>
            <a:off x="1042416" y="3180537"/>
            <a:ext cx="10234879" cy="150365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TP </a:t>
            </a:r>
            <a:r>
              <a:rPr sz="1900" b="0" i="0">
                <a:solidFill>
                  <a:srgbClr val="1C252B"/>
                </a:solidFill>
                <a:latin typeface="Cambria"/>
              </a:rPr>
              <a:t>= 80</a:t>
            </a:r>
            <a:r>
              <a:rPr sz="1900" b="0" i="0">
                <a:solidFill>
                  <a:srgbClr val="1C252B"/>
                </a:solidFill>
                <a:latin typeface="Segoe UI"/>
              </a:rPr>
              <a:t> (flagged and real)</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FP </a:t>
            </a:r>
            <a:r>
              <a:rPr sz="1900" b="0" i="0">
                <a:solidFill>
                  <a:srgbClr val="1C252B"/>
                </a:solidFill>
                <a:latin typeface="Cambria"/>
              </a:rPr>
              <a:t>= 190 − 80 = 110</a:t>
            </a:r>
            <a:r>
              <a:rPr sz="1900" b="0" i="0">
                <a:solidFill>
                  <a:srgbClr val="1C252B"/>
                </a:solidFill>
                <a:latin typeface="Segoe UI"/>
              </a:rPr>
              <a:t> (flagged, not real)</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FN </a:t>
            </a:r>
            <a:r>
              <a:rPr sz="1900" b="0" i="0">
                <a:solidFill>
                  <a:srgbClr val="1C252B"/>
                </a:solidFill>
                <a:latin typeface="Cambria"/>
              </a:rPr>
              <a:t>= 100 − 80 = 20</a:t>
            </a:r>
            <a:r>
              <a:rPr sz="1900" b="0" i="0">
                <a:solidFill>
                  <a:srgbClr val="1C252B"/>
                </a:solidFill>
                <a:latin typeface="Segoe UI"/>
              </a:rPr>
              <a:t> (real, not flagged)</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TN </a:t>
            </a:r>
            <a:r>
              <a:rPr sz="1900" b="0" i="0">
                <a:solidFill>
                  <a:srgbClr val="1C252B"/>
                </a:solidFill>
                <a:latin typeface="Cambria"/>
              </a:rPr>
              <a:t>= 10,000 − 80 − 110 − 20 = 9,790</a:t>
            </a:r>
          </a:p>
        </p:txBody>
      </p:sp>
      <p:pic>
        <p:nvPicPr>
          <p:cNvPr id="12" name="body-3" descr="Accuracy = (80 + 9790)/10000 = 9870/10000 = 98.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4771186"/>
            <a:ext cx="10234879" cy="506760"/>
          </a:xfrm>
          <a:prstGeom prst="rect">
            <a:avLst/>
          </a:prstGeom>
        </p:spPr>
      </p:pic>
      <p:pic>
        <p:nvPicPr>
          <p:cNvPr id="13" name="body-4" descr="Precision = 80/(80+110) = 80/190 = 42.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5410662"/>
            <a:ext cx="10234879" cy="511515"/>
          </a:xfrm>
          <a:prstGeom prst="rect">
            <a:avLst/>
          </a:prstGeom>
        </p:spPr>
      </p:pic>
      <p:sp>
        <p:nvSpPr>
          <p:cNvPr id="3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fill">
            <a:extLst>
              <a:ext uri="{C183D7F6-B498-43B3-948B-1728B52AA6E4}">
                <adec:decorative xmlns:adec="http://schemas.microsoft.com/office/drawing/2017/decorative" val="1"/>
              </a:ext>
            </a:extLst>
          </p:cNvPr>
          <p:cNvSpPr/>
          <p:nvPr/>
        </p:nvSpPr>
        <p:spPr>
          <a:xfrm>
            <a:off x="0" y="0"/>
            <a:ext cx="259397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xEl>
                                              <p:pRg st="3" end="3"/>
                                            </p:txEl>
                                          </p:spTgt>
                                        </p:tgtEl>
                                        <p:attrNameLst>
                                          <p:attrName>style.visibility</p:attrName>
                                        </p:attrNameLst>
                                      </p:cBhvr>
                                      <p:to>
                                        <p:strVal val="visible"/>
                                      </p:to>
                                    </p:set>
                                    <p:animEffect transition="in" filter="fade">
                                      <p:cBhvr>
                                        <p:cTn id="28" dur="350"/>
                                        <p:tgtEl>
                                          <p:spTgt spid="11">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42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right)">
                                      <p:cBhvr>
                                        <p:cTn id="38"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Model, Five Metrics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88     </a:t>
            </a:r>
            <a:fld id="{DABA0A02-ED88-452F-ABF5-311EC0C5E381}"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0900"/>
          </a:xfrm>
          <a:prstGeom prst="roundRect">
            <a:avLst>
              <a:gd name="adj" fmla="val 206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09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Recall = 80/(80+20) = 80/100 = 80.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511515"/>
          </a:xfrm>
          <a:prstGeom prst="rect">
            <a:avLst/>
          </a:prstGeom>
        </p:spPr>
      </p:pic>
      <p:pic>
        <p:nvPicPr>
          <p:cNvPr id="10" name="body-1" descr="Specificity = 9790/(9790+110) = 98.9%"/>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2655910"/>
            <a:ext cx="10234879" cy="511515"/>
          </a:xfrm>
          <a:prstGeom prst="rect">
            <a:avLst/>
          </a:prstGeom>
        </p:spPr>
      </p:pic>
      <p:pic>
        <p:nvPicPr>
          <p:cNvPr id="11" name="body-2" descr="F1 = 2 × (0.421 × 0.800)/(0.421 + 0.800) = 2 × 0.337/1.221 = 0.552"/>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3300140"/>
            <a:ext cx="10234879" cy="511515"/>
          </a:xfrm>
          <a:prstGeom prst="rect">
            <a:avLst/>
          </a:prstGeom>
        </p:spPr>
      </p:pic>
      <p:sp>
        <p:nvSpPr>
          <p:cNvPr id="12" name="body-3"/>
          <p:cNvSpPr txBox="1"/>
          <p:nvPr/>
        </p:nvSpPr>
        <p:spPr>
          <a:xfrm>
            <a:off x="1042416" y="3944371"/>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headline number is the useless one.</a:t>
            </a:r>
            <a:r>
              <a:rPr sz="1900" b="0" i="0">
                <a:solidFill>
                  <a:srgbClr val="1C252B"/>
                </a:solidFill>
                <a:latin typeface="Segoe UI"/>
              </a:rPr>
              <a:t> 98.7% accuracy sounds superb — but a model that flags </a:t>
            </a:r>
            <a:r>
              <a:rPr sz="1900" b="0" i="1">
                <a:solidFill>
                  <a:srgbClr val="1C252B"/>
                </a:solidFill>
                <a:latin typeface="Segoe UI"/>
              </a:rPr>
              <a:t>nothing at all</a:t>
            </a:r>
            <a:r>
              <a:rPr sz="1900" b="0" i="0">
                <a:solidFill>
                  <a:srgbClr val="1C252B"/>
                </a:solidFill>
                <a:latin typeface="Segoe UI"/>
              </a:rPr>
              <a:t> scores 99.0% here, beating it. Accuracy is dominated by the 9,900 easy negatives.</a:t>
            </a:r>
          </a:p>
        </p:txBody>
      </p:sp>
      <p:sp>
        <p:nvSpPr>
          <p:cNvPr id="13" name="body-3bar">
            <a:extLst>
              <a:ext uri="{C183D7F6-B498-43B3-948B-1728B52AA6E4}">
                <adec:decorative xmlns:adec="http://schemas.microsoft.com/office/drawing/2017/decorative" val="1"/>
              </a:ext>
            </a:extLst>
          </p:cNvPr>
          <p:cNvSpPr/>
          <p:nvPr/>
        </p:nvSpPr>
        <p:spPr>
          <a:xfrm>
            <a:off x="841248" y="3962659"/>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4"/>
          <p:cNvSpPr txBox="1"/>
          <p:nvPr/>
        </p:nvSpPr>
        <p:spPr>
          <a:xfrm>
            <a:off x="1042416" y="4980513"/>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informative pair is precision 42% and recall 80%: we catch four attacks in five, and roughly three in five alarms are wasted analyst time. Whether that is acceptable is the expected-value question of Chapter 6, and it is the only version of the result worth reporting.</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28533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2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Accuracy Paradox</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88     </a:t>
            </a:r>
            <a:fld id="{1DF0489A-04C2-4769-ADD4-76B0D8DED708}"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When one class is rare, always compute the majority-class baseline first. If 99% of traffic is benign, “predict benign” scores 99%. Any accuracy figure below that is worse than doing nothing, and any figure just above it may be worthless. Report precision and recall, or a metric built from them.</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11277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Trading Precision Against Recall</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14.1   Why This Chapter Is the Hinge of Part III</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14.2   The Confusion Matrix</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14.3   Trading Precision Against Recall</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14.4   Choosing the Threshold from Costs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14.5   Cross-Validation</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§14.3     </a:t>
            </a:r>
            <a:fld id="{D9EBA804-25D3-4D94-9297-B6A81BA482D1}" type="slidenum">
              <a:rPr lang="en-GB" sz="1000">
                <a:solidFill>
                  <a:srgbClr val="8795A1"/>
                </a:solidFill>
                <a:latin typeface="Segoe UI"/>
              </a:rPr>
              <a:t>13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3721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They Move in Opposite Directions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§14.3  ·  Handout p. 89     </a:t>
            </a:r>
            <a:fld id="{A7163CDA-FFD5-448A-A644-8DC8BD9310D2}"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Lower the threshold: you flag more things, so recall rises and precision falls. Raise it: precision rises and recall falls. You cannot maximise both, so you must decide which error is more expensive — and that is a domain decision, made with the stakeholder.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6315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Trading Precision Against Recall</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14.2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§14.3  ·  Handout p. 89     </a:t>
            </a:r>
            <a:fld id="{252BB1C5-CF35-415A-80D2-B9D1D22F25C7}" type="slidenum">
              <a:rPr lang="en-GB" sz="1000">
                <a:solidFill>
                  <a:srgbClr val="8795A1"/>
                </a:solidFill>
                <a:latin typeface="Segoe UI"/>
              </a:rPr>
              <a:t>15</a:t>
            </a:fld>
          </a:p>
        </p:txBody>
      </p:sp>
      <p:pic>
        <p:nvPicPr>
          <p:cNvPr id="6" name="!!figure" descr="Figure 14.2. Left: every metric depends on the threshold, so quoting one without the threshold is incomplete. Right: the ROC curve sweeps all thresholds at once; AUC is the area beneath 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66718" y="1737360"/>
            <a:ext cx="825825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Left: every metric depends on the threshold, so quoting one without the threshold is incomplete. Right: the ROC curve sweeps all thresholds at once; AUC is the area beneath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89096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ROC, AUC and the PR Curve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§14.3  ·  Handout p. 89     </a:t>
            </a:r>
            <a:fld id="{70EA4768-0FD3-4E27-AC6E-ED37FA8665BA}"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40610"/>
          </a:xfrm>
          <a:prstGeom prst="roundRect">
            <a:avLst>
              <a:gd name="adj" fmla="val 408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4061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ROC curve</a:t>
            </a:r>
            <a:r>
              <a:rPr sz="2300" b="0" i="0">
                <a:solidFill>
                  <a:srgbClr val="1C252B"/>
                </a:solidFill>
                <a:latin typeface="Segoe UI"/>
              </a:rPr>
              <a:t> plots recall against false-positive rate across all thresholds. </a:t>
            </a:r>
            <a:r>
              <a:rPr sz="2300" b="1" i="0">
                <a:solidFill>
                  <a:srgbClr val="1A5276"/>
                </a:solidFill>
                <a:latin typeface="Segoe UI"/>
              </a:rPr>
              <a:t>AUC</a:t>
            </a:r>
            <a:r>
              <a:rPr sz="2300" b="0" i="0">
                <a:solidFill>
                  <a:srgbClr val="1C252B"/>
                </a:solidFill>
                <a:latin typeface="Segoe UI"/>
              </a:rPr>
              <a:t> is the area under it: the probability that the model ranks a random positive above a random negative. 0.5 is chance, 1.0 is perfect.</a:t>
            </a:r>
          </a:p>
        </p:txBody>
      </p:sp>
      <p:sp>
        <p:nvSpPr>
          <p:cNvPr id="10" name="body-1"/>
          <p:cNvSpPr txBox="1"/>
          <p:nvPr/>
        </p:nvSpPr>
        <p:spPr>
          <a:xfrm>
            <a:off x="1060704" y="3302533"/>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precision–recall curve</a:t>
            </a:r>
            <a:r>
              <a:rPr sz="2300" b="0" i="0">
                <a:solidFill>
                  <a:srgbClr val="1C252B"/>
                </a:solidFill>
                <a:latin typeface="Segoe UI"/>
              </a:rPr>
              <a:t> plots precision against recall instead.</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15036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Use PR, Not ROC, When Positives Are Rare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§14.3  ·  Handout p. 89     </a:t>
            </a:r>
            <a:fld id="{545DD1D8-1D24-43F2-9C8C-AFDDA88C329C}"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ROC’s </a:t>
            </a:r>
            <a:r>
              <a:rPr sz="2300" b="0" i="1">
                <a:solidFill>
                  <a:srgbClr val="1C252B"/>
                </a:solidFill>
                <a:latin typeface="Cambria"/>
              </a:rPr>
              <a:t>x</a:t>
            </a:r>
            <a:r>
              <a:rPr sz="2300" b="0" i="0">
                <a:solidFill>
                  <a:srgbClr val="1C252B"/>
                </a:solidFill>
                <a:latin typeface="Segoe UI"/>
              </a:rPr>
              <a:t>-axis is the false-positive </a:t>
            </a:r>
            <a:r>
              <a:rPr sz="2300" b="0" i="1">
                <a:solidFill>
                  <a:srgbClr val="1C252B"/>
                </a:solidFill>
                <a:latin typeface="Segoe UI"/>
              </a:rPr>
              <a:t>rate</a:t>
            </a:r>
            <a:r>
              <a:rPr sz="2300" b="0" i="0">
                <a:solidFill>
                  <a:srgbClr val="1C252B"/>
                </a:solidFill>
                <a:latin typeface="Segoe UI"/>
              </a:rPr>
              <a:t> — FP divided by the huge number of negatives. With 9,900 negatives, 110 false positives is a rate of 0.011, which looks negligible on an ROC plot even though it means 58% of your alerts are wrong. ROC curves flatter rare-event detectors badly. The PR curve, which uses precision directly, does not. In cybersecurity, fraud and predictive maintenance, report the PR curve.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40976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Setting a Threshold with Money</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90     </a:t>
            </a:r>
            <a:fld id="{72D2FEF3-AD5A-440C-A532-8940BB4BD334}"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64187"/>
          </a:xfrm>
          <a:prstGeom prst="roundRect">
            <a:avLst>
              <a:gd name="adj" fmla="val 20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6418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dropout-prediction model is to drive outreach calls.</a:t>
            </a:r>
          </a:p>
        </p:txBody>
      </p:sp>
      <p:sp>
        <p:nvSpPr>
          <p:cNvPr id="10" name="body-1"/>
          <p:cNvSpPr txBox="1"/>
          <p:nvPr/>
        </p:nvSpPr>
        <p:spPr>
          <a:xfrm>
            <a:off x="1042416" y="2445537"/>
            <a:ext cx="10234879" cy="73245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Cost of a false positive: one wasted 20-minute call </a:t>
            </a:r>
            <a:r>
              <a:rPr sz="1900" b="0" i="0">
                <a:solidFill>
                  <a:srgbClr val="1C252B"/>
                </a:solidFill>
                <a:latin typeface="Cambria"/>
              </a:rPr>
              <a:t>≈</a:t>
            </a:r>
            <a:r>
              <a:rPr sz="1900" b="0" i="0">
                <a:solidFill>
                  <a:srgbClr val="1C252B"/>
                </a:solidFill>
                <a:latin typeface="Segoe UI"/>
              </a:rPr>
              <a:t> $15.</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Cost of a false negative: a student lost, worth </a:t>
            </a:r>
            <a:r>
              <a:rPr sz="1900" b="0" i="0">
                <a:solidFill>
                  <a:srgbClr val="1C252B"/>
                </a:solidFill>
                <a:latin typeface="Cambria"/>
              </a:rPr>
              <a:t>≈</a:t>
            </a:r>
            <a:r>
              <a:rPr sz="1900" b="0" i="0">
                <a:solidFill>
                  <a:srgbClr val="1C252B"/>
                </a:solidFill>
                <a:latin typeface="Segoe UI"/>
              </a:rPr>
              <a:t> $4,000 in fees and outcomes.</a:t>
            </a:r>
          </a:p>
        </p:txBody>
      </p:sp>
      <p:sp>
        <p:nvSpPr>
          <p:cNvPr id="11" name="body-2"/>
          <p:cNvSpPr txBox="1"/>
          <p:nvPr/>
        </p:nvSpPr>
        <p:spPr>
          <a:xfrm>
            <a:off x="1042416" y="326499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ratio is roughly 1:267 — a miss is 267 times more costly than a false alarm.</a:t>
            </a:r>
          </a:p>
        </p:txBody>
      </p:sp>
      <p:sp>
        <p:nvSpPr>
          <p:cNvPr id="12" name="body-3"/>
          <p:cNvSpPr txBox="1"/>
          <p:nvPr/>
        </p:nvSpPr>
        <p:spPr>
          <a:xfrm>
            <a:off x="1042416" y="369884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Consequence.</a:t>
            </a:r>
            <a:r>
              <a:rPr sz="1900" b="0" i="0">
                <a:solidFill>
                  <a:srgbClr val="1C252B"/>
                </a:solidFill>
                <a:latin typeface="Segoe UI"/>
              </a:rPr>
              <a:t> You should accept a great many false alarms to avoid one miss. Optimise recall subject to a staffing limit, not </a:t>
            </a:r>
            <a:r>
              <a:rPr sz="1900" b="0" i="1">
                <a:solidFill>
                  <a:srgbClr val="1C252B"/>
                </a:solidFill>
                <a:latin typeface="Cambria"/>
              </a:rPr>
              <a:t>F</a:t>
            </a:r>
            <a:r>
              <a:rPr sz="1900" b="0" i="0" baseline="-25000">
                <a:solidFill>
                  <a:srgbClr val="1C252B"/>
                </a:solidFill>
                <a:latin typeface="Cambria"/>
              </a:rPr>
              <a:t>1</a:t>
            </a:r>
            <a:r>
              <a:rPr sz="1900" b="0" i="0">
                <a:solidFill>
                  <a:srgbClr val="1C252B"/>
                </a:solidFill>
                <a:latin typeface="Segoe UI"/>
              </a:rPr>
              <a:t> (which weights precision and recall equally and would be the wrong objective here).</a:t>
            </a:r>
          </a:p>
        </p:txBody>
      </p:sp>
      <p:sp>
        <p:nvSpPr>
          <p:cNvPr id="13" name="body-3bar">
            <a:extLst>
              <a:ext uri="{C183D7F6-B498-43B3-948B-1728B52AA6E4}">
                <adec:decorative xmlns:adec="http://schemas.microsoft.com/office/drawing/2017/decorative" val="1"/>
              </a:ext>
            </a:extLst>
          </p:cNvPr>
          <p:cNvSpPr/>
          <p:nvPr/>
        </p:nvSpPr>
        <p:spPr>
          <a:xfrm>
            <a:off x="841248" y="371713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4"/>
          <p:cNvSpPr txBox="1"/>
          <p:nvPr/>
        </p:nvSpPr>
        <p:spPr>
          <a:xfrm>
            <a:off x="1042416" y="473499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Total expected cost at threshold </a:t>
            </a:r>
            <a:r>
              <a:rPr sz="1900" b="1" i="1">
                <a:solidFill>
                  <a:srgbClr val="1C252B"/>
                </a:solidFill>
                <a:latin typeface="Cambria"/>
              </a:rPr>
              <a:t>t</a:t>
            </a:r>
            <a:r>
              <a:rPr sz="1900" b="1" i="0">
                <a:solidFill>
                  <a:srgbClr val="1C252B"/>
                </a:solidFill>
                <a:latin typeface="Segoe UI"/>
              </a:rPr>
              <a:t>:</a:t>
            </a:r>
          </a:p>
        </p:txBody>
      </p:sp>
      <p:sp>
        <p:nvSpPr>
          <p:cNvPr id="15" name="body-4bar">
            <a:extLst>
              <a:ext uri="{C183D7F6-B498-43B3-948B-1728B52AA6E4}">
                <adec:decorative xmlns:adec="http://schemas.microsoft.com/office/drawing/2017/decorative" val="1"/>
              </a:ext>
            </a:extLst>
          </p:cNvPr>
          <p:cNvSpPr/>
          <p:nvPr/>
        </p:nvSpPr>
        <p:spPr>
          <a:xfrm>
            <a:off x="841248" y="4753279"/>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body-5" descr="C(t) = 15 \times \text{FP}(t) + 4000 \times \text{F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5168849"/>
            <a:ext cx="10234879" cy="324520"/>
          </a:xfrm>
          <a:prstGeom prst="rect">
            <a:avLst/>
          </a:prstGeom>
        </p:spPr>
      </p:pic>
      <p:sp>
        <p:nvSpPr>
          <p:cNvPr id="17" name="body-6"/>
          <p:cNvSpPr txBox="1"/>
          <p:nvPr/>
        </p:nvSpPr>
        <p:spPr>
          <a:xfrm>
            <a:off x="1042416" y="562608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Evaluate on the validation set across a grid of </a:t>
            </a:r>
            <a:r>
              <a:rPr sz="1900" b="0" i="1">
                <a:solidFill>
                  <a:srgbClr val="1C252B"/>
                </a:solidFill>
                <a:latin typeface="Cambria"/>
              </a:rPr>
              <a:t>t</a:t>
            </a:r>
            <a:r>
              <a:rPr sz="1900" b="0" i="0">
                <a:solidFill>
                  <a:srgbClr val="1C252B"/>
                </a:solidFill>
                <a:latin typeface="Segoe UI"/>
              </a:rPr>
              <a:t> and pick the minimum.</a:t>
            </a:r>
          </a:p>
        </p:txBody>
      </p:sp>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46691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right)">
                                      <p:cBhvr>
                                        <p:cTn id="8" dur="42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right)">
                                      <p:cBhvr>
                                        <p:cTn id="13" dur="42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2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42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2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right)">
                                      <p:cBhvr>
                                        <p:cTn id="29" dur="42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right)">
                                      <p:cBhvr>
                                        <p:cTn id="34"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Setting a Threshold with Money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90     </a:t>
            </a:r>
            <a:fld id="{4AE66EC0-0193-444C-BE55-15006D1384CD}"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6788"/>
          </a:xfrm>
          <a:prstGeom prst="roundRect">
            <a:avLst>
              <a:gd name="adj" fmla="val 216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67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42416" y="2011679"/>
          <a:ext cx="4855766" cy="2340864"/>
        </p:xfrm>
        <a:graphic>
          <a:graphicData uri="http://schemas.openxmlformats.org/drawingml/2006/table">
            <a:tbl>
              <a:tblPr firstRow="0" bandRow="0" firstCol="0" lastRow="0" lastCol="0" bandCol="0">
                <a:tableStyleId>{2D5ABB26-0587-4C30-8999-92F81FD0307C}</a:tableStyleId>
              </a:tblPr>
              <a:tblGrid>
                <a:gridCol w="1226636"/>
                <a:gridCol w="591177"/>
                <a:gridCol w="530352"/>
                <a:gridCol w="1083015"/>
                <a:gridCol w="1424586"/>
              </a:tblGrid>
              <a:tr h="390144">
                <a:tc>
                  <a:txBody>
                    <a:bodyPr wrap="square"/>
                    <a:lstStyle/>
                    <a:p>
                      <a:pPr algn="l"/>
                      <a:r>
                        <a:rPr sz="1600" b="1" i="0">
                          <a:solidFill>
                            <a:srgbClr val="1A5276"/>
                          </a:solidFill>
                          <a:latin typeface="Segoe UI"/>
                        </a:rPr>
                        <a:t>Threshold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FP</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FN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Cost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0.05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780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$19,700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Cambria"/>
                        </a:rPr>
                        <a:t>←</a:t>
                      </a:r>
                      <a:r>
                        <a:rPr sz="1600" b="0" i="0">
                          <a:solidFill>
                            <a:srgbClr val="1C252B"/>
                          </a:solidFill>
                          <a:latin typeface="Segoe UI"/>
                        </a:rPr>
                        <a:t> </a:t>
                      </a:r>
                      <a:r>
                        <a:rPr sz="1600" b="1" i="0">
                          <a:solidFill>
                            <a:srgbClr val="1C252B"/>
                          </a:solidFill>
                          <a:latin typeface="Segoe UI"/>
                        </a:rPr>
                        <a:t>minimum</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0.10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420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$22,300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0.20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210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$39,150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0.30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120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$65,800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0.50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48</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31</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$124,720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1">
                          <a:solidFill>
                            <a:srgbClr val="1C252B"/>
                          </a:solidFill>
                          <a:latin typeface="Segoe UI"/>
                        </a:rPr>
                        <a:t>the default</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body-1"/>
          <p:cNvSpPr txBox="1"/>
          <p:nvPr/>
        </p:nvSpPr>
        <p:spPr>
          <a:xfrm>
            <a:off x="1042416" y="448525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optimum is 0.05</a:t>
            </a:r>
            <a:r>
              <a:rPr sz="1900" b="0" i="0">
                <a:solidFill>
                  <a:srgbClr val="1C252B"/>
                </a:solidFill>
                <a:latin typeface="Segoe UI"/>
              </a:rPr>
              <a:t>, not 0.5 — a threshold that flags roughly a third of the cohort. That is only workable if staff can handle the volume, which is why the real constraint is usually written as “maximise recall subject to flagging at most 20% of students”. Either way, the default threshold was ten times too high and cost six times more.</a:t>
            </a:r>
          </a:p>
        </p:txBody>
      </p:sp>
      <p:sp>
        <p:nvSpPr>
          <p:cNvPr id="11" name="body-1bar">
            <a:extLst>
              <a:ext uri="{C183D7F6-B498-43B3-948B-1728B52AA6E4}">
                <adec:decorative xmlns:adec="http://schemas.microsoft.com/office/drawing/2017/decorative" val="1"/>
              </a:ext>
            </a:extLst>
          </p:cNvPr>
          <p:cNvSpPr/>
          <p:nvPr/>
        </p:nvSpPr>
        <p:spPr>
          <a:xfrm>
            <a:off x="841248" y="4503546"/>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92855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Cross-Validation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14.1   Why This Chapter Is the Hinge of Part III</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14.2   The Confusion Matrix</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14.3   Trading Precision Against Recall</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14.4   Choosing the Threshold from Costs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14.5   Cross-Validation</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§14.5     </a:t>
            </a:r>
            <a:fld id="{F72E7323-DCA4-4852-B62D-37D3BC4C0A04}" type="slidenum">
              <a:rPr lang="en-GB" sz="1000">
                <a:solidFill>
                  <a:srgbClr val="8795A1"/>
                </a:solidFill>
                <a:latin typeface="Segoe UI"/>
              </a:rPr>
              <a:t>20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18795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k-Fold Cross-Validation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91     </a:t>
            </a:r>
            <a:fld id="{F4A54215-8367-4E12-879B-624F4AE5D48A}"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Split the training data into </a:t>
            </a:r>
            <a:r>
              <a:rPr sz="2300" b="0" i="1">
                <a:solidFill>
                  <a:srgbClr val="1C252B"/>
                </a:solidFill>
                <a:latin typeface="Cambria"/>
              </a:rPr>
              <a:t>k</a:t>
            </a:r>
            <a:r>
              <a:rPr sz="2300" b="0" i="0">
                <a:solidFill>
                  <a:srgbClr val="1C252B"/>
                </a:solidFill>
                <a:latin typeface="Segoe UI"/>
              </a:rPr>
              <a:t> equal folds. Train on </a:t>
            </a:r>
            <a:r>
              <a:rPr sz="2300" b="0" i="1">
                <a:solidFill>
                  <a:srgbClr val="1C252B"/>
                </a:solidFill>
                <a:latin typeface="Cambria"/>
              </a:rPr>
              <a:t>k</a:t>
            </a:r>
            <a:r>
              <a:rPr sz="2300" b="0" i="0">
                <a:solidFill>
                  <a:srgbClr val="1C252B"/>
                </a:solidFill>
                <a:latin typeface="Cambria"/>
              </a:rPr>
              <a:t>−1</a:t>
            </a:r>
            <a:r>
              <a:rPr sz="2300" b="0" i="0">
                <a:solidFill>
                  <a:srgbClr val="1C252B"/>
                </a:solidFill>
                <a:latin typeface="Segoe UI"/>
              </a:rPr>
              <a:t> and validate on the held-out one; repeat </a:t>
            </a:r>
            <a:r>
              <a:rPr sz="2300" b="0" i="1">
                <a:solidFill>
                  <a:srgbClr val="1C252B"/>
                </a:solidFill>
                <a:latin typeface="Cambria"/>
              </a:rPr>
              <a:t>k</a:t>
            </a:r>
            <a:r>
              <a:rPr sz="2300" b="0" i="0">
                <a:solidFill>
                  <a:srgbClr val="1C252B"/>
                </a:solidFill>
                <a:latin typeface="Segoe UI"/>
              </a:rPr>
              <a:t> times so every fold is held out exactly once. Report the mean and standard deviation of the </a:t>
            </a:r>
            <a:r>
              <a:rPr sz="2300" b="0" i="1">
                <a:solidFill>
                  <a:srgbClr val="1C252B"/>
                </a:solidFill>
                <a:latin typeface="Cambria"/>
              </a:rPr>
              <a:t>k</a:t>
            </a:r>
            <a:r>
              <a:rPr sz="2300" b="0" i="0">
                <a:solidFill>
                  <a:srgbClr val="1C252B"/>
                </a:solidFill>
                <a:latin typeface="Segoe UI"/>
              </a:rPr>
              <a:t> scores.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44735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Five-fold cross-validation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14.3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91     </a:t>
            </a:r>
            <a:fld id="{05E30A4C-1242-4F1B-8A9C-8E647ACC3133}" type="slidenum">
              <a:rPr lang="en-GB" sz="1000">
                <a:solidFill>
                  <a:srgbClr val="8795A1"/>
                </a:solidFill>
                <a:latin typeface="Segoe UI"/>
              </a:rPr>
              <a:t>22</a:t>
            </a:fld>
          </a:p>
        </p:txBody>
      </p:sp>
      <p:pic>
        <p:nvPicPr>
          <p:cNvPr id="6" name="!!figure" descr="Figure 14.3. Five-fold cross-validation. Every observation is used for validation exactly once, so the performance estimate uses all the data and comes with a measure of its own stabilit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7546" y="1737360"/>
            <a:ext cx="1057660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Every observation is used for validation exactly once, so the performance estimate uses all the data and comes with a measure of its own stability.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70675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Cross-Validation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91     </a:t>
            </a:r>
            <a:fld id="{411706CD-056D-4278-B5AA-0165485F72C2}" type="slidenum">
              <a:rPr lang="en-GB" sz="1000">
                <a:solidFill>
                  <a:srgbClr val="8795A1"/>
                </a:solidFill>
                <a:latin typeface="Segoe UI"/>
              </a:rPr>
              <a:t>23</a:t>
            </a:fld>
          </a:p>
        </p:txBody>
      </p:sp>
      <p:graphicFrame>
        <p:nvGraphicFramePr>
          <p:cNvPr id="7" name="!!table"/>
          <p:cNvGraphicFramePr>
            <a:graphicFrameLocks noGrp="1"/>
          </p:cNvGraphicFramePr>
          <p:nvPr/>
        </p:nvGraphicFramePr>
        <p:xfrm>
          <a:off x="658368" y="1737360"/>
          <a:ext cx="10874957" cy="3468624"/>
        </p:xfrm>
        <a:graphic>
          <a:graphicData uri="http://schemas.openxmlformats.org/drawingml/2006/table">
            <a:tbl>
              <a:tblPr firstRow="0" bandRow="0" firstCol="0" lastRow="0" lastCol="0" bandCol="0">
                <a:tableStyleId>{2D5ABB26-0587-4C30-8999-92F81FD0307C}</a:tableStyleId>
              </a:tblPr>
              <a:tblGrid>
                <a:gridCol w="2699989"/>
                <a:gridCol w="3749985"/>
                <a:gridCol w="4424983"/>
              </a:tblGrid>
              <a:tr h="405384">
                <a:tc>
                  <a:txBody>
                    <a:bodyPr wrap="square"/>
                    <a:lstStyle/>
                    <a:p>
                      <a:pPr algn="l"/>
                      <a:r>
                        <a:rPr sz="1700" b="1" i="0">
                          <a:solidFill>
                            <a:srgbClr val="1A5276"/>
                          </a:solidFill>
                          <a:latin typeface="Segoe UI"/>
                        </a:rPr>
                        <a:t>Variant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it does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Use when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k-fold (</a:t>
                      </a:r>
                      <a:r>
                        <a:rPr sz="1700" b="0" i="1">
                          <a:solidFill>
                            <a:srgbClr val="1C252B"/>
                          </a:solidFill>
                          <a:latin typeface="Cambria"/>
                        </a:rPr>
                        <a:t>k</a:t>
                      </a:r>
                      <a:r>
                        <a:rPr sz="1700" b="0" i="0">
                          <a:solidFill>
                            <a:srgbClr val="1C252B"/>
                          </a:solidFill>
                          <a:latin typeface="Cambria"/>
                        </a:rPr>
                        <a:t>=5</a:t>
                      </a:r>
                      <a:r>
                        <a:rPr sz="1700" b="0" i="0">
                          <a:solidFill>
                            <a:srgbClr val="1C252B"/>
                          </a:solidFill>
                          <a:latin typeface="Segoe UI"/>
                        </a:rPr>
                        <a:t> or </a:t>
                      </a:r>
                      <a:r>
                        <a:rPr sz="1700" b="0" i="0">
                          <a:solidFill>
                            <a:srgbClr val="1C252B"/>
                          </a:solidFill>
                          <a:latin typeface="Cambria"/>
                        </a:rPr>
                        <a:t>10</a:t>
                      </a:r>
                      <a:r>
                        <a:rPr sz="1700" b="0" i="0">
                          <a:solidFill>
                            <a:srgbClr val="1C252B"/>
                          </a:solidFill>
                          <a:latin typeface="Segoe UI"/>
                        </a:rPr>
                        <a: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Standard random folds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default for independent rows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Stratified k-fold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Preserves class proportions in every fold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Always, for classification — especially imbalanced</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Group k-fold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Keeps all rows of an entity in one fold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Multiple rows per student, device or user</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Time-series split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Trains on the past, validates on the future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Any temporal data (Chapter 19)</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Leave-one-out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1">
                          <a:solidFill>
                            <a:srgbClr val="1C252B"/>
                          </a:solidFill>
                          <a:latin typeface="Cambria"/>
                        </a:rPr>
                        <a:t>k</a:t>
                      </a:r>
                      <a:r>
                        <a:rPr sz="1700" b="0" i="0">
                          <a:solidFill>
                            <a:srgbClr val="1C252B"/>
                          </a:solidFill>
                          <a:latin typeface="Cambria"/>
                        </a:rPr>
                        <a:t> = </a:t>
                      </a:r>
                      <a:r>
                        <a:rPr sz="1700" b="0" i="1">
                          <a:solidFill>
                            <a:srgbClr val="1C252B"/>
                          </a:solidFill>
                          <a:latin typeface="Cambria"/>
                        </a:rPr>
                        <a:t>n</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Very small datasets; expensive and high-variance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96614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91     </a:t>
            </a:r>
            <a:fld id="{777E04B7-3A0F-4EDC-AEB5-017444A188BC}" type="slidenum">
              <a:rPr lang="en-GB" sz="1000">
                <a:solidFill>
                  <a:srgbClr val="8795A1"/>
                </a:solidFill>
                <a:latin typeface="Segoe UI"/>
              </a:rPr>
              <a:t>24</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Reporting accuracy on imbalanced data.</a:t>
            </a:r>
            <a:r>
              <a:rPr sz="2100" b="0" i="0">
                <a:solidFill>
                  <a:srgbClr val="1C252B"/>
                </a:solidFill>
                <a:latin typeface="Segoe UI"/>
              </a:rPr>
              <a:t> Always compare to the majority baseline first.</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Quoting a metric without its threshold.</a:t>
            </a:r>
            <a:r>
              <a:rPr sz="2100" b="0" i="0">
                <a:solidFill>
                  <a:srgbClr val="1C252B"/>
                </a:solidFill>
                <a:latin typeface="Segoe UI"/>
              </a:rPr>
              <a:t> “Precision 0.9” is meaningless alone.</a:t>
            </a:r>
          </a:p>
        </p:txBody>
      </p:sp>
      <p:sp>
        <p:nvSpPr>
          <p:cNvPr id="13" name="!!pb2">
            <a:extLst>
              <a:ext uri="{C183D7F6-B498-43B3-948B-1728B52AA6E4}">
                <adec:decorative xmlns:adec="http://schemas.microsoft.com/office/drawing/2017/decorative" val="1"/>
              </a:ext>
            </a:extLst>
          </p:cNvPr>
          <p:cNvSpPr/>
          <p:nvPr/>
        </p:nvSpPr>
        <p:spPr>
          <a:xfrm>
            <a:off x="658368" y="318942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1228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171139"/>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Using ROC-AUC for rare positives.</a:t>
            </a:r>
            <a:r>
              <a:rPr sz="2100" b="0" i="0">
                <a:solidFill>
                  <a:srgbClr val="1C252B"/>
                </a:solidFill>
                <a:latin typeface="Segoe UI"/>
              </a:rPr>
              <a:t> Use PR-AUC.</a:t>
            </a:r>
          </a:p>
        </p:txBody>
      </p:sp>
      <p:sp>
        <p:nvSpPr>
          <p:cNvPr id="16" name="!!pb3">
            <a:extLst>
              <a:ext uri="{C183D7F6-B498-43B3-948B-1728B52AA6E4}">
                <adec:decorative xmlns:adec="http://schemas.microsoft.com/office/drawing/2017/decorative" val="1"/>
              </a:ext>
            </a:extLst>
          </p:cNvPr>
          <p:cNvSpPr/>
          <p:nvPr/>
        </p:nvSpPr>
        <p:spPr>
          <a:xfrm>
            <a:off x="658368" y="37563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7792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38067"/>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Random cross-validation on time series or grouped rows.</a:t>
            </a:r>
            <a:r>
              <a:rPr sz="2100" b="0" i="0">
                <a:solidFill>
                  <a:srgbClr val="1C252B"/>
                </a:solidFill>
                <a:latin typeface="Segoe UI"/>
              </a:rPr>
              <a:t> Use </a:t>
            </a:r>
            <a:r>
              <a:rPr sz="1950" b="0" i="0">
                <a:solidFill>
                  <a:srgbClr val="1F4E79"/>
                </a:solidFill>
                <a:latin typeface="Consolas"/>
              </a:rPr>
              <a:t>TimeSeriesSplit</a:t>
            </a:r>
            <a:r>
              <a:rPr sz="2100" b="0" i="0">
                <a:solidFill>
                  <a:srgbClr val="1C252B"/>
                </a:solidFill>
                <a:latin typeface="Segoe UI"/>
              </a:rPr>
              <a:t> or </a:t>
            </a:r>
            <a:r>
              <a:rPr sz="1950" b="0" i="0">
                <a:solidFill>
                  <a:srgbClr val="1F4E79"/>
                </a:solidFill>
                <a:latin typeface="Consolas"/>
              </a:rPr>
              <a:t>GroupKFold</a:t>
            </a:r>
            <a:r>
              <a:rPr sz="2100" b="0" i="0">
                <a:solidFill>
                  <a:srgbClr val="1C252B"/>
                </a:solidFill>
                <a:latin typeface="Segoe UI"/>
              </a:rPr>
              <a:t>.</a:t>
            </a:r>
          </a:p>
        </p:txBody>
      </p:sp>
      <p:sp>
        <p:nvSpPr>
          <p:cNvPr id="19" name="!!pb4">
            <a:extLst>
              <a:ext uri="{C183D7F6-B498-43B3-948B-1728B52AA6E4}">
                <adec:decorative xmlns:adec="http://schemas.microsoft.com/office/drawing/2017/decorative" val="1"/>
              </a:ext>
            </a:extLst>
          </p:cNvPr>
          <p:cNvSpPr/>
          <p:nvPr/>
        </p:nvSpPr>
        <p:spPr>
          <a:xfrm>
            <a:off x="658368" y="462320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64606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04918"/>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Tuning against the test set.</a:t>
            </a:r>
            <a:r>
              <a:rPr sz="2100" b="0" i="0">
                <a:solidFill>
                  <a:srgbClr val="1C252B"/>
                </a:solidFill>
                <a:latin typeface="Segoe UI"/>
              </a:rPr>
              <a:t> That is what the validation folds are for; the test set is used once (Chapter 11).</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22554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Choosing a Metric</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D8AAAD24-5A18-4778-8D71-3AB1E2C0A060}" type="slidenum">
              <a:rPr lang="en-GB" sz="1000">
                <a:solidFill>
                  <a:srgbClr val="8795A1"/>
                </a:solidFill>
                <a:latin typeface="Segoe UI"/>
              </a:rPr>
              <a:t>25</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6C3483"/>
                </a:solidFill>
                <a:latin typeface="Segoe UI"/>
              </a:rPr>
              <a:t>Optimise recall</a:t>
            </a:r>
            <a:r>
              <a:rPr sz="2300" b="0" i="0">
                <a:solidFill>
                  <a:srgbClr val="1C252B"/>
                </a:solidFill>
                <a:latin typeface="Segoe UI"/>
              </a:rPr>
              <a:t> at a fixed staffing budget.</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F618D"/>
                </a:solidFill>
                <a:latin typeface="Segoe UI"/>
              </a:rPr>
              <a:t>Use </a:t>
            </a:r>
            <a:r>
              <a:rPr sz="2200" b="1" i="1">
                <a:solidFill>
                  <a:srgbClr val="1C252B"/>
                </a:solidFill>
                <a:latin typeface="Cambria"/>
              </a:rPr>
              <a:t>F</a:t>
            </a:r>
            <a:r>
              <a:rPr sz="2200" b="1" i="0" baseline="-25000">
                <a:solidFill>
                  <a:srgbClr val="1C252B"/>
                </a:solidFill>
                <a:latin typeface="Cambria"/>
              </a:rPr>
              <a:t>1</a:t>
            </a:r>
            <a:r>
              <a:rPr sz="2200" b="1" i="0">
                <a:solidFill>
                  <a:srgbClr val="1C252B"/>
                </a:solidFill>
                <a:latin typeface="Segoe UI"/>
              </a:rPr>
              <a:t> or balanced accuracy</a:t>
            </a:r>
            <a:r>
              <a:rPr sz="2200" b="0" i="0">
                <a:solidFill>
                  <a:srgbClr val="1C252B"/>
                </a:solidFill>
                <a:latin typeface="Segoe UI"/>
              </a:rPr>
              <a:t>: over- and under-forecasting a sprint carry roughly comparable costs, so neither error dominates.</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17864"/>
                </a:solidFill>
                <a:latin typeface="Segoe UI"/>
              </a:rPr>
              <a:t>Optimise recall, then constrain precision by maintenance capacity.</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922B21"/>
                </a:solidFill>
                <a:latin typeface="Segoe UI"/>
              </a:rPr>
              <a:t>Use the PR curve and report precision at fixed recall</a:t>
            </a:r>
            <a:r>
              <a:rPr sz="2300" b="0" i="0">
                <a:solidFill>
                  <a:srgbClr val="1C252B"/>
                </a:solidFill>
                <a:latin typeface="Segoe UI"/>
              </a:rPr>
              <a:t>, e.g. “precision 0.42 at 80% recall”.</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48494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Choosing a Metric</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F412D11D-FDC4-4C3F-88FD-889CE2811387}" type="slidenum">
              <a:rPr lang="en-GB" sz="1000">
                <a:solidFill>
                  <a:srgbClr val="8795A1"/>
                </a:solidFill>
                <a:latin typeface="Segoe UI"/>
              </a:rPr>
              <a:t>26</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6C3483"/>
                </a:solidFill>
                <a:latin typeface="Segoe UI"/>
              </a:rPr>
              <a:t>Optimise recall</a:t>
            </a:r>
            <a:r>
              <a:rPr sz="2200" b="0" i="0">
                <a:solidFill>
                  <a:srgbClr val="1C252B"/>
                </a:solidFill>
                <a:latin typeface="Segoe UI"/>
              </a:rPr>
              <a:t> at a fixed staffing budget. A missed at-risk student is far costlier than an unnecessary supportive phone call, as the worked example quantified. Report precision alongside it so staff know what proportion of calls will find someone who was fine — if that proportion is too embarrassing, the programme will quietly stop making the calls regardless of what your metric says.</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7443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Choosing a Metric</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8C6B3E42-5419-4C15-95BC-CB5A8443C124}" type="slidenum">
              <a:rPr lang="en-GB" sz="1000">
                <a:solidFill>
                  <a:srgbClr val="8795A1"/>
                </a:solidFill>
                <a:latin typeface="Segoe UI"/>
              </a:rPr>
              <a:t>27</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F618D"/>
                </a:solidFill>
                <a:latin typeface="Segoe UI"/>
              </a:rPr>
              <a:t>Use </a:t>
            </a:r>
            <a:r>
              <a:rPr sz="2200" b="1" i="1">
                <a:solidFill>
                  <a:srgbClr val="1C252B"/>
                </a:solidFill>
                <a:latin typeface="Cambria"/>
              </a:rPr>
              <a:t>F</a:t>
            </a:r>
            <a:r>
              <a:rPr sz="2200" b="1" i="0" baseline="-25000">
                <a:solidFill>
                  <a:srgbClr val="1C252B"/>
                </a:solidFill>
                <a:latin typeface="Cambria"/>
              </a:rPr>
              <a:t>1</a:t>
            </a:r>
            <a:r>
              <a:rPr sz="2200" b="1" i="0">
                <a:solidFill>
                  <a:srgbClr val="1C252B"/>
                </a:solidFill>
                <a:latin typeface="Segoe UI"/>
              </a:rPr>
              <a:t> or balanced accuracy</a:t>
            </a:r>
            <a:r>
              <a:rPr sz="2200" b="0" i="0">
                <a:solidFill>
                  <a:srgbClr val="1C252B"/>
                </a:solidFill>
                <a:latin typeface="Segoe UI"/>
              </a:rPr>
              <a:t>: over- and under-forecasting a sprint carry roughly comparable costs, so neither error dominates. Beware tiny validation folds — with 40 sprints, 5-fold cross-validation validates on eight sprints at a time, so report the standard deviation across folds and expect it to be large.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037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Choosing a Metric</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BB211A43-94E4-4E53-9DB2-F6396F67F469}" type="slidenum">
              <a:rPr lang="en-GB" sz="1000">
                <a:solidFill>
                  <a:srgbClr val="8795A1"/>
                </a:solidFill>
                <a:latin typeface="Segoe UI"/>
              </a:rPr>
              <a:t>28</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17864"/>
                </a:solidFill>
                <a:latin typeface="Segoe UI"/>
              </a:rPr>
              <a:t>Optimise recall, then constrain precision by maintenance capacity.</a:t>
            </a:r>
            <a:r>
              <a:rPr sz="2200" b="0" i="0">
                <a:solidFill>
                  <a:srgbClr val="1C252B"/>
                </a:solidFill>
                <a:latin typeface="Segoe UI"/>
              </a:rPr>
              <a:t> A missed failure stops a line; an unnecessary inspection costs an hour. But note the second constraint: too many false alarms and technicians begin ignoring the system, which converts a precision problem into a recall problem in the real world. Use PR curves, since failures are rare.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2631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Choosing a Metric</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8E5AB46D-0541-4926-BE02-2722F1ABB6AE}" type="slidenum">
              <a:rPr lang="en-GB" sz="1000">
                <a:solidFill>
                  <a:srgbClr val="8795A1"/>
                </a:solidFill>
                <a:latin typeface="Segoe UI"/>
              </a:rPr>
              <a:t>29</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922B21"/>
                </a:solidFill>
                <a:latin typeface="Segoe UI"/>
              </a:rPr>
              <a:t>Use the PR curve and report precision at fixed recall</a:t>
            </a:r>
            <a:r>
              <a:rPr sz="2200" b="0" i="0">
                <a:solidFill>
                  <a:srgbClr val="1C252B"/>
                </a:solidFill>
                <a:latin typeface="Segoe UI"/>
              </a:rPr>
              <a:t>, e.g. “precision 0.42 at 80% recall”. ROC-AUC will look excellent and mean nothing, for the reason in the alert box above. Also track </a:t>
            </a:r>
            <a:r>
              <a:rPr sz="2200" b="0" i="1">
                <a:solidFill>
                  <a:srgbClr val="1C252B"/>
                </a:solidFill>
                <a:latin typeface="Segoe UI"/>
              </a:rPr>
              <a:t>alerts per analyst per hour</a:t>
            </a:r>
            <a:r>
              <a:rPr sz="2200" b="0" i="0">
                <a:solidFill>
                  <a:srgbClr val="1C252B"/>
                </a:solidFill>
                <a:latin typeface="Segoe UI"/>
              </a:rPr>
              <a:t> — a metric that appears in no textbook and decides whether the system is used. And set the threshold from the cost ratio, not from 0.5, because in this domain the two errors differ by orders of magnitude.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5225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Evaluate Honestly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91     </a:t>
            </a:r>
            <a:fld id="{B0999212-021E-478B-BE2C-ACBA21ECC72F}" type="slidenum">
              <a:rPr lang="en-GB" sz="1000">
                <a:solidFill>
                  <a:srgbClr val="8795A1"/>
                </a:solidFill>
                <a:latin typeface="Segoe UI"/>
              </a:rPr>
              <a:t>30</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82879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Baseline first</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The four cells</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Threshold-free comparison; prefer PR-AUC when positives are rare</a:t>
            </a:r>
          </a:p>
          <a:p>
            <a:pPr algn="l" marL="459473" indent="-459473">
              <a:lnSpc>
                <a:spcPct val="100000"/>
              </a:lnSpc>
              <a:spcBef>
                <a:spcPts val="0"/>
              </a:spcBef>
              <a:spcAft>
                <a:spcPts val="570"/>
              </a:spcAft>
            </a:pPr>
            <a:r>
              <a:rPr sz="1900" b="1">
                <a:solidFill>
                  <a:srgbClr val="117A65"/>
                </a:solidFill>
                <a:latin typeface="Segoe UI"/>
              </a:rPr>
              <a:t>4.	</a:t>
            </a:r>
            <a:r>
              <a:rPr sz="1900" b="0" i="0">
                <a:solidFill>
                  <a:srgbClr val="1C252B"/>
                </a:solidFill>
                <a:latin typeface="Segoe UI"/>
              </a:rPr>
              <a:t>Choose the threshold from COSTS, not from 0.5</a:t>
            </a:r>
          </a:p>
          <a:p>
            <a:pPr algn="l" marL="459473" indent="-459473">
              <a:lnSpc>
                <a:spcPct val="100000"/>
              </a:lnSpc>
              <a:spcBef>
                <a:spcPts val="0"/>
              </a:spcBef>
              <a:spcAft>
                <a:spcPts val="0"/>
              </a:spcAft>
            </a:pPr>
            <a:r>
              <a:rPr sz="1900" b="1">
                <a:solidFill>
                  <a:srgbClr val="117A65"/>
                </a:solidFill>
                <a:latin typeface="Segoe UI"/>
              </a:rPr>
              <a:t>5.	</a:t>
            </a:r>
            <a:r>
              <a:rPr sz="1900" b="0" i="0">
                <a:solidFill>
                  <a:srgbClr val="1C252B"/>
                </a:solidFill>
                <a:latin typeface="Segoe UI"/>
              </a:rPr>
              <a:t>Cross-validate, stratified, whole pipeline inside the folds</a:t>
            </a:r>
          </a:p>
        </p:txBody>
      </p:sp>
      <p:sp>
        <p:nvSpPr>
          <p:cNvPr id="29"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2"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8: Five classifiers; evaluate honestly</a:t>
            </a:r>
          </a:p>
        </p:txBody>
      </p:sp>
      <p:sp>
        <p:nvSpPr>
          <p:cNvPr id="33"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6"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35 lines of Python</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778193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3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Honestly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91     </a:t>
            </a:r>
            <a:fld id="{A9E4026B-AD01-47CF-90E8-B21F55DFE21E}"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127504"/>
          </a:xfrm>
          <a:prstGeom prst="roundRect">
            <a:avLst>
              <a:gd name="adj" fmla="val 429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numpy as np from sklearn.metrics import (confusion_matrix, classification_report, roc_auc_score, average_precision_score, precision_recall_curve) from sklearn.model_selection import StratifiedKFold, cross_val_score"/>
          <p:cNvSpPr txBox="1"/>
          <p:nvPr/>
        </p:nvSpPr>
        <p:spPr>
          <a:xfrm>
            <a:off x="1362456" y="2523744"/>
            <a:ext cx="9987991" cy="16337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metrics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confusion_matrix</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classification_report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roc_auc_score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average_precision_score</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precision_recall_curve</a:t>
            </a:r>
            <a:r>
              <a:rPr sz="2000" i="0">
                <a:solidFill>
                  <a:srgbClr val="AEB6BF"/>
                </a:solidFill>
                <a:latin typeface="Consolas"/>
              </a:rPr>
              <a:t>)</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model_selection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StratifiedKFold</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cross_val_score</a:t>
            </a:r>
          </a:p>
        </p:txBody>
      </p:sp>
      <p:sp>
        <p:nvSpPr>
          <p:cNvPr id="15" name="!!code-num"/>
          <p:cNvSpPr txBox="1"/>
          <p:nvPr/>
        </p:nvSpPr>
        <p:spPr>
          <a:xfrm>
            <a:off x="768096" y="2523744"/>
            <a:ext cx="393192" cy="1633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4133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Honestly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91     </a:t>
            </a:r>
            <a:fld id="{949A5F85-703A-49F6-9B4F-B3615988EB54}"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Baseline first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52143"/>
          </a:xfrm>
          <a:prstGeom prst="roundRect">
            <a:avLst>
              <a:gd name="adj" fmla="val 79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0. BASELINE FIRST ------------------------------------------------- print(&quot;majority-class accuracy:&quot;, max(np.mean(y_te), 1 - np.mean(y_te)))"/>
          <p:cNvSpPr txBox="1"/>
          <p:nvPr/>
        </p:nvSpPr>
        <p:spPr>
          <a:xfrm>
            <a:off x="1362456" y="2523744"/>
            <a:ext cx="9987991" cy="6583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--- 0. BASELINE FIRST -------------------------------------------------</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majority-class accuracy:</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max</a:t>
            </a:r>
            <a:r>
              <a:rPr sz="1800" i="0">
                <a:solidFill>
                  <a:srgbClr val="AEB6BF"/>
                </a:solidFill>
                <a:latin typeface="Consolas"/>
              </a:rPr>
              <a:t>(</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6583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0072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Honestly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91     </a:t>
            </a:r>
            <a:fld id="{94B9435B-06E3-4930-92E3-091A21468CE5}"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four cells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1. the four cells ------------------------------------------------- proba = model.predict_proba(X_te)[:, 1] pred = (proba &gt; 0.5).astype(int) tn, fp, fn, tp = confusion_matrix(y_te, pred).ravel() print(f&quot;TP={tp} FP={fp} FN={fn} TN={tn}&quot;) print(classification_report(y_te, pred, digits=3))"/>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the four cells -------------------------------------------------</a:t>
            </a:r>
          </a:p>
          <a:p>
            <a:pPr>
              <a:lnSpc>
                <a:spcPct val="100000"/>
              </a:lnSpc>
              <a:spcAft>
                <a:spcPts val="0"/>
              </a:spcAft>
            </a:pPr>
            <a:r>
              <a:rPr sz="1800" i="0">
                <a:solidFill>
                  <a:srgbClr val="E8EDF2"/>
                </a:solidFill>
                <a:latin typeface="Consolas"/>
              </a:rPr>
              <a:t>proba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model</a:t>
            </a:r>
            <a:r>
              <a:rPr sz="1800" i="0">
                <a:solidFill>
                  <a:srgbClr val="AEB6BF"/>
                </a:solidFill>
                <a:latin typeface="Consolas"/>
              </a:rPr>
              <a:t>.</a:t>
            </a:r>
            <a:r>
              <a:rPr sz="1800" i="0">
                <a:solidFill>
                  <a:srgbClr val="E8EDF2"/>
                </a:solidFill>
                <a:latin typeface="Consolas"/>
              </a:rPr>
              <a:t>predict_proba</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E8EDF2"/>
                </a:solidFill>
                <a:latin typeface="Consolas"/>
              </a:rPr>
              <a:t>pred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proba</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astype</a:t>
            </a:r>
            <a:r>
              <a:rPr sz="1800" i="0">
                <a:solidFill>
                  <a:srgbClr val="AEB6BF"/>
                </a:solidFill>
                <a:latin typeface="Consolas"/>
              </a:rPr>
              <a:t>(</a:t>
            </a:r>
            <a:r>
              <a:rPr sz="1800" i="0">
                <a:solidFill>
                  <a:srgbClr val="C39BD3"/>
                </a:solidFill>
                <a:latin typeface="Consolas"/>
              </a:rPr>
              <a:t>int</a:t>
            </a:r>
            <a:r>
              <a:rPr sz="1800" i="0">
                <a:solidFill>
                  <a:srgbClr val="AEB6BF"/>
                </a:solidFill>
                <a:latin typeface="Consolas"/>
              </a:rPr>
              <a:t>)</a:t>
            </a:r>
          </a:p>
          <a:p>
            <a:pPr>
              <a:lnSpc>
                <a:spcPct val="100000"/>
              </a:lnSpc>
              <a:spcAft>
                <a:spcPts val="0"/>
              </a:spcAft>
            </a:pPr>
            <a:r>
              <a:rPr sz="1800" i="0">
                <a:solidFill>
                  <a:srgbClr val="E8EDF2"/>
                </a:solidFill>
                <a:latin typeface="Consolas"/>
              </a:rPr>
              <a:t>tn</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fp</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fn</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confusion_matrix</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ravel</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TP=</a:t>
            </a:r>
            <a:r>
              <a:rPr sz="1800" i="0">
                <a:solidFill>
                  <a:srgbClr val="7DCEA0"/>
                </a:solidFill>
                <a:latin typeface="Consolas"/>
              </a:rPr>
              <a:t>{</a:t>
            </a:r>
            <a:r>
              <a:rPr sz="1800" i="0">
                <a:solidFill>
                  <a:srgbClr val="E8EDF2"/>
                </a:solidFill>
                <a:latin typeface="Consolas"/>
              </a:rPr>
              <a:t>tp</a:t>
            </a:r>
            <a:r>
              <a:rPr sz="1800" i="0">
                <a:solidFill>
                  <a:srgbClr val="7DCEA0"/>
                </a:solidFill>
                <a:latin typeface="Consolas"/>
              </a:rPr>
              <a:t>}</a:t>
            </a:r>
            <a:r>
              <a:rPr sz="1800" i="0">
                <a:solidFill>
                  <a:srgbClr val="7DCEA0"/>
                </a:solidFill>
                <a:latin typeface="Consolas"/>
              </a:rPr>
              <a:t>  FP=</a:t>
            </a:r>
            <a:r>
              <a:rPr sz="1800" i="0">
                <a:solidFill>
                  <a:srgbClr val="7DCEA0"/>
                </a:solidFill>
                <a:latin typeface="Consolas"/>
              </a:rPr>
              <a:t>{</a:t>
            </a:r>
            <a:r>
              <a:rPr sz="1800" i="0">
                <a:solidFill>
                  <a:srgbClr val="E8EDF2"/>
                </a:solidFill>
                <a:latin typeface="Consolas"/>
              </a:rPr>
              <a:t>fp</a:t>
            </a:r>
            <a:r>
              <a:rPr sz="1800" i="0">
                <a:solidFill>
                  <a:srgbClr val="7DCEA0"/>
                </a:solidFill>
                <a:latin typeface="Consolas"/>
              </a:rPr>
              <a:t>}</a:t>
            </a:r>
            <a:r>
              <a:rPr sz="1800" i="0">
                <a:solidFill>
                  <a:srgbClr val="7DCEA0"/>
                </a:solidFill>
                <a:latin typeface="Consolas"/>
              </a:rPr>
              <a:t>  FN=</a:t>
            </a:r>
            <a:r>
              <a:rPr sz="1800" i="0">
                <a:solidFill>
                  <a:srgbClr val="7DCEA0"/>
                </a:solidFill>
                <a:latin typeface="Consolas"/>
              </a:rPr>
              <a:t>{</a:t>
            </a:r>
            <a:r>
              <a:rPr sz="1800" i="0">
                <a:solidFill>
                  <a:srgbClr val="E8EDF2"/>
                </a:solidFill>
                <a:latin typeface="Consolas"/>
              </a:rPr>
              <a:t>fn</a:t>
            </a:r>
            <a:r>
              <a:rPr sz="1800" i="0">
                <a:solidFill>
                  <a:srgbClr val="7DCEA0"/>
                </a:solidFill>
                <a:latin typeface="Consolas"/>
              </a:rPr>
              <a:t>}</a:t>
            </a:r>
            <a:r>
              <a:rPr sz="1800" i="0">
                <a:solidFill>
                  <a:srgbClr val="7DCEA0"/>
                </a:solidFill>
                <a:latin typeface="Consolas"/>
              </a:rPr>
              <a:t>  TN=</a:t>
            </a:r>
            <a:r>
              <a:rPr sz="1800" i="0">
                <a:solidFill>
                  <a:srgbClr val="7DCEA0"/>
                </a:solidFill>
                <a:latin typeface="Consolas"/>
              </a:rPr>
              <a:t>{</a:t>
            </a:r>
            <a:r>
              <a:rPr sz="1800" i="0">
                <a:solidFill>
                  <a:srgbClr val="E8EDF2"/>
                </a:solidFill>
                <a:latin typeface="Consolas"/>
              </a:rPr>
              <a:t>tn</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E8EDF2"/>
                </a:solidFill>
                <a:latin typeface="Consolas"/>
              </a:rPr>
              <a:t>classification_report</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pred</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digits</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6012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Honestly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91     </a:t>
            </a:r>
            <a:fld id="{F2924064-01DF-47F1-A7C2-A0BFBA173479}"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Threshold-free comparison; prefer PR-AUC when positives are rare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380743"/>
          </a:xfrm>
          <a:prstGeom prst="roundRect">
            <a:avLst>
              <a:gd name="adj" fmla="val 662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2. threshold-free comparison; prefer PR-AUC when positives are rare print(&quot;ROC-AUC:&quot;, roc_auc_score(y_te, proba)) print(&quot;PR-AUC :&quot;, average_precision_score(y_te, proba)) # &lt;- the honest one"/>
          <p:cNvSpPr txBox="1"/>
          <p:nvPr/>
        </p:nvSpPr>
        <p:spPr>
          <a:xfrm>
            <a:off x="1362456" y="2523744"/>
            <a:ext cx="9987991" cy="88696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--- 2. threshold-free comparison; prefer PR-AUC when positives are rare</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ROC-AUC:</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roc_auc_score</a:t>
            </a:r>
            <a:r>
              <a:rPr sz="1700" i="0">
                <a:solidFill>
                  <a:srgbClr val="AEB6BF"/>
                </a:solidFill>
                <a:latin typeface="Consolas"/>
              </a:rPr>
              <a:t>(</a:t>
            </a:r>
            <a:r>
              <a:rPr sz="1700" i="0">
                <a:solidFill>
                  <a:srgbClr val="E8EDF2"/>
                </a:solidFill>
                <a:latin typeface="Consolas"/>
              </a:rPr>
              <a:t>y_te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proba</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PR-AUC :</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average_precision_score</a:t>
            </a:r>
            <a:r>
              <a:rPr sz="1700" i="0">
                <a:solidFill>
                  <a:srgbClr val="AEB6BF"/>
                </a:solidFill>
                <a:latin typeface="Consolas"/>
              </a:rPr>
              <a:t>(</a:t>
            </a:r>
            <a:r>
              <a:rPr sz="1700" i="0">
                <a:solidFill>
                  <a:srgbClr val="E8EDF2"/>
                </a:solidFill>
                <a:latin typeface="Consolas"/>
              </a:rPr>
              <a:t>y_te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proba</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&lt;- the honest one</a:t>
            </a:r>
          </a:p>
        </p:txBody>
      </p:sp>
      <p:sp>
        <p:nvSpPr>
          <p:cNvPr id="15" name="!!code-num"/>
          <p:cNvSpPr txBox="1"/>
          <p:nvPr/>
        </p:nvSpPr>
        <p:spPr>
          <a:xfrm>
            <a:off x="768096" y="2523744"/>
            <a:ext cx="393192" cy="88696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14</a:t>
            </a:r>
          </a:p>
          <a:p>
            <a:pPr algn="r">
              <a:lnSpc>
                <a:spcPct val="100000"/>
              </a:lnSpc>
            </a:pPr>
            <a:r>
              <a:rPr sz="1700">
                <a:solidFill>
                  <a:srgbClr val="4F5D6A"/>
                </a:solidFill>
                <a:latin typeface="Consolas"/>
              </a:rPr>
              <a:t>15</a:t>
            </a:r>
          </a:p>
          <a:p>
            <a:pPr algn="r">
              <a:lnSpc>
                <a:spcPct val="100000"/>
              </a:lnSpc>
            </a:pPr>
            <a:r>
              <a:rPr sz="17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1952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Honestly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91     </a:t>
            </a:r>
            <a:fld id="{64DBF0BB-139A-4186-B952-4452F349769B}"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Choose the threshold from COSTS, not from 0.5</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4"/>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3. choose the threshold from COSTS, not from 0.5 ------------------ COST_FP, COST_FN = 15, 4000 best_t, best_cost = 0.5, float(&quot;inf&quot;) for t in np.linspace(0.01, 0.95, 95): p = (proba &gt; t).astype(int) _, fp_, fn_, _ = confusion_matrix(y_te, p).ravel() cost = COST_FP*fp_ + COST_FN*fn_ if cost &lt; best_cost: best_t, best_cost = t, cost print(f&quot;cost-optimal threshold {best_t:.2f} (cost ${best_cost:,.0f})&quot;)"/>
          <p:cNvSpPr txBox="1"/>
          <p:nvPr/>
        </p:nvSpPr>
        <p:spPr>
          <a:xfrm>
            <a:off x="1362456" y="2523744"/>
            <a:ext cx="9987991" cy="28529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choose the threshold from COSTS, not from 0.5 ------------------</a:t>
            </a:r>
          </a:p>
          <a:p>
            <a:pPr>
              <a:lnSpc>
                <a:spcPct val="100000"/>
              </a:lnSpc>
              <a:spcAft>
                <a:spcPts val="0"/>
              </a:spcAft>
            </a:pPr>
            <a:r>
              <a:rPr sz="1800" i="0">
                <a:solidFill>
                  <a:srgbClr val="E8EDF2"/>
                </a:solidFill>
                <a:latin typeface="Consolas"/>
              </a:rPr>
              <a:t>COST_FP</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COST_FN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4000</a:t>
            </a:r>
          </a:p>
          <a:p>
            <a:pPr>
              <a:lnSpc>
                <a:spcPct val="100000"/>
              </a:lnSpc>
              <a:spcAft>
                <a:spcPts val="0"/>
              </a:spcAft>
            </a:pPr>
            <a:r>
              <a:rPr sz="1800" i="0">
                <a:solidFill>
                  <a:srgbClr val="E8EDF2"/>
                </a:solidFill>
                <a:latin typeface="Consolas"/>
              </a:rPr>
              <a:t>best_t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best_cost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float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inf</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linspace</a:t>
            </a:r>
            <a:r>
              <a:rPr sz="1800" i="0">
                <a:solidFill>
                  <a:srgbClr val="AEB6BF"/>
                </a:solidFill>
                <a:latin typeface="Consolas"/>
              </a:rPr>
              <a:t>(</a:t>
            </a:r>
            <a:r>
              <a:rPr sz="1800" i="0">
                <a:solidFill>
                  <a:srgbClr val="F7DC6F"/>
                </a:solidFill>
                <a:latin typeface="Consolas"/>
              </a:rPr>
              <a:t>0.01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0.95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95</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proba</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E8EDF2"/>
                </a:solidFill>
                <a:latin typeface="Consolas"/>
              </a:rPr>
              <a:t>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astype</a:t>
            </a:r>
            <a:r>
              <a:rPr sz="1800" i="0">
                <a:solidFill>
                  <a:srgbClr val="AEB6BF"/>
                </a:solidFill>
                <a:latin typeface="Consolas"/>
              </a:rPr>
              <a:t>(</a:t>
            </a:r>
            <a:r>
              <a:rPr sz="1800" i="0">
                <a:solidFill>
                  <a:srgbClr val="C39BD3"/>
                </a:solidFill>
                <a:latin typeface="Consolas"/>
              </a:rPr>
              <a:t>int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_</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fp_</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fn_</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_</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confusion_matrix</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ravel</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cost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COST_FP</a:t>
            </a:r>
            <a:r>
              <a:rPr sz="1800" i="0">
                <a:solidFill>
                  <a:srgbClr val="AEB6BF"/>
                </a:solidFill>
                <a:latin typeface="Consolas"/>
              </a:rPr>
              <a:t>*</a:t>
            </a:r>
            <a:r>
              <a:rPr sz="1800" i="0">
                <a:solidFill>
                  <a:srgbClr val="E8EDF2"/>
                </a:solidFill>
                <a:latin typeface="Consolas"/>
              </a:rPr>
              <a:t>fp_</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COST_FN</a:t>
            </a:r>
            <a:r>
              <a:rPr sz="1800" i="0">
                <a:solidFill>
                  <a:srgbClr val="AEB6BF"/>
                </a:solidFill>
                <a:latin typeface="Consolas"/>
              </a:rPr>
              <a:t>*</a:t>
            </a:r>
            <a:r>
              <a:rPr sz="1800" i="0">
                <a:solidFill>
                  <a:srgbClr val="E8EDF2"/>
                </a:solidFill>
                <a:latin typeface="Consolas"/>
              </a:rPr>
              <a:t>fn_</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cost</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best_cost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best_t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best_cost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cost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cost-optimal threshold </a:t>
            </a:r>
            <a:r>
              <a:rPr sz="1800" i="0">
                <a:solidFill>
                  <a:srgbClr val="7DCEA0"/>
                </a:solidFill>
                <a:latin typeface="Consolas"/>
              </a:rPr>
              <a:t>{</a:t>
            </a:r>
            <a:r>
              <a:rPr sz="1800" i="0">
                <a:solidFill>
                  <a:srgbClr val="E8EDF2"/>
                </a:solidFill>
                <a:latin typeface="Consolas"/>
              </a:rPr>
              <a:t>best_t</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 (cost $</a:t>
            </a:r>
            <a:r>
              <a:rPr sz="1800" i="0">
                <a:solidFill>
                  <a:srgbClr val="7DCEA0"/>
                </a:solidFill>
                <a:latin typeface="Consolas"/>
              </a:rPr>
              <a:t>{</a:t>
            </a:r>
            <a:r>
              <a:rPr sz="1800" i="0">
                <a:solidFill>
                  <a:srgbClr val="E8EDF2"/>
                </a:solidFill>
                <a:latin typeface="Consolas"/>
              </a:rPr>
              <a:t>best_cost</a:t>
            </a:r>
            <a:r>
              <a:rPr sz="1800" i="0">
                <a:solidFill>
                  <a:srgbClr val="7DCEA0"/>
                </a:solidFill>
                <a:latin typeface="Consolas"/>
              </a:rPr>
              <a:t>:</a:t>
            </a:r>
            <a:r>
              <a:rPr sz="1800" i="0">
                <a:solidFill>
                  <a:srgbClr val="7DCEA0"/>
                </a:solidFill>
                <a:latin typeface="Consolas"/>
              </a:rPr>
              <a:t>,.0f</a:t>
            </a:r>
            <a:r>
              <a:rPr sz="1800" i="0">
                <a:solidFill>
                  <a:srgbClr val="7DCEA0"/>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8529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7892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Honestly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91     </a:t>
            </a:r>
            <a:fld id="{0DCAE76F-E734-4A1D-91CD-A9A74FFE132F}"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Cross-validate, stratified, whole pipeline inside the folds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639824"/>
          </a:xfrm>
          <a:prstGeom prst="roundRect">
            <a:avLst>
              <a:gd name="adj" fmla="val 55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4. cross-validate, stratified, whole pipeline inside the folds ---- cv = StratifiedKFold(5, shuffle=True, random_state=0) s = cross_val_score(pipeline, X_tr, y_tr, cv=cv, scoring=&quot;average_precision&quot;) print(f&quot;CV PR-AUC {s.mean():.3f} +/- {s.std():.3f}&quot;)"/>
          <p:cNvSpPr txBox="1"/>
          <p:nvPr/>
        </p:nvSpPr>
        <p:spPr>
          <a:xfrm>
            <a:off x="1362456" y="2523744"/>
            <a:ext cx="9987991" cy="1146047"/>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--- 4. cross-validate, stratified, whole pipeline inside the folds ----</a:t>
            </a:r>
          </a:p>
          <a:p>
            <a:pPr>
              <a:lnSpc>
                <a:spcPct val="100000"/>
              </a:lnSpc>
              <a:spcAft>
                <a:spcPts val="0"/>
              </a:spcAft>
            </a:pPr>
            <a:r>
              <a:rPr sz="1700" i="0">
                <a:solidFill>
                  <a:srgbClr val="E8EDF2"/>
                </a:solidFill>
                <a:latin typeface="Consolas"/>
              </a:rPr>
              <a:t>cv</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StratifiedKFold</a:t>
            </a:r>
            <a:r>
              <a:rPr sz="1700" i="0">
                <a:solidFill>
                  <a:srgbClr val="AEB6BF"/>
                </a:solidFill>
                <a:latin typeface="Consolas"/>
              </a:rPr>
              <a:t>(</a:t>
            </a:r>
            <a:r>
              <a:rPr sz="1700" i="0">
                <a:solidFill>
                  <a:srgbClr val="F7DC6F"/>
                </a:solidFill>
                <a:latin typeface="Consolas"/>
              </a:rPr>
              <a:t>5</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shuffle</a:t>
            </a:r>
            <a:r>
              <a:rPr sz="1700" i="0">
                <a:solidFill>
                  <a:srgbClr val="AEB6BF"/>
                </a:solidFill>
                <a:latin typeface="Consolas"/>
              </a:rPr>
              <a:t>=</a:t>
            </a:r>
            <a:r>
              <a:rPr sz="1700" i="0">
                <a:solidFill>
                  <a:srgbClr val="5DADE2"/>
                </a:solidFill>
                <a:latin typeface="Consolas"/>
              </a:rPr>
              <a:t>True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random_state</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p>
          <a:p>
            <a:pPr>
              <a:lnSpc>
                <a:spcPct val="100000"/>
              </a:lnSpc>
              <a:spcAft>
                <a:spcPts val="0"/>
              </a:spcAft>
            </a:pPr>
            <a:r>
              <a:rPr sz="1700" i="0">
                <a:solidFill>
                  <a:srgbClr val="E8EDF2"/>
                </a:solidFill>
                <a:latin typeface="Consolas"/>
              </a:rPr>
              <a:t>s</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cross_val_score</a:t>
            </a:r>
            <a:r>
              <a:rPr sz="1700" i="0">
                <a:solidFill>
                  <a:srgbClr val="AEB6BF"/>
                </a:solidFill>
                <a:latin typeface="Consolas"/>
              </a:rPr>
              <a:t>(</a:t>
            </a:r>
            <a:r>
              <a:rPr sz="1700" i="0">
                <a:solidFill>
                  <a:srgbClr val="E8EDF2"/>
                </a:solidFill>
                <a:latin typeface="Consolas"/>
              </a:rPr>
              <a:t>pipeline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cv</a:t>
            </a:r>
            <a:r>
              <a:rPr sz="1700" i="0">
                <a:solidFill>
                  <a:srgbClr val="AEB6BF"/>
                </a:solidFill>
                <a:latin typeface="Consolas"/>
              </a:rPr>
              <a:t>=</a:t>
            </a:r>
            <a:r>
              <a:rPr sz="1700" i="0">
                <a:solidFill>
                  <a:srgbClr val="E8EDF2"/>
                </a:solidFill>
                <a:latin typeface="Consolas"/>
              </a:rPr>
              <a:t>cv</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scoring</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average_precision</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CV PR-AUC </a:t>
            </a:r>
            <a:r>
              <a:rPr sz="1700" i="0">
                <a:solidFill>
                  <a:srgbClr val="7DCEA0"/>
                </a:solidFill>
                <a:latin typeface="Consolas"/>
              </a:rPr>
              <a:t>{</a:t>
            </a:r>
            <a:r>
              <a:rPr sz="1700" i="0">
                <a:solidFill>
                  <a:srgbClr val="E8EDF2"/>
                </a:solidFill>
                <a:latin typeface="Consolas"/>
              </a:rPr>
              <a:t>s</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 +/- </a:t>
            </a:r>
            <a:r>
              <a:rPr sz="1700" i="0">
                <a:solidFill>
                  <a:srgbClr val="7DCEA0"/>
                </a:solidFill>
                <a:latin typeface="Consolas"/>
              </a:rPr>
              <a:t>{</a:t>
            </a:r>
            <a:r>
              <a:rPr sz="1700" i="0">
                <a:solidFill>
                  <a:srgbClr val="E8EDF2"/>
                </a:solidFill>
                <a:latin typeface="Consolas"/>
              </a:rPr>
              <a:t>s</a:t>
            </a:r>
            <a:r>
              <a:rPr sz="1700" i="0">
                <a:solidFill>
                  <a:srgbClr val="AEB6BF"/>
                </a:solidFill>
                <a:latin typeface="Consolas"/>
              </a:rPr>
              <a:t>.</a:t>
            </a:r>
            <a:r>
              <a:rPr sz="1700" i="0">
                <a:solidFill>
                  <a:srgbClr val="E8EDF2"/>
                </a:solidFill>
                <a:latin typeface="Consolas"/>
              </a:rPr>
              <a:t>std</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p:txBody>
      </p:sp>
      <p:sp>
        <p:nvSpPr>
          <p:cNvPr id="15" name="!!code-num"/>
          <p:cNvSpPr txBox="1"/>
          <p:nvPr/>
        </p:nvSpPr>
        <p:spPr>
          <a:xfrm>
            <a:off x="768096" y="2523744"/>
            <a:ext cx="393192" cy="1146047"/>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27</a:t>
            </a:r>
          </a:p>
          <a:p>
            <a:pPr algn="r">
              <a:lnSpc>
                <a:spcPct val="100000"/>
              </a:lnSpc>
            </a:pPr>
            <a:r>
              <a:rPr sz="1700">
                <a:solidFill>
                  <a:srgbClr val="4F5D6A"/>
                </a:solidFill>
                <a:latin typeface="Consolas"/>
              </a:rPr>
              <a:t>28</a:t>
            </a:r>
          </a:p>
          <a:p>
            <a:pPr algn="r">
              <a:lnSpc>
                <a:spcPct val="100000"/>
              </a:lnSpc>
            </a:pPr>
            <a:r>
              <a:rPr sz="1700">
                <a:solidFill>
                  <a:srgbClr val="4F5D6A"/>
                </a:solidFill>
                <a:latin typeface="Consolas"/>
              </a:rPr>
              <a:t>29</a:t>
            </a:r>
          </a:p>
          <a:p>
            <a:pPr algn="r">
              <a:lnSpc>
                <a:spcPct val="100000"/>
              </a:lnSpc>
            </a:pPr>
            <a:r>
              <a:rPr sz="1700">
                <a:solidFill>
                  <a:srgbClr val="4F5D6A"/>
                </a:solidFill>
                <a:latin typeface="Consolas"/>
              </a:rPr>
              <a:t>30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33831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dataset is 97% negative. A model scores 96.5% accuracy. Is it any good?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14  ·  Model Evaluation and Selection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94  ·  answers in Appendix D     </a:t>
            </a:r>
            <a:fld id="{76691341-A92A-4D40-86E2-DC54EE1BC2AD}"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A dataset is 97% negative. A model scores 96.5% accuracy. Is it any good?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 it is worse than useless. Predicting the majority class always would score 97%. The model is 0.5 points </a:t>
            </a:r>
            <a:r>
              <a:rPr sz="2200" b="0" i="1">
                <a:solidFill>
                  <a:srgbClr val="1C252B"/>
                </a:solidFill>
                <a:latin typeface="Segoe UI"/>
              </a:rPr>
              <a:t>below</a:t>
            </a:r>
            <a:r>
              <a:rPr sz="2200" b="0" i="0">
                <a:solidFill>
                  <a:srgbClr val="1C252B"/>
                </a:solidFill>
                <a:latin typeface="Segoe UI"/>
              </a:rPr>
              <a:t> doing nothing.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  answers in Appendix D     </a:t>
            </a:r>
            <a:fld id="{9FC0D23D-9360-49E6-BE02-ABBE23832027}"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571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Of 500 flagged transactions, 60 were fraudulent; 20 frauds were missed. Compute precision and recall.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14  ·  Model Evaluation and Selection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94  ·  answers in Appendix D     </a:t>
            </a:r>
            <a:fld id="{B629E008-AA83-44E5-8E0E-B3CB6C2877E9}"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Of 500 flagged transactions, 60 were fraudulent; 20 frauds were missed. Compute precision and recall.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Precision </a:t>
            </a:r>
            <a:r>
              <a:rPr sz="2200" b="0" i="0">
                <a:solidFill>
                  <a:srgbClr val="1C252B"/>
                </a:solidFill>
                <a:latin typeface="Cambria"/>
              </a:rPr>
              <a:t>= 60/500 = 12%</a:t>
            </a:r>
            <a:r>
              <a:rPr sz="2200" b="0" i="0">
                <a:solidFill>
                  <a:srgbClr val="1C252B"/>
                </a:solidFill>
                <a:latin typeface="Segoe UI"/>
              </a:rPr>
              <a:t>. Recall </a:t>
            </a:r>
            <a:r>
              <a:rPr sz="2200" b="0" i="0">
                <a:solidFill>
                  <a:srgbClr val="1C252B"/>
                </a:solidFill>
                <a:latin typeface="Cambria"/>
              </a:rPr>
              <a:t>= 60/(60+20) = 60/80 = 75%</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  answers in Appendix D     </a:t>
            </a:r>
            <a:fld id="{BDCEBAE8-9D3B-44E8-A013-47A675FEE65E}"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7591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are told “AUC is 0.94” for a detector where 0.2% of events are attacks. What do you ask for instead, and why?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14  ·  Model Evaluation and Selection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94  ·  answers in Appendix D     </a:t>
            </a:r>
            <a:fld id="{39454A3E-AEEB-4E20-8204-CC3244CC443B}"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 are told “AUC is 0.94” for a detector where 0.2% of events are attacks. What do you ask for instead, and why?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Ask for the precision–recall curve and for precision at a stated recall. With 0.2% positives, ROC-AUC is dominated by the enormous negative class and can look excellent while the alerts are mostly wrong.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  answers in Appendix D     </a:t>
            </a:r>
            <a:fld id="{3B053AAA-5AAB-4D1D-A495-C973626B769D}"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9470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93216456-567D-4652-A097-9696357A68F0}" type="slidenum">
              <a:rPr lang="en-GB" sz="1000">
                <a:solidFill>
                  <a:srgbClr val="8795A1"/>
                </a:solidFill>
                <a:latin typeface="Segoe UI"/>
              </a:rPr>
              <a:t>43</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Every classification metric is a ratio of the four confusion-matrix cells.</a:t>
            </a:r>
          </a:p>
        </p:txBody>
      </p:sp>
      <p:sp>
        <p:nvSpPr>
          <p:cNvPr id="10" name="!!sb1">
            <a:extLst>
              <a:ext uri="{C183D7F6-B498-43B3-948B-1728B52AA6E4}">
                <adec:decorative xmlns:adec="http://schemas.microsoft.com/office/drawing/2017/decorative" val="1"/>
              </a:ext>
            </a:extLst>
          </p:cNvPr>
          <p:cNvSpPr/>
          <p:nvPr/>
        </p:nvSpPr>
        <p:spPr>
          <a:xfrm>
            <a:off x="658368" y="233172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38658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322576"/>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Accuracy is dominated by the majority class; under imbalance it is actively misleading. Always compute the majority baseline first.</a:t>
            </a:r>
          </a:p>
        </p:txBody>
      </p:sp>
      <p:sp>
        <p:nvSpPr>
          <p:cNvPr id="13" name="!!sb2">
            <a:extLst>
              <a:ext uri="{C183D7F6-B498-43B3-948B-1728B52AA6E4}">
                <adec:decorative xmlns:adec="http://schemas.microsoft.com/office/drawing/2017/decorative" val="1"/>
              </a:ext>
            </a:extLst>
          </p:cNvPr>
          <p:cNvSpPr/>
          <p:nvPr/>
        </p:nvSpPr>
        <p:spPr>
          <a:xfrm>
            <a:off x="658368" y="314858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0344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3944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Precision answers “when I alarm, am I right?”; recall answers “of the real cases, how many did I catch?” They trade off against each other.</a:t>
            </a:r>
          </a:p>
        </p:txBody>
      </p:sp>
      <p:sp>
        <p:nvSpPr>
          <p:cNvPr id="16" name="!!sb3">
            <a:extLst>
              <a:ext uri="{C183D7F6-B498-43B3-948B-1728B52AA6E4}">
                <adec:decorative xmlns:adec="http://schemas.microsoft.com/office/drawing/2017/decorative" val="1"/>
              </a:ext>
            </a:extLst>
          </p:cNvPr>
          <p:cNvSpPr/>
          <p:nvPr/>
        </p:nvSpPr>
        <p:spPr>
          <a:xfrm>
            <a:off x="658368" y="396544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2031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56304"/>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ROC-AUC is threshold-free but flatters rare-event detectors; prefer PR-AUC when positives are rare.</a:t>
            </a:r>
          </a:p>
        </p:txBody>
      </p:sp>
      <p:sp>
        <p:nvSpPr>
          <p:cNvPr id="19" name="!!sb4">
            <a:extLst>
              <a:ext uri="{C183D7F6-B498-43B3-948B-1728B52AA6E4}">
                <adec:decorative xmlns:adec="http://schemas.microsoft.com/office/drawing/2017/decorative" val="1"/>
              </a:ext>
            </a:extLst>
          </p:cNvPr>
          <p:cNvSpPr/>
          <p:nvPr/>
        </p:nvSpPr>
        <p:spPr>
          <a:xfrm>
            <a:off x="658368" y="47823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371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7316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0.5 threshold is a default. Choose it by minimising expected cost, or by maximising recall subject to a capacity constraint.</a:t>
            </a:r>
          </a:p>
        </p:txBody>
      </p:sp>
      <p:sp>
        <p:nvSpPr>
          <p:cNvPr id="22" name="!!sb5">
            <a:extLst>
              <a:ext uri="{C183D7F6-B498-43B3-948B-1728B52AA6E4}">
                <adec:decorative xmlns:adec="http://schemas.microsoft.com/office/drawing/2017/decorative" val="1"/>
              </a:ext>
            </a:extLst>
          </p:cNvPr>
          <p:cNvSpPr/>
          <p:nvPr/>
        </p:nvSpPr>
        <p:spPr>
          <a:xfrm>
            <a:off x="658368" y="559917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5404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9003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Cross-validate with stratification, group by entity, respect time order, and refit the entire pipeline inside each fold.</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15410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7432F045-D8A4-46A2-A7D5-EF0FF82B73B0}"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Precision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TP/(TP+FN)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TP/(TP+FP)</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(TP+TN)/all</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TN/(TN+FP)</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135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BB179E98-E1E2-4C97-8EC0-41B4F49ABBA8}"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When positives make up 0.5% of the data, the most informative curve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ROC</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precision–recall</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learning curve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residual plot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7289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14  ·  Model Evaluation and Selection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79583B72-5466-43E2-A74A-4263E53BC687}" type="slidenum">
              <a:rPr lang="en-GB" sz="1000">
                <a:solidFill>
                  <a:srgbClr val="8795A1"/>
                </a:solidFill>
                <a:latin typeface="Segoe UI"/>
              </a:rPr>
              <a:t>46</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accuracy paradox with a numeric example.</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must feature scaling be refitted inside every cross-validation fold?</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a scenario where you would deliberately accept a precision of 0.2, and justify it.</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model tested on 20,000 records with 400 positives flags 900 records, 300 of which are true positives. Build the full confusion matrix and compute accuracy, precision, recall, specificity and </a:t>
            </a:r>
            <a:r>
              <a:rPr sz="1900" b="0" i="1">
                <a:solidFill>
                  <a:srgbClr val="1C252B"/>
                </a:solidFill>
                <a:latin typeface="Cambria"/>
              </a:rPr>
              <a:t>F</a:t>
            </a:r>
            <a:r>
              <a:rPr sz="1900" b="0" i="0" baseline="-25000">
                <a:solidFill>
                  <a:srgbClr val="1C252B"/>
                </a:solidFill>
                <a:latin typeface="Cambria"/>
              </a:rPr>
              <a:t>1</a:t>
            </a:r>
            <a:r>
              <a:rPr sz="1900" b="0" i="0">
                <a:solidFill>
                  <a:srgbClr val="1C252B"/>
                </a:solidFill>
                <a:latin typeface="Segoe UI"/>
              </a:rPr>
              <a:t>. Then state which two numbers you would put in an executive summary and why.</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same model, a false positive costs $8 and a false negative costs $1,200. Explain how you would find the optimal threshold, and predict whether it will be above or below 0.5, with reasoning.</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3229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14</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14</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15 — Feature Engineering and Ensembles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14, pages 88–94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Five classifiers; evaluate honestly</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14  ·  Model Evaluation and Selection</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8373F05C-4F26-4A5E-A1AF-A67D22A00F52}" type="slidenum">
              <a:rPr lang="en-GB" sz="1000">
                <a:solidFill>
                  <a:srgbClr val="D5DEE5"/>
                </a:solidFill>
                <a:latin typeface="Segoe UI"/>
              </a:rPr>
              <a:t>47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Model Evaluation and Selection</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