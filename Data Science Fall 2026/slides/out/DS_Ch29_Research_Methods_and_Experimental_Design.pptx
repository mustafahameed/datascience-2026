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5.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7.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58.svg" ContentType="image/svg+xml"/>
  <Override PartName="/ppt/media/image59.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64.svg" ContentType="image/svg+xml"/>
  <Override PartName="/ppt/media/image65.svg" ContentType="image/svg+xml"/>
  <Override PartName="/ppt/media/image66.svg" ContentType="image/svg+xml"/>
  <Override PartName="/ppt/media/image67.svg" ContentType="image/svg+xml"/>
  <Override PartName="/ppt/media/image68.svg" ContentType="image/svg+xml"/>
  <Override PartName="/ppt/media/image70.svg" ContentType="image/svg+xml"/>
  <Override PartName="/ppt/media/image72.svg" ContentType="image/svg+xml"/>
  <Override PartName="/ppt/media/image73.svg" ContentType="image/svg+xml"/>
  <Override PartName="/ppt/media/image74.svg" ContentType="image/svg+xml"/>
  <Override PartName="/ppt/media/image75.svg" ContentType="image/svg+xml"/>
  <Override PartName="/ppt/media/image76.svg" ContentType="image/svg+xml"/>
  <Override PartName="/ppt/media/image78.svg" ContentType="image/svg+xml"/>
  <Override PartName="/ppt/media/image8.svg" ContentType="image/svg+xml"/>
  <Override PartName="/ppt/media/image80.svg" ContentType="image/svg+xml"/>
  <Override PartName="/ppt/media/image81.svg" ContentType="image/svg+xml"/>
  <Override PartName="/ppt/media/image8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859456C-5C63-49DB-B447-5155770B0987}">
          <p14:sldIdLst>
            <p14:sldId id="256"/>
            <p14:sldId id="257"/>
            <p14:sldId id="258"/>
            <p14:sldId id="259"/>
            <p14:sldId id="260"/>
          </p14:sldIdLst>
        </p14:section>
        <p14:section name="29.1 From Topic to Question" id="{25871BB1-ACDB-49CB-8DA7-7E28A758819C}">
          <p14:sldIdLst>
            <p14:sldId id="261"/>
            <p14:sldId id="262"/>
            <p14:sldId id="263"/>
            <p14:sldId id="264"/>
            <p14:sldId id="265"/>
          </p14:sldIdLst>
        </p14:section>
        <p14:section name="29.2 Choosing a Design" id="{F24E891A-E646-4531-8036-666673CCAF87}">
          <p14:sldIdLst>
            <p14:sldId id="266"/>
          </p14:sldIdLst>
        </p14:section>
        <p14:section name="29.3 Validity and Reliability" id="{1FDD911A-5B43-4443-B15F-D7E75944B717}">
          <p14:sldIdLst>
            <p14:sldId id="267"/>
            <p14:sldId id="268"/>
            <p14:sldId id="269"/>
          </p14:sldIdLst>
        </p14:section>
        <p14:section name="29.4 Reproducibility" id="{882E44D5-E045-4F19-8B82-69E3AAC47BE0}">
          <p14:sldIdLst>
            <p14:sldId id="270"/>
            <p14:sldId id="271"/>
            <p14:sldId id="272"/>
          </p14:sldIdLst>
        </p14:section>
        <p14:section name="29.5 Structuring the Write-Up" id="{CEE478E3-C752-4568-9A18-C34CBD91AE5F}">
          <p14:sldIdLst>
            <p14:sldId id="273"/>
            <p14:sldId id="274"/>
            <p14:sldId id="275"/>
          </p14:sldIdLst>
        </p14:section>
        <p14:section name="Four lenses" id="{838CAD95-C974-4F0C-8D9F-7CA2E57FA498}">
          <p14:sldIdLst>
            <p14:sldId id="276"/>
            <p14:sldId id="277"/>
            <p14:sldId id="278"/>
            <p14:sldId id="279"/>
            <p14:sldId id="280"/>
          </p14:sldIdLst>
        </p14:section>
        <p14:section name="Lab" id="{6EA827E8-6DA7-4CC1-A350-348D6A9AE95B}">
          <p14:sldIdLst>
            <p14:sldId id="281"/>
            <p14:sldId id="282"/>
            <p14:sldId id="283"/>
            <p14:sldId id="284"/>
            <p14:sldId id="285"/>
          </p14:sldIdLst>
        </p14:section>
        <p14:section name="Checkpoint" id="{D21488BF-4BE5-4475-87D2-5D062CD9F925}">
          <p14:sldIdLst>
            <p14:sldId id="286"/>
            <p14:sldId id="287"/>
            <p14:sldId id="288"/>
            <p14:sldId id="289"/>
            <p14:sldId id="290"/>
            <p14:sldId id="291"/>
          </p14:sldIdLst>
        </p14:section>
        <p14:section name="Wrap-up" id="{6303104C-C357-46DD-8B3F-504FA53C805D}">
          <p14:sldIdLst>
            <p14:sldId id="292"/>
            <p14:sldId id="293"/>
            <p14:sldId id="294"/>
            <p14:sldId id="295"/>
            <p14:sldId id="29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29: Research Methods and Experimental Design. Part 6 — Professional Practice. Week 16: MLOps; ethics; practice &amp; capstone. Handout pages 190–195.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9 (hypothesis testing, power, multiple comparisons) and Chapter 10 (designs). This chapter is the framework those techniques sit in, and is what your final-year project will be assessed against.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research question; literature review; hypothesis; independent and dependent variable; operationalisation; internal / external / construct / conclusion validity; reliability; triangulation; pre-registration; reproducibility; replication.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29.1 (handout p. 191): Choosing a design from the question. The commonest error in student projects is running a correlational study and writing a causal conclusion.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29.2 (handout p. 192): Four levels of confidence in a result. Most student and industry work sits in the first column; an hour of engineering moves it to the second.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Question: does a specific intervention improve a specific outcome? Design: randomise which students are offered the intervention, then analyse by offer rather than by uptake — this keeps the comparison causal even though attendance is voluntary. Validity threat: construct validity, because “engagement” is measured by clicks. Ethical constraint: a control group denied a support service believed to work is hard to justify, so use a stepped-wedge design in which every group receives it eventually (Chapter 28).</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Question: does a practice change delivery predictability? Design: randomising methodology across projects is rarely feasible, so use difference-in-differences across teams adopting at different times (Chapter 10). Validity threat: internal validity — teams that adopt a new practice early differ systematically from those that do not. Sample-size reality: with 12 teams, no quantitative result will be conclusive, so pair it with interviews and report it as a mixed-methods case study.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The easiest domain in this book for clean experiments: devices can be randomised at essentially no cost and in large numbers, with no consent problem. Push firmware A to a random half of a 400-device fleet and you have a genuine RCT with n=400. Validity threat: external validity — results from one site’s equipment, duty cycle and environment may not transfer to another. Report the operating conditions as carefully as the results.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Question: does a detection change reduce time to detect? Design: A/B test rules on randomly split traffic; observational comparison is almost worthless here because organisations that buy more tooling also suffer more incidents (reverse causation, Chapter 10). Validity threat: conclusion validity — attacks are rare, so studies are chronically underpowered, and a non-significant result usually means the study was too small rather than that nothing happened. Special constraint: publishing method detail helps attackers, which creates a genuine tension with reproducibility that must be managed rather than ignored.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 room will have at the end of the lab, then let them start. Circulate rather than lecture.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For example: “Among mid-sized food distributors in Pakistan, does adopting a blockchain-based provenance system reduce the mean time to trace a contaminated batch, compared with the existing paper-based process?” — population, intervention, outcome, comparison and scope all stated.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Construct validity. Clicks measure activity, not learning; a student may click without engaging or engage without clicking. Strengthen it with multiple indicators — clicks, submissions, time on task and self-report — and report their agreement.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Reproducible: the same data and code give the same result. Replicable: new data and the same method give the same conclusion. The first is an engineering property; the second is what science requires.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30 — Managing Data Science Projects. READ: Handout Chapter 29, pages 190–195. THIS WEEK'S LAB: Monitored service; fairness measurement. ASSESSMENT: Capstone due.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11.xml"/><Relationship Id="rId7" Type="http://schemas.openxmlformats.org/officeDocument/2006/relationships/slide" Target="slide12.xml"/><Relationship Id="rId8" Type="http://schemas.openxmlformats.org/officeDocument/2006/relationships/slide" Target="slide15.xml"/><Relationship Id="rId9" Type="http://schemas.openxmlformats.org/officeDocument/2006/relationships/slide" Target="slide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5.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6.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24.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image" Target="../media/image26.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7.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8.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0.svg"/><Relationship Id="rId4" Type="http://schemas.openxmlformats.org/officeDocument/2006/relationships/image" Target="../media/image31.png"/><Relationship Id="rId5" Type="http://schemas.openxmlformats.org/officeDocument/2006/relationships/image" Target="../media/image32.svg"/><Relationship Id="rId6" Type="http://schemas.openxmlformats.org/officeDocument/2006/relationships/image" Target="../media/image33.png"/><Relationship Id="rId7" Type="http://schemas.openxmlformats.org/officeDocument/2006/relationships/image" Target="../media/image34.svg"/><Relationship Id="rId8" Type="http://schemas.openxmlformats.org/officeDocument/2006/relationships/image" Target="../media/image35.png"/><Relationship Id="rId9" Type="http://schemas.openxmlformats.org/officeDocument/2006/relationships/image" Target="../media/image36.svg"/><Relationship Id="rId10" Type="http://schemas.openxmlformats.org/officeDocument/2006/relationships/image" Target="../media/image37.png"/><Relationship Id="rId11" Type="http://schemas.openxmlformats.org/officeDocument/2006/relationships/image" Target="../media/image38.svg"/><Relationship Id="rId1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0.svg"/><Relationship Id="rId4" Type="http://schemas.openxmlformats.org/officeDocument/2006/relationships/image" Target="../media/image31.png"/><Relationship Id="rId5" Type="http://schemas.openxmlformats.org/officeDocument/2006/relationships/image" Target="../media/image41.svg"/><Relationship Id="rId6" Type="http://schemas.openxmlformats.org/officeDocument/2006/relationships/image" Target="../media/image33.png"/><Relationship Id="rId7" Type="http://schemas.openxmlformats.org/officeDocument/2006/relationships/image" Target="../media/image42.svg"/><Relationship Id="rId8" Type="http://schemas.openxmlformats.org/officeDocument/2006/relationships/image" Target="../media/image35.png"/><Relationship Id="rId9" Type="http://schemas.openxmlformats.org/officeDocument/2006/relationships/image" Target="../media/image43.svg"/><Relationship Id="rId10" Type="http://schemas.openxmlformats.org/officeDocument/2006/relationships/image" Target="../media/image37.png"/><Relationship Id="rId11" Type="http://schemas.openxmlformats.org/officeDocument/2006/relationships/image" Target="../media/image44.svg"/><Relationship Id="rId1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46.svg"/><Relationship Id="rId4" Type="http://schemas.openxmlformats.org/officeDocument/2006/relationships/image" Target="../media/image33.png"/><Relationship Id="rId5" Type="http://schemas.openxmlformats.org/officeDocument/2006/relationships/image" Target="../media/image47.svg"/><Relationship Id="rId6" Type="http://schemas.openxmlformats.org/officeDocument/2006/relationships/image" Target="../media/image31.png"/><Relationship Id="rId7" Type="http://schemas.openxmlformats.org/officeDocument/2006/relationships/image" Target="../media/image48.svg"/><Relationship Id="rId8" Type="http://schemas.openxmlformats.org/officeDocument/2006/relationships/image" Target="../media/image35.png"/><Relationship Id="rId9" Type="http://schemas.openxmlformats.org/officeDocument/2006/relationships/image" Target="../media/image49.svg"/><Relationship Id="rId10" Type="http://schemas.openxmlformats.org/officeDocument/2006/relationships/image" Target="../media/image37.png"/><Relationship Id="rId11" Type="http://schemas.openxmlformats.org/officeDocument/2006/relationships/image" Target="../media/image50.svg"/><Relationship Id="rId1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2.svg"/><Relationship Id="rId4" Type="http://schemas.openxmlformats.org/officeDocument/2006/relationships/image" Target="../media/image35.png"/><Relationship Id="rId5" Type="http://schemas.openxmlformats.org/officeDocument/2006/relationships/image" Target="../media/image53.svg"/><Relationship Id="rId6" Type="http://schemas.openxmlformats.org/officeDocument/2006/relationships/image" Target="../media/image31.png"/><Relationship Id="rId7" Type="http://schemas.openxmlformats.org/officeDocument/2006/relationships/image" Target="../media/image54.svg"/><Relationship Id="rId8" Type="http://schemas.openxmlformats.org/officeDocument/2006/relationships/image" Target="../media/image33.png"/><Relationship Id="rId9" Type="http://schemas.openxmlformats.org/officeDocument/2006/relationships/image" Target="../media/image55.svg"/><Relationship Id="rId10" Type="http://schemas.openxmlformats.org/officeDocument/2006/relationships/image" Target="../media/image37.png"/><Relationship Id="rId11" Type="http://schemas.openxmlformats.org/officeDocument/2006/relationships/image" Target="../media/image56.svg"/><Relationship Id="rId1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58.svg"/><Relationship Id="rId4" Type="http://schemas.openxmlformats.org/officeDocument/2006/relationships/image" Target="../media/image37.png"/><Relationship Id="rId5" Type="http://schemas.openxmlformats.org/officeDocument/2006/relationships/image" Target="../media/image59.svg"/><Relationship Id="rId6" Type="http://schemas.openxmlformats.org/officeDocument/2006/relationships/image" Target="../media/image31.png"/><Relationship Id="rId7" Type="http://schemas.openxmlformats.org/officeDocument/2006/relationships/image" Target="../media/image60.svg"/><Relationship Id="rId8" Type="http://schemas.openxmlformats.org/officeDocument/2006/relationships/image" Target="../media/image33.png"/><Relationship Id="rId9" Type="http://schemas.openxmlformats.org/officeDocument/2006/relationships/image" Target="../media/image61.svg"/><Relationship Id="rId10" Type="http://schemas.openxmlformats.org/officeDocument/2006/relationships/image" Target="../media/image35.png"/><Relationship Id="rId11" Type="http://schemas.openxmlformats.org/officeDocument/2006/relationships/image" Target="../media/image62.svg"/><Relationship Id="rId1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4.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5.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6.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7.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8.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0.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image" Target="../media/image72.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3.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image" Target="../media/image74.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5.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image" Target="../media/image76.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7.png"/><Relationship Id="rId3" Type="http://schemas.openxmlformats.org/officeDocument/2006/relationships/image" Target="../media/image78.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9.png"/><Relationship Id="rId3" Type="http://schemas.openxmlformats.org/officeDocument/2006/relationships/image" Target="../media/image80.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9.png"/><Relationship Id="rId3" Type="http://schemas.openxmlformats.org/officeDocument/2006/relationships/image" Target="../media/image81.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9.png"/><Relationship Id="rId3" Type="http://schemas.openxmlformats.org/officeDocument/2006/relationships/image" Target="../media/image82.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05B0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7E6B1F"/>
                </a:solidFill>
                <a:latin typeface="Segoe UI Black"/>
              </a:rPr>
              <a:t>29</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Research Methods and Experimental Design</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7D1B9"/>
                </a:solidFill>
                <a:latin typeface="Segoe UI"/>
              </a:rPr>
              <a:t>PART VI  ·  PROFESSIONAL PRACTICE</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7D1B9"/>
                </a:solidFill>
                <a:latin typeface="Segoe UI"/>
              </a:rPr>
              <a:t>CHAPTER 29  ·  WEEK 16</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E2DECD"/>
                </a:solidFill>
                <a:latin typeface="Segoe UI"/>
              </a:rPr>
              <a:t>Data Science — From Foundations to Intelligent Systems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5142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BDB7A0"/>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CECAB9"/>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BDB7A0"/>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29  ·  Research Methods and Experimental Design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190     </a:t>
            </a:r>
            <a:fld id="{A376027B-8AB8-40B9-9BF8-CB1EF23E04DF}" type="slidenum">
              <a:rPr lang="en-GB" sz="1000">
                <a:solidFill>
                  <a:srgbClr val="8795A1"/>
                </a:solidFill>
                <a:latin typeface="Segoe UI"/>
              </a:rPr>
              <a:t>2</a:t>
            </a:fld>
          </a:p>
        </p:txBody>
      </p:sp>
      <p:sp>
        <p:nvSpPr>
          <p:cNvPr id="7" name="!!rp1"/>
          <p:cNvSpPr txBox="1"/>
          <p:nvPr/>
        </p:nvSpPr>
        <p:spPr>
          <a:xfrm>
            <a:off x="777240"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740856" y="1755648"/>
            <a:ext cx="107133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740856" y="2029967"/>
            <a:ext cx="107133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141374"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141374"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104991"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104991"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068608"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068608"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750675" y="1755648"/>
            <a:ext cx="166377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705B06"/>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750675" y="2029967"/>
            <a:ext cx="1663779" cy="4572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75342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66198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03497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94353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31652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22508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59807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5066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187962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17881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216117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06973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271703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262559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299858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29071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328013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31886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356168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347024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411755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402611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439910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430766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468065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458921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496220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487076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524375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515231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5525304"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54338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6081174"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598973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6362723"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627128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6644273"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655283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692582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683438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720737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711593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7488921"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739748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8044791"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79533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23</a:t>
            </a:r>
          </a:p>
        </p:txBody>
      </p:sp>
      <p:sp>
        <p:nvSpPr>
          <p:cNvPr id="65" name="!!dot24">
            <a:extLst>
              <a:ext uri="{C183D7F6-B498-43B3-948B-1728B52AA6E4}">
                <adec:decorative xmlns:adec="http://schemas.microsoft.com/office/drawing/2017/decorative" val="1"/>
              </a:ext>
            </a:extLst>
          </p:cNvPr>
          <p:cNvSpPr/>
          <p:nvPr/>
        </p:nvSpPr>
        <p:spPr>
          <a:xfrm>
            <a:off x="8326340"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dotn24"/>
          <p:cNvSpPr txBox="1"/>
          <p:nvPr/>
        </p:nvSpPr>
        <p:spPr>
          <a:xfrm>
            <a:off x="823490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24</a:t>
            </a:r>
          </a:p>
        </p:txBody>
      </p:sp>
      <p:sp>
        <p:nvSpPr>
          <p:cNvPr id="67" name="!!dot25">
            <a:extLst>
              <a:ext uri="{C183D7F6-B498-43B3-948B-1728B52AA6E4}">
                <adec:decorative xmlns:adec="http://schemas.microsoft.com/office/drawing/2017/decorative" val="1"/>
              </a:ext>
            </a:extLst>
          </p:cNvPr>
          <p:cNvSpPr/>
          <p:nvPr/>
        </p:nvSpPr>
        <p:spPr>
          <a:xfrm>
            <a:off x="8607890"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dotn25"/>
          <p:cNvSpPr txBox="1"/>
          <p:nvPr/>
        </p:nvSpPr>
        <p:spPr>
          <a:xfrm>
            <a:off x="85164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25</a:t>
            </a:r>
          </a:p>
        </p:txBody>
      </p:sp>
      <p:sp>
        <p:nvSpPr>
          <p:cNvPr id="69" name="!!dot26">
            <a:extLst>
              <a:ext uri="{C183D7F6-B498-43B3-948B-1728B52AA6E4}">
                <adec:decorative xmlns:adec="http://schemas.microsoft.com/office/drawing/2017/decorative" val="1"/>
              </a:ext>
            </a:extLst>
          </p:cNvPr>
          <p:cNvSpPr/>
          <p:nvPr/>
        </p:nvSpPr>
        <p:spPr>
          <a:xfrm>
            <a:off x="8889439"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dotn26"/>
          <p:cNvSpPr txBox="1"/>
          <p:nvPr/>
        </p:nvSpPr>
        <p:spPr>
          <a:xfrm>
            <a:off x="879799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26</a:t>
            </a:r>
          </a:p>
        </p:txBody>
      </p:sp>
      <p:sp>
        <p:nvSpPr>
          <p:cNvPr id="71" name="!!dot27">
            <a:extLst>
              <a:ext uri="{C183D7F6-B498-43B3-948B-1728B52AA6E4}">
                <adec:decorative xmlns:adec="http://schemas.microsoft.com/office/drawing/2017/decorative" val="1"/>
              </a:ext>
            </a:extLst>
          </p:cNvPr>
          <p:cNvSpPr/>
          <p:nvPr/>
        </p:nvSpPr>
        <p:spPr>
          <a:xfrm>
            <a:off x="9170989"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dotn27"/>
          <p:cNvSpPr txBox="1"/>
          <p:nvPr/>
        </p:nvSpPr>
        <p:spPr>
          <a:xfrm>
            <a:off x="90795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27</a:t>
            </a:r>
          </a:p>
        </p:txBody>
      </p:sp>
      <p:sp>
        <p:nvSpPr>
          <p:cNvPr id="73" name="!!dot28">
            <a:extLst>
              <a:ext uri="{C183D7F6-B498-43B3-948B-1728B52AA6E4}">
                <adec:decorative xmlns:adec="http://schemas.microsoft.com/office/drawing/2017/decorative" val="1"/>
              </a:ext>
            </a:extLst>
          </p:cNvPr>
          <p:cNvSpPr/>
          <p:nvPr/>
        </p:nvSpPr>
        <p:spPr>
          <a:xfrm>
            <a:off x="9726858" y="2258568"/>
            <a:ext cx="274320" cy="274320"/>
          </a:xfrm>
          <a:prstGeom prst="ellipse">
            <a:avLst/>
          </a:prstGeom>
          <a:solidFill>
            <a:srgbClr val="C2A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dotn28"/>
          <p:cNvSpPr txBox="1"/>
          <p:nvPr/>
        </p:nvSpPr>
        <p:spPr>
          <a:xfrm>
            <a:off x="96354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28</a:t>
            </a:r>
          </a:p>
        </p:txBody>
      </p:sp>
      <p:sp>
        <p:nvSpPr>
          <p:cNvPr id="75" name="!!dot29">
            <a:extLst>
              <a:ext uri="{C183D7F6-B498-43B3-948B-1728B52AA6E4}">
                <adec:decorative xmlns:adec="http://schemas.microsoft.com/office/drawing/2017/decorative" val="1"/>
              </a:ext>
            </a:extLst>
          </p:cNvPr>
          <p:cNvSpPr/>
          <p:nvPr/>
        </p:nvSpPr>
        <p:spPr>
          <a:xfrm>
            <a:off x="10017552" y="2112264"/>
            <a:ext cx="566928" cy="566928"/>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dotn29"/>
          <p:cNvSpPr txBox="1"/>
          <p:nvPr/>
        </p:nvSpPr>
        <p:spPr>
          <a:xfrm>
            <a:off x="10017552"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29</a:t>
            </a:r>
          </a:p>
        </p:txBody>
      </p:sp>
      <p:sp>
        <p:nvSpPr>
          <p:cNvPr id="77" name="!!dot30">
            <a:extLst>
              <a:ext uri="{C183D7F6-B498-43B3-948B-1728B52AA6E4}">
                <adec:decorative xmlns:adec="http://schemas.microsoft.com/office/drawing/2017/decorative" val="1"/>
              </a:ext>
            </a:extLst>
          </p:cNvPr>
          <p:cNvSpPr/>
          <p:nvPr/>
        </p:nvSpPr>
        <p:spPr>
          <a:xfrm>
            <a:off x="1060085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dotn30"/>
          <p:cNvSpPr txBox="1"/>
          <p:nvPr/>
        </p:nvSpPr>
        <p:spPr>
          <a:xfrm>
            <a:off x="1050941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30</a:t>
            </a:r>
          </a:p>
        </p:txBody>
      </p:sp>
      <p:sp>
        <p:nvSpPr>
          <p:cNvPr id="79" name="!!dot31">
            <a:extLst>
              <a:ext uri="{C183D7F6-B498-43B3-948B-1728B52AA6E4}">
                <adec:decorative xmlns:adec="http://schemas.microsoft.com/office/drawing/2017/decorative" val="1"/>
              </a:ext>
            </a:extLst>
          </p:cNvPr>
          <p:cNvSpPr/>
          <p:nvPr/>
        </p:nvSpPr>
        <p:spPr>
          <a:xfrm>
            <a:off x="1088240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dotn31"/>
          <p:cNvSpPr txBox="1"/>
          <p:nvPr/>
        </p:nvSpPr>
        <p:spPr>
          <a:xfrm>
            <a:off x="1079096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31</a:t>
            </a:r>
          </a:p>
        </p:txBody>
      </p:sp>
      <p:sp>
        <p:nvSpPr>
          <p:cNvPr id="81" name="!!dot32">
            <a:extLst>
              <a:ext uri="{C183D7F6-B498-43B3-948B-1728B52AA6E4}">
                <adec:decorative xmlns:adec="http://schemas.microsoft.com/office/drawing/2017/decorative" val="1"/>
              </a:ext>
            </a:extLst>
          </p:cNvPr>
          <p:cNvSpPr/>
          <p:nvPr/>
        </p:nvSpPr>
        <p:spPr>
          <a:xfrm>
            <a:off x="1116395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dotn32"/>
          <p:cNvSpPr txBox="1"/>
          <p:nvPr/>
        </p:nvSpPr>
        <p:spPr>
          <a:xfrm>
            <a:off x="1107251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32</a:t>
            </a:r>
          </a:p>
        </p:txBody>
      </p:sp>
      <p:sp>
        <p:nvSpPr>
          <p:cNvPr id="83" name="!!dotlabel"/>
          <p:cNvSpPr txBox="1"/>
          <p:nvPr/>
        </p:nvSpPr>
        <p:spPr>
          <a:xfrm>
            <a:off x="6961327" y="2798064"/>
            <a:ext cx="457200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705B06"/>
                </a:solidFill>
                <a:latin typeface="Segoe UI"/>
              </a:rPr>
              <a:t>Research Methods and Experimental Design</a:t>
            </a:r>
          </a:p>
        </p:txBody>
      </p:sp>
      <p:sp>
        <p:nvSpPr>
          <p:cNvPr id="8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85" name="!!chipBU9">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6" name="!!chipbBU9">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chiptBU9"/>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9  </a:t>
            </a:r>
            <a:r>
              <a:rPr sz="1400" b="0" i="0">
                <a:solidFill>
                  <a:srgbClr val="1C252B"/>
                </a:solidFill>
                <a:latin typeface="Segoe UI"/>
              </a:rPr>
              <a:t>Inferential Statistics</a:t>
            </a:r>
          </a:p>
        </p:txBody>
      </p:sp>
      <p:sp>
        <p:nvSpPr>
          <p:cNvPr id="88" name="!!chipBU10">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9" name="!!chipbBU10">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 name="!!chiptBU10"/>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10  </a:t>
            </a:r>
            <a:r>
              <a:rPr sz="1400" b="0" i="0">
                <a:solidFill>
                  <a:srgbClr val="1C252B"/>
                </a:solidFill>
                <a:latin typeface="Segoe UI"/>
              </a:rPr>
              <a:t>Relationships and Causality</a:t>
            </a:r>
          </a:p>
        </p:txBody>
      </p:sp>
      <p:sp>
        <p:nvSpPr>
          <p:cNvPr id="91"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92" name="!!dep-none-USED "/>
          <p:cNvSpPr txBox="1"/>
          <p:nvPr/>
        </p:nvSpPr>
        <p:spPr>
          <a:xfrm>
            <a:off x="6324447" y="3785616"/>
            <a:ext cx="520887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0" i="0">
                <a:solidFill>
                  <a:srgbClr val="98A4AE"/>
                </a:solidFill>
                <a:latin typeface="Segoe UI"/>
              </a:rPr>
              <a:t>—  the course ends here</a:t>
            </a:r>
          </a:p>
        </p:txBody>
      </p:sp>
      <p:sp>
        <p:nvSpPr>
          <p:cNvPr id="9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4" name="!!pfill">
            <a:extLst>
              <a:ext uri="{C183D7F6-B498-43B3-948B-1728B52AA6E4}">
                <adec:decorative xmlns:adec="http://schemas.microsoft.com/office/drawing/2017/decorative" val="1"/>
              </a:ext>
            </a:extLst>
          </p:cNvPr>
          <p:cNvSpPr/>
          <p:nvPr/>
        </p:nvSpPr>
        <p:spPr>
          <a:xfrm>
            <a:off x="0" y="0"/>
            <a:ext cx="59471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29  ·  Research Methods and Experimental Design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190     </a:t>
            </a:r>
            <a:fld id="{38586458-7B1A-4F76-B7FB-DEC2E1DA5421}"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6314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Convert</a:t>
            </a:r>
            <a:r>
              <a:rPr sz="2100" b="0" i="0">
                <a:solidFill>
                  <a:srgbClr val="1C252B"/>
                </a:solidFill>
                <a:latin typeface="Segoe UI"/>
              </a:rPr>
              <a:t> a broad topic into a researchable question with defined scope.</a:t>
            </a:r>
          </a:p>
        </p:txBody>
      </p:sp>
      <p:sp>
        <p:nvSpPr>
          <p:cNvPr id="11" name="!!ob1">
            <a:extLst>
              <a:ext uri="{C183D7F6-B498-43B3-948B-1728B52AA6E4}">
                <adec:decorative xmlns:adec="http://schemas.microsoft.com/office/drawing/2017/decorative" val="1"/>
              </a:ext>
            </a:extLst>
          </p:cNvPr>
          <p:cNvSpPr/>
          <p:nvPr/>
        </p:nvSpPr>
        <p:spPr>
          <a:xfrm>
            <a:off x="658368" y="2825496"/>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288493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2866644"/>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Select</a:t>
            </a:r>
            <a:r>
              <a:rPr sz="2100" b="0" i="0">
                <a:solidFill>
                  <a:srgbClr val="1C252B"/>
                </a:solidFill>
                <a:latin typeface="Segoe UI"/>
              </a:rPr>
              <a:t> a research design appropriate to the question type.</a:t>
            </a:r>
          </a:p>
        </p:txBody>
      </p:sp>
      <p:sp>
        <p:nvSpPr>
          <p:cNvPr id="14" name="!!ob2">
            <a:extLst>
              <a:ext uri="{C183D7F6-B498-43B3-948B-1728B52AA6E4}">
                <adec:decorative xmlns:adec="http://schemas.microsoft.com/office/drawing/2017/decorative" val="1"/>
              </a:ext>
            </a:extLst>
          </p:cNvPr>
          <p:cNvSpPr/>
          <p:nvPr/>
        </p:nvSpPr>
        <p:spPr>
          <a:xfrm>
            <a:off x="658368" y="3429000"/>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488436"/>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470148"/>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Distinguish</a:t>
            </a:r>
            <a:r>
              <a:rPr sz="2100" b="0" i="0">
                <a:solidFill>
                  <a:srgbClr val="1C252B"/>
                </a:solidFill>
                <a:latin typeface="Segoe UI"/>
              </a:rPr>
              <a:t> the forms of validity and reliability, and state a threat to each.</a:t>
            </a:r>
          </a:p>
        </p:txBody>
      </p:sp>
      <p:sp>
        <p:nvSpPr>
          <p:cNvPr id="17" name="!!ob3">
            <a:extLst>
              <a:ext uri="{C183D7F6-B498-43B3-948B-1728B52AA6E4}">
                <adec:decorative xmlns:adec="http://schemas.microsoft.com/office/drawing/2017/decorative" val="1"/>
              </a:ext>
            </a:extLst>
          </p:cNvPr>
          <p:cNvSpPr/>
          <p:nvPr/>
        </p:nvSpPr>
        <p:spPr>
          <a:xfrm>
            <a:off x="658368" y="4032504"/>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091940"/>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073652"/>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Structure</a:t>
            </a:r>
            <a:r>
              <a:rPr sz="2100" b="0" i="0">
                <a:solidFill>
                  <a:srgbClr val="1C252B"/>
                </a:solidFill>
                <a:latin typeface="Segoe UI"/>
              </a:rPr>
              <a:t> a research proposal and a final report.</a:t>
            </a:r>
          </a:p>
        </p:txBody>
      </p:sp>
      <p:sp>
        <p:nvSpPr>
          <p:cNvPr id="20" name="!!ob4">
            <a:extLst>
              <a:ext uri="{C183D7F6-B498-43B3-948B-1728B52AA6E4}">
                <adec:decorative xmlns:adec="http://schemas.microsoft.com/office/drawing/2017/decorative" val="1"/>
              </a:ext>
            </a:extLst>
          </p:cNvPr>
          <p:cNvSpPr/>
          <p:nvPr/>
        </p:nvSpPr>
        <p:spPr>
          <a:xfrm>
            <a:off x="658368" y="4636008"/>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469544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4677156"/>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Apply</a:t>
            </a:r>
            <a:r>
              <a:rPr sz="2100" b="0" i="0">
                <a:solidFill>
                  <a:srgbClr val="1C252B"/>
                </a:solidFill>
                <a:latin typeface="Segoe UI"/>
              </a:rPr>
              <a:t> reproducibility practices to your own work.</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9207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29  ·  Research Methods and Experimental Design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190     </a:t>
            </a:r>
            <a:fld id="{275F1D77-7252-4C00-B430-6CFBE3F6CAE0}" type="slidenum">
              <a:rPr lang="en-GB" sz="1000">
                <a:solidFill>
                  <a:srgbClr val="8795A1"/>
                </a:solidFill>
                <a:latin typeface="Segoe UI"/>
              </a:rPr>
              <a:t>4</a:t>
            </a:fld>
          </a:p>
        </p:txBody>
      </p:sp>
      <p:sp>
        <p:nvSpPr>
          <p:cNvPr id="7" name="!!term-research quest">
            <a:extLst>
              <a:ext uri="{C183D7F6-B498-43B3-948B-1728B52AA6E4}">
                <adec:decorative xmlns:adec="http://schemas.microsoft.com/office/drawing/2017/decorative" val="1"/>
              </a:ext>
            </a:extLst>
          </p:cNvPr>
          <p:cNvSpPr/>
          <p:nvPr/>
        </p:nvSpPr>
        <p:spPr>
          <a:xfrm>
            <a:off x="658368" y="1847088"/>
            <a:ext cx="215916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research quest">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research quest"/>
          <p:cNvSpPr txBox="1"/>
          <p:nvPr/>
        </p:nvSpPr>
        <p:spPr>
          <a:xfrm>
            <a:off x="950976" y="1955291"/>
            <a:ext cx="1976285"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research question</a:t>
            </a:r>
          </a:p>
        </p:txBody>
      </p:sp>
      <p:sp>
        <p:nvSpPr>
          <p:cNvPr id="10" name="!!term-literature rev">
            <a:extLst>
              <a:ext uri="{C183D7F6-B498-43B3-948B-1728B52AA6E4}">
                <adec:decorative xmlns:adec="http://schemas.microsoft.com/office/drawing/2017/decorative" val="1"/>
              </a:ext>
            </a:extLst>
          </p:cNvPr>
          <p:cNvSpPr/>
          <p:nvPr/>
        </p:nvSpPr>
        <p:spPr>
          <a:xfrm>
            <a:off x="2963837" y="1847088"/>
            <a:ext cx="200036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literature rev">
            <a:extLst>
              <a:ext uri="{C183D7F6-B498-43B3-948B-1728B52AA6E4}">
                <adec:decorative xmlns:adec="http://schemas.microsoft.com/office/drawing/2017/decorative" val="1"/>
              </a:ext>
            </a:extLst>
          </p:cNvPr>
          <p:cNvSpPr/>
          <p:nvPr/>
        </p:nvSpPr>
        <p:spPr>
          <a:xfrm>
            <a:off x="309185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literature rev"/>
          <p:cNvSpPr txBox="1"/>
          <p:nvPr/>
        </p:nvSpPr>
        <p:spPr>
          <a:xfrm>
            <a:off x="3256445" y="1955291"/>
            <a:ext cx="1817480"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literature review</a:t>
            </a:r>
          </a:p>
        </p:txBody>
      </p:sp>
      <p:sp>
        <p:nvSpPr>
          <p:cNvPr id="13" name="!!term-hypothesis">
            <a:extLst>
              <a:ext uri="{C183D7F6-B498-43B3-948B-1728B52AA6E4}">
                <adec:decorative xmlns:adec="http://schemas.microsoft.com/office/drawing/2017/decorative" val="1"/>
              </a:ext>
            </a:extLst>
          </p:cNvPr>
          <p:cNvSpPr/>
          <p:nvPr/>
        </p:nvSpPr>
        <p:spPr>
          <a:xfrm>
            <a:off x="5110502" y="1847088"/>
            <a:ext cx="148318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hypothesis">
            <a:extLst>
              <a:ext uri="{C183D7F6-B498-43B3-948B-1728B52AA6E4}">
                <adec:decorative xmlns:adec="http://schemas.microsoft.com/office/drawing/2017/decorative" val="1"/>
              </a:ext>
            </a:extLst>
          </p:cNvPr>
          <p:cNvSpPr/>
          <p:nvPr/>
        </p:nvSpPr>
        <p:spPr>
          <a:xfrm>
            <a:off x="523851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hypothesis"/>
          <p:cNvSpPr txBox="1"/>
          <p:nvPr/>
        </p:nvSpPr>
        <p:spPr>
          <a:xfrm>
            <a:off x="5403110" y="1955291"/>
            <a:ext cx="1300305"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hypothesis</a:t>
            </a:r>
          </a:p>
        </p:txBody>
      </p:sp>
      <p:sp>
        <p:nvSpPr>
          <p:cNvPr id="16" name="!!term-independent an">
            <a:extLst>
              <a:ext uri="{C183D7F6-B498-43B3-948B-1728B52AA6E4}">
                <adec:decorative xmlns:adec="http://schemas.microsoft.com/office/drawing/2017/decorative" val="1"/>
              </a:ext>
            </a:extLst>
          </p:cNvPr>
          <p:cNvSpPr/>
          <p:nvPr/>
        </p:nvSpPr>
        <p:spPr>
          <a:xfrm>
            <a:off x="6739992" y="1847088"/>
            <a:ext cx="403853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independent an">
            <a:extLst>
              <a:ext uri="{C183D7F6-B498-43B3-948B-1728B52AA6E4}">
                <adec:decorative xmlns:adec="http://schemas.microsoft.com/office/drawing/2017/decorative" val="1"/>
              </a:ext>
            </a:extLst>
          </p:cNvPr>
          <p:cNvSpPr/>
          <p:nvPr/>
        </p:nvSpPr>
        <p:spPr>
          <a:xfrm>
            <a:off x="686800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independent an"/>
          <p:cNvSpPr txBox="1"/>
          <p:nvPr/>
        </p:nvSpPr>
        <p:spPr>
          <a:xfrm>
            <a:off x="7032600" y="1955291"/>
            <a:ext cx="3855653"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independent and dependent variable</a:t>
            </a:r>
          </a:p>
        </p:txBody>
      </p:sp>
      <p:sp>
        <p:nvSpPr>
          <p:cNvPr id="19" name="!!term-operationalisa">
            <a:extLst>
              <a:ext uri="{C183D7F6-B498-43B3-948B-1728B52AA6E4}">
                <adec:decorative xmlns:adec="http://schemas.microsoft.com/office/drawing/2017/decorative" val="1"/>
              </a:ext>
            </a:extLst>
          </p:cNvPr>
          <p:cNvSpPr/>
          <p:nvPr/>
        </p:nvSpPr>
        <p:spPr>
          <a:xfrm>
            <a:off x="658368" y="2468880"/>
            <a:ext cx="218876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operationalisa">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operationalisa"/>
          <p:cNvSpPr txBox="1"/>
          <p:nvPr/>
        </p:nvSpPr>
        <p:spPr>
          <a:xfrm>
            <a:off x="950976" y="2577084"/>
            <a:ext cx="2005884"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operationalisation</a:t>
            </a:r>
          </a:p>
        </p:txBody>
      </p:sp>
      <p:sp>
        <p:nvSpPr>
          <p:cNvPr id="22" name="!!term-internal / ext">
            <a:extLst>
              <a:ext uri="{C183D7F6-B498-43B3-948B-1728B52AA6E4}">
                <adec:decorative xmlns:adec="http://schemas.microsoft.com/office/drawing/2017/decorative" val="1"/>
              </a:ext>
            </a:extLst>
          </p:cNvPr>
          <p:cNvSpPr/>
          <p:nvPr/>
        </p:nvSpPr>
        <p:spPr>
          <a:xfrm>
            <a:off x="2993436" y="2468880"/>
            <a:ext cx="525098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internal / ext">
            <a:extLst>
              <a:ext uri="{C183D7F6-B498-43B3-948B-1728B52AA6E4}">
                <adec:decorative xmlns:adec="http://schemas.microsoft.com/office/drawing/2017/decorative" val="1"/>
              </a:ext>
            </a:extLst>
          </p:cNvPr>
          <p:cNvSpPr/>
          <p:nvPr/>
        </p:nvSpPr>
        <p:spPr>
          <a:xfrm>
            <a:off x="3121452"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internal / ext"/>
          <p:cNvSpPr txBox="1"/>
          <p:nvPr/>
        </p:nvSpPr>
        <p:spPr>
          <a:xfrm>
            <a:off x="3286044" y="2577084"/>
            <a:ext cx="5068104"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internal / external / construct / conclusion validity</a:t>
            </a:r>
          </a:p>
        </p:txBody>
      </p:sp>
      <p:sp>
        <p:nvSpPr>
          <p:cNvPr id="25" name="!!term-reliability">
            <a:extLst>
              <a:ext uri="{C183D7F6-B498-43B3-948B-1728B52AA6E4}">
                <adec:decorative xmlns:adec="http://schemas.microsoft.com/office/drawing/2017/decorative" val="1"/>
              </a:ext>
            </a:extLst>
          </p:cNvPr>
          <p:cNvSpPr/>
          <p:nvPr/>
        </p:nvSpPr>
        <p:spPr>
          <a:xfrm>
            <a:off x="8390725" y="2468880"/>
            <a:ext cx="131995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reliability">
            <a:extLst>
              <a:ext uri="{C183D7F6-B498-43B3-948B-1728B52AA6E4}">
                <adec:decorative xmlns:adec="http://schemas.microsoft.com/office/drawing/2017/decorative" val="1"/>
              </a:ext>
            </a:extLst>
          </p:cNvPr>
          <p:cNvSpPr/>
          <p:nvPr/>
        </p:nvSpPr>
        <p:spPr>
          <a:xfrm>
            <a:off x="8518741"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reliability"/>
          <p:cNvSpPr txBox="1"/>
          <p:nvPr/>
        </p:nvSpPr>
        <p:spPr>
          <a:xfrm>
            <a:off x="8683333" y="2577084"/>
            <a:ext cx="1137079"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reliability</a:t>
            </a:r>
          </a:p>
        </p:txBody>
      </p:sp>
      <p:sp>
        <p:nvSpPr>
          <p:cNvPr id="28" name="!!term-triangulation">
            <a:extLst>
              <a:ext uri="{C183D7F6-B498-43B3-948B-1728B52AA6E4}">
                <adec:decorative xmlns:adec="http://schemas.microsoft.com/office/drawing/2017/decorative" val="1"/>
              </a:ext>
            </a:extLst>
          </p:cNvPr>
          <p:cNvSpPr/>
          <p:nvPr/>
        </p:nvSpPr>
        <p:spPr>
          <a:xfrm>
            <a:off x="658368" y="3090672"/>
            <a:ext cx="168160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triangulation">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triangulation"/>
          <p:cNvSpPr txBox="1"/>
          <p:nvPr/>
        </p:nvSpPr>
        <p:spPr>
          <a:xfrm>
            <a:off x="950976" y="3198876"/>
            <a:ext cx="1498722"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triangulation</a:t>
            </a:r>
          </a:p>
        </p:txBody>
      </p:sp>
      <p:sp>
        <p:nvSpPr>
          <p:cNvPr id="31" name="!!term-pre-registrati">
            <a:extLst>
              <a:ext uri="{C183D7F6-B498-43B3-948B-1728B52AA6E4}">
                <adec:decorative xmlns:adec="http://schemas.microsoft.com/office/drawing/2017/decorative" val="1"/>
              </a:ext>
            </a:extLst>
          </p:cNvPr>
          <p:cNvSpPr/>
          <p:nvPr/>
        </p:nvSpPr>
        <p:spPr>
          <a:xfrm>
            <a:off x="2486274" y="3090672"/>
            <a:ext cx="196140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pre-registrati">
            <a:extLst>
              <a:ext uri="{C183D7F6-B498-43B3-948B-1728B52AA6E4}">
                <adec:decorative xmlns:adec="http://schemas.microsoft.com/office/drawing/2017/decorative" val="1"/>
              </a:ext>
            </a:extLst>
          </p:cNvPr>
          <p:cNvSpPr/>
          <p:nvPr/>
        </p:nvSpPr>
        <p:spPr>
          <a:xfrm>
            <a:off x="2614290"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pre-registrati"/>
          <p:cNvSpPr txBox="1"/>
          <p:nvPr/>
        </p:nvSpPr>
        <p:spPr>
          <a:xfrm>
            <a:off x="2778882" y="3198876"/>
            <a:ext cx="1778529"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pre-registration</a:t>
            </a:r>
          </a:p>
        </p:txBody>
      </p:sp>
      <p:sp>
        <p:nvSpPr>
          <p:cNvPr id="34" name="!!term-reproducibilit">
            <a:extLst>
              <a:ext uri="{C183D7F6-B498-43B3-948B-1728B52AA6E4}">
                <adec:decorative xmlns:adec="http://schemas.microsoft.com/office/drawing/2017/decorative" val="1"/>
              </a:ext>
            </a:extLst>
          </p:cNvPr>
          <p:cNvSpPr/>
          <p:nvPr/>
        </p:nvSpPr>
        <p:spPr>
          <a:xfrm>
            <a:off x="4593987" y="3090672"/>
            <a:ext cx="184579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reproducibilit">
            <a:extLst>
              <a:ext uri="{C183D7F6-B498-43B3-948B-1728B52AA6E4}">
                <adec:decorative xmlns:adec="http://schemas.microsoft.com/office/drawing/2017/decorative" val="1"/>
              </a:ext>
            </a:extLst>
          </p:cNvPr>
          <p:cNvSpPr/>
          <p:nvPr/>
        </p:nvSpPr>
        <p:spPr>
          <a:xfrm>
            <a:off x="4722003"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reproducibilit"/>
          <p:cNvSpPr txBox="1"/>
          <p:nvPr/>
        </p:nvSpPr>
        <p:spPr>
          <a:xfrm>
            <a:off x="4886595" y="3198876"/>
            <a:ext cx="1662915"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reproducibility</a:t>
            </a:r>
          </a:p>
        </p:txBody>
      </p:sp>
      <p:sp>
        <p:nvSpPr>
          <p:cNvPr id="37" name="!!term-replication">
            <a:extLst>
              <a:ext uri="{C183D7F6-B498-43B3-948B-1728B52AA6E4}">
                <adec:decorative xmlns:adec="http://schemas.microsoft.com/office/drawing/2017/decorative" val="1"/>
              </a:ext>
            </a:extLst>
          </p:cNvPr>
          <p:cNvSpPr/>
          <p:nvPr/>
        </p:nvSpPr>
        <p:spPr>
          <a:xfrm>
            <a:off x="6586087" y="3090672"/>
            <a:ext cx="146222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replication">
            <a:extLst>
              <a:ext uri="{C183D7F6-B498-43B3-948B-1728B52AA6E4}">
                <adec:decorative xmlns:adec="http://schemas.microsoft.com/office/drawing/2017/decorative" val="1"/>
              </a:ext>
            </a:extLst>
          </p:cNvPr>
          <p:cNvSpPr/>
          <p:nvPr/>
        </p:nvSpPr>
        <p:spPr>
          <a:xfrm>
            <a:off x="6714103"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replication"/>
          <p:cNvSpPr txBox="1"/>
          <p:nvPr/>
        </p:nvSpPr>
        <p:spPr>
          <a:xfrm>
            <a:off x="6878695" y="3198876"/>
            <a:ext cx="1279340"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replication</a:t>
            </a:r>
          </a:p>
        </p:txBody>
      </p:sp>
      <p:sp>
        <p:nvSpPr>
          <p:cNvPr id="40"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4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pfill">
            <a:extLst>
              <a:ext uri="{C183D7F6-B498-43B3-948B-1728B52AA6E4}">
                <adec:decorative xmlns:adec="http://schemas.microsoft.com/office/drawing/2017/decorative" val="1"/>
              </a:ext>
            </a:extLst>
          </p:cNvPr>
          <p:cNvSpPr/>
          <p:nvPr/>
        </p:nvSpPr>
        <p:spPr>
          <a:xfrm>
            <a:off x="0" y="0"/>
            <a:ext cx="118943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29  ·  Research Methods and Experimental Design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190–195     </a:t>
            </a:r>
            <a:fld id="{B48B9FD1-838E-4D26-889B-316D9421D095}" type="slidenum">
              <a:rPr lang="en-GB" sz="1000">
                <a:solidFill>
                  <a:srgbClr val="8795A1"/>
                </a:solidFill>
                <a:latin typeface="Segoe UI"/>
              </a:rPr>
              <a:t>5</a:t>
            </a:fld>
          </a:p>
        </p:txBody>
      </p:sp>
      <p:sp>
        <p:nvSpPr>
          <p:cNvPr id="7" name="!!ag0" descr="Go to section 29.1 From Topic to Question">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29.1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From Topic to Question</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190  ›</a:t>
            </a:r>
          </a:p>
        </p:txBody>
      </p:sp>
      <p:sp>
        <p:nvSpPr>
          <p:cNvPr id="12" name="!!ag1" descr="Go to section 29.2 Choosing a Design">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29.2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Choosing a Design</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191  ›</a:t>
            </a:r>
          </a:p>
        </p:txBody>
      </p:sp>
      <p:sp>
        <p:nvSpPr>
          <p:cNvPr id="17" name="!!ag2" descr="Go to section 29.3 Validity and Reliability">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29.3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Validity and Reliability</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191  ›</a:t>
            </a:r>
          </a:p>
        </p:txBody>
      </p:sp>
      <p:sp>
        <p:nvSpPr>
          <p:cNvPr id="22" name="!!ag3" descr="Go to section 29.4 Reproducibility">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29.4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Reproducibility</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192  ›</a:t>
            </a:r>
          </a:p>
        </p:txBody>
      </p:sp>
      <p:sp>
        <p:nvSpPr>
          <p:cNvPr id="27" name="!!ag4" descr="Go to section 29.5 Structuring the Write-Up">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29.5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Structuring the Write-Up</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192  ›</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148679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From Topic to Question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1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29.1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29.1   From Topic to Question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29.2   Choosing a Design</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29.3   Validity and Reliability</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29.4   Reproducibility</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29.5   Structuring the Write-Up</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29</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§29.1     </a:t>
            </a:r>
            <a:fld id="{3D77B133-4284-4ED1-8BBF-4479374A9382}" type="slidenum">
              <a:rPr lang="en-GB" sz="1000">
                <a:solidFill>
                  <a:srgbClr val="8795A1"/>
                </a:solidFill>
                <a:latin typeface="Segoe UI"/>
              </a:rPr>
              <a:t>6</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178415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Topic Is Not a Question</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29  ·  Research Methods and Experimental Design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§29.1  ·  Handout p. 190     </a:t>
            </a:r>
            <a:fld id="{2C67DE7D-06FD-4878-AFF6-E371F1A1F5E6}"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“Machine learning in education” is a topic. You cannot answer it, cannot tell whether you have finished, and cannot fail. A researchable question has a population, a variable, an outcome and a scope — and it is possible to be wrong about it.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08150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Narrowing a Topic, Four Times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29  ·  Research Methods and Experimental Design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§29.1  ·  Handout p. 190     </a:t>
            </a:r>
            <a:fld id="{C9B75305-9613-4352-82EA-BE779E146EF4}"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524781"/>
          </a:xfrm>
          <a:prstGeom prst="roundRect">
            <a:avLst>
              <a:gd name="adj" fmla="val 202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5247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Round 0 — topic.</a:t>
            </a:r>
            <a:r>
              <a:rPr sz="1900" b="0" i="0">
                <a:solidFill>
                  <a:srgbClr val="1C252B"/>
                </a:solidFill>
                <a:latin typeface="Segoe UI"/>
              </a:rPr>
              <a:t> “AI in education.” Unanswerable.</a:t>
            </a:r>
          </a:p>
        </p:txBody>
      </p:sp>
      <p:sp>
        <p:nvSpPr>
          <p:cNvPr id="10" name="body-1"/>
          <p:cNvSpPr txBox="1"/>
          <p:nvPr/>
        </p:nvSpPr>
        <p:spPr>
          <a:xfrm>
            <a:off x="1042416" y="2445537"/>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Round 1 — add a phenomenon.</a:t>
            </a:r>
            <a:r>
              <a:rPr sz="1900" b="0" i="0">
                <a:solidFill>
                  <a:srgbClr val="1C252B"/>
                </a:solidFill>
                <a:latin typeface="Segoe UI"/>
              </a:rPr>
              <a:t> “Does AI help students?” Which AI? Which students? Help how?</a:t>
            </a:r>
          </a:p>
        </p:txBody>
      </p:sp>
      <p:sp>
        <p:nvSpPr>
          <p:cNvPr id="11" name="body-2"/>
          <p:cNvSpPr txBox="1"/>
          <p:nvPr/>
        </p:nvSpPr>
        <p:spPr>
          <a:xfrm>
            <a:off x="1042416" y="3180537"/>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Round 2 — add a population and an outcome.</a:t>
            </a:r>
            <a:r>
              <a:rPr sz="1900" b="0" i="0">
                <a:solidFill>
                  <a:srgbClr val="1C252B"/>
                </a:solidFill>
                <a:latin typeface="Segoe UI"/>
              </a:rPr>
              <a:t> “Do first-year BSIT students who use an AI tutor get better grades?” Better than whom? Which grades? Over what period?</a:t>
            </a:r>
          </a:p>
        </p:txBody>
      </p:sp>
      <p:sp>
        <p:nvSpPr>
          <p:cNvPr id="12" name="body-3"/>
          <p:cNvSpPr txBox="1"/>
          <p:nvPr/>
        </p:nvSpPr>
        <p:spPr>
          <a:xfrm>
            <a:off x="1042416" y="3915537"/>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Round 3 — operationalise everything.</a:t>
            </a:r>
            <a:r>
              <a:rPr sz="1900" b="0" i="0">
                <a:solidFill>
                  <a:srgbClr val="1C252B"/>
                </a:solidFill>
                <a:latin typeface="Segoe UI"/>
              </a:rPr>
              <a:t> “Among first-year BSIT students at one institution in Fall 2026, does access to a retrieval-grounded AI tutor increase the end-of-semester programming module mark, compared with the existing drop-in-help provision?”</a:t>
            </a:r>
          </a:p>
        </p:txBody>
      </p:sp>
      <p:sp>
        <p:nvSpPr>
          <p:cNvPr id="13" name="body-4"/>
          <p:cNvSpPr txBox="1"/>
          <p:nvPr/>
        </p:nvSpPr>
        <p:spPr>
          <a:xfrm>
            <a:off x="1042416" y="495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Round 4 — check it is answerable.</a:t>
            </a:r>
          </a:p>
        </p:txBody>
      </p:sp>
      <p:sp>
        <p:nvSpPr>
          <p:cNvPr id="14" name="body-5"/>
          <p:cNvSpPr txBox="1"/>
          <p:nvPr/>
        </p:nvSpPr>
        <p:spPr>
          <a:xfrm>
            <a:off x="1042416" y="5385536"/>
            <a:ext cx="10234879" cy="648004"/>
          </a:xfrm>
          <a:prstGeom prst="rect">
            <a:avLst/>
          </a:prstGeom>
          <a:noFill/>
        </p:spPr>
        <p:txBody>
          <a:bodyPr wrap="square" anchor="t" lIns="0" rIns="0" tIns="0" bIns="0">
            <a:noAutofit/>
          </a:bodyPr>
          <a:lstStyle/>
          <a:p>
            <a:pPr algn="l" marL="212450" indent="-212450">
              <a:lnSpc>
                <a:spcPct val="104000"/>
              </a:lnSpc>
              <a:spcBef>
                <a:spcPts val="0"/>
              </a:spcBef>
              <a:spcAft>
                <a:spcPts val="0"/>
              </a:spcAft>
            </a:pPr>
            <a:r>
              <a:rPr sz="1900" b="1">
                <a:solidFill>
                  <a:srgbClr val="7D6608"/>
                </a:solidFill>
                <a:latin typeface="Segoe UI"/>
              </a:rPr>
              <a:t>•	</a:t>
            </a:r>
            <a:r>
              <a:rPr sz="1900" b="0" i="1">
                <a:solidFill>
                  <a:srgbClr val="1C252B"/>
                </a:solidFill>
                <a:latin typeface="Segoe UI"/>
              </a:rPr>
              <a:t>Population:</a:t>
            </a:r>
            <a:r>
              <a:rPr sz="1900" b="0" i="0">
                <a:solidFill>
                  <a:srgbClr val="1C252B"/>
                </a:solidFill>
                <a:latin typeface="Segoe UI"/>
              </a:rPr>
              <a:t> first-year BSIT, one institution, one semester — so external validity is limited, and you will say so.</a:t>
            </a:r>
          </a:p>
        </p:txBody>
      </p:sp>
      <p:sp>
        <p:nvSpPr>
          <p:cNvPr id="2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pfill">
            <a:extLst>
              <a:ext uri="{C183D7F6-B498-43B3-948B-1728B52AA6E4}">
                <adec:decorative xmlns:adec="http://schemas.microsoft.com/office/drawing/2017/decorative" val="1"/>
              </a:ext>
            </a:extLst>
          </p:cNvPr>
          <p:cNvSpPr/>
          <p:nvPr/>
        </p:nvSpPr>
        <p:spPr>
          <a:xfrm>
            <a:off x="0" y="0"/>
            <a:ext cx="237886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right)">
                                      <p:cBhvr>
                                        <p:cTn id="28" dur="4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Narrowing a Topic, Four Times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29  ·  Research Methods and Experimental Design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§29.1  ·  Handout p. 190     </a:t>
            </a:r>
            <a:fld id="{4B73E084-26A7-419E-A9B9-B84A71C40FD8}"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14571"/>
          </a:xfrm>
          <a:prstGeom prst="roundRect">
            <a:avLst>
              <a:gd name="adj" fmla="val 2222"/>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1457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611651"/>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1">
                <a:solidFill>
                  <a:srgbClr val="1C252B"/>
                </a:solidFill>
                <a:latin typeface="Segoe UI"/>
              </a:rPr>
              <a:t>Independent variable:</a:t>
            </a:r>
            <a:r>
              <a:rPr sz="1900" b="0" i="0">
                <a:solidFill>
                  <a:srgbClr val="1C252B"/>
                </a:solidFill>
                <a:latin typeface="Segoe UI"/>
              </a:rPr>
              <a:t> access to the tutor (yes/no), assigned how? Randomly, or you have a confounding problem (Chapter 10).</a:t>
            </a:r>
          </a:p>
          <a:p>
            <a:pPr algn="l" marL="212450" indent="-212450">
              <a:lnSpc>
                <a:spcPct val="104000"/>
              </a:lnSpc>
              <a:spcBef>
                <a:spcPts val="0"/>
              </a:spcBef>
              <a:spcAft>
                <a:spcPts val="665"/>
              </a:spcAft>
            </a:pPr>
            <a:r>
              <a:rPr sz="1900" b="1">
                <a:solidFill>
                  <a:srgbClr val="7D6608"/>
                </a:solidFill>
                <a:latin typeface="Segoe UI"/>
              </a:rPr>
              <a:t>•	</a:t>
            </a:r>
            <a:r>
              <a:rPr sz="1900" b="0" i="1">
                <a:solidFill>
                  <a:srgbClr val="1C252B"/>
                </a:solidFill>
                <a:latin typeface="Segoe UI"/>
              </a:rPr>
              <a:t>Dependent variable:</a:t>
            </a:r>
            <a:r>
              <a:rPr sz="1900" b="0" i="0">
                <a:solidFill>
                  <a:srgbClr val="1C252B"/>
                </a:solidFill>
                <a:latin typeface="Segoe UI"/>
              </a:rPr>
              <a:t> final module mark out of 100 — measurable, recorded already.</a:t>
            </a:r>
          </a:p>
          <a:p>
            <a:pPr algn="l" marL="212450" indent="-212450">
              <a:lnSpc>
                <a:spcPct val="104000"/>
              </a:lnSpc>
              <a:spcBef>
                <a:spcPts val="0"/>
              </a:spcBef>
              <a:spcAft>
                <a:spcPts val="665"/>
              </a:spcAft>
            </a:pPr>
            <a:r>
              <a:rPr sz="1900" b="1">
                <a:solidFill>
                  <a:srgbClr val="7D6608"/>
                </a:solidFill>
                <a:latin typeface="Segoe UI"/>
              </a:rPr>
              <a:t>•	</a:t>
            </a:r>
            <a:r>
              <a:rPr sz="1900" b="0" i="1">
                <a:solidFill>
                  <a:srgbClr val="1C252B"/>
                </a:solidFill>
                <a:latin typeface="Segoe UI"/>
              </a:rPr>
              <a:t>Comparison:</a:t>
            </a:r>
            <a:r>
              <a:rPr sz="1900" b="0" i="0">
                <a:solidFill>
                  <a:srgbClr val="1C252B"/>
                </a:solidFill>
                <a:latin typeface="Segoe UI"/>
              </a:rPr>
              <a:t> existing provision, not nothing. Comparing against nothing measures “having help” rather than “having </a:t>
            </a:r>
            <a:r>
              <a:rPr sz="1900" b="0" i="1">
                <a:solidFill>
                  <a:srgbClr val="1C252B"/>
                </a:solidFill>
                <a:latin typeface="Segoe UI"/>
              </a:rPr>
              <a:t>this</a:t>
            </a:r>
            <a:r>
              <a:rPr sz="1900" b="0" i="0">
                <a:solidFill>
                  <a:srgbClr val="1C252B"/>
                </a:solidFill>
                <a:latin typeface="Segoe UI"/>
              </a:rPr>
              <a:t> help”.</a:t>
            </a:r>
          </a:p>
          <a:p>
            <a:pPr algn="l" marL="212450" indent="-212450">
              <a:lnSpc>
                <a:spcPct val="104000"/>
              </a:lnSpc>
              <a:spcBef>
                <a:spcPts val="0"/>
              </a:spcBef>
              <a:spcAft>
                <a:spcPts val="0"/>
              </a:spcAft>
            </a:pPr>
            <a:r>
              <a:rPr sz="1900" b="1">
                <a:solidFill>
                  <a:srgbClr val="7D6608"/>
                </a:solidFill>
                <a:latin typeface="Segoe UI"/>
              </a:rPr>
              <a:t>•	</a:t>
            </a:r>
            <a:r>
              <a:rPr sz="1900" b="0" i="1">
                <a:solidFill>
                  <a:srgbClr val="1C252B"/>
                </a:solidFill>
                <a:latin typeface="Segoe UI"/>
              </a:rPr>
              <a:t>Feasible?</a:t>
            </a:r>
            <a:r>
              <a:rPr sz="1900" b="0" i="0">
                <a:solidFill>
                  <a:srgbClr val="1C252B"/>
                </a:solidFill>
                <a:latin typeface="Segoe UI"/>
              </a:rPr>
              <a:t> Run the power calculation before the study, not after. Chapter 10 sized a comparable two-group trial at about 630 students to detect its target effect; the sample needed scales as </a:t>
            </a:r>
            <a:r>
              <a:rPr sz="1900" b="0" i="0">
                <a:solidFill>
                  <a:srgbClr val="1C252B"/>
                </a:solidFill>
                <a:latin typeface="Cambria"/>
              </a:rPr>
              <a:t>1/δ</a:t>
            </a:r>
            <a:r>
              <a:rPr sz="1900" b="0" i="0" baseline="30000">
                <a:solidFill>
                  <a:srgbClr val="1C252B"/>
                </a:solidFill>
                <a:latin typeface="Cambria"/>
              </a:rPr>
              <a:t>2</a:t>
            </a:r>
            <a:r>
              <a:rPr sz="1900" b="0" i="0">
                <a:solidFill>
                  <a:srgbClr val="1C252B"/>
                </a:solidFill>
                <a:latin typeface="Segoe UI"/>
              </a:rPr>
              <a:t> whatever the outcome measure, so halving the effect you want to catch quadruples the cohort you need. This cohort is 340. </a:t>
            </a:r>
            <a:r>
              <a:rPr sz="1900" b="1" i="0">
                <a:solidFill>
                  <a:srgbClr val="1C252B"/>
                </a:solidFill>
                <a:latin typeface="Segoe UI"/>
              </a:rPr>
              <a:t>State honestly that a sample this size can only detect an effect about </a:t>
            </a:r>
            <a:r>
              <a:rPr sz="1900" b="1" i="0">
                <a:solidFill>
                  <a:srgbClr val="1C252B"/>
                </a:solidFill>
                <a:latin typeface="Cambria"/>
              </a:rPr>
              <a:t>√(630/340) ≈ 1.4</a:t>
            </a:r>
            <a:r>
              <a:rPr sz="1900" b="1" i="0">
                <a:solidFill>
                  <a:srgbClr val="1C252B"/>
                </a:solidFill>
                <a:latin typeface="Segoe UI"/>
              </a:rPr>
              <a:t> times larger than the one you hoped for</a:t>
            </a:r>
            <a:r>
              <a:rPr sz="1900" b="0" i="0">
                <a:solidFill>
                  <a:srgbClr val="1C252B"/>
                </a:solidFill>
                <a:latin typeface="Segoe UI"/>
              </a:rPr>
              <a:t> — or pre-register a two-semester design.</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267622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5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5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5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5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Narrowing a Topic, Four Times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29  ·  Research Methods and Experimental Design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§29.1  ·  Handout p. 190     </a:t>
            </a:r>
            <a:fld id="{52873E0D-2029-4E99-878F-635D584D2E00}"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150924"/>
          </a:xfrm>
          <a:prstGeom prst="roundRect">
            <a:avLst>
              <a:gd name="adj" fmla="val 794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1509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last check is the one students skip</a:t>
            </a:r>
            <a:r>
              <a:rPr sz="1900" b="0" i="0">
                <a:solidFill>
                  <a:srgbClr val="1C252B"/>
                </a:solidFill>
                <a:latin typeface="Segoe UI"/>
              </a:rPr>
              <a:t>, and it is why so many projects conclude “no significant difference” from a study that never could have found one.</a:t>
            </a:r>
          </a:p>
        </p:txBody>
      </p:sp>
      <p:sp>
        <p:nvSpPr>
          <p:cNvPr id="10" name="body-0bar">
            <a:extLst>
              <a:ext uri="{C183D7F6-B498-43B3-948B-1728B52AA6E4}">
                <adec:decorative xmlns:adec="http://schemas.microsoft.com/office/drawing/2017/decorative" val="1"/>
              </a:ext>
            </a:extLst>
          </p:cNvPr>
          <p:cNvSpPr/>
          <p:nvPr/>
        </p:nvSpPr>
        <p:spPr>
          <a:xfrm>
            <a:off x="841248" y="2029967"/>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97358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Choosing a design from the question</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05B06"/>
                </a:solidFill>
                <a:latin typeface="Segoe UI"/>
              </a:rPr>
              <a:t>FIGURE 29.1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29  ·  Research Methods and Experimental Design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§29.2  ·  Handout p. 191     </a:t>
            </a:r>
            <a:fld id="{18211939-3D29-4850-86A1-5C30616B06BD}" type="slidenum">
              <a:rPr lang="en-GB" sz="1000">
                <a:solidFill>
                  <a:srgbClr val="8795A1"/>
                </a:solidFill>
                <a:latin typeface="Segoe UI"/>
              </a:rPr>
              <a:t>11</a:t>
            </a:fld>
          </a:p>
        </p:txBody>
      </p:sp>
      <p:pic>
        <p:nvPicPr>
          <p:cNvPr id="6" name="!!figure" descr="Figure 29.1. Choosing a design from the question. The commonest error in student projects is running a correlational study and writing a causal conclusio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31928" y="1737360"/>
            <a:ext cx="9727838" cy="400994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commonest error in student projects is running a correlational study and writing a causal conclusion.</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27094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Validity and Reliability</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3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29.3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29.1   From Topic to Question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29.2   Choosing a Design</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29.3   Validity and Reliability</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29.4   Reproducibility</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29.5   Structuring the Write-Up</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29</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§29.3     </a:t>
            </a:r>
            <a:fld id="{6005DD13-D1C6-4CEB-B081-2F42F00A8DCD}" type="slidenum">
              <a:rPr lang="en-GB" sz="1000">
                <a:solidFill>
                  <a:srgbClr val="8795A1"/>
                </a:solidFill>
                <a:latin typeface="Segoe UI"/>
              </a:rPr>
              <a:t>12</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356830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Validity and Reliability</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29  ·  Research Methods and Experimental Design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§29.3  ·  Handout p. 191     </a:t>
            </a:r>
            <a:fld id="{3A7E56A3-0BC7-4B94-AC28-DB5147E3E023}" type="slidenum">
              <a:rPr lang="en-GB" sz="1000">
                <a:solidFill>
                  <a:srgbClr val="8795A1"/>
                </a:solidFill>
                <a:latin typeface="Segoe UI"/>
              </a:rPr>
              <a:t>13</a:t>
            </a:fld>
          </a:p>
        </p:txBody>
      </p:sp>
      <p:graphicFrame>
        <p:nvGraphicFramePr>
          <p:cNvPr id="7" name="!!table"/>
          <p:cNvGraphicFramePr>
            <a:graphicFrameLocks noGrp="1"/>
          </p:cNvGraphicFramePr>
          <p:nvPr/>
        </p:nvGraphicFramePr>
        <p:xfrm>
          <a:off x="658368" y="1737360"/>
          <a:ext cx="10874957" cy="4245864"/>
        </p:xfrm>
        <a:graphic>
          <a:graphicData uri="http://schemas.openxmlformats.org/drawingml/2006/table">
            <a:tbl>
              <a:tblPr firstRow="0" bandRow="0" firstCol="0" lastRow="0" lastCol="0" bandCol="0">
                <a:tableStyleId>{2D5ABB26-0587-4C30-8999-92F81FD0307C}</a:tableStyleId>
              </a:tblPr>
              <a:tblGrid>
                <a:gridCol w="2330348"/>
                <a:gridCol w="3573200"/>
                <a:gridCol w="4971409"/>
              </a:tblGrid>
              <a:tr h="405384">
                <a:tc>
                  <a:txBody>
                    <a:bodyPr wrap="square"/>
                    <a:lstStyle/>
                    <a:p>
                      <a:pPr algn="l"/>
                      <a:r>
                        <a:rPr sz="1700" b="1" i="0">
                          <a:solidFill>
                            <a:srgbClr val="1A5276"/>
                          </a:solidFill>
                          <a:latin typeface="Segoe UI"/>
                        </a:rPr>
                        <a:t>Type</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Asks</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A threat, and its remedy</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64464">
                <a:tc>
                  <a:txBody>
                    <a:bodyPr wrap="square"/>
                    <a:lstStyle/>
                    <a:p>
                      <a:pPr algn="l"/>
                      <a:r>
                        <a:rPr sz="1700" b="0" i="0">
                          <a:solidFill>
                            <a:srgbClr val="1C252B"/>
                          </a:solidFill>
                          <a:latin typeface="Segoe UI"/>
                        </a:rPr>
                        <a:t>Internal validity</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Did X really cause Y, here?</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Confounding. </a:t>
                      </a:r>
                      <a:r>
                        <a:rPr sz="1700" b="0" i="1">
                          <a:solidFill>
                            <a:srgbClr val="1C252B"/>
                          </a:solidFill>
                          <a:latin typeface="Segoe UI"/>
                        </a:rPr>
                        <a:t>Remedy:</a:t>
                      </a:r>
                      <a:r>
                        <a:rPr sz="1700" b="0" i="0">
                          <a:solidFill>
                            <a:srgbClr val="1C252B"/>
                          </a:solidFill>
                          <a:latin typeface="Segoe UI"/>
                        </a:rPr>
                        <a:t> randomise, or control and state the assumption</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External validity</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Does it generalise beyond this sample?</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One cohort at one institution. </a:t>
                      </a:r>
                      <a:r>
                        <a:rPr sz="1700" b="0" i="1">
                          <a:solidFill>
                            <a:srgbClr val="1C252B"/>
                          </a:solidFill>
                          <a:latin typeface="Segoe UI"/>
                        </a:rPr>
                        <a:t>Remedy:</a:t>
                      </a:r>
                      <a:r>
                        <a:rPr sz="1700" b="0" i="0">
                          <a:solidFill>
                            <a:srgbClr val="1C252B"/>
                          </a:solidFill>
                          <a:latin typeface="Segoe UI"/>
                        </a:rPr>
                        <a:t> describe the context precisely; do not overclaim</a:t>
                      </a:r>
                      <a:endParaRPr sz="1700"/>
                    </a:p>
                  </a:txBody>
                  <a:tcPr marL="109728" marR="109728" marT="64008" marB="45720" anchor="t">
                    <a:lnL w="0" cmpd="sng">
                      <a:noFill/>
                    </a:lnL>
                    <a:lnR w="0" cmpd="sng">
                      <a:noFill/>
                    </a:lnR>
                    <a:lnT w="9525" cmpd="sng">
                      <a:noFill/>
                    </a:lnT>
                    <a:lnB w="9525" cmpd="sng">
                      <a:noFill/>
                    </a:lnB>
                    <a:solidFill>
                      <a:srgbClr val="F2F8FC"/>
                    </a:solidFill>
                  </a:tcPr>
                </a:tc>
              </a:tr>
              <a:tr h="923544">
                <a:tc>
                  <a:txBody>
                    <a:bodyPr wrap="square"/>
                    <a:lstStyle/>
                    <a:p>
                      <a:pPr algn="l"/>
                      <a:r>
                        <a:rPr sz="1700" b="0" i="0">
                          <a:solidFill>
                            <a:srgbClr val="1C252B"/>
                          </a:solidFill>
                          <a:latin typeface="Segoe UI"/>
                        </a:rPr>
                        <a:t>Construct validity</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Are you measuring what you claim?</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“Engagement” measured as clicks — a student may click without engaging. </a:t>
                      </a:r>
                      <a:r>
                        <a:rPr sz="1700" b="0" i="1">
                          <a:solidFill>
                            <a:srgbClr val="1C252B"/>
                          </a:solidFill>
                          <a:latin typeface="Segoe UI"/>
                        </a:rPr>
                        <a:t>Remedy:</a:t>
                      </a:r>
                      <a:r>
                        <a:rPr sz="1700" b="0" i="0">
                          <a:solidFill>
                            <a:srgbClr val="1C252B"/>
                          </a:solidFill>
                          <a:latin typeface="Segoe UI"/>
                        </a:rPr>
                        <a:t> multiple indicators</a:t>
                      </a:r>
                      <a:endParaRPr sz="1700"/>
                    </a:p>
                  </a:txBody>
                  <a:tcPr marL="109728" marR="109728" marT="64008" marB="45720" anchor="t">
                    <a:lnL w="0" cmpd="sng">
                      <a:noFill/>
                    </a:lnL>
                    <a:lnR w="0" cmpd="sng">
                      <a:noFill/>
                    </a:lnR>
                    <a:lnT w="9525" cmpd="sng">
                      <a:noFill/>
                    </a:lnT>
                    <a:lnB w="9525" cmpd="sng">
                      <a:noFill/>
                    </a:lnB>
                    <a:solidFill>
                      <a:srgbClr val="FFFFFF"/>
                    </a:solidFill>
                  </a:tcPr>
                </a:tc>
              </a:tr>
              <a:tr h="923544">
                <a:tc>
                  <a:txBody>
                    <a:bodyPr wrap="square"/>
                    <a:lstStyle/>
                    <a:p>
                      <a:pPr algn="l"/>
                      <a:r>
                        <a:rPr sz="1700" b="0" i="0">
                          <a:solidFill>
                            <a:srgbClr val="1C252B"/>
                          </a:solidFill>
                          <a:latin typeface="Segoe UI"/>
                        </a:rPr>
                        <a:t>Conclusion validity</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Are the statistical inferences sound?</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Underpowered study; multiple comparisons. </a:t>
                      </a:r>
                      <a:r>
                        <a:rPr sz="1700" b="0" i="1">
                          <a:solidFill>
                            <a:srgbClr val="1C252B"/>
                          </a:solidFill>
                          <a:latin typeface="Segoe UI"/>
                        </a:rPr>
                        <a:t>Remedy:</a:t>
                      </a:r>
                      <a:r>
                        <a:rPr sz="1700" b="0" i="0">
                          <a:solidFill>
                            <a:srgbClr val="1C252B"/>
                          </a:solidFill>
                          <a:latin typeface="Segoe UI"/>
                        </a:rPr>
                        <a:t> power analysis first, corrections after (Chapter 9)</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Reliability</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Would you get the same result again?</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Inconsistent coding of qualitative data. </a:t>
                      </a:r>
                      <a:r>
                        <a:rPr sz="1700" b="0" i="1">
                          <a:solidFill>
                            <a:srgbClr val="1C252B"/>
                          </a:solidFill>
                          <a:latin typeface="Segoe UI"/>
                        </a:rPr>
                        <a:t>Remedy:</a:t>
                      </a:r>
                      <a:r>
                        <a:rPr sz="1700" b="0" i="0">
                          <a:solidFill>
                            <a:srgbClr val="1C252B"/>
                          </a:solidFill>
                          <a:latin typeface="Segoe UI"/>
                        </a:rPr>
                        <a:t> inter-rater agreement, published rubric</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386565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Construct Validity Is the One Data Scientists Get Wrong</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29  ·  Research Methods and Experimental Design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§29.3  ·  Handout p. 191     </a:t>
            </a:r>
            <a:fld id="{5A1B48E1-D3B7-4226-B72D-2B024470FE34}"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036"/>
          </a:xfrm>
          <a:prstGeom prst="roundRect">
            <a:avLst>
              <a:gd name="adj" fmla="val 3255"/>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036"/>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We are trained to optimise a number, so we accept whatever number is available. But </a:t>
            </a:r>
            <a:r>
              <a:rPr sz="2150" b="0" i="0">
                <a:solidFill>
                  <a:srgbClr val="1F4E79"/>
                </a:solidFill>
                <a:latin typeface="Consolas"/>
              </a:rPr>
              <a:t>clicks</a:t>
            </a:r>
            <a:r>
              <a:rPr sz="2300" b="0" i="0">
                <a:solidFill>
                  <a:srgbClr val="1C252B"/>
                </a:solidFill>
                <a:latin typeface="Segoe UI"/>
              </a:rPr>
              <a:t> is not engagement, </a:t>
            </a:r>
            <a:r>
              <a:rPr sz="2150" b="0" i="0">
                <a:solidFill>
                  <a:srgbClr val="1F4E79"/>
                </a:solidFill>
                <a:latin typeface="Consolas"/>
              </a:rPr>
              <a:t>commits</a:t>
            </a:r>
            <a:r>
              <a:rPr sz="2300" b="0" i="0">
                <a:solidFill>
                  <a:srgbClr val="1C252B"/>
                </a:solidFill>
                <a:latin typeface="Segoe UI"/>
              </a:rPr>
              <a:t> is not productivity, </a:t>
            </a:r>
            <a:r>
              <a:rPr sz="2150" b="0" i="0">
                <a:solidFill>
                  <a:srgbClr val="1F4E79"/>
                </a:solidFill>
                <a:latin typeface="Consolas"/>
              </a:rPr>
              <a:t>time on page</a:t>
            </a:r>
            <a:r>
              <a:rPr sz="2300" b="0" i="0">
                <a:solidFill>
                  <a:srgbClr val="1C252B"/>
                </a:solidFill>
                <a:latin typeface="Segoe UI"/>
              </a:rPr>
              <a:t> is not attention, and </a:t>
            </a:r>
            <a:r>
              <a:rPr sz="2150" b="0" i="0">
                <a:solidFill>
                  <a:srgbClr val="1F4E79"/>
                </a:solidFill>
                <a:latin typeface="Consolas"/>
              </a:rPr>
              <a:t>alerts closed</a:t>
            </a:r>
            <a:r>
              <a:rPr sz="2300" b="0" i="0">
                <a:solidFill>
                  <a:srgbClr val="1C252B"/>
                </a:solidFill>
                <a:latin typeface="Segoe UI"/>
              </a:rPr>
              <a:t> is not security. Each is a </a:t>
            </a:r>
            <a:r>
              <a:rPr sz="2300" b="0" i="1">
                <a:solidFill>
                  <a:srgbClr val="1C252B"/>
                </a:solidFill>
                <a:latin typeface="Segoe UI"/>
              </a:rPr>
              <a:t>proxy</a:t>
            </a:r>
            <a:r>
              <a:rPr sz="2300" b="0" i="0">
                <a:solidFill>
                  <a:srgbClr val="1C252B"/>
                </a:solidFill>
                <a:latin typeface="Segoe UI"/>
              </a:rPr>
              <a:t>, and the gap between the proxy and the construct is where projects quietly go wrong — especially once people learn they are measured by it. Name the construct, name the proxy, and state the gap.</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16301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Reproducibility</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4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29.4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29.1   From Topic to Question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29.2   Choosing a Design</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29.3   Validity and Reliability</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29.4   Reproducibility</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29.5   Structuring the Write-Up</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29</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§29.4     </a:t>
            </a:r>
            <a:fld id="{D86E8D06-DB5A-42C8-8B27-394A850645E0}" type="slidenum">
              <a:rPr lang="en-GB" sz="1000">
                <a:solidFill>
                  <a:srgbClr val="8795A1"/>
                </a:solidFill>
                <a:latin typeface="Segoe UI"/>
              </a:rPr>
              <a:t>15</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446037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levels of confidence in a result</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05B06"/>
                </a:solidFill>
                <a:latin typeface="Segoe UI"/>
              </a:rPr>
              <a:t>FIGURE 29.2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29  ·  Research Methods and Experimental Design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§29.4  ·  Handout p. 192     </a:t>
            </a:r>
            <a:fld id="{F2049BB4-0395-4FBD-9722-6D4580C82F9C}" type="slidenum">
              <a:rPr lang="en-GB" sz="1000">
                <a:solidFill>
                  <a:srgbClr val="8795A1"/>
                </a:solidFill>
                <a:latin typeface="Segoe UI"/>
              </a:rPr>
              <a:t>16</a:t>
            </a:fld>
          </a:p>
        </p:txBody>
      </p:sp>
      <p:pic>
        <p:nvPicPr>
          <p:cNvPr id="6" name="!!figure" descr="Figure 29.2. Four levels of confidence in a result. Most student and industry work sits in the first column; an hour of engineering moves it to the second."/>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815648"/>
            <a:ext cx="10874959" cy="3562587"/>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Most student and industry work sits in the first column; an hour of engineering moves it to the second.</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475773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Pre-registration</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29  ·  Research Methods and Experimental Design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§29.4  ·  Handout p. 192     </a:t>
            </a:r>
            <a:fld id="{B58ED8CD-3814-4D98-9F94-0513C4F84C1E}"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Recording your hypothesis, method, sample size and analysis plan </a:t>
            </a:r>
            <a:r>
              <a:rPr sz="2300" b="0" i="1">
                <a:solidFill>
                  <a:srgbClr val="1C252B"/>
                </a:solidFill>
                <a:latin typeface="Segoe UI"/>
              </a:rPr>
              <a:t>before</a:t>
            </a:r>
            <a:r>
              <a:rPr sz="2300" b="0" i="0">
                <a:solidFill>
                  <a:srgbClr val="1C252B"/>
                </a:solidFill>
                <a:latin typeface="Segoe UI"/>
              </a:rPr>
              <a:t> collecting or examining the data. It is the structural defence against </a:t>
            </a:r>
            <a:r>
              <a:rPr sz="2300" b="0" i="1">
                <a:solidFill>
                  <a:srgbClr val="1C252B"/>
                </a:solidFill>
                <a:latin typeface="Cambria"/>
              </a:rPr>
              <a:t>p</a:t>
            </a:r>
            <a:r>
              <a:rPr sz="2300" b="0" i="0">
                <a:solidFill>
                  <a:srgbClr val="1C252B"/>
                </a:solidFill>
                <a:latin typeface="Segoe UI"/>
              </a:rPr>
              <a:t>-hacking (Chapter 9): decisions made in advance cannot be adjusted to fit the result. Even an unpublished, dated document in your repository provides most of the benefit.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05509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Structuring the Write-Up</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5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29.5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29.1   From Topic to Question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29.2   Choosing a Design</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29.3   Validity and Reliability</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29.4   Reproducibility</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29.5   Structuring the Write-Up</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29</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§29.5     </a:t>
            </a:r>
            <a:fld id="{1C449564-49AB-406E-8FE8-A8D9C11D342D}" type="slidenum">
              <a:rPr lang="en-GB" sz="1000">
                <a:solidFill>
                  <a:srgbClr val="8795A1"/>
                </a:solidFill>
                <a:latin typeface="Segoe UI"/>
              </a:rPr>
              <a:t>18</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535245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Structuring the Write-Up</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29  ·  Research Methods and Experimental Design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§29.5  ·  Handout p. 192     </a:t>
            </a:r>
            <a:fld id="{30A8AEF5-3D3C-4CF8-8EE4-8243DD019030}" type="slidenum">
              <a:rPr lang="en-GB" sz="1000">
                <a:solidFill>
                  <a:srgbClr val="8795A1"/>
                </a:solidFill>
                <a:latin typeface="Segoe UI"/>
              </a:rPr>
              <a:t>19</a:t>
            </a:fld>
          </a:p>
        </p:txBody>
      </p:sp>
      <p:graphicFrame>
        <p:nvGraphicFramePr>
          <p:cNvPr id="7" name="!!table"/>
          <p:cNvGraphicFramePr>
            <a:graphicFrameLocks noGrp="1"/>
          </p:cNvGraphicFramePr>
          <p:nvPr/>
        </p:nvGraphicFramePr>
        <p:xfrm>
          <a:off x="658368" y="1737360"/>
          <a:ext cx="10874958" cy="3907536"/>
        </p:xfrm>
        <a:graphic>
          <a:graphicData uri="http://schemas.openxmlformats.org/drawingml/2006/table">
            <a:tbl>
              <a:tblPr firstRow="0" bandRow="0" firstCol="0" lastRow="0" lastCol="0" bandCol="0">
                <a:tableStyleId>{2D5ABB26-0587-4C30-8999-92F81FD0307C}</a:tableStyleId>
              </a:tblPr>
              <a:tblGrid>
                <a:gridCol w="2097313"/>
                <a:gridCol w="3417844"/>
                <a:gridCol w="5359801"/>
              </a:tblGrid>
              <a:tr h="405384">
                <a:tc>
                  <a:txBody>
                    <a:bodyPr wrap="square"/>
                    <a:lstStyle/>
                    <a:p>
                      <a:pPr algn="l"/>
                      <a:r>
                        <a:rPr sz="1700" b="1" i="0">
                          <a:solidFill>
                            <a:srgbClr val="1A5276"/>
                          </a:solidFill>
                          <a:latin typeface="Segoe UI"/>
                        </a:rPr>
                        <a:t>Section</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Answers</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Common failure</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405384">
                <a:tc>
                  <a:txBody>
                    <a:bodyPr wrap="square"/>
                    <a:lstStyle/>
                    <a:p>
                      <a:pPr algn="l"/>
                      <a:r>
                        <a:rPr sz="1700" b="0" i="0">
                          <a:solidFill>
                            <a:srgbClr val="1C252B"/>
                          </a:solidFill>
                          <a:latin typeface="Segoe UI"/>
                        </a:rPr>
                        <a:t>Abstract</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The whole study in 200 words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Written first. Write it last</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Introduction</a:t>
                      </a:r>
                      <a:endParaRPr sz="17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700" b="0" i="0">
                          <a:solidFill>
                            <a:srgbClr val="1C252B"/>
                          </a:solidFill>
                          <a:latin typeface="Segoe UI"/>
                        </a:rPr>
                        <a:t>Why does this matter?</a:t>
                      </a:r>
                      <a:endParaRPr sz="17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700" b="0" i="0">
                          <a:solidFill>
                            <a:srgbClr val="1C252B"/>
                          </a:solidFill>
                          <a:latin typeface="Segoe UI"/>
                        </a:rPr>
                        <a:t>Background with no stated gap or question</a:t>
                      </a:r>
                      <a:endParaRPr sz="1700"/>
                    </a:p>
                  </a:txBody>
                  <a:tcPr marL="109728" marR="109728" marT="64008" marB="45720" anchor="t">
                    <a:lnL w="0" cmpd="sng">
                      <a:noFill/>
                    </a:lnL>
                    <a:lnR w="0" cmpd="sng">
                      <a:noFill/>
                    </a:lnR>
                    <a:lnT w="9525" cmpd="sng">
                      <a:noFill/>
                    </a:lnT>
                    <a:lnB w="9525" cmpd="sng">
                      <a:noFill/>
                    </a:lnB>
                    <a:solidFill>
                      <a:srgbClr val="FEF7F1"/>
                    </a:solidFill>
                  </a:tcPr>
                </a:tc>
              </a:tr>
              <a:tr h="664464">
                <a:tc>
                  <a:txBody>
                    <a:bodyPr wrap="square"/>
                    <a:lstStyle/>
                    <a:p>
                      <a:pPr algn="l"/>
                      <a:r>
                        <a:rPr sz="1700" b="0" i="0">
                          <a:solidFill>
                            <a:srgbClr val="1C252B"/>
                          </a:solidFill>
                          <a:latin typeface="Segoe UI"/>
                        </a:rPr>
                        <a:t>Literature review</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What is already known?</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A list of summaries instead of a synthesis that leads to your gap</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Methodology</a:t>
                      </a:r>
                      <a:endParaRPr sz="17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700" b="0" i="0">
                          <a:solidFill>
                            <a:srgbClr val="1C252B"/>
                          </a:solidFill>
                          <a:latin typeface="Segoe UI"/>
                        </a:rPr>
                        <a:t>What did you do, exactly?</a:t>
                      </a:r>
                      <a:endParaRPr sz="17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700" b="0" i="0">
                          <a:solidFill>
                            <a:srgbClr val="1C252B"/>
                          </a:solidFill>
                          <a:latin typeface="Segoe UI"/>
                        </a:rPr>
                        <a:t>Not enough detail for anyone to repeat it</a:t>
                      </a:r>
                      <a:endParaRPr sz="1700"/>
                    </a:p>
                  </a:txBody>
                  <a:tcPr marL="109728" marR="109728" marT="64008" marB="45720" anchor="t">
                    <a:lnL w="0" cmpd="sng">
                      <a:noFill/>
                    </a:lnL>
                    <a:lnR w="0" cmpd="sng">
                      <a:noFill/>
                    </a:lnR>
                    <a:lnT w="9525" cmpd="sng">
                      <a:noFill/>
                    </a:lnT>
                    <a:lnB w="9525" cmpd="sng">
                      <a:noFill/>
                    </a:lnB>
                    <a:solidFill>
                      <a:srgbClr val="FEF7F1"/>
                    </a:solidFill>
                  </a:tcPr>
                </a:tc>
              </a:tr>
              <a:tr h="405384">
                <a:tc>
                  <a:txBody>
                    <a:bodyPr wrap="square"/>
                    <a:lstStyle/>
                    <a:p>
                      <a:pPr algn="l"/>
                      <a:r>
                        <a:rPr sz="1700" b="0" i="0">
                          <a:solidFill>
                            <a:srgbClr val="1C252B"/>
                          </a:solidFill>
                          <a:latin typeface="Segoe UI"/>
                        </a:rPr>
                        <a:t>Results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What did you find?</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Interpretation smuggled into the results section</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Discussion</a:t>
                      </a:r>
                      <a:endParaRPr sz="17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700" b="0" i="0">
                          <a:solidFill>
                            <a:srgbClr val="1C252B"/>
                          </a:solidFill>
                          <a:latin typeface="Segoe UI"/>
                        </a:rPr>
                        <a:t>What does it mean?</a:t>
                      </a:r>
                      <a:endParaRPr sz="17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700" b="0" i="0">
                          <a:solidFill>
                            <a:srgbClr val="1C252B"/>
                          </a:solidFill>
                          <a:latin typeface="Segoe UI"/>
                        </a:rPr>
                        <a:t>Overclaiming; ignoring limitations</a:t>
                      </a:r>
                      <a:endParaRPr sz="1700"/>
                    </a:p>
                  </a:txBody>
                  <a:tcPr marL="109728" marR="109728" marT="64008" marB="45720" anchor="t">
                    <a:lnL w="0" cmpd="sng">
                      <a:noFill/>
                    </a:lnL>
                    <a:lnR w="0" cmpd="sng">
                      <a:noFill/>
                    </a:lnR>
                    <a:lnT w="9525" cmpd="sng">
                      <a:noFill/>
                    </a:lnT>
                    <a:lnB w="9525" cmpd="sng">
                      <a:noFill/>
                    </a:lnB>
                    <a:solidFill>
                      <a:srgbClr val="FEF7F1"/>
                    </a:solidFill>
                  </a:tcPr>
                </a:tc>
              </a:tr>
              <a:tr h="405384">
                <a:tc>
                  <a:txBody>
                    <a:bodyPr wrap="square"/>
                    <a:lstStyle/>
                    <a:p>
                      <a:pPr algn="l"/>
                      <a:r>
                        <a:rPr sz="1700" b="0" i="0">
                          <a:solidFill>
                            <a:srgbClr val="1C252B"/>
                          </a:solidFill>
                          <a:latin typeface="Segoe UI"/>
                        </a:rPr>
                        <a:t>Limitations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Where is it weak?</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Omitted, or reduced to “more data would help”</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Conclusion</a:t>
                      </a:r>
                      <a:endParaRPr sz="1700"/>
                    </a:p>
                  </a:txBody>
                  <a:tcPr marL="109728" marR="109728" marT="64008" marB="45720" anchor="t">
                    <a:lnL w="0" cmpd="sng">
                      <a:noFill/>
                    </a:lnL>
                    <a:lnR w="0" cmpd="sng">
                      <a:noFill/>
                    </a:lnR>
                    <a:lnT w="19050" cmpd="sng">
                      <a:noFill/>
                    </a:lnT>
                    <a:lnB w="19050" cmpd="sng">
                      <a:solidFill>
                        <a:srgbClr val="1A5276"/>
                      </a:solidFill>
                    </a:lnB>
                    <a:solidFill>
                      <a:srgbClr val="FEF7F1"/>
                    </a:solidFill>
                  </a:tcPr>
                </a:tc>
                <a:tc>
                  <a:txBody>
                    <a:bodyPr wrap="square"/>
                    <a:lstStyle/>
                    <a:p>
                      <a:pPr algn="l"/>
                      <a:r>
                        <a:rPr sz="1700" b="0" i="0">
                          <a:solidFill>
                            <a:srgbClr val="1C252B"/>
                          </a:solidFill>
                          <a:latin typeface="Segoe UI"/>
                        </a:rPr>
                        <a:t>So what?</a:t>
                      </a:r>
                      <a:endParaRPr sz="1700"/>
                    </a:p>
                  </a:txBody>
                  <a:tcPr marL="109728" marR="109728" marT="64008" marB="45720" anchor="t">
                    <a:lnL w="0" cmpd="sng">
                      <a:noFill/>
                    </a:lnL>
                    <a:lnR w="0" cmpd="sng">
                      <a:noFill/>
                    </a:lnR>
                    <a:lnT w="19050" cmpd="sng">
                      <a:noFill/>
                    </a:lnT>
                    <a:lnB w="19050" cmpd="sng">
                      <a:solidFill>
                        <a:srgbClr val="1A5276"/>
                      </a:solidFill>
                    </a:lnB>
                    <a:solidFill>
                      <a:srgbClr val="FEF7F1"/>
                    </a:solidFill>
                  </a:tcPr>
                </a:tc>
                <a:tc>
                  <a:txBody>
                    <a:bodyPr wrap="square"/>
                    <a:lstStyle/>
                    <a:p>
                      <a:pPr algn="l"/>
                      <a:r>
                        <a:rPr sz="1700" b="0" i="0">
                          <a:solidFill>
                            <a:srgbClr val="1C252B"/>
                          </a:solidFill>
                          <a:latin typeface="Segoe UI"/>
                        </a:rPr>
                        <a:t>New material appearing for the first time</a:t>
                      </a:r>
                      <a:endParaRPr sz="1700"/>
                    </a:p>
                  </a:txBody>
                  <a:tcPr marL="109728" marR="109728" marT="64008" marB="45720" anchor="t">
                    <a:lnL w="0" cmpd="sng">
                      <a:noFill/>
                    </a:lnL>
                    <a:lnR w="0" cmpd="sng">
                      <a:noFill/>
                    </a:lnR>
                    <a:lnT w="19050" cmpd="sng">
                      <a:noFill/>
                    </a:lnT>
                    <a:lnB w="19050" cmpd="sng">
                      <a:solidFill>
                        <a:srgbClr val="1A5276"/>
                      </a:solidFill>
                    </a:lnB>
                    <a:solidFill>
                      <a:srgbClr val="FEF7F1"/>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564980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Limitations Section Is Where You Gain Credibility</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29  ·  Research Methods and Experimental Design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§29.5  ·  Handout p. 192     </a:t>
            </a:r>
            <a:fld id="{501FFAB6-AEEF-47F4-978F-F68EF8CBF06B}"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036"/>
          </a:xfrm>
          <a:prstGeom prst="roundRect">
            <a:avLst>
              <a:gd name="adj" fmla="val 3255"/>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036"/>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Students treat limitations as a confession that weakens the work. Examiners read it as evidence that you understand your own study. “The sample was one cohort at one institution, so generalisation to other contexts is not supported; the study was powered to detect a 14-point effect, so a smaller true effect would have been missed” demonstrates more competence than any result in the paper. Write it specifically, with numbers.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94716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Research Design</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29  ·  Research Methods and Experimental Design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195     </a:t>
            </a:r>
            <a:fld id="{019A578E-1A89-4FF4-A387-B9D3B285DAD1}" type="slidenum">
              <a:rPr lang="en-GB" sz="1000">
                <a:solidFill>
                  <a:srgbClr val="8795A1"/>
                </a:solidFill>
                <a:latin typeface="Segoe UI"/>
              </a:rPr>
              <a:t>21</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1">
                <a:solidFill>
                  <a:srgbClr val="1C252B"/>
                </a:solidFill>
                <a:latin typeface="Segoe UI"/>
              </a:rPr>
              <a:t>Question:</a:t>
            </a:r>
            <a:r>
              <a:rPr sz="2300" b="0" i="0">
                <a:solidFill>
                  <a:srgbClr val="1C252B"/>
                </a:solidFill>
                <a:latin typeface="Segoe UI"/>
              </a:rPr>
              <a:t> does a specific intervention improve a specific outcome?</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1">
                <a:solidFill>
                  <a:srgbClr val="1C252B"/>
                </a:solidFill>
                <a:latin typeface="Segoe UI"/>
              </a:rPr>
              <a:t>Question:</a:t>
            </a:r>
            <a:r>
              <a:rPr sz="2300" b="0" i="0">
                <a:solidFill>
                  <a:srgbClr val="1C252B"/>
                </a:solidFill>
                <a:latin typeface="Segoe UI"/>
              </a:rPr>
              <a:t> does a practice change delivery predictability?</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The easiest domain in this book for clean experiments: devices can be randomised at essentially no cost and in large numbers, with no consent problem.</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1">
                <a:solidFill>
                  <a:srgbClr val="1C252B"/>
                </a:solidFill>
                <a:latin typeface="Segoe UI"/>
              </a:rPr>
              <a:t>Question:</a:t>
            </a:r>
            <a:r>
              <a:rPr sz="2300" b="0" i="0">
                <a:solidFill>
                  <a:srgbClr val="1C252B"/>
                </a:solidFill>
                <a:latin typeface="Segoe UI"/>
              </a:rPr>
              <a:t> does a detection change reduce time to detect?</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624452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Research Design</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29  ·  Research Methods and Experimental Design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195     </a:t>
            </a:r>
            <a:fld id="{3E4E9653-B654-4A4A-9AC0-5066990C6745}" type="slidenum">
              <a:rPr lang="en-GB" sz="1000">
                <a:solidFill>
                  <a:srgbClr val="8795A1"/>
                </a:solidFill>
                <a:latin typeface="Segoe UI"/>
              </a:rPr>
              <a:t>22</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3183940"/>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Segoe UI"/>
              </a:rPr>
              <a:t>Question:</a:t>
            </a:r>
            <a:r>
              <a:rPr sz="2200" b="0" i="0">
                <a:solidFill>
                  <a:srgbClr val="1C252B"/>
                </a:solidFill>
                <a:latin typeface="Segoe UI"/>
              </a:rPr>
              <a:t> does a specific intervention improve a specific outcome? </a:t>
            </a:r>
            <a:r>
              <a:rPr sz="2200" b="0" i="1">
                <a:solidFill>
                  <a:srgbClr val="1C252B"/>
                </a:solidFill>
                <a:latin typeface="Segoe UI"/>
              </a:rPr>
              <a:t>Design:</a:t>
            </a:r>
            <a:r>
              <a:rPr sz="2200" b="0" i="0">
                <a:solidFill>
                  <a:srgbClr val="1C252B"/>
                </a:solidFill>
                <a:latin typeface="Segoe UI"/>
              </a:rPr>
              <a:t> randomise which students are </a:t>
            </a:r>
            <a:r>
              <a:rPr sz="2200" b="0" i="1">
                <a:solidFill>
                  <a:srgbClr val="1C252B"/>
                </a:solidFill>
                <a:latin typeface="Segoe UI"/>
              </a:rPr>
              <a:t>offered</a:t>
            </a:r>
            <a:r>
              <a:rPr sz="2200" b="0" i="0">
                <a:solidFill>
                  <a:srgbClr val="1C252B"/>
                </a:solidFill>
                <a:latin typeface="Segoe UI"/>
              </a:rPr>
              <a:t> the intervention, then analyse by offer rather than by uptake — this keeps the comparison causal even though attendance is voluntary. </a:t>
            </a:r>
            <a:r>
              <a:rPr sz="2200" b="0" i="1">
                <a:solidFill>
                  <a:srgbClr val="1C252B"/>
                </a:solidFill>
                <a:latin typeface="Segoe UI"/>
              </a:rPr>
              <a:t>Validity threat:</a:t>
            </a:r>
            <a:r>
              <a:rPr sz="2200" b="0" i="0">
                <a:solidFill>
                  <a:srgbClr val="1C252B"/>
                </a:solidFill>
                <a:latin typeface="Segoe UI"/>
              </a:rPr>
              <a:t> construct validity, because “engagement” is measured by clicks. </a:t>
            </a:r>
            <a:r>
              <a:rPr sz="2200" b="0" i="1">
                <a:solidFill>
                  <a:srgbClr val="1C252B"/>
                </a:solidFill>
                <a:latin typeface="Segoe UI"/>
              </a:rPr>
              <a:t>Ethical constraint:</a:t>
            </a:r>
            <a:r>
              <a:rPr sz="2200" b="0" i="0">
                <a:solidFill>
                  <a:srgbClr val="1C252B"/>
                </a:solidFill>
                <a:latin typeface="Segoe UI"/>
              </a:rPr>
              <a:t> a control group denied a support service believed to work is hard to justify, so use a stepped-wedge design in which every group receives it eventually (Chapter 28).</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54188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Research Design</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29  ·  Research Methods and Experimental Design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195     </a:t>
            </a:r>
            <a:fld id="{3057A4CD-3B46-4704-AD76-260BF426FBEB}" type="slidenum">
              <a:rPr lang="en-GB" sz="1000">
                <a:solidFill>
                  <a:srgbClr val="8795A1"/>
                </a:solidFill>
                <a:latin typeface="Segoe UI"/>
              </a:rPr>
              <a:t>23</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3183940"/>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Segoe UI"/>
              </a:rPr>
              <a:t>Question:</a:t>
            </a:r>
            <a:r>
              <a:rPr sz="2200" b="0" i="0">
                <a:solidFill>
                  <a:srgbClr val="1C252B"/>
                </a:solidFill>
                <a:latin typeface="Segoe UI"/>
              </a:rPr>
              <a:t> does a practice change delivery predictability? </a:t>
            </a:r>
            <a:r>
              <a:rPr sz="2200" b="0" i="1">
                <a:solidFill>
                  <a:srgbClr val="1C252B"/>
                </a:solidFill>
                <a:latin typeface="Segoe UI"/>
              </a:rPr>
              <a:t>Design:</a:t>
            </a:r>
            <a:r>
              <a:rPr sz="2200" b="0" i="0">
                <a:solidFill>
                  <a:srgbClr val="1C252B"/>
                </a:solidFill>
                <a:latin typeface="Segoe UI"/>
              </a:rPr>
              <a:t> randomising methodology across projects is rarely feasible, so use difference-in-differences across teams adopting at different times (Chapter 10). </a:t>
            </a:r>
            <a:r>
              <a:rPr sz="2200" b="0" i="1">
                <a:solidFill>
                  <a:srgbClr val="1C252B"/>
                </a:solidFill>
                <a:latin typeface="Segoe UI"/>
              </a:rPr>
              <a:t>Validity threat:</a:t>
            </a:r>
            <a:r>
              <a:rPr sz="2200" b="0" i="0">
                <a:solidFill>
                  <a:srgbClr val="1C252B"/>
                </a:solidFill>
                <a:latin typeface="Segoe UI"/>
              </a:rPr>
              <a:t> internal validity — teams that adopt a new practice early differ systematically from those that do not. </a:t>
            </a:r>
            <a:r>
              <a:rPr sz="2200" b="0" i="1">
                <a:solidFill>
                  <a:srgbClr val="1C252B"/>
                </a:solidFill>
                <a:latin typeface="Segoe UI"/>
              </a:rPr>
              <a:t>Sample-size reality:</a:t>
            </a:r>
            <a:r>
              <a:rPr sz="2200" b="0" i="0">
                <a:solidFill>
                  <a:srgbClr val="1C252B"/>
                </a:solidFill>
                <a:latin typeface="Segoe UI"/>
              </a:rPr>
              <a:t> with 12 teams, no quantitative result will be conclusive, so pair it with interviews and report it as a mixed-methods case study.</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83924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Research Design</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29  ·  Research Methods and Experimental Design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195     </a:t>
            </a:r>
            <a:fld id="{31979C19-071F-423B-B16C-5FC2E47ED4B0}" type="slidenum">
              <a:rPr lang="en-GB" sz="1000">
                <a:solidFill>
                  <a:srgbClr val="8795A1"/>
                </a:solidFill>
                <a:latin typeface="Segoe UI"/>
              </a:rPr>
              <a:t>24</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easiest domain in this book for clean experiments: devices can be randomised at essentially no cost and in large numbers, with no consent problem. Push firmware A to a random half of a 400-device fleet and you have a genuine RCT with </a:t>
            </a:r>
            <a:r>
              <a:rPr sz="2200" b="0" i="1">
                <a:solidFill>
                  <a:srgbClr val="1C252B"/>
                </a:solidFill>
                <a:latin typeface="Cambria"/>
              </a:rPr>
              <a:t>n</a:t>
            </a:r>
            <a:r>
              <a:rPr sz="2200" b="0" i="0">
                <a:solidFill>
                  <a:srgbClr val="1C252B"/>
                </a:solidFill>
                <a:latin typeface="Cambria"/>
              </a:rPr>
              <a:t>=400</a:t>
            </a:r>
            <a:r>
              <a:rPr sz="2200" b="0" i="0">
                <a:solidFill>
                  <a:srgbClr val="1C252B"/>
                </a:solidFill>
                <a:latin typeface="Segoe UI"/>
              </a:rPr>
              <a:t>. </a:t>
            </a:r>
            <a:r>
              <a:rPr sz="2200" b="0" i="1">
                <a:solidFill>
                  <a:srgbClr val="1C252B"/>
                </a:solidFill>
                <a:latin typeface="Segoe UI"/>
              </a:rPr>
              <a:t>Validity threat:</a:t>
            </a:r>
            <a:r>
              <a:rPr sz="2200" b="0" i="0">
                <a:solidFill>
                  <a:srgbClr val="1C252B"/>
                </a:solidFill>
                <a:latin typeface="Segoe UI"/>
              </a:rPr>
              <a:t> external validity — results from one site’s equipment, duty cycle and environment may not transfer to another. Report the operating conditions as carefully as the results.</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13660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Research Design</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29  ·  Research Methods and Experimental Design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195     </a:t>
            </a:r>
            <a:fld id="{A9953158-DE87-43C5-B080-38BBDB142005}" type="slidenum">
              <a:rPr lang="en-GB" sz="1000">
                <a:solidFill>
                  <a:srgbClr val="8795A1"/>
                </a:solidFill>
                <a:latin typeface="Segoe UI"/>
              </a:rPr>
              <a:t>25</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3706977"/>
          </a:xfrm>
          <a:prstGeom prst="rect">
            <a:avLst/>
          </a:prstGeom>
          <a:noFill/>
        </p:spPr>
        <p:txBody>
          <a:bodyPr wrap="square" anchor="t" lIns="0" rIns="0" tIns="0" bIns="0">
            <a:noAutofit/>
          </a:bodyPr>
          <a:lstStyle/>
          <a:p>
            <a:pPr algn="l">
              <a:lnSpc>
                <a:spcPct val="104000"/>
              </a:lnSpc>
              <a:spcBef>
                <a:spcPts val="0"/>
              </a:spcBef>
              <a:spcAft>
                <a:spcPts val="0"/>
              </a:spcAft>
            </a:pPr>
            <a:r>
              <a:rPr sz="2100" b="0" i="1">
                <a:solidFill>
                  <a:srgbClr val="1C252B"/>
                </a:solidFill>
                <a:latin typeface="Segoe UI"/>
              </a:rPr>
              <a:t>Question:</a:t>
            </a:r>
            <a:r>
              <a:rPr sz="2100" b="0" i="0">
                <a:solidFill>
                  <a:srgbClr val="1C252B"/>
                </a:solidFill>
                <a:latin typeface="Segoe UI"/>
              </a:rPr>
              <a:t> does a detection change reduce time to detect? </a:t>
            </a:r>
            <a:r>
              <a:rPr sz="2100" b="0" i="1">
                <a:solidFill>
                  <a:srgbClr val="1C252B"/>
                </a:solidFill>
                <a:latin typeface="Segoe UI"/>
              </a:rPr>
              <a:t>Design:</a:t>
            </a:r>
            <a:r>
              <a:rPr sz="2100" b="0" i="0">
                <a:solidFill>
                  <a:srgbClr val="1C252B"/>
                </a:solidFill>
                <a:latin typeface="Segoe UI"/>
              </a:rPr>
              <a:t> A/B test rules on randomly split traffic; observational comparison is almost worthless here because organisations that buy more tooling also suffer more incidents (reverse causation, Chapter 10). </a:t>
            </a:r>
            <a:r>
              <a:rPr sz="2100" b="0" i="1">
                <a:solidFill>
                  <a:srgbClr val="1C252B"/>
                </a:solidFill>
                <a:latin typeface="Segoe UI"/>
              </a:rPr>
              <a:t>Validity threat:</a:t>
            </a:r>
            <a:r>
              <a:rPr sz="2100" b="0" i="0">
                <a:solidFill>
                  <a:srgbClr val="1C252B"/>
                </a:solidFill>
                <a:latin typeface="Segoe UI"/>
              </a:rPr>
              <a:t> conclusion validity — attacks are rare, so studies are chronically underpowered, and a non-significant result usually means the study was too small rather than that nothing happened. </a:t>
            </a:r>
            <a:r>
              <a:rPr sz="2100" b="0" i="1">
                <a:solidFill>
                  <a:srgbClr val="1C252B"/>
                </a:solidFill>
                <a:latin typeface="Segoe UI"/>
              </a:rPr>
              <a:t>Special constraint:</a:t>
            </a:r>
            <a:r>
              <a:rPr sz="2100" b="0" i="0">
                <a:solidFill>
                  <a:srgbClr val="1C252B"/>
                </a:solidFill>
                <a:latin typeface="Segoe UI"/>
              </a:rPr>
              <a:t> publishing method detail helps attackers, which creates a genuine tension with reproducibility that must be managed rather than ignored.</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43396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Making Your Own Project Reproducible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29  ·  Research Methods and Experimental Design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§29.5  ·  Handout p. 192     </a:t>
            </a:r>
            <a:fld id="{3739D3B1-C284-47B2-B33A-12702BF09FA1}" type="slidenum">
              <a:rPr lang="en-GB" sz="1000">
                <a:solidFill>
                  <a:srgbClr val="8795A1"/>
                </a:solidFill>
                <a:latin typeface="Segoe UI"/>
              </a:rPr>
              <a:t>26</a:t>
            </a:fld>
          </a:p>
        </p:txBody>
      </p:sp>
      <p:sp>
        <p:nvSpPr>
          <p:cNvPr id="7" name="!!lfTHIS">
            <a:extLst>
              <a:ext uri="{C183D7F6-B498-43B3-948B-1728B52AA6E4}">
                <adec:decorative xmlns:adec="http://schemas.microsoft.com/office/drawing/2017/decorative" val="1"/>
              </a:ext>
            </a:extLst>
          </p:cNvPr>
          <p:cNvSpPr/>
          <p:nvPr/>
        </p:nvSpPr>
        <p:spPr>
          <a:xfrm>
            <a:off x="658368" y="192024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fbTHIS">
            <a:extLst>
              <a:ext uri="{C183D7F6-B498-43B3-948B-1728B52AA6E4}">
                <adec:decorative xmlns:adec="http://schemas.microsoft.com/office/drawing/2017/decorative" val="1"/>
              </a:ext>
            </a:extLst>
          </p:cNvPr>
          <p:cNvSpPr/>
          <p:nvPr/>
        </p:nvSpPr>
        <p:spPr>
          <a:xfrm>
            <a:off x="658368" y="192024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flTHIS"/>
          <p:cNvSpPr txBox="1"/>
          <p:nvPr/>
        </p:nvSpPr>
        <p:spPr>
          <a:xfrm>
            <a:off x="932688" y="208483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10" name="!!lfvTHIS"/>
          <p:cNvSpPr txBox="1"/>
          <p:nvPr/>
        </p:nvSpPr>
        <p:spPr>
          <a:xfrm>
            <a:off x="932688" y="237744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16: Monitored service; fairness measurement</a:t>
            </a:r>
          </a:p>
        </p:txBody>
      </p:sp>
      <p:sp>
        <p:nvSpPr>
          <p:cNvPr id="11" name="!!lfWHAT">
            <a:extLst>
              <a:ext uri="{C183D7F6-B498-43B3-948B-1728B52AA6E4}">
                <adec:decorative xmlns:adec="http://schemas.microsoft.com/office/drawing/2017/decorative" val="1"/>
              </a:ext>
            </a:extLst>
          </p:cNvPr>
          <p:cNvSpPr/>
          <p:nvPr/>
        </p:nvSpPr>
        <p:spPr>
          <a:xfrm>
            <a:off x="4374794" y="192024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lfbWHAT">
            <a:extLst>
              <a:ext uri="{C183D7F6-B498-43B3-948B-1728B52AA6E4}">
                <adec:decorative xmlns:adec="http://schemas.microsoft.com/office/drawing/2017/decorative" val="1"/>
              </a:ext>
            </a:extLst>
          </p:cNvPr>
          <p:cNvSpPr/>
          <p:nvPr/>
        </p:nvSpPr>
        <p:spPr>
          <a:xfrm>
            <a:off x="4374794" y="192024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lflWHAT"/>
          <p:cNvSpPr txBox="1"/>
          <p:nvPr/>
        </p:nvSpPr>
        <p:spPr>
          <a:xfrm>
            <a:off x="4649114" y="208483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14" name="!!lfvWHAT"/>
          <p:cNvSpPr txBox="1"/>
          <p:nvPr/>
        </p:nvSpPr>
        <p:spPr>
          <a:xfrm>
            <a:off x="4649114" y="237744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2 listings, 41 lines of Python, Text</a:t>
            </a:r>
          </a:p>
        </p:txBody>
      </p:sp>
      <p:sp>
        <p:nvSpPr>
          <p:cNvPr id="15" name="!!lfRUNN">
            <a:extLst>
              <a:ext uri="{C183D7F6-B498-43B3-948B-1728B52AA6E4}">
                <adec:decorative xmlns:adec="http://schemas.microsoft.com/office/drawing/2017/decorative" val="1"/>
              </a:ext>
            </a:extLst>
          </p:cNvPr>
          <p:cNvSpPr/>
          <p:nvPr/>
        </p:nvSpPr>
        <p:spPr>
          <a:xfrm>
            <a:off x="8091220" y="192024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lfbRUNN">
            <a:extLst>
              <a:ext uri="{C183D7F6-B498-43B3-948B-1728B52AA6E4}">
                <adec:decorative xmlns:adec="http://schemas.microsoft.com/office/drawing/2017/decorative" val="1"/>
              </a:ext>
            </a:extLst>
          </p:cNvPr>
          <p:cNvSpPr/>
          <p:nvPr/>
        </p:nvSpPr>
        <p:spPr>
          <a:xfrm>
            <a:off x="8091220" y="192024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lflRUNN"/>
          <p:cNvSpPr txBox="1"/>
          <p:nvPr/>
        </p:nvSpPr>
        <p:spPr>
          <a:xfrm>
            <a:off x="8365540" y="208483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18" name="!!lfvRUNN"/>
          <p:cNvSpPr txBox="1"/>
          <p:nvPr/>
        </p:nvSpPr>
        <p:spPr>
          <a:xfrm>
            <a:off x="8365540" y="237744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code/ch29_provenance.py</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773131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Making Your Own Project Reproducible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2  ·  LISTING 1</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29  ·  Research Methods and Experimental Design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§29.5  ·  Handout p. 192     </a:t>
            </a:r>
            <a:fld id="{670B1A97-8695-4897-B112-59B94BB45334}"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072383"/>
          </a:xfrm>
          <a:prstGeom prst="roundRect">
            <a:avLst>
              <a:gd name="adj" fmla="val 29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code/ch29_provenance.py</a:t>
            </a:r>
          </a:p>
        </p:txBody>
      </p:sp>
      <p:sp>
        <p:nvSpPr>
          <p:cNvPr id="14" name="!!code-text" descr="&quot;&quot;&quot;Put this at the top of every analysis script. It costs five minutes.&quot;&quot;&quot; import random, os, json, subprocess from datetime import datetime import numpy as np SEED = 42 random.seed(SEED); np.random.seed(SEED) os.environ[&quot;PYTHONHASHSEED&quot;] = str(SEED) # torch.manual_seed(SEED); torch.use_deterministic_algorithms(True)"/>
          <p:cNvSpPr txBox="1"/>
          <p:nvPr/>
        </p:nvSpPr>
        <p:spPr>
          <a:xfrm>
            <a:off x="1362456" y="2523744"/>
            <a:ext cx="9987991" cy="2578607"/>
          </a:xfrm>
          <a:prstGeom prst="rect">
            <a:avLst/>
          </a:prstGeom>
          <a:noFill/>
        </p:spPr>
        <p:txBody>
          <a:bodyPr wrap="none" anchor="t" lIns="0" rIns="0" tIns="0" bIns="0">
            <a:noAutofit/>
          </a:bodyPr>
          <a:lstStyle/>
          <a:p>
            <a:pPr>
              <a:lnSpc>
                <a:spcPct val="100000"/>
              </a:lnSpc>
              <a:spcAft>
                <a:spcPts val="0"/>
              </a:spcAft>
            </a:pPr>
            <a:r>
              <a:rPr sz="1800" i="0">
                <a:solidFill>
                  <a:srgbClr val="7DCEA0"/>
                </a:solidFill>
                <a:latin typeface="Consolas"/>
              </a:rPr>
              <a:t>"""Put this at the top of every analysis script. It costs five minutes."""</a:t>
            </a:r>
          </a:p>
          <a:p>
            <a:pPr>
              <a:lnSpc>
                <a:spcPct val="100000"/>
              </a:lnSpc>
              <a:spcAft>
                <a:spcPts val="0"/>
              </a:spcAft>
            </a:pPr>
            <a:r>
              <a:rPr sz="1800" i="0">
                <a:solidFill>
                  <a:srgbClr val="5DADE2"/>
                </a:solidFill>
                <a:latin typeface="Consolas"/>
              </a:rPr>
              <a:t>import</a:t>
            </a:r>
            <a:r>
              <a:rPr sz="1800" i="0">
                <a:solidFill>
                  <a:srgbClr val="E8EDF2"/>
                </a:solidFill>
                <a:latin typeface="Consolas"/>
              </a:rPr>
              <a:t> </a:t>
            </a:r>
            <a:r>
              <a:rPr sz="1800" i="0">
                <a:solidFill>
                  <a:srgbClr val="76D7C4"/>
                </a:solidFill>
                <a:latin typeface="Consolas"/>
              </a:rPr>
              <a:t>random</a:t>
            </a:r>
            <a:r>
              <a:rPr sz="1800" i="0">
                <a:solidFill>
                  <a:srgbClr val="AEB6BF"/>
                </a:solidFill>
                <a:latin typeface="Consolas"/>
              </a:rPr>
              <a:t>,</a:t>
            </a:r>
            <a:r>
              <a:rPr sz="1800" i="0">
                <a:solidFill>
                  <a:srgbClr val="E8EDF2"/>
                </a:solidFill>
                <a:latin typeface="Consolas"/>
              </a:rPr>
              <a:t> </a:t>
            </a:r>
            <a:r>
              <a:rPr sz="1800" i="0">
                <a:solidFill>
                  <a:srgbClr val="76D7C4"/>
                </a:solidFill>
                <a:latin typeface="Consolas"/>
              </a:rPr>
              <a:t>os</a:t>
            </a:r>
            <a:r>
              <a:rPr sz="1800" i="0">
                <a:solidFill>
                  <a:srgbClr val="AEB6BF"/>
                </a:solidFill>
                <a:latin typeface="Consolas"/>
              </a:rPr>
              <a:t>,</a:t>
            </a:r>
            <a:r>
              <a:rPr sz="1800" i="0">
                <a:solidFill>
                  <a:srgbClr val="E8EDF2"/>
                </a:solidFill>
                <a:latin typeface="Consolas"/>
              </a:rPr>
              <a:t> </a:t>
            </a:r>
            <a:r>
              <a:rPr sz="1800" i="0">
                <a:solidFill>
                  <a:srgbClr val="76D7C4"/>
                </a:solidFill>
                <a:latin typeface="Consolas"/>
              </a:rPr>
              <a:t>json</a:t>
            </a:r>
            <a:r>
              <a:rPr sz="1800" i="0">
                <a:solidFill>
                  <a:srgbClr val="AEB6BF"/>
                </a:solidFill>
                <a:latin typeface="Consolas"/>
              </a:rPr>
              <a:t>,</a:t>
            </a:r>
            <a:r>
              <a:rPr sz="1800" i="0">
                <a:solidFill>
                  <a:srgbClr val="E8EDF2"/>
                </a:solidFill>
                <a:latin typeface="Consolas"/>
              </a:rPr>
              <a:t> </a:t>
            </a:r>
            <a:r>
              <a:rPr sz="1800" i="0">
                <a:solidFill>
                  <a:srgbClr val="76D7C4"/>
                </a:solidFill>
                <a:latin typeface="Consolas"/>
              </a:rPr>
              <a:t>subprocess</a:t>
            </a:r>
          </a:p>
          <a:p>
            <a:pPr>
              <a:lnSpc>
                <a:spcPct val="100000"/>
              </a:lnSpc>
              <a:spcAft>
                <a:spcPts val="0"/>
              </a:spcAft>
            </a:pPr>
            <a:r>
              <a:rPr sz="1800" i="0">
                <a:solidFill>
                  <a:srgbClr val="5DADE2"/>
                </a:solidFill>
                <a:latin typeface="Consolas"/>
              </a:rPr>
              <a:t>from</a:t>
            </a:r>
            <a:r>
              <a:rPr sz="1800" i="0">
                <a:solidFill>
                  <a:srgbClr val="E8EDF2"/>
                </a:solidFill>
                <a:latin typeface="Consolas"/>
              </a:rPr>
              <a:t> </a:t>
            </a:r>
            <a:r>
              <a:rPr sz="1800" i="0">
                <a:solidFill>
                  <a:srgbClr val="76D7C4"/>
                </a:solidFill>
                <a:latin typeface="Consolas"/>
              </a:rPr>
              <a:t>datetime</a:t>
            </a:r>
            <a:r>
              <a:rPr sz="1800" i="0">
                <a:solidFill>
                  <a:srgbClr val="E8EDF2"/>
                </a:solidFill>
                <a:latin typeface="Consolas"/>
              </a:rPr>
              <a:t> </a:t>
            </a:r>
            <a:r>
              <a:rPr sz="1800" i="0">
                <a:solidFill>
                  <a:srgbClr val="5DADE2"/>
                </a:solidFill>
                <a:latin typeface="Consolas"/>
              </a:rPr>
              <a:t>import</a:t>
            </a:r>
            <a:r>
              <a:rPr sz="1800" i="0">
                <a:solidFill>
                  <a:srgbClr val="E8EDF2"/>
                </a:solidFill>
                <a:latin typeface="Consolas"/>
              </a:rPr>
              <a:t> </a:t>
            </a:r>
            <a:r>
              <a:rPr sz="1800" i="0">
                <a:solidFill>
                  <a:srgbClr val="E8EDF2"/>
                </a:solidFill>
                <a:latin typeface="Consolas"/>
              </a:rPr>
              <a:t>datetime</a:t>
            </a:r>
          </a:p>
          <a:p>
            <a:pPr>
              <a:lnSpc>
                <a:spcPct val="100000"/>
              </a:lnSpc>
              <a:spcAft>
                <a:spcPts val="0"/>
              </a:spcAft>
            </a:pPr>
            <a:r>
              <a:rPr sz="1800" i="0">
                <a:solidFill>
                  <a:srgbClr val="5DADE2"/>
                </a:solidFill>
                <a:latin typeface="Consolas"/>
              </a:rPr>
              <a:t>import</a:t>
            </a:r>
            <a:r>
              <a:rPr sz="1800" i="0">
                <a:solidFill>
                  <a:srgbClr val="E8EDF2"/>
                </a:solidFill>
                <a:latin typeface="Consolas"/>
              </a:rPr>
              <a:t> </a:t>
            </a:r>
            <a:r>
              <a:rPr sz="1800" i="0">
                <a:solidFill>
                  <a:srgbClr val="76D7C4"/>
                </a:solidFill>
                <a:latin typeface="Consolas"/>
              </a:rPr>
              <a:t>numpy</a:t>
            </a:r>
            <a:r>
              <a:rPr sz="1800" i="0">
                <a:solidFill>
                  <a:srgbClr val="E8EDF2"/>
                </a:solidFill>
                <a:latin typeface="Consolas"/>
              </a:rPr>
              <a:t> </a:t>
            </a:r>
            <a:r>
              <a:rPr sz="1800" i="0">
                <a:solidFill>
                  <a:srgbClr val="5DADE2"/>
                </a:solidFill>
                <a:latin typeface="Consolas"/>
              </a:rPr>
              <a:t>as</a:t>
            </a:r>
            <a:r>
              <a:rPr sz="1800" i="0">
                <a:solidFill>
                  <a:srgbClr val="E8EDF2"/>
                </a:solidFill>
                <a:latin typeface="Consolas"/>
              </a:rPr>
              <a:t> </a:t>
            </a:r>
            <a:r>
              <a:rPr sz="1800" i="0">
                <a:solidFill>
                  <a:srgbClr val="76D7C4"/>
                </a:solidFill>
                <a:latin typeface="Consolas"/>
              </a:rPr>
              <a:t>np</a:t>
            </a:r>
          </a:p>
          <a:p>
            <a:pPr>
              <a:lnSpc>
                <a:spcPct val="100000"/>
              </a:lnSpc>
              <a:spcAft>
                <a:spcPts val="0"/>
              </a:spcAft>
            </a:pPr>
            <a:r>
              <a:rPr sz="1800">
                <a:latin typeface="Consolas"/>
              </a:rPr>
              <a:t> </a:t>
            </a:r>
          </a:p>
          <a:p>
            <a:pPr>
              <a:lnSpc>
                <a:spcPct val="100000"/>
              </a:lnSpc>
              <a:spcAft>
                <a:spcPts val="0"/>
              </a:spcAft>
            </a:pPr>
            <a:r>
              <a:rPr sz="1800" i="0">
                <a:solidFill>
                  <a:srgbClr val="E8EDF2"/>
                </a:solidFill>
                <a:latin typeface="Consolas"/>
              </a:rPr>
              <a:t>SEED</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42</a:t>
            </a:r>
          </a:p>
          <a:p>
            <a:pPr>
              <a:lnSpc>
                <a:spcPct val="100000"/>
              </a:lnSpc>
              <a:spcAft>
                <a:spcPts val="0"/>
              </a:spcAft>
            </a:pPr>
            <a:r>
              <a:rPr sz="1800" i="0">
                <a:solidFill>
                  <a:srgbClr val="E8EDF2"/>
                </a:solidFill>
                <a:latin typeface="Consolas"/>
              </a:rPr>
              <a:t>random</a:t>
            </a:r>
            <a:r>
              <a:rPr sz="1800" i="0">
                <a:solidFill>
                  <a:srgbClr val="AEB6BF"/>
                </a:solidFill>
                <a:latin typeface="Consolas"/>
              </a:rPr>
              <a:t>.</a:t>
            </a:r>
            <a:r>
              <a:rPr sz="1800" i="0">
                <a:solidFill>
                  <a:srgbClr val="E8EDF2"/>
                </a:solidFill>
                <a:latin typeface="Consolas"/>
              </a:rPr>
              <a:t>seed</a:t>
            </a:r>
            <a:r>
              <a:rPr sz="1800" i="0">
                <a:solidFill>
                  <a:srgbClr val="AEB6BF"/>
                </a:solidFill>
                <a:latin typeface="Consolas"/>
              </a:rPr>
              <a:t>(</a:t>
            </a:r>
            <a:r>
              <a:rPr sz="1800" i="0">
                <a:solidFill>
                  <a:srgbClr val="E8EDF2"/>
                </a:solidFill>
                <a:latin typeface="Consolas"/>
              </a:rPr>
              <a:t>SEED</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random</a:t>
            </a:r>
            <a:r>
              <a:rPr sz="1800" i="0">
                <a:solidFill>
                  <a:srgbClr val="AEB6BF"/>
                </a:solidFill>
                <a:latin typeface="Consolas"/>
              </a:rPr>
              <a:t>.</a:t>
            </a:r>
            <a:r>
              <a:rPr sz="1800" i="0">
                <a:solidFill>
                  <a:srgbClr val="E8EDF2"/>
                </a:solidFill>
                <a:latin typeface="Consolas"/>
              </a:rPr>
              <a:t>seed</a:t>
            </a:r>
            <a:r>
              <a:rPr sz="1800" i="0">
                <a:solidFill>
                  <a:srgbClr val="AEB6BF"/>
                </a:solidFill>
                <a:latin typeface="Consolas"/>
              </a:rPr>
              <a:t>(</a:t>
            </a:r>
            <a:r>
              <a:rPr sz="1800" i="0">
                <a:solidFill>
                  <a:srgbClr val="E8EDF2"/>
                </a:solidFill>
                <a:latin typeface="Consolas"/>
              </a:rPr>
              <a:t>SEED</a:t>
            </a:r>
            <a:r>
              <a:rPr sz="1800" i="0">
                <a:solidFill>
                  <a:srgbClr val="AEB6BF"/>
                </a:solidFill>
                <a:latin typeface="Consolas"/>
              </a:rPr>
              <a:t>)</a:t>
            </a:r>
          </a:p>
          <a:p>
            <a:pPr>
              <a:lnSpc>
                <a:spcPct val="100000"/>
              </a:lnSpc>
              <a:spcAft>
                <a:spcPts val="0"/>
              </a:spcAft>
            </a:pPr>
            <a:r>
              <a:rPr sz="1800" i="0">
                <a:solidFill>
                  <a:srgbClr val="E8EDF2"/>
                </a:solidFill>
                <a:latin typeface="Consolas"/>
              </a:rPr>
              <a:t>os</a:t>
            </a:r>
            <a:r>
              <a:rPr sz="1800" i="0">
                <a:solidFill>
                  <a:srgbClr val="AEB6BF"/>
                </a:solidFill>
                <a:latin typeface="Consolas"/>
              </a:rPr>
              <a:t>.</a:t>
            </a:r>
            <a:r>
              <a:rPr sz="1800" i="0">
                <a:solidFill>
                  <a:srgbClr val="E8EDF2"/>
                </a:solidFill>
                <a:latin typeface="Consolas"/>
              </a:rPr>
              <a:t>environ</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PYTHONHASHSEED</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str</a:t>
            </a:r>
            <a:r>
              <a:rPr sz="1800" i="0">
                <a:solidFill>
                  <a:srgbClr val="AEB6BF"/>
                </a:solidFill>
                <a:latin typeface="Consolas"/>
              </a:rPr>
              <a:t>(</a:t>
            </a:r>
            <a:r>
              <a:rPr sz="1800" i="0">
                <a:solidFill>
                  <a:srgbClr val="E8EDF2"/>
                </a:solidFill>
                <a:latin typeface="Consolas"/>
              </a:rPr>
              <a:t>SEED</a:t>
            </a:r>
            <a:r>
              <a:rPr sz="1800" i="0">
                <a:solidFill>
                  <a:srgbClr val="AEB6BF"/>
                </a:solidFill>
                <a:latin typeface="Consolas"/>
              </a:rPr>
              <a:t>)</a:t>
            </a:r>
          </a:p>
          <a:p>
            <a:pPr>
              <a:lnSpc>
                <a:spcPct val="100000"/>
              </a:lnSpc>
              <a:spcAft>
                <a:spcPts val="0"/>
              </a:spcAft>
            </a:pPr>
            <a:r>
              <a:rPr sz="1800" i="1">
                <a:solidFill>
                  <a:srgbClr val="8795A1"/>
                </a:solidFill>
                <a:latin typeface="Consolas"/>
              </a:rPr>
              <a:t># torch.manual_seed(SEED); torch.use_deterministic_algorithms(True)</a:t>
            </a:r>
          </a:p>
        </p:txBody>
      </p:sp>
      <p:sp>
        <p:nvSpPr>
          <p:cNvPr id="15" name="!!code-num"/>
          <p:cNvSpPr txBox="1"/>
          <p:nvPr/>
        </p:nvSpPr>
        <p:spPr>
          <a:xfrm>
            <a:off x="768096" y="2523744"/>
            <a:ext cx="393192" cy="257860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a:t>
            </a:r>
          </a:p>
          <a:p>
            <a:pPr algn="r">
              <a:lnSpc>
                <a:spcPct val="100000"/>
              </a:lnSpc>
            </a:pPr>
            <a:r>
              <a:rPr sz="1800">
                <a:solidFill>
                  <a:srgbClr val="4F5D6A"/>
                </a:solidFill>
                <a:latin typeface="Consolas"/>
              </a:rPr>
              <a:t>2</a:t>
            </a:r>
          </a:p>
          <a:p>
            <a:pPr algn="r">
              <a:lnSpc>
                <a:spcPct val="100000"/>
              </a:lnSpc>
            </a:pPr>
            <a:r>
              <a:rPr sz="1800">
                <a:solidFill>
                  <a:srgbClr val="4F5D6A"/>
                </a:solidFill>
                <a:latin typeface="Consolas"/>
              </a:rPr>
              <a:t>3</a:t>
            </a:r>
          </a:p>
          <a:p>
            <a:pPr algn="r">
              <a:lnSpc>
                <a:spcPct val="100000"/>
              </a:lnSpc>
            </a:pPr>
            <a:r>
              <a:rPr sz="1800">
                <a:solidFill>
                  <a:srgbClr val="4F5D6A"/>
                </a:solidFill>
                <a:latin typeface="Consolas"/>
              </a:rPr>
              <a:t>4</a:t>
            </a:r>
          </a:p>
          <a:p>
            <a:pPr algn="r">
              <a:lnSpc>
                <a:spcPct val="100000"/>
              </a:lnSpc>
            </a:pPr>
            <a:r>
              <a:rPr sz="1800">
                <a:solidFill>
                  <a:srgbClr val="4F5D6A"/>
                </a:solidFill>
                <a:latin typeface="Consolas"/>
              </a:rPr>
              <a:t>5</a:t>
            </a:r>
          </a:p>
          <a:p>
            <a:pPr algn="r">
              <a:lnSpc>
                <a:spcPct val="100000"/>
              </a:lnSpc>
            </a:pPr>
            <a:r>
              <a:rPr sz="1800">
                <a:solidFill>
                  <a:srgbClr val="4F5D6A"/>
                </a:solidFill>
                <a:latin typeface="Consolas"/>
              </a:rPr>
              <a:t>6</a:t>
            </a:r>
          </a:p>
          <a:p>
            <a:pPr algn="r">
              <a:lnSpc>
                <a:spcPct val="100000"/>
              </a:lnSpc>
            </a:pPr>
            <a:r>
              <a:rPr sz="1800">
                <a:solidFill>
                  <a:srgbClr val="4F5D6A"/>
                </a:solidFill>
                <a:latin typeface="Consolas"/>
              </a:rPr>
              <a:t>7</a:t>
            </a:r>
          </a:p>
          <a:p>
            <a:pPr algn="r">
              <a:lnSpc>
                <a:spcPct val="100000"/>
              </a:lnSpc>
            </a:pPr>
            <a:r>
              <a:rPr sz="1800">
                <a:solidFill>
                  <a:srgbClr val="4F5D6A"/>
                </a:solidFill>
                <a:latin typeface="Consolas"/>
              </a:rPr>
              <a:t>8</a:t>
            </a:r>
          </a:p>
          <a:p>
            <a:pPr algn="r">
              <a:lnSpc>
                <a:spcPct val="100000"/>
              </a:lnSpc>
            </a:pPr>
            <a:r>
              <a:rPr sz="1800">
                <a:solidFill>
                  <a:srgbClr val="4F5D6A"/>
                </a:solidFill>
                <a:latin typeface="Consolas"/>
              </a:rPr>
              <a:t>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02867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Making Your Own Project Reproducible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2  ·  LISTING 1</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29  ·  Research Methods and Experimental Design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§29.5  ·  Handout p. 192     </a:t>
            </a:r>
            <a:fld id="{CE480675-2A74-4CD3-B132-5499FB0BBDF9}" type="slidenum">
              <a:rPr lang="en-GB" sz="1000">
                <a:solidFill>
                  <a:srgbClr val="8795A1"/>
                </a:solidFill>
                <a:latin typeface="Segoe UI"/>
              </a:rPr>
              <a:t>28</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367784"/>
          </a:xfrm>
          <a:prstGeom prst="roundRect">
            <a:avLst>
              <a:gd name="adj" fmla="val 209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code/ch29_provenance.py</a:t>
            </a:r>
          </a:p>
        </p:txBody>
      </p:sp>
      <p:sp>
        <p:nvSpPr>
          <p:cNvPr id="13" name="!!code-text" descr="def provenance(outfile=&quot;run_provenance.json&quot;, **params): &quot;&quot;&quot;Record everything needed to regenerate this result.&quot;&quot;&quot; rec = { &quot;timestamp&quot;: datetime.utcnow().isoformat(), &quot;git_commit&quot;: subprocess.check_output( [&quot;git&quot;, &quot;rev-parse&quot;, &quot;HEAD&quot;]).decode().strip(), &quot;git_dirty&quot;: bool(subprocess.check_output( [&quot;git&quot;, &quot;status&quot;, &quot;--porcelain&quot;]).decode().strip()), &quot;seed&quot;: SEED, &quot;python&quot;: subprocess.check_output( [&quot;python&quot;, &quot;--version&quot;]).decode().strip(), &quot;params&quot;: params, } if rec[&quot;git_dirty&quot;]: print(&quot;WARNING: uncommitted changes -- this run is not reproducible&quot;) json.dump(rec, open(outfile, &quot;w&quot;), indent=2) return rec provenance(model=&quot;logreg&quot;, threshold=0.35, features=len(FEATURES))"/>
          <p:cNvSpPr txBox="1"/>
          <p:nvPr/>
        </p:nvSpPr>
        <p:spPr>
          <a:xfrm>
            <a:off x="1362456" y="2066543"/>
            <a:ext cx="9987991" cy="3874008"/>
          </a:xfrm>
          <a:prstGeom prst="rect">
            <a:avLst/>
          </a:prstGeom>
          <a:noFill/>
        </p:spPr>
        <p:txBody>
          <a:bodyPr wrap="none" anchor="t" lIns="0" rIns="0" tIns="0" bIns="0">
            <a:noAutofit/>
          </a:bodyPr>
          <a:lstStyle/>
          <a:p>
            <a:pPr>
              <a:lnSpc>
                <a:spcPct val="100000"/>
              </a:lnSpc>
              <a:spcAft>
                <a:spcPts val="0"/>
              </a:spcAft>
            </a:pPr>
            <a:r>
              <a:rPr sz="1300" i="0">
                <a:solidFill>
                  <a:srgbClr val="5DADE2"/>
                </a:solidFill>
                <a:latin typeface="Consolas"/>
              </a:rPr>
              <a:t>def</a:t>
            </a:r>
            <a:r>
              <a:rPr sz="1300" i="0">
                <a:solidFill>
                  <a:srgbClr val="E8EDF2"/>
                </a:solidFill>
                <a:latin typeface="Consolas"/>
              </a:rPr>
              <a:t> </a:t>
            </a:r>
            <a:r>
              <a:rPr sz="1300" i="0">
                <a:solidFill>
                  <a:srgbClr val="C39BD3"/>
                </a:solidFill>
                <a:latin typeface="Consolas"/>
              </a:rPr>
              <a:t>provenance</a:t>
            </a:r>
            <a:r>
              <a:rPr sz="1300" i="0">
                <a:solidFill>
                  <a:srgbClr val="AEB6BF"/>
                </a:solidFill>
                <a:latin typeface="Consolas"/>
              </a:rPr>
              <a:t>(</a:t>
            </a:r>
            <a:r>
              <a:rPr sz="1300" i="0">
                <a:solidFill>
                  <a:srgbClr val="E8EDF2"/>
                </a:solidFill>
                <a:latin typeface="Consolas"/>
              </a:rPr>
              <a:t>outfile</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run_provenance.json</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params</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"""Record everything needed to regenerate this result."""</a:t>
            </a:r>
          </a:p>
          <a:p>
            <a:pPr>
              <a:lnSpc>
                <a:spcPct val="100000"/>
              </a:lnSpc>
              <a:spcAft>
                <a:spcPts val="0"/>
              </a:spcAft>
            </a:pPr>
            <a:r>
              <a:rPr sz="1300" i="0">
                <a:solidFill>
                  <a:srgbClr val="E8EDF2"/>
                </a:solidFill>
                <a:latin typeface="Consolas"/>
              </a:rPr>
              <a:t>    </a:t>
            </a:r>
            <a:r>
              <a:rPr sz="1300" i="0">
                <a:solidFill>
                  <a:srgbClr val="E8EDF2"/>
                </a:solidFill>
                <a:latin typeface="Consolas"/>
              </a:rPr>
              <a:t>rec</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timestamp</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datetime</a:t>
            </a:r>
            <a:r>
              <a:rPr sz="1300" i="0">
                <a:solidFill>
                  <a:srgbClr val="AEB6BF"/>
                </a:solidFill>
                <a:latin typeface="Consolas"/>
              </a:rPr>
              <a:t>.</a:t>
            </a:r>
            <a:r>
              <a:rPr sz="1300" i="0">
                <a:solidFill>
                  <a:srgbClr val="E8EDF2"/>
                </a:solidFill>
                <a:latin typeface="Consolas"/>
              </a:rPr>
              <a:t>utcnow</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isoformat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git_commit</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subprocess</a:t>
            </a:r>
            <a:r>
              <a:rPr sz="1300" i="0">
                <a:solidFill>
                  <a:srgbClr val="AEB6BF"/>
                </a:solidFill>
                <a:latin typeface="Consolas"/>
              </a:rPr>
              <a:t>.</a:t>
            </a:r>
            <a:r>
              <a:rPr sz="1300" i="0">
                <a:solidFill>
                  <a:srgbClr val="E8EDF2"/>
                </a:solidFill>
                <a:latin typeface="Consolas"/>
              </a:rPr>
              <a:t>check_output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git</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rev-parse</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HEAD</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decode</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strip</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git_dirty</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bool</a:t>
            </a:r>
            <a:r>
              <a:rPr sz="1300" i="0">
                <a:solidFill>
                  <a:srgbClr val="AEB6BF"/>
                </a:solidFill>
                <a:latin typeface="Consolas"/>
              </a:rPr>
              <a:t>(</a:t>
            </a:r>
            <a:r>
              <a:rPr sz="1300" i="0">
                <a:solidFill>
                  <a:srgbClr val="E8EDF2"/>
                </a:solidFill>
                <a:latin typeface="Consolas"/>
              </a:rPr>
              <a:t>subprocess</a:t>
            </a:r>
            <a:r>
              <a:rPr sz="1300" i="0">
                <a:solidFill>
                  <a:srgbClr val="AEB6BF"/>
                </a:solidFill>
                <a:latin typeface="Consolas"/>
              </a:rPr>
              <a:t>.</a:t>
            </a:r>
            <a:r>
              <a:rPr sz="1300" i="0">
                <a:solidFill>
                  <a:srgbClr val="E8EDF2"/>
                </a:solidFill>
                <a:latin typeface="Consolas"/>
              </a:rPr>
              <a:t>check_output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git</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status</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--porcelain</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decode</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strip</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seed</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SEED</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python</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subprocess</a:t>
            </a:r>
            <a:r>
              <a:rPr sz="1300" i="0">
                <a:solidFill>
                  <a:srgbClr val="AEB6BF"/>
                </a:solidFill>
                <a:latin typeface="Consolas"/>
              </a:rPr>
              <a:t>.</a:t>
            </a:r>
            <a:r>
              <a:rPr sz="1300" i="0">
                <a:solidFill>
                  <a:srgbClr val="E8EDF2"/>
                </a:solidFill>
                <a:latin typeface="Consolas"/>
              </a:rPr>
              <a:t>check_output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python</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--version</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decode</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strip</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params</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params</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if</a:t>
            </a:r>
            <a:r>
              <a:rPr sz="1300" i="0">
                <a:solidFill>
                  <a:srgbClr val="E8EDF2"/>
                </a:solidFill>
                <a:latin typeface="Consolas"/>
              </a:rPr>
              <a:t> </a:t>
            </a:r>
            <a:r>
              <a:rPr sz="1300" i="0">
                <a:solidFill>
                  <a:srgbClr val="E8EDF2"/>
                </a:solidFill>
                <a:latin typeface="Consolas"/>
              </a:rPr>
              <a:t>rec</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git_dirty</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print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WARNING: uncommitted changes -- this run is not reproducible</a:t>
            </a:r>
            <a:r>
              <a:rPr sz="1300" i="0">
                <a:solidFill>
                  <a:srgbClr val="7DCEA0"/>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json</a:t>
            </a:r>
            <a:r>
              <a:rPr sz="1300" i="0">
                <a:solidFill>
                  <a:srgbClr val="AEB6BF"/>
                </a:solidFill>
                <a:latin typeface="Consolas"/>
              </a:rPr>
              <a:t>.</a:t>
            </a:r>
            <a:r>
              <a:rPr sz="1300" i="0">
                <a:solidFill>
                  <a:srgbClr val="E8EDF2"/>
                </a:solidFill>
                <a:latin typeface="Consolas"/>
              </a:rPr>
              <a:t>dump</a:t>
            </a:r>
            <a:r>
              <a:rPr sz="1300" i="0">
                <a:solidFill>
                  <a:srgbClr val="AEB6BF"/>
                </a:solidFill>
                <a:latin typeface="Consolas"/>
              </a:rPr>
              <a:t>(</a:t>
            </a:r>
            <a:r>
              <a:rPr sz="1300" i="0">
                <a:solidFill>
                  <a:srgbClr val="E8EDF2"/>
                </a:solidFill>
                <a:latin typeface="Consolas"/>
              </a:rPr>
              <a:t>rec</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open</a:t>
            </a:r>
            <a:r>
              <a:rPr sz="1300" i="0">
                <a:solidFill>
                  <a:srgbClr val="AEB6BF"/>
                </a:solidFill>
                <a:latin typeface="Consolas"/>
              </a:rPr>
              <a:t>(</a:t>
            </a:r>
            <a:r>
              <a:rPr sz="1300" i="0">
                <a:solidFill>
                  <a:srgbClr val="E8EDF2"/>
                </a:solidFill>
                <a:latin typeface="Consolas"/>
              </a:rPr>
              <a:t>outfile</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w</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indent</a:t>
            </a:r>
            <a:r>
              <a:rPr sz="1300" i="0">
                <a:solidFill>
                  <a:srgbClr val="AEB6BF"/>
                </a:solidFill>
                <a:latin typeface="Consolas"/>
              </a:rPr>
              <a:t>=</a:t>
            </a:r>
            <a:r>
              <a:rPr sz="1300" i="0">
                <a:solidFill>
                  <a:srgbClr val="F7DC6F"/>
                </a:solidFill>
                <a:latin typeface="Consolas"/>
              </a:rPr>
              <a:t>2</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return</a:t>
            </a:r>
            <a:r>
              <a:rPr sz="1300" i="0">
                <a:solidFill>
                  <a:srgbClr val="E8EDF2"/>
                </a:solidFill>
                <a:latin typeface="Consolas"/>
              </a:rPr>
              <a:t> </a:t>
            </a:r>
            <a:r>
              <a:rPr sz="1300" i="0">
                <a:solidFill>
                  <a:srgbClr val="E8EDF2"/>
                </a:solidFill>
                <a:latin typeface="Consolas"/>
              </a:rPr>
              <a:t>rec</a:t>
            </a:r>
          </a:p>
          <a:p>
            <a:pPr>
              <a:lnSpc>
                <a:spcPct val="100000"/>
              </a:lnSpc>
              <a:spcAft>
                <a:spcPts val="0"/>
              </a:spcAft>
            </a:pPr>
            <a:r>
              <a:rPr sz="1300">
                <a:latin typeface="Consolas"/>
              </a:rPr>
              <a:t> </a:t>
            </a:r>
          </a:p>
          <a:p>
            <a:pPr>
              <a:lnSpc>
                <a:spcPct val="100000"/>
              </a:lnSpc>
              <a:spcAft>
                <a:spcPts val="0"/>
              </a:spcAft>
            </a:pPr>
            <a:r>
              <a:rPr sz="1300" i="0">
                <a:solidFill>
                  <a:srgbClr val="E8EDF2"/>
                </a:solidFill>
                <a:latin typeface="Consolas"/>
              </a:rPr>
              <a:t>provenance</a:t>
            </a:r>
            <a:r>
              <a:rPr sz="1300" i="0">
                <a:solidFill>
                  <a:srgbClr val="AEB6BF"/>
                </a:solidFill>
                <a:latin typeface="Consolas"/>
              </a:rPr>
              <a:t>(</a:t>
            </a:r>
            <a:r>
              <a:rPr sz="1300" i="0">
                <a:solidFill>
                  <a:srgbClr val="E8EDF2"/>
                </a:solidFill>
                <a:latin typeface="Consolas"/>
              </a:rPr>
              <a:t>model</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logreg</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threshold</a:t>
            </a:r>
            <a:r>
              <a:rPr sz="1300" i="0">
                <a:solidFill>
                  <a:srgbClr val="AEB6BF"/>
                </a:solidFill>
                <a:latin typeface="Consolas"/>
              </a:rPr>
              <a:t>=</a:t>
            </a:r>
            <a:r>
              <a:rPr sz="1300" i="0">
                <a:solidFill>
                  <a:srgbClr val="F7DC6F"/>
                </a:solidFill>
                <a:latin typeface="Consolas"/>
              </a:rPr>
              <a:t>0.35</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features</a:t>
            </a:r>
            <a:r>
              <a:rPr sz="1300" i="0">
                <a:solidFill>
                  <a:srgbClr val="AEB6BF"/>
                </a:solidFill>
                <a:latin typeface="Consolas"/>
              </a:rPr>
              <a:t>=</a:t>
            </a:r>
            <a:r>
              <a:rPr sz="1300" i="0">
                <a:solidFill>
                  <a:srgbClr val="C39BD3"/>
                </a:solidFill>
                <a:latin typeface="Consolas"/>
              </a:rPr>
              <a:t>len</a:t>
            </a:r>
            <a:r>
              <a:rPr sz="1300" i="0">
                <a:solidFill>
                  <a:srgbClr val="AEB6BF"/>
                </a:solidFill>
                <a:latin typeface="Consolas"/>
              </a:rPr>
              <a:t>(</a:t>
            </a:r>
            <a:r>
              <a:rPr sz="1300" i="0">
                <a:solidFill>
                  <a:srgbClr val="E8EDF2"/>
                </a:solidFill>
                <a:latin typeface="Consolas"/>
              </a:rPr>
              <a:t>FEATURES</a:t>
            </a:r>
            <a:r>
              <a:rPr sz="1300" i="0">
                <a:solidFill>
                  <a:srgbClr val="AEB6BF"/>
                </a:solidFill>
                <a:latin typeface="Consolas"/>
              </a:rPr>
              <a:t>)</a:t>
            </a:r>
            <a:r>
              <a:rPr sz="1300" i="0">
                <a:solidFill>
                  <a:srgbClr val="AEB6BF"/>
                </a:solidFill>
                <a:latin typeface="Consolas"/>
              </a:rPr>
              <a:t>)</a:t>
            </a:r>
          </a:p>
        </p:txBody>
      </p:sp>
      <p:sp>
        <p:nvSpPr>
          <p:cNvPr id="14" name="!!code-num"/>
          <p:cNvSpPr txBox="1"/>
          <p:nvPr/>
        </p:nvSpPr>
        <p:spPr>
          <a:xfrm>
            <a:off x="768096" y="2066543"/>
            <a:ext cx="393192" cy="3874008"/>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10</a:t>
            </a:r>
          </a:p>
          <a:p>
            <a:pPr algn="r">
              <a:lnSpc>
                <a:spcPct val="100000"/>
              </a:lnSpc>
            </a:pPr>
            <a:r>
              <a:rPr sz="1300">
                <a:solidFill>
                  <a:srgbClr val="4F5D6A"/>
                </a:solidFill>
                <a:latin typeface="Consolas"/>
              </a:rPr>
              <a:t>11</a:t>
            </a:r>
          </a:p>
          <a:p>
            <a:pPr algn="r">
              <a:lnSpc>
                <a:spcPct val="100000"/>
              </a:lnSpc>
            </a:pPr>
            <a:r>
              <a:rPr sz="1300">
                <a:solidFill>
                  <a:srgbClr val="4F5D6A"/>
                </a:solidFill>
                <a:latin typeface="Consolas"/>
              </a:rPr>
              <a:t>12</a:t>
            </a:r>
          </a:p>
          <a:p>
            <a:pPr algn="r">
              <a:lnSpc>
                <a:spcPct val="100000"/>
              </a:lnSpc>
            </a:pPr>
            <a:r>
              <a:rPr sz="1300">
                <a:solidFill>
                  <a:srgbClr val="4F5D6A"/>
                </a:solidFill>
                <a:latin typeface="Consolas"/>
              </a:rPr>
              <a:t>13</a:t>
            </a:r>
          </a:p>
          <a:p>
            <a:pPr algn="r">
              <a:lnSpc>
                <a:spcPct val="100000"/>
              </a:lnSpc>
            </a:pPr>
            <a:r>
              <a:rPr sz="1300">
                <a:solidFill>
                  <a:srgbClr val="4F5D6A"/>
                </a:solidFill>
                <a:latin typeface="Consolas"/>
              </a:rPr>
              <a:t>14</a:t>
            </a:r>
          </a:p>
          <a:p>
            <a:pPr algn="r">
              <a:lnSpc>
                <a:spcPct val="100000"/>
              </a:lnSpc>
            </a:pPr>
            <a:r>
              <a:rPr sz="1300">
                <a:solidFill>
                  <a:srgbClr val="4F5D6A"/>
                </a:solidFill>
                <a:latin typeface="Consolas"/>
              </a:rPr>
              <a:t>15</a:t>
            </a:r>
          </a:p>
          <a:p>
            <a:pPr algn="r">
              <a:lnSpc>
                <a:spcPct val="100000"/>
              </a:lnSpc>
            </a:pPr>
            <a:r>
              <a:rPr sz="1300">
                <a:solidFill>
                  <a:srgbClr val="4F5D6A"/>
                </a:solidFill>
                <a:latin typeface="Consolas"/>
              </a:rPr>
              <a:t>16</a:t>
            </a:r>
          </a:p>
          <a:p>
            <a:pPr algn="r">
              <a:lnSpc>
                <a:spcPct val="100000"/>
              </a:lnSpc>
            </a:pPr>
            <a:r>
              <a:rPr sz="1300">
                <a:solidFill>
                  <a:srgbClr val="4F5D6A"/>
                </a:solidFill>
                <a:latin typeface="Consolas"/>
              </a:rPr>
              <a:t>17</a:t>
            </a:r>
          </a:p>
          <a:p>
            <a:pPr algn="r">
              <a:lnSpc>
                <a:spcPct val="100000"/>
              </a:lnSpc>
            </a:pPr>
            <a:r>
              <a:rPr sz="1300">
                <a:solidFill>
                  <a:srgbClr val="4F5D6A"/>
                </a:solidFill>
                <a:latin typeface="Consolas"/>
              </a:rPr>
              <a:t>18</a:t>
            </a:r>
          </a:p>
          <a:p>
            <a:pPr algn="r">
              <a:lnSpc>
                <a:spcPct val="100000"/>
              </a:lnSpc>
            </a:pPr>
            <a:r>
              <a:rPr sz="1300">
                <a:solidFill>
                  <a:srgbClr val="4F5D6A"/>
                </a:solidFill>
                <a:latin typeface="Consolas"/>
              </a:rPr>
              <a:t>19</a:t>
            </a:r>
          </a:p>
          <a:p>
            <a:pPr algn="r">
              <a:lnSpc>
                <a:spcPct val="100000"/>
              </a:lnSpc>
            </a:pPr>
            <a:r>
              <a:rPr sz="1300">
                <a:solidFill>
                  <a:srgbClr val="4F5D6A"/>
                </a:solidFill>
                <a:latin typeface="Consolas"/>
              </a:rPr>
              <a:t>20</a:t>
            </a:r>
          </a:p>
          <a:p>
            <a:pPr algn="r">
              <a:lnSpc>
                <a:spcPct val="100000"/>
              </a:lnSpc>
            </a:pPr>
            <a:r>
              <a:rPr sz="1300">
                <a:solidFill>
                  <a:srgbClr val="4F5D6A"/>
                </a:solidFill>
                <a:latin typeface="Consolas"/>
              </a:rPr>
              <a:t>21</a:t>
            </a:r>
          </a:p>
          <a:p>
            <a:pPr algn="r">
              <a:lnSpc>
                <a:spcPct val="100000"/>
              </a:lnSpc>
            </a:pPr>
            <a:r>
              <a:rPr sz="1300">
                <a:solidFill>
                  <a:srgbClr val="4F5D6A"/>
                </a:solidFill>
                <a:latin typeface="Consolas"/>
              </a:rPr>
              <a:t>22</a:t>
            </a:r>
          </a:p>
          <a:p>
            <a:pPr algn="r">
              <a:lnSpc>
                <a:spcPct val="100000"/>
              </a:lnSpc>
            </a:pPr>
            <a:r>
              <a:rPr sz="1300">
                <a:solidFill>
                  <a:srgbClr val="4F5D6A"/>
                </a:solidFill>
                <a:latin typeface="Consolas"/>
              </a:rPr>
              <a:t>23</a:t>
            </a:r>
          </a:p>
          <a:p>
            <a:pPr algn="r">
              <a:lnSpc>
                <a:spcPct val="100000"/>
              </a:lnSpc>
            </a:pPr>
            <a:r>
              <a:rPr sz="1300">
                <a:solidFill>
                  <a:srgbClr val="4F5D6A"/>
                </a:solidFill>
                <a:latin typeface="Consolas"/>
              </a:rPr>
              <a:t>24</a:t>
            </a:r>
          </a:p>
          <a:p>
            <a:pPr algn="r">
              <a:lnSpc>
                <a:spcPct val="100000"/>
              </a:lnSpc>
            </a:pPr>
            <a:r>
              <a:rPr sz="1300">
                <a:solidFill>
                  <a:srgbClr val="4F5D6A"/>
                </a:solidFill>
                <a:latin typeface="Consolas"/>
              </a:rPr>
              <a:t>25</a:t>
            </a:r>
          </a:p>
          <a:p>
            <a:pPr algn="r">
              <a:lnSpc>
                <a:spcPct val="100000"/>
              </a:lnSpc>
            </a:pPr>
            <a:r>
              <a:rPr sz="1300">
                <a:solidFill>
                  <a:srgbClr val="4F5D6A"/>
                </a:solidFill>
                <a:latin typeface="Consolas"/>
              </a:rPr>
              <a:t>26</a:t>
            </a:r>
          </a:p>
          <a:p>
            <a:pPr algn="r">
              <a:lnSpc>
                <a:spcPct val="100000"/>
              </a:lnSpc>
            </a:pPr>
            <a:r>
              <a:rPr sz="1300">
                <a:solidFill>
                  <a:srgbClr val="4F5D6A"/>
                </a:solidFill>
                <a:latin typeface="Consolas"/>
              </a:rPr>
              <a:t>27</a:t>
            </a:r>
          </a:p>
          <a:p>
            <a:pPr algn="r">
              <a:lnSpc>
                <a:spcPct val="100000"/>
              </a:lnSpc>
            </a:pPr>
            <a:r>
              <a:rPr sz="1300">
                <a:solidFill>
                  <a:srgbClr val="4F5D6A"/>
                </a:solidFill>
                <a:latin typeface="Consolas"/>
              </a:rPr>
              <a:t>28</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832603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Making Your Own Project Reproducible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1  ·  LISTING 2</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29  ·  Research Methods and Experimental Design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§29.5  ·  Handout p. 192     </a:t>
            </a:r>
            <a:fld id="{EFFB4ED0-D5BD-4586-B4E0-ED0D48151E5F}"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712463"/>
          </a:xfrm>
          <a:prstGeom prst="roundRect">
            <a:avLst>
              <a:gd name="adj" fmla="val 246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Text  ·  code/ch29_provenance.py</a:t>
            </a:r>
          </a:p>
        </p:txBody>
      </p:sp>
      <p:sp>
        <p:nvSpPr>
          <p:cNvPr id="14" name="!!code-text" descr="QUESTION Among first-year BSIT students (Fall 2026, n=340), does access to the AI tutor increase final programming mark vs existing provision? H0 No difference in mean final mark. H1 The tutor group scores higher. DESIGN Randomised at the point of OFFER; analysed by offer (ITT). PRIMARY Final module mark /100. ONE primary outcome only. SECONDARY Submission count; withdrawal rate. Reported as exploratory. ANALYSIS Two-sample t-test, alpha = 0.05, two-sided. Cohen's d reported. POWER n=340 gives 80% power to detect ~14 marks. Smaller effects will not be detectable and a null result must be reported as such. EXCLUSIONS Students withdrawing before week 3. Defined NOW, not later. DATE 2026-09-01, before any data was examined."/>
          <p:cNvSpPr txBox="1"/>
          <p:nvPr/>
        </p:nvSpPr>
        <p:spPr>
          <a:xfrm>
            <a:off x="1362456" y="2523744"/>
            <a:ext cx="9987991" cy="3218687"/>
          </a:xfrm>
          <a:prstGeom prst="rect">
            <a:avLst/>
          </a:prstGeom>
          <a:noFill/>
        </p:spPr>
        <p:txBody>
          <a:bodyPr wrap="none" anchor="t" lIns="0" rIns="0" tIns="0" bIns="0">
            <a:noAutofit/>
          </a:bodyPr>
          <a:lstStyle/>
          <a:p>
            <a:pPr>
              <a:lnSpc>
                <a:spcPct val="100000"/>
              </a:lnSpc>
              <a:spcAft>
                <a:spcPts val="0"/>
              </a:spcAft>
            </a:pPr>
            <a:r>
              <a:rPr sz="1700" i="0">
                <a:solidFill>
                  <a:srgbClr val="E8EDF2"/>
                </a:solidFill>
                <a:latin typeface="Consolas"/>
              </a:rPr>
              <a:t>QUESTION   Among first-year BSIT students (Fall 2026, n=340), does access to</a:t>
            </a:r>
          </a:p>
          <a:p>
            <a:pPr>
              <a:lnSpc>
                <a:spcPct val="100000"/>
              </a:lnSpc>
              <a:spcAft>
                <a:spcPts val="0"/>
              </a:spcAft>
            </a:pPr>
            <a:r>
              <a:rPr sz="1700" i="0">
                <a:solidFill>
                  <a:srgbClr val="E8EDF2"/>
                </a:solidFill>
                <a:latin typeface="Consolas"/>
              </a:rPr>
              <a:t>           the AI tutor increase final programming mark vs existing provision?</a:t>
            </a:r>
          </a:p>
          <a:p>
            <a:pPr>
              <a:lnSpc>
                <a:spcPct val="100000"/>
              </a:lnSpc>
              <a:spcAft>
                <a:spcPts val="0"/>
              </a:spcAft>
            </a:pPr>
            <a:r>
              <a:rPr sz="1700" i="0">
                <a:solidFill>
                  <a:srgbClr val="E8EDF2"/>
                </a:solidFill>
                <a:latin typeface="Consolas"/>
              </a:rPr>
              <a:t>H0         No difference in mean final mark.</a:t>
            </a:r>
          </a:p>
          <a:p>
            <a:pPr>
              <a:lnSpc>
                <a:spcPct val="100000"/>
              </a:lnSpc>
              <a:spcAft>
                <a:spcPts val="0"/>
              </a:spcAft>
            </a:pPr>
            <a:r>
              <a:rPr sz="1700" i="0">
                <a:solidFill>
                  <a:srgbClr val="E8EDF2"/>
                </a:solidFill>
                <a:latin typeface="Consolas"/>
              </a:rPr>
              <a:t>H1         The tutor group scores higher.</a:t>
            </a:r>
          </a:p>
          <a:p>
            <a:pPr>
              <a:lnSpc>
                <a:spcPct val="100000"/>
              </a:lnSpc>
              <a:spcAft>
                <a:spcPts val="0"/>
              </a:spcAft>
            </a:pPr>
            <a:r>
              <a:rPr sz="1700" i="0">
                <a:solidFill>
                  <a:srgbClr val="E8EDF2"/>
                </a:solidFill>
                <a:latin typeface="Consolas"/>
              </a:rPr>
              <a:t>DESIGN     Randomised at the point of OFFER; analysed by offer (ITT).</a:t>
            </a:r>
          </a:p>
          <a:p>
            <a:pPr>
              <a:lnSpc>
                <a:spcPct val="100000"/>
              </a:lnSpc>
              <a:spcAft>
                <a:spcPts val="0"/>
              </a:spcAft>
            </a:pPr>
            <a:r>
              <a:rPr sz="1700" i="0">
                <a:solidFill>
                  <a:srgbClr val="E8EDF2"/>
                </a:solidFill>
                <a:latin typeface="Consolas"/>
              </a:rPr>
              <a:t>PRIMARY    Final module mark /100. ONE primary outcome only.</a:t>
            </a:r>
          </a:p>
          <a:p>
            <a:pPr>
              <a:lnSpc>
                <a:spcPct val="100000"/>
              </a:lnSpc>
              <a:spcAft>
                <a:spcPts val="0"/>
              </a:spcAft>
            </a:pPr>
            <a:r>
              <a:rPr sz="1700" i="0">
                <a:solidFill>
                  <a:srgbClr val="E8EDF2"/>
                </a:solidFill>
                <a:latin typeface="Consolas"/>
              </a:rPr>
              <a:t>SECONDARY  Submission count; withdrawal rate. Reported as exploratory.</a:t>
            </a:r>
          </a:p>
          <a:p>
            <a:pPr>
              <a:lnSpc>
                <a:spcPct val="100000"/>
              </a:lnSpc>
              <a:spcAft>
                <a:spcPts val="0"/>
              </a:spcAft>
            </a:pPr>
            <a:r>
              <a:rPr sz="1700" i="0">
                <a:solidFill>
                  <a:srgbClr val="E8EDF2"/>
                </a:solidFill>
                <a:latin typeface="Consolas"/>
              </a:rPr>
              <a:t>ANALYSIS   Two-sample t-test, alpha = 0.05, two-sided. Cohen's d reported.</a:t>
            </a:r>
          </a:p>
          <a:p>
            <a:pPr>
              <a:lnSpc>
                <a:spcPct val="100000"/>
              </a:lnSpc>
              <a:spcAft>
                <a:spcPts val="0"/>
              </a:spcAft>
            </a:pPr>
            <a:r>
              <a:rPr sz="1700" i="0">
                <a:solidFill>
                  <a:srgbClr val="E8EDF2"/>
                </a:solidFill>
                <a:latin typeface="Consolas"/>
              </a:rPr>
              <a:t>POWER      n=340 gives 80% power to detect ~14 marks. Smaller effects will</a:t>
            </a:r>
          </a:p>
          <a:p>
            <a:pPr>
              <a:lnSpc>
                <a:spcPct val="100000"/>
              </a:lnSpc>
              <a:spcAft>
                <a:spcPts val="0"/>
              </a:spcAft>
            </a:pPr>
            <a:r>
              <a:rPr sz="1700" i="0">
                <a:solidFill>
                  <a:srgbClr val="E8EDF2"/>
                </a:solidFill>
                <a:latin typeface="Consolas"/>
              </a:rPr>
              <a:t>           not be detectable and a null result must be reported as such.</a:t>
            </a:r>
          </a:p>
          <a:p>
            <a:pPr>
              <a:lnSpc>
                <a:spcPct val="100000"/>
              </a:lnSpc>
              <a:spcAft>
                <a:spcPts val="0"/>
              </a:spcAft>
            </a:pPr>
            <a:r>
              <a:rPr sz="1700" i="0">
                <a:solidFill>
                  <a:srgbClr val="E8EDF2"/>
                </a:solidFill>
                <a:latin typeface="Consolas"/>
              </a:rPr>
              <a:t>EXCLUSIONS Students withdrawing before week 3. Defined NOW, not later.</a:t>
            </a:r>
          </a:p>
          <a:p>
            <a:pPr>
              <a:lnSpc>
                <a:spcPct val="100000"/>
              </a:lnSpc>
              <a:spcAft>
                <a:spcPts val="0"/>
              </a:spcAft>
            </a:pPr>
            <a:r>
              <a:rPr sz="1700" i="0">
                <a:solidFill>
                  <a:srgbClr val="E8EDF2"/>
                </a:solidFill>
                <a:latin typeface="Consolas"/>
              </a:rPr>
              <a:t>DATE       2026-09-01, before any data was examined.</a:t>
            </a:r>
          </a:p>
        </p:txBody>
      </p:sp>
      <p:sp>
        <p:nvSpPr>
          <p:cNvPr id="15" name="!!code-num"/>
          <p:cNvSpPr txBox="1"/>
          <p:nvPr/>
        </p:nvSpPr>
        <p:spPr>
          <a:xfrm>
            <a:off x="768096" y="2523744"/>
            <a:ext cx="393192" cy="3218687"/>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1</a:t>
            </a:r>
          </a:p>
          <a:p>
            <a:pPr algn="r">
              <a:lnSpc>
                <a:spcPct val="100000"/>
              </a:lnSpc>
            </a:pPr>
            <a:r>
              <a:rPr sz="1700">
                <a:solidFill>
                  <a:srgbClr val="4F5D6A"/>
                </a:solidFill>
                <a:latin typeface="Consolas"/>
              </a:rPr>
              <a:t>2</a:t>
            </a:r>
          </a:p>
          <a:p>
            <a:pPr algn="r">
              <a:lnSpc>
                <a:spcPct val="100000"/>
              </a:lnSpc>
            </a:pPr>
            <a:r>
              <a:rPr sz="1700">
                <a:solidFill>
                  <a:srgbClr val="4F5D6A"/>
                </a:solidFill>
                <a:latin typeface="Consolas"/>
              </a:rPr>
              <a:t>3</a:t>
            </a:r>
          </a:p>
          <a:p>
            <a:pPr algn="r">
              <a:lnSpc>
                <a:spcPct val="100000"/>
              </a:lnSpc>
            </a:pPr>
            <a:r>
              <a:rPr sz="1700">
                <a:solidFill>
                  <a:srgbClr val="4F5D6A"/>
                </a:solidFill>
                <a:latin typeface="Consolas"/>
              </a:rPr>
              <a:t>4</a:t>
            </a:r>
          </a:p>
          <a:p>
            <a:pPr algn="r">
              <a:lnSpc>
                <a:spcPct val="100000"/>
              </a:lnSpc>
            </a:pPr>
            <a:r>
              <a:rPr sz="1700">
                <a:solidFill>
                  <a:srgbClr val="4F5D6A"/>
                </a:solidFill>
                <a:latin typeface="Consolas"/>
              </a:rPr>
              <a:t>5</a:t>
            </a:r>
          </a:p>
          <a:p>
            <a:pPr algn="r">
              <a:lnSpc>
                <a:spcPct val="100000"/>
              </a:lnSpc>
            </a:pPr>
            <a:r>
              <a:rPr sz="1700">
                <a:solidFill>
                  <a:srgbClr val="4F5D6A"/>
                </a:solidFill>
                <a:latin typeface="Consolas"/>
              </a:rPr>
              <a:t>6</a:t>
            </a:r>
          </a:p>
          <a:p>
            <a:pPr algn="r">
              <a:lnSpc>
                <a:spcPct val="100000"/>
              </a:lnSpc>
            </a:pPr>
            <a:r>
              <a:rPr sz="1700">
                <a:solidFill>
                  <a:srgbClr val="4F5D6A"/>
                </a:solidFill>
                <a:latin typeface="Consolas"/>
              </a:rPr>
              <a:t>7</a:t>
            </a:r>
          </a:p>
          <a:p>
            <a:pPr algn="r">
              <a:lnSpc>
                <a:spcPct val="100000"/>
              </a:lnSpc>
            </a:pPr>
            <a:r>
              <a:rPr sz="1700">
                <a:solidFill>
                  <a:srgbClr val="4F5D6A"/>
                </a:solidFill>
                <a:latin typeface="Consolas"/>
              </a:rPr>
              <a:t>8</a:t>
            </a:r>
          </a:p>
          <a:p>
            <a:pPr algn="r">
              <a:lnSpc>
                <a:spcPct val="100000"/>
              </a:lnSpc>
            </a:pPr>
            <a:r>
              <a:rPr sz="1700">
                <a:solidFill>
                  <a:srgbClr val="4F5D6A"/>
                </a:solidFill>
                <a:latin typeface="Consolas"/>
              </a:rPr>
              <a:t>9</a:t>
            </a:r>
          </a:p>
          <a:p>
            <a:pPr algn="r">
              <a:lnSpc>
                <a:spcPct val="100000"/>
              </a:lnSpc>
            </a:pPr>
            <a:r>
              <a:rPr sz="1700">
                <a:solidFill>
                  <a:srgbClr val="4F5D6A"/>
                </a:solidFill>
                <a:latin typeface="Consolas"/>
              </a:rPr>
              <a:t>10</a:t>
            </a:r>
          </a:p>
          <a:p>
            <a:pPr algn="r">
              <a:lnSpc>
                <a:spcPct val="100000"/>
              </a:lnSpc>
            </a:pPr>
            <a:r>
              <a:rPr sz="1700">
                <a:solidFill>
                  <a:srgbClr val="4F5D6A"/>
                </a:solidFill>
                <a:latin typeface="Consolas"/>
              </a:rPr>
              <a:t>11</a:t>
            </a:r>
          </a:p>
          <a:p>
            <a:pPr algn="r">
              <a:lnSpc>
                <a:spcPct val="100000"/>
              </a:lnSpc>
            </a:pPr>
            <a:r>
              <a:rPr sz="1700">
                <a:solidFill>
                  <a:srgbClr val="4F5D6A"/>
                </a:solidFill>
                <a:latin typeface="Consolas"/>
              </a:rPr>
              <a:t>12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62339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29  ·  Research Methods and Experimental Design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§29.5  ·  Handout p. 192     </a:t>
            </a:r>
            <a:fld id="{7EB92D16-963D-4115-BDDE-6245B61122AE}" type="slidenum">
              <a:rPr lang="en-GB" sz="1000">
                <a:solidFill>
                  <a:srgbClr val="8795A1"/>
                </a:solidFill>
                <a:latin typeface="Segoe UI"/>
              </a:rPr>
              <a:t>30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350873"/>
          </a:xfrm>
          <a:prstGeom prst="roundRect">
            <a:avLst>
              <a:gd name="adj" fmla="val 6768"/>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350873"/>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A pre-registration you can write in ten minutes</a:t>
            </a:r>
            <a:r>
              <a:rPr sz="2300" b="0" i="0">
                <a:solidFill>
                  <a:srgbClr val="1C252B"/>
                </a:solidFill>
                <a:latin typeface="Segoe UI"/>
              </a:rPr>
              <a:t> — commit it before you look at the data:</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92075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Turn “blockchain in supply chains” into a researchable question with a population, variables and a scope.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29  ·  Research Methods and Experimental Design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195  ·  answers in Appendix D     </a:t>
            </a:r>
            <a:fld id="{ED30E052-A981-4F35-A67A-4E018A53576F}" type="slidenum">
              <a:rPr lang="en-GB" sz="1000">
                <a:solidFill>
                  <a:srgbClr val="D5DEE5"/>
                </a:solidFill>
                <a:latin typeface="Segoe UI"/>
              </a:rPr>
              <a:t>31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Turn “blockchain in supply chains” into a researchable question with a population, variables and a scope.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For example: “Among mid-sized food distributors in Pakistan, does adopting a blockchain-based provenance system reduce the mean time to trace a contaminated batch, compared with the existing paper-based process?” — population, intervention, outcome, comparison and scope all stated.</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29  ·  Research Methods and Experimental Design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195  ·  answers in Appendix D     </a:t>
            </a:r>
            <a:fld id="{FE0895BF-EB7B-49E5-A7B9-64F316803CB8}" type="slidenum">
              <a:rPr lang="en-GB" sz="1000">
                <a:solidFill>
                  <a:srgbClr val="8795A1"/>
                </a:solidFill>
                <a:latin typeface="Segoe UI"/>
              </a:rPr>
              <a:t>32</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51546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You measure “student engagement” by number of VLE clicks. Which validity type is threatened, and how would you strengthen it?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29  ·  Research Methods and Experimental Design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195  ·  answers in Appendix D     </a:t>
            </a:r>
            <a:fld id="{16114C0E-9328-41C2-A273-C85D3044A4C4}" type="slidenum">
              <a:rPr lang="en-GB" sz="1000">
                <a:solidFill>
                  <a:srgbClr val="D5DEE5"/>
                </a:solidFill>
                <a:latin typeface="Segoe UI"/>
              </a:rPr>
              <a:t>33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You measure “student engagement” by number of VLE clicks. Which validity type is threatened, and how would you strengthen it?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256B9A"/>
                </a:solidFill>
                <a:latin typeface="Segoe UI"/>
              </a:rPr>
              <a:t>Construct validity</a:t>
            </a:r>
            <a:r>
              <a:rPr sz="2200" b="0" i="0">
                <a:solidFill>
                  <a:srgbClr val="1C252B"/>
                </a:solidFill>
                <a:latin typeface="Segoe UI"/>
              </a:rPr>
              <a:t>. Clicks measure activity, not learning; a student may click without engaging or engage without clicking. Strengthen it with multiple indicators — clicks, submissions, time on task and self-report — and report their agreement.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29  ·  Research Methods and Experimental Design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195  ·  answers in Appendix D     </a:t>
            </a:r>
            <a:fld id="{532E70D8-C3E3-4A0F-85F8-6AC63BD14440}" type="slidenum">
              <a:rPr lang="en-GB" sz="1000">
                <a:solidFill>
                  <a:srgbClr val="8795A1"/>
                </a:solidFill>
                <a:latin typeface="Segoe UI"/>
              </a:rPr>
              <a:t>34</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11018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What is the difference between a reproducible and a replicable result?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29  ·  Research Methods and Experimental Design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195  ·  answers in Appendix D     </a:t>
            </a:r>
            <a:fld id="{C1434C7E-3909-44A8-837C-7B2D7C5BAC12}" type="slidenum">
              <a:rPr lang="en-GB" sz="1000">
                <a:solidFill>
                  <a:srgbClr val="D5DEE5"/>
                </a:solidFill>
                <a:latin typeface="Segoe UI"/>
              </a:rPr>
              <a:t>35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457200"/>
          </a:xfrm>
        </p:spPr>
        <p:txBody>
          <a:bodyPr wrap="square" lIns="0" rIns="0" tIns="0" bIns="0" anchor="t">
            <a:noAutofit/>
          </a:bodyPr>
          <a:lstStyle/>
          <a:p>
            <a:pPr algn="l">
              <a:lnSpc>
                <a:spcPct val="96000"/>
              </a:lnSpc>
            </a:pPr>
            <a:r>
              <a:rPr sz="2400" b="0" i="0">
                <a:solidFill>
                  <a:srgbClr val="1A5276"/>
                </a:solidFill>
                <a:latin typeface="Segoe UI Semibold"/>
              </a:rPr>
              <a:t>What is the difference between a reproducible and a replicable result?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41183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41183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Segoe UI"/>
              </a:rPr>
              <a:t>Reproducible</a:t>
            </a:r>
            <a:r>
              <a:rPr sz="2200" b="0" i="0">
                <a:solidFill>
                  <a:srgbClr val="1C252B"/>
                </a:solidFill>
                <a:latin typeface="Segoe UI"/>
              </a:rPr>
              <a:t>: the same data and code give the same result. </a:t>
            </a:r>
            <a:r>
              <a:rPr sz="2200" b="0" i="1">
                <a:solidFill>
                  <a:srgbClr val="1C252B"/>
                </a:solidFill>
                <a:latin typeface="Segoe UI"/>
              </a:rPr>
              <a:t>Replicable</a:t>
            </a:r>
            <a:r>
              <a:rPr sz="2200" b="0" i="0">
                <a:solidFill>
                  <a:srgbClr val="1C252B"/>
                </a:solidFill>
                <a:latin typeface="Segoe UI"/>
              </a:rPr>
              <a:t>: new data and the same method give the same conclusion. The first is an engineering property; the second is what science requires.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29  ·  Research Methods and Experimental Design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195  ·  answers in Appendix D     </a:t>
            </a:r>
            <a:fld id="{07513BCE-14F7-44B5-8515-17F2D5EDE8C0}" type="slidenum">
              <a:rPr lang="en-GB" sz="1000">
                <a:solidFill>
                  <a:srgbClr val="8795A1"/>
                </a:solidFill>
                <a:latin typeface="Segoe UI"/>
              </a:rPr>
              <a:t>36</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70490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29  ·  Research Methods and Experimental Design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195     </a:t>
            </a:r>
            <a:fld id="{B3DA16A2-F006-4D10-8217-B7AAF4152124}" type="slidenum">
              <a:rPr lang="en-GB" sz="1000">
                <a:solidFill>
                  <a:srgbClr val="8795A1"/>
                </a:solidFill>
                <a:latin typeface="Segoe UI"/>
              </a:rPr>
              <a:t>37</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researchable question names a population, an independent and a dependent variable, a comparison and a scope — and is capable of being wrong.</a:t>
            </a:r>
          </a:p>
        </p:txBody>
      </p:sp>
      <p:sp>
        <p:nvSpPr>
          <p:cNvPr id="10" name="!!sb1">
            <a:extLst>
              <a:ext uri="{C183D7F6-B498-43B3-948B-1728B52AA6E4}">
                <adec:decorative xmlns:adec="http://schemas.microsoft.com/office/drawing/2017/decorative" val="1"/>
              </a:ext>
            </a:extLst>
          </p:cNvPr>
          <p:cNvSpPr/>
          <p:nvPr/>
        </p:nvSpPr>
        <p:spPr>
          <a:xfrm>
            <a:off x="658368" y="246827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2313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59126"/>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 design follows from the question type; only experiments and quasi-experiments support causal claims.</a:t>
            </a:r>
          </a:p>
        </p:txBody>
      </p:sp>
      <p:sp>
        <p:nvSpPr>
          <p:cNvPr id="13" name="!!sb2">
            <a:extLst>
              <a:ext uri="{C183D7F6-B498-43B3-948B-1728B52AA6E4}">
                <adec:decorative xmlns:adec="http://schemas.microsoft.com/office/drawing/2017/decorative" val="1"/>
              </a:ext>
            </a:extLst>
          </p:cNvPr>
          <p:cNvSpPr/>
          <p:nvPr/>
        </p:nvSpPr>
        <p:spPr>
          <a:xfrm>
            <a:off x="658368" y="319003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24490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180892"/>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Check power </a:t>
            </a:r>
            <a:r>
              <a:rPr sz="1700" b="0" i="1">
                <a:solidFill>
                  <a:srgbClr val="1C252B"/>
                </a:solidFill>
                <a:latin typeface="Segoe UI"/>
              </a:rPr>
              <a:t>before</a:t>
            </a:r>
            <a:r>
              <a:rPr sz="1700" b="0" i="0">
                <a:solidFill>
                  <a:srgbClr val="1C252B"/>
                </a:solidFill>
                <a:latin typeface="Segoe UI"/>
              </a:rPr>
              <a:t> running the study, and report what effect size you were actually able to detect.</a:t>
            </a:r>
          </a:p>
        </p:txBody>
      </p:sp>
      <p:sp>
        <p:nvSpPr>
          <p:cNvPr id="16" name="!!sb3">
            <a:extLst>
              <a:ext uri="{C183D7F6-B498-43B3-948B-1728B52AA6E4}">
                <adec:decorative xmlns:adec="http://schemas.microsoft.com/office/drawing/2017/decorative" val="1"/>
              </a:ext>
            </a:extLst>
          </p:cNvPr>
          <p:cNvSpPr/>
          <p:nvPr/>
        </p:nvSpPr>
        <p:spPr>
          <a:xfrm>
            <a:off x="658368" y="3775252"/>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383011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766108"/>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Validity comes in internal, external, construct and conclusion forms. Construct validity is the one data scientists most often neglect.</a:t>
            </a:r>
          </a:p>
        </p:txBody>
      </p:sp>
      <p:sp>
        <p:nvSpPr>
          <p:cNvPr id="19" name="!!sb4">
            <a:extLst>
              <a:ext uri="{C183D7F6-B498-43B3-948B-1728B52AA6E4}">
                <adec:decorative xmlns:adec="http://schemas.microsoft.com/office/drawing/2017/decorative" val="1"/>
              </a:ext>
            </a:extLst>
          </p:cNvPr>
          <p:cNvSpPr/>
          <p:nvPr/>
        </p:nvSpPr>
        <p:spPr>
          <a:xfrm>
            <a:off x="658368" y="449701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55188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487875"/>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Reproducible </a:t>
            </a:r>
            <a:r>
              <a:rPr sz="1700" b="0" i="0">
                <a:solidFill>
                  <a:srgbClr val="1C252B"/>
                </a:solidFill>
                <a:latin typeface="Cambria"/>
              </a:rPr>
              <a:t>→</a:t>
            </a:r>
            <a:r>
              <a:rPr sz="1700" b="0" i="0">
                <a:solidFill>
                  <a:srgbClr val="1C252B"/>
                </a:solidFill>
                <a:latin typeface="Segoe UI"/>
              </a:rPr>
              <a:t> replicable </a:t>
            </a:r>
            <a:r>
              <a:rPr sz="1700" b="0" i="0">
                <a:solidFill>
                  <a:srgbClr val="1C252B"/>
                </a:solidFill>
                <a:latin typeface="Cambria"/>
              </a:rPr>
              <a:t>→</a:t>
            </a:r>
            <a:r>
              <a:rPr sz="1700" b="0" i="0">
                <a:solidFill>
                  <a:srgbClr val="1C252B"/>
                </a:solidFill>
                <a:latin typeface="Segoe UI"/>
              </a:rPr>
              <a:t> robust. Seeds, pinned environments and committed scripts move you up cheaply.</a:t>
            </a:r>
          </a:p>
        </p:txBody>
      </p:sp>
      <p:sp>
        <p:nvSpPr>
          <p:cNvPr id="22" name="!!sb5">
            <a:extLst>
              <a:ext uri="{C183D7F6-B498-43B3-948B-1728B52AA6E4}">
                <adec:decorative xmlns:adec="http://schemas.microsoft.com/office/drawing/2017/decorative" val="1"/>
              </a:ext>
            </a:extLst>
          </p:cNvPr>
          <p:cNvSpPr/>
          <p:nvPr/>
        </p:nvSpPr>
        <p:spPr>
          <a:xfrm>
            <a:off x="658368" y="521878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27364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209641"/>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Pre-register the hypothesis, sample size, primary outcome and exclusions before looking at the data.</a:t>
            </a:r>
          </a:p>
        </p:txBody>
      </p:sp>
      <p:sp>
        <p:nvSpPr>
          <p:cNvPr id="25" name="!!sb6">
            <a:extLst>
              <a:ext uri="{C183D7F6-B498-43B3-948B-1728B52AA6E4}">
                <adec:decorative xmlns:adec="http://schemas.microsoft.com/office/drawing/2017/decorative" val="1"/>
              </a:ext>
            </a:extLst>
          </p:cNvPr>
          <p:cNvSpPr/>
          <p:nvPr/>
        </p:nvSpPr>
        <p:spPr>
          <a:xfrm>
            <a:off x="658368" y="5804001"/>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sbn6"/>
          <p:cNvSpPr txBox="1"/>
          <p:nvPr/>
        </p:nvSpPr>
        <p:spPr>
          <a:xfrm>
            <a:off x="658368" y="5858865"/>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27" name="!!st6"/>
          <p:cNvSpPr txBox="1"/>
          <p:nvPr/>
        </p:nvSpPr>
        <p:spPr>
          <a:xfrm>
            <a:off x="1298448" y="5794857"/>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specific, numerical limitations section adds credibility rather than removing it.</a:t>
            </a:r>
          </a:p>
        </p:txBody>
      </p:sp>
      <p:sp>
        <p:nvSpPr>
          <p:cNvPr id="8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pfill">
            <a:extLst>
              <a:ext uri="{C183D7F6-B498-43B3-948B-1728B52AA6E4}">
                <adec:decorative xmlns:adec="http://schemas.microsoft.com/office/drawing/2017/decorative" val="1"/>
              </a:ext>
            </a:extLst>
          </p:cNvPr>
          <p:cNvSpPr/>
          <p:nvPr/>
        </p:nvSpPr>
        <p:spPr>
          <a:xfrm>
            <a:off x="0" y="0"/>
            <a:ext cx="1100226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par>
                    <p:cTn id="70" fill="hold">
                      <p:stCondLst>
                        <p:cond delay="indefinite"/>
                      </p:stCondLst>
                      <p:childTnLst>
                        <p:par>
                          <p:cTn id="71" fill="hold">
                            <p:stCondLst>
                              <p:cond delay="0"/>
                            </p:stCondLst>
                            <p:childTnLst>
                              <p:par>
                                <p:cTn id="72" presetID="23" presetClass="entr" presetSubtype="16" fill="hold" grpId="0" nodeType="click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zoom(in)">
                                      <p:cBhvr>
                                        <p:cTn id="74" dur="260"/>
                                        <p:tgtEl>
                                          <p:spTgt spid="2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260"/>
                                        <p:tgtEl>
                                          <p:spTgt spid="26"/>
                                        </p:tgtEl>
                                      </p:cBhvr>
                                    </p:animEffect>
                                  </p:childTnLst>
                                </p:cTn>
                              </p:par>
                              <p:par>
                                <p:cTn id="78" presetID="22" presetClass="entr" presetSubtype="8"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wipe(right)">
                                      <p:cBhvr>
                                        <p:cTn id="80"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29  ·  Research Methods and Experimental Design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195     </a:t>
            </a:r>
            <a:fld id="{E6A17C35-867A-4F8F-892F-CE7BFDEEF772}" type="slidenum">
              <a:rPr lang="en-GB" sz="1000">
                <a:solidFill>
                  <a:srgbClr val="8795A1"/>
                </a:solidFill>
                <a:latin typeface="Segoe UI"/>
              </a:rPr>
              <a:t>38</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Which design can support a causal claim?</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survey</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correlational study</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randomised experiment</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case study</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29961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29  ·  Research Methods and Experimental Design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195     </a:t>
            </a:r>
            <a:fld id="{5B7936CF-741C-426E-8494-84CE7DE41B24}" type="slidenum">
              <a:rPr lang="en-GB" sz="1000">
                <a:solidFill>
                  <a:srgbClr val="8795A1"/>
                </a:solidFill>
                <a:latin typeface="Segoe UI"/>
              </a:rPr>
              <a:t>39</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Measuring “productivity” by lines of code primarily threatens: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internal</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external</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construct</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conclusion validity</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59697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29  ·  Research Methods and Experimental Design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195     </a:t>
            </a:r>
            <a:fld id="{1EC2D3A5-D059-41A6-AF46-1C230F178D02}" type="slidenum">
              <a:rPr lang="en-GB" sz="1000">
                <a:solidFill>
                  <a:srgbClr val="8795A1"/>
                </a:solidFill>
                <a:latin typeface="Segoe UI"/>
              </a:rPr>
              <a:t>40</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Define pre-registration and explain which specific problem from Chapter 9 it prevents.</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intention-to-treat analysis and why it preserves a causal interpretation when uptake is voluntary.</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Give two reasons a non-significant result is not evidence that no effect exists.</a:t>
            </a:r>
          </a:p>
        </p:txBody>
      </p:sp>
      <p:sp>
        <p:nvSpPr>
          <p:cNvPr id="16" name="!!rt3">
            <a:extLst>
              <a:ext uri="{C183D7F6-B498-43B3-948B-1728B52AA6E4}">
                <adec:decorative xmlns:adec="http://schemas.microsoft.com/office/drawing/2017/decorative" val="1"/>
              </a:ext>
            </a:extLst>
          </p:cNvPr>
          <p:cNvSpPr/>
          <p:nvPr/>
        </p:nvSpPr>
        <p:spPr>
          <a:xfrm>
            <a:off x="658368" y="3618585"/>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659733"/>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600297"/>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Design a study to test whether a new code-review practice reduces defects. State the question, design, variables, sample size reasoning, one threat to each of the four validity types, and how you would make it reproducible.</a:t>
            </a:r>
          </a:p>
        </p:txBody>
      </p:sp>
      <p:sp>
        <p:nvSpPr>
          <p:cNvPr id="19" name="!!rt4">
            <a:extLst>
              <a:ext uri="{C183D7F6-B498-43B3-948B-1728B52AA6E4}">
                <adec:decorative xmlns:adec="http://schemas.microsoft.com/office/drawing/2017/decorative" val="1"/>
              </a:ext>
            </a:extLst>
          </p:cNvPr>
          <p:cNvSpPr/>
          <p:nvPr/>
        </p:nvSpPr>
        <p:spPr>
          <a:xfrm>
            <a:off x="658368" y="4741468"/>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78261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723180"/>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colleague reports “students using the library score 8 marks higher, so we should require library use”. Identify every methodological problem and rewrite the conclusion defensibly.</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89433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705B0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7B681A"/>
                </a:solidFill>
                <a:latin typeface="Segoe UI Black"/>
              </a:rPr>
              <a:t>29</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29</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30 — Managing Data Science Projects</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29, pages 190–195</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Monitored service; fairness measurement</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Capstone due</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29  ·  Research Methods and Experimental Design</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D84419CA-07DA-4094-81D1-EF777C5B7203}" type="slidenum">
              <a:rPr lang="en-GB" sz="1000">
                <a:solidFill>
                  <a:srgbClr val="D5DEE5"/>
                </a:solidFill>
                <a:latin typeface="Segoe UI"/>
              </a:rPr>
              <a:t>41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Data Science Fall 2026">
  <a:themeElements>
    <a:clrScheme name="Data Sci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Data Sci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29: Research Methods and Experimental Design</dc:title>
  <dc:subject>Data Science — From Foundations to Intelligent Systems · BSIT · Fall 2026</dc:subject>
  <dc:creator>Dr. Mustafa Hameed</dc:creator>
  <cp:keywords>data science; lecture slides; BSIT;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