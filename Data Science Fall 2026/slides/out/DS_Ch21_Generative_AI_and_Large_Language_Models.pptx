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6.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8.svg" ContentType="image/svg+xml"/>
  <Override PartName="/ppt/media/image90.svg" ContentType="image/svg+xml"/>
  <Override PartName="/ppt/media/image91.svg" ContentType="image/svg+xml"/>
  <Override PartName="/ppt/media/image9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5A66B2F-23E9-45FC-A050-DC03932567A1}">
          <p14:sldIdLst>
            <p14:sldId id="256"/>
            <p14:sldId id="257"/>
            <p14:sldId id="258"/>
            <p14:sldId id="259"/>
            <p14:sldId id="260"/>
          </p14:sldIdLst>
        </p14:section>
        <p14:section name="21.1 How an LLM Actually Works" id="{E74D10D8-6A32-4188-A309-C6189410A90D}">
          <p14:sldIdLst>
            <p14:sldId id="261"/>
            <p14:sldId id="262"/>
            <p14:sldId id="263"/>
            <p14:sldId id="264"/>
          </p14:sldIdLst>
        </p14:section>
        <p14:section name="21.2 Four Ways to Adapt a Model" id="{6AD3AE92-1045-459B-9E35-187F0D342560}">
          <p14:sldIdLst>
            <p14:sldId id="265"/>
          </p14:sldIdLst>
        </p14:section>
        <p14:section name="21.3 Prompting" id="{73410A49-B4DE-4AA2-9C2E-229DE6761B1D}">
          <p14:sldIdLst>
            <p14:sldId id="266"/>
            <p14:sldId id="267"/>
            <p14:sldId id="268"/>
            <p14:sldId id="269"/>
            <p14:sldId id="270"/>
            <p14:sldId id="271"/>
            <p14:sldId id="272"/>
            <p14:sldId id="273"/>
          </p14:sldIdLst>
        </p14:section>
        <p14:section name="21.4 Retrieval-Augmented Generation" id="{4739AC66-7590-4FC4-B172-5D46ADFF33BE}">
          <p14:sldIdLst>
            <p14:sldId id="274"/>
            <p14:sldId id="275"/>
            <p14:sldId id="276"/>
            <p14:sldId id="277"/>
          </p14:sldIdLst>
        </p14:section>
        <p14:section name="21.5 Evaluating Generative Systems" id="{AF7FDB38-F881-48B1-883A-417E91AF61DB}">
          <p14:sldIdLst>
            <p14:sldId id="278"/>
            <p14:sldId id="279"/>
            <p14:sldId id="280"/>
          </p14:sldIdLst>
        </p14:section>
        <p14:section name="Pitfalls" id="{52D4D653-391E-41A5-9EE8-D1E1F8D4FBC1}">
          <p14:sldIdLst>
            <p14:sldId id="281"/>
          </p14:sldIdLst>
        </p14:section>
        <p14:section name="Four lenses" id="{43A53954-9275-49EF-9405-3E037113DF50}">
          <p14:sldIdLst>
            <p14:sldId id="282"/>
            <p14:sldId id="283"/>
            <p14:sldId id="284"/>
            <p14:sldId id="285"/>
            <p14:sldId id="286"/>
          </p14:sldIdLst>
        </p14:section>
        <p14:section name="Lab" id="{714CDD82-0744-47BC-9B06-CC123F090358}">
          <p14:sldIdLst>
            <p14:sldId id="287"/>
            <p14:sldId id="288"/>
            <p14:sldId id="289"/>
            <p14:sldId id="290"/>
            <p14:sldId id="291"/>
            <p14:sldId id="292"/>
            <p14:sldId id="293"/>
          </p14:sldIdLst>
        </p14:section>
        <p14:section name="Checkpoint" id="{181CA887-A209-4AC0-8711-4C9BB5624A2A}">
          <p14:sldIdLst>
            <p14:sldId id="294"/>
            <p14:sldId id="295"/>
            <p14:sldId id="296"/>
            <p14:sldId id="297"/>
            <p14:sldId id="298"/>
            <p14:sldId id="299"/>
          </p14:sldIdLst>
        </p14:section>
        <p14:section name="Wrap-up" id="{EB89A094-0FF7-4078-8CD5-DD45C68ED34D}">
          <p14:sldIdLst>
            <p14:sldId id="300"/>
            <p14:sldId id="301"/>
            <p14:sldId id="302"/>
            <p14:sldId id="303"/>
            <p14:sldId id="30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21: Generative AI and Large Language Models. Part 4 — Deep Learning and Modern AI. Week 13: Generative and agentic AI. Handout pages 134–140.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18 (attention and transformers) and Chapter 20 (embeddings — RAG is built on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generative model; large language model; token; next-token prediction; temperature; context window; pre-training; fine-tuning; prompt engineering; zero/few-shot; chain of thought; reasoning model; structured output; hallucination; retrieval-augmented generation; vector database; re-ranking; grounding.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21.1 (handout p. 135): Next-token generation. The model outputs a probability distribution over its vocabulary and samples from it; the sampled token is appended and the process repeats. Fluency and truth are produced by the same mechanism, which is the central risk.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21.2 (handout p. 135): Four levels of adaptation. Work left to right and stop as soon as the problem is solved; most production systems never move past the second box.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21.3 (handout p. 137): Retrieval-augmented generation. RAG solves three problems at once: the model does not know your private documents, its training data has a cutoff date, and its claims cannot otherwise be checked.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Draft personalised feedback on assignments, generate practice questions at a target difficulty, and build a RAG tutor grounded strictly in the module’s own materials so it cannot invent content that is not on the syllabus. Firm limits: never let a generative model assign a grade unreviewed, and be explicit with students about where it is used. The fluency of the output makes it far more persuasive than its reliability warrants.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Draft status reports from ticket data, summarise long requirement documents, and extract structured risk registers from meeting notes. RAG over the organisation’s own past project archives gives estimates a reference class it would otherwise lack. Keep temperature near 0 for anything that must be consistent between runs — a status report that changes wording every Monday erodes trust quickly.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Less central here, but real: translating natural-language questions into telemetry queries, and generating human-readable incident summaries from raw sensor sequences. RAG over device manuals and past maintenance records puts the right procedure in a technician’s hands at the point of work. Note that LLM inference is far too heavy for edge devices — this runs in the cloud, on aggregated data (Chapter 24).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Two-edged, and the only lens where the technology is used by both sides. Defensively: summarise incidents, explain alerts to junior analysts, RAG over threat intelligence, draft detection rules. Offensively: attackers use the same models to write flawless phishing in any language, which has removed the spelling-error signal that classifiers relied on for twenty years. Add prompt injection to your threat model: if your assistant reads untrusted content, that content can contain instructions to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Chunk your documents.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Embed once, offline.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Retrieve by cosine similarity (Chapter 4).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Build a grounded prompt.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The evaluation you must not skip.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model samples the most plausible next token given the context; it has no separate fact store to check against and no representation of its own uncertainty about the world. A fabricated citation is produced by the same process, with the same fluency, as a correct one.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RAG. Fine-tuning teaches behaviour and format, not facts, and a policy that changes would require retraining every time. Retrieval also supplies citations, so the answer can be checked.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Temperature 0, so the model takes the highest-probability token rather than sampling — the right setting for extraction, classification and anything that must be consistent between runs. It is not a guarantee, though: GPU floating-point addition is not associative, so batching your request with different neighbours changes the order of the sums and can flip a close contest between two tokens. Pin the model version, fix any seed the provider offers, keep the prompt under version control, and judge your evaluation suite on semantic equivalence rather than byte-identical text.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22 — Agentic AI. READ: Handout Chapter 21, pages 134–140. THIS WEEK'S LAB: Minimal RAG; agent loop with guardrails. ASSESSMENT: Quiz 2 (Ch 17–22).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 Target="slide19.xml"/><Relationship Id="rId9" Type="http://schemas.openxmlformats.org/officeDocument/2006/relationships/slide" Target="slide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2.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5.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image" Target="../media/image29.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0.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image" Target="../media/image41.png"/><Relationship Id="rId7" Type="http://schemas.openxmlformats.org/officeDocument/2006/relationships/image" Target="../media/image42.svg"/><Relationship Id="rId8" Type="http://schemas.openxmlformats.org/officeDocument/2006/relationships/image" Target="../media/image43.png"/><Relationship Id="rId9" Type="http://schemas.openxmlformats.org/officeDocument/2006/relationships/image" Target="../media/image44.svg"/><Relationship Id="rId10" Type="http://schemas.openxmlformats.org/officeDocument/2006/relationships/image" Target="../media/image45.png"/><Relationship Id="rId11" Type="http://schemas.openxmlformats.org/officeDocument/2006/relationships/image" Target="../media/image46.svg"/><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image" Target="../media/image48.svg"/><Relationship Id="rId4" Type="http://schemas.openxmlformats.org/officeDocument/2006/relationships/image" Target="../media/image39.png"/><Relationship Id="rId5" Type="http://schemas.openxmlformats.org/officeDocument/2006/relationships/image" Target="../media/image49.svg"/><Relationship Id="rId6" Type="http://schemas.openxmlformats.org/officeDocument/2006/relationships/image" Target="../media/image41.png"/><Relationship Id="rId7" Type="http://schemas.openxmlformats.org/officeDocument/2006/relationships/image" Target="../media/image50.svg"/><Relationship Id="rId8" Type="http://schemas.openxmlformats.org/officeDocument/2006/relationships/image" Target="../media/image43.png"/><Relationship Id="rId9" Type="http://schemas.openxmlformats.org/officeDocument/2006/relationships/image" Target="../media/image51.svg"/><Relationship Id="rId10" Type="http://schemas.openxmlformats.org/officeDocument/2006/relationships/image" Target="../media/image45.png"/><Relationship Id="rId11" Type="http://schemas.openxmlformats.org/officeDocument/2006/relationships/image" Target="../media/image52.svg"/><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image" Target="../media/image41.png"/><Relationship Id="rId5" Type="http://schemas.openxmlformats.org/officeDocument/2006/relationships/image" Target="../media/image55.svg"/><Relationship Id="rId6" Type="http://schemas.openxmlformats.org/officeDocument/2006/relationships/image" Target="../media/image39.png"/><Relationship Id="rId7" Type="http://schemas.openxmlformats.org/officeDocument/2006/relationships/image" Target="../media/image56.svg"/><Relationship Id="rId8" Type="http://schemas.openxmlformats.org/officeDocument/2006/relationships/image" Target="../media/image43.png"/><Relationship Id="rId9" Type="http://schemas.openxmlformats.org/officeDocument/2006/relationships/image" Target="../media/image57.svg"/><Relationship Id="rId10" Type="http://schemas.openxmlformats.org/officeDocument/2006/relationships/image" Target="../media/image45.png"/><Relationship Id="rId11" Type="http://schemas.openxmlformats.org/officeDocument/2006/relationships/image" Target="../media/image58.svg"/><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image" Target="../media/image43.png"/><Relationship Id="rId5" Type="http://schemas.openxmlformats.org/officeDocument/2006/relationships/image" Target="../media/image61.svg"/><Relationship Id="rId6" Type="http://schemas.openxmlformats.org/officeDocument/2006/relationships/image" Target="../media/image39.png"/><Relationship Id="rId7" Type="http://schemas.openxmlformats.org/officeDocument/2006/relationships/image" Target="../media/image62.svg"/><Relationship Id="rId8" Type="http://schemas.openxmlformats.org/officeDocument/2006/relationships/image" Target="../media/image41.png"/><Relationship Id="rId9" Type="http://schemas.openxmlformats.org/officeDocument/2006/relationships/image" Target="../media/image63.svg"/><Relationship Id="rId10" Type="http://schemas.openxmlformats.org/officeDocument/2006/relationships/image" Target="../media/image45.png"/><Relationship Id="rId11" Type="http://schemas.openxmlformats.org/officeDocument/2006/relationships/image" Target="../media/image64.svg"/><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image" Target="../media/image66.svg"/><Relationship Id="rId4" Type="http://schemas.openxmlformats.org/officeDocument/2006/relationships/image" Target="../media/image45.png"/><Relationship Id="rId5" Type="http://schemas.openxmlformats.org/officeDocument/2006/relationships/image" Target="../media/image67.svg"/><Relationship Id="rId6" Type="http://schemas.openxmlformats.org/officeDocument/2006/relationships/image" Target="../media/image39.png"/><Relationship Id="rId7" Type="http://schemas.openxmlformats.org/officeDocument/2006/relationships/image" Target="../media/image68.svg"/><Relationship Id="rId8" Type="http://schemas.openxmlformats.org/officeDocument/2006/relationships/image" Target="../media/image41.png"/><Relationship Id="rId9" Type="http://schemas.openxmlformats.org/officeDocument/2006/relationships/image" Target="../media/image69.svg"/><Relationship Id="rId10" Type="http://schemas.openxmlformats.org/officeDocument/2006/relationships/image" Target="../media/image43.png"/><Relationship Id="rId11" Type="http://schemas.openxmlformats.org/officeDocument/2006/relationships/image" Target="../media/image70.svg"/><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7.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image" Target="../media/image7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2.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3.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4.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image" Target="../media/image85.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image" Target="../media/image86.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image" Target="../media/image88.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0.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1.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image" Target="../media/image92.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74EA0"/>
                </a:solidFill>
                <a:latin typeface="Segoe UI Black"/>
              </a:rPr>
              <a:t>21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Generative AI and Large Language Models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PART IV  ·  DEEP LEARNING AND MODERN AI</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AC8E1"/>
                </a:solidFill>
                <a:latin typeface="Segoe UI"/>
              </a:rPr>
              <a:t>CHAPTER 21  ·  WEEK 13</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4D8EA"/>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82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C0AE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D0C3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C0AE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134     </a:t>
            </a:r>
            <a:fld id="{69011C34-28B0-499D-ADED-6181648273AC}"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94532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A3A95"/>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945328" cy="4572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379504"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379504"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061571"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061571"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16516" y="2112264"/>
            <a:ext cx="566928" cy="566928"/>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216516"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21</a:t>
            </a:r>
          </a:p>
        </p:txBody>
      </p:sp>
      <p:sp>
        <p:nvSpPr>
          <p:cNvPr id="61" name="!!dot22">
            <a:extLst>
              <a:ext uri="{C183D7F6-B498-43B3-948B-1728B52AA6E4}">
                <adec:decorative xmlns:adec="http://schemas.microsoft.com/office/drawing/2017/decorative" val="1"/>
              </a:ext>
            </a:extLst>
          </p:cNvPr>
          <p:cNvSpPr/>
          <p:nvPr/>
        </p:nvSpPr>
        <p:spPr>
          <a:xfrm>
            <a:off x="779981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70837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35568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82642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63723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5457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918786"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82734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920033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91088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481885"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3904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1003775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9463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31930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10227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60085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50941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88240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79096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5213980"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A3A95"/>
                </a:solidFill>
                <a:latin typeface="Segoe UI"/>
              </a:rPr>
              <a:t>Generative AI and Large Language Models</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18">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18">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18"/>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18  </a:t>
            </a:r>
            <a:r>
              <a:rPr sz="1400" b="0" i="0">
                <a:solidFill>
                  <a:srgbClr val="1C252B"/>
                </a:solidFill>
                <a:latin typeface="Segoe UI"/>
              </a:rPr>
              <a:t>Deep Architectures</a:t>
            </a:r>
          </a:p>
        </p:txBody>
      </p:sp>
      <p:sp>
        <p:nvSpPr>
          <p:cNvPr id="88" name="!!chipBU20">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20">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20"/>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20  </a:t>
            </a:r>
            <a:r>
              <a:rPr sz="1400" b="0" i="0">
                <a:solidFill>
                  <a:srgbClr val="1C252B"/>
                </a:solidFill>
                <a:latin typeface="Segoe UI"/>
              </a:rPr>
              <a:t>Text and Natural Language Processing</a:t>
            </a:r>
          </a:p>
        </p:txBody>
      </p:sp>
      <p:sp>
        <p:nvSpPr>
          <p:cNvPr id="91"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2" name="!!chipUS2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bUS2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4" name="!!chiptUS2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22  </a:t>
            </a:r>
            <a:r>
              <a:rPr sz="1400" b="0" i="0">
                <a:solidFill>
                  <a:srgbClr val="1C252B"/>
                </a:solidFill>
                <a:latin typeface="Segoe UI"/>
              </a:rPr>
              <a:t>Agentic AI</a:t>
            </a:r>
          </a:p>
        </p:txBody>
      </p:sp>
      <p:sp>
        <p:nvSpPr>
          <p:cNvPr id="9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6" name="!!pfill">
            <a:extLst>
              <a:ext uri="{C183D7F6-B498-43B3-948B-1728B52AA6E4}">
                <adec:decorative xmlns:adec="http://schemas.microsoft.com/office/drawing/2017/decorative" val="1"/>
              </a:ext>
            </a:extLst>
          </p:cNvPr>
          <p:cNvSpPr/>
          <p:nvPr/>
        </p:nvSpPr>
        <p:spPr>
          <a:xfrm>
            <a:off x="0" y="0"/>
            <a:ext cx="49762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134     </a:t>
            </a:r>
            <a:fld id="{686BCAA3-0F4E-4659-862A-54DA6BE4B336}"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Explain</a:t>
            </a:r>
            <a:r>
              <a:rPr sz="2100" b="0" i="0">
                <a:solidFill>
                  <a:srgbClr val="1C252B"/>
                </a:solidFill>
                <a:latin typeface="Segoe UI"/>
              </a:rPr>
              <a:t> how an LLM produces text, and why that mechanism causes hallucination.</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Distinguish</a:t>
            </a:r>
            <a:r>
              <a:rPr sz="2100" b="0" i="0">
                <a:solidFill>
                  <a:srgbClr val="1C252B"/>
                </a:solidFill>
                <a:latin typeface="Segoe UI"/>
              </a:rPr>
              <a:t> pre-training, fine-tuning, prompting and retrieval, and choose between them.</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Write</a:t>
            </a:r>
            <a:r>
              <a:rPr sz="2100" b="0" i="0">
                <a:solidFill>
                  <a:srgbClr val="1C252B"/>
                </a:solidFill>
                <a:latin typeface="Segoe UI"/>
              </a:rPr>
              <a:t> effective prompts using role, context, task, format and examples.</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Describe</a:t>
            </a:r>
            <a:r>
              <a:rPr sz="2100" b="0" i="0">
                <a:solidFill>
                  <a:srgbClr val="1C252B"/>
                </a:solidFill>
                <a:latin typeface="Segoe UI"/>
              </a:rPr>
              <a:t> the RAG architecture and say which problem each component solves.</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A3A95"/>
                </a:solidFill>
                <a:latin typeface="Segoe UI"/>
              </a:rPr>
              <a:t>Evaluate</a:t>
            </a:r>
            <a:r>
              <a:rPr sz="2100" b="0" i="0">
                <a:solidFill>
                  <a:srgbClr val="1C252B"/>
                </a:solidFill>
                <a:latin typeface="Segoe UI"/>
              </a:rPr>
              <a:t> a generative system despite the absence of a single correct answer.</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4643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134     </a:t>
            </a:r>
            <a:fld id="{E3448CA3-2BA0-4F57-861A-FD784295A5B4}" type="slidenum">
              <a:rPr lang="en-GB" sz="1000">
                <a:solidFill>
                  <a:srgbClr val="8795A1"/>
                </a:solidFill>
                <a:latin typeface="Segoe UI"/>
              </a:rPr>
              <a:t>4</a:t>
            </a:fld>
          </a:p>
        </p:txBody>
      </p:sp>
      <p:sp>
        <p:nvSpPr>
          <p:cNvPr id="7" name="!!term-generative mod">
            <a:extLst>
              <a:ext uri="{C183D7F6-B498-43B3-948B-1728B52AA6E4}">
                <adec:decorative xmlns:adec="http://schemas.microsoft.com/office/drawing/2017/decorative" val="1"/>
              </a:ext>
            </a:extLst>
          </p:cNvPr>
          <p:cNvSpPr/>
          <p:nvPr/>
        </p:nvSpPr>
        <p:spPr>
          <a:xfrm>
            <a:off x="658368" y="1847088"/>
            <a:ext cx="19381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generative mod">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generative mod"/>
          <p:cNvSpPr txBox="1"/>
          <p:nvPr/>
        </p:nvSpPr>
        <p:spPr>
          <a:xfrm>
            <a:off x="950976" y="1970532"/>
            <a:ext cx="175530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generative model</a:t>
            </a:r>
          </a:p>
        </p:txBody>
      </p:sp>
      <p:sp>
        <p:nvSpPr>
          <p:cNvPr id="10" name="!!term-large language">
            <a:extLst>
              <a:ext uri="{C183D7F6-B498-43B3-948B-1728B52AA6E4}">
                <adec:decorative xmlns:adec="http://schemas.microsoft.com/office/drawing/2017/decorative" val="1"/>
              </a:ext>
            </a:extLst>
          </p:cNvPr>
          <p:cNvSpPr/>
          <p:nvPr/>
        </p:nvSpPr>
        <p:spPr>
          <a:xfrm>
            <a:off x="2742861" y="1847088"/>
            <a:ext cx="23145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large language">
            <a:extLst>
              <a:ext uri="{C183D7F6-B498-43B3-948B-1728B52AA6E4}">
                <adec:decorative xmlns:adec="http://schemas.microsoft.com/office/drawing/2017/decorative" val="1"/>
              </a:ext>
            </a:extLst>
          </p:cNvPr>
          <p:cNvSpPr/>
          <p:nvPr/>
        </p:nvSpPr>
        <p:spPr>
          <a:xfrm>
            <a:off x="287087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large language"/>
          <p:cNvSpPr txBox="1"/>
          <p:nvPr/>
        </p:nvSpPr>
        <p:spPr>
          <a:xfrm>
            <a:off x="3035469" y="1970532"/>
            <a:ext cx="213166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large language model</a:t>
            </a:r>
          </a:p>
        </p:txBody>
      </p:sp>
      <p:sp>
        <p:nvSpPr>
          <p:cNvPr id="13" name="!!term-token">
            <a:extLst>
              <a:ext uri="{C183D7F6-B498-43B3-948B-1728B52AA6E4}">
                <adec:decorative xmlns:adec="http://schemas.microsoft.com/office/drawing/2017/decorative" val="1"/>
              </a:ext>
            </a:extLst>
          </p:cNvPr>
          <p:cNvSpPr/>
          <p:nvPr/>
        </p:nvSpPr>
        <p:spPr>
          <a:xfrm>
            <a:off x="5203712" y="1847088"/>
            <a:ext cx="9267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oken">
            <a:extLst>
              <a:ext uri="{C183D7F6-B498-43B3-948B-1728B52AA6E4}">
                <adec:decorative xmlns:adec="http://schemas.microsoft.com/office/drawing/2017/decorative" val="1"/>
              </a:ext>
            </a:extLst>
          </p:cNvPr>
          <p:cNvSpPr/>
          <p:nvPr/>
        </p:nvSpPr>
        <p:spPr>
          <a:xfrm>
            <a:off x="533172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oken"/>
          <p:cNvSpPr txBox="1"/>
          <p:nvPr/>
        </p:nvSpPr>
        <p:spPr>
          <a:xfrm>
            <a:off x="5496320" y="1970532"/>
            <a:ext cx="74385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token</a:t>
            </a:r>
          </a:p>
        </p:txBody>
      </p:sp>
      <p:sp>
        <p:nvSpPr>
          <p:cNvPr id="16" name="!!term-next-token pre">
            <a:extLst>
              <a:ext uri="{C183D7F6-B498-43B3-948B-1728B52AA6E4}">
                <adec:decorative xmlns:adec="http://schemas.microsoft.com/office/drawing/2017/decorative" val="1"/>
              </a:ext>
            </a:extLst>
          </p:cNvPr>
          <p:cNvSpPr/>
          <p:nvPr/>
        </p:nvSpPr>
        <p:spPr>
          <a:xfrm>
            <a:off x="6276756" y="1847088"/>
            <a:ext cx="22956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next-token pre">
            <a:extLst>
              <a:ext uri="{C183D7F6-B498-43B3-948B-1728B52AA6E4}">
                <adec:decorative xmlns:adec="http://schemas.microsoft.com/office/drawing/2017/decorative" val="1"/>
              </a:ext>
            </a:extLst>
          </p:cNvPr>
          <p:cNvSpPr/>
          <p:nvPr/>
        </p:nvSpPr>
        <p:spPr>
          <a:xfrm>
            <a:off x="640477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next-token pre"/>
          <p:cNvSpPr txBox="1"/>
          <p:nvPr/>
        </p:nvSpPr>
        <p:spPr>
          <a:xfrm>
            <a:off x="6569364" y="1970532"/>
            <a:ext cx="211276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next-token prediction</a:t>
            </a:r>
          </a:p>
        </p:txBody>
      </p:sp>
      <p:sp>
        <p:nvSpPr>
          <p:cNvPr id="19" name="!!term-temperature">
            <a:extLst>
              <a:ext uri="{C183D7F6-B498-43B3-948B-1728B52AA6E4}">
                <adec:decorative xmlns:adec="http://schemas.microsoft.com/office/drawing/2017/decorative" val="1"/>
              </a:ext>
            </a:extLst>
          </p:cNvPr>
          <p:cNvSpPr/>
          <p:nvPr/>
        </p:nvSpPr>
        <p:spPr>
          <a:xfrm>
            <a:off x="8718701" y="1847088"/>
            <a:ext cx="15011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temperature">
            <a:extLst>
              <a:ext uri="{C183D7F6-B498-43B3-948B-1728B52AA6E4}">
                <adec:decorative xmlns:adec="http://schemas.microsoft.com/office/drawing/2017/decorative" val="1"/>
              </a:ext>
            </a:extLst>
          </p:cNvPr>
          <p:cNvSpPr/>
          <p:nvPr/>
        </p:nvSpPr>
        <p:spPr>
          <a:xfrm>
            <a:off x="884671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temperature"/>
          <p:cNvSpPr txBox="1"/>
          <p:nvPr/>
        </p:nvSpPr>
        <p:spPr>
          <a:xfrm>
            <a:off x="9011309" y="1970532"/>
            <a:ext cx="131826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temperature</a:t>
            </a:r>
          </a:p>
        </p:txBody>
      </p:sp>
      <p:sp>
        <p:nvSpPr>
          <p:cNvPr id="22" name="!!term-context window">
            <a:extLst>
              <a:ext uri="{C183D7F6-B498-43B3-948B-1728B52AA6E4}">
                <adec:decorative xmlns:adec="http://schemas.microsoft.com/office/drawing/2017/decorative" val="1"/>
              </a:ext>
            </a:extLst>
          </p:cNvPr>
          <p:cNvSpPr/>
          <p:nvPr/>
        </p:nvSpPr>
        <p:spPr>
          <a:xfrm>
            <a:off x="658368" y="2468880"/>
            <a:ext cx="179458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context window">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context window"/>
          <p:cNvSpPr txBox="1"/>
          <p:nvPr/>
        </p:nvSpPr>
        <p:spPr>
          <a:xfrm>
            <a:off x="950976" y="2592324"/>
            <a:ext cx="161170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context window</a:t>
            </a:r>
          </a:p>
        </p:txBody>
      </p:sp>
      <p:sp>
        <p:nvSpPr>
          <p:cNvPr id="25" name="!!term-pre-training">
            <a:extLst>
              <a:ext uri="{C183D7F6-B498-43B3-948B-1728B52AA6E4}">
                <adec:decorative xmlns:adec="http://schemas.microsoft.com/office/drawing/2017/decorative" val="1"/>
              </a:ext>
            </a:extLst>
          </p:cNvPr>
          <p:cNvSpPr/>
          <p:nvPr/>
        </p:nvSpPr>
        <p:spPr>
          <a:xfrm>
            <a:off x="2599260" y="2468880"/>
            <a:ext cx="14609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pre-training">
            <a:extLst>
              <a:ext uri="{C183D7F6-B498-43B3-948B-1728B52AA6E4}">
                <adec:decorative xmlns:adec="http://schemas.microsoft.com/office/drawing/2017/decorative" val="1"/>
              </a:ext>
            </a:extLst>
          </p:cNvPr>
          <p:cNvSpPr/>
          <p:nvPr/>
        </p:nvSpPr>
        <p:spPr>
          <a:xfrm>
            <a:off x="272727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pre-training"/>
          <p:cNvSpPr txBox="1"/>
          <p:nvPr/>
        </p:nvSpPr>
        <p:spPr>
          <a:xfrm>
            <a:off x="2891868" y="2592324"/>
            <a:ext cx="127806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pre-training</a:t>
            </a:r>
          </a:p>
        </p:txBody>
      </p:sp>
      <p:sp>
        <p:nvSpPr>
          <p:cNvPr id="28" name="!!term-fine-tuning">
            <a:extLst>
              <a:ext uri="{C183D7F6-B498-43B3-948B-1728B52AA6E4}">
                <adec:decorative xmlns:adec="http://schemas.microsoft.com/office/drawing/2017/decorative" val="1"/>
              </a:ext>
            </a:extLst>
          </p:cNvPr>
          <p:cNvSpPr/>
          <p:nvPr/>
        </p:nvSpPr>
        <p:spPr>
          <a:xfrm>
            <a:off x="4206507" y="2468880"/>
            <a:ext cx="13933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fine-tuning">
            <a:extLst>
              <a:ext uri="{C183D7F6-B498-43B3-948B-1728B52AA6E4}">
                <adec:decorative xmlns:adec="http://schemas.microsoft.com/office/drawing/2017/decorative" val="1"/>
              </a:ext>
            </a:extLst>
          </p:cNvPr>
          <p:cNvSpPr/>
          <p:nvPr/>
        </p:nvSpPr>
        <p:spPr>
          <a:xfrm>
            <a:off x="43345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fine-tuning"/>
          <p:cNvSpPr txBox="1"/>
          <p:nvPr/>
        </p:nvSpPr>
        <p:spPr>
          <a:xfrm>
            <a:off x="4499115" y="2592324"/>
            <a:ext cx="121048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fine-tuning</a:t>
            </a:r>
          </a:p>
        </p:txBody>
      </p:sp>
      <p:sp>
        <p:nvSpPr>
          <p:cNvPr id="31" name="!!term-prompt enginee">
            <a:extLst>
              <a:ext uri="{C183D7F6-B498-43B3-948B-1728B52AA6E4}">
                <adec:decorative xmlns:adec="http://schemas.microsoft.com/office/drawing/2017/decorative" val="1"/>
              </a:ext>
            </a:extLst>
          </p:cNvPr>
          <p:cNvSpPr/>
          <p:nvPr/>
        </p:nvSpPr>
        <p:spPr>
          <a:xfrm>
            <a:off x="5746174" y="2468880"/>
            <a:ext cx="21606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prompt enginee">
            <a:extLst>
              <a:ext uri="{C183D7F6-B498-43B3-948B-1728B52AA6E4}">
                <adec:decorative xmlns:adec="http://schemas.microsoft.com/office/drawing/2017/decorative" val="1"/>
              </a:ext>
            </a:extLst>
          </p:cNvPr>
          <p:cNvSpPr/>
          <p:nvPr/>
        </p:nvSpPr>
        <p:spPr>
          <a:xfrm>
            <a:off x="587419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prompt enginee"/>
          <p:cNvSpPr txBox="1"/>
          <p:nvPr/>
        </p:nvSpPr>
        <p:spPr>
          <a:xfrm>
            <a:off x="6038782" y="2592324"/>
            <a:ext cx="197777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prompt engineering</a:t>
            </a:r>
          </a:p>
        </p:txBody>
      </p:sp>
      <p:sp>
        <p:nvSpPr>
          <p:cNvPr id="34" name="!!term-zero/few-shot">
            <a:extLst>
              <a:ext uri="{C183D7F6-B498-43B3-948B-1728B52AA6E4}">
                <adec:decorative xmlns:adec="http://schemas.microsoft.com/office/drawing/2017/decorative" val="1"/>
              </a:ext>
            </a:extLst>
          </p:cNvPr>
          <p:cNvSpPr/>
          <p:nvPr/>
        </p:nvSpPr>
        <p:spPr>
          <a:xfrm>
            <a:off x="8053131" y="2468880"/>
            <a:ext cx="16383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zero/few-shot">
            <a:extLst>
              <a:ext uri="{C183D7F6-B498-43B3-948B-1728B52AA6E4}">
                <adec:decorative xmlns:adec="http://schemas.microsoft.com/office/drawing/2017/decorative" val="1"/>
              </a:ext>
            </a:extLst>
          </p:cNvPr>
          <p:cNvSpPr/>
          <p:nvPr/>
        </p:nvSpPr>
        <p:spPr>
          <a:xfrm>
            <a:off x="818114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zero/few-shot"/>
          <p:cNvSpPr txBox="1"/>
          <p:nvPr/>
        </p:nvSpPr>
        <p:spPr>
          <a:xfrm>
            <a:off x="8345739" y="2592324"/>
            <a:ext cx="145546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zero/few-shot</a:t>
            </a:r>
          </a:p>
        </p:txBody>
      </p:sp>
      <p:sp>
        <p:nvSpPr>
          <p:cNvPr id="37" name="!!term-chain of thoug">
            <a:extLst>
              <a:ext uri="{C183D7F6-B498-43B3-948B-1728B52AA6E4}">
                <adec:decorative xmlns:adec="http://schemas.microsoft.com/office/drawing/2017/decorative" val="1"/>
              </a:ext>
            </a:extLst>
          </p:cNvPr>
          <p:cNvSpPr/>
          <p:nvPr/>
        </p:nvSpPr>
        <p:spPr>
          <a:xfrm>
            <a:off x="658368" y="3090672"/>
            <a:ext cx="18656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chain of thoug">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chain of thoug"/>
          <p:cNvSpPr txBox="1"/>
          <p:nvPr/>
        </p:nvSpPr>
        <p:spPr>
          <a:xfrm>
            <a:off x="950976" y="3214116"/>
            <a:ext cx="168279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chain of thought</a:t>
            </a:r>
          </a:p>
        </p:txBody>
      </p:sp>
      <p:sp>
        <p:nvSpPr>
          <p:cNvPr id="40" name="!!term-reasoning mode">
            <a:extLst>
              <a:ext uri="{C183D7F6-B498-43B3-948B-1728B52AA6E4}">
                <adec:decorative xmlns:adec="http://schemas.microsoft.com/office/drawing/2017/decorative" val="1"/>
              </a:ext>
            </a:extLst>
          </p:cNvPr>
          <p:cNvSpPr/>
          <p:nvPr/>
        </p:nvSpPr>
        <p:spPr>
          <a:xfrm>
            <a:off x="2670347" y="3090672"/>
            <a:ext cx="188220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reasoning mode">
            <a:extLst>
              <a:ext uri="{C183D7F6-B498-43B3-948B-1728B52AA6E4}">
                <adec:decorative xmlns:adec="http://schemas.microsoft.com/office/drawing/2017/decorative" val="1"/>
              </a:ext>
            </a:extLst>
          </p:cNvPr>
          <p:cNvSpPr/>
          <p:nvPr/>
        </p:nvSpPr>
        <p:spPr>
          <a:xfrm>
            <a:off x="279836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reasoning mode"/>
          <p:cNvSpPr txBox="1"/>
          <p:nvPr/>
        </p:nvSpPr>
        <p:spPr>
          <a:xfrm>
            <a:off x="2962955" y="3214116"/>
            <a:ext cx="169932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reasoning model</a:t>
            </a:r>
          </a:p>
        </p:txBody>
      </p:sp>
      <p:sp>
        <p:nvSpPr>
          <p:cNvPr id="43" name="!!term-structured out">
            <a:extLst>
              <a:ext uri="{C183D7F6-B498-43B3-948B-1728B52AA6E4}">
                <adec:decorative xmlns:adec="http://schemas.microsoft.com/office/drawing/2017/decorative" val="1"/>
              </a:ext>
            </a:extLst>
          </p:cNvPr>
          <p:cNvSpPr/>
          <p:nvPr/>
        </p:nvSpPr>
        <p:spPr>
          <a:xfrm>
            <a:off x="4698858" y="3090672"/>
            <a:ext cx="19471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structured out">
            <a:extLst>
              <a:ext uri="{C183D7F6-B498-43B3-948B-1728B52AA6E4}">
                <adec:decorative xmlns:adec="http://schemas.microsoft.com/office/drawing/2017/decorative" val="1"/>
              </a:ext>
            </a:extLst>
          </p:cNvPr>
          <p:cNvSpPr/>
          <p:nvPr/>
        </p:nvSpPr>
        <p:spPr>
          <a:xfrm>
            <a:off x="482687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structured out"/>
          <p:cNvSpPr txBox="1"/>
          <p:nvPr/>
        </p:nvSpPr>
        <p:spPr>
          <a:xfrm>
            <a:off x="4991466" y="3214116"/>
            <a:ext cx="17642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structured output</a:t>
            </a:r>
          </a:p>
        </p:txBody>
      </p:sp>
      <p:sp>
        <p:nvSpPr>
          <p:cNvPr id="46" name="!!term-hallucination">
            <a:extLst>
              <a:ext uri="{C183D7F6-B498-43B3-948B-1728B52AA6E4}">
                <adec:decorative xmlns:adec="http://schemas.microsoft.com/office/drawing/2017/decorative" val="1"/>
              </a:ext>
            </a:extLst>
          </p:cNvPr>
          <p:cNvSpPr/>
          <p:nvPr/>
        </p:nvSpPr>
        <p:spPr>
          <a:xfrm>
            <a:off x="6792269" y="3090672"/>
            <a:ext cx="15342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hallucination">
            <a:extLst>
              <a:ext uri="{C183D7F6-B498-43B3-948B-1728B52AA6E4}">
                <adec:decorative xmlns:adec="http://schemas.microsoft.com/office/drawing/2017/decorative" val="1"/>
              </a:ext>
            </a:extLst>
          </p:cNvPr>
          <p:cNvSpPr/>
          <p:nvPr/>
        </p:nvSpPr>
        <p:spPr>
          <a:xfrm>
            <a:off x="692028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hallucination"/>
          <p:cNvSpPr txBox="1"/>
          <p:nvPr/>
        </p:nvSpPr>
        <p:spPr>
          <a:xfrm>
            <a:off x="7084877" y="3214116"/>
            <a:ext cx="135135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hallucination</a:t>
            </a:r>
          </a:p>
        </p:txBody>
      </p:sp>
      <p:sp>
        <p:nvSpPr>
          <p:cNvPr id="49" name="!!term-retrieval-augm">
            <a:extLst>
              <a:ext uri="{C183D7F6-B498-43B3-948B-1728B52AA6E4}">
                <adec:decorative xmlns:adec="http://schemas.microsoft.com/office/drawing/2017/decorative" val="1"/>
              </a:ext>
            </a:extLst>
          </p:cNvPr>
          <p:cNvSpPr/>
          <p:nvPr/>
        </p:nvSpPr>
        <p:spPr>
          <a:xfrm>
            <a:off x="658368" y="3712464"/>
            <a:ext cx="31752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retrieval-augm">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retrieval-augm"/>
          <p:cNvSpPr txBox="1"/>
          <p:nvPr/>
        </p:nvSpPr>
        <p:spPr>
          <a:xfrm>
            <a:off x="950976" y="3835908"/>
            <a:ext cx="299238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retrieval-augmented generation</a:t>
            </a:r>
          </a:p>
        </p:txBody>
      </p:sp>
      <p:sp>
        <p:nvSpPr>
          <p:cNvPr id="52" name="!!term-vector databas">
            <a:extLst>
              <a:ext uri="{C183D7F6-B498-43B3-948B-1728B52AA6E4}">
                <adec:decorative xmlns:adec="http://schemas.microsoft.com/office/drawing/2017/decorative" val="1"/>
              </a:ext>
            </a:extLst>
          </p:cNvPr>
          <p:cNvSpPr/>
          <p:nvPr/>
        </p:nvSpPr>
        <p:spPr>
          <a:xfrm>
            <a:off x="3979933" y="3712464"/>
            <a:ext cx="17991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vector databas">
            <a:extLst>
              <a:ext uri="{C183D7F6-B498-43B3-948B-1728B52AA6E4}">
                <adec:decorative xmlns:adec="http://schemas.microsoft.com/office/drawing/2017/decorative" val="1"/>
              </a:ext>
            </a:extLst>
          </p:cNvPr>
          <p:cNvSpPr/>
          <p:nvPr/>
        </p:nvSpPr>
        <p:spPr>
          <a:xfrm>
            <a:off x="4107949"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vector databas"/>
          <p:cNvSpPr txBox="1"/>
          <p:nvPr/>
        </p:nvSpPr>
        <p:spPr>
          <a:xfrm>
            <a:off x="4272541" y="3835908"/>
            <a:ext cx="161631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vector database</a:t>
            </a:r>
          </a:p>
        </p:txBody>
      </p:sp>
      <p:sp>
        <p:nvSpPr>
          <p:cNvPr id="55" name="!!term-re-ranking">
            <a:extLst>
              <a:ext uri="{C183D7F6-B498-43B3-948B-1728B52AA6E4}">
                <adec:decorative xmlns:adec="http://schemas.microsoft.com/office/drawing/2017/decorative" val="1"/>
              </a:ext>
            </a:extLst>
          </p:cNvPr>
          <p:cNvSpPr/>
          <p:nvPr/>
        </p:nvSpPr>
        <p:spPr>
          <a:xfrm>
            <a:off x="5925431" y="3712464"/>
            <a:ext cx="13303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re-ranking">
            <a:extLst>
              <a:ext uri="{C183D7F6-B498-43B3-948B-1728B52AA6E4}">
                <adec:decorative xmlns:adec="http://schemas.microsoft.com/office/drawing/2017/decorative" val="1"/>
              </a:ext>
            </a:extLst>
          </p:cNvPr>
          <p:cNvSpPr/>
          <p:nvPr/>
        </p:nvSpPr>
        <p:spPr>
          <a:xfrm>
            <a:off x="6053447"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re-ranking"/>
          <p:cNvSpPr txBox="1"/>
          <p:nvPr/>
        </p:nvSpPr>
        <p:spPr>
          <a:xfrm>
            <a:off x="6218039" y="3835908"/>
            <a:ext cx="114748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re-ranking</a:t>
            </a:r>
          </a:p>
        </p:txBody>
      </p:sp>
      <p:sp>
        <p:nvSpPr>
          <p:cNvPr id="58" name="!!term-grounding">
            <a:extLst>
              <a:ext uri="{C183D7F6-B498-43B3-948B-1728B52AA6E4}">
                <adec:decorative xmlns:adec="http://schemas.microsoft.com/office/drawing/2017/decorative" val="1"/>
              </a:ext>
            </a:extLst>
          </p:cNvPr>
          <p:cNvSpPr/>
          <p:nvPr/>
        </p:nvSpPr>
        <p:spPr>
          <a:xfrm>
            <a:off x="7402102" y="3712464"/>
            <a:ext cx="134066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grounding">
            <a:extLst>
              <a:ext uri="{C183D7F6-B498-43B3-948B-1728B52AA6E4}">
                <adec:decorative xmlns:adec="http://schemas.microsoft.com/office/drawing/2017/decorative" val="1"/>
              </a:ext>
            </a:extLst>
          </p:cNvPr>
          <p:cNvSpPr/>
          <p:nvPr/>
        </p:nvSpPr>
        <p:spPr>
          <a:xfrm>
            <a:off x="753011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grounding"/>
          <p:cNvSpPr txBox="1"/>
          <p:nvPr/>
        </p:nvSpPr>
        <p:spPr>
          <a:xfrm>
            <a:off x="7694710" y="3835908"/>
            <a:ext cx="115778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grounding</a:t>
            </a:r>
          </a:p>
        </p:txBody>
      </p:sp>
      <p:sp>
        <p:nvSpPr>
          <p:cNvPr id="61"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pfill">
            <a:extLst>
              <a:ext uri="{C183D7F6-B498-43B3-948B-1728B52AA6E4}">
                <adec:decorative xmlns:adec="http://schemas.microsoft.com/office/drawing/2017/decorative" val="1"/>
              </a:ext>
            </a:extLst>
          </p:cNvPr>
          <p:cNvSpPr/>
          <p:nvPr/>
        </p:nvSpPr>
        <p:spPr>
          <a:xfrm>
            <a:off x="0" y="0"/>
            <a:ext cx="99524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134–140     </a:t>
            </a:r>
            <a:fld id="{7756C92A-54BA-4F6F-B09B-B991199828B7}" type="slidenum">
              <a:rPr lang="en-GB" sz="1000">
                <a:solidFill>
                  <a:srgbClr val="8795A1"/>
                </a:solidFill>
                <a:latin typeface="Segoe UI"/>
              </a:rPr>
              <a:t>5</a:t>
            </a:fld>
          </a:p>
        </p:txBody>
      </p:sp>
      <p:sp>
        <p:nvSpPr>
          <p:cNvPr id="7" name="!!ag0" descr="Go to section 21.1 How an LLM Actually Work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How an LLM Actually Works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134  ›</a:t>
            </a:r>
          </a:p>
        </p:txBody>
      </p:sp>
      <p:sp>
        <p:nvSpPr>
          <p:cNvPr id="12" name="!!ag1" descr="Go to section 21.2 Four Ways to Adapt a Model">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Four Ways to Adapt a Model</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135  ›</a:t>
            </a:r>
          </a:p>
        </p:txBody>
      </p:sp>
      <p:sp>
        <p:nvSpPr>
          <p:cNvPr id="17" name="!!ag2" descr="Go to section 21.3 Prompting">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Prompting</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135  ›</a:t>
            </a:r>
          </a:p>
        </p:txBody>
      </p:sp>
      <p:sp>
        <p:nvSpPr>
          <p:cNvPr id="22" name="!!ag3" descr="Go to section 21.4 Retrieval-Augmented Generation">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Retrieval-Augmented Generation</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137  ›</a:t>
            </a:r>
          </a:p>
        </p:txBody>
      </p:sp>
      <p:sp>
        <p:nvSpPr>
          <p:cNvPr id="27" name="!!ag4" descr="Go to section 21.5 Evaluating Generative System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A3A95"/>
                </a:solidFill>
                <a:latin typeface="Segoe UI Semibold"/>
              </a:rPr>
              <a:t>21.5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Evaluating Generative Systems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137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24405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How an LLM Actually Works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1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21.1   How an LLM Actually Works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Four Ways to Adapt a Model</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21.3   Prompting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Retrieval-Augmented Generation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21.5   Evaluating Generative Systems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§21.1     </a:t>
            </a:r>
            <a:fld id="{967BE8D7-3C65-47B5-98B9-04939736ADE4}" type="slidenum">
              <a:rPr lang="en-GB" sz="1000">
                <a:solidFill>
                  <a:srgbClr val="8795A1"/>
                </a:solidFill>
                <a:latin typeface="Segoe UI"/>
              </a:rPr>
              <a:t>6</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49286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Large Language Model</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§21.1  ·  Handout p. 134     </a:t>
            </a:r>
            <a:fld id="{2C6A7DDF-24E0-4B07-814A-CC81C177B554}"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very large transformer (Chapter 18) trained on an enormous corpus with one objective: given a sequence of tokens, predict the next one. Text is generated by doing this repeatedly, each new token appended and fed back in.</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Next-token generation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21.1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§21.1  ·  Handout p. 134     </a:t>
            </a:r>
            <a:fld id="{F86AB3D1-1D41-445A-8067-5485A0605EF4}" type="slidenum">
              <a:rPr lang="en-GB" sz="1000">
                <a:solidFill>
                  <a:srgbClr val="8795A1"/>
                </a:solidFill>
                <a:latin typeface="Segoe UI"/>
              </a:rPr>
              <a:t>8</a:t>
            </a:fld>
          </a:p>
        </p:txBody>
      </p:sp>
      <p:pic>
        <p:nvPicPr>
          <p:cNvPr id="6" name="!!figure" descr="Figure 21.1. Next-token generation. The model outputs a probability distribution over its vocabulary and samples from it; the sampled token is appended and the process repeats. Fluency and truth are produced by the same mechanism, which is the central risk."/>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23203" y="1737360"/>
            <a:ext cx="7145287" cy="3471062"/>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391302"/>
            <a:ext cx="54864" cy="844905"/>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373014"/>
            <a:ext cx="10600639" cy="102778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model outputs a probability distribution over its vocabulary and samples from it; the sampled token is appended and the process repeats. Fluency and truth are produced by the same mechanism, which is the central risk.</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99048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Temperature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§21.1  ·  Handout p. 134     </a:t>
            </a:r>
            <a:fld id="{3E8D4386-D90B-4557-B3E6-37A93931E516}"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8215"/>
          </a:xfrm>
          <a:prstGeom prst="roundRect">
            <a:avLst>
              <a:gd name="adj" fmla="val 209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821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A5276"/>
                </a:solidFill>
                <a:latin typeface="Segoe UI"/>
              </a:rPr>
              <a:t>Temperature</a:t>
            </a:r>
            <a:r>
              <a:rPr sz="1900" b="0" i="0">
                <a:solidFill>
                  <a:srgbClr val="1C252B"/>
                </a:solidFill>
                <a:latin typeface="Segoe UI"/>
              </a:rPr>
              <a:t> controls how sharply the model samples. Near 0 it almost always takes the most likely token — repetitive but predictable, and the right setting for extraction, classification and code. Around 0.7–1.0 it samples more freely — varied and creative, and the right setting for drafting and brainstorming. Setting temperature is a task decision, not a style preference.</a:t>
            </a:r>
          </a:p>
        </p:txBody>
      </p:sp>
      <p:sp>
        <p:nvSpPr>
          <p:cNvPr id="10" name="body-1"/>
          <p:cNvSpPr txBox="1"/>
          <p:nvPr/>
        </p:nvSpPr>
        <p:spPr>
          <a:xfrm>
            <a:off x="1060704" y="3686683"/>
            <a:ext cx="10161727" cy="2153716"/>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1F618D"/>
                </a:solidFill>
                <a:latin typeface="Segoe UI"/>
              </a:rPr>
              <a:t>But temperature 0 is not a guarantee of identical output.</a:t>
            </a:r>
            <a:r>
              <a:rPr sz="1900" b="0" i="0">
                <a:solidFill>
                  <a:srgbClr val="1C252B"/>
                </a:solidFill>
                <a:latin typeface="Segoe UI"/>
              </a:rPr>
              <a:t> Floating-point addition on a GPU is not associative, so when a request is batched with different neighbouring requests the sums are accumulated in a different order, the last bits of the scores change, and a close contest between two tokens can flip. If you need reproducibility — and an evaluation suite does — pin the model version, fix the seed where the provider offers one, record the exact prompt, and write your tests to accept semantically equivalent answers rather than byte-identical ones.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239290"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levels of adaptation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21.2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§21.2  ·  Handout p. 135     </a:t>
            </a:r>
            <a:fld id="{B52E772B-0F40-4D47-9AB1-8FBA07F8A0A6}" type="slidenum">
              <a:rPr lang="en-GB" sz="1000">
                <a:solidFill>
                  <a:srgbClr val="8795A1"/>
                </a:solidFill>
                <a:latin typeface="Segoe UI"/>
              </a:rPr>
              <a:t>10</a:t>
            </a:fld>
          </a:p>
        </p:txBody>
      </p:sp>
      <p:pic>
        <p:nvPicPr>
          <p:cNvPr id="6" name="!!figure" descr="Figure 21.2. Four levels of adaptation. Work left to right and stop as soon as the problem is solved; most production systems never move past the second box."/>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91297" y="1737360"/>
            <a:ext cx="860910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Work left to right and stop as soon as the problem is solved; most production systems never move past the second box.</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48810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Prompting</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3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21.1   How an LLM Actually Works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Four Ways to Adapt a Model</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21.3   Prompting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Retrieval-Augmented Generation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21.5   Evaluating Generative Systems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§21.3     </a:t>
            </a:r>
            <a:fld id="{6BB3D6A1-58A4-49D9-B81A-3C4B4256B2C5}" type="slidenum">
              <a:rPr lang="en-GB" sz="1000">
                <a:solidFill>
                  <a:srgbClr val="8795A1"/>
                </a:solidFill>
                <a:latin typeface="Segoe UI"/>
              </a:rPr>
              <a:t>11</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73691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Five Components of a Good Prompt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135     </a:t>
            </a:r>
            <a:fld id="{D8CBDB34-704F-40AC-B47E-33249988E49C}"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Role</a:t>
            </a:r>
            <a:r>
              <a:rPr sz="2300" b="0" i="0">
                <a:solidFill>
                  <a:srgbClr val="1C252B"/>
                </a:solidFill>
                <a:latin typeface="Segoe UI"/>
              </a:rPr>
              <a:t> (who the model should act as), </a:t>
            </a:r>
            <a:r>
              <a:rPr sz="2300" b="1" i="0">
                <a:solidFill>
                  <a:srgbClr val="1A5276"/>
                </a:solidFill>
                <a:latin typeface="Segoe UI"/>
              </a:rPr>
              <a:t>context</a:t>
            </a:r>
            <a:r>
              <a:rPr sz="2300" b="0" i="0">
                <a:solidFill>
                  <a:srgbClr val="1C252B"/>
                </a:solidFill>
                <a:latin typeface="Segoe UI"/>
              </a:rPr>
              <a:t> (the background it needs), </a:t>
            </a:r>
            <a:r>
              <a:rPr sz="2300" b="1" i="0">
                <a:solidFill>
                  <a:srgbClr val="1A5276"/>
                </a:solidFill>
                <a:latin typeface="Segoe UI"/>
              </a:rPr>
              <a:t>task</a:t>
            </a:r>
            <a:r>
              <a:rPr sz="2300" b="0" i="0">
                <a:solidFill>
                  <a:srgbClr val="1C252B"/>
                </a:solidFill>
                <a:latin typeface="Segoe UI"/>
              </a:rPr>
              <a:t> (the specific instruction), </a:t>
            </a:r>
            <a:r>
              <a:rPr sz="2300" b="1" i="0">
                <a:solidFill>
                  <a:srgbClr val="1A5276"/>
                </a:solidFill>
                <a:latin typeface="Segoe UI"/>
              </a:rPr>
              <a:t>format</a:t>
            </a:r>
            <a:r>
              <a:rPr sz="2300" b="0" i="0">
                <a:solidFill>
                  <a:srgbClr val="1C252B"/>
                </a:solidFill>
                <a:latin typeface="Segoe UI"/>
              </a:rPr>
              <a:t> (the required output structure), and </a:t>
            </a:r>
            <a:r>
              <a:rPr sz="2300" b="1" i="0">
                <a:solidFill>
                  <a:srgbClr val="1A5276"/>
                </a:solidFill>
                <a:latin typeface="Segoe UI"/>
              </a:rPr>
              <a:t>examples</a:t>
            </a:r>
            <a:r>
              <a:rPr sz="2300" b="0" i="0">
                <a:solidFill>
                  <a:srgbClr val="1C252B"/>
                </a:solidFill>
                <a:latin typeface="Segoe UI"/>
              </a:rPr>
              <a:t> (one or more demonstrations). Missing components are the usual cause of a disappointing answer.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98572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Improving a Prompt</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135     </a:t>
            </a:r>
            <a:fld id="{615A82F9-83C2-48D4-A32D-951B3CF91BDE}"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754069"/>
          </a:xfrm>
          <a:prstGeom prst="roundRect">
            <a:avLst>
              <a:gd name="adj" fmla="val 243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75406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Attempt 1 — vague.</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Analyse this student data.</a:t>
            </a:r>
          </a:p>
        </p:txBody>
      </p:sp>
      <p:sp>
        <p:nvSpPr>
          <p:cNvPr id="11" name="body-2"/>
          <p:cNvSpPr txBox="1"/>
          <p:nvPr/>
        </p:nvSpPr>
        <p:spPr>
          <a:xfrm>
            <a:off x="1042416" y="2879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Result:</a:t>
            </a:r>
            <a:r>
              <a:rPr sz="1900" b="0" i="0">
                <a:solidFill>
                  <a:srgbClr val="1C252B"/>
                </a:solidFill>
                <a:latin typeface="Segoe UI"/>
              </a:rPr>
              <a:t> a generic essay about what data analysis is. No role, no task, no format.</a:t>
            </a:r>
          </a:p>
        </p:txBody>
      </p:sp>
      <p:sp>
        <p:nvSpPr>
          <p:cNvPr id="12" name="body-3"/>
          <p:cNvSpPr txBox="1"/>
          <p:nvPr/>
        </p:nvSpPr>
        <p:spPr>
          <a:xfrm>
            <a:off x="1042416" y="331325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Attempt 2 — task added.</a:t>
            </a:r>
          </a:p>
        </p:txBody>
      </p:sp>
      <p:sp>
        <p:nvSpPr>
          <p:cNvPr id="13" name="body-4"/>
          <p:cNvSpPr txBox="1"/>
          <p:nvPr/>
        </p:nvSpPr>
        <p:spPr>
          <a:xfrm>
            <a:off x="1042416" y="374710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F4E79"/>
                </a:solidFill>
                <a:latin typeface="Consolas"/>
              </a:rPr>
              <a:t>List which of these students are at risk of failing.</a:t>
            </a:r>
          </a:p>
        </p:txBody>
      </p:sp>
      <p:sp>
        <p:nvSpPr>
          <p:cNvPr id="14" name="body-5"/>
          <p:cNvSpPr txBox="1"/>
          <p:nvPr/>
        </p:nvSpPr>
        <p:spPr>
          <a:xfrm>
            <a:off x="1042416" y="4180967"/>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Result:</a:t>
            </a:r>
            <a:r>
              <a:rPr sz="1900" b="0" i="0">
                <a:solidFill>
                  <a:srgbClr val="1C252B"/>
                </a:solidFill>
                <a:latin typeface="Segoe UI"/>
              </a:rPr>
              <a:t> a plausible-looking list with no stated reasoning and no way to check it. Better, but unusable and unauditable.</a:t>
            </a:r>
          </a:p>
        </p:txBody>
      </p:sp>
      <p:sp>
        <p:nvSpPr>
          <p:cNvPr id="15" name="body-6"/>
          <p:cNvSpPr txBox="1"/>
          <p:nvPr/>
        </p:nvSpPr>
        <p:spPr>
          <a:xfrm>
            <a:off x="1042416" y="4915966"/>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Attempt 3 — all five components.</a:t>
            </a:r>
          </a:p>
        </p:txBody>
      </p:sp>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323453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Improving a Prompt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135     </a:t>
            </a:r>
            <a:fld id="{87791DE4-8195-40A6-BC38-0E76A66E6BE9}"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17520"/>
          </a:xfrm>
          <a:prstGeom prst="roundRect">
            <a:avLst>
              <a:gd name="adj" fmla="val 303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1752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bg">
            <a:extLst>
              <a:ext uri="{C183D7F6-B498-43B3-948B-1728B52AA6E4}">
                <adec:decorative xmlns:adec="http://schemas.microsoft.com/office/drawing/2017/decorative" val="1"/>
              </a:ext>
            </a:extLst>
          </p:cNvPr>
          <p:cNvSpPr/>
          <p:nvPr/>
        </p:nvSpPr>
        <p:spPr>
          <a:xfrm>
            <a:off x="1042416" y="2011679"/>
            <a:ext cx="10234879" cy="2468879"/>
          </a:xfrm>
          <a:prstGeom prst="roundRect">
            <a:avLst>
              <a:gd name="adj" fmla="val 370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body-0-sep">
            <a:extLst>
              <a:ext uri="{C183D7F6-B498-43B3-948B-1728B52AA6E4}">
                <adec:decorative xmlns:adec="http://schemas.microsoft.com/office/drawing/2017/decorative" val="1"/>
              </a:ext>
            </a:extLst>
          </p:cNvPr>
          <p:cNvSpPr/>
          <p:nvPr/>
        </p:nvSpPr>
        <p:spPr>
          <a:xfrm>
            <a:off x="1060704" y="2331720"/>
            <a:ext cx="1019830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0-dot0">
            <a:extLst>
              <a:ext uri="{C183D7F6-B498-43B3-948B-1728B52AA6E4}">
                <adec:decorative xmlns:adec="http://schemas.microsoft.com/office/drawing/2017/decorative" val="1"/>
              </a:ext>
            </a:extLst>
          </p:cNvPr>
          <p:cNvSpPr/>
          <p:nvPr/>
        </p:nvSpPr>
        <p:spPr>
          <a:xfrm>
            <a:off x="1243584" y="2125979"/>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0-dot1">
            <a:extLst>
              <a:ext uri="{C183D7F6-B498-43B3-948B-1728B52AA6E4}">
                <adec:decorative xmlns:adec="http://schemas.microsoft.com/office/drawing/2017/decorative" val="1"/>
              </a:ext>
            </a:extLst>
          </p:cNvPr>
          <p:cNvSpPr/>
          <p:nvPr/>
        </p:nvSpPr>
        <p:spPr>
          <a:xfrm>
            <a:off x="1426464" y="2125979"/>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0-dot2">
            <a:extLst>
              <a:ext uri="{C183D7F6-B498-43B3-948B-1728B52AA6E4}">
                <adec:decorative xmlns:adec="http://schemas.microsoft.com/office/drawing/2017/decorative" val="1"/>
              </a:ext>
            </a:extLst>
          </p:cNvPr>
          <p:cNvSpPr/>
          <p:nvPr/>
        </p:nvSpPr>
        <p:spPr>
          <a:xfrm>
            <a:off x="1609344" y="2125979"/>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0-label"/>
          <p:cNvSpPr txBox="1"/>
          <p:nvPr/>
        </p:nvSpPr>
        <p:spPr>
          <a:xfrm>
            <a:off x="1911095" y="2075687"/>
            <a:ext cx="913759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Text</a:t>
            </a:r>
          </a:p>
        </p:txBody>
      </p:sp>
      <p:sp>
        <p:nvSpPr>
          <p:cNvPr id="15" name="!!body-0-text" descr="ROLE: You are an academic support adviser. CONTEXT: Below are week-4 engagement records. Students fail mainly through disengagement, not ability. We can contact at most 20 students. TASK: Identify the 20 students most likely to fail. For each, give the single strongest reason, drawn only from the data provided. FORMAT: A markdown table: student_id | risk (high/medium) | reason | evidence RULES: Use only the supplied data. If evidence is insufficient for a student, write &quot;insufficient data&quot; rather than guessing. EXAMPLE: S101 | high | stopped submitting in week 2 | 0 submissions wk2-4"/>
          <p:cNvSpPr txBox="1"/>
          <p:nvPr/>
        </p:nvSpPr>
        <p:spPr>
          <a:xfrm>
            <a:off x="1746504" y="2450591"/>
            <a:ext cx="9347911" cy="1975103"/>
          </a:xfrm>
          <a:prstGeom prst="rect">
            <a:avLst/>
          </a:prstGeom>
          <a:noFill/>
        </p:spPr>
        <p:txBody>
          <a:bodyPr wrap="none" anchor="t" lIns="0" rIns="0" tIns="0" bIns="0">
            <a:noAutofit/>
          </a:bodyPr>
          <a:lstStyle/>
          <a:p>
            <a:pPr>
              <a:lnSpc>
                <a:spcPct val="100000"/>
              </a:lnSpc>
              <a:spcAft>
                <a:spcPts val="0"/>
              </a:spcAft>
            </a:pPr>
            <a:r>
              <a:rPr sz="1400" i="0">
                <a:solidFill>
                  <a:srgbClr val="E8EDF2"/>
                </a:solidFill>
                <a:latin typeface="Consolas"/>
              </a:rPr>
              <a:t>ROLE:    You are an academic support adviser.</a:t>
            </a:r>
          </a:p>
          <a:p>
            <a:pPr>
              <a:lnSpc>
                <a:spcPct val="100000"/>
              </a:lnSpc>
              <a:spcAft>
                <a:spcPts val="0"/>
              </a:spcAft>
            </a:pPr>
            <a:r>
              <a:rPr sz="1400" i="0">
                <a:solidFill>
                  <a:srgbClr val="E8EDF2"/>
                </a:solidFill>
                <a:latin typeface="Consolas"/>
              </a:rPr>
              <a:t>CONTEXT: Below are week-4 engagement records. Students fail mainly through</a:t>
            </a:r>
          </a:p>
          <a:p>
            <a:pPr>
              <a:lnSpc>
                <a:spcPct val="100000"/>
              </a:lnSpc>
              <a:spcAft>
                <a:spcPts val="0"/>
              </a:spcAft>
            </a:pPr>
            <a:r>
              <a:rPr sz="1400" i="0">
                <a:solidFill>
                  <a:srgbClr val="E8EDF2"/>
                </a:solidFill>
                <a:latin typeface="Consolas"/>
              </a:rPr>
              <a:t>         disengagement, not ability. We can contact at most 20 students.</a:t>
            </a:r>
          </a:p>
          <a:p>
            <a:pPr>
              <a:lnSpc>
                <a:spcPct val="100000"/>
              </a:lnSpc>
              <a:spcAft>
                <a:spcPts val="0"/>
              </a:spcAft>
            </a:pPr>
            <a:r>
              <a:rPr sz="1400" i="0">
                <a:solidFill>
                  <a:srgbClr val="E8EDF2"/>
                </a:solidFill>
                <a:latin typeface="Consolas"/>
              </a:rPr>
              <a:t>TASK:    Identify the 20 students most likely to fail. For each, give the</a:t>
            </a:r>
          </a:p>
          <a:p>
            <a:pPr>
              <a:lnSpc>
                <a:spcPct val="100000"/>
              </a:lnSpc>
              <a:spcAft>
                <a:spcPts val="0"/>
              </a:spcAft>
            </a:pPr>
            <a:r>
              <a:rPr sz="1400" i="0">
                <a:solidFill>
                  <a:srgbClr val="E8EDF2"/>
                </a:solidFill>
                <a:latin typeface="Consolas"/>
              </a:rPr>
              <a:t>         single strongest reason, drawn only from the data provided.</a:t>
            </a:r>
          </a:p>
          <a:p>
            <a:pPr>
              <a:lnSpc>
                <a:spcPct val="100000"/>
              </a:lnSpc>
              <a:spcAft>
                <a:spcPts val="0"/>
              </a:spcAft>
            </a:pPr>
            <a:r>
              <a:rPr sz="1400" i="0">
                <a:solidFill>
                  <a:srgbClr val="E8EDF2"/>
                </a:solidFill>
                <a:latin typeface="Consolas"/>
              </a:rPr>
              <a:t>FORMAT:  A markdown table: student_id | risk (high/medium) | reason | evidence</a:t>
            </a:r>
          </a:p>
          <a:p>
            <a:pPr>
              <a:lnSpc>
                <a:spcPct val="100000"/>
              </a:lnSpc>
              <a:spcAft>
                <a:spcPts val="0"/>
              </a:spcAft>
            </a:pPr>
            <a:r>
              <a:rPr sz="1400" i="0">
                <a:solidFill>
                  <a:srgbClr val="E8EDF2"/>
                </a:solidFill>
                <a:latin typeface="Consolas"/>
              </a:rPr>
              <a:t>RULES:   Use only the supplied data. If evidence is insufficient for a</a:t>
            </a:r>
          </a:p>
          <a:p>
            <a:pPr>
              <a:lnSpc>
                <a:spcPct val="100000"/>
              </a:lnSpc>
              <a:spcAft>
                <a:spcPts val="0"/>
              </a:spcAft>
            </a:pPr>
            <a:r>
              <a:rPr sz="1400" i="0">
                <a:solidFill>
                  <a:srgbClr val="E8EDF2"/>
                </a:solidFill>
                <a:latin typeface="Consolas"/>
              </a:rPr>
              <a:t>         student, write "insufficient data" rather than guessing.</a:t>
            </a:r>
          </a:p>
          <a:p>
            <a:pPr>
              <a:lnSpc>
                <a:spcPct val="100000"/>
              </a:lnSpc>
              <a:spcAft>
                <a:spcPts val="0"/>
              </a:spcAft>
            </a:pPr>
            <a:r>
              <a:rPr sz="1400" i="0">
                <a:solidFill>
                  <a:srgbClr val="E8EDF2"/>
                </a:solidFill>
                <a:latin typeface="Consolas"/>
              </a:rPr>
              <a:t>EXAMPLE: S101 | high | stopped submitting in week 2 | 0 submissions wk2-4</a:t>
            </a:r>
          </a:p>
        </p:txBody>
      </p:sp>
      <p:sp>
        <p:nvSpPr>
          <p:cNvPr id="16" name="!!body-0-num"/>
          <p:cNvSpPr txBox="1"/>
          <p:nvPr/>
        </p:nvSpPr>
        <p:spPr>
          <a:xfrm>
            <a:off x="1152144" y="2450591"/>
            <a:ext cx="393192" cy="1975103"/>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a:t>
            </a:r>
          </a:p>
          <a:p>
            <a:pPr algn="r">
              <a:lnSpc>
                <a:spcPct val="100000"/>
              </a:lnSpc>
            </a:pPr>
            <a:r>
              <a:rPr sz="1400">
                <a:solidFill>
                  <a:srgbClr val="4F5D6A"/>
                </a:solidFill>
                <a:latin typeface="Consolas"/>
              </a:rPr>
              <a:t>2</a:t>
            </a:r>
          </a:p>
          <a:p>
            <a:pPr algn="r">
              <a:lnSpc>
                <a:spcPct val="100000"/>
              </a:lnSpc>
            </a:pPr>
            <a:r>
              <a:rPr sz="1400">
                <a:solidFill>
                  <a:srgbClr val="4F5D6A"/>
                </a:solidFill>
                <a:latin typeface="Consolas"/>
              </a:rPr>
              <a:t>3</a:t>
            </a:r>
          </a:p>
          <a:p>
            <a:pPr algn="r">
              <a:lnSpc>
                <a:spcPct val="100000"/>
              </a:lnSpc>
            </a:pPr>
            <a:r>
              <a:rPr sz="1400">
                <a:solidFill>
                  <a:srgbClr val="4F5D6A"/>
                </a:solidFill>
                <a:latin typeface="Consolas"/>
              </a:rPr>
              <a:t>4</a:t>
            </a:r>
          </a:p>
          <a:p>
            <a:pPr algn="r">
              <a:lnSpc>
                <a:spcPct val="100000"/>
              </a:lnSpc>
            </a:pPr>
            <a:r>
              <a:rPr sz="1400">
                <a:solidFill>
                  <a:srgbClr val="4F5D6A"/>
                </a:solidFill>
                <a:latin typeface="Consolas"/>
              </a:rPr>
              <a:t>5</a:t>
            </a:r>
          </a:p>
          <a:p>
            <a:pPr algn="r">
              <a:lnSpc>
                <a:spcPct val="100000"/>
              </a:lnSpc>
            </a:pPr>
            <a:r>
              <a:rPr sz="1400">
                <a:solidFill>
                  <a:srgbClr val="4F5D6A"/>
                </a:solidFill>
                <a:latin typeface="Consolas"/>
              </a:rPr>
              <a:t>6</a:t>
            </a:r>
          </a:p>
          <a:p>
            <a:pPr algn="r">
              <a:lnSpc>
                <a:spcPct val="100000"/>
              </a:lnSpc>
            </a:pPr>
            <a:r>
              <a:rPr sz="1400">
                <a:solidFill>
                  <a:srgbClr val="4F5D6A"/>
                </a:solidFill>
                <a:latin typeface="Consolas"/>
              </a:rPr>
              <a:t>7</a:t>
            </a:r>
          </a:p>
          <a:p>
            <a:pPr algn="r">
              <a:lnSpc>
                <a:spcPct val="100000"/>
              </a:lnSpc>
            </a:pPr>
            <a:r>
              <a:rPr sz="1400">
                <a:solidFill>
                  <a:srgbClr val="4F5D6A"/>
                </a:solidFill>
                <a:latin typeface="Consolas"/>
              </a:rPr>
              <a:t>8</a:t>
            </a:r>
          </a:p>
          <a:p>
            <a:pPr algn="r">
              <a:lnSpc>
                <a:spcPct val="100000"/>
              </a:lnSpc>
            </a:pPr>
            <a:r>
              <a:rPr sz="1400">
                <a:solidFill>
                  <a:srgbClr val="4F5D6A"/>
                </a:solidFill>
                <a:latin typeface="Consolas"/>
              </a:rPr>
              <a:t>9</a:t>
            </a:r>
          </a:p>
        </p:txBody>
      </p:sp>
      <p:sp>
        <p:nvSpPr>
          <p:cNvPr id="3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2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2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2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2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2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Improving a Prompt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135     </a:t>
            </a:r>
            <a:fld id="{A3FF7934-904A-45C0-B4EB-2323F68AED2C}"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0494"/>
          </a:xfrm>
          <a:prstGeom prst="roundRect">
            <a:avLst>
              <a:gd name="adj" fmla="val 295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0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Why attempt 3 works.</a:t>
            </a:r>
            <a:r>
              <a:rPr sz="1900" b="0" i="0">
                <a:solidFill>
                  <a:srgbClr val="1C252B"/>
                </a:solidFill>
                <a:latin typeface="Segoe UI"/>
              </a:rPr>
              <a:t> The role sets vocabulary and stance; the context supplies the constraint (20 students) that makes the task well-posed; the format makes the output machine-readable and comparable; the rule against guessing gives the model an explicit alternative to hallucinating, which measurably reduces fabrication; the example removes ambiguity about what “reason” means.</a:t>
            </a:r>
          </a:p>
        </p:txBody>
      </p:sp>
      <p:sp>
        <p:nvSpPr>
          <p:cNvPr id="10" name="body-1"/>
          <p:cNvSpPr txBox="1"/>
          <p:nvPr/>
        </p:nvSpPr>
        <p:spPr>
          <a:xfrm>
            <a:off x="1042416" y="365010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And the limit.</a:t>
            </a:r>
            <a:r>
              <a:rPr sz="1900" b="0" i="0">
                <a:solidFill>
                  <a:srgbClr val="1C252B"/>
                </a:solidFill>
                <a:latin typeface="Segoe UI"/>
              </a:rPr>
              <a:t> Even attempt 3 produces a </a:t>
            </a:r>
            <a:r>
              <a:rPr sz="1900" b="0" i="1">
                <a:solidFill>
                  <a:srgbClr val="1C252B"/>
                </a:solidFill>
                <a:latin typeface="Segoe UI"/>
              </a:rPr>
              <a:t>drafting aid</a:t>
            </a:r>
            <a:r>
              <a:rPr sz="1900" b="0" i="0">
                <a:solidFill>
                  <a:srgbClr val="1C252B"/>
                </a:solidFill>
                <a:latin typeface="Segoe UI"/>
              </a:rPr>
              <a:t>, not a risk model. It has no validated accuracy, no threshold chosen from costs, and no evaluation against outcomes. For an actual deployed risk score, use Chapter 14. Knowing which tool the problem calls for is the point.</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73215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Chain of Thought, and What Reasoning Models Changed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135     </a:t>
            </a:r>
            <a:fld id="{DB3D7C5D-CFFE-4C34-8E60-CF782CA69E22}"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3578"/>
          </a:xfrm>
          <a:prstGeom prst="roundRect">
            <a:avLst>
              <a:gd name="adj" fmla="val 215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357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Adding “work through this step by step” measurably improves accuracy on multi-step reasoning, because the intermediate tokens give the model somewhere to do the work. It also makes the answer auditable: you can see where the reasoning went wrong instead of only that it did.</a:t>
            </a:r>
          </a:p>
        </p:txBody>
      </p:sp>
      <p:sp>
        <p:nvSpPr>
          <p:cNvPr id="10" name="body-1"/>
          <p:cNvSpPr txBox="1"/>
          <p:nvPr/>
        </p:nvSpPr>
        <p:spPr>
          <a:xfrm>
            <a:off x="1060704" y="3526307"/>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Reasoning models</a:t>
            </a:r>
            <a:r>
              <a:rPr sz="2100" b="0" i="0">
                <a:solidFill>
                  <a:srgbClr val="1C252B"/>
                </a:solidFill>
                <a:latin typeface="Segoe UI"/>
              </a:rPr>
              <a:t> — the class of model that deliberates before answering, spending extra computation at </a:t>
            </a:r>
            <a:r>
              <a:rPr sz="2100" b="0" i="1">
                <a:solidFill>
                  <a:srgbClr val="1C252B"/>
                </a:solidFill>
                <a:latin typeface="Segoe UI"/>
              </a:rPr>
              <a:t>answer</a:t>
            </a:r>
            <a:r>
              <a:rPr sz="2100" b="0" i="0">
                <a:solidFill>
                  <a:srgbClr val="1C252B"/>
                </a:solidFill>
                <a:latin typeface="Segoe UI"/>
              </a:rPr>
              <a:t> time rather than extra parameters at training time — now do this internally, so asking them to think step by step adds little. Three consequences for you:</a:t>
            </a:r>
          </a:p>
        </p:txBody>
      </p:sp>
      <p:sp>
        <p:nvSpPr>
          <p:cNvPr id="11" name="body-2"/>
          <p:cNvSpPr txBox="1"/>
          <p:nvPr/>
        </p:nvSpPr>
        <p:spPr>
          <a:xfrm>
            <a:off x="1060704" y="5004358"/>
            <a:ext cx="10161727" cy="711403"/>
          </a:xfrm>
          <a:prstGeom prst="rect">
            <a:avLst/>
          </a:prstGeom>
          <a:noFill/>
        </p:spPr>
        <p:txBody>
          <a:bodyPr wrap="square" anchor="t" lIns="0" rIns="0" tIns="0" bIns="0">
            <a:noAutofit/>
          </a:bodyPr>
          <a:lstStyle/>
          <a:p>
            <a:pPr algn="l" marL="234813" indent="-234813">
              <a:lnSpc>
                <a:spcPct val="104000"/>
              </a:lnSpc>
              <a:spcBef>
                <a:spcPts val="0"/>
              </a:spcBef>
              <a:spcAft>
                <a:spcPts val="0"/>
              </a:spcAft>
            </a:pPr>
            <a:r>
              <a:rPr sz="2100" b="1">
                <a:solidFill>
                  <a:srgbClr val="1F618D"/>
                </a:solidFill>
                <a:latin typeface="Segoe UI"/>
              </a:rPr>
              <a:t>•	</a:t>
            </a:r>
            <a:r>
              <a:rPr sz="2100" b="0" i="0">
                <a:solidFill>
                  <a:srgbClr val="1C252B"/>
                </a:solidFill>
                <a:latin typeface="Segoe UI"/>
              </a:rPr>
              <a:t>Prompt them with the </a:t>
            </a:r>
            <a:r>
              <a:rPr sz="2100" b="0" i="1">
                <a:solidFill>
                  <a:srgbClr val="1C252B"/>
                </a:solidFill>
                <a:latin typeface="Segoe UI"/>
              </a:rPr>
              <a:t>goal and the constraints</a:t>
            </a:r>
            <a:r>
              <a:rPr sz="2100" b="0" i="0">
                <a:solidFill>
                  <a:srgbClr val="1C252B"/>
                </a:solidFill>
                <a:latin typeface="Segoe UI"/>
              </a:rPr>
              <a:t>, not with a procedure; over-specifying the steps can make them worse.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98096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xEl>
                                              <p:pRg st="0" end="0"/>
                                            </p:txEl>
                                          </p:spTgt>
                                        </p:tgtEl>
                                        <p:attrNameLst>
                                          <p:attrName>style.visibility</p:attrName>
                                        </p:attrNameLst>
                                      </p:cBhvr>
                                      <p:to>
                                        <p:strVal val="visible"/>
                                      </p:to>
                                    </p:set>
                                    <p:animEffect transition="in" filter="fade">
                                      <p:cBhvr>
                                        <p:cTn id="8" dur="38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Chain of Thought, and What Reasoning Models Changed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135     </a:t>
            </a:r>
            <a:fld id="{2C9B538D-58C0-469F-8C5A-8042CF5108E0}"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58871"/>
          </a:xfrm>
          <a:prstGeom prst="roundRect">
            <a:avLst>
              <a:gd name="adj" fmla="val 3198"/>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5887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470431"/>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1F618D"/>
                </a:solidFill>
                <a:latin typeface="Segoe UI"/>
              </a:rPr>
              <a:t>•	</a:t>
            </a:r>
            <a:r>
              <a:rPr sz="2100" b="0" i="0">
                <a:solidFill>
                  <a:srgbClr val="1C252B"/>
                </a:solidFill>
                <a:latin typeface="Segoe UI"/>
              </a:rPr>
              <a:t>They cost more and answer more slowly, so use them where the reasoning is the product (a plan, a diagnosis, a proof) and a cheaper model elsewhere.</a:t>
            </a:r>
          </a:p>
          <a:p>
            <a:pPr algn="l" marL="234813" indent="-234813">
              <a:lnSpc>
                <a:spcPct val="104000"/>
              </a:lnSpc>
              <a:spcBef>
                <a:spcPts val="0"/>
              </a:spcBef>
              <a:spcAft>
                <a:spcPts val="0"/>
              </a:spcAft>
            </a:pPr>
            <a:r>
              <a:rPr sz="2100" b="1">
                <a:solidFill>
                  <a:srgbClr val="1F618D"/>
                </a:solidFill>
                <a:latin typeface="Segoe UI"/>
              </a:rPr>
              <a:t>•	</a:t>
            </a:r>
            <a:r>
              <a:rPr sz="2100" b="0" i="0">
                <a:solidFill>
                  <a:srgbClr val="1C252B"/>
                </a:solidFill>
                <a:latin typeface="Segoe UI"/>
              </a:rPr>
              <a:t>Their visible “thinking” is a summary of a process, not a transcript of it. Treat it as a useful explanation, never as evidence of what the model actually did.</a:t>
            </a:r>
          </a:p>
        </p:txBody>
      </p:sp>
      <p:sp>
        <p:nvSpPr>
          <p:cNvPr id="10" name="body-1"/>
          <p:cNvSpPr txBox="1"/>
          <p:nvPr/>
        </p:nvSpPr>
        <p:spPr>
          <a:xfrm>
            <a:off x="1060704" y="3619652"/>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old advice still applies to ordinary models, which remain the right choice for most extraction and classification work.</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22977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Ask for Structured Output, Not Prose You Must Parse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§21.3  ·  Handout p. 135     </a:t>
            </a:r>
            <a:fld id="{C0A6B299-EBC1-4F91-A8E5-E83E728B2B55}"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38118"/>
          </a:xfrm>
          <a:prstGeom prst="roundRect">
            <a:avLst>
              <a:gd name="adj" fmla="val 258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3811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962046"/>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the answer feeds a program rather than a person, do not ask for a markdown table and write a parser for it. Every major API now accepts a </a:t>
            </a:r>
            <a:r>
              <a:rPr sz="2300" b="1" i="0">
                <a:solidFill>
                  <a:srgbClr val="1A5276"/>
                </a:solidFill>
                <a:latin typeface="Segoe UI"/>
              </a:rPr>
              <a:t>schema</a:t>
            </a:r>
            <a:r>
              <a:rPr sz="2300" b="0" i="0">
                <a:solidFill>
                  <a:srgbClr val="1C252B"/>
                </a:solidFill>
                <a:latin typeface="Segoe UI"/>
              </a:rPr>
              <a:t> — a JSON shape the response is constrained to follow — so the model cannot return prose, cannot omit a required field, and cannot invent a category outside the list you gave. The same discipline as a database schema, applied to a probabilistic component: declare the shape, and validate on arrival anyway, because a schema constrains the </a:t>
            </a:r>
            <a:r>
              <a:rPr sz="2300" b="0" i="1">
                <a:solidFill>
                  <a:srgbClr val="1C252B"/>
                </a:solidFill>
                <a:latin typeface="Segoe UI"/>
              </a:rPr>
              <a:t>form</a:t>
            </a:r>
            <a:r>
              <a:rPr sz="2300" b="0" i="0">
                <a:solidFill>
                  <a:srgbClr val="1C252B"/>
                </a:solidFill>
                <a:latin typeface="Segoe UI"/>
              </a:rPr>
              <a:t> of the answer and never its </a:t>
            </a:r>
            <a:r>
              <a:rPr sz="2300" b="0" i="1">
                <a:solidFill>
                  <a:srgbClr val="1C252B"/>
                </a:solidFill>
                <a:latin typeface="Segoe UI"/>
              </a:rPr>
              <a:t>truth</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478581"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Retrieval-Augmented Generation</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4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21.1   How an LLM Actually Works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Four Ways to Adapt a Model</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21.3   Prompting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21.4   Retrieval-Augmented Generation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21.5   Evaluating Generative Systems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§21.4     </a:t>
            </a:r>
            <a:fld id="{6E1466F2-17A1-4982-9B8A-13E48D03F15B}" type="slidenum">
              <a:rPr lang="en-GB" sz="1000">
                <a:solidFill>
                  <a:srgbClr val="8795A1"/>
                </a:solidFill>
                <a:latin typeface="Segoe UI"/>
              </a:rPr>
              <a:t>19</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472739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RAG</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137     </a:t>
            </a:r>
            <a:fld id="{3457B5CE-A2E7-4AFC-A7B5-8932322698EC}"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Instead of relying on what the model absorbed in training, </a:t>
            </a:r>
            <a:r>
              <a:rPr sz="2300" b="0" i="1">
                <a:solidFill>
                  <a:srgbClr val="1C252B"/>
                </a:solidFill>
                <a:latin typeface="Segoe UI"/>
              </a:rPr>
              <a:t>retrieve</a:t>
            </a:r>
            <a:r>
              <a:rPr sz="2300" b="0" i="0">
                <a:solidFill>
                  <a:srgbClr val="1C252B"/>
                </a:solidFill>
                <a:latin typeface="Segoe UI"/>
              </a:rPr>
              <a:t> relevant passages from your own document store at query time and place them in the prompt. The model then answers from supplied evidence rather than from memory.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97620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Retrieval-augmented generation</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A3A95"/>
                </a:solidFill>
                <a:latin typeface="Segoe UI"/>
              </a:rPr>
              <a:t>FIGURE 21.3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137     </a:t>
            </a:r>
            <a:fld id="{23DF0DE0-75B6-4421-8603-5C6F92D92623}" type="slidenum">
              <a:rPr lang="en-GB" sz="1000">
                <a:solidFill>
                  <a:srgbClr val="8795A1"/>
                </a:solidFill>
                <a:latin typeface="Segoe UI"/>
              </a:rPr>
              <a:t>21</a:t>
            </a:fld>
          </a:p>
        </p:txBody>
      </p:sp>
      <p:pic>
        <p:nvPicPr>
          <p:cNvPr id="6" name="!!figure" descr="Figure 21.3. Retrieval-augmented generation. RAG solves three problems at once: the model does not know your private documents, its training data has a cutoff date, and its claims cannot otherwise be checke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02686" y="1737360"/>
            <a:ext cx="9586323"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RAG solves three problems at once: the model does not know your private documents, its training data has a cutoff date, and its claims cannot otherwise be checked.</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“Can I Not Just Paste Everything In?”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§21.4  ·  Handout p. 137     </a:t>
            </a:r>
            <a:fld id="{230F3337-96DB-4BD1-A9B6-401E68470995}" type="slidenum">
              <a:rPr lang="en-GB" sz="1000">
                <a:solidFill>
                  <a:srgbClr val="8795A1"/>
                </a:solidFill>
                <a:latin typeface="Segoe UI"/>
              </a:rPr>
              <a:t>22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9734"/>
          </a:xfrm>
          <a:prstGeom prst="roundRect">
            <a:avLst>
              <a:gd name="adj" fmla="val 206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973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37561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Context windows are now large enough to hold a small library, so students reasonably ask why retrieval is needed at all. Three reasons it still is. You pay for every token on every request, so pasting a handbook into each call is expensive. Models attend less reliably to material buried in the middle of a very long context than to material near its start or end, so more context can mean </a:t>
            </a:r>
            <a:r>
              <a:rPr sz="2100" b="0" i="1">
                <a:solidFill>
                  <a:srgbClr val="1C252B"/>
                </a:solidFill>
                <a:latin typeface="Segoe UI"/>
              </a:rPr>
              <a:t>worse</a:t>
            </a:r>
            <a:r>
              <a:rPr sz="2100" b="0" i="0">
                <a:solidFill>
                  <a:srgbClr val="1C252B"/>
                </a:solidFill>
                <a:latin typeface="Segoe UI"/>
              </a:rPr>
              <a:t> answers. And retrieval is what produces the citation, which is the output that makes the answer checkable.</a:t>
            </a:r>
          </a:p>
        </p:txBody>
      </p:sp>
      <p:sp>
        <p:nvSpPr>
          <p:cNvPr id="10" name="body-1"/>
          <p:cNvSpPr txBox="1"/>
          <p:nvPr/>
        </p:nvSpPr>
        <p:spPr>
          <a:xfrm>
            <a:off x="1060704" y="4524832"/>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practical system is a hybrid: retrieve a generous set of candidates with keyword </a:t>
            </a:r>
            <a:r>
              <a:rPr sz="2100" b="0" i="1">
                <a:solidFill>
                  <a:srgbClr val="1C252B"/>
                </a:solidFill>
                <a:latin typeface="Segoe UI"/>
              </a:rPr>
              <a:t>and</a:t>
            </a:r>
            <a:r>
              <a:rPr sz="2100" b="0" i="0">
                <a:solidFill>
                  <a:srgbClr val="1C252B"/>
                </a:solidFill>
                <a:latin typeface="Segoe UI"/>
              </a:rPr>
              <a:t> vector search, re-rank them with a smaller model, and put only the best few into a long context window. Long context has raised the ceiling on how much evidence you can supply; it has not removed the need to choose the evidence.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47382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Evaluating Generative Systems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7C4DF"/>
                </a:solidFill>
                <a:latin typeface="Segoe UI"/>
              </a:rPr>
              <a:t>SECTION 5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21.1   How an LLM Actually Works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21.2   Four Ways to Adapt a Model</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21.3   Prompting</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21.4   Retrieval-Augmented Generation</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A3A95"/>
                </a:solidFill>
                <a:latin typeface="Segoe UI"/>
              </a:rPr>
              <a:t>21.5   Evaluating Generative Systems</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§21.5     </a:t>
            </a:r>
            <a:fld id="{428C26F9-1E0D-4854-B919-244613B2444E}" type="slidenum">
              <a:rPr lang="en-GB" sz="1000">
                <a:solidFill>
                  <a:srgbClr val="8795A1"/>
                </a:solidFill>
                <a:latin typeface="Segoe UI"/>
              </a:rPr>
              <a:t>23</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572263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There Is No Accuracy Here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137     </a:t>
            </a:r>
            <a:fld id="{6AADB205-5358-4E31-BE41-71FD6580382E}" type="slidenum">
              <a:rPr lang="en-GB" sz="1000">
                <a:solidFill>
                  <a:srgbClr val="8795A1"/>
                </a:solidFill>
                <a:latin typeface="Segoe UI"/>
              </a:rPr>
              <a:t>24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Chapter 14’s metrics assume one correct answer. A summary has many valid forms, so precision and recall do not apply. Generative evaluation is therefore multi-dimensional and partly human — and a project that has not planned for this has not planned to know whether it works.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97144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Evaluating Generative Systems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137     </a:t>
            </a:r>
            <a:fld id="{6B8C1EE8-55BD-4FB3-A832-F8324AF4036B}" type="slidenum">
              <a:rPr lang="en-GB" sz="1000">
                <a:solidFill>
                  <a:srgbClr val="8795A1"/>
                </a:solidFill>
                <a:latin typeface="Segoe UI"/>
              </a:rPr>
              <a:t>25</a:t>
            </a:fld>
          </a:p>
        </p:txBody>
      </p:sp>
      <p:graphicFrame>
        <p:nvGraphicFramePr>
          <p:cNvPr id="7" name="!!table"/>
          <p:cNvGraphicFramePr>
            <a:graphicFrameLocks noGrp="1"/>
          </p:cNvGraphicFramePr>
          <p:nvPr/>
        </p:nvGraphicFramePr>
        <p:xfrm>
          <a:off x="658368" y="1737360"/>
          <a:ext cx="10874958" cy="3355848"/>
        </p:xfrm>
        <a:graphic>
          <a:graphicData uri="http://schemas.openxmlformats.org/drawingml/2006/table">
            <a:tbl>
              <a:tblPr firstRow="0" bandRow="0" firstCol="0" lastRow="0" lastCol="0" bandCol="0">
                <a:tableStyleId>{2D5ABB26-0587-4C30-8999-92F81FD0307C}</a:tableStyleId>
              </a:tblPr>
              <a:tblGrid>
                <a:gridCol w="2236693"/>
                <a:gridCol w="3547859"/>
                <a:gridCol w="5090406"/>
              </a:tblGrid>
              <a:tr h="405384">
                <a:tc>
                  <a:txBody>
                    <a:bodyPr wrap="square"/>
                    <a:lstStyle/>
                    <a:p>
                      <a:pPr algn="l"/>
                      <a:r>
                        <a:rPr sz="1700" b="1" i="0">
                          <a:solidFill>
                            <a:srgbClr val="1A5276"/>
                          </a:solidFill>
                          <a:latin typeface="Segoe UI"/>
                        </a:rPr>
                        <a:t>Dimension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Question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How to measure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Groundedness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Is every claim supported by the retrieved evidence?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Automated claim-to-source checking; the key metric for RAG</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Relevance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Does it answer what was asked?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Human rating, or an LLM judge on a rubric</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Correctness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Is it factually right?</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Gold-answer set; expert review for a sample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Safety</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Does it refuse what it should refuse?</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Red-team prompt suite, run on every release</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Consistency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Same question, same answer?</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Repeat queries at temperature 0</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Cost &amp; latency</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Affordable and fast enough?</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700" b="0" i="0">
                          <a:solidFill>
                            <a:srgbClr val="1C252B"/>
                          </a:solidFill>
                          <a:latin typeface="Segoe UI"/>
                        </a:rPr>
                        <a:t>Tokens per request, p95 response time</a:t>
                      </a:r>
                      <a:endParaRPr sz="17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622025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137     </a:t>
            </a:r>
            <a:fld id="{4337F87A-501A-4ECE-A9C5-7FA4DF37EF3E}" type="slidenum">
              <a:rPr lang="en-GB" sz="1000">
                <a:solidFill>
                  <a:srgbClr val="8795A1"/>
                </a:solidFill>
                <a:latin typeface="Segoe UI"/>
              </a:rPr>
              <a:t>26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fluency as accuracy.</a:t>
            </a:r>
            <a:r>
              <a:rPr sz="1700" b="0" i="0">
                <a:solidFill>
                  <a:srgbClr val="1C252B"/>
                </a:solidFill>
                <a:latin typeface="Segoe UI"/>
              </a:rPr>
              <a:t> Confident, well-written and wrong is the characteristic failure.</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Fine-tuning to add facts.</a:t>
            </a:r>
            <a:r>
              <a:rPr sz="1700" b="0" i="0">
                <a:solidFill>
                  <a:srgbClr val="1C252B"/>
                </a:solidFill>
                <a:latin typeface="Segoe UI"/>
              </a:rPr>
              <a:t> Use RAG; facts change, weights do not.</a:t>
            </a:r>
          </a:p>
        </p:txBody>
      </p:sp>
      <p:sp>
        <p:nvSpPr>
          <p:cNvPr id="13" name="!!pb2">
            <a:extLst>
              <a:ext uri="{C183D7F6-B498-43B3-948B-1728B52AA6E4}">
                <adec:decorative xmlns:adec="http://schemas.microsoft.com/office/drawing/2017/decorative" val="1"/>
              </a:ext>
            </a:extLst>
          </p:cNvPr>
          <p:cNvSpPr/>
          <p:nvPr/>
        </p:nvSpPr>
        <p:spPr>
          <a:xfrm>
            <a:off x="658368" y="288950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291236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287121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Pasting confidential data into a third-party API.</a:t>
            </a:r>
            <a:r>
              <a:rPr sz="1700" b="0" i="0">
                <a:solidFill>
                  <a:srgbClr val="1C252B"/>
                </a:solidFill>
                <a:latin typeface="Segoe UI"/>
              </a:rPr>
              <a:t> An acquisition and governance question (Chapter 28) that must be settled first.</a:t>
            </a:r>
          </a:p>
        </p:txBody>
      </p:sp>
      <p:sp>
        <p:nvSpPr>
          <p:cNvPr id="16" name="!!pb3">
            <a:extLst>
              <a:ext uri="{C183D7F6-B498-43B3-948B-1728B52AA6E4}">
                <adec:decorative xmlns:adec="http://schemas.microsoft.com/office/drawing/2017/decorative" val="1"/>
              </a:ext>
            </a:extLst>
          </p:cNvPr>
          <p:cNvSpPr/>
          <p:nvPr/>
        </p:nvSpPr>
        <p:spPr>
          <a:xfrm>
            <a:off x="658368" y="362955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65241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61127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No human review for consequential output.</a:t>
            </a:r>
            <a:r>
              <a:rPr sz="1700" b="0" i="0">
                <a:solidFill>
                  <a:srgbClr val="1C252B"/>
                </a:solidFill>
                <a:latin typeface="Segoe UI"/>
              </a:rPr>
              <a:t> Anything affecting a person’s grade, employment or security posture needs a human in the loop.</a:t>
            </a:r>
          </a:p>
        </p:txBody>
      </p:sp>
      <p:sp>
        <p:nvSpPr>
          <p:cNvPr id="19" name="!!pb4">
            <a:extLst>
              <a:ext uri="{C183D7F6-B498-43B3-948B-1728B52AA6E4}">
                <adec:decorative xmlns:adec="http://schemas.microsoft.com/office/drawing/2017/decorative" val="1"/>
              </a:ext>
            </a:extLst>
          </p:cNvPr>
          <p:cNvSpPr/>
          <p:nvPr/>
        </p:nvSpPr>
        <p:spPr>
          <a:xfrm>
            <a:off x="658368" y="436961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39247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35132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Evaluating on the examples you used to write the prompt.</a:t>
            </a:r>
            <a:r>
              <a:rPr sz="1700" b="0" i="0">
                <a:solidFill>
                  <a:srgbClr val="1C252B"/>
                </a:solidFill>
                <a:latin typeface="Segoe UI"/>
              </a:rPr>
              <a:t> That is the leakage of Chapter 7 in a new costume.</a:t>
            </a:r>
          </a:p>
        </p:txBody>
      </p:sp>
      <p:sp>
        <p:nvSpPr>
          <p:cNvPr id="22" name="!!pb5">
            <a:extLst>
              <a:ext uri="{C183D7F6-B498-43B3-948B-1728B52AA6E4}">
                <adec:decorative xmlns:adec="http://schemas.microsoft.com/office/drawing/2017/decorative" val="1"/>
              </a:ext>
            </a:extLst>
          </p:cNvPr>
          <p:cNvSpPr/>
          <p:nvPr/>
        </p:nvSpPr>
        <p:spPr>
          <a:xfrm>
            <a:off x="658368" y="510966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13252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091379"/>
            <a:ext cx="10271455" cy="1077772"/>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Trusting an LLM judge you have never checked.</a:t>
            </a:r>
            <a:r>
              <a:rPr sz="1700" b="0" i="0">
                <a:solidFill>
                  <a:srgbClr val="1C252B"/>
                </a:solidFill>
                <a:latin typeface="Segoe UI"/>
              </a:rPr>
              <a:t> Scoring answers with another model is cheap and scales, and it inherits the judge’s own biases — towards longer answers, towards its own style, and towards whichever option is listed first. Calibrate it against a few dozen human-scored examples before you believe any number it produces.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46906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Generative AI</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DAA63800-EE89-49E1-928E-232333022D45}" type="slidenum">
              <a:rPr lang="en-GB" sz="1000">
                <a:solidFill>
                  <a:srgbClr val="8795A1"/>
                </a:solidFill>
                <a:latin typeface="Segoe UI"/>
              </a:rPr>
              <a:t>27</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Draft personalised feedback on assignments, generate practice questions at a target difficulty, and build a RAG tutor grounded strictly in the module’s own materials so it cannot invent content that is not on the syllabus.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Draft status reports from ticket data, summarise long requirement documents, and extract structured risk registers from meeting notes.</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Less central here, but real: translating natural-language questions into telemetry queries, and generating human-readable incident summaries from raw sensor sequences.</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Two-edged, and the only lens where the technology is used by both sides.</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71787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Generative AI</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B744D846-2BB0-45BA-BBE3-6B9A2CF0B418}" type="slidenum">
              <a:rPr lang="en-GB" sz="1000">
                <a:solidFill>
                  <a:srgbClr val="8795A1"/>
                </a:solidFill>
                <a:latin typeface="Segoe UI"/>
              </a:rPr>
              <a:t>28</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Draft personalised feedback on assignments, generate practice questions at a target difficulty, and build a RAG tutor grounded strictly in the module’s own materials so it cannot invent content that is not on the syllabus. </a:t>
            </a:r>
            <a:r>
              <a:rPr sz="2200" b="1" i="0">
                <a:solidFill>
                  <a:srgbClr val="1C252B"/>
                </a:solidFill>
                <a:latin typeface="Segoe UI"/>
              </a:rPr>
              <a:t>Firm limits:</a:t>
            </a:r>
            <a:r>
              <a:rPr sz="2200" b="0" i="0">
                <a:solidFill>
                  <a:srgbClr val="1C252B"/>
                </a:solidFill>
                <a:latin typeface="Segoe UI"/>
              </a:rPr>
              <a:t> never let a generative model assign a grade unreviewed, and be explicit with students about where it is used. The fluency of the output makes it far more persuasive than its reliability warrants.</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Generative AI</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177C9BCA-8776-4853-85BD-0CB3796E4C4F}" type="slidenum">
              <a:rPr lang="en-GB" sz="1000">
                <a:solidFill>
                  <a:srgbClr val="8795A1"/>
                </a:solidFill>
                <a:latin typeface="Segoe UI"/>
              </a:rPr>
              <a:t>29</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Draft status reports from ticket data, summarise long requirement documents, and extract structured risk registers from meeting notes. RAG over the organisation’s own past project archives gives estimates a reference class it would otherwise lack. Keep temperature near 0 for anything that must be consistent between runs — a status report that changes wording every Monday erodes trust quickly.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21549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Generative AI</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947D378A-0227-4A52-8215-21A606F9648E}" type="slidenum">
              <a:rPr lang="en-GB" sz="1000">
                <a:solidFill>
                  <a:srgbClr val="8795A1"/>
                </a:solidFill>
                <a:latin typeface="Segoe UI"/>
              </a:rPr>
              <a:t>30</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Less central here, but real: translating natural-language questions into telemetry queries, and generating human-readable incident summaries from raw sensor sequences. RAG over device manuals and past maintenance records puts the right procedure in a technician’s hands at the point of work. Note that LLM inference is far too heavy for edge devices — this runs in the cloud, on aggregated data (Chapter 24).</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46430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Generative AI</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7203D807-9E7E-416E-BF53-FE863F3E09DA}" type="slidenum">
              <a:rPr lang="en-GB" sz="1000">
                <a:solidFill>
                  <a:srgbClr val="8795A1"/>
                </a:solidFill>
                <a:latin typeface="Segoe UI"/>
              </a:rPr>
              <a:t>31</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Two-edged, and the only lens where the technology is used by both sides. </a:t>
            </a:r>
            <a:r>
              <a:rPr sz="2200" b="0" i="1">
                <a:solidFill>
                  <a:srgbClr val="1C252B"/>
                </a:solidFill>
                <a:latin typeface="Segoe UI"/>
              </a:rPr>
              <a:t>Defensively:</a:t>
            </a:r>
            <a:r>
              <a:rPr sz="2200" b="0" i="0">
                <a:solidFill>
                  <a:srgbClr val="1C252B"/>
                </a:solidFill>
                <a:latin typeface="Segoe UI"/>
              </a:rPr>
              <a:t> summarise incidents, explain alerts to junior analysts, RAG over threat intelligence, draft detection rules. </a:t>
            </a:r>
            <a:r>
              <a:rPr sz="2200" b="0" i="1">
                <a:solidFill>
                  <a:srgbClr val="1C252B"/>
                </a:solidFill>
                <a:latin typeface="Segoe UI"/>
              </a:rPr>
              <a:t>Offensively:</a:t>
            </a:r>
            <a:r>
              <a:rPr sz="2200" b="0" i="0">
                <a:solidFill>
                  <a:srgbClr val="1C252B"/>
                </a:solidFill>
                <a:latin typeface="Segoe UI"/>
              </a:rPr>
              <a:t> attackers use the same models to write flawless phishing in any language, which has removed the spelling-error signal that classifiers relied on for twenty years. Add prompt injection to your threat model: if your assistant reads untrusted content, that content can contain instructions to it.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71311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A Minimal RAG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137     </a:t>
            </a:r>
            <a:fld id="{5C7FB5B9-C716-4F2C-8C08-9A90DE4EC1EC}" type="slidenum">
              <a:rPr lang="en-GB" sz="1000">
                <a:solidFill>
                  <a:srgbClr val="8795A1"/>
                </a:solidFill>
                <a:latin typeface="Segoe UI"/>
              </a:rPr>
              <a:t>32</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82879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Chunk your documents</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Embed once, offline</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Retrieve by cosine similarity (Chapter 4)</a:t>
            </a:r>
          </a:p>
          <a:p>
            <a:pPr algn="l" marL="459473" indent="-459473">
              <a:lnSpc>
                <a:spcPct val="100000"/>
              </a:lnSpc>
              <a:spcBef>
                <a:spcPts val="0"/>
              </a:spcBef>
              <a:spcAft>
                <a:spcPts val="570"/>
              </a:spcAft>
            </a:pPr>
            <a:r>
              <a:rPr sz="1900" b="1">
                <a:solidFill>
                  <a:srgbClr val="117A65"/>
                </a:solidFill>
                <a:latin typeface="Segoe UI"/>
              </a:rPr>
              <a:t>4.	</a:t>
            </a:r>
            <a:r>
              <a:rPr sz="1900" b="0" i="0">
                <a:solidFill>
                  <a:srgbClr val="1C252B"/>
                </a:solidFill>
                <a:latin typeface="Segoe UI"/>
              </a:rPr>
              <a:t>Build a grounded prompt</a:t>
            </a:r>
          </a:p>
          <a:p>
            <a:pPr algn="l" marL="459473" indent="-459473">
              <a:lnSpc>
                <a:spcPct val="100000"/>
              </a:lnSpc>
              <a:spcBef>
                <a:spcPts val="0"/>
              </a:spcBef>
              <a:spcAft>
                <a:spcPts val="0"/>
              </a:spcAft>
            </a:pPr>
            <a:r>
              <a:rPr sz="1900" b="1">
                <a:solidFill>
                  <a:srgbClr val="117A65"/>
                </a:solidFill>
                <a:latin typeface="Segoe UI"/>
              </a:rPr>
              <a:t>5.	</a:t>
            </a:r>
            <a:r>
              <a:rPr sz="1900" b="0" i="0">
                <a:solidFill>
                  <a:srgbClr val="1C252B"/>
                </a:solidFill>
                <a:latin typeface="Segoe UI"/>
              </a:rPr>
              <a:t>The evaluation you must not skip</a:t>
            </a:r>
          </a:p>
        </p:txBody>
      </p:sp>
      <p:sp>
        <p:nvSpPr>
          <p:cNvPr id="29" name="!!lfTHIS">
            <a:extLst>
              <a:ext uri="{C183D7F6-B498-43B3-948B-1728B52AA6E4}">
                <adec:decorative xmlns:adec="http://schemas.microsoft.com/office/drawing/2017/decorative" val="1"/>
              </a:ext>
            </a:extLst>
          </p:cNvPr>
          <p:cNvSpPr/>
          <p:nvPr/>
        </p:nvSpPr>
        <p:spPr>
          <a:xfrm>
            <a:off x="658368"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lflTHIS"/>
          <p:cNvSpPr txBox="1"/>
          <p:nvPr/>
        </p:nvSpPr>
        <p:spPr>
          <a:xfrm>
            <a:off x="932688"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2" name="!!lfvTHIS"/>
          <p:cNvSpPr txBox="1"/>
          <p:nvPr/>
        </p:nvSpPr>
        <p:spPr>
          <a:xfrm>
            <a:off x="932688"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13: Minimal RAG; agent loop with guardrails</a:t>
            </a:r>
          </a:p>
        </p:txBody>
      </p:sp>
      <p:sp>
        <p:nvSpPr>
          <p:cNvPr id="33" name="!!lfWHAT">
            <a:extLst>
              <a:ext uri="{C183D7F6-B498-43B3-948B-1728B52AA6E4}">
                <adec:decorative xmlns:adec="http://schemas.microsoft.com/office/drawing/2017/decorative" val="1"/>
              </a:ext>
            </a:extLst>
          </p:cNvPr>
          <p:cNvSpPr/>
          <p:nvPr/>
        </p:nvSpPr>
        <p:spPr>
          <a:xfrm>
            <a:off x="6233007" y="521208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bWHAT">
            <a:extLst>
              <a:ext uri="{C183D7F6-B498-43B3-948B-1728B52AA6E4}">
                <adec:decorative xmlns:adec="http://schemas.microsoft.com/office/drawing/2017/decorative" val="1"/>
              </a:ext>
            </a:extLst>
          </p:cNvPr>
          <p:cNvSpPr/>
          <p:nvPr/>
        </p:nvSpPr>
        <p:spPr>
          <a:xfrm>
            <a:off x="6233007"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lWHAT"/>
          <p:cNvSpPr txBox="1"/>
          <p:nvPr/>
        </p:nvSpPr>
        <p:spPr>
          <a:xfrm>
            <a:off x="6507327" y="537667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6" name="!!lfvWHAT"/>
          <p:cNvSpPr txBox="1"/>
          <p:nvPr/>
        </p:nvSpPr>
        <p:spPr>
          <a:xfrm>
            <a:off x="6507327" y="566928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47 lines of Python</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796192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3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Minimal RAG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137     </a:t>
            </a:r>
            <a:fld id="{1D87E1C7-99B3-46F3-9185-62649184D301}"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908303"/>
          </a:xfrm>
          <a:prstGeom prst="roundRect">
            <a:avLst>
              <a:gd name="adj" fmla="val 100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import numpy as np"/>
          <p:cNvSpPr txBox="1"/>
          <p:nvPr/>
        </p:nvSpPr>
        <p:spPr>
          <a:xfrm>
            <a:off x="1362456" y="2523744"/>
            <a:ext cx="9987991" cy="414527"/>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p:txBody>
      </p:sp>
      <p:sp>
        <p:nvSpPr>
          <p:cNvPr id="15" name="!!code-num"/>
          <p:cNvSpPr txBox="1"/>
          <p:nvPr/>
        </p:nvSpPr>
        <p:spPr>
          <a:xfrm>
            <a:off x="768096" y="2523744"/>
            <a:ext cx="393192" cy="4145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1073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Minimal RAG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137     </a:t>
            </a:r>
            <a:fld id="{164D186A-8716-4A80-9C44-FFAC3A123578}"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Chunk your documents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1. chunk your documents ------------------------------------------ def chunk(text, size=800, overlap=100): &quot;&quot;&quot;Overlap keeps sentences from being cut across a boundary.&quot;&quot;&quot; return [text[i:i+size] for i in range(0, len(text), size - overlap)] chunks = [c for doc in documents for c in chunk(doc)]"/>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--- 1. chunk your documents ------------------------------------------</a:t>
            </a:r>
          </a:p>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chunk</a:t>
            </a:r>
            <a:r>
              <a:rPr sz="1900" i="0">
                <a:solidFill>
                  <a:srgbClr val="AEB6BF"/>
                </a:solidFill>
                <a:latin typeface="Consolas"/>
              </a:rPr>
              <a:t>(</a:t>
            </a:r>
            <a:r>
              <a:rPr sz="1900" i="0">
                <a:solidFill>
                  <a:srgbClr val="E8EDF2"/>
                </a:solidFill>
                <a:latin typeface="Consolas"/>
              </a:rPr>
              <a:t>text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size</a:t>
            </a:r>
            <a:r>
              <a:rPr sz="1900" i="0">
                <a:solidFill>
                  <a:srgbClr val="AEB6BF"/>
                </a:solidFill>
                <a:latin typeface="Consolas"/>
              </a:rPr>
              <a:t>=</a:t>
            </a:r>
            <a:r>
              <a:rPr sz="1900" i="0">
                <a:solidFill>
                  <a:srgbClr val="F7DC6F"/>
                </a:solidFill>
                <a:latin typeface="Consolas"/>
              </a:rPr>
              <a:t>800</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overlap</a:t>
            </a:r>
            <a:r>
              <a:rPr sz="1900" i="0">
                <a:solidFill>
                  <a:srgbClr val="AEB6BF"/>
                </a:solidFill>
                <a:latin typeface="Consolas"/>
              </a:rPr>
              <a:t>=</a:t>
            </a:r>
            <a:r>
              <a:rPr sz="1900" i="0">
                <a:solidFill>
                  <a:srgbClr val="F7DC6F"/>
                </a:solidFill>
                <a:latin typeface="Consolas"/>
              </a:rPr>
              <a:t>100</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"""Overlap keeps sentences from being cut across a boundary."""</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text</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i</a:t>
            </a:r>
            <a:r>
              <a:rPr sz="1900" i="0">
                <a:solidFill>
                  <a:srgbClr val="AEB6BF"/>
                </a:solidFill>
                <a:latin typeface="Consolas"/>
              </a:rPr>
              <a:t>+</a:t>
            </a:r>
            <a:r>
              <a:rPr sz="1900" i="0">
                <a:solidFill>
                  <a:srgbClr val="E8EDF2"/>
                </a:solidFill>
                <a:latin typeface="Consolas"/>
              </a:rPr>
              <a:t>size</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C39BD3"/>
                </a:solidFill>
                <a:latin typeface="Consolas"/>
              </a:rPr>
              <a:t>range</a:t>
            </a:r>
            <a:r>
              <a:rPr sz="1900" i="0">
                <a:solidFill>
                  <a:srgbClr val="AEB6BF"/>
                </a:solidFill>
                <a:latin typeface="Consolas"/>
              </a:rPr>
              <a:t>(</a:t>
            </a:r>
            <a:r>
              <a:rPr sz="1900" i="0">
                <a:solidFill>
                  <a:srgbClr val="F7DC6F"/>
                </a:solidFill>
                <a:latin typeface="Consolas"/>
              </a:rPr>
              <a:t>0</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len</a:t>
            </a:r>
            <a:r>
              <a:rPr sz="1900" i="0">
                <a:solidFill>
                  <a:srgbClr val="AEB6BF"/>
                </a:solidFill>
                <a:latin typeface="Consolas"/>
              </a:rPr>
              <a:t>(</a:t>
            </a:r>
            <a:r>
              <a:rPr sz="1900" i="0">
                <a:solidFill>
                  <a:srgbClr val="E8EDF2"/>
                </a:solidFill>
                <a:latin typeface="Consolas"/>
              </a:rPr>
              <a:t>text</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size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overlap</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chunks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c</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doc</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documents</a:t>
            </a: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chunk</a:t>
            </a:r>
            <a:r>
              <a:rPr sz="1900" i="0">
                <a:solidFill>
                  <a:srgbClr val="AEB6BF"/>
                </a:solidFill>
                <a:latin typeface="Consolas"/>
              </a:rPr>
              <a:t>(</a:t>
            </a:r>
            <a:r>
              <a:rPr sz="1900" i="0">
                <a:solidFill>
                  <a:srgbClr val="E8EDF2"/>
                </a:solidFill>
                <a:latin typeface="Consolas"/>
              </a:rPr>
              <a:t>doc</a:t>
            </a:r>
            <a:r>
              <a:rPr sz="1900" i="0">
                <a:solidFill>
                  <a:srgbClr val="AEB6BF"/>
                </a:solidFill>
                <a:latin typeface="Consolas"/>
              </a:rPr>
              <a:t>)</a:t>
            </a:r>
            <a:r>
              <a:rPr sz="1900" i="0">
                <a:solidFill>
                  <a:srgbClr val="AEB6BF"/>
                </a:solidFill>
                <a:latin typeface="Consolas"/>
              </a:rPr>
              <a:t>]</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a:p>
            <a:pPr algn="r">
              <a:lnSpc>
                <a:spcPct val="100000"/>
              </a:lnSpc>
            </a:pPr>
            <a:r>
              <a:rPr sz="19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5954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Minimal RAG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137     </a:t>
            </a:r>
            <a:fld id="{5CADD0E4-7D72-4D91-A3DB-2E34E9A960AB}"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Embed once, offline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639824"/>
          </a:xfrm>
          <a:prstGeom prst="roundRect">
            <a:avLst>
              <a:gd name="adj" fmla="val 55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2. embed once, offline ------------------------------------------- from sentence_transformers import SentenceTransformer encoder = SentenceTransformer(&quot;all-MiniLM-L6-v2&quot;) index = encoder.encode(chunks, normalize_embeddings=True) # (n_chunks, 384)"/>
          <p:cNvSpPr txBox="1"/>
          <p:nvPr/>
        </p:nvSpPr>
        <p:spPr>
          <a:xfrm>
            <a:off x="1362456" y="2523744"/>
            <a:ext cx="9987991" cy="1146047"/>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--- 2. embed once, offline -------------------------------------------</a:t>
            </a:r>
          </a:p>
          <a:p>
            <a:pPr>
              <a:lnSpc>
                <a:spcPct val="100000"/>
              </a:lnSpc>
              <a:spcAft>
                <a:spcPts val="0"/>
              </a:spcAft>
            </a:pPr>
            <a:r>
              <a:rPr sz="1700" i="0">
                <a:solidFill>
                  <a:srgbClr val="5DADE2"/>
                </a:solidFill>
                <a:latin typeface="Consolas"/>
              </a:rPr>
              <a:t>from</a:t>
            </a:r>
            <a:r>
              <a:rPr sz="1700" i="0">
                <a:solidFill>
                  <a:srgbClr val="E8EDF2"/>
                </a:solidFill>
                <a:latin typeface="Consolas"/>
              </a:rPr>
              <a:t> </a:t>
            </a:r>
            <a:r>
              <a:rPr sz="1700" i="0">
                <a:solidFill>
                  <a:srgbClr val="76D7C4"/>
                </a:solidFill>
                <a:latin typeface="Consolas"/>
              </a:rPr>
              <a:t>sentence_transformers</a:t>
            </a:r>
            <a:r>
              <a:rPr sz="1700" i="0">
                <a:solidFill>
                  <a:srgbClr val="E8EDF2"/>
                </a:solidFill>
                <a:latin typeface="Consolas"/>
              </a:rPr>
              <a:t> </a:t>
            </a:r>
            <a:r>
              <a:rPr sz="1700" i="0">
                <a:solidFill>
                  <a:srgbClr val="5DADE2"/>
                </a:solidFill>
                <a:latin typeface="Consolas"/>
              </a:rPr>
              <a:t>import</a:t>
            </a:r>
            <a:r>
              <a:rPr sz="1700" i="0">
                <a:solidFill>
                  <a:srgbClr val="E8EDF2"/>
                </a:solidFill>
                <a:latin typeface="Consolas"/>
              </a:rPr>
              <a:t> </a:t>
            </a:r>
            <a:r>
              <a:rPr sz="1700" i="0">
                <a:solidFill>
                  <a:srgbClr val="E8EDF2"/>
                </a:solidFill>
                <a:latin typeface="Consolas"/>
              </a:rPr>
              <a:t>SentenceTransformer</a:t>
            </a:r>
          </a:p>
          <a:p>
            <a:pPr>
              <a:lnSpc>
                <a:spcPct val="100000"/>
              </a:lnSpc>
              <a:spcAft>
                <a:spcPts val="0"/>
              </a:spcAft>
            </a:pPr>
            <a:r>
              <a:rPr sz="1700" i="0">
                <a:solidFill>
                  <a:srgbClr val="E8EDF2"/>
                </a:solidFill>
                <a:latin typeface="Consolas"/>
              </a:rPr>
              <a:t>encoder</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SentenceTransformer</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all-MiniLM-L6-v2</a:t>
            </a:r>
            <a:r>
              <a:rPr sz="1700" i="0">
                <a:solidFill>
                  <a:srgbClr val="7DCEA0"/>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index</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encoder</a:t>
            </a:r>
            <a:r>
              <a:rPr sz="1700" i="0">
                <a:solidFill>
                  <a:srgbClr val="AEB6BF"/>
                </a:solidFill>
                <a:latin typeface="Consolas"/>
              </a:rPr>
              <a:t>.</a:t>
            </a:r>
            <a:r>
              <a:rPr sz="1700" i="0">
                <a:solidFill>
                  <a:srgbClr val="E8EDF2"/>
                </a:solidFill>
                <a:latin typeface="Consolas"/>
              </a:rPr>
              <a:t>encode</a:t>
            </a:r>
            <a:r>
              <a:rPr sz="1700" i="0">
                <a:solidFill>
                  <a:srgbClr val="AEB6BF"/>
                </a:solidFill>
                <a:latin typeface="Consolas"/>
              </a:rPr>
              <a:t>(</a:t>
            </a:r>
            <a:r>
              <a:rPr sz="1700" i="0">
                <a:solidFill>
                  <a:srgbClr val="E8EDF2"/>
                </a:solidFill>
                <a:latin typeface="Consolas"/>
              </a:rPr>
              <a:t>chunks</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normalize_embeddings</a:t>
            </a:r>
            <a:r>
              <a:rPr sz="1700" i="0">
                <a:solidFill>
                  <a:srgbClr val="AEB6BF"/>
                </a:solidFill>
                <a:latin typeface="Consolas"/>
              </a:rPr>
              <a:t>=</a:t>
            </a:r>
            <a:r>
              <a:rPr sz="1700" i="0">
                <a:solidFill>
                  <a:srgbClr val="5DADE2"/>
                </a:solidFill>
                <a:latin typeface="Consolas"/>
              </a:rPr>
              <a:t>True</a:t>
            </a:r>
            <a:r>
              <a:rPr sz="1700" i="0">
                <a:solidFill>
                  <a:srgbClr val="AEB6BF"/>
                </a:solidFill>
                <a:latin typeface="Consolas"/>
              </a:rPr>
              <a:t>)</a:t>
            </a:r>
            <a:r>
              <a:rPr sz="1700" i="0">
                <a:solidFill>
                  <a:srgbClr val="E8EDF2"/>
                </a:solidFill>
                <a:latin typeface="Consolas"/>
              </a:rPr>
              <a:t>   </a:t>
            </a:r>
            <a:r>
              <a:rPr sz="1700" i="1">
                <a:solidFill>
                  <a:srgbClr val="8795A1"/>
                </a:solidFill>
                <a:latin typeface="Consolas"/>
              </a:rPr>
              <a:t># (n_chunks, 384)</a:t>
            </a:r>
          </a:p>
        </p:txBody>
      </p:sp>
      <p:sp>
        <p:nvSpPr>
          <p:cNvPr id="15" name="!!code-num"/>
          <p:cNvSpPr txBox="1"/>
          <p:nvPr/>
        </p:nvSpPr>
        <p:spPr>
          <a:xfrm>
            <a:off x="768096" y="2523744"/>
            <a:ext cx="393192" cy="1146047"/>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8</a:t>
            </a:r>
          </a:p>
          <a:p>
            <a:pPr algn="r">
              <a:lnSpc>
                <a:spcPct val="100000"/>
              </a:lnSpc>
            </a:pPr>
            <a:r>
              <a:rPr sz="1700">
                <a:solidFill>
                  <a:srgbClr val="4F5D6A"/>
                </a:solidFill>
                <a:latin typeface="Consolas"/>
              </a:rPr>
              <a:t>9</a:t>
            </a:r>
          </a:p>
          <a:p>
            <a:pPr algn="r">
              <a:lnSpc>
                <a:spcPct val="100000"/>
              </a:lnSpc>
            </a:pPr>
            <a:r>
              <a:rPr sz="1700">
                <a:solidFill>
                  <a:srgbClr val="4F5D6A"/>
                </a:solidFill>
                <a:latin typeface="Consolas"/>
              </a:rPr>
              <a:t>10</a:t>
            </a:r>
          </a:p>
          <a:p>
            <a:pPr algn="r">
              <a:lnSpc>
                <a:spcPct val="100000"/>
              </a:lnSpc>
            </a:pPr>
            <a:r>
              <a:rPr sz="1700">
                <a:solidFill>
                  <a:srgbClr val="4F5D6A"/>
                </a:solidFill>
                <a:latin typeface="Consolas"/>
              </a:rPr>
              <a:t>11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Minimal RAG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137     </a:t>
            </a:r>
            <a:fld id="{E87024E4-0D55-47F8-9B5F-CEE1124EA68E}"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Retrieve by cosine similarity (Chapter 4)</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822703"/>
          </a:xfrm>
          <a:prstGeom prst="roundRect">
            <a:avLst>
              <a:gd name="adj" fmla="val 50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3. retrieve by cosine similarity (Chapter 4) --------------------- def retrieve(question, k=4): q = encoder.encode([question], normalize_embeddings=True)[0] scores = index @ q # normalised =&gt; dot product IS cosine return [(chunks[i], float(scores[i])) for i in np.argsort(scores)[::-1][:k]]"/>
          <p:cNvSpPr txBox="1"/>
          <p:nvPr/>
        </p:nvSpPr>
        <p:spPr>
          <a:xfrm>
            <a:off x="1362456" y="2523744"/>
            <a:ext cx="9987991" cy="1328928"/>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--- 3. retrieve by cosine similarity (Chapter 4) ---------------------</a:t>
            </a:r>
          </a:p>
          <a:p>
            <a:pPr>
              <a:lnSpc>
                <a:spcPct val="100000"/>
              </a:lnSpc>
              <a:spcAft>
                <a:spcPts val="0"/>
              </a:spcAft>
            </a:pPr>
            <a:r>
              <a:rPr sz="1600" i="0">
                <a:solidFill>
                  <a:srgbClr val="5DADE2"/>
                </a:solidFill>
                <a:latin typeface="Consolas"/>
              </a:rPr>
              <a:t>def</a:t>
            </a:r>
            <a:r>
              <a:rPr sz="1600" i="0">
                <a:solidFill>
                  <a:srgbClr val="E8EDF2"/>
                </a:solidFill>
                <a:latin typeface="Consolas"/>
              </a:rPr>
              <a:t> </a:t>
            </a:r>
            <a:r>
              <a:rPr sz="1600" i="0">
                <a:solidFill>
                  <a:srgbClr val="C39BD3"/>
                </a:solidFill>
                <a:latin typeface="Consolas"/>
              </a:rPr>
              <a:t>retrieve</a:t>
            </a:r>
            <a:r>
              <a:rPr sz="1600" i="0">
                <a:solidFill>
                  <a:srgbClr val="AEB6BF"/>
                </a:solidFill>
                <a:latin typeface="Consolas"/>
              </a:rPr>
              <a:t>(</a:t>
            </a:r>
            <a:r>
              <a:rPr sz="1600" i="0">
                <a:solidFill>
                  <a:srgbClr val="E8EDF2"/>
                </a:solidFill>
                <a:latin typeface="Consolas"/>
              </a:rPr>
              <a:t>question</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k</a:t>
            </a:r>
            <a:r>
              <a:rPr sz="1600" i="0">
                <a:solidFill>
                  <a:srgbClr val="AEB6BF"/>
                </a:solidFill>
                <a:latin typeface="Consolas"/>
              </a:rPr>
              <a:t>=</a:t>
            </a:r>
            <a:r>
              <a:rPr sz="1600" i="0">
                <a:solidFill>
                  <a:srgbClr val="F7DC6F"/>
                </a:solidFill>
                <a:latin typeface="Consolas"/>
              </a:rPr>
              <a:t>4</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q</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encoder</a:t>
            </a:r>
            <a:r>
              <a:rPr sz="1600" i="0">
                <a:solidFill>
                  <a:srgbClr val="AEB6BF"/>
                </a:solidFill>
                <a:latin typeface="Consolas"/>
              </a:rPr>
              <a:t>.</a:t>
            </a:r>
            <a:r>
              <a:rPr sz="1600" i="0">
                <a:solidFill>
                  <a:srgbClr val="E8EDF2"/>
                </a:solidFill>
                <a:latin typeface="Consolas"/>
              </a:rPr>
              <a:t>encode</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question</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normalize_embeddings</a:t>
            </a:r>
            <a:r>
              <a:rPr sz="1600" i="0">
                <a:solidFill>
                  <a:srgbClr val="AEB6BF"/>
                </a:solidFill>
                <a:latin typeface="Consolas"/>
              </a:rPr>
              <a:t>=</a:t>
            </a:r>
            <a:r>
              <a:rPr sz="1600" i="0">
                <a:solidFill>
                  <a:srgbClr val="5DADE2"/>
                </a:solidFill>
                <a:latin typeface="Consolas"/>
              </a:rPr>
              <a:t>True</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0</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scores</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index</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q</a:t>
            </a:r>
            <a:r>
              <a:rPr sz="1600" i="0">
                <a:solidFill>
                  <a:srgbClr val="E8EDF2"/>
                </a:solidFill>
                <a:latin typeface="Consolas"/>
              </a:rPr>
              <a:t>                       </a:t>
            </a:r>
            <a:r>
              <a:rPr sz="1600" i="1">
                <a:solidFill>
                  <a:srgbClr val="8795A1"/>
                </a:solidFill>
                <a:latin typeface="Consolas"/>
              </a:rPr>
              <a:t># normalised =&gt; dot product IS cosine</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chunks</a:t>
            </a:r>
            <a:r>
              <a:rPr sz="1600" i="0">
                <a:solidFill>
                  <a:srgbClr val="AEB6BF"/>
                </a:solidFill>
                <a:latin typeface="Consolas"/>
              </a:rPr>
              <a:t>[</a:t>
            </a:r>
            <a:r>
              <a:rPr sz="1600" i="0">
                <a:solidFill>
                  <a:srgbClr val="E8EDF2"/>
                </a:solidFill>
                <a:latin typeface="Consolas"/>
              </a:rPr>
              <a:t>i</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C39BD3"/>
                </a:solidFill>
                <a:latin typeface="Consolas"/>
              </a:rPr>
              <a:t>float</a:t>
            </a:r>
            <a:r>
              <a:rPr sz="1600" i="0">
                <a:solidFill>
                  <a:srgbClr val="AEB6BF"/>
                </a:solidFill>
                <a:latin typeface="Consolas"/>
              </a:rPr>
              <a:t>(</a:t>
            </a:r>
            <a:r>
              <a:rPr sz="1600" i="0">
                <a:solidFill>
                  <a:srgbClr val="E8EDF2"/>
                </a:solidFill>
                <a:latin typeface="Consolas"/>
              </a:rPr>
              <a:t>scores</a:t>
            </a:r>
            <a:r>
              <a:rPr sz="1600" i="0">
                <a:solidFill>
                  <a:srgbClr val="AEB6BF"/>
                </a:solidFill>
                <a:latin typeface="Consolas"/>
              </a:rPr>
              <a:t>[</a:t>
            </a:r>
            <a:r>
              <a:rPr sz="1600" i="0">
                <a:solidFill>
                  <a:srgbClr val="E8EDF2"/>
                </a:solidFill>
                <a:latin typeface="Consolas"/>
              </a:rPr>
              <a:t>i</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i</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E8EDF2"/>
                </a:solidFill>
                <a:latin typeface="Consolas"/>
              </a:rPr>
              <a:t>np</a:t>
            </a:r>
            <a:r>
              <a:rPr sz="1600" i="0">
                <a:solidFill>
                  <a:srgbClr val="AEB6BF"/>
                </a:solidFill>
                <a:latin typeface="Consolas"/>
              </a:rPr>
              <a:t>.</a:t>
            </a:r>
            <a:r>
              <a:rPr sz="1600" i="0">
                <a:solidFill>
                  <a:srgbClr val="E8EDF2"/>
                </a:solidFill>
                <a:latin typeface="Consolas"/>
              </a:rPr>
              <a:t>argsort</a:t>
            </a:r>
            <a:r>
              <a:rPr sz="1600" i="0">
                <a:solidFill>
                  <a:srgbClr val="AEB6BF"/>
                </a:solidFill>
                <a:latin typeface="Consolas"/>
              </a:rPr>
              <a:t>(</a:t>
            </a:r>
            <a:r>
              <a:rPr sz="1600" i="0">
                <a:solidFill>
                  <a:srgbClr val="E8EDF2"/>
                </a:solidFill>
                <a:latin typeface="Consolas"/>
              </a:rPr>
              <a:t>scores</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F7DC6F"/>
                </a:solidFill>
                <a:latin typeface="Consolas"/>
              </a:rPr>
              <a:t>1</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k</a:t>
            </a:r>
            <a:r>
              <a:rPr sz="1600" i="0">
                <a:solidFill>
                  <a:srgbClr val="AEB6BF"/>
                </a:solidFill>
                <a:latin typeface="Consolas"/>
              </a:rPr>
              <a:t>]</a:t>
            </a:r>
            <a:r>
              <a:rPr sz="1600" i="0">
                <a:solidFill>
                  <a:srgbClr val="AEB6BF"/>
                </a:solidFill>
                <a:latin typeface="Consolas"/>
              </a:rPr>
              <a:t>]</a:t>
            </a:r>
          </a:p>
        </p:txBody>
      </p:sp>
      <p:sp>
        <p:nvSpPr>
          <p:cNvPr id="15" name="!!code-num"/>
          <p:cNvSpPr txBox="1"/>
          <p:nvPr/>
        </p:nvSpPr>
        <p:spPr>
          <a:xfrm>
            <a:off x="768096" y="2523744"/>
            <a:ext cx="393192" cy="1328928"/>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12</a:t>
            </a:r>
          </a:p>
          <a:p>
            <a:pPr algn="r">
              <a:lnSpc>
                <a:spcPct val="100000"/>
              </a:lnSpc>
            </a:pPr>
            <a:r>
              <a:rPr sz="1600">
                <a:solidFill>
                  <a:srgbClr val="4F5D6A"/>
                </a:solidFill>
                <a:latin typeface="Consolas"/>
              </a:rPr>
              <a:t>13</a:t>
            </a:r>
          </a:p>
          <a:p>
            <a:pPr algn="r">
              <a:lnSpc>
                <a:spcPct val="100000"/>
              </a:lnSpc>
            </a:pPr>
            <a:r>
              <a:rPr sz="1600">
                <a:solidFill>
                  <a:srgbClr val="4F5D6A"/>
                </a:solidFill>
                <a:latin typeface="Consolas"/>
              </a:rPr>
              <a:t>14</a:t>
            </a:r>
          </a:p>
          <a:p>
            <a:pPr algn="r">
              <a:lnSpc>
                <a:spcPct val="100000"/>
              </a:lnSpc>
            </a:pPr>
            <a:r>
              <a:rPr sz="1600">
                <a:solidFill>
                  <a:srgbClr val="4F5D6A"/>
                </a:solidFill>
                <a:latin typeface="Consolas"/>
              </a:rPr>
              <a:t>15</a:t>
            </a:r>
          </a:p>
          <a:p>
            <a:pPr algn="r">
              <a:lnSpc>
                <a:spcPct val="100000"/>
              </a:lnSpc>
            </a:pPr>
            <a:r>
              <a:rPr sz="16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95716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Minimal RAG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137     </a:t>
            </a:r>
            <a:fld id="{B40FBC70-4736-4254-8115-721914C0A2E6}"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Build a grounded prompt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4. build a grounded prompt --------------------------------------- def build_prompt(question): hits = retrieve(question) evidence = &quot;\n\n&quot;.join(f&quot;[{i+1}] {c}&quot; for i, (c, _) in enumerate(hits)) return f&quot;&quot;&quot;ROLE: You answer questions about our internal documentation. CONTEXT (the ONLY permitted source): {evidence} QUESTION: {question} RULES: - Answer only from the context above. - Cite the bracketed source number after each claim. - If the context does not contain the answer, reply exactly: &quot;Not covered in the supplied documents.&quot; &quot;&quot;&quot; print(build_prompt(&quot;What is our password rotation policy?&quot;))"/>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--- 4. build a grounded prompt ---------------------------------------</a:t>
            </a:r>
          </a:p>
          <a:p>
            <a:pPr>
              <a:lnSpc>
                <a:spcPct val="100000"/>
              </a:lnSpc>
              <a:spcAft>
                <a:spcPts val="0"/>
              </a:spcAft>
            </a:pP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build_prompt</a:t>
            </a:r>
            <a:r>
              <a:rPr sz="1300" i="0">
                <a:solidFill>
                  <a:srgbClr val="AEB6BF"/>
                </a:solidFill>
                <a:latin typeface="Consolas"/>
              </a:rPr>
              <a:t>(</a:t>
            </a:r>
            <a:r>
              <a:rPr sz="1300" i="0">
                <a:solidFill>
                  <a:srgbClr val="E8EDF2"/>
                </a:solidFill>
                <a:latin typeface="Consolas"/>
              </a:rPr>
              <a:t>question</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hits</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retrieve</a:t>
            </a:r>
            <a:r>
              <a:rPr sz="1300" i="0">
                <a:solidFill>
                  <a:srgbClr val="AEB6BF"/>
                </a:solidFill>
                <a:latin typeface="Consolas"/>
              </a:rPr>
              <a:t>(</a:t>
            </a:r>
            <a:r>
              <a:rPr sz="1300" i="0">
                <a:solidFill>
                  <a:srgbClr val="E8EDF2"/>
                </a:solidFill>
                <a:latin typeface="Consolas"/>
              </a:rPr>
              <a:t>question</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evidence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\n</a:t>
            </a:r>
            <a:r>
              <a:rPr sz="1300" i="0">
                <a:solidFill>
                  <a:srgbClr val="7DCEA0"/>
                </a:solidFill>
                <a:latin typeface="Consolas"/>
              </a:rPr>
              <a:t>\n</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join</a:t>
            </a:r>
            <a:r>
              <a:rPr sz="1300" i="0">
                <a:solidFill>
                  <a:srgbClr val="AEB6BF"/>
                </a:solidFill>
                <a:latin typeface="Consolas"/>
              </a:rPr>
              <a:t>(</a:t>
            </a:r>
            <a:r>
              <a:rPr sz="1300" i="0">
                <a:solidFill>
                  <a:srgbClr val="7DCEA0"/>
                </a:solidFill>
                <a:latin typeface="Consolas"/>
              </a:rPr>
              <a:t>f</a:t>
            </a:r>
            <a:r>
              <a:rPr sz="1300" i="0">
                <a:solidFill>
                  <a:srgbClr val="7DCEA0"/>
                </a:solidFill>
                <a:latin typeface="Consolas"/>
              </a:rPr>
              <a:t>"</a:t>
            </a:r>
            <a:r>
              <a:rPr sz="1300" i="0">
                <a:solidFill>
                  <a:srgbClr val="7DCEA0"/>
                </a:solidFill>
                <a:latin typeface="Consolas"/>
              </a:rPr>
              <a:t>[</a:t>
            </a:r>
            <a:r>
              <a:rPr sz="1300" i="0">
                <a:solidFill>
                  <a:srgbClr val="7DCEA0"/>
                </a:solidFill>
                <a:latin typeface="Consolas"/>
              </a:rPr>
              <a:t>{</a:t>
            </a:r>
            <a:r>
              <a:rPr sz="1300" i="0">
                <a:solidFill>
                  <a:srgbClr val="E8EDF2"/>
                </a:solidFill>
                <a:latin typeface="Consolas"/>
              </a:rPr>
              <a:t>i</a:t>
            </a:r>
            <a:r>
              <a:rPr sz="1300" i="0">
                <a:solidFill>
                  <a:srgbClr val="AEB6BF"/>
                </a:solidFill>
                <a:latin typeface="Consolas"/>
              </a:rPr>
              <a:t>+</a:t>
            </a:r>
            <a:r>
              <a:rPr sz="1300" i="0">
                <a:solidFill>
                  <a:srgbClr val="F7DC6F"/>
                </a:solidFill>
                <a:latin typeface="Consolas"/>
              </a:rPr>
              <a:t>1</a:t>
            </a:r>
            <a:r>
              <a:rPr sz="1300" i="0">
                <a:solidFill>
                  <a:srgbClr val="7DCEA0"/>
                </a:solidFill>
                <a:latin typeface="Consolas"/>
              </a:rPr>
              <a:t>}</a:t>
            </a:r>
            <a:r>
              <a:rPr sz="1300" i="0">
                <a:solidFill>
                  <a:srgbClr val="7DCEA0"/>
                </a:solidFill>
                <a:latin typeface="Consolas"/>
              </a:rPr>
              <a:t>] </a:t>
            </a:r>
            <a:r>
              <a:rPr sz="1300" i="0">
                <a:solidFill>
                  <a:srgbClr val="7DCEA0"/>
                </a:solidFill>
                <a:latin typeface="Consolas"/>
              </a:rPr>
              <a:t>{</a:t>
            </a:r>
            <a:r>
              <a:rPr sz="1300" i="0">
                <a:solidFill>
                  <a:srgbClr val="E8EDF2"/>
                </a:solidFill>
                <a:latin typeface="Consolas"/>
              </a:rPr>
              <a:t>c</a:t>
            </a:r>
            <a:r>
              <a:rPr sz="1300" i="0">
                <a:solidFill>
                  <a:srgbClr val="7DCEA0"/>
                </a:solidFill>
                <a:latin typeface="Consolas"/>
              </a:rPr>
              <a:t>}</a:t>
            </a:r>
            <a:r>
              <a:rPr sz="1300" i="0">
                <a:solidFill>
                  <a:srgbClr val="7DCEA0"/>
                </a:solidFill>
                <a:latin typeface="Consolas"/>
              </a:rPr>
              <a:t>"</a:t>
            </a: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i</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c</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_</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C39BD3"/>
                </a:solidFill>
                <a:latin typeface="Consolas"/>
              </a:rPr>
              <a:t>enumerate</a:t>
            </a:r>
            <a:r>
              <a:rPr sz="1300" i="0">
                <a:solidFill>
                  <a:srgbClr val="AEB6BF"/>
                </a:solidFill>
                <a:latin typeface="Consolas"/>
              </a:rPr>
              <a:t>(</a:t>
            </a:r>
            <a:r>
              <a:rPr sz="1300" i="0">
                <a:solidFill>
                  <a:srgbClr val="E8EDF2"/>
                </a:solidFill>
                <a:latin typeface="Consolas"/>
              </a:rPr>
              <a:t>hits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7DCEA0"/>
                </a:solidFill>
                <a:latin typeface="Consolas"/>
              </a:rPr>
              <a:t>f</a:t>
            </a:r>
            <a:r>
              <a:rPr sz="1300" i="0">
                <a:solidFill>
                  <a:srgbClr val="7DCEA0"/>
                </a:solidFill>
                <a:latin typeface="Consolas"/>
              </a:rPr>
              <a:t>"""</a:t>
            </a:r>
            <a:r>
              <a:rPr sz="1300" i="0">
                <a:solidFill>
                  <a:srgbClr val="7DCEA0"/>
                </a:solidFill>
                <a:latin typeface="Consolas"/>
              </a:rPr>
              <a:t>ROLE: You answer questions about our internal documentation.</a:t>
            </a:r>
          </a:p>
          <a:p>
            <a:pPr>
              <a:lnSpc>
                <a:spcPct val="100000"/>
              </a:lnSpc>
              <a:spcAft>
                <a:spcPts val="0"/>
              </a:spcAft>
            </a:pPr>
            <a:r>
              <a:rPr sz="1300">
                <a:latin typeface="Consolas"/>
              </a:rPr>
              <a:t> </a:t>
            </a:r>
          </a:p>
          <a:p>
            <a:pPr>
              <a:lnSpc>
                <a:spcPct val="100000"/>
              </a:lnSpc>
              <a:spcAft>
                <a:spcPts val="0"/>
              </a:spcAft>
            </a:pPr>
            <a:r>
              <a:rPr sz="1300" i="0">
                <a:solidFill>
                  <a:srgbClr val="7DCEA0"/>
                </a:solidFill>
                <a:latin typeface="Consolas"/>
              </a:rPr>
              <a:t>CONTEXT (the ONLY permitted source):</a:t>
            </a:r>
          </a:p>
          <a:p>
            <a:pPr>
              <a:lnSpc>
                <a:spcPct val="100000"/>
              </a:lnSpc>
              <a:spcAft>
                <a:spcPts val="0"/>
              </a:spcAft>
            </a:pPr>
            <a:r>
              <a:rPr sz="1300" i="0">
                <a:solidFill>
                  <a:srgbClr val="7DCEA0"/>
                </a:solidFill>
                <a:latin typeface="Consolas"/>
              </a:rPr>
              <a:t>{</a:t>
            </a:r>
            <a:r>
              <a:rPr sz="1300" i="0">
                <a:solidFill>
                  <a:srgbClr val="E8EDF2"/>
                </a:solidFill>
                <a:latin typeface="Consolas"/>
              </a:rPr>
              <a:t>evidence</a:t>
            </a:r>
            <a:r>
              <a:rPr sz="1300" i="0">
                <a:solidFill>
                  <a:srgbClr val="7DCEA0"/>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7DCEA0"/>
                </a:solidFill>
                <a:latin typeface="Consolas"/>
              </a:rPr>
              <a:t>QUESTION: </a:t>
            </a:r>
            <a:r>
              <a:rPr sz="1300" i="0">
                <a:solidFill>
                  <a:srgbClr val="7DCEA0"/>
                </a:solidFill>
                <a:latin typeface="Consolas"/>
              </a:rPr>
              <a:t>{</a:t>
            </a:r>
            <a:r>
              <a:rPr sz="1300" i="0">
                <a:solidFill>
                  <a:srgbClr val="E8EDF2"/>
                </a:solidFill>
                <a:latin typeface="Consolas"/>
              </a:rPr>
              <a:t>question</a:t>
            </a:r>
            <a:r>
              <a:rPr sz="1300" i="0">
                <a:solidFill>
                  <a:srgbClr val="7DCEA0"/>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7DCEA0"/>
                </a:solidFill>
                <a:latin typeface="Consolas"/>
              </a:rPr>
              <a:t>RULES:</a:t>
            </a:r>
          </a:p>
          <a:p>
            <a:pPr>
              <a:lnSpc>
                <a:spcPct val="100000"/>
              </a:lnSpc>
              <a:spcAft>
                <a:spcPts val="0"/>
              </a:spcAft>
            </a:pPr>
            <a:r>
              <a:rPr sz="1300" i="0">
                <a:solidFill>
                  <a:srgbClr val="7DCEA0"/>
                </a:solidFill>
                <a:latin typeface="Consolas"/>
              </a:rPr>
              <a:t>- Answer only from the context above.</a:t>
            </a:r>
          </a:p>
          <a:p>
            <a:pPr>
              <a:lnSpc>
                <a:spcPct val="100000"/>
              </a:lnSpc>
              <a:spcAft>
                <a:spcPts val="0"/>
              </a:spcAft>
            </a:pPr>
            <a:r>
              <a:rPr sz="1300" i="0">
                <a:solidFill>
                  <a:srgbClr val="7DCEA0"/>
                </a:solidFill>
                <a:latin typeface="Consolas"/>
              </a:rPr>
              <a:t>- Cite the bracketed source number after each claim.</a:t>
            </a:r>
          </a:p>
          <a:p>
            <a:pPr>
              <a:lnSpc>
                <a:spcPct val="100000"/>
              </a:lnSpc>
              <a:spcAft>
                <a:spcPts val="0"/>
              </a:spcAft>
            </a:pPr>
            <a:r>
              <a:rPr sz="1300" i="0">
                <a:solidFill>
                  <a:srgbClr val="7DCEA0"/>
                </a:solidFill>
                <a:latin typeface="Consolas"/>
              </a:rPr>
              <a:t>- If the context does not contain the answer, reply exactly:</a:t>
            </a:r>
          </a:p>
          <a:p>
            <a:pPr>
              <a:lnSpc>
                <a:spcPct val="100000"/>
              </a:lnSpc>
              <a:spcAft>
                <a:spcPts val="0"/>
              </a:spcAft>
            </a:pPr>
            <a:r>
              <a:rPr sz="1300" i="0">
                <a:solidFill>
                  <a:srgbClr val="7DCEA0"/>
                </a:solidFill>
                <a:latin typeface="Consolas"/>
              </a:rPr>
              <a:t>  </a:t>
            </a:r>
            <a:r>
              <a:rPr sz="1300" i="0">
                <a:solidFill>
                  <a:srgbClr val="7DCEA0"/>
                </a:solidFill>
                <a:latin typeface="Consolas"/>
              </a:rPr>
              <a:t>"</a:t>
            </a:r>
            <a:r>
              <a:rPr sz="1300" i="0">
                <a:solidFill>
                  <a:srgbClr val="7DCEA0"/>
                </a:solidFill>
                <a:latin typeface="Consolas"/>
              </a:rPr>
              <a:t>Not covered in the supplied documents.</a:t>
            </a:r>
            <a:r>
              <a:rPr sz="1300" i="0">
                <a:solidFill>
                  <a:srgbClr val="7DCEA0"/>
                </a:solidFill>
                <a:latin typeface="Consolas"/>
              </a:rPr>
              <a:t>"</a:t>
            </a:r>
          </a:p>
          <a:p>
            <a:pPr>
              <a:lnSpc>
                <a:spcPct val="100000"/>
              </a:lnSpc>
              <a:spcAft>
                <a:spcPts val="0"/>
              </a:spcAft>
            </a:pPr>
            <a:r>
              <a:rPr sz="1300" i="0">
                <a:solidFill>
                  <a:srgbClr val="7DCEA0"/>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C39BD3"/>
                </a:solidFill>
                <a:latin typeface="Consolas"/>
              </a:rPr>
              <a:t>print</a:t>
            </a:r>
            <a:r>
              <a:rPr sz="1300" i="0">
                <a:solidFill>
                  <a:srgbClr val="AEB6BF"/>
                </a:solidFill>
                <a:latin typeface="Consolas"/>
              </a:rPr>
              <a:t>(</a:t>
            </a:r>
            <a:r>
              <a:rPr sz="1300" i="0">
                <a:solidFill>
                  <a:srgbClr val="E8EDF2"/>
                </a:solidFill>
                <a:latin typeface="Consolas"/>
              </a:rPr>
              <a:t>build_prompt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What is our password rotation policy?</a:t>
            </a:r>
            <a:r>
              <a:rPr sz="1300" i="0">
                <a:solidFill>
                  <a:srgbClr val="7DCEA0"/>
                </a:solidFill>
                <a:latin typeface="Consolas"/>
              </a:rPr>
              <a:t>"</a:t>
            </a:r>
            <a:r>
              <a:rPr sz="1300" i="0">
                <a:solidFill>
                  <a:srgbClr val="AEB6BF"/>
                </a:solidFill>
                <a:latin typeface="Consolas"/>
              </a:rPr>
              <a:t>)</a:t>
            </a:r>
            <a:r>
              <a:rPr sz="1300" i="0">
                <a:solidFill>
                  <a:srgbClr val="AEB6BF"/>
                </a:solidFill>
                <a:latin typeface="Consolas"/>
              </a:rPr>
              <a:t>)</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a:p>
            <a:pPr algn="r">
              <a:lnSpc>
                <a:spcPct val="100000"/>
              </a:lnSpc>
            </a:pPr>
            <a:r>
              <a:rPr sz="1300">
                <a:solidFill>
                  <a:srgbClr val="4F5D6A"/>
                </a:solidFill>
                <a:latin typeface="Consolas"/>
              </a:rPr>
              <a:t>20</a:t>
            </a:r>
          </a:p>
          <a:p>
            <a:pPr algn="r">
              <a:lnSpc>
                <a:spcPct val="100000"/>
              </a:lnSpc>
            </a:pPr>
            <a:r>
              <a:rPr sz="1300">
                <a:solidFill>
                  <a:srgbClr val="4F5D6A"/>
                </a:solidFill>
                <a:latin typeface="Consolas"/>
              </a:rPr>
              <a:t>21</a:t>
            </a:r>
          </a:p>
          <a:p>
            <a:pPr algn="r">
              <a:lnSpc>
                <a:spcPct val="100000"/>
              </a:lnSpc>
            </a:pPr>
            <a:r>
              <a:rPr sz="1300">
                <a:solidFill>
                  <a:srgbClr val="4F5D6A"/>
                </a:solidFill>
                <a:latin typeface="Consolas"/>
              </a:rPr>
              <a:t>22</a:t>
            </a:r>
          </a:p>
          <a:p>
            <a:pPr algn="r">
              <a:lnSpc>
                <a:spcPct val="100000"/>
              </a:lnSpc>
            </a:pPr>
            <a:r>
              <a:rPr sz="1300">
                <a:solidFill>
                  <a:srgbClr val="4F5D6A"/>
                </a:solidFill>
                <a:latin typeface="Consolas"/>
              </a:rPr>
              <a:t>23</a:t>
            </a:r>
          </a:p>
          <a:p>
            <a:pPr algn="r">
              <a:lnSpc>
                <a:spcPct val="100000"/>
              </a:lnSpc>
            </a:pPr>
            <a:r>
              <a:rPr sz="1300">
                <a:solidFill>
                  <a:srgbClr val="4F5D6A"/>
                </a:solidFill>
                <a:latin typeface="Consolas"/>
              </a:rPr>
              <a:t>24</a:t>
            </a:r>
          </a:p>
          <a:p>
            <a:pPr algn="r">
              <a:lnSpc>
                <a:spcPct val="100000"/>
              </a:lnSpc>
            </a:pPr>
            <a:r>
              <a:rPr sz="1300">
                <a:solidFill>
                  <a:srgbClr val="4F5D6A"/>
                </a:solidFill>
                <a:latin typeface="Consolas"/>
              </a:rPr>
              <a:t>25</a:t>
            </a:r>
          </a:p>
          <a:p>
            <a:pPr algn="r">
              <a:lnSpc>
                <a:spcPct val="100000"/>
              </a:lnSpc>
            </a:pPr>
            <a:r>
              <a:rPr sz="1300">
                <a:solidFill>
                  <a:srgbClr val="4F5D6A"/>
                </a:solidFill>
                <a:latin typeface="Consolas"/>
              </a:rPr>
              <a:t>26</a:t>
            </a:r>
          </a:p>
          <a:p>
            <a:pPr algn="r">
              <a:lnSpc>
                <a:spcPct val="100000"/>
              </a:lnSpc>
            </a:pPr>
            <a:r>
              <a:rPr sz="1300">
                <a:solidFill>
                  <a:srgbClr val="4F5D6A"/>
                </a:solidFill>
                <a:latin typeface="Consolas"/>
              </a:rPr>
              <a:t>27</a:t>
            </a:r>
          </a:p>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a:p>
            <a:pPr algn="r">
              <a:lnSpc>
                <a:spcPct val="100000"/>
              </a:lnSpc>
            </a:pPr>
            <a:r>
              <a:rPr sz="1300">
                <a:solidFill>
                  <a:srgbClr val="4F5D6A"/>
                </a:solidFill>
                <a:latin typeface="Consolas"/>
              </a:rPr>
              <a:t>32</a:t>
            </a:r>
          </a:p>
          <a:p>
            <a:pPr algn="r">
              <a:lnSpc>
                <a:spcPct val="100000"/>
              </a:lnSpc>
            </a:pPr>
            <a:r>
              <a:rPr sz="1300">
                <a:solidFill>
                  <a:srgbClr val="4F5D6A"/>
                </a:solidFill>
                <a:latin typeface="Consolas"/>
              </a:rPr>
              <a:t>33</a:t>
            </a:r>
          </a:p>
          <a:p>
            <a:pPr algn="r">
              <a:lnSpc>
                <a:spcPct val="100000"/>
              </a:lnSpc>
            </a:pPr>
            <a:r>
              <a:rPr sz="1300">
                <a:solidFill>
                  <a:srgbClr val="4F5D6A"/>
                </a:solidFill>
                <a:latin typeface="Consolas"/>
              </a:rPr>
              <a:t>34</a:t>
            </a:r>
          </a:p>
          <a:p>
            <a:pPr algn="r">
              <a:lnSpc>
                <a:spcPct val="100000"/>
              </a:lnSpc>
            </a:pPr>
            <a:r>
              <a:rPr sz="13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205973"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A Minimal RAG Pipeline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§21.5  ·  Handout p. 137     </a:t>
            </a:r>
            <a:fld id="{074F2B8D-BF81-444D-8EC1-66277C9CDF44}" type="slidenum">
              <a:rPr lang="en-GB" sz="1000">
                <a:solidFill>
                  <a:srgbClr val="8795A1"/>
                </a:solidFill>
                <a:latin typeface="Segoe UI"/>
              </a:rPr>
              <a:t>38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evaluation you must not skip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17064"/>
          </a:xfrm>
          <a:prstGeom prst="roundRect">
            <a:avLst>
              <a:gd name="adj" fmla="val 378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4" name="!!code-text" descr="# --- 5. the evaluation you must not skip ------------------------------ # Build 30-50 question/answer pairs from documents you know. Measure: # (a) retrieval hit rate -- was the right chunk in the top k at all? # (b) groundedness -- is every claim traceable to a cited chunk? # (c) refusal rate -- does it correctly refuse unanswerable questions? # (a) is where most RAG systems actually fail; a perfect model cannot answer # from evidence it was never given."/>
          <p:cNvSpPr txBox="1"/>
          <p:nvPr/>
        </p:nvSpPr>
        <p:spPr>
          <a:xfrm>
            <a:off x="1362456" y="2523744"/>
            <a:ext cx="9987991" cy="192328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--- 5. the evaluation you must not skip ------------------------------</a:t>
            </a:r>
          </a:p>
          <a:p>
            <a:pPr>
              <a:lnSpc>
                <a:spcPct val="100000"/>
              </a:lnSpc>
              <a:spcAft>
                <a:spcPts val="0"/>
              </a:spcAft>
            </a:pPr>
            <a:r>
              <a:rPr sz="1700" i="1">
                <a:solidFill>
                  <a:srgbClr val="8795A1"/>
                </a:solidFill>
                <a:latin typeface="Consolas"/>
              </a:rPr>
              <a:t># Build 30-50 question/answer pairs from documents you know. Measure:</a:t>
            </a:r>
          </a:p>
          <a:p>
            <a:pPr>
              <a:lnSpc>
                <a:spcPct val="100000"/>
              </a:lnSpc>
              <a:spcAft>
                <a:spcPts val="0"/>
              </a:spcAft>
            </a:pPr>
            <a:r>
              <a:rPr sz="1700" i="1">
                <a:solidFill>
                  <a:srgbClr val="8795A1"/>
                </a:solidFill>
                <a:latin typeface="Consolas"/>
              </a:rPr>
              <a:t>#   (a) retrieval hit rate -- was the right chunk in the top k at all?</a:t>
            </a:r>
          </a:p>
          <a:p>
            <a:pPr>
              <a:lnSpc>
                <a:spcPct val="100000"/>
              </a:lnSpc>
              <a:spcAft>
                <a:spcPts val="0"/>
              </a:spcAft>
            </a:pPr>
            <a:r>
              <a:rPr sz="1700" i="1">
                <a:solidFill>
                  <a:srgbClr val="8795A1"/>
                </a:solidFill>
                <a:latin typeface="Consolas"/>
              </a:rPr>
              <a:t>#   (b) groundedness       -- is every claim traceable to a cited chunk?</a:t>
            </a:r>
          </a:p>
          <a:p>
            <a:pPr>
              <a:lnSpc>
                <a:spcPct val="100000"/>
              </a:lnSpc>
              <a:spcAft>
                <a:spcPts val="0"/>
              </a:spcAft>
            </a:pPr>
            <a:r>
              <a:rPr sz="1700" i="1">
                <a:solidFill>
                  <a:srgbClr val="8795A1"/>
                </a:solidFill>
                <a:latin typeface="Consolas"/>
              </a:rPr>
              <a:t>#   (c) refusal rate       -- does it correctly refuse unanswerable questions?</a:t>
            </a:r>
          </a:p>
          <a:p>
            <a:pPr>
              <a:lnSpc>
                <a:spcPct val="100000"/>
              </a:lnSpc>
              <a:spcAft>
                <a:spcPts val="0"/>
              </a:spcAft>
            </a:pPr>
            <a:r>
              <a:rPr sz="1700" i="1">
                <a:solidFill>
                  <a:srgbClr val="8795A1"/>
                </a:solidFill>
                <a:latin typeface="Consolas"/>
              </a:rPr>
              <a:t># (a) is where most RAG systems actually fail; a perfect model cannot answer</a:t>
            </a:r>
          </a:p>
          <a:p>
            <a:pPr>
              <a:lnSpc>
                <a:spcPct val="100000"/>
              </a:lnSpc>
              <a:spcAft>
                <a:spcPts val="0"/>
              </a:spcAft>
            </a:pPr>
            <a:r>
              <a:rPr sz="1700" i="1">
                <a:solidFill>
                  <a:srgbClr val="8795A1"/>
                </a:solidFill>
                <a:latin typeface="Consolas"/>
              </a:rPr>
              <a:t># from evidence it was never given.</a:t>
            </a:r>
          </a:p>
        </p:txBody>
      </p:sp>
      <p:sp>
        <p:nvSpPr>
          <p:cNvPr id="15" name="!!code-num"/>
          <p:cNvSpPr txBox="1"/>
          <p:nvPr/>
        </p:nvSpPr>
        <p:spPr>
          <a:xfrm>
            <a:off x="768096" y="2523744"/>
            <a:ext cx="393192" cy="192328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36</a:t>
            </a:r>
          </a:p>
          <a:p>
            <a:pPr algn="r">
              <a:lnSpc>
                <a:spcPct val="100000"/>
              </a:lnSpc>
            </a:pPr>
            <a:r>
              <a:rPr sz="1700">
                <a:solidFill>
                  <a:srgbClr val="4F5D6A"/>
                </a:solidFill>
                <a:latin typeface="Consolas"/>
              </a:rPr>
              <a:t>37</a:t>
            </a:r>
          </a:p>
          <a:p>
            <a:pPr algn="r">
              <a:lnSpc>
                <a:spcPct val="100000"/>
              </a:lnSpc>
            </a:pPr>
            <a:r>
              <a:rPr sz="1700">
                <a:solidFill>
                  <a:srgbClr val="4F5D6A"/>
                </a:solidFill>
                <a:latin typeface="Consolas"/>
              </a:rPr>
              <a:t>38</a:t>
            </a:r>
          </a:p>
          <a:p>
            <a:pPr algn="r">
              <a:lnSpc>
                <a:spcPct val="100000"/>
              </a:lnSpc>
            </a:pPr>
            <a:r>
              <a:rPr sz="1700">
                <a:solidFill>
                  <a:srgbClr val="4F5D6A"/>
                </a:solidFill>
                <a:latin typeface="Consolas"/>
              </a:rPr>
              <a:t>39</a:t>
            </a:r>
          </a:p>
          <a:p>
            <a:pPr algn="r">
              <a:lnSpc>
                <a:spcPct val="100000"/>
              </a:lnSpc>
            </a:pPr>
            <a:r>
              <a:rPr sz="1700">
                <a:solidFill>
                  <a:srgbClr val="4F5D6A"/>
                </a:solidFill>
                <a:latin typeface="Consolas"/>
              </a:rPr>
              <a:t>40</a:t>
            </a:r>
          </a:p>
          <a:p>
            <a:pPr algn="r">
              <a:lnSpc>
                <a:spcPct val="100000"/>
              </a:lnSpc>
            </a:pPr>
            <a:r>
              <a:rPr sz="1700">
                <a:solidFill>
                  <a:srgbClr val="4F5D6A"/>
                </a:solidFill>
                <a:latin typeface="Consolas"/>
              </a:rPr>
              <a:t>41</a:t>
            </a:r>
          </a:p>
          <a:p>
            <a:pPr algn="r">
              <a:lnSpc>
                <a:spcPct val="100000"/>
              </a:lnSpc>
            </a:pPr>
            <a:r>
              <a:rPr sz="1700">
                <a:solidFill>
                  <a:srgbClr val="4F5D6A"/>
                </a:solidFill>
                <a:latin typeface="Consolas"/>
              </a:rPr>
              <a:t>42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945478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in two sentences why hallucination is a consequence of the generation mechanism rather than a bug to be patched.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21  ·  Generative AI and Large Language Models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140  ·  answers in Appendix D     </a:t>
            </a:r>
            <a:fld id="{C096BD11-FC13-4978-904E-82CAD795281E}"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in two sentences why hallucination is a consequence of the generation mechanism rather than a bug to be patched.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model samples the most </a:t>
            </a:r>
            <a:r>
              <a:rPr sz="2200" b="0" i="1">
                <a:solidFill>
                  <a:srgbClr val="1C252B"/>
                </a:solidFill>
                <a:latin typeface="Segoe UI"/>
              </a:rPr>
              <a:t>plausible</a:t>
            </a:r>
            <a:r>
              <a:rPr sz="2200" b="0" i="0">
                <a:solidFill>
                  <a:srgbClr val="1C252B"/>
                </a:solidFill>
                <a:latin typeface="Segoe UI"/>
              </a:rPr>
              <a:t> next token given the context; it has no separate fact store to check against and no representation of its own uncertainty about the world. A fabricated citation is produced by the same process, with the same fluency, as a correct one.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  answers in Appendix D     </a:t>
            </a:r>
            <a:fld id="{C9989FB9-3278-4A33-B6A9-6311ACB85281}"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95240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assistant does not know your company’s leave policy. Should you fine-tune or use RAG? Justify.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21  ·  Generative AI and Large Language Models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140  ·  answers in Appendix D     </a:t>
            </a:r>
            <a:fld id="{B9D4101B-6328-4989-9505-6A80C1AE356F}"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Your assistant does not know your company’s leave policy. Should you fine-tune or use RAG? Justify.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RAG. Fine-tuning teaches behaviour and format, not facts, and a policy that changes would require retraining every time. Retrieval also supplies citations, so the answer can be checked.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  answers in Appendix D     </a:t>
            </a:r>
            <a:fld id="{E1ABACE2-4680-42D9-8F55-F9471B7AAF8C}"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45002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 need the same answer for the same input every time. Set the temperature to 0 and you are most of the way there — but why is that still not a guarantee, and what else would you pin down?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21  ·  Generative AI and Large Language Models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140  ·  answers in Appendix D     </a:t>
            </a:r>
            <a:fld id="{9D905486-BA5F-4A16-9A18-EF1853C8CBA7}"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You need the same answer for the same input every time. Set the temperature to 0 and you are most of the way there — but why is that still not a guarantee, and what else would you pin down?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Temperature 0, so the model takes the highest-probability token rather than sampling — the right setting for extraction, classification and anything that must be consistent between runs. It is not a guarantee, though: GPU floating-point addition is not associative, so batching your request with different neighbours changes the order of the sums and can flip a close contest between two tokens. Pin the model version, fix any seed the provider offers, keep the prompt under version control, and judge your evaluation suite on semantic equivalence rather than byte-identical text.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  answers in Appendix D     </a:t>
            </a:r>
            <a:fld id="{3D935285-DD50-414C-9D9D-F481E98A740B}"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94764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857F69CD-06EA-41D8-93B6-BF2F1BC2EB51}" type="slidenum">
              <a:rPr lang="en-GB" sz="1000">
                <a:solidFill>
                  <a:srgbClr val="8795A1"/>
                </a:solidFill>
                <a:latin typeface="Segoe UI"/>
              </a:rPr>
              <a:t>45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An LLM samples the next token from a learned distribution. Fluency and fabrication come from the same mechanism.</a:t>
            </a:r>
          </a:p>
        </p:txBody>
      </p:sp>
      <p:sp>
        <p:nvSpPr>
          <p:cNvPr id="10" name="!!sb1">
            <a:extLst>
              <a:ext uri="{C183D7F6-B498-43B3-948B-1728B52AA6E4}">
                <adec:decorative xmlns:adec="http://schemas.microsoft.com/office/drawing/2017/decorative" val="1"/>
              </a:ext>
            </a:extLst>
          </p:cNvPr>
          <p:cNvSpPr/>
          <p:nvPr/>
        </p:nvSpPr>
        <p:spPr>
          <a:xfrm>
            <a:off x="658368" y="24999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548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908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Temperature trades determinism against variety and should be set from the task.</a:t>
            </a:r>
          </a:p>
        </p:txBody>
      </p:sp>
      <p:sp>
        <p:nvSpPr>
          <p:cNvPr id="13" name="!!sb2">
            <a:extLst>
              <a:ext uri="{C183D7F6-B498-43B3-948B-1728B52AA6E4}">
                <adec:decorative xmlns:adec="http://schemas.microsoft.com/office/drawing/2017/decorative" val="1"/>
              </a:ext>
            </a:extLst>
          </p:cNvPr>
          <p:cNvSpPr/>
          <p:nvPr/>
        </p:nvSpPr>
        <p:spPr>
          <a:xfrm>
            <a:off x="658368" y="30851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1400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076041"/>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Adapt in order: prompting, then RAG, then fine-tuning. Fine-tuning teaches behaviour, not facts.</a:t>
            </a:r>
          </a:p>
        </p:txBody>
      </p:sp>
      <p:sp>
        <p:nvSpPr>
          <p:cNvPr id="16" name="!!sb3">
            <a:extLst>
              <a:ext uri="{C183D7F6-B498-43B3-948B-1728B52AA6E4}">
                <adec:decorative xmlns:adec="http://schemas.microsoft.com/office/drawing/2017/decorative" val="1"/>
              </a:ext>
            </a:extLst>
          </p:cNvPr>
          <p:cNvSpPr/>
          <p:nvPr/>
        </p:nvSpPr>
        <p:spPr>
          <a:xfrm>
            <a:off x="658368" y="367040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72526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661257"/>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good prompt has role, context, task, format and examples, plus an explicit instruction on what to do when evidence is missing.</a:t>
            </a:r>
          </a:p>
        </p:txBody>
      </p:sp>
      <p:sp>
        <p:nvSpPr>
          <p:cNvPr id="19" name="!!sb4">
            <a:extLst>
              <a:ext uri="{C183D7F6-B498-43B3-948B-1728B52AA6E4}">
                <adec:decorative xmlns:adec="http://schemas.microsoft.com/office/drawing/2017/decorative" val="1"/>
              </a:ext>
            </a:extLst>
          </p:cNvPr>
          <p:cNvSpPr/>
          <p:nvPr/>
        </p:nvSpPr>
        <p:spPr>
          <a:xfrm>
            <a:off x="658368" y="44238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4787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414723"/>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RAG grounds answers in your own documents and, crucially, makes them checkable through citations.</a:t>
            </a:r>
          </a:p>
        </p:txBody>
      </p:sp>
      <p:sp>
        <p:nvSpPr>
          <p:cNvPr id="22" name="!!sb5">
            <a:extLst>
              <a:ext uri="{C183D7F6-B498-43B3-948B-1728B52AA6E4}">
                <adec:decorative xmlns:adec="http://schemas.microsoft.com/office/drawing/2017/decorative" val="1"/>
              </a:ext>
            </a:extLst>
          </p:cNvPr>
          <p:cNvSpPr/>
          <p:nvPr/>
        </p:nvSpPr>
        <p:spPr>
          <a:xfrm>
            <a:off x="658368" y="517733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23219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168188"/>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Generative systems have no single correct answer, so evaluate across groundedness, relevance, correctness, safety, consistency and cost — with humans in the loop for consequential output.</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19645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5A498257-89E7-4DB2-B5D2-6D9D910754D9}" type="slidenum">
              <a:rPr lang="en-GB" sz="1000">
                <a:solidFill>
                  <a:srgbClr val="8795A1"/>
                </a:solidFill>
                <a:latin typeface="Segoe UI"/>
              </a:rPr>
              <a:t>46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An LLM generates text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looking up facts in a database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predicting the next token repeatedly</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searching the web</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translating from an internal logic</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4526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FB4C8A23-873A-4103-B958-E5B90211E1E5}" type="slidenum">
              <a:rPr lang="en-GB" sz="1000">
                <a:solidFill>
                  <a:srgbClr val="8795A1"/>
                </a:solidFill>
                <a:latin typeface="Segoe UI"/>
              </a:rPr>
              <a:t>47</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To make a model answer from your private, frequently-updated documents, the appropriate technique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pre-training</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fine-tuning</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RAG</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raising the temperature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94074"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21  ·  Generative AI and Large Language Models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140     </a:t>
            </a:r>
            <a:fld id="{F30B1B7B-B1A1-4F6C-8B7C-63D7464BC52A}" type="slidenum">
              <a:rPr lang="en-GB" sz="1000">
                <a:solidFill>
                  <a:srgbClr val="8795A1"/>
                </a:solidFill>
                <a:latin typeface="Segoe UI"/>
              </a:rPr>
              <a:t>48</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Name the five components of a well-formed prompt and say what each contributes.</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citations are the most valuable output of a RAG system.</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reasons why generative systems cannot be evaluated with precision and recall.</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Design a RAG assistant that answers student questions about a module. Specify the document store, chunking strategy, retrieval method, prompt rules, and the three evaluation measures you would report — plus the one failure mode you would monitor most closely.</a:t>
            </a:r>
          </a:p>
        </p:txBody>
      </p:sp>
      <p:sp>
        <p:nvSpPr>
          <p:cNvPr id="19" name="!!rt4">
            <a:extLst>
              <a:ext uri="{C183D7F6-B498-43B3-948B-1728B52AA6E4}">
                <adec:decorative xmlns:adec="http://schemas.microsoft.com/office/drawing/2017/decorative" val="1"/>
              </a:ext>
            </a:extLst>
          </p:cNvPr>
          <p:cNvSpPr/>
          <p:nvPr/>
        </p:nvSpPr>
        <p:spPr>
          <a:xfrm>
            <a:off x="658368" y="4741468"/>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78261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2318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Your security team wants an LLM to summarise alerts. Write the threat model: list three ways this could be attacked or could fail dangerously, and state a mitigation for each.</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42885" cy="54864"/>
          </a:xfrm>
          <a:prstGeom prst="rect">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7A3A95"/>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854A9D"/>
                </a:solidFill>
                <a:latin typeface="Segoe UI Black"/>
              </a:rPr>
              <a:t>21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22 — Agentic AI</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21, pages 134–140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Minimal RAG; agent loop with guardrails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F2D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CB4D7"/>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2 (Ch 17–22)</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21  ·  Generative AI and Large Language Models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05F293FE-B354-467C-864B-D9DE6EE25BBA}" type="slidenum">
              <a:rPr lang="en-GB" sz="1000">
                <a:solidFill>
                  <a:srgbClr val="D5DEE5"/>
                </a:solidFill>
                <a:latin typeface="Segoe UI"/>
              </a:rPr>
              <a:t>49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21: Generative AI and Large Language Models</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