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29.svg" ContentType="image/svg+xml"/>
  <Override PartName="/ppt/media/image30.svg" ContentType="image/svg+xml"/>
  <Override PartName="/ppt/media/image32.svg" ContentType="image/svg+xml"/>
  <Override PartName="/ppt/media/image34.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EE02BD2-3B33-424E-BFD6-AB5F7C13D400}">
          <p14:sldIdLst>
            <p14:sldId id="256"/>
            <p14:sldId id="257"/>
            <p14:sldId id="258"/>
          </p14:sldIdLst>
        </p14:section>
        <p14:section name="Part I" id="{438C3EDD-94E0-4589-80EC-E193E58F8356}">
          <p14:sldIdLst>
            <p14:sldId id="259"/>
            <p14:sldId id="260"/>
          </p14:sldIdLst>
        </p14:section>
        <p14:section name="Part II" id="{25927A3F-21A9-46FB-93A8-F8FCCD5CAF51}">
          <p14:sldIdLst>
            <p14:sldId id="261"/>
            <p14:sldId id="262"/>
          </p14:sldIdLst>
        </p14:section>
        <p14:section name="Part III" id="{CFCE9FF5-1510-48C8-A7E7-4B5B23F7DE82}">
          <p14:sldIdLst>
            <p14:sldId id="263"/>
            <p14:sldId id="264"/>
          </p14:sldIdLst>
        </p14:section>
        <p14:section name="Part IV" id="{C32A2516-6807-4698-8318-7621312743B0}">
          <p14:sldIdLst>
            <p14:sldId id="265"/>
            <p14:sldId id="266"/>
          </p14:sldIdLst>
        </p14:section>
        <p14:section name="Part V" id="{676F3631-88E0-4BA0-A237-59E55823B5FE}">
          <p14:sldIdLst>
            <p14:sldId id="267"/>
            <p14:sldId id="268"/>
          </p14:sldIdLst>
        </p14:section>
        <p14:section name="Part VI" id="{26236A8E-1CC5-40B0-ACD8-32505C2EFEDB}">
          <p14:sldIdLst>
            <p14:sldId id="269"/>
            <p14:sldId id="270"/>
          </p14:sldIdLst>
        </p14:section>
        <p14:section name="Schedule and assessment" id="{A696B942-B08F-48B3-8FBC-EE00D58A087E}">
          <p14:sldIdLst>
            <p14:sldId id="271"/>
            <p14:sldId id="272"/>
            <p14:sldId id="273"/>
            <p14:sldId id="274"/>
            <p14:sldId id="275"/>
          </p14:sldIdLst>
        </p14:section>
        <p14:section name="Wrap-up" id="{9BBA316E-82F4-4442-9453-87DF3D697482}">
          <p14:sldIdLst>
            <p14:sldId id="27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semester with this deck. It answers: what is this course, how is it sequenced, and how will I be assessed?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Thirty-two chapters in six parts. The two application chapters the course is built towards are 25 and 26.</a:t>
            </a:r>
          </a:p>
          <a:p/>
          <a:p>
            <a:r>
              <a:t>Figure F.1 (handout p. 0): Course map. The six parts run left to right in the order they are taught; the chapters in each column are the order within that part. The four application lenses run beneath the whole course, appearing in every chapter.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chapter carries a Four Lenses panel. Students work in one of these domains for the capstone.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you can learn from data, you must know what data is, what it can and cannot tell you, and the small amount of mathematics that lets you say so precisely. Part I builds that ground floor.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P1.1 (handout p. 2): Reading path through Part I. Chapters 1–3 establish what the field is and what it works on; Chapters 4–6 supply the mathematical and statistical vocabulary used for the rest of the book.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a data scientist’s working life is spent here: making messy data usable, looking at it honestly, and being careful about what a sample is entitled to say about a population. No model can rescue a project that skipped this part.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P2.1 (handout p. 42): Reading path through Part II. Each chapter takes the data one step further from its raw state towards a defensible claim.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 learning is the point where the course turns from describing data to learning from it. Note the order of the chapters: you learn to evaluate a model (Chapter 14) before you learn to build fancier ones (Chapters 15–16). That order is not an accident. Note the pace too: every algorithm here was already built from first principles in Machine Learning Fall 2026, taken immediately before this course, so this Part revises and applies rather than teaches from zero.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P3.1 (handout p. 69): Reading path through Part III. Evaluation (Chapter 14, highlighted) is the hinge of the part: everything after it depends on being able to tell a good model from a lucky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learning is not a different subject from Part III — it is the same supervised learning, with models flexible enough to learn their own features. Part IV follows that flexibility from a single neuron all the way to systems that write, reason and act.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P4.1 (handout p. 108): Reading path through Part IV. The sequence widens what a network sees: one input, then structured inputs, then inputs over time, then language — which is what makes generative and agentic systems possible.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in a notebook helps nobody. Part V is about data science as part of a running system — pipelines that feed it, infrastructure that hosts it, the two domains this course is built towards, and the operations discipline that keeps it correct after launch.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P5.1 (handout p. 149): Reading path through Part V. Chapters 25 and 26 (highlighted) are the application chapters the whole course builds towards; the dashed arrows show the earlier chapters that make them possible.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skill is the entry ticket, not the job. Part VI covers what separates a student who can fit a model from a professional who can be trusted with one: ethics, method, delivery, and the ability to make an audience understand.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P6.1 (handout p. 182): Reading path through Part VI. The four questions beneath the chapters are the ones a professional must answer about every piece of work; the capstone requires all four at once.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G.1 (handout p. 242): Chapter dependency map. The outlined chapters cannot be skipped; the arrows show why Chapters 25 and 26 are placed in Part V rather than earlier.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first session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9.png"/><Relationship Id="rId7" Type="http://schemas.openxmlformats.org/officeDocument/2006/relationships/image" Target="../media/image10.svg"/><Relationship Id="rId8" Type="http://schemas.openxmlformats.org/officeDocument/2006/relationships/image" Target="../media/image11.png"/><Relationship Id="rId9" Type="http://schemas.openxmlformats.org/officeDocument/2006/relationships/image" Target="../media/image12.svg"/><Relationship Id="rId10" Type="http://schemas.openxmlformats.org/officeDocument/2006/relationships/image" Target="../media/image13.png"/><Relationship Id="rId11" Type="http://schemas.openxmlformats.org/officeDocument/2006/relationships/image" Target="../media/image14.svg"/><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image" Target="../media/image26.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9.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30.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5425135" y="-457200"/>
            <a:ext cx="6400800" cy="475488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32</a:t>
            </a:r>
          </a:p>
        </p:txBody>
      </p:sp>
      <p:sp>
        <p:nvSpPr>
          <p:cNvPr id="2" name="!!title"/>
          <p:cNvSpPr>
            <a:spLocks noGrp="1"/>
          </p:cNvSpPr>
          <p:nvPr>
            <p:ph type="title"/>
          </p:nvPr>
        </p:nvSpPr>
        <p:spPr>
          <a:xfrm>
            <a:off x="658368" y="1920240"/>
            <a:ext cx="8503920" cy="1188720"/>
          </a:xfrm>
        </p:spPr>
        <p:txBody>
          <a:bodyPr wrap="square" lIns="0" rIns="0" tIns="0" bIns="0" anchor="t">
            <a:noAutofit/>
          </a:bodyPr>
          <a:lstStyle/>
          <a:p>
            <a:pPr algn="l">
              <a:lnSpc>
                <a:spcPct val="96000"/>
              </a:lnSpc>
            </a:pPr>
            <a:r>
              <a:rPr sz="5400" b="0">
                <a:solidFill>
                  <a:srgbClr val="FFFFFF"/>
                </a:solidFill>
                <a:latin typeface="Segoe UI Semibold"/>
              </a:rPr>
              <a:t>Data Science</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k"/>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BSIT  ·  FALL 2026</a:t>
            </a:r>
          </a:p>
        </p:txBody>
      </p:sp>
      <p:sp>
        <p:nvSpPr>
          <p:cNvPr id="6" name="!!tsub"/>
          <p:cNvSpPr txBox="1"/>
          <p:nvPr/>
        </p:nvSpPr>
        <p:spPr>
          <a:xfrm>
            <a:off x="658368" y="3200400"/>
            <a:ext cx="8503920" cy="457200"/>
          </a:xfrm>
          <a:prstGeom prst="rect">
            <a:avLst/>
          </a:prstGeom>
          <a:noFill/>
        </p:spPr>
        <p:txBody>
          <a:bodyPr wrap="square" anchor="t" lIns="0" rIns="0" tIns="0" bIns="0">
            <a:noAutofit/>
          </a:bodyPr>
          <a:lstStyle/>
          <a:p>
            <a:pPr algn="l">
              <a:lnSpc>
                <a:spcPct val="100000"/>
              </a:lnSpc>
              <a:spcBef>
                <a:spcPts val="0"/>
              </a:spcBef>
              <a:spcAft>
                <a:spcPts val="0"/>
              </a:spcAft>
            </a:pPr>
            <a:r>
              <a:rPr sz="2600" b="0" i="0">
                <a:solidFill>
                  <a:srgbClr val="DFE7EC"/>
                </a:solidFill>
                <a:latin typeface="Segoe UI Semibold"/>
              </a:rPr>
              <a:t>From Foundations to Intelligent Systems</a:t>
            </a:r>
          </a:p>
        </p:txBody>
      </p:sp>
      <p:sp>
        <p:nvSpPr>
          <p:cNvPr id="7" name="!!tsub2"/>
          <p:cNvSpPr txBox="1"/>
          <p:nvPr/>
        </p:nvSpPr>
        <p:spPr>
          <a:xfrm>
            <a:off x="658368" y="4160520"/>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C3D2DB"/>
                </a:solidFill>
                <a:latin typeface="Segoe UI"/>
              </a:rPr>
              <a:t>Six parts  ·  32 chapters  ·  16 weeks  ·  four application domains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whole course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F.1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front matter     </a:t>
            </a:r>
            <a:fld id="{78E0D01E-4CB5-4DA0-8477-526DDC276114}" type="slidenum">
              <a:rPr lang="en-GB" sz="1000">
                <a:solidFill>
                  <a:srgbClr val="8795A1"/>
                </a:solidFill>
                <a:latin typeface="Segoe UI"/>
              </a:rPr>
              <a:t>2</a:t>
            </a:fld>
          </a:p>
        </p:txBody>
      </p:sp>
      <p:pic>
        <p:nvPicPr>
          <p:cNvPr id="6" name="!!figure" descr="Figure F.1. Course map. The six parts run left to right in the order they are taught; the chapters in each column are the order within that part. The four application lenses run beneath the whole course, appearing in every chapte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83106"/>
            <a:ext cx="10874959" cy="3479096"/>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Course map. The six parts run left to right in the order they are taught; the chapters in each column are the order within that part. The four application lenses run beneath the whole course, appearing in every chapter.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16111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domains, every chapter</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THE SPINE OF 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front matter     </a:t>
            </a:r>
            <a:fld id="{D977E9B9-9CE8-43E1-A2A7-2FFA2396C8AA}" type="slidenum">
              <a:rPr lang="en-GB" sz="1000">
                <a:solidFill>
                  <a:srgbClr val="8795A1"/>
                </a:solidFill>
                <a:latin typeface="Segoe UI"/>
              </a:rPr>
              <a:t>3</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squar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
          <p:cNvSpPr txBox="1"/>
          <p:nvPr/>
        </p:nvSpPr>
        <p:spPr>
          <a:xfrm>
            <a:off x="896112" y="2450591"/>
            <a:ext cx="4861407" cy="1353312"/>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Who is at risk of failing, and what help actually helps.</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squar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
          <p:cNvSpPr txBox="1"/>
          <p:nvPr/>
        </p:nvSpPr>
        <p:spPr>
          <a:xfrm>
            <a:off x="6452463" y="2450591"/>
            <a:ext cx="4861407" cy="1353312"/>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Will this sprint land, and which estimates are systematically wrong.</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squar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
          <p:cNvSpPr txBox="1"/>
          <p:nvPr/>
        </p:nvSpPr>
        <p:spPr>
          <a:xfrm>
            <a:off x="896112" y="4846320"/>
            <a:ext cx="4861407" cy="1353312"/>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Which machine is about to fail, decided on the device itself.</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squar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
          <p:cNvSpPr txBox="1"/>
          <p:nvPr/>
        </p:nvSpPr>
        <p:spPr>
          <a:xfrm>
            <a:off x="6452463" y="4846320"/>
            <a:ext cx="4861407" cy="1353312"/>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Which of two million events is the attack, within an analyst's budget.</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174167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737360"/>
            <a:ext cx="6659575" cy="1005840"/>
          </a:xfrm>
        </p:spPr>
        <p:txBody>
          <a:bodyPr wrap="square" lIns="0" rIns="0" tIns="0" bIns="0" anchor="t">
            <a:noAutofit/>
          </a:bodyPr>
          <a:lstStyle/>
          <a:p>
            <a:pPr algn="l">
              <a:lnSpc>
                <a:spcPct val="96000"/>
              </a:lnSpc>
            </a:pPr>
            <a:r>
              <a:rPr sz="3400" b="0">
                <a:solidFill>
                  <a:srgbClr val="1C252B"/>
                </a:solidFill>
                <a:latin typeface="Segoe UI Semibold"/>
              </a:rPr>
              <a:t>Foundations of Data</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PART I</a:t>
            </a:r>
          </a:p>
        </p:txBody>
      </p:sp>
      <p:sp>
        <p:nvSpPr>
          <p:cNvPr id="5" name="!!dnum"/>
          <p:cNvSpPr txBox="1"/>
          <p:nvPr/>
        </p:nvSpPr>
        <p:spPr>
          <a:xfrm>
            <a:off x="658368" y="2331720"/>
            <a:ext cx="3246120" cy="109728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I</a:t>
            </a:r>
          </a:p>
        </p:txBody>
      </p:sp>
      <p:sp>
        <p:nvSpPr>
          <p:cNvPr id="6" name="!!dch"/>
          <p:cNvSpPr txBox="1"/>
          <p:nvPr/>
        </p:nvSpPr>
        <p:spPr>
          <a:xfrm>
            <a:off x="676656" y="365760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40">
                <a:solidFill>
                  <a:srgbClr val="BACBD6"/>
                </a:solidFill>
                <a:latin typeface="Segoe UI"/>
              </a:rPr>
              <a:t>CHAPTERS 1–6</a:t>
            </a:r>
          </a:p>
        </p:txBody>
      </p:sp>
      <p:sp>
        <p:nvSpPr>
          <p:cNvPr id="7" name="!!dquote"/>
          <p:cNvSpPr txBox="1"/>
          <p:nvPr/>
        </p:nvSpPr>
        <p:spPr>
          <a:xfrm>
            <a:off x="4846320" y="2880360"/>
            <a:ext cx="6659575" cy="2377440"/>
          </a:xfrm>
          <a:prstGeom prst="rect">
            <a:avLst/>
          </a:prstGeom>
          <a:noFill/>
        </p:spPr>
        <p:txBody>
          <a:bodyPr wrap="square" anchor="t" lIns="0" rIns="0" tIns="0" bIns="0">
            <a:noAutofit/>
          </a:bodyPr>
          <a:lstStyle/>
          <a:p>
            <a:pPr algn="l">
              <a:lnSpc>
                <a:spcPct val="106000"/>
              </a:lnSpc>
              <a:spcBef>
                <a:spcPts val="0"/>
              </a:spcBef>
              <a:spcAft>
                <a:spcPts val="0"/>
              </a:spcAft>
            </a:pPr>
            <a:r>
              <a:rPr sz="2000" b="0" i="1">
                <a:solidFill>
                  <a:srgbClr val="1A5276"/>
                </a:solidFill>
                <a:latin typeface="Segoe UI"/>
              </a:rPr>
              <a:t>Before you can learn from data, you must know what data </a:t>
            </a:r>
            <a:r>
              <a:rPr sz="2000" b="0" i="0">
                <a:solidFill>
                  <a:srgbClr val="1A5276"/>
                </a:solidFill>
                <a:latin typeface="Segoe UI"/>
              </a:rPr>
              <a:t>is</a:t>
            </a:r>
            <a:r>
              <a:rPr sz="2000" b="0" i="1">
                <a:solidFill>
                  <a:srgbClr val="1A5276"/>
                </a:solidFill>
                <a:latin typeface="Segoe UI"/>
              </a:rPr>
              <a:t>, what it can and cannot tell you, and the small amount of mathematics that lets you say so precisely. Part I builds that ground floor.</a:t>
            </a:r>
          </a:p>
        </p:txBody>
      </p:sp>
      <p:sp>
        <p:nvSpPr>
          <p:cNvPr id="8"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9"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4AFD89BF-655A-4BE5-84F7-9904BB9555E4}" type="slidenum">
              <a:rPr lang="en-GB" sz="1000">
                <a:solidFill>
                  <a:srgbClr val="8795A1"/>
                </a:solidFill>
                <a:latin typeface="Segoe UI"/>
              </a:rPr>
              <a:t>4</a:t>
            </a:fld>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32222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path through Part I</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P1.1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345C5C6D-FDE4-4A3A-9BC7-1EED151D9161}" type="slidenum">
              <a:rPr lang="en-GB" sz="1000">
                <a:solidFill>
                  <a:srgbClr val="8795A1"/>
                </a:solidFill>
                <a:latin typeface="Segoe UI"/>
              </a:rPr>
              <a:t>5</a:t>
            </a:fld>
          </a:p>
        </p:txBody>
      </p:sp>
      <p:pic>
        <p:nvPicPr>
          <p:cNvPr id="6" name="!!figure" descr="Figure P1.1. Reading path through Part I. Chapters 1–3 establish what the field is and what it works on; Chapters 4–6 supply the mathematical and statistical vocabulary used for the rest of the book."/>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90548"/>
            <a:ext cx="10874959" cy="2293711"/>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Chapters 1–3 establish what the field is and what it works on; Chapters 4–6 supply the mathematical and statistical vocabulary used for the rest of the book.</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90278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737360"/>
            <a:ext cx="6659575" cy="1005840"/>
          </a:xfrm>
        </p:spPr>
        <p:txBody>
          <a:bodyPr wrap="square" lIns="0" rIns="0" tIns="0" bIns="0" anchor="t">
            <a:noAutofit/>
          </a:bodyPr>
          <a:lstStyle/>
          <a:p>
            <a:pPr algn="l">
              <a:lnSpc>
                <a:spcPct val="96000"/>
              </a:lnSpc>
            </a:pPr>
            <a:r>
              <a:rPr sz="3400" b="0">
                <a:solidFill>
                  <a:srgbClr val="1C252B"/>
                </a:solidFill>
                <a:latin typeface="Segoe UI Semibold"/>
              </a:rPr>
              <a:t>From Data to Insight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PART II</a:t>
            </a:r>
          </a:p>
        </p:txBody>
      </p:sp>
      <p:sp>
        <p:nvSpPr>
          <p:cNvPr id="5" name="!!dnum"/>
          <p:cNvSpPr txBox="1"/>
          <p:nvPr/>
        </p:nvSpPr>
        <p:spPr>
          <a:xfrm>
            <a:off x="658368" y="2331720"/>
            <a:ext cx="3246120" cy="109728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II</a:t>
            </a:r>
          </a:p>
        </p:txBody>
      </p:sp>
      <p:sp>
        <p:nvSpPr>
          <p:cNvPr id="6" name="!!dch"/>
          <p:cNvSpPr txBox="1"/>
          <p:nvPr/>
        </p:nvSpPr>
        <p:spPr>
          <a:xfrm>
            <a:off x="676656" y="365760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40">
                <a:solidFill>
                  <a:srgbClr val="BDD1DF"/>
                </a:solidFill>
                <a:latin typeface="Segoe UI"/>
              </a:rPr>
              <a:t>CHAPTERS 7–10</a:t>
            </a:r>
          </a:p>
        </p:txBody>
      </p:sp>
      <p:sp>
        <p:nvSpPr>
          <p:cNvPr id="7" name="!!dquote"/>
          <p:cNvSpPr txBox="1"/>
          <p:nvPr/>
        </p:nvSpPr>
        <p:spPr>
          <a:xfrm>
            <a:off x="4846320" y="2880360"/>
            <a:ext cx="6659575" cy="2377440"/>
          </a:xfrm>
          <a:prstGeom prst="rect">
            <a:avLst/>
          </a:prstGeom>
          <a:noFill/>
        </p:spPr>
        <p:txBody>
          <a:bodyPr wrap="square" anchor="t" lIns="0" rIns="0" tIns="0" bIns="0">
            <a:noAutofit/>
          </a:bodyPr>
          <a:lstStyle/>
          <a:p>
            <a:pPr algn="l">
              <a:lnSpc>
                <a:spcPct val="106000"/>
              </a:lnSpc>
              <a:spcBef>
                <a:spcPts val="0"/>
              </a:spcBef>
              <a:spcAft>
                <a:spcPts val="0"/>
              </a:spcAft>
            </a:pPr>
            <a:r>
              <a:rPr sz="2000" b="0" i="1">
                <a:solidFill>
                  <a:srgbClr val="2E86C1"/>
                </a:solidFill>
                <a:latin typeface="Segoe UI"/>
              </a:rPr>
              <a:t>Most of a data scientist’s working life is spent here: making messy data usable, looking at it honestly, and being careful about what a sample is entitled to say about a population. No model can rescue a project that skipped this part.</a:t>
            </a:r>
          </a:p>
        </p:txBody>
      </p:sp>
      <p:sp>
        <p:nvSpPr>
          <p:cNvPr id="8"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9"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9046A3E8-FAF6-490E-BA0A-9AC3951C697A}" type="slidenum">
              <a:rPr lang="en-GB" sz="1000">
                <a:solidFill>
                  <a:srgbClr val="8795A1"/>
                </a:solidFill>
                <a:latin typeface="Segoe UI"/>
              </a:rPr>
              <a:t>6</a:t>
            </a:fld>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48334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path through Part II</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P2.1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55A23890-59B4-4A1D-B3FE-AD9ACC2D1745}" type="slidenum">
              <a:rPr lang="en-GB" sz="1000">
                <a:solidFill>
                  <a:srgbClr val="8795A1"/>
                </a:solidFill>
                <a:latin typeface="Segoe UI"/>
              </a:rPr>
              <a:t>7</a:t>
            </a:fld>
          </a:p>
        </p:txBody>
      </p:sp>
      <p:pic>
        <p:nvPicPr>
          <p:cNvPr id="6" name="!!figure" descr="Figure P2.1. Reading path through Part II. Each chapter takes the data one step further from its raw state towards a defensible claim."/>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2187032"/>
            <a:ext cx="10874959" cy="1440391"/>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Each chapter takes the data one step further from its raw state towards a defensible claim.</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737360"/>
            <a:ext cx="6659575" cy="1005840"/>
          </a:xfrm>
        </p:spPr>
        <p:txBody>
          <a:bodyPr wrap="square" lIns="0" rIns="0" tIns="0" bIns="0" anchor="t">
            <a:noAutofit/>
          </a:bodyPr>
          <a:lstStyle/>
          <a:p>
            <a:pPr algn="l">
              <a:lnSpc>
                <a:spcPct val="96000"/>
              </a:lnSpc>
            </a:pPr>
            <a:r>
              <a:rPr sz="3400" b="0">
                <a:solidFill>
                  <a:srgbClr val="1C252B"/>
                </a:solidFill>
                <a:latin typeface="Segoe UI Semibold"/>
              </a:rPr>
              <a:t>Machine Learning Core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PART III</a:t>
            </a:r>
          </a:p>
        </p:txBody>
      </p:sp>
      <p:sp>
        <p:nvSpPr>
          <p:cNvPr id="5" name="!!dnum"/>
          <p:cNvSpPr txBox="1"/>
          <p:nvPr/>
        </p:nvSpPr>
        <p:spPr>
          <a:xfrm>
            <a:off x="658368" y="2331720"/>
            <a:ext cx="3246120" cy="109728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III</a:t>
            </a:r>
          </a:p>
        </p:txBody>
      </p:sp>
      <p:sp>
        <p:nvSpPr>
          <p:cNvPr id="6" name="!!dch"/>
          <p:cNvSpPr txBox="1"/>
          <p:nvPr/>
        </p:nvSpPr>
        <p:spPr>
          <a:xfrm>
            <a:off x="676656" y="365760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40">
                <a:solidFill>
                  <a:srgbClr val="BBD7C7"/>
                </a:solidFill>
                <a:latin typeface="Segoe UI"/>
              </a:rPr>
              <a:t>CHAPTERS 11–16</a:t>
            </a:r>
          </a:p>
        </p:txBody>
      </p:sp>
      <p:sp>
        <p:nvSpPr>
          <p:cNvPr id="7" name="!!dquote"/>
          <p:cNvSpPr txBox="1"/>
          <p:nvPr/>
        </p:nvSpPr>
        <p:spPr>
          <a:xfrm>
            <a:off x="4846320" y="2880360"/>
            <a:ext cx="6659575" cy="2377440"/>
          </a:xfrm>
          <a:prstGeom prst="rect">
            <a:avLst/>
          </a:prstGeom>
          <a:noFill/>
        </p:spPr>
        <p:txBody>
          <a:bodyPr wrap="square" anchor="t" lIns="0" rIns="0" tIns="0" bIns="0">
            <a:noAutofit/>
          </a:bodyPr>
          <a:lstStyle/>
          <a:p>
            <a:pPr algn="l">
              <a:lnSpc>
                <a:spcPct val="106000"/>
              </a:lnSpc>
              <a:spcBef>
                <a:spcPts val="0"/>
              </a:spcBef>
              <a:spcAft>
                <a:spcPts val="0"/>
              </a:spcAft>
            </a:pPr>
            <a:r>
              <a:rPr sz="1900" b="0" i="1">
                <a:solidFill>
                  <a:srgbClr val="1E8449"/>
                </a:solidFill>
                <a:latin typeface="Segoe UI"/>
              </a:rPr>
              <a:t>Machine learning is the point where the course turns from </a:t>
            </a:r>
            <a:r>
              <a:rPr sz="1900" b="0" i="0">
                <a:solidFill>
                  <a:srgbClr val="1E8449"/>
                </a:solidFill>
                <a:latin typeface="Segoe UI"/>
              </a:rPr>
              <a:t>describing</a:t>
            </a:r>
            <a:r>
              <a:rPr sz="1900" b="0" i="1">
                <a:solidFill>
                  <a:srgbClr val="1E8449"/>
                </a:solidFill>
                <a:latin typeface="Segoe UI"/>
              </a:rPr>
              <a:t> data to </a:t>
            </a:r>
            <a:r>
              <a:rPr sz="1900" b="0" i="0">
                <a:solidFill>
                  <a:srgbClr val="1E8449"/>
                </a:solidFill>
                <a:latin typeface="Segoe UI"/>
              </a:rPr>
              <a:t>learning</a:t>
            </a:r>
            <a:r>
              <a:rPr sz="1900" b="0" i="1">
                <a:solidFill>
                  <a:srgbClr val="1E8449"/>
                </a:solidFill>
                <a:latin typeface="Segoe UI"/>
              </a:rPr>
              <a:t> from it. Note the order of the chapters: you learn to evaluate a model (Chapter 14) before you learn to build fancier ones (Chapters 15–16). That order is not an accident. Note the pace too: every algorithm here was already built from first principles in </a:t>
            </a:r>
            <a:r>
              <a:rPr sz="1900" b="0" i="0">
                <a:solidFill>
                  <a:srgbClr val="1E8449"/>
                </a:solidFill>
                <a:latin typeface="Segoe UI"/>
              </a:rPr>
              <a:t>Machine Learning Fall 2026</a:t>
            </a:r>
            <a:r>
              <a:rPr sz="1900" b="0" i="1">
                <a:solidFill>
                  <a:srgbClr val="1E8449"/>
                </a:solidFill>
                <a:latin typeface="Segoe UI"/>
              </a:rPr>
              <a:t>, taken immediately before this course, so this Part revises and applies rather than teaches from zero.</a:t>
            </a:r>
          </a:p>
        </p:txBody>
      </p:sp>
      <p:sp>
        <p:nvSpPr>
          <p:cNvPr id="8"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9"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AA1B233A-A896-4A62-923D-5272885A6C28}" type="slidenum">
              <a:rPr lang="en-GB" sz="1000">
                <a:solidFill>
                  <a:srgbClr val="8795A1"/>
                </a:solidFill>
                <a:latin typeface="Segoe UI"/>
              </a:rPr>
              <a:t>8</a:t>
            </a:fld>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64445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path through Part III</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P3.1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8A4D3D3D-0231-4B75-A154-704DD5265857}" type="slidenum">
              <a:rPr lang="en-GB" sz="1000">
                <a:solidFill>
                  <a:srgbClr val="8795A1"/>
                </a:solidFill>
                <a:latin typeface="Segoe UI"/>
              </a:rPr>
              <a:t>9</a:t>
            </a:fld>
          </a:p>
        </p:txBody>
      </p:sp>
      <p:pic>
        <p:nvPicPr>
          <p:cNvPr id="6" name="!!figure" descr="Figure P3.1. Reading path through Part III. Evaluation (Chapter 14, highlighted) is the hinge of the part: everything after it depends on being able to tell a good model from a lucky on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89937"/>
            <a:ext cx="10874959" cy="2297207"/>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Evaluation (Chapter 14, highlighted) is the hinge of the part: everything after it depends on being able to tell a good model from a lucky one.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22501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737360"/>
            <a:ext cx="6659575" cy="1005840"/>
          </a:xfrm>
        </p:spPr>
        <p:txBody>
          <a:bodyPr wrap="square" lIns="0" rIns="0" tIns="0" bIns="0" anchor="t">
            <a:noAutofit/>
          </a:bodyPr>
          <a:lstStyle/>
          <a:p>
            <a:pPr algn="l">
              <a:lnSpc>
                <a:spcPct val="96000"/>
              </a:lnSpc>
            </a:pPr>
            <a:r>
              <a:rPr sz="3400" b="0">
                <a:solidFill>
                  <a:srgbClr val="1C252B"/>
                </a:solidFill>
                <a:latin typeface="Segoe UI Semibold"/>
              </a:rPr>
              <a:t>Deep Learning and Modern AI</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PART IV</a:t>
            </a:r>
          </a:p>
        </p:txBody>
      </p:sp>
      <p:sp>
        <p:nvSpPr>
          <p:cNvPr id="5" name="!!dnum"/>
          <p:cNvSpPr txBox="1"/>
          <p:nvPr/>
        </p:nvSpPr>
        <p:spPr>
          <a:xfrm>
            <a:off x="658368" y="2331720"/>
            <a:ext cx="3246120" cy="109728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IV</a:t>
            </a:r>
          </a:p>
        </p:txBody>
      </p:sp>
      <p:sp>
        <p:nvSpPr>
          <p:cNvPr id="6" name="!!dch"/>
          <p:cNvSpPr txBox="1"/>
          <p:nvPr/>
        </p:nvSpPr>
        <p:spPr>
          <a:xfrm>
            <a:off x="676656" y="365760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40">
                <a:solidFill>
                  <a:srgbClr val="D7C4DF"/>
                </a:solidFill>
                <a:latin typeface="Segoe UI"/>
              </a:rPr>
              <a:t>CHAPTERS 17–22</a:t>
            </a:r>
          </a:p>
        </p:txBody>
      </p:sp>
      <p:sp>
        <p:nvSpPr>
          <p:cNvPr id="7" name="!!dquote"/>
          <p:cNvSpPr txBox="1"/>
          <p:nvPr/>
        </p:nvSpPr>
        <p:spPr>
          <a:xfrm>
            <a:off x="4846320" y="2880360"/>
            <a:ext cx="6659575" cy="2377440"/>
          </a:xfrm>
          <a:prstGeom prst="rect">
            <a:avLst/>
          </a:prstGeom>
          <a:noFill/>
        </p:spPr>
        <p:txBody>
          <a:bodyPr wrap="square" anchor="t" lIns="0" rIns="0" tIns="0" bIns="0">
            <a:noAutofit/>
          </a:bodyPr>
          <a:lstStyle/>
          <a:p>
            <a:pPr algn="l">
              <a:lnSpc>
                <a:spcPct val="106000"/>
              </a:lnSpc>
              <a:spcBef>
                <a:spcPts val="0"/>
              </a:spcBef>
              <a:spcAft>
                <a:spcPts val="0"/>
              </a:spcAft>
            </a:pPr>
            <a:r>
              <a:rPr sz="2000" b="0" i="1">
                <a:solidFill>
                  <a:srgbClr val="8E44AD"/>
                </a:solidFill>
                <a:latin typeface="Segoe UI"/>
              </a:rPr>
              <a:t>Deep learning is not a different subject from Part III — it is the same supervised learning, with models flexible enough to learn their own features. Part IV follows that flexibility from a single neuron all the way to systems that write, reason and act.</a:t>
            </a:r>
          </a:p>
        </p:txBody>
      </p:sp>
      <p:sp>
        <p:nvSpPr>
          <p:cNvPr id="8"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9"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9340A8A7-48F6-44E5-9711-9FE528C67581}" type="slidenum">
              <a:rPr lang="en-GB" sz="1000">
                <a:solidFill>
                  <a:srgbClr val="8795A1"/>
                </a:solidFill>
                <a:latin typeface="Segoe UI"/>
              </a:rPr>
              <a:t>10</a:t>
            </a:fld>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80556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path through Part IV</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P4.1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A3CD38BF-FADB-4EC4-98D4-C446BB16B0D0}" type="slidenum">
              <a:rPr lang="en-GB" sz="1000">
                <a:solidFill>
                  <a:srgbClr val="8795A1"/>
                </a:solidFill>
                <a:latin typeface="Segoe UI"/>
              </a:rPr>
              <a:t>11</a:t>
            </a:fld>
          </a:p>
        </p:txBody>
      </p:sp>
      <p:pic>
        <p:nvPicPr>
          <p:cNvPr id="6" name="!!figure" descr="Figure P4.1. Reading path through Part IV. The sequence widens what a network sees: one input, then structured inputs, then inputs over time, then language — which is what makes generative and agentic systems possibl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20496"/>
            <a:ext cx="10874959" cy="2694010"/>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sequence widens what a network sees: one input, then structured inputs, then inputs over time, then language — which is what makes generative and agentic systems possible.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638612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737360"/>
            <a:ext cx="6659575" cy="1005840"/>
          </a:xfrm>
        </p:spPr>
        <p:txBody>
          <a:bodyPr wrap="square" lIns="0" rIns="0" tIns="0" bIns="0" anchor="t">
            <a:noAutofit/>
          </a:bodyPr>
          <a:lstStyle/>
          <a:p>
            <a:pPr algn="l">
              <a:lnSpc>
                <a:spcPct val="96000"/>
              </a:lnSpc>
            </a:pPr>
            <a:r>
              <a:rPr sz="3400" b="0">
                <a:solidFill>
                  <a:srgbClr val="1C252B"/>
                </a:solidFill>
                <a:latin typeface="Segoe UI Semibold"/>
              </a:rPr>
              <a:t>Data Science in Systems Context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PART V</a:t>
            </a:r>
          </a:p>
        </p:txBody>
      </p:sp>
      <p:sp>
        <p:nvSpPr>
          <p:cNvPr id="5" name="!!dnum"/>
          <p:cNvSpPr txBox="1"/>
          <p:nvPr/>
        </p:nvSpPr>
        <p:spPr>
          <a:xfrm>
            <a:off x="658368" y="2331720"/>
            <a:ext cx="3246120" cy="109728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V</a:t>
            </a:r>
          </a:p>
        </p:txBody>
      </p:sp>
      <p:sp>
        <p:nvSpPr>
          <p:cNvPr id="6" name="!!dch"/>
          <p:cNvSpPr txBox="1"/>
          <p:nvPr/>
        </p:nvSpPr>
        <p:spPr>
          <a:xfrm>
            <a:off x="676656" y="365760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40">
                <a:solidFill>
                  <a:srgbClr val="B7D7D0"/>
                </a:solidFill>
                <a:latin typeface="Segoe UI"/>
              </a:rPr>
              <a:t>CHAPTERS 23–27</a:t>
            </a:r>
          </a:p>
        </p:txBody>
      </p:sp>
      <p:sp>
        <p:nvSpPr>
          <p:cNvPr id="7" name="!!dquote"/>
          <p:cNvSpPr txBox="1"/>
          <p:nvPr/>
        </p:nvSpPr>
        <p:spPr>
          <a:xfrm>
            <a:off x="4846320" y="2880360"/>
            <a:ext cx="6659575" cy="2377440"/>
          </a:xfrm>
          <a:prstGeom prst="rect">
            <a:avLst/>
          </a:prstGeom>
          <a:noFill/>
        </p:spPr>
        <p:txBody>
          <a:bodyPr wrap="square" anchor="t" lIns="0" rIns="0" tIns="0" bIns="0">
            <a:noAutofit/>
          </a:bodyPr>
          <a:lstStyle/>
          <a:p>
            <a:pPr algn="l">
              <a:lnSpc>
                <a:spcPct val="106000"/>
              </a:lnSpc>
              <a:spcBef>
                <a:spcPts val="0"/>
              </a:spcBef>
              <a:spcAft>
                <a:spcPts val="0"/>
              </a:spcAft>
            </a:pPr>
            <a:r>
              <a:rPr sz="2000" b="0" i="1">
                <a:solidFill>
                  <a:srgbClr val="117A65"/>
                </a:solidFill>
                <a:latin typeface="Segoe UI"/>
              </a:rPr>
              <a:t>A model in a notebook helps nobody. Part V is about data science as part of a running system — pipelines that feed it, infrastructure that hosts it, the two domains this course is built towards, and the operations discipline that keeps it correct after launch.</a:t>
            </a:r>
          </a:p>
        </p:txBody>
      </p:sp>
      <p:sp>
        <p:nvSpPr>
          <p:cNvPr id="8"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9"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09502FAA-D0B7-4D58-B8A5-AD5F2C31BC20}" type="slidenum">
              <a:rPr lang="en-GB" sz="1000">
                <a:solidFill>
                  <a:srgbClr val="8795A1"/>
                </a:solidFill>
                <a:latin typeface="Segoe UI"/>
              </a:rPr>
              <a:t>12</a:t>
            </a:fld>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96668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path through Part V</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P5.1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A404B829-FFAE-4212-B5DA-DFF186F5AB89}" type="slidenum">
              <a:rPr lang="en-GB" sz="1000">
                <a:solidFill>
                  <a:srgbClr val="8795A1"/>
                </a:solidFill>
                <a:latin typeface="Segoe UI"/>
              </a:rPr>
              <a:t>13</a:t>
            </a:fld>
          </a:p>
        </p:txBody>
      </p:sp>
      <p:pic>
        <p:nvPicPr>
          <p:cNvPr id="6" name="!!figure" descr="Figure P5.1. Reading path through Part V. Chapters 25 and 26 (highlighted) are the application chapters the whole course builds towards; the dashed arrows show the earlier chapters that make them possibl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44041"/>
            <a:ext cx="10874959" cy="255946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Chapters 25 and 26 (highlighted) are the application chapters the whole course builds towards; the dashed arrows show the earlier chapters that make them possible.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754723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737360"/>
            <a:ext cx="6659575" cy="1005840"/>
          </a:xfrm>
        </p:spPr>
        <p:txBody>
          <a:bodyPr wrap="square" lIns="0" rIns="0" tIns="0" bIns="0" anchor="t">
            <a:noAutofit/>
          </a:bodyPr>
          <a:lstStyle/>
          <a:p>
            <a:pPr algn="l">
              <a:lnSpc>
                <a:spcPct val="96000"/>
              </a:lnSpc>
            </a:pPr>
            <a:r>
              <a:rPr sz="3400" b="0">
                <a:solidFill>
                  <a:srgbClr val="1C252B"/>
                </a:solidFill>
                <a:latin typeface="Segoe UI Semibold"/>
              </a:rPr>
              <a:t>Professional Practice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PART VI</a:t>
            </a:r>
          </a:p>
        </p:txBody>
      </p:sp>
      <p:sp>
        <p:nvSpPr>
          <p:cNvPr id="5" name="!!dnum"/>
          <p:cNvSpPr txBox="1"/>
          <p:nvPr/>
        </p:nvSpPr>
        <p:spPr>
          <a:xfrm>
            <a:off x="658368" y="2331720"/>
            <a:ext cx="3246120" cy="109728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VI</a:t>
            </a:r>
          </a:p>
        </p:txBody>
      </p:sp>
      <p:sp>
        <p:nvSpPr>
          <p:cNvPr id="6" name="!!dch"/>
          <p:cNvSpPr txBox="1"/>
          <p:nvPr/>
        </p:nvSpPr>
        <p:spPr>
          <a:xfrm>
            <a:off x="676656" y="365760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40">
                <a:solidFill>
                  <a:srgbClr val="D4CEB4"/>
                </a:solidFill>
                <a:latin typeface="Segoe UI"/>
              </a:rPr>
              <a:t>CHAPTERS 28–32</a:t>
            </a:r>
          </a:p>
        </p:txBody>
      </p:sp>
      <p:sp>
        <p:nvSpPr>
          <p:cNvPr id="7" name="!!dquote"/>
          <p:cNvSpPr txBox="1"/>
          <p:nvPr/>
        </p:nvSpPr>
        <p:spPr>
          <a:xfrm>
            <a:off x="4846320" y="2880360"/>
            <a:ext cx="6659575" cy="2377440"/>
          </a:xfrm>
          <a:prstGeom prst="rect">
            <a:avLst/>
          </a:prstGeom>
          <a:noFill/>
        </p:spPr>
        <p:txBody>
          <a:bodyPr wrap="square" anchor="t" lIns="0" rIns="0" tIns="0" bIns="0">
            <a:noAutofit/>
          </a:bodyPr>
          <a:lstStyle/>
          <a:p>
            <a:pPr algn="l">
              <a:lnSpc>
                <a:spcPct val="106000"/>
              </a:lnSpc>
              <a:spcBef>
                <a:spcPts val="0"/>
              </a:spcBef>
              <a:spcAft>
                <a:spcPts val="0"/>
              </a:spcAft>
            </a:pPr>
            <a:r>
              <a:rPr sz="2000" b="0" i="1">
                <a:solidFill>
                  <a:srgbClr val="7D6608"/>
                </a:solidFill>
                <a:latin typeface="Segoe UI"/>
              </a:rPr>
              <a:t>Technical skill is the entry ticket, not the job. Part VI covers what separates a student who can fit a model from a professional who can be trusted with one: ethics, method, delivery, and the ability to make an audience understand.</a:t>
            </a:r>
          </a:p>
        </p:txBody>
      </p:sp>
      <p:sp>
        <p:nvSpPr>
          <p:cNvPr id="8"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9"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5A87E8DA-DA76-4503-9955-A28734317A2C}" type="slidenum">
              <a:rPr lang="en-GB" sz="1000">
                <a:solidFill>
                  <a:srgbClr val="8795A1"/>
                </a:solidFill>
                <a:latin typeface="Segoe UI"/>
              </a:rPr>
              <a:t>14</a:t>
            </a:fld>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Reading path through Part VI</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P6.1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part opener     </a:t>
            </a:r>
            <a:fld id="{422E65C0-3001-4EBA-8550-82D0249137BE}" type="slidenum">
              <a:rPr lang="en-GB" sz="1000">
                <a:solidFill>
                  <a:srgbClr val="8795A1"/>
                </a:solidFill>
                <a:latin typeface="Segoe UI"/>
              </a:rPr>
              <a:t>15</a:t>
            </a:fld>
          </a:p>
        </p:txBody>
      </p:sp>
      <p:pic>
        <p:nvPicPr>
          <p:cNvPr id="6" name="!!figure" descr="Figure P6.1. Reading path through Part VI. The four questions beneath the chapters are the ones a professional must answer about every piece of work; the capstone requires all four at onc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27849"/>
            <a:ext cx="10874959" cy="2651994"/>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four questions beneath the chapters are the ones a professional must answer about every piece of work; the capstone requires all four at once.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870835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Sixteen weeks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TEACHING SCHEDULE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Appendix G     </a:t>
            </a:r>
            <a:fld id="{3C45086F-62BF-4CFB-8120-C0D5453FEDE7}" type="slidenum">
              <a:rPr lang="en-GB" sz="1000">
                <a:solidFill>
                  <a:srgbClr val="8795A1"/>
                </a:solidFill>
                <a:latin typeface="Segoe UI"/>
              </a:rPr>
              <a:t>16</a:t>
            </a:fld>
          </a:p>
        </p:txBody>
      </p:sp>
      <p:graphicFrame>
        <p:nvGraphicFramePr>
          <p:cNvPr id="7" name="!!table"/>
          <p:cNvGraphicFramePr>
            <a:graphicFrameLocks noGrp="1"/>
          </p:cNvGraphicFramePr>
          <p:nvPr/>
        </p:nvGraphicFramePr>
        <p:xfrm>
          <a:off x="658368" y="1737360"/>
          <a:ext cx="10874956" cy="4206235"/>
        </p:xfrm>
        <a:graphic>
          <a:graphicData uri="http://schemas.openxmlformats.org/drawingml/2006/table">
            <a:tbl>
              <a:tblPr firstRow="0" bandRow="0" firstCol="0" lastRow="0" lastCol="0" bandCol="0">
                <a:tableStyleId>{2D5ABB26-0587-4C30-8999-92F81FD0307C}</a:tableStyleId>
              </a:tblPr>
              <a:tblGrid>
                <a:gridCol w="879592"/>
                <a:gridCol w="2718739"/>
                <a:gridCol w="2718739"/>
                <a:gridCol w="2478850"/>
                <a:gridCol w="2079036"/>
              </a:tblGrid>
              <a:tr h="329184">
                <a:tc>
                  <a:txBody>
                    <a:bodyPr wrap="square"/>
                    <a:lstStyle/>
                    <a:p>
                      <a:pPr algn="l"/>
                      <a:r>
                        <a:rPr sz="1200" b="1" i="0">
                          <a:solidFill>
                            <a:srgbClr val="1A5276"/>
                          </a:solidFill>
                          <a:latin typeface="Segoe UI"/>
                        </a:rPr>
                        <a:t>Wk</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Lecture topic</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Chapters</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Lab</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Assessment</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29184">
                <a:tc>
                  <a:txBody>
                    <a:bodyPr wrap="square"/>
                    <a:lstStyle/>
                    <a:p>
                      <a:pPr algn="l"/>
                      <a:r>
                        <a:rPr sz="1200" b="0" i="0">
                          <a:solidFill>
                            <a:srgbClr val="1C252B"/>
                          </a:solidFill>
                          <a:latin typeface="Segoe UI"/>
                        </a:rPr>
                        <a:t>1</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The landscape and the lifecycle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1, 2</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Meet a dataset; write a frame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a:t>
                      </a:r>
                      <a:endParaRPr sz="1200"/>
                    </a:p>
                  </a:txBody>
                  <a:tcPr marL="109728" marR="109728" marT="64008" marB="45720" anchor="t">
                    <a:lnL w="0" cmpd="sng">
                      <a:noFill/>
                    </a:lnL>
                    <a:lnR w="0" cmpd="sng">
                      <a:noFill/>
                    </a:lnR>
                    <a:lnT w="9525" cmpd="sng">
                      <a:noFill/>
                    </a:lnT>
                    <a:lnB w="9525" cmpd="sng">
                      <a:noFill/>
                    </a:lnB>
                    <a:solidFill>
                      <a:srgbClr val="FFFFFF"/>
                    </a:solidFill>
                  </a:tcPr>
                </a:tc>
              </a:tr>
              <a:tr h="512063">
                <a:tc>
                  <a:txBody>
                    <a:bodyPr wrap="square"/>
                    <a:lstStyle/>
                    <a:p>
                      <a:pPr algn="l"/>
                      <a:r>
                        <a:rPr sz="1200" b="0" i="0">
                          <a:solidFill>
                            <a:srgbClr val="1C252B"/>
                          </a:solidFill>
                          <a:latin typeface="Segoe UI"/>
                        </a:rPr>
                        <a:t>2</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Data and the mathematical toolkit</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3, 4</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Ten-minute audit; distance &amp; descent</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a:t>
                      </a:r>
                      <a:endParaRPr sz="1200"/>
                    </a:p>
                  </a:txBody>
                  <a:tcPr marL="109728" marR="109728" marT="64008" marB="45720" anchor="t">
                    <a:lnL w="0" cmpd="sng">
                      <a:noFill/>
                    </a:lnL>
                    <a:lnR w="0" cmpd="sng">
                      <a:noFill/>
                    </a:lnR>
                    <a:lnT w="9525" cmpd="sng">
                      <a:noFill/>
                    </a:lnT>
                    <a:lnB w="9525" cmpd="sng">
                      <a:noFill/>
                    </a:lnB>
                    <a:solidFill>
                      <a:srgbClr val="F2F8FC"/>
                    </a:solidFill>
                  </a:tcPr>
                </a:tc>
              </a:tr>
              <a:tr h="512063">
                <a:tc>
                  <a:txBody>
                    <a:bodyPr wrap="square"/>
                    <a:lstStyle/>
                    <a:p>
                      <a:pPr algn="l"/>
                      <a:r>
                        <a:rPr sz="1200" b="0" i="0">
                          <a:solidFill>
                            <a:srgbClr val="1C252B"/>
                          </a:solidFill>
                          <a:latin typeface="Segoe UI"/>
                        </a:rPr>
                        <a:t>3</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Describing data; probability</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5, 6</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Centre, spread, shape; base-rate simulation</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Quiz 1 (Ch 1–4)</a:t>
                      </a:r>
                      <a:endParaRPr sz="1200"/>
                    </a:p>
                  </a:txBody>
                  <a:tcPr marL="109728" marR="109728" marT="64008" marB="45720" anchor="t">
                    <a:lnL w="0" cmpd="sng">
                      <a:noFill/>
                    </a:lnL>
                    <a:lnR w="0" cmpd="sng">
                      <a:noFill/>
                    </a:lnR>
                    <a:lnT w="9525" cmpd="sng">
                      <a:noFill/>
                    </a:lnT>
                    <a:lnB w="9525" cmpd="sng">
                      <a:noFill/>
                    </a:lnB>
                    <a:solidFill>
                      <a:srgbClr val="FFFFFF"/>
                    </a:solidFill>
                  </a:tcPr>
                </a:tc>
              </a:tr>
              <a:tr h="329184">
                <a:tc>
                  <a:txBody>
                    <a:bodyPr wrap="square"/>
                    <a:lstStyle/>
                    <a:p>
                      <a:pPr algn="l"/>
                      <a:r>
                        <a:rPr sz="1200" b="0" i="0">
                          <a:solidFill>
                            <a:srgbClr val="1C252B"/>
                          </a:solidFill>
                          <a:latin typeface="Segoe UI"/>
                        </a:rPr>
                        <a:t>4</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Wrangling and cleaning</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7</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Leak-proof pipeline</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a:t>
                      </a:r>
                      <a:endParaRPr sz="1200"/>
                    </a:p>
                  </a:txBody>
                  <a:tcPr marL="109728" marR="109728" marT="64008" marB="45720" anchor="t">
                    <a:lnL w="0" cmpd="sng">
                      <a:noFill/>
                    </a:lnL>
                    <a:lnR w="0" cmpd="sng">
                      <a:noFill/>
                    </a:lnR>
                    <a:lnT w="9525" cmpd="sng">
                      <a:noFill/>
                    </a:lnT>
                    <a:lnB w="9525" cmpd="sng">
                      <a:noFill/>
                    </a:lnB>
                    <a:solidFill>
                      <a:srgbClr val="F2F8FC"/>
                    </a:solidFill>
                  </a:tcPr>
                </a:tc>
              </a:tr>
              <a:tr h="329184">
                <a:tc>
                  <a:txBody>
                    <a:bodyPr wrap="square"/>
                    <a:lstStyle/>
                    <a:p>
                      <a:pPr algn="l"/>
                      <a:r>
                        <a:rPr sz="1200" b="0" i="0">
                          <a:solidFill>
                            <a:srgbClr val="1C252B"/>
                          </a:solidFill>
                          <a:latin typeface="Segoe UI"/>
                        </a:rPr>
                        <a:t>5</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Exploratory analysis</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8</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Standard EDA pass</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Assignment 1 set</a:t>
                      </a:r>
                      <a:endParaRPr sz="1200"/>
                    </a:p>
                  </a:txBody>
                  <a:tcPr marL="109728" marR="109728" marT="64008" marB="45720" anchor="t">
                    <a:lnL w="0" cmpd="sng">
                      <a:noFill/>
                    </a:lnL>
                    <a:lnR w="0" cmpd="sng">
                      <a:noFill/>
                    </a:lnR>
                    <a:lnT w="9525" cmpd="sng">
                      <a:noFill/>
                    </a:lnT>
                    <a:lnB w="9525" cmpd="sng">
                      <a:noFill/>
                    </a:lnB>
                    <a:solidFill>
                      <a:srgbClr val="FFFFFF"/>
                    </a:solidFill>
                  </a:tcPr>
                </a:tc>
              </a:tr>
              <a:tr h="512063">
                <a:tc>
                  <a:txBody>
                    <a:bodyPr wrap="square"/>
                    <a:lstStyle/>
                    <a:p>
                      <a:pPr algn="l"/>
                      <a:r>
                        <a:rPr sz="1200" b="0" i="0">
                          <a:solidFill>
                            <a:srgbClr val="1C252B"/>
                          </a:solidFill>
                          <a:latin typeface="Segoe UI"/>
                        </a:rPr>
                        <a:t>6</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Inference and causality</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9, 10</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Intervals, tests, confounder simulation</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a:t>
                      </a:r>
                      <a:endParaRPr sz="1200"/>
                    </a:p>
                  </a:txBody>
                  <a:tcPr marL="109728" marR="109728" marT="64008" marB="45720" anchor="t">
                    <a:lnL w="0" cmpd="sng">
                      <a:noFill/>
                    </a:lnL>
                    <a:lnR w="0" cmpd="sng">
                      <a:noFill/>
                    </a:lnR>
                    <a:lnT w="9525" cmpd="sng">
                      <a:noFill/>
                    </a:lnT>
                    <a:lnB w="9525" cmpd="sng">
                      <a:noFill/>
                    </a:lnB>
                    <a:solidFill>
                      <a:srgbClr val="F2F8FC"/>
                    </a:solidFill>
                  </a:tcPr>
                </a:tc>
              </a:tr>
              <a:tr h="512063">
                <a:tc>
                  <a:txBody>
                    <a:bodyPr wrap="square"/>
                    <a:lstStyle/>
                    <a:p>
                      <a:pPr algn="l"/>
                      <a:r>
                        <a:rPr sz="1200" b="0" i="0">
                          <a:solidFill>
                            <a:srgbClr val="1C252B"/>
                          </a:solidFill>
                          <a:latin typeface="Segoe UI"/>
                        </a:rPr>
                        <a:t>7</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ML fundamentals; regression </a:t>
                      </a:r>
                      <a:r>
                        <a:rPr sz="1200" b="0" i="1">
                          <a:solidFill>
                            <a:srgbClr val="1C252B"/>
                          </a:solidFill>
                          <a:latin typeface="Segoe UI"/>
                        </a:rPr>
                        <a:t>(revision)</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11, 12</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Split, baseline, diagnose; fit &amp; regularise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Assignment 1 due</a:t>
                      </a:r>
                      <a:endParaRPr sz="1200"/>
                    </a:p>
                  </a:txBody>
                  <a:tcPr marL="109728" marR="109728" marT="64008" marB="45720" anchor="t">
                    <a:lnL w="0" cmpd="sng">
                      <a:noFill/>
                    </a:lnL>
                    <a:lnR w="0" cmpd="sng">
                      <a:noFill/>
                    </a:lnR>
                    <a:lnT w="9525" cmpd="sng">
                      <a:noFill/>
                    </a:lnT>
                    <a:lnB w="9525" cmpd="sng">
                      <a:noFill/>
                    </a:lnB>
                    <a:solidFill>
                      <a:srgbClr val="FFFFFF"/>
                    </a:solidFill>
                  </a:tcPr>
                </a:tc>
              </a:tr>
              <a:tr h="329184">
                <a:tc>
                  <a:txBody>
                    <a:bodyPr wrap="square"/>
                    <a:lstStyle/>
                    <a:p>
                      <a:pPr algn="l"/>
                      <a:r>
                        <a:rPr sz="1200" b="0" i="0">
                          <a:solidFill>
                            <a:srgbClr val="1C252B"/>
                          </a:solidFill>
                          <a:latin typeface="Segoe UI"/>
                        </a:rPr>
                        <a:t>8</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Classification; evaluation </a:t>
                      </a:r>
                      <a:r>
                        <a:rPr sz="1200" b="0" i="1">
                          <a:solidFill>
                            <a:srgbClr val="1C252B"/>
                          </a:solidFill>
                          <a:latin typeface="Segoe UI"/>
                        </a:rPr>
                        <a:t>(revision)</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13, 14</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Five classifiers; evaluate honestly</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a:t>
                      </a:r>
                      <a:endParaRPr sz="1200"/>
                    </a:p>
                  </a:txBody>
                  <a:tcPr marL="109728" marR="109728" marT="64008" marB="45720" anchor="t">
                    <a:lnL w="0" cmpd="sng">
                      <a:noFill/>
                    </a:lnL>
                    <a:lnR w="0" cmpd="sng">
                      <a:noFill/>
                    </a:lnR>
                    <a:lnT w="9525" cmpd="sng">
                      <a:noFill/>
                    </a:lnT>
                    <a:lnB w="9525" cmpd="sng">
                      <a:noFill/>
                    </a:lnB>
                    <a:solidFill>
                      <a:srgbClr val="F2F8FC"/>
                    </a:solidFill>
                  </a:tcPr>
                </a:tc>
              </a:tr>
              <a:tr h="512063">
                <a:tc>
                  <a:txBody>
                    <a:bodyPr wrap="square"/>
                    <a:lstStyle/>
                    <a:p>
                      <a:pPr algn="l"/>
                      <a:r>
                        <a:rPr sz="1200" b="0" i="0">
                          <a:solidFill>
                            <a:srgbClr val="1C252B"/>
                          </a:solidFill>
                          <a:latin typeface="Segoe UI"/>
                        </a:rPr>
                        <a:t>9</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Features and ensembles; unsupervised </a:t>
                      </a:r>
                      <a:r>
                        <a:rPr sz="1200" b="0" i="1">
                          <a:solidFill>
                            <a:srgbClr val="1C252B"/>
                          </a:solidFill>
                          <a:latin typeface="Segoe UI"/>
                        </a:rPr>
                        <a:t>(mostly revision)</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15, 16</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Engineer, ensemble, interpret; cluster &amp; detect</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1" i="0">
                          <a:solidFill>
                            <a:srgbClr val="1C252B"/>
                          </a:solidFill>
                          <a:latin typeface="Segoe UI"/>
                        </a:rPr>
                        <a:t>Assignment 2 set</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928891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Sixteen weeks (continued)</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TEACHING SCHEDULE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Appendix G     </a:t>
            </a:r>
            <a:fld id="{30E4CD8D-0B36-48AA-A703-EBD155534AE5}" type="slidenum">
              <a:rPr lang="en-GB" sz="1000">
                <a:solidFill>
                  <a:srgbClr val="8795A1"/>
                </a:solidFill>
                <a:latin typeface="Segoe UI"/>
              </a:rPr>
              <a:t>17</a:t>
            </a:fld>
          </a:p>
        </p:txBody>
      </p:sp>
      <p:graphicFrame>
        <p:nvGraphicFramePr>
          <p:cNvPr id="7" name="!!table"/>
          <p:cNvGraphicFramePr>
            <a:graphicFrameLocks noGrp="1"/>
          </p:cNvGraphicFramePr>
          <p:nvPr/>
        </p:nvGraphicFramePr>
        <p:xfrm>
          <a:off x="658368" y="1737360"/>
          <a:ext cx="10874956" cy="3730746"/>
        </p:xfrm>
        <a:graphic>
          <a:graphicData uri="http://schemas.openxmlformats.org/drawingml/2006/table">
            <a:tbl>
              <a:tblPr firstRow="0" bandRow="0" firstCol="0" lastRow="0" lastCol="0" bandCol="0">
                <a:tableStyleId>{2D5ABB26-0587-4C30-8999-92F81FD0307C}</a:tableStyleId>
              </a:tblPr>
              <a:tblGrid>
                <a:gridCol w="879592"/>
                <a:gridCol w="2718739"/>
                <a:gridCol w="2718739"/>
                <a:gridCol w="2478850"/>
                <a:gridCol w="2079036"/>
              </a:tblGrid>
              <a:tr h="329184">
                <a:tc>
                  <a:txBody>
                    <a:bodyPr wrap="square"/>
                    <a:lstStyle/>
                    <a:p>
                      <a:pPr algn="l"/>
                      <a:r>
                        <a:rPr sz="1200" b="1" i="0">
                          <a:solidFill>
                            <a:srgbClr val="1A5276"/>
                          </a:solidFill>
                          <a:latin typeface="Segoe UI"/>
                        </a:rPr>
                        <a:t>Wk</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Lecture topic</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Chapters</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Lab</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200" b="1" i="0">
                          <a:solidFill>
                            <a:srgbClr val="1A5276"/>
                          </a:solidFill>
                          <a:latin typeface="Segoe UI"/>
                        </a:rPr>
                        <a:t>Assessment</a:t>
                      </a:r>
                      <a:endParaRPr sz="12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29184">
                <a:tc>
                  <a:txBody>
                    <a:bodyPr wrap="square"/>
                    <a:lstStyle/>
                    <a:p>
                      <a:pPr algn="l"/>
                      <a:r>
                        <a:rPr sz="1200" b="0" i="0">
                          <a:solidFill>
                            <a:srgbClr val="1C252B"/>
                          </a:solidFill>
                          <a:latin typeface="Segoe UI"/>
                        </a:rPr>
                        <a:t>10</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Midterm examination</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1–16</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Midterm review workshop</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Midterm (Ch 1–16)</a:t>
                      </a:r>
                      <a:endParaRPr sz="1200"/>
                    </a:p>
                  </a:txBody>
                  <a:tcPr marL="109728" marR="109728" marT="64008" marB="45720" anchor="t">
                    <a:lnL w="0" cmpd="sng">
                      <a:noFill/>
                    </a:lnL>
                    <a:lnR w="0" cmpd="sng">
                      <a:noFill/>
                    </a:lnR>
                    <a:lnT w="9525" cmpd="sng">
                      <a:noFill/>
                    </a:lnT>
                    <a:lnB w="9525" cmpd="sng">
                      <a:noFill/>
                    </a:lnB>
                    <a:solidFill>
                      <a:srgbClr val="FFFFFF"/>
                    </a:solidFill>
                  </a:tcPr>
                </a:tc>
              </a:tr>
              <a:tr h="512063">
                <a:tc>
                  <a:txBody>
                    <a:bodyPr wrap="square"/>
                    <a:lstStyle/>
                    <a:p>
                      <a:pPr algn="l"/>
                      <a:r>
                        <a:rPr sz="1200" b="0" i="0">
                          <a:solidFill>
                            <a:srgbClr val="1C252B"/>
                          </a:solidFill>
                          <a:latin typeface="Segoe UI"/>
                        </a:rPr>
                        <a:t>11</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Neural networks and architectures</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17, 18</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Network from scratch; transfer learning</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a:t>
                      </a:r>
                      <a:endParaRPr sz="1200"/>
                    </a:p>
                  </a:txBody>
                  <a:tcPr marL="109728" marR="109728" marT="64008" marB="45720" anchor="t">
                    <a:lnL w="0" cmpd="sng">
                      <a:noFill/>
                    </a:lnL>
                    <a:lnR w="0" cmpd="sng">
                      <a:noFill/>
                    </a:lnR>
                    <a:lnT w="9525" cmpd="sng">
                      <a:noFill/>
                    </a:lnT>
                    <a:lnB w="9525" cmpd="sng">
                      <a:noFill/>
                    </a:lnB>
                    <a:solidFill>
                      <a:srgbClr val="F2F8FC"/>
                    </a:solidFill>
                  </a:tcPr>
                </a:tc>
              </a:tr>
              <a:tr h="512063">
                <a:tc>
                  <a:txBody>
                    <a:bodyPr wrap="square"/>
                    <a:lstStyle/>
                    <a:p>
                      <a:pPr algn="l"/>
                      <a:r>
                        <a:rPr sz="1200" b="0" i="0">
                          <a:solidFill>
                            <a:srgbClr val="1C252B"/>
                          </a:solidFill>
                          <a:latin typeface="Segoe UI"/>
                        </a:rPr>
                        <a:t>12</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Time series; text and NLP</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19, 20</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Decompose &amp; walk-forward; TF-IDF classifier</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Assignment 2 due</a:t>
                      </a:r>
                      <a:endParaRPr sz="1200"/>
                    </a:p>
                  </a:txBody>
                  <a:tcPr marL="109728" marR="109728" marT="64008" marB="45720" anchor="t">
                    <a:lnL w="0" cmpd="sng">
                      <a:noFill/>
                    </a:lnL>
                    <a:lnR w="0" cmpd="sng">
                      <a:noFill/>
                    </a:lnR>
                    <a:lnT w="9525" cmpd="sng">
                      <a:noFill/>
                    </a:lnT>
                    <a:lnB w="9525" cmpd="sng">
                      <a:noFill/>
                    </a:lnB>
                    <a:solidFill>
                      <a:srgbClr val="FFFFFF"/>
                    </a:solidFill>
                  </a:tcPr>
                </a:tc>
              </a:tr>
              <a:tr h="512063">
                <a:tc>
                  <a:txBody>
                    <a:bodyPr wrap="square"/>
                    <a:lstStyle/>
                    <a:p>
                      <a:pPr algn="l"/>
                      <a:r>
                        <a:rPr sz="1200" b="0" i="0">
                          <a:solidFill>
                            <a:srgbClr val="1C252B"/>
                          </a:solidFill>
                          <a:latin typeface="Segoe UI"/>
                        </a:rPr>
                        <a:t>13</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Generative and agentic AI</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21, 22</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Minimal RAG; agent loop with guardrails</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Quiz 2 (Ch 17–22)</a:t>
                      </a:r>
                      <a:endParaRPr sz="1200"/>
                    </a:p>
                  </a:txBody>
                  <a:tcPr marL="109728" marR="109728" marT="64008" marB="45720" anchor="t">
                    <a:lnL w="0" cmpd="sng">
                      <a:noFill/>
                    </a:lnL>
                    <a:lnR w="0" cmpd="sng">
                      <a:noFill/>
                    </a:lnR>
                    <a:lnT w="9525" cmpd="sng">
                      <a:noFill/>
                    </a:lnT>
                    <a:lnB w="9525" cmpd="sng">
                      <a:noFill/>
                    </a:lnB>
                    <a:solidFill>
                      <a:srgbClr val="F2F8FC"/>
                    </a:solidFill>
                  </a:tcPr>
                </a:tc>
              </a:tr>
              <a:tr h="512063">
                <a:tc>
                  <a:txBody>
                    <a:bodyPr wrap="square"/>
                    <a:lstStyle/>
                    <a:p>
                      <a:pPr algn="l"/>
                      <a:r>
                        <a:rPr sz="1200" b="0" i="0">
                          <a:solidFill>
                            <a:srgbClr val="1C252B"/>
                          </a:solidFill>
                          <a:latin typeface="Segoe UI"/>
                        </a:rPr>
                        <a:t>14</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Data engineering; cloud and edge</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23, 24</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0" i="0">
                          <a:solidFill>
                            <a:srgbClr val="1C252B"/>
                          </a:solidFill>
                          <a:latin typeface="Segoe UI"/>
                        </a:rPr>
                        <a:t>Data contracts; containerise a model</a:t>
                      </a:r>
                      <a:endParaRPr sz="12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200" b="1" i="0">
                          <a:solidFill>
                            <a:srgbClr val="1C252B"/>
                          </a:solidFill>
                          <a:latin typeface="Segoe UI"/>
                        </a:rPr>
                        <a:t>Capstone set</a:t>
                      </a:r>
                      <a:endParaRPr sz="1200"/>
                    </a:p>
                  </a:txBody>
                  <a:tcPr marL="109728" marR="109728" marT="64008" marB="45720" anchor="t">
                    <a:lnL w="0" cmpd="sng">
                      <a:noFill/>
                    </a:lnL>
                    <a:lnR w="0" cmpd="sng">
                      <a:noFill/>
                    </a:lnR>
                    <a:lnT w="9525" cmpd="sng">
                      <a:noFill/>
                    </a:lnT>
                    <a:lnB w="9525" cmpd="sng">
                      <a:noFill/>
                    </a:lnB>
                    <a:solidFill>
                      <a:srgbClr val="FFFFFF"/>
                    </a:solidFill>
                  </a:tcPr>
                </a:tc>
              </a:tr>
              <a:tr h="512063">
                <a:tc>
                  <a:txBody>
                    <a:bodyPr wrap="square"/>
                    <a:lstStyle/>
                    <a:p>
                      <a:pPr algn="l"/>
                      <a:r>
                        <a:rPr sz="1200" b="0" i="0">
                          <a:solidFill>
                            <a:srgbClr val="1C252B"/>
                          </a:solidFill>
                          <a:latin typeface="Segoe UI"/>
                        </a:rPr>
                        <a:t>15</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1" i="0">
                          <a:solidFill>
                            <a:srgbClr val="1C252B"/>
                          </a:solidFill>
                          <a:latin typeface="Segoe UI"/>
                        </a:rPr>
                        <a:t>Data science for IoT and cybersecurity</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25, 26</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Telemetry to alert; per-entity baselines &amp; evasion test</a:t>
                      </a:r>
                      <a:endParaRPr sz="12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C252B"/>
                          </a:solidFill>
                          <a:latin typeface="Segoe UI"/>
                        </a:rPr>
                        <a:t>—</a:t>
                      </a:r>
                      <a:endParaRPr sz="1200"/>
                    </a:p>
                  </a:txBody>
                  <a:tcPr marL="109728" marR="109728" marT="64008" marB="45720" anchor="t">
                    <a:lnL w="0" cmpd="sng">
                      <a:noFill/>
                    </a:lnL>
                    <a:lnR w="0" cmpd="sng">
                      <a:noFill/>
                    </a:lnR>
                    <a:lnT w="9525" cmpd="sng">
                      <a:noFill/>
                    </a:lnT>
                    <a:lnB w="9525" cmpd="sng">
                      <a:noFill/>
                    </a:lnB>
                    <a:solidFill>
                      <a:srgbClr val="F2F8FC"/>
                    </a:solidFill>
                  </a:tcPr>
                </a:tc>
              </a:tr>
              <a:tr h="512063">
                <a:tc>
                  <a:txBody>
                    <a:bodyPr wrap="square"/>
                    <a:lstStyle/>
                    <a:p>
                      <a:pPr algn="l"/>
                      <a:r>
                        <a:rPr sz="1200" b="0" i="0">
                          <a:solidFill>
                            <a:srgbClr val="1C252B"/>
                          </a:solidFill>
                          <a:latin typeface="Segoe UI"/>
                        </a:rPr>
                        <a:t>16</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MLOps; ethics; practice &amp; capstone</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27, 28, 29–32</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0" i="0">
                          <a:solidFill>
                            <a:srgbClr val="1C252B"/>
                          </a:solidFill>
                          <a:latin typeface="Segoe UI"/>
                        </a:rPr>
                        <a:t>Monitored service; fairness measurement</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200" b="1" i="0">
                          <a:solidFill>
                            <a:srgbClr val="1C252B"/>
                          </a:solidFill>
                          <a:latin typeface="Segoe UI"/>
                        </a:rPr>
                        <a:t>Capstone due</a:t>
                      </a:r>
                      <a:endParaRPr sz="12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986946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How the marks are earned</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ASSESSMENT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Appendix G     </a:t>
            </a:r>
            <a:fld id="{91C78B63-101F-4621-8E11-22774E689591}" type="slidenum">
              <a:rPr lang="en-GB" sz="1000">
                <a:solidFill>
                  <a:srgbClr val="8795A1"/>
                </a:solidFill>
                <a:latin typeface="Segoe UI"/>
              </a:rPr>
              <a:t>18</a:t>
            </a:fld>
          </a:p>
        </p:txBody>
      </p:sp>
      <p:graphicFrame>
        <p:nvGraphicFramePr>
          <p:cNvPr id="7" name="!!table"/>
          <p:cNvGraphicFramePr>
            <a:graphicFrameLocks noGrp="1"/>
          </p:cNvGraphicFramePr>
          <p:nvPr/>
        </p:nvGraphicFramePr>
        <p:xfrm>
          <a:off x="658368" y="1737360"/>
          <a:ext cx="10874957" cy="3950208"/>
        </p:xfrm>
        <a:graphic>
          <a:graphicData uri="http://schemas.openxmlformats.org/drawingml/2006/table">
            <a:tbl>
              <a:tblPr firstRow="0" bandRow="0" firstCol="0" lastRow="0" lastCol="0" bandCol="0">
                <a:tableStyleId>{2D5ABB26-0587-4C30-8999-92F81FD0307C}</a:tableStyleId>
              </a:tblPr>
              <a:tblGrid>
                <a:gridCol w="2558813"/>
                <a:gridCol w="1279406"/>
                <a:gridCol w="2398888"/>
                <a:gridCol w="4637850"/>
              </a:tblGrid>
              <a:tr h="390144">
                <a:tc>
                  <a:txBody>
                    <a:bodyPr wrap="square"/>
                    <a:lstStyle/>
                    <a:p>
                      <a:pPr algn="l"/>
                      <a:r>
                        <a:rPr sz="1600" b="1" i="0">
                          <a:solidFill>
                            <a:srgbClr val="1A5276"/>
                          </a:solidFill>
                          <a:latin typeface="Segoe UI"/>
                        </a:rPr>
                        <a:t>Component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Weight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Covers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Assesses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33984">
                <a:tc>
                  <a:txBody>
                    <a:bodyPr wrap="square"/>
                    <a:lstStyle/>
                    <a:p>
                      <a:pPr algn="l"/>
                      <a:r>
                        <a:rPr sz="1600" b="0" i="0">
                          <a:solidFill>
                            <a:srgbClr val="1C252B"/>
                          </a:solidFill>
                          <a:latin typeface="Segoe UI"/>
                        </a:rPr>
                        <a:t>Quiz 1 (week 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Ch 1–4</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Vocabulary and the analytics levels; a low-stakes early check</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Assignment 1 (wk 5–7)</a:t>
                      </a:r>
                      <a:endParaRPr sz="16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600" b="0" i="0">
                          <a:solidFill>
                            <a:srgbClr val="1C252B"/>
                          </a:solidFill>
                          <a:latin typeface="Segoe UI"/>
                        </a:rPr>
                        <a:t>15%</a:t>
                      </a:r>
                      <a:endParaRPr sz="16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600" b="0" i="0">
                          <a:solidFill>
                            <a:srgbClr val="1C252B"/>
                          </a:solidFill>
                          <a:latin typeface="Segoe UI"/>
                        </a:rPr>
                        <a:t>Ch 3, 5, 7, 8</a:t>
                      </a:r>
                      <a:endParaRPr sz="16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600" b="0" i="0">
                          <a:solidFill>
                            <a:srgbClr val="1C252B"/>
                          </a:solidFill>
                          <a:latin typeface="Segoe UI"/>
                        </a:rPr>
                        <a:t>An audit and EDA on a messy dataset, with documented cleaning decisions</a:t>
                      </a:r>
                      <a:endParaRPr sz="1600"/>
                    </a:p>
                  </a:txBody>
                  <a:tcPr marL="109728" marR="109728" marT="64008" marB="45720" anchor="t">
                    <a:lnL w="0" cmpd="sng">
                      <a:noFill/>
                    </a:lnL>
                    <a:lnR w="0" cmpd="sng">
                      <a:noFill/>
                    </a:lnR>
                    <a:lnT w="9525" cmpd="sng">
                      <a:noFill/>
                    </a:lnT>
                    <a:lnB w="9525" cmpd="sng">
                      <a:noFill/>
                    </a:lnB>
                    <a:solidFill>
                      <a:srgbClr val="FEF7F1"/>
                    </a:solidFill>
                  </a:tcPr>
                </a:tc>
              </a:tr>
              <a:tr h="633984">
                <a:tc>
                  <a:txBody>
                    <a:bodyPr wrap="square"/>
                    <a:lstStyle/>
                    <a:p>
                      <a:pPr algn="l"/>
                      <a:r>
                        <a:rPr sz="1600" b="0" i="0">
                          <a:solidFill>
                            <a:srgbClr val="1C252B"/>
                          </a:solidFill>
                          <a:latin typeface="Segoe UI"/>
                        </a:rPr>
                        <a:t>Midterm (week 10)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20%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Ch 1–16</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Conceptual understanding; hand calculations; framing a stated problem</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Assignment 2 (wk 9–12)</a:t>
                      </a:r>
                      <a:endParaRPr sz="16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600" b="0" i="0">
                          <a:solidFill>
                            <a:srgbClr val="1C252B"/>
                          </a:solidFill>
                          <a:latin typeface="Segoe UI"/>
                        </a:rPr>
                        <a:t>20%</a:t>
                      </a:r>
                      <a:endParaRPr sz="16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600" b="0" i="0">
                          <a:solidFill>
                            <a:srgbClr val="1C252B"/>
                          </a:solidFill>
                          <a:latin typeface="Segoe UI"/>
                        </a:rPr>
                        <a:t>Ch 11–16</a:t>
                      </a:r>
                      <a:endParaRPr sz="16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600" b="0" i="0">
                          <a:solidFill>
                            <a:srgbClr val="1C252B"/>
                          </a:solidFill>
                          <a:latin typeface="Segoe UI"/>
                        </a:rPr>
                        <a:t>A complete supervised project with baseline, correct validation and cost-based threshold</a:t>
                      </a:r>
                      <a:endParaRPr sz="1600"/>
                    </a:p>
                  </a:txBody>
                  <a:tcPr marL="109728" marR="109728" marT="64008" marB="45720" anchor="t">
                    <a:lnL w="0" cmpd="sng">
                      <a:noFill/>
                    </a:lnL>
                    <a:lnR w="0" cmpd="sng">
                      <a:noFill/>
                    </a:lnR>
                    <a:lnT w="9525" cmpd="sng">
                      <a:noFill/>
                    </a:lnT>
                    <a:lnB w="9525" cmpd="sng">
                      <a:noFill/>
                    </a:lnB>
                    <a:solidFill>
                      <a:srgbClr val="FEF7F1"/>
                    </a:solidFill>
                  </a:tcPr>
                </a:tc>
              </a:tr>
              <a:tr h="390144">
                <a:tc>
                  <a:txBody>
                    <a:bodyPr wrap="square"/>
                    <a:lstStyle/>
                    <a:p>
                      <a:pPr algn="l"/>
                      <a:r>
                        <a:rPr sz="1600" b="0" i="0">
                          <a:solidFill>
                            <a:srgbClr val="1C252B"/>
                          </a:solidFill>
                          <a:latin typeface="Segoe UI"/>
                        </a:rPr>
                        <a:t>Quiz 2 (week 13)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Ch 17–22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Architectures, generative and agentic concepts</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Capstone (wk 14–16)</a:t>
                      </a:r>
                      <a:endParaRPr sz="16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600" b="0" i="0">
                          <a:solidFill>
                            <a:srgbClr val="1C252B"/>
                          </a:solidFill>
                          <a:latin typeface="Segoe UI"/>
                        </a:rPr>
                        <a:t>35%</a:t>
                      </a:r>
                      <a:endParaRPr sz="16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600" b="0" i="0">
                          <a:solidFill>
                            <a:srgbClr val="1C252B"/>
                          </a:solidFill>
                          <a:latin typeface="Segoe UI"/>
                        </a:rPr>
                        <a:t>All</a:t>
                      </a:r>
                      <a:endParaRPr sz="16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600" b="0" i="0">
                          <a:solidFill>
                            <a:srgbClr val="1C252B"/>
                          </a:solidFill>
                          <a:latin typeface="Segoe UI"/>
                        </a:rPr>
                        <a:t>The four deliverables of Chapter 32, marked on that chapter’s rubric</a:t>
                      </a:r>
                      <a:endParaRPr sz="16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1045002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Chapter dependency map</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G.1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Appendix G     </a:t>
            </a:r>
            <a:fld id="{6D133C9A-D877-40B8-8F21-00966005526C}" type="slidenum">
              <a:rPr lang="en-GB" sz="1000">
                <a:solidFill>
                  <a:srgbClr val="8795A1"/>
                </a:solidFill>
                <a:latin typeface="Segoe UI"/>
              </a:rPr>
              <a:t>19</a:t>
            </a:fld>
          </a:p>
        </p:txBody>
      </p:sp>
      <p:pic>
        <p:nvPicPr>
          <p:cNvPr id="6" name="!!figure" descr="Figure G.1. Chapter dependency map. The outlined chapters cannot be skipped; the arrows show why Chapters 25 and 26 are placed in Part V rather than earlie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14343" y="1737360"/>
            <a:ext cx="8963008"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outlined chapters cannot be skipped; the arrows show why Chapters 25 and 26 are placed in Part V rather than earlier.</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103058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If You Must Cut Something</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Course overview</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Appendix G     </a:t>
            </a:r>
            <a:fld id="{52409CB4-8784-436E-8911-7F4D16E5889B}"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Cut </a:t>
            </a:r>
            <a:r>
              <a:rPr sz="2300" b="0" i="1">
                <a:solidFill>
                  <a:srgbClr val="1C252B"/>
                </a:solidFill>
                <a:latin typeface="Segoe UI"/>
              </a:rPr>
              <a:t>depth</a:t>
            </a:r>
            <a:r>
              <a:rPr sz="2300" b="0" i="0">
                <a:solidFill>
                  <a:srgbClr val="1C252B"/>
                </a:solidFill>
                <a:latin typeface="Segoe UI"/>
              </a:rPr>
              <a:t>, never </a:t>
            </a:r>
            <a:r>
              <a:rPr sz="2300" b="0" i="1">
                <a:solidFill>
                  <a:srgbClr val="1C252B"/>
                </a:solidFill>
                <a:latin typeface="Segoe UI"/>
              </a:rPr>
              <a:t>Chapter 14</a:t>
            </a:r>
            <a:r>
              <a:rPr sz="2300" b="0" i="0">
                <a:solidFill>
                  <a:srgbClr val="1C252B"/>
                </a:solidFill>
                <a:latin typeface="Segoe UI"/>
              </a:rPr>
              <a:t>. Evaluation is the hinge of the whole course: a student who cannot evaluate honestly will misreport every subsequent result. If time is short, compress Chapters 18 and 20–22 — they are the most self-contained — and protect Chapters 2, 7, 11, 14 and 28, which everything else depends on.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161113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5425135" y="-457200"/>
            <a:ext cx="6400800" cy="475488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We start with Chapter 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FIRST SESSION</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 — The Data Science Landscape</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BRING</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FFFFFF"/>
                </a:solidFill>
                <a:latin typeface="Segoe UI Semibold"/>
              </a:rPr>
              <a:t>A laptop with Python, and the handout</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FIRST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Meet a dataset; write a frame</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 BEFORE WEEK 2</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Chapters 1 and 2</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Course overview</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8B14AA13-65FA-4B71-9740-47592038CFB6}" type="slidenum">
              <a:rPr lang="en-GB" sz="1000">
                <a:solidFill>
                  <a:srgbClr val="D5DEE5"/>
                </a:solidFill>
                <a:latin typeface="Segoe UI"/>
              </a:rPr>
              <a:t>21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 Course Overview</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