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19D026-ED61-4770-A389-F4A384842383}">
          <p14:sldIdLst>
            <p14:sldId id="256"/>
            <p14:sldId id="257"/>
            <p14:sldId id="258"/>
            <p14:sldId id="259"/>
            <p14:sldId id="260"/>
          </p14:sldIdLst>
        </p14:section>
        <p14:section name="22.1 What Makes Something an Agent" id="{B4DC8317-C093-40AF-A52B-EB58C27297B4}">
          <p14:sldIdLst>
            <p14:sldId id="261"/>
            <p14:sldId id="262"/>
            <p14:sldId id="263"/>
            <p14:sldId id="264"/>
          </p14:sldIdLst>
        </p14:section>
        <p14:section name="22.2 The Agent Loop" id="{EF0A3457-2215-4565-A64D-66444CA03906}">
          <p14:sldIdLst>
            <p14:sldId id="265"/>
            <p14:sldId id="266"/>
            <p14:sldId id="267"/>
            <p14:sldId id="268"/>
          </p14:sldIdLst>
        </p14:section>
        <p14:section name="22.3 Memory" id="{1FFD3D26-C70E-4F9D-AB3C-DF42EEDBA668}">
          <p14:sldIdLst>
            <p14:sldId id="269"/>
            <p14:sldId id="270"/>
            <p14:sldId id="271"/>
          </p14:sldIdLst>
        </p14:section>
        <p14:section name="22.4 Multi-Agent Systems" id="{54EF7B08-06F5-4807-9424-CAE6635CE6E2}">
          <p14:sldIdLst>
            <p14:sldId id="272"/>
            <p14:sldId id="273"/>
            <p14:sldId id="274"/>
          </p14:sldIdLst>
        </p14:section>
        <p14:section name="22.5 Evaluating an Agent" id="{7933CEF9-9111-42B7-8453-178FD59689A8}">
          <p14:sldIdLst>
            <p14:sldId id="275"/>
          </p14:sldIdLst>
        </p14:section>
        <p14:section name="22.6 Failure Modes Unique to Agents" id="{7EB76C83-801A-4D9A-A1EF-3C09035D276C}">
          <p14:sldIdLst>
            <p14:sldId id="276"/>
            <p14:sldId id="277"/>
            <p14:sldId id="278"/>
          </p14:sldIdLst>
        </p14:section>
        <p14:section name="Four lenses" id="{8D391301-36FD-4E0F-9360-F468DBA1BC0F}">
          <p14:sldIdLst>
            <p14:sldId id="279"/>
            <p14:sldId id="280"/>
            <p14:sldId id="281"/>
            <p14:sldId id="282"/>
            <p14:sldId id="283"/>
          </p14:sldIdLst>
        </p14:section>
        <p14:section name="Lab" id="{D62024ED-505C-4BAA-BD86-E5AD5A457855}">
          <p14:sldIdLst>
            <p14:sldId id="284"/>
            <p14:sldId id="285"/>
            <p14:sldId id="286"/>
            <p14:sldId id="287"/>
            <p14:sldId id="288"/>
          </p14:sldIdLst>
        </p14:section>
        <p14:section name="Checkpoint" id="{69BDF1BC-3A0B-4742-BFB0-53D9289C1620}">
          <p14:sldIdLst>
            <p14:sldId id="289"/>
            <p14:sldId id="290"/>
            <p14:sldId id="291"/>
            <p14:sldId id="292"/>
            <p14:sldId id="293"/>
            <p14:sldId id="294"/>
          </p14:sldIdLst>
        </p14:section>
        <p14:section name="Wrap-up" id="{B33F7BAC-F7C3-462A-93A6-EE2BECD2273E}">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Agentic AI. Part 4 — Deep Learning and Modern AI. Week 13: Generative and agentic AI. Handout pages 141–149.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21 — an agent is an LLM plus tools, memory and a loop. Read that chapter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agent; autonomy; agent loop; tool / function calling; Model Context Protocol; short-term and long-term memory; planning; ReAct; multi-agent system; guardrail; human in the loop; prompt injection; blast radius; trajectory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22.1 (handout p. 142): The agent loop. Think, act, observe, remember, repeat. The guardrails listed beneath it are part of the architecture, not an afterthought — an agent without an iteration cap is a bug waiting to bill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22.2 (handout p. 144): Four failure modes that do not exist for ordinary models. They arise from the loop and from tool access, so they must be designed against rather than trained away.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 plausible agent: given a flagged student list, check the timetable, find a free adviser slot, draft a personalised outreach email, and present it for approval. Tools: timetable API, template store, draft-email function. Guardrail: the agent must never send. Contact with a student about academic risk is consequential and identifiable, so a human approves every message — and the agent’s audit log becomes part of the record if the decision is ever challenged.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A plausible agent: each morning, read the ticket tracker, identify tasks that have not moved and whose deadlines are at risk, correlate with sprint capacity, and post a draft stand-up summary with three flagged risks. Tools: tracker API, calendar, chat post. Guardrail: read-only access to the tracker. An agent that can reassign tickets will eventually reassign the wrong one, and the value was in the summary, not the write access.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A plausible agent: on an anomaly alert, pull the last 24 hours of telemetry, retrieve the device’s maintenance history and the relevant manual section, produce a diagnosis with evidence, and open a work order. Guardrail: the agent may open a work order — reversible — but may never issue a device command. Sending an actuator command to physical equipment is irreversible and potentially unsafe, and belongs behind human approval permanently.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 plausible agent: on a SIEM alert, gather context from logs, check the IP against threat intelligence, summarise, and recommend an action. Guardrail: recommend, never execute — an agent with the ability to block addresses can be induced to block your own infrastructure, which is a denial of service you built yourself. And note the reflexive risk: this agent reads attacker-controlled log content, so it is the prime target for prompt injection. Treat every log line as hostile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Agent: investigating an unfamiliar alert, where the next step depends on what the previous one revealed and several tools may be needed. Script: generating the weekly report from a fixed query — known, repeated, and better served by something testable and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retrieved content is attacker-controllable text, and an LLM has no reliable boundary between data and instructions. A classifier only outputs a label; an agent with tools can be induced to act on injected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maximum-iteration cap and a repeated-action detector. A token or spend budget would also have stopped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23 — Data Engineering at Scale. READ: Handout Chapter 22, pages 141–149. THIS WEEK'S LAB: Minimal RAG; agent loop with guardrails. ASSESSMENT: Quiz 2 (Ch 17–22).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7.xml"/><Relationship Id="rId9" Type="http://schemas.openxmlformats.org/officeDocument/2006/relationships/slide" Target="slide20.xml"/><Relationship Id="rId10"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3.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9.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4.png"/><Relationship Id="rId7" Type="http://schemas.openxmlformats.org/officeDocument/2006/relationships/image" Target="../media/image35.svg"/><Relationship Id="rId8" Type="http://schemas.openxmlformats.org/officeDocument/2006/relationships/image" Target="../media/image36.png"/><Relationship Id="rId9" Type="http://schemas.openxmlformats.org/officeDocument/2006/relationships/image" Target="../media/image37.svg"/><Relationship Id="rId10" Type="http://schemas.openxmlformats.org/officeDocument/2006/relationships/image" Target="../media/image38.png"/><Relationship Id="rId11" Type="http://schemas.openxmlformats.org/officeDocument/2006/relationships/image" Target="../media/image39.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image" Target="../media/image32.png"/><Relationship Id="rId5" Type="http://schemas.openxmlformats.org/officeDocument/2006/relationships/image" Target="../media/image42.svg"/><Relationship Id="rId6" Type="http://schemas.openxmlformats.org/officeDocument/2006/relationships/image" Target="../media/image34.png"/><Relationship Id="rId7" Type="http://schemas.openxmlformats.org/officeDocument/2006/relationships/image" Target="../media/image43.svg"/><Relationship Id="rId8" Type="http://schemas.openxmlformats.org/officeDocument/2006/relationships/image" Target="../media/image36.png"/><Relationship Id="rId9" Type="http://schemas.openxmlformats.org/officeDocument/2006/relationships/image" Target="../media/image44.svg"/><Relationship Id="rId10" Type="http://schemas.openxmlformats.org/officeDocument/2006/relationships/image" Target="../media/image38.png"/><Relationship Id="rId11" Type="http://schemas.openxmlformats.org/officeDocument/2006/relationships/image" Target="../media/image45.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image" Target="../media/image34.png"/><Relationship Id="rId5" Type="http://schemas.openxmlformats.org/officeDocument/2006/relationships/image" Target="../media/image48.svg"/><Relationship Id="rId6" Type="http://schemas.openxmlformats.org/officeDocument/2006/relationships/image" Target="../media/image32.png"/><Relationship Id="rId7" Type="http://schemas.openxmlformats.org/officeDocument/2006/relationships/image" Target="../media/image49.svg"/><Relationship Id="rId8" Type="http://schemas.openxmlformats.org/officeDocument/2006/relationships/image" Target="../media/image36.png"/><Relationship Id="rId9" Type="http://schemas.openxmlformats.org/officeDocument/2006/relationships/image" Target="../media/image50.svg"/><Relationship Id="rId10" Type="http://schemas.openxmlformats.org/officeDocument/2006/relationships/image" Target="../media/image38.png"/><Relationship Id="rId11" Type="http://schemas.openxmlformats.org/officeDocument/2006/relationships/image" Target="../media/image51.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36.png"/><Relationship Id="rId5" Type="http://schemas.openxmlformats.org/officeDocument/2006/relationships/image" Target="../media/image54.svg"/><Relationship Id="rId6" Type="http://schemas.openxmlformats.org/officeDocument/2006/relationships/image" Target="../media/image32.png"/><Relationship Id="rId7" Type="http://schemas.openxmlformats.org/officeDocument/2006/relationships/image" Target="../media/image55.svg"/><Relationship Id="rId8" Type="http://schemas.openxmlformats.org/officeDocument/2006/relationships/image" Target="../media/image34.png"/><Relationship Id="rId9" Type="http://schemas.openxmlformats.org/officeDocument/2006/relationships/image" Target="../media/image56.svg"/><Relationship Id="rId10" Type="http://schemas.openxmlformats.org/officeDocument/2006/relationships/image" Target="../media/image38.png"/><Relationship Id="rId11" Type="http://schemas.openxmlformats.org/officeDocument/2006/relationships/image" Target="../media/image57.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38.png"/><Relationship Id="rId5" Type="http://schemas.openxmlformats.org/officeDocument/2006/relationships/image" Target="../media/image60.svg"/><Relationship Id="rId6" Type="http://schemas.openxmlformats.org/officeDocument/2006/relationships/image" Target="../media/image32.png"/><Relationship Id="rId7" Type="http://schemas.openxmlformats.org/officeDocument/2006/relationships/image" Target="../media/image61.svg"/><Relationship Id="rId8" Type="http://schemas.openxmlformats.org/officeDocument/2006/relationships/image" Target="../media/image34.png"/><Relationship Id="rId9" Type="http://schemas.openxmlformats.org/officeDocument/2006/relationships/image" Target="../media/image62.svg"/><Relationship Id="rId10" Type="http://schemas.openxmlformats.org/officeDocument/2006/relationships/image" Target="../media/image36.png"/><Relationship Id="rId11" Type="http://schemas.openxmlformats.org/officeDocument/2006/relationships/image" Target="../media/image63.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6.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7.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8.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4.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5.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6.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2.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22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Agentic AI</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DEEP LEARNING AND MODERN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22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82DCC98B-BDD7-4415-AC9E-F9CFA2AC50C8}"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78988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789880"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98065"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498065"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5495529"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Agentic AI</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2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2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2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21  </a:t>
            </a:r>
            <a:r>
              <a:rPr sz="1400" b="0" i="0">
                <a:solidFill>
                  <a:srgbClr val="1C252B"/>
                </a:solidFill>
                <a:latin typeface="Segoe UI"/>
              </a:rPr>
              <a:t>Generative AI and Large Language Models</a:t>
            </a:r>
          </a:p>
        </p:txBody>
      </p:sp>
      <p:sp>
        <p:nvSpPr>
          <p:cNvPr id="8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9"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1"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CBA06A11-6D9E-4DD6-9C1D-32B68131F07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an agent from a chatbot and from traditional automation.</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the sense–think–act–observe loop and the role of tools, memory and planning.</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Design</a:t>
            </a:r>
            <a:r>
              <a:rPr sz="2100" b="0" i="0">
                <a:solidFill>
                  <a:srgbClr val="1C252B"/>
                </a:solidFill>
                <a:latin typeface="Segoe UI"/>
              </a:rPr>
              <a:t> an agent for a stated task, specifying its tools and its guardrails.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Identify</a:t>
            </a:r>
            <a:r>
              <a:rPr sz="2100" b="0" i="0">
                <a:solidFill>
                  <a:srgbClr val="1C252B"/>
                </a:solidFill>
                <a:latin typeface="Segoe UI"/>
              </a:rPr>
              <a:t> the failure modes unique to agentic systems.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Judge</a:t>
            </a:r>
            <a:r>
              <a:rPr sz="2100" b="0" i="0">
                <a:solidFill>
                  <a:srgbClr val="1C252B"/>
                </a:solidFill>
                <a:latin typeface="Segoe UI"/>
              </a:rPr>
              <a:t> when an agent is the wrong answer.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A210083F-AE7C-4FCD-874C-7FD9EA6479A8}" type="slidenum">
              <a:rPr lang="en-GB" sz="1000">
                <a:solidFill>
                  <a:srgbClr val="8795A1"/>
                </a:solidFill>
                <a:latin typeface="Segoe UI"/>
              </a:rPr>
              <a:t>4</a:t>
            </a:fld>
          </a:p>
        </p:txBody>
      </p:sp>
      <p:sp>
        <p:nvSpPr>
          <p:cNvPr id="7" name="!!term-agent">
            <a:extLst>
              <a:ext uri="{C183D7F6-B498-43B3-948B-1728B52AA6E4}">
                <adec:decorative xmlns:adec="http://schemas.microsoft.com/office/drawing/2017/decorative" val="1"/>
              </a:ext>
            </a:extLst>
          </p:cNvPr>
          <p:cNvSpPr/>
          <p:nvPr/>
        </p:nvSpPr>
        <p:spPr>
          <a:xfrm>
            <a:off x="658368" y="1847088"/>
            <a:ext cx="9624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gen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gent"/>
          <p:cNvSpPr txBox="1"/>
          <p:nvPr/>
        </p:nvSpPr>
        <p:spPr>
          <a:xfrm>
            <a:off x="950976" y="1962911"/>
            <a:ext cx="7795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agent</a:t>
            </a:r>
          </a:p>
        </p:txBody>
      </p:sp>
      <p:sp>
        <p:nvSpPr>
          <p:cNvPr id="10" name="!!term-autonomy">
            <a:extLst>
              <a:ext uri="{C183D7F6-B498-43B3-948B-1728B52AA6E4}">
                <adec:decorative xmlns:adec="http://schemas.microsoft.com/office/drawing/2017/decorative" val="1"/>
              </a:ext>
            </a:extLst>
          </p:cNvPr>
          <p:cNvSpPr/>
          <p:nvPr/>
        </p:nvSpPr>
        <p:spPr>
          <a:xfrm>
            <a:off x="1767132" y="1847088"/>
            <a:ext cx="13709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autonomy">
            <a:extLst>
              <a:ext uri="{C183D7F6-B498-43B3-948B-1728B52AA6E4}">
                <adec:decorative xmlns:adec="http://schemas.microsoft.com/office/drawing/2017/decorative" val="1"/>
              </a:ext>
            </a:extLst>
          </p:cNvPr>
          <p:cNvSpPr/>
          <p:nvPr/>
        </p:nvSpPr>
        <p:spPr>
          <a:xfrm>
            <a:off x="18951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autonomy"/>
          <p:cNvSpPr txBox="1"/>
          <p:nvPr/>
        </p:nvSpPr>
        <p:spPr>
          <a:xfrm>
            <a:off x="2059740" y="1962911"/>
            <a:ext cx="118807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autonomy</a:t>
            </a:r>
          </a:p>
        </p:txBody>
      </p:sp>
      <p:sp>
        <p:nvSpPr>
          <p:cNvPr id="13" name="!!term-agent loop">
            <a:extLst>
              <a:ext uri="{C183D7F6-B498-43B3-948B-1728B52AA6E4}">
                <adec:decorative xmlns:adec="http://schemas.microsoft.com/office/drawing/2017/decorative" val="1"/>
              </a:ext>
            </a:extLst>
          </p:cNvPr>
          <p:cNvSpPr/>
          <p:nvPr/>
        </p:nvSpPr>
        <p:spPr>
          <a:xfrm>
            <a:off x="3284389" y="1847088"/>
            <a:ext cx="14341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agent loop">
            <a:extLst>
              <a:ext uri="{C183D7F6-B498-43B3-948B-1728B52AA6E4}">
                <adec:decorative xmlns:adec="http://schemas.microsoft.com/office/drawing/2017/decorative" val="1"/>
              </a:ext>
            </a:extLst>
          </p:cNvPr>
          <p:cNvSpPr/>
          <p:nvPr/>
        </p:nvSpPr>
        <p:spPr>
          <a:xfrm>
            <a:off x="341240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agent loop"/>
          <p:cNvSpPr txBox="1"/>
          <p:nvPr/>
        </p:nvSpPr>
        <p:spPr>
          <a:xfrm>
            <a:off x="3576997" y="1962911"/>
            <a:ext cx="125131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agent loop</a:t>
            </a:r>
          </a:p>
        </p:txBody>
      </p:sp>
      <p:sp>
        <p:nvSpPr>
          <p:cNvPr id="16" name="!!term-tool / functio">
            <a:extLst>
              <a:ext uri="{C183D7F6-B498-43B3-948B-1728B52AA6E4}">
                <adec:decorative xmlns:adec="http://schemas.microsoft.com/office/drawing/2017/decorative" val="1"/>
              </a:ext>
            </a:extLst>
          </p:cNvPr>
          <p:cNvSpPr/>
          <p:nvPr/>
        </p:nvSpPr>
        <p:spPr>
          <a:xfrm>
            <a:off x="4864886" y="1847088"/>
            <a:ext cx="23989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ool / functio">
            <a:extLst>
              <a:ext uri="{C183D7F6-B498-43B3-948B-1728B52AA6E4}">
                <adec:decorative xmlns:adec="http://schemas.microsoft.com/office/drawing/2017/decorative" val="1"/>
              </a:ext>
            </a:extLst>
          </p:cNvPr>
          <p:cNvSpPr/>
          <p:nvPr/>
        </p:nvSpPr>
        <p:spPr>
          <a:xfrm>
            <a:off x="499290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ool / functio"/>
          <p:cNvSpPr txBox="1"/>
          <p:nvPr/>
        </p:nvSpPr>
        <p:spPr>
          <a:xfrm>
            <a:off x="5157494" y="1962911"/>
            <a:ext cx="221610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tool / function calling</a:t>
            </a:r>
          </a:p>
        </p:txBody>
      </p:sp>
      <p:sp>
        <p:nvSpPr>
          <p:cNvPr id="19" name="!!term-Model Context ">
            <a:extLst>
              <a:ext uri="{C183D7F6-B498-43B3-948B-1728B52AA6E4}">
                <adec:decorative xmlns:adec="http://schemas.microsoft.com/office/drawing/2017/decorative" val="1"/>
              </a:ext>
            </a:extLst>
          </p:cNvPr>
          <p:cNvSpPr/>
          <p:nvPr/>
        </p:nvSpPr>
        <p:spPr>
          <a:xfrm>
            <a:off x="7410172" y="1847088"/>
            <a:ext cx="26204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Model Context ">
            <a:extLst>
              <a:ext uri="{C183D7F6-B498-43B3-948B-1728B52AA6E4}">
                <adec:decorative xmlns:adec="http://schemas.microsoft.com/office/drawing/2017/decorative" val="1"/>
              </a:ext>
            </a:extLst>
          </p:cNvPr>
          <p:cNvSpPr/>
          <p:nvPr/>
        </p:nvSpPr>
        <p:spPr>
          <a:xfrm>
            <a:off x="753818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Model Context "/>
          <p:cNvSpPr txBox="1"/>
          <p:nvPr/>
        </p:nvSpPr>
        <p:spPr>
          <a:xfrm>
            <a:off x="7702780" y="1962911"/>
            <a:ext cx="243759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Model Context Protocol</a:t>
            </a:r>
          </a:p>
        </p:txBody>
      </p:sp>
      <p:sp>
        <p:nvSpPr>
          <p:cNvPr id="22" name="!!term-short-term and">
            <a:extLst>
              <a:ext uri="{C183D7F6-B498-43B3-948B-1728B52AA6E4}">
                <adec:decorative xmlns:adec="http://schemas.microsoft.com/office/drawing/2017/decorative" val="1"/>
              </a:ext>
            </a:extLst>
          </p:cNvPr>
          <p:cNvSpPr/>
          <p:nvPr/>
        </p:nvSpPr>
        <p:spPr>
          <a:xfrm>
            <a:off x="658368" y="2468880"/>
            <a:ext cx="36177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hort-term and">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hort-term and"/>
          <p:cNvSpPr txBox="1"/>
          <p:nvPr/>
        </p:nvSpPr>
        <p:spPr>
          <a:xfrm>
            <a:off x="950976" y="2584704"/>
            <a:ext cx="34348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short-term and long-term memory</a:t>
            </a:r>
          </a:p>
        </p:txBody>
      </p:sp>
      <p:sp>
        <p:nvSpPr>
          <p:cNvPr id="25" name="!!term-planning">
            <a:extLst>
              <a:ext uri="{C183D7F6-B498-43B3-948B-1728B52AA6E4}">
                <adec:decorative xmlns:adec="http://schemas.microsoft.com/office/drawing/2017/decorative" val="1"/>
              </a:ext>
            </a:extLst>
          </p:cNvPr>
          <p:cNvSpPr/>
          <p:nvPr/>
        </p:nvSpPr>
        <p:spPr>
          <a:xfrm>
            <a:off x="4422372" y="2468880"/>
            <a:ext cx="12406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lanning">
            <a:extLst>
              <a:ext uri="{C183D7F6-B498-43B3-948B-1728B52AA6E4}">
                <adec:decorative xmlns:adec="http://schemas.microsoft.com/office/drawing/2017/decorative" val="1"/>
              </a:ext>
            </a:extLst>
          </p:cNvPr>
          <p:cNvSpPr/>
          <p:nvPr/>
        </p:nvSpPr>
        <p:spPr>
          <a:xfrm>
            <a:off x="455038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lanning"/>
          <p:cNvSpPr txBox="1"/>
          <p:nvPr/>
        </p:nvSpPr>
        <p:spPr>
          <a:xfrm>
            <a:off x="4714980" y="2584704"/>
            <a:ext cx="105772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planning</a:t>
            </a:r>
          </a:p>
        </p:txBody>
      </p:sp>
      <p:sp>
        <p:nvSpPr>
          <p:cNvPr id="28" name="!!term-ReAct">
            <a:extLst>
              <a:ext uri="{C183D7F6-B498-43B3-948B-1728B52AA6E4}">
                <adec:decorative xmlns:adec="http://schemas.microsoft.com/office/drawing/2017/decorative" val="1"/>
              </a:ext>
            </a:extLst>
          </p:cNvPr>
          <p:cNvSpPr/>
          <p:nvPr/>
        </p:nvSpPr>
        <p:spPr>
          <a:xfrm>
            <a:off x="5809285" y="2468880"/>
            <a:ext cx="9708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eAct">
            <a:extLst>
              <a:ext uri="{C183D7F6-B498-43B3-948B-1728B52AA6E4}">
                <adec:decorative xmlns:adec="http://schemas.microsoft.com/office/drawing/2017/decorative" val="1"/>
              </a:ext>
            </a:extLst>
          </p:cNvPr>
          <p:cNvSpPr/>
          <p:nvPr/>
        </p:nvSpPr>
        <p:spPr>
          <a:xfrm>
            <a:off x="593730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eAct"/>
          <p:cNvSpPr txBox="1"/>
          <p:nvPr/>
        </p:nvSpPr>
        <p:spPr>
          <a:xfrm>
            <a:off x="6101893" y="2584704"/>
            <a:ext cx="7879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ReAct</a:t>
            </a:r>
          </a:p>
        </p:txBody>
      </p:sp>
      <p:sp>
        <p:nvSpPr>
          <p:cNvPr id="31" name="!!term-multi-agent sy">
            <a:extLst>
              <a:ext uri="{C183D7F6-B498-43B3-948B-1728B52AA6E4}">
                <adec:decorative xmlns:adec="http://schemas.microsoft.com/office/drawing/2017/decorative" val="1"/>
              </a:ext>
            </a:extLst>
          </p:cNvPr>
          <p:cNvSpPr/>
          <p:nvPr/>
        </p:nvSpPr>
        <p:spPr>
          <a:xfrm>
            <a:off x="6926457" y="2468880"/>
            <a:ext cx="22016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ulti-agent sy">
            <a:extLst>
              <a:ext uri="{C183D7F6-B498-43B3-948B-1728B52AA6E4}">
                <adec:decorative xmlns:adec="http://schemas.microsoft.com/office/drawing/2017/decorative" val="1"/>
              </a:ext>
            </a:extLst>
          </p:cNvPr>
          <p:cNvSpPr/>
          <p:nvPr/>
        </p:nvSpPr>
        <p:spPr>
          <a:xfrm>
            <a:off x="705447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ulti-agent sy"/>
          <p:cNvSpPr txBox="1"/>
          <p:nvPr/>
        </p:nvSpPr>
        <p:spPr>
          <a:xfrm>
            <a:off x="7219065" y="2584704"/>
            <a:ext cx="20187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multi-agent system</a:t>
            </a:r>
          </a:p>
        </p:txBody>
      </p:sp>
      <p:sp>
        <p:nvSpPr>
          <p:cNvPr id="34" name="!!term-guardrail">
            <a:extLst>
              <a:ext uri="{C183D7F6-B498-43B3-948B-1728B52AA6E4}">
                <adec:decorative xmlns:adec="http://schemas.microsoft.com/office/drawing/2017/decorative" val="1"/>
              </a:ext>
            </a:extLst>
          </p:cNvPr>
          <p:cNvSpPr/>
          <p:nvPr/>
        </p:nvSpPr>
        <p:spPr>
          <a:xfrm>
            <a:off x="9274428" y="2468880"/>
            <a:ext cx="125590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guardrail">
            <a:extLst>
              <a:ext uri="{C183D7F6-B498-43B3-948B-1728B52AA6E4}">
                <adec:decorative xmlns:adec="http://schemas.microsoft.com/office/drawing/2017/decorative" val="1"/>
              </a:ext>
            </a:extLst>
          </p:cNvPr>
          <p:cNvSpPr/>
          <p:nvPr/>
        </p:nvSpPr>
        <p:spPr>
          <a:xfrm>
            <a:off x="940244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guardrail"/>
          <p:cNvSpPr txBox="1"/>
          <p:nvPr/>
        </p:nvSpPr>
        <p:spPr>
          <a:xfrm>
            <a:off x="9567036" y="2584704"/>
            <a:ext cx="107302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guardrail</a:t>
            </a:r>
          </a:p>
        </p:txBody>
      </p:sp>
      <p:sp>
        <p:nvSpPr>
          <p:cNvPr id="37" name="!!term-human in the l">
            <a:extLst>
              <a:ext uri="{C183D7F6-B498-43B3-948B-1728B52AA6E4}">
                <adec:decorative xmlns:adec="http://schemas.microsoft.com/office/drawing/2017/decorative" val="1"/>
              </a:ext>
            </a:extLst>
          </p:cNvPr>
          <p:cNvSpPr/>
          <p:nvPr/>
        </p:nvSpPr>
        <p:spPr>
          <a:xfrm>
            <a:off x="658368" y="3090672"/>
            <a:ext cx="21235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human in the l">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human in the l"/>
          <p:cNvSpPr txBox="1"/>
          <p:nvPr/>
        </p:nvSpPr>
        <p:spPr>
          <a:xfrm>
            <a:off x="950976" y="3206496"/>
            <a:ext cx="19406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human in the loop</a:t>
            </a:r>
          </a:p>
        </p:txBody>
      </p:sp>
      <p:sp>
        <p:nvSpPr>
          <p:cNvPr id="40" name="!!term-prompt injecti">
            <a:extLst>
              <a:ext uri="{C183D7F6-B498-43B3-948B-1728B52AA6E4}">
                <adec:decorative xmlns:adec="http://schemas.microsoft.com/office/drawing/2017/decorative" val="1"/>
              </a:ext>
            </a:extLst>
          </p:cNvPr>
          <p:cNvSpPr/>
          <p:nvPr/>
        </p:nvSpPr>
        <p:spPr>
          <a:xfrm>
            <a:off x="2928225" y="3090672"/>
            <a:ext cx="19626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rompt injecti">
            <a:extLst>
              <a:ext uri="{C183D7F6-B498-43B3-948B-1728B52AA6E4}">
                <adec:decorative xmlns:adec="http://schemas.microsoft.com/office/drawing/2017/decorative" val="1"/>
              </a:ext>
            </a:extLst>
          </p:cNvPr>
          <p:cNvSpPr/>
          <p:nvPr/>
        </p:nvSpPr>
        <p:spPr>
          <a:xfrm>
            <a:off x="305624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rompt injecti"/>
          <p:cNvSpPr txBox="1"/>
          <p:nvPr/>
        </p:nvSpPr>
        <p:spPr>
          <a:xfrm>
            <a:off x="3220833" y="3206496"/>
            <a:ext cx="17797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prompt injection</a:t>
            </a:r>
          </a:p>
        </p:txBody>
      </p:sp>
      <p:sp>
        <p:nvSpPr>
          <p:cNvPr id="43" name="!!term-blast radius">
            <a:extLst>
              <a:ext uri="{C183D7F6-B498-43B3-948B-1728B52AA6E4}">
                <adec:decorative xmlns:adec="http://schemas.microsoft.com/office/drawing/2017/decorative" val="1"/>
              </a:ext>
            </a:extLst>
          </p:cNvPr>
          <p:cNvSpPr/>
          <p:nvPr/>
        </p:nvSpPr>
        <p:spPr>
          <a:xfrm>
            <a:off x="5037204" y="3090672"/>
            <a:ext cx="14864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blast radius">
            <a:extLst>
              <a:ext uri="{C183D7F6-B498-43B3-948B-1728B52AA6E4}">
                <adec:decorative xmlns:adec="http://schemas.microsoft.com/office/drawing/2017/decorative" val="1"/>
              </a:ext>
            </a:extLst>
          </p:cNvPr>
          <p:cNvSpPr/>
          <p:nvPr/>
        </p:nvSpPr>
        <p:spPr>
          <a:xfrm>
            <a:off x="516522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blast radius"/>
          <p:cNvSpPr txBox="1"/>
          <p:nvPr/>
        </p:nvSpPr>
        <p:spPr>
          <a:xfrm>
            <a:off x="5329812" y="3206496"/>
            <a:ext cx="13035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blast radius</a:t>
            </a:r>
          </a:p>
        </p:txBody>
      </p:sp>
      <p:sp>
        <p:nvSpPr>
          <p:cNvPr id="46" name="!!term-trajectory eva">
            <a:extLst>
              <a:ext uri="{C183D7F6-B498-43B3-948B-1728B52AA6E4}">
                <adec:decorative xmlns:adec="http://schemas.microsoft.com/office/drawing/2017/decorative" val="1"/>
              </a:ext>
            </a:extLst>
          </p:cNvPr>
          <p:cNvSpPr/>
          <p:nvPr/>
        </p:nvSpPr>
        <p:spPr>
          <a:xfrm>
            <a:off x="6669932" y="3090672"/>
            <a:ext cx="23074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trajectory eva">
            <a:extLst>
              <a:ext uri="{C183D7F6-B498-43B3-948B-1728B52AA6E4}">
                <adec:decorative xmlns:adec="http://schemas.microsoft.com/office/drawing/2017/decorative" val="1"/>
              </a:ext>
            </a:extLst>
          </p:cNvPr>
          <p:cNvSpPr/>
          <p:nvPr/>
        </p:nvSpPr>
        <p:spPr>
          <a:xfrm>
            <a:off x="679794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trajectory eva"/>
          <p:cNvSpPr txBox="1"/>
          <p:nvPr/>
        </p:nvSpPr>
        <p:spPr>
          <a:xfrm>
            <a:off x="6962540" y="3206496"/>
            <a:ext cx="21245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trajectory evaluation</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141–149     </a:t>
            </a:r>
            <a:fld id="{5EF723F3-A997-4281-83BF-CB47F1BB91EA}" type="slidenum">
              <a:rPr lang="en-GB" sz="1000">
                <a:solidFill>
                  <a:srgbClr val="8795A1"/>
                </a:solidFill>
                <a:latin typeface="Segoe UI"/>
              </a:rPr>
              <a:t>5</a:t>
            </a:fld>
          </a:p>
        </p:txBody>
      </p:sp>
      <p:sp>
        <p:nvSpPr>
          <p:cNvPr id="7" name="!!ag0" descr="Go to section 22.1 What Makes Something an Agen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Makes Something an Agent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141  ›</a:t>
            </a:r>
          </a:p>
        </p:txBody>
      </p:sp>
      <p:sp>
        <p:nvSpPr>
          <p:cNvPr id="12" name="!!ag1" descr="Go to section 22.2 The Agent Loop">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Agent Loop</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142  ›</a:t>
            </a:r>
          </a:p>
        </p:txBody>
      </p:sp>
      <p:sp>
        <p:nvSpPr>
          <p:cNvPr id="17" name="!!ag2" descr="Go to section 22.3 Memor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Memory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143  ›</a:t>
            </a:r>
          </a:p>
        </p:txBody>
      </p:sp>
      <p:sp>
        <p:nvSpPr>
          <p:cNvPr id="22" name="!!ag3" descr="Go to section 22.4 Multi-Agent System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Multi-Agent Systems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143  ›</a:t>
            </a:r>
          </a:p>
        </p:txBody>
      </p:sp>
      <p:sp>
        <p:nvSpPr>
          <p:cNvPr id="27" name="!!ag4" descr="Go to section 22.5 Evaluating an Agen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Evaluating an Agent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143  ›</a:t>
            </a:r>
          </a:p>
        </p:txBody>
      </p:sp>
      <p:sp>
        <p:nvSpPr>
          <p:cNvPr id="32" name="!!ag5" descr="Go to section 22.6 Failure Modes Unique to Agents">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22.6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Failure Modes Unique to Agents</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144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Makes Something an Agent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22.1   What Makes Something an Agent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The Agent Loop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Memory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Multi-Agent Systems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Evaluating an Agent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Failure Modes Unique to Agents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§22.1     </a:t>
            </a:r>
            <a:fld id="{CCB41BC1-31D2-4D32-BD71-C1A99CB64911}"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AI Agent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141     </a:t>
            </a:r>
            <a:fld id="{DC01CBB3-57EF-4B3D-B320-2A9B3D7F0DAF}"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system that pursues a </a:t>
            </a:r>
            <a:r>
              <a:rPr sz="2300" b="1" i="0">
                <a:solidFill>
                  <a:srgbClr val="1C252B"/>
                </a:solidFill>
                <a:latin typeface="Segoe UI"/>
              </a:rPr>
              <a:t>goal</a:t>
            </a:r>
            <a:r>
              <a:rPr sz="2300" b="0" i="0">
                <a:solidFill>
                  <a:srgbClr val="1C252B"/>
                </a:solidFill>
                <a:latin typeface="Segoe UI"/>
              </a:rPr>
              <a:t> over multiple steps by </a:t>
            </a:r>
            <a:r>
              <a:rPr sz="2300" b="0" i="1">
                <a:solidFill>
                  <a:srgbClr val="1C252B"/>
                </a:solidFill>
                <a:latin typeface="Segoe UI"/>
              </a:rPr>
              <a:t>deciding for itself</a:t>
            </a:r>
            <a:r>
              <a:rPr sz="2300" b="0" i="0">
                <a:solidFill>
                  <a:srgbClr val="1C252B"/>
                </a:solidFill>
                <a:latin typeface="Segoe UI"/>
              </a:rPr>
              <a:t> what to do next: it observes, reasons, selects and calls tools, observes the results, and repeats until the goal is met or it gives up. The defining property is that the sequence of actions is not fixed in advance.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Makes Something an Agent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141     </a:t>
            </a:r>
            <a:fld id="{30693CBD-02C9-4695-B199-04C32D2DF4E7}"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6" cy="3355848"/>
        </p:xfrm>
        <a:graphic>
          <a:graphicData uri="http://schemas.openxmlformats.org/drawingml/2006/table">
            <a:tbl>
              <a:tblPr firstRow="0" bandRow="0" firstCol="0" lastRow="0" lastCol="0" bandCol="0">
                <a:tableStyleId>{2D5ABB26-0587-4C30-8999-92F81FD0307C}</a:tableStyleId>
              </a:tblPr>
              <a:tblGrid>
                <a:gridCol w="2236693"/>
                <a:gridCol w="2699457"/>
                <a:gridCol w="2699457"/>
                <a:gridCol w="3239349"/>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Automation script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Chatbot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Agent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Decides the steps?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 you wrote them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 one turn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Acts on the world?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No — it only replies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Yes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Handles the unexpected?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 it crashes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Somewhat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Attempts to</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Predictable?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Completely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Mostly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1" i="0">
                          <a:solidFill>
                            <a:srgbClr val="1C252B"/>
                          </a:solidFill>
                          <a:latin typeface="Segoe UI"/>
                        </a:rPr>
                        <a:t>No</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Auditable?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Trivially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Easily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Only if you build for it</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Right for</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Known, repeated tasks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Answering questions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Open-ended tasks needing several tools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Trade You Are Making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141     </a:t>
            </a:r>
            <a:fld id="{5911B156-02F1-4622-B483-BCB7692E068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Everything an agent gains in flexibility it loses in predictability. A script that does the wrong thing does the </a:t>
            </a:r>
            <a:r>
              <a:rPr sz="2300" b="0" i="1">
                <a:solidFill>
                  <a:srgbClr val="1C252B"/>
                </a:solidFill>
                <a:latin typeface="Segoe UI"/>
              </a:rPr>
              <a:t>same</a:t>
            </a:r>
            <a:r>
              <a:rPr sz="2300" b="0" i="0">
                <a:solidFill>
                  <a:srgbClr val="1C252B"/>
                </a:solidFill>
                <a:latin typeface="Segoe UI"/>
              </a:rPr>
              <a:t> wrong thing every time and can be fixed; an agent that does the wrong thing may do a different wrong thing tomorrow. If the task is well defined and repeated, write the script — it is cheaper, faster, testable, and it will still work next year.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Agent Loop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Makes Something an Agent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22.2   The Agent Loop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Memory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Multi-Agent Systems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Evaluating an Agent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Failure Modes Unique to Agents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§22.2     </a:t>
            </a:r>
            <a:fld id="{E93D5EF0-B19A-4A76-8F1C-5E324498E767}"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agent loop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142     </a:t>
            </a:r>
            <a:fld id="{BB71ED80-22D9-46C8-AC41-89EDFC5EDE2E}" type="slidenum">
              <a:rPr lang="en-GB" sz="1000">
                <a:solidFill>
                  <a:srgbClr val="8795A1"/>
                </a:solidFill>
                <a:latin typeface="Segoe UI"/>
              </a:rPr>
              <a:t>11</a:t>
            </a:fld>
          </a:p>
        </p:txBody>
      </p:sp>
      <p:pic>
        <p:nvPicPr>
          <p:cNvPr id="6" name="!!figure" descr="Figure 22.1. The agent loop. Think, act, observe, remember, repeat. The guardrails listed beneath it are part of the architecture, not an afterthought — an agent without an iteration cap is a bug waiting to bill you."/>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19390" y="1737360"/>
            <a:ext cx="615291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Think, act, observe, remember, repeat. The guardrails listed beneath it are part of the architecture, not an afterthought — an agent without an iteration cap is a bug waiting to bill you.</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ReAct: Reason, then Act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142     </a:t>
            </a:r>
            <a:fld id="{4B068EB6-26F0-4D15-AADD-6A114FF57613}"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9506"/>
          </a:xfrm>
          <a:prstGeom prst="roundRect">
            <a:avLst>
              <a:gd name="adj" fmla="val 20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950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dominant pattern in practice. At each turn the model writes its reasoning </a:t>
            </a:r>
            <a:r>
              <a:rPr sz="1900" b="0" i="1">
                <a:solidFill>
                  <a:srgbClr val="1C252B"/>
                </a:solidFill>
                <a:latin typeface="Segoe UI"/>
              </a:rPr>
              <a:t>and</a:t>
            </a:r>
            <a:r>
              <a:rPr sz="1900" b="0" i="0">
                <a:solidFill>
                  <a:srgbClr val="1C252B"/>
                </a:solidFill>
                <a:latin typeface="Segoe UI"/>
              </a:rPr>
              <a:t> its chosen action, then sees the result:</a:t>
            </a:r>
          </a:p>
        </p:txBody>
      </p:sp>
      <p:sp>
        <p:nvSpPr>
          <p:cNvPr id="10" name="body-1"/>
          <p:cNvSpPr txBox="1"/>
          <p:nvPr/>
        </p:nvSpPr>
        <p:spPr>
          <a:xfrm>
            <a:off x="1060704" y="2783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Thought:</a:t>
            </a:r>
            <a:r>
              <a:rPr sz="1900" b="0" i="0">
                <a:solidFill>
                  <a:srgbClr val="1C252B"/>
                </a:solidFill>
                <a:latin typeface="Segoe UI"/>
              </a:rPr>
              <a:t> I need last term’s pass rate before I can compare.</a:t>
            </a:r>
          </a:p>
        </p:txBody>
      </p:sp>
      <p:sp>
        <p:nvSpPr>
          <p:cNvPr id="11" name="body-2"/>
          <p:cNvSpPr txBox="1"/>
          <p:nvPr/>
        </p:nvSpPr>
        <p:spPr>
          <a:xfrm>
            <a:off x="1060704" y="3217113"/>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Action:</a:t>
            </a:r>
            <a:r>
              <a:rPr sz="1900" b="0" i="0">
                <a:solidFill>
                  <a:srgbClr val="1C252B"/>
                </a:solidFill>
                <a:latin typeface="Segoe UI"/>
              </a:rPr>
              <a:t> </a:t>
            </a:r>
            <a:r>
              <a:rPr sz="1800" b="0" i="0">
                <a:solidFill>
                  <a:srgbClr val="1F4E79"/>
                </a:solidFill>
                <a:latin typeface="Consolas"/>
              </a:rPr>
              <a:t>query_db("SELECT pass_rate FROM terms WHERE id=2025S2")</a:t>
            </a:r>
          </a:p>
        </p:txBody>
      </p:sp>
      <p:sp>
        <p:nvSpPr>
          <p:cNvPr id="12" name="body-3"/>
          <p:cNvSpPr txBox="1"/>
          <p:nvPr/>
        </p:nvSpPr>
        <p:spPr>
          <a:xfrm>
            <a:off x="1060704" y="3650970"/>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Observation:</a:t>
            </a:r>
            <a:r>
              <a:rPr sz="1900" b="0" i="0">
                <a:solidFill>
                  <a:srgbClr val="1C252B"/>
                </a:solidFill>
                <a:latin typeface="Segoe UI"/>
              </a:rPr>
              <a:t> </a:t>
            </a:r>
            <a:r>
              <a:rPr sz="1800" b="0" i="0">
                <a:solidFill>
                  <a:srgbClr val="1F4E79"/>
                </a:solidFill>
                <a:latin typeface="Consolas"/>
              </a:rPr>
              <a:t>0.68</a:t>
            </a:r>
          </a:p>
        </p:txBody>
      </p:sp>
      <p:sp>
        <p:nvSpPr>
          <p:cNvPr id="13" name="body-4"/>
          <p:cNvSpPr txBox="1"/>
          <p:nvPr/>
        </p:nvSpPr>
        <p:spPr>
          <a:xfrm>
            <a:off x="1060704" y="4084828"/>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Thought:</a:t>
            </a:r>
            <a:r>
              <a:rPr sz="1900" b="0" i="0">
                <a:solidFill>
                  <a:srgbClr val="1C252B"/>
                </a:solidFill>
                <a:latin typeface="Segoe UI"/>
              </a:rPr>
              <a:t> Now compare with this term’s 0.79 and test the difference.</a:t>
            </a:r>
          </a:p>
        </p:txBody>
      </p:sp>
      <p:sp>
        <p:nvSpPr>
          <p:cNvPr id="14" name="body-5"/>
          <p:cNvSpPr txBox="1"/>
          <p:nvPr/>
        </p:nvSpPr>
        <p:spPr>
          <a:xfrm>
            <a:off x="1060704" y="451868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Action:</a:t>
            </a:r>
            <a:r>
              <a:rPr sz="1900" b="0" i="0">
                <a:solidFill>
                  <a:srgbClr val="1C252B"/>
                </a:solidFill>
                <a:latin typeface="Segoe UI"/>
              </a:rPr>
              <a:t> </a:t>
            </a:r>
            <a:r>
              <a:rPr sz="1800" b="0" i="0">
                <a:solidFill>
                  <a:srgbClr val="1F4E79"/>
                </a:solidFill>
                <a:latin typeface="Consolas"/>
              </a:rPr>
              <a:t>run_python("two-proportion z-test, ...")</a:t>
            </a:r>
          </a:p>
        </p:txBody>
      </p:sp>
      <p:sp>
        <p:nvSpPr>
          <p:cNvPr id="15" name="body-6"/>
          <p:cNvSpPr txBox="1"/>
          <p:nvPr/>
        </p:nvSpPr>
        <p:spPr>
          <a:xfrm>
            <a:off x="1060704" y="4952542"/>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Writing the thought out improves the choice of action — the chain-of-thought effect from Chapter 21 — and it produces the audit trail without which the system cannot be debugged or defended.</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Tools Get Wired In: One Protocol Instead of N Adapters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142     </a:t>
            </a:r>
            <a:fld id="{2BE25778-D09E-4162-9C9D-EB39BB041FF1}"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073"/>
          </a:xfrm>
          <a:prstGeom prst="roundRect">
            <a:avLst>
              <a:gd name="adj" fmla="val 224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0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153716"/>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Early agents needed a bespoke adapter for every system they touched: </a:t>
            </a:r>
            <a:r>
              <a:rPr sz="1900" b="0" i="1">
                <a:solidFill>
                  <a:srgbClr val="1C252B"/>
                </a:solidFill>
                <a:latin typeface="Cambria"/>
              </a:rPr>
              <a:t>m</a:t>
            </a:r>
            <a:r>
              <a:rPr sz="1900" b="0" i="0">
                <a:solidFill>
                  <a:srgbClr val="1C252B"/>
                </a:solidFill>
                <a:latin typeface="Segoe UI"/>
              </a:rPr>
              <a:t> agents times </a:t>
            </a:r>
            <a:r>
              <a:rPr sz="1900" b="0" i="1">
                <a:solidFill>
                  <a:srgbClr val="1C252B"/>
                </a:solidFill>
                <a:latin typeface="Cambria"/>
              </a:rPr>
              <a:t>n</a:t>
            </a:r>
            <a:r>
              <a:rPr sz="1900" b="0" i="0">
                <a:solidFill>
                  <a:srgbClr val="1C252B"/>
                </a:solidFill>
                <a:latin typeface="Segoe UI"/>
              </a:rPr>
              <a:t> systems meant </a:t>
            </a:r>
            <a:r>
              <a:rPr sz="1900" b="0" i="1">
                <a:solidFill>
                  <a:srgbClr val="1C252B"/>
                </a:solidFill>
                <a:latin typeface="Cambria"/>
              </a:rPr>
              <a:t>m</a:t>
            </a:r>
            <a:r>
              <a:rPr sz="1900" b="0" i="0">
                <a:solidFill>
                  <a:srgbClr val="1C252B"/>
                </a:solidFill>
                <a:latin typeface="Cambria"/>
              </a:rPr>
              <a:t> × </a:t>
            </a:r>
            <a:r>
              <a:rPr sz="1900" b="0" i="1">
                <a:solidFill>
                  <a:srgbClr val="1C252B"/>
                </a:solidFill>
                <a:latin typeface="Cambria"/>
              </a:rPr>
              <a:t>n</a:t>
            </a:r>
            <a:r>
              <a:rPr sz="1900" b="0" i="0">
                <a:solidFill>
                  <a:srgbClr val="1C252B"/>
                </a:solidFill>
                <a:latin typeface="Segoe UI"/>
              </a:rPr>
              <a:t> integrations. The </a:t>
            </a:r>
            <a:r>
              <a:rPr sz="1900" b="1" i="0">
                <a:solidFill>
                  <a:srgbClr val="1A5276"/>
                </a:solidFill>
                <a:latin typeface="Segoe UI"/>
              </a:rPr>
              <a:t>Model Context Protocol</a:t>
            </a:r>
            <a:r>
              <a:rPr sz="1900" b="0" i="0">
                <a:solidFill>
                  <a:srgbClr val="1C252B"/>
                </a:solidFill>
                <a:latin typeface="Segoe UI"/>
              </a:rPr>
              <a:t> (MCP) replaced that with one interface — a tool or data source is exposed once as an MCP </a:t>
            </a:r>
            <a:r>
              <a:rPr sz="1900" b="0" i="1">
                <a:solidFill>
                  <a:srgbClr val="1C252B"/>
                </a:solidFill>
                <a:latin typeface="Segoe UI"/>
              </a:rPr>
              <a:t>server</a:t>
            </a:r>
            <a:r>
              <a:rPr sz="1900" b="0" i="0">
                <a:solidFill>
                  <a:srgbClr val="1C252B"/>
                </a:solidFill>
                <a:latin typeface="Segoe UI"/>
              </a:rPr>
              <a:t>, and any MCP-speaking client can use it. It was donated to the Linux Foundation’s Agentic AI Foundation in December 2025 and is now supported natively by every major assistant, which is why “write an MCP server for it” has become the normal way to give an agent access to something.</a:t>
            </a:r>
          </a:p>
        </p:txBody>
      </p:sp>
      <p:sp>
        <p:nvSpPr>
          <p:cNvPr id="10" name="body-1"/>
          <p:cNvSpPr txBox="1"/>
          <p:nvPr/>
        </p:nvSpPr>
        <p:spPr>
          <a:xfrm>
            <a:off x="1060704" y="4288967"/>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Two things this does </a:t>
            </a:r>
            <a:r>
              <a:rPr sz="1900" b="0" i="1">
                <a:solidFill>
                  <a:srgbClr val="1C252B"/>
                </a:solidFill>
                <a:latin typeface="Segoe UI"/>
              </a:rPr>
              <a:t>not</a:t>
            </a:r>
            <a:r>
              <a:rPr sz="1900" b="0" i="0">
                <a:solidFill>
                  <a:srgbClr val="1C252B"/>
                </a:solidFill>
                <a:latin typeface="Segoe UI"/>
              </a:rPr>
              <a:t> change, and they are the examinable ones. A standard connector is still a connector: everything in Figure 22.2 applies to a tool reached over MCP exactly as it would to a hand-written one, and a server you did not write is third-party code with your credentials. Grant it the least privilege that works, and log what it does.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Memory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Makes Something an Agent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The Agent Loop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22.3   Memory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Multi-Agent Systems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Evaluating an Agent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Failure Modes Unique to Agents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§22.3     </a:t>
            </a:r>
            <a:fld id="{AD68FF49-5DCE-421E-B8D2-201B84382ADC}"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Memory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143     </a:t>
            </a:r>
            <a:fld id="{9D8761C5-01E3-4E03-8591-F93AA79DF256}"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8" cy="2286000"/>
        </p:xfrm>
        <a:graphic>
          <a:graphicData uri="http://schemas.openxmlformats.org/drawingml/2006/table">
            <a:tbl>
              <a:tblPr firstRow="0" bandRow="0" firstCol="0" lastRow="0" lastCol="0" bandCol="0">
                <a:tableStyleId>{2D5ABB26-0587-4C30-8999-92F81FD0307C}</a:tableStyleId>
              </a:tblPr>
              <a:tblGrid>
                <a:gridCol w="2390948"/>
                <a:gridCol w="3470731"/>
                <a:gridCol w="5013279"/>
              </a:tblGrid>
              <a:tr h="405384">
                <a:tc>
                  <a:txBody>
                    <a:bodyPr wrap="square"/>
                    <a:lstStyle/>
                    <a:p>
                      <a:pPr algn="l"/>
                      <a:r>
                        <a:rPr sz="1700" b="1" i="0">
                          <a:solidFill>
                            <a:srgbClr val="1A5276"/>
                          </a:solidFill>
                          <a:latin typeface="Segoe UI"/>
                        </a:rPr>
                        <a:t>Kind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Holds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Implemented as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Working (short-term)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This task’s steps so far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conversation in the context window — bounded, and it fills up</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Episodic</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What happened in past sessions</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A database of prior runs, retrieved when relevant</a:t>
                      </a:r>
                      <a:endParaRPr sz="1700"/>
                    </a:p>
                  </a:txBody>
                  <a:tcPr marL="109728" marR="109728" marT="64008" marB="45720" anchor="t">
                    <a:lnL w="0" cmpd="sng">
                      <a:noFill/>
                    </a:lnL>
                    <a:lnR w="0" cmpd="sng">
                      <a:noFill/>
                    </a:lnR>
                    <a:lnT w="9525" cmpd="sng">
                      <a:noFill/>
                    </a:lnT>
                    <a:lnB w="9525" cmpd="sng">
                      <a:noFill/>
                    </a:lnB>
                    <a:solidFill>
                      <a:srgbClr val="FEF7F1"/>
                    </a:solidFill>
                  </a:tcPr>
                </a:tc>
              </a:tr>
              <a:tr h="405384">
                <a:tc>
                  <a:txBody>
                    <a:bodyPr wrap="square"/>
                    <a:lstStyle/>
                    <a:p>
                      <a:pPr algn="l"/>
                      <a:r>
                        <a:rPr sz="1700" b="0" i="0">
                          <a:solidFill>
                            <a:srgbClr val="1C252B"/>
                          </a:solidFill>
                          <a:latin typeface="Segoe UI"/>
                        </a:rPr>
                        <a:t>Semantic (long-term)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Domain knowledge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vector store queried by RAG (Chapter 21)</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Procedural</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How to do recurring things</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Tool definitions and stored plans</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Context Window Is the Binding Constraint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143     </a:t>
            </a:r>
            <a:fld id="{D7935469-35E5-4E68-8433-A6A474A36430}"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step’s output is appended to the working memory. A twenty-step task can exhaust the window, at which point early steps are dropped and the agent forgets its own goal — a failure that presents as sudden incoherence late in a long run. Mitigate by summarising completed steps, storing detail externally and keeping tasks short.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Multi-Agent Systems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Makes Something an Agent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The Agent Loop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Memory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22.4   Multi-Agent Systems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Evaluating an Agent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Failure Modes Unique to Agents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§22.4     </a:t>
            </a:r>
            <a:fld id="{986FFC6D-FF71-4C25-B906-281BD6BC06E3}" type="slidenum">
              <a:rPr lang="en-GB" sz="1000">
                <a:solidFill>
                  <a:srgbClr val="8795A1"/>
                </a:solidFill>
                <a:latin typeface="Segoe UI"/>
              </a:rPr>
              <a:t>17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Multi-Agent System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143     </a:t>
            </a:r>
            <a:fld id="{4FB88C8D-6096-45CE-897C-05BB7AC2266E}"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Several specialised agents cooperating, typically with an orchestrator that decomposes a task and routes sub-tasks — for example a retriever, an analyst, a writer and a critic.</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 Not Reach for This First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143     </a:t>
            </a:r>
            <a:fld id="{85B1228A-A7E6-49F2-85C4-CD87FAD1EA9C}"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Multi-agent designs are appealing on a slide and expensive in practice: errors compound across handoffs, cost multiplies, and debugging becomes very hard because failures emerge from the interaction rather than from any one component. Make a single agent work before you build a committee.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Score the Path, Not Only the Destination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143     </a:t>
            </a:r>
            <a:fld id="{5DCF5D18-25A1-4C91-9E81-2F658A1FA58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19295"/>
          </a:xfrm>
          <a:prstGeom prst="roundRect">
            <a:avLst>
              <a:gd name="adj" fmla="val 211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1929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Chapter 14 scored a single prediction against a label. An agent produces a </a:t>
            </a:r>
            <a:r>
              <a:rPr sz="1700" b="0" i="1">
                <a:solidFill>
                  <a:srgbClr val="1C252B"/>
                </a:solidFill>
                <a:latin typeface="Segoe UI"/>
              </a:rPr>
              <a:t>trajectory</a:t>
            </a:r>
            <a:r>
              <a:rPr sz="1700" b="0" i="0">
                <a:solidFill>
                  <a:srgbClr val="1C252B"/>
                </a:solidFill>
                <a:latin typeface="Segoe UI"/>
              </a:rPr>
              <a:t> — a sequence of thoughts, tool calls and observations — and a right answer reached by a wrong route will fail the next time the route matters. Evaluate on four things:</a:t>
            </a:r>
          </a:p>
        </p:txBody>
      </p:sp>
      <p:sp>
        <p:nvSpPr>
          <p:cNvPr id="10" name="body-1"/>
          <p:cNvSpPr txBox="1"/>
          <p:nvPr/>
        </p:nvSpPr>
        <p:spPr>
          <a:xfrm>
            <a:off x="1060704" y="2975330"/>
            <a:ext cx="10161727" cy="2158517"/>
          </a:xfrm>
          <a:prstGeom prst="rect">
            <a:avLst/>
          </a:prstGeom>
          <a:noFill/>
        </p:spPr>
        <p:txBody>
          <a:bodyPr wrap="square" anchor="t" lIns="0" rIns="0" tIns="0" bIns="0">
            <a:noAutofit/>
          </a:bodyPr>
          <a:lstStyle/>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Outcome:</a:t>
            </a:r>
            <a:r>
              <a:rPr sz="1700" b="0" i="0">
                <a:solidFill>
                  <a:srgbClr val="1C252B"/>
                </a:solidFill>
                <a:latin typeface="Segoe UI"/>
              </a:rPr>
              <a:t> did it achieve the goal, judged against a fixed set of tasks you wrote </a:t>
            </a:r>
            <a:r>
              <a:rPr sz="1700" b="0" i="1">
                <a:solidFill>
                  <a:srgbClr val="1C252B"/>
                </a:solidFill>
                <a:latin typeface="Segoe UI"/>
              </a:rPr>
              <a:t>before</a:t>
            </a:r>
            <a:r>
              <a:rPr sz="1700" b="0" i="0">
                <a:solidFill>
                  <a:srgbClr val="1C252B"/>
                </a:solidFill>
                <a:latin typeface="Segoe UI"/>
              </a:rPr>
              <a:t> building the agent?</a:t>
            </a:r>
          </a:p>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Trajectory:</a:t>
            </a:r>
            <a:r>
              <a:rPr sz="1700" b="0" i="0">
                <a:solidFill>
                  <a:srgbClr val="1C252B"/>
                </a:solidFill>
                <a:latin typeface="Segoe UI"/>
              </a:rPr>
              <a:t> did it call sensible tools in a sensible order, or stumble into the answer? Replay the logs.</a:t>
            </a:r>
          </a:p>
          <a:p>
            <a:pPr algn="l" marL="190086" indent="-190086">
              <a:lnSpc>
                <a:spcPct val="104000"/>
              </a:lnSpc>
              <a:spcBef>
                <a:spcPts val="0"/>
              </a:spcBef>
              <a:spcAft>
                <a:spcPts val="594"/>
              </a:spcAft>
            </a:pPr>
            <a:r>
              <a:rPr sz="1700" b="1">
                <a:solidFill>
                  <a:srgbClr val="1F618D"/>
                </a:solidFill>
                <a:latin typeface="Segoe UI"/>
              </a:rPr>
              <a:t>•	</a:t>
            </a:r>
            <a:r>
              <a:rPr sz="1700" b="1" i="0">
                <a:solidFill>
                  <a:srgbClr val="1F618D"/>
                </a:solidFill>
                <a:latin typeface="Segoe UI"/>
              </a:rPr>
              <a:t>Cost:</a:t>
            </a:r>
            <a:r>
              <a:rPr sz="1700" b="0" i="0">
                <a:solidFill>
                  <a:srgbClr val="1C252B"/>
                </a:solidFill>
                <a:latin typeface="Segoe UI"/>
              </a:rPr>
              <a:t> tokens, wall-clock time and number of steps per completed task — an agent that succeeds for three dollars a ticket is not viable for a help desk.</a:t>
            </a:r>
          </a:p>
          <a:p>
            <a:pPr algn="l" marL="190086" indent="-190086">
              <a:lnSpc>
                <a:spcPct val="104000"/>
              </a:lnSpc>
              <a:spcBef>
                <a:spcPts val="0"/>
              </a:spcBef>
              <a:spcAft>
                <a:spcPts val="0"/>
              </a:spcAft>
            </a:pPr>
            <a:r>
              <a:rPr sz="1700" b="1">
                <a:solidFill>
                  <a:srgbClr val="1F618D"/>
                </a:solidFill>
                <a:latin typeface="Segoe UI"/>
              </a:rPr>
              <a:t>•	</a:t>
            </a:r>
            <a:r>
              <a:rPr sz="1700" b="1" i="0">
                <a:solidFill>
                  <a:srgbClr val="1F618D"/>
                </a:solidFill>
                <a:latin typeface="Segoe UI"/>
              </a:rPr>
              <a:t>Safety:</a:t>
            </a:r>
            <a:r>
              <a:rPr sz="1700" b="0" i="0">
                <a:solidFill>
                  <a:srgbClr val="1C252B"/>
                </a:solidFill>
                <a:latin typeface="Segoe UI"/>
              </a:rPr>
              <a:t> how does it behave on a suite of hostile inputs, including documents containing injected instructions? Run this on every release, exactly as Chapter 26 would run a red-team suite.</a:t>
            </a:r>
          </a:p>
        </p:txBody>
      </p:sp>
      <p:sp>
        <p:nvSpPr>
          <p:cNvPr id="11" name="body-2"/>
          <p:cNvSpPr txBox="1"/>
          <p:nvPr/>
        </p:nvSpPr>
        <p:spPr>
          <a:xfrm>
            <a:off x="1060704" y="5206873"/>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Because the agent is non-deterministic, run each task several times and report the </a:t>
            </a:r>
            <a:r>
              <a:rPr sz="1700" b="0" i="1">
                <a:solidFill>
                  <a:srgbClr val="1C252B"/>
                </a:solidFill>
                <a:latin typeface="Segoe UI"/>
              </a:rPr>
              <a:t>success rate</a:t>
            </a:r>
            <a:r>
              <a:rPr sz="1700" b="0" i="0">
                <a:solidFill>
                  <a:srgbClr val="1C252B"/>
                </a:solidFill>
                <a:latin typeface="Segoe UI"/>
              </a:rPr>
              <a:t>, not a single pass or fail.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Failure Modes Unique to Agents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What Makes Something an Agent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The Agent Loop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Memory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Multi-Agent Systems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Evaluating an Agent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22.6   Failure Modes Unique to Agents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§22.6     </a:t>
            </a:r>
            <a:fld id="{C07007F9-DFEF-45AE-AE3E-64F8F96F39D7}" type="slidenum">
              <a:rPr lang="en-GB" sz="1000">
                <a:solidFill>
                  <a:srgbClr val="8795A1"/>
                </a:solidFill>
                <a:latin typeface="Segoe UI"/>
              </a:rPr>
              <a:t>21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failure modes that do not exist for ordinary models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34D7B0A9-D514-4012-8FC1-CEA7F16CB6AB}" type="slidenum">
              <a:rPr lang="en-GB" sz="1000">
                <a:solidFill>
                  <a:srgbClr val="8795A1"/>
                </a:solidFill>
                <a:latin typeface="Segoe UI"/>
              </a:rPr>
              <a:t>22</a:t>
            </a:fld>
          </a:p>
        </p:txBody>
      </p:sp>
      <p:pic>
        <p:nvPicPr>
          <p:cNvPr id="6" name="!!figure" descr="Figure 22.2. Four failure modes that do not exist for ordinary models. They arise from the loop and from tool access, so they must be designed against rather than trained awa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4511" y="1737360"/>
            <a:ext cx="8242672"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They arise from the loop and from tool access, so they must be designed against rather than trained away.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Prompt Injection Deserves Special Attention</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9018FB38-F942-4E3F-A14F-67AB8BAA0130}"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agent that reads email, web pages or user-supplied documents is reading </a:t>
            </a:r>
            <a:r>
              <a:rPr sz="2300" b="0" i="1">
                <a:solidFill>
                  <a:srgbClr val="1C252B"/>
                </a:solidFill>
                <a:latin typeface="Segoe UI"/>
              </a:rPr>
              <a:t>attacker-controllable text</a:t>
            </a:r>
            <a:r>
              <a:rPr sz="2300" b="0" i="0">
                <a:solidFill>
                  <a:srgbClr val="1C252B"/>
                </a:solidFill>
                <a:latin typeface="Segoe UI"/>
              </a:rPr>
              <a:t>, and to an LLM there is no reliable boundary between data and instructions. This is the defining security problem of agentic systems. Assume any content the agent ingests may contain instructions aimed at it, and ensure that no single compromised input can trigger an irreversible action. Chapter 26 places this in a wider threat model.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Agentic Systems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35AD232F-7CCA-41C2-835B-B9A616DA5A02}"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000" b="0" i="1">
                <a:solidFill>
                  <a:srgbClr val="1C252B"/>
                </a:solidFill>
                <a:latin typeface="Segoe UI"/>
              </a:rPr>
              <a:t>A plausible agent:</a:t>
            </a:r>
            <a:r>
              <a:rPr sz="2000" b="0" i="0">
                <a:solidFill>
                  <a:srgbClr val="1C252B"/>
                </a:solidFill>
                <a:latin typeface="Segoe UI"/>
              </a:rPr>
              <a:t> given a flagged student list, check the timetable, find a free adviser slot, draft a personalised outreach email, and </a:t>
            </a:r>
            <a:r>
              <a:rPr sz="2000" b="1" i="0">
                <a:solidFill>
                  <a:srgbClr val="1C252B"/>
                </a:solidFill>
                <a:latin typeface="Segoe UI"/>
              </a:rPr>
              <a:t>present it for approval</a:t>
            </a:r>
            <a:r>
              <a:rPr sz="2000" b="0" i="0">
                <a:solidFill>
                  <a:srgbClr val="1C252B"/>
                </a:solidFill>
                <a:latin typeface="Segoe UI"/>
              </a:rPr>
              <a: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Segoe UI"/>
              </a:rPr>
              <a:t>A plausible agent:</a:t>
            </a:r>
            <a:r>
              <a:rPr sz="1800" b="0" i="0">
                <a:solidFill>
                  <a:srgbClr val="1C252B"/>
                </a:solidFill>
                <a:latin typeface="Segoe UI"/>
              </a:rPr>
              <a:t> each morning, read the ticket tracker, identify tasks that have not moved and whose deadlines are at risk, correlate with sprint capacity, and post a draft stand-up summary with three flagged risks.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Segoe UI"/>
              </a:rPr>
              <a:t>A plausible agent:</a:t>
            </a:r>
            <a:r>
              <a:rPr sz="1800" b="0" i="0">
                <a:solidFill>
                  <a:srgbClr val="1C252B"/>
                </a:solidFill>
                <a:latin typeface="Segoe UI"/>
              </a:rPr>
              <a:t> on an anomaly alert, pull the last 24 hours of telemetry, retrieve the device’s maintenance history and the relevant manual section, produce a diagnosis with evidence, and open a work order.</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 plausible agent:</a:t>
            </a:r>
            <a:r>
              <a:rPr sz="2200" b="0" i="0">
                <a:solidFill>
                  <a:srgbClr val="1C252B"/>
                </a:solidFill>
                <a:latin typeface="Segoe UI"/>
              </a:rPr>
              <a:t> on a SIEM alert, gather context from logs, check the IP against threat intelligence, summarise, and recommend an action.</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Agentic Systems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6DBE694F-EAEC-40CD-A131-C39BEC104F57}" type="slidenum">
              <a:rPr lang="en-GB" sz="1000">
                <a:solidFill>
                  <a:srgbClr val="8795A1"/>
                </a:solidFill>
                <a:latin typeface="Segoe UI"/>
              </a:rPr>
              <a:t>25</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 plausible agent:</a:t>
            </a:r>
            <a:r>
              <a:rPr sz="2200" b="0" i="0">
                <a:solidFill>
                  <a:srgbClr val="1C252B"/>
                </a:solidFill>
                <a:latin typeface="Segoe UI"/>
              </a:rPr>
              <a:t> given a flagged student list, check the timetable, find a free adviser slot, draft a personalised outreach email, and </a:t>
            </a:r>
            <a:r>
              <a:rPr sz="2200" b="1" i="0">
                <a:solidFill>
                  <a:srgbClr val="1C252B"/>
                </a:solidFill>
                <a:latin typeface="Segoe UI"/>
              </a:rPr>
              <a:t>present it for approval</a:t>
            </a:r>
            <a:r>
              <a:rPr sz="2200" b="0" i="0">
                <a:solidFill>
                  <a:srgbClr val="1C252B"/>
                </a:solidFill>
                <a:latin typeface="Segoe UI"/>
              </a:rPr>
              <a:t>. </a:t>
            </a:r>
            <a:r>
              <a:rPr sz="2200" b="0" i="1">
                <a:solidFill>
                  <a:srgbClr val="1C252B"/>
                </a:solidFill>
                <a:latin typeface="Segoe UI"/>
              </a:rPr>
              <a:t>Tools:</a:t>
            </a:r>
            <a:r>
              <a:rPr sz="2200" b="0" i="0">
                <a:solidFill>
                  <a:srgbClr val="1C252B"/>
                </a:solidFill>
                <a:latin typeface="Segoe UI"/>
              </a:rPr>
              <a:t> timetable API, template store, draft-email function. </a:t>
            </a:r>
            <a:r>
              <a:rPr sz="2200" b="0" i="1">
                <a:solidFill>
                  <a:srgbClr val="1C252B"/>
                </a:solidFill>
                <a:latin typeface="Segoe UI"/>
              </a:rPr>
              <a:t>Guardrail:</a:t>
            </a:r>
            <a:r>
              <a:rPr sz="2200" b="0" i="0">
                <a:solidFill>
                  <a:srgbClr val="1C252B"/>
                </a:solidFill>
                <a:latin typeface="Segoe UI"/>
              </a:rPr>
              <a:t> the agent must never send. Contact with a student about academic risk is consequential and identifiable, so a human approves every message — and the agent’s audit log becomes part of the record if the decision is ever challenged.</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Agentic Systems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93BD3228-58DA-427F-8B81-914C0E0FBF74}" type="slidenum">
              <a:rPr lang="en-GB" sz="1000">
                <a:solidFill>
                  <a:srgbClr val="8795A1"/>
                </a:solidFill>
                <a:latin typeface="Segoe UI"/>
              </a:rPr>
              <a:t>26</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 plausible agent:</a:t>
            </a:r>
            <a:r>
              <a:rPr sz="2200" b="0" i="0">
                <a:solidFill>
                  <a:srgbClr val="1C252B"/>
                </a:solidFill>
                <a:latin typeface="Segoe UI"/>
              </a:rPr>
              <a:t> each morning, read the ticket tracker, identify tasks that have not moved and whose deadlines are at risk, correlate with sprint capacity, and post a draft stand-up summary with three flagged risks. </a:t>
            </a:r>
            <a:r>
              <a:rPr sz="2200" b="0" i="1">
                <a:solidFill>
                  <a:srgbClr val="1C252B"/>
                </a:solidFill>
                <a:latin typeface="Segoe UI"/>
              </a:rPr>
              <a:t>Tools:</a:t>
            </a:r>
            <a:r>
              <a:rPr sz="2200" b="0" i="0">
                <a:solidFill>
                  <a:srgbClr val="1C252B"/>
                </a:solidFill>
                <a:latin typeface="Segoe UI"/>
              </a:rPr>
              <a:t> tracker API, calendar, chat post. </a:t>
            </a:r>
            <a:r>
              <a:rPr sz="2200" b="0" i="1">
                <a:solidFill>
                  <a:srgbClr val="1C252B"/>
                </a:solidFill>
                <a:latin typeface="Segoe UI"/>
              </a:rPr>
              <a:t>Guardrail:</a:t>
            </a:r>
            <a:r>
              <a:rPr sz="2200" b="0" i="0">
                <a:solidFill>
                  <a:srgbClr val="1C252B"/>
                </a:solidFill>
                <a:latin typeface="Segoe UI"/>
              </a:rPr>
              <a:t> read-only access to the tracker. An agent that can reassign tickets will eventually reassign the wrong one, and the value was in the summary, not the write access.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Agentic Systems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6D17D11B-7C0F-4B0D-97E3-94728B0DBB18}" type="slidenum">
              <a:rPr lang="en-GB" sz="1000">
                <a:solidFill>
                  <a:srgbClr val="8795A1"/>
                </a:solidFill>
                <a:latin typeface="Segoe UI"/>
              </a:rPr>
              <a:t>27</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 plausible agent:</a:t>
            </a:r>
            <a:r>
              <a:rPr sz="2200" b="0" i="0">
                <a:solidFill>
                  <a:srgbClr val="1C252B"/>
                </a:solidFill>
                <a:latin typeface="Segoe UI"/>
              </a:rPr>
              <a:t> on an anomaly alert, pull the last 24 hours of telemetry, retrieve the device’s maintenance history and the relevant manual section, produce a diagnosis with evidence, and open a work order. </a:t>
            </a:r>
            <a:r>
              <a:rPr sz="2200" b="0" i="1">
                <a:solidFill>
                  <a:srgbClr val="1C252B"/>
                </a:solidFill>
                <a:latin typeface="Segoe UI"/>
              </a:rPr>
              <a:t>Guardrail:</a:t>
            </a:r>
            <a:r>
              <a:rPr sz="2200" b="0" i="0">
                <a:solidFill>
                  <a:srgbClr val="1C252B"/>
                </a:solidFill>
                <a:latin typeface="Segoe UI"/>
              </a:rPr>
              <a:t> the agent may open a work order — reversible — but may never issue a device command. Sending an actuator command to physical equipment is irreversible and potentially unsafe, and belongs behind human approval permanently.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Agentic Systems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871F9DA5-543D-45F8-95FC-DA9818664744}" type="slidenum">
              <a:rPr lang="en-GB" sz="1000">
                <a:solidFill>
                  <a:srgbClr val="8795A1"/>
                </a:solidFill>
                <a:latin typeface="Segoe UI"/>
              </a:rPr>
              <a:t>28</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 plausible agent:</a:t>
            </a:r>
            <a:r>
              <a:rPr sz="2200" b="0" i="0">
                <a:solidFill>
                  <a:srgbClr val="1C252B"/>
                </a:solidFill>
                <a:latin typeface="Segoe UI"/>
              </a:rPr>
              <a:t> on a SIEM alert, gather context from logs, check the IP against threat intelligence, summarise, and recommend an action. </a:t>
            </a:r>
            <a:r>
              <a:rPr sz="2200" b="0" i="1">
                <a:solidFill>
                  <a:srgbClr val="1C252B"/>
                </a:solidFill>
                <a:latin typeface="Segoe UI"/>
              </a:rPr>
              <a:t>Guardrail:</a:t>
            </a:r>
            <a:r>
              <a:rPr sz="2200" b="0" i="0">
                <a:solidFill>
                  <a:srgbClr val="1C252B"/>
                </a:solidFill>
                <a:latin typeface="Segoe UI"/>
              </a:rPr>
              <a:t> recommend, never execute — an agent with the ability to block addresses can be induced to block your own infrastructure, which is a denial of service you built yourself. And note the reflexive risk: this agent reads attacker-controlled log content, so it is the prime target for prompt injection. Treat every log line as hostile data.</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An Agent Loop with Guardrails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A1373579-8493-4F23-BDA3-7FB3BF8F54FC}" type="slidenum">
              <a:rPr lang="en-GB" sz="1000">
                <a:solidFill>
                  <a:srgbClr val="8795A1"/>
                </a:solidFill>
                <a:latin typeface="Segoe UI"/>
              </a:rPr>
              <a:t>29</a:t>
            </a:fld>
          </a:p>
        </p:txBody>
      </p:sp>
      <p:sp>
        <p:nvSpPr>
          <p:cNvPr id="7" name="!!lfTHIS">
            <a:extLst>
              <a:ext uri="{C183D7F6-B498-43B3-948B-1728B52AA6E4}">
                <adec:decorative xmlns:adec="http://schemas.microsoft.com/office/drawing/2017/decorative" val="1"/>
              </a:ext>
            </a:extLst>
          </p:cNvPr>
          <p:cNvSpPr/>
          <p:nvPr/>
        </p:nvSpPr>
        <p:spPr>
          <a:xfrm>
            <a:off x="658368"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13: Minimal RAG; agent loop with guardrails</a:t>
            </a:r>
          </a:p>
        </p:txBody>
      </p:sp>
      <p:sp>
        <p:nvSpPr>
          <p:cNvPr id="11" name="!!lfWHAT">
            <a:extLst>
              <a:ext uri="{C183D7F6-B498-43B3-948B-1728B52AA6E4}">
                <adec:decorative xmlns:adec="http://schemas.microsoft.com/office/drawing/2017/decorative" val="1"/>
              </a:ext>
            </a:extLst>
          </p:cNvPr>
          <p:cNvSpPr/>
          <p:nvPr/>
        </p:nvSpPr>
        <p:spPr>
          <a:xfrm>
            <a:off x="6233007"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6233007"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6507327"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6507327"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44 lines of Python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An Agent Loop with Guardrails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ED1D560E-8FC4-4CF2-A331-D337451B44A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quot;&quot;&quot;A minimal ReAct-style loop. The structure matters more than the LLM call.&quot;&quot;&quot; MAX_STEPS, MAX_TOKENS = 8, 20_000 # guardrail 1: bounded work TOOLS = { # guardrail 2: explicit allow-list &quot;query_db&quot;: lambda q: run_readonly_sql(q), # read-only by design &quot;search_docs&quot;: lambda q: rag_retrieve(q), &quot;compute&quot;: lambda code: sandboxed_python(code), # NOTE: no send_email, no write_db, no execute_command. # Tools you do not grant cannot be misused. } IRREVERSIBLE = {&quot;send_email&quot;, &quot;block_ip&quot;, &quot;issue_device_command&quot;} def run_agent(goal): memory, tokens_used = [], 0"/>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0">
                <a:solidFill>
                  <a:srgbClr val="7DCEA0"/>
                </a:solidFill>
                <a:latin typeface="Consolas"/>
              </a:rPr>
              <a:t>"""A minimal ReAct-style loop. The structure matters more than the LLM call."""</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MAX_STEPS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MAX_TOKENS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8</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20_000</a:t>
            </a:r>
            <a:r>
              <a:rPr sz="1500" i="0">
                <a:solidFill>
                  <a:srgbClr val="E8EDF2"/>
                </a:solidFill>
                <a:latin typeface="Consolas"/>
              </a:rPr>
              <a:t>          </a:t>
            </a:r>
            <a:r>
              <a:rPr sz="1500" i="1">
                <a:solidFill>
                  <a:srgbClr val="8795A1"/>
                </a:solidFill>
                <a:latin typeface="Consolas"/>
              </a:rPr>
              <a:t># guardrail 1: bounded work</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TOOLS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guardrail 2: explicit allow-list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query_db</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q</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run_readonly_sql</a:t>
            </a:r>
            <a:r>
              <a:rPr sz="1500" i="0">
                <a:solidFill>
                  <a:srgbClr val="AEB6BF"/>
                </a:solidFill>
                <a:latin typeface="Consolas"/>
              </a:rPr>
              <a:t>(</a:t>
            </a:r>
            <a:r>
              <a:rPr sz="1500" i="0">
                <a:solidFill>
                  <a:srgbClr val="E8EDF2"/>
                </a:solidFill>
                <a:latin typeface="Consolas"/>
              </a:rPr>
              <a:t>q</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read-only by design</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search_docs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q</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rag_retrieve</a:t>
            </a:r>
            <a:r>
              <a:rPr sz="1500" i="0">
                <a:solidFill>
                  <a:srgbClr val="AEB6BF"/>
                </a:solidFill>
                <a:latin typeface="Consolas"/>
              </a:rPr>
              <a:t>(</a:t>
            </a:r>
            <a:r>
              <a:rPr sz="1500" i="0">
                <a:solidFill>
                  <a:srgbClr val="E8EDF2"/>
                </a:solidFill>
                <a:latin typeface="Consolas"/>
              </a:rPr>
              <a:t>q</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compute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lambda</a:t>
            </a:r>
            <a:r>
              <a:rPr sz="1500" i="0">
                <a:solidFill>
                  <a:srgbClr val="E8EDF2"/>
                </a:solidFill>
                <a:latin typeface="Consolas"/>
              </a:rPr>
              <a:t> </a:t>
            </a:r>
            <a:r>
              <a:rPr sz="1500" i="0">
                <a:solidFill>
                  <a:srgbClr val="E8EDF2"/>
                </a:solidFill>
                <a:latin typeface="Consolas"/>
              </a:rPr>
              <a:t>code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sandboxed_python</a:t>
            </a:r>
            <a:r>
              <a:rPr sz="1500" i="0">
                <a:solidFill>
                  <a:srgbClr val="AEB6BF"/>
                </a:solidFill>
                <a:latin typeface="Consolas"/>
              </a:rPr>
              <a:t>(</a:t>
            </a:r>
            <a:r>
              <a:rPr sz="1500" i="0">
                <a:solidFill>
                  <a:srgbClr val="E8EDF2"/>
                </a:solidFill>
                <a:latin typeface="Consolas"/>
              </a:rPr>
              <a:t>code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1">
                <a:solidFill>
                  <a:srgbClr val="8795A1"/>
                </a:solidFill>
                <a:latin typeface="Consolas"/>
              </a:rPr>
              <a:t># NOTE: no send_email, no write_db, no execute_command.</a:t>
            </a:r>
          </a:p>
          <a:p>
            <a:pPr>
              <a:lnSpc>
                <a:spcPct val="100000"/>
              </a:lnSpc>
              <a:spcAft>
                <a:spcPts val="0"/>
              </a:spcAft>
            </a:pPr>
            <a:r>
              <a:rPr sz="1500" i="0">
                <a:solidFill>
                  <a:srgbClr val="E8EDF2"/>
                </a:solidFill>
                <a:latin typeface="Consolas"/>
              </a:rPr>
              <a:t>    </a:t>
            </a:r>
            <a:r>
              <a:rPr sz="1500" i="1">
                <a:solidFill>
                  <a:srgbClr val="8795A1"/>
                </a:solidFill>
                <a:latin typeface="Consolas"/>
              </a:rPr>
              <a:t># Tools you do not grant cannot be misused.</a:t>
            </a:r>
          </a:p>
          <a:p>
            <a:pPr>
              <a:lnSpc>
                <a:spcPct val="100000"/>
              </a:lnSpc>
              <a:spcAft>
                <a:spcPts val="0"/>
              </a:spcAft>
            </a:pP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IRREVERSIBLE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send_email</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block_ip</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issue_device_command</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run_agent</a:t>
            </a:r>
            <a:r>
              <a:rPr sz="1500" i="0">
                <a:solidFill>
                  <a:srgbClr val="AEB6BF"/>
                </a:solidFill>
                <a:latin typeface="Consolas"/>
              </a:rPr>
              <a:t>(</a:t>
            </a:r>
            <a:r>
              <a:rPr sz="1500" i="0">
                <a:solidFill>
                  <a:srgbClr val="E8EDF2"/>
                </a:solidFill>
                <a:latin typeface="Consolas"/>
              </a:rPr>
              <a:t>goal</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memory</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tokens_used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a:t>
            </a:r>
          </a:p>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An Agent Loop with Guardrails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32D789E6-3895-4FA9-906A-3BE7530CAD27}"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for step in range(MAX_STEPS): thought, action, args = llm_decide(goal, memory) # THINK log(step, thought, action, args) # audit trail: mandatory if action == &quot;finish&quot;: return args[&quot;answer&quot;] if action not in TOOLS: # guardrail 3 memory.append(f&quot;Tool '{action}' is not available.&quot;) continue if action in IRREVERSIBLE: # guardrail 4 if not human_approves(thought, action, args): memory.append(&quot;Human declined this action.&quot;) continue result = TOOLS[action](**args) # ACT memory.append(f&quot;Step {step}: {action} -&gt; {result}&quot;) # OBSERVE + REMEMBER"/>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step</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E8EDF2"/>
                </a:solidFill>
                <a:latin typeface="Consolas"/>
              </a:rPr>
              <a:t>MAX_STEPS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thought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action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args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llm_decide</a:t>
            </a:r>
            <a:r>
              <a:rPr sz="1400" i="0">
                <a:solidFill>
                  <a:srgbClr val="AEB6BF"/>
                </a:solidFill>
                <a:latin typeface="Consolas"/>
              </a:rPr>
              <a:t>(</a:t>
            </a:r>
            <a:r>
              <a:rPr sz="1400" i="0">
                <a:solidFill>
                  <a:srgbClr val="E8EDF2"/>
                </a:solidFill>
                <a:latin typeface="Consolas"/>
              </a:rPr>
              <a:t>goal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memory</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THINK</a:t>
            </a:r>
          </a:p>
          <a:p>
            <a:pPr>
              <a:lnSpc>
                <a:spcPct val="100000"/>
              </a:lnSpc>
              <a:spcAft>
                <a:spcPts val="0"/>
              </a:spcAft>
            </a:pPr>
            <a:r>
              <a:rPr sz="1400" i="0">
                <a:solidFill>
                  <a:srgbClr val="E8EDF2"/>
                </a:solidFill>
                <a:latin typeface="Consolas"/>
              </a:rPr>
              <a:t>        </a:t>
            </a:r>
            <a:r>
              <a:rPr sz="1400" i="0">
                <a:solidFill>
                  <a:srgbClr val="E8EDF2"/>
                </a:solidFill>
                <a:latin typeface="Consolas"/>
              </a:rPr>
              <a:t>log</a:t>
            </a:r>
            <a:r>
              <a:rPr sz="1400" i="0">
                <a:solidFill>
                  <a:srgbClr val="AEB6BF"/>
                </a:solidFill>
                <a:latin typeface="Consolas"/>
              </a:rPr>
              <a:t>(</a:t>
            </a:r>
            <a:r>
              <a:rPr sz="1400" i="0">
                <a:solidFill>
                  <a:srgbClr val="E8EDF2"/>
                </a:solidFill>
                <a:latin typeface="Consolas"/>
              </a:rPr>
              <a:t>step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thought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action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args</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audit trail: mandatory</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action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finish</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args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answer</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action</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TOOLS</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guardrail 3</a:t>
            </a:r>
          </a:p>
          <a:p>
            <a:pPr>
              <a:lnSpc>
                <a:spcPct val="100000"/>
              </a:lnSpc>
              <a:spcAft>
                <a:spcPts val="0"/>
              </a:spcAft>
            </a:pPr>
            <a:r>
              <a:rPr sz="1400" i="0">
                <a:solidFill>
                  <a:srgbClr val="E8EDF2"/>
                </a:solidFill>
                <a:latin typeface="Consolas"/>
              </a:rPr>
              <a:t>            </a:t>
            </a:r>
            <a:r>
              <a:rPr sz="1400" i="0">
                <a:solidFill>
                  <a:srgbClr val="E8EDF2"/>
                </a:solidFill>
                <a:latin typeface="Consolas"/>
              </a:rPr>
              <a:t>memory</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Tool </a:t>
            </a:r>
            <a:r>
              <a:rPr sz="1400" i="0">
                <a:solidFill>
                  <a:srgbClr val="7DCEA0"/>
                </a:solidFill>
                <a:latin typeface="Consolas"/>
              </a:rPr>
              <a:t>'</a:t>
            </a:r>
            <a:r>
              <a:rPr sz="1400" i="0">
                <a:solidFill>
                  <a:srgbClr val="7DCEA0"/>
                </a:solidFill>
                <a:latin typeface="Consolas"/>
              </a:rPr>
              <a:t>{</a:t>
            </a:r>
            <a:r>
              <a:rPr sz="1400" i="0">
                <a:solidFill>
                  <a:srgbClr val="E8EDF2"/>
                </a:solidFill>
                <a:latin typeface="Consolas"/>
              </a:rPr>
              <a:t>action</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 is not available.</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continue</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action</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IRREVERSIBLE</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guardrail 4</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human_approves</a:t>
            </a:r>
            <a:r>
              <a:rPr sz="1400" i="0">
                <a:solidFill>
                  <a:srgbClr val="AEB6BF"/>
                </a:solidFill>
                <a:latin typeface="Consolas"/>
              </a:rPr>
              <a:t>(</a:t>
            </a:r>
            <a:r>
              <a:rPr sz="1400" i="0">
                <a:solidFill>
                  <a:srgbClr val="E8EDF2"/>
                </a:solidFill>
                <a:latin typeface="Consolas"/>
              </a:rPr>
              <a:t>thought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action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args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memory</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Human declined this action.</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continue</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E8EDF2"/>
                </a:solidFill>
                <a:latin typeface="Consolas"/>
              </a:rPr>
              <a:t>result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TOOLS</a:t>
            </a:r>
            <a:r>
              <a:rPr sz="1400" i="0">
                <a:solidFill>
                  <a:srgbClr val="AEB6BF"/>
                </a:solidFill>
                <a:latin typeface="Consolas"/>
              </a:rPr>
              <a:t>[</a:t>
            </a:r>
            <a:r>
              <a:rPr sz="1400" i="0">
                <a:solidFill>
                  <a:srgbClr val="E8EDF2"/>
                </a:solidFill>
                <a:latin typeface="Consolas"/>
              </a:rPr>
              <a:t>action</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args</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ACT</a:t>
            </a:r>
          </a:p>
          <a:p>
            <a:pPr>
              <a:lnSpc>
                <a:spcPct val="100000"/>
              </a:lnSpc>
              <a:spcAft>
                <a:spcPts val="0"/>
              </a:spcAft>
            </a:pPr>
            <a:r>
              <a:rPr sz="1400" i="0">
                <a:solidFill>
                  <a:srgbClr val="E8EDF2"/>
                </a:solidFill>
                <a:latin typeface="Consolas"/>
              </a:rPr>
              <a:t>        </a:t>
            </a:r>
            <a:r>
              <a:rPr sz="1400" i="0">
                <a:solidFill>
                  <a:srgbClr val="E8EDF2"/>
                </a:solidFill>
                <a:latin typeface="Consolas"/>
              </a:rPr>
              <a:t>memory</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Step </a:t>
            </a:r>
            <a:r>
              <a:rPr sz="1400" i="0">
                <a:solidFill>
                  <a:srgbClr val="7DCEA0"/>
                </a:solidFill>
                <a:latin typeface="Consolas"/>
              </a:rPr>
              <a:t>{</a:t>
            </a:r>
            <a:r>
              <a:rPr sz="1400" i="0">
                <a:solidFill>
                  <a:srgbClr val="E8EDF2"/>
                </a:solidFill>
                <a:latin typeface="Consolas"/>
              </a:rPr>
              <a:t>step</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a:t>
            </a:r>
            <a:r>
              <a:rPr sz="1400" i="0">
                <a:solidFill>
                  <a:srgbClr val="E8EDF2"/>
                </a:solidFill>
                <a:latin typeface="Consolas"/>
              </a:rPr>
              <a:t>action</a:t>
            </a:r>
            <a:r>
              <a:rPr sz="1400" i="0">
                <a:solidFill>
                  <a:srgbClr val="7DCEA0"/>
                </a:solidFill>
                <a:latin typeface="Consolas"/>
              </a:rPr>
              <a:t>}</a:t>
            </a:r>
            <a:r>
              <a:rPr sz="1400" i="0">
                <a:solidFill>
                  <a:srgbClr val="7DCEA0"/>
                </a:solidFill>
                <a:latin typeface="Consolas"/>
              </a:rPr>
              <a:t> -&gt; </a:t>
            </a:r>
            <a:r>
              <a:rPr sz="1400" i="0">
                <a:solidFill>
                  <a:srgbClr val="7DCEA0"/>
                </a:solidFill>
                <a:latin typeface="Consolas"/>
              </a:rPr>
              <a:t>{</a:t>
            </a:r>
            <a:r>
              <a:rPr sz="1400" i="0">
                <a:solidFill>
                  <a:srgbClr val="E8EDF2"/>
                </a:solidFill>
                <a:latin typeface="Consolas"/>
              </a:rPr>
              <a:t>result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OBSERVE + REMEMBER</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a:p>
            <a:pPr algn="r">
              <a:lnSpc>
                <a:spcPct val="100000"/>
              </a:lnSpc>
            </a:pPr>
            <a:r>
              <a:rPr sz="1400">
                <a:solidFill>
                  <a:srgbClr val="4F5D6A"/>
                </a:solidFill>
                <a:latin typeface="Consolas"/>
              </a:rPr>
              <a:t>19</a:t>
            </a:r>
          </a:p>
          <a:p>
            <a:pPr algn="r">
              <a:lnSpc>
                <a:spcPct val="100000"/>
              </a:lnSpc>
            </a:pPr>
            <a:r>
              <a:rPr sz="1400">
                <a:solidFill>
                  <a:srgbClr val="4F5D6A"/>
                </a:solidFill>
                <a:latin typeface="Consolas"/>
              </a:rPr>
              <a:t>20</a:t>
            </a:r>
          </a:p>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a:p>
            <a:pPr algn="r">
              <a:lnSpc>
                <a:spcPct val="100000"/>
              </a:lnSpc>
            </a:pPr>
            <a:r>
              <a:rPr sz="1400">
                <a:solidFill>
                  <a:srgbClr val="4F5D6A"/>
                </a:solidFill>
                <a:latin typeface="Consolas"/>
              </a:rPr>
              <a:t>30</a:t>
            </a:r>
          </a:p>
          <a:p>
            <a:pPr algn="r">
              <a:lnSpc>
                <a:spcPct val="100000"/>
              </a:lnSpc>
            </a:pPr>
            <a:r>
              <a:rPr sz="1400">
                <a:solidFill>
                  <a:srgbClr val="4F5D6A"/>
                </a:solidFill>
                <a:latin typeface="Consolas"/>
              </a:rPr>
              <a:t>31</a:t>
            </a:r>
          </a:p>
          <a:p>
            <a:pPr algn="r">
              <a:lnSpc>
                <a:spcPct val="100000"/>
              </a:lnSpc>
            </a:pPr>
            <a:r>
              <a:rPr sz="1400">
                <a:solidFill>
                  <a:srgbClr val="4F5D6A"/>
                </a:solidFill>
                <a:latin typeface="Consolas"/>
              </a:rPr>
              <a:t>32</a:t>
            </a:r>
          </a:p>
          <a:p>
            <a:pPr algn="r">
              <a:lnSpc>
                <a:spcPct val="100000"/>
              </a:lnSpc>
            </a:pPr>
            <a:r>
              <a:rPr sz="1400">
                <a:solidFill>
                  <a:srgbClr val="4F5D6A"/>
                </a:solidFill>
                <a:latin typeface="Consolas"/>
              </a:rPr>
              <a:t>33</a:t>
            </a:r>
          </a:p>
          <a:p>
            <a:pPr algn="r">
              <a:lnSpc>
                <a:spcPct val="100000"/>
              </a:lnSpc>
            </a:pPr>
            <a:r>
              <a:rPr sz="1400">
                <a:solidFill>
                  <a:srgbClr val="4F5D6A"/>
                </a:solidFill>
                <a:latin typeface="Consolas"/>
              </a:rPr>
              <a:t>34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An Agent Loop with Guardrails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E54011B1-4265-469B-9790-A17B3A238DEB}" type="slidenum">
              <a:rPr lang="en-GB" sz="1000">
                <a:solidFill>
                  <a:srgbClr val="8795A1"/>
                </a:solidFill>
                <a:latin typeface="Segoe UI"/>
              </a:rPr>
              <a:t>32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3" name="!!code-text" descr="tokens_used += estimate_tokens(result) if tokens_used &gt; MAX_TOKENS: # guardrail 5 return &quot;Stopped: token budget exhausted.&quot; if repeated_action(memory, action, args, times=3): # guardrail 6 return &quot;Stopped: the agent appears to be looping.&quot; return &quot;Stopped: maximum steps reached without completing the goal.&quot;"/>
          <p:cNvSpPr txBox="1"/>
          <p:nvPr/>
        </p:nvSpPr>
        <p:spPr>
          <a:xfrm>
            <a:off x="1362456" y="2066543"/>
            <a:ext cx="9987991" cy="2304287"/>
          </a:xfrm>
          <a:prstGeom prst="rect">
            <a:avLst/>
          </a:prstGeom>
          <a:noFill/>
        </p:spPr>
        <p:txBody>
          <a:bodyPr wrap="none" anchor="t" lIns="0" rIns="0" tIns="0" bIns="0">
            <a:noAutofit/>
          </a:bodyPr>
          <a:lstStyle/>
          <a:p>
            <a:pPr>
              <a:lnSpc>
                <a:spcPct val="100000"/>
              </a:lnSpc>
              <a:spcAft>
                <a:spcPts val="0"/>
              </a:spcAft>
            </a:pPr>
            <a:r>
              <a:rPr sz="1800" i="0">
                <a:solidFill>
                  <a:srgbClr val="E8EDF2"/>
                </a:solidFill>
                <a:latin typeface="Consolas"/>
              </a:rPr>
              <a:t>        </a:t>
            </a:r>
            <a:r>
              <a:rPr sz="1800" i="0">
                <a:solidFill>
                  <a:srgbClr val="E8EDF2"/>
                </a:solidFill>
                <a:latin typeface="Consolas"/>
              </a:rPr>
              <a:t>tokens_used</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estimate_tokens</a:t>
            </a:r>
            <a:r>
              <a:rPr sz="1800" i="0">
                <a:solidFill>
                  <a:srgbClr val="AEB6BF"/>
                </a:solidFill>
                <a:latin typeface="Consolas"/>
              </a:rPr>
              <a:t>(</a:t>
            </a:r>
            <a:r>
              <a:rPr sz="1800" i="0">
                <a:solidFill>
                  <a:srgbClr val="E8EDF2"/>
                </a:solidFill>
                <a:latin typeface="Consolas"/>
              </a:rPr>
              <a:t>result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tokens_used</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MAX_TOKENS</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guardrail 5</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Stopped: token budget exhausted.</a:t>
            </a:r>
            <a:r>
              <a:rPr sz="1800" i="0">
                <a:solidFill>
                  <a:srgbClr val="7DCEA0"/>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repeated_action</a:t>
            </a:r>
            <a:r>
              <a:rPr sz="1800" i="0">
                <a:solidFill>
                  <a:srgbClr val="AEB6BF"/>
                </a:solidFill>
                <a:latin typeface="Consolas"/>
              </a:rPr>
              <a:t>(</a:t>
            </a:r>
            <a:r>
              <a:rPr sz="1800" i="0">
                <a:solidFill>
                  <a:srgbClr val="E8EDF2"/>
                </a:solidFill>
                <a:latin typeface="Consolas"/>
              </a:rPr>
              <a:t>memory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action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args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times</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guardrail 6</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Stopped: the agent appears to be looping.</a:t>
            </a:r>
            <a:r>
              <a:rPr sz="1800" i="0">
                <a:solidFill>
                  <a:srgbClr val="7DCEA0"/>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Stopped: maximum steps reached without completing the goal.</a:t>
            </a:r>
            <a:r>
              <a:rPr sz="1800" i="0">
                <a:solidFill>
                  <a:srgbClr val="7DCEA0"/>
                </a:solidFill>
                <a:latin typeface="Consolas"/>
              </a:rPr>
              <a:t>"</a:t>
            </a:r>
          </a:p>
        </p:txBody>
      </p:sp>
      <p:sp>
        <p:nvSpPr>
          <p:cNvPr id="14" name="!!code-num"/>
          <p:cNvSpPr txBox="1"/>
          <p:nvPr/>
        </p:nvSpPr>
        <p:spPr>
          <a:xfrm>
            <a:off x="768096" y="2066543"/>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144     </a:t>
            </a:r>
            <a:fld id="{C0D6B64E-30C0-4752-BDC2-3EE042F75CBD}"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Note what the guardrails are made of:</a:t>
            </a:r>
            <a:r>
              <a:rPr sz="2300" b="0" i="0">
                <a:solidFill>
                  <a:srgbClr val="1C252B"/>
                </a:solidFill>
                <a:latin typeface="Segoe UI"/>
              </a:rPr>
              <a:t> counters, an allow-list and an approval gate. None of them is a cleverer prompt. Safety in agentic systems is an architectural property, not a prompting technique.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Give one task where an agent is clearly the right tool and one where a plain script is better. Justify both.</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22  ·  Agentic AI</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149  ·  answers in Appendix D     </a:t>
            </a:r>
            <a:fld id="{0F179935-7DBB-4EC6-BF37-0D057616DE3A}"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Give one task where an agent is clearly the right tool and one where a plain script is better. Justify both.</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Agent:</a:t>
            </a:r>
            <a:r>
              <a:rPr sz="2200" b="0" i="0">
                <a:solidFill>
                  <a:srgbClr val="1C252B"/>
                </a:solidFill>
                <a:latin typeface="Segoe UI"/>
              </a:rPr>
              <a:t> investigating an unfamiliar alert, where the next step depends on what the previous one revealed and several tools may be needed. </a:t>
            </a:r>
            <a:r>
              <a:rPr sz="2200" b="0" i="1">
                <a:solidFill>
                  <a:srgbClr val="1C252B"/>
                </a:solidFill>
                <a:latin typeface="Segoe UI"/>
              </a:rPr>
              <a:t>Script:</a:t>
            </a:r>
            <a:r>
              <a:rPr sz="2200" b="0" i="0">
                <a:solidFill>
                  <a:srgbClr val="1C252B"/>
                </a:solidFill>
                <a:latin typeface="Segoe UI"/>
              </a:rPr>
              <a:t> generating the weekly report from a fixed query — known, repeated, and better served by something testable and predictable.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  answers in Appendix D     </a:t>
            </a:r>
            <a:fld id="{FECD61FC-DF75-436F-9589-80E625903073}"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does an agent that reads external web pages need a threat model that a classifier does not?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22  ·  Agentic AI</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149  ·  answers in Appendix D     </a:t>
            </a:r>
            <a:fld id="{891650DB-713F-4DB2-B35F-A21E1B203A42}"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does an agent that reads external web pages need a threat model that a classifier does not?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retrieved content is attacker-controllable text, and an LLM has no reliable boundary between data and instructions. A classifier only outputs a label; an agent with tools can be induced to </a:t>
            </a:r>
            <a:r>
              <a:rPr sz="2200" b="0" i="1">
                <a:solidFill>
                  <a:srgbClr val="1C252B"/>
                </a:solidFill>
                <a:latin typeface="Segoe UI"/>
              </a:rPr>
              <a:t>act</a:t>
            </a:r>
            <a:r>
              <a:rPr sz="2200" b="0" i="0">
                <a:solidFill>
                  <a:srgbClr val="1C252B"/>
                </a:solidFill>
                <a:latin typeface="Segoe UI"/>
              </a:rPr>
              <a:t> on injected instructions.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  answers in Appendix D     </a:t>
            </a:r>
            <a:fld id="{567980C4-AD15-4131-8220-66E107ACE050}"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agent has run 40 steps and produced nothing. Name two guardrails that should have prevented this.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22  ·  Agentic AI</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149  ·  answers in Appendix D     </a:t>
            </a:r>
            <a:fld id="{903D7A06-4563-422B-9A83-FEE89869CEEF}"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agent has run 40 steps and produced nothing. Name two guardrails that should have prevented this.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maximum-iteration cap and a repeated-action detector. A token or spend budget would also have stopped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  answers in Appendix D     </a:t>
            </a:r>
            <a:fld id="{92479408-AEFA-4F8E-975C-A53D5BD3B1ED}"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15BCFA85-72D2-44BA-8241-71FEE180CFA8}"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agent chooses its own sequence of actions to reach a goal — that autonomy is both the capability and the risk.</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loop is think, act, observe, remember, repeat; ReAct makes the reasoning explicit and thereby auditable.</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Memory comes in working, episodic, semantic and procedural forms; the context window is the practical limit on long tasks.</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Multi-agent systems compound errors and cost. Make one agent work first.</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Looping, cascading errors, prompt injection and excessive agency are agent-specific failure modes, addressed architecturally rather than by prompting.</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Ask “what is the worst this can do if it is entirely wrong?” and design the tool permissions from the answer.</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9B493089-E237-4110-B7B7-5C1A7F6394A4}"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distinguishing feature of an agent is that it: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uses an LLM</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decides its own sequence of actions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conversational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runs in the cloud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30F25215-37C7-44BE-8E97-00CCC712C815}"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Prompt injection is dangerous mainly because: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models are slow</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retrieved content can be read as instructions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tokens are expensive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agents have no memory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22  ·  Agentic AI</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4FFA79D3-BD69-47C7-93BA-10EE3AE3CB0C}"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ReAct pattern and give one practical benefit besides accuracy.</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“the agent has too many tools” a safety problem rather than merely a design one?</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how the context window limit manifests as a failure in a long-running agent.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an agent that triages IT support tickets. Specify: the goal, the tools it may call, the tools you deliberately withhold, four guardrails, and the point at which a human must approve.</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proposes a five-agent system to write weekly reports. Give three concrete arguments for starting with one agent, and state the evidence that would justify moving to five.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22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Chapter 23 — Data Engineering at Scale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22, pages 141–149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Minimal RAG; agent loop with guardrails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2 (Ch 17–22)</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22  ·  Agentic AI</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389D22EE-9C7E-4142-9552-42B1BF09331B}"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Agentic AI</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