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0.svg" ContentType="image/svg+xml"/>
  <Override PartName="/ppt/media/image12.svg" ContentType="image/svg+xml"/>
  <Override PartName="/ppt/media/image14.svg" ContentType="image/svg+xml"/>
  <Override PartName="/ppt/media/image16.svg" ContentType="image/svg+xml"/>
  <Override PartName="/ppt/media/image17.svg" ContentType="image/svg+xml"/>
  <Override PartName="/ppt/media/image19.svg" ContentType="image/svg+xml"/>
  <Override PartName="/ppt/media/image21.svg" ContentType="image/svg+xml"/>
  <Override PartName="/ppt/media/image23.svg" ContentType="image/svg+xml"/>
  <Override PartName="/ppt/media/image24.svg" ContentType="image/svg+xml"/>
  <Override PartName="/ppt/media/image26.svg" ContentType="image/svg+xml"/>
  <Override PartName="/ppt/media/image27.svg" ContentType="image/svg+xml"/>
  <Override PartName="/ppt/media/image28.svg" ContentType="image/svg+xml"/>
  <Override PartName="/ppt/media/image30.svg" ContentType="image/svg+xml"/>
  <Override PartName="/ppt/media/image32.svg" ContentType="image/svg+xml"/>
  <Override PartName="/ppt/media/image33.svg" ContentType="image/svg+xml"/>
  <Override PartName="/ppt/media/image34.svg" ContentType="image/svg+xml"/>
  <Override PartName="/ppt/media/image36.svg" ContentType="image/svg+xml"/>
  <Override PartName="/ppt/media/image37.svg" ContentType="image/svg+xml"/>
  <Override PartName="/ppt/media/image39.svg" ContentType="image/svg+xml"/>
  <Override PartName="/ppt/media/image4.svg" ContentType="image/svg+xml"/>
  <Override PartName="/ppt/media/image41.svg" ContentType="image/svg+xml"/>
  <Override PartName="/ppt/media/image43.svg" ContentType="image/svg+xml"/>
  <Override PartName="/ppt/media/image45.svg" ContentType="image/svg+xml"/>
  <Override PartName="/ppt/media/image47.svg" ContentType="image/svg+xml"/>
  <Override PartName="/ppt/media/image49.svg" ContentType="image/svg+xml"/>
  <Override PartName="/ppt/media/image51.svg" ContentType="image/svg+xml"/>
  <Override PartName="/ppt/media/image53.svg" ContentType="image/svg+xml"/>
  <Override PartName="/ppt/media/image54.svg" ContentType="image/svg+xml"/>
  <Override PartName="/ppt/media/image55.svg" ContentType="image/svg+xml"/>
  <Override PartName="/ppt/media/image56.svg" ContentType="image/svg+xml"/>
  <Override PartName="/ppt/media/image57.svg" ContentType="image/svg+xml"/>
  <Override PartName="/ppt/media/image59.svg" ContentType="image/svg+xml"/>
  <Override PartName="/ppt/media/image6.svg" ContentType="image/svg+xml"/>
  <Override PartName="/ppt/media/image60.svg" ContentType="image/svg+xml"/>
  <Override PartName="/ppt/media/image61.svg" ContentType="image/svg+xml"/>
  <Override PartName="/ppt/media/image62.svg" ContentType="image/svg+xml"/>
  <Override PartName="/ppt/media/image63.svg" ContentType="image/svg+xml"/>
  <Override PartName="/ppt/media/image65.svg" ContentType="image/svg+xml"/>
  <Override PartName="/ppt/media/image66.svg" ContentType="image/svg+xml"/>
  <Override PartName="/ppt/media/image67.svg" ContentType="image/svg+xml"/>
  <Override PartName="/ppt/media/image68.svg" ContentType="image/svg+xml"/>
  <Override PartName="/ppt/media/image69.svg" ContentType="image/svg+xml"/>
  <Override PartName="/ppt/media/image71.svg" ContentType="image/svg+xml"/>
  <Override PartName="/ppt/media/image72.svg" ContentType="image/svg+xml"/>
  <Override PartName="/ppt/media/image73.svg" ContentType="image/svg+xml"/>
  <Override PartName="/ppt/media/image74.svg" ContentType="image/svg+xml"/>
  <Override PartName="/ppt/media/image75.svg" ContentType="image/svg+xml"/>
  <Override PartName="/ppt/media/image77.svg" ContentType="image/svg+xml"/>
  <Override PartName="/ppt/media/image78.svg" ContentType="image/svg+xml"/>
  <Override PartName="/ppt/media/image79.svg" ContentType="image/svg+xml"/>
  <Override PartName="/ppt/media/image8.svg" ContentType="image/svg+xml"/>
  <Override PartName="/ppt/media/image80.svg" ContentType="image/svg+xml"/>
  <Override PartName="/ppt/media/image82.svg" ContentType="image/svg+xml"/>
  <Override PartName="/ppt/media/image84.svg" ContentType="image/svg+xml"/>
  <Override PartName="/ppt/media/image85.svg" ContentType="image/svg+xml"/>
  <Override PartName="/ppt/media/image86.svg" ContentType="image/svg+xml"/>
  <Override PartName="/ppt/media/image87.svg" ContentType="image/svg+xml"/>
  <Override PartName="/ppt/media/image88.svg" ContentType="image/svg+xml"/>
  <Override PartName="/ppt/media/image90.svg" ContentType="image/svg+xml"/>
  <Override PartName="/ppt/media/image92.svg" ContentType="image/svg+xml"/>
  <Override PartName="/ppt/media/image93.svg" ContentType="image/svg+xml"/>
  <Override PartName="/ppt/media/image94.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1086CD16-38F4-4A62-AE9A-EA44BC5D05BC}">
          <p14:sldIdLst>
            <p14:sldId id="256"/>
            <p14:sldId id="257"/>
            <p14:sldId id="258"/>
            <p14:sldId id="259"/>
            <p14:sldId id="260"/>
          </p14:sldIdLst>
        </p14:section>
        <p14:section name="4.1 Why Mathematics, and How Much" id="{0FF198F1-1280-467E-A803-65653C89D72F}">
          <p14:sldIdLst>
            <p14:sldId id="261"/>
          </p14:sldIdLst>
        </p14:section>
        <p14:section name="4.2 Vectors: One Observation" id="{9DA19089-FB41-40FF-BAD7-18EC7E042A23}">
          <p14:sldIdLst>
            <p14:sldId id="262"/>
            <p14:sldId id="263"/>
            <p14:sldId id="264"/>
            <p14:sldId id="265"/>
            <p14:sldId id="266"/>
            <p14:sldId id="267"/>
          </p14:sldIdLst>
        </p14:section>
        <p14:section name="4.3 Functions, Slopes and Gradients" id="{7AA55285-E47E-4EB1-8D9D-24E93839816A}">
          <p14:sldIdLst>
            <p14:sldId id="268"/>
            <p14:sldId id="269"/>
            <p14:sldId id="270"/>
            <p14:sldId id="271"/>
            <p14:sldId id="272"/>
          </p14:sldIdLst>
        </p14:section>
        <p14:section name="4.4 Gradient Descent" id="{5D5A3619-77B8-4B82-8C28-1422FD8EBDC0}">
          <p14:sldIdLst>
            <p14:sldId id="273"/>
            <p14:sldId id="274"/>
            <p14:sldId id="275"/>
            <p14:sldId id="276"/>
          </p14:sldIdLst>
        </p14:section>
        <p14:section name="Pitfalls" id="{11687765-E903-40FE-9F3B-871BBCBFD5B1}">
          <p14:sldIdLst>
            <p14:sldId id="277"/>
          </p14:sldIdLst>
        </p14:section>
        <p14:section name="Four lenses" id="{0760EEC0-9E53-4E5F-A81D-62974110E759}">
          <p14:sldIdLst>
            <p14:sldId id="278"/>
            <p14:sldId id="279"/>
            <p14:sldId id="280"/>
            <p14:sldId id="281"/>
            <p14:sldId id="282"/>
          </p14:sldIdLst>
        </p14:section>
        <p14:section name="Lab" id="{F1A48428-B375-4FB6-BA79-7DA0F01B8887}">
          <p14:sldIdLst>
            <p14:sldId id="283"/>
            <p14:sldId id="284"/>
            <p14:sldId id="285"/>
            <p14:sldId id="286"/>
          </p14:sldIdLst>
        </p14:section>
        <p14:section name="Checkpoint" id="{9C943D33-80AD-4AFB-8F52-D9307A90BBE7}">
          <p14:sldIdLst>
            <p14:sldId id="287"/>
            <p14:sldId id="288"/>
            <p14:sldId id="289"/>
            <p14:sldId id="290"/>
            <p14:sldId id="291"/>
            <p14:sldId id="292"/>
          </p14:sldIdLst>
        </p14:section>
        <p14:section name="Wrap-up" id="{4BD4B5AB-E498-4A82-93CA-9E3458A12825}">
          <p14:sldIdLst>
            <p14:sldId id="293"/>
            <p14:sldId id="294"/>
            <p14:sldId id="295"/>
            <p14:sldId id="296"/>
            <p14:sldId id="297"/>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4: The Mathematical Toolkit. Part 1 — Foundations of Data. Week 2: Data and the mathematical toolkit. Handout pages 23–28.</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Place the chapter. Before you start: Chapter 3 — observations, features and measurement scales. Nothing beyond school algebra is assumed. If the prerequisite self-check troubled you, work this chapter slowly; everything later depends on it.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out: they are the chapter's contract with the room. Each click adds one.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define these now; they arrive one at a time. This slide is for the students' notes. Terms: scalar; vector; matrix; dot product; norm; Euclidean distance; cosine similarity; function; derivative; slope; gradient; minimum; learning rate; gradient descent.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route through the chapter. Each row is a link: click it to jump to that section in the slide show.</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model in this book does the same two things: it represents data as numbers arranged in a particular shape, and it searches for the arrangement of its own parameters that makes its errors smallest. The first is linear algebra; the second is calculus. That is the whole of the mathematics you need, and this chapter covers it at the depth this course requires — intuition, notation, and the ability to do a small example by hand.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student described by (attendance 92%, quizzes 8, forum posts 12) is the vector x = [92, 8, 12]. That is not an analogy; it is literally how the data is stored and how every algorithm sees it.</a:t>
            </a:r>
          </a:p>
          <a:p/>
          <a:p>
            <a:r>
              <a:t>Figure 4.1 (handout p. 24): A dataset as a matrix. Every algorithm in this book consumes exactly this object: n rows of p numbers. Making real-world data fit this shape is the work of Chapter 7.</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operations on vectors carry almost all the geometric intuition you need.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this course you need three derivatives and one rule: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 4.2 (handout p. 25): Slope as the guide to the minimum. Where the slope is positive the minimum lies to the left; where it is negative, to the right. In both cases you move in the direction opposite the sign of the derivative — which is the entire idea of gradient descent.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algorithm that trains almost every model in Parts III and IV. It is three lines long.</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 4.3 (handout p. 26): The learning rate is the single most important hyperparameter you will tune. Too small wastes compute; too large diverges. Chapter 17 returns to this with real training curves.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each pitfall, ask who has seen it happen. One real story beats five bullets.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same method, four domains. Each of the next four slides opens one lens in full.</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Learning Analytics. Each student becomes a vector of engagement features. Euclidean distance between two students answers “who behaves like whom”, which is what drives peer grouping and the clustering of Chapter 16. The scaling warning matters acutely here: attendance on 0–100 will otherwise drown quiz counts on 0–10.</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Project Management. Each completed task becomes a vector (estimated hours, actual hours, number of dependencies, team size). Distance identifies the historical tasks most similar to a new one, giving a defensible estimate — “the five most similar past tasks took 11–16 hours” — rather than a guess.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Internet of Things. A one-minute window of sensor readings becomes a vector. Distance from the fleet’s normal-operation vector is the simplest possible anomaly score, and it runs in a few arithmetic operations — which is why it can execute on the device itself, at the edge (Chapter 24).</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Cybersecurity. A network session becomes a vector (bytes in, bytes out, duration, packet count, distinct ports). Cosine similarity to known attack signatures ignores volume and compares shape, so a slow, low-volume version of an attack still resembles the fast one. Attackers routinely change magnitude; changing shape is harder.</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what the room will have at the end of the lab, then let them start. Circulate rather than lecture.</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1: Set-up.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2: Vectors and distance.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3: Gradient descent on L(w) = w^2.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√(32+42)=√(25)=5.</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 L = 2w = −4. The update is w ← w − α(−4), which increases w — so it moves right, towards the minimum at 0.</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They are about the same subject (direction is nearly identical) but very different in magnitude — typically a long document and a short one on the same topic. This is exactly the case where cosine similarity is right and Euclidean distance is misleading.</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to say each takeaway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show of hands for each option before discussing. (The handout does not print MCQ answers.)</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show of hands for each option before discussing. (The handout does not print MCQ answers.)</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these for independent study. Model answers are not printed in the handout.</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NEXT: Chapter 5 — Describing Data: Centre, Spread and Shape. READ: Handout Chapter 4, pages 23–28. THIS WEEK'S LAB: Ten-minute audit; distance &amp; descent.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457200" rtl="0" eaLnBrk="1" latinLnBrk="0" hangingPunct="1">
        <a:spcBef>
          <a:spcPct val="0"/>
        </a:spcBef>
        <a:buNone/>
        <a:defRPr sz="3000" kern="1200" b="0">
          <a:solidFill>
            <a:srgbClr val="1A5276"/>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 Id="rId3" Type="http://schemas.openxmlformats.org/officeDocument/2006/relationships/image" Target="../media/image4.sv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image" Target="../media/image6.sv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png"/><Relationship Id="rId3" Type="http://schemas.openxmlformats.org/officeDocument/2006/relationships/image" Target="../media/image8.sv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png"/><Relationship Id="rId3" Type="http://schemas.openxmlformats.org/officeDocument/2006/relationships/image" Target="../media/image10.svg"/><Relationship Id="rId4" Type="http://schemas.openxmlformats.org/officeDocument/2006/relationships/notesSlide" Target="../notesSlides/notesSlide5.xml"/><Relationship Id="rId5" Type="http://schemas.openxmlformats.org/officeDocument/2006/relationships/slide" Target="slide6.xml"/><Relationship Id="rId6" Type="http://schemas.openxmlformats.org/officeDocument/2006/relationships/slide" Target="slide7.xml"/><Relationship Id="rId7" Type="http://schemas.openxmlformats.org/officeDocument/2006/relationships/slide" Target="slide13.xml"/><Relationship Id="rId8" Type="http://schemas.openxmlformats.org/officeDocument/2006/relationships/slide" Target="slide1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png"/><Relationship Id="rId3" Type="http://schemas.openxmlformats.org/officeDocument/2006/relationships/image" Target="../media/image12.sv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image" Target="../media/image14.sv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5.png"/><Relationship Id="rId3" Type="http://schemas.openxmlformats.org/officeDocument/2006/relationships/image" Target="../media/image16.sv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image" Target="../media/image17.svg"/><Relationship Id="rId4" Type="http://schemas.openxmlformats.org/officeDocument/2006/relationships/image" Target="../media/image18.png"/><Relationship Id="rId5" Type="http://schemas.openxmlformats.org/officeDocument/2006/relationships/image" Target="../media/image19.svg"/><Relationship Id="rId6" Type="http://schemas.openxmlformats.org/officeDocument/2006/relationships/image" Target="../media/image20.png"/><Relationship Id="rId7" Type="http://schemas.openxmlformats.org/officeDocument/2006/relationships/image" Target="../media/image21.svg"/><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2.png"/><Relationship Id="rId3" Type="http://schemas.openxmlformats.org/officeDocument/2006/relationships/image" Target="../media/image23.sv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png"/><Relationship Id="rId3" Type="http://schemas.openxmlformats.org/officeDocument/2006/relationships/image" Target="../media/image24.svg"/><Relationship Id="rId4" Type="http://schemas.openxmlformats.org/officeDocument/2006/relationships/image" Target="../media/image25.png"/><Relationship Id="rId5" Type="http://schemas.openxmlformats.org/officeDocument/2006/relationships/image" Target="../media/image26.svg"/><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image" Target="../media/image27.sv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png"/><Relationship Id="rId3" Type="http://schemas.openxmlformats.org/officeDocument/2006/relationships/image" Target="../media/image28.svg"/><Relationship Id="rId4" Type="http://schemas.openxmlformats.org/officeDocument/2006/relationships/image" Target="../media/image29.png"/><Relationship Id="rId5" Type="http://schemas.openxmlformats.org/officeDocument/2006/relationships/image" Target="../media/image30.svg"/><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1.png"/><Relationship Id="rId3" Type="http://schemas.openxmlformats.org/officeDocument/2006/relationships/image" Target="../media/image32.sv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image" Target="../media/image33.sv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image" Target="../media/image34.svg"/><Relationship Id="rId4" Type="http://schemas.openxmlformats.org/officeDocument/2006/relationships/image" Target="../media/image35.png"/><Relationship Id="rId5" Type="http://schemas.openxmlformats.org/officeDocument/2006/relationships/image" Target="../media/image36.svg"/><Relationship Id="rId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2.png"/><Relationship Id="rId3" Type="http://schemas.openxmlformats.org/officeDocument/2006/relationships/image" Target="../media/image37.sv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8.png"/><Relationship Id="rId3" Type="http://schemas.openxmlformats.org/officeDocument/2006/relationships/image" Target="../media/image39.svg"/><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0.png"/><Relationship Id="rId3" Type="http://schemas.openxmlformats.org/officeDocument/2006/relationships/image" Target="../media/image41.svg"/><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2.png"/><Relationship Id="rId3" Type="http://schemas.openxmlformats.org/officeDocument/2006/relationships/image" Target="../media/image43.svg"/><Relationship Id="rId4" Type="http://schemas.openxmlformats.org/officeDocument/2006/relationships/image" Target="../media/image44.png"/><Relationship Id="rId5" Type="http://schemas.openxmlformats.org/officeDocument/2006/relationships/image" Target="../media/image45.svg"/><Relationship Id="rId6" Type="http://schemas.openxmlformats.org/officeDocument/2006/relationships/image" Target="../media/image46.png"/><Relationship Id="rId7" Type="http://schemas.openxmlformats.org/officeDocument/2006/relationships/image" Target="../media/image47.svg"/><Relationship Id="rId8" Type="http://schemas.openxmlformats.org/officeDocument/2006/relationships/image" Target="../media/image48.png"/><Relationship Id="rId9" Type="http://schemas.openxmlformats.org/officeDocument/2006/relationships/image" Target="../media/image49.svg"/><Relationship Id="rId10" Type="http://schemas.openxmlformats.org/officeDocument/2006/relationships/image" Target="../media/image50.png"/><Relationship Id="rId11" Type="http://schemas.openxmlformats.org/officeDocument/2006/relationships/image" Target="../media/image51.svg"/><Relationship Id="rId1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2.png"/><Relationship Id="rId3" Type="http://schemas.openxmlformats.org/officeDocument/2006/relationships/image" Target="../media/image53.svg"/><Relationship Id="rId4" Type="http://schemas.openxmlformats.org/officeDocument/2006/relationships/image" Target="../media/image44.png"/><Relationship Id="rId5" Type="http://schemas.openxmlformats.org/officeDocument/2006/relationships/image" Target="../media/image54.svg"/><Relationship Id="rId6" Type="http://schemas.openxmlformats.org/officeDocument/2006/relationships/image" Target="../media/image46.png"/><Relationship Id="rId7" Type="http://schemas.openxmlformats.org/officeDocument/2006/relationships/image" Target="../media/image55.svg"/><Relationship Id="rId8" Type="http://schemas.openxmlformats.org/officeDocument/2006/relationships/image" Target="../media/image48.png"/><Relationship Id="rId9" Type="http://schemas.openxmlformats.org/officeDocument/2006/relationships/image" Target="../media/image56.svg"/><Relationship Id="rId10" Type="http://schemas.openxmlformats.org/officeDocument/2006/relationships/image" Target="../media/image50.png"/><Relationship Id="rId11" Type="http://schemas.openxmlformats.org/officeDocument/2006/relationships/image" Target="../media/image57.svg"/><Relationship Id="rId1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8.png"/><Relationship Id="rId3" Type="http://schemas.openxmlformats.org/officeDocument/2006/relationships/image" Target="../media/image59.svg"/><Relationship Id="rId4" Type="http://schemas.openxmlformats.org/officeDocument/2006/relationships/image" Target="../media/image46.png"/><Relationship Id="rId5" Type="http://schemas.openxmlformats.org/officeDocument/2006/relationships/image" Target="../media/image60.svg"/><Relationship Id="rId6" Type="http://schemas.openxmlformats.org/officeDocument/2006/relationships/image" Target="../media/image44.png"/><Relationship Id="rId7" Type="http://schemas.openxmlformats.org/officeDocument/2006/relationships/image" Target="../media/image61.svg"/><Relationship Id="rId8" Type="http://schemas.openxmlformats.org/officeDocument/2006/relationships/image" Target="../media/image48.png"/><Relationship Id="rId9" Type="http://schemas.openxmlformats.org/officeDocument/2006/relationships/image" Target="../media/image62.svg"/><Relationship Id="rId10" Type="http://schemas.openxmlformats.org/officeDocument/2006/relationships/image" Target="../media/image50.png"/><Relationship Id="rId11" Type="http://schemas.openxmlformats.org/officeDocument/2006/relationships/image" Target="../media/image63.svg"/><Relationship Id="rId1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4.png"/><Relationship Id="rId3" Type="http://schemas.openxmlformats.org/officeDocument/2006/relationships/image" Target="../media/image65.svg"/><Relationship Id="rId4" Type="http://schemas.openxmlformats.org/officeDocument/2006/relationships/image" Target="../media/image48.png"/><Relationship Id="rId5" Type="http://schemas.openxmlformats.org/officeDocument/2006/relationships/image" Target="../media/image66.svg"/><Relationship Id="rId6" Type="http://schemas.openxmlformats.org/officeDocument/2006/relationships/image" Target="../media/image44.png"/><Relationship Id="rId7" Type="http://schemas.openxmlformats.org/officeDocument/2006/relationships/image" Target="../media/image67.svg"/><Relationship Id="rId8" Type="http://schemas.openxmlformats.org/officeDocument/2006/relationships/image" Target="../media/image46.png"/><Relationship Id="rId9" Type="http://schemas.openxmlformats.org/officeDocument/2006/relationships/image" Target="../media/image68.svg"/><Relationship Id="rId10" Type="http://schemas.openxmlformats.org/officeDocument/2006/relationships/image" Target="../media/image50.png"/><Relationship Id="rId11" Type="http://schemas.openxmlformats.org/officeDocument/2006/relationships/image" Target="../media/image69.svg"/><Relationship Id="rId1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0.png"/><Relationship Id="rId3" Type="http://schemas.openxmlformats.org/officeDocument/2006/relationships/image" Target="../media/image71.svg"/><Relationship Id="rId4" Type="http://schemas.openxmlformats.org/officeDocument/2006/relationships/image" Target="../media/image50.png"/><Relationship Id="rId5" Type="http://schemas.openxmlformats.org/officeDocument/2006/relationships/image" Target="../media/image72.svg"/><Relationship Id="rId6" Type="http://schemas.openxmlformats.org/officeDocument/2006/relationships/image" Target="../media/image44.png"/><Relationship Id="rId7" Type="http://schemas.openxmlformats.org/officeDocument/2006/relationships/image" Target="../media/image73.svg"/><Relationship Id="rId8" Type="http://schemas.openxmlformats.org/officeDocument/2006/relationships/image" Target="../media/image46.png"/><Relationship Id="rId9" Type="http://schemas.openxmlformats.org/officeDocument/2006/relationships/image" Target="../media/image74.svg"/><Relationship Id="rId10" Type="http://schemas.openxmlformats.org/officeDocument/2006/relationships/image" Target="../media/image48.png"/><Relationship Id="rId11" Type="http://schemas.openxmlformats.org/officeDocument/2006/relationships/image" Target="../media/image75.svg"/><Relationship Id="rId1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6.png"/><Relationship Id="rId3" Type="http://schemas.openxmlformats.org/officeDocument/2006/relationships/image" Target="../media/image77.svg"/><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6.png"/><Relationship Id="rId3" Type="http://schemas.openxmlformats.org/officeDocument/2006/relationships/image" Target="../media/image78.svg"/><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6.png"/><Relationship Id="rId3" Type="http://schemas.openxmlformats.org/officeDocument/2006/relationships/image" Target="../media/image79.svg"/><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6.png"/><Relationship Id="rId3" Type="http://schemas.openxmlformats.org/officeDocument/2006/relationships/image" Target="../media/image80.svg"/><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1.png"/><Relationship Id="rId3" Type="http://schemas.openxmlformats.org/officeDocument/2006/relationships/image" Target="../media/image82.svg"/><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3.png"/><Relationship Id="rId3" Type="http://schemas.openxmlformats.org/officeDocument/2006/relationships/image" Target="../media/image84.svg"/><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1.png"/><Relationship Id="rId3" Type="http://schemas.openxmlformats.org/officeDocument/2006/relationships/image" Target="../media/image85.svg"/><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3.png"/><Relationship Id="rId3" Type="http://schemas.openxmlformats.org/officeDocument/2006/relationships/image" Target="../media/image86.svg"/><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1.png"/><Relationship Id="rId3" Type="http://schemas.openxmlformats.org/officeDocument/2006/relationships/image" Target="../media/image87.svg"/><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3.png"/><Relationship Id="rId3" Type="http://schemas.openxmlformats.org/officeDocument/2006/relationships/image" Target="../media/image88.svg"/><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9.png"/><Relationship Id="rId3" Type="http://schemas.openxmlformats.org/officeDocument/2006/relationships/image" Target="../media/image90.svg"/><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1.png"/><Relationship Id="rId3" Type="http://schemas.openxmlformats.org/officeDocument/2006/relationships/image" Target="../media/image92.svg"/><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1.png"/><Relationship Id="rId3" Type="http://schemas.openxmlformats.org/officeDocument/2006/relationships/image" Target="../media/image93.svg"/><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1.png"/><Relationship Id="rId3" Type="http://schemas.openxmlformats.org/officeDocument/2006/relationships/image" Target="../media/image94.svg"/><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5276"/>
        </a:solidFill>
        <a:effectLst/>
      </p:bgPr>
    </p:bg>
    <p:spTree>
      <p:nvGrpSpPr>
        <p:cNvPr id="1" name=""/>
        <p:cNvGrpSpPr/>
        <p:nvPr/>
      </p:nvGrpSpPr>
      <p:grpSpPr/>
      <p:sp>
        <p:nvSpPr>
          <p:cNvPr id="3" name="!!wm">
            <a:extLst>
              <a:ext uri="{C183D7F6-B498-43B3-948B-1728B52AA6E4}">
                <adec:decorative xmlns:adec="http://schemas.microsoft.com/office/drawing/2017/decorative" val="1"/>
              </a:ext>
            </a:extLst>
          </p:cNvPr>
          <p:cNvSpPr txBox="1"/>
          <p:nvPr/>
        </p:nvSpPr>
        <p:spPr>
          <a:xfrm>
            <a:off x="6430975" y="-502920"/>
            <a:ext cx="5486400" cy="4572000"/>
          </a:xfrm>
          <a:prstGeom prst="rect">
            <a:avLst/>
          </a:prstGeom>
          <a:noFill/>
        </p:spPr>
        <p:txBody>
          <a:bodyPr wrap="square" anchor="t" lIns="0" rIns="0" tIns="0" bIns="0">
            <a:noAutofit/>
          </a:bodyPr>
          <a:lstStyle/>
          <a:p>
            <a:pPr algn="r">
              <a:lnSpc>
                <a:spcPct val="100000"/>
              </a:lnSpc>
              <a:spcBef>
                <a:spcPts val="0"/>
              </a:spcBef>
              <a:spcAft>
                <a:spcPts val="0"/>
              </a:spcAft>
            </a:pPr>
            <a:r>
              <a:rPr sz="28000" b="0" i="0">
                <a:solidFill>
                  <a:srgbClr val="316384"/>
                </a:solidFill>
                <a:latin typeface="Segoe UI Black"/>
              </a:rPr>
              <a:t>04</a:t>
            </a:r>
          </a:p>
        </p:txBody>
      </p:sp>
      <p:sp>
        <p:nvSpPr>
          <p:cNvPr id="2" name="!!title"/>
          <p:cNvSpPr>
            <a:spLocks noGrp="1"/>
          </p:cNvSpPr>
          <p:nvPr>
            <p:ph type="title"/>
          </p:nvPr>
        </p:nvSpPr>
        <p:spPr>
          <a:xfrm>
            <a:off x="658368" y="2304288"/>
            <a:ext cx="8503920" cy="1920240"/>
          </a:xfrm>
        </p:spPr>
        <p:txBody>
          <a:bodyPr wrap="square" lIns="0" rIns="0" tIns="0" bIns="0" anchor="t">
            <a:noAutofit/>
          </a:bodyPr>
          <a:lstStyle/>
          <a:p>
            <a:pPr algn="l">
              <a:lnSpc>
                <a:spcPct val="96000"/>
              </a:lnSpc>
            </a:pPr>
            <a:r>
              <a:rPr sz="4600" b="0">
                <a:solidFill>
                  <a:srgbClr val="FFFFFF"/>
                </a:solidFill>
                <a:latin typeface="Segoe UI Semibold"/>
              </a:rPr>
              <a:t>The Mathematical Toolkit</a:t>
            </a:r>
          </a:p>
        </p:txBody>
      </p:sp>
      <p:sp>
        <p:nvSpPr>
          <p:cNvPr id="4" name="!!tbar">
            <a:extLst>
              <a:ext uri="{C183D7F6-B498-43B3-948B-1728B52AA6E4}">
                <adec:decorative xmlns:adec="http://schemas.microsoft.com/office/drawing/2017/decorative" val="1"/>
              </a:ext>
            </a:extLst>
          </p:cNvPr>
          <p:cNvSpPr/>
          <p:nvPr/>
        </p:nvSpPr>
        <p:spPr>
          <a:xfrm>
            <a:off x="658368" y="1298448"/>
            <a:ext cx="822960" cy="640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part"/>
          <p:cNvSpPr txBox="1"/>
          <p:nvPr/>
        </p:nvSpPr>
        <p:spPr>
          <a:xfrm>
            <a:off x="658368" y="1517904"/>
            <a:ext cx="8686800" cy="292608"/>
          </a:xfrm>
          <a:prstGeom prst="rect">
            <a:avLst/>
          </a:prstGeom>
          <a:noFill/>
        </p:spPr>
        <p:txBody>
          <a:bodyPr wrap="square" anchor="t" lIns="0" rIns="0" tIns="0" bIns="0">
            <a:noAutofit/>
          </a:bodyPr>
          <a:lstStyle/>
          <a:p>
            <a:pPr algn="l">
              <a:lnSpc>
                <a:spcPct val="100000"/>
              </a:lnSpc>
              <a:spcBef>
                <a:spcPts val="0"/>
              </a:spcBef>
              <a:spcAft>
                <a:spcPts val="0"/>
              </a:spcAft>
            </a:pPr>
            <a:r>
              <a:rPr sz="1300" b="1" i="0" spc="180">
                <a:solidFill>
                  <a:srgbClr val="BFCFD9"/>
                </a:solidFill>
                <a:latin typeface="Segoe UI"/>
              </a:rPr>
              <a:t>PART I  ·  FOUNDATIONS OF DATA</a:t>
            </a:r>
          </a:p>
        </p:txBody>
      </p:sp>
      <p:sp>
        <p:nvSpPr>
          <p:cNvPr id="6" name="!!tch"/>
          <p:cNvSpPr txBox="1"/>
          <p:nvPr/>
        </p:nvSpPr>
        <p:spPr>
          <a:xfrm>
            <a:off x="658368" y="1865376"/>
            <a:ext cx="8686800" cy="292608"/>
          </a:xfrm>
          <a:prstGeom prst="rect">
            <a:avLst/>
          </a:prstGeom>
          <a:noFill/>
        </p:spPr>
        <p:txBody>
          <a:bodyPr wrap="square" anchor="t" lIns="0" rIns="0" tIns="0" bIns="0">
            <a:noAutofit/>
          </a:bodyPr>
          <a:lstStyle/>
          <a:p>
            <a:pPr algn="l">
              <a:lnSpc>
                <a:spcPct val="100000"/>
              </a:lnSpc>
              <a:spcBef>
                <a:spcPts val="0"/>
              </a:spcBef>
              <a:spcAft>
                <a:spcPts val="0"/>
              </a:spcAft>
            </a:pPr>
            <a:r>
              <a:rPr sz="1300" b="1" i="0" spc="180">
                <a:solidFill>
                  <a:srgbClr val="BFCFD9"/>
                </a:solidFill>
                <a:latin typeface="Segoe UI"/>
              </a:rPr>
              <a:t>CHAPTER 4  ·  WEEK 2</a:t>
            </a:r>
          </a:p>
        </p:txBody>
      </p:sp>
      <p:sp>
        <p:nvSpPr>
          <p:cNvPr id="7" name="!!tsub"/>
          <p:cNvSpPr txBox="1"/>
          <p:nvPr/>
        </p:nvSpPr>
        <p:spPr>
          <a:xfrm>
            <a:off x="658368" y="4315968"/>
            <a:ext cx="8503920" cy="329184"/>
          </a:xfrm>
          <a:prstGeom prst="rect">
            <a:avLst/>
          </a:prstGeom>
          <a:noFill/>
        </p:spPr>
        <p:txBody>
          <a:bodyPr wrap="square" anchor="t" lIns="0" rIns="0" tIns="0" bIns="0">
            <a:noAutofit/>
          </a:bodyPr>
          <a:lstStyle/>
          <a:p>
            <a:pPr algn="l">
              <a:lnSpc>
                <a:spcPct val="100000"/>
              </a:lnSpc>
              <a:spcBef>
                <a:spcPts val="0"/>
              </a:spcBef>
              <a:spcAft>
                <a:spcPts val="0"/>
              </a:spcAft>
            </a:pPr>
            <a:r>
              <a:rPr sz="1600" b="0" i="0">
                <a:solidFill>
                  <a:srgbClr val="D1DCE4"/>
                </a:solidFill>
                <a:latin typeface="Segoe UI"/>
              </a:rPr>
              <a:t>Data Science — From Foundations to Intelligent Systems</a:t>
            </a:r>
          </a:p>
        </p:txBody>
      </p:sp>
      <p:sp>
        <p:nvSpPr>
          <p:cNvPr id="8" name="!!band">
            <a:extLst>
              <a:ext uri="{C183D7F6-B498-43B3-948B-1728B52AA6E4}">
                <adec:decorative xmlns:adec="http://schemas.microsoft.com/office/drawing/2017/decorative" val="1"/>
              </a:ext>
            </a:extLst>
          </p:cNvPr>
          <p:cNvSpPr/>
          <p:nvPr/>
        </p:nvSpPr>
        <p:spPr>
          <a:xfrm>
            <a:off x="0" y="5285232"/>
            <a:ext cx="12191695" cy="1572767"/>
          </a:xfrm>
          <a:prstGeom prst="rect">
            <a:avLst/>
          </a:prstGeom>
          <a:solidFill>
            <a:srgbClr val="133B5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ab"/>
          <p:cNvSpPr txBox="1"/>
          <p:nvPr/>
        </p:nvSpPr>
        <p:spPr>
          <a:xfrm>
            <a:off x="658368" y="5541264"/>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50" b="1" i="0" spc="160">
                <a:solidFill>
                  <a:srgbClr val="A5B5BE"/>
                </a:solidFill>
                <a:latin typeface="Segoe UI"/>
              </a:rPr>
              <a:t>LECTURER</a:t>
            </a:r>
          </a:p>
        </p:txBody>
      </p:sp>
      <p:sp>
        <p:nvSpPr>
          <p:cNvPr id="10" name="!!author"/>
          <p:cNvSpPr txBox="1"/>
          <p:nvPr/>
        </p:nvSpPr>
        <p:spPr>
          <a:xfrm>
            <a:off x="658368" y="5779008"/>
            <a:ext cx="5486400" cy="365760"/>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FFFFFF"/>
                </a:solidFill>
                <a:latin typeface="Segoe UI Semibold"/>
              </a:rPr>
              <a:t>Dr. Mustafa Hameed</a:t>
            </a:r>
          </a:p>
        </p:txBody>
      </p:sp>
      <p:sp>
        <p:nvSpPr>
          <p:cNvPr id="11" name="!!dept"/>
          <p:cNvSpPr txBox="1"/>
          <p:nvPr/>
        </p:nvSpPr>
        <p:spPr>
          <a:xfrm>
            <a:off x="658368" y="6181344"/>
            <a:ext cx="5852160" cy="274320"/>
          </a:xfrm>
          <a:prstGeom prst="rect">
            <a:avLst/>
          </a:prstGeom>
          <a:noFill/>
        </p:spPr>
        <p:txBody>
          <a:bodyPr wrap="square" anchor="t" lIns="0" rIns="0" tIns="0" bIns="0">
            <a:noAutofit/>
          </a:bodyPr>
          <a:lstStyle/>
          <a:p>
            <a:pPr algn="l">
              <a:lnSpc>
                <a:spcPct val="100000"/>
              </a:lnSpc>
              <a:spcBef>
                <a:spcPts val="0"/>
              </a:spcBef>
              <a:spcAft>
                <a:spcPts val="0"/>
              </a:spcAft>
            </a:pPr>
            <a:r>
              <a:rPr sz="1200" b="0" i="0">
                <a:solidFill>
                  <a:srgbClr val="BDC8CF"/>
                </a:solidFill>
                <a:latin typeface="Segoe UI"/>
              </a:rPr>
              <a:t>Department of Information Technology  ·  BSIT · Fall 2026</a:t>
            </a:r>
          </a:p>
        </p:txBody>
      </p:sp>
      <p:sp>
        <p:nvSpPr>
          <p:cNvPr id="12" name="!!uni"/>
          <p:cNvSpPr txBox="1"/>
          <p:nvPr/>
        </p:nvSpPr>
        <p:spPr>
          <a:xfrm>
            <a:off x="5205818" y="5687568"/>
            <a:ext cx="4023360" cy="274320"/>
          </a:xfrm>
          <a:prstGeom prst="rect">
            <a:avLst/>
          </a:prstGeom>
          <a:noFill/>
        </p:spPr>
        <p:txBody>
          <a:bodyPr wrap="square" anchor="t" lIns="0" rIns="0" tIns="0" bIns="0">
            <a:noAutofit/>
          </a:bodyPr>
          <a:lstStyle/>
          <a:p>
            <a:pPr algn="r">
              <a:lnSpc>
                <a:spcPct val="100000"/>
              </a:lnSpc>
              <a:spcBef>
                <a:spcPts val="0"/>
              </a:spcBef>
              <a:spcAft>
                <a:spcPts val="0"/>
              </a:spcAft>
            </a:pPr>
            <a:r>
              <a:rPr sz="1150" b="1" i="0" spc="60">
                <a:solidFill>
                  <a:srgbClr val="FFFFFF"/>
                </a:solidFill>
                <a:latin typeface="Segoe UI"/>
              </a:rPr>
              <a:t>THE ISLAMIA UNIVERSITY OF BAHAWALPUR</a:t>
            </a:r>
          </a:p>
        </p:txBody>
      </p:sp>
      <p:sp>
        <p:nvSpPr>
          <p:cNvPr id="13" name="!!uni2"/>
          <p:cNvSpPr txBox="1"/>
          <p:nvPr/>
        </p:nvSpPr>
        <p:spPr>
          <a:xfrm>
            <a:off x="5205818" y="5961888"/>
            <a:ext cx="4023360" cy="274320"/>
          </a:xfrm>
          <a:prstGeom prst="rect">
            <a:avLst/>
          </a:prstGeom>
          <a:noFill/>
        </p:spPr>
        <p:txBody>
          <a:bodyPr wrap="square" anchor="t" lIns="0" rIns="0" tIns="0" bIns="0">
            <a:noAutofit/>
          </a:bodyPr>
          <a:lstStyle/>
          <a:p>
            <a:pPr algn="r">
              <a:lnSpc>
                <a:spcPct val="100000"/>
              </a:lnSpc>
              <a:spcBef>
                <a:spcPts val="0"/>
              </a:spcBef>
              <a:spcAft>
                <a:spcPts val="0"/>
              </a:spcAft>
            </a:pPr>
            <a:r>
              <a:rPr sz="1050" b="0" i="0">
                <a:solidFill>
                  <a:srgbClr val="A5B5BE"/>
                </a:solidFill>
                <a:latin typeface="Segoe UI"/>
              </a:rPr>
              <a:t>Bahawalpur, Pakistan</a:t>
            </a:r>
          </a:p>
        </p:txBody>
      </p:sp>
      <p:pic>
        <p:nvPicPr>
          <p:cNvPr id="14" name="!!logo-iub-logo-white" descr="The Islamia University of Bahawalpur"/>
          <p:cNvPicPr>
            <a:picLocks noChangeAspect="1"/>
          </p:cNvPicPr>
          <p:nvPr/>
        </p:nvPicPr>
        <p:blipFill>
          <a:blip r:embed="rId2"/>
          <a:stretch>
            <a:fillRect/>
          </a:stretch>
        </p:blipFill>
        <p:spPr>
          <a:xfrm>
            <a:off x="9503498" y="5486400"/>
            <a:ext cx="904084" cy="896112"/>
          </a:xfrm>
          <a:prstGeom prst="rect">
            <a:avLst/>
          </a:prstGeom>
        </p:spPr>
      </p:pic>
      <p:pic>
        <p:nvPicPr>
          <p:cNvPr id="15" name="!!logo-dit-logo" descr="Department of Information Technology"/>
          <p:cNvPicPr>
            <a:picLocks noChangeAspect="1"/>
          </p:cNvPicPr>
          <p:nvPr/>
        </p:nvPicPr>
        <p:blipFill>
          <a:blip r:embed="rId3"/>
          <a:stretch>
            <a:fillRect/>
          </a:stretch>
        </p:blipFill>
        <p:spPr>
          <a:xfrm>
            <a:off x="10663614" y="5486400"/>
            <a:ext cx="869712" cy="896112"/>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Where this chapter sits</a:t>
            </a:r>
          </a:p>
        </p:txBody>
      </p:sp>
      <p:pic>
        <p:nvPicPr>
          <p:cNvPr id="3" name="!!kicker-icon" descr="map-signs-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THE COURSE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4  ·  The Mathematical Toolkit</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23     </a:t>
            </a:r>
            <a:fld id="{0DFEBBE5-FEF8-4B78-BFFE-5B1AB5C307D6}" type="slidenum">
              <a:rPr lang="en-GB" sz="1000">
                <a:solidFill>
                  <a:srgbClr val="8795A1"/>
                </a:solidFill>
                <a:latin typeface="Segoe UI"/>
              </a:rPr>
              <a:t>2</a:t>
            </a:fld>
          </a:p>
        </p:txBody>
      </p:sp>
      <p:sp>
        <p:nvSpPr>
          <p:cNvPr id="7" name="!!rp1"/>
          <p:cNvSpPr txBox="1"/>
          <p:nvPr/>
        </p:nvSpPr>
        <p:spPr>
          <a:xfrm>
            <a:off x="777240" y="1755648"/>
            <a:ext cx="1945328"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1A5276"/>
                </a:solidFill>
                <a:latin typeface="Segoe UI"/>
              </a:rPr>
              <a:t>PART I</a:t>
            </a:r>
          </a:p>
        </p:txBody>
      </p:sp>
      <p:sp>
        <p:nvSpPr>
          <p:cNvPr id="8" name="!!rpl1">
            <a:extLst>
              <a:ext uri="{C183D7F6-B498-43B3-948B-1728B52AA6E4}">
                <adec:decorative xmlns:adec="http://schemas.microsoft.com/office/drawing/2017/decorative" val="1"/>
              </a:ext>
            </a:extLst>
          </p:cNvPr>
          <p:cNvSpPr/>
          <p:nvPr/>
        </p:nvSpPr>
        <p:spPr>
          <a:xfrm>
            <a:off x="777240" y="2029967"/>
            <a:ext cx="1945328" cy="4572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rp2"/>
          <p:cNvSpPr txBox="1"/>
          <p:nvPr/>
        </p:nvSpPr>
        <p:spPr>
          <a:xfrm>
            <a:off x="3051752" y="1755648"/>
            <a:ext cx="1071333"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II</a:t>
            </a:r>
          </a:p>
        </p:txBody>
      </p:sp>
      <p:sp>
        <p:nvSpPr>
          <p:cNvPr id="10" name="!!rpl2">
            <a:extLst>
              <a:ext uri="{C183D7F6-B498-43B3-948B-1728B52AA6E4}">
                <adec:decorative xmlns:adec="http://schemas.microsoft.com/office/drawing/2017/decorative" val="1"/>
              </a:ext>
            </a:extLst>
          </p:cNvPr>
          <p:cNvSpPr/>
          <p:nvPr/>
        </p:nvSpPr>
        <p:spPr>
          <a:xfrm>
            <a:off x="3051752" y="2029967"/>
            <a:ext cx="1071333"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rp3"/>
          <p:cNvSpPr txBox="1"/>
          <p:nvPr/>
        </p:nvSpPr>
        <p:spPr>
          <a:xfrm>
            <a:off x="4452270" y="1755648"/>
            <a:ext cx="1634432"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III</a:t>
            </a:r>
          </a:p>
        </p:txBody>
      </p:sp>
      <p:sp>
        <p:nvSpPr>
          <p:cNvPr id="12" name="!!rpl3">
            <a:extLst>
              <a:ext uri="{C183D7F6-B498-43B3-948B-1728B52AA6E4}">
                <adec:decorative xmlns:adec="http://schemas.microsoft.com/office/drawing/2017/decorative" val="1"/>
              </a:ext>
            </a:extLst>
          </p:cNvPr>
          <p:cNvSpPr/>
          <p:nvPr/>
        </p:nvSpPr>
        <p:spPr>
          <a:xfrm>
            <a:off x="4452270" y="2029967"/>
            <a:ext cx="1634432"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rp4"/>
          <p:cNvSpPr txBox="1"/>
          <p:nvPr/>
        </p:nvSpPr>
        <p:spPr>
          <a:xfrm>
            <a:off x="6415887" y="1755648"/>
            <a:ext cx="1634432"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IV</a:t>
            </a:r>
          </a:p>
        </p:txBody>
      </p:sp>
      <p:sp>
        <p:nvSpPr>
          <p:cNvPr id="14" name="!!rpl4">
            <a:extLst>
              <a:ext uri="{C183D7F6-B498-43B3-948B-1728B52AA6E4}">
                <adec:decorative xmlns:adec="http://schemas.microsoft.com/office/drawing/2017/decorative" val="1"/>
              </a:ext>
            </a:extLst>
          </p:cNvPr>
          <p:cNvSpPr/>
          <p:nvPr/>
        </p:nvSpPr>
        <p:spPr>
          <a:xfrm>
            <a:off x="6415887" y="2029967"/>
            <a:ext cx="1634432"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rp5"/>
          <p:cNvSpPr txBox="1"/>
          <p:nvPr/>
        </p:nvSpPr>
        <p:spPr>
          <a:xfrm>
            <a:off x="8379504" y="1755648"/>
            <a:ext cx="1352883"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V</a:t>
            </a:r>
          </a:p>
        </p:txBody>
      </p:sp>
      <p:sp>
        <p:nvSpPr>
          <p:cNvPr id="16" name="!!rpl5">
            <a:extLst>
              <a:ext uri="{C183D7F6-B498-43B3-948B-1728B52AA6E4}">
                <adec:decorative xmlns:adec="http://schemas.microsoft.com/office/drawing/2017/decorative" val="1"/>
              </a:ext>
            </a:extLst>
          </p:cNvPr>
          <p:cNvSpPr/>
          <p:nvPr/>
        </p:nvSpPr>
        <p:spPr>
          <a:xfrm>
            <a:off x="8379504" y="2029967"/>
            <a:ext cx="1352883"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rp6"/>
          <p:cNvSpPr txBox="1"/>
          <p:nvPr/>
        </p:nvSpPr>
        <p:spPr>
          <a:xfrm>
            <a:off x="10061571" y="1755648"/>
            <a:ext cx="1352883"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VI</a:t>
            </a:r>
          </a:p>
        </p:txBody>
      </p:sp>
      <p:sp>
        <p:nvSpPr>
          <p:cNvPr id="18" name="!!rpl6">
            <a:extLst>
              <a:ext uri="{C183D7F6-B498-43B3-948B-1728B52AA6E4}">
                <adec:decorative xmlns:adec="http://schemas.microsoft.com/office/drawing/2017/decorative" val="1"/>
              </a:ext>
            </a:extLst>
          </p:cNvPr>
          <p:cNvSpPr/>
          <p:nvPr/>
        </p:nvSpPr>
        <p:spPr>
          <a:xfrm>
            <a:off x="10061571" y="2029967"/>
            <a:ext cx="1352883"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dot1">
            <a:extLst>
              <a:ext uri="{C183D7F6-B498-43B3-948B-1728B52AA6E4}">
                <adec:decorative xmlns:adec="http://schemas.microsoft.com/office/drawing/2017/decorative" val="1"/>
              </a:ext>
            </a:extLst>
          </p:cNvPr>
          <p:cNvSpPr/>
          <p:nvPr/>
        </p:nvSpPr>
        <p:spPr>
          <a:xfrm>
            <a:off x="753422"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dotn1"/>
          <p:cNvSpPr txBox="1"/>
          <p:nvPr/>
        </p:nvSpPr>
        <p:spPr>
          <a:xfrm>
            <a:off x="66198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a:t>
            </a:r>
          </a:p>
        </p:txBody>
      </p:sp>
      <p:sp>
        <p:nvSpPr>
          <p:cNvPr id="21" name="!!dot2">
            <a:extLst>
              <a:ext uri="{C183D7F6-B498-43B3-948B-1728B52AA6E4}">
                <adec:decorative xmlns:adec="http://schemas.microsoft.com/office/drawing/2017/decorative" val="1"/>
              </a:ext>
            </a:extLst>
          </p:cNvPr>
          <p:cNvSpPr/>
          <p:nvPr/>
        </p:nvSpPr>
        <p:spPr>
          <a:xfrm>
            <a:off x="1034972"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dotn2"/>
          <p:cNvSpPr txBox="1"/>
          <p:nvPr/>
        </p:nvSpPr>
        <p:spPr>
          <a:xfrm>
            <a:off x="94353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2</a:t>
            </a:r>
          </a:p>
        </p:txBody>
      </p:sp>
      <p:sp>
        <p:nvSpPr>
          <p:cNvPr id="23" name="!!dot3">
            <a:extLst>
              <a:ext uri="{C183D7F6-B498-43B3-948B-1728B52AA6E4}">
                <adec:decorative xmlns:adec="http://schemas.microsoft.com/office/drawing/2017/decorative" val="1"/>
              </a:ext>
            </a:extLst>
          </p:cNvPr>
          <p:cNvSpPr/>
          <p:nvPr/>
        </p:nvSpPr>
        <p:spPr>
          <a:xfrm>
            <a:off x="1316521"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dotn3"/>
          <p:cNvSpPr txBox="1"/>
          <p:nvPr/>
        </p:nvSpPr>
        <p:spPr>
          <a:xfrm>
            <a:off x="122508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3</a:t>
            </a:r>
          </a:p>
        </p:txBody>
      </p:sp>
      <p:sp>
        <p:nvSpPr>
          <p:cNvPr id="25" name="!!dot4">
            <a:extLst>
              <a:ext uri="{C183D7F6-B498-43B3-948B-1728B52AA6E4}">
                <adec:decorative xmlns:adec="http://schemas.microsoft.com/office/drawing/2017/decorative" val="1"/>
              </a:ext>
            </a:extLst>
          </p:cNvPr>
          <p:cNvSpPr/>
          <p:nvPr/>
        </p:nvSpPr>
        <p:spPr>
          <a:xfrm>
            <a:off x="1607215" y="2112264"/>
            <a:ext cx="566928" cy="566928"/>
          </a:xfrm>
          <a:prstGeom prst="ellipse">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dotn4"/>
          <p:cNvSpPr txBox="1"/>
          <p:nvPr/>
        </p:nvSpPr>
        <p:spPr>
          <a:xfrm>
            <a:off x="1607215" y="2240280"/>
            <a:ext cx="566928" cy="310896"/>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4</a:t>
            </a:r>
          </a:p>
        </p:txBody>
      </p:sp>
      <p:sp>
        <p:nvSpPr>
          <p:cNvPr id="27" name="!!dot5">
            <a:extLst>
              <a:ext uri="{C183D7F6-B498-43B3-948B-1728B52AA6E4}">
                <adec:decorative xmlns:adec="http://schemas.microsoft.com/office/drawing/2017/decorative" val="1"/>
              </a:ext>
            </a:extLst>
          </p:cNvPr>
          <p:cNvSpPr/>
          <p:nvPr/>
        </p:nvSpPr>
        <p:spPr>
          <a:xfrm>
            <a:off x="2190516" y="2258568"/>
            <a:ext cx="274320" cy="274320"/>
          </a:xfrm>
          <a:prstGeom prst="ellipse">
            <a:avLst/>
          </a:prstGeom>
          <a:solidFill>
            <a:srgbClr val="FFFFFF"/>
          </a:solidFill>
          <a:ln w="15875">
            <a:solidFill>
              <a:srgbClr val="81A0B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dotn5"/>
          <p:cNvSpPr txBox="1"/>
          <p:nvPr/>
        </p:nvSpPr>
        <p:spPr>
          <a:xfrm>
            <a:off x="2099076"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A4967"/>
                </a:solidFill>
                <a:latin typeface="Segoe UI"/>
              </a:rPr>
              <a:t>5</a:t>
            </a:r>
          </a:p>
        </p:txBody>
      </p:sp>
      <p:sp>
        <p:nvSpPr>
          <p:cNvPr id="29" name="!!dot6">
            <a:extLst>
              <a:ext uri="{C183D7F6-B498-43B3-948B-1728B52AA6E4}">
                <adec:decorative xmlns:adec="http://schemas.microsoft.com/office/drawing/2017/decorative" val="1"/>
              </a:ext>
            </a:extLst>
          </p:cNvPr>
          <p:cNvSpPr/>
          <p:nvPr/>
        </p:nvSpPr>
        <p:spPr>
          <a:xfrm>
            <a:off x="2472066" y="2258568"/>
            <a:ext cx="274320" cy="274320"/>
          </a:xfrm>
          <a:prstGeom prst="ellipse">
            <a:avLst/>
          </a:prstGeom>
          <a:solidFill>
            <a:srgbClr val="FFFFFF"/>
          </a:solidFill>
          <a:ln w="15875">
            <a:solidFill>
              <a:srgbClr val="81A0B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dotn6"/>
          <p:cNvSpPr txBox="1"/>
          <p:nvPr/>
        </p:nvSpPr>
        <p:spPr>
          <a:xfrm>
            <a:off x="2380626"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A4967"/>
                </a:solidFill>
                <a:latin typeface="Segoe UI"/>
              </a:rPr>
              <a:t>6</a:t>
            </a:r>
          </a:p>
        </p:txBody>
      </p:sp>
      <p:sp>
        <p:nvSpPr>
          <p:cNvPr id="31" name="!!dot7">
            <a:extLst>
              <a:ext uri="{C183D7F6-B498-43B3-948B-1728B52AA6E4}">
                <adec:decorative xmlns:adec="http://schemas.microsoft.com/office/drawing/2017/decorative" val="1"/>
              </a:ext>
            </a:extLst>
          </p:cNvPr>
          <p:cNvSpPr/>
          <p:nvPr/>
        </p:nvSpPr>
        <p:spPr>
          <a:xfrm>
            <a:off x="3027935" y="2258568"/>
            <a:ext cx="274320" cy="274320"/>
          </a:xfrm>
          <a:prstGeom prst="ellipse">
            <a:avLst/>
          </a:prstGeom>
          <a:solidFill>
            <a:srgbClr val="FFFFFF"/>
          </a:solidFill>
          <a:ln w="15875">
            <a:solidFill>
              <a:srgbClr val="8CBCDD"/>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dotn7"/>
          <p:cNvSpPr txBox="1"/>
          <p:nvPr/>
        </p:nvSpPr>
        <p:spPr>
          <a:xfrm>
            <a:off x="2936495"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A73A3"/>
                </a:solidFill>
                <a:latin typeface="Segoe UI"/>
              </a:rPr>
              <a:t>7</a:t>
            </a:r>
          </a:p>
        </p:txBody>
      </p:sp>
      <p:sp>
        <p:nvSpPr>
          <p:cNvPr id="33" name="!!dot8">
            <a:extLst>
              <a:ext uri="{C183D7F6-B498-43B3-948B-1728B52AA6E4}">
                <adec:decorative xmlns:adec="http://schemas.microsoft.com/office/drawing/2017/decorative" val="1"/>
              </a:ext>
            </a:extLst>
          </p:cNvPr>
          <p:cNvSpPr/>
          <p:nvPr/>
        </p:nvSpPr>
        <p:spPr>
          <a:xfrm>
            <a:off x="3309485" y="2258568"/>
            <a:ext cx="274320" cy="274320"/>
          </a:xfrm>
          <a:prstGeom prst="ellipse">
            <a:avLst/>
          </a:prstGeom>
          <a:solidFill>
            <a:srgbClr val="FFFFFF"/>
          </a:solidFill>
          <a:ln w="15875">
            <a:solidFill>
              <a:srgbClr val="8CBCDD"/>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4" name="!!dotn8"/>
          <p:cNvSpPr txBox="1"/>
          <p:nvPr/>
        </p:nvSpPr>
        <p:spPr>
          <a:xfrm>
            <a:off x="3218045"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A73A3"/>
                </a:solidFill>
                <a:latin typeface="Segoe UI"/>
              </a:rPr>
              <a:t>8</a:t>
            </a:r>
          </a:p>
        </p:txBody>
      </p:sp>
      <p:sp>
        <p:nvSpPr>
          <p:cNvPr id="35" name="!!dot9">
            <a:extLst>
              <a:ext uri="{C183D7F6-B498-43B3-948B-1728B52AA6E4}">
                <adec:decorative xmlns:adec="http://schemas.microsoft.com/office/drawing/2017/decorative" val="1"/>
              </a:ext>
            </a:extLst>
          </p:cNvPr>
          <p:cNvSpPr/>
          <p:nvPr/>
        </p:nvSpPr>
        <p:spPr>
          <a:xfrm>
            <a:off x="3591034" y="2258568"/>
            <a:ext cx="274320" cy="274320"/>
          </a:xfrm>
          <a:prstGeom prst="ellipse">
            <a:avLst/>
          </a:prstGeom>
          <a:solidFill>
            <a:srgbClr val="FFFFFF"/>
          </a:solidFill>
          <a:ln w="15875">
            <a:solidFill>
              <a:srgbClr val="8CBCDD"/>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dotn9"/>
          <p:cNvSpPr txBox="1"/>
          <p:nvPr/>
        </p:nvSpPr>
        <p:spPr>
          <a:xfrm>
            <a:off x="349959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A73A3"/>
                </a:solidFill>
                <a:latin typeface="Segoe UI"/>
              </a:rPr>
              <a:t>9</a:t>
            </a:r>
          </a:p>
        </p:txBody>
      </p:sp>
      <p:sp>
        <p:nvSpPr>
          <p:cNvPr id="37" name="!!dot10">
            <a:extLst>
              <a:ext uri="{C183D7F6-B498-43B3-948B-1728B52AA6E4}">
                <adec:decorative xmlns:adec="http://schemas.microsoft.com/office/drawing/2017/decorative" val="1"/>
              </a:ext>
            </a:extLst>
          </p:cNvPr>
          <p:cNvSpPr/>
          <p:nvPr/>
        </p:nvSpPr>
        <p:spPr>
          <a:xfrm>
            <a:off x="3872584" y="2258568"/>
            <a:ext cx="274320" cy="274320"/>
          </a:xfrm>
          <a:prstGeom prst="ellipse">
            <a:avLst/>
          </a:prstGeom>
          <a:solidFill>
            <a:srgbClr val="FFFFFF"/>
          </a:solidFill>
          <a:ln w="15875">
            <a:solidFill>
              <a:srgbClr val="8CBCDD"/>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dotn10"/>
          <p:cNvSpPr txBox="1"/>
          <p:nvPr/>
        </p:nvSpPr>
        <p:spPr>
          <a:xfrm>
            <a:off x="378114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A73A3"/>
                </a:solidFill>
                <a:latin typeface="Segoe UI"/>
              </a:rPr>
              <a:t>10</a:t>
            </a:r>
          </a:p>
        </p:txBody>
      </p:sp>
      <p:sp>
        <p:nvSpPr>
          <p:cNvPr id="39" name="!!dot11">
            <a:extLst>
              <a:ext uri="{C183D7F6-B498-43B3-948B-1728B52AA6E4}">
                <adec:decorative xmlns:adec="http://schemas.microsoft.com/office/drawing/2017/decorative" val="1"/>
              </a:ext>
            </a:extLst>
          </p:cNvPr>
          <p:cNvSpPr/>
          <p:nvPr/>
        </p:nvSpPr>
        <p:spPr>
          <a:xfrm>
            <a:off x="4428453" y="2258568"/>
            <a:ext cx="274320" cy="274320"/>
          </a:xfrm>
          <a:prstGeom prst="ellipse">
            <a:avLst/>
          </a:prstGeom>
          <a:solidFill>
            <a:srgbClr val="FFFFFF"/>
          </a:solidFill>
          <a:ln w="15875">
            <a:solidFill>
              <a:srgbClr val="88D2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0" name="!!dotn11"/>
          <p:cNvSpPr txBox="1"/>
          <p:nvPr/>
        </p:nvSpPr>
        <p:spPr>
          <a:xfrm>
            <a:off x="4337013"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59355"/>
                </a:solidFill>
                <a:latin typeface="Segoe UI"/>
              </a:rPr>
              <a:t>11</a:t>
            </a:r>
          </a:p>
        </p:txBody>
      </p:sp>
      <p:sp>
        <p:nvSpPr>
          <p:cNvPr id="41" name="!!dot12">
            <a:extLst>
              <a:ext uri="{C183D7F6-B498-43B3-948B-1728B52AA6E4}">
                <adec:decorative xmlns:adec="http://schemas.microsoft.com/office/drawing/2017/decorative" val="1"/>
              </a:ext>
            </a:extLst>
          </p:cNvPr>
          <p:cNvSpPr/>
          <p:nvPr/>
        </p:nvSpPr>
        <p:spPr>
          <a:xfrm>
            <a:off x="4710002" y="2258568"/>
            <a:ext cx="274320" cy="274320"/>
          </a:xfrm>
          <a:prstGeom prst="ellipse">
            <a:avLst/>
          </a:prstGeom>
          <a:solidFill>
            <a:srgbClr val="FFFFFF"/>
          </a:solidFill>
          <a:ln w="15875">
            <a:solidFill>
              <a:srgbClr val="88D2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2" name="!!dotn12"/>
          <p:cNvSpPr txBox="1"/>
          <p:nvPr/>
        </p:nvSpPr>
        <p:spPr>
          <a:xfrm>
            <a:off x="461856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59355"/>
                </a:solidFill>
                <a:latin typeface="Segoe UI"/>
              </a:rPr>
              <a:t>12</a:t>
            </a:r>
          </a:p>
        </p:txBody>
      </p:sp>
      <p:sp>
        <p:nvSpPr>
          <p:cNvPr id="43" name="!!dot13">
            <a:extLst>
              <a:ext uri="{C183D7F6-B498-43B3-948B-1728B52AA6E4}">
                <adec:decorative xmlns:adec="http://schemas.microsoft.com/office/drawing/2017/decorative" val="1"/>
              </a:ext>
            </a:extLst>
          </p:cNvPr>
          <p:cNvSpPr/>
          <p:nvPr/>
        </p:nvSpPr>
        <p:spPr>
          <a:xfrm>
            <a:off x="4991552" y="2258568"/>
            <a:ext cx="274320" cy="274320"/>
          </a:xfrm>
          <a:prstGeom prst="ellipse">
            <a:avLst/>
          </a:prstGeom>
          <a:solidFill>
            <a:srgbClr val="FFFFFF"/>
          </a:solidFill>
          <a:ln w="15875">
            <a:solidFill>
              <a:srgbClr val="88D2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4" name="!!dotn13"/>
          <p:cNvSpPr txBox="1"/>
          <p:nvPr/>
        </p:nvSpPr>
        <p:spPr>
          <a:xfrm>
            <a:off x="490011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59355"/>
                </a:solidFill>
                <a:latin typeface="Segoe UI"/>
              </a:rPr>
              <a:t>13</a:t>
            </a:r>
          </a:p>
        </p:txBody>
      </p:sp>
      <p:sp>
        <p:nvSpPr>
          <p:cNvPr id="45" name="!!dot14">
            <a:extLst>
              <a:ext uri="{C183D7F6-B498-43B3-948B-1728B52AA6E4}">
                <adec:decorative xmlns:adec="http://schemas.microsoft.com/office/drawing/2017/decorative" val="1"/>
              </a:ext>
            </a:extLst>
          </p:cNvPr>
          <p:cNvSpPr/>
          <p:nvPr/>
        </p:nvSpPr>
        <p:spPr>
          <a:xfrm>
            <a:off x="5273101" y="2258568"/>
            <a:ext cx="274320" cy="274320"/>
          </a:xfrm>
          <a:prstGeom prst="ellipse">
            <a:avLst/>
          </a:prstGeom>
          <a:solidFill>
            <a:srgbClr val="FFFFFF"/>
          </a:solidFill>
          <a:ln w="15875">
            <a:solidFill>
              <a:srgbClr val="88D2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6" name="!!dotn14"/>
          <p:cNvSpPr txBox="1"/>
          <p:nvPr/>
        </p:nvSpPr>
        <p:spPr>
          <a:xfrm>
            <a:off x="518166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59355"/>
                </a:solidFill>
                <a:latin typeface="Segoe UI"/>
              </a:rPr>
              <a:t>14</a:t>
            </a:r>
          </a:p>
        </p:txBody>
      </p:sp>
      <p:sp>
        <p:nvSpPr>
          <p:cNvPr id="47" name="!!dot15">
            <a:extLst>
              <a:ext uri="{C183D7F6-B498-43B3-948B-1728B52AA6E4}">
                <adec:decorative xmlns:adec="http://schemas.microsoft.com/office/drawing/2017/decorative" val="1"/>
              </a:ext>
            </a:extLst>
          </p:cNvPr>
          <p:cNvSpPr/>
          <p:nvPr/>
        </p:nvSpPr>
        <p:spPr>
          <a:xfrm>
            <a:off x="5554651" y="2258568"/>
            <a:ext cx="274320" cy="274320"/>
          </a:xfrm>
          <a:prstGeom prst="ellipse">
            <a:avLst/>
          </a:prstGeom>
          <a:solidFill>
            <a:srgbClr val="FFFFFF"/>
          </a:solidFill>
          <a:ln w="15875">
            <a:solidFill>
              <a:srgbClr val="88D2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8" name="!!dotn15"/>
          <p:cNvSpPr txBox="1"/>
          <p:nvPr/>
        </p:nvSpPr>
        <p:spPr>
          <a:xfrm>
            <a:off x="546321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59355"/>
                </a:solidFill>
                <a:latin typeface="Segoe UI"/>
              </a:rPr>
              <a:t>15</a:t>
            </a:r>
          </a:p>
        </p:txBody>
      </p:sp>
      <p:sp>
        <p:nvSpPr>
          <p:cNvPr id="49" name="!!dot16">
            <a:extLst>
              <a:ext uri="{C183D7F6-B498-43B3-948B-1728B52AA6E4}">
                <adec:decorative xmlns:adec="http://schemas.microsoft.com/office/drawing/2017/decorative" val="1"/>
              </a:ext>
            </a:extLst>
          </p:cNvPr>
          <p:cNvSpPr/>
          <p:nvPr/>
        </p:nvSpPr>
        <p:spPr>
          <a:xfrm>
            <a:off x="5836200" y="2258568"/>
            <a:ext cx="274320" cy="274320"/>
          </a:xfrm>
          <a:prstGeom prst="ellipse">
            <a:avLst/>
          </a:prstGeom>
          <a:solidFill>
            <a:srgbClr val="FFFFFF"/>
          </a:solidFill>
          <a:ln w="15875">
            <a:solidFill>
              <a:srgbClr val="88D2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0" name="!!dotn16"/>
          <p:cNvSpPr txBox="1"/>
          <p:nvPr/>
        </p:nvSpPr>
        <p:spPr>
          <a:xfrm>
            <a:off x="574476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59355"/>
                </a:solidFill>
                <a:latin typeface="Segoe UI"/>
              </a:rPr>
              <a:t>16</a:t>
            </a:r>
          </a:p>
        </p:txBody>
      </p:sp>
      <p:sp>
        <p:nvSpPr>
          <p:cNvPr id="51" name="!!dot17">
            <a:extLst>
              <a:ext uri="{C183D7F6-B498-43B3-948B-1728B52AA6E4}">
                <adec:decorative xmlns:adec="http://schemas.microsoft.com/office/drawing/2017/decorative" val="1"/>
              </a:ext>
            </a:extLst>
          </p:cNvPr>
          <p:cNvSpPr/>
          <p:nvPr/>
        </p:nvSpPr>
        <p:spPr>
          <a:xfrm>
            <a:off x="6392070"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2" name="!!dotn17"/>
          <p:cNvSpPr txBox="1"/>
          <p:nvPr/>
        </p:nvSpPr>
        <p:spPr>
          <a:xfrm>
            <a:off x="630063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17</a:t>
            </a:r>
          </a:p>
        </p:txBody>
      </p:sp>
      <p:sp>
        <p:nvSpPr>
          <p:cNvPr id="53" name="!!dot18">
            <a:extLst>
              <a:ext uri="{C183D7F6-B498-43B3-948B-1728B52AA6E4}">
                <adec:decorative xmlns:adec="http://schemas.microsoft.com/office/drawing/2017/decorative" val="1"/>
              </a:ext>
            </a:extLst>
          </p:cNvPr>
          <p:cNvSpPr/>
          <p:nvPr/>
        </p:nvSpPr>
        <p:spPr>
          <a:xfrm>
            <a:off x="6673619"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4" name="!!dotn18"/>
          <p:cNvSpPr txBox="1"/>
          <p:nvPr/>
        </p:nvSpPr>
        <p:spPr>
          <a:xfrm>
            <a:off x="6582179"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18</a:t>
            </a:r>
          </a:p>
        </p:txBody>
      </p:sp>
      <p:sp>
        <p:nvSpPr>
          <p:cNvPr id="55" name="!!dot19">
            <a:extLst>
              <a:ext uri="{C183D7F6-B498-43B3-948B-1728B52AA6E4}">
                <adec:decorative xmlns:adec="http://schemas.microsoft.com/office/drawing/2017/decorative" val="1"/>
              </a:ext>
            </a:extLst>
          </p:cNvPr>
          <p:cNvSpPr/>
          <p:nvPr/>
        </p:nvSpPr>
        <p:spPr>
          <a:xfrm>
            <a:off x="6955169"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6" name="!!dotn19"/>
          <p:cNvSpPr txBox="1"/>
          <p:nvPr/>
        </p:nvSpPr>
        <p:spPr>
          <a:xfrm>
            <a:off x="6863729"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19</a:t>
            </a:r>
          </a:p>
        </p:txBody>
      </p:sp>
      <p:sp>
        <p:nvSpPr>
          <p:cNvPr id="57" name="!!dot20">
            <a:extLst>
              <a:ext uri="{C183D7F6-B498-43B3-948B-1728B52AA6E4}">
                <adec:decorative xmlns:adec="http://schemas.microsoft.com/office/drawing/2017/decorative" val="1"/>
              </a:ext>
            </a:extLst>
          </p:cNvPr>
          <p:cNvSpPr/>
          <p:nvPr/>
        </p:nvSpPr>
        <p:spPr>
          <a:xfrm>
            <a:off x="7236718"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8" name="!!dotn20"/>
          <p:cNvSpPr txBox="1"/>
          <p:nvPr/>
        </p:nvSpPr>
        <p:spPr>
          <a:xfrm>
            <a:off x="7145278"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20</a:t>
            </a:r>
          </a:p>
        </p:txBody>
      </p:sp>
      <p:sp>
        <p:nvSpPr>
          <p:cNvPr id="59" name="!!dot21">
            <a:extLst>
              <a:ext uri="{C183D7F6-B498-43B3-948B-1728B52AA6E4}">
                <adec:decorative xmlns:adec="http://schemas.microsoft.com/office/drawing/2017/decorative" val="1"/>
              </a:ext>
            </a:extLst>
          </p:cNvPr>
          <p:cNvSpPr/>
          <p:nvPr/>
        </p:nvSpPr>
        <p:spPr>
          <a:xfrm>
            <a:off x="7518268"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dotn21"/>
          <p:cNvSpPr txBox="1"/>
          <p:nvPr/>
        </p:nvSpPr>
        <p:spPr>
          <a:xfrm>
            <a:off x="7426828"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21</a:t>
            </a:r>
          </a:p>
        </p:txBody>
      </p:sp>
      <p:sp>
        <p:nvSpPr>
          <p:cNvPr id="61" name="!!dot22">
            <a:extLst>
              <a:ext uri="{C183D7F6-B498-43B3-948B-1728B52AA6E4}">
                <adec:decorative xmlns:adec="http://schemas.microsoft.com/office/drawing/2017/decorative" val="1"/>
              </a:ext>
            </a:extLst>
          </p:cNvPr>
          <p:cNvSpPr/>
          <p:nvPr/>
        </p:nvSpPr>
        <p:spPr>
          <a:xfrm>
            <a:off x="7799817"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2" name="!!dotn22"/>
          <p:cNvSpPr txBox="1"/>
          <p:nvPr/>
        </p:nvSpPr>
        <p:spPr>
          <a:xfrm>
            <a:off x="7708377"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22</a:t>
            </a:r>
          </a:p>
        </p:txBody>
      </p:sp>
      <p:sp>
        <p:nvSpPr>
          <p:cNvPr id="63" name="!!dot23">
            <a:extLst>
              <a:ext uri="{C183D7F6-B498-43B3-948B-1728B52AA6E4}">
                <adec:decorative xmlns:adec="http://schemas.microsoft.com/office/drawing/2017/decorative" val="1"/>
              </a:ext>
            </a:extLst>
          </p:cNvPr>
          <p:cNvSpPr/>
          <p:nvPr/>
        </p:nvSpPr>
        <p:spPr>
          <a:xfrm>
            <a:off x="8355687"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4" name="!!dotn23"/>
          <p:cNvSpPr txBox="1"/>
          <p:nvPr/>
        </p:nvSpPr>
        <p:spPr>
          <a:xfrm>
            <a:off x="8264247"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23</a:t>
            </a:r>
          </a:p>
        </p:txBody>
      </p:sp>
      <p:sp>
        <p:nvSpPr>
          <p:cNvPr id="65" name="!!dot24">
            <a:extLst>
              <a:ext uri="{C183D7F6-B498-43B3-948B-1728B52AA6E4}">
                <adec:decorative xmlns:adec="http://schemas.microsoft.com/office/drawing/2017/decorative" val="1"/>
              </a:ext>
            </a:extLst>
          </p:cNvPr>
          <p:cNvSpPr/>
          <p:nvPr/>
        </p:nvSpPr>
        <p:spPr>
          <a:xfrm>
            <a:off x="8637236"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6" name="!!dotn24"/>
          <p:cNvSpPr txBox="1"/>
          <p:nvPr/>
        </p:nvSpPr>
        <p:spPr>
          <a:xfrm>
            <a:off x="8545796"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24</a:t>
            </a:r>
          </a:p>
        </p:txBody>
      </p:sp>
      <p:sp>
        <p:nvSpPr>
          <p:cNvPr id="67" name="!!dot25">
            <a:extLst>
              <a:ext uri="{C183D7F6-B498-43B3-948B-1728B52AA6E4}">
                <adec:decorative xmlns:adec="http://schemas.microsoft.com/office/drawing/2017/decorative" val="1"/>
              </a:ext>
            </a:extLst>
          </p:cNvPr>
          <p:cNvSpPr/>
          <p:nvPr/>
        </p:nvSpPr>
        <p:spPr>
          <a:xfrm>
            <a:off x="8918786"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8" name="!!dotn25"/>
          <p:cNvSpPr txBox="1"/>
          <p:nvPr/>
        </p:nvSpPr>
        <p:spPr>
          <a:xfrm>
            <a:off x="8827346"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25</a:t>
            </a:r>
          </a:p>
        </p:txBody>
      </p:sp>
      <p:sp>
        <p:nvSpPr>
          <p:cNvPr id="69" name="!!dot26">
            <a:extLst>
              <a:ext uri="{C183D7F6-B498-43B3-948B-1728B52AA6E4}">
                <adec:decorative xmlns:adec="http://schemas.microsoft.com/office/drawing/2017/decorative" val="1"/>
              </a:ext>
            </a:extLst>
          </p:cNvPr>
          <p:cNvSpPr/>
          <p:nvPr/>
        </p:nvSpPr>
        <p:spPr>
          <a:xfrm>
            <a:off x="9200335"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0" name="!!dotn26"/>
          <p:cNvSpPr txBox="1"/>
          <p:nvPr/>
        </p:nvSpPr>
        <p:spPr>
          <a:xfrm>
            <a:off x="9108895"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26</a:t>
            </a:r>
          </a:p>
        </p:txBody>
      </p:sp>
      <p:sp>
        <p:nvSpPr>
          <p:cNvPr id="71" name="!!dot27">
            <a:extLst>
              <a:ext uri="{C183D7F6-B498-43B3-948B-1728B52AA6E4}">
                <adec:decorative xmlns:adec="http://schemas.microsoft.com/office/drawing/2017/decorative" val="1"/>
              </a:ext>
            </a:extLst>
          </p:cNvPr>
          <p:cNvSpPr/>
          <p:nvPr/>
        </p:nvSpPr>
        <p:spPr>
          <a:xfrm>
            <a:off x="9481885"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2" name="!!dotn27"/>
          <p:cNvSpPr txBox="1"/>
          <p:nvPr/>
        </p:nvSpPr>
        <p:spPr>
          <a:xfrm>
            <a:off x="9390445"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27</a:t>
            </a:r>
          </a:p>
        </p:txBody>
      </p:sp>
      <p:sp>
        <p:nvSpPr>
          <p:cNvPr id="73" name="!!dot28">
            <a:extLst>
              <a:ext uri="{C183D7F6-B498-43B3-948B-1728B52AA6E4}">
                <adec:decorative xmlns:adec="http://schemas.microsoft.com/office/drawing/2017/decorative" val="1"/>
              </a:ext>
            </a:extLst>
          </p:cNvPr>
          <p:cNvSpPr/>
          <p:nvPr/>
        </p:nvSpPr>
        <p:spPr>
          <a:xfrm>
            <a:off x="10037754"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4" name="!!dotn28"/>
          <p:cNvSpPr txBox="1"/>
          <p:nvPr/>
        </p:nvSpPr>
        <p:spPr>
          <a:xfrm>
            <a:off x="994631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28</a:t>
            </a:r>
          </a:p>
        </p:txBody>
      </p:sp>
      <p:sp>
        <p:nvSpPr>
          <p:cNvPr id="75" name="!!dot29">
            <a:extLst>
              <a:ext uri="{C183D7F6-B498-43B3-948B-1728B52AA6E4}">
                <adec:decorative xmlns:adec="http://schemas.microsoft.com/office/drawing/2017/decorative" val="1"/>
              </a:ext>
            </a:extLst>
          </p:cNvPr>
          <p:cNvSpPr/>
          <p:nvPr/>
        </p:nvSpPr>
        <p:spPr>
          <a:xfrm>
            <a:off x="10319304"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6" name="!!dotn29"/>
          <p:cNvSpPr txBox="1"/>
          <p:nvPr/>
        </p:nvSpPr>
        <p:spPr>
          <a:xfrm>
            <a:off x="1022786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29</a:t>
            </a:r>
          </a:p>
        </p:txBody>
      </p:sp>
      <p:sp>
        <p:nvSpPr>
          <p:cNvPr id="77" name="!!dot30">
            <a:extLst>
              <a:ext uri="{C183D7F6-B498-43B3-948B-1728B52AA6E4}">
                <adec:decorative xmlns:adec="http://schemas.microsoft.com/office/drawing/2017/decorative" val="1"/>
              </a:ext>
            </a:extLst>
          </p:cNvPr>
          <p:cNvSpPr/>
          <p:nvPr/>
        </p:nvSpPr>
        <p:spPr>
          <a:xfrm>
            <a:off x="10600853"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8" name="!!dotn30"/>
          <p:cNvSpPr txBox="1"/>
          <p:nvPr/>
        </p:nvSpPr>
        <p:spPr>
          <a:xfrm>
            <a:off x="10509413"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30</a:t>
            </a:r>
          </a:p>
        </p:txBody>
      </p:sp>
      <p:sp>
        <p:nvSpPr>
          <p:cNvPr id="79" name="!!dot31">
            <a:extLst>
              <a:ext uri="{C183D7F6-B498-43B3-948B-1728B52AA6E4}">
                <adec:decorative xmlns:adec="http://schemas.microsoft.com/office/drawing/2017/decorative" val="1"/>
              </a:ext>
            </a:extLst>
          </p:cNvPr>
          <p:cNvSpPr/>
          <p:nvPr/>
        </p:nvSpPr>
        <p:spPr>
          <a:xfrm>
            <a:off x="10882402"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0" name="!!dotn31"/>
          <p:cNvSpPr txBox="1"/>
          <p:nvPr/>
        </p:nvSpPr>
        <p:spPr>
          <a:xfrm>
            <a:off x="1079096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31</a:t>
            </a:r>
          </a:p>
        </p:txBody>
      </p:sp>
      <p:sp>
        <p:nvSpPr>
          <p:cNvPr id="81" name="!!dot32">
            <a:extLst>
              <a:ext uri="{C183D7F6-B498-43B3-948B-1728B52AA6E4}">
                <adec:decorative xmlns:adec="http://schemas.microsoft.com/office/drawing/2017/decorative" val="1"/>
              </a:ext>
            </a:extLst>
          </p:cNvPr>
          <p:cNvSpPr/>
          <p:nvPr/>
        </p:nvSpPr>
        <p:spPr>
          <a:xfrm>
            <a:off x="11163952"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2" name="!!dotn32"/>
          <p:cNvSpPr txBox="1"/>
          <p:nvPr/>
        </p:nvSpPr>
        <p:spPr>
          <a:xfrm>
            <a:off x="1107251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32</a:t>
            </a:r>
          </a:p>
        </p:txBody>
      </p:sp>
      <p:sp>
        <p:nvSpPr>
          <p:cNvPr id="83" name="!!dotlabel"/>
          <p:cNvSpPr txBox="1"/>
          <p:nvPr/>
        </p:nvSpPr>
        <p:spPr>
          <a:xfrm>
            <a:off x="658368" y="2798064"/>
            <a:ext cx="4572000" cy="310896"/>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1A5276"/>
                </a:solidFill>
                <a:latin typeface="Segoe UI"/>
              </a:rPr>
              <a:t>The Mathematical Toolkit</a:t>
            </a:r>
          </a:p>
        </p:txBody>
      </p:sp>
      <p:sp>
        <p:nvSpPr>
          <p:cNvPr id="84" name="!!dep-BUILD"/>
          <p:cNvSpPr txBox="1"/>
          <p:nvPr/>
        </p:nvSpPr>
        <p:spPr>
          <a:xfrm>
            <a:off x="658368" y="3419856"/>
            <a:ext cx="5208879" cy="256032"/>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5F6F7B"/>
                </a:solidFill>
                <a:latin typeface="Segoe UI"/>
              </a:rPr>
              <a:t>BUILDS ON</a:t>
            </a:r>
          </a:p>
        </p:txBody>
      </p:sp>
      <p:sp>
        <p:nvSpPr>
          <p:cNvPr id="85" name="!!chipBU3">
            <a:extLst>
              <a:ext uri="{C183D7F6-B498-43B3-948B-1728B52AA6E4}">
                <adec:decorative xmlns:adec="http://schemas.microsoft.com/office/drawing/2017/decorative" val="1"/>
              </a:ext>
            </a:extLst>
          </p:cNvPr>
          <p:cNvSpPr/>
          <p:nvPr/>
        </p:nvSpPr>
        <p:spPr>
          <a:xfrm>
            <a:off x="658368" y="3785616"/>
            <a:ext cx="5208879" cy="420624"/>
          </a:xfrm>
          <a:prstGeom prst="roundRect">
            <a:avLst>
              <a:gd name="adj" fmla="val 17391"/>
            </a:avLst>
          </a:prstGeom>
          <a:solidFill>
            <a:srgbClr val="E8EEF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6" name="!!chipbBU3">
            <a:extLst>
              <a:ext uri="{C183D7F6-B498-43B3-948B-1728B52AA6E4}">
                <adec:decorative xmlns:adec="http://schemas.microsoft.com/office/drawing/2017/decorative" val="1"/>
              </a:ext>
            </a:extLst>
          </p:cNvPr>
          <p:cNvSpPr/>
          <p:nvPr/>
        </p:nvSpPr>
        <p:spPr>
          <a:xfrm>
            <a:off x="658368" y="3785616"/>
            <a:ext cx="64008" cy="42062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7" name="!!chiptBU3"/>
          <p:cNvSpPr txBox="1"/>
          <p:nvPr/>
        </p:nvSpPr>
        <p:spPr>
          <a:xfrm>
            <a:off x="859536" y="3877056"/>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1A5276"/>
                </a:solidFill>
                <a:latin typeface="Segoe UI"/>
              </a:rPr>
              <a:t>Ch 3  </a:t>
            </a:r>
            <a:r>
              <a:rPr sz="1400" b="0" i="0">
                <a:solidFill>
                  <a:srgbClr val="1C252B"/>
                </a:solidFill>
                <a:latin typeface="Segoe UI"/>
              </a:rPr>
              <a:t>Data: Types, Sources and Quality</a:t>
            </a:r>
          </a:p>
        </p:txBody>
      </p:sp>
      <p:sp>
        <p:nvSpPr>
          <p:cNvPr id="88" name="!!dep-USED "/>
          <p:cNvSpPr txBox="1"/>
          <p:nvPr/>
        </p:nvSpPr>
        <p:spPr>
          <a:xfrm>
            <a:off x="6324447" y="3419856"/>
            <a:ext cx="5208879" cy="256032"/>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5F6F7B"/>
                </a:solidFill>
                <a:latin typeface="Segoe UI"/>
              </a:rPr>
              <a:t>USED LATER IN</a:t>
            </a:r>
          </a:p>
        </p:txBody>
      </p:sp>
      <p:sp>
        <p:nvSpPr>
          <p:cNvPr id="89" name="!!chipUS5">
            <a:extLst>
              <a:ext uri="{C183D7F6-B498-43B3-948B-1728B52AA6E4}">
                <adec:decorative xmlns:adec="http://schemas.microsoft.com/office/drawing/2017/decorative" val="1"/>
              </a:ext>
            </a:extLst>
          </p:cNvPr>
          <p:cNvSpPr/>
          <p:nvPr/>
        </p:nvSpPr>
        <p:spPr>
          <a:xfrm>
            <a:off x="6324447" y="3785616"/>
            <a:ext cx="5208879" cy="420624"/>
          </a:xfrm>
          <a:prstGeom prst="roundRect">
            <a:avLst>
              <a:gd name="adj" fmla="val 17391"/>
            </a:avLst>
          </a:prstGeom>
          <a:solidFill>
            <a:srgbClr val="E8EEF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0" name="!!chipbUS5">
            <a:extLst>
              <a:ext uri="{C183D7F6-B498-43B3-948B-1728B52AA6E4}">
                <adec:decorative xmlns:adec="http://schemas.microsoft.com/office/drawing/2017/decorative" val="1"/>
              </a:ext>
            </a:extLst>
          </p:cNvPr>
          <p:cNvSpPr/>
          <p:nvPr/>
        </p:nvSpPr>
        <p:spPr>
          <a:xfrm>
            <a:off x="6324447" y="3785616"/>
            <a:ext cx="64008" cy="42062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1" name="!!chiptUS5"/>
          <p:cNvSpPr txBox="1"/>
          <p:nvPr/>
        </p:nvSpPr>
        <p:spPr>
          <a:xfrm>
            <a:off x="6525615" y="3877056"/>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1A5276"/>
                </a:solidFill>
                <a:latin typeface="Segoe UI"/>
              </a:rPr>
              <a:t>Ch 5  </a:t>
            </a:r>
            <a:r>
              <a:rPr sz="1400" b="0" i="0">
                <a:solidFill>
                  <a:srgbClr val="1C252B"/>
                </a:solidFill>
                <a:latin typeface="Segoe UI"/>
              </a:rPr>
              <a:t>Describing Data: Centre, Spread and Shape</a:t>
            </a:r>
          </a:p>
        </p:txBody>
      </p:sp>
      <p:sp>
        <p:nvSpPr>
          <p:cNvPr id="92" name="!!chipUS11">
            <a:extLst>
              <a:ext uri="{C183D7F6-B498-43B3-948B-1728B52AA6E4}">
                <adec:decorative xmlns:adec="http://schemas.microsoft.com/office/drawing/2017/decorative" val="1"/>
              </a:ext>
            </a:extLst>
          </p:cNvPr>
          <p:cNvSpPr/>
          <p:nvPr/>
        </p:nvSpPr>
        <p:spPr>
          <a:xfrm>
            <a:off x="6324447" y="4297680"/>
            <a:ext cx="5208879" cy="420624"/>
          </a:xfrm>
          <a:prstGeom prst="roundRect">
            <a:avLst>
              <a:gd name="adj" fmla="val 17391"/>
            </a:avLst>
          </a:prstGeom>
          <a:solidFill>
            <a:srgbClr val="E8F2E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3" name="!!chipbUS11">
            <a:extLst>
              <a:ext uri="{C183D7F6-B498-43B3-948B-1728B52AA6E4}">
                <adec:decorative xmlns:adec="http://schemas.microsoft.com/office/drawing/2017/decorative" val="1"/>
              </a:ext>
            </a:extLst>
          </p:cNvPr>
          <p:cNvSpPr/>
          <p:nvPr/>
        </p:nvSpPr>
        <p:spPr>
          <a:xfrm>
            <a:off x="6324447" y="4297680"/>
            <a:ext cx="64008" cy="420624"/>
          </a:xfrm>
          <a:prstGeom prst="rect">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4" name="!!chiptUS11"/>
          <p:cNvSpPr txBox="1"/>
          <p:nvPr/>
        </p:nvSpPr>
        <p:spPr>
          <a:xfrm>
            <a:off x="6525615" y="4389120"/>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1B7A43"/>
                </a:solidFill>
                <a:latin typeface="Segoe UI"/>
              </a:rPr>
              <a:t>Ch 11  </a:t>
            </a:r>
            <a:r>
              <a:rPr sz="1400" b="0" i="0">
                <a:solidFill>
                  <a:srgbClr val="1C252B"/>
                </a:solidFill>
                <a:latin typeface="Segoe UI"/>
              </a:rPr>
              <a:t>Machine Learning Fundamentals</a:t>
            </a:r>
          </a:p>
        </p:txBody>
      </p:sp>
      <p:sp>
        <p:nvSpPr>
          <p:cNvPr id="95" name="!!chipUS12">
            <a:extLst>
              <a:ext uri="{C183D7F6-B498-43B3-948B-1728B52AA6E4}">
                <adec:decorative xmlns:adec="http://schemas.microsoft.com/office/drawing/2017/decorative" val="1"/>
              </a:ext>
            </a:extLst>
          </p:cNvPr>
          <p:cNvSpPr/>
          <p:nvPr/>
        </p:nvSpPr>
        <p:spPr>
          <a:xfrm>
            <a:off x="6324447" y="4809744"/>
            <a:ext cx="5208879" cy="420624"/>
          </a:xfrm>
          <a:prstGeom prst="roundRect">
            <a:avLst>
              <a:gd name="adj" fmla="val 17391"/>
            </a:avLst>
          </a:prstGeom>
          <a:solidFill>
            <a:srgbClr val="E8F2E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6" name="!!chipbUS12">
            <a:extLst>
              <a:ext uri="{C183D7F6-B498-43B3-948B-1728B52AA6E4}">
                <adec:decorative xmlns:adec="http://schemas.microsoft.com/office/drawing/2017/decorative" val="1"/>
              </a:ext>
            </a:extLst>
          </p:cNvPr>
          <p:cNvSpPr/>
          <p:nvPr/>
        </p:nvSpPr>
        <p:spPr>
          <a:xfrm>
            <a:off x="6324447" y="4809744"/>
            <a:ext cx="64008" cy="420624"/>
          </a:xfrm>
          <a:prstGeom prst="rect">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7" name="!!chiptUS12"/>
          <p:cNvSpPr txBox="1"/>
          <p:nvPr/>
        </p:nvSpPr>
        <p:spPr>
          <a:xfrm>
            <a:off x="6525615" y="4901184"/>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1B7A43"/>
                </a:solidFill>
                <a:latin typeface="Segoe UI"/>
              </a:rPr>
              <a:t>Ch 12  </a:t>
            </a:r>
            <a:r>
              <a:rPr sz="1400" b="0" i="0">
                <a:solidFill>
                  <a:srgbClr val="1C252B"/>
                </a:solidFill>
                <a:latin typeface="Segoe UI"/>
              </a:rPr>
              <a:t>Supervised Learning I: Regression</a:t>
            </a:r>
          </a:p>
        </p:txBody>
      </p:sp>
      <p:sp>
        <p:nvSpPr>
          <p:cNvPr id="98" name="!!chipUS13">
            <a:extLst>
              <a:ext uri="{C183D7F6-B498-43B3-948B-1728B52AA6E4}">
                <adec:decorative xmlns:adec="http://schemas.microsoft.com/office/drawing/2017/decorative" val="1"/>
              </a:ext>
            </a:extLst>
          </p:cNvPr>
          <p:cNvSpPr/>
          <p:nvPr/>
        </p:nvSpPr>
        <p:spPr>
          <a:xfrm>
            <a:off x="6324447" y="5321808"/>
            <a:ext cx="5208879" cy="420624"/>
          </a:xfrm>
          <a:prstGeom prst="roundRect">
            <a:avLst>
              <a:gd name="adj" fmla="val 17391"/>
            </a:avLst>
          </a:prstGeom>
          <a:solidFill>
            <a:srgbClr val="E8F2E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9" name="!!chipbUS13">
            <a:extLst>
              <a:ext uri="{C183D7F6-B498-43B3-948B-1728B52AA6E4}">
                <adec:decorative xmlns:adec="http://schemas.microsoft.com/office/drawing/2017/decorative" val="1"/>
              </a:ext>
            </a:extLst>
          </p:cNvPr>
          <p:cNvSpPr/>
          <p:nvPr/>
        </p:nvSpPr>
        <p:spPr>
          <a:xfrm>
            <a:off x="6324447" y="5321808"/>
            <a:ext cx="64008" cy="420624"/>
          </a:xfrm>
          <a:prstGeom prst="rect">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0" name="!!chiptUS13"/>
          <p:cNvSpPr txBox="1"/>
          <p:nvPr/>
        </p:nvSpPr>
        <p:spPr>
          <a:xfrm>
            <a:off x="6525615" y="5413248"/>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1B7A43"/>
                </a:solidFill>
                <a:latin typeface="Segoe UI"/>
              </a:rPr>
              <a:t>Ch 13  </a:t>
            </a:r>
            <a:r>
              <a:rPr sz="1400" b="0" i="0">
                <a:solidFill>
                  <a:srgbClr val="1C252B"/>
                </a:solidFill>
                <a:latin typeface="Segoe UI"/>
              </a:rPr>
              <a:t>Supervised Learning II: Classification</a:t>
            </a:r>
          </a:p>
        </p:txBody>
      </p:sp>
      <p:sp>
        <p:nvSpPr>
          <p:cNvPr id="101" name="!!chipUS16">
            <a:extLst>
              <a:ext uri="{C183D7F6-B498-43B3-948B-1728B52AA6E4}">
                <adec:decorative xmlns:adec="http://schemas.microsoft.com/office/drawing/2017/decorative" val="1"/>
              </a:ext>
            </a:extLst>
          </p:cNvPr>
          <p:cNvSpPr/>
          <p:nvPr/>
        </p:nvSpPr>
        <p:spPr>
          <a:xfrm>
            <a:off x="6324447" y="5833872"/>
            <a:ext cx="5208879" cy="420624"/>
          </a:xfrm>
          <a:prstGeom prst="roundRect">
            <a:avLst>
              <a:gd name="adj" fmla="val 17391"/>
            </a:avLst>
          </a:prstGeom>
          <a:solidFill>
            <a:srgbClr val="E8F2E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2" name="!!chipbUS16">
            <a:extLst>
              <a:ext uri="{C183D7F6-B498-43B3-948B-1728B52AA6E4}">
                <adec:decorative xmlns:adec="http://schemas.microsoft.com/office/drawing/2017/decorative" val="1"/>
              </a:ext>
            </a:extLst>
          </p:cNvPr>
          <p:cNvSpPr/>
          <p:nvPr/>
        </p:nvSpPr>
        <p:spPr>
          <a:xfrm>
            <a:off x="6324447" y="5833872"/>
            <a:ext cx="64008" cy="420624"/>
          </a:xfrm>
          <a:prstGeom prst="rect">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3" name="!!chiptUS16"/>
          <p:cNvSpPr txBox="1"/>
          <p:nvPr/>
        </p:nvSpPr>
        <p:spPr>
          <a:xfrm>
            <a:off x="6525615" y="5925312"/>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1B7A43"/>
                </a:solidFill>
                <a:latin typeface="Segoe UI"/>
              </a:rPr>
              <a:t>Ch 16  </a:t>
            </a:r>
            <a:r>
              <a:rPr sz="1400" b="0" i="0">
                <a:solidFill>
                  <a:srgbClr val="1C252B"/>
                </a:solidFill>
                <a:latin typeface="Segoe UI"/>
              </a:rPr>
              <a:t>Unsupervised Learning and Anomaly Detection</a:t>
            </a:r>
          </a:p>
        </p:txBody>
      </p:sp>
      <p:sp>
        <p:nvSpPr>
          <p:cNvPr id="10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5" name="!!pfill">
            <a:extLst>
              <a:ext uri="{C183D7F6-B498-43B3-948B-1728B52AA6E4}">
                <adec:decorative xmlns:adec="http://schemas.microsoft.com/office/drawing/2017/decorative" val="1"/>
              </a:ext>
            </a:extLst>
          </p:cNvPr>
          <p:cNvSpPr/>
          <p:nvPr/>
        </p:nvSpPr>
        <p:spPr>
          <a:xfrm>
            <a:off x="0" y="0"/>
            <a:ext cx="580556"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you will be able to do</a:t>
            </a:r>
          </a:p>
        </p:txBody>
      </p:sp>
      <p:pic>
        <p:nvPicPr>
          <p:cNvPr id="3" name="!!kicker-icon" descr="bullseye-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LEARNING OUTCOMES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4  ·  The Mathematical Toolkit</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23     </a:t>
            </a:r>
            <a:fld id="{11A92C6F-6B41-4A54-ADC7-D74A4845F18B}" type="slidenum">
              <a:rPr lang="en-GB" sz="1000">
                <a:solidFill>
                  <a:srgbClr val="8795A1"/>
                </a:solidFill>
                <a:latin typeface="Segoe UI"/>
              </a:rPr>
              <a:t>3</a:t>
            </a:fld>
          </a:p>
        </p:txBody>
      </p:sp>
      <p:sp>
        <p:nvSpPr>
          <p:cNvPr id="7" name="!!olead"/>
          <p:cNvSpPr txBox="1"/>
          <p:nvPr/>
        </p:nvSpPr>
        <p:spPr>
          <a:xfrm>
            <a:off x="658368" y="1737360"/>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600" b="0" i="0">
                <a:solidFill>
                  <a:srgbClr val="5F6F7B"/>
                </a:solidFill>
                <a:latin typeface="Segoe UI"/>
              </a:rPr>
              <a:t>By the end of this chapter you will be able to:</a:t>
            </a:r>
          </a:p>
        </p:txBody>
      </p:sp>
      <p:sp>
        <p:nvSpPr>
          <p:cNvPr id="8" name="!!ob0">
            <a:extLst>
              <a:ext uri="{C183D7F6-B498-43B3-948B-1728B52AA6E4}">
                <adec:decorative xmlns:adec="http://schemas.microsoft.com/office/drawing/2017/decorative" val="1"/>
              </a:ext>
            </a:extLst>
          </p:cNvPr>
          <p:cNvSpPr/>
          <p:nvPr/>
        </p:nvSpPr>
        <p:spPr>
          <a:xfrm>
            <a:off x="658368" y="2221991"/>
            <a:ext cx="420624" cy="420624"/>
          </a:xfrm>
          <a:prstGeom prst="ellipse">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obn0"/>
          <p:cNvSpPr txBox="1"/>
          <p:nvPr/>
        </p:nvSpPr>
        <p:spPr>
          <a:xfrm>
            <a:off x="658368" y="2281428"/>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1</a:t>
            </a:r>
          </a:p>
        </p:txBody>
      </p:sp>
      <p:sp>
        <p:nvSpPr>
          <p:cNvPr id="10" name="!!ot0"/>
          <p:cNvSpPr txBox="1"/>
          <p:nvPr/>
        </p:nvSpPr>
        <p:spPr>
          <a:xfrm>
            <a:off x="1316736" y="2212848"/>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A5276"/>
                </a:solidFill>
                <a:latin typeface="Segoe UI"/>
              </a:rPr>
              <a:t>Represent</a:t>
            </a:r>
            <a:r>
              <a:rPr sz="2100" b="0" i="0">
                <a:solidFill>
                  <a:srgbClr val="1C252B"/>
                </a:solidFill>
                <a:latin typeface="Segoe UI"/>
              </a:rPr>
              <a:t> an observation as a vector and a dataset as a matrix, and state what each dimension means.</a:t>
            </a:r>
          </a:p>
        </p:txBody>
      </p:sp>
      <p:sp>
        <p:nvSpPr>
          <p:cNvPr id="11" name="!!ob1">
            <a:extLst>
              <a:ext uri="{C183D7F6-B498-43B3-948B-1728B52AA6E4}">
                <adec:decorative xmlns:adec="http://schemas.microsoft.com/office/drawing/2017/decorative" val="1"/>
              </a:ext>
            </a:extLst>
          </p:cNvPr>
          <p:cNvSpPr/>
          <p:nvPr/>
        </p:nvSpPr>
        <p:spPr>
          <a:xfrm>
            <a:off x="658368" y="3070555"/>
            <a:ext cx="420624" cy="420624"/>
          </a:xfrm>
          <a:prstGeom prst="ellipse">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obn1"/>
          <p:cNvSpPr txBox="1"/>
          <p:nvPr/>
        </p:nvSpPr>
        <p:spPr>
          <a:xfrm>
            <a:off x="658368" y="3129991"/>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2</a:t>
            </a:r>
          </a:p>
        </p:txBody>
      </p:sp>
      <p:sp>
        <p:nvSpPr>
          <p:cNvPr id="13" name="!!ot1"/>
          <p:cNvSpPr txBox="1"/>
          <p:nvPr/>
        </p:nvSpPr>
        <p:spPr>
          <a:xfrm>
            <a:off x="1316736" y="3061411"/>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A5276"/>
                </a:solidFill>
                <a:latin typeface="Segoe UI"/>
              </a:rPr>
              <a:t>Compute</a:t>
            </a:r>
            <a:r>
              <a:rPr sz="2100" b="0" i="0">
                <a:solidFill>
                  <a:srgbClr val="1C252B"/>
                </a:solidFill>
                <a:latin typeface="Segoe UI"/>
              </a:rPr>
              <a:t> a dot product and a Euclidean distance by hand, and explain what each measures about two observations.</a:t>
            </a:r>
          </a:p>
        </p:txBody>
      </p:sp>
      <p:sp>
        <p:nvSpPr>
          <p:cNvPr id="14" name="!!ob2">
            <a:extLst>
              <a:ext uri="{C183D7F6-B498-43B3-948B-1728B52AA6E4}">
                <adec:decorative xmlns:adec="http://schemas.microsoft.com/office/drawing/2017/decorative" val="1"/>
              </a:ext>
            </a:extLst>
          </p:cNvPr>
          <p:cNvSpPr/>
          <p:nvPr/>
        </p:nvSpPr>
        <p:spPr>
          <a:xfrm>
            <a:off x="658368" y="3919118"/>
            <a:ext cx="420624" cy="420624"/>
          </a:xfrm>
          <a:prstGeom prst="ellipse">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obn2"/>
          <p:cNvSpPr txBox="1"/>
          <p:nvPr/>
        </p:nvSpPr>
        <p:spPr>
          <a:xfrm>
            <a:off x="658368" y="3978554"/>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3</a:t>
            </a:r>
          </a:p>
        </p:txBody>
      </p:sp>
      <p:sp>
        <p:nvSpPr>
          <p:cNvPr id="16" name="!!ot2"/>
          <p:cNvSpPr txBox="1"/>
          <p:nvPr/>
        </p:nvSpPr>
        <p:spPr>
          <a:xfrm>
            <a:off x="1316736" y="3960266"/>
            <a:ext cx="10216591" cy="420624"/>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A5276"/>
                </a:solidFill>
                <a:latin typeface="Segoe UI"/>
              </a:rPr>
              <a:t>Interpret</a:t>
            </a:r>
            <a:r>
              <a:rPr sz="2100" b="0" i="0">
                <a:solidFill>
                  <a:srgbClr val="1C252B"/>
                </a:solidFill>
                <a:latin typeface="Segoe UI"/>
              </a:rPr>
              <a:t> a derivative as a slope and a gradient as a direction of steepest increase.</a:t>
            </a:r>
          </a:p>
        </p:txBody>
      </p:sp>
      <p:sp>
        <p:nvSpPr>
          <p:cNvPr id="17" name="!!ob3">
            <a:extLst>
              <a:ext uri="{C183D7F6-B498-43B3-948B-1728B52AA6E4}">
                <adec:decorative xmlns:adec="http://schemas.microsoft.com/office/drawing/2017/decorative" val="1"/>
              </a:ext>
            </a:extLst>
          </p:cNvPr>
          <p:cNvSpPr/>
          <p:nvPr/>
        </p:nvSpPr>
        <p:spPr>
          <a:xfrm>
            <a:off x="658368" y="4522622"/>
            <a:ext cx="420624" cy="420624"/>
          </a:xfrm>
          <a:prstGeom prst="ellipse">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obn3"/>
          <p:cNvSpPr txBox="1"/>
          <p:nvPr/>
        </p:nvSpPr>
        <p:spPr>
          <a:xfrm>
            <a:off x="658368" y="4582058"/>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4</a:t>
            </a:r>
          </a:p>
        </p:txBody>
      </p:sp>
      <p:sp>
        <p:nvSpPr>
          <p:cNvPr id="19" name="!!ot3"/>
          <p:cNvSpPr txBox="1"/>
          <p:nvPr/>
        </p:nvSpPr>
        <p:spPr>
          <a:xfrm>
            <a:off x="1316736" y="4563770"/>
            <a:ext cx="10216591" cy="420624"/>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A5276"/>
                </a:solidFill>
                <a:latin typeface="Segoe UI"/>
              </a:rPr>
              <a:t>Trace</a:t>
            </a:r>
            <a:r>
              <a:rPr sz="2100" b="0" i="0">
                <a:solidFill>
                  <a:srgbClr val="1C252B"/>
                </a:solidFill>
                <a:latin typeface="Segoe UI"/>
              </a:rPr>
              <a:t> one step of gradient descent numerically.</a:t>
            </a:r>
          </a:p>
        </p:txBody>
      </p:sp>
      <p:sp>
        <p:nvSpPr>
          <p:cNvPr id="20" name="!!ob4">
            <a:extLst>
              <a:ext uri="{C183D7F6-B498-43B3-948B-1728B52AA6E4}">
                <adec:decorative xmlns:adec="http://schemas.microsoft.com/office/drawing/2017/decorative" val="1"/>
              </a:ext>
            </a:extLst>
          </p:cNvPr>
          <p:cNvSpPr/>
          <p:nvPr/>
        </p:nvSpPr>
        <p:spPr>
          <a:xfrm>
            <a:off x="658368" y="5126126"/>
            <a:ext cx="420624" cy="420624"/>
          </a:xfrm>
          <a:prstGeom prst="ellipse">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obn4"/>
          <p:cNvSpPr txBox="1"/>
          <p:nvPr/>
        </p:nvSpPr>
        <p:spPr>
          <a:xfrm>
            <a:off x="658368" y="5185562"/>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5</a:t>
            </a:r>
          </a:p>
        </p:txBody>
      </p:sp>
      <p:sp>
        <p:nvSpPr>
          <p:cNvPr id="22" name="!!ot4"/>
          <p:cNvSpPr txBox="1"/>
          <p:nvPr/>
        </p:nvSpPr>
        <p:spPr>
          <a:xfrm>
            <a:off x="1316736" y="5167274"/>
            <a:ext cx="10216591" cy="420624"/>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A5276"/>
                </a:solidFill>
                <a:latin typeface="Segoe UI"/>
              </a:rPr>
              <a:t>Explain</a:t>
            </a:r>
            <a:r>
              <a:rPr sz="2100" b="0" i="0">
                <a:solidFill>
                  <a:srgbClr val="1C252B"/>
                </a:solidFill>
                <a:latin typeface="Segoe UI"/>
              </a:rPr>
              <a:t> why every model in this book is ultimately an optimisation problem.</a:t>
            </a:r>
          </a:p>
        </p:txBody>
      </p:sp>
      <p:sp>
        <p:nvSpPr>
          <p:cNvPr id="5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pfill">
            <a:extLst>
              <a:ext uri="{C183D7F6-B498-43B3-948B-1728B52AA6E4}">
                <adec:decorative xmlns:adec="http://schemas.microsoft.com/office/drawing/2017/decorative" val="1"/>
              </a:ext>
            </a:extLst>
          </p:cNvPr>
          <p:cNvSpPr/>
          <p:nvPr/>
        </p:nvSpPr>
        <p:spPr>
          <a:xfrm>
            <a:off x="0" y="0"/>
            <a:ext cx="870835"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8"/>
                                        </p:tgtEl>
                                        <p:attrNameLst>
                                          <p:attrName>style.visibility</p:attrName>
                                        </p:attrNameLst>
                                      </p:cBhvr>
                                      <p:to>
                                        <p:strVal val="visible"/>
                                      </p:to>
                                    </p:set>
                                    <p:animEffect transition="in" filter="zoom(in)">
                                      <p:cBhvr>
                                        <p:cTn id="8" dur="300"/>
                                        <p:tgtEl>
                                          <p:spTgt spid="8"/>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300"/>
                                        <p:tgtEl>
                                          <p:spTgt spid="9"/>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wipe(right)">
                                      <p:cBhvr>
                                        <p:cTn id="14" dur="420"/>
                                        <p:tgtEl>
                                          <p:spTgt spid="10"/>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zoom(in)">
                                      <p:cBhvr>
                                        <p:cTn id="19" dur="300"/>
                                        <p:tgtEl>
                                          <p:spTgt spid="11"/>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300"/>
                                        <p:tgtEl>
                                          <p:spTgt spid="12"/>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wipe(right)">
                                      <p:cBhvr>
                                        <p:cTn id="25" dur="420"/>
                                        <p:tgtEl>
                                          <p:spTgt spid="13"/>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zoom(in)">
                                      <p:cBhvr>
                                        <p:cTn id="30" dur="300"/>
                                        <p:tgtEl>
                                          <p:spTgt spid="14"/>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fade">
                                      <p:cBhvr>
                                        <p:cTn id="33" dur="300"/>
                                        <p:tgtEl>
                                          <p:spTgt spid="15"/>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wipe(right)">
                                      <p:cBhvr>
                                        <p:cTn id="36" dur="420"/>
                                        <p:tgtEl>
                                          <p:spTgt spid="16"/>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zoom(in)">
                                      <p:cBhvr>
                                        <p:cTn id="41" dur="300"/>
                                        <p:tgtEl>
                                          <p:spTgt spid="17"/>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300"/>
                                        <p:tgtEl>
                                          <p:spTgt spid="18"/>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9"/>
                                        </p:tgtEl>
                                        <p:attrNameLst>
                                          <p:attrName>style.visibility</p:attrName>
                                        </p:attrNameLst>
                                      </p:cBhvr>
                                      <p:to>
                                        <p:strVal val="visible"/>
                                      </p:to>
                                    </p:set>
                                    <p:animEffect transition="in" filter="wipe(right)">
                                      <p:cBhvr>
                                        <p:cTn id="47" dur="420"/>
                                        <p:tgtEl>
                                          <p:spTgt spid="19"/>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20"/>
                                        </p:tgtEl>
                                        <p:attrNameLst>
                                          <p:attrName>style.visibility</p:attrName>
                                        </p:attrNameLst>
                                      </p:cBhvr>
                                      <p:to>
                                        <p:strVal val="visible"/>
                                      </p:to>
                                    </p:set>
                                    <p:animEffect transition="in" filter="zoom(in)">
                                      <p:cBhvr>
                                        <p:cTn id="52" dur="300"/>
                                        <p:tgtEl>
                                          <p:spTgt spid="20"/>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1"/>
                                        </p:tgtEl>
                                        <p:attrNameLst>
                                          <p:attrName>style.visibility</p:attrName>
                                        </p:attrNameLst>
                                      </p:cBhvr>
                                      <p:to>
                                        <p:strVal val="visible"/>
                                      </p:to>
                                    </p:set>
                                    <p:animEffect transition="in" filter="fade">
                                      <p:cBhvr>
                                        <p:cTn id="55" dur="300"/>
                                        <p:tgtEl>
                                          <p:spTgt spid="21"/>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2"/>
                                        </p:tgtEl>
                                        <p:attrNameLst>
                                          <p:attrName>style.visibility</p:attrName>
                                        </p:attrNameLst>
                                      </p:cBhvr>
                                      <p:to>
                                        <p:strVal val="visible"/>
                                      </p:to>
                                    </p:set>
                                    <p:animEffect transition="in" filter="wipe(right)">
                                      <p:cBhvr>
                                        <p:cTn id="58" dur="42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Vocabulary for this chapter</a:t>
            </a:r>
          </a:p>
        </p:txBody>
      </p:sp>
      <p:pic>
        <p:nvPicPr>
          <p:cNvPr id="3" name="!!kicker-icon" descr="tags-8E44AD.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7256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8E44AD"/>
                </a:solidFill>
                <a:latin typeface="Segoe UI"/>
              </a:rPr>
              <a:t>KEY TERMS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4  ·  The Mathematical Toolkit</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23     </a:t>
            </a:r>
            <a:fld id="{FD0B59F6-11A6-4192-B60B-8335132A17D9}" type="slidenum">
              <a:rPr lang="en-GB" sz="1000">
                <a:solidFill>
                  <a:srgbClr val="8795A1"/>
                </a:solidFill>
                <a:latin typeface="Segoe UI"/>
              </a:rPr>
              <a:t>4</a:t>
            </a:fld>
          </a:p>
        </p:txBody>
      </p:sp>
      <p:sp>
        <p:nvSpPr>
          <p:cNvPr id="7" name="!!term-scalar">
            <a:extLst>
              <a:ext uri="{C183D7F6-B498-43B3-948B-1728B52AA6E4}">
                <adec:decorative xmlns:adec="http://schemas.microsoft.com/office/drawing/2017/decorative" val="1"/>
              </a:ext>
            </a:extLst>
          </p:cNvPr>
          <p:cNvSpPr/>
          <p:nvPr/>
        </p:nvSpPr>
        <p:spPr>
          <a:xfrm>
            <a:off x="658368" y="1847088"/>
            <a:ext cx="955828"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ermd-scalar">
            <a:extLst>
              <a:ext uri="{C183D7F6-B498-43B3-948B-1728B52AA6E4}">
                <adec:decorative xmlns:adec="http://schemas.microsoft.com/office/drawing/2017/decorative" val="1"/>
              </a:ext>
            </a:extLst>
          </p:cNvPr>
          <p:cNvSpPr/>
          <p:nvPr/>
        </p:nvSpPr>
        <p:spPr>
          <a:xfrm>
            <a:off x="786384"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termt-scalar"/>
          <p:cNvSpPr txBox="1"/>
          <p:nvPr/>
        </p:nvSpPr>
        <p:spPr>
          <a:xfrm>
            <a:off x="950976" y="1962911"/>
            <a:ext cx="772948"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scalar</a:t>
            </a:r>
          </a:p>
        </p:txBody>
      </p:sp>
      <p:sp>
        <p:nvSpPr>
          <p:cNvPr id="10" name="!!term-vector">
            <a:extLst>
              <a:ext uri="{C183D7F6-B498-43B3-948B-1728B52AA6E4}">
                <adec:decorative xmlns:adec="http://schemas.microsoft.com/office/drawing/2017/decorative" val="1"/>
              </a:ext>
            </a:extLst>
          </p:cNvPr>
          <p:cNvSpPr/>
          <p:nvPr/>
        </p:nvSpPr>
        <p:spPr>
          <a:xfrm>
            <a:off x="1760500" y="1847088"/>
            <a:ext cx="1006148"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termd-vector">
            <a:extLst>
              <a:ext uri="{C183D7F6-B498-43B3-948B-1728B52AA6E4}">
                <adec:decorative xmlns:adec="http://schemas.microsoft.com/office/drawing/2017/decorative" val="1"/>
              </a:ext>
            </a:extLst>
          </p:cNvPr>
          <p:cNvSpPr/>
          <p:nvPr/>
        </p:nvSpPr>
        <p:spPr>
          <a:xfrm>
            <a:off x="1888516"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termt-vector"/>
          <p:cNvSpPr txBox="1"/>
          <p:nvPr/>
        </p:nvSpPr>
        <p:spPr>
          <a:xfrm>
            <a:off x="2053108" y="1962911"/>
            <a:ext cx="823268"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vector</a:t>
            </a:r>
          </a:p>
        </p:txBody>
      </p:sp>
      <p:sp>
        <p:nvSpPr>
          <p:cNvPr id="13" name="!!term-matrix">
            <a:extLst>
              <a:ext uri="{C183D7F6-B498-43B3-948B-1728B52AA6E4}">
                <adec:decorative xmlns:adec="http://schemas.microsoft.com/office/drawing/2017/decorative" val="1"/>
              </a:ext>
            </a:extLst>
          </p:cNvPr>
          <p:cNvSpPr/>
          <p:nvPr/>
        </p:nvSpPr>
        <p:spPr>
          <a:xfrm>
            <a:off x="2912952" y="1847088"/>
            <a:ext cx="1010546"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termd-matrix">
            <a:extLst>
              <a:ext uri="{C183D7F6-B498-43B3-948B-1728B52AA6E4}">
                <adec:decorative xmlns:adec="http://schemas.microsoft.com/office/drawing/2017/decorative" val="1"/>
              </a:ext>
            </a:extLst>
          </p:cNvPr>
          <p:cNvSpPr/>
          <p:nvPr/>
        </p:nvSpPr>
        <p:spPr>
          <a:xfrm>
            <a:off x="3040968"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termt-matrix"/>
          <p:cNvSpPr txBox="1"/>
          <p:nvPr/>
        </p:nvSpPr>
        <p:spPr>
          <a:xfrm>
            <a:off x="3205560" y="1962911"/>
            <a:ext cx="827666"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matrix</a:t>
            </a:r>
          </a:p>
        </p:txBody>
      </p:sp>
      <p:sp>
        <p:nvSpPr>
          <p:cNvPr id="16" name="!!term-dot product">
            <a:extLst>
              <a:ext uri="{C183D7F6-B498-43B3-948B-1728B52AA6E4}">
                <adec:decorative xmlns:adec="http://schemas.microsoft.com/office/drawing/2017/decorative" val="1"/>
              </a:ext>
            </a:extLst>
          </p:cNvPr>
          <p:cNvSpPr/>
          <p:nvPr/>
        </p:nvSpPr>
        <p:spPr>
          <a:xfrm>
            <a:off x="4069802" y="1847088"/>
            <a:ext cx="1530322"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termd-dot product">
            <a:extLst>
              <a:ext uri="{C183D7F6-B498-43B3-948B-1728B52AA6E4}">
                <adec:decorative xmlns:adec="http://schemas.microsoft.com/office/drawing/2017/decorative" val="1"/>
              </a:ext>
            </a:extLst>
          </p:cNvPr>
          <p:cNvSpPr/>
          <p:nvPr/>
        </p:nvSpPr>
        <p:spPr>
          <a:xfrm>
            <a:off x="4197818"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termt-dot product"/>
          <p:cNvSpPr txBox="1"/>
          <p:nvPr/>
        </p:nvSpPr>
        <p:spPr>
          <a:xfrm>
            <a:off x="4362410" y="1962911"/>
            <a:ext cx="1347442"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dot product</a:t>
            </a:r>
          </a:p>
        </p:txBody>
      </p:sp>
      <p:sp>
        <p:nvSpPr>
          <p:cNvPr id="19" name="!!term-norm">
            <a:extLst>
              <a:ext uri="{C183D7F6-B498-43B3-948B-1728B52AA6E4}">
                <adec:decorative xmlns:adec="http://schemas.microsoft.com/office/drawing/2017/decorative" val="1"/>
              </a:ext>
            </a:extLst>
          </p:cNvPr>
          <p:cNvSpPr/>
          <p:nvPr/>
        </p:nvSpPr>
        <p:spPr>
          <a:xfrm>
            <a:off x="5746428" y="1847088"/>
            <a:ext cx="928255"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termd-norm">
            <a:extLst>
              <a:ext uri="{C183D7F6-B498-43B3-948B-1728B52AA6E4}">
                <adec:decorative xmlns:adec="http://schemas.microsoft.com/office/drawing/2017/decorative" val="1"/>
              </a:ext>
            </a:extLst>
          </p:cNvPr>
          <p:cNvSpPr/>
          <p:nvPr/>
        </p:nvSpPr>
        <p:spPr>
          <a:xfrm>
            <a:off x="5874444"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termt-norm"/>
          <p:cNvSpPr txBox="1"/>
          <p:nvPr/>
        </p:nvSpPr>
        <p:spPr>
          <a:xfrm>
            <a:off x="6039036" y="1962911"/>
            <a:ext cx="745375"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norm</a:t>
            </a:r>
          </a:p>
        </p:txBody>
      </p:sp>
      <p:sp>
        <p:nvSpPr>
          <p:cNvPr id="22" name="!!term-Euclidean dist">
            <a:extLst>
              <a:ext uri="{C183D7F6-B498-43B3-948B-1728B52AA6E4}">
                <adec:decorative xmlns:adec="http://schemas.microsoft.com/office/drawing/2017/decorative" val="1"/>
              </a:ext>
            </a:extLst>
          </p:cNvPr>
          <p:cNvSpPr/>
          <p:nvPr/>
        </p:nvSpPr>
        <p:spPr>
          <a:xfrm>
            <a:off x="6820988" y="1847088"/>
            <a:ext cx="2124590"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termd-Euclidean dist">
            <a:extLst>
              <a:ext uri="{C183D7F6-B498-43B3-948B-1728B52AA6E4}">
                <adec:decorative xmlns:adec="http://schemas.microsoft.com/office/drawing/2017/decorative" val="1"/>
              </a:ext>
            </a:extLst>
          </p:cNvPr>
          <p:cNvSpPr/>
          <p:nvPr/>
        </p:nvSpPr>
        <p:spPr>
          <a:xfrm>
            <a:off x="6949004"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termt-Euclidean dist"/>
          <p:cNvSpPr txBox="1"/>
          <p:nvPr/>
        </p:nvSpPr>
        <p:spPr>
          <a:xfrm>
            <a:off x="7113596" y="1962911"/>
            <a:ext cx="1941710"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Euclidean distance</a:t>
            </a:r>
          </a:p>
        </p:txBody>
      </p:sp>
      <p:sp>
        <p:nvSpPr>
          <p:cNvPr id="25" name="!!term-cosine similar">
            <a:extLst>
              <a:ext uri="{C183D7F6-B498-43B3-948B-1728B52AA6E4}">
                <adec:decorative xmlns:adec="http://schemas.microsoft.com/office/drawing/2017/decorative" val="1"/>
              </a:ext>
            </a:extLst>
          </p:cNvPr>
          <p:cNvSpPr/>
          <p:nvPr/>
        </p:nvSpPr>
        <p:spPr>
          <a:xfrm>
            <a:off x="9091882" y="1847088"/>
            <a:ext cx="1891832"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termd-cosine similar">
            <a:extLst>
              <a:ext uri="{C183D7F6-B498-43B3-948B-1728B52AA6E4}">
                <adec:decorative xmlns:adec="http://schemas.microsoft.com/office/drawing/2017/decorative" val="1"/>
              </a:ext>
            </a:extLst>
          </p:cNvPr>
          <p:cNvSpPr/>
          <p:nvPr/>
        </p:nvSpPr>
        <p:spPr>
          <a:xfrm>
            <a:off x="9219898"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7" name="!!termt-cosine similar"/>
          <p:cNvSpPr txBox="1"/>
          <p:nvPr/>
        </p:nvSpPr>
        <p:spPr>
          <a:xfrm>
            <a:off x="9384490" y="1962911"/>
            <a:ext cx="1708952"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cosine similarity</a:t>
            </a:r>
          </a:p>
        </p:txBody>
      </p:sp>
      <p:sp>
        <p:nvSpPr>
          <p:cNvPr id="28" name="!!term-function">
            <a:extLst>
              <a:ext uri="{C183D7F6-B498-43B3-948B-1728B52AA6E4}">
                <adec:decorative xmlns:adec="http://schemas.microsoft.com/office/drawing/2017/decorative" val="1"/>
              </a:ext>
            </a:extLst>
          </p:cNvPr>
          <p:cNvSpPr/>
          <p:nvPr/>
        </p:nvSpPr>
        <p:spPr>
          <a:xfrm>
            <a:off x="658368" y="2468880"/>
            <a:ext cx="1193352"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termd-function">
            <a:extLst>
              <a:ext uri="{C183D7F6-B498-43B3-948B-1728B52AA6E4}">
                <adec:decorative xmlns:adec="http://schemas.microsoft.com/office/drawing/2017/decorative" val="1"/>
              </a:ext>
            </a:extLst>
          </p:cNvPr>
          <p:cNvSpPr/>
          <p:nvPr/>
        </p:nvSpPr>
        <p:spPr>
          <a:xfrm>
            <a:off x="786384"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termt-function"/>
          <p:cNvSpPr txBox="1"/>
          <p:nvPr/>
        </p:nvSpPr>
        <p:spPr>
          <a:xfrm>
            <a:off x="950976" y="2584704"/>
            <a:ext cx="1010472"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function</a:t>
            </a:r>
          </a:p>
        </p:txBody>
      </p:sp>
      <p:sp>
        <p:nvSpPr>
          <p:cNvPr id="31" name="!!term-derivative">
            <a:extLst>
              <a:ext uri="{C183D7F6-B498-43B3-948B-1728B52AA6E4}">
                <adec:decorative xmlns:adec="http://schemas.microsoft.com/office/drawing/2017/decorative" val="1"/>
              </a:ext>
            </a:extLst>
          </p:cNvPr>
          <p:cNvSpPr/>
          <p:nvPr/>
        </p:nvSpPr>
        <p:spPr>
          <a:xfrm>
            <a:off x="1998024" y="2468880"/>
            <a:ext cx="1324473"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termd-derivative">
            <a:extLst>
              <a:ext uri="{C183D7F6-B498-43B3-948B-1728B52AA6E4}">
                <adec:decorative xmlns:adec="http://schemas.microsoft.com/office/drawing/2017/decorative" val="1"/>
              </a:ext>
            </a:extLst>
          </p:cNvPr>
          <p:cNvSpPr/>
          <p:nvPr/>
        </p:nvSpPr>
        <p:spPr>
          <a:xfrm>
            <a:off x="2126040"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3" name="!!termt-derivative"/>
          <p:cNvSpPr txBox="1"/>
          <p:nvPr/>
        </p:nvSpPr>
        <p:spPr>
          <a:xfrm>
            <a:off x="2290632" y="2584704"/>
            <a:ext cx="1141593"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derivative</a:t>
            </a:r>
          </a:p>
        </p:txBody>
      </p:sp>
      <p:sp>
        <p:nvSpPr>
          <p:cNvPr id="34" name="!!term-slope">
            <a:extLst>
              <a:ext uri="{C183D7F6-B498-43B3-948B-1728B52AA6E4}">
                <adec:decorative xmlns:adec="http://schemas.microsoft.com/office/drawing/2017/decorative" val="1"/>
              </a:ext>
            </a:extLst>
          </p:cNvPr>
          <p:cNvSpPr/>
          <p:nvPr/>
        </p:nvSpPr>
        <p:spPr>
          <a:xfrm>
            <a:off x="3468802" y="2468880"/>
            <a:ext cx="928676"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5" name="!!termd-slope">
            <a:extLst>
              <a:ext uri="{C183D7F6-B498-43B3-948B-1728B52AA6E4}">
                <adec:decorative xmlns:adec="http://schemas.microsoft.com/office/drawing/2017/decorative" val="1"/>
              </a:ext>
            </a:extLst>
          </p:cNvPr>
          <p:cNvSpPr/>
          <p:nvPr/>
        </p:nvSpPr>
        <p:spPr>
          <a:xfrm>
            <a:off x="3596818"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termt-slope"/>
          <p:cNvSpPr txBox="1"/>
          <p:nvPr/>
        </p:nvSpPr>
        <p:spPr>
          <a:xfrm>
            <a:off x="3761410" y="2584704"/>
            <a:ext cx="745796"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slope</a:t>
            </a:r>
          </a:p>
        </p:txBody>
      </p:sp>
      <p:sp>
        <p:nvSpPr>
          <p:cNvPr id="37" name="!!term-gradient">
            <a:extLst>
              <a:ext uri="{C183D7F6-B498-43B3-948B-1728B52AA6E4}">
                <adec:decorative xmlns:adec="http://schemas.microsoft.com/office/drawing/2017/decorative" val="1"/>
              </a:ext>
            </a:extLst>
          </p:cNvPr>
          <p:cNvSpPr/>
          <p:nvPr/>
        </p:nvSpPr>
        <p:spPr>
          <a:xfrm>
            <a:off x="4543783" y="2468880"/>
            <a:ext cx="1206825"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termd-gradient">
            <a:extLst>
              <a:ext uri="{C183D7F6-B498-43B3-948B-1728B52AA6E4}">
                <adec:decorative xmlns:adec="http://schemas.microsoft.com/office/drawing/2017/decorative" val="1"/>
              </a:ext>
            </a:extLst>
          </p:cNvPr>
          <p:cNvSpPr/>
          <p:nvPr/>
        </p:nvSpPr>
        <p:spPr>
          <a:xfrm>
            <a:off x="4671799"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9" name="!!termt-gradient"/>
          <p:cNvSpPr txBox="1"/>
          <p:nvPr/>
        </p:nvSpPr>
        <p:spPr>
          <a:xfrm>
            <a:off x="4836391" y="2584704"/>
            <a:ext cx="1023945"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gradient</a:t>
            </a:r>
          </a:p>
        </p:txBody>
      </p:sp>
      <p:sp>
        <p:nvSpPr>
          <p:cNvPr id="40" name="!!term-minimum">
            <a:extLst>
              <a:ext uri="{C183D7F6-B498-43B3-948B-1728B52AA6E4}">
                <adec:decorative xmlns:adec="http://schemas.microsoft.com/office/drawing/2017/decorative" val="1"/>
              </a:ext>
            </a:extLst>
          </p:cNvPr>
          <p:cNvSpPr/>
          <p:nvPr/>
        </p:nvSpPr>
        <p:spPr>
          <a:xfrm>
            <a:off x="5896912" y="2468880"/>
            <a:ext cx="1309213"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1" name="!!termd-minimum">
            <a:extLst>
              <a:ext uri="{C183D7F6-B498-43B3-948B-1728B52AA6E4}">
                <adec:decorative xmlns:adec="http://schemas.microsoft.com/office/drawing/2017/decorative" val="1"/>
              </a:ext>
            </a:extLst>
          </p:cNvPr>
          <p:cNvSpPr/>
          <p:nvPr/>
        </p:nvSpPr>
        <p:spPr>
          <a:xfrm>
            <a:off x="6024928"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2" name="!!termt-minimum"/>
          <p:cNvSpPr txBox="1"/>
          <p:nvPr/>
        </p:nvSpPr>
        <p:spPr>
          <a:xfrm>
            <a:off x="6189520" y="2584704"/>
            <a:ext cx="1126333"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minimum</a:t>
            </a:r>
          </a:p>
        </p:txBody>
      </p:sp>
      <p:sp>
        <p:nvSpPr>
          <p:cNvPr id="43" name="!!term-learning rate">
            <a:extLst>
              <a:ext uri="{C183D7F6-B498-43B3-948B-1728B52AA6E4}">
                <adec:decorative xmlns:adec="http://schemas.microsoft.com/office/drawing/2017/decorative" val="1"/>
              </a:ext>
            </a:extLst>
          </p:cNvPr>
          <p:cNvSpPr/>
          <p:nvPr/>
        </p:nvSpPr>
        <p:spPr>
          <a:xfrm>
            <a:off x="7352429" y="2468880"/>
            <a:ext cx="1594998"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4" name="!!termd-learning rate">
            <a:extLst>
              <a:ext uri="{C183D7F6-B498-43B3-948B-1728B52AA6E4}">
                <adec:decorative xmlns:adec="http://schemas.microsoft.com/office/drawing/2017/decorative" val="1"/>
              </a:ext>
            </a:extLst>
          </p:cNvPr>
          <p:cNvSpPr/>
          <p:nvPr/>
        </p:nvSpPr>
        <p:spPr>
          <a:xfrm>
            <a:off x="7480445"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5" name="!!termt-learning rate"/>
          <p:cNvSpPr txBox="1"/>
          <p:nvPr/>
        </p:nvSpPr>
        <p:spPr>
          <a:xfrm>
            <a:off x="7645037" y="2584704"/>
            <a:ext cx="1412118"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learning rate</a:t>
            </a:r>
          </a:p>
        </p:txBody>
      </p:sp>
      <p:sp>
        <p:nvSpPr>
          <p:cNvPr id="46" name="!!term-gradient desce">
            <a:extLst>
              <a:ext uri="{C183D7F6-B498-43B3-948B-1728B52AA6E4}">
                <adec:decorative xmlns:adec="http://schemas.microsoft.com/office/drawing/2017/decorative" val="1"/>
              </a:ext>
            </a:extLst>
          </p:cNvPr>
          <p:cNvSpPr/>
          <p:nvPr/>
        </p:nvSpPr>
        <p:spPr>
          <a:xfrm>
            <a:off x="9093732" y="2468880"/>
            <a:ext cx="1973701"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7" name="!!termd-gradient desce">
            <a:extLst>
              <a:ext uri="{C183D7F6-B498-43B3-948B-1728B52AA6E4}">
                <adec:decorative xmlns:adec="http://schemas.microsoft.com/office/drawing/2017/decorative" val="1"/>
              </a:ext>
            </a:extLst>
          </p:cNvPr>
          <p:cNvSpPr/>
          <p:nvPr/>
        </p:nvSpPr>
        <p:spPr>
          <a:xfrm>
            <a:off x="9221748"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8" name="!!termt-gradient desce"/>
          <p:cNvSpPr txBox="1"/>
          <p:nvPr/>
        </p:nvSpPr>
        <p:spPr>
          <a:xfrm>
            <a:off x="9386340" y="2584704"/>
            <a:ext cx="1790821"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gradient descent</a:t>
            </a:r>
          </a:p>
        </p:txBody>
      </p:sp>
      <p:sp>
        <p:nvSpPr>
          <p:cNvPr id="49" name="!!termnote"/>
          <p:cNvSpPr txBox="1"/>
          <p:nvPr/>
        </p:nvSpPr>
        <p:spPr>
          <a:xfrm>
            <a:off x="658368" y="3291840"/>
            <a:ext cx="10874959" cy="274320"/>
          </a:xfrm>
          <a:prstGeom prst="rect">
            <a:avLst/>
          </a:prstGeom>
          <a:noFill/>
        </p:spPr>
        <p:txBody>
          <a:bodyPr wrap="square" anchor="t" lIns="0" rIns="0" tIns="0" bIns="0">
            <a:noAutofit/>
          </a:bodyPr>
          <a:lstStyle/>
          <a:p>
            <a:pPr algn="l">
              <a:lnSpc>
                <a:spcPct val="100000"/>
              </a:lnSpc>
              <a:spcBef>
                <a:spcPts val="0"/>
              </a:spcBef>
              <a:spcAft>
                <a:spcPts val="0"/>
              </a:spcAft>
            </a:pPr>
            <a:r>
              <a:rPr sz="1350" b="0" i="1">
                <a:solidFill>
                  <a:srgbClr val="5F6F7B"/>
                </a:solidFill>
                <a:latin typeface="Segoe UI"/>
              </a:rPr>
              <a:t>Each term is defined where it first matters — not here.</a:t>
            </a:r>
          </a:p>
        </p:txBody>
      </p:sp>
      <p:sp>
        <p:nvSpPr>
          <p:cNvPr id="5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1" name="!!pfill">
            <a:extLst>
              <a:ext uri="{C183D7F6-B498-43B3-948B-1728B52AA6E4}">
                <adec:decorative xmlns:adec="http://schemas.microsoft.com/office/drawing/2017/decorative" val="1"/>
              </a:ext>
            </a:extLst>
          </p:cNvPr>
          <p:cNvSpPr/>
          <p:nvPr/>
        </p:nvSpPr>
        <p:spPr>
          <a:xfrm>
            <a:off x="0" y="0"/>
            <a:ext cx="1161113"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In this chapter</a:t>
            </a:r>
          </a:p>
        </p:txBody>
      </p:sp>
      <p:pic>
        <p:nvPicPr>
          <p:cNvPr id="3" name="!!kicker-icon" descr="list-ul-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6883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IN THIS CHAPTER</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4  ·  The Mathematical Toolkit</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pp. 23–28     </a:t>
            </a:r>
            <a:fld id="{8CE68B9B-7AA5-4562-92C1-18C79EDEF7B5}" type="slidenum">
              <a:rPr lang="en-GB" sz="1000">
                <a:solidFill>
                  <a:srgbClr val="8795A1"/>
                </a:solidFill>
                <a:latin typeface="Segoe UI"/>
              </a:rPr>
              <a:t>5</a:t>
            </a:fld>
          </a:p>
        </p:txBody>
      </p:sp>
      <p:sp>
        <p:nvSpPr>
          <p:cNvPr id="7" name="!!ag0" descr="Go to section 4.1 Why Mathematics, and How Much">
            <a:hlinkClick action="ppaction://hlinksldjump" r:id="rId5"/>
          </p:cNvPr>
          <p:cNvSpPr/>
          <p:nvPr/>
        </p:nvSpPr>
        <p:spPr>
          <a:xfrm>
            <a:off x="658368" y="177393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agb0">
            <a:extLst>
              <a:ext uri="{C183D7F6-B498-43B3-948B-1728B52AA6E4}">
                <adec:decorative xmlns:adec="http://schemas.microsoft.com/office/drawing/2017/decorative" val="1"/>
              </a:ext>
            </a:extLst>
          </p:cNvPr>
          <p:cNvSpPr/>
          <p:nvPr/>
        </p:nvSpPr>
        <p:spPr>
          <a:xfrm>
            <a:off x="658368" y="1773936"/>
            <a:ext cx="64008" cy="566928"/>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agn0"/>
          <p:cNvSpPr txBox="1"/>
          <p:nvPr/>
        </p:nvSpPr>
        <p:spPr>
          <a:xfrm>
            <a:off x="932688" y="192024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A5276"/>
                </a:solidFill>
                <a:latin typeface="Segoe UI Semibold"/>
              </a:rPr>
              <a:t>4.1</a:t>
            </a:r>
          </a:p>
        </p:txBody>
      </p:sp>
      <p:sp>
        <p:nvSpPr>
          <p:cNvPr id="10" name="!!agt0"/>
          <p:cNvSpPr txBox="1"/>
          <p:nvPr/>
        </p:nvSpPr>
        <p:spPr>
          <a:xfrm>
            <a:off x="1847088" y="192024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Why Mathematics, and How Much</a:t>
            </a:r>
          </a:p>
        </p:txBody>
      </p:sp>
      <p:sp>
        <p:nvSpPr>
          <p:cNvPr id="11" name="!!agp0"/>
          <p:cNvSpPr txBox="1"/>
          <p:nvPr/>
        </p:nvSpPr>
        <p:spPr>
          <a:xfrm>
            <a:off x="9795967" y="194767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23  ›</a:t>
            </a:r>
          </a:p>
        </p:txBody>
      </p:sp>
      <p:sp>
        <p:nvSpPr>
          <p:cNvPr id="12" name="!!ag1" descr="Go to section 4.2 Vectors: One Observation">
            <a:hlinkClick action="ppaction://hlinksldjump" r:id="rId6"/>
          </p:cNvPr>
          <p:cNvSpPr/>
          <p:nvPr/>
        </p:nvSpPr>
        <p:spPr>
          <a:xfrm>
            <a:off x="658368" y="2414015"/>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agb1">
            <a:extLst>
              <a:ext uri="{C183D7F6-B498-43B3-948B-1728B52AA6E4}">
                <adec:decorative xmlns:adec="http://schemas.microsoft.com/office/drawing/2017/decorative" val="1"/>
              </a:ext>
            </a:extLst>
          </p:cNvPr>
          <p:cNvSpPr/>
          <p:nvPr/>
        </p:nvSpPr>
        <p:spPr>
          <a:xfrm>
            <a:off x="658368" y="2414015"/>
            <a:ext cx="64008" cy="566928"/>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agn1"/>
          <p:cNvSpPr txBox="1"/>
          <p:nvPr/>
        </p:nvSpPr>
        <p:spPr>
          <a:xfrm>
            <a:off x="932688" y="256032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A5276"/>
                </a:solidFill>
                <a:latin typeface="Segoe UI Semibold"/>
              </a:rPr>
              <a:t>4.2</a:t>
            </a:r>
          </a:p>
        </p:txBody>
      </p:sp>
      <p:sp>
        <p:nvSpPr>
          <p:cNvPr id="15" name="!!agt1"/>
          <p:cNvSpPr txBox="1"/>
          <p:nvPr/>
        </p:nvSpPr>
        <p:spPr>
          <a:xfrm>
            <a:off x="1847088" y="256032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Vectors: One Observation</a:t>
            </a:r>
          </a:p>
        </p:txBody>
      </p:sp>
      <p:sp>
        <p:nvSpPr>
          <p:cNvPr id="16" name="!!agp1"/>
          <p:cNvSpPr txBox="1"/>
          <p:nvPr/>
        </p:nvSpPr>
        <p:spPr>
          <a:xfrm>
            <a:off x="9795967" y="2587751"/>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23  ›</a:t>
            </a:r>
          </a:p>
        </p:txBody>
      </p:sp>
      <p:sp>
        <p:nvSpPr>
          <p:cNvPr id="17" name="!!ag2" descr="Go to section 4.3 Functions, Slopes and Gradients">
            <a:hlinkClick action="ppaction://hlinksldjump" r:id="rId7"/>
          </p:cNvPr>
          <p:cNvSpPr/>
          <p:nvPr/>
        </p:nvSpPr>
        <p:spPr>
          <a:xfrm>
            <a:off x="658368" y="305409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agb2">
            <a:extLst>
              <a:ext uri="{C183D7F6-B498-43B3-948B-1728B52AA6E4}">
                <adec:decorative xmlns:adec="http://schemas.microsoft.com/office/drawing/2017/decorative" val="1"/>
              </a:ext>
            </a:extLst>
          </p:cNvPr>
          <p:cNvSpPr/>
          <p:nvPr/>
        </p:nvSpPr>
        <p:spPr>
          <a:xfrm>
            <a:off x="658368" y="3054096"/>
            <a:ext cx="64008" cy="566928"/>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agn2"/>
          <p:cNvSpPr txBox="1"/>
          <p:nvPr/>
        </p:nvSpPr>
        <p:spPr>
          <a:xfrm>
            <a:off x="932688" y="320040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A5276"/>
                </a:solidFill>
                <a:latin typeface="Segoe UI Semibold"/>
              </a:rPr>
              <a:t>4.3</a:t>
            </a:r>
          </a:p>
        </p:txBody>
      </p:sp>
      <p:sp>
        <p:nvSpPr>
          <p:cNvPr id="20" name="!!agt2"/>
          <p:cNvSpPr txBox="1"/>
          <p:nvPr/>
        </p:nvSpPr>
        <p:spPr>
          <a:xfrm>
            <a:off x="1847088" y="320040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Functions, Slopes and Gradients</a:t>
            </a:r>
          </a:p>
        </p:txBody>
      </p:sp>
      <p:sp>
        <p:nvSpPr>
          <p:cNvPr id="21" name="!!agp2"/>
          <p:cNvSpPr txBox="1"/>
          <p:nvPr/>
        </p:nvSpPr>
        <p:spPr>
          <a:xfrm>
            <a:off x="9795967" y="322783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25  ›</a:t>
            </a:r>
          </a:p>
        </p:txBody>
      </p:sp>
      <p:sp>
        <p:nvSpPr>
          <p:cNvPr id="22" name="!!ag3" descr="Go to section 4.4 Gradient Descent">
            <a:hlinkClick action="ppaction://hlinksldjump" r:id="rId8"/>
          </p:cNvPr>
          <p:cNvSpPr/>
          <p:nvPr/>
        </p:nvSpPr>
        <p:spPr>
          <a:xfrm>
            <a:off x="658368" y="369417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agb3">
            <a:extLst>
              <a:ext uri="{C183D7F6-B498-43B3-948B-1728B52AA6E4}">
                <adec:decorative xmlns:adec="http://schemas.microsoft.com/office/drawing/2017/decorative" val="1"/>
              </a:ext>
            </a:extLst>
          </p:cNvPr>
          <p:cNvSpPr/>
          <p:nvPr/>
        </p:nvSpPr>
        <p:spPr>
          <a:xfrm>
            <a:off x="658368" y="3694176"/>
            <a:ext cx="64008" cy="566928"/>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agn3"/>
          <p:cNvSpPr txBox="1"/>
          <p:nvPr/>
        </p:nvSpPr>
        <p:spPr>
          <a:xfrm>
            <a:off x="932688" y="384048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A5276"/>
                </a:solidFill>
                <a:latin typeface="Segoe UI Semibold"/>
              </a:rPr>
              <a:t>4.4</a:t>
            </a:r>
          </a:p>
        </p:txBody>
      </p:sp>
      <p:sp>
        <p:nvSpPr>
          <p:cNvPr id="25" name="!!agt3"/>
          <p:cNvSpPr txBox="1"/>
          <p:nvPr/>
        </p:nvSpPr>
        <p:spPr>
          <a:xfrm>
            <a:off x="1847088" y="384048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Gradient Descent</a:t>
            </a:r>
          </a:p>
        </p:txBody>
      </p:sp>
      <p:sp>
        <p:nvSpPr>
          <p:cNvPr id="26" name="!!agp3"/>
          <p:cNvSpPr txBox="1"/>
          <p:nvPr/>
        </p:nvSpPr>
        <p:spPr>
          <a:xfrm>
            <a:off x="9795967" y="386791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25  ›</a:t>
            </a:r>
          </a:p>
        </p:txBody>
      </p:sp>
      <p:sp>
        <p:nvSpPr>
          <p:cNvPr id="27"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pfill">
            <a:extLst>
              <a:ext uri="{C183D7F6-B498-43B3-948B-1728B52AA6E4}">
                <adec:decorative xmlns:adec="http://schemas.microsoft.com/office/drawing/2017/decorative" val="1"/>
              </a:ext>
            </a:extLst>
          </p:cNvPr>
          <p:cNvSpPr/>
          <p:nvPr/>
        </p:nvSpPr>
        <p:spPr>
          <a:xfrm>
            <a:off x="0" y="0"/>
            <a:ext cx="1451392"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One-Sentence Summary of Machine Learning</a:t>
            </a:r>
          </a:p>
        </p:txBody>
      </p:sp>
      <p:pic>
        <p:nvPicPr>
          <p:cNvPr id="3" name="!!kicker-icon" descr="lightbulb-2E86C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52915"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E86C1"/>
                </a:solidFill>
                <a:latin typeface="Segoe UI"/>
              </a:rPr>
              <a:t>CONCEPT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4  ·  The Mathematical Toolkit</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§4.1  ·  Handout p. 23     </a:t>
            </a:r>
            <a:fld id="{5BF2A307-5826-461F-B638-82AB05C112FE}" type="slidenum">
              <a:rPr lang="en-GB" sz="1000">
                <a:solidFill>
                  <a:srgbClr val="8795A1"/>
                </a:solidFill>
                <a:latin typeface="Segoe UI"/>
              </a:rPr>
              <a:t>6</a:t>
            </a:fld>
          </a:p>
        </p:txBody>
      </p:sp>
      <p:sp>
        <p:nvSpPr>
          <p:cNvPr id="7" name="!!card">
            <a:extLst>
              <a:ext uri="{C183D7F6-B498-43B3-948B-1728B52AA6E4}">
                <adec:decorative xmlns:adec="http://schemas.microsoft.com/office/drawing/2017/decorative" val="1"/>
              </a:ext>
            </a:extLst>
          </p:cNvPr>
          <p:cNvSpPr/>
          <p:nvPr/>
        </p:nvSpPr>
        <p:spPr>
          <a:xfrm>
            <a:off x="658368" y="1737360"/>
            <a:ext cx="10874959" cy="1715414"/>
          </a:xfrm>
          <a:prstGeom prst="roundRect">
            <a:avLst>
              <a:gd name="adj" fmla="val 5330"/>
            </a:avLst>
          </a:prstGeom>
          <a:solidFill>
            <a:srgbClr val="EBF5FB"/>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171541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139342"/>
          </a:xfrm>
          <a:prstGeom prst="rect">
            <a:avLst/>
          </a:prstGeom>
          <a:noFill/>
        </p:spPr>
        <p:txBody>
          <a:bodyPr wrap="square" anchor="t" lIns="0" rIns="0" tIns="0" bIns="0">
            <a:noAutofit/>
          </a:bodyPr>
          <a:lstStyle/>
          <a:p>
            <a:pPr algn="l">
              <a:lnSpc>
                <a:spcPct val="104000"/>
              </a:lnSpc>
              <a:spcBef>
                <a:spcPts val="0"/>
              </a:spcBef>
              <a:spcAft>
                <a:spcPts val="0"/>
              </a:spcAft>
            </a:pPr>
            <a:r>
              <a:rPr sz="2300" b="0" i="1">
                <a:solidFill>
                  <a:srgbClr val="1C252B"/>
                </a:solidFill>
                <a:latin typeface="Segoe UI"/>
              </a:rPr>
              <a:t>Put the data in a matrix, define a number that says how wrong you are, and roll downhill until that number stops getting smaller.</a:t>
            </a:r>
            <a:r>
              <a:rPr sz="2300" b="0" i="0">
                <a:solidFill>
                  <a:srgbClr val="1C252B"/>
                </a:solidFill>
                <a:latin typeface="Segoe UI"/>
              </a:rPr>
              <a:t> Everything in Parts III and IV is a variation on this sentence.</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1741670"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Vectors: One Observation</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ACBD6"/>
                </a:solidFill>
                <a:latin typeface="Segoe UI"/>
              </a:rPr>
              <a:t>SECTION 2 OF 4</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4.2</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4.1   Why Mathematics, and How Much</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1A5276"/>
                </a:solidFill>
                <a:latin typeface="Segoe UI"/>
              </a:rPr>
              <a:t>4.2   Vectors: One Observation</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4.3   Functions, Slopes and Gradients</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4.4   Gradient Descent</a:t>
            </a:r>
          </a:p>
        </p:txBody>
      </p:sp>
      <p:sp>
        <p:nvSpPr>
          <p:cNvPr id="10"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4</a:t>
            </a:r>
          </a:p>
        </p:txBody>
      </p:sp>
      <p:sp>
        <p:nvSpPr>
          <p:cNvPr id="11"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§4.2     </a:t>
            </a:r>
            <a:fld id="{EC279A0E-A5F2-43B5-B1E5-5BE41B34D8BD}" type="slidenum">
              <a:rPr lang="en-GB" sz="1000">
                <a:solidFill>
                  <a:srgbClr val="8795A1"/>
                </a:solidFill>
                <a:latin typeface="Segoe UI"/>
              </a:rPr>
              <a:t>7</a:t>
            </a:fld>
          </a:p>
        </p:txBody>
      </p:sp>
      <p:sp>
        <p:nvSpPr>
          <p:cNvPr id="1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pfill">
            <a:extLst>
              <a:ext uri="{C183D7F6-B498-43B3-948B-1728B52AA6E4}">
                <adec:decorative xmlns:adec="http://schemas.microsoft.com/office/drawing/2017/decorative" val="1"/>
              </a:ext>
            </a:extLst>
          </p:cNvPr>
          <p:cNvSpPr/>
          <p:nvPr/>
        </p:nvSpPr>
        <p:spPr>
          <a:xfrm>
            <a:off x="0" y="0"/>
            <a:ext cx="2031949"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Scalar, Vector, Matrix</a:t>
            </a:r>
          </a:p>
        </p:txBody>
      </p:sp>
      <p:pic>
        <p:nvPicPr>
          <p:cNvPr id="3" name="!!kicker-icon" descr="book-B35900.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35900"/>
                </a:solidFill>
                <a:latin typeface="Segoe UI"/>
              </a:rPr>
              <a:t>DEFINITION</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4  ·  The Mathematical Toolkit</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§4.2  ·  Handout p. 23     </a:t>
            </a:r>
            <a:fld id="{979846A7-3F51-4A5D-90E9-AB76F646FAFE}" type="slidenum">
              <a:rPr lang="en-GB" sz="1000">
                <a:solidFill>
                  <a:srgbClr val="8795A1"/>
                </a:solidFill>
                <a:latin typeface="Segoe UI"/>
              </a:rPr>
              <a:t>8</a:t>
            </a:fld>
          </a:p>
        </p:txBody>
      </p:sp>
      <p:sp>
        <p:nvSpPr>
          <p:cNvPr id="7" name="!!card">
            <a:extLst>
              <a:ext uri="{C183D7F6-B498-43B3-948B-1728B52AA6E4}">
                <adec:decorative xmlns:adec="http://schemas.microsoft.com/office/drawing/2017/decorative" val="1"/>
              </a:ext>
            </a:extLst>
          </p:cNvPr>
          <p:cNvSpPr/>
          <p:nvPr/>
        </p:nvSpPr>
        <p:spPr>
          <a:xfrm>
            <a:off x="658368" y="1737360"/>
            <a:ext cx="10874959" cy="1715414"/>
          </a:xfrm>
          <a:prstGeom prst="roundRect">
            <a:avLst>
              <a:gd name="adj" fmla="val 5330"/>
            </a:avLst>
          </a:prstGeom>
          <a:solidFill>
            <a:srgbClr val="FDF2E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1715414"/>
          </a:xfrm>
          <a:prstGeom prst="rect">
            <a:avLst/>
          </a:prstGeom>
          <a:solidFill>
            <a:srgbClr val="B35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139342"/>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A </a:t>
            </a:r>
            <a:r>
              <a:rPr sz="2300" b="1" i="0">
                <a:solidFill>
                  <a:srgbClr val="1A5276"/>
                </a:solidFill>
                <a:latin typeface="Segoe UI"/>
              </a:rPr>
              <a:t>scalar</a:t>
            </a:r>
            <a:r>
              <a:rPr sz="2300" b="0" i="0">
                <a:solidFill>
                  <a:srgbClr val="1C252B"/>
                </a:solidFill>
                <a:latin typeface="Segoe UI"/>
              </a:rPr>
              <a:t> is a single number (</a:t>
            </a:r>
            <a:r>
              <a:rPr sz="2300" b="0" i="0">
                <a:solidFill>
                  <a:srgbClr val="1C252B"/>
                </a:solidFill>
                <a:latin typeface="Cambria"/>
              </a:rPr>
              <a:t>5</a:t>
            </a:r>
            <a:r>
              <a:rPr sz="2300" b="0" i="0">
                <a:solidFill>
                  <a:srgbClr val="1C252B"/>
                </a:solidFill>
                <a:latin typeface="Segoe UI"/>
              </a:rPr>
              <a:t>, </a:t>
            </a:r>
            <a:r>
              <a:rPr sz="2300" b="0" i="0">
                <a:solidFill>
                  <a:srgbClr val="1C252B"/>
                </a:solidFill>
                <a:latin typeface="Cambria"/>
              </a:rPr>
              <a:t>−2.3</a:t>
            </a:r>
            <a:r>
              <a:rPr sz="2300" b="0" i="0">
                <a:solidFill>
                  <a:srgbClr val="1C252B"/>
                </a:solidFill>
                <a:latin typeface="Segoe UI"/>
              </a:rPr>
              <a:t>). A </a:t>
            </a:r>
            <a:r>
              <a:rPr sz="2300" b="1" i="0">
                <a:solidFill>
                  <a:srgbClr val="1A5276"/>
                </a:solidFill>
                <a:latin typeface="Segoe UI"/>
              </a:rPr>
              <a:t>vector</a:t>
            </a:r>
            <a:r>
              <a:rPr sz="2300" b="0" i="0">
                <a:solidFill>
                  <a:srgbClr val="1C252B"/>
                </a:solidFill>
                <a:latin typeface="Segoe UI"/>
              </a:rPr>
              <a:t> is an ordered list of numbers, written </a:t>
            </a:r>
            <a:r>
              <a:rPr sz="2300" b="0" i="1">
                <a:solidFill>
                  <a:srgbClr val="1C252B"/>
                </a:solidFill>
                <a:latin typeface="Cambria"/>
              </a:rPr>
              <a:t>x</a:t>
            </a:r>
            <a:r>
              <a:rPr sz="2300" b="0" i="0">
                <a:solidFill>
                  <a:srgbClr val="1C252B"/>
                </a:solidFill>
                <a:latin typeface="Cambria"/>
              </a:rPr>
              <a:t> = [</a:t>
            </a:r>
            <a:r>
              <a:rPr sz="2300" b="0" i="1">
                <a:solidFill>
                  <a:srgbClr val="1C252B"/>
                </a:solidFill>
                <a:latin typeface="Cambria"/>
              </a:rPr>
              <a:t>x</a:t>
            </a:r>
            <a:r>
              <a:rPr sz="2300" b="0" i="0" baseline="-25000">
                <a:solidFill>
                  <a:srgbClr val="1C252B"/>
                </a:solidFill>
                <a:latin typeface="Cambria"/>
              </a:rPr>
              <a:t>1</a:t>
            </a:r>
            <a:r>
              <a:rPr sz="2300" b="0" i="0">
                <a:solidFill>
                  <a:srgbClr val="1C252B"/>
                </a:solidFill>
                <a:latin typeface="Cambria"/>
              </a:rPr>
              <a:t>, </a:t>
            </a:r>
            <a:r>
              <a:rPr sz="2300" b="0" i="1">
                <a:solidFill>
                  <a:srgbClr val="1C252B"/>
                </a:solidFill>
                <a:latin typeface="Cambria"/>
              </a:rPr>
              <a:t>x</a:t>
            </a:r>
            <a:r>
              <a:rPr sz="2300" b="0" i="0" baseline="-25000">
                <a:solidFill>
                  <a:srgbClr val="1C252B"/>
                </a:solidFill>
                <a:latin typeface="Cambria"/>
              </a:rPr>
              <a:t>2</a:t>
            </a:r>
            <a:r>
              <a:rPr sz="2300" b="0" i="0">
                <a:solidFill>
                  <a:srgbClr val="1C252B"/>
                </a:solidFill>
                <a:latin typeface="Cambria"/>
              </a:rPr>
              <a:t>, …, </a:t>
            </a:r>
            <a:r>
              <a:rPr sz="2300" b="0" i="1">
                <a:solidFill>
                  <a:srgbClr val="1C252B"/>
                </a:solidFill>
                <a:latin typeface="Cambria"/>
              </a:rPr>
              <a:t>x</a:t>
            </a:r>
            <a:r>
              <a:rPr sz="2300" b="0" i="1" baseline="-25000">
                <a:solidFill>
                  <a:srgbClr val="1C252B"/>
                </a:solidFill>
                <a:latin typeface="Cambria"/>
              </a:rPr>
              <a:t>p</a:t>
            </a:r>
            <a:r>
              <a:rPr sz="2300" b="0" i="0">
                <a:solidFill>
                  <a:srgbClr val="1C252B"/>
                </a:solidFill>
                <a:latin typeface="Cambria"/>
              </a:rPr>
              <a:t>]</a:t>
            </a:r>
            <a:r>
              <a:rPr sz="2300" b="0" i="0">
                <a:solidFill>
                  <a:srgbClr val="1C252B"/>
                </a:solidFill>
                <a:latin typeface="Segoe UI"/>
              </a:rPr>
              <a:t> — one observation with </a:t>
            </a:r>
            <a:r>
              <a:rPr sz="2300" b="0" i="1">
                <a:solidFill>
                  <a:srgbClr val="1C252B"/>
                </a:solidFill>
                <a:latin typeface="Cambria"/>
              </a:rPr>
              <a:t>p</a:t>
            </a:r>
            <a:r>
              <a:rPr sz="2300" b="0" i="0">
                <a:solidFill>
                  <a:srgbClr val="1C252B"/>
                </a:solidFill>
                <a:latin typeface="Segoe UI"/>
              </a:rPr>
              <a:t> features. A </a:t>
            </a:r>
            <a:r>
              <a:rPr sz="2300" b="1" i="0">
                <a:solidFill>
                  <a:srgbClr val="1A5276"/>
                </a:solidFill>
                <a:latin typeface="Segoe UI"/>
              </a:rPr>
              <a:t>matrix</a:t>
            </a:r>
            <a:r>
              <a:rPr sz="2300" b="0" i="0">
                <a:solidFill>
                  <a:srgbClr val="1C252B"/>
                </a:solidFill>
                <a:latin typeface="Segoe UI"/>
              </a:rPr>
              <a:t> is a rectangular grid, written </a:t>
            </a:r>
            <a:r>
              <a:rPr sz="2300" b="0" i="1">
                <a:solidFill>
                  <a:srgbClr val="1C252B"/>
                </a:solidFill>
                <a:latin typeface="Cambria"/>
              </a:rPr>
              <a:t>X</a:t>
            </a:r>
            <a:r>
              <a:rPr sz="2300" b="0" i="0">
                <a:solidFill>
                  <a:srgbClr val="1C252B"/>
                </a:solidFill>
                <a:latin typeface="Segoe UI"/>
              </a:rPr>
              <a:t> with </a:t>
            </a:r>
            <a:r>
              <a:rPr sz="2300" b="0" i="1">
                <a:solidFill>
                  <a:srgbClr val="1C252B"/>
                </a:solidFill>
                <a:latin typeface="Cambria"/>
              </a:rPr>
              <a:t>n</a:t>
            </a:r>
            <a:r>
              <a:rPr sz="2300" b="0" i="0">
                <a:solidFill>
                  <a:srgbClr val="1C252B"/>
                </a:solidFill>
                <a:latin typeface="Segoe UI"/>
              </a:rPr>
              <a:t> rows and </a:t>
            </a:r>
            <a:r>
              <a:rPr sz="2300" b="0" i="1">
                <a:solidFill>
                  <a:srgbClr val="1C252B"/>
                </a:solidFill>
                <a:latin typeface="Cambria"/>
              </a:rPr>
              <a:t>p</a:t>
            </a:r>
            <a:r>
              <a:rPr sz="2300" b="0" i="0">
                <a:solidFill>
                  <a:srgbClr val="1C252B"/>
                </a:solidFill>
                <a:latin typeface="Segoe UI"/>
              </a:rPr>
              <a:t> columns — a whole dataset.</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2322227"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A dataset as a matrix</a:t>
            </a:r>
          </a:p>
        </p:txBody>
      </p:sp>
      <p:sp>
        <p:nvSpPr>
          <p:cNvPr id="3" name="!!kicker"/>
          <p:cNvSpPr txBox="1"/>
          <p:nvPr/>
        </p:nvSpPr>
        <p:spPr>
          <a:xfrm>
            <a:off x="658368" y="402336"/>
            <a:ext cx="10874959"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FIGURE 4.1</a:t>
            </a:r>
          </a:p>
        </p:txBody>
      </p:sp>
      <p:sp>
        <p:nvSpPr>
          <p:cNvPr id="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4  ·  The Mathematical Toolkit</a:t>
            </a:r>
          </a:p>
        </p:txBody>
      </p:sp>
      <p:sp>
        <p:nvSpPr>
          <p:cNvPr id="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§4.2  ·  Handout p. 23     </a:t>
            </a:r>
            <a:fld id="{5BCD22A3-18DF-4EF3-BA4F-23898213B7A5}" type="slidenum">
              <a:rPr lang="en-GB" sz="1000">
                <a:solidFill>
                  <a:srgbClr val="8795A1"/>
                </a:solidFill>
                <a:latin typeface="Segoe UI"/>
              </a:rPr>
              <a:t>9</a:t>
            </a:fld>
          </a:p>
        </p:txBody>
      </p:sp>
      <p:pic>
        <p:nvPicPr>
          <p:cNvPr id="6" name="!!figure" descr="Figure 4.1. A dataset as a matrix. Every algorithm in this book consumes exactly this object: n rows of p numbers. Making real-world data fit this shape is the work of Chapter 7."/>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913394"/>
            <a:ext cx="10874959" cy="2734592"/>
          </a:xfrm>
          <a:prstGeom prst="rect">
            <a:avLst/>
          </a:prstGeom>
        </p:spPr>
      </p:pic>
      <p:sp>
        <p:nvSpPr>
          <p:cNvPr id="7" name="!!takebar">
            <a:extLst>
              <a:ext uri="{C183D7F6-B498-43B3-948B-1728B52AA6E4}">
                <adec:decorative xmlns:adec="http://schemas.microsoft.com/office/drawing/2017/decorative" val="1"/>
              </a:ext>
            </a:extLst>
          </p:cNvPr>
          <p:cNvSpPr/>
          <p:nvPr/>
        </p:nvSpPr>
        <p:spPr>
          <a:xfrm>
            <a:off x="658368" y="5660745"/>
            <a:ext cx="54864" cy="575462"/>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ake"/>
          <p:cNvSpPr txBox="1"/>
          <p:nvPr/>
        </p:nvSpPr>
        <p:spPr>
          <a:xfrm>
            <a:off x="877824" y="5642457"/>
            <a:ext cx="10600639" cy="758342"/>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3E4C57"/>
                </a:solidFill>
                <a:latin typeface="Segoe UI"/>
              </a:rPr>
              <a:t>Every algorithm in this book consumes exactly this object: n rows of p numbers. Making real-world data fit this shape is the work of Chapter 7.</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2612506"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Norm, Distance, Dot Product</a:t>
            </a:r>
          </a:p>
        </p:txBody>
      </p:sp>
      <p:pic>
        <p:nvPicPr>
          <p:cNvPr id="3" name="!!kicker-icon" descr="book-B35900.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35900"/>
                </a:solidFill>
                <a:latin typeface="Segoe UI"/>
              </a:rPr>
              <a:t>DEFINITION</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4  ·  The Mathematical Toolkit</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§4.2.1  ·  Handout p. 24     </a:t>
            </a:r>
            <a:fld id="{237FBAB1-D59C-4837-803B-741A23DE7D1B}" type="slidenum">
              <a:rPr lang="en-GB" sz="1000">
                <a:solidFill>
                  <a:srgbClr val="8795A1"/>
                </a:solidFill>
                <a:latin typeface="Segoe UI"/>
              </a:rPr>
              <a:t>10</a:t>
            </a:fld>
          </a:p>
        </p:txBody>
      </p:sp>
      <p:sp>
        <p:nvSpPr>
          <p:cNvPr id="7" name="!!card">
            <a:extLst>
              <a:ext uri="{C183D7F6-B498-43B3-948B-1728B52AA6E4}">
                <adec:decorative xmlns:adec="http://schemas.microsoft.com/office/drawing/2017/decorative" val="1"/>
              </a:ext>
            </a:extLst>
          </p:cNvPr>
          <p:cNvSpPr/>
          <p:nvPr/>
        </p:nvSpPr>
        <p:spPr>
          <a:xfrm>
            <a:off x="658368" y="1737360"/>
            <a:ext cx="10874959" cy="3122178"/>
          </a:xfrm>
          <a:prstGeom prst="roundRect">
            <a:avLst>
              <a:gd name="adj" fmla="val 2928"/>
            </a:avLst>
          </a:prstGeom>
          <a:solidFill>
            <a:srgbClr val="FDF2E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3122178"/>
          </a:xfrm>
          <a:prstGeom prst="rect">
            <a:avLst/>
          </a:prstGeom>
          <a:solidFill>
            <a:srgbClr val="B35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410260"/>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The </a:t>
            </a:r>
            <a:r>
              <a:rPr sz="2300" b="1" i="0">
                <a:solidFill>
                  <a:srgbClr val="1A5276"/>
                </a:solidFill>
                <a:latin typeface="Segoe UI"/>
              </a:rPr>
              <a:t>norm</a:t>
            </a:r>
            <a:r>
              <a:rPr sz="2300" b="0" i="0">
                <a:solidFill>
                  <a:srgbClr val="1C252B"/>
                </a:solidFill>
                <a:latin typeface="Segoe UI"/>
              </a:rPr>
              <a:t> (length) of </a:t>
            </a:r>
            <a:r>
              <a:rPr sz="2300" b="0" i="1">
                <a:solidFill>
                  <a:srgbClr val="1C252B"/>
                </a:solidFill>
                <a:latin typeface="Cambria"/>
              </a:rPr>
              <a:t>x</a:t>
            </a:r>
            <a:r>
              <a:rPr sz="2300" b="0" i="0">
                <a:solidFill>
                  <a:srgbClr val="1C252B"/>
                </a:solidFill>
                <a:latin typeface="Segoe UI"/>
              </a:rPr>
              <a:t> is </a:t>
            </a:r>
            <a:r>
              <a:rPr sz="2300" b="0" i="0">
                <a:solidFill>
                  <a:srgbClr val="1C252B"/>
                </a:solidFill>
                <a:latin typeface="Cambria"/>
              </a:rPr>
              <a:t>‖</a:t>
            </a:r>
            <a:r>
              <a:rPr sz="2300" b="0" i="1">
                <a:solidFill>
                  <a:srgbClr val="1C252B"/>
                </a:solidFill>
                <a:latin typeface="Cambria"/>
              </a:rPr>
              <a:t>x</a:t>
            </a:r>
            <a:r>
              <a:rPr sz="2300" b="0" i="0">
                <a:solidFill>
                  <a:srgbClr val="1C252B"/>
                </a:solidFill>
                <a:latin typeface="Cambria"/>
              </a:rPr>
              <a:t>‖ = √(</a:t>
            </a:r>
            <a:r>
              <a:rPr sz="2300" b="0" i="1">
                <a:solidFill>
                  <a:srgbClr val="1C252B"/>
                </a:solidFill>
                <a:latin typeface="Cambria"/>
              </a:rPr>
              <a:t>x</a:t>
            </a:r>
            <a:r>
              <a:rPr sz="2300" b="0" i="0" baseline="-25000">
                <a:solidFill>
                  <a:srgbClr val="1C252B"/>
                </a:solidFill>
                <a:latin typeface="Cambria"/>
              </a:rPr>
              <a:t>1</a:t>
            </a:r>
            <a:r>
              <a:rPr sz="2300" b="0" i="0" baseline="30000">
                <a:solidFill>
                  <a:srgbClr val="1C252B"/>
                </a:solidFill>
                <a:latin typeface="Cambria"/>
              </a:rPr>
              <a:t>2</a:t>
            </a:r>
            <a:r>
              <a:rPr sz="2300" b="0" i="0">
                <a:solidFill>
                  <a:srgbClr val="1C252B"/>
                </a:solidFill>
                <a:latin typeface="Cambria"/>
              </a:rPr>
              <a:t> + … + </a:t>
            </a:r>
            <a:r>
              <a:rPr sz="2300" b="0" i="1">
                <a:solidFill>
                  <a:srgbClr val="1C252B"/>
                </a:solidFill>
                <a:latin typeface="Cambria"/>
              </a:rPr>
              <a:t>x</a:t>
            </a:r>
            <a:r>
              <a:rPr sz="2300" b="0" i="1" baseline="-25000">
                <a:solidFill>
                  <a:srgbClr val="1C252B"/>
                </a:solidFill>
                <a:latin typeface="Cambria"/>
              </a:rPr>
              <a:t>p</a:t>
            </a:r>
            <a:r>
              <a:rPr sz="2300" b="0" i="0" baseline="30000">
                <a:solidFill>
                  <a:srgbClr val="1C252B"/>
                </a:solidFill>
                <a:latin typeface="Cambria"/>
              </a:rPr>
              <a:t>2</a:t>
            </a:r>
            <a:r>
              <a:rPr sz="2300" b="0" i="0">
                <a:solidFill>
                  <a:srgbClr val="1C252B"/>
                </a:solidFill>
                <a:latin typeface="Cambria"/>
              </a:rPr>
              <a:t>)</a:t>
            </a:r>
            <a:r>
              <a:rPr sz="2300" b="0" i="0">
                <a:solidFill>
                  <a:srgbClr val="1C252B"/>
                </a:solidFill>
                <a:latin typeface="Segoe UI"/>
              </a:rPr>
              <a:t>.</a:t>
            </a:r>
          </a:p>
        </p:txBody>
      </p:sp>
      <p:pic>
        <p:nvPicPr>
          <p:cNvPr id="10" name="body-1" descr="The Euclidean distance between a and b is d(a,b) = √(Σj=1p(aj − bj)2) — how far apart two observations are."/>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60704" y="2573451"/>
            <a:ext cx="10161727" cy="1044427"/>
          </a:xfrm>
          <a:prstGeom prst="rect">
            <a:avLst/>
          </a:prstGeom>
        </p:spPr>
      </p:pic>
      <p:pic>
        <p:nvPicPr>
          <p:cNvPr id="11" name="body-2" descr="The dot product is a · b = Σj=1p aj bj — a single number measuring how much two vectors point the same way."/>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60704" y="3778534"/>
            <a:ext cx="10161727" cy="770107"/>
          </a:xfrm>
          <a:prstGeom prst="rect">
            <a:avLst/>
          </a:prstGeom>
        </p:spPr>
      </p:pic>
      <p:sp>
        <p:nvSpPr>
          <p:cNvPr id="1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pfill">
            <a:extLst>
              <a:ext uri="{C183D7F6-B498-43B3-948B-1728B52AA6E4}">
                <adec:decorative xmlns:adec="http://schemas.microsoft.com/office/drawing/2017/decorative" val="1"/>
              </a:ext>
            </a:extLst>
          </p:cNvPr>
          <p:cNvSpPr/>
          <p:nvPr/>
        </p:nvSpPr>
        <p:spPr>
          <a:xfrm>
            <a:off x="0" y="0"/>
            <a:ext cx="2902784"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Distance Between Two Students</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4  ·  The Mathematical Toolkit</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§4.2.1  ·  Handout p. 24     </a:t>
            </a:r>
            <a:fld id="{81DCC908-65E6-457E-9D3E-F5C13F35B0ED}" type="slidenum">
              <a:rPr lang="en-GB" sz="1000">
                <a:solidFill>
                  <a:srgbClr val="8795A1"/>
                </a:solidFill>
                <a:latin typeface="Segoe UI"/>
              </a:rPr>
              <a:t>11</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223639"/>
          </a:xfrm>
          <a:prstGeom prst="roundRect">
            <a:avLst>
              <a:gd name="adj" fmla="val 2164"/>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223639"/>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0" i="1">
                <a:solidFill>
                  <a:srgbClr val="1C252B"/>
                </a:solidFill>
                <a:latin typeface="Cambria"/>
              </a:rPr>
              <a:t>a</a:t>
            </a:r>
            <a:r>
              <a:rPr sz="1900" b="0" i="0">
                <a:solidFill>
                  <a:srgbClr val="1C252B"/>
                </a:solidFill>
                <a:latin typeface="Cambria"/>
              </a:rPr>
              <a:t> = [92, 8, 12]</a:t>
            </a:r>
            <a:r>
              <a:rPr sz="1900" b="0" i="0">
                <a:solidFill>
                  <a:srgbClr val="1C252B"/>
                </a:solidFill>
                <a:latin typeface="Segoe UI"/>
              </a:rPr>
              <a:t> (engaged), </a:t>
            </a:r>
            <a:r>
              <a:rPr sz="1900" b="0" i="1">
                <a:solidFill>
                  <a:srgbClr val="1C252B"/>
                </a:solidFill>
                <a:latin typeface="Cambria"/>
              </a:rPr>
              <a:t>b</a:t>
            </a:r>
            <a:r>
              <a:rPr sz="1900" b="0" i="0">
                <a:solidFill>
                  <a:srgbClr val="1C252B"/>
                </a:solidFill>
                <a:latin typeface="Cambria"/>
              </a:rPr>
              <a:t> = [45, 3, 0]</a:t>
            </a:r>
            <a:r>
              <a:rPr sz="1900" b="0" i="0">
                <a:solidFill>
                  <a:srgbClr val="1C252B"/>
                </a:solidFill>
                <a:latin typeface="Segoe UI"/>
              </a:rPr>
              <a:t> (disengaged).</a:t>
            </a:r>
          </a:p>
        </p:txBody>
      </p:sp>
      <p:sp>
        <p:nvSpPr>
          <p:cNvPr id="10" name="body-1"/>
          <p:cNvSpPr txBox="1"/>
          <p:nvPr/>
        </p:nvSpPr>
        <p:spPr>
          <a:xfrm>
            <a:off x="1042416" y="2445537"/>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Differences:</a:t>
            </a:r>
            <a:r>
              <a:rPr sz="1900" b="0" i="0">
                <a:solidFill>
                  <a:srgbClr val="1C252B"/>
                </a:solidFill>
                <a:latin typeface="Segoe UI"/>
              </a:rPr>
              <a:t> </a:t>
            </a:r>
            <a:r>
              <a:rPr sz="1900" b="0" i="0">
                <a:solidFill>
                  <a:srgbClr val="1C252B"/>
                </a:solidFill>
                <a:latin typeface="Cambria"/>
              </a:rPr>
              <a:t>92−45 = 47</a:t>
            </a:r>
            <a:r>
              <a:rPr sz="1900" b="0" i="0">
                <a:solidFill>
                  <a:srgbClr val="1C252B"/>
                </a:solidFill>
                <a:latin typeface="Segoe UI"/>
              </a:rPr>
              <a:t>, </a:t>
            </a:r>
            <a:r>
              <a:rPr sz="1900" b="0" i="0">
                <a:solidFill>
                  <a:srgbClr val="1C252B"/>
                </a:solidFill>
                <a:latin typeface="Cambria"/>
              </a:rPr>
              <a:t>8−3 = 5</a:t>
            </a:r>
            <a:r>
              <a:rPr sz="1900" b="0" i="0">
                <a:solidFill>
                  <a:srgbClr val="1C252B"/>
                </a:solidFill>
                <a:latin typeface="Segoe UI"/>
              </a:rPr>
              <a:t>, </a:t>
            </a:r>
            <a:r>
              <a:rPr sz="1900" b="0" i="0">
                <a:solidFill>
                  <a:srgbClr val="1C252B"/>
                </a:solidFill>
                <a:latin typeface="Cambria"/>
              </a:rPr>
              <a:t>12−0 = 12</a:t>
            </a:r>
            <a:r>
              <a:rPr sz="1900" b="0" i="0">
                <a:solidFill>
                  <a:srgbClr val="1C252B"/>
                </a:solidFill>
                <a:latin typeface="Segoe UI"/>
              </a:rPr>
              <a:t>.</a:t>
            </a:r>
          </a:p>
        </p:txBody>
      </p:sp>
      <p:sp>
        <p:nvSpPr>
          <p:cNvPr id="11" name="body-2"/>
          <p:cNvSpPr txBox="1"/>
          <p:nvPr/>
        </p:nvSpPr>
        <p:spPr>
          <a:xfrm>
            <a:off x="1042416" y="2879394"/>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Squares:</a:t>
            </a:r>
            <a:r>
              <a:rPr sz="1900" b="0" i="0">
                <a:solidFill>
                  <a:srgbClr val="1C252B"/>
                </a:solidFill>
                <a:latin typeface="Segoe UI"/>
              </a:rPr>
              <a:t> </a:t>
            </a:r>
            <a:r>
              <a:rPr sz="1900" b="0" i="0">
                <a:solidFill>
                  <a:srgbClr val="1C252B"/>
                </a:solidFill>
                <a:latin typeface="Cambria"/>
              </a:rPr>
              <a:t>47</a:t>
            </a:r>
            <a:r>
              <a:rPr sz="1900" b="0" i="0" baseline="30000">
                <a:solidFill>
                  <a:srgbClr val="1C252B"/>
                </a:solidFill>
                <a:latin typeface="Cambria"/>
              </a:rPr>
              <a:t>2</a:t>
            </a:r>
            <a:r>
              <a:rPr sz="1900" b="0" i="0">
                <a:solidFill>
                  <a:srgbClr val="1C252B"/>
                </a:solidFill>
                <a:latin typeface="Cambria"/>
              </a:rPr>
              <a:t> = 2209</a:t>
            </a:r>
            <a:r>
              <a:rPr sz="1900" b="0" i="0">
                <a:solidFill>
                  <a:srgbClr val="1C252B"/>
                </a:solidFill>
                <a:latin typeface="Segoe UI"/>
              </a:rPr>
              <a:t>, </a:t>
            </a:r>
            <a:r>
              <a:rPr sz="1900" b="0" i="0">
                <a:solidFill>
                  <a:srgbClr val="1C252B"/>
                </a:solidFill>
                <a:latin typeface="Cambria"/>
              </a:rPr>
              <a:t>5</a:t>
            </a:r>
            <a:r>
              <a:rPr sz="1900" b="0" i="0" baseline="30000">
                <a:solidFill>
                  <a:srgbClr val="1C252B"/>
                </a:solidFill>
                <a:latin typeface="Cambria"/>
              </a:rPr>
              <a:t>2</a:t>
            </a:r>
            <a:r>
              <a:rPr sz="1900" b="0" i="0">
                <a:solidFill>
                  <a:srgbClr val="1C252B"/>
                </a:solidFill>
                <a:latin typeface="Cambria"/>
              </a:rPr>
              <a:t> = 25</a:t>
            </a:r>
            <a:r>
              <a:rPr sz="1900" b="0" i="0">
                <a:solidFill>
                  <a:srgbClr val="1C252B"/>
                </a:solidFill>
                <a:latin typeface="Segoe UI"/>
              </a:rPr>
              <a:t>, </a:t>
            </a:r>
            <a:r>
              <a:rPr sz="1900" b="0" i="0">
                <a:solidFill>
                  <a:srgbClr val="1C252B"/>
                </a:solidFill>
                <a:latin typeface="Cambria"/>
              </a:rPr>
              <a:t>12</a:t>
            </a:r>
            <a:r>
              <a:rPr sz="1900" b="0" i="0" baseline="30000">
                <a:solidFill>
                  <a:srgbClr val="1C252B"/>
                </a:solidFill>
                <a:latin typeface="Cambria"/>
              </a:rPr>
              <a:t>2</a:t>
            </a:r>
            <a:r>
              <a:rPr sz="1900" b="0" i="0">
                <a:solidFill>
                  <a:srgbClr val="1C252B"/>
                </a:solidFill>
                <a:latin typeface="Cambria"/>
              </a:rPr>
              <a:t> = 144</a:t>
            </a:r>
            <a:r>
              <a:rPr sz="1900" b="0" i="0">
                <a:solidFill>
                  <a:srgbClr val="1C252B"/>
                </a:solidFill>
                <a:latin typeface="Segoe UI"/>
              </a:rPr>
              <a:t>.</a:t>
            </a:r>
          </a:p>
        </p:txBody>
      </p:sp>
      <p:sp>
        <p:nvSpPr>
          <p:cNvPr id="12" name="body-3"/>
          <p:cNvSpPr txBox="1"/>
          <p:nvPr/>
        </p:nvSpPr>
        <p:spPr>
          <a:xfrm>
            <a:off x="1042416" y="3313252"/>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Sum:</a:t>
            </a:r>
            <a:r>
              <a:rPr sz="1900" b="0" i="0">
                <a:solidFill>
                  <a:srgbClr val="1C252B"/>
                </a:solidFill>
                <a:latin typeface="Segoe UI"/>
              </a:rPr>
              <a:t> </a:t>
            </a:r>
            <a:r>
              <a:rPr sz="1900" b="0" i="0">
                <a:solidFill>
                  <a:srgbClr val="1C252B"/>
                </a:solidFill>
                <a:latin typeface="Cambria"/>
              </a:rPr>
              <a:t>2209 + 25 + 144 = 2378</a:t>
            </a:r>
            <a:r>
              <a:rPr sz="1900" b="0" i="0">
                <a:solidFill>
                  <a:srgbClr val="1C252B"/>
                </a:solidFill>
                <a:latin typeface="Segoe UI"/>
              </a:rPr>
              <a:t>.</a:t>
            </a:r>
          </a:p>
        </p:txBody>
      </p:sp>
      <p:sp>
        <p:nvSpPr>
          <p:cNvPr id="13" name="body-4"/>
          <p:cNvSpPr txBox="1"/>
          <p:nvPr/>
        </p:nvSpPr>
        <p:spPr>
          <a:xfrm>
            <a:off x="1042416" y="3747109"/>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Distance:</a:t>
            </a:r>
            <a:r>
              <a:rPr sz="1900" b="0" i="0">
                <a:solidFill>
                  <a:srgbClr val="1C252B"/>
                </a:solidFill>
                <a:latin typeface="Segoe UI"/>
              </a:rPr>
              <a:t> </a:t>
            </a:r>
            <a:r>
              <a:rPr sz="1900" b="0" i="1">
                <a:solidFill>
                  <a:srgbClr val="1C252B"/>
                </a:solidFill>
                <a:latin typeface="Cambria"/>
              </a:rPr>
              <a:t>d</a:t>
            </a:r>
            <a:r>
              <a:rPr sz="1900" b="0" i="0">
                <a:solidFill>
                  <a:srgbClr val="1C252B"/>
                </a:solidFill>
                <a:latin typeface="Cambria"/>
              </a:rPr>
              <a:t>(</a:t>
            </a:r>
            <a:r>
              <a:rPr sz="1900" b="0" i="1">
                <a:solidFill>
                  <a:srgbClr val="1C252B"/>
                </a:solidFill>
                <a:latin typeface="Cambria"/>
              </a:rPr>
              <a:t>a</a:t>
            </a:r>
            <a:r>
              <a:rPr sz="1900" b="0" i="0">
                <a:solidFill>
                  <a:srgbClr val="1C252B"/>
                </a:solidFill>
                <a:latin typeface="Cambria"/>
              </a:rPr>
              <a:t>,</a:t>
            </a:r>
            <a:r>
              <a:rPr sz="1900" b="0" i="1">
                <a:solidFill>
                  <a:srgbClr val="1C252B"/>
                </a:solidFill>
                <a:latin typeface="Cambria"/>
              </a:rPr>
              <a:t>b</a:t>
            </a:r>
            <a:r>
              <a:rPr sz="1900" b="0" i="0">
                <a:solidFill>
                  <a:srgbClr val="1C252B"/>
                </a:solidFill>
                <a:latin typeface="Cambria"/>
              </a:rPr>
              <a:t>) = √(2378) ≈ 48.8</a:t>
            </a:r>
            <a:r>
              <a:rPr sz="1900" b="0" i="0">
                <a:solidFill>
                  <a:srgbClr val="1C252B"/>
                </a:solidFill>
                <a:latin typeface="Segoe UI"/>
              </a:rPr>
              <a:t>.</a:t>
            </a:r>
          </a:p>
        </p:txBody>
      </p:sp>
      <p:sp>
        <p:nvSpPr>
          <p:cNvPr id="14" name="body-5"/>
          <p:cNvSpPr txBox="1"/>
          <p:nvPr/>
        </p:nvSpPr>
        <p:spPr>
          <a:xfrm>
            <a:off x="1042416" y="4180967"/>
            <a:ext cx="10234879" cy="1551432"/>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The lesson hiding in this number.</a:t>
            </a:r>
            <a:r>
              <a:rPr sz="1900" b="0" i="0">
                <a:solidFill>
                  <a:srgbClr val="1C252B"/>
                </a:solidFill>
                <a:latin typeface="Segoe UI"/>
              </a:rPr>
              <a:t> The attendance difference (47) supplied </a:t>
            </a:r>
            <a:r>
              <a:rPr sz="1900" b="0" i="0">
                <a:solidFill>
                  <a:srgbClr val="1C252B"/>
                </a:solidFill>
                <a:latin typeface="Cambria"/>
              </a:rPr>
              <a:t>2209/2378 = 93%</a:t>
            </a:r>
            <a:r>
              <a:rPr sz="1900" b="0" i="0">
                <a:solidFill>
                  <a:srgbClr val="1C252B"/>
                </a:solidFill>
                <a:latin typeface="Segoe UI"/>
              </a:rPr>
              <a:t> of the total. Attendance dominates purely because it is measured on a 0–100 scale while the others run 0–20. The distance is not measuring similarity of students; it is measuring similarity of </a:t>
            </a:r>
            <a:r>
              <a:rPr sz="1900" b="0" i="1">
                <a:solidFill>
                  <a:srgbClr val="1C252B"/>
                </a:solidFill>
                <a:latin typeface="Segoe UI"/>
              </a:rPr>
              <a:t>attendance</a:t>
            </a:r>
            <a:r>
              <a:rPr sz="1900" b="0" i="0">
                <a:solidFill>
                  <a:srgbClr val="1C252B"/>
                </a:solidFill>
                <a:latin typeface="Segoe UI"/>
              </a:rPr>
              <a:t>. This is exactly why Chapter 7 insists on </a:t>
            </a:r>
            <a:r>
              <a:rPr sz="1900" b="1" i="0">
                <a:solidFill>
                  <a:srgbClr val="1A5276"/>
                </a:solidFill>
                <a:latin typeface="Segoe UI"/>
              </a:rPr>
              <a:t>scaling</a:t>
            </a:r>
            <a:r>
              <a:rPr sz="1900" b="0" i="0">
                <a:solidFill>
                  <a:srgbClr val="1C252B"/>
                </a:solidFill>
                <a:latin typeface="Segoe UI"/>
              </a:rPr>
              <a:t> features before any distance-based method (k-NN in Chapter 13, k-means in Chapter 16) is used.</a:t>
            </a:r>
          </a:p>
        </p:txBody>
      </p:sp>
      <p:sp>
        <p:nvSpPr>
          <p:cNvPr id="2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pfill">
            <a:extLst>
              <a:ext uri="{C183D7F6-B498-43B3-948B-1728B52AA6E4}">
                <adec:decorative xmlns:adec="http://schemas.microsoft.com/office/drawing/2017/decorative" val="1"/>
              </a:ext>
            </a:extLst>
          </p:cNvPr>
          <p:cNvSpPr/>
          <p:nvPr/>
        </p:nvSpPr>
        <p:spPr>
          <a:xfrm>
            <a:off x="0" y="0"/>
            <a:ext cx="3193063"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wipe(right)">
                                      <p:cBhvr>
                                        <p:cTn id="8" dur="420"/>
                                        <p:tgtEl>
                                          <p:spTgt spid="10"/>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right)">
                                      <p:cBhvr>
                                        <p:cTn id="13" dur="42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wipe(right)">
                                      <p:cBhvr>
                                        <p:cTn id="18" dur="420"/>
                                        <p:tgtEl>
                                          <p:spTgt spid="12"/>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wipe(right)">
                                      <p:cBhvr>
                                        <p:cTn id="23" dur="420"/>
                                        <p:tgtEl>
                                          <p:spTgt spid="13"/>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wipe(right)">
                                      <p:cBhvr>
                                        <p:cTn id="28" dur="42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Cosine Similarity: Direction Without Magnitude</a:t>
            </a:r>
          </a:p>
        </p:txBody>
      </p:sp>
      <p:pic>
        <p:nvPicPr>
          <p:cNvPr id="3" name="!!kicker-icon" descr="lightbulb-2E86C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52915"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E86C1"/>
                </a:solidFill>
                <a:latin typeface="Segoe UI"/>
              </a:rPr>
              <a:t>CONCEPT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4  ·  The Mathematical Toolkit</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§4.2.1  ·  Handout p. 24     </a:t>
            </a:r>
            <a:fld id="{3670AB34-E421-47BF-AC40-C4D48F45ED6B}" type="slidenum">
              <a:rPr lang="en-GB" sz="1000">
                <a:solidFill>
                  <a:srgbClr val="8795A1"/>
                </a:solidFill>
                <a:latin typeface="Segoe UI"/>
              </a:rPr>
              <a:t>12</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745211"/>
          </a:xfrm>
          <a:prstGeom prst="roundRect">
            <a:avLst>
              <a:gd name="adj" fmla="val 3330"/>
            </a:avLst>
          </a:prstGeom>
          <a:solidFill>
            <a:srgbClr val="EBF5FB"/>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745211"/>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9" name="body-0" descr="Sometimes you care that two things are about the same, not that they are the same size. Cosine similarity, cosθ = (a · b)/‖a‖ ‖b‖, ranges from −1 to 1 and ignores length entirely. It is the standard similarity measure for text (Chapter 20), where a long document and a short one on the same topic should count as simila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60704" y="2048255"/>
            <a:ext cx="10161727" cy="2123419"/>
          </a:xfrm>
          <a:prstGeom prst="rect">
            <a:avLst/>
          </a:prstGeom>
        </p:spPr>
      </p:pic>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3483341"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Functions, Slopes and Gradients</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ACBD6"/>
                </a:solidFill>
                <a:latin typeface="Segoe UI"/>
              </a:rPr>
              <a:t>SECTION 3 OF 4</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4.3</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4.1   Why Mathematics, and How Much</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4.2   Vectors: One Observation</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1A5276"/>
                </a:solidFill>
                <a:latin typeface="Segoe UI"/>
              </a:rPr>
              <a:t>4.3   Functions, Slopes and Gradients</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4.4   Gradient Descent</a:t>
            </a:r>
          </a:p>
        </p:txBody>
      </p:sp>
      <p:sp>
        <p:nvSpPr>
          <p:cNvPr id="10"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4</a:t>
            </a:r>
          </a:p>
        </p:txBody>
      </p:sp>
      <p:sp>
        <p:nvSpPr>
          <p:cNvPr id="11"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§4.3     </a:t>
            </a:r>
            <a:fld id="{E16AE325-1E96-460B-9DE0-591F56D6135F}" type="slidenum">
              <a:rPr lang="en-GB" sz="1000">
                <a:solidFill>
                  <a:srgbClr val="8795A1"/>
                </a:solidFill>
                <a:latin typeface="Segoe UI"/>
              </a:rPr>
              <a:t>13</a:t>
            </a:fld>
          </a:p>
        </p:txBody>
      </p:sp>
      <p:sp>
        <p:nvSpPr>
          <p:cNvPr id="1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pfill">
            <a:extLst>
              <a:ext uri="{C183D7F6-B498-43B3-948B-1728B52AA6E4}">
                <adec:decorative xmlns:adec="http://schemas.microsoft.com/office/drawing/2017/decorative" val="1"/>
              </a:ext>
            </a:extLst>
          </p:cNvPr>
          <p:cNvSpPr/>
          <p:nvPr/>
        </p:nvSpPr>
        <p:spPr>
          <a:xfrm>
            <a:off x="0" y="0"/>
            <a:ext cx="3773619"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Derivative</a:t>
            </a:r>
          </a:p>
        </p:txBody>
      </p:sp>
      <p:pic>
        <p:nvPicPr>
          <p:cNvPr id="3" name="!!kicker-icon" descr="book-B35900.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35900"/>
                </a:solidFill>
                <a:latin typeface="Segoe UI"/>
              </a:rPr>
              <a:t>DEFINITION</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4  ·  The Mathematical Toolkit</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§4.3  ·  Handout p. 25     </a:t>
            </a:r>
            <a:fld id="{61A892AB-D52C-4782-9366-044AE24BCBFF}" type="slidenum">
              <a:rPr lang="en-GB" sz="1000">
                <a:solidFill>
                  <a:srgbClr val="8795A1"/>
                </a:solidFill>
                <a:latin typeface="Segoe UI"/>
              </a:rPr>
              <a:t>14</a:t>
            </a:fld>
          </a:p>
        </p:txBody>
      </p:sp>
      <p:sp>
        <p:nvSpPr>
          <p:cNvPr id="7" name="!!card">
            <a:extLst>
              <a:ext uri="{C183D7F6-B498-43B3-948B-1728B52AA6E4}">
                <adec:decorative xmlns:adec="http://schemas.microsoft.com/office/drawing/2017/decorative" val="1"/>
              </a:ext>
            </a:extLst>
          </p:cNvPr>
          <p:cNvSpPr/>
          <p:nvPr/>
        </p:nvSpPr>
        <p:spPr>
          <a:xfrm>
            <a:off x="658368" y="1737360"/>
            <a:ext cx="10874959" cy="1715414"/>
          </a:xfrm>
          <a:prstGeom prst="roundRect">
            <a:avLst>
              <a:gd name="adj" fmla="val 5330"/>
            </a:avLst>
          </a:prstGeom>
          <a:solidFill>
            <a:srgbClr val="FDF2E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1715414"/>
          </a:xfrm>
          <a:prstGeom prst="rect">
            <a:avLst/>
          </a:prstGeom>
          <a:solidFill>
            <a:srgbClr val="B35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139342"/>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The </a:t>
            </a:r>
            <a:r>
              <a:rPr sz="2300" b="1" i="0">
                <a:solidFill>
                  <a:srgbClr val="1A5276"/>
                </a:solidFill>
                <a:latin typeface="Segoe UI"/>
              </a:rPr>
              <a:t>derivative</a:t>
            </a:r>
            <a:r>
              <a:rPr sz="2300" b="0" i="0">
                <a:solidFill>
                  <a:srgbClr val="1C252B"/>
                </a:solidFill>
                <a:latin typeface="Segoe UI"/>
              </a:rPr>
              <a:t> of </a:t>
            </a:r>
            <a:r>
              <a:rPr sz="2300" b="0" i="1">
                <a:solidFill>
                  <a:srgbClr val="1C252B"/>
                </a:solidFill>
                <a:latin typeface="Cambria"/>
              </a:rPr>
              <a:t>f</a:t>
            </a:r>
            <a:r>
              <a:rPr sz="2300" b="0" i="0">
                <a:solidFill>
                  <a:srgbClr val="1C252B"/>
                </a:solidFill>
                <a:latin typeface="Segoe UI"/>
              </a:rPr>
              <a:t> at a point, written </a:t>
            </a:r>
            <a:r>
              <a:rPr sz="2300" b="0" i="1">
                <a:solidFill>
                  <a:srgbClr val="1C252B"/>
                </a:solidFill>
                <a:latin typeface="Cambria"/>
              </a:rPr>
              <a:t>f</a:t>
            </a:r>
            <a:r>
              <a:rPr sz="2300" b="0" i="0">
                <a:solidFill>
                  <a:srgbClr val="1C252B"/>
                </a:solidFill>
                <a:latin typeface="Cambria"/>
              </a:rPr>
              <a:t>′(</a:t>
            </a:r>
            <a:r>
              <a:rPr sz="2300" b="0" i="1">
                <a:solidFill>
                  <a:srgbClr val="1C252B"/>
                </a:solidFill>
                <a:latin typeface="Cambria"/>
              </a:rPr>
              <a:t>x</a:t>
            </a:r>
            <a:r>
              <a:rPr sz="2300" b="0" i="0">
                <a:solidFill>
                  <a:srgbClr val="1C252B"/>
                </a:solidFill>
                <a:latin typeface="Cambria"/>
              </a:rPr>
              <a:t>)</a:t>
            </a:r>
            <a:r>
              <a:rPr sz="2300" b="0" i="0">
                <a:solidFill>
                  <a:srgbClr val="1C252B"/>
                </a:solidFill>
                <a:latin typeface="Segoe UI"/>
              </a:rPr>
              <a:t> or </a:t>
            </a:r>
            <a:r>
              <a:rPr sz="2300" b="0" i="1">
                <a:solidFill>
                  <a:srgbClr val="1C252B"/>
                </a:solidFill>
                <a:latin typeface="Cambria"/>
              </a:rPr>
              <a:t>df</a:t>
            </a:r>
            <a:r>
              <a:rPr sz="2300" b="0" i="0">
                <a:solidFill>
                  <a:srgbClr val="1C252B"/>
                </a:solidFill>
                <a:latin typeface="Cambria"/>
              </a:rPr>
              <a:t>/</a:t>
            </a:r>
            <a:r>
              <a:rPr sz="2300" b="0" i="1">
                <a:solidFill>
                  <a:srgbClr val="1C252B"/>
                </a:solidFill>
                <a:latin typeface="Cambria"/>
              </a:rPr>
              <a:t>dx</a:t>
            </a:r>
            <a:r>
              <a:rPr sz="2300" b="0" i="0">
                <a:solidFill>
                  <a:srgbClr val="1C252B"/>
                </a:solidFill>
                <a:latin typeface="Segoe UI"/>
              </a:rPr>
              <a:t>, is the </a:t>
            </a:r>
            <a:r>
              <a:rPr sz="2300" b="0" i="1">
                <a:solidFill>
                  <a:srgbClr val="1C252B"/>
                </a:solidFill>
                <a:latin typeface="Segoe UI"/>
              </a:rPr>
              <a:t>slope</a:t>
            </a:r>
            <a:r>
              <a:rPr sz="2300" b="0" i="0">
                <a:solidFill>
                  <a:srgbClr val="1C252B"/>
                </a:solidFill>
                <a:latin typeface="Segoe UI"/>
              </a:rPr>
              <a:t> of </a:t>
            </a:r>
            <a:r>
              <a:rPr sz="2300" b="0" i="1">
                <a:solidFill>
                  <a:srgbClr val="1C252B"/>
                </a:solidFill>
                <a:latin typeface="Cambria"/>
              </a:rPr>
              <a:t>f</a:t>
            </a:r>
            <a:r>
              <a:rPr sz="2300" b="0" i="0">
                <a:solidFill>
                  <a:srgbClr val="1C252B"/>
                </a:solidFill>
                <a:latin typeface="Segoe UI"/>
              </a:rPr>
              <a:t> there: how much </a:t>
            </a:r>
            <a:r>
              <a:rPr sz="2300" b="0" i="1">
                <a:solidFill>
                  <a:srgbClr val="1C252B"/>
                </a:solidFill>
                <a:latin typeface="Cambria"/>
              </a:rPr>
              <a:t>f</a:t>
            </a:r>
            <a:r>
              <a:rPr sz="2300" b="0" i="0">
                <a:solidFill>
                  <a:srgbClr val="1C252B"/>
                </a:solidFill>
                <a:latin typeface="Segoe UI"/>
              </a:rPr>
              <a:t> changes per unit change in </a:t>
            </a:r>
            <a:r>
              <a:rPr sz="2300" b="0" i="1">
                <a:solidFill>
                  <a:srgbClr val="1C252B"/>
                </a:solidFill>
                <a:latin typeface="Cambria"/>
              </a:rPr>
              <a:t>x</a:t>
            </a:r>
            <a:r>
              <a:rPr sz="2300" b="0" i="0">
                <a:solidFill>
                  <a:srgbClr val="1C252B"/>
                </a:solidFill>
                <a:latin typeface="Segoe UI"/>
              </a:rPr>
              <a:t>. Where the derivative is zero, the function is momentarily flat — at a peak, a valley or a plateau.</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4063898"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Functions, Slopes and Gradients</a:t>
            </a:r>
          </a:p>
        </p:txBody>
      </p:sp>
      <p:pic>
        <p:nvPicPr>
          <p:cNvPr id="3" name="!!kicker-icon" descr="list-ul-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6883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IN BRIEF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4  ·  The Mathematical Toolkit</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§4.3  ·  Handout p. 25     </a:t>
            </a:r>
            <a:fld id="{AA2BC4CB-1462-415F-88A2-781F81C1D660}" type="slidenum">
              <a:rPr lang="en-GB" sz="1000">
                <a:solidFill>
                  <a:srgbClr val="8795A1"/>
                </a:solidFill>
                <a:latin typeface="Segoe UI"/>
              </a:rPr>
              <a:t>15</a:t>
            </a:fld>
          </a:p>
        </p:txBody>
      </p:sp>
      <p:sp>
        <p:nvSpPr>
          <p:cNvPr id="7" name="!!card">
            <a:extLst>
              <a:ext uri="{C183D7F6-B498-43B3-948B-1728B52AA6E4}">
                <adec:decorative xmlns:adec="http://schemas.microsoft.com/office/drawing/2017/decorative" val="1"/>
              </a:ext>
            </a:extLst>
          </p:cNvPr>
          <p:cNvSpPr/>
          <p:nvPr/>
        </p:nvSpPr>
        <p:spPr>
          <a:xfrm>
            <a:off x="658368" y="1737360"/>
            <a:ext cx="10874959" cy="1767408"/>
          </a:xfrm>
          <a:prstGeom prst="roundRect">
            <a:avLst>
              <a:gd name="adj" fmla="val 5173"/>
            </a:avLst>
          </a:prstGeom>
          <a:solidFill>
            <a:srgbClr val="F2F6F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1767408"/>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410260"/>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For this course you need three derivatives and one rule:</a:t>
            </a:r>
          </a:p>
        </p:txBody>
      </p:sp>
      <p:pic>
        <p:nvPicPr>
          <p:cNvPr id="10" name="body-1" descr="d/dx(c) = 0, d/dx(x2) = 2x, d/dx(xn) = n xn−1, and derivatives add."/>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60704" y="2573451"/>
            <a:ext cx="10161727" cy="620420"/>
          </a:xfrm>
          <a:prstGeom prst="rect">
            <a:avLst/>
          </a:prstGeom>
        </p:spPr>
      </p:pic>
      <p:sp>
        <p:nvSpPr>
          <p:cNvPr id="1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pfill">
            <a:extLst>
              <a:ext uri="{C183D7F6-B498-43B3-948B-1728B52AA6E4}">
                <adec:decorative xmlns:adec="http://schemas.microsoft.com/office/drawing/2017/decorative" val="1"/>
              </a:ext>
            </a:extLst>
          </p:cNvPr>
          <p:cNvSpPr/>
          <p:nvPr/>
        </p:nvSpPr>
        <p:spPr>
          <a:xfrm>
            <a:off x="0" y="0"/>
            <a:ext cx="4354176"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Slope as the guide to the minimum</a:t>
            </a:r>
          </a:p>
        </p:txBody>
      </p:sp>
      <p:sp>
        <p:nvSpPr>
          <p:cNvPr id="3" name="!!kicker"/>
          <p:cNvSpPr txBox="1"/>
          <p:nvPr/>
        </p:nvSpPr>
        <p:spPr>
          <a:xfrm>
            <a:off x="658368" y="402336"/>
            <a:ext cx="10874959"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FIGURE 4.2</a:t>
            </a:r>
          </a:p>
        </p:txBody>
      </p:sp>
      <p:sp>
        <p:nvSpPr>
          <p:cNvPr id="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4  ·  The Mathematical Toolkit</a:t>
            </a:r>
          </a:p>
        </p:txBody>
      </p:sp>
      <p:sp>
        <p:nvSpPr>
          <p:cNvPr id="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§4.3  ·  Handout p. 25     </a:t>
            </a:r>
            <a:fld id="{66647AF7-669F-4C96-A289-4CCADFD7B83C}" type="slidenum">
              <a:rPr lang="en-GB" sz="1000">
                <a:solidFill>
                  <a:srgbClr val="8795A1"/>
                </a:solidFill>
                <a:latin typeface="Segoe UI"/>
              </a:rPr>
              <a:t>16</a:t>
            </a:fld>
          </a:p>
        </p:txBody>
      </p:sp>
      <p:pic>
        <p:nvPicPr>
          <p:cNvPr id="6" name="!!figure" descr="Figure 4.2. Slope as the guide to the minimum. Where the slope is positive the minimum lies to the left; where it is negative, to the right. In both cases you move in the direction opposite the sign of the derivative — which is the entire idea of gradient descent."/>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408537" y="1737360"/>
            <a:ext cx="7374619" cy="3740505"/>
          </a:xfrm>
          <a:prstGeom prst="rect">
            <a:avLst/>
          </a:prstGeom>
        </p:spPr>
      </p:pic>
      <p:sp>
        <p:nvSpPr>
          <p:cNvPr id="7" name="!!takebar">
            <a:extLst>
              <a:ext uri="{C183D7F6-B498-43B3-948B-1728B52AA6E4}">
                <adec:decorative xmlns:adec="http://schemas.microsoft.com/office/drawing/2017/decorative" val="1"/>
              </a:ext>
            </a:extLst>
          </p:cNvPr>
          <p:cNvSpPr/>
          <p:nvPr/>
        </p:nvSpPr>
        <p:spPr>
          <a:xfrm>
            <a:off x="658368" y="5660745"/>
            <a:ext cx="54864" cy="575462"/>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ake"/>
          <p:cNvSpPr txBox="1"/>
          <p:nvPr/>
        </p:nvSpPr>
        <p:spPr>
          <a:xfrm>
            <a:off x="877824" y="5642457"/>
            <a:ext cx="10600639" cy="758342"/>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3E4C57"/>
                </a:solidFill>
                <a:latin typeface="Segoe UI"/>
              </a:rPr>
              <a:t>Where the slope is positive the minimum lies to the left; where it is negative, to the right. In both cases you move in the direction opposite the sign of the derivative — which is the entire idea of gradient descent.</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4644455"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Gradient</a:t>
            </a:r>
          </a:p>
        </p:txBody>
      </p:sp>
      <p:pic>
        <p:nvPicPr>
          <p:cNvPr id="3" name="!!kicker-icon" descr="book-B35900.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35900"/>
                </a:solidFill>
                <a:latin typeface="Segoe UI"/>
              </a:rPr>
              <a:t>DEFINITION</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4  ·  The Mathematical Toolkit</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§4.3  ·  Handout p. 25     </a:t>
            </a:r>
            <a:fld id="{E90FDDBA-39D7-49BC-AA1C-4FAB101AA97E}" type="slidenum">
              <a:rPr lang="en-GB" sz="1000">
                <a:solidFill>
                  <a:srgbClr val="8795A1"/>
                </a:solidFill>
                <a:latin typeface="Segoe UI"/>
              </a:rPr>
              <a:t>17</a:t>
            </a:fld>
          </a:p>
        </p:txBody>
      </p:sp>
      <p:sp>
        <p:nvSpPr>
          <p:cNvPr id="7" name="!!card">
            <a:extLst>
              <a:ext uri="{C183D7F6-B498-43B3-948B-1728B52AA6E4}">
                <adec:decorative xmlns:adec="http://schemas.microsoft.com/office/drawing/2017/decorative" val="1"/>
              </a:ext>
            </a:extLst>
          </p:cNvPr>
          <p:cNvSpPr/>
          <p:nvPr/>
        </p:nvSpPr>
        <p:spPr>
          <a:xfrm>
            <a:off x="658368" y="1737360"/>
            <a:ext cx="10874959" cy="1715414"/>
          </a:xfrm>
          <a:prstGeom prst="roundRect">
            <a:avLst>
              <a:gd name="adj" fmla="val 5330"/>
            </a:avLst>
          </a:prstGeom>
          <a:solidFill>
            <a:srgbClr val="FDF2E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1715414"/>
          </a:xfrm>
          <a:prstGeom prst="rect">
            <a:avLst/>
          </a:prstGeom>
          <a:solidFill>
            <a:srgbClr val="B35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139342"/>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When a function has several inputs, the </a:t>
            </a:r>
            <a:r>
              <a:rPr sz="2300" b="1" i="0">
                <a:solidFill>
                  <a:srgbClr val="1A5276"/>
                </a:solidFill>
                <a:latin typeface="Segoe UI"/>
              </a:rPr>
              <a:t>gradient</a:t>
            </a:r>
            <a:r>
              <a:rPr sz="2300" b="0" i="0">
                <a:solidFill>
                  <a:srgbClr val="1C252B"/>
                </a:solidFill>
                <a:latin typeface="Segoe UI"/>
              </a:rPr>
              <a:t> </a:t>
            </a:r>
            <a:r>
              <a:rPr sz="2300" b="0" i="0">
                <a:solidFill>
                  <a:srgbClr val="1C252B"/>
                </a:solidFill>
                <a:latin typeface="Cambria"/>
              </a:rPr>
              <a:t>∇ </a:t>
            </a:r>
            <a:r>
              <a:rPr sz="2300" b="0" i="1">
                <a:solidFill>
                  <a:srgbClr val="1C252B"/>
                </a:solidFill>
                <a:latin typeface="Cambria"/>
              </a:rPr>
              <a:t>L</a:t>
            </a:r>
            <a:r>
              <a:rPr sz="2300" b="0" i="0">
                <a:solidFill>
                  <a:srgbClr val="1C252B"/>
                </a:solidFill>
                <a:latin typeface="Segoe UI"/>
              </a:rPr>
              <a:t> is the vector of its partial derivatives — one slope per parameter. It points in the direction of </a:t>
            </a:r>
            <a:r>
              <a:rPr sz="2300" b="0" i="1">
                <a:solidFill>
                  <a:srgbClr val="1C252B"/>
                </a:solidFill>
                <a:latin typeface="Segoe UI"/>
              </a:rPr>
              <a:t>steepest increase</a:t>
            </a:r>
            <a:r>
              <a:rPr sz="2300" b="0" i="0">
                <a:solidFill>
                  <a:srgbClr val="1C252B"/>
                </a:solidFill>
                <a:latin typeface="Segoe UI"/>
              </a:rPr>
              <a:t>, so </a:t>
            </a:r>
            <a:r>
              <a:rPr sz="2300" b="0" i="0">
                <a:solidFill>
                  <a:srgbClr val="1C252B"/>
                </a:solidFill>
                <a:latin typeface="Cambria"/>
              </a:rPr>
              <a:t>−∇ </a:t>
            </a:r>
            <a:r>
              <a:rPr sz="2300" b="0" i="1">
                <a:solidFill>
                  <a:srgbClr val="1C252B"/>
                </a:solidFill>
                <a:latin typeface="Cambria"/>
              </a:rPr>
              <a:t>L</a:t>
            </a:r>
            <a:r>
              <a:rPr sz="2300" b="0" i="0">
                <a:solidFill>
                  <a:srgbClr val="1C252B"/>
                </a:solidFill>
                <a:latin typeface="Segoe UI"/>
              </a:rPr>
              <a:t> points downhill.</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4934733"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Gradient Descent</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ACBD6"/>
                </a:solidFill>
                <a:latin typeface="Segoe UI"/>
              </a:rPr>
              <a:t>SECTION 4 OF 4</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4.4</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4.1   Why Mathematics, and How Much</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4.2   Vectors: One Observation</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4.3   Functions, Slopes and Gradients</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1A5276"/>
                </a:solidFill>
                <a:latin typeface="Segoe UI"/>
              </a:rPr>
              <a:t>4.4   Gradient Descent</a:t>
            </a:r>
          </a:p>
        </p:txBody>
      </p:sp>
      <p:sp>
        <p:nvSpPr>
          <p:cNvPr id="10"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4</a:t>
            </a:r>
          </a:p>
        </p:txBody>
      </p:sp>
      <p:sp>
        <p:nvSpPr>
          <p:cNvPr id="11"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§4.4     </a:t>
            </a:r>
            <a:fld id="{C7ECD605-82BB-4934-B5E9-DD63BC229295}" type="slidenum">
              <a:rPr lang="en-GB" sz="1000">
                <a:solidFill>
                  <a:srgbClr val="8795A1"/>
                </a:solidFill>
                <a:latin typeface="Segoe UI"/>
              </a:rPr>
              <a:t>18</a:t>
            </a:fld>
          </a:p>
        </p:txBody>
      </p:sp>
      <p:sp>
        <p:nvSpPr>
          <p:cNvPr id="1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pfill">
            <a:extLst>
              <a:ext uri="{C183D7F6-B498-43B3-948B-1728B52AA6E4}">
                <adec:decorative xmlns:adec="http://schemas.microsoft.com/office/drawing/2017/decorative" val="1"/>
              </a:ext>
            </a:extLst>
          </p:cNvPr>
          <p:cNvSpPr/>
          <p:nvPr/>
        </p:nvSpPr>
        <p:spPr>
          <a:xfrm>
            <a:off x="0" y="0"/>
            <a:ext cx="5225012"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Gradient Descent</a:t>
            </a:r>
          </a:p>
        </p:txBody>
      </p:sp>
      <p:pic>
        <p:nvPicPr>
          <p:cNvPr id="3" name="!!kicker-icon" descr="book-B35900.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35900"/>
                </a:solidFill>
                <a:latin typeface="Segoe UI"/>
              </a:rPr>
              <a:t>DEFINITION</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4  ·  The Mathematical Toolkit</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§4.4  ·  Handout p. 25     </a:t>
            </a:r>
            <a:fld id="{34ED1A7A-FF77-455B-8367-2795A0483877}" type="slidenum">
              <a:rPr lang="en-GB" sz="1000">
                <a:solidFill>
                  <a:srgbClr val="8795A1"/>
                </a:solidFill>
                <a:latin typeface="Segoe UI"/>
              </a:rPr>
              <a:t>19</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429550"/>
          </a:xfrm>
          <a:prstGeom prst="roundRect">
            <a:avLst>
              <a:gd name="adj" fmla="val 3763"/>
            </a:avLst>
          </a:prstGeom>
          <a:solidFill>
            <a:srgbClr val="FDF2E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429550"/>
          </a:xfrm>
          <a:prstGeom prst="rect">
            <a:avLst/>
          </a:prstGeom>
          <a:solidFill>
            <a:srgbClr val="B35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410260"/>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Repeat until the loss stops improving:</a:t>
            </a:r>
          </a:p>
        </p:txBody>
      </p:sp>
      <p:pic>
        <p:nvPicPr>
          <p:cNvPr id="10" name="body-1" descr="w \;\leftarrow\; w \;-\; \alpha \, \nabla L(w)"/>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60704" y="2573451"/>
            <a:ext cx="10161727" cy="392826"/>
          </a:xfrm>
          <a:prstGeom prst="rect">
            <a:avLst/>
          </a:prstGeom>
        </p:spPr>
      </p:pic>
      <p:sp>
        <p:nvSpPr>
          <p:cNvPr id="11" name="body-2"/>
          <p:cNvSpPr txBox="1"/>
          <p:nvPr/>
        </p:nvSpPr>
        <p:spPr>
          <a:xfrm>
            <a:off x="1060704" y="3126933"/>
            <a:ext cx="10161727" cy="774801"/>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where </a:t>
            </a:r>
            <a:r>
              <a:rPr sz="2300" b="0" i="1">
                <a:solidFill>
                  <a:srgbClr val="1C252B"/>
                </a:solidFill>
                <a:latin typeface="Cambria"/>
              </a:rPr>
              <a:t>w</a:t>
            </a:r>
            <a:r>
              <a:rPr sz="2300" b="0" i="0">
                <a:solidFill>
                  <a:srgbClr val="1C252B"/>
                </a:solidFill>
                <a:latin typeface="Segoe UI"/>
              </a:rPr>
              <a:t> are the parameters, </a:t>
            </a:r>
            <a:r>
              <a:rPr sz="2300" b="0" i="1">
                <a:solidFill>
                  <a:srgbClr val="1C252B"/>
                </a:solidFill>
                <a:latin typeface="Cambria"/>
              </a:rPr>
              <a:t>L</a:t>
            </a:r>
            <a:r>
              <a:rPr sz="2300" b="0" i="0">
                <a:solidFill>
                  <a:srgbClr val="1C252B"/>
                </a:solidFill>
                <a:latin typeface="Segoe UI"/>
              </a:rPr>
              <a:t> is the loss, </a:t>
            </a:r>
            <a:r>
              <a:rPr sz="2300" b="0" i="0">
                <a:solidFill>
                  <a:srgbClr val="1C252B"/>
                </a:solidFill>
                <a:latin typeface="Cambria"/>
              </a:rPr>
              <a:t>∇ </a:t>
            </a:r>
            <a:r>
              <a:rPr sz="2300" b="0" i="1">
                <a:solidFill>
                  <a:srgbClr val="1C252B"/>
                </a:solidFill>
                <a:latin typeface="Cambria"/>
              </a:rPr>
              <a:t>L</a:t>
            </a:r>
            <a:r>
              <a:rPr sz="2300" b="0" i="0">
                <a:solidFill>
                  <a:srgbClr val="1C252B"/>
                </a:solidFill>
                <a:latin typeface="Segoe UI"/>
              </a:rPr>
              <a:t> is its gradient, and </a:t>
            </a:r>
            <a:r>
              <a:rPr sz="2300" b="0" i="0">
                <a:solidFill>
                  <a:srgbClr val="1C252B"/>
                </a:solidFill>
                <a:latin typeface="Cambria"/>
              </a:rPr>
              <a:t>α</a:t>
            </a:r>
            <a:r>
              <a:rPr sz="2300" b="0" i="0">
                <a:solidFill>
                  <a:srgbClr val="1C252B"/>
                </a:solidFill>
                <a:latin typeface="Segoe UI"/>
              </a:rPr>
              <a:t> is the </a:t>
            </a:r>
            <a:r>
              <a:rPr sz="2300" b="1" i="0">
                <a:solidFill>
                  <a:srgbClr val="1A5276"/>
                </a:solidFill>
                <a:latin typeface="Segoe UI"/>
              </a:rPr>
              <a:t>learning rate</a:t>
            </a:r>
            <a:r>
              <a:rPr sz="2300" b="0" i="0">
                <a:solidFill>
                  <a:srgbClr val="1C252B"/>
                </a:solidFill>
                <a:latin typeface="Segoe UI"/>
              </a:rPr>
              <a:t> — how big a step to take.</a:t>
            </a:r>
          </a:p>
        </p:txBody>
      </p:sp>
      <p:sp>
        <p:nvSpPr>
          <p:cNvPr id="1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pfill">
            <a:extLst>
              <a:ext uri="{C183D7F6-B498-43B3-948B-1728B52AA6E4}">
                <adec:decorative xmlns:adec="http://schemas.microsoft.com/office/drawing/2017/decorative" val="1"/>
              </a:ext>
            </a:extLst>
          </p:cNvPr>
          <p:cNvSpPr/>
          <p:nvPr/>
        </p:nvSpPr>
        <p:spPr>
          <a:xfrm>
            <a:off x="0" y="0"/>
            <a:ext cx="5515290"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Three Steps of Gradient Descent by Hand</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4  ·  The Mathematical Toolkit</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§4.4  ·  Handout p. 25     </a:t>
            </a:r>
            <a:fld id="{1D53104E-453C-43AB-B9FA-6E90EDBAB9AD}" type="slidenum">
              <a:rPr lang="en-GB" sz="1000">
                <a:solidFill>
                  <a:srgbClr val="8795A1"/>
                </a:solidFill>
                <a:latin typeface="Segoe UI"/>
              </a:rPr>
              <a:t>20</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417060"/>
          </a:xfrm>
          <a:prstGeom prst="roundRect">
            <a:avLst>
              <a:gd name="adj" fmla="val 2070"/>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417060"/>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362712"/>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Minimise </a:t>
            </a:r>
            <a:r>
              <a:rPr sz="2000" b="0" i="1">
                <a:solidFill>
                  <a:srgbClr val="1C252B"/>
                </a:solidFill>
                <a:latin typeface="Cambria"/>
              </a:rPr>
              <a:t>L</a:t>
            </a:r>
            <a:r>
              <a:rPr sz="2000" b="0" i="0">
                <a:solidFill>
                  <a:srgbClr val="1C252B"/>
                </a:solidFill>
                <a:latin typeface="Cambria"/>
              </a:rPr>
              <a:t>(</a:t>
            </a:r>
            <a:r>
              <a:rPr sz="2000" b="0" i="1">
                <a:solidFill>
                  <a:srgbClr val="1C252B"/>
                </a:solidFill>
                <a:latin typeface="Cambria"/>
              </a:rPr>
              <a:t>w</a:t>
            </a:r>
            <a:r>
              <a:rPr sz="2000" b="0" i="0">
                <a:solidFill>
                  <a:srgbClr val="1C252B"/>
                </a:solidFill>
                <a:latin typeface="Cambria"/>
              </a:rPr>
              <a:t>) = </a:t>
            </a:r>
            <a:r>
              <a:rPr sz="2000" b="0" i="1">
                <a:solidFill>
                  <a:srgbClr val="1C252B"/>
                </a:solidFill>
                <a:latin typeface="Cambria"/>
              </a:rPr>
              <a:t>w</a:t>
            </a:r>
            <a:r>
              <a:rPr sz="2000" b="0" i="0" baseline="30000">
                <a:solidFill>
                  <a:srgbClr val="1C252B"/>
                </a:solidFill>
                <a:latin typeface="Cambria"/>
              </a:rPr>
              <a:t>2</a:t>
            </a:r>
            <a:r>
              <a:rPr sz="2000" b="0" i="0">
                <a:solidFill>
                  <a:srgbClr val="1C252B"/>
                </a:solidFill>
                <a:latin typeface="Segoe UI"/>
              </a:rPr>
              <a:t>, starting at </a:t>
            </a:r>
            <a:r>
              <a:rPr sz="2000" b="0" i="1">
                <a:solidFill>
                  <a:srgbClr val="1C252B"/>
                </a:solidFill>
                <a:latin typeface="Cambria"/>
              </a:rPr>
              <a:t>w</a:t>
            </a:r>
            <a:r>
              <a:rPr sz="2000" b="0" i="0" baseline="-25000">
                <a:solidFill>
                  <a:srgbClr val="1C252B"/>
                </a:solidFill>
                <a:latin typeface="Cambria"/>
              </a:rPr>
              <a:t>0</a:t>
            </a:r>
            <a:r>
              <a:rPr sz="2000" b="0" i="0">
                <a:solidFill>
                  <a:srgbClr val="1C252B"/>
                </a:solidFill>
                <a:latin typeface="Cambria"/>
              </a:rPr>
              <a:t> = 3</a:t>
            </a:r>
            <a:r>
              <a:rPr sz="2000" b="0" i="0">
                <a:solidFill>
                  <a:srgbClr val="1C252B"/>
                </a:solidFill>
                <a:latin typeface="Segoe UI"/>
              </a:rPr>
              <a:t>, with learning rate </a:t>
            </a:r>
            <a:r>
              <a:rPr sz="2000" b="0" i="0">
                <a:solidFill>
                  <a:srgbClr val="1C252B"/>
                </a:solidFill>
                <a:latin typeface="Cambria"/>
              </a:rPr>
              <a:t>α = 0.3</a:t>
            </a:r>
            <a:r>
              <a:rPr sz="2000" b="0" i="0">
                <a:solidFill>
                  <a:srgbClr val="1C252B"/>
                </a:solidFill>
                <a:latin typeface="Segoe UI"/>
              </a:rPr>
              <a:t>. The gradient is </a:t>
            </a:r>
            <a:r>
              <a:rPr sz="2000" b="0" i="0">
                <a:solidFill>
                  <a:srgbClr val="1C252B"/>
                </a:solidFill>
                <a:latin typeface="Cambria"/>
              </a:rPr>
              <a:t>∇ </a:t>
            </a:r>
            <a:r>
              <a:rPr sz="2000" b="0" i="1">
                <a:solidFill>
                  <a:srgbClr val="1C252B"/>
                </a:solidFill>
                <a:latin typeface="Cambria"/>
              </a:rPr>
              <a:t>L</a:t>
            </a:r>
            <a:r>
              <a:rPr sz="2000" b="0" i="0">
                <a:solidFill>
                  <a:srgbClr val="1C252B"/>
                </a:solidFill>
                <a:latin typeface="Cambria"/>
              </a:rPr>
              <a:t> = 2</a:t>
            </a:r>
            <a:r>
              <a:rPr sz="2000" b="0" i="1">
                <a:solidFill>
                  <a:srgbClr val="1C252B"/>
                </a:solidFill>
                <a:latin typeface="Cambria"/>
              </a:rPr>
              <a:t>w</a:t>
            </a:r>
            <a:r>
              <a:rPr sz="2000" b="0" i="0">
                <a:solidFill>
                  <a:srgbClr val="1C252B"/>
                </a:solidFill>
                <a:latin typeface="Segoe UI"/>
              </a:rPr>
              <a:t>.</a:t>
            </a:r>
          </a:p>
        </p:txBody>
      </p:sp>
      <p:sp>
        <p:nvSpPr>
          <p:cNvPr id="10" name="body-1"/>
          <p:cNvSpPr txBox="1"/>
          <p:nvPr/>
        </p:nvSpPr>
        <p:spPr>
          <a:xfrm>
            <a:off x="1042416" y="2468371"/>
            <a:ext cx="10234879" cy="362712"/>
          </a:xfrm>
          <a:prstGeom prst="rect">
            <a:avLst/>
          </a:prstGeom>
          <a:noFill/>
        </p:spPr>
        <p:txBody>
          <a:bodyPr wrap="square" anchor="t" lIns="0" rIns="0" tIns="0" bIns="0">
            <a:noAutofit/>
          </a:bodyPr>
          <a:lstStyle/>
          <a:p>
            <a:pPr algn="l">
              <a:lnSpc>
                <a:spcPct val="104000"/>
              </a:lnSpc>
              <a:spcBef>
                <a:spcPts val="0"/>
              </a:spcBef>
              <a:spcAft>
                <a:spcPts val="0"/>
              </a:spcAft>
            </a:pPr>
            <a:r>
              <a:rPr sz="2000" b="1" i="0">
                <a:solidFill>
                  <a:srgbClr val="7D6608"/>
                </a:solidFill>
                <a:latin typeface="Segoe UI"/>
              </a:rPr>
              <a:t>Step 1.</a:t>
            </a:r>
            <a:r>
              <a:rPr sz="2000" b="0" i="0">
                <a:solidFill>
                  <a:srgbClr val="1C252B"/>
                </a:solidFill>
                <a:latin typeface="Segoe UI"/>
              </a:rPr>
              <a:t> </a:t>
            </a:r>
            <a:r>
              <a:rPr sz="2000" b="0" i="0">
                <a:solidFill>
                  <a:srgbClr val="1C252B"/>
                </a:solidFill>
                <a:latin typeface="Cambria"/>
              </a:rPr>
              <a:t>∇ </a:t>
            </a:r>
            <a:r>
              <a:rPr sz="2000" b="0" i="1">
                <a:solidFill>
                  <a:srgbClr val="1C252B"/>
                </a:solidFill>
                <a:latin typeface="Cambria"/>
              </a:rPr>
              <a:t>L</a:t>
            </a:r>
            <a:r>
              <a:rPr sz="2000" b="0" i="0">
                <a:solidFill>
                  <a:srgbClr val="1C252B"/>
                </a:solidFill>
                <a:latin typeface="Cambria"/>
              </a:rPr>
              <a:t>(3) = 6</a:t>
            </a:r>
            <a:r>
              <a:rPr sz="2000" b="0" i="0">
                <a:solidFill>
                  <a:srgbClr val="1C252B"/>
                </a:solidFill>
                <a:latin typeface="Segoe UI"/>
              </a:rPr>
              <a:t>. </a:t>
            </a:r>
            <a:r>
              <a:rPr sz="2000" b="0" i="1">
                <a:solidFill>
                  <a:srgbClr val="1C252B"/>
                </a:solidFill>
                <a:latin typeface="Cambria"/>
              </a:rPr>
              <a:t>w</a:t>
            </a:r>
            <a:r>
              <a:rPr sz="2000" b="0" i="0" baseline="-25000">
                <a:solidFill>
                  <a:srgbClr val="1C252B"/>
                </a:solidFill>
                <a:latin typeface="Cambria"/>
              </a:rPr>
              <a:t>1</a:t>
            </a:r>
            <a:r>
              <a:rPr sz="2000" b="0" i="0">
                <a:solidFill>
                  <a:srgbClr val="1C252B"/>
                </a:solidFill>
                <a:latin typeface="Cambria"/>
              </a:rPr>
              <a:t> = 3 − 0.3 × 6 = 3 − 1.8 = 1.2</a:t>
            </a:r>
            <a:r>
              <a:rPr sz="2000" b="0" i="0">
                <a:solidFill>
                  <a:srgbClr val="1C252B"/>
                </a:solidFill>
                <a:latin typeface="Segoe UI"/>
              </a:rPr>
              <a:t>. </a:t>
            </a:r>
            <a:r>
              <a:rPr sz="2000" b="0" i="1">
                <a:solidFill>
                  <a:srgbClr val="1C252B"/>
                </a:solidFill>
                <a:latin typeface="Cambria"/>
              </a:rPr>
              <a:t>L</a:t>
            </a:r>
            <a:r>
              <a:rPr sz="2000" b="0" i="0">
                <a:solidFill>
                  <a:srgbClr val="1C252B"/>
                </a:solidFill>
                <a:latin typeface="Cambria"/>
              </a:rPr>
              <a:t> = 1.44</a:t>
            </a:r>
            <a:r>
              <a:rPr sz="2000" b="0" i="0">
                <a:solidFill>
                  <a:srgbClr val="1C252B"/>
                </a:solidFill>
                <a:latin typeface="Segoe UI"/>
              </a:rPr>
              <a:t>.</a:t>
            </a:r>
          </a:p>
        </p:txBody>
      </p:sp>
      <p:sp>
        <p:nvSpPr>
          <p:cNvPr id="11" name="body-2"/>
          <p:cNvSpPr txBox="1"/>
          <p:nvPr/>
        </p:nvSpPr>
        <p:spPr>
          <a:xfrm>
            <a:off x="1042416" y="2925063"/>
            <a:ext cx="10234879" cy="362712"/>
          </a:xfrm>
          <a:prstGeom prst="rect">
            <a:avLst/>
          </a:prstGeom>
          <a:noFill/>
        </p:spPr>
        <p:txBody>
          <a:bodyPr wrap="square" anchor="t" lIns="0" rIns="0" tIns="0" bIns="0">
            <a:noAutofit/>
          </a:bodyPr>
          <a:lstStyle/>
          <a:p>
            <a:pPr algn="l">
              <a:lnSpc>
                <a:spcPct val="104000"/>
              </a:lnSpc>
              <a:spcBef>
                <a:spcPts val="0"/>
              </a:spcBef>
              <a:spcAft>
                <a:spcPts val="0"/>
              </a:spcAft>
            </a:pPr>
            <a:r>
              <a:rPr sz="2000" b="1" i="0">
                <a:solidFill>
                  <a:srgbClr val="7D6608"/>
                </a:solidFill>
                <a:latin typeface="Segoe UI"/>
              </a:rPr>
              <a:t>Step 2.</a:t>
            </a:r>
            <a:r>
              <a:rPr sz="2000" b="0" i="0">
                <a:solidFill>
                  <a:srgbClr val="1C252B"/>
                </a:solidFill>
                <a:latin typeface="Segoe UI"/>
              </a:rPr>
              <a:t> </a:t>
            </a:r>
            <a:r>
              <a:rPr sz="2000" b="0" i="0">
                <a:solidFill>
                  <a:srgbClr val="1C252B"/>
                </a:solidFill>
                <a:latin typeface="Cambria"/>
              </a:rPr>
              <a:t>∇ </a:t>
            </a:r>
            <a:r>
              <a:rPr sz="2000" b="0" i="1">
                <a:solidFill>
                  <a:srgbClr val="1C252B"/>
                </a:solidFill>
                <a:latin typeface="Cambria"/>
              </a:rPr>
              <a:t>L</a:t>
            </a:r>
            <a:r>
              <a:rPr sz="2000" b="0" i="0">
                <a:solidFill>
                  <a:srgbClr val="1C252B"/>
                </a:solidFill>
                <a:latin typeface="Cambria"/>
              </a:rPr>
              <a:t>(1.2) = 2.4</a:t>
            </a:r>
            <a:r>
              <a:rPr sz="2000" b="0" i="0">
                <a:solidFill>
                  <a:srgbClr val="1C252B"/>
                </a:solidFill>
                <a:latin typeface="Segoe UI"/>
              </a:rPr>
              <a:t>. </a:t>
            </a:r>
            <a:r>
              <a:rPr sz="2000" b="0" i="1">
                <a:solidFill>
                  <a:srgbClr val="1C252B"/>
                </a:solidFill>
                <a:latin typeface="Cambria"/>
              </a:rPr>
              <a:t>w</a:t>
            </a:r>
            <a:r>
              <a:rPr sz="2000" b="0" i="0" baseline="-25000">
                <a:solidFill>
                  <a:srgbClr val="1C252B"/>
                </a:solidFill>
                <a:latin typeface="Cambria"/>
              </a:rPr>
              <a:t>2</a:t>
            </a:r>
            <a:r>
              <a:rPr sz="2000" b="0" i="0">
                <a:solidFill>
                  <a:srgbClr val="1C252B"/>
                </a:solidFill>
                <a:latin typeface="Cambria"/>
              </a:rPr>
              <a:t> = 1.2 − 0.3 × 2.4 = 1.2 − 0.72 = 0.48</a:t>
            </a:r>
            <a:r>
              <a:rPr sz="2000" b="0" i="0">
                <a:solidFill>
                  <a:srgbClr val="1C252B"/>
                </a:solidFill>
                <a:latin typeface="Segoe UI"/>
              </a:rPr>
              <a:t>. </a:t>
            </a:r>
            <a:r>
              <a:rPr sz="2000" b="0" i="1">
                <a:solidFill>
                  <a:srgbClr val="1C252B"/>
                </a:solidFill>
                <a:latin typeface="Cambria"/>
              </a:rPr>
              <a:t>L</a:t>
            </a:r>
            <a:r>
              <a:rPr sz="2000" b="0" i="0">
                <a:solidFill>
                  <a:srgbClr val="1C252B"/>
                </a:solidFill>
                <a:latin typeface="Cambria"/>
              </a:rPr>
              <a:t> = 0.23</a:t>
            </a:r>
            <a:r>
              <a:rPr sz="2000" b="0" i="0">
                <a:solidFill>
                  <a:srgbClr val="1C252B"/>
                </a:solidFill>
                <a:latin typeface="Segoe UI"/>
              </a:rPr>
              <a:t>.</a:t>
            </a:r>
          </a:p>
        </p:txBody>
      </p:sp>
      <p:sp>
        <p:nvSpPr>
          <p:cNvPr id="12" name="body-3"/>
          <p:cNvSpPr txBox="1"/>
          <p:nvPr/>
        </p:nvSpPr>
        <p:spPr>
          <a:xfrm>
            <a:off x="1042416" y="3381755"/>
            <a:ext cx="10234879" cy="362712"/>
          </a:xfrm>
          <a:prstGeom prst="rect">
            <a:avLst/>
          </a:prstGeom>
          <a:noFill/>
        </p:spPr>
        <p:txBody>
          <a:bodyPr wrap="square" anchor="t" lIns="0" rIns="0" tIns="0" bIns="0">
            <a:noAutofit/>
          </a:bodyPr>
          <a:lstStyle/>
          <a:p>
            <a:pPr algn="l">
              <a:lnSpc>
                <a:spcPct val="104000"/>
              </a:lnSpc>
              <a:spcBef>
                <a:spcPts val="0"/>
              </a:spcBef>
              <a:spcAft>
                <a:spcPts val="0"/>
              </a:spcAft>
            </a:pPr>
            <a:r>
              <a:rPr sz="2000" b="1" i="0">
                <a:solidFill>
                  <a:srgbClr val="7D6608"/>
                </a:solidFill>
                <a:latin typeface="Segoe UI"/>
              </a:rPr>
              <a:t>Step 3.</a:t>
            </a:r>
            <a:r>
              <a:rPr sz="2000" b="0" i="0">
                <a:solidFill>
                  <a:srgbClr val="1C252B"/>
                </a:solidFill>
                <a:latin typeface="Segoe UI"/>
              </a:rPr>
              <a:t> </a:t>
            </a:r>
            <a:r>
              <a:rPr sz="2000" b="0" i="0">
                <a:solidFill>
                  <a:srgbClr val="1C252B"/>
                </a:solidFill>
                <a:latin typeface="Cambria"/>
              </a:rPr>
              <a:t>∇ </a:t>
            </a:r>
            <a:r>
              <a:rPr sz="2000" b="0" i="1">
                <a:solidFill>
                  <a:srgbClr val="1C252B"/>
                </a:solidFill>
                <a:latin typeface="Cambria"/>
              </a:rPr>
              <a:t>L</a:t>
            </a:r>
            <a:r>
              <a:rPr sz="2000" b="0" i="0">
                <a:solidFill>
                  <a:srgbClr val="1C252B"/>
                </a:solidFill>
                <a:latin typeface="Cambria"/>
              </a:rPr>
              <a:t>(0.48) = 0.96</a:t>
            </a:r>
            <a:r>
              <a:rPr sz="2000" b="0" i="0">
                <a:solidFill>
                  <a:srgbClr val="1C252B"/>
                </a:solidFill>
                <a:latin typeface="Segoe UI"/>
              </a:rPr>
              <a:t>. </a:t>
            </a:r>
            <a:r>
              <a:rPr sz="2000" b="0" i="1">
                <a:solidFill>
                  <a:srgbClr val="1C252B"/>
                </a:solidFill>
                <a:latin typeface="Cambria"/>
              </a:rPr>
              <a:t>w</a:t>
            </a:r>
            <a:r>
              <a:rPr sz="2000" b="0" i="0" baseline="-25000">
                <a:solidFill>
                  <a:srgbClr val="1C252B"/>
                </a:solidFill>
                <a:latin typeface="Cambria"/>
              </a:rPr>
              <a:t>3</a:t>
            </a:r>
            <a:r>
              <a:rPr sz="2000" b="0" i="0">
                <a:solidFill>
                  <a:srgbClr val="1C252B"/>
                </a:solidFill>
                <a:latin typeface="Cambria"/>
              </a:rPr>
              <a:t> = 0.48 − 0.3 × 0.96 = 0.48 − 0.288 = 0.192</a:t>
            </a:r>
            <a:r>
              <a:rPr sz="2000" b="0" i="0">
                <a:solidFill>
                  <a:srgbClr val="1C252B"/>
                </a:solidFill>
                <a:latin typeface="Segoe UI"/>
              </a:rPr>
              <a:t>. </a:t>
            </a:r>
            <a:r>
              <a:rPr sz="2000" b="0" i="1">
                <a:solidFill>
                  <a:srgbClr val="1C252B"/>
                </a:solidFill>
                <a:latin typeface="Cambria"/>
              </a:rPr>
              <a:t>L</a:t>
            </a:r>
            <a:r>
              <a:rPr sz="2000" b="0" i="0">
                <a:solidFill>
                  <a:srgbClr val="1C252B"/>
                </a:solidFill>
                <a:latin typeface="Cambria"/>
              </a:rPr>
              <a:t> = 0.037</a:t>
            </a:r>
            <a:r>
              <a:rPr sz="2000" b="0" i="0">
                <a:solidFill>
                  <a:srgbClr val="1C252B"/>
                </a:solidFill>
                <a:latin typeface="Segoe UI"/>
              </a:rPr>
              <a:t>.</a:t>
            </a:r>
          </a:p>
        </p:txBody>
      </p:sp>
      <p:sp>
        <p:nvSpPr>
          <p:cNvPr id="13" name="body-4"/>
          <p:cNvSpPr txBox="1"/>
          <p:nvPr/>
        </p:nvSpPr>
        <p:spPr>
          <a:xfrm>
            <a:off x="1042416" y="3838448"/>
            <a:ext cx="10234879" cy="996696"/>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The loss fell from </a:t>
            </a:r>
            <a:r>
              <a:rPr sz="2000" b="0" i="0">
                <a:solidFill>
                  <a:srgbClr val="1C252B"/>
                </a:solidFill>
                <a:latin typeface="Cambria"/>
              </a:rPr>
              <a:t>9</a:t>
            </a:r>
            <a:r>
              <a:rPr sz="2000" b="0" i="0">
                <a:solidFill>
                  <a:srgbClr val="1C252B"/>
                </a:solidFill>
                <a:latin typeface="Segoe UI"/>
              </a:rPr>
              <a:t> to </a:t>
            </a:r>
            <a:r>
              <a:rPr sz="2000" b="0" i="0">
                <a:solidFill>
                  <a:srgbClr val="1C252B"/>
                </a:solidFill>
                <a:latin typeface="Cambria"/>
              </a:rPr>
              <a:t>0.037</a:t>
            </a:r>
            <a:r>
              <a:rPr sz="2000" b="0" i="0">
                <a:solidFill>
                  <a:srgbClr val="1C252B"/>
                </a:solidFill>
                <a:latin typeface="Segoe UI"/>
              </a:rPr>
              <a:t> in three steps, and </a:t>
            </a:r>
            <a:r>
              <a:rPr sz="2000" b="0" i="1">
                <a:solidFill>
                  <a:srgbClr val="1C252B"/>
                </a:solidFill>
                <a:latin typeface="Cambria"/>
              </a:rPr>
              <a:t>w</a:t>
            </a:r>
            <a:r>
              <a:rPr sz="2000" b="0" i="0">
                <a:solidFill>
                  <a:srgbClr val="1C252B"/>
                </a:solidFill>
                <a:latin typeface="Segoe UI"/>
              </a:rPr>
              <a:t> is converging on the true minimum at </a:t>
            </a:r>
            <a:r>
              <a:rPr sz="2000" b="0" i="0">
                <a:solidFill>
                  <a:srgbClr val="1C252B"/>
                </a:solidFill>
                <a:latin typeface="Cambria"/>
              </a:rPr>
              <a:t>0</a:t>
            </a:r>
            <a:r>
              <a:rPr sz="2000" b="0" i="0">
                <a:solidFill>
                  <a:srgbClr val="1C252B"/>
                </a:solidFill>
                <a:latin typeface="Segoe UI"/>
              </a:rPr>
              <a:t>. Notice the steps get smaller automatically: near the minimum the gradient is small, so the algorithm slows down as it arrives. Nobody had to program that.</a:t>
            </a:r>
          </a:p>
        </p:txBody>
      </p:sp>
      <p:sp>
        <p:nvSpPr>
          <p:cNvPr id="14" name="body-5"/>
          <p:cNvSpPr txBox="1"/>
          <p:nvPr/>
        </p:nvSpPr>
        <p:spPr>
          <a:xfrm>
            <a:off x="1042416" y="4929124"/>
            <a:ext cx="10234879" cy="996696"/>
          </a:xfrm>
          <a:prstGeom prst="rect">
            <a:avLst/>
          </a:prstGeom>
          <a:noFill/>
        </p:spPr>
        <p:txBody>
          <a:bodyPr wrap="square" anchor="t" lIns="0" rIns="0" tIns="0" bIns="0">
            <a:noAutofit/>
          </a:bodyPr>
          <a:lstStyle/>
          <a:p>
            <a:pPr algn="l">
              <a:lnSpc>
                <a:spcPct val="104000"/>
              </a:lnSpc>
              <a:spcBef>
                <a:spcPts val="0"/>
              </a:spcBef>
              <a:spcAft>
                <a:spcPts val="0"/>
              </a:spcAft>
            </a:pPr>
            <a:r>
              <a:rPr sz="2000" b="1" i="0">
                <a:solidFill>
                  <a:srgbClr val="7D6608"/>
                </a:solidFill>
                <a:latin typeface="Segoe UI"/>
              </a:rPr>
              <a:t>Now try </a:t>
            </a:r>
            <a:r>
              <a:rPr sz="2000" b="1" i="0">
                <a:solidFill>
                  <a:srgbClr val="1C252B"/>
                </a:solidFill>
                <a:latin typeface="Cambria"/>
              </a:rPr>
              <a:t>α = 1.2</a:t>
            </a:r>
            <a:r>
              <a:rPr sz="2000" b="1" i="0">
                <a:solidFill>
                  <a:srgbClr val="1C252B"/>
                </a:solidFill>
                <a:latin typeface="Segoe UI"/>
              </a:rPr>
              <a:t>.</a:t>
            </a:r>
            <a:r>
              <a:rPr sz="2000" b="0" i="0">
                <a:solidFill>
                  <a:srgbClr val="1C252B"/>
                </a:solidFill>
                <a:latin typeface="Segoe UI"/>
              </a:rPr>
              <a:t> </a:t>
            </a:r>
            <a:r>
              <a:rPr sz="2000" b="0" i="1">
                <a:solidFill>
                  <a:srgbClr val="1C252B"/>
                </a:solidFill>
                <a:latin typeface="Cambria"/>
              </a:rPr>
              <a:t>w</a:t>
            </a:r>
            <a:r>
              <a:rPr sz="2000" b="0" i="0" baseline="-25000">
                <a:solidFill>
                  <a:srgbClr val="1C252B"/>
                </a:solidFill>
                <a:latin typeface="Cambria"/>
              </a:rPr>
              <a:t>1</a:t>
            </a:r>
            <a:r>
              <a:rPr sz="2000" b="0" i="0">
                <a:solidFill>
                  <a:srgbClr val="1C252B"/>
                </a:solidFill>
                <a:latin typeface="Cambria"/>
              </a:rPr>
              <a:t> = 3 − 1.2 × 6 = −4.2</a:t>
            </a:r>
            <a:r>
              <a:rPr sz="2000" b="0" i="0">
                <a:solidFill>
                  <a:srgbClr val="1C252B"/>
                </a:solidFill>
                <a:latin typeface="Segoe UI"/>
              </a:rPr>
              <a:t>; </a:t>
            </a:r>
            <a:r>
              <a:rPr sz="2000" b="0" i="1">
                <a:solidFill>
                  <a:srgbClr val="1C252B"/>
                </a:solidFill>
                <a:latin typeface="Cambria"/>
              </a:rPr>
              <a:t>w</a:t>
            </a:r>
            <a:r>
              <a:rPr sz="2000" b="0" i="0" baseline="-25000">
                <a:solidFill>
                  <a:srgbClr val="1C252B"/>
                </a:solidFill>
                <a:latin typeface="Cambria"/>
              </a:rPr>
              <a:t>2</a:t>
            </a:r>
            <a:r>
              <a:rPr sz="2000" b="0" i="0">
                <a:solidFill>
                  <a:srgbClr val="1C252B"/>
                </a:solidFill>
                <a:latin typeface="Cambria"/>
              </a:rPr>
              <a:t> = −4.2 − 1.2×(−8.4) = 5.88</a:t>
            </a:r>
            <a:r>
              <a:rPr sz="2000" b="0" i="0">
                <a:solidFill>
                  <a:srgbClr val="1C252B"/>
                </a:solidFill>
                <a:latin typeface="Segoe UI"/>
              </a:rPr>
              <a:t>. The loss is </a:t>
            </a:r>
            <a:r>
              <a:rPr sz="2000" b="0" i="1">
                <a:solidFill>
                  <a:srgbClr val="1C252B"/>
                </a:solidFill>
                <a:latin typeface="Segoe UI"/>
              </a:rPr>
              <a:t>rising</a:t>
            </a:r>
            <a:r>
              <a:rPr sz="2000" b="0" i="0">
                <a:solidFill>
                  <a:srgbClr val="1C252B"/>
                </a:solidFill>
                <a:latin typeface="Segoe UI"/>
              </a:rPr>
              <a:t>. Too large a learning rate overshoots and diverges — which is the subject of the next figure.</a:t>
            </a:r>
          </a:p>
        </p:txBody>
      </p:sp>
      <p:sp>
        <p:nvSpPr>
          <p:cNvPr id="2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pfill">
            <a:extLst>
              <a:ext uri="{C183D7F6-B498-43B3-948B-1728B52AA6E4}">
                <adec:decorative xmlns:adec="http://schemas.microsoft.com/office/drawing/2017/decorative" val="1"/>
              </a:ext>
            </a:extLst>
          </p:cNvPr>
          <p:cNvSpPr/>
          <p:nvPr/>
        </p:nvSpPr>
        <p:spPr>
          <a:xfrm>
            <a:off x="0" y="0"/>
            <a:ext cx="5805569"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wipe(right)">
                                      <p:cBhvr>
                                        <p:cTn id="8" dur="420"/>
                                        <p:tgtEl>
                                          <p:spTgt spid="10"/>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right)">
                                      <p:cBhvr>
                                        <p:cTn id="13" dur="42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wipe(right)">
                                      <p:cBhvr>
                                        <p:cTn id="18" dur="420"/>
                                        <p:tgtEl>
                                          <p:spTgt spid="12"/>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wipe(right)">
                                      <p:cBhvr>
                                        <p:cTn id="23" dur="420"/>
                                        <p:tgtEl>
                                          <p:spTgt spid="13"/>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wipe(right)">
                                      <p:cBhvr>
                                        <p:cTn id="28" dur="42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learning rate is the single most important hyperparameter you will tune</a:t>
            </a:r>
          </a:p>
        </p:txBody>
      </p:sp>
      <p:sp>
        <p:nvSpPr>
          <p:cNvPr id="3" name="!!kicker"/>
          <p:cNvSpPr txBox="1"/>
          <p:nvPr/>
        </p:nvSpPr>
        <p:spPr>
          <a:xfrm>
            <a:off x="658368" y="402336"/>
            <a:ext cx="10874959"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FIGURE 4.3</a:t>
            </a:r>
          </a:p>
        </p:txBody>
      </p:sp>
      <p:sp>
        <p:nvSpPr>
          <p:cNvPr id="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4  ·  The Mathematical Toolkit</a:t>
            </a:r>
          </a:p>
        </p:txBody>
      </p:sp>
      <p:sp>
        <p:nvSpPr>
          <p:cNvPr id="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§4.4  ·  Handout p. 25     </a:t>
            </a:r>
            <a:fld id="{94E6F72A-F08D-4815-B62A-FAAF16CC55B2}" type="slidenum">
              <a:rPr lang="en-GB" sz="1000">
                <a:solidFill>
                  <a:srgbClr val="8795A1"/>
                </a:solidFill>
                <a:latin typeface="Segoe UI"/>
              </a:rPr>
              <a:t>21</a:t>
            </a:fld>
          </a:p>
        </p:txBody>
      </p:sp>
      <p:pic>
        <p:nvPicPr>
          <p:cNvPr id="6" name="!!figure" descr="Figure 4.3. The learning rate is the single most important hyperparameter you will tune. Too small wastes compute; too large diverges. Chapter 17 returns to this with real training curves."/>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861466"/>
            <a:ext cx="10874959" cy="3300766"/>
          </a:xfrm>
          <a:prstGeom prst="rect">
            <a:avLst/>
          </a:prstGeom>
        </p:spPr>
      </p:pic>
      <p:sp>
        <p:nvSpPr>
          <p:cNvPr id="7" name="!!takebar">
            <a:extLst>
              <a:ext uri="{C183D7F6-B498-43B3-948B-1728B52AA6E4}">
                <adec:decorative xmlns:adec="http://schemas.microsoft.com/office/drawing/2017/decorative" val="1"/>
              </a:ext>
            </a:extLst>
          </p:cNvPr>
          <p:cNvSpPr/>
          <p:nvPr/>
        </p:nvSpPr>
        <p:spPr>
          <a:xfrm>
            <a:off x="658368" y="5930188"/>
            <a:ext cx="54864" cy="306019"/>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ake"/>
          <p:cNvSpPr txBox="1"/>
          <p:nvPr/>
        </p:nvSpPr>
        <p:spPr>
          <a:xfrm>
            <a:off x="877824" y="5911900"/>
            <a:ext cx="10600639" cy="488899"/>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3E4C57"/>
                </a:solidFill>
                <a:latin typeface="Segoe UI"/>
              </a:rPr>
              <a:t>Too small wastes compute; too large diverges. Chapter 17 returns to this with real training curves.</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6095847"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Common pitfalls</a:t>
            </a:r>
          </a:p>
        </p:txBody>
      </p:sp>
      <p:pic>
        <p:nvPicPr>
          <p:cNvPr id="3" name="!!kicker-icon" descr="exclamation-circle-E74C3C.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2672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E74C3C"/>
                </a:solidFill>
                <a:latin typeface="Segoe UI"/>
              </a:rPr>
              <a:t>COMMON PITFALLS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4  ·  The Mathematical Toolkit</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§4.4  ·  Handout p. 25     </a:t>
            </a:r>
            <a:fld id="{4A83C299-F051-45D1-AFD9-402C63F606B4}" type="slidenum">
              <a:rPr lang="en-GB" sz="1000">
                <a:solidFill>
                  <a:srgbClr val="8795A1"/>
                </a:solidFill>
                <a:latin typeface="Segoe UI"/>
              </a:rPr>
              <a:t>22</a:t>
            </a:fld>
          </a:p>
        </p:txBody>
      </p:sp>
      <p:sp>
        <p:nvSpPr>
          <p:cNvPr id="7" name="!!pb0">
            <a:extLst>
              <a:ext uri="{C183D7F6-B498-43B3-948B-1728B52AA6E4}">
                <adec:decorative xmlns:adec="http://schemas.microsoft.com/office/drawing/2017/decorative" val="1"/>
              </a:ext>
            </a:extLst>
          </p:cNvPr>
          <p:cNvSpPr/>
          <p:nvPr/>
        </p:nvSpPr>
        <p:spPr>
          <a:xfrm>
            <a:off x="658368" y="1755648"/>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px0"/>
          <p:cNvSpPr txBox="1"/>
          <p:nvPr/>
        </p:nvSpPr>
        <p:spPr>
          <a:xfrm>
            <a:off x="658368" y="1778507"/>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9" name="!!pt0"/>
          <p:cNvSpPr txBox="1"/>
          <p:nvPr/>
        </p:nvSpPr>
        <p:spPr>
          <a:xfrm>
            <a:off x="1261872" y="1737360"/>
            <a:ext cx="10271455"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A93226"/>
                </a:solidFill>
                <a:latin typeface="Segoe UI"/>
              </a:rPr>
              <a:t>Computing distances on unscaled features.</a:t>
            </a:r>
            <a:r>
              <a:rPr sz="2100" b="0" i="0">
                <a:solidFill>
                  <a:srgbClr val="1C252B"/>
                </a:solidFill>
                <a:latin typeface="Segoe UI"/>
              </a:rPr>
              <a:t> The feature with the biggest numeric range silently becomes the only feature that matters.</a:t>
            </a:r>
          </a:p>
        </p:txBody>
      </p:sp>
      <p:sp>
        <p:nvSpPr>
          <p:cNvPr id="10" name="!!pb1">
            <a:extLst>
              <a:ext uri="{C183D7F6-B498-43B3-948B-1728B52AA6E4}">
                <adec:decorative xmlns:adec="http://schemas.microsoft.com/office/drawing/2017/decorative" val="1"/>
              </a:ext>
            </a:extLst>
          </p:cNvPr>
          <p:cNvSpPr/>
          <p:nvPr/>
        </p:nvSpPr>
        <p:spPr>
          <a:xfrm>
            <a:off x="658368" y="2622499"/>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x1"/>
          <p:cNvSpPr txBox="1"/>
          <p:nvPr/>
        </p:nvSpPr>
        <p:spPr>
          <a:xfrm>
            <a:off x="658368" y="2645359"/>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2" name="!!pt1"/>
          <p:cNvSpPr txBox="1"/>
          <p:nvPr/>
        </p:nvSpPr>
        <p:spPr>
          <a:xfrm>
            <a:off x="1261872" y="2604211"/>
            <a:ext cx="10271455" cy="998524"/>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A93226"/>
                </a:solidFill>
                <a:latin typeface="Segoe UI"/>
              </a:rPr>
              <a:t>Assuming a zero gradient means the best answer.</a:t>
            </a:r>
            <a:r>
              <a:rPr sz="2100" b="0" i="0">
                <a:solidFill>
                  <a:srgbClr val="1C252B"/>
                </a:solidFill>
                <a:latin typeface="Segoe UI"/>
              </a:rPr>
              <a:t> It means </a:t>
            </a:r>
            <a:r>
              <a:rPr sz="2100" b="0" i="1">
                <a:solidFill>
                  <a:srgbClr val="1C252B"/>
                </a:solidFill>
                <a:latin typeface="Segoe UI"/>
              </a:rPr>
              <a:t>flat</a:t>
            </a:r>
            <a:r>
              <a:rPr sz="2100" b="0" i="0">
                <a:solidFill>
                  <a:srgbClr val="1C252B"/>
                </a:solidFill>
                <a:latin typeface="Segoe UI"/>
              </a:rPr>
              <a:t>. For the bowl-shaped losses of Chapter 12 that is the global minimum; for the neural networks of Chapter 17 it need not be.</a:t>
            </a:r>
          </a:p>
        </p:txBody>
      </p:sp>
      <p:sp>
        <p:nvSpPr>
          <p:cNvPr id="13" name="!!pb2">
            <a:extLst>
              <a:ext uri="{C183D7F6-B498-43B3-948B-1728B52AA6E4}">
                <adec:decorative xmlns:adec="http://schemas.microsoft.com/office/drawing/2017/decorative" val="1"/>
              </a:ext>
            </a:extLst>
          </p:cNvPr>
          <p:cNvSpPr/>
          <p:nvPr/>
        </p:nvSpPr>
        <p:spPr>
          <a:xfrm>
            <a:off x="658368" y="3822191"/>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px2"/>
          <p:cNvSpPr txBox="1"/>
          <p:nvPr/>
        </p:nvSpPr>
        <p:spPr>
          <a:xfrm>
            <a:off x="658368" y="3845052"/>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5" name="!!pt2"/>
          <p:cNvSpPr txBox="1"/>
          <p:nvPr/>
        </p:nvSpPr>
        <p:spPr>
          <a:xfrm>
            <a:off x="1261872" y="3803904"/>
            <a:ext cx="10271455" cy="365760"/>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A93226"/>
                </a:solidFill>
                <a:latin typeface="Segoe UI"/>
              </a:rPr>
              <a:t>Treating the learning rate as unimportant.</a:t>
            </a:r>
            <a:r>
              <a:rPr sz="2100" b="0" i="0">
                <a:solidFill>
                  <a:srgbClr val="1C252B"/>
                </a:solidFill>
                <a:latin typeface="Segoe UI"/>
              </a:rPr>
              <a:t> It decides whether training works at all.</a:t>
            </a:r>
          </a:p>
        </p:txBody>
      </p:sp>
      <p:sp>
        <p:nvSpPr>
          <p:cNvPr id="37"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pfill">
            <a:extLst>
              <a:ext uri="{C183D7F6-B498-43B3-948B-1728B52AA6E4}">
                <adec:decorative xmlns:adec="http://schemas.microsoft.com/office/drawing/2017/decorative" val="1"/>
              </a:ext>
            </a:extLst>
          </p:cNvPr>
          <p:cNvSpPr/>
          <p:nvPr/>
        </p:nvSpPr>
        <p:spPr>
          <a:xfrm>
            <a:off x="0" y="0"/>
            <a:ext cx="6386126"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26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60"/>
                                        <p:tgtEl>
                                          <p:spTgt spid="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right)">
                                      <p:cBhvr>
                                        <p:cTn id="14" dur="4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zoom(in)">
                                      <p:cBhvr>
                                        <p:cTn id="19" dur="26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260"/>
                                        <p:tgtEl>
                                          <p:spTgt spid="11"/>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ipe(right)">
                                      <p:cBhvr>
                                        <p:cTn id="25" dur="400"/>
                                        <p:tgtEl>
                                          <p:spTgt spid="12"/>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zoom(in)">
                                      <p:cBhvr>
                                        <p:cTn id="30" dur="26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260"/>
                                        <p:tgtEl>
                                          <p:spTgt spid="14"/>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wipe(right)">
                                      <p:cBhvr>
                                        <p:cTn id="36" dur="4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Four lenses: Vectors, Distance and Optimisation</a:t>
            </a:r>
          </a:p>
        </p:txBody>
      </p:sp>
      <p:pic>
        <p:nvPicPr>
          <p:cNvPr id="3" name="!!kicker-icon" descr="compass-123953.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23953"/>
                </a:solidFill>
                <a:latin typeface="Segoe UI"/>
              </a:rPr>
              <a:t>FOUR LENSES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4  ·  The Mathematical Toolkit</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28     </a:t>
            </a:r>
            <a:fld id="{96FD470C-ED68-4B32-A990-07B26EB48B67}" type="slidenum">
              <a:rPr lang="en-GB" sz="1000">
                <a:solidFill>
                  <a:srgbClr val="8795A1"/>
                </a:solidFill>
                <a:latin typeface="Segoe UI"/>
              </a:rPr>
              <a:t>23</a:t>
            </a:fld>
          </a:p>
        </p:txBody>
      </p:sp>
      <p:sp>
        <p:nvSpPr>
          <p:cNvPr id="7" name="!!lens-LA">
            <a:extLst>
              <a:ext uri="{C183D7F6-B498-43B3-948B-1728B52AA6E4}">
                <adec:decorative xmlns:adec="http://schemas.microsoft.com/office/drawing/2017/decorative" val="1"/>
              </a:ext>
            </a:extLst>
          </p:cNvPr>
          <p:cNvSpPr/>
          <p:nvPr/>
        </p:nvSpPr>
        <p:spPr>
          <a:xfrm>
            <a:off x="658368" y="1737360"/>
            <a:ext cx="5318607" cy="2176272"/>
          </a:xfrm>
          <a:prstGeom prst="roundRect">
            <a:avLst>
              <a:gd name="adj" fmla="val 4201"/>
            </a:avLst>
          </a:prstGeom>
          <a:solidFill>
            <a:srgbClr val="F6F3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lensh-LA">
            <a:extLst>
              <a:ext uri="{C183D7F6-B498-43B3-948B-1728B52AA6E4}">
                <adec:decorative xmlns:adec="http://schemas.microsoft.com/office/drawing/2017/decorative" val="1"/>
              </a:ext>
            </a:extLst>
          </p:cNvPr>
          <p:cNvSpPr/>
          <p:nvPr/>
        </p:nvSpPr>
        <p:spPr>
          <a:xfrm>
            <a:off x="658368" y="1737360"/>
            <a:ext cx="5318607" cy="493776"/>
          </a:xfrm>
          <a:prstGeom prst="roundRect">
            <a:avLst>
              <a:gd name="adj" fmla="val 18518"/>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ensh2-LA">
            <a:extLst>
              <a:ext uri="{C183D7F6-B498-43B3-948B-1728B52AA6E4}">
                <adec:decorative xmlns:adec="http://schemas.microsoft.com/office/drawing/2017/decorative" val="1"/>
              </a:ext>
            </a:extLst>
          </p:cNvPr>
          <p:cNvSpPr/>
          <p:nvPr/>
        </p:nvSpPr>
        <p:spPr>
          <a:xfrm>
            <a:off x="658368" y="2121408"/>
            <a:ext cx="5318607" cy="109728"/>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0" name="!!lensi-LA" descr="graduation-cap-FFFFFF.png">
            <a:extLs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59536" y="1856231"/>
            <a:ext cx="419498" cy="256032"/>
          </a:xfrm>
          <a:prstGeom prst="rect">
            <a:avLst/>
          </a:prstGeom>
        </p:spPr>
      </p:pic>
      <p:sp>
        <p:nvSpPr>
          <p:cNvPr id="11" name="!!lensn-LA"/>
          <p:cNvSpPr txBox="1"/>
          <p:nvPr/>
        </p:nvSpPr>
        <p:spPr>
          <a:xfrm>
            <a:off x="1425337" y="1837943"/>
            <a:ext cx="4460197"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LEARNING ANALYTICS</a:t>
            </a:r>
          </a:p>
        </p:txBody>
      </p:sp>
      <p:sp>
        <p:nvSpPr>
          <p:cNvPr id="12" name="!!lensb-LA-0"/>
          <p:cNvSpPr txBox="1"/>
          <p:nvPr/>
        </p:nvSpPr>
        <p:spPr>
          <a:xfrm>
            <a:off x="896112" y="2414016"/>
            <a:ext cx="4861407" cy="1408175"/>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Each student becomes a vector of engagement features.</a:t>
            </a:r>
          </a:p>
        </p:txBody>
      </p:sp>
      <p:sp>
        <p:nvSpPr>
          <p:cNvPr id="13" name="!!lens-PM">
            <a:extLst>
              <a:ext uri="{C183D7F6-B498-43B3-948B-1728B52AA6E4}">
                <adec:decorative xmlns:adec="http://schemas.microsoft.com/office/drawing/2017/decorative" val="1"/>
              </a:ext>
            </a:extLst>
          </p:cNvPr>
          <p:cNvSpPr/>
          <p:nvPr/>
        </p:nvSpPr>
        <p:spPr>
          <a:xfrm>
            <a:off x="6214719" y="1737360"/>
            <a:ext cx="5318607" cy="2176272"/>
          </a:xfrm>
          <a:prstGeom prst="roundRect">
            <a:avLst>
              <a:gd name="adj" fmla="val 4201"/>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lensh-PM">
            <a:extLst>
              <a:ext uri="{C183D7F6-B498-43B3-948B-1728B52AA6E4}">
                <adec:decorative xmlns:adec="http://schemas.microsoft.com/office/drawing/2017/decorative" val="1"/>
              </a:ext>
            </a:extLst>
          </p:cNvPr>
          <p:cNvSpPr/>
          <p:nvPr/>
        </p:nvSpPr>
        <p:spPr>
          <a:xfrm>
            <a:off x="6214719" y="1737360"/>
            <a:ext cx="5318607" cy="493776"/>
          </a:xfrm>
          <a:prstGeom prst="roundRect">
            <a:avLst>
              <a:gd name="adj" fmla="val 18518"/>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lensh2-PM">
            <a:extLst>
              <a:ext uri="{C183D7F6-B498-43B3-948B-1728B52AA6E4}">
                <adec:decorative xmlns:adec="http://schemas.microsoft.com/office/drawing/2017/decorative" val="1"/>
              </a:ext>
            </a:extLst>
          </p:cNvPr>
          <p:cNvSpPr/>
          <p:nvPr/>
        </p:nvSpPr>
        <p:spPr>
          <a:xfrm>
            <a:off x="6214719" y="2121408"/>
            <a:ext cx="5318607" cy="10972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6" name="!!lensi-PM" descr="tasks-FFFFFF.png">
            <a:extLs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415887" y="1856231"/>
            <a:ext cx="301783" cy="256032"/>
          </a:xfrm>
          <a:prstGeom prst="rect">
            <a:avLst/>
          </a:prstGeom>
        </p:spPr>
      </p:pic>
      <p:sp>
        <p:nvSpPr>
          <p:cNvPr id="17" name="!!lensn-PM"/>
          <p:cNvSpPr txBox="1"/>
          <p:nvPr/>
        </p:nvSpPr>
        <p:spPr>
          <a:xfrm>
            <a:off x="6863974" y="1837943"/>
            <a:ext cx="4577912"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PROJECT MANAGEMENT</a:t>
            </a:r>
          </a:p>
        </p:txBody>
      </p:sp>
      <p:sp>
        <p:nvSpPr>
          <p:cNvPr id="18" name="!!lensb-PM-0"/>
          <p:cNvSpPr txBox="1"/>
          <p:nvPr/>
        </p:nvSpPr>
        <p:spPr>
          <a:xfrm>
            <a:off x="6452463" y="2414016"/>
            <a:ext cx="4861407" cy="1408175"/>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Each completed task becomes a vector (estimated hours, actual hours, number of dependencies, team size).</a:t>
            </a:r>
          </a:p>
        </p:txBody>
      </p:sp>
      <p:sp>
        <p:nvSpPr>
          <p:cNvPr id="19" name="!!lens-IOT">
            <a:extLst>
              <a:ext uri="{C183D7F6-B498-43B3-948B-1728B52AA6E4}">
                <adec:decorative xmlns:adec="http://schemas.microsoft.com/office/drawing/2017/decorative" val="1"/>
              </a:ext>
            </a:extLst>
          </p:cNvPr>
          <p:cNvSpPr/>
          <p:nvPr/>
        </p:nvSpPr>
        <p:spPr>
          <a:xfrm>
            <a:off x="658368" y="4133087"/>
            <a:ext cx="5318607" cy="2176272"/>
          </a:xfrm>
          <a:prstGeom prst="roundRect">
            <a:avLst>
              <a:gd name="adj" fmla="val 4201"/>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lensh-IOT">
            <a:extLst>
              <a:ext uri="{C183D7F6-B498-43B3-948B-1728B52AA6E4}">
                <adec:decorative xmlns:adec="http://schemas.microsoft.com/office/drawing/2017/decorative" val="1"/>
              </a:ext>
            </a:extLst>
          </p:cNvPr>
          <p:cNvSpPr/>
          <p:nvPr/>
        </p:nvSpPr>
        <p:spPr>
          <a:xfrm>
            <a:off x="658368" y="4133087"/>
            <a:ext cx="5318607" cy="493776"/>
          </a:xfrm>
          <a:prstGeom prst="roundRect">
            <a:avLst>
              <a:gd name="adj" fmla="val 18518"/>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lensh2-IOT">
            <a:extLst>
              <a:ext uri="{C183D7F6-B498-43B3-948B-1728B52AA6E4}">
                <adec:decorative xmlns:adec="http://schemas.microsoft.com/office/drawing/2017/decorative" val="1"/>
              </a:ext>
            </a:extLst>
          </p:cNvPr>
          <p:cNvSpPr/>
          <p:nvPr/>
        </p:nvSpPr>
        <p:spPr>
          <a:xfrm>
            <a:off x="658368" y="4517136"/>
            <a:ext cx="5318607" cy="10972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2" name="!!lensi-IOT" descr="microchip-FFFFFF.png">
            <a:extLs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859536" y="4251959"/>
            <a:ext cx="256032" cy="256032"/>
          </a:xfrm>
          <a:prstGeom prst="rect">
            <a:avLst/>
          </a:prstGeom>
        </p:spPr>
      </p:pic>
      <p:sp>
        <p:nvSpPr>
          <p:cNvPr id="23" name="!!lensn-IOT"/>
          <p:cNvSpPr txBox="1"/>
          <p:nvPr/>
        </p:nvSpPr>
        <p:spPr>
          <a:xfrm>
            <a:off x="1261872" y="4233672"/>
            <a:ext cx="4623663"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INTERNET OF THINGS</a:t>
            </a:r>
          </a:p>
        </p:txBody>
      </p:sp>
      <p:sp>
        <p:nvSpPr>
          <p:cNvPr id="24" name="!!lensb-IOT-0"/>
          <p:cNvSpPr txBox="1"/>
          <p:nvPr/>
        </p:nvSpPr>
        <p:spPr>
          <a:xfrm>
            <a:off x="896112" y="4809744"/>
            <a:ext cx="4861407" cy="1408175"/>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A one-minute window of sensor readings becomes a vector.</a:t>
            </a:r>
          </a:p>
        </p:txBody>
      </p:sp>
      <p:sp>
        <p:nvSpPr>
          <p:cNvPr id="25" name="!!lens-SEC">
            <a:extLst>
              <a:ext uri="{C183D7F6-B498-43B3-948B-1728B52AA6E4}">
                <adec:decorative xmlns:adec="http://schemas.microsoft.com/office/drawing/2017/decorative" val="1"/>
              </a:ext>
            </a:extLst>
          </p:cNvPr>
          <p:cNvSpPr/>
          <p:nvPr/>
        </p:nvSpPr>
        <p:spPr>
          <a:xfrm>
            <a:off x="6214719" y="4133087"/>
            <a:ext cx="5318607" cy="2176272"/>
          </a:xfrm>
          <a:prstGeom prst="roundRect">
            <a:avLst>
              <a:gd name="adj" fmla="val 4201"/>
            </a:avLst>
          </a:prstGeom>
          <a:solidFill>
            <a:srgbClr val="F8F2F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lensh-SEC">
            <a:extLst>
              <a:ext uri="{C183D7F6-B498-43B3-948B-1728B52AA6E4}">
                <adec:decorative xmlns:adec="http://schemas.microsoft.com/office/drawing/2017/decorative" val="1"/>
              </a:ext>
            </a:extLst>
          </p:cNvPr>
          <p:cNvSpPr/>
          <p:nvPr/>
        </p:nvSpPr>
        <p:spPr>
          <a:xfrm>
            <a:off x="6214719" y="4133087"/>
            <a:ext cx="5318607" cy="493776"/>
          </a:xfrm>
          <a:prstGeom prst="roundRect">
            <a:avLst>
              <a:gd name="adj" fmla="val 18518"/>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7" name="!!lensh2-SEC">
            <a:extLst>
              <a:ext uri="{C183D7F6-B498-43B3-948B-1728B52AA6E4}">
                <adec:decorative xmlns:adec="http://schemas.microsoft.com/office/drawing/2017/decorative" val="1"/>
              </a:ext>
            </a:extLst>
          </p:cNvPr>
          <p:cNvSpPr/>
          <p:nvPr/>
        </p:nvSpPr>
        <p:spPr>
          <a:xfrm>
            <a:off x="6214719" y="4517136"/>
            <a:ext cx="5318607" cy="10972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8" name="!!lensi-SEC" descr="shield-alt-FFFFFF.png">
            <a:extLs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6415887" y="4251959"/>
            <a:ext cx="256032" cy="256032"/>
          </a:xfrm>
          <a:prstGeom prst="rect">
            <a:avLst/>
          </a:prstGeom>
        </p:spPr>
      </p:pic>
      <p:sp>
        <p:nvSpPr>
          <p:cNvPr id="29" name="!!lensn-SEC"/>
          <p:cNvSpPr txBox="1"/>
          <p:nvPr/>
        </p:nvSpPr>
        <p:spPr>
          <a:xfrm>
            <a:off x="6818223" y="4233672"/>
            <a:ext cx="4623663"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CYBERSECURITY</a:t>
            </a:r>
          </a:p>
        </p:txBody>
      </p:sp>
      <p:sp>
        <p:nvSpPr>
          <p:cNvPr id="30" name="!!lensb-SEC-0"/>
          <p:cNvSpPr txBox="1"/>
          <p:nvPr/>
        </p:nvSpPr>
        <p:spPr>
          <a:xfrm>
            <a:off x="6452463" y="4809744"/>
            <a:ext cx="4861407" cy="1408175"/>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A network session becomes a vector (bytes in, bytes out, duration, packet count, distinct ports).</a:t>
            </a:r>
          </a:p>
        </p:txBody>
      </p:sp>
      <p:sp>
        <p:nvSpPr>
          <p:cNvPr id="3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pfill">
            <a:extLst>
              <a:ext uri="{C183D7F6-B498-43B3-948B-1728B52AA6E4}">
                <adec:decorative xmlns:adec="http://schemas.microsoft.com/office/drawing/2017/decorative" val="1"/>
              </a:ext>
            </a:extLst>
          </p:cNvPr>
          <p:cNvSpPr/>
          <p:nvPr/>
        </p:nvSpPr>
        <p:spPr>
          <a:xfrm>
            <a:off x="0" y="0"/>
            <a:ext cx="6676404"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Learning Analytics: Vectors, Distance and Optimisation</a:t>
            </a:r>
          </a:p>
        </p:txBody>
      </p:sp>
      <p:pic>
        <p:nvPicPr>
          <p:cNvPr id="3" name="!!kicker-icon" descr="compass-6C3483.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6C3483"/>
                </a:solidFill>
                <a:latin typeface="Segoe UI"/>
              </a:rPr>
              <a:t>FOUR LENSES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4  ·  The Mathematical Toolkit</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28     </a:t>
            </a:r>
            <a:fld id="{EF28578C-2DAD-46DE-9623-E134914AE3CC}" type="slidenum">
              <a:rPr lang="en-GB" sz="1000">
                <a:solidFill>
                  <a:srgbClr val="8795A1"/>
                </a:solidFill>
                <a:latin typeface="Segoe UI"/>
              </a:rPr>
              <a:t>24</a:t>
            </a:fld>
          </a:p>
        </p:txBody>
      </p:sp>
      <p:sp>
        <p:nvSpPr>
          <p:cNvPr id="7" name="!!lens-LA">
            <a:extLst>
              <a:ext uri="{C183D7F6-B498-43B3-948B-1728B52AA6E4}">
                <adec:decorative xmlns:adec="http://schemas.microsoft.com/office/drawing/2017/decorative" val="1"/>
              </a:ext>
            </a:extLst>
          </p:cNvPr>
          <p:cNvSpPr/>
          <p:nvPr/>
        </p:nvSpPr>
        <p:spPr>
          <a:xfrm>
            <a:off x="658368" y="1737360"/>
            <a:ext cx="8040319" cy="4572000"/>
          </a:xfrm>
          <a:prstGeom prst="roundRect">
            <a:avLst>
              <a:gd name="adj" fmla="val 2000"/>
            </a:avLst>
          </a:prstGeom>
          <a:solidFill>
            <a:srgbClr val="F6F3F8"/>
          </a:solidFill>
          <a:ln>
            <a:noFill/>
          </a:ln>
          <a:effectLst>
            <a:outerShdw blurRad="177800" dist="38100" dir="5400000" algn="t" rotWithShape="0">
              <a:srgbClr val="1C252B">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lensh-LA">
            <a:extLst>
              <a:ext uri="{C183D7F6-B498-43B3-948B-1728B52AA6E4}">
                <adec:decorative xmlns:adec="http://schemas.microsoft.com/office/drawing/2017/decorative" val="1"/>
              </a:ext>
            </a:extLst>
          </p:cNvPr>
          <p:cNvSpPr/>
          <p:nvPr/>
        </p:nvSpPr>
        <p:spPr>
          <a:xfrm>
            <a:off x="658368" y="1737360"/>
            <a:ext cx="8040319" cy="493776"/>
          </a:xfrm>
          <a:prstGeom prst="roundRect">
            <a:avLst>
              <a:gd name="adj" fmla="val 18518"/>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ensh2-LA">
            <a:extLst>
              <a:ext uri="{C183D7F6-B498-43B3-948B-1728B52AA6E4}">
                <adec:decorative xmlns:adec="http://schemas.microsoft.com/office/drawing/2017/decorative" val="1"/>
              </a:ext>
            </a:extLst>
          </p:cNvPr>
          <p:cNvSpPr/>
          <p:nvPr/>
        </p:nvSpPr>
        <p:spPr>
          <a:xfrm>
            <a:off x="658368" y="2121408"/>
            <a:ext cx="8040319" cy="109728"/>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0" name="!!lensi-LA" descr="graduation-cap-FFFFFF.png">
            <a:extLs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59536" y="1856231"/>
            <a:ext cx="419498" cy="256032"/>
          </a:xfrm>
          <a:prstGeom prst="rect">
            <a:avLst/>
          </a:prstGeom>
        </p:spPr>
      </p:pic>
      <p:sp>
        <p:nvSpPr>
          <p:cNvPr id="11" name="!!lensn-LA"/>
          <p:cNvSpPr txBox="1"/>
          <p:nvPr/>
        </p:nvSpPr>
        <p:spPr>
          <a:xfrm>
            <a:off x="1425337" y="1837943"/>
            <a:ext cx="7181909"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LEARNING ANALYTICS</a:t>
            </a:r>
          </a:p>
        </p:txBody>
      </p:sp>
      <p:sp>
        <p:nvSpPr>
          <p:cNvPr id="12" name="!!lensb-LA-0"/>
          <p:cNvSpPr txBox="1"/>
          <p:nvPr/>
        </p:nvSpPr>
        <p:spPr>
          <a:xfrm>
            <a:off x="896112" y="2432304"/>
            <a:ext cx="7583119" cy="2137867"/>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Each student becomes a vector of engagement features. Euclidean distance between two students answers “who behaves like whom”, which is what drives peer grouping and the clustering of Chapter 16. The scaling warning matters acutely here: attendance on 0–100 will otherwise drown quiz counts on 0–10.</a:t>
            </a:r>
          </a:p>
        </p:txBody>
      </p:sp>
      <p:sp>
        <p:nvSpPr>
          <p:cNvPr id="13" name="!!lens-PM">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lensh-PM">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lensh2-PM">
            <a:extLst>
              <a:ext uri="{C183D7F6-B498-43B3-948B-1728B52AA6E4}">
                <adec:decorative xmlns:adec="http://schemas.microsoft.com/office/drawing/2017/decorative" val="1"/>
              </a:ext>
            </a:extLst>
          </p:cNvPr>
          <p:cNvSpPr/>
          <p:nvPr/>
        </p:nvSpPr>
        <p:spPr>
          <a:xfrm>
            <a:off x="8936431" y="2121408"/>
            <a:ext cx="2596896" cy="10972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6" name="!!lensi-PM" descr="tasks-FFFFFF.png">
            <a:extLs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137599" y="1856231"/>
            <a:ext cx="301783" cy="256032"/>
          </a:xfrm>
          <a:prstGeom prst="rect">
            <a:avLst/>
          </a:prstGeom>
        </p:spPr>
      </p:pic>
      <p:sp>
        <p:nvSpPr>
          <p:cNvPr id="17" name="!!lensn-PM"/>
          <p:cNvSpPr txBox="1"/>
          <p:nvPr/>
        </p:nvSpPr>
        <p:spPr>
          <a:xfrm>
            <a:off x="9585686" y="1837943"/>
            <a:ext cx="1856200"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Project Management</a:t>
            </a:r>
          </a:p>
        </p:txBody>
      </p:sp>
      <p:sp>
        <p:nvSpPr>
          <p:cNvPr id="18" name="!!lens-IOT">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lensh-IOT">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lensh2-IOT">
            <a:extLst>
              <a:ext uri="{C183D7F6-B498-43B3-948B-1728B52AA6E4}">
                <adec:decorative xmlns:adec="http://schemas.microsoft.com/office/drawing/2017/decorative" val="1"/>
              </a:ext>
            </a:extLst>
          </p:cNvPr>
          <p:cNvSpPr/>
          <p:nvPr/>
        </p:nvSpPr>
        <p:spPr>
          <a:xfrm>
            <a:off x="8936431" y="2779776"/>
            <a:ext cx="2596896" cy="10972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1" name="!!lensi-IOT" descr="microchip-FFFFFF.png">
            <a:extLs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137599" y="2514600"/>
            <a:ext cx="256032" cy="256032"/>
          </a:xfrm>
          <a:prstGeom prst="rect">
            <a:avLst/>
          </a:prstGeom>
        </p:spPr>
      </p:pic>
      <p:sp>
        <p:nvSpPr>
          <p:cNvPr id="22" name="!!lensn-IOT"/>
          <p:cNvSpPr txBox="1"/>
          <p:nvPr/>
        </p:nvSpPr>
        <p:spPr>
          <a:xfrm>
            <a:off x="9539935" y="2496312"/>
            <a:ext cx="1901951"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Internet of Things</a:t>
            </a:r>
          </a:p>
        </p:txBody>
      </p:sp>
      <p:sp>
        <p:nvSpPr>
          <p:cNvPr id="23" name="!!lens-SEC">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F8F2F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lensh-SEC">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lensh2-SEC">
            <a:extLst>
              <a:ext uri="{C183D7F6-B498-43B3-948B-1728B52AA6E4}">
                <adec:decorative xmlns:adec="http://schemas.microsoft.com/office/drawing/2017/decorative" val="1"/>
              </a:ext>
            </a:extLst>
          </p:cNvPr>
          <p:cNvSpPr/>
          <p:nvPr/>
        </p:nvSpPr>
        <p:spPr>
          <a:xfrm>
            <a:off x="8936431" y="3438144"/>
            <a:ext cx="2596896" cy="10972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6" name="!!lensi-SEC" descr="shield-alt-FFFFFF.png">
            <a:extLs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137599" y="3172968"/>
            <a:ext cx="256032" cy="256032"/>
          </a:xfrm>
          <a:prstGeom prst="rect">
            <a:avLst/>
          </a:prstGeom>
        </p:spPr>
      </p:pic>
      <p:sp>
        <p:nvSpPr>
          <p:cNvPr id="27" name="!!lensn-SEC"/>
          <p:cNvSpPr txBox="1"/>
          <p:nvPr/>
        </p:nvSpPr>
        <p:spPr>
          <a:xfrm>
            <a:off x="9539935" y="3154679"/>
            <a:ext cx="1901951"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Cybersecurity</a:t>
            </a:r>
          </a:p>
        </p:txBody>
      </p:sp>
      <p:sp>
        <p:nvSpPr>
          <p:cNvPr id="2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pfill">
            <a:extLst>
              <a:ext uri="{C183D7F6-B498-43B3-948B-1728B52AA6E4}">
                <adec:decorative xmlns:adec="http://schemas.microsoft.com/office/drawing/2017/decorative" val="1"/>
              </a:ext>
            </a:extLst>
          </p:cNvPr>
          <p:cNvSpPr/>
          <p:nvPr/>
        </p:nvSpPr>
        <p:spPr>
          <a:xfrm>
            <a:off x="0" y="0"/>
            <a:ext cx="6966682"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700">
        <p159:morph option="byObject"/>
      </p:transition>
    </mc:Choice>
    <mc:Fallback>
      <p:transition spd="med">
        <p:fade/>
      </p:transition>
    </mc:Fallback>
  </mc:AlternateContent>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Project Management: Vectors, Distance and Optimisation</a:t>
            </a:r>
          </a:p>
        </p:txBody>
      </p:sp>
      <p:pic>
        <p:nvPicPr>
          <p:cNvPr id="3" name="!!kicker-icon" descr="compass-1F618D.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F618D"/>
                </a:solidFill>
                <a:latin typeface="Segoe UI"/>
              </a:rPr>
              <a:t>FOUR LENSES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4  ·  The Mathematical Toolkit</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28     </a:t>
            </a:r>
            <a:fld id="{E78D2077-E249-4346-86F6-72D9445A5B17}" type="slidenum">
              <a:rPr lang="en-GB" sz="1000">
                <a:solidFill>
                  <a:srgbClr val="8795A1"/>
                </a:solidFill>
                <a:latin typeface="Segoe UI"/>
              </a:rPr>
              <a:t>25</a:t>
            </a:fld>
          </a:p>
        </p:txBody>
      </p:sp>
      <p:sp>
        <p:nvSpPr>
          <p:cNvPr id="7" name="!!lens-PM">
            <a:extLst>
              <a:ext uri="{C183D7F6-B498-43B3-948B-1728B52AA6E4}">
                <adec:decorative xmlns:adec="http://schemas.microsoft.com/office/drawing/2017/decorative" val="1"/>
              </a:ext>
            </a:extLst>
          </p:cNvPr>
          <p:cNvSpPr/>
          <p:nvPr/>
        </p:nvSpPr>
        <p:spPr>
          <a:xfrm>
            <a:off x="658368" y="1737360"/>
            <a:ext cx="8040319" cy="4572000"/>
          </a:xfrm>
          <a:prstGeom prst="roundRect">
            <a:avLst>
              <a:gd name="adj" fmla="val 2000"/>
            </a:avLst>
          </a:prstGeom>
          <a:solidFill>
            <a:srgbClr val="F2F6F8"/>
          </a:solidFill>
          <a:ln>
            <a:noFill/>
          </a:ln>
          <a:effectLst>
            <a:outerShdw blurRad="177800" dist="38100" dir="5400000" algn="t" rotWithShape="0">
              <a:srgbClr val="1C252B">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lensh-PM">
            <a:extLst>
              <a:ext uri="{C183D7F6-B498-43B3-948B-1728B52AA6E4}">
                <adec:decorative xmlns:adec="http://schemas.microsoft.com/office/drawing/2017/decorative" val="1"/>
              </a:ext>
            </a:extLst>
          </p:cNvPr>
          <p:cNvSpPr/>
          <p:nvPr/>
        </p:nvSpPr>
        <p:spPr>
          <a:xfrm>
            <a:off x="658368" y="1737360"/>
            <a:ext cx="8040319" cy="493776"/>
          </a:xfrm>
          <a:prstGeom prst="roundRect">
            <a:avLst>
              <a:gd name="adj" fmla="val 18518"/>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ensh2-PM">
            <a:extLst>
              <a:ext uri="{C183D7F6-B498-43B3-948B-1728B52AA6E4}">
                <adec:decorative xmlns:adec="http://schemas.microsoft.com/office/drawing/2017/decorative" val="1"/>
              </a:ext>
            </a:extLst>
          </p:cNvPr>
          <p:cNvSpPr/>
          <p:nvPr/>
        </p:nvSpPr>
        <p:spPr>
          <a:xfrm>
            <a:off x="658368" y="2121408"/>
            <a:ext cx="8040319" cy="10972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0" name="!!lensi-PM" descr="tasks-FFFFFF.png">
            <a:extLs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59536" y="1856231"/>
            <a:ext cx="301783" cy="256032"/>
          </a:xfrm>
          <a:prstGeom prst="rect">
            <a:avLst/>
          </a:prstGeom>
        </p:spPr>
      </p:pic>
      <p:sp>
        <p:nvSpPr>
          <p:cNvPr id="11" name="!!lensn-PM"/>
          <p:cNvSpPr txBox="1"/>
          <p:nvPr/>
        </p:nvSpPr>
        <p:spPr>
          <a:xfrm>
            <a:off x="1307622" y="1837943"/>
            <a:ext cx="7299624"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PROJECT MANAGEMENT</a:t>
            </a:r>
          </a:p>
        </p:txBody>
      </p:sp>
      <p:sp>
        <p:nvSpPr>
          <p:cNvPr id="12" name="!!lensb-PM-0"/>
          <p:cNvSpPr txBox="1"/>
          <p:nvPr/>
        </p:nvSpPr>
        <p:spPr>
          <a:xfrm>
            <a:off x="896112" y="2432304"/>
            <a:ext cx="7583119" cy="1789176"/>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Each completed task becomes a vector (estimated hours, actual hours, number of dependencies, team size). Distance identifies the historical tasks most similar to a new one, giving a defensible estimate — “the five most similar past tasks took 11–16 hours” — rather than a guess.</a:t>
            </a:r>
          </a:p>
        </p:txBody>
      </p:sp>
      <p:sp>
        <p:nvSpPr>
          <p:cNvPr id="13" name="!!lens-LA">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F6F3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lensh-LA">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lensh2-LA">
            <a:extLst>
              <a:ext uri="{C183D7F6-B498-43B3-948B-1728B52AA6E4}">
                <adec:decorative xmlns:adec="http://schemas.microsoft.com/office/drawing/2017/decorative" val="1"/>
              </a:ext>
            </a:extLst>
          </p:cNvPr>
          <p:cNvSpPr/>
          <p:nvPr/>
        </p:nvSpPr>
        <p:spPr>
          <a:xfrm>
            <a:off x="8936431" y="2121408"/>
            <a:ext cx="2596896" cy="109728"/>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6" name="!!lensi-LA" descr="graduation-cap-FFFFFF.png">
            <a:extLs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137599" y="1856231"/>
            <a:ext cx="419498" cy="256032"/>
          </a:xfrm>
          <a:prstGeom prst="rect">
            <a:avLst/>
          </a:prstGeom>
        </p:spPr>
      </p:pic>
      <p:sp>
        <p:nvSpPr>
          <p:cNvPr id="17" name="!!lensn-LA"/>
          <p:cNvSpPr txBox="1"/>
          <p:nvPr/>
        </p:nvSpPr>
        <p:spPr>
          <a:xfrm>
            <a:off x="9703401" y="1837943"/>
            <a:ext cx="1738485"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Learning Analytics</a:t>
            </a:r>
          </a:p>
        </p:txBody>
      </p:sp>
      <p:sp>
        <p:nvSpPr>
          <p:cNvPr id="18" name="!!lens-IOT">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lensh-IOT">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lensh2-IOT">
            <a:extLst>
              <a:ext uri="{C183D7F6-B498-43B3-948B-1728B52AA6E4}">
                <adec:decorative xmlns:adec="http://schemas.microsoft.com/office/drawing/2017/decorative" val="1"/>
              </a:ext>
            </a:extLst>
          </p:cNvPr>
          <p:cNvSpPr/>
          <p:nvPr/>
        </p:nvSpPr>
        <p:spPr>
          <a:xfrm>
            <a:off x="8936431" y="2779776"/>
            <a:ext cx="2596896" cy="10972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1" name="!!lensi-IOT" descr="microchip-FFFFFF.png">
            <a:extLs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137599" y="2514600"/>
            <a:ext cx="256032" cy="256032"/>
          </a:xfrm>
          <a:prstGeom prst="rect">
            <a:avLst/>
          </a:prstGeom>
        </p:spPr>
      </p:pic>
      <p:sp>
        <p:nvSpPr>
          <p:cNvPr id="22" name="!!lensn-IOT"/>
          <p:cNvSpPr txBox="1"/>
          <p:nvPr/>
        </p:nvSpPr>
        <p:spPr>
          <a:xfrm>
            <a:off x="9539935" y="2496312"/>
            <a:ext cx="1901951"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Internet of Things</a:t>
            </a:r>
          </a:p>
        </p:txBody>
      </p:sp>
      <p:sp>
        <p:nvSpPr>
          <p:cNvPr id="23" name="!!lens-SEC">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F8F2F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lensh-SEC">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lensh2-SEC">
            <a:extLst>
              <a:ext uri="{C183D7F6-B498-43B3-948B-1728B52AA6E4}">
                <adec:decorative xmlns:adec="http://schemas.microsoft.com/office/drawing/2017/decorative" val="1"/>
              </a:ext>
            </a:extLst>
          </p:cNvPr>
          <p:cNvSpPr/>
          <p:nvPr/>
        </p:nvSpPr>
        <p:spPr>
          <a:xfrm>
            <a:off x="8936431" y="3438144"/>
            <a:ext cx="2596896" cy="10972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6" name="!!lensi-SEC" descr="shield-alt-FFFFFF.png">
            <a:extLs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137599" y="3172968"/>
            <a:ext cx="256032" cy="256032"/>
          </a:xfrm>
          <a:prstGeom prst="rect">
            <a:avLst/>
          </a:prstGeom>
        </p:spPr>
      </p:pic>
      <p:sp>
        <p:nvSpPr>
          <p:cNvPr id="27" name="!!lensn-SEC"/>
          <p:cNvSpPr txBox="1"/>
          <p:nvPr/>
        </p:nvSpPr>
        <p:spPr>
          <a:xfrm>
            <a:off x="9539935" y="3154679"/>
            <a:ext cx="1901951"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Cybersecurity</a:t>
            </a:r>
          </a:p>
        </p:txBody>
      </p:sp>
      <p:sp>
        <p:nvSpPr>
          <p:cNvPr id="2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pfill">
            <a:extLst>
              <a:ext uri="{C183D7F6-B498-43B3-948B-1728B52AA6E4}">
                <adec:decorative xmlns:adec="http://schemas.microsoft.com/office/drawing/2017/decorative" val="1"/>
              </a:ext>
            </a:extLst>
          </p:cNvPr>
          <p:cNvSpPr/>
          <p:nvPr/>
        </p:nvSpPr>
        <p:spPr>
          <a:xfrm>
            <a:off x="0" y="0"/>
            <a:ext cx="7256961"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700">
        <p159:morph option="byObject"/>
      </p:transition>
    </mc:Choice>
    <mc:Fallback>
      <p:transition spd="med">
        <p:fade/>
      </p:transition>
    </mc:Fallback>
  </mc:AlternateContent>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Internet of Things: Vectors, Distance and Optimisation</a:t>
            </a:r>
          </a:p>
        </p:txBody>
      </p:sp>
      <p:pic>
        <p:nvPicPr>
          <p:cNvPr id="3" name="!!kicker-icon" descr="compass-117864.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864"/>
                </a:solidFill>
                <a:latin typeface="Segoe UI"/>
              </a:rPr>
              <a:t>FOUR LENSES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4  ·  The Mathematical Toolkit</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28     </a:t>
            </a:r>
            <a:fld id="{7B5734A2-C94E-4A66-B9DA-A765D657077E}" type="slidenum">
              <a:rPr lang="en-GB" sz="1000">
                <a:solidFill>
                  <a:srgbClr val="8795A1"/>
                </a:solidFill>
                <a:latin typeface="Segoe UI"/>
              </a:rPr>
              <a:t>26</a:t>
            </a:fld>
          </a:p>
        </p:txBody>
      </p:sp>
      <p:sp>
        <p:nvSpPr>
          <p:cNvPr id="7" name="!!lens-IOT">
            <a:extLst>
              <a:ext uri="{C183D7F6-B498-43B3-948B-1728B52AA6E4}">
                <adec:decorative xmlns:adec="http://schemas.microsoft.com/office/drawing/2017/decorative" val="1"/>
              </a:ext>
            </a:extLst>
          </p:cNvPr>
          <p:cNvSpPr/>
          <p:nvPr/>
        </p:nvSpPr>
        <p:spPr>
          <a:xfrm>
            <a:off x="658368" y="1737360"/>
            <a:ext cx="8040319" cy="4572000"/>
          </a:xfrm>
          <a:prstGeom prst="roundRect">
            <a:avLst>
              <a:gd name="adj" fmla="val 2000"/>
            </a:avLst>
          </a:prstGeom>
          <a:solidFill>
            <a:srgbClr val="F1F7F6"/>
          </a:solidFill>
          <a:ln>
            <a:noFill/>
          </a:ln>
          <a:effectLst>
            <a:outerShdw blurRad="177800" dist="38100" dir="5400000" algn="t" rotWithShape="0">
              <a:srgbClr val="1C252B">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lensh-IOT">
            <a:extLst>
              <a:ext uri="{C183D7F6-B498-43B3-948B-1728B52AA6E4}">
                <adec:decorative xmlns:adec="http://schemas.microsoft.com/office/drawing/2017/decorative" val="1"/>
              </a:ext>
            </a:extLst>
          </p:cNvPr>
          <p:cNvSpPr/>
          <p:nvPr/>
        </p:nvSpPr>
        <p:spPr>
          <a:xfrm>
            <a:off x="658368" y="1737360"/>
            <a:ext cx="8040319" cy="493776"/>
          </a:xfrm>
          <a:prstGeom prst="roundRect">
            <a:avLst>
              <a:gd name="adj" fmla="val 18518"/>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ensh2-IOT">
            <a:extLst>
              <a:ext uri="{C183D7F6-B498-43B3-948B-1728B52AA6E4}">
                <adec:decorative xmlns:adec="http://schemas.microsoft.com/office/drawing/2017/decorative" val="1"/>
              </a:ext>
            </a:extLst>
          </p:cNvPr>
          <p:cNvSpPr/>
          <p:nvPr/>
        </p:nvSpPr>
        <p:spPr>
          <a:xfrm>
            <a:off x="658368" y="2121408"/>
            <a:ext cx="8040319" cy="10972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0" name="!!lensi-IOT" descr="microchip-FFFFFF.png">
            <a:extLs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59536" y="1856231"/>
            <a:ext cx="256032" cy="256032"/>
          </a:xfrm>
          <a:prstGeom prst="rect">
            <a:avLst/>
          </a:prstGeom>
        </p:spPr>
      </p:pic>
      <p:sp>
        <p:nvSpPr>
          <p:cNvPr id="11" name="!!lensn-IOT"/>
          <p:cNvSpPr txBox="1"/>
          <p:nvPr/>
        </p:nvSpPr>
        <p:spPr>
          <a:xfrm>
            <a:off x="1261872" y="1837943"/>
            <a:ext cx="7345375"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INTERNET OF THINGS</a:t>
            </a:r>
          </a:p>
        </p:txBody>
      </p:sp>
      <p:sp>
        <p:nvSpPr>
          <p:cNvPr id="12" name="!!lensb-IOT-0"/>
          <p:cNvSpPr txBox="1"/>
          <p:nvPr/>
        </p:nvSpPr>
        <p:spPr>
          <a:xfrm>
            <a:off x="896112" y="2432304"/>
            <a:ext cx="7583119" cy="1789176"/>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A one-minute window of sensor readings becomes a vector. Distance from the fleet’s normal-operation vector is the simplest possible anomaly score, and it runs in a few arithmetic operations — which is why it can execute on the device itself, at the edge (Chapter 24).</a:t>
            </a:r>
          </a:p>
        </p:txBody>
      </p:sp>
      <p:sp>
        <p:nvSpPr>
          <p:cNvPr id="13" name="!!lens-LA">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F6F3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lensh-LA">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lensh2-LA">
            <a:extLst>
              <a:ext uri="{C183D7F6-B498-43B3-948B-1728B52AA6E4}">
                <adec:decorative xmlns:adec="http://schemas.microsoft.com/office/drawing/2017/decorative" val="1"/>
              </a:ext>
            </a:extLst>
          </p:cNvPr>
          <p:cNvSpPr/>
          <p:nvPr/>
        </p:nvSpPr>
        <p:spPr>
          <a:xfrm>
            <a:off x="8936431" y="2121408"/>
            <a:ext cx="2596896" cy="109728"/>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6" name="!!lensi-LA" descr="graduation-cap-FFFFFF.png">
            <a:extLs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137599" y="1856231"/>
            <a:ext cx="419498" cy="256032"/>
          </a:xfrm>
          <a:prstGeom prst="rect">
            <a:avLst/>
          </a:prstGeom>
        </p:spPr>
      </p:pic>
      <p:sp>
        <p:nvSpPr>
          <p:cNvPr id="17" name="!!lensn-LA"/>
          <p:cNvSpPr txBox="1"/>
          <p:nvPr/>
        </p:nvSpPr>
        <p:spPr>
          <a:xfrm>
            <a:off x="9703401" y="1837943"/>
            <a:ext cx="1738485"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Learning Analytics</a:t>
            </a:r>
          </a:p>
        </p:txBody>
      </p:sp>
      <p:sp>
        <p:nvSpPr>
          <p:cNvPr id="18" name="!!lens-PM">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lensh-PM">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lensh2-PM">
            <a:extLst>
              <a:ext uri="{C183D7F6-B498-43B3-948B-1728B52AA6E4}">
                <adec:decorative xmlns:adec="http://schemas.microsoft.com/office/drawing/2017/decorative" val="1"/>
              </a:ext>
            </a:extLst>
          </p:cNvPr>
          <p:cNvSpPr/>
          <p:nvPr/>
        </p:nvSpPr>
        <p:spPr>
          <a:xfrm>
            <a:off x="8936431" y="2779776"/>
            <a:ext cx="2596896" cy="10972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1" name="!!lensi-PM" descr="tasks-FFFFFF.png">
            <a:extLs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137599" y="2514600"/>
            <a:ext cx="301783" cy="256032"/>
          </a:xfrm>
          <a:prstGeom prst="rect">
            <a:avLst/>
          </a:prstGeom>
        </p:spPr>
      </p:pic>
      <p:sp>
        <p:nvSpPr>
          <p:cNvPr id="22" name="!!lensn-PM"/>
          <p:cNvSpPr txBox="1"/>
          <p:nvPr/>
        </p:nvSpPr>
        <p:spPr>
          <a:xfrm>
            <a:off x="9585686" y="2496312"/>
            <a:ext cx="1856200"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Project Management</a:t>
            </a:r>
          </a:p>
        </p:txBody>
      </p:sp>
      <p:sp>
        <p:nvSpPr>
          <p:cNvPr id="23" name="!!lens-SEC">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F8F2F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lensh-SEC">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lensh2-SEC">
            <a:extLst>
              <a:ext uri="{C183D7F6-B498-43B3-948B-1728B52AA6E4}">
                <adec:decorative xmlns:adec="http://schemas.microsoft.com/office/drawing/2017/decorative" val="1"/>
              </a:ext>
            </a:extLst>
          </p:cNvPr>
          <p:cNvSpPr/>
          <p:nvPr/>
        </p:nvSpPr>
        <p:spPr>
          <a:xfrm>
            <a:off x="8936431" y="3438144"/>
            <a:ext cx="2596896" cy="10972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6" name="!!lensi-SEC" descr="shield-alt-FFFFFF.png">
            <a:extLs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137599" y="3172968"/>
            <a:ext cx="256032" cy="256032"/>
          </a:xfrm>
          <a:prstGeom prst="rect">
            <a:avLst/>
          </a:prstGeom>
        </p:spPr>
      </p:pic>
      <p:sp>
        <p:nvSpPr>
          <p:cNvPr id="27" name="!!lensn-SEC"/>
          <p:cNvSpPr txBox="1"/>
          <p:nvPr/>
        </p:nvSpPr>
        <p:spPr>
          <a:xfrm>
            <a:off x="9539935" y="3154679"/>
            <a:ext cx="1901951"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Cybersecurity</a:t>
            </a:r>
          </a:p>
        </p:txBody>
      </p:sp>
      <p:sp>
        <p:nvSpPr>
          <p:cNvPr id="2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pfill">
            <a:extLst>
              <a:ext uri="{C183D7F6-B498-43B3-948B-1728B52AA6E4}">
                <adec:decorative xmlns:adec="http://schemas.microsoft.com/office/drawing/2017/decorative" val="1"/>
              </a:ext>
            </a:extLst>
          </p:cNvPr>
          <p:cNvSpPr/>
          <p:nvPr/>
        </p:nvSpPr>
        <p:spPr>
          <a:xfrm>
            <a:off x="0" y="0"/>
            <a:ext cx="7547239"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700">
        <p159:morph option="byObject"/>
      </p:transition>
    </mc:Choice>
    <mc:Fallback>
      <p:transition spd="med">
        <p:fade/>
      </p:transition>
    </mc:Fallback>
  </mc:AlternateContent>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Cybersecurity: Vectors, Distance and Optimisation</a:t>
            </a:r>
          </a:p>
        </p:txBody>
      </p:sp>
      <p:pic>
        <p:nvPicPr>
          <p:cNvPr id="3" name="!!kicker-icon" descr="compass-922B2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922B21"/>
                </a:solidFill>
                <a:latin typeface="Segoe UI"/>
              </a:rPr>
              <a:t>FOUR LENSES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4  ·  The Mathematical Toolkit</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28     </a:t>
            </a:r>
            <a:fld id="{C5313E80-B85C-40BB-981A-519BFEE26620}" type="slidenum">
              <a:rPr lang="en-GB" sz="1000">
                <a:solidFill>
                  <a:srgbClr val="8795A1"/>
                </a:solidFill>
                <a:latin typeface="Segoe UI"/>
              </a:rPr>
              <a:t>27</a:t>
            </a:fld>
          </a:p>
        </p:txBody>
      </p:sp>
      <p:sp>
        <p:nvSpPr>
          <p:cNvPr id="7" name="!!lens-SEC">
            <a:extLst>
              <a:ext uri="{C183D7F6-B498-43B3-948B-1728B52AA6E4}">
                <adec:decorative xmlns:adec="http://schemas.microsoft.com/office/drawing/2017/decorative" val="1"/>
              </a:ext>
            </a:extLst>
          </p:cNvPr>
          <p:cNvSpPr/>
          <p:nvPr/>
        </p:nvSpPr>
        <p:spPr>
          <a:xfrm>
            <a:off x="658368" y="1737360"/>
            <a:ext cx="8040319" cy="4572000"/>
          </a:xfrm>
          <a:prstGeom prst="roundRect">
            <a:avLst>
              <a:gd name="adj" fmla="val 2000"/>
            </a:avLst>
          </a:prstGeom>
          <a:solidFill>
            <a:srgbClr val="F8F2F2"/>
          </a:solidFill>
          <a:ln>
            <a:noFill/>
          </a:ln>
          <a:effectLst>
            <a:outerShdw blurRad="177800" dist="38100" dir="5400000" algn="t" rotWithShape="0">
              <a:srgbClr val="1C252B">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lensh-SEC">
            <a:extLst>
              <a:ext uri="{C183D7F6-B498-43B3-948B-1728B52AA6E4}">
                <adec:decorative xmlns:adec="http://schemas.microsoft.com/office/drawing/2017/decorative" val="1"/>
              </a:ext>
            </a:extLst>
          </p:cNvPr>
          <p:cNvSpPr/>
          <p:nvPr/>
        </p:nvSpPr>
        <p:spPr>
          <a:xfrm>
            <a:off x="658368" y="1737360"/>
            <a:ext cx="8040319" cy="493776"/>
          </a:xfrm>
          <a:prstGeom prst="roundRect">
            <a:avLst>
              <a:gd name="adj" fmla="val 18518"/>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ensh2-SEC">
            <a:extLst>
              <a:ext uri="{C183D7F6-B498-43B3-948B-1728B52AA6E4}">
                <adec:decorative xmlns:adec="http://schemas.microsoft.com/office/drawing/2017/decorative" val="1"/>
              </a:ext>
            </a:extLst>
          </p:cNvPr>
          <p:cNvSpPr/>
          <p:nvPr/>
        </p:nvSpPr>
        <p:spPr>
          <a:xfrm>
            <a:off x="658368" y="2121408"/>
            <a:ext cx="8040319" cy="10972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0" name="!!lensi-SEC" descr="shield-alt-FFFFFF.png">
            <a:extLs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59536" y="1856231"/>
            <a:ext cx="256032" cy="256032"/>
          </a:xfrm>
          <a:prstGeom prst="rect">
            <a:avLst/>
          </a:prstGeom>
        </p:spPr>
      </p:pic>
      <p:sp>
        <p:nvSpPr>
          <p:cNvPr id="11" name="!!lensn-SEC"/>
          <p:cNvSpPr txBox="1"/>
          <p:nvPr/>
        </p:nvSpPr>
        <p:spPr>
          <a:xfrm>
            <a:off x="1261872" y="1837943"/>
            <a:ext cx="7345375"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CYBERSECURITY</a:t>
            </a:r>
          </a:p>
        </p:txBody>
      </p:sp>
      <p:sp>
        <p:nvSpPr>
          <p:cNvPr id="12" name="!!lensb-SEC-0"/>
          <p:cNvSpPr txBox="1"/>
          <p:nvPr/>
        </p:nvSpPr>
        <p:spPr>
          <a:xfrm>
            <a:off x="896112" y="2432304"/>
            <a:ext cx="7583119" cy="2137867"/>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A network session becomes a vector (bytes in, bytes out, duration, packet count, distinct ports). Cosine similarity to known attack signatures ignores volume and compares </a:t>
            </a:r>
            <a:r>
              <a:rPr sz="2200" b="0" i="1">
                <a:solidFill>
                  <a:srgbClr val="1C252B"/>
                </a:solidFill>
                <a:latin typeface="Segoe UI"/>
              </a:rPr>
              <a:t>shape</a:t>
            </a:r>
            <a:r>
              <a:rPr sz="2200" b="0" i="0">
                <a:solidFill>
                  <a:srgbClr val="1C252B"/>
                </a:solidFill>
                <a:latin typeface="Segoe UI"/>
              </a:rPr>
              <a:t>, so a slow, low-volume version of an attack still resembles the fast one. Attackers routinely change magnitude; changing shape is harder.</a:t>
            </a:r>
          </a:p>
        </p:txBody>
      </p:sp>
      <p:sp>
        <p:nvSpPr>
          <p:cNvPr id="13" name="!!lens-LA">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F6F3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lensh-LA">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lensh2-LA">
            <a:extLst>
              <a:ext uri="{C183D7F6-B498-43B3-948B-1728B52AA6E4}">
                <adec:decorative xmlns:adec="http://schemas.microsoft.com/office/drawing/2017/decorative" val="1"/>
              </a:ext>
            </a:extLst>
          </p:cNvPr>
          <p:cNvSpPr/>
          <p:nvPr/>
        </p:nvSpPr>
        <p:spPr>
          <a:xfrm>
            <a:off x="8936431" y="2121408"/>
            <a:ext cx="2596896" cy="109728"/>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6" name="!!lensi-LA" descr="graduation-cap-FFFFFF.png">
            <a:extLs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137599" y="1856231"/>
            <a:ext cx="419498" cy="256032"/>
          </a:xfrm>
          <a:prstGeom prst="rect">
            <a:avLst/>
          </a:prstGeom>
        </p:spPr>
      </p:pic>
      <p:sp>
        <p:nvSpPr>
          <p:cNvPr id="17" name="!!lensn-LA"/>
          <p:cNvSpPr txBox="1"/>
          <p:nvPr/>
        </p:nvSpPr>
        <p:spPr>
          <a:xfrm>
            <a:off x="9703401" y="1837943"/>
            <a:ext cx="1738485"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Learning Analytics</a:t>
            </a:r>
          </a:p>
        </p:txBody>
      </p:sp>
      <p:sp>
        <p:nvSpPr>
          <p:cNvPr id="18" name="!!lens-PM">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lensh-PM">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lensh2-PM">
            <a:extLst>
              <a:ext uri="{C183D7F6-B498-43B3-948B-1728B52AA6E4}">
                <adec:decorative xmlns:adec="http://schemas.microsoft.com/office/drawing/2017/decorative" val="1"/>
              </a:ext>
            </a:extLst>
          </p:cNvPr>
          <p:cNvSpPr/>
          <p:nvPr/>
        </p:nvSpPr>
        <p:spPr>
          <a:xfrm>
            <a:off x="8936431" y="2779776"/>
            <a:ext cx="2596896" cy="10972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1" name="!!lensi-PM" descr="tasks-FFFFFF.png">
            <a:extLs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137599" y="2514600"/>
            <a:ext cx="301783" cy="256032"/>
          </a:xfrm>
          <a:prstGeom prst="rect">
            <a:avLst/>
          </a:prstGeom>
        </p:spPr>
      </p:pic>
      <p:sp>
        <p:nvSpPr>
          <p:cNvPr id="22" name="!!lensn-PM"/>
          <p:cNvSpPr txBox="1"/>
          <p:nvPr/>
        </p:nvSpPr>
        <p:spPr>
          <a:xfrm>
            <a:off x="9585686" y="2496312"/>
            <a:ext cx="1856200"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Project Management</a:t>
            </a:r>
          </a:p>
        </p:txBody>
      </p:sp>
      <p:sp>
        <p:nvSpPr>
          <p:cNvPr id="23" name="!!lens-IOT">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lensh-IOT">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lensh2-IOT">
            <a:extLst>
              <a:ext uri="{C183D7F6-B498-43B3-948B-1728B52AA6E4}">
                <adec:decorative xmlns:adec="http://schemas.microsoft.com/office/drawing/2017/decorative" val="1"/>
              </a:ext>
            </a:extLst>
          </p:cNvPr>
          <p:cNvSpPr/>
          <p:nvPr/>
        </p:nvSpPr>
        <p:spPr>
          <a:xfrm>
            <a:off x="8936431" y="3438144"/>
            <a:ext cx="2596896" cy="10972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6" name="!!lensi-IOT" descr="microchip-FFFFFF.png">
            <a:extLs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137599" y="3172968"/>
            <a:ext cx="256032" cy="256032"/>
          </a:xfrm>
          <a:prstGeom prst="rect">
            <a:avLst/>
          </a:prstGeom>
        </p:spPr>
      </p:pic>
      <p:sp>
        <p:nvSpPr>
          <p:cNvPr id="27" name="!!lensn-IOT"/>
          <p:cNvSpPr txBox="1"/>
          <p:nvPr/>
        </p:nvSpPr>
        <p:spPr>
          <a:xfrm>
            <a:off x="9539935" y="3154679"/>
            <a:ext cx="1901951"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Internet of Things</a:t>
            </a:r>
          </a:p>
        </p:txBody>
      </p:sp>
      <p:sp>
        <p:nvSpPr>
          <p:cNvPr id="2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pfill">
            <a:extLst>
              <a:ext uri="{C183D7F6-B498-43B3-948B-1728B52AA6E4}">
                <adec:decorative xmlns:adec="http://schemas.microsoft.com/office/drawing/2017/decorative" val="1"/>
              </a:ext>
            </a:extLst>
          </p:cNvPr>
          <p:cNvSpPr/>
          <p:nvPr/>
        </p:nvSpPr>
        <p:spPr>
          <a:xfrm>
            <a:off x="0" y="0"/>
            <a:ext cx="7837518"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700">
        <p159:morph option="byObject"/>
      </p:transition>
    </mc:Choice>
    <mc:Fallback>
      <p:transition spd="med">
        <p:fade/>
      </p:transition>
    </mc:Fallback>
  </mc:AlternateContent>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Try it yourself: Distance and Descent from First Principles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TRY IT YOURSELF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4  ·  The Mathematical Toolkit</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§4.4  ·  Handout p. 25     </a:t>
            </a:r>
            <a:fld id="{B1EF5C88-0A6E-4620-A6C7-2563ADD195BF}" type="slidenum">
              <a:rPr lang="en-GB" sz="1000">
                <a:solidFill>
                  <a:srgbClr val="8795A1"/>
                </a:solidFill>
                <a:latin typeface="Segoe UI"/>
              </a:rPr>
              <a:t>28</a:t>
            </a:fld>
          </a:p>
        </p:txBody>
      </p:sp>
      <p:sp>
        <p:nvSpPr>
          <p:cNvPr id="7" name="!!labsteps-h"/>
          <p:cNvSpPr txBox="1"/>
          <p:nvPr/>
        </p:nvSpPr>
        <p:spPr>
          <a:xfrm>
            <a:off x="658368" y="1737360"/>
            <a:ext cx="10874959" cy="274320"/>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0E6655"/>
                </a:solidFill>
                <a:latin typeface="Segoe UI"/>
              </a:rPr>
              <a:t>WHAT YOU WILL DO</a:t>
            </a:r>
          </a:p>
        </p:txBody>
      </p:sp>
      <p:sp>
        <p:nvSpPr>
          <p:cNvPr id="8" name="!!labsteps"/>
          <p:cNvSpPr txBox="1"/>
          <p:nvPr/>
        </p:nvSpPr>
        <p:spPr>
          <a:xfrm>
            <a:off x="658368" y="2121408"/>
            <a:ext cx="10874959" cy="742949"/>
          </a:xfrm>
          <a:prstGeom prst="rect">
            <a:avLst/>
          </a:prstGeom>
          <a:noFill/>
        </p:spPr>
        <p:txBody>
          <a:bodyPr wrap="square" anchor="t" lIns="0" rIns="0" tIns="0" bIns="0">
            <a:noAutofit/>
          </a:bodyPr>
          <a:lstStyle/>
          <a:p>
            <a:pPr algn="l" marL="459473" indent="-459473">
              <a:lnSpc>
                <a:spcPct val="100000"/>
              </a:lnSpc>
              <a:spcBef>
                <a:spcPts val="0"/>
              </a:spcBef>
              <a:spcAft>
                <a:spcPts val="570"/>
              </a:spcAft>
            </a:pPr>
            <a:r>
              <a:rPr sz="1900" b="1">
                <a:solidFill>
                  <a:srgbClr val="117A65"/>
                </a:solidFill>
                <a:latin typeface="Segoe UI"/>
              </a:rPr>
              <a:t>1.	</a:t>
            </a:r>
            <a:r>
              <a:rPr sz="1900" b="0" i="0">
                <a:solidFill>
                  <a:srgbClr val="1C252B"/>
                </a:solidFill>
                <a:latin typeface="Segoe UI"/>
              </a:rPr>
              <a:t>Vectors and distance</a:t>
            </a:r>
          </a:p>
          <a:p>
            <a:pPr algn="l" marL="459473" indent="-459473">
              <a:lnSpc>
                <a:spcPct val="100000"/>
              </a:lnSpc>
              <a:spcBef>
                <a:spcPts val="0"/>
              </a:spcBef>
              <a:spcAft>
                <a:spcPts val="0"/>
              </a:spcAft>
            </a:pPr>
            <a:r>
              <a:rPr sz="1900" b="1">
                <a:solidFill>
                  <a:srgbClr val="117A65"/>
                </a:solidFill>
                <a:latin typeface="Segoe UI"/>
              </a:rPr>
              <a:t>2.	</a:t>
            </a:r>
            <a:r>
              <a:rPr sz="1900" b="0" i="0">
                <a:solidFill>
                  <a:srgbClr val="1C252B"/>
                </a:solidFill>
                <a:latin typeface="Segoe UI"/>
              </a:rPr>
              <a:t>Gradient descent on L(w) = w^2</a:t>
            </a:r>
          </a:p>
        </p:txBody>
      </p:sp>
      <p:sp>
        <p:nvSpPr>
          <p:cNvPr id="14" name="!!lfTHIS">
            <a:extLst>
              <a:ext uri="{C183D7F6-B498-43B3-948B-1728B52AA6E4}">
                <adec:decorative xmlns:adec="http://schemas.microsoft.com/office/drawing/2017/decorative" val="1"/>
              </a:ext>
            </a:extLst>
          </p:cNvPr>
          <p:cNvSpPr/>
          <p:nvPr/>
        </p:nvSpPr>
        <p:spPr>
          <a:xfrm>
            <a:off x="658368" y="5212080"/>
            <a:ext cx="3442106"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lfbTHIS">
            <a:extLst>
              <a:ext uri="{C183D7F6-B498-43B3-948B-1728B52AA6E4}">
                <adec:decorative xmlns:adec="http://schemas.microsoft.com/office/drawing/2017/decorative" val="1"/>
              </a:ext>
            </a:extLst>
          </p:cNvPr>
          <p:cNvSpPr/>
          <p:nvPr/>
        </p:nvSpPr>
        <p:spPr>
          <a:xfrm>
            <a:off x="658368" y="5212080"/>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lflTHIS"/>
          <p:cNvSpPr txBox="1"/>
          <p:nvPr/>
        </p:nvSpPr>
        <p:spPr>
          <a:xfrm>
            <a:off x="932688" y="5376672"/>
            <a:ext cx="3030626"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THIS WEEK'S LAB</a:t>
            </a:r>
          </a:p>
        </p:txBody>
      </p:sp>
      <p:sp>
        <p:nvSpPr>
          <p:cNvPr id="17" name="!!lfvTHIS"/>
          <p:cNvSpPr txBox="1"/>
          <p:nvPr/>
        </p:nvSpPr>
        <p:spPr>
          <a:xfrm>
            <a:off x="932688" y="5669280"/>
            <a:ext cx="3030626" cy="566928"/>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Week 2: Ten-minute audit; distance &amp; descent</a:t>
            </a:r>
          </a:p>
        </p:txBody>
      </p:sp>
      <p:sp>
        <p:nvSpPr>
          <p:cNvPr id="18" name="!!lfWHAT">
            <a:extLst>
              <a:ext uri="{C183D7F6-B498-43B3-948B-1728B52AA6E4}">
                <adec:decorative xmlns:adec="http://schemas.microsoft.com/office/drawing/2017/decorative" val="1"/>
              </a:ext>
            </a:extLst>
          </p:cNvPr>
          <p:cNvSpPr/>
          <p:nvPr/>
        </p:nvSpPr>
        <p:spPr>
          <a:xfrm>
            <a:off x="4374794" y="5212080"/>
            <a:ext cx="3442106"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lfbWHAT">
            <a:extLst>
              <a:ext uri="{C183D7F6-B498-43B3-948B-1728B52AA6E4}">
                <adec:decorative xmlns:adec="http://schemas.microsoft.com/office/drawing/2017/decorative" val="1"/>
              </a:ext>
            </a:extLst>
          </p:cNvPr>
          <p:cNvSpPr/>
          <p:nvPr/>
        </p:nvSpPr>
        <p:spPr>
          <a:xfrm>
            <a:off x="4374794" y="5212080"/>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lflWHAT"/>
          <p:cNvSpPr txBox="1"/>
          <p:nvPr/>
        </p:nvSpPr>
        <p:spPr>
          <a:xfrm>
            <a:off x="4649114" y="5376672"/>
            <a:ext cx="3030626"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WHAT YOU WILL RUN</a:t>
            </a:r>
          </a:p>
        </p:txBody>
      </p:sp>
      <p:sp>
        <p:nvSpPr>
          <p:cNvPr id="21" name="!!lfvWHAT"/>
          <p:cNvSpPr txBox="1"/>
          <p:nvPr/>
        </p:nvSpPr>
        <p:spPr>
          <a:xfrm>
            <a:off x="4649114" y="5669280"/>
            <a:ext cx="3030626" cy="566928"/>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1 listing, 24 lines of Python</a:t>
            </a:r>
          </a:p>
        </p:txBody>
      </p:sp>
      <p:sp>
        <p:nvSpPr>
          <p:cNvPr id="22" name="!!lfRUNN">
            <a:extLst>
              <a:ext uri="{C183D7F6-B498-43B3-948B-1728B52AA6E4}">
                <adec:decorative xmlns:adec="http://schemas.microsoft.com/office/drawing/2017/decorative" val="1"/>
              </a:ext>
            </a:extLst>
          </p:cNvPr>
          <p:cNvSpPr/>
          <p:nvPr/>
        </p:nvSpPr>
        <p:spPr>
          <a:xfrm>
            <a:off x="8091220" y="5212080"/>
            <a:ext cx="3442106"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lfbRUNN">
            <a:extLst>
              <a:ext uri="{C183D7F6-B498-43B3-948B-1728B52AA6E4}">
                <adec:decorative xmlns:adec="http://schemas.microsoft.com/office/drawing/2017/decorative" val="1"/>
              </a:ext>
            </a:extLst>
          </p:cNvPr>
          <p:cNvSpPr/>
          <p:nvPr/>
        </p:nvSpPr>
        <p:spPr>
          <a:xfrm>
            <a:off x="8091220" y="5212080"/>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lflRUNN"/>
          <p:cNvSpPr txBox="1"/>
          <p:nvPr/>
        </p:nvSpPr>
        <p:spPr>
          <a:xfrm>
            <a:off x="8365540" y="5376672"/>
            <a:ext cx="3030626"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RUNNABLE COPY</a:t>
            </a:r>
          </a:p>
        </p:txBody>
      </p:sp>
      <p:sp>
        <p:nvSpPr>
          <p:cNvPr id="25" name="!!lfvRUNN"/>
          <p:cNvSpPr txBox="1"/>
          <p:nvPr/>
        </p:nvSpPr>
        <p:spPr>
          <a:xfrm>
            <a:off x="8365540" y="5669280"/>
            <a:ext cx="3030626" cy="566928"/>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Consolas"/>
              </a:rPr>
              <a:t>code/ch04_distance_descent.py</a:t>
            </a:r>
          </a:p>
        </p:txBody>
      </p:sp>
      <p:sp>
        <p:nvSpPr>
          <p:cNvPr id="2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7" name="!!pfill">
            <a:extLst>
              <a:ext uri="{C183D7F6-B498-43B3-948B-1728B52AA6E4}">
                <adec:decorative xmlns:adec="http://schemas.microsoft.com/office/drawing/2017/decorative" val="1"/>
              </a:ext>
            </a:extLst>
          </p:cNvPr>
          <p:cNvSpPr/>
          <p:nvPr/>
        </p:nvSpPr>
        <p:spPr>
          <a:xfrm>
            <a:off x="0" y="0"/>
            <a:ext cx="8127796"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8">
                                            <p:txEl>
                                              <p:pRg st="0" end="0"/>
                                            </p:txEl>
                                          </p:spTgt>
                                        </p:tgtEl>
                                        <p:attrNameLst>
                                          <p:attrName>style.visibility</p:attrName>
                                        </p:attrNameLst>
                                      </p:cBhvr>
                                      <p:to>
                                        <p:strVal val="visible"/>
                                      </p:to>
                                    </p:set>
                                    <p:animEffect transition="in" filter="fade">
                                      <p:cBhvr>
                                        <p:cTn id="8" dur="300"/>
                                        <p:tgtEl>
                                          <p:spTgt spid="8">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8">
                                            <p:txEl>
                                              <p:pRg st="1" end="1"/>
                                            </p:txEl>
                                          </p:spTgt>
                                        </p:tgtEl>
                                        <p:attrNameLst>
                                          <p:attrName>style.visibility</p:attrName>
                                        </p:attrNameLst>
                                      </p:cBhvr>
                                      <p:to>
                                        <p:strVal val="visible"/>
                                      </p:to>
                                    </p:set>
                                    <p:animEffect transition="in" filter="fade">
                                      <p:cBhvr>
                                        <p:cTn id="13" dur="300"/>
                                        <p:tgtEl>
                                          <p:spTgt spid="8">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Lst>
  </p:timing>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Distance and Descent from First Principles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1 OF 3</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4  ·  The Mathematical Toolkit</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§4.4  ·  Handout p. 25     </a:t>
            </a:r>
            <a:fld id="{873F760F-0F42-4FC3-9A3C-24B385788B1B}" type="slidenum">
              <a:rPr lang="en-GB" sz="1000">
                <a:solidFill>
                  <a:srgbClr val="8795A1"/>
                </a:solidFill>
                <a:latin typeface="Segoe UI"/>
              </a:rPr>
              <a:t>29</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Set-up</a:t>
            </a:r>
          </a:p>
        </p:txBody>
      </p:sp>
      <p:sp>
        <p:nvSpPr>
          <p:cNvPr id="8" name="!!code-bg">
            <a:extLst>
              <a:ext uri="{C183D7F6-B498-43B3-948B-1728B52AA6E4}">
                <adec:decorative xmlns:adec="http://schemas.microsoft.com/office/drawing/2017/decorative" val="1"/>
              </a:ext>
            </a:extLst>
          </p:cNvPr>
          <p:cNvSpPr/>
          <p:nvPr/>
        </p:nvSpPr>
        <p:spPr>
          <a:xfrm>
            <a:off x="658368" y="2084831"/>
            <a:ext cx="10874959" cy="908303"/>
          </a:xfrm>
          <a:prstGeom prst="roundRect">
            <a:avLst>
              <a:gd name="adj" fmla="val 10067"/>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code/ch04_distance_descent.py</a:t>
            </a:r>
          </a:p>
        </p:txBody>
      </p:sp>
      <p:sp>
        <p:nvSpPr>
          <p:cNvPr id="14" name="!!code-text" descr="import numpy as np"/>
          <p:cNvSpPr txBox="1"/>
          <p:nvPr/>
        </p:nvSpPr>
        <p:spPr>
          <a:xfrm>
            <a:off x="1362456" y="2523744"/>
            <a:ext cx="9987991" cy="414527"/>
          </a:xfrm>
          <a:prstGeom prst="rect">
            <a:avLst/>
          </a:prstGeom>
          <a:noFill/>
        </p:spPr>
        <p:txBody>
          <a:bodyPr wrap="none" anchor="t" lIns="0" rIns="0" tIns="0" bIns="0">
            <a:noAutofit/>
          </a:bodyPr>
          <a:lstStyle/>
          <a:p>
            <a:pPr>
              <a:lnSpc>
                <a:spcPct val="100000"/>
              </a:lnSpc>
              <a:spcAft>
                <a:spcPts val="0"/>
              </a:spcAft>
            </a:pPr>
            <a:r>
              <a:rPr sz="2000" i="0">
                <a:solidFill>
                  <a:srgbClr val="5DADE2"/>
                </a:solidFill>
                <a:latin typeface="Consolas"/>
              </a:rPr>
              <a:t>import</a:t>
            </a:r>
            <a:r>
              <a:rPr sz="2000" i="0">
                <a:solidFill>
                  <a:srgbClr val="E8EDF2"/>
                </a:solidFill>
                <a:latin typeface="Consolas"/>
              </a:rPr>
              <a:t> </a:t>
            </a:r>
            <a:r>
              <a:rPr sz="2000" i="0">
                <a:solidFill>
                  <a:srgbClr val="76D7C4"/>
                </a:solidFill>
                <a:latin typeface="Consolas"/>
              </a:rPr>
              <a:t>numpy</a:t>
            </a:r>
            <a:r>
              <a:rPr sz="2000" i="0">
                <a:solidFill>
                  <a:srgbClr val="E8EDF2"/>
                </a:solidFill>
                <a:latin typeface="Consolas"/>
              </a:rPr>
              <a:t> </a:t>
            </a:r>
            <a:r>
              <a:rPr sz="2000" i="0">
                <a:solidFill>
                  <a:srgbClr val="5DADE2"/>
                </a:solidFill>
                <a:latin typeface="Consolas"/>
              </a:rPr>
              <a:t>as</a:t>
            </a:r>
            <a:r>
              <a:rPr sz="2000" i="0">
                <a:solidFill>
                  <a:srgbClr val="E8EDF2"/>
                </a:solidFill>
                <a:latin typeface="Consolas"/>
              </a:rPr>
              <a:t> </a:t>
            </a:r>
            <a:r>
              <a:rPr sz="2000" i="0">
                <a:solidFill>
                  <a:srgbClr val="76D7C4"/>
                </a:solidFill>
                <a:latin typeface="Consolas"/>
              </a:rPr>
              <a:t>np</a:t>
            </a:r>
          </a:p>
        </p:txBody>
      </p:sp>
      <p:sp>
        <p:nvSpPr>
          <p:cNvPr id="15" name="!!code-num"/>
          <p:cNvSpPr txBox="1"/>
          <p:nvPr/>
        </p:nvSpPr>
        <p:spPr>
          <a:xfrm>
            <a:off x="768096" y="2523744"/>
            <a:ext cx="393192" cy="414527"/>
          </a:xfrm>
          <a:prstGeom prst="rect">
            <a:avLst/>
          </a:prstGeom>
          <a:noFill/>
        </p:spPr>
        <p:txBody>
          <a:bodyPr wrap="none" anchor="t" lIns="0" rIns="0" tIns="0" bIns="0">
            <a:noAutofit/>
          </a:bodyPr>
          <a:lstStyle/>
          <a:p>
            <a:pPr algn="r">
              <a:lnSpc>
                <a:spcPct val="100000"/>
              </a:lnSpc>
            </a:pPr>
            <a:r>
              <a:rPr sz="2000">
                <a:solidFill>
                  <a:srgbClr val="4F5D6A"/>
                </a:solidFill>
                <a:latin typeface="Consolas"/>
              </a:rPr>
              <a:t>1</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418075"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p:transition spd="med">
        <p:fade/>
      </p:transition>
    </mc:Fallback>
  </mc:AlternateContent>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Distance and Descent from First Principles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2 OF 3</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4  ·  The Mathematical Toolkit</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§4.4  ·  Handout p. 25     </a:t>
            </a:r>
            <a:fld id="{C5DAB83A-8987-4D1C-B4C9-678A18DB27BD}" type="slidenum">
              <a:rPr lang="en-GB" sz="1000">
                <a:solidFill>
                  <a:srgbClr val="8795A1"/>
                </a:solidFill>
                <a:latin typeface="Segoe UI"/>
              </a:rPr>
              <a:t>30</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Vectors and distance</a:t>
            </a:r>
          </a:p>
        </p:txBody>
      </p:sp>
      <p:sp>
        <p:nvSpPr>
          <p:cNvPr id="8" name="!!code-bg">
            <a:extLst>
              <a:ext uri="{C183D7F6-B498-43B3-948B-1728B52AA6E4}">
                <adec:decorative xmlns:adec="http://schemas.microsoft.com/office/drawing/2017/decorative" val="1"/>
              </a:ext>
            </a:extLst>
          </p:cNvPr>
          <p:cNvSpPr/>
          <p:nvPr/>
        </p:nvSpPr>
        <p:spPr>
          <a:xfrm>
            <a:off x="658368" y="2084831"/>
            <a:ext cx="10874959" cy="4169664"/>
          </a:xfrm>
          <a:prstGeom prst="roundRect">
            <a:avLst>
              <a:gd name="adj" fmla="val 2192"/>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code/ch04_distance_descent.py</a:t>
            </a:r>
          </a:p>
        </p:txBody>
      </p:sp>
      <p:sp>
        <p:nvSpPr>
          <p:cNvPr id="14" name="!!code-text" descr="# --- vectors and distance ------------------------------------------- a = np.array([92, 8, 12]) # engaged student b = np.array([45, 3, 0]) # disengaged student print(&quot;dot product :&quot;, a @ b) print(&quot;norm of a :&quot;, np.linalg.norm(a)) print(&quot;distance a-b:&quot;, np.linalg.norm(a - b)) # ~48.8 # Now scale each feature to 0-1 and recompute: the answer changes a lot, # because attendance no longer dominates purely by having a bigger range. lo, hi = np.array([0,0,0]), np.array([100, 10, 25]) a_s, b_s = (a - lo)/(hi - lo), (b - lo)/(hi - lo) print(&quot;scaled distance:&quot;, np.linalg.norm(a_s - b_s))"/>
          <p:cNvSpPr txBox="1"/>
          <p:nvPr/>
        </p:nvSpPr>
        <p:spPr>
          <a:xfrm>
            <a:off x="1362456" y="2523744"/>
            <a:ext cx="9987991" cy="3675888"/>
          </a:xfrm>
          <a:prstGeom prst="rect">
            <a:avLst/>
          </a:prstGeom>
          <a:noFill/>
        </p:spPr>
        <p:txBody>
          <a:bodyPr wrap="none" anchor="t" lIns="0" rIns="0" tIns="0" bIns="0">
            <a:noAutofit/>
          </a:bodyPr>
          <a:lstStyle/>
          <a:p>
            <a:pPr>
              <a:lnSpc>
                <a:spcPct val="100000"/>
              </a:lnSpc>
              <a:spcAft>
                <a:spcPts val="0"/>
              </a:spcAft>
            </a:pPr>
            <a:r>
              <a:rPr sz="1800" i="1">
                <a:solidFill>
                  <a:srgbClr val="8795A1"/>
                </a:solidFill>
                <a:latin typeface="Consolas"/>
              </a:rPr>
              <a:t># --- vectors and distance -------------------------------------------</a:t>
            </a:r>
          </a:p>
          <a:p>
            <a:pPr>
              <a:lnSpc>
                <a:spcPct val="100000"/>
              </a:lnSpc>
              <a:spcAft>
                <a:spcPts val="0"/>
              </a:spcAft>
            </a:pPr>
            <a:r>
              <a:rPr sz="1800" i="0">
                <a:solidFill>
                  <a:srgbClr val="E8EDF2"/>
                </a:solidFill>
                <a:latin typeface="Consolas"/>
              </a:rPr>
              <a:t>a</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np</a:t>
            </a:r>
            <a:r>
              <a:rPr sz="1800" i="0">
                <a:solidFill>
                  <a:srgbClr val="AEB6BF"/>
                </a:solidFill>
                <a:latin typeface="Consolas"/>
              </a:rPr>
              <a:t>.</a:t>
            </a:r>
            <a:r>
              <a:rPr sz="1800" i="0">
                <a:solidFill>
                  <a:srgbClr val="E8EDF2"/>
                </a:solidFill>
                <a:latin typeface="Consolas"/>
              </a:rPr>
              <a:t>array</a:t>
            </a:r>
            <a:r>
              <a:rPr sz="1800" i="0">
                <a:solidFill>
                  <a:srgbClr val="AEB6BF"/>
                </a:solidFill>
                <a:latin typeface="Consolas"/>
              </a:rPr>
              <a:t>(</a:t>
            </a:r>
            <a:r>
              <a:rPr sz="1800" i="0">
                <a:solidFill>
                  <a:srgbClr val="AEB6BF"/>
                </a:solidFill>
                <a:latin typeface="Consolas"/>
              </a:rPr>
              <a:t>[</a:t>
            </a:r>
            <a:r>
              <a:rPr sz="1800" i="0">
                <a:solidFill>
                  <a:srgbClr val="F7DC6F"/>
                </a:solidFill>
                <a:latin typeface="Consolas"/>
              </a:rPr>
              <a:t>92</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8</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12</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1">
                <a:solidFill>
                  <a:srgbClr val="8795A1"/>
                </a:solidFill>
                <a:latin typeface="Consolas"/>
              </a:rPr>
              <a:t># engaged student</a:t>
            </a:r>
          </a:p>
          <a:p>
            <a:pPr>
              <a:lnSpc>
                <a:spcPct val="100000"/>
              </a:lnSpc>
              <a:spcAft>
                <a:spcPts val="0"/>
              </a:spcAft>
            </a:pPr>
            <a:r>
              <a:rPr sz="1800" i="0">
                <a:solidFill>
                  <a:srgbClr val="E8EDF2"/>
                </a:solidFill>
                <a:latin typeface="Consolas"/>
              </a:rPr>
              <a:t>b</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np</a:t>
            </a:r>
            <a:r>
              <a:rPr sz="1800" i="0">
                <a:solidFill>
                  <a:srgbClr val="AEB6BF"/>
                </a:solidFill>
                <a:latin typeface="Consolas"/>
              </a:rPr>
              <a:t>.</a:t>
            </a:r>
            <a:r>
              <a:rPr sz="1800" i="0">
                <a:solidFill>
                  <a:srgbClr val="E8EDF2"/>
                </a:solidFill>
                <a:latin typeface="Consolas"/>
              </a:rPr>
              <a:t>array</a:t>
            </a:r>
            <a:r>
              <a:rPr sz="1800" i="0">
                <a:solidFill>
                  <a:srgbClr val="AEB6BF"/>
                </a:solidFill>
                <a:latin typeface="Consolas"/>
              </a:rPr>
              <a:t>(</a:t>
            </a:r>
            <a:r>
              <a:rPr sz="1800" i="0">
                <a:solidFill>
                  <a:srgbClr val="AEB6BF"/>
                </a:solidFill>
                <a:latin typeface="Consolas"/>
              </a:rPr>
              <a:t>[</a:t>
            </a:r>
            <a:r>
              <a:rPr sz="1800" i="0">
                <a:solidFill>
                  <a:srgbClr val="F7DC6F"/>
                </a:solidFill>
                <a:latin typeface="Consolas"/>
              </a:rPr>
              <a:t>45</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3</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0</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1">
                <a:solidFill>
                  <a:srgbClr val="8795A1"/>
                </a:solidFill>
                <a:latin typeface="Consolas"/>
              </a:rPr>
              <a:t># disengaged student</a:t>
            </a:r>
          </a:p>
          <a:p>
            <a:pPr>
              <a:lnSpc>
                <a:spcPct val="100000"/>
              </a:lnSpc>
              <a:spcAft>
                <a:spcPts val="0"/>
              </a:spcAft>
            </a:pPr>
            <a:r>
              <a:rPr sz="1800">
                <a:latin typeface="Consolas"/>
              </a:rPr>
              <a:t> </a:t>
            </a:r>
          </a:p>
          <a:p>
            <a:pPr>
              <a:lnSpc>
                <a:spcPct val="100000"/>
              </a:lnSpc>
              <a:spcAft>
                <a:spcPts val="0"/>
              </a:spcAft>
            </a:pPr>
            <a:r>
              <a:rPr sz="1800" i="0">
                <a:solidFill>
                  <a:srgbClr val="C39BD3"/>
                </a:solidFill>
                <a:latin typeface="Consolas"/>
              </a:rPr>
              <a:t>print</a:t>
            </a:r>
            <a:r>
              <a:rPr sz="1800" i="0">
                <a:solidFill>
                  <a:srgbClr val="AEB6BF"/>
                </a:solidFill>
                <a:latin typeface="Consolas"/>
              </a:rPr>
              <a:t>(</a:t>
            </a:r>
            <a:r>
              <a:rPr sz="1800" i="0">
                <a:solidFill>
                  <a:srgbClr val="7DCEA0"/>
                </a:solidFill>
                <a:latin typeface="Consolas"/>
              </a:rPr>
              <a:t>"</a:t>
            </a:r>
            <a:r>
              <a:rPr sz="1800" i="0">
                <a:solidFill>
                  <a:srgbClr val="7DCEA0"/>
                </a:solidFill>
                <a:latin typeface="Consolas"/>
              </a:rPr>
              <a:t>dot product :</a:t>
            </a:r>
            <a:r>
              <a:rPr sz="1800" i="0">
                <a:solidFill>
                  <a:srgbClr val="7DCEA0"/>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a</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b</a:t>
            </a:r>
            <a:r>
              <a:rPr sz="1800" i="0">
                <a:solidFill>
                  <a:srgbClr val="AEB6BF"/>
                </a:solidFill>
                <a:latin typeface="Consolas"/>
              </a:rPr>
              <a:t>)</a:t>
            </a:r>
          </a:p>
          <a:p>
            <a:pPr>
              <a:lnSpc>
                <a:spcPct val="100000"/>
              </a:lnSpc>
              <a:spcAft>
                <a:spcPts val="0"/>
              </a:spcAft>
            </a:pPr>
            <a:r>
              <a:rPr sz="1800" i="0">
                <a:solidFill>
                  <a:srgbClr val="C39BD3"/>
                </a:solidFill>
                <a:latin typeface="Consolas"/>
              </a:rPr>
              <a:t>print</a:t>
            </a:r>
            <a:r>
              <a:rPr sz="1800" i="0">
                <a:solidFill>
                  <a:srgbClr val="AEB6BF"/>
                </a:solidFill>
                <a:latin typeface="Consolas"/>
              </a:rPr>
              <a:t>(</a:t>
            </a:r>
            <a:r>
              <a:rPr sz="1800" i="0">
                <a:solidFill>
                  <a:srgbClr val="7DCEA0"/>
                </a:solidFill>
                <a:latin typeface="Consolas"/>
              </a:rPr>
              <a:t>"</a:t>
            </a:r>
            <a:r>
              <a:rPr sz="1800" i="0">
                <a:solidFill>
                  <a:srgbClr val="7DCEA0"/>
                </a:solidFill>
                <a:latin typeface="Consolas"/>
              </a:rPr>
              <a:t>norm of a   :</a:t>
            </a:r>
            <a:r>
              <a:rPr sz="1800" i="0">
                <a:solidFill>
                  <a:srgbClr val="7DCEA0"/>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np</a:t>
            </a:r>
            <a:r>
              <a:rPr sz="1800" i="0">
                <a:solidFill>
                  <a:srgbClr val="AEB6BF"/>
                </a:solidFill>
                <a:latin typeface="Consolas"/>
              </a:rPr>
              <a:t>.</a:t>
            </a:r>
            <a:r>
              <a:rPr sz="1800" i="0">
                <a:solidFill>
                  <a:srgbClr val="E8EDF2"/>
                </a:solidFill>
                <a:latin typeface="Consolas"/>
              </a:rPr>
              <a:t>linalg</a:t>
            </a:r>
            <a:r>
              <a:rPr sz="1800" i="0">
                <a:solidFill>
                  <a:srgbClr val="AEB6BF"/>
                </a:solidFill>
                <a:latin typeface="Consolas"/>
              </a:rPr>
              <a:t>.</a:t>
            </a:r>
            <a:r>
              <a:rPr sz="1800" i="0">
                <a:solidFill>
                  <a:srgbClr val="E8EDF2"/>
                </a:solidFill>
                <a:latin typeface="Consolas"/>
              </a:rPr>
              <a:t>norm</a:t>
            </a:r>
            <a:r>
              <a:rPr sz="1800" i="0">
                <a:solidFill>
                  <a:srgbClr val="AEB6BF"/>
                </a:solidFill>
                <a:latin typeface="Consolas"/>
              </a:rPr>
              <a:t>(</a:t>
            </a:r>
            <a:r>
              <a:rPr sz="1800" i="0">
                <a:solidFill>
                  <a:srgbClr val="E8EDF2"/>
                </a:solidFill>
                <a:latin typeface="Consolas"/>
              </a:rPr>
              <a:t>a</a:t>
            </a:r>
            <a:r>
              <a:rPr sz="1800" i="0">
                <a:solidFill>
                  <a:srgbClr val="AEB6BF"/>
                </a:solidFill>
                <a:latin typeface="Consolas"/>
              </a:rPr>
              <a:t>)</a:t>
            </a:r>
            <a:r>
              <a:rPr sz="1800" i="0">
                <a:solidFill>
                  <a:srgbClr val="AEB6BF"/>
                </a:solidFill>
                <a:latin typeface="Consolas"/>
              </a:rPr>
              <a:t>)</a:t>
            </a:r>
          </a:p>
          <a:p>
            <a:pPr>
              <a:lnSpc>
                <a:spcPct val="100000"/>
              </a:lnSpc>
              <a:spcAft>
                <a:spcPts val="0"/>
              </a:spcAft>
            </a:pPr>
            <a:r>
              <a:rPr sz="1800" i="0">
                <a:solidFill>
                  <a:srgbClr val="C39BD3"/>
                </a:solidFill>
                <a:latin typeface="Consolas"/>
              </a:rPr>
              <a:t>print</a:t>
            </a:r>
            <a:r>
              <a:rPr sz="1800" i="0">
                <a:solidFill>
                  <a:srgbClr val="AEB6BF"/>
                </a:solidFill>
                <a:latin typeface="Consolas"/>
              </a:rPr>
              <a:t>(</a:t>
            </a:r>
            <a:r>
              <a:rPr sz="1800" i="0">
                <a:solidFill>
                  <a:srgbClr val="7DCEA0"/>
                </a:solidFill>
                <a:latin typeface="Consolas"/>
              </a:rPr>
              <a:t>"</a:t>
            </a:r>
            <a:r>
              <a:rPr sz="1800" i="0">
                <a:solidFill>
                  <a:srgbClr val="7DCEA0"/>
                </a:solidFill>
                <a:latin typeface="Consolas"/>
              </a:rPr>
              <a:t>distance a-b:</a:t>
            </a:r>
            <a:r>
              <a:rPr sz="1800" i="0">
                <a:solidFill>
                  <a:srgbClr val="7DCEA0"/>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np</a:t>
            </a:r>
            <a:r>
              <a:rPr sz="1800" i="0">
                <a:solidFill>
                  <a:srgbClr val="AEB6BF"/>
                </a:solidFill>
                <a:latin typeface="Consolas"/>
              </a:rPr>
              <a:t>.</a:t>
            </a:r>
            <a:r>
              <a:rPr sz="1800" i="0">
                <a:solidFill>
                  <a:srgbClr val="E8EDF2"/>
                </a:solidFill>
                <a:latin typeface="Consolas"/>
              </a:rPr>
              <a:t>linalg</a:t>
            </a:r>
            <a:r>
              <a:rPr sz="1800" i="0">
                <a:solidFill>
                  <a:srgbClr val="AEB6BF"/>
                </a:solidFill>
                <a:latin typeface="Consolas"/>
              </a:rPr>
              <a:t>.</a:t>
            </a:r>
            <a:r>
              <a:rPr sz="1800" i="0">
                <a:solidFill>
                  <a:srgbClr val="E8EDF2"/>
                </a:solidFill>
                <a:latin typeface="Consolas"/>
              </a:rPr>
              <a:t>norm</a:t>
            </a:r>
            <a:r>
              <a:rPr sz="1800" i="0">
                <a:solidFill>
                  <a:srgbClr val="AEB6BF"/>
                </a:solidFill>
                <a:latin typeface="Consolas"/>
              </a:rPr>
              <a:t>(</a:t>
            </a:r>
            <a:r>
              <a:rPr sz="1800" i="0">
                <a:solidFill>
                  <a:srgbClr val="E8EDF2"/>
                </a:solidFill>
                <a:latin typeface="Consolas"/>
              </a:rPr>
              <a:t>a</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b</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1">
                <a:solidFill>
                  <a:srgbClr val="8795A1"/>
                </a:solidFill>
                <a:latin typeface="Consolas"/>
              </a:rPr>
              <a:t># ~48.8</a:t>
            </a:r>
          </a:p>
          <a:p>
            <a:pPr>
              <a:lnSpc>
                <a:spcPct val="100000"/>
              </a:lnSpc>
              <a:spcAft>
                <a:spcPts val="0"/>
              </a:spcAft>
            </a:pPr>
            <a:r>
              <a:rPr sz="1800">
                <a:latin typeface="Consolas"/>
              </a:rPr>
              <a:t> </a:t>
            </a:r>
          </a:p>
          <a:p>
            <a:pPr>
              <a:lnSpc>
                <a:spcPct val="100000"/>
              </a:lnSpc>
              <a:spcAft>
                <a:spcPts val="0"/>
              </a:spcAft>
            </a:pPr>
            <a:r>
              <a:rPr sz="1800" i="1">
                <a:solidFill>
                  <a:srgbClr val="8795A1"/>
                </a:solidFill>
                <a:latin typeface="Consolas"/>
              </a:rPr>
              <a:t># Now scale each feature to 0-1 and recompute: the answer changes a lot,</a:t>
            </a:r>
          </a:p>
          <a:p>
            <a:pPr>
              <a:lnSpc>
                <a:spcPct val="100000"/>
              </a:lnSpc>
              <a:spcAft>
                <a:spcPts val="0"/>
              </a:spcAft>
            </a:pPr>
            <a:r>
              <a:rPr sz="1800" i="1">
                <a:solidFill>
                  <a:srgbClr val="8795A1"/>
                </a:solidFill>
                <a:latin typeface="Consolas"/>
              </a:rPr>
              <a:t># because attendance no longer dominates purely by having a bigger range.</a:t>
            </a:r>
          </a:p>
          <a:p>
            <a:pPr>
              <a:lnSpc>
                <a:spcPct val="100000"/>
              </a:lnSpc>
              <a:spcAft>
                <a:spcPts val="0"/>
              </a:spcAft>
            </a:pPr>
            <a:r>
              <a:rPr sz="1800" i="0">
                <a:solidFill>
                  <a:srgbClr val="E8EDF2"/>
                </a:solidFill>
                <a:latin typeface="Consolas"/>
              </a:rPr>
              <a:t>lo</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hi</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np</a:t>
            </a:r>
            <a:r>
              <a:rPr sz="1800" i="0">
                <a:solidFill>
                  <a:srgbClr val="AEB6BF"/>
                </a:solidFill>
                <a:latin typeface="Consolas"/>
              </a:rPr>
              <a:t>.</a:t>
            </a:r>
            <a:r>
              <a:rPr sz="1800" i="0">
                <a:solidFill>
                  <a:srgbClr val="E8EDF2"/>
                </a:solidFill>
                <a:latin typeface="Consolas"/>
              </a:rPr>
              <a:t>array</a:t>
            </a:r>
            <a:r>
              <a:rPr sz="1800" i="0">
                <a:solidFill>
                  <a:srgbClr val="AEB6BF"/>
                </a:solidFill>
                <a:latin typeface="Consolas"/>
              </a:rPr>
              <a:t>(</a:t>
            </a:r>
            <a:r>
              <a:rPr sz="1800" i="0">
                <a:solidFill>
                  <a:srgbClr val="AEB6BF"/>
                </a:solidFill>
                <a:latin typeface="Consolas"/>
              </a:rPr>
              <a:t>[</a:t>
            </a:r>
            <a:r>
              <a:rPr sz="1800" i="0">
                <a:solidFill>
                  <a:srgbClr val="F7DC6F"/>
                </a:solidFill>
                <a:latin typeface="Consolas"/>
              </a:rPr>
              <a:t>0</a:t>
            </a:r>
            <a:r>
              <a:rPr sz="1800" i="0">
                <a:solidFill>
                  <a:srgbClr val="AEB6BF"/>
                </a:solidFill>
                <a:latin typeface="Consolas"/>
              </a:rPr>
              <a:t>,</a:t>
            </a:r>
            <a:r>
              <a:rPr sz="1800" i="0">
                <a:solidFill>
                  <a:srgbClr val="F7DC6F"/>
                </a:solidFill>
                <a:latin typeface="Consolas"/>
              </a:rPr>
              <a:t>0</a:t>
            </a:r>
            <a:r>
              <a:rPr sz="1800" i="0">
                <a:solidFill>
                  <a:srgbClr val="AEB6BF"/>
                </a:solidFill>
                <a:latin typeface="Consolas"/>
              </a:rPr>
              <a:t>,</a:t>
            </a:r>
            <a:r>
              <a:rPr sz="1800" i="0">
                <a:solidFill>
                  <a:srgbClr val="F7DC6F"/>
                </a:solidFill>
                <a:latin typeface="Consolas"/>
              </a:rPr>
              <a:t>0</a:t>
            </a:r>
            <a:r>
              <a:rPr sz="1800" i="0">
                <a:solidFill>
                  <a:srgbClr val="AEB6BF"/>
                </a:solidFill>
                <a:latin typeface="Consolas"/>
              </a:rPr>
              <a:t>]</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np</a:t>
            </a:r>
            <a:r>
              <a:rPr sz="1800" i="0">
                <a:solidFill>
                  <a:srgbClr val="AEB6BF"/>
                </a:solidFill>
                <a:latin typeface="Consolas"/>
              </a:rPr>
              <a:t>.</a:t>
            </a:r>
            <a:r>
              <a:rPr sz="1800" i="0">
                <a:solidFill>
                  <a:srgbClr val="E8EDF2"/>
                </a:solidFill>
                <a:latin typeface="Consolas"/>
              </a:rPr>
              <a:t>array</a:t>
            </a:r>
            <a:r>
              <a:rPr sz="1800" i="0">
                <a:solidFill>
                  <a:srgbClr val="AEB6BF"/>
                </a:solidFill>
                <a:latin typeface="Consolas"/>
              </a:rPr>
              <a:t>(</a:t>
            </a:r>
            <a:r>
              <a:rPr sz="1800" i="0">
                <a:solidFill>
                  <a:srgbClr val="AEB6BF"/>
                </a:solidFill>
                <a:latin typeface="Consolas"/>
              </a:rPr>
              <a:t>[</a:t>
            </a:r>
            <a:r>
              <a:rPr sz="1800" i="0">
                <a:solidFill>
                  <a:srgbClr val="F7DC6F"/>
                </a:solidFill>
                <a:latin typeface="Consolas"/>
              </a:rPr>
              <a:t>100</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10</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25</a:t>
            </a:r>
            <a:r>
              <a:rPr sz="1800" i="0">
                <a:solidFill>
                  <a:srgbClr val="AEB6BF"/>
                </a:solidFill>
                <a:latin typeface="Consolas"/>
              </a:rPr>
              <a:t>]</a:t>
            </a:r>
            <a:r>
              <a:rPr sz="1800" i="0">
                <a:solidFill>
                  <a:srgbClr val="AEB6BF"/>
                </a:solidFill>
                <a:latin typeface="Consolas"/>
              </a:rPr>
              <a:t>)</a:t>
            </a:r>
          </a:p>
          <a:p>
            <a:pPr>
              <a:lnSpc>
                <a:spcPct val="100000"/>
              </a:lnSpc>
              <a:spcAft>
                <a:spcPts val="0"/>
              </a:spcAft>
            </a:pPr>
            <a:r>
              <a:rPr sz="1800" i="0">
                <a:solidFill>
                  <a:srgbClr val="E8EDF2"/>
                </a:solidFill>
                <a:latin typeface="Consolas"/>
              </a:rPr>
              <a:t>a_s</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b_s</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a</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lo</a:t>
            </a:r>
            <a:r>
              <a:rPr sz="1800" i="0">
                <a:solidFill>
                  <a:srgbClr val="AEB6BF"/>
                </a:solidFill>
                <a:latin typeface="Consolas"/>
              </a:rPr>
              <a:t>)</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hi</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lo</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b</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lo</a:t>
            </a:r>
            <a:r>
              <a:rPr sz="1800" i="0">
                <a:solidFill>
                  <a:srgbClr val="AEB6BF"/>
                </a:solidFill>
                <a:latin typeface="Consolas"/>
              </a:rPr>
              <a:t>)</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hi</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lo</a:t>
            </a:r>
            <a:r>
              <a:rPr sz="1800" i="0">
                <a:solidFill>
                  <a:srgbClr val="AEB6BF"/>
                </a:solidFill>
                <a:latin typeface="Consolas"/>
              </a:rPr>
              <a:t>)</a:t>
            </a:r>
          </a:p>
          <a:p>
            <a:pPr>
              <a:lnSpc>
                <a:spcPct val="100000"/>
              </a:lnSpc>
              <a:spcAft>
                <a:spcPts val="0"/>
              </a:spcAft>
            </a:pPr>
            <a:r>
              <a:rPr sz="1800" i="0">
                <a:solidFill>
                  <a:srgbClr val="C39BD3"/>
                </a:solidFill>
                <a:latin typeface="Consolas"/>
              </a:rPr>
              <a:t>print</a:t>
            </a:r>
            <a:r>
              <a:rPr sz="1800" i="0">
                <a:solidFill>
                  <a:srgbClr val="AEB6BF"/>
                </a:solidFill>
                <a:latin typeface="Consolas"/>
              </a:rPr>
              <a:t>(</a:t>
            </a:r>
            <a:r>
              <a:rPr sz="1800" i="0">
                <a:solidFill>
                  <a:srgbClr val="7DCEA0"/>
                </a:solidFill>
                <a:latin typeface="Consolas"/>
              </a:rPr>
              <a:t>"</a:t>
            </a:r>
            <a:r>
              <a:rPr sz="1800" i="0">
                <a:solidFill>
                  <a:srgbClr val="7DCEA0"/>
                </a:solidFill>
                <a:latin typeface="Consolas"/>
              </a:rPr>
              <a:t>scaled distance:</a:t>
            </a:r>
            <a:r>
              <a:rPr sz="1800" i="0">
                <a:solidFill>
                  <a:srgbClr val="7DCEA0"/>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np</a:t>
            </a:r>
            <a:r>
              <a:rPr sz="1800" i="0">
                <a:solidFill>
                  <a:srgbClr val="AEB6BF"/>
                </a:solidFill>
                <a:latin typeface="Consolas"/>
              </a:rPr>
              <a:t>.</a:t>
            </a:r>
            <a:r>
              <a:rPr sz="1800" i="0">
                <a:solidFill>
                  <a:srgbClr val="E8EDF2"/>
                </a:solidFill>
                <a:latin typeface="Consolas"/>
              </a:rPr>
              <a:t>linalg</a:t>
            </a:r>
            <a:r>
              <a:rPr sz="1800" i="0">
                <a:solidFill>
                  <a:srgbClr val="AEB6BF"/>
                </a:solidFill>
                <a:latin typeface="Consolas"/>
              </a:rPr>
              <a:t>.</a:t>
            </a:r>
            <a:r>
              <a:rPr sz="1800" i="0">
                <a:solidFill>
                  <a:srgbClr val="E8EDF2"/>
                </a:solidFill>
                <a:latin typeface="Consolas"/>
              </a:rPr>
              <a:t>norm</a:t>
            </a:r>
            <a:r>
              <a:rPr sz="1800" i="0">
                <a:solidFill>
                  <a:srgbClr val="AEB6BF"/>
                </a:solidFill>
                <a:latin typeface="Consolas"/>
              </a:rPr>
              <a:t>(</a:t>
            </a:r>
            <a:r>
              <a:rPr sz="1800" i="0">
                <a:solidFill>
                  <a:srgbClr val="E8EDF2"/>
                </a:solidFill>
                <a:latin typeface="Consolas"/>
              </a:rPr>
              <a:t>a_s</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b_s</a:t>
            </a:r>
            <a:r>
              <a:rPr sz="1800" i="0">
                <a:solidFill>
                  <a:srgbClr val="AEB6BF"/>
                </a:solidFill>
                <a:latin typeface="Consolas"/>
              </a:rPr>
              <a:t>)</a:t>
            </a:r>
            <a:r>
              <a:rPr sz="1800" i="0">
                <a:solidFill>
                  <a:srgbClr val="AEB6BF"/>
                </a:solidFill>
                <a:latin typeface="Consolas"/>
              </a:rPr>
              <a:t>)</a:t>
            </a:r>
          </a:p>
        </p:txBody>
      </p:sp>
      <p:sp>
        <p:nvSpPr>
          <p:cNvPr id="15" name="!!code-num"/>
          <p:cNvSpPr txBox="1"/>
          <p:nvPr/>
        </p:nvSpPr>
        <p:spPr>
          <a:xfrm>
            <a:off x="768096" y="2523744"/>
            <a:ext cx="393192" cy="3675888"/>
          </a:xfrm>
          <a:prstGeom prst="rect">
            <a:avLst/>
          </a:prstGeom>
          <a:noFill/>
        </p:spPr>
        <p:txBody>
          <a:bodyPr wrap="none" anchor="t" lIns="0" rIns="0" tIns="0" bIns="0">
            <a:noAutofit/>
          </a:bodyPr>
          <a:lstStyle/>
          <a:p>
            <a:pPr algn="r">
              <a:lnSpc>
                <a:spcPct val="100000"/>
              </a:lnSpc>
            </a:pPr>
            <a:r>
              <a:rPr sz="1800">
                <a:solidFill>
                  <a:srgbClr val="4F5D6A"/>
                </a:solidFill>
                <a:latin typeface="Consolas"/>
              </a:rPr>
              <a:t>2</a:t>
            </a:r>
          </a:p>
          <a:p>
            <a:pPr algn="r">
              <a:lnSpc>
                <a:spcPct val="100000"/>
              </a:lnSpc>
            </a:pPr>
            <a:r>
              <a:rPr sz="1800">
                <a:solidFill>
                  <a:srgbClr val="4F5D6A"/>
                </a:solidFill>
                <a:latin typeface="Consolas"/>
              </a:rPr>
              <a:t>3</a:t>
            </a:r>
          </a:p>
          <a:p>
            <a:pPr algn="r">
              <a:lnSpc>
                <a:spcPct val="100000"/>
              </a:lnSpc>
            </a:pPr>
            <a:r>
              <a:rPr sz="1800">
                <a:solidFill>
                  <a:srgbClr val="4F5D6A"/>
                </a:solidFill>
                <a:latin typeface="Consolas"/>
              </a:rPr>
              <a:t>4</a:t>
            </a:r>
          </a:p>
          <a:p>
            <a:pPr algn="r">
              <a:lnSpc>
                <a:spcPct val="100000"/>
              </a:lnSpc>
            </a:pPr>
            <a:r>
              <a:rPr sz="1800">
                <a:solidFill>
                  <a:srgbClr val="4F5D6A"/>
                </a:solidFill>
                <a:latin typeface="Consolas"/>
              </a:rPr>
              <a:t>5</a:t>
            </a:r>
          </a:p>
          <a:p>
            <a:pPr algn="r">
              <a:lnSpc>
                <a:spcPct val="100000"/>
              </a:lnSpc>
            </a:pPr>
            <a:r>
              <a:rPr sz="1800">
                <a:solidFill>
                  <a:srgbClr val="4F5D6A"/>
                </a:solidFill>
                <a:latin typeface="Consolas"/>
              </a:rPr>
              <a:t>6</a:t>
            </a:r>
          </a:p>
          <a:p>
            <a:pPr algn="r">
              <a:lnSpc>
                <a:spcPct val="100000"/>
              </a:lnSpc>
            </a:pPr>
            <a:r>
              <a:rPr sz="1800">
                <a:solidFill>
                  <a:srgbClr val="4F5D6A"/>
                </a:solidFill>
                <a:latin typeface="Consolas"/>
              </a:rPr>
              <a:t>7</a:t>
            </a:r>
          </a:p>
          <a:p>
            <a:pPr algn="r">
              <a:lnSpc>
                <a:spcPct val="100000"/>
              </a:lnSpc>
            </a:pPr>
            <a:r>
              <a:rPr sz="1800">
                <a:solidFill>
                  <a:srgbClr val="4F5D6A"/>
                </a:solidFill>
                <a:latin typeface="Consolas"/>
              </a:rPr>
              <a:t>8</a:t>
            </a:r>
          </a:p>
          <a:p>
            <a:pPr algn="r">
              <a:lnSpc>
                <a:spcPct val="100000"/>
              </a:lnSpc>
            </a:pPr>
            <a:r>
              <a:rPr sz="1800">
                <a:solidFill>
                  <a:srgbClr val="4F5D6A"/>
                </a:solidFill>
                <a:latin typeface="Consolas"/>
              </a:rPr>
              <a:t>9</a:t>
            </a:r>
          </a:p>
          <a:p>
            <a:pPr algn="r">
              <a:lnSpc>
                <a:spcPct val="100000"/>
              </a:lnSpc>
            </a:pPr>
            <a:r>
              <a:rPr sz="1800">
                <a:solidFill>
                  <a:srgbClr val="4F5D6A"/>
                </a:solidFill>
                <a:latin typeface="Consolas"/>
              </a:rPr>
              <a:t>10</a:t>
            </a:r>
          </a:p>
          <a:p>
            <a:pPr algn="r">
              <a:lnSpc>
                <a:spcPct val="100000"/>
              </a:lnSpc>
            </a:pPr>
            <a:r>
              <a:rPr sz="1800">
                <a:solidFill>
                  <a:srgbClr val="4F5D6A"/>
                </a:solidFill>
                <a:latin typeface="Consolas"/>
              </a:rPr>
              <a:t>11</a:t>
            </a:r>
          </a:p>
          <a:p>
            <a:pPr algn="r">
              <a:lnSpc>
                <a:spcPct val="100000"/>
              </a:lnSpc>
            </a:pPr>
            <a:r>
              <a:rPr sz="1800">
                <a:solidFill>
                  <a:srgbClr val="4F5D6A"/>
                </a:solidFill>
                <a:latin typeface="Consolas"/>
              </a:rPr>
              <a:t>12</a:t>
            </a:r>
          </a:p>
          <a:p>
            <a:pPr algn="r">
              <a:lnSpc>
                <a:spcPct val="100000"/>
              </a:lnSpc>
            </a:pPr>
            <a:r>
              <a:rPr sz="1800">
                <a:solidFill>
                  <a:srgbClr val="4F5D6A"/>
                </a:solidFill>
                <a:latin typeface="Consolas"/>
              </a:rPr>
              <a:t>13</a:t>
            </a:r>
          </a:p>
          <a:p>
            <a:pPr algn="r">
              <a:lnSpc>
                <a:spcPct val="100000"/>
              </a:lnSpc>
            </a:pPr>
            <a:r>
              <a:rPr sz="1800">
                <a:solidFill>
                  <a:srgbClr val="4F5D6A"/>
                </a:solidFill>
                <a:latin typeface="Consolas"/>
              </a:rPr>
              <a:t>14</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708353"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Distance and Descent from First Principles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3 OF 3</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4  ·  The Mathematical Toolkit</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§4.4  ·  Handout p. 25     </a:t>
            </a:r>
            <a:fld id="{BB1953AA-49EF-4586-97FA-6B5373E7AF25}" type="slidenum">
              <a:rPr lang="en-GB" sz="1000">
                <a:solidFill>
                  <a:srgbClr val="8795A1"/>
                </a:solidFill>
                <a:latin typeface="Segoe UI"/>
              </a:rPr>
              <a:t>31</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Gradient descent on L(w) = w^2</a:t>
            </a:r>
          </a:p>
        </p:txBody>
      </p:sp>
      <p:sp>
        <p:nvSpPr>
          <p:cNvPr id="8" name="!!code-bg">
            <a:extLst>
              <a:ext uri="{C183D7F6-B498-43B3-948B-1728B52AA6E4}">
                <adec:decorative xmlns:adec="http://schemas.microsoft.com/office/drawing/2017/decorative" val="1"/>
              </a:ext>
            </a:extLst>
          </p:cNvPr>
          <p:cNvSpPr/>
          <p:nvPr/>
        </p:nvSpPr>
        <p:spPr>
          <a:xfrm>
            <a:off x="658368" y="2084831"/>
            <a:ext cx="10874959" cy="2919984"/>
          </a:xfrm>
          <a:prstGeom prst="roundRect">
            <a:avLst>
              <a:gd name="adj" fmla="val 3131"/>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code/ch04_distance_descent.py</a:t>
            </a:r>
          </a:p>
        </p:txBody>
      </p:sp>
      <p:sp>
        <p:nvSpPr>
          <p:cNvPr id="14" name="!!code-text" descr="# --- gradient descent on L(w) = w^2 --------------------------------- w, alpha = 3.0, 0.3 for step in range(6): grad = 2 * w # dL/dw w = w - alpha * grad print(f&quot;step {step+1}: w={w:7.4f} L={w**2:8.5f}&quot;) # Change alpha to 1.2 and run again -- watch the loss increase."/>
          <p:cNvSpPr txBox="1"/>
          <p:nvPr/>
        </p:nvSpPr>
        <p:spPr>
          <a:xfrm>
            <a:off x="1362456" y="2523744"/>
            <a:ext cx="9987991" cy="2426208"/>
          </a:xfrm>
          <a:prstGeom prst="rect">
            <a:avLst/>
          </a:prstGeom>
          <a:noFill/>
        </p:spPr>
        <p:txBody>
          <a:bodyPr wrap="none" anchor="t" lIns="0" rIns="0" tIns="0" bIns="0">
            <a:noAutofit/>
          </a:bodyPr>
          <a:lstStyle/>
          <a:p>
            <a:pPr>
              <a:lnSpc>
                <a:spcPct val="100000"/>
              </a:lnSpc>
              <a:spcAft>
                <a:spcPts val="0"/>
              </a:spcAft>
            </a:pPr>
            <a:r>
              <a:rPr sz="1900" i="1">
                <a:solidFill>
                  <a:srgbClr val="8795A1"/>
                </a:solidFill>
                <a:latin typeface="Consolas"/>
              </a:rPr>
              <a:t># --- gradient descent on L(w) = w^2 ---------------------------------</a:t>
            </a:r>
          </a:p>
          <a:p>
            <a:pPr>
              <a:lnSpc>
                <a:spcPct val="100000"/>
              </a:lnSpc>
              <a:spcAft>
                <a:spcPts val="0"/>
              </a:spcAft>
            </a:pPr>
            <a:r>
              <a:rPr sz="1900" i="0">
                <a:solidFill>
                  <a:srgbClr val="E8EDF2"/>
                </a:solidFill>
                <a:latin typeface="Consolas"/>
              </a:rPr>
              <a:t>w</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alpha</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F7DC6F"/>
                </a:solidFill>
                <a:latin typeface="Consolas"/>
              </a:rPr>
              <a:t>3.0</a:t>
            </a:r>
            <a:r>
              <a:rPr sz="1900" i="0">
                <a:solidFill>
                  <a:srgbClr val="AEB6BF"/>
                </a:solidFill>
                <a:latin typeface="Consolas"/>
              </a:rPr>
              <a:t>,</a:t>
            </a:r>
            <a:r>
              <a:rPr sz="1900" i="0">
                <a:solidFill>
                  <a:srgbClr val="E8EDF2"/>
                </a:solidFill>
                <a:latin typeface="Consolas"/>
              </a:rPr>
              <a:t> </a:t>
            </a:r>
            <a:r>
              <a:rPr sz="1900" i="0">
                <a:solidFill>
                  <a:srgbClr val="F7DC6F"/>
                </a:solidFill>
                <a:latin typeface="Consolas"/>
              </a:rPr>
              <a:t>0.3</a:t>
            </a:r>
          </a:p>
          <a:p>
            <a:pPr>
              <a:lnSpc>
                <a:spcPct val="100000"/>
              </a:lnSpc>
              <a:spcAft>
                <a:spcPts val="0"/>
              </a:spcAft>
            </a:pPr>
            <a:r>
              <a:rPr sz="1900" i="0">
                <a:solidFill>
                  <a:srgbClr val="5DADE2"/>
                </a:solidFill>
                <a:latin typeface="Consolas"/>
              </a:rPr>
              <a:t>for</a:t>
            </a:r>
            <a:r>
              <a:rPr sz="1900" i="0">
                <a:solidFill>
                  <a:srgbClr val="E8EDF2"/>
                </a:solidFill>
                <a:latin typeface="Consolas"/>
              </a:rPr>
              <a:t> </a:t>
            </a:r>
            <a:r>
              <a:rPr sz="1900" i="0">
                <a:solidFill>
                  <a:srgbClr val="E8EDF2"/>
                </a:solidFill>
                <a:latin typeface="Consolas"/>
              </a:rPr>
              <a:t>step</a:t>
            </a:r>
            <a:r>
              <a:rPr sz="1900" i="0">
                <a:solidFill>
                  <a:srgbClr val="E8EDF2"/>
                </a:solidFill>
                <a:latin typeface="Consolas"/>
              </a:rPr>
              <a:t> </a:t>
            </a:r>
            <a:r>
              <a:rPr sz="1900" i="0">
                <a:solidFill>
                  <a:srgbClr val="AEB6BF"/>
                </a:solidFill>
                <a:latin typeface="Consolas"/>
              </a:rPr>
              <a:t>in</a:t>
            </a:r>
            <a:r>
              <a:rPr sz="1900" i="0">
                <a:solidFill>
                  <a:srgbClr val="E8EDF2"/>
                </a:solidFill>
                <a:latin typeface="Consolas"/>
              </a:rPr>
              <a:t> </a:t>
            </a:r>
            <a:r>
              <a:rPr sz="1900" i="0">
                <a:solidFill>
                  <a:srgbClr val="C39BD3"/>
                </a:solidFill>
                <a:latin typeface="Consolas"/>
              </a:rPr>
              <a:t>range</a:t>
            </a:r>
            <a:r>
              <a:rPr sz="1900" i="0">
                <a:solidFill>
                  <a:srgbClr val="AEB6BF"/>
                </a:solidFill>
                <a:latin typeface="Consolas"/>
              </a:rPr>
              <a:t>(</a:t>
            </a:r>
            <a:r>
              <a:rPr sz="1900" i="0">
                <a:solidFill>
                  <a:srgbClr val="F7DC6F"/>
                </a:solidFill>
                <a:latin typeface="Consolas"/>
              </a:rPr>
              <a:t>6</a:t>
            </a:r>
            <a:r>
              <a:rPr sz="1900" i="0">
                <a:solidFill>
                  <a:srgbClr val="AEB6BF"/>
                </a:solidFill>
                <a:latin typeface="Consolas"/>
              </a:rPr>
              <a:t>)</a:t>
            </a:r>
            <a:r>
              <a:rPr sz="1900" i="0">
                <a:solidFill>
                  <a:srgbClr val="AEB6BF"/>
                </a:solidFill>
                <a:latin typeface="Consolas"/>
              </a:rPr>
              <a:t>:</a:t>
            </a:r>
          </a:p>
          <a:p>
            <a:pPr>
              <a:lnSpc>
                <a:spcPct val="100000"/>
              </a:lnSpc>
              <a:spcAft>
                <a:spcPts val="0"/>
              </a:spcAft>
            </a:pPr>
            <a:r>
              <a:rPr sz="1900" i="0">
                <a:solidFill>
                  <a:srgbClr val="E8EDF2"/>
                </a:solidFill>
                <a:latin typeface="Consolas"/>
              </a:rPr>
              <a:t>    </a:t>
            </a:r>
            <a:r>
              <a:rPr sz="1900" i="0">
                <a:solidFill>
                  <a:srgbClr val="E8EDF2"/>
                </a:solidFill>
                <a:latin typeface="Consolas"/>
              </a:rPr>
              <a:t>grad</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F7DC6F"/>
                </a:solidFill>
                <a:latin typeface="Consolas"/>
              </a:rPr>
              <a:t>2</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w</a:t>
            </a:r>
            <a:r>
              <a:rPr sz="1900" i="0">
                <a:solidFill>
                  <a:srgbClr val="E8EDF2"/>
                </a:solidFill>
                <a:latin typeface="Consolas"/>
              </a:rPr>
              <a:t>                 </a:t>
            </a:r>
            <a:r>
              <a:rPr sz="1900" i="1">
                <a:solidFill>
                  <a:srgbClr val="8795A1"/>
                </a:solidFill>
                <a:latin typeface="Consolas"/>
              </a:rPr>
              <a:t># dL/dw</a:t>
            </a:r>
          </a:p>
          <a:p>
            <a:pPr>
              <a:lnSpc>
                <a:spcPct val="100000"/>
              </a:lnSpc>
              <a:spcAft>
                <a:spcPts val="0"/>
              </a:spcAft>
            </a:pPr>
            <a:r>
              <a:rPr sz="1900" i="0">
                <a:solidFill>
                  <a:srgbClr val="E8EDF2"/>
                </a:solidFill>
                <a:latin typeface="Consolas"/>
              </a:rPr>
              <a:t>    </a:t>
            </a:r>
            <a:r>
              <a:rPr sz="1900" i="0">
                <a:solidFill>
                  <a:srgbClr val="E8EDF2"/>
                </a:solidFill>
                <a:latin typeface="Consolas"/>
              </a:rPr>
              <a:t>w</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w</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alpha</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grad</a:t>
            </a:r>
          </a:p>
          <a:p>
            <a:pPr>
              <a:lnSpc>
                <a:spcPct val="100000"/>
              </a:lnSpc>
              <a:spcAft>
                <a:spcPts val="0"/>
              </a:spcAft>
            </a:pPr>
            <a:r>
              <a:rPr sz="1900" i="0">
                <a:solidFill>
                  <a:srgbClr val="E8EDF2"/>
                </a:solidFill>
                <a:latin typeface="Consolas"/>
              </a:rPr>
              <a:t>    </a:t>
            </a:r>
            <a:r>
              <a:rPr sz="1900" i="0">
                <a:solidFill>
                  <a:srgbClr val="C39BD3"/>
                </a:solidFill>
                <a:latin typeface="Consolas"/>
              </a:rPr>
              <a:t>print</a:t>
            </a:r>
            <a:r>
              <a:rPr sz="1900" i="0">
                <a:solidFill>
                  <a:srgbClr val="AEB6BF"/>
                </a:solidFill>
                <a:latin typeface="Consolas"/>
              </a:rPr>
              <a:t>(</a:t>
            </a:r>
            <a:r>
              <a:rPr sz="1900" i="0">
                <a:solidFill>
                  <a:srgbClr val="7DCEA0"/>
                </a:solidFill>
                <a:latin typeface="Consolas"/>
              </a:rPr>
              <a:t>f</a:t>
            </a:r>
            <a:r>
              <a:rPr sz="1900" i="0">
                <a:solidFill>
                  <a:srgbClr val="7DCEA0"/>
                </a:solidFill>
                <a:latin typeface="Consolas"/>
              </a:rPr>
              <a:t>"</a:t>
            </a:r>
            <a:r>
              <a:rPr sz="1900" i="0">
                <a:solidFill>
                  <a:srgbClr val="7DCEA0"/>
                </a:solidFill>
                <a:latin typeface="Consolas"/>
              </a:rPr>
              <a:t>step </a:t>
            </a:r>
            <a:r>
              <a:rPr sz="1900" i="0">
                <a:solidFill>
                  <a:srgbClr val="7DCEA0"/>
                </a:solidFill>
                <a:latin typeface="Consolas"/>
              </a:rPr>
              <a:t>{</a:t>
            </a:r>
            <a:r>
              <a:rPr sz="1900" i="0">
                <a:solidFill>
                  <a:srgbClr val="E8EDF2"/>
                </a:solidFill>
                <a:latin typeface="Consolas"/>
              </a:rPr>
              <a:t>step</a:t>
            </a:r>
            <a:r>
              <a:rPr sz="1900" i="0">
                <a:solidFill>
                  <a:srgbClr val="AEB6BF"/>
                </a:solidFill>
                <a:latin typeface="Consolas"/>
              </a:rPr>
              <a:t>+</a:t>
            </a:r>
            <a:r>
              <a:rPr sz="1900" i="0">
                <a:solidFill>
                  <a:srgbClr val="F7DC6F"/>
                </a:solidFill>
                <a:latin typeface="Consolas"/>
              </a:rPr>
              <a:t>1</a:t>
            </a:r>
            <a:r>
              <a:rPr sz="1900" i="0">
                <a:solidFill>
                  <a:srgbClr val="7DCEA0"/>
                </a:solidFill>
                <a:latin typeface="Consolas"/>
              </a:rPr>
              <a:t>}</a:t>
            </a:r>
            <a:r>
              <a:rPr sz="1900" i="0">
                <a:solidFill>
                  <a:srgbClr val="7DCEA0"/>
                </a:solidFill>
                <a:latin typeface="Consolas"/>
              </a:rPr>
              <a:t>: w=</a:t>
            </a:r>
            <a:r>
              <a:rPr sz="1900" i="0">
                <a:solidFill>
                  <a:srgbClr val="7DCEA0"/>
                </a:solidFill>
                <a:latin typeface="Consolas"/>
              </a:rPr>
              <a:t>{</a:t>
            </a:r>
            <a:r>
              <a:rPr sz="1900" i="0">
                <a:solidFill>
                  <a:srgbClr val="E8EDF2"/>
                </a:solidFill>
                <a:latin typeface="Consolas"/>
              </a:rPr>
              <a:t>w</a:t>
            </a:r>
            <a:r>
              <a:rPr sz="1900" i="0">
                <a:solidFill>
                  <a:srgbClr val="7DCEA0"/>
                </a:solidFill>
                <a:latin typeface="Consolas"/>
              </a:rPr>
              <a:t>:</a:t>
            </a:r>
            <a:r>
              <a:rPr sz="1900" i="0">
                <a:solidFill>
                  <a:srgbClr val="7DCEA0"/>
                </a:solidFill>
                <a:latin typeface="Consolas"/>
              </a:rPr>
              <a:t>7.4f</a:t>
            </a:r>
            <a:r>
              <a:rPr sz="1900" i="0">
                <a:solidFill>
                  <a:srgbClr val="7DCEA0"/>
                </a:solidFill>
                <a:latin typeface="Consolas"/>
              </a:rPr>
              <a:t>}</a:t>
            </a:r>
            <a:r>
              <a:rPr sz="1900" i="0">
                <a:solidFill>
                  <a:srgbClr val="7DCEA0"/>
                </a:solidFill>
                <a:latin typeface="Consolas"/>
              </a:rPr>
              <a:t>  L=</a:t>
            </a:r>
            <a:r>
              <a:rPr sz="1900" i="0">
                <a:solidFill>
                  <a:srgbClr val="7DCEA0"/>
                </a:solidFill>
                <a:latin typeface="Consolas"/>
              </a:rPr>
              <a:t>{</a:t>
            </a:r>
            <a:r>
              <a:rPr sz="1900" i="0">
                <a:solidFill>
                  <a:srgbClr val="E8EDF2"/>
                </a:solidFill>
                <a:latin typeface="Consolas"/>
              </a:rPr>
              <a:t>w</a:t>
            </a:r>
            <a:r>
              <a:rPr sz="1900" i="0">
                <a:solidFill>
                  <a:srgbClr val="AEB6BF"/>
                </a:solidFill>
                <a:latin typeface="Consolas"/>
              </a:rPr>
              <a:t>*</a:t>
            </a:r>
            <a:r>
              <a:rPr sz="1900" i="0">
                <a:solidFill>
                  <a:srgbClr val="AEB6BF"/>
                </a:solidFill>
                <a:latin typeface="Consolas"/>
              </a:rPr>
              <a:t>*</a:t>
            </a:r>
            <a:r>
              <a:rPr sz="1900" i="0">
                <a:solidFill>
                  <a:srgbClr val="F7DC6F"/>
                </a:solidFill>
                <a:latin typeface="Consolas"/>
              </a:rPr>
              <a:t>2</a:t>
            </a:r>
            <a:r>
              <a:rPr sz="1900" i="0">
                <a:solidFill>
                  <a:srgbClr val="7DCEA0"/>
                </a:solidFill>
                <a:latin typeface="Consolas"/>
              </a:rPr>
              <a:t>:</a:t>
            </a:r>
            <a:r>
              <a:rPr sz="1900" i="0">
                <a:solidFill>
                  <a:srgbClr val="7DCEA0"/>
                </a:solidFill>
                <a:latin typeface="Consolas"/>
              </a:rPr>
              <a:t>8.5f</a:t>
            </a:r>
            <a:r>
              <a:rPr sz="1900" i="0">
                <a:solidFill>
                  <a:srgbClr val="7DCEA0"/>
                </a:solidFill>
                <a:latin typeface="Consolas"/>
              </a:rPr>
              <a:t>}</a:t>
            </a:r>
            <a:r>
              <a:rPr sz="1900" i="0">
                <a:solidFill>
                  <a:srgbClr val="7DCEA0"/>
                </a:solidFill>
                <a:latin typeface="Consolas"/>
              </a:rPr>
              <a:t>"</a:t>
            </a:r>
            <a:r>
              <a:rPr sz="1900" i="0">
                <a:solidFill>
                  <a:srgbClr val="AEB6BF"/>
                </a:solidFill>
                <a:latin typeface="Consolas"/>
              </a:rPr>
              <a:t>)</a:t>
            </a:r>
          </a:p>
          <a:p>
            <a:pPr>
              <a:lnSpc>
                <a:spcPct val="100000"/>
              </a:lnSpc>
              <a:spcAft>
                <a:spcPts val="0"/>
              </a:spcAft>
            </a:pPr>
            <a:r>
              <a:rPr sz="1900">
                <a:latin typeface="Consolas"/>
              </a:rPr>
              <a:t> </a:t>
            </a:r>
          </a:p>
          <a:p>
            <a:pPr>
              <a:lnSpc>
                <a:spcPct val="100000"/>
              </a:lnSpc>
              <a:spcAft>
                <a:spcPts val="0"/>
              </a:spcAft>
            </a:pPr>
            <a:r>
              <a:rPr sz="1900" i="1">
                <a:solidFill>
                  <a:srgbClr val="8795A1"/>
                </a:solidFill>
                <a:latin typeface="Consolas"/>
              </a:rPr>
              <a:t># Change alpha to 1.2 and run again -- watch the loss increase.</a:t>
            </a:r>
          </a:p>
        </p:txBody>
      </p:sp>
      <p:sp>
        <p:nvSpPr>
          <p:cNvPr id="15" name="!!code-num"/>
          <p:cNvSpPr txBox="1"/>
          <p:nvPr/>
        </p:nvSpPr>
        <p:spPr>
          <a:xfrm>
            <a:off x="768096" y="2523744"/>
            <a:ext cx="393192" cy="2426208"/>
          </a:xfrm>
          <a:prstGeom prst="rect">
            <a:avLst/>
          </a:prstGeom>
          <a:noFill/>
        </p:spPr>
        <p:txBody>
          <a:bodyPr wrap="none" anchor="t" lIns="0" rIns="0" tIns="0" bIns="0">
            <a:noAutofit/>
          </a:bodyPr>
          <a:lstStyle/>
          <a:p>
            <a:pPr algn="r">
              <a:lnSpc>
                <a:spcPct val="100000"/>
              </a:lnSpc>
            </a:pPr>
            <a:r>
              <a:rPr sz="1900">
                <a:solidFill>
                  <a:srgbClr val="4F5D6A"/>
                </a:solidFill>
                <a:latin typeface="Consolas"/>
              </a:rPr>
              <a:t>15</a:t>
            </a:r>
          </a:p>
          <a:p>
            <a:pPr algn="r">
              <a:lnSpc>
                <a:spcPct val="100000"/>
              </a:lnSpc>
            </a:pPr>
            <a:r>
              <a:rPr sz="1900">
                <a:solidFill>
                  <a:srgbClr val="4F5D6A"/>
                </a:solidFill>
                <a:latin typeface="Consolas"/>
              </a:rPr>
              <a:t>16</a:t>
            </a:r>
          </a:p>
          <a:p>
            <a:pPr algn="r">
              <a:lnSpc>
                <a:spcPct val="100000"/>
              </a:lnSpc>
            </a:pPr>
            <a:r>
              <a:rPr sz="1900">
                <a:solidFill>
                  <a:srgbClr val="4F5D6A"/>
                </a:solidFill>
                <a:latin typeface="Consolas"/>
              </a:rPr>
              <a:t>17</a:t>
            </a:r>
          </a:p>
          <a:p>
            <a:pPr algn="r">
              <a:lnSpc>
                <a:spcPct val="100000"/>
              </a:lnSpc>
            </a:pPr>
            <a:r>
              <a:rPr sz="1900">
                <a:solidFill>
                  <a:srgbClr val="4F5D6A"/>
                </a:solidFill>
                <a:latin typeface="Consolas"/>
              </a:rPr>
              <a:t>18</a:t>
            </a:r>
          </a:p>
          <a:p>
            <a:pPr algn="r">
              <a:lnSpc>
                <a:spcPct val="100000"/>
              </a:lnSpc>
            </a:pPr>
            <a:r>
              <a:rPr sz="1900">
                <a:solidFill>
                  <a:srgbClr val="4F5D6A"/>
                </a:solidFill>
                <a:latin typeface="Consolas"/>
              </a:rPr>
              <a:t>19</a:t>
            </a:r>
          </a:p>
          <a:p>
            <a:pPr algn="r">
              <a:lnSpc>
                <a:spcPct val="100000"/>
              </a:lnSpc>
            </a:pPr>
            <a:r>
              <a:rPr sz="1900">
                <a:solidFill>
                  <a:srgbClr val="4F5D6A"/>
                </a:solidFill>
                <a:latin typeface="Consolas"/>
              </a:rPr>
              <a:t>20</a:t>
            </a:r>
          </a:p>
          <a:p>
            <a:pPr algn="r">
              <a:lnSpc>
                <a:spcPct val="100000"/>
              </a:lnSpc>
            </a:pPr>
            <a:r>
              <a:rPr sz="1900">
                <a:solidFill>
                  <a:srgbClr val="4F5D6A"/>
                </a:solidFill>
                <a:latin typeface="Consolas"/>
              </a:rPr>
              <a:t>21</a:t>
            </a:r>
          </a:p>
          <a:p>
            <a:pPr algn="r">
              <a:lnSpc>
                <a:spcPct val="100000"/>
              </a:lnSpc>
            </a:pPr>
            <a:r>
              <a:rPr sz="1900">
                <a:solidFill>
                  <a:srgbClr val="4F5D6A"/>
                </a:solidFill>
                <a:latin typeface="Consolas"/>
              </a:rPr>
              <a:t>22</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998632"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Compute the Euclidean distance between </a:t>
            </a:r>
            <a:r>
              <a:rPr sz="3400" b="0" i="0">
                <a:solidFill>
                  <a:srgbClr val="FFFFFF"/>
                </a:solidFill>
                <a:latin typeface="Cambria"/>
              </a:rPr>
              <a:t>[3, 4]</a:t>
            </a:r>
            <a:r>
              <a:rPr sz="3400" b="0" i="0">
                <a:solidFill>
                  <a:srgbClr val="FFFFFF"/>
                </a:solidFill>
                <a:latin typeface="Segoe UI Semibold"/>
              </a:rPr>
              <a:t> and </a:t>
            </a:r>
            <a:r>
              <a:rPr sz="3400" b="0" i="0">
                <a:solidFill>
                  <a:srgbClr val="FFFFFF"/>
                </a:solidFill>
                <a:latin typeface="Cambria"/>
              </a:rPr>
              <a:t>[0, 0]</a:t>
            </a:r>
            <a:r>
              <a:rPr sz="3400" b="0" i="0">
                <a:solidFill>
                  <a:srgbClr val="FFFFFF"/>
                </a:solidFill>
                <a:latin typeface="Segoe UI Semibold"/>
              </a:rPr>
              <a:t>.</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1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Data Science  ·  Chapter 4  ·  The Mathematical Toolkit</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28  ·  answers in Appendix D     </a:t>
            </a:r>
            <a:fld id="{8FEE86C4-0E09-4D08-B857-6C1FFF443E95}" type="slidenum">
              <a:rPr lang="en-GB" sz="1000">
                <a:solidFill>
                  <a:srgbClr val="D5DEE5"/>
                </a:solidFill>
                <a:latin typeface="Segoe UI"/>
              </a:rPr>
              <a:t>32</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457200"/>
          </a:xfrm>
        </p:spPr>
        <p:txBody>
          <a:bodyPr wrap="square" lIns="0" rIns="0" tIns="0" bIns="0" anchor="t">
            <a:noAutofit/>
          </a:bodyPr>
          <a:lstStyle/>
          <a:p>
            <a:pPr algn="l">
              <a:lnSpc>
                <a:spcPct val="96000"/>
              </a:lnSpc>
            </a:pPr>
            <a:r>
              <a:rPr sz="2400" b="0" i="0">
                <a:solidFill>
                  <a:srgbClr val="1A5276"/>
                </a:solidFill>
                <a:latin typeface="Segoe UI Semibold"/>
              </a:rPr>
              <a:t>Compute the Euclidean distance between </a:t>
            </a:r>
            <a:r>
              <a:rPr sz="2400" b="0" i="0">
                <a:solidFill>
                  <a:srgbClr val="1A5276"/>
                </a:solidFill>
                <a:latin typeface="Cambria"/>
              </a:rPr>
              <a:t>[3, 4]</a:t>
            </a:r>
            <a:r>
              <a:rPr sz="2400" b="0" i="0">
                <a:solidFill>
                  <a:srgbClr val="1A5276"/>
                </a:solidFill>
                <a:latin typeface="Segoe UI Semibold"/>
              </a:rPr>
              <a:t> and </a:t>
            </a:r>
            <a:r>
              <a:rPr sz="2400" b="0" i="0">
                <a:solidFill>
                  <a:srgbClr val="1A5276"/>
                </a:solidFill>
                <a:latin typeface="Cambria"/>
              </a:rPr>
              <a:t>[0, 0]</a:t>
            </a:r>
            <a:r>
              <a:rPr sz="2400" b="0" i="0">
                <a:solidFill>
                  <a:srgbClr val="1A5276"/>
                </a:solidFill>
                <a:latin typeface="Segoe UI Semibold"/>
              </a:rPr>
              <a:t>.</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1 OF 3  ·  ANSWER</a:t>
            </a:r>
          </a:p>
        </p:txBody>
      </p:sp>
      <p:sp>
        <p:nvSpPr>
          <p:cNvPr id="5" name="!!abar">
            <a:extLst>
              <a:ext uri="{C183D7F6-B498-43B3-948B-1728B52AA6E4}">
                <adec:decorative xmlns:adec="http://schemas.microsoft.com/office/drawing/2017/decorative" val="1"/>
              </a:ext>
            </a:extLst>
          </p:cNvPr>
          <p:cNvSpPr/>
          <p:nvPr/>
        </p:nvSpPr>
        <p:spPr>
          <a:xfrm>
            <a:off x="658368" y="1411833"/>
            <a:ext cx="64008" cy="348691"/>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1411833"/>
            <a:ext cx="10509199" cy="394411"/>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Cambria"/>
              </a:rPr>
              <a:t>√(3</a:t>
            </a:r>
            <a:r>
              <a:rPr sz="2200" b="0" i="0" baseline="30000">
                <a:solidFill>
                  <a:srgbClr val="1C252B"/>
                </a:solidFill>
                <a:latin typeface="Cambria"/>
              </a:rPr>
              <a:t>2</a:t>
            </a:r>
            <a:r>
              <a:rPr sz="2200" b="0" i="0">
                <a:solidFill>
                  <a:srgbClr val="1C252B"/>
                </a:solidFill>
                <a:latin typeface="Cambria"/>
              </a:rPr>
              <a:t>+4</a:t>
            </a:r>
            <a:r>
              <a:rPr sz="2200" b="0" i="0" baseline="30000">
                <a:solidFill>
                  <a:srgbClr val="1C252B"/>
                </a:solidFill>
                <a:latin typeface="Cambria"/>
              </a:rPr>
              <a:t>2</a:t>
            </a:r>
            <a:r>
              <a:rPr sz="2200" b="0" i="0">
                <a:solidFill>
                  <a:srgbClr val="1C252B"/>
                </a:solidFill>
                <a:latin typeface="Cambria"/>
              </a:rPr>
              <a:t>)=√(25)=5</a:t>
            </a:r>
            <a:r>
              <a:rPr sz="2200" b="0" i="0">
                <a:solidFill>
                  <a:srgbClr val="1C252B"/>
                </a:solidFill>
                <a:latin typeface="Segoe UI"/>
              </a:rPr>
              <a:t>.</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4  ·  The Mathematical Toolkit</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28  ·  answers in Appendix D     </a:t>
            </a:r>
            <a:fld id="{542F8257-2229-4D1C-9BE3-78914EA82DC7}" type="slidenum">
              <a:rPr lang="en-GB" sz="1000">
                <a:solidFill>
                  <a:srgbClr val="8795A1"/>
                </a:solidFill>
                <a:latin typeface="Segoe UI"/>
              </a:rPr>
              <a:t>33</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9579189"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1">
                <a:solidFill>
                  <a:srgbClr val="FFFFFF"/>
                </a:solidFill>
                <a:latin typeface="Cambria"/>
              </a:rPr>
              <a:t>L</a:t>
            </a:r>
            <a:r>
              <a:rPr sz="3400" b="0" i="0">
                <a:solidFill>
                  <a:srgbClr val="FFFFFF"/>
                </a:solidFill>
                <a:latin typeface="Cambria"/>
              </a:rPr>
              <a:t>(</a:t>
            </a:r>
            <a:r>
              <a:rPr sz="3400" b="0" i="1">
                <a:solidFill>
                  <a:srgbClr val="FFFFFF"/>
                </a:solidFill>
                <a:latin typeface="Cambria"/>
              </a:rPr>
              <a:t>w</a:t>
            </a:r>
            <a:r>
              <a:rPr sz="3400" b="0" i="0">
                <a:solidFill>
                  <a:srgbClr val="FFFFFF"/>
                </a:solidFill>
                <a:latin typeface="Cambria"/>
              </a:rPr>
              <a:t>) = </a:t>
            </a:r>
            <a:r>
              <a:rPr sz="3400" b="0" i="1">
                <a:solidFill>
                  <a:srgbClr val="FFFFFF"/>
                </a:solidFill>
                <a:latin typeface="Cambria"/>
              </a:rPr>
              <a:t>w</a:t>
            </a:r>
            <a:r>
              <a:rPr sz="3400" b="0" i="0" baseline="30000">
                <a:solidFill>
                  <a:srgbClr val="FFFFFF"/>
                </a:solidFill>
                <a:latin typeface="Cambria"/>
              </a:rPr>
              <a:t>2</a:t>
            </a:r>
            <a:r>
              <a:rPr sz="3400" b="0" i="0">
                <a:solidFill>
                  <a:srgbClr val="FFFFFF"/>
                </a:solidFill>
                <a:latin typeface="Segoe UI Semibold"/>
              </a:rPr>
              <a:t> and you are at </a:t>
            </a:r>
            <a:r>
              <a:rPr sz="3400" b="0" i="1">
                <a:solidFill>
                  <a:srgbClr val="FFFFFF"/>
                </a:solidFill>
                <a:latin typeface="Cambria"/>
              </a:rPr>
              <a:t>w</a:t>
            </a:r>
            <a:r>
              <a:rPr sz="3400" b="0" i="0">
                <a:solidFill>
                  <a:srgbClr val="FFFFFF"/>
                </a:solidFill>
                <a:latin typeface="Cambria"/>
              </a:rPr>
              <a:t> = −2</a:t>
            </a:r>
            <a:r>
              <a:rPr sz="3400" b="0" i="0">
                <a:solidFill>
                  <a:srgbClr val="FFFFFF"/>
                </a:solidFill>
                <a:latin typeface="Segoe UI Semibold"/>
              </a:rPr>
              <a:t>. What is the gradient, and does gradient descent move </a:t>
            </a:r>
            <a:r>
              <a:rPr sz="3400" b="0" i="1">
                <a:solidFill>
                  <a:srgbClr val="FFFFFF"/>
                </a:solidFill>
                <a:latin typeface="Cambria"/>
              </a:rPr>
              <a:t>w</a:t>
            </a:r>
            <a:r>
              <a:rPr sz="3400" b="0" i="0">
                <a:solidFill>
                  <a:srgbClr val="FFFFFF"/>
                </a:solidFill>
                <a:latin typeface="Segoe UI Semibold"/>
              </a:rPr>
              <a:t> left or right?</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2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Data Science  ·  Chapter 4  ·  The Mathematical Toolkit</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28  ·  answers in Appendix D     </a:t>
            </a:r>
            <a:fld id="{28F0B638-CE6D-451A-9BF8-44D500E35591}" type="slidenum">
              <a:rPr lang="en-GB" sz="1000">
                <a:solidFill>
                  <a:srgbClr val="D5DEE5"/>
                </a:solidFill>
                <a:latin typeface="Segoe UI"/>
              </a:rPr>
              <a:t>34</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747979"/>
          </a:xfrm>
        </p:spPr>
        <p:txBody>
          <a:bodyPr wrap="square" lIns="0" rIns="0" tIns="0" bIns="0" anchor="t">
            <a:noAutofit/>
          </a:bodyPr>
          <a:lstStyle/>
          <a:p>
            <a:pPr algn="l">
              <a:lnSpc>
                <a:spcPct val="96000"/>
              </a:lnSpc>
            </a:pPr>
            <a:r>
              <a:rPr sz="2400" b="0" i="1">
                <a:solidFill>
                  <a:srgbClr val="1A5276"/>
                </a:solidFill>
                <a:latin typeface="Cambria"/>
              </a:rPr>
              <a:t>L</a:t>
            </a:r>
            <a:r>
              <a:rPr sz="2400" b="0" i="0">
                <a:solidFill>
                  <a:srgbClr val="1A5276"/>
                </a:solidFill>
                <a:latin typeface="Cambria"/>
              </a:rPr>
              <a:t>(</a:t>
            </a:r>
            <a:r>
              <a:rPr sz="2400" b="0" i="1">
                <a:solidFill>
                  <a:srgbClr val="1A5276"/>
                </a:solidFill>
                <a:latin typeface="Cambria"/>
              </a:rPr>
              <a:t>w</a:t>
            </a:r>
            <a:r>
              <a:rPr sz="2400" b="0" i="0">
                <a:solidFill>
                  <a:srgbClr val="1A5276"/>
                </a:solidFill>
                <a:latin typeface="Cambria"/>
              </a:rPr>
              <a:t>) = </a:t>
            </a:r>
            <a:r>
              <a:rPr sz="2400" b="0" i="1">
                <a:solidFill>
                  <a:srgbClr val="1A5276"/>
                </a:solidFill>
                <a:latin typeface="Cambria"/>
              </a:rPr>
              <a:t>w</a:t>
            </a:r>
            <a:r>
              <a:rPr sz="2400" b="0" i="0" baseline="30000">
                <a:solidFill>
                  <a:srgbClr val="1A5276"/>
                </a:solidFill>
                <a:latin typeface="Cambria"/>
              </a:rPr>
              <a:t>2</a:t>
            </a:r>
            <a:r>
              <a:rPr sz="2400" b="0" i="0">
                <a:solidFill>
                  <a:srgbClr val="1A5276"/>
                </a:solidFill>
                <a:latin typeface="Segoe UI Semibold"/>
              </a:rPr>
              <a:t> and you are at </a:t>
            </a:r>
            <a:r>
              <a:rPr sz="2400" b="0" i="1">
                <a:solidFill>
                  <a:srgbClr val="1A5276"/>
                </a:solidFill>
                <a:latin typeface="Cambria"/>
              </a:rPr>
              <a:t>w</a:t>
            </a:r>
            <a:r>
              <a:rPr sz="2400" b="0" i="0">
                <a:solidFill>
                  <a:srgbClr val="1A5276"/>
                </a:solidFill>
                <a:latin typeface="Cambria"/>
              </a:rPr>
              <a:t> = −2</a:t>
            </a:r>
            <a:r>
              <a:rPr sz="2400" b="0" i="0">
                <a:solidFill>
                  <a:srgbClr val="1A5276"/>
                </a:solidFill>
                <a:latin typeface="Segoe UI Semibold"/>
              </a:rPr>
              <a:t>. What is the gradient, and does gradient descent move </a:t>
            </a:r>
            <a:r>
              <a:rPr sz="2400" b="0" i="1">
                <a:solidFill>
                  <a:srgbClr val="1A5276"/>
                </a:solidFill>
                <a:latin typeface="Cambria"/>
              </a:rPr>
              <a:t>w</a:t>
            </a:r>
            <a:r>
              <a:rPr sz="2400" b="0" i="0">
                <a:solidFill>
                  <a:srgbClr val="1A5276"/>
                </a:solidFill>
                <a:latin typeface="Segoe UI Semibold"/>
              </a:rPr>
              <a:t> left or right?</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2 OF 3  ·  ANSWER</a:t>
            </a:r>
          </a:p>
        </p:txBody>
      </p:sp>
      <p:sp>
        <p:nvSpPr>
          <p:cNvPr id="5" name="!!abar">
            <a:extLst>
              <a:ext uri="{C183D7F6-B498-43B3-948B-1728B52AA6E4}">
                <adec:decorative xmlns:adec="http://schemas.microsoft.com/office/drawing/2017/decorative" val="1"/>
              </a:ext>
            </a:extLst>
          </p:cNvPr>
          <p:cNvSpPr/>
          <p:nvPr/>
        </p:nvSpPr>
        <p:spPr>
          <a:xfrm>
            <a:off x="658368" y="1762963"/>
            <a:ext cx="64008" cy="697382"/>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1762963"/>
            <a:ext cx="10509199" cy="743102"/>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Cambria"/>
              </a:rPr>
              <a:t>∇ </a:t>
            </a:r>
            <a:r>
              <a:rPr sz="2200" b="0" i="1">
                <a:solidFill>
                  <a:srgbClr val="1C252B"/>
                </a:solidFill>
                <a:latin typeface="Cambria"/>
              </a:rPr>
              <a:t>L</a:t>
            </a:r>
            <a:r>
              <a:rPr sz="2200" b="0" i="0">
                <a:solidFill>
                  <a:srgbClr val="1C252B"/>
                </a:solidFill>
                <a:latin typeface="Cambria"/>
              </a:rPr>
              <a:t> = 2</a:t>
            </a:r>
            <a:r>
              <a:rPr sz="2200" b="0" i="1">
                <a:solidFill>
                  <a:srgbClr val="1C252B"/>
                </a:solidFill>
                <a:latin typeface="Cambria"/>
              </a:rPr>
              <a:t>w</a:t>
            </a:r>
            <a:r>
              <a:rPr sz="2200" b="0" i="0">
                <a:solidFill>
                  <a:srgbClr val="1C252B"/>
                </a:solidFill>
                <a:latin typeface="Cambria"/>
              </a:rPr>
              <a:t> = −4</a:t>
            </a:r>
            <a:r>
              <a:rPr sz="2200" b="0" i="0">
                <a:solidFill>
                  <a:srgbClr val="1C252B"/>
                </a:solidFill>
                <a:latin typeface="Segoe UI"/>
              </a:rPr>
              <a:t>. The update is </a:t>
            </a:r>
            <a:r>
              <a:rPr sz="2200" b="0" i="1">
                <a:solidFill>
                  <a:srgbClr val="1C252B"/>
                </a:solidFill>
                <a:latin typeface="Cambria"/>
              </a:rPr>
              <a:t>w</a:t>
            </a:r>
            <a:r>
              <a:rPr sz="2200" b="0" i="0">
                <a:solidFill>
                  <a:srgbClr val="1C252B"/>
                </a:solidFill>
                <a:latin typeface="Cambria"/>
              </a:rPr>
              <a:t> ← </a:t>
            </a:r>
            <a:r>
              <a:rPr sz="2200" b="0" i="1">
                <a:solidFill>
                  <a:srgbClr val="1C252B"/>
                </a:solidFill>
                <a:latin typeface="Cambria"/>
              </a:rPr>
              <a:t>w</a:t>
            </a:r>
            <a:r>
              <a:rPr sz="2200" b="0" i="0">
                <a:solidFill>
                  <a:srgbClr val="1C252B"/>
                </a:solidFill>
                <a:latin typeface="Cambria"/>
              </a:rPr>
              <a:t> − α(−4)</a:t>
            </a:r>
            <a:r>
              <a:rPr sz="2200" b="0" i="0">
                <a:solidFill>
                  <a:srgbClr val="1C252B"/>
                </a:solidFill>
                <a:latin typeface="Segoe UI"/>
              </a:rPr>
              <a:t>, which </a:t>
            </a:r>
            <a:r>
              <a:rPr sz="2200" b="0" i="1">
                <a:solidFill>
                  <a:srgbClr val="1C252B"/>
                </a:solidFill>
                <a:latin typeface="Segoe UI"/>
              </a:rPr>
              <a:t>increases</a:t>
            </a:r>
            <a:r>
              <a:rPr sz="2200" b="0" i="0">
                <a:solidFill>
                  <a:srgbClr val="1C252B"/>
                </a:solidFill>
                <a:latin typeface="Segoe UI"/>
              </a:rPr>
              <a:t> </a:t>
            </a:r>
            <a:r>
              <a:rPr sz="2200" b="0" i="1">
                <a:solidFill>
                  <a:srgbClr val="1C252B"/>
                </a:solidFill>
                <a:latin typeface="Cambria"/>
              </a:rPr>
              <a:t>w</a:t>
            </a:r>
            <a:r>
              <a:rPr sz="2200" b="0" i="0">
                <a:solidFill>
                  <a:srgbClr val="1C252B"/>
                </a:solidFill>
                <a:latin typeface="Segoe UI"/>
              </a:rPr>
              <a:t> — so it moves right, towards the minimum at 0.</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4  ·  The Mathematical Toolkit</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28  ·  answers in Appendix D     </a:t>
            </a:r>
            <a:fld id="{025F1AB5-F1FD-4876-B5C4-12E31ACAA3FD}" type="slidenum">
              <a:rPr lang="en-GB" sz="1000">
                <a:solidFill>
                  <a:srgbClr val="8795A1"/>
                </a:solidFill>
                <a:latin typeface="Segoe UI"/>
              </a:rPr>
              <a:t>35</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10159746"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Two documents have cosine similarity 0.95 but Euclidean distance 40. What does that combination tell you about them?</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3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Data Science  ·  Chapter 4  ·  The Mathematical Toolkit</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28  ·  answers in Appendix D     </a:t>
            </a:r>
            <a:fld id="{D4D092C7-A132-47A8-B3CC-5BE97D7163BE}" type="slidenum">
              <a:rPr lang="en-GB" sz="1000">
                <a:solidFill>
                  <a:srgbClr val="D5DEE5"/>
                </a:solidFill>
                <a:latin typeface="Segoe UI"/>
              </a:rPr>
              <a:t>36</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747979"/>
          </a:xfrm>
        </p:spPr>
        <p:txBody>
          <a:bodyPr wrap="square" lIns="0" rIns="0" tIns="0" bIns="0" anchor="t">
            <a:noAutofit/>
          </a:bodyPr>
          <a:lstStyle/>
          <a:p>
            <a:pPr algn="l">
              <a:lnSpc>
                <a:spcPct val="96000"/>
              </a:lnSpc>
            </a:pPr>
            <a:r>
              <a:rPr sz="2400" b="0" i="0">
                <a:solidFill>
                  <a:srgbClr val="1A5276"/>
                </a:solidFill>
                <a:latin typeface="Segoe UI Semibold"/>
              </a:rPr>
              <a:t>Two documents have cosine similarity 0.95 but Euclidean distance 40. What does that combination tell you about them?</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3 OF 3  ·  ANSWER</a:t>
            </a:r>
          </a:p>
        </p:txBody>
      </p:sp>
      <p:sp>
        <p:nvSpPr>
          <p:cNvPr id="5" name="!!abar">
            <a:extLst>
              <a:ext uri="{C183D7F6-B498-43B3-948B-1728B52AA6E4}">
                <adec:decorative xmlns:adec="http://schemas.microsoft.com/office/drawing/2017/decorative" val="1"/>
              </a:ext>
            </a:extLst>
          </p:cNvPr>
          <p:cNvSpPr/>
          <p:nvPr/>
        </p:nvSpPr>
        <p:spPr>
          <a:xfrm>
            <a:off x="658368" y="1762963"/>
            <a:ext cx="64008" cy="13947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1762963"/>
            <a:ext cx="10509199" cy="1440484"/>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They are about the same subject (direction is nearly identical) but very different in magnitude — typically a long document and a short one on the same topic. This is exactly the case where cosine similarity is right and Euclidean distance is misleading.</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4  ·  The Mathematical Toolkit</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28  ·  answers in Appendix D     </a:t>
            </a:r>
            <a:fld id="{8F6C8A54-3002-4277-A8A8-278AD32D7C2D}" type="slidenum">
              <a:rPr lang="en-GB" sz="1000">
                <a:solidFill>
                  <a:srgbClr val="8795A1"/>
                </a:solidFill>
                <a:latin typeface="Segoe UI"/>
              </a:rPr>
              <a:t>37</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10740302"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to take away</a:t>
            </a:r>
          </a:p>
        </p:txBody>
      </p:sp>
      <p:pic>
        <p:nvPicPr>
          <p:cNvPr id="3" name="!!kicker-icon" descr="clipboard-check-15425E.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6683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5425E"/>
                </a:solidFill>
                <a:latin typeface="Segoe UI"/>
              </a:rPr>
              <a:t>CHAPTER SUMMARY</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4  ·  The Mathematical Toolkit</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28     </a:t>
            </a:r>
            <a:fld id="{B4ED41D5-8FAE-46AC-8C01-32E275373803}" type="slidenum">
              <a:rPr lang="en-GB" sz="1000">
                <a:solidFill>
                  <a:srgbClr val="8795A1"/>
                </a:solidFill>
                <a:latin typeface="Segoe UI"/>
              </a:rPr>
              <a:t>38</a:t>
            </a:fld>
          </a:p>
        </p:txBody>
      </p:sp>
      <p:sp>
        <p:nvSpPr>
          <p:cNvPr id="7" name="!!sb0">
            <a:extLst>
              <a:ext uri="{C183D7F6-B498-43B3-948B-1728B52AA6E4}">
                <adec:decorative xmlns:adec="http://schemas.microsoft.com/office/drawing/2017/decorative" val="1"/>
              </a:ext>
            </a:extLst>
          </p:cNvPr>
          <p:cNvSpPr/>
          <p:nvPr/>
        </p:nvSpPr>
        <p:spPr>
          <a:xfrm>
            <a:off x="658368" y="1746504"/>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sbn0"/>
          <p:cNvSpPr txBox="1"/>
          <p:nvPr/>
        </p:nvSpPr>
        <p:spPr>
          <a:xfrm>
            <a:off x="658368" y="1801368"/>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1</a:t>
            </a:r>
          </a:p>
        </p:txBody>
      </p:sp>
      <p:sp>
        <p:nvSpPr>
          <p:cNvPr id="9" name="!!st0"/>
          <p:cNvSpPr txBox="1"/>
          <p:nvPr/>
        </p:nvSpPr>
        <p:spPr>
          <a:xfrm>
            <a:off x="1298448" y="1737360"/>
            <a:ext cx="10234879" cy="665683"/>
          </a:xfrm>
          <a:prstGeom prst="rect">
            <a:avLst/>
          </a:prstGeom>
          <a:noFill/>
        </p:spPr>
        <p:txBody>
          <a:bodyPr wrap="square" anchor="t" lIns="0" rIns="0" tIns="0" bIns="0">
            <a:noAutofit/>
          </a:bodyPr>
          <a:lstStyle/>
          <a:p>
            <a:pPr algn="l">
              <a:lnSpc>
                <a:spcPct val="104000"/>
              </a:lnSpc>
              <a:spcBef>
                <a:spcPts val="0"/>
              </a:spcBef>
              <a:spcAft>
                <a:spcPts val="0"/>
              </a:spcAft>
            </a:pPr>
            <a:r>
              <a:rPr sz="2100" b="0" i="0">
                <a:solidFill>
                  <a:srgbClr val="1C252B"/>
                </a:solidFill>
                <a:latin typeface="Segoe UI"/>
              </a:rPr>
              <a:t>An observation is a vector; a dataset is an </a:t>
            </a:r>
            <a:r>
              <a:rPr sz="2100" b="0" i="1">
                <a:solidFill>
                  <a:srgbClr val="1C252B"/>
                </a:solidFill>
                <a:latin typeface="Cambria"/>
              </a:rPr>
              <a:t>n</a:t>
            </a:r>
            <a:r>
              <a:rPr sz="2100" b="0" i="0">
                <a:solidFill>
                  <a:srgbClr val="1C252B"/>
                </a:solidFill>
                <a:latin typeface="Cambria"/>
              </a:rPr>
              <a:t> × </a:t>
            </a:r>
            <a:r>
              <a:rPr sz="2100" b="0" i="1">
                <a:solidFill>
                  <a:srgbClr val="1C252B"/>
                </a:solidFill>
                <a:latin typeface="Cambria"/>
              </a:rPr>
              <a:t>p</a:t>
            </a:r>
            <a:r>
              <a:rPr sz="2100" b="0" i="0">
                <a:solidFill>
                  <a:srgbClr val="1C252B"/>
                </a:solidFill>
                <a:latin typeface="Segoe UI"/>
              </a:rPr>
              <a:t> matrix. Every algorithm consumes this shape.</a:t>
            </a:r>
          </a:p>
        </p:txBody>
      </p:sp>
      <p:sp>
        <p:nvSpPr>
          <p:cNvPr id="10" name="!!sb1">
            <a:extLst>
              <a:ext uri="{C183D7F6-B498-43B3-948B-1728B52AA6E4}">
                <adec:decorative xmlns:adec="http://schemas.microsoft.com/office/drawing/2017/decorative" val="1"/>
              </a:ext>
            </a:extLst>
          </p:cNvPr>
          <p:cNvSpPr/>
          <p:nvPr/>
        </p:nvSpPr>
        <p:spPr>
          <a:xfrm>
            <a:off x="658368" y="2595067"/>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sbn1"/>
          <p:cNvSpPr txBox="1"/>
          <p:nvPr/>
        </p:nvSpPr>
        <p:spPr>
          <a:xfrm>
            <a:off x="658368" y="2649931"/>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2</a:t>
            </a:r>
          </a:p>
        </p:txBody>
      </p:sp>
      <p:sp>
        <p:nvSpPr>
          <p:cNvPr id="12" name="!!st1"/>
          <p:cNvSpPr txBox="1"/>
          <p:nvPr/>
        </p:nvSpPr>
        <p:spPr>
          <a:xfrm>
            <a:off x="1298448" y="2585923"/>
            <a:ext cx="10234879" cy="665683"/>
          </a:xfrm>
          <a:prstGeom prst="rect">
            <a:avLst/>
          </a:prstGeom>
          <a:noFill/>
        </p:spPr>
        <p:txBody>
          <a:bodyPr wrap="square" anchor="t" lIns="0" rIns="0" tIns="0" bIns="0">
            <a:noAutofit/>
          </a:bodyPr>
          <a:lstStyle/>
          <a:p>
            <a:pPr algn="l">
              <a:lnSpc>
                <a:spcPct val="104000"/>
              </a:lnSpc>
              <a:spcBef>
                <a:spcPts val="0"/>
              </a:spcBef>
              <a:spcAft>
                <a:spcPts val="0"/>
              </a:spcAft>
            </a:pPr>
            <a:r>
              <a:rPr sz="2100" b="0" i="0">
                <a:solidFill>
                  <a:srgbClr val="1C252B"/>
                </a:solidFill>
                <a:latin typeface="Segoe UI"/>
              </a:rPr>
              <a:t>Euclidean distance measures dissimilarity; it is dominated by whichever feature has the largest scale, so scale first.</a:t>
            </a:r>
          </a:p>
        </p:txBody>
      </p:sp>
      <p:sp>
        <p:nvSpPr>
          <p:cNvPr id="13" name="!!sb2">
            <a:extLst>
              <a:ext uri="{C183D7F6-B498-43B3-948B-1728B52AA6E4}">
                <adec:decorative xmlns:adec="http://schemas.microsoft.com/office/drawing/2017/decorative" val="1"/>
              </a:ext>
            </a:extLst>
          </p:cNvPr>
          <p:cNvSpPr/>
          <p:nvPr/>
        </p:nvSpPr>
        <p:spPr>
          <a:xfrm>
            <a:off x="658368" y="3443630"/>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sbn2"/>
          <p:cNvSpPr txBox="1"/>
          <p:nvPr/>
        </p:nvSpPr>
        <p:spPr>
          <a:xfrm>
            <a:off x="658368" y="3498494"/>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3</a:t>
            </a:r>
          </a:p>
        </p:txBody>
      </p:sp>
      <p:sp>
        <p:nvSpPr>
          <p:cNvPr id="15" name="!!st2"/>
          <p:cNvSpPr txBox="1"/>
          <p:nvPr/>
        </p:nvSpPr>
        <p:spPr>
          <a:xfrm>
            <a:off x="1298448" y="3434486"/>
            <a:ext cx="10234879" cy="665683"/>
          </a:xfrm>
          <a:prstGeom prst="rect">
            <a:avLst/>
          </a:prstGeom>
          <a:noFill/>
        </p:spPr>
        <p:txBody>
          <a:bodyPr wrap="square" anchor="t" lIns="0" rIns="0" tIns="0" bIns="0">
            <a:noAutofit/>
          </a:bodyPr>
          <a:lstStyle/>
          <a:p>
            <a:pPr algn="l">
              <a:lnSpc>
                <a:spcPct val="104000"/>
              </a:lnSpc>
              <a:spcBef>
                <a:spcPts val="0"/>
              </a:spcBef>
              <a:spcAft>
                <a:spcPts val="0"/>
              </a:spcAft>
            </a:pPr>
            <a:r>
              <a:rPr sz="2100" b="0" i="0">
                <a:solidFill>
                  <a:srgbClr val="1C252B"/>
                </a:solidFill>
                <a:latin typeface="Segoe UI"/>
              </a:rPr>
              <a:t>Cosine similarity compares direction while ignoring magnitude — the right choice for text.</a:t>
            </a:r>
          </a:p>
        </p:txBody>
      </p:sp>
      <p:sp>
        <p:nvSpPr>
          <p:cNvPr id="16" name="!!sb3">
            <a:extLst>
              <a:ext uri="{C183D7F6-B498-43B3-948B-1728B52AA6E4}">
                <adec:decorative xmlns:adec="http://schemas.microsoft.com/office/drawing/2017/decorative" val="1"/>
              </a:ext>
            </a:extLst>
          </p:cNvPr>
          <p:cNvSpPr/>
          <p:nvPr/>
        </p:nvSpPr>
        <p:spPr>
          <a:xfrm>
            <a:off x="658368" y="4292193"/>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sbn3"/>
          <p:cNvSpPr txBox="1"/>
          <p:nvPr/>
        </p:nvSpPr>
        <p:spPr>
          <a:xfrm>
            <a:off x="658368" y="4347057"/>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4</a:t>
            </a:r>
          </a:p>
        </p:txBody>
      </p:sp>
      <p:sp>
        <p:nvSpPr>
          <p:cNvPr id="18" name="!!st3"/>
          <p:cNvSpPr txBox="1"/>
          <p:nvPr/>
        </p:nvSpPr>
        <p:spPr>
          <a:xfrm>
            <a:off x="1298448" y="4283049"/>
            <a:ext cx="10234879" cy="402336"/>
          </a:xfrm>
          <a:prstGeom prst="rect">
            <a:avLst/>
          </a:prstGeom>
          <a:noFill/>
        </p:spPr>
        <p:txBody>
          <a:bodyPr wrap="square" anchor="t" lIns="0" rIns="0" tIns="0" bIns="0">
            <a:noAutofit/>
          </a:bodyPr>
          <a:lstStyle/>
          <a:p>
            <a:pPr algn="l">
              <a:lnSpc>
                <a:spcPct val="104000"/>
              </a:lnSpc>
              <a:spcBef>
                <a:spcPts val="0"/>
              </a:spcBef>
              <a:spcAft>
                <a:spcPts val="0"/>
              </a:spcAft>
            </a:pPr>
            <a:r>
              <a:rPr sz="2100" b="0" i="0">
                <a:solidFill>
                  <a:srgbClr val="1C252B"/>
                </a:solidFill>
                <a:latin typeface="Segoe UI"/>
              </a:rPr>
              <a:t>A derivative is a slope; a gradient is a vector of slopes pointing steeply uphill.</a:t>
            </a:r>
          </a:p>
        </p:txBody>
      </p:sp>
      <p:sp>
        <p:nvSpPr>
          <p:cNvPr id="19" name="!!sb4">
            <a:extLst>
              <a:ext uri="{C183D7F6-B498-43B3-948B-1728B52AA6E4}">
                <adec:decorative xmlns:adec="http://schemas.microsoft.com/office/drawing/2017/decorative" val="1"/>
              </a:ext>
            </a:extLst>
          </p:cNvPr>
          <p:cNvSpPr/>
          <p:nvPr/>
        </p:nvSpPr>
        <p:spPr>
          <a:xfrm>
            <a:off x="658368" y="4877409"/>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sbn4"/>
          <p:cNvSpPr txBox="1"/>
          <p:nvPr/>
        </p:nvSpPr>
        <p:spPr>
          <a:xfrm>
            <a:off x="658368" y="4932273"/>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5</a:t>
            </a:r>
          </a:p>
        </p:txBody>
      </p:sp>
      <p:sp>
        <p:nvSpPr>
          <p:cNvPr id="21" name="!!st4"/>
          <p:cNvSpPr txBox="1"/>
          <p:nvPr/>
        </p:nvSpPr>
        <p:spPr>
          <a:xfrm>
            <a:off x="1298448" y="4868265"/>
            <a:ext cx="10234879" cy="665683"/>
          </a:xfrm>
          <a:prstGeom prst="rect">
            <a:avLst/>
          </a:prstGeom>
          <a:noFill/>
        </p:spPr>
        <p:txBody>
          <a:bodyPr wrap="square" anchor="t" lIns="0" rIns="0" tIns="0" bIns="0">
            <a:noAutofit/>
          </a:bodyPr>
          <a:lstStyle/>
          <a:p>
            <a:pPr algn="l">
              <a:lnSpc>
                <a:spcPct val="104000"/>
              </a:lnSpc>
              <a:spcBef>
                <a:spcPts val="0"/>
              </a:spcBef>
              <a:spcAft>
                <a:spcPts val="0"/>
              </a:spcAft>
            </a:pPr>
            <a:r>
              <a:rPr sz="2100" b="0" i="0">
                <a:solidFill>
                  <a:srgbClr val="1C252B"/>
                </a:solidFill>
                <a:latin typeface="Segoe UI"/>
              </a:rPr>
              <a:t>Gradient descent is </a:t>
            </a:r>
            <a:r>
              <a:rPr sz="2100" b="0" i="1">
                <a:solidFill>
                  <a:srgbClr val="1C252B"/>
                </a:solidFill>
                <a:latin typeface="Cambria"/>
              </a:rPr>
              <a:t>w</a:t>
            </a:r>
            <a:r>
              <a:rPr sz="2100" b="0" i="0">
                <a:solidFill>
                  <a:srgbClr val="1C252B"/>
                </a:solidFill>
                <a:latin typeface="Cambria"/>
              </a:rPr>
              <a:t> ← </a:t>
            </a:r>
            <a:r>
              <a:rPr sz="2100" b="0" i="1">
                <a:solidFill>
                  <a:srgbClr val="1C252B"/>
                </a:solidFill>
                <a:latin typeface="Cambria"/>
              </a:rPr>
              <a:t>w</a:t>
            </a:r>
            <a:r>
              <a:rPr sz="2100" b="0" i="0">
                <a:solidFill>
                  <a:srgbClr val="1C252B"/>
                </a:solidFill>
                <a:latin typeface="Cambria"/>
              </a:rPr>
              <a:t> − α ∇ </a:t>
            </a:r>
            <a:r>
              <a:rPr sz="2100" b="0" i="1">
                <a:solidFill>
                  <a:srgbClr val="1C252B"/>
                </a:solidFill>
                <a:latin typeface="Cambria"/>
              </a:rPr>
              <a:t>L</a:t>
            </a:r>
            <a:r>
              <a:rPr sz="2100" b="0" i="0">
                <a:solidFill>
                  <a:srgbClr val="1C252B"/>
                </a:solidFill>
                <a:latin typeface="Segoe UI"/>
              </a:rPr>
              <a:t>. The learning rate </a:t>
            </a:r>
            <a:r>
              <a:rPr sz="2100" b="0" i="0">
                <a:solidFill>
                  <a:srgbClr val="1C252B"/>
                </a:solidFill>
                <a:latin typeface="Cambria"/>
              </a:rPr>
              <a:t>α</a:t>
            </a:r>
            <a:r>
              <a:rPr sz="2100" b="0" i="0">
                <a:solidFill>
                  <a:srgbClr val="1C252B"/>
                </a:solidFill>
                <a:latin typeface="Segoe UI"/>
              </a:rPr>
              <a:t> decides between crawling, converging and diverging.</a:t>
            </a:r>
          </a:p>
        </p:txBody>
      </p:sp>
      <p:sp>
        <p:nvSpPr>
          <p:cNvPr id="5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pfill">
            <a:extLst>
              <a:ext uri="{C183D7F6-B498-43B3-948B-1728B52AA6E4}">
                <adec:decorative xmlns:adec="http://schemas.microsoft.com/office/drawing/2017/decorative" val="1"/>
              </a:ext>
            </a:extLst>
          </p:cNvPr>
          <p:cNvSpPr/>
          <p:nvPr/>
        </p:nvSpPr>
        <p:spPr>
          <a:xfrm>
            <a:off x="0" y="0"/>
            <a:ext cx="11030581"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26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60"/>
                                        <p:tgtEl>
                                          <p:spTgt spid="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right)">
                                      <p:cBhvr>
                                        <p:cTn id="14" dur="4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zoom(in)">
                                      <p:cBhvr>
                                        <p:cTn id="19" dur="26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260"/>
                                        <p:tgtEl>
                                          <p:spTgt spid="11"/>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ipe(right)">
                                      <p:cBhvr>
                                        <p:cTn id="25" dur="400"/>
                                        <p:tgtEl>
                                          <p:spTgt spid="12"/>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zoom(in)">
                                      <p:cBhvr>
                                        <p:cTn id="30" dur="26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260"/>
                                        <p:tgtEl>
                                          <p:spTgt spid="14"/>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wipe(right)">
                                      <p:cBhvr>
                                        <p:cTn id="36" dur="400"/>
                                        <p:tgtEl>
                                          <p:spTgt spid="15"/>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zoom(in)">
                                      <p:cBhvr>
                                        <p:cTn id="41" dur="260"/>
                                        <p:tgtEl>
                                          <p:spTgt spid="1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260"/>
                                        <p:tgtEl>
                                          <p:spTgt spid="17"/>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wipe(right)">
                                      <p:cBhvr>
                                        <p:cTn id="47" dur="400"/>
                                        <p:tgtEl>
                                          <p:spTgt spid="18"/>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zoom(in)">
                                      <p:cBhvr>
                                        <p:cTn id="52" dur="260"/>
                                        <p:tgtEl>
                                          <p:spTgt spid="19"/>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260"/>
                                        <p:tgtEl>
                                          <p:spTgt spid="20"/>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wipe(right)">
                                      <p:cBhvr>
                                        <p:cTn id="58" dur="4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 check 1 of 2</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  MULTIPLE CHOICE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4  ·  The Mathematical Toolkit</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28     </a:t>
            </a:r>
            <a:fld id="{030A0058-4187-45CC-85FF-50E1A0AE3839}" type="slidenum">
              <a:rPr lang="en-GB" sz="1000">
                <a:solidFill>
                  <a:srgbClr val="8795A1"/>
                </a:solidFill>
                <a:latin typeface="Segoe UI"/>
              </a:rPr>
              <a:t>39</a:t>
            </a:fld>
          </a:p>
        </p:txBody>
      </p:sp>
      <p:sp>
        <p:nvSpPr>
          <p:cNvPr id="7" name="!!mstem"/>
          <p:cNvSpPr txBox="1"/>
          <p:nvPr/>
        </p:nvSpPr>
        <p:spPr>
          <a:xfrm>
            <a:off x="658368" y="1737360"/>
            <a:ext cx="10874959" cy="457809"/>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The gradient of a loss function points in the direction of:</a:t>
            </a:r>
          </a:p>
        </p:txBody>
      </p:sp>
      <p:sp>
        <p:nvSpPr>
          <p:cNvPr id="8" name="!!mo0">
            <a:extLst>
              <a:ext uri="{C183D7F6-B498-43B3-948B-1728B52AA6E4}">
                <adec:decorative xmlns:adec="http://schemas.microsoft.com/office/drawing/2017/decorative" val="1"/>
              </a:ext>
            </a:extLst>
          </p:cNvPr>
          <p:cNvSpPr/>
          <p:nvPr/>
        </p:nvSpPr>
        <p:spPr>
          <a:xfrm>
            <a:off x="658368"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mol0">
            <a:extLst>
              <a:ext uri="{C183D7F6-B498-43B3-948B-1728B52AA6E4}">
                <adec:decorative xmlns:adec="http://schemas.microsoft.com/office/drawing/2017/decorative" val="1"/>
              </a:ext>
            </a:extLst>
          </p:cNvPr>
          <p:cNvSpPr/>
          <p:nvPr/>
        </p:nvSpPr>
        <p:spPr>
          <a:xfrm>
            <a:off x="841247" y="2789529"/>
            <a:ext cx="457200" cy="457200"/>
          </a:xfrm>
          <a:prstGeom prst="roundRect">
            <a:avLst>
              <a:gd name="adj" fmla="val 50000"/>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molt0"/>
          <p:cNvSpPr txBox="1"/>
          <p:nvPr/>
        </p:nvSpPr>
        <p:spPr>
          <a:xfrm>
            <a:off x="841247"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A</a:t>
            </a:r>
          </a:p>
        </p:txBody>
      </p:sp>
      <p:sp>
        <p:nvSpPr>
          <p:cNvPr id="11" name="!!mot0"/>
          <p:cNvSpPr txBox="1"/>
          <p:nvPr/>
        </p:nvSpPr>
        <p:spPr>
          <a:xfrm>
            <a:off x="1481328"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steepest decrease</a:t>
            </a:r>
          </a:p>
        </p:txBody>
      </p:sp>
      <p:sp>
        <p:nvSpPr>
          <p:cNvPr id="12" name="!!mo1">
            <a:extLst>
              <a:ext uri="{C183D7F6-B498-43B3-948B-1728B52AA6E4}">
                <adec:decorative xmlns:adec="http://schemas.microsoft.com/office/drawing/2017/decorative" val="1"/>
              </a:ext>
            </a:extLst>
          </p:cNvPr>
          <p:cNvSpPr/>
          <p:nvPr/>
        </p:nvSpPr>
        <p:spPr>
          <a:xfrm>
            <a:off x="6214719"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mol1">
            <a:extLst>
              <a:ext uri="{C183D7F6-B498-43B3-948B-1728B52AA6E4}">
                <adec:decorative xmlns:adec="http://schemas.microsoft.com/office/drawing/2017/decorative" val="1"/>
              </a:ext>
            </a:extLst>
          </p:cNvPr>
          <p:cNvSpPr/>
          <p:nvPr/>
        </p:nvSpPr>
        <p:spPr>
          <a:xfrm>
            <a:off x="6397599" y="2789529"/>
            <a:ext cx="457200" cy="457200"/>
          </a:xfrm>
          <a:prstGeom prst="roundRect">
            <a:avLst>
              <a:gd name="adj" fmla="val 50000"/>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molt1"/>
          <p:cNvSpPr txBox="1"/>
          <p:nvPr/>
        </p:nvSpPr>
        <p:spPr>
          <a:xfrm>
            <a:off x="6397599"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B</a:t>
            </a:r>
          </a:p>
        </p:txBody>
      </p:sp>
      <p:sp>
        <p:nvSpPr>
          <p:cNvPr id="15" name="!!mot1"/>
          <p:cNvSpPr txBox="1"/>
          <p:nvPr/>
        </p:nvSpPr>
        <p:spPr>
          <a:xfrm>
            <a:off x="7037679"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steepest increase</a:t>
            </a:r>
          </a:p>
        </p:txBody>
      </p:sp>
      <p:sp>
        <p:nvSpPr>
          <p:cNvPr id="16" name="!!mo2">
            <a:extLst>
              <a:ext uri="{C183D7F6-B498-43B3-948B-1728B52AA6E4}">
                <adec:decorative xmlns:adec="http://schemas.microsoft.com/office/drawing/2017/decorative" val="1"/>
              </a:ext>
            </a:extLst>
          </p:cNvPr>
          <p:cNvSpPr/>
          <p:nvPr/>
        </p:nvSpPr>
        <p:spPr>
          <a:xfrm>
            <a:off x="658368"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mol2">
            <a:extLst>
              <a:ext uri="{C183D7F6-B498-43B3-948B-1728B52AA6E4}">
                <adec:decorative xmlns:adec="http://schemas.microsoft.com/office/drawing/2017/decorative" val="1"/>
              </a:ext>
            </a:extLst>
          </p:cNvPr>
          <p:cNvSpPr/>
          <p:nvPr/>
        </p:nvSpPr>
        <p:spPr>
          <a:xfrm>
            <a:off x="841247" y="3978249"/>
            <a:ext cx="457200" cy="457200"/>
          </a:xfrm>
          <a:prstGeom prst="roundRect">
            <a:avLst>
              <a:gd name="adj" fmla="val 50000"/>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molt2"/>
          <p:cNvSpPr txBox="1"/>
          <p:nvPr/>
        </p:nvSpPr>
        <p:spPr>
          <a:xfrm>
            <a:off x="841247"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C</a:t>
            </a:r>
          </a:p>
        </p:txBody>
      </p:sp>
      <p:sp>
        <p:nvSpPr>
          <p:cNvPr id="19" name="!!mot2"/>
          <p:cNvSpPr txBox="1"/>
          <p:nvPr/>
        </p:nvSpPr>
        <p:spPr>
          <a:xfrm>
            <a:off x="1481328"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the minimum</a:t>
            </a:r>
          </a:p>
        </p:txBody>
      </p:sp>
      <p:sp>
        <p:nvSpPr>
          <p:cNvPr id="20" name="!!mo3">
            <a:extLst>
              <a:ext uri="{C183D7F6-B498-43B3-948B-1728B52AA6E4}">
                <adec:decorative xmlns:adec="http://schemas.microsoft.com/office/drawing/2017/decorative" val="1"/>
              </a:ext>
            </a:extLst>
          </p:cNvPr>
          <p:cNvSpPr/>
          <p:nvPr/>
        </p:nvSpPr>
        <p:spPr>
          <a:xfrm>
            <a:off x="6214719"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mol3">
            <a:extLst>
              <a:ext uri="{C183D7F6-B498-43B3-948B-1728B52AA6E4}">
                <adec:decorative xmlns:adec="http://schemas.microsoft.com/office/drawing/2017/decorative" val="1"/>
              </a:ext>
            </a:extLst>
          </p:cNvPr>
          <p:cNvSpPr/>
          <p:nvPr/>
        </p:nvSpPr>
        <p:spPr>
          <a:xfrm>
            <a:off x="6397599" y="3978249"/>
            <a:ext cx="457200" cy="457200"/>
          </a:xfrm>
          <a:prstGeom prst="roundRect">
            <a:avLst>
              <a:gd name="adj" fmla="val 50000"/>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molt3"/>
          <p:cNvSpPr txBox="1"/>
          <p:nvPr/>
        </p:nvSpPr>
        <p:spPr>
          <a:xfrm>
            <a:off x="6397599"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D</a:t>
            </a:r>
          </a:p>
        </p:txBody>
      </p:sp>
      <p:sp>
        <p:nvSpPr>
          <p:cNvPr id="23" name="!!mot3"/>
          <p:cNvSpPr txBox="1"/>
          <p:nvPr/>
        </p:nvSpPr>
        <p:spPr>
          <a:xfrm>
            <a:off x="7037679"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zero error</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1320859"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 check 2 of 2</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  MULTIPLE CHOICE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4  ·  The Mathematical Toolkit</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28     </a:t>
            </a:r>
            <a:fld id="{9A191371-CE2C-4CC5-A3EE-D6196E48B0F1}" type="slidenum">
              <a:rPr lang="en-GB" sz="1000">
                <a:solidFill>
                  <a:srgbClr val="8795A1"/>
                </a:solidFill>
                <a:latin typeface="Segoe UI"/>
              </a:rPr>
              <a:t>40</a:t>
            </a:fld>
          </a:p>
        </p:txBody>
      </p:sp>
      <p:sp>
        <p:nvSpPr>
          <p:cNvPr id="7" name="!!mstem"/>
          <p:cNvSpPr txBox="1"/>
          <p:nvPr/>
        </p:nvSpPr>
        <p:spPr>
          <a:xfrm>
            <a:off x="658368" y="1737360"/>
            <a:ext cx="10874959" cy="869899"/>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For a dataset with 500 rows and 12 columns, the matrix </a:t>
            </a:r>
            <a:r>
              <a:rPr sz="2600" b="0" i="1">
                <a:solidFill>
                  <a:srgbClr val="1C252B"/>
                </a:solidFill>
                <a:latin typeface="Cambria"/>
              </a:rPr>
              <a:t>X</a:t>
            </a:r>
            <a:r>
              <a:rPr sz="2600" b="0" i="0">
                <a:solidFill>
                  <a:srgbClr val="1C252B"/>
                </a:solidFill>
                <a:latin typeface="Segoe UI"/>
              </a:rPr>
              <a:t> has dimensions:</a:t>
            </a:r>
          </a:p>
        </p:txBody>
      </p:sp>
      <p:sp>
        <p:nvSpPr>
          <p:cNvPr id="8" name="!!mo0">
            <a:extLst>
              <a:ext uri="{C183D7F6-B498-43B3-948B-1728B52AA6E4}">
                <adec:decorative xmlns:adec="http://schemas.microsoft.com/office/drawing/2017/decorative" val="1"/>
              </a:ext>
            </a:extLst>
          </p:cNvPr>
          <p:cNvSpPr/>
          <p:nvPr/>
        </p:nvSpPr>
        <p:spPr>
          <a:xfrm>
            <a:off x="658368" y="292729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mol0">
            <a:extLst>
              <a:ext uri="{C183D7F6-B498-43B3-948B-1728B52AA6E4}">
                <adec:decorative xmlns:adec="http://schemas.microsoft.com/office/drawing/2017/decorative" val="1"/>
              </a:ext>
            </a:extLst>
          </p:cNvPr>
          <p:cNvSpPr/>
          <p:nvPr/>
        </p:nvSpPr>
        <p:spPr>
          <a:xfrm>
            <a:off x="841247" y="3201619"/>
            <a:ext cx="457200" cy="457200"/>
          </a:xfrm>
          <a:prstGeom prst="roundRect">
            <a:avLst>
              <a:gd name="adj" fmla="val 50000"/>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molt0"/>
          <p:cNvSpPr txBox="1"/>
          <p:nvPr/>
        </p:nvSpPr>
        <p:spPr>
          <a:xfrm>
            <a:off x="841247" y="328391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A</a:t>
            </a:r>
          </a:p>
        </p:txBody>
      </p:sp>
      <p:sp>
        <p:nvSpPr>
          <p:cNvPr id="11" name="!!mot0"/>
          <p:cNvSpPr txBox="1"/>
          <p:nvPr/>
        </p:nvSpPr>
        <p:spPr>
          <a:xfrm>
            <a:off x="1481328" y="327781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Cambria"/>
              </a:rPr>
              <a:t>12 × 500</a:t>
            </a:r>
          </a:p>
        </p:txBody>
      </p:sp>
      <p:sp>
        <p:nvSpPr>
          <p:cNvPr id="12" name="!!mo1">
            <a:extLst>
              <a:ext uri="{C183D7F6-B498-43B3-948B-1728B52AA6E4}">
                <adec:decorative xmlns:adec="http://schemas.microsoft.com/office/drawing/2017/decorative" val="1"/>
              </a:ext>
            </a:extLst>
          </p:cNvPr>
          <p:cNvSpPr/>
          <p:nvPr/>
        </p:nvSpPr>
        <p:spPr>
          <a:xfrm>
            <a:off x="6214719" y="292729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mol1">
            <a:extLst>
              <a:ext uri="{C183D7F6-B498-43B3-948B-1728B52AA6E4}">
                <adec:decorative xmlns:adec="http://schemas.microsoft.com/office/drawing/2017/decorative" val="1"/>
              </a:ext>
            </a:extLst>
          </p:cNvPr>
          <p:cNvSpPr/>
          <p:nvPr/>
        </p:nvSpPr>
        <p:spPr>
          <a:xfrm>
            <a:off x="6397599" y="3201619"/>
            <a:ext cx="457200" cy="457200"/>
          </a:xfrm>
          <a:prstGeom prst="roundRect">
            <a:avLst>
              <a:gd name="adj" fmla="val 50000"/>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molt1"/>
          <p:cNvSpPr txBox="1"/>
          <p:nvPr/>
        </p:nvSpPr>
        <p:spPr>
          <a:xfrm>
            <a:off x="6397599" y="328391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B</a:t>
            </a:r>
          </a:p>
        </p:txBody>
      </p:sp>
      <p:sp>
        <p:nvSpPr>
          <p:cNvPr id="15" name="!!mot1"/>
          <p:cNvSpPr txBox="1"/>
          <p:nvPr/>
        </p:nvSpPr>
        <p:spPr>
          <a:xfrm>
            <a:off x="7037679" y="327781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Cambria"/>
              </a:rPr>
              <a:t>500 × 12</a:t>
            </a:r>
          </a:p>
        </p:txBody>
      </p:sp>
      <p:sp>
        <p:nvSpPr>
          <p:cNvPr id="16" name="!!mo2">
            <a:extLst>
              <a:ext uri="{C183D7F6-B498-43B3-948B-1728B52AA6E4}">
                <adec:decorative xmlns:adec="http://schemas.microsoft.com/office/drawing/2017/decorative" val="1"/>
              </a:ext>
            </a:extLst>
          </p:cNvPr>
          <p:cNvSpPr/>
          <p:nvPr/>
        </p:nvSpPr>
        <p:spPr>
          <a:xfrm>
            <a:off x="658368" y="411601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mol2">
            <a:extLst>
              <a:ext uri="{C183D7F6-B498-43B3-948B-1728B52AA6E4}">
                <adec:decorative xmlns:adec="http://schemas.microsoft.com/office/drawing/2017/decorative" val="1"/>
              </a:ext>
            </a:extLst>
          </p:cNvPr>
          <p:cNvSpPr/>
          <p:nvPr/>
        </p:nvSpPr>
        <p:spPr>
          <a:xfrm>
            <a:off x="841247" y="4390339"/>
            <a:ext cx="457200" cy="457200"/>
          </a:xfrm>
          <a:prstGeom prst="roundRect">
            <a:avLst>
              <a:gd name="adj" fmla="val 50000"/>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molt2"/>
          <p:cNvSpPr txBox="1"/>
          <p:nvPr/>
        </p:nvSpPr>
        <p:spPr>
          <a:xfrm>
            <a:off x="841247" y="447263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C</a:t>
            </a:r>
          </a:p>
        </p:txBody>
      </p:sp>
      <p:sp>
        <p:nvSpPr>
          <p:cNvPr id="19" name="!!mot2"/>
          <p:cNvSpPr txBox="1"/>
          <p:nvPr/>
        </p:nvSpPr>
        <p:spPr>
          <a:xfrm>
            <a:off x="1481328" y="446653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Cambria"/>
              </a:rPr>
              <a:t>500 × 500</a:t>
            </a:r>
          </a:p>
        </p:txBody>
      </p:sp>
      <p:sp>
        <p:nvSpPr>
          <p:cNvPr id="20" name="!!mo3">
            <a:extLst>
              <a:ext uri="{C183D7F6-B498-43B3-948B-1728B52AA6E4}">
                <adec:decorative xmlns:adec="http://schemas.microsoft.com/office/drawing/2017/decorative" val="1"/>
              </a:ext>
            </a:extLst>
          </p:cNvPr>
          <p:cNvSpPr/>
          <p:nvPr/>
        </p:nvSpPr>
        <p:spPr>
          <a:xfrm>
            <a:off x="6214719" y="411601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mol3">
            <a:extLst>
              <a:ext uri="{C183D7F6-B498-43B3-948B-1728B52AA6E4}">
                <adec:decorative xmlns:adec="http://schemas.microsoft.com/office/drawing/2017/decorative" val="1"/>
              </a:ext>
            </a:extLst>
          </p:cNvPr>
          <p:cNvSpPr/>
          <p:nvPr/>
        </p:nvSpPr>
        <p:spPr>
          <a:xfrm>
            <a:off x="6397599" y="4390339"/>
            <a:ext cx="457200" cy="457200"/>
          </a:xfrm>
          <a:prstGeom prst="roundRect">
            <a:avLst>
              <a:gd name="adj" fmla="val 50000"/>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molt3"/>
          <p:cNvSpPr txBox="1"/>
          <p:nvPr/>
        </p:nvSpPr>
        <p:spPr>
          <a:xfrm>
            <a:off x="6397599" y="447263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D</a:t>
            </a:r>
          </a:p>
        </p:txBody>
      </p:sp>
      <p:sp>
        <p:nvSpPr>
          <p:cNvPr id="23" name="!!mot3"/>
          <p:cNvSpPr txBox="1"/>
          <p:nvPr/>
        </p:nvSpPr>
        <p:spPr>
          <a:xfrm>
            <a:off x="7037679" y="446653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Cambria"/>
              </a:rPr>
              <a:t>12 × 12</a:t>
            </a:r>
            <a:r>
              <a:rPr sz="2000" b="0" i="0">
                <a:solidFill>
                  <a:srgbClr val="1C252B"/>
                </a:solidFill>
                <a:latin typeface="Segoe UI"/>
              </a:rPr>
              <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1611138"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For your notebook</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QUESTIONS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4  ·  The Mathematical Toolkit</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28     </a:t>
            </a:r>
            <a:fld id="{76525FF7-69B8-4AEF-A66C-3DA99DACB560}" type="slidenum">
              <a:rPr lang="en-GB" sz="1000">
                <a:solidFill>
                  <a:srgbClr val="8795A1"/>
                </a:solidFill>
                <a:latin typeface="Segoe UI"/>
              </a:rPr>
              <a:t>41</a:t>
            </a:fld>
          </a:p>
        </p:txBody>
      </p:sp>
      <p:sp>
        <p:nvSpPr>
          <p:cNvPr id="7" name="!!rt0">
            <a:extLst>
              <a:ext uri="{C183D7F6-B498-43B3-948B-1728B52AA6E4}">
                <adec:decorative xmlns:adec="http://schemas.microsoft.com/office/drawing/2017/decorative" val="1"/>
              </a:ext>
            </a:extLst>
          </p:cNvPr>
          <p:cNvSpPr/>
          <p:nvPr/>
        </p:nvSpPr>
        <p:spPr>
          <a:xfrm>
            <a:off x="658368" y="1755648"/>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rtt0"/>
          <p:cNvSpPr txBox="1"/>
          <p:nvPr/>
        </p:nvSpPr>
        <p:spPr>
          <a:xfrm>
            <a:off x="658368" y="1796795"/>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9" name="!!rq0"/>
          <p:cNvSpPr txBox="1"/>
          <p:nvPr/>
        </p:nvSpPr>
        <p:spPr>
          <a:xfrm>
            <a:off x="1892807" y="1737360"/>
            <a:ext cx="9549079" cy="301142"/>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Compute </a:t>
            </a:r>
            <a:r>
              <a:rPr sz="1900" b="0" i="0">
                <a:solidFill>
                  <a:srgbClr val="1C252B"/>
                </a:solidFill>
                <a:latin typeface="Cambria"/>
              </a:rPr>
              <a:t>‖[6, 8]‖</a:t>
            </a:r>
            <a:r>
              <a:rPr sz="1900" b="0" i="0">
                <a:solidFill>
                  <a:srgbClr val="1C252B"/>
                </a:solidFill>
                <a:latin typeface="Segoe UI"/>
              </a:rPr>
              <a:t> and the distance between </a:t>
            </a:r>
            <a:r>
              <a:rPr sz="1900" b="0" i="0">
                <a:solidFill>
                  <a:srgbClr val="1C252B"/>
                </a:solidFill>
                <a:latin typeface="Cambria"/>
              </a:rPr>
              <a:t>[6,8]</a:t>
            </a:r>
            <a:r>
              <a:rPr sz="1900" b="0" i="0">
                <a:solidFill>
                  <a:srgbClr val="1C252B"/>
                </a:solidFill>
                <a:latin typeface="Segoe UI"/>
              </a:rPr>
              <a:t> and </a:t>
            </a:r>
            <a:r>
              <a:rPr sz="1900" b="0" i="0">
                <a:solidFill>
                  <a:srgbClr val="1C252B"/>
                </a:solidFill>
                <a:latin typeface="Cambria"/>
              </a:rPr>
              <a:t>[2,5]</a:t>
            </a:r>
            <a:r>
              <a:rPr sz="1900" b="0" i="0">
                <a:solidFill>
                  <a:srgbClr val="1C252B"/>
                </a:solidFill>
                <a:latin typeface="Segoe UI"/>
              </a:rPr>
              <a:t>.</a:t>
            </a:r>
          </a:p>
        </p:txBody>
      </p:sp>
      <p:sp>
        <p:nvSpPr>
          <p:cNvPr id="10" name="!!rt1">
            <a:extLst>
              <a:ext uri="{C183D7F6-B498-43B3-948B-1728B52AA6E4}">
                <adec:decorative xmlns:adec="http://schemas.microsoft.com/office/drawing/2017/decorative" val="1"/>
              </a:ext>
            </a:extLst>
          </p:cNvPr>
          <p:cNvSpPr/>
          <p:nvPr/>
        </p:nvSpPr>
        <p:spPr>
          <a:xfrm>
            <a:off x="658368" y="2276246"/>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rtt1"/>
          <p:cNvSpPr txBox="1"/>
          <p:nvPr/>
        </p:nvSpPr>
        <p:spPr>
          <a:xfrm>
            <a:off x="658368" y="2317394"/>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12" name="!!rq1"/>
          <p:cNvSpPr txBox="1"/>
          <p:nvPr/>
        </p:nvSpPr>
        <p:spPr>
          <a:xfrm>
            <a:off x="1892807" y="2257958"/>
            <a:ext cx="9549079" cy="60228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Explain in your own words why gradient descent automatically takes smaller steps as it approaches a minimum.</a:t>
            </a:r>
          </a:p>
        </p:txBody>
      </p:sp>
      <p:sp>
        <p:nvSpPr>
          <p:cNvPr id="13" name="!!rt2">
            <a:extLst>
              <a:ext uri="{C183D7F6-B498-43B3-948B-1728B52AA6E4}">
                <adec:decorative xmlns:adec="http://schemas.microsoft.com/office/drawing/2017/decorative" val="1"/>
              </a:ext>
            </a:extLst>
          </p:cNvPr>
          <p:cNvSpPr/>
          <p:nvPr/>
        </p:nvSpPr>
        <p:spPr>
          <a:xfrm>
            <a:off x="658368" y="3097987"/>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rtt2"/>
          <p:cNvSpPr txBox="1"/>
          <p:nvPr/>
        </p:nvSpPr>
        <p:spPr>
          <a:xfrm>
            <a:off x="658368" y="3139135"/>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15" name="!!rq2"/>
          <p:cNvSpPr txBox="1"/>
          <p:nvPr/>
        </p:nvSpPr>
        <p:spPr>
          <a:xfrm>
            <a:off x="1892807" y="3079699"/>
            <a:ext cx="9549079" cy="60228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Give one scenario in which cosine similarity is clearly the right choice and Euclidean distance is clearly wrong.</a:t>
            </a:r>
          </a:p>
        </p:txBody>
      </p:sp>
      <p:sp>
        <p:nvSpPr>
          <p:cNvPr id="16" name="!!rt3">
            <a:extLst>
              <a:ext uri="{C183D7F6-B498-43B3-948B-1728B52AA6E4}">
                <adec:decorative xmlns:adec="http://schemas.microsoft.com/office/drawing/2017/decorative" val="1"/>
              </a:ext>
            </a:extLst>
          </p:cNvPr>
          <p:cNvSpPr/>
          <p:nvPr/>
        </p:nvSpPr>
        <p:spPr>
          <a:xfrm>
            <a:off x="658368" y="3919727"/>
            <a:ext cx="1051560" cy="310896"/>
          </a:xfrm>
          <a:prstGeom prst="roundRect">
            <a:avLst>
              <a:gd name="adj" fmla="val 50000"/>
            </a:avLst>
          </a:prstGeom>
          <a:solidFill>
            <a:srgbClr val="E2EF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rtt3"/>
          <p:cNvSpPr txBox="1"/>
          <p:nvPr/>
        </p:nvSpPr>
        <p:spPr>
          <a:xfrm>
            <a:off x="658368" y="3960876"/>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107964"/>
                </a:solidFill>
                <a:latin typeface="Segoe UI"/>
              </a:rPr>
              <a:t>APPLIED</a:t>
            </a:r>
          </a:p>
        </p:txBody>
      </p:sp>
      <p:sp>
        <p:nvSpPr>
          <p:cNvPr id="18" name="!!rq3"/>
          <p:cNvSpPr txBox="1"/>
          <p:nvPr/>
        </p:nvSpPr>
        <p:spPr>
          <a:xfrm>
            <a:off x="1892807" y="3901440"/>
            <a:ext cx="9549079" cy="60228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Perform two steps of gradient descent by hand on </a:t>
            </a:r>
            <a:r>
              <a:rPr sz="1900" b="0" i="1">
                <a:solidFill>
                  <a:srgbClr val="1C252B"/>
                </a:solidFill>
                <a:latin typeface="Cambria"/>
              </a:rPr>
              <a:t>L</a:t>
            </a:r>
            <a:r>
              <a:rPr sz="1900" b="0" i="0">
                <a:solidFill>
                  <a:srgbClr val="1C252B"/>
                </a:solidFill>
                <a:latin typeface="Cambria"/>
              </a:rPr>
              <a:t>(</a:t>
            </a:r>
            <a:r>
              <a:rPr sz="1900" b="0" i="1">
                <a:solidFill>
                  <a:srgbClr val="1C252B"/>
                </a:solidFill>
                <a:latin typeface="Cambria"/>
              </a:rPr>
              <a:t>w</a:t>
            </a:r>
            <a:r>
              <a:rPr sz="1900" b="0" i="0">
                <a:solidFill>
                  <a:srgbClr val="1C252B"/>
                </a:solidFill>
                <a:latin typeface="Cambria"/>
              </a:rPr>
              <a:t>) = (</a:t>
            </a:r>
            <a:r>
              <a:rPr sz="1900" b="0" i="1">
                <a:solidFill>
                  <a:srgbClr val="1C252B"/>
                </a:solidFill>
                <a:latin typeface="Cambria"/>
              </a:rPr>
              <a:t>w</a:t>
            </a:r>
            <a:r>
              <a:rPr sz="1900" b="0" i="0">
                <a:solidFill>
                  <a:srgbClr val="1C252B"/>
                </a:solidFill>
                <a:latin typeface="Cambria"/>
              </a:rPr>
              <a:t>−4)</a:t>
            </a:r>
            <a:r>
              <a:rPr sz="1900" b="0" i="0" baseline="30000">
                <a:solidFill>
                  <a:srgbClr val="1C252B"/>
                </a:solidFill>
                <a:latin typeface="Cambria"/>
              </a:rPr>
              <a:t>2</a:t>
            </a:r>
            <a:r>
              <a:rPr sz="1900" b="0" i="0">
                <a:solidFill>
                  <a:srgbClr val="1C252B"/>
                </a:solidFill>
                <a:latin typeface="Segoe UI"/>
              </a:rPr>
              <a:t> from </a:t>
            </a:r>
            <a:r>
              <a:rPr sz="1900" b="0" i="1">
                <a:solidFill>
                  <a:srgbClr val="1C252B"/>
                </a:solidFill>
                <a:latin typeface="Cambria"/>
              </a:rPr>
              <a:t>w</a:t>
            </a:r>
            <a:r>
              <a:rPr sz="1900" b="0" i="0" baseline="-25000">
                <a:solidFill>
                  <a:srgbClr val="1C252B"/>
                </a:solidFill>
                <a:latin typeface="Cambria"/>
              </a:rPr>
              <a:t>0</a:t>
            </a:r>
            <a:r>
              <a:rPr sz="1900" b="0" i="0">
                <a:solidFill>
                  <a:srgbClr val="1C252B"/>
                </a:solidFill>
                <a:latin typeface="Cambria"/>
              </a:rPr>
              <a:t> = 0</a:t>
            </a:r>
            <a:r>
              <a:rPr sz="1900" b="0" i="0">
                <a:solidFill>
                  <a:srgbClr val="1C252B"/>
                </a:solidFill>
                <a:latin typeface="Segoe UI"/>
              </a:rPr>
              <a:t> with </a:t>
            </a:r>
            <a:r>
              <a:rPr sz="1900" b="0" i="0">
                <a:solidFill>
                  <a:srgbClr val="1C252B"/>
                </a:solidFill>
                <a:latin typeface="Cambria"/>
              </a:rPr>
              <a:t>α = 0.4</a:t>
            </a:r>
            <a:r>
              <a:rPr sz="1900" b="0" i="0">
                <a:solidFill>
                  <a:srgbClr val="1C252B"/>
                </a:solidFill>
                <a:latin typeface="Segoe UI"/>
              </a:rPr>
              <a:t>. (Hint: </a:t>
            </a:r>
            <a:r>
              <a:rPr sz="1900" b="0" i="0">
                <a:solidFill>
                  <a:srgbClr val="1C252B"/>
                </a:solidFill>
                <a:latin typeface="Cambria"/>
              </a:rPr>
              <a:t>∇ </a:t>
            </a:r>
            <a:r>
              <a:rPr sz="1900" b="0" i="1">
                <a:solidFill>
                  <a:srgbClr val="1C252B"/>
                </a:solidFill>
                <a:latin typeface="Cambria"/>
              </a:rPr>
              <a:t>L</a:t>
            </a:r>
            <a:r>
              <a:rPr sz="1900" b="0" i="0">
                <a:solidFill>
                  <a:srgbClr val="1C252B"/>
                </a:solidFill>
                <a:latin typeface="Cambria"/>
              </a:rPr>
              <a:t> = 2(</a:t>
            </a:r>
            <a:r>
              <a:rPr sz="1900" b="0" i="1">
                <a:solidFill>
                  <a:srgbClr val="1C252B"/>
                </a:solidFill>
                <a:latin typeface="Cambria"/>
              </a:rPr>
              <a:t>w</a:t>
            </a:r>
            <a:r>
              <a:rPr sz="1900" b="0" i="0">
                <a:solidFill>
                  <a:srgbClr val="1C252B"/>
                </a:solidFill>
                <a:latin typeface="Cambria"/>
              </a:rPr>
              <a:t>−4)</a:t>
            </a:r>
            <a:r>
              <a:rPr sz="1900" b="0" i="0">
                <a:solidFill>
                  <a:srgbClr val="1C252B"/>
                </a:solidFill>
                <a:latin typeface="Segoe UI"/>
              </a:rPr>
              <a:t>.) State the value of </a:t>
            </a:r>
            <a:r>
              <a:rPr sz="1900" b="0" i="1">
                <a:solidFill>
                  <a:srgbClr val="1C252B"/>
                </a:solidFill>
                <a:latin typeface="Cambria"/>
              </a:rPr>
              <a:t>L</a:t>
            </a:r>
            <a:r>
              <a:rPr sz="1900" b="0" i="0">
                <a:solidFill>
                  <a:srgbClr val="1C252B"/>
                </a:solidFill>
                <a:latin typeface="Segoe UI"/>
              </a:rPr>
              <a:t> after each step.</a:t>
            </a:r>
          </a:p>
        </p:txBody>
      </p:sp>
      <p:sp>
        <p:nvSpPr>
          <p:cNvPr id="19" name="!!rt4">
            <a:extLst>
              <a:ext uri="{C183D7F6-B498-43B3-948B-1728B52AA6E4}">
                <adec:decorative xmlns:adec="http://schemas.microsoft.com/office/drawing/2017/decorative" val="1"/>
              </a:ext>
            </a:extLst>
          </p:cNvPr>
          <p:cNvSpPr/>
          <p:nvPr/>
        </p:nvSpPr>
        <p:spPr>
          <a:xfrm>
            <a:off x="658368" y="4741468"/>
            <a:ext cx="1051560" cy="310896"/>
          </a:xfrm>
          <a:prstGeom prst="roundRect">
            <a:avLst>
              <a:gd name="adj" fmla="val 50000"/>
            </a:avLst>
          </a:prstGeom>
          <a:solidFill>
            <a:srgbClr val="E2EF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rtt4"/>
          <p:cNvSpPr txBox="1"/>
          <p:nvPr/>
        </p:nvSpPr>
        <p:spPr>
          <a:xfrm>
            <a:off x="658368" y="4782616"/>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107964"/>
                </a:solidFill>
                <a:latin typeface="Segoe UI"/>
              </a:rPr>
              <a:t>APPLIED</a:t>
            </a:r>
          </a:p>
        </p:txBody>
      </p:sp>
      <p:sp>
        <p:nvSpPr>
          <p:cNvPr id="21" name="!!rq4"/>
          <p:cNvSpPr txBox="1"/>
          <p:nvPr/>
        </p:nvSpPr>
        <p:spPr>
          <a:xfrm>
            <a:off x="1892807" y="4723180"/>
            <a:ext cx="9549079" cy="60228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A colleague computes distances between servers using features {uptime in seconds, CPU load 0–1, error count 0–50}. Explain precisely what will go wrong and how to fix it.</a:t>
            </a:r>
          </a:p>
        </p:txBody>
      </p:sp>
      <p:sp>
        <p:nvSpPr>
          <p:cNvPr id="2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pfill">
            <a:extLst>
              <a:ext uri="{C183D7F6-B498-43B3-948B-1728B52AA6E4}">
                <adec:decorative xmlns:adec="http://schemas.microsoft.com/office/drawing/2017/decorative" val="1"/>
              </a:ext>
            </a:extLst>
          </p:cNvPr>
          <p:cNvSpPr/>
          <p:nvPr/>
        </p:nvSpPr>
        <p:spPr>
          <a:xfrm>
            <a:off x="0" y="0"/>
            <a:ext cx="11901416"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1A5276"/>
        </a:solidFill>
        <a:effectLst/>
      </p:bgPr>
    </p:bg>
    <p:spTree>
      <p:nvGrpSpPr>
        <p:cNvPr id="1" name=""/>
        <p:cNvGrpSpPr/>
        <p:nvPr/>
      </p:nvGrpSpPr>
      <p:grpSpPr/>
      <p:sp>
        <p:nvSpPr>
          <p:cNvPr id="3" name="!!wm">
            <a:extLst>
              <a:ext uri="{C183D7F6-B498-43B3-948B-1728B52AA6E4}">
                <adec:decorative xmlns:adec="http://schemas.microsoft.com/office/drawing/2017/decorative" val="1"/>
              </a:ext>
            </a:extLst>
          </p:cNvPr>
          <p:cNvSpPr txBox="1"/>
          <p:nvPr/>
        </p:nvSpPr>
        <p:spPr>
          <a:xfrm>
            <a:off x="6430975" y="-502920"/>
            <a:ext cx="5486400" cy="4572000"/>
          </a:xfrm>
          <a:prstGeom prst="rect">
            <a:avLst/>
          </a:prstGeom>
          <a:noFill/>
        </p:spPr>
        <p:txBody>
          <a:bodyPr wrap="square" anchor="t" lIns="0" rIns="0" tIns="0" bIns="0">
            <a:noAutofit/>
          </a:bodyPr>
          <a:lstStyle/>
          <a:p>
            <a:pPr algn="r">
              <a:lnSpc>
                <a:spcPct val="100000"/>
              </a:lnSpc>
              <a:spcBef>
                <a:spcPts val="0"/>
              </a:spcBef>
              <a:spcAft>
                <a:spcPts val="0"/>
              </a:spcAft>
            </a:pPr>
            <a:r>
              <a:rPr sz="28000" b="0" i="0">
                <a:solidFill>
                  <a:srgbClr val="2C6081"/>
                </a:solidFill>
                <a:latin typeface="Segoe UI Black"/>
              </a:rPr>
              <a:t>04</a:t>
            </a:r>
          </a:p>
        </p:txBody>
      </p:sp>
      <p:sp>
        <p:nvSpPr>
          <p:cNvPr id="2" name="!!title"/>
          <p:cNvSpPr>
            <a:spLocks noGrp="1"/>
          </p:cNvSpPr>
          <p:nvPr>
            <p:ph type="title"/>
          </p:nvPr>
        </p:nvSpPr>
        <p:spPr>
          <a:xfrm>
            <a:off x="658368" y="1243584"/>
            <a:ext cx="8229600" cy="822960"/>
          </a:xfrm>
        </p:spPr>
        <p:txBody>
          <a:bodyPr wrap="square" lIns="0" rIns="0" tIns="0" bIns="0" anchor="t">
            <a:noAutofit/>
          </a:bodyPr>
          <a:lstStyle/>
          <a:p>
            <a:pPr algn="l">
              <a:lnSpc>
                <a:spcPct val="96000"/>
              </a:lnSpc>
            </a:pPr>
            <a:r>
              <a:rPr sz="4000" b="0">
                <a:solidFill>
                  <a:srgbClr val="FFFFFF"/>
                </a:solidFill>
                <a:latin typeface="Segoe UI Semibold"/>
              </a:rPr>
              <a:t>End of Chapter 4</a:t>
            </a:r>
          </a:p>
        </p:txBody>
      </p:sp>
      <p:sp>
        <p:nvSpPr>
          <p:cNvPr id="4" name="!!tbar">
            <a:extLst>
              <a:ext uri="{C183D7F6-B498-43B3-948B-1728B52AA6E4}">
                <adec:decorative xmlns:adec="http://schemas.microsoft.com/office/drawing/2017/decorative" val="1"/>
              </a:ext>
            </a:extLst>
          </p:cNvPr>
          <p:cNvSpPr/>
          <p:nvPr/>
        </p:nvSpPr>
        <p:spPr>
          <a:xfrm>
            <a:off x="658368" y="1024128"/>
            <a:ext cx="822960" cy="640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cl0">
            <a:extLst>
              <a:ext uri="{C183D7F6-B498-43B3-948B-1728B52AA6E4}">
                <adec:decorative xmlns:adec="http://schemas.microsoft.com/office/drawing/2017/decorative" val="1"/>
              </a:ext>
            </a:extLst>
          </p:cNvPr>
          <p:cNvSpPr/>
          <p:nvPr/>
        </p:nvSpPr>
        <p:spPr>
          <a:xfrm>
            <a:off x="658368" y="2286000"/>
            <a:ext cx="5300319" cy="1097280"/>
          </a:xfrm>
          <a:prstGeom prst="roundRect">
            <a:avLst>
              <a:gd name="adj" fmla="val 8333"/>
            </a:avLst>
          </a:prstGeom>
          <a:solidFill>
            <a:srgbClr val="14405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cll0"/>
          <p:cNvSpPr txBox="1"/>
          <p:nvPr/>
        </p:nvSpPr>
        <p:spPr>
          <a:xfrm>
            <a:off x="932688" y="2468880"/>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8BDCB"/>
                </a:solidFill>
                <a:latin typeface="Segoe UI"/>
              </a:rPr>
              <a:t>NEXT</a:t>
            </a:r>
          </a:p>
        </p:txBody>
      </p:sp>
      <p:sp>
        <p:nvSpPr>
          <p:cNvPr id="7" name="!!clv0"/>
          <p:cNvSpPr txBox="1"/>
          <p:nvPr/>
        </p:nvSpPr>
        <p:spPr>
          <a:xfrm>
            <a:off x="932688" y="2761488"/>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1900" b="0" i="0">
                <a:solidFill>
                  <a:srgbClr val="FFFFFF"/>
                </a:solidFill>
                <a:latin typeface="Segoe UI Semibold"/>
              </a:rPr>
              <a:t>Chapter 5 — Describing Data: Centre, Spread and Shape</a:t>
            </a:r>
          </a:p>
        </p:txBody>
      </p:sp>
      <p:sp>
        <p:nvSpPr>
          <p:cNvPr id="8" name="!!cl1">
            <a:extLst>
              <a:ext uri="{C183D7F6-B498-43B3-948B-1728B52AA6E4}">
                <adec:decorative xmlns:adec="http://schemas.microsoft.com/office/drawing/2017/decorative" val="1"/>
              </a:ext>
            </a:extLst>
          </p:cNvPr>
          <p:cNvSpPr/>
          <p:nvPr/>
        </p:nvSpPr>
        <p:spPr>
          <a:xfrm>
            <a:off x="6233007" y="2286000"/>
            <a:ext cx="5300319" cy="1097280"/>
          </a:xfrm>
          <a:prstGeom prst="roundRect">
            <a:avLst>
              <a:gd name="adj" fmla="val 8333"/>
            </a:avLst>
          </a:prstGeom>
          <a:solidFill>
            <a:srgbClr val="14405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ll1"/>
          <p:cNvSpPr txBox="1"/>
          <p:nvPr/>
        </p:nvSpPr>
        <p:spPr>
          <a:xfrm>
            <a:off x="6507327" y="2468880"/>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8BDCB"/>
                </a:solidFill>
                <a:latin typeface="Segoe UI"/>
              </a:rPr>
              <a:t>READ</a:t>
            </a:r>
          </a:p>
        </p:txBody>
      </p:sp>
      <p:sp>
        <p:nvSpPr>
          <p:cNvPr id="10" name="!!clv1"/>
          <p:cNvSpPr txBox="1"/>
          <p:nvPr/>
        </p:nvSpPr>
        <p:spPr>
          <a:xfrm>
            <a:off x="6507327" y="2761488"/>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2100" b="0" i="0">
                <a:solidFill>
                  <a:srgbClr val="FFFFFF"/>
                </a:solidFill>
                <a:latin typeface="Segoe UI Semibold"/>
              </a:rPr>
              <a:t>Handout Chapter 4, pages 23–28</a:t>
            </a:r>
          </a:p>
        </p:txBody>
      </p:sp>
      <p:sp>
        <p:nvSpPr>
          <p:cNvPr id="11" name="!!cl2">
            <a:extLst>
              <a:ext uri="{C183D7F6-B498-43B3-948B-1728B52AA6E4}">
                <adec:decorative xmlns:adec="http://schemas.microsoft.com/office/drawing/2017/decorative" val="1"/>
              </a:ext>
            </a:extLst>
          </p:cNvPr>
          <p:cNvSpPr/>
          <p:nvPr/>
        </p:nvSpPr>
        <p:spPr>
          <a:xfrm>
            <a:off x="658368" y="3584448"/>
            <a:ext cx="5300319" cy="1097280"/>
          </a:xfrm>
          <a:prstGeom prst="roundRect">
            <a:avLst>
              <a:gd name="adj" fmla="val 8333"/>
            </a:avLst>
          </a:prstGeom>
          <a:solidFill>
            <a:srgbClr val="14405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ll2"/>
          <p:cNvSpPr txBox="1"/>
          <p:nvPr/>
        </p:nvSpPr>
        <p:spPr>
          <a:xfrm>
            <a:off x="932688" y="3767328"/>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8BDCB"/>
                </a:solidFill>
                <a:latin typeface="Segoe UI"/>
              </a:rPr>
              <a:t>THIS WEEK'S LAB</a:t>
            </a:r>
          </a:p>
        </p:txBody>
      </p:sp>
      <p:sp>
        <p:nvSpPr>
          <p:cNvPr id="13" name="!!clv2"/>
          <p:cNvSpPr txBox="1"/>
          <p:nvPr/>
        </p:nvSpPr>
        <p:spPr>
          <a:xfrm>
            <a:off x="932688" y="4059935"/>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2100" b="0" i="0">
                <a:solidFill>
                  <a:srgbClr val="FFFFFF"/>
                </a:solidFill>
                <a:latin typeface="Segoe UI Semibold"/>
              </a:rPr>
              <a:t>Ten-minute audit; distance &amp; descent</a:t>
            </a:r>
          </a:p>
        </p:txBody>
      </p:sp>
      <p:sp>
        <p:nvSpPr>
          <p:cNvPr id="1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Data Science  ·  Chapter 4  ·  The Mathematical Toolkit</a:t>
            </a:r>
          </a:p>
        </p:txBody>
      </p:sp>
      <p:sp>
        <p:nvSpPr>
          <p:cNvPr id="15" name="!!footR"/>
          <p:cNvSpPr txBox="1"/>
          <p:nvPr/>
        </p:nvSpPr>
        <p:spPr>
          <a:xfrm>
            <a:off x="6639595" y="6437376"/>
            <a:ext cx="4893731" cy="237744"/>
          </a:xfrm>
          <a:prstGeom prst="rect">
            <a:avLst/>
          </a:prstGeom>
          <a:noFill/>
        </p:spPr>
        <p:txBody>
          <a:bodyPr wrap="square" anchor="t" lIns="0" rIns="0" tIns="0" bIns="0">
            <a:noAutofit/>
          </a:bodyPr>
          <a:lstStyle/>
          <a:p>
            <a:pPr algn="r"/>
            <a:fld id="{ABEF4AD9-70B2-4887-A846-F6EFD1B31E32}" type="slidenum">
              <a:rPr lang="en-GB" sz="1000">
                <a:solidFill>
                  <a:srgbClr val="D5DEE5"/>
                </a:solidFill>
                <a:latin typeface="Segoe UI"/>
              </a:rPr>
              <a:t>42</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theme/theme1.xml><?xml version="1.0" encoding="utf-8"?>
<a:theme xmlns:a="http://schemas.openxmlformats.org/drawingml/2006/main" name="Data Science Fall 2026">
  <a:themeElements>
    <a:clrScheme name="Data Science Fall 2026">
      <a:dk1>
        <a:srgbClr val="1C252B"/>
      </a:dk1>
      <a:lt1>
        <a:srgbClr val="FFFFFF"/>
      </a:lt1>
      <a:dk2>
        <a:srgbClr val="1A5276"/>
      </a:dk2>
      <a:lt2>
        <a:srgbClr val="EBF5FB"/>
      </a:lt2>
      <a:accent1>
        <a:srgbClr val="1A5276"/>
      </a:accent1>
      <a:accent2>
        <a:srgbClr val="2E86C1"/>
      </a:accent2>
      <a:accent3>
        <a:srgbClr val="E74C3C"/>
      </a:accent3>
      <a:accent4>
        <a:srgbClr val="27AE60"/>
      </a:accent4>
      <a:accent5>
        <a:srgbClr val="8E44AD"/>
      </a:accent5>
      <a:accent6>
        <a:srgbClr val="B7950B"/>
      </a:accent6>
      <a:hlink>
        <a:srgbClr val="2E86C1"/>
      </a:hlink>
      <a:folHlink>
        <a:srgbClr val="8E44AD"/>
      </a:folHlink>
    </a:clrScheme>
    <a:fontScheme name="Data Science Fall 2026">
      <a:majorFont>
        <a:latin typeface="Segoe UI Semibold"/>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egoe U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4: The Mathematical Toolkit</dc:title>
  <dc:subject>Data Science — From Foundations to Intelligent Systems · BSIT · Fall 2026</dc:subject>
  <dc:creator>Dr. Mustafa Hameed</dc:creator>
  <cp:keywords>data science; lecture slides; BSIT; Fall 2026</cp:keywords>
  <dc:description>generated using python-pptx</dc:description>
  <cp:lastModifiedBy>Steve Canny</cp:lastModifiedBy>
  <cp:revision>1</cp:revision>
  <dcterms:created xsi:type="dcterms:W3CDTF">2013-01-27T09:14:16Z</dcterms:created>
  <dcterms:modified xsi:type="dcterms:W3CDTF">2013-01-27T09:15:58Z</dcterms:modified>
  <cp:category>Lecture slides</cp:category>
</cp:coreProperties>
</file>