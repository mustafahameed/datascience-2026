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5.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0.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3.svg" ContentType="image/svg+xml"/>
  <Override PartName="/ppt/media/image8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019755F-9DDF-41BC-8ECA-04983A6B03AC}">
          <p14:sldIdLst>
            <p14:sldId id="256"/>
            <p14:sldId id="257"/>
            <p14:sldId id="258"/>
            <p14:sldId id="259"/>
            <p14:sldId id="260"/>
          </p14:sldIdLst>
        </p14:section>
        <p14:section name="2.1 Why a Lifecycle at All" id="{9EC97A1B-10AF-41F8-96C9-5E59CBBA74F3}">
          <p14:sldIdLst>
            <p14:sldId id="261"/>
          </p14:sldIdLst>
        </p14:section>
        <p14:section name="2.2 CRISP-DM: The Standard Lifecycle" id="{ED31FFDC-DF6D-494F-A33E-6984E5F6C164}">
          <p14:sldIdLst>
            <p14:sldId id="262"/>
            <p14:sldId id="263"/>
            <p14:sldId id="264"/>
            <p14:sldId id="265"/>
            <p14:sldId id="266"/>
          </p14:sldIdLst>
        </p14:section>
        <p14:section name="2.3 Framing the Problem" id="{656B8A5A-3A27-44F4-BC84-03DDDDAFF4A8}">
          <p14:sldIdLst>
            <p14:sldId id="267"/>
            <p14:sldId id="268"/>
            <p14:sldId id="269"/>
            <p14:sldId id="270"/>
          </p14:sldIdLst>
        </p14:section>
        <p14:section name="2.4 Two Kinds of Metric" id="{AC050965-6C26-4C04-8998-AA0D6EAB895D}">
          <p14:sldIdLst>
            <p14:sldId id="271"/>
            <p14:sldId id="272"/>
            <p14:sldId id="273"/>
          </p14:sldIdLst>
        </p14:section>
        <p14:section name="2.5 Where the Time Actually Goes" id="{C9855440-A667-454E-96FB-F0BDB599B26C}">
          <p14:sldIdLst>
            <p14:sldId id="274"/>
          </p14:sldIdLst>
        </p14:section>
        <p14:section name="Pitfalls" id="{53A4DDFB-A0C8-47CA-B4F5-9585A4E2E1FD}">
          <p14:sldIdLst>
            <p14:sldId id="275"/>
          </p14:sldIdLst>
        </p14:section>
        <p14:section name="Four lenses" id="{B495C13E-21DB-45AF-B81E-7D78E86418A2}">
          <p14:sldIdLst>
            <p14:sldId id="276"/>
            <p14:sldId id="277"/>
            <p14:sldId id="278"/>
            <p14:sldId id="279"/>
            <p14:sldId id="280"/>
          </p14:sldIdLst>
        </p14:section>
        <p14:section name="Lab" id="{0EE41042-1C88-4CB8-BFE6-F1BA9278A554}">
          <p14:sldIdLst>
            <p14:sldId id="281"/>
            <p14:sldId id="282"/>
            <p14:sldId id="283"/>
          </p14:sldIdLst>
        </p14:section>
        <p14:section name="Checkpoint" id="{12866F05-555B-42E9-B658-F82102B89C1C}">
          <p14:sldIdLst>
            <p14:sldId id="284"/>
            <p14:sldId id="285"/>
            <p14:sldId id="286"/>
            <p14:sldId id="287"/>
            <p14:sldId id="288"/>
            <p14:sldId id="289"/>
          </p14:sldIdLst>
        </p14:section>
        <p14:section name="Wrap-up" id="{23549964-177E-43FC-8AC0-8C9FA8C9F2C5}">
          <p14:sldIdLst>
            <p14:sldId id="290"/>
            <p14:sldId id="291"/>
            <p14:sldId id="292"/>
            <p14:sldId id="293"/>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The Data Science Lifecycle. Part 1 — Foundations of Data. Week 1: The landscape and the lifecycle. Handout pages 11–16.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 — particularly the four levels of analytics, which determine which lifecycle phases a project will need.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CRISP-DM; problem framing; business understanding; data understanding; baseline; business metric; model metric; success criterion; deployment; iteration.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 (handout p. 12): The CRISP-DM lifecycle. The solid arrows are the nominal order; the dashed arrows are the back-steps that happen in every real project. Evaluation sending you back to business understanding is not a sign of failure — it is the process working.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projects that fail, fail here. A request arrives in the language of the business — “reduce dropouts”, “stop the breaches”, “ship on time” — and must be converted into something a computer can be scored against.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 frame answers six questions. If you cannot answer all six, you are not ready to open the data.</a:t>
            </a:r>
          </a:p>
          <a:p/>
          <a:p>
            <a:r>
              <a:t>Figure 2.2 (handout p. 13): The six framing questions. Question 4 (timing) prevents the single most expensive mistake in applied machine learning — training on information that will not exist when the model is actually used. Question 6 stops you celebrating a model that is worse than a rule of thumb.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2.3 (handout p. 14): Expected versus actual effort. Modelling — the part that attracted you to the subject — is typically the smallest phase. Framing and data preparation together consume most of a real project, which is why Chapters 2, 3 and 7 exist.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Decision: which students receive an outreach call in week 5. Unit: one enrolled student in one course-offering. Target: will the student withdraw or fail? Timing: only data from weeks 1–4 may be used. Criterion: catch at least 70% of eventual failures while flagging no more than 20% of the cohort, because staff can only call 20%. Baseline: flag everyone who missed two or more labs.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Decision: whether to add a developer to a sprint at the mid-point. Unit: one sprint for one team. Target: will committed story points be delivered? Timing: data up to day 5 of a 10-day sprint. Criterion: beat the scrum master’s own mid-sprint judgement, measured over 20 sprints. Baseline: “we finish if more than half the points are done by day 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Decision: whether to schedule a motor for maintenance this week. Unit: one motor on one day. Target: will it fail within 30 days? Timing: only telemetry up to and including today. Criterion: prevent at least 80% of unplanned failures with fewer than 5 unnecessary teardowns per 100 motors per year. Baseline: fixed-interval servicing every 90 days.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Decision: whether to force step-up authentication on a login. Unit: one authentication attempt. Target: is this attempt an account takeover? Timing: only what is observable at the instant of the request. Criterion: detect 90% of takeovers while challenging under 1 in 500 legitimate logins — a false-positive budget set by the customer-experience team, not by the data scientist. Baseline: challenge every login from a new country.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any dataset you have access to — your own module grades will do — and fill in this template before writing any analysis code. It takes ten minutes and saves days.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What the majority-class baseline scores. If 95% of cases are negative, predicting “negative” always scores 95%, so 94% is worse than doing nothing and 96% is barely better. Ask for precision and recall.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deployment changes the world the model was trained on: warned students behave differently, blocked attackers change tactics. The distribution shifts, so the cycle must restart (Chapter 27).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Any feature recorded after or because of the readmission — for example days_to_readmission, or a discharge-summary field completed on re-entry. It will not exist at prediction time, so the model cannot use it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3 — Data: Types, Sources and Quality. READ: Handout Chapter 2, pages 11–16. THIS WEEK'S LAB: Meet a dataset; write a frame.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6.xml"/><Relationship Id="rId9"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 Id="rId9" Type="http://schemas.openxmlformats.org/officeDocument/2006/relationships/image" Target="../media/image40.svg"/><Relationship Id="rId10" Type="http://schemas.openxmlformats.org/officeDocument/2006/relationships/image" Target="../media/image41.png"/><Relationship Id="rId11" Type="http://schemas.openxmlformats.org/officeDocument/2006/relationships/image" Target="../media/image42.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image" Target="../media/image35.png"/><Relationship Id="rId5" Type="http://schemas.openxmlformats.org/officeDocument/2006/relationships/image" Target="../media/image45.svg"/><Relationship Id="rId6" Type="http://schemas.openxmlformats.org/officeDocument/2006/relationships/image" Target="../media/image37.png"/><Relationship Id="rId7" Type="http://schemas.openxmlformats.org/officeDocument/2006/relationships/image" Target="../media/image46.svg"/><Relationship Id="rId8" Type="http://schemas.openxmlformats.org/officeDocument/2006/relationships/image" Target="../media/image39.png"/><Relationship Id="rId9" Type="http://schemas.openxmlformats.org/officeDocument/2006/relationships/image" Target="../media/image47.svg"/><Relationship Id="rId10" Type="http://schemas.openxmlformats.org/officeDocument/2006/relationships/image" Target="../media/image41.png"/><Relationship Id="rId11" Type="http://schemas.openxmlformats.org/officeDocument/2006/relationships/image" Target="../media/image48.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37.png"/><Relationship Id="rId5" Type="http://schemas.openxmlformats.org/officeDocument/2006/relationships/image" Target="../media/image51.svg"/><Relationship Id="rId6" Type="http://schemas.openxmlformats.org/officeDocument/2006/relationships/image" Target="../media/image35.png"/><Relationship Id="rId7" Type="http://schemas.openxmlformats.org/officeDocument/2006/relationships/image" Target="../media/image52.svg"/><Relationship Id="rId8" Type="http://schemas.openxmlformats.org/officeDocument/2006/relationships/image" Target="../media/image39.png"/><Relationship Id="rId9" Type="http://schemas.openxmlformats.org/officeDocument/2006/relationships/image" Target="../media/image53.svg"/><Relationship Id="rId10" Type="http://schemas.openxmlformats.org/officeDocument/2006/relationships/image" Target="../media/image41.png"/><Relationship Id="rId11" Type="http://schemas.openxmlformats.org/officeDocument/2006/relationships/image" Target="../media/image54.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image" Target="../media/image39.png"/><Relationship Id="rId5" Type="http://schemas.openxmlformats.org/officeDocument/2006/relationships/image" Target="../media/image57.svg"/><Relationship Id="rId6" Type="http://schemas.openxmlformats.org/officeDocument/2006/relationships/image" Target="../media/image35.png"/><Relationship Id="rId7" Type="http://schemas.openxmlformats.org/officeDocument/2006/relationships/image" Target="../media/image58.svg"/><Relationship Id="rId8" Type="http://schemas.openxmlformats.org/officeDocument/2006/relationships/image" Target="../media/image37.png"/><Relationship Id="rId9" Type="http://schemas.openxmlformats.org/officeDocument/2006/relationships/image" Target="../media/image59.svg"/><Relationship Id="rId10" Type="http://schemas.openxmlformats.org/officeDocument/2006/relationships/image" Target="../media/image41.png"/><Relationship Id="rId11" Type="http://schemas.openxmlformats.org/officeDocument/2006/relationships/image" Target="../media/image60.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image" Target="../media/image41.png"/><Relationship Id="rId5" Type="http://schemas.openxmlformats.org/officeDocument/2006/relationships/image" Target="../media/image63.svg"/><Relationship Id="rId6" Type="http://schemas.openxmlformats.org/officeDocument/2006/relationships/image" Target="../media/image35.png"/><Relationship Id="rId7" Type="http://schemas.openxmlformats.org/officeDocument/2006/relationships/image" Target="../media/image64.svg"/><Relationship Id="rId8" Type="http://schemas.openxmlformats.org/officeDocument/2006/relationships/image" Target="../media/image37.png"/><Relationship Id="rId9" Type="http://schemas.openxmlformats.org/officeDocument/2006/relationships/image" Target="../media/image65.svg"/><Relationship Id="rId10" Type="http://schemas.openxmlformats.org/officeDocument/2006/relationships/image" Target="../media/image39.png"/><Relationship Id="rId11" Type="http://schemas.openxmlformats.org/officeDocument/2006/relationships/image" Target="../media/image66.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9.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70.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5.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6.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7.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8.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2.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3.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4.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Data Science Lifecycle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DATA</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2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AABCC239-5104-4F31-9A52-B0EF28E3BCFB}" type="slidenum">
              <a:rPr lang="en-GB" sz="1000">
                <a:solidFill>
                  <a:srgbClr val="8795A1"/>
                </a:solidFill>
                <a:latin typeface="Segoe UI"/>
              </a:rPr>
              <a:t>2</a:t>
            </a:fld>
          </a:p>
        </p:txBody>
      </p:sp>
      <p:sp>
        <p:nvSpPr>
          <p:cNvPr id="7" name="!!rp1"/>
          <p:cNvSpPr txBox="1"/>
          <p:nvPr/>
        </p:nvSpPr>
        <p:spPr>
          <a:xfrm>
            <a:off x="777240" y="1755648"/>
            <a:ext cx="194532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945328"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3051752"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3051752"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45227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45227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44116"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044116"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23" name="!!dot3">
            <a:extLst>
              <a:ext uri="{C183D7F6-B498-43B3-948B-1728B52AA6E4}">
                <adec:decorative xmlns:adec="http://schemas.microsoft.com/office/drawing/2017/decorative" val="1"/>
              </a:ext>
            </a:extLst>
          </p:cNvPr>
          <p:cNvSpPr/>
          <p:nvPr/>
        </p:nvSpPr>
        <p:spPr>
          <a:xfrm>
            <a:off x="1627417"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359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08967"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1752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19051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0990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47206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3806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02793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9364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30948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2180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59103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49959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87258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7811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42845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3370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58368"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The Data Science Lifecycle</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The Data Science Landscape</a:t>
            </a:r>
          </a:p>
        </p:txBody>
      </p:sp>
      <p:sp>
        <p:nvSpPr>
          <p:cNvPr id="8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9" name="!!chipUS3">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bUS3">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chiptUS3"/>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Data: Types, Sources and Quality</a:t>
            </a:r>
          </a:p>
        </p:txBody>
      </p:sp>
      <p:sp>
        <p:nvSpPr>
          <p:cNvPr id="92" name="!!chipUS7">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7">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7"/>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Acquisition, Wrangling and Cleaning</a:t>
            </a:r>
          </a:p>
        </p:txBody>
      </p:sp>
      <p:sp>
        <p:nvSpPr>
          <p:cNvPr id="95" name="!!chipUS30">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30">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30"/>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30  </a:t>
            </a:r>
            <a:r>
              <a:rPr sz="1400" b="0" i="0">
                <a:solidFill>
                  <a:srgbClr val="1C252B"/>
                </a:solidFill>
                <a:latin typeface="Segoe UI"/>
              </a:rPr>
              <a:t>Managing Data Science Projects</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6252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A0B0AEFD-01D9-4BCD-BB6D-D530AA58703D}"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Describe</a:t>
            </a:r>
            <a:r>
              <a:rPr sz="2100" b="0" i="0">
                <a:solidFill>
                  <a:srgbClr val="1C252B"/>
                </a:solidFill>
                <a:latin typeface="Segoe UI"/>
              </a:rPr>
              <a:t> the six phases of the CRISP-DM lifecycle and explain why the process is a loop rather than a line.</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Translate</a:t>
            </a:r>
            <a:r>
              <a:rPr sz="2100" b="0" i="0">
                <a:solidFill>
                  <a:srgbClr val="1C252B"/>
                </a:solidFill>
                <a:latin typeface="Segoe UI"/>
              </a:rPr>
              <a:t> a vague business request into a precise, measurable data science problem statement.</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Distinguish</a:t>
            </a:r>
            <a:r>
              <a:rPr sz="2100" b="0" i="0">
                <a:solidFill>
                  <a:srgbClr val="1C252B"/>
                </a:solidFill>
                <a:latin typeface="Segoe UI"/>
              </a:rPr>
              <a:t> a business metric from a model metric, and explain why a project needs both.</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Estimate</a:t>
            </a:r>
            <a:r>
              <a:rPr sz="2100" b="0" i="0">
                <a:solidFill>
                  <a:srgbClr val="1C252B"/>
                </a:solidFill>
                <a:latin typeface="Segoe UI"/>
              </a:rPr>
              <a:t> where project effort actually goes, and plan accordingly.</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Recognise</a:t>
            </a:r>
            <a:r>
              <a:rPr sz="2100" b="0" i="0">
                <a:solidFill>
                  <a:srgbClr val="1C252B"/>
                </a:solidFill>
                <a:latin typeface="Segoe UI"/>
              </a:rPr>
              <a:t> the four failure modes that kill data science projects before any model is fitted.</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378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DF9A71F0-7A69-42C5-9AC4-56E652482F18}" type="slidenum">
              <a:rPr lang="en-GB" sz="1000">
                <a:solidFill>
                  <a:srgbClr val="8795A1"/>
                </a:solidFill>
                <a:latin typeface="Segoe UI"/>
              </a:rPr>
              <a:t>4</a:t>
            </a:fld>
          </a:p>
        </p:txBody>
      </p:sp>
      <p:sp>
        <p:nvSpPr>
          <p:cNvPr id="7" name="!!term-CRISP-DM">
            <a:extLst>
              <a:ext uri="{C183D7F6-B498-43B3-948B-1728B52AA6E4}">
                <adec:decorative xmlns:adec="http://schemas.microsoft.com/office/drawing/2017/decorative" val="1"/>
              </a:ext>
            </a:extLst>
          </p:cNvPr>
          <p:cNvSpPr/>
          <p:nvPr/>
        </p:nvSpPr>
        <p:spPr>
          <a:xfrm>
            <a:off x="658368" y="1847088"/>
            <a:ext cx="14459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RISP-DM">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RISP-DM"/>
          <p:cNvSpPr txBox="1"/>
          <p:nvPr/>
        </p:nvSpPr>
        <p:spPr>
          <a:xfrm>
            <a:off x="950976" y="1955291"/>
            <a:ext cx="126308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CRISP-DM</a:t>
            </a:r>
          </a:p>
        </p:txBody>
      </p:sp>
      <p:sp>
        <p:nvSpPr>
          <p:cNvPr id="10" name="!!term-problem framin">
            <a:extLst>
              <a:ext uri="{C183D7F6-B498-43B3-948B-1728B52AA6E4}">
                <adec:decorative xmlns:adec="http://schemas.microsoft.com/office/drawing/2017/decorative" val="1"/>
              </a:ext>
            </a:extLst>
          </p:cNvPr>
          <p:cNvSpPr/>
          <p:nvPr/>
        </p:nvSpPr>
        <p:spPr>
          <a:xfrm>
            <a:off x="2250640" y="1847088"/>
            <a:ext cx="20768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roblem framin">
            <a:extLst>
              <a:ext uri="{C183D7F6-B498-43B3-948B-1728B52AA6E4}">
                <adec:decorative xmlns:adec="http://schemas.microsoft.com/office/drawing/2017/decorative" val="1"/>
              </a:ext>
            </a:extLst>
          </p:cNvPr>
          <p:cNvSpPr/>
          <p:nvPr/>
        </p:nvSpPr>
        <p:spPr>
          <a:xfrm>
            <a:off x="237865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roblem framin"/>
          <p:cNvSpPr txBox="1"/>
          <p:nvPr/>
        </p:nvSpPr>
        <p:spPr>
          <a:xfrm>
            <a:off x="2543248" y="1955291"/>
            <a:ext cx="189396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problem framing</a:t>
            </a:r>
          </a:p>
        </p:txBody>
      </p:sp>
      <p:sp>
        <p:nvSpPr>
          <p:cNvPr id="13" name="!!term-business under">
            <a:extLst>
              <a:ext uri="{C183D7F6-B498-43B3-948B-1728B52AA6E4}">
                <adec:decorative xmlns:adec="http://schemas.microsoft.com/office/drawing/2017/decorative" val="1"/>
              </a:ext>
            </a:extLst>
          </p:cNvPr>
          <p:cNvSpPr/>
          <p:nvPr/>
        </p:nvSpPr>
        <p:spPr>
          <a:xfrm>
            <a:off x="4473793" y="1847088"/>
            <a:ext cx="27395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business under">
            <a:extLst>
              <a:ext uri="{C183D7F6-B498-43B3-948B-1728B52AA6E4}">
                <adec:decorative xmlns:adec="http://schemas.microsoft.com/office/drawing/2017/decorative" val="1"/>
              </a:ext>
            </a:extLst>
          </p:cNvPr>
          <p:cNvSpPr/>
          <p:nvPr/>
        </p:nvSpPr>
        <p:spPr>
          <a:xfrm>
            <a:off x="460180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business under"/>
          <p:cNvSpPr txBox="1"/>
          <p:nvPr/>
        </p:nvSpPr>
        <p:spPr>
          <a:xfrm>
            <a:off x="4766401" y="1955291"/>
            <a:ext cx="255667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business understanding</a:t>
            </a:r>
          </a:p>
        </p:txBody>
      </p:sp>
      <p:sp>
        <p:nvSpPr>
          <p:cNvPr id="16" name="!!term-data understan">
            <a:extLst>
              <a:ext uri="{C183D7F6-B498-43B3-948B-1728B52AA6E4}">
                <adec:decorative xmlns:adec="http://schemas.microsoft.com/office/drawing/2017/decorative" val="1"/>
              </a:ext>
            </a:extLst>
          </p:cNvPr>
          <p:cNvSpPr/>
          <p:nvPr/>
        </p:nvSpPr>
        <p:spPr>
          <a:xfrm>
            <a:off x="7359651" y="1847088"/>
            <a:ext cx="23407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ata understan">
            <a:extLst>
              <a:ext uri="{C183D7F6-B498-43B3-948B-1728B52AA6E4}">
                <adec:decorative xmlns:adec="http://schemas.microsoft.com/office/drawing/2017/decorative" val="1"/>
              </a:ext>
            </a:extLst>
          </p:cNvPr>
          <p:cNvSpPr/>
          <p:nvPr/>
        </p:nvSpPr>
        <p:spPr>
          <a:xfrm>
            <a:off x="748766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ata understan"/>
          <p:cNvSpPr txBox="1"/>
          <p:nvPr/>
        </p:nvSpPr>
        <p:spPr>
          <a:xfrm>
            <a:off x="7652259" y="1955291"/>
            <a:ext cx="215785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data understanding</a:t>
            </a:r>
          </a:p>
        </p:txBody>
      </p:sp>
      <p:sp>
        <p:nvSpPr>
          <p:cNvPr id="19" name="!!term-baseline">
            <a:extLst>
              <a:ext uri="{C183D7F6-B498-43B3-948B-1728B52AA6E4}">
                <adec:decorative xmlns:adec="http://schemas.microsoft.com/office/drawing/2017/decorative" val="1"/>
              </a:ext>
            </a:extLst>
          </p:cNvPr>
          <p:cNvSpPr/>
          <p:nvPr/>
        </p:nvSpPr>
        <p:spPr>
          <a:xfrm>
            <a:off x="9846693" y="1847088"/>
            <a:ext cx="12353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baseline">
            <a:extLst>
              <a:ext uri="{C183D7F6-B498-43B3-948B-1728B52AA6E4}">
                <adec:decorative xmlns:adec="http://schemas.microsoft.com/office/drawing/2017/decorative" val="1"/>
              </a:ext>
            </a:extLst>
          </p:cNvPr>
          <p:cNvSpPr/>
          <p:nvPr/>
        </p:nvSpPr>
        <p:spPr>
          <a:xfrm>
            <a:off x="997470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baseline"/>
          <p:cNvSpPr txBox="1"/>
          <p:nvPr/>
        </p:nvSpPr>
        <p:spPr>
          <a:xfrm>
            <a:off x="10139301" y="1955291"/>
            <a:ext cx="10525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baseline</a:t>
            </a:r>
          </a:p>
        </p:txBody>
      </p:sp>
      <p:sp>
        <p:nvSpPr>
          <p:cNvPr id="22" name="!!term-business metri">
            <a:extLst>
              <a:ext uri="{C183D7F6-B498-43B3-948B-1728B52AA6E4}">
                <adec:decorative xmlns:adec="http://schemas.microsoft.com/office/drawing/2017/decorative" val="1"/>
              </a:ext>
            </a:extLst>
          </p:cNvPr>
          <p:cNvSpPr/>
          <p:nvPr/>
        </p:nvSpPr>
        <p:spPr>
          <a:xfrm>
            <a:off x="658368" y="2468880"/>
            <a:ext cx="19377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business metri">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business metri"/>
          <p:cNvSpPr txBox="1"/>
          <p:nvPr/>
        </p:nvSpPr>
        <p:spPr>
          <a:xfrm>
            <a:off x="950976" y="2577084"/>
            <a:ext cx="175483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business metric</a:t>
            </a:r>
          </a:p>
        </p:txBody>
      </p:sp>
      <p:sp>
        <p:nvSpPr>
          <p:cNvPr id="25" name="!!term-model metric">
            <a:extLst>
              <a:ext uri="{C183D7F6-B498-43B3-948B-1728B52AA6E4}">
                <adec:decorative xmlns:adec="http://schemas.microsoft.com/office/drawing/2017/decorative" val="1"/>
              </a:ext>
            </a:extLst>
          </p:cNvPr>
          <p:cNvSpPr/>
          <p:nvPr/>
        </p:nvSpPr>
        <p:spPr>
          <a:xfrm>
            <a:off x="2742387" y="2468880"/>
            <a:ext cx="17271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model metric">
            <a:extLst>
              <a:ext uri="{C183D7F6-B498-43B3-948B-1728B52AA6E4}">
                <adec:decorative xmlns:adec="http://schemas.microsoft.com/office/drawing/2017/decorative" val="1"/>
              </a:ext>
            </a:extLst>
          </p:cNvPr>
          <p:cNvSpPr/>
          <p:nvPr/>
        </p:nvSpPr>
        <p:spPr>
          <a:xfrm>
            <a:off x="287040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model metric"/>
          <p:cNvSpPr txBox="1"/>
          <p:nvPr/>
        </p:nvSpPr>
        <p:spPr>
          <a:xfrm>
            <a:off x="3034995" y="2577084"/>
            <a:ext cx="154430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model metric</a:t>
            </a:r>
          </a:p>
        </p:txBody>
      </p:sp>
      <p:sp>
        <p:nvSpPr>
          <p:cNvPr id="28" name="!!term-success criter">
            <a:extLst>
              <a:ext uri="{C183D7F6-B498-43B3-948B-1728B52AA6E4}">
                <adec:decorative xmlns:adec="http://schemas.microsoft.com/office/drawing/2017/decorative" val="1"/>
              </a:ext>
            </a:extLst>
          </p:cNvPr>
          <p:cNvSpPr/>
          <p:nvPr/>
        </p:nvSpPr>
        <p:spPr>
          <a:xfrm>
            <a:off x="4615879" y="2468880"/>
            <a:ext cx="20277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uccess criter">
            <a:extLst>
              <a:ext uri="{C183D7F6-B498-43B3-948B-1728B52AA6E4}">
                <adec:decorative xmlns:adec="http://schemas.microsoft.com/office/drawing/2017/decorative" val="1"/>
              </a:ext>
            </a:extLst>
          </p:cNvPr>
          <p:cNvSpPr/>
          <p:nvPr/>
        </p:nvSpPr>
        <p:spPr>
          <a:xfrm>
            <a:off x="474389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uccess criter"/>
          <p:cNvSpPr txBox="1"/>
          <p:nvPr/>
        </p:nvSpPr>
        <p:spPr>
          <a:xfrm>
            <a:off x="4908487" y="2577084"/>
            <a:ext cx="184487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success criterion</a:t>
            </a:r>
          </a:p>
        </p:txBody>
      </p:sp>
      <p:sp>
        <p:nvSpPr>
          <p:cNvPr id="31" name="!!term-deployment">
            <a:extLst>
              <a:ext uri="{C183D7F6-B498-43B3-948B-1728B52AA6E4}">
                <adec:decorative xmlns:adec="http://schemas.microsoft.com/office/drawing/2017/decorative" val="1"/>
              </a:ext>
            </a:extLst>
          </p:cNvPr>
          <p:cNvSpPr/>
          <p:nvPr/>
        </p:nvSpPr>
        <p:spPr>
          <a:xfrm>
            <a:off x="6789940" y="2468880"/>
            <a:ext cx="16062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eployment">
            <a:extLst>
              <a:ext uri="{C183D7F6-B498-43B3-948B-1728B52AA6E4}">
                <adec:decorative xmlns:adec="http://schemas.microsoft.com/office/drawing/2017/decorative" val="1"/>
              </a:ext>
            </a:extLst>
          </p:cNvPr>
          <p:cNvSpPr/>
          <p:nvPr/>
        </p:nvSpPr>
        <p:spPr>
          <a:xfrm>
            <a:off x="691795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eployment"/>
          <p:cNvSpPr txBox="1"/>
          <p:nvPr/>
        </p:nvSpPr>
        <p:spPr>
          <a:xfrm>
            <a:off x="7082548" y="2577084"/>
            <a:ext cx="142340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deployment</a:t>
            </a:r>
          </a:p>
        </p:txBody>
      </p:sp>
      <p:sp>
        <p:nvSpPr>
          <p:cNvPr id="34" name="!!term-iteration">
            <a:extLst>
              <a:ext uri="{C183D7F6-B498-43B3-948B-1728B52AA6E4}">
                <adec:decorative xmlns:adec="http://schemas.microsoft.com/office/drawing/2017/decorative" val="1"/>
              </a:ext>
            </a:extLst>
          </p:cNvPr>
          <p:cNvSpPr/>
          <p:nvPr/>
        </p:nvSpPr>
        <p:spPr>
          <a:xfrm>
            <a:off x="8542531" y="2468880"/>
            <a:ext cx="12523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iteration">
            <a:extLst>
              <a:ext uri="{C183D7F6-B498-43B3-948B-1728B52AA6E4}">
                <adec:decorative xmlns:adec="http://schemas.microsoft.com/office/drawing/2017/decorative" val="1"/>
              </a:ext>
            </a:extLst>
          </p:cNvPr>
          <p:cNvSpPr/>
          <p:nvPr/>
        </p:nvSpPr>
        <p:spPr>
          <a:xfrm>
            <a:off x="867054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iteration"/>
          <p:cNvSpPr txBox="1"/>
          <p:nvPr/>
        </p:nvSpPr>
        <p:spPr>
          <a:xfrm>
            <a:off x="8835139" y="2577084"/>
            <a:ext cx="106948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iteration</a:t>
            </a:r>
          </a:p>
        </p:txBody>
      </p:sp>
      <p:sp>
        <p:nvSpPr>
          <p:cNvPr id="37"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125043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11–16     </a:t>
            </a:r>
            <a:fld id="{2878A2C7-E349-47FA-A816-2EDC7E6E61AB}" type="slidenum">
              <a:rPr lang="en-GB" sz="1000">
                <a:solidFill>
                  <a:srgbClr val="8795A1"/>
                </a:solidFill>
                <a:latin typeface="Segoe UI"/>
              </a:rPr>
              <a:t>5</a:t>
            </a:fld>
          </a:p>
        </p:txBody>
      </p:sp>
      <p:sp>
        <p:nvSpPr>
          <p:cNvPr id="7" name="!!ag0" descr="Go to section 2.1 Why a Lifecycle at All">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a Lifecycle at All</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  ›</a:t>
            </a:r>
          </a:p>
        </p:txBody>
      </p:sp>
      <p:sp>
        <p:nvSpPr>
          <p:cNvPr id="12" name="!!ag1" descr="Go to section 2.2 CRISP-DM: The Standard Lifecycl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CRISP-DM: The Standard Lifecycle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11  ›</a:t>
            </a:r>
          </a:p>
        </p:txBody>
      </p:sp>
      <p:sp>
        <p:nvSpPr>
          <p:cNvPr id="17" name="!!ag2" descr="Go to section 2.3 Framing the Problem">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Framing the Problem</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  ›</a:t>
            </a:r>
          </a:p>
        </p:txBody>
      </p:sp>
      <p:sp>
        <p:nvSpPr>
          <p:cNvPr id="22" name="!!ag3" descr="Go to section 2.4 Two Kinds of Metric">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Two Kinds of Metric</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  ›</a:t>
            </a:r>
          </a:p>
        </p:txBody>
      </p:sp>
      <p:sp>
        <p:nvSpPr>
          <p:cNvPr id="27" name="!!ag4" descr="Go to section 2.5 Where the Time Actually Goe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the Time Actually Goes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56303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Lifecycle at All</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11     </a:t>
            </a:r>
            <a:fld id="{C3E3A4FA-1848-4AA5-B8C0-EBE2399F7351}"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2617571"/>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1281988"/>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Beginners imagine data science as: get data, build model, done. Practitioners know it as a loop that revisits its own assumptions repeatedly, and in which the modelling step is usually the shortest.</a:t>
            </a:r>
          </a:p>
        </p:txBody>
      </p:sp>
      <p:sp>
        <p:nvSpPr>
          <p:cNvPr id="9" name="body-1"/>
          <p:cNvSpPr txBox="1"/>
          <p:nvPr/>
        </p:nvSpPr>
        <p:spPr>
          <a:xfrm>
            <a:off x="1042415" y="3210102"/>
            <a:ext cx="10417759" cy="1281988"/>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value of naming the phases is not bureaucracy. It is that each phase has a distinct </a:t>
            </a:r>
            <a:r>
              <a:rPr sz="2600" b="0" i="1">
                <a:solidFill>
                  <a:srgbClr val="1C252B"/>
                </a:solidFill>
                <a:latin typeface="Segoe UI"/>
              </a:rPr>
              <a:t>failure mode</a:t>
            </a:r>
            <a:r>
              <a:rPr sz="2600" b="0" i="0">
                <a:solidFill>
                  <a:srgbClr val="1C252B"/>
                </a:solidFill>
                <a:latin typeface="Segoe UI"/>
              </a:rPr>
              <a:t>, and being able to say “we are stuck in data understanding” is the first step to getting unstuck.</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87564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CRISP-DM: The Standard Lifecycle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Why a Lifecycle at All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2.2   CRISP-DM: The Standard Lifecycle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Framing the Problem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Two Kinds of Metric</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Where the Time Actually Goes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     </a:t>
            </a:r>
            <a:fld id="{C3DC9212-4D8D-4D30-AEA1-0F9AE122CE25}"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18825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CRISP-DM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11     </a:t>
            </a:r>
            <a:fld id="{9E801193-74DC-4A58-BB1A-D056AEED9366}"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C252B"/>
                </a:solidFill>
                <a:latin typeface="Segoe UI"/>
              </a:rPr>
              <a:t>Cross-Industry Standard Process for Data Mining</a:t>
            </a:r>
            <a:r>
              <a:rPr sz="2300" b="0" i="0">
                <a:solidFill>
                  <a:srgbClr val="1C252B"/>
                </a:solidFill>
                <a:latin typeface="Segoe UI"/>
              </a:rPr>
              <a:t>: a six-phase, explicitly cyclic process model — business understanding, data understanding, data preparation, modelling, evaluation and deployment. It remains the most widely taught lifecycle because it puts </a:t>
            </a:r>
            <a:r>
              <a:rPr sz="2300" b="0" i="1">
                <a:solidFill>
                  <a:srgbClr val="1C252B"/>
                </a:solidFill>
                <a:latin typeface="Segoe UI"/>
              </a:rPr>
              <a:t>understanding the problem</a:t>
            </a:r>
            <a:r>
              <a:rPr sz="2300" b="0" i="0">
                <a:solidFill>
                  <a:srgbClr val="1C252B"/>
                </a:solidFill>
                <a:latin typeface="Segoe UI"/>
              </a:rPr>
              <a:t> before </a:t>
            </a:r>
            <a:r>
              <a:rPr sz="2300" b="0" i="1">
                <a:solidFill>
                  <a:srgbClr val="1C252B"/>
                </a:solidFill>
                <a:latin typeface="Segoe UI"/>
              </a:rPr>
              <a:t>touching the data</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5008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CRISP-DM lifecycle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11     </a:t>
            </a:r>
            <a:fld id="{7995707F-5E3B-4FC2-A013-92CA72D03716}" type="slidenum">
              <a:rPr lang="en-GB" sz="1000">
                <a:solidFill>
                  <a:srgbClr val="8795A1"/>
                </a:solidFill>
                <a:latin typeface="Segoe UI"/>
              </a:rPr>
              <a:t>9</a:t>
            </a:fld>
          </a:p>
        </p:txBody>
      </p:sp>
      <p:pic>
        <p:nvPicPr>
          <p:cNvPr id="6" name="!!figure" descr="Figure 2.1. The CRISP-DM lifecycle. The solid arrows are the nominal order; the dashed arrows are the back-steps that happen in every real project. Evaluation sending you back to business understanding is not a sign of failure — it is the process work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37360"/>
            <a:ext cx="4125432" cy="4572000"/>
          </a:xfrm>
          <a:prstGeom prst="rect">
            <a:avLst/>
          </a:prstGeom>
        </p:spPr>
      </p:pic>
      <p:sp>
        <p:nvSpPr>
          <p:cNvPr id="7" name="!!takebar">
            <a:extLst>
              <a:ext uri="{C183D7F6-B498-43B3-948B-1728B52AA6E4}">
                <adec:decorative xmlns:adec="http://schemas.microsoft.com/office/drawing/2017/decorative" val="1"/>
              </a:ext>
            </a:extLst>
          </p:cNvPr>
          <p:cNvSpPr/>
          <p:nvPr/>
        </p:nvSpPr>
        <p:spPr>
          <a:xfrm>
            <a:off x="5167848" y="3241548"/>
            <a:ext cx="54864" cy="1563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5387304" y="3214116"/>
            <a:ext cx="6091158" cy="1655064"/>
          </a:xfrm>
          <a:prstGeom prst="rect">
            <a:avLst/>
          </a:prstGeom>
          <a:noFill/>
        </p:spPr>
        <p:txBody>
          <a:bodyPr wrap="square" anchor="t" lIns="0" rIns="0" tIns="0" bIns="0">
            <a:noAutofit/>
          </a:bodyPr>
          <a:lstStyle/>
          <a:p>
            <a:pPr algn="l">
              <a:lnSpc>
                <a:spcPct val="108000"/>
              </a:lnSpc>
              <a:spcBef>
                <a:spcPts val="0"/>
              </a:spcBef>
              <a:spcAft>
                <a:spcPts val="0"/>
              </a:spcAft>
            </a:pPr>
            <a:r>
              <a:rPr sz="1900" b="0" i="0">
                <a:solidFill>
                  <a:srgbClr val="3E4C57"/>
                </a:solidFill>
                <a:latin typeface="Segoe UI"/>
              </a:rPr>
              <a:t>The solid arrows are the nominal order; the dashed arrows are the back-steps that happen in every real project. Evaluation sending you back to business understanding is not a sign of failure — it is the process working.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8134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Happens in Each Phase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11     </a:t>
            </a:r>
            <a:fld id="{647CECC7-CF79-4A1D-B2A1-0EFD4A47BC79}" type="slidenum">
              <a:rPr lang="en-GB" sz="1000">
                <a:solidFill>
                  <a:srgbClr val="8795A1"/>
                </a:solidFill>
                <a:latin typeface="Segoe UI"/>
              </a:rPr>
              <a:t>10</a:t>
            </a:fld>
          </a:p>
        </p:txBody>
      </p:sp>
      <p:graphicFrame>
        <p:nvGraphicFramePr>
          <p:cNvPr id="7" name="!!table"/>
          <p:cNvGraphicFramePr>
            <a:graphicFrameLocks noGrp="1"/>
          </p:cNvGraphicFramePr>
          <p:nvPr/>
        </p:nvGraphicFramePr>
        <p:xfrm>
          <a:off x="658368" y="1737360"/>
          <a:ext cx="10874958" cy="4194048"/>
        </p:xfrm>
        <a:graphic>
          <a:graphicData uri="http://schemas.openxmlformats.org/drawingml/2006/table">
            <a:tbl>
              <a:tblPr firstRow="0" bandRow="0" firstCol="0" lastRow="0" lastCol="0" bandCol="0">
                <a:tableStyleId>{2D5ABB26-0587-4C30-8999-92F81FD0307C}</a:tableStyleId>
              </a:tblPr>
              <a:tblGrid>
                <a:gridCol w="2190095"/>
                <a:gridCol w="4002589"/>
                <a:gridCol w="4682274"/>
              </a:tblGrid>
              <a:tr h="390144">
                <a:tc>
                  <a:txBody>
                    <a:bodyPr wrap="square"/>
                    <a:lstStyle/>
                    <a:p>
                      <a:pPr algn="l"/>
                      <a:r>
                        <a:rPr sz="1600" b="1" i="0">
                          <a:solidFill>
                            <a:srgbClr val="1A5276"/>
                          </a:solidFill>
                          <a:latin typeface="Segoe UI"/>
                        </a:rPr>
                        <a:t>Phase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The work</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Its characteristic failure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877824">
                <a:tc>
                  <a:txBody>
                    <a:bodyPr wrap="square"/>
                    <a:lstStyle/>
                    <a:p>
                      <a:pPr algn="l"/>
                      <a:r>
                        <a:rPr sz="1600" b="0" i="0">
                          <a:solidFill>
                            <a:srgbClr val="1C252B"/>
                          </a:solidFill>
                          <a:latin typeface="Segoe UI"/>
                        </a:rPr>
                        <a:t>Business Understanding</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Agree the objective, the decision it supports, the success criterion and the constraints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Building something nobody asked for, beautifully</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Data Understanding</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Collect, describe, explore and check the quality of what is available</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Discovering in month three that the key field is 60% empty</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Data Preparation</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Clean, join, transform, engineer features, split the data</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Leaking information from the future into the training set</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Modelling</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Select algorithms, train, tune hyperparameters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Chasing a 0.3% gain that the business cannot perceive</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Evaluation</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Check against the </a:t>
                      </a:r>
                      <a:r>
                        <a:rPr sz="1600" b="0" i="1">
                          <a:solidFill>
                            <a:srgbClr val="1C252B"/>
                          </a:solidFill>
                          <a:latin typeface="Segoe UI"/>
                        </a:rPr>
                        <a:t>business</a:t>
                      </a:r>
                      <a:r>
                        <a:rPr sz="1600" b="0" i="0">
                          <a:solidFill>
                            <a:srgbClr val="1C252B"/>
                          </a:solidFill>
                          <a:latin typeface="Segoe UI"/>
                        </a:rPr>
                        <a:t> criterion, not just the metric</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Declaring victory on a test set that does not resemble reality</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Deployment</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Ship it, monitor it, retrain it, document it</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Handing over a notebook and calling it a system</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12607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Deployment Points Back to Business Understanding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11     </a:t>
            </a:r>
            <a:fld id="{FB5EB955-1D48-4639-B31A-B1B66A787FDD}"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arrow from deployment back to the start is the most important one in Figure 2.1. Once a model is live it changes the behaviour it was trained to predict — students who are warned study differently, attackers who are blocked change tactics. The world you modelled no longer exists, so the cycle restarts. Chapter 27 is entirely about living with this.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4386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Framing the Problem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Why a Lifecycle at All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CRISP-DM: The Standard Lifecycle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2.3   Framing the Problem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Two Kinds of Metric</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Where the Time Actually Goes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     </a:t>
            </a:r>
            <a:fld id="{5E7F5934-435D-445E-B49F-665FDAF0D559}"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75129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Problem Framing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13     </a:t>
            </a:r>
            <a:fld id="{C71FDA0E-A86B-4ED0-BDD4-985910CE80D7}"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act of converting a stakeholder’s goal into a precise specification: what is being predicted or described, for which unit of analysis, using what data available at what time, judged by what criterion, to support which decision.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six framing questions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13     </a:t>
            </a:r>
            <a:fld id="{FE632711-D709-44FD-A411-879AB2CC50A0}" type="slidenum">
              <a:rPr lang="en-GB" sz="1000">
                <a:solidFill>
                  <a:srgbClr val="8795A1"/>
                </a:solidFill>
                <a:latin typeface="Segoe UI"/>
              </a:rPr>
              <a:t>14</a:t>
            </a:fld>
          </a:p>
        </p:txBody>
      </p:sp>
      <p:pic>
        <p:nvPicPr>
          <p:cNvPr id="6" name="!!figure" descr="Figure 2.2. The six framing questions. Question 4 (timing) prevents the single most expensive mistake in applied machine learning — training on information that will not exist when the model is actually used. Question 6 stops you celebrating a model that is worse than a rule of thumb."/>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9646" y="1737360"/>
            <a:ext cx="10392402"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Question 4 (timing) prevents the single most expensive mistake in applied machine learning — training on information that will not exist when the model is actually used. Question 6 stops you celebrating a model that is worse than a rule of thumb.</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37650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Question 4 Deserves Special Fear</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13     </a:t>
            </a:r>
            <a:fld id="{0E0EA52A-9C48-4EDA-BE44-103D4182A116}"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model that predicts student failure using </a:t>
            </a:r>
            <a:r>
              <a:rPr sz="2300" b="0" i="1">
                <a:solidFill>
                  <a:srgbClr val="1C252B"/>
                </a:solidFill>
                <a:latin typeface="Segoe UI"/>
              </a:rPr>
              <a:t>final attendance percentage</a:t>
            </a:r>
            <a:r>
              <a:rPr sz="2300" b="0" i="0">
                <a:solidFill>
                  <a:srgbClr val="1C252B"/>
                </a:solidFill>
                <a:latin typeface="Segoe UI"/>
              </a:rPr>
              <a:t> will look superb in testing and be useless in week 3, because final attendance is not known in week 3. This is called </a:t>
            </a:r>
            <a:r>
              <a:rPr sz="2300" b="1" i="0">
                <a:solidFill>
                  <a:srgbClr val="1A5276"/>
                </a:solidFill>
                <a:latin typeface="Segoe UI"/>
              </a:rPr>
              <a:t>leakage</a:t>
            </a:r>
            <a:r>
              <a:rPr sz="2300" b="0" i="0">
                <a:solidFill>
                  <a:srgbClr val="1C252B"/>
                </a:solidFill>
                <a:latin typeface="Segoe UI"/>
              </a:rPr>
              <a:t>, and it is treated in detail in Chapter 7 and Chapter 14. It has ruined more student projects than any other single error.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68911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Two Kinds of Metric</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Why a Lifecycle at All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CRISP-DM: The Standard Lifecycle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Framing the Problem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2.4   Two Kinds of Metric</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Where the Time Actually Goes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§2.4     </a:t>
            </a:r>
            <a:fld id="{9AD394E4-3722-4E8C-9F47-741F542BFF42}" type="slidenum">
              <a:rPr lang="en-GB" sz="1000">
                <a:solidFill>
                  <a:srgbClr val="8795A1"/>
                </a:solidFill>
                <a:latin typeface="Segoe UI"/>
              </a:rPr>
              <a:t>16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00172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Business Metric vs. Model Metric</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13     </a:t>
            </a:r>
            <a:fld id="{8B65315F-3B1D-4FCD-ADA6-B9700905A6DF}"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model metric</a:t>
            </a:r>
            <a:r>
              <a:rPr sz="2300" b="0" i="0">
                <a:solidFill>
                  <a:srgbClr val="1C252B"/>
                </a:solidFill>
                <a:latin typeface="Segoe UI"/>
              </a:rPr>
              <a:t> scores the model against the data (accuracy, error, AUC). A </a:t>
            </a:r>
            <a:r>
              <a:rPr sz="2300" b="1" i="0">
                <a:solidFill>
                  <a:srgbClr val="1A5276"/>
                </a:solidFill>
                <a:latin typeface="Segoe UI"/>
              </a:rPr>
              <a:t>business metric</a:t>
            </a:r>
            <a:r>
              <a:rPr sz="2300" b="0" i="0">
                <a:solidFill>
                  <a:srgbClr val="1C252B"/>
                </a:solidFill>
                <a:latin typeface="Segoe UI"/>
              </a:rPr>
              <a:t> scores the project against the world (dropouts prevented, downtime avoided, breaches caught, cost saved). A project needs both, and they can move in opposite directions.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3143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a Better Model Is a Worse Project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13     </a:t>
            </a:r>
            <a:fld id="{E473B15E-097E-447E-B574-AB36DF011CB8}"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2323"/>
          </a:xfrm>
          <a:prstGeom prst="roundRect">
            <a:avLst>
              <a:gd name="adj" fmla="val 214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232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 dropout-prediction model is improved from 88% to 91% accuracy. Is the project better off?</a:t>
            </a:r>
          </a:p>
        </p:txBody>
      </p:sp>
      <p:sp>
        <p:nvSpPr>
          <p:cNvPr id="10" name="body-1"/>
          <p:cNvSpPr txBox="1"/>
          <p:nvPr/>
        </p:nvSpPr>
        <p:spPr>
          <a:xfrm>
            <a:off x="1042416" y="2377033"/>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The data.</a:t>
            </a:r>
            <a:r>
              <a:rPr sz="1600" b="0" i="0">
                <a:solidFill>
                  <a:srgbClr val="1C252B"/>
                </a:solidFill>
                <a:latin typeface="Segoe UI"/>
              </a:rPr>
              <a:t> 1,000 students, 100 of whom drop out. The department can fund 100 interventions.</a:t>
            </a:r>
          </a:p>
        </p:txBody>
      </p:sp>
      <p:sp>
        <p:nvSpPr>
          <p:cNvPr id="11" name="body-2"/>
          <p:cNvSpPr txBox="1"/>
          <p:nvPr/>
        </p:nvSpPr>
        <p:spPr>
          <a:xfrm>
            <a:off x="1042416" y="2742387"/>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Model A</a:t>
            </a:r>
            <a:r>
              <a:rPr sz="1600" b="0" i="0">
                <a:solidFill>
                  <a:srgbClr val="1C252B"/>
                </a:solidFill>
                <a:latin typeface="Segoe UI"/>
              </a:rPr>
              <a:t> (88% accurate) flags 100 students, of whom 40 truly drop out — so 60 false alarms, and 60 leavers missed.</a:t>
            </a:r>
          </a:p>
        </p:txBody>
      </p:sp>
      <p:sp>
        <p:nvSpPr>
          <p:cNvPr id="12" name="body-3"/>
          <p:cNvSpPr txBox="1"/>
          <p:nvPr/>
        </p:nvSpPr>
        <p:spPr>
          <a:xfrm>
            <a:off x="1042416" y="3361334"/>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Model B</a:t>
            </a:r>
            <a:r>
              <a:rPr sz="1600" b="0" i="0">
                <a:solidFill>
                  <a:srgbClr val="1C252B"/>
                </a:solidFill>
                <a:latin typeface="Segoe UI"/>
              </a:rPr>
              <a:t> (91% accurate) flags 26 students, of whom 18 truly drop out — 8 false alarms, and 82 leavers missed.</a:t>
            </a:r>
          </a:p>
        </p:txBody>
      </p:sp>
      <p:sp>
        <p:nvSpPr>
          <p:cNvPr id="13" name="body-4"/>
          <p:cNvSpPr txBox="1"/>
          <p:nvPr/>
        </p:nvSpPr>
        <p:spPr>
          <a:xfrm>
            <a:off x="1042416" y="3726688"/>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Model metric.</a:t>
            </a:r>
            <a:r>
              <a:rPr sz="1600" b="0" i="0">
                <a:solidFill>
                  <a:srgbClr val="1C252B"/>
                </a:solidFill>
                <a:latin typeface="Segoe UI"/>
              </a:rPr>
              <a:t> B wins on accuracy: it makes fewer mistakes overall, largely by predicting “will not drop out” more often — which is right 90% of the time by default.</a:t>
            </a:r>
          </a:p>
        </p:txBody>
      </p:sp>
      <p:sp>
        <p:nvSpPr>
          <p:cNvPr id="14" name="body-5"/>
          <p:cNvSpPr txBox="1"/>
          <p:nvPr/>
        </p:nvSpPr>
        <p:spPr>
          <a:xfrm>
            <a:off x="1042416" y="4345635"/>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Business metric.</a:t>
            </a:r>
            <a:r>
              <a:rPr sz="1600" b="0" i="0">
                <a:solidFill>
                  <a:srgbClr val="1C252B"/>
                </a:solidFill>
                <a:latin typeface="Segoe UI"/>
              </a:rPr>
              <a:t> Each successful intervention retains one student. Model A surfaces 40 real cases; Model B surfaces 18. Both fit inside the capacity of 100, so Model A retains up to 40 students and Model B up to 18.</a:t>
            </a:r>
          </a:p>
        </p:txBody>
      </p:sp>
      <p:sp>
        <p:nvSpPr>
          <p:cNvPr id="15" name="body-6"/>
          <p:cNvSpPr txBox="1"/>
          <p:nvPr/>
        </p:nvSpPr>
        <p:spPr>
          <a:xfrm>
            <a:off x="1042416" y="4964582"/>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Conclusion.</a:t>
            </a:r>
            <a:r>
              <a:rPr sz="1600" b="0" i="0">
                <a:solidFill>
                  <a:srgbClr val="1C252B"/>
                </a:solidFill>
                <a:latin typeface="Segoe UI"/>
              </a:rPr>
              <a:t> Model A is worth roughly twice as much despite being the worse model by accuracy. The mismatch arises because accuracy ignores both the class imbalance and the capacity constraint. Chapter 14 builds the metrics that would have caught this — here, </a:t>
            </a:r>
            <a:r>
              <a:rPr sz="1600" b="0" i="1">
                <a:solidFill>
                  <a:srgbClr val="1C252B"/>
                </a:solidFill>
                <a:latin typeface="Segoe UI"/>
              </a:rPr>
              <a:t>recall</a:t>
            </a:r>
            <a:r>
              <a:rPr sz="1600" b="0" i="0">
                <a:solidFill>
                  <a:srgbClr val="1C252B"/>
                </a:solidFill>
                <a:latin typeface="Segoe UI"/>
              </a:rPr>
              <a:t> at a fixed budget.</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562693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Expected versus actual effort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14     </a:t>
            </a:r>
            <a:fld id="{4A3FD608-0031-4F4A-8B93-0B27161A9A6F}" type="slidenum">
              <a:rPr lang="en-GB" sz="1000">
                <a:solidFill>
                  <a:srgbClr val="8795A1"/>
                </a:solidFill>
                <a:latin typeface="Segoe UI"/>
              </a:rPr>
              <a:t>19</a:t>
            </a:fld>
          </a:p>
        </p:txBody>
      </p:sp>
      <p:pic>
        <p:nvPicPr>
          <p:cNvPr id="6" name="!!figure" descr="Figure 2.3. Expected versus actual effort. Modelling — the part that attracted you to the subject — is typically the smallest phase. Framing and data preparation together consume most of a real project, which is why Chapters 2, 3 and 7 exis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87194" y="1737360"/>
            <a:ext cx="8817305"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Modelling — the part that attracted you to the subject — is typically the smallest phase. Framing and data preparation together consume most of a real project, which is why Chapters 2, 3 and 7 exist.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9395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Project Killers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14     </a:t>
            </a:r>
            <a:fld id="{408E899C-2C82-4D7C-9F9F-2C7ECCC2C112}"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No decision attached.</a:t>
            </a:r>
            <a:r>
              <a:rPr sz="2100" b="0" i="0">
                <a:solidFill>
                  <a:srgbClr val="1C252B"/>
                </a:solidFill>
                <a:latin typeface="Segoe UI"/>
              </a:rPr>
              <a:t> If no action changes based on the output, the project cannot succeed, however accurate it is.</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No baseline.</a:t>
            </a:r>
            <a:r>
              <a:rPr sz="2100" b="0" i="0">
                <a:solidFill>
                  <a:srgbClr val="1C252B"/>
                </a:solidFill>
                <a:latin typeface="Segoe UI"/>
              </a:rPr>
              <a:t> Without knowing what a simple rule achieves, you cannot show your model is worth its complexity.</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Unavailable-at-prediction-time features.</a:t>
            </a:r>
            <a:r>
              <a:rPr sz="2100" b="0" i="0">
                <a:solidFill>
                  <a:srgbClr val="1C252B"/>
                </a:solidFill>
                <a:latin typeface="Segoe UI"/>
              </a:rPr>
              <a:t> See the alert above.</a:t>
            </a:r>
          </a:p>
        </p:txBody>
      </p:sp>
      <p:sp>
        <p:nvSpPr>
          <p:cNvPr id="16" name="!!pb3">
            <a:extLst>
              <a:ext uri="{C183D7F6-B498-43B3-948B-1728B52AA6E4}">
                <adec:decorative xmlns:adec="http://schemas.microsoft.com/office/drawing/2017/decorative" val="1"/>
              </a:ext>
            </a:extLst>
          </p:cNvPr>
          <p:cNvSpPr/>
          <p:nvPr/>
        </p:nvSpPr>
        <p:spPr>
          <a:xfrm>
            <a:off x="658368" y="405627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7913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03799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 success criterion agreed only after seeing the results.</a:t>
            </a:r>
            <a:r>
              <a:rPr sz="2100" b="0" i="0">
                <a:solidFill>
                  <a:srgbClr val="1C252B"/>
                </a:solidFill>
                <a:latin typeface="Segoe UI"/>
              </a:rPr>
              <a:t> If the target moves to wherever the model landed, the evaluation is theatre.</a:t>
            </a: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62521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Problem Framing</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a:t>
            </a:r>
            <a:fld id="{1688718E-8B77-436A-B5AD-2A7862200400}"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Decision:</a:t>
            </a:r>
            <a:r>
              <a:rPr sz="2300" b="0" i="0">
                <a:solidFill>
                  <a:srgbClr val="1C252B"/>
                </a:solidFill>
                <a:latin typeface="Segoe UI"/>
              </a:rPr>
              <a:t> which students receive an outreach call in week 5.</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Decision:</a:t>
            </a:r>
            <a:r>
              <a:rPr sz="2300" b="0" i="0">
                <a:solidFill>
                  <a:srgbClr val="1C252B"/>
                </a:solidFill>
                <a:latin typeface="Segoe UI"/>
              </a:rPr>
              <a:t> whether to add a developer to a sprint at the mid-point.</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Decision:</a:t>
            </a:r>
            <a:r>
              <a:rPr sz="2300" b="0" i="0">
                <a:solidFill>
                  <a:srgbClr val="1C252B"/>
                </a:solidFill>
                <a:latin typeface="Segoe UI"/>
              </a:rPr>
              <a:t> whether to schedule a motor for maintenance this week.</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Decision:</a:t>
            </a:r>
            <a:r>
              <a:rPr sz="2300" b="0" i="0">
                <a:solidFill>
                  <a:srgbClr val="1C252B"/>
                </a:solidFill>
                <a:latin typeface="Segoe UI"/>
              </a:rPr>
              <a:t> whether to force step-up authentication on a login.</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56475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Problem Framing</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a:t>
            </a:r>
            <a:fld id="{BCF9410F-785E-4DCE-B714-4FFB026C70DC}" type="slidenum">
              <a:rPr lang="en-GB" sz="1000">
                <a:solidFill>
                  <a:srgbClr val="8795A1"/>
                </a:solidFill>
                <a:latin typeface="Segoe UI"/>
              </a:rPr>
              <a:t>22</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Decision:</a:t>
            </a:r>
            <a:r>
              <a:rPr sz="2200" b="0" i="0">
                <a:solidFill>
                  <a:srgbClr val="1C252B"/>
                </a:solidFill>
                <a:latin typeface="Segoe UI"/>
              </a:rPr>
              <a:t> which students receive an outreach call in week 5. </a:t>
            </a:r>
            <a:r>
              <a:rPr sz="2200" b="0" i="1">
                <a:solidFill>
                  <a:srgbClr val="1C252B"/>
                </a:solidFill>
                <a:latin typeface="Segoe UI"/>
              </a:rPr>
              <a:t>Unit:</a:t>
            </a:r>
            <a:r>
              <a:rPr sz="2200" b="0" i="0">
                <a:solidFill>
                  <a:srgbClr val="1C252B"/>
                </a:solidFill>
                <a:latin typeface="Segoe UI"/>
              </a:rPr>
              <a:t> one enrolled student in one course-offering. </a:t>
            </a:r>
            <a:r>
              <a:rPr sz="2200" b="0" i="1">
                <a:solidFill>
                  <a:srgbClr val="1C252B"/>
                </a:solidFill>
                <a:latin typeface="Segoe UI"/>
              </a:rPr>
              <a:t>Target:</a:t>
            </a:r>
            <a:r>
              <a:rPr sz="2200" b="0" i="0">
                <a:solidFill>
                  <a:srgbClr val="1C252B"/>
                </a:solidFill>
                <a:latin typeface="Segoe UI"/>
              </a:rPr>
              <a:t> will the student withdraw or fail? </a:t>
            </a:r>
            <a:r>
              <a:rPr sz="2200" b="0" i="1">
                <a:solidFill>
                  <a:srgbClr val="1C252B"/>
                </a:solidFill>
                <a:latin typeface="Segoe UI"/>
              </a:rPr>
              <a:t>Timing:</a:t>
            </a:r>
            <a:r>
              <a:rPr sz="2200" b="0" i="0">
                <a:solidFill>
                  <a:srgbClr val="1C252B"/>
                </a:solidFill>
                <a:latin typeface="Segoe UI"/>
              </a:rPr>
              <a:t> only data from weeks 1–4 may be used. </a:t>
            </a:r>
            <a:r>
              <a:rPr sz="2200" b="0" i="1">
                <a:solidFill>
                  <a:srgbClr val="1C252B"/>
                </a:solidFill>
                <a:latin typeface="Segoe UI"/>
              </a:rPr>
              <a:t>Criterion:</a:t>
            </a:r>
            <a:r>
              <a:rPr sz="2200" b="0" i="0">
                <a:solidFill>
                  <a:srgbClr val="1C252B"/>
                </a:solidFill>
                <a:latin typeface="Segoe UI"/>
              </a:rPr>
              <a:t> catch at least 70% of eventual failures while flagging no more than 20% of the cohort, because staff can only call 20%. </a:t>
            </a:r>
            <a:r>
              <a:rPr sz="2200" b="0" i="1">
                <a:solidFill>
                  <a:srgbClr val="1C252B"/>
                </a:solidFill>
                <a:latin typeface="Segoe UI"/>
              </a:rPr>
              <a:t>Baseline:</a:t>
            </a:r>
            <a:r>
              <a:rPr sz="2200" b="0" i="0">
                <a:solidFill>
                  <a:srgbClr val="1C252B"/>
                </a:solidFill>
                <a:latin typeface="Segoe UI"/>
              </a:rPr>
              <a:t> flag everyone who missed two or more labs.</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7736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Problem Framing</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a:t>
            </a:r>
            <a:fld id="{9246157E-7E57-4CF0-B974-5C47941A0DF8}" type="slidenum">
              <a:rPr lang="en-GB" sz="1000">
                <a:solidFill>
                  <a:srgbClr val="8795A1"/>
                </a:solidFill>
                <a:latin typeface="Segoe UI"/>
              </a:rPr>
              <a:t>23</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Decision:</a:t>
            </a:r>
            <a:r>
              <a:rPr sz="2200" b="0" i="0">
                <a:solidFill>
                  <a:srgbClr val="1C252B"/>
                </a:solidFill>
                <a:latin typeface="Segoe UI"/>
              </a:rPr>
              <a:t> whether to add a developer to a sprint at the mid-point. </a:t>
            </a:r>
            <a:r>
              <a:rPr sz="2200" b="0" i="1">
                <a:solidFill>
                  <a:srgbClr val="1C252B"/>
                </a:solidFill>
                <a:latin typeface="Segoe UI"/>
              </a:rPr>
              <a:t>Unit:</a:t>
            </a:r>
            <a:r>
              <a:rPr sz="2200" b="0" i="0">
                <a:solidFill>
                  <a:srgbClr val="1C252B"/>
                </a:solidFill>
                <a:latin typeface="Segoe UI"/>
              </a:rPr>
              <a:t> one sprint for one team. </a:t>
            </a:r>
            <a:r>
              <a:rPr sz="2200" b="0" i="1">
                <a:solidFill>
                  <a:srgbClr val="1C252B"/>
                </a:solidFill>
                <a:latin typeface="Segoe UI"/>
              </a:rPr>
              <a:t>Target:</a:t>
            </a:r>
            <a:r>
              <a:rPr sz="2200" b="0" i="0">
                <a:solidFill>
                  <a:srgbClr val="1C252B"/>
                </a:solidFill>
                <a:latin typeface="Segoe UI"/>
              </a:rPr>
              <a:t> will committed story points be delivered? </a:t>
            </a:r>
            <a:r>
              <a:rPr sz="2200" b="0" i="1">
                <a:solidFill>
                  <a:srgbClr val="1C252B"/>
                </a:solidFill>
                <a:latin typeface="Segoe UI"/>
              </a:rPr>
              <a:t>Timing:</a:t>
            </a:r>
            <a:r>
              <a:rPr sz="2200" b="0" i="0">
                <a:solidFill>
                  <a:srgbClr val="1C252B"/>
                </a:solidFill>
                <a:latin typeface="Segoe UI"/>
              </a:rPr>
              <a:t> data up to day 5 of a 10-day sprint. </a:t>
            </a:r>
            <a:r>
              <a:rPr sz="2200" b="0" i="1">
                <a:solidFill>
                  <a:srgbClr val="1C252B"/>
                </a:solidFill>
                <a:latin typeface="Segoe UI"/>
              </a:rPr>
              <a:t>Criterion:</a:t>
            </a:r>
            <a:r>
              <a:rPr sz="2200" b="0" i="0">
                <a:solidFill>
                  <a:srgbClr val="1C252B"/>
                </a:solidFill>
                <a:latin typeface="Segoe UI"/>
              </a:rPr>
              <a:t> beat the scrum master’s own mid-sprint judgement, measured over 20 sprints. </a:t>
            </a:r>
            <a:r>
              <a:rPr sz="2200" b="0" i="1">
                <a:solidFill>
                  <a:srgbClr val="1C252B"/>
                </a:solidFill>
                <a:latin typeface="Segoe UI"/>
              </a:rPr>
              <a:t>Baseline:</a:t>
            </a:r>
            <a:r>
              <a:rPr sz="2200" b="0" i="0">
                <a:solidFill>
                  <a:srgbClr val="1C252B"/>
                </a:solidFill>
                <a:latin typeface="Segoe UI"/>
              </a:rPr>
              <a:t> “we finish if more than half the points are done by day 5.”</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18997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Problem Framing</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a:t>
            </a:r>
            <a:fld id="{F39E791B-0463-44BD-89FC-930B7EA924C5}" type="slidenum">
              <a:rPr lang="en-GB" sz="1000">
                <a:solidFill>
                  <a:srgbClr val="8795A1"/>
                </a:solidFill>
                <a:latin typeface="Segoe UI"/>
              </a:rPr>
              <a:t>24</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Decision:</a:t>
            </a:r>
            <a:r>
              <a:rPr sz="2200" b="0" i="0">
                <a:solidFill>
                  <a:srgbClr val="1C252B"/>
                </a:solidFill>
                <a:latin typeface="Segoe UI"/>
              </a:rPr>
              <a:t> whether to schedule a motor for maintenance this week. </a:t>
            </a:r>
            <a:r>
              <a:rPr sz="2200" b="0" i="1">
                <a:solidFill>
                  <a:srgbClr val="1C252B"/>
                </a:solidFill>
                <a:latin typeface="Segoe UI"/>
              </a:rPr>
              <a:t>Unit:</a:t>
            </a:r>
            <a:r>
              <a:rPr sz="2200" b="0" i="0">
                <a:solidFill>
                  <a:srgbClr val="1C252B"/>
                </a:solidFill>
                <a:latin typeface="Segoe UI"/>
              </a:rPr>
              <a:t> one motor on one day. </a:t>
            </a:r>
            <a:r>
              <a:rPr sz="2200" b="0" i="1">
                <a:solidFill>
                  <a:srgbClr val="1C252B"/>
                </a:solidFill>
                <a:latin typeface="Segoe UI"/>
              </a:rPr>
              <a:t>Target:</a:t>
            </a:r>
            <a:r>
              <a:rPr sz="2200" b="0" i="0">
                <a:solidFill>
                  <a:srgbClr val="1C252B"/>
                </a:solidFill>
                <a:latin typeface="Segoe UI"/>
              </a:rPr>
              <a:t> will it fail within 30 days? </a:t>
            </a:r>
            <a:r>
              <a:rPr sz="2200" b="0" i="1">
                <a:solidFill>
                  <a:srgbClr val="1C252B"/>
                </a:solidFill>
                <a:latin typeface="Segoe UI"/>
              </a:rPr>
              <a:t>Timing:</a:t>
            </a:r>
            <a:r>
              <a:rPr sz="2200" b="0" i="0">
                <a:solidFill>
                  <a:srgbClr val="1C252B"/>
                </a:solidFill>
                <a:latin typeface="Segoe UI"/>
              </a:rPr>
              <a:t> only telemetry up to and including today. </a:t>
            </a:r>
            <a:r>
              <a:rPr sz="2200" b="0" i="1">
                <a:solidFill>
                  <a:srgbClr val="1C252B"/>
                </a:solidFill>
                <a:latin typeface="Segoe UI"/>
              </a:rPr>
              <a:t>Criterion:</a:t>
            </a:r>
            <a:r>
              <a:rPr sz="2200" b="0" i="0">
                <a:solidFill>
                  <a:srgbClr val="1C252B"/>
                </a:solidFill>
                <a:latin typeface="Segoe UI"/>
              </a:rPr>
              <a:t> prevent at least 80% of unplanned failures with fewer than 5 unnecessary teardowns per 100 motors per year. </a:t>
            </a:r>
            <a:r>
              <a:rPr sz="2200" b="0" i="1">
                <a:solidFill>
                  <a:srgbClr val="1C252B"/>
                </a:solidFill>
                <a:latin typeface="Segoe UI"/>
              </a:rPr>
              <a:t>Baseline:</a:t>
            </a:r>
            <a:r>
              <a:rPr sz="2200" b="0" i="0">
                <a:solidFill>
                  <a:srgbClr val="1C252B"/>
                </a:solidFill>
                <a:latin typeface="Segoe UI"/>
              </a:rPr>
              <a:t> fixed-interval servicing every 90 days.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025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Problem Framing</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a:t>
            </a:r>
            <a:fld id="{173571E7-3763-48D9-A348-A7555AE00F03}" type="slidenum">
              <a:rPr lang="en-GB" sz="1000">
                <a:solidFill>
                  <a:srgbClr val="8795A1"/>
                </a:solidFill>
                <a:latin typeface="Segoe UI"/>
              </a:rPr>
              <a:t>25</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Decision:</a:t>
            </a:r>
            <a:r>
              <a:rPr sz="2200" b="0" i="0">
                <a:solidFill>
                  <a:srgbClr val="1C252B"/>
                </a:solidFill>
                <a:latin typeface="Segoe UI"/>
              </a:rPr>
              <a:t> whether to force step-up authentication on a login. </a:t>
            </a:r>
            <a:r>
              <a:rPr sz="2200" b="0" i="1">
                <a:solidFill>
                  <a:srgbClr val="1C252B"/>
                </a:solidFill>
                <a:latin typeface="Segoe UI"/>
              </a:rPr>
              <a:t>Unit:</a:t>
            </a:r>
            <a:r>
              <a:rPr sz="2200" b="0" i="0">
                <a:solidFill>
                  <a:srgbClr val="1C252B"/>
                </a:solidFill>
                <a:latin typeface="Segoe UI"/>
              </a:rPr>
              <a:t> one authentication attempt. </a:t>
            </a:r>
            <a:r>
              <a:rPr sz="2200" b="0" i="1">
                <a:solidFill>
                  <a:srgbClr val="1C252B"/>
                </a:solidFill>
                <a:latin typeface="Segoe UI"/>
              </a:rPr>
              <a:t>Target:</a:t>
            </a:r>
            <a:r>
              <a:rPr sz="2200" b="0" i="0">
                <a:solidFill>
                  <a:srgbClr val="1C252B"/>
                </a:solidFill>
                <a:latin typeface="Segoe UI"/>
              </a:rPr>
              <a:t> is this attempt an account takeover? </a:t>
            </a:r>
            <a:r>
              <a:rPr sz="2200" b="0" i="1">
                <a:solidFill>
                  <a:srgbClr val="1C252B"/>
                </a:solidFill>
                <a:latin typeface="Segoe UI"/>
              </a:rPr>
              <a:t>Timing:</a:t>
            </a:r>
            <a:r>
              <a:rPr sz="2200" b="0" i="0">
                <a:solidFill>
                  <a:srgbClr val="1C252B"/>
                </a:solidFill>
                <a:latin typeface="Segoe UI"/>
              </a:rPr>
              <a:t> only what is observable at the instant of the request. </a:t>
            </a:r>
            <a:r>
              <a:rPr sz="2200" b="0" i="1">
                <a:solidFill>
                  <a:srgbClr val="1C252B"/>
                </a:solidFill>
                <a:latin typeface="Segoe UI"/>
              </a:rPr>
              <a:t>Criterion:</a:t>
            </a:r>
            <a:r>
              <a:rPr sz="2200" b="0" i="0">
                <a:solidFill>
                  <a:srgbClr val="1C252B"/>
                </a:solidFill>
                <a:latin typeface="Segoe UI"/>
              </a:rPr>
              <a:t> detect 90% of takeovers while challenging under 1 in 500 legitimate logins — a false-positive budget set by the customer-experience team, not by the data scientist. </a:t>
            </a:r>
            <a:r>
              <a:rPr sz="2200" b="0" i="1">
                <a:solidFill>
                  <a:srgbClr val="1C252B"/>
                </a:solidFill>
                <a:latin typeface="Segoe UI"/>
              </a:rPr>
              <a:t>Baseline:</a:t>
            </a:r>
            <a:r>
              <a:rPr sz="2200" b="0" i="0">
                <a:solidFill>
                  <a:srgbClr val="1C252B"/>
                </a:solidFill>
                <a:latin typeface="Segoe UI"/>
              </a:rPr>
              <a:t> challenge every login from a new country.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8151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Writing a Frame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14     </a:t>
            </a:r>
            <a:fld id="{63FB11D8-72F6-4C8C-A422-E2FAF324A750}" type="slidenum">
              <a:rPr lang="en-GB" sz="1000">
                <a:solidFill>
                  <a:srgbClr val="8795A1"/>
                </a:solidFill>
                <a:latin typeface="Segoe UI"/>
              </a:rPr>
              <a:t>26</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Take any dataset you have access to — your own module grades will do — and fill in this template before writing any analysis code. It takes ten minutes and saves days.</a:t>
            </a:r>
          </a:p>
        </p:txBody>
      </p:sp>
      <p:sp>
        <p:nvSpPr>
          <p:cNvPr id="8" name="!!lfTHIS">
            <a:extLst>
              <a:ext uri="{C183D7F6-B498-43B3-948B-1728B52AA6E4}">
                <adec:decorative xmlns:adec="http://schemas.microsoft.com/office/drawing/2017/decorative" val="1"/>
              </a:ext>
            </a:extLst>
          </p:cNvPr>
          <p:cNvSpPr/>
          <p:nvPr/>
        </p:nvSpPr>
        <p:spPr>
          <a:xfrm>
            <a:off x="658368"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 Meet a dataset; write a frame</a:t>
            </a:r>
          </a:p>
        </p:txBody>
      </p:sp>
      <p:sp>
        <p:nvSpPr>
          <p:cNvPr id="12" name="!!lfWHAT">
            <a:extLst>
              <a:ext uri="{C183D7F6-B498-43B3-948B-1728B52AA6E4}">
                <adec:decorative xmlns:adec="http://schemas.microsoft.com/office/drawing/2017/decorative" val="1"/>
              </a:ext>
            </a:extLst>
          </p:cNvPr>
          <p:cNvSpPr/>
          <p:nvPr/>
        </p:nvSpPr>
        <p:spPr>
          <a:xfrm>
            <a:off x="6233007"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6233007"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6507327"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6507327"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12 lines of Python</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Writing a Frame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14     </a:t>
            </a:r>
            <a:fld id="{B4181007-07B7-45BA-918F-0BAFDF2D3C56}"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FRAME = { &quot;decision&quot;: &quot;What action changes because of this output?&quot;, &quot;unit&quot;: &quot;One row is one ______.&quot;, &quot;target&quot;: &quot;Exactly what is predicted/measured, in what units?&quot;, &quot;timing&quot;: &quot;Which columns exist at prediction time? List them.&quot;, &quot;criterion&quot;: &quot;Success = ______ above/below ______.&quot;, &quot;baseline&quot;: &quot;The no-model rule is ______, which achieves ______.&quot;, } for k, v in FRAME.items(): print(f&quot;{k.upper():10s} {v}&quot;) # Replace each value with your own answer, then re-read question 4."/>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E8EDF2"/>
                </a:solidFill>
                <a:latin typeface="Consolas"/>
              </a:rPr>
              <a:t>FRAME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decision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What action changes because of this output?</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unit</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One row is one ______.</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target</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Exactly what is predicted/measured, in what units?</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timing</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Which columns exist at prediction time? List them.</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criterion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Success = ______ above/below ______.</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baseline</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The no-model rule is ______, which achieves ______.</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k</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FRAME</a:t>
            </a:r>
            <a:r>
              <a:rPr sz="1900" i="0">
                <a:solidFill>
                  <a:srgbClr val="AEB6BF"/>
                </a:solidFill>
                <a:latin typeface="Consolas"/>
              </a:rPr>
              <a:t>.</a:t>
            </a:r>
            <a:r>
              <a:rPr sz="1900" i="0">
                <a:solidFill>
                  <a:srgbClr val="E8EDF2"/>
                </a:solidFill>
                <a:latin typeface="Consolas"/>
              </a:rPr>
              <a:t>items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f</a:t>
            </a:r>
            <a:r>
              <a:rPr sz="1900" i="0">
                <a:solidFill>
                  <a:srgbClr val="7DCEA0"/>
                </a:solidFill>
                <a:latin typeface="Consolas"/>
              </a:rPr>
              <a:t>"</a:t>
            </a:r>
            <a:r>
              <a:rPr sz="1900" i="0">
                <a:solidFill>
                  <a:srgbClr val="7DCEA0"/>
                </a:solidFill>
                <a:latin typeface="Consolas"/>
              </a:rPr>
              <a:t>{</a:t>
            </a:r>
            <a:r>
              <a:rPr sz="1900" i="0">
                <a:solidFill>
                  <a:srgbClr val="E8EDF2"/>
                </a:solidFill>
                <a:latin typeface="Consolas"/>
              </a:rPr>
              <a:t>k</a:t>
            </a:r>
            <a:r>
              <a:rPr sz="1900" i="0">
                <a:solidFill>
                  <a:srgbClr val="AEB6BF"/>
                </a:solidFill>
                <a:latin typeface="Consolas"/>
              </a:rPr>
              <a:t>.</a:t>
            </a:r>
            <a:r>
              <a:rPr sz="1900" i="0">
                <a:solidFill>
                  <a:srgbClr val="E8EDF2"/>
                </a:solidFill>
                <a:latin typeface="Consolas"/>
              </a:rPr>
              <a:t>upper</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10s</a:t>
            </a:r>
            <a:r>
              <a:rPr sz="1900" i="0">
                <a:solidFill>
                  <a:srgbClr val="7DCEA0"/>
                </a:solidFill>
                <a:latin typeface="Consolas"/>
              </a:rPr>
              <a:t>}</a:t>
            </a:r>
            <a:r>
              <a:rPr sz="1900" i="0">
                <a:solidFill>
                  <a:srgbClr val="7DCEA0"/>
                </a:solidFill>
                <a:latin typeface="Consolas"/>
              </a:rPr>
              <a:t> </a:t>
            </a:r>
            <a:r>
              <a:rPr sz="1900" i="0">
                <a:solidFill>
                  <a:srgbClr val="7DCEA0"/>
                </a:solidFill>
                <a:latin typeface="Consolas"/>
              </a:rPr>
              <a:t>{</a:t>
            </a:r>
            <a:r>
              <a:rPr sz="1900" i="0">
                <a:solidFill>
                  <a:srgbClr val="E8EDF2"/>
                </a:solidFill>
                <a:latin typeface="Consolas"/>
              </a:rPr>
              <a:t>v</a:t>
            </a:r>
            <a:r>
              <a:rPr sz="1900" i="0">
                <a:solidFill>
                  <a:srgbClr val="7DCEA0"/>
                </a:solidFill>
                <a:latin typeface="Consolas"/>
              </a:rPr>
              <a:t>}</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1">
                <a:solidFill>
                  <a:srgbClr val="8795A1"/>
                </a:solidFill>
                <a:latin typeface="Consolas"/>
              </a:rPr>
              <a:t># Replace each value with your own answer, then re-read question 4.</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a:p>
            <a:pPr algn="r">
              <a:lnSpc>
                <a:spcPct val="100000"/>
              </a:lnSpc>
            </a:pPr>
            <a:r>
              <a:rPr sz="1900">
                <a:solidFill>
                  <a:srgbClr val="4F5D6A"/>
                </a:solidFill>
                <a:latin typeface="Consolas"/>
              </a:rPr>
              <a:t>7</a:t>
            </a:r>
          </a:p>
          <a:p>
            <a:pPr algn="r">
              <a:lnSpc>
                <a:spcPct val="100000"/>
              </a:lnSpc>
            </a:pPr>
            <a:r>
              <a:rPr sz="1900">
                <a:solidFill>
                  <a:srgbClr val="4F5D6A"/>
                </a:solidFill>
                <a:latin typeface="Consolas"/>
              </a:rPr>
              <a:t>8</a:t>
            </a:r>
          </a:p>
          <a:p>
            <a:pPr algn="r">
              <a:lnSpc>
                <a:spcPct val="100000"/>
              </a:lnSpc>
            </a:pPr>
            <a:r>
              <a:rPr sz="1900">
                <a:solidFill>
                  <a:srgbClr val="4F5D6A"/>
                </a:solidFill>
                <a:latin typeface="Consolas"/>
              </a:rPr>
              <a:t>9</a:t>
            </a:r>
          </a:p>
          <a:p>
            <a:pPr algn="r">
              <a:lnSpc>
                <a:spcPct val="100000"/>
              </a:lnSpc>
            </a:pPr>
            <a:r>
              <a:rPr sz="1900">
                <a:solidFill>
                  <a:srgbClr val="4F5D6A"/>
                </a:solidFill>
                <a:latin typeface="Consolas"/>
              </a:rPr>
              <a:t>10</a:t>
            </a:r>
          </a:p>
          <a:p>
            <a:pPr algn="r">
              <a:lnSpc>
                <a:spcPct val="100000"/>
              </a:lnSpc>
            </a:pPr>
            <a:r>
              <a:rPr sz="1900">
                <a:solidFill>
                  <a:srgbClr val="4F5D6A"/>
                </a:solidFill>
                <a:latin typeface="Consolas"/>
              </a:rPr>
              <a:t>11</a:t>
            </a:r>
          </a:p>
          <a:p>
            <a:pPr algn="r">
              <a:lnSpc>
                <a:spcPct val="100000"/>
              </a:lnSpc>
            </a:pPr>
            <a:r>
              <a:rPr sz="19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404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14     </a:t>
            </a:r>
            <a:fld id="{94D65A04-3358-463A-8623-0F28F8C6580E}"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 test of a good frame:</a:t>
            </a:r>
            <a:r>
              <a:rPr sz="2300" b="0" i="0">
                <a:solidFill>
                  <a:srgbClr val="1C252B"/>
                </a:solidFill>
                <a:latin typeface="Segoe UI"/>
              </a:rPr>
              <a:t> hand it to someone outside the project. If they can tell you what the model outputs and how you would know it worked, the frame is done.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7530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team reports that model accuracy rose from 94% to 96% on a dataset where 95% of cases are negative. What should you ask before congratulating them?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  ·  The Data Science Lifecycle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  ·  answers in Appendix D     </a:t>
            </a:r>
            <a:fld id="{195C11D0-9870-4E6F-9333-9033541C8B57}" type="slidenum">
              <a:rPr lang="en-GB" sz="1000">
                <a:solidFill>
                  <a:srgbClr val="D5DEE5"/>
                </a:solidFill>
                <a:latin typeface="Segoe UI"/>
              </a:rPr>
              <a:t>29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team reports that model accuracy rose from 94% to 96% on a dataset where 95% of cases are negative. What should you ask before congratulating them?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What the majority-class baseline scores. If 95% of cases are negative, predicting “negative” always scores 95%, so 94% is </a:t>
            </a:r>
            <a:r>
              <a:rPr sz="2200" b="0" i="1">
                <a:solidFill>
                  <a:srgbClr val="1C252B"/>
                </a:solidFill>
                <a:latin typeface="Segoe UI"/>
              </a:rPr>
              <a:t>worse</a:t>
            </a:r>
            <a:r>
              <a:rPr sz="2200" b="0" i="0">
                <a:solidFill>
                  <a:srgbClr val="1C252B"/>
                </a:solidFill>
                <a:latin typeface="Segoe UI"/>
              </a:rPr>
              <a:t> than doing nothing and 96% is barely better. Ask for precision and recall.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  answers in Appendix D     </a:t>
            </a:r>
            <a:fld id="{FB00064E-E83C-4ADA-AC83-8C73670E7856}" type="slidenum">
              <a:rPr lang="en-GB" sz="1000">
                <a:solidFill>
                  <a:srgbClr val="8795A1"/>
                </a:solidFill>
                <a:latin typeface="Segoe UI"/>
              </a:rPr>
              <a:t>30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3782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CRISP-DM draw an arrow from deployment back to business understanding, rather than ending at deployment?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  ·  The Data Science Lifecycle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  ·  answers in Appendix D     </a:t>
            </a:r>
            <a:fld id="{3E919D44-1E78-4AFA-98B8-0D5ACF99B270}"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CRISP-DM draw an arrow from deployment back to business understanding, rather than ending at deployment?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deployment changes the world the model was trained on: warned students behave differently, blocked attackers change tactics. The distribution shifts, so the cycle must restart (Chapter 27).</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  answers in Appendix D     </a:t>
            </a:r>
            <a:fld id="{2B9B05C2-61D7-4938-838C-F9907DED7D75}"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034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hospital wants to predict which patients will be readmitted within 30 days. Name one feature that would be a leakage error, and say why.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  ·  The Data Science Lifecycle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  ·  answers in Appendix D     </a:t>
            </a:r>
            <a:fld id="{0D422D58-DED4-4583-830E-317343006A97}"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hospital wants to predict which patients will be readmitted within 30 days. Name one feature that would be a leakage error, and say why.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Any feature recorded after or because of the readmission — for example </a:t>
            </a:r>
            <a:r>
              <a:rPr sz="2050" b="0" i="0">
                <a:solidFill>
                  <a:srgbClr val="1F4E79"/>
                </a:solidFill>
                <a:latin typeface="Consolas"/>
              </a:rPr>
              <a:t>days_to_readmission</a:t>
            </a:r>
            <a:r>
              <a:rPr sz="2200" b="0" i="0">
                <a:solidFill>
                  <a:srgbClr val="1C252B"/>
                </a:solidFill>
                <a:latin typeface="Segoe UI"/>
              </a:rPr>
              <a:t>, or a discharge-summary field completed on re-entry. It will not exist at prediction time, so the model cannot use it in production.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  answers in Appendix D     </a:t>
            </a:r>
            <a:fld id="{773EEDD4-6198-46EE-9017-A72ED617D12E}"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2865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a:t>
            </a:r>
            <a:fld id="{10F521F0-EBC2-4142-AD91-B551B28DA1D8}" type="slidenum">
              <a:rPr lang="en-GB" sz="1000">
                <a:solidFill>
                  <a:srgbClr val="8795A1"/>
                </a:solidFill>
                <a:latin typeface="Segoe UI"/>
              </a:rPr>
              <a:t>35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CRISP-DM has six phases and is a loop; the back-steps are normal, not failures.</a:t>
            </a:r>
          </a:p>
        </p:txBody>
      </p:sp>
      <p:sp>
        <p:nvSpPr>
          <p:cNvPr id="10" name="!!sb1">
            <a:extLst>
              <a:ext uri="{C183D7F6-B498-43B3-948B-1728B52AA6E4}">
                <adec:decorative xmlns:adec="http://schemas.microsoft.com/office/drawing/2017/decorative" val="1"/>
              </a:ext>
            </a:extLst>
          </p:cNvPr>
          <p:cNvSpPr/>
          <p:nvPr/>
        </p:nvSpPr>
        <p:spPr>
          <a:xfrm>
            <a:off x="658368" y="233172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38658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32257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Framing precedes data. Answer all six framing questions — decision, unit, target, timing, criterion, baseline — before opening a file.</a:t>
            </a:r>
          </a:p>
        </p:txBody>
      </p:sp>
      <p:sp>
        <p:nvSpPr>
          <p:cNvPr id="13" name="!!sb2">
            <a:extLst>
              <a:ext uri="{C183D7F6-B498-43B3-948B-1728B52AA6E4}">
                <adec:decorative xmlns:adec="http://schemas.microsoft.com/office/drawing/2017/decorative" val="1"/>
              </a:ext>
            </a:extLst>
          </p:cNvPr>
          <p:cNvSpPr/>
          <p:nvPr/>
        </p:nvSpPr>
        <p:spPr>
          <a:xfrm>
            <a:off x="658368" y="318028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3514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71139"/>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Timing (what is knowable at prediction time) prevents leakage, the most expensive routine mistake in the field.</a:t>
            </a:r>
          </a:p>
        </p:txBody>
      </p:sp>
      <p:sp>
        <p:nvSpPr>
          <p:cNvPr id="16" name="!!sb3">
            <a:extLst>
              <a:ext uri="{C183D7F6-B498-43B3-948B-1728B52AA6E4}">
                <adec:decorative xmlns:adec="http://schemas.microsoft.com/office/drawing/2017/decorative" val="1"/>
              </a:ext>
            </a:extLst>
          </p:cNvPr>
          <p:cNvSpPr/>
          <p:nvPr/>
        </p:nvSpPr>
        <p:spPr>
          <a:xfrm>
            <a:off x="658368" y="40288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837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19702"/>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Model metrics and business metrics are different and can disagree. A project is judged on the latter.</a:t>
            </a:r>
          </a:p>
        </p:txBody>
      </p:sp>
      <p:sp>
        <p:nvSpPr>
          <p:cNvPr id="19" name="!!sb4">
            <a:extLst>
              <a:ext uri="{C183D7F6-B498-43B3-948B-1728B52AA6E4}">
                <adec:decorative xmlns:adec="http://schemas.microsoft.com/office/drawing/2017/decorative" val="1"/>
              </a:ext>
            </a:extLst>
          </p:cNvPr>
          <p:cNvSpPr/>
          <p:nvPr/>
        </p:nvSpPr>
        <p:spPr>
          <a:xfrm>
            <a:off x="658368" y="487740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3227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6826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Modelling is the smallest phase. Framing and data preparation dominate.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94126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a:t>
            </a:r>
            <a:fld id="{2CBCBCA8-545B-4CFA-ABEC-5D8C22F3D522}" type="slidenum">
              <a:rPr lang="en-GB" sz="1000">
                <a:solidFill>
                  <a:srgbClr val="8795A1"/>
                </a:solidFill>
                <a:latin typeface="Segoe UI"/>
              </a:rPr>
              <a:t>36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CRISP-DM, which phase immediately follows data preparation?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Evaluation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Modelling</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Deployment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Business understanding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538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a:t>
            </a:r>
            <a:fld id="{3A903E9C-57CD-416F-AA8A-B47CDA5E4588}" type="slidenum">
              <a:rPr lang="en-GB" sz="1000">
                <a:solidFill>
                  <a:srgbClr val="8795A1"/>
                </a:solidFill>
                <a:latin typeface="Segoe UI"/>
              </a:rPr>
              <a:t>37</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feature that would not be available when the model runs in production causes: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overfitting</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leakage</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underfitting</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class imbalance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6648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  ·  The Data Science Lifecycle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     </a:t>
            </a:r>
            <a:fld id="{CD22D1E3-23F4-4D1C-A060-C2E7B702DEA4}" type="slidenum">
              <a:rPr lang="en-GB" sz="1000">
                <a:solidFill>
                  <a:srgbClr val="8795A1"/>
                </a:solidFill>
                <a:latin typeface="Segoe UI"/>
              </a:rPr>
              <a:t>38</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a definition of “baseline” and explain in one sentence why a project without one cannot demonstrate value.</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a situation in which a model with higher accuracy delivers lower business value than a model with lower accuracy.</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“one row is one </a:t>
            </a:r>
            <a:r>
              <a:rPr sz="1900" b="0" i="1">
                <a:solidFill>
                  <a:srgbClr val="1C252B"/>
                </a:solidFill>
                <a:latin typeface="Segoe UI"/>
              </a:rPr>
              <a:t>what</a:t>
            </a:r>
            <a:r>
              <a:rPr sz="1900" b="0" i="0">
                <a:solidFill>
                  <a:srgbClr val="1C252B"/>
                </a:solidFill>
                <a:latin typeface="Segoe UI"/>
              </a:rPr>
              <a:t>?” a harder question than it appears for IoT telemetry?</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Write a complete six-part frame for this request: “We want to use AI to stop our servers going down.”</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learning analytics lens above, propose a </a:t>
            </a:r>
            <a:r>
              <a:rPr sz="1900" b="0" i="1">
                <a:solidFill>
                  <a:srgbClr val="1C252B"/>
                </a:solidFill>
                <a:latin typeface="Segoe UI"/>
              </a:rPr>
              <a:t>different</a:t>
            </a:r>
            <a:r>
              <a:rPr sz="1900" b="0" i="0">
                <a:solidFill>
                  <a:srgbClr val="1C252B"/>
                </a:solidFill>
                <a:latin typeface="Segoe UI"/>
              </a:rPr>
              <a:t> success criterion that would be appropriate if the department had unlimited staff, and explain how it changes which model you would prefer.</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7908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3 — Data: Types, Sources and Quality</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 pages 11–16</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Meet a dataset; write a frame</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  ·  The Data Science Lifecycle</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5BFAD1E3-E165-4B2F-8235-B7F33F8CA567}"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The Data Science Lifecycle</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