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6.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4.svg" ContentType="image/svg+xml"/>
  <Override PartName="/ppt/media/image86.svg" ContentType="image/svg+xml"/>
  <Override PartName="/ppt/media/image87.svg" ContentType="image/svg+xml"/>
  <Override PartName="/ppt/media/image8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3D7019C-6346-4360-ADF3-26916F63D9A2}">
          <p14:sldIdLst>
            <p14:sldId id="256"/>
            <p14:sldId id="257"/>
            <p14:sldId id="258"/>
            <p14:sldId id="259"/>
            <p14:sldId id="260"/>
          </p14:sldIdLst>
        </p14:section>
        <p14:section name="28.1 Why This Chapter Is Not Optional" id="{3BF94838-0E95-4662-9A42-DD027459351E}">
          <p14:sldIdLst>
            <p14:sldId id="261"/>
          </p14:sldIdLst>
        </p14:section>
        <p14:section name="28.2 Where Bias Enters" id="{0AF5F8D3-F5AC-43F0-A6DC-6E90D6213B33}">
          <p14:sldIdLst>
            <p14:sldId id="262"/>
          </p14:sldIdLst>
        </p14:section>
        <p14:section name="28.3 Fairness Metrics — and Why You Cannot Have Them All" id="{A6CEE296-6B8C-401E-9AF1-6DE4C575A0B9}">
          <p14:sldIdLst>
            <p14:sldId id="263"/>
            <p14:sldId id="264"/>
            <p14:sldId id="265"/>
            <p14:sldId id="266"/>
            <p14:sldId id="267"/>
          </p14:sldIdLst>
        </p14:section>
        <p14:section name="28.4 Privacy and Data Protection" id="{34984B6F-D943-4DAB-93DF-2C7BF51B1C59}">
          <p14:sldIdLst>
            <p14:sldId id="268"/>
            <p14:sldId id="269"/>
            <p14:sldId id="270"/>
            <p14:sldId id="271"/>
            <p14:sldId id="272"/>
            <p14:sldId id="273"/>
            <p14:sldId id="274"/>
          </p14:sldIdLst>
        </p14:section>
        <p14:section name="28.5 Explainability" id="{BB4C5AD8-EB25-490C-A958-86569FC51473}">
          <p14:sldIdLst>
            <p14:sldId id="275"/>
            <p14:sldId id="276"/>
            <p14:sldId id="277"/>
          </p14:sldIdLst>
        </p14:section>
        <p14:section name="28.6 An Ethical Review You Can Actually Run" id="{7FB5F372-316A-460D-82DE-2B0B60469494}">
          <p14:sldIdLst>
            <p14:sldId id="278"/>
            <p14:sldId id="279"/>
            <p14:sldId id="280"/>
          </p14:sldIdLst>
        </p14:section>
        <p14:section name="Four lenses" id="{7BCB2B33-CCE0-4805-A17E-CB0259FC52C1}">
          <p14:sldIdLst>
            <p14:sldId id="281"/>
            <p14:sldId id="282"/>
            <p14:sldId id="283"/>
            <p14:sldId id="284"/>
            <p14:sldId id="285"/>
          </p14:sldIdLst>
        </p14:section>
        <p14:section name="Lab" id="{28686C12-AE5B-4093-91CE-CEA599142032}">
          <p14:sldIdLst>
            <p14:sldId id="286"/>
            <p14:sldId id="287"/>
            <p14:sldId id="288"/>
            <p14:sldId id="289"/>
            <p14:sldId id="290"/>
          </p14:sldIdLst>
        </p14:section>
        <p14:section name="Checkpoint" id="{31344A59-0BAB-45DF-9C24-E1FF5BA92681}">
          <p14:sldIdLst>
            <p14:sldId id="291"/>
            <p14:sldId id="292"/>
            <p14:sldId id="293"/>
            <p14:sldId id="294"/>
            <p14:sldId id="295"/>
            <p14:sldId id="296"/>
          </p14:sldIdLst>
        </p14:section>
        <p14:section name="Wrap-up" id="{8654A8EC-AA52-4785-92F8-59F2AB2EDD4C}">
          <p14:sldIdLst>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28: Responsible AI and Data Ethics. Part 6 — Professional Practice. Week 16: MLOps; ethics; practice &amp; capstone. Handout pages 183–189.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14 (metrics — fairness metrics are confusion matrices computed per group) and Chapter 10 (proxies and confounding).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algorithmic bias; protected attribute; proxy variable; demographic parity; equal opportunity; equalised odds; calibration; impossibility result; personal data; consent; data minimisation; purpose limitation; anonymisation; explainability; SHAP; LIME; model card.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28.1 (handout p. 184): Five stages at which bias enters. Only stage 4 is a modelling problem; the other four are design, data and deployment problems, which is why fairness cannot be fixed by choosing a different algorithm.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28.2 (handout p. 185): The same model under three fairness criteria. Each panel is defensible in some context and indefensible in others. The professional obligation is to choose deliberately and say so, not to achieve all three.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28.3 (handout p. 187): A three-stage ethical review. It takes about an hour, requires no specialist training, and catches most of what goes wrong.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The highest-stakes lens in this book, because the subjects are identifiable young people with limited power in the relationship. Specific risks: self-fulfilling prophecy — a student told they are “high risk” may disengage further; proxy discrimination via postcode, school and device type; and mission creep from support into assessment. Requirements: equal opportunity as the fairness criterion, counterfactual explanations given to the student, a human adviser who can and does overrule the model, and a stated route to contest. Never show a raw risk score to a student.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Predicting which teams or individuals will underperform edges quickly into workplace surveillance. Rule of thumb: model the work, not the worker. Forecasting sprint completion is legitimate; ranking developers by predicted productivity is a different activity with employment-law consequences and predictable effects on behaviour — people optimise whatever is measured, usually at the expense of what is not.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Sensing is easy to deploy and hard to consent to. Occupancy and movement data is personal data the moment it can be linked to an individual, which is more often than designers assume. Practices: aggregate at the edge so that raw identifiable data never leaves the device (Chapter 24), set retention short and enforce it, and post clear notice where sensing occurs. “We only store counts” is only true if you engineered it to be.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Security work involves monitoring colleagues, which is legitimate and requires limits. Practices: proportionality — monitor what the threat justifies, not what is technically possible; access to raw logs restricted and itself audited; and a documented process for when monitoring surfaces something non-security-related. Note also the dual-use problem: the techniques in Chapter 26 defend systems and also enable surveillance, and the difference lies entirely in governance rather than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Calibration check: does 0.7 mean 0.7 for everyone?.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Proxy detection: can group be predicted from the features?.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The model will reconstruct gender from proxies — programme, device type, activity timing — and you have now lost the ability to measure the disparity. Test by trying to predict the protected attribute from the remaining features; an AUC well above 0.5 confirms proxies exist.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This is the impossibility result: with different base rates, a calibrated model necessarily flags the higher-base-rate group more often. Forcing equal flag rates breaks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counterfactual explanation: “you were flagged mainly because you have not submitted since week 2; submitting this week’s work would remove the flag.” It is the only form that tells the person what they can do.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29 — Research Methods and Experimental Design. READ: Handout Chapter 28, pages 183–189. THIS WEEK'S LAB: Monitored service; fairness measurement. ASSESSMENT: Capstone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3.xml"/><Relationship Id="rId9" Type="http://schemas.openxmlformats.org/officeDocument/2006/relationships/slide" Target="slide20.xml"/><Relationship Id="rId10" Type="http://schemas.openxmlformats.org/officeDocument/2006/relationships/slide" Target="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4.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5.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7.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0.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image" Target="../media/image37.png"/><Relationship Id="rId5" Type="http://schemas.openxmlformats.org/officeDocument/2006/relationships/image" Target="../media/image38.svg"/><Relationship Id="rId6" Type="http://schemas.openxmlformats.org/officeDocument/2006/relationships/image" Target="../media/image39.png"/><Relationship Id="rId7" Type="http://schemas.openxmlformats.org/officeDocument/2006/relationships/image" Target="../media/image40.svg"/><Relationship Id="rId8" Type="http://schemas.openxmlformats.org/officeDocument/2006/relationships/image" Target="../media/image41.png"/><Relationship Id="rId9" Type="http://schemas.openxmlformats.org/officeDocument/2006/relationships/image" Target="../media/image42.svg"/><Relationship Id="rId10" Type="http://schemas.openxmlformats.org/officeDocument/2006/relationships/image" Target="../media/image43.png"/><Relationship Id="rId11" Type="http://schemas.openxmlformats.org/officeDocument/2006/relationships/image" Target="../media/image44.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37.png"/><Relationship Id="rId5" Type="http://schemas.openxmlformats.org/officeDocument/2006/relationships/image" Target="../media/image47.svg"/><Relationship Id="rId6" Type="http://schemas.openxmlformats.org/officeDocument/2006/relationships/image" Target="../media/image39.png"/><Relationship Id="rId7" Type="http://schemas.openxmlformats.org/officeDocument/2006/relationships/image" Target="../media/image48.svg"/><Relationship Id="rId8" Type="http://schemas.openxmlformats.org/officeDocument/2006/relationships/image" Target="../media/image41.png"/><Relationship Id="rId9" Type="http://schemas.openxmlformats.org/officeDocument/2006/relationships/image" Target="../media/image49.svg"/><Relationship Id="rId10" Type="http://schemas.openxmlformats.org/officeDocument/2006/relationships/image" Target="../media/image43.png"/><Relationship Id="rId11" Type="http://schemas.openxmlformats.org/officeDocument/2006/relationships/image" Target="../media/image50.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image" Target="../media/image39.png"/><Relationship Id="rId5" Type="http://schemas.openxmlformats.org/officeDocument/2006/relationships/image" Target="../media/image53.svg"/><Relationship Id="rId6" Type="http://schemas.openxmlformats.org/officeDocument/2006/relationships/image" Target="../media/image37.png"/><Relationship Id="rId7" Type="http://schemas.openxmlformats.org/officeDocument/2006/relationships/image" Target="../media/image54.svg"/><Relationship Id="rId8" Type="http://schemas.openxmlformats.org/officeDocument/2006/relationships/image" Target="../media/image41.png"/><Relationship Id="rId9" Type="http://schemas.openxmlformats.org/officeDocument/2006/relationships/image" Target="../media/image55.svg"/><Relationship Id="rId10" Type="http://schemas.openxmlformats.org/officeDocument/2006/relationships/image" Target="../media/image43.png"/><Relationship Id="rId11" Type="http://schemas.openxmlformats.org/officeDocument/2006/relationships/image" Target="../media/image56.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image" Target="../media/image41.png"/><Relationship Id="rId5" Type="http://schemas.openxmlformats.org/officeDocument/2006/relationships/image" Target="../media/image59.svg"/><Relationship Id="rId6" Type="http://schemas.openxmlformats.org/officeDocument/2006/relationships/image" Target="../media/image37.png"/><Relationship Id="rId7" Type="http://schemas.openxmlformats.org/officeDocument/2006/relationships/image" Target="../media/image60.svg"/><Relationship Id="rId8" Type="http://schemas.openxmlformats.org/officeDocument/2006/relationships/image" Target="../media/image39.png"/><Relationship Id="rId9" Type="http://schemas.openxmlformats.org/officeDocument/2006/relationships/image" Target="../media/image61.svg"/><Relationship Id="rId10" Type="http://schemas.openxmlformats.org/officeDocument/2006/relationships/image" Target="../media/image43.png"/><Relationship Id="rId11" Type="http://schemas.openxmlformats.org/officeDocument/2006/relationships/image" Target="../media/image62.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image" Target="../media/image43.png"/><Relationship Id="rId5" Type="http://schemas.openxmlformats.org/officeDocument/2006/relationships/image" Target="../media/image65.svg"/><Relationship Id="rId6" Type="http://schemas.openxmlformats.org/officeDocument/2006/relationships/image" Target="../media/image37.png"/><Relationship Id="rId7" Type="http://schemas.openxmlformats.org/officeDocument/2006/relationships/image" Target="../media/image66.svg"/><Relationship Id="rId8" Type="http://schemas.openxmlformats.org/officeDocument/2006/relationships/image" Target="../media/image39.png"/><Relationship Id="rId9" Type="http://schemas.openxmlformats.org/officeDocument/2006/relationships/image" Target="../media/image67.svg"/><Relationship Id="rId10" Type="http://schemas.openxmlformats.org/officeDocument/2006/relationships/image" Target="../media/image41.png"/><Relationship Id="rId11" Type="http://schemas.openxmlformats.org/officeDocument/2006/relationships/image" Target="../media/image68.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1.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3.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7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8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81.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82.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4.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6.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7.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8.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28</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Responsible AI and Data Ethics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PROFESSIONAL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28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183     </a:t>
            </a:r>
            <a:fld id="{57EFDE1E-D3A8-4B08-9461-C0481AB5A334}"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8608"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8608"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6123" y="1755648"/>
            <a:ext cx="150833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6123" y="2029967"/>
            <a:ext cx="1508331"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8892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3974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04479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7953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32634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23490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60789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516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888943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87979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17098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0795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9736002"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73600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961327"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Responsible AI and Data Ethics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10">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10">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10"/>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10  </a:t>
            </a:r>
            <a:r>
              <a:rPr sz="1400" b="0" i="0">
                <a:solidFill>
                  <a:srgbClr val="1C252B"/>
                </a:solidFill>
                <a:latin typeface="Segoe UI"/>
              </a:rPr>
              <a:t>Relationships and Causality</a:t>
            </a:r>
          </a:p>
        </p:txBody>
      </p:sp>
      <p:sp>
        <p:nvSpPr>
          <p:cNvPr id="88" name="!!chipBU1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Model Evaluation and Selection</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chipUS3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3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3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30  </a:t>
            </a:r>
            <a:r>
              <a:rPr sz="1400" b="0" i="0">
                <a:solidFill>
                  <a:srgbClr val="1C252B"/>
                </a:solidFill>
                <a:latin typeface="Segoe UI"/>
              </a:rPr>
              <a:t>Managing Data Science Projects</a:t>
            </a:r>
          </a:p>
        </p:txBody>
      </p:sp>
      <p:sp>
        <p:nvSpPr>
          <p:cNvPr id="95" name="!!chipUS31">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31">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31"/>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31  </a:t>
            </a:r>
            <a:r>
              <a:rPr sz="1400" b="0" i="0">
                <a:solidFill>
                  <a:srgbClr val="1C252B"/>
                </a:solidFill>
                <a:latin typeface="Segoe UI"/>
              </a:rPr>
              <a:t>Communicating Data Science</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53007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183     </a:t>
            </a:r>
            <a:fld id="{48B0C474-E983-433B-A602-F13F9575BA36}"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Identify</a:t>
            </a:r>
            <a:r>
              <a:rPr sz="2100" b="0" i="0">
                <a:solidFill>
                  <a:srgbClr val="1C252B"/>
                </a:solidFill>
                <a:latin typeface="Segoe UI"/>
              </a:rPr>
              <a:t> where bias enters a data science system, at each of five stages.</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Compute</a:t>
            </a:r>
            <a:r>
              <a:rPr sz="2100" b="0" i="0">
                <a:solidFill>
                  <a:srgbClr val="1C252B"/>
                </a:solidFill>
                <a:latin typeface="Segoe UI"/>
              </a:rPr>
              <a:t> and </a:t>
            </a:r>
            <a:r>
              <a:rPr sz="2100" b="1" i="0">
                <a:solidFill>
                  <a:srgbClr val="1C252B"/>
                </a:solidFill>
                <a:latin typeface="Segoe UI"/>
              </a:rPr>
              <a:t>compare</a:t>
            </a:r>
            <a:r>
              <a:rPr sz="2100" b="0" i="0">
                <a:solidFill>
                  <a:srgbClr val="1C252B"/>
                </a:solidFill>
                <a:latin typeface="Segoe UI"/>
              </a:rPr>
              <a:t> the main fairness metrics, and explain why they cannot all hold at once.</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Apply</a:t>
            </a:r>
            <a:r>
              <a:rPr sz="2100" b="0" i="0">
                <a:solidFill>
                  <a:srgbClr val="1C252B"/>
                </a:solidFill>
                <a:latin typeface="Segoe UI"/>
              </a:rPr>
              <a:t> the core data-protection principles to a project design.</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Choose</a:t>
            </a:r>
            <a:r>
              <a:rPr sz="2100" b="0" i="0">
                <a:solidFill>
                  <a:srgbClr val="1C252B"/>
                </a:solidFill>
                <a:latin typeface="Segoe UI"/>
              </a:rPr>
              <a:t> an explainability technique appropriate to the audience and the stakes.</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Conduct</a:t>
            </a:r>
            <a:r>
              <a:rPr sz="2100" b="0" i="0">
                <a:solidFill>
                  <a:srgbClr val="1C252B"/>
                </a:solidFill>
                <a:latin typeface="Segoe UI"/>
              </a:rPr>
              <a:t> a structured ethical review before deployment.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9511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183     </a:t>
            </a:r>
            <a:fld id="{DA39BFDC-046D-46B4-8EC1-46BE153214EA}" type="slidenum">
              <a:rPr lang="en-GB" sz="1000">
                <a:solidFill>
                  <a:srgbClr val="8795A1"/>
                </a:solidFill>
                <a:latin typeface="Segoe UI"/>
              </a:rPr>
              <a:t>4</a:t>
            </a:fld>
          </a:p>
        </p:txBody>
      </p:sp>
      <p:sp>
        <p:nvSpPr>
          <p:cNvPr id="7" name="!!term-algorithmic bi">
            <a:extLst>
              <a:ext uri="{C183D7F6-B498-43B3-948B-1728B52AA6E4}">
                <adec:decorative xmlns:adec="http://schemas.microsoft.com/office/drawing/2017/decorative" val="1"/>
              </a:ext>
            </a:extLst>
          </p:cNvPr>
          <p:cNvSpPr/>
          <p:nvPr/>
        </p:nvSpPr>
        <p:spPr>
          <a:xfrm>
            <a:off x="658368" y="1847088"/>
            <a:ext cx="180355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lgorithmic bi">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lgorithmic bi"/>
          <p:cNvSpPr txBox="1"/>
          <p:nvPr/>
        </p:nvSpPr>
        <p:spPr>
          <a:xfrm>
            <a:off x="950976" y="1970532"/>
            <a:ext cx="162067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algorithmic bias</a:t>
            </a:r>
          </a:p>
        </p:txBody>
      </p:sp>
      <p:sp>
        <p:nvSpPr>
          <p:cNvPr id="10" name="!!term-protected attr">
            <a:extLst>
              <a:ext uri="{C183D7F6-B498-43B3-948B-1728B52AA6E4}">
                <adec:decorative xmlns:adec="http://schemas.microsoft.com/office/drawing/2017/decorative" val="1"/>
              </a:ext>
            </a:extLst>
          </p:cNvPr>
          <p:cNvSpPr/>
          <p:nvPr/>
        </p:nvSpPr>
        <p:spPr>
          <a:xfrm>
            <a:off x="2608223" y="1847088"/>
            <a:ext cx="20640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rotected attr">
            <a:extLst>
              <a:ext uri="{C183D7F6-B498-43B3-948B-1728B52AA6E4}">
                <adec:decorative xmlns:adec="http://schemas.microsoft.com/office/drawing/2017/decorative" val="1"/>
              </a:ext>
            </a:extLst>
          </p:cNvPr>
          <p:cNvSpPr/>
          <p:nvPr/>
        </p:nvSpPr>
        <p:spPr>
          <a:xfrm>
            <a:off x="273623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rotected attr"/>
          <p:cNvSpPr txBox="1"/>
          <p:nvPr/>
        </p:nvSpPr>
        <p:spPr>
          <a:xfrm>
            <a:off x="2900831" y="1970532"/>
            <a:ext cx="188112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protected attribute</a:t>
            </a:r>
          </a:p>
        </p:txBody>
      </p:sp>
      <p:sp>
        <p:nvSpPr>
          <p:cNvPr id="13" name="!!term-proxy variable">
            <a:extLst>
              <a:ext uri="{C183D7F6-B498-43B3-948B-1728B52AA6E4}">
                <adec:decorative xmlns:adec="http://schemas.microsoft.com/office/drawing/2017/decorative" val="1"/>
              </a:ext>
            </a:extLst>
          </p:cNvPr>
          <p:cNvSpPr/>
          <p:nvPr/>
        </p:nvSpPr>
        <p:spPr>
          <a:xfrm>
            <a:off x="4818535" y="1847088"/>
            <a:ext cx="16394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proxy variable">
            <a:extLst>
              <a:ext uri="{C183D7F6-B498-43B3-948B-1728B52AA6E4}">
                <adec:decorative xmlns:adec="http://schemas.microsoft.com/office/drawing/2017/decorative" val="1"/>
              </a:ext>
            </a:extLst>
          </p:cNvPr>
          <p:cNvSpPr/>
          <p:nvPr/>
        </p:nvSpPr>
        <p:spPr>
          <a:xfrm>
            <a:off x="49465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proxy variable"/>
          <p:cNvSpPr txBox="1"/>
          <p:nvPr/>
        </p:nvSpPr>
        <p:spPr>
          <a:xfrm>
            <a:off x="5111143" y="1970532"/>
            <a:ext cx="14565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proxy variable</a:t>
            </a:r>
          </a:p>
        </p:txBody>
      </p:sp>
      <p:sp>
        <p:nvSpPr>
          <p:cNvPr id="16" name="!!term-demographic pa">
            <a:extLst>
              <a:ext uri="{C183D7F6-B498-43B3-948B-1728B52AA6E4}">
                <adec:decorative xmlns:adec="http://schemas.microsoft.com/office/drawing/2017/decorative" val="1"/>
              </a:ext>
            </a:extLst>
          </p:cNvPr>
          <p:cNvSpPr/>
          <p:nvPr/>
        </p:nvSpPr>
        <p:spPr>
          <a:xfrm>
            <a:off x="6604262" y="1847088"/>
            <a:ext cx="21190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emographic pa">
            <a:extLst>
              <a:ext uri="{C183D7F6-B498-43B3-948B-1728B52AA6E4}">
                <adec:decorative xmlns:adec="http://schemas.microsoft.com/office/drawing/2017/decorative" val="1"/>
              </a:ext>
            </a:extLst>
          </p:cNvPr>
          <p:cNvSpPr/>
          <p:nvPr/>
        </p:nvSpPr>
        <p:spPr>
          <a:xfrm>
            <a:off x="673227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emographic pa"/>
          <p:cNvSpPr txBox="1"/>
          <p:nvPr/>
        </p:nvSpPr>
        <p:spPr>
          <a:xfrm>
            <a:off x="6896870" y="1970532"/>
            <a:ext cx="19361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demographic parity</a:t>
            </a:r>
          </a:p>
        </p:txBody>
      </p:sp>
      <p:sp>
        <p:nvSpPr>
          <p:cNvPr id="19" name="!!term-equal opportun">
            <a:extLst>
              <a:ext uri="{C183D7F6-B498-43B3-948B-1728B52AA6E4}">
                <adec:decorative xmlns:adec="http://schemas.microsoft.com/office/drawing/2017/decorative" val="1"/>
              </a:ext>
            </a:extLst>
          </p:cNvPr>
          <p:cNvSpPr/>
          <p:nvPr/>
        </p:nvSpPr>
        <p:spPr>
          <a:xfrm>
            <a:off x="8869637" y="1847088"/>
            <a:ext cx="198084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equal opportun">
            <a:extLst>
              <a:ext uri="{C183D7F6-B498-43B3-948B-1728B52AA6E4}">
                <adec:decorative xmlns:adec="http://schemas.microsoft.com/office/drawing/2017/decorative" val="1"/>
              </a:ext>
            </a:extLst>
          </p:cNvPr>
          <p:cNvSpPr/>
          <p:nvPr/>
        </p:nvSpPr>
        <p:spPr>
          <a:xfrm>
            <a:off x="899765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equal opportun"/>
          <p:cNvSpPr txBox="1"/>
          <p:nvPr/>
        </p:nvSpPr>
        <p:spPr>
          <a:xfrm>
            <a:off x="9162245" y="1970532"/>
            <a:ext cx="179796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equal opportunity</a:t>
            </a:r>
          </a:p>
        </p:txBody>
      </p:sp>
      <p:sp>
        <p:nvSpPr>
          <p:cNvPr id="22" name="!!term-equalised odds">
            <a:extLst>
              <a:ext uri="{C183D7F6-B498-43B3-948B-1728B52AA6E4}">
                <adec:decorative xmlns:adec="http://schemas.microsoft.com/office/drawing/2017/decorative" val="1"/>
              </a:ext>
            </a:extLst>
          </p:cNvPr>
          <p:cNvSpPr/>
          <p:nvPr/>
        </p:nvSpPr>
        <p:spPr>
          <a:xfrm>
            <a:off x="658368" y="2468880"/>
            <a:ext cx="173476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equalised odds">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equalised odds"/>
          <p:cNvSpPr txBox="1"/>
          <p:nvPr/>
        </p:nvSpPr>
        <p:spPr>
          <a:xfrm>
            <a:off x="950976" y="2592324"/>
            <a:ext cx="155188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equalised odds</a:t>
            </a:r>
          </a:p>
        </p:txBody>
      </p:sp>
      <p:sp>
        <p:nvSpPr>
          <p:cNvPr id="25" name="!!term-calibration">
            <a:extLst>
              <a:ext uri="{C183D7F6-B498-43B3-948B-1728B52AA6E4}">
                <adec:decorative xmlns:adec="http://schemas.microsoft.com/office/drawing/2017/decorative" val="1"/>
              </a:ext>
            </a:extLst>
          </p:cNvPr>
          <p:cNvSpPr/>
          <p:nvPr/>
        </p:nvSpPr>
        <p:spPr>
          <a:xfrm>
            <a:off x="2539437" y="2468880"/>
            <a:ext cx="13391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calibration">
            <a:extLst>
              <a:ext uri="{C183D7F6-B498-43B3-948B-1728B52AA6E4}">
                <adec:decorative xmlns:adec="http://schemas.microsoft.com/office/drawing/2017/decorative" val="1"/>
              </a:ext>
            </a:extLst>
          </p:cNvPr>
          <p:cNvSpPr/>
          <p:nvPr/>
        </p:nvSpPr>
        <p:spPr>
          <a:xfrm>
            <a:off x="266745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calibration"/>
          <p:cNvSpPr txBox="1"/>
          <p:nvPr/>
        </p:nvSpPr>
        <p:spPr>
          <a:xfrm>
            <a:off x="2832045" y="2592324"/>
            <a:ext cx="115627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calibration</a:t>
            </a:r>
          </a:p>
        </p:txBody>
      </p:sp>
      <p:sp>
        <p:nvSpPr>
          <p:cNvPr id="28" name="!!term-impossibility ">
            <a:extLst>
              <a:ext uri="{C183D7F6-B498-43B3-948B-1728B52AA6E4}">
                <adec:decorative xmlns:adec="http://schemas.microsoft.com/office/drawing/2017/decorative" val="1"/>
              </a:ext>
            </a:extLst>
          </p:cNvPr>
          <p:cNvSpPr/>
          <p:nvPr/>
        </p:nvSpPr>
        <p:spPr>
          <a:xfrm>
            <a:off x="4024891" y="2468880"/>
            <a:ext cx="20361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impossibility ">
            <a:extLst>
              <a:ext uri="{C183D7F6-B498-43B3-948B-1728B52AA6E4}">
                <adec:decorative xmlns:adec="http://schemas.microsoft.com/office/drawing/2017/decorative" val="1"/>
              </a:ext>
            </a:extLst>
          </p:cNvPr>
          <p:cNvSpPr/>
          <p:nvPr/>
        </p:nvSpPr>
        <p:spPr>
          <a:xfrm>
            <a:off x="415290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impossibility "/>
          <p:cNvSpPr txBox="1"/>
          <p:nvPr/>
        </p:nvSpPr>
        <p:spPr>
          <a:xfrm>
            <a:off x="4317499" y="2592324"/>
            <a:ext cx="185322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impossibility result</a:t>
            </a:r>
          </a:p>
        </p:txBody>
      </p:sp>
      <p:sp>
        <p:nvSpPr>
          <p:cNvPr id="31" name="!!term-personal data">
            <a:extLst>
              <a:ext uri="{C183D7F6-B498-43B3-948B-1728B52AA6E4}">
                <adec:decorative xmlns:adec="http://schemas.microsoft.com/office/drawing/2017/decorative" val="1"/>
              </a:ext>
            </a:extLst>
          </p:cNvPr>
          <p:cNvSpPr/>
          <p:nvPr/>
        </p:nvSpPr>
        <p:spPr>
          <a:xfrm>
            <a:off x="6207296" y="2468880"/>
            <a:ext cx="16059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personal data">
            <a:extLst>
              <a:ext uri="{C183D7F6-B498-43B3-948B-1728B52AA6E4}">
                <adec:decorative xmlns:adec="http://schemas.microsoft.com/office/drawing/2017/decorative" val="1"/>
              </a:ext>
            </a:extLst>
          </p:cNvPr>
          <p:cNvSpPr/>
          <p:nvPr/>
        </p:nvSpPr>
        <p:spPr>
          <a:xfrm>
            <a:off x="633531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personal data"/>
          <p:cNvSpPr txBox="1"/>
          <p:nvPr/>
        </p:nvSpPr>
        <p:spPr>
          <a:xfrm>
            <a:off x="6499904" y="2592324"/>
            <a:ext cx="142307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personal data</a:t>
            </a:r>
          </a:p>
        </p:txBody>
      </p:sp>
      <p:sp>
        <p:nvSpPr>
          <p:cNvPr id="34" name="!!term-consent">
            <a:extLst>
              <a:ext uri="{C183D7F6-B498-43B3-948B-1728B52AA6E4}">
                <adec:decorative xmlns:adec="http://schemas.microsoft.com/office/drawing/2017/decorative" val="1"/>
              </a:ext>
            </a:extLst>
          </p:cNvPr>
          <p:cNvSpPr/>
          <p:nvPr/>
        </p:nvSpPr>
        <p:spPr>
          <a:xfrm>
            <a:off x="7959559" y="2468880"/>
            <a:ext cx="11123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consent">
            <a:extLst>
              <a:ext uri="{C183D7F6-B498-43B3-948B-1728B52AA6E4}">
                <adec:decorative xmlns:adec="http://schemas.microsoft.com/office/drawing/2017/decorative" val="1"/>
              </a:ext>
            </a:extLst>
          </p:cNvPr>
          <p:cNvSpPr/>
          <p:nvPr/>
        </p:nvSpPr>
        <p:spPr>
          <a:xfrm>
            <a:off x="808757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consent"/>
          <p:cNvSpPr txBox="1"/>
          <p:nvPr/>
        </p:nvSpPr>
        <p:spPr>
          <a:xfrm>
            <a:off x="8252167" y="2592324"/>
            <a:ext cx="92951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consent</a:t>
            </a:r>
          </a:p>
        </p:txBody>
      </p:sp>
      <p:sp>
        <p:nvSpPr>
          <p:cNvPr id="37" name="!!term-data minimisat">
            <a:extLst>
              <a:ext uri="{C183D7F6-B498-43B3-948B-1728B52AA6E4}">
                <adec:decorative xmlns:adec="http://schemas.microsoft.com/office/drawing/2017/decorative" val="1"/>
              </a:ext>
            </a:extLst>
          </p:cNvPr>
          <p:cNvSpPr/>
          <p:nvPr/>
        </p:nvSpPr>
        <p:spPr>
          <a:xfrm>
            <a:off x="9218253" y="2468880"/>
            <a:ext cx="19739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data minimisat">
            <a:extLst>
              <a:ext uri="{C183D7F6-B498-43B3-948B-1728B52AA6E4}">
                <adec:decorative xmlns:adec="http://schemas.microsoft.com/office/drawing/2017/decorative" val="1"/>
              </a:ext>
            </a:extLst>
          </p:cNvPr>
          <p:cNvSpPr/>
          <p:nvPr/>
        </p:nvSpPr>
        <p:spPr>
          <a:xfrm>
            <a:off x="934626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data minimisat"/>
          <p:cNvSpPr txBox="1"/>
          <p:nvPr/>
        </p:nvSpPr>
        <p:spPr>
          <a:xfrm>
            <a:off x="9510861" y="2592324"/>
            <a:ext cx="179108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data minimisation</a:t>
            </a:r>
          </a:p>
        </p:txBody>
      </p:sp>
      <p:sp>
        <p:nvSpPr>
          <p:cNvPr id="40" name="!!term-purpose limita">
            <a:extLst>
              <a:ext uri="{C183D7F6-B498-43B3-948B-1728B52AA6E4}">
                <adec:decorative xmlns:adec="http://schemas.microsoft.com/office/drawing/2017/decorative" val="1"/>
              </a:ext>
            </a:extLst>
          </p:cNvPr>
          <p:cNvSpPr/>
          <p:nvPr/>
        </p:nvSpPr>
        <p:spPr>
          <a:xfrm>
            <a:off x="658368" y="3090672"/>
            <a:ext cx="20060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urpose limita">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urpose limita"/>
          <p:cNvSpPr txBox="1"/>
          <p:nvPr/>
        </p:nvSpPr>
        <p:spPr>
          <a:xfrm>
            <a:off x="950976" y="3214116"/>
            <a:ext cx="18231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purpose limitation</a:t>
            </a:r>
          </a:p>
        </p:txBody>
      </p:sp>
      <p:sp>
        <p:nvSpPr>
          <p:cNvPr id="43" name="!!term-anonymisation">
            <a:extLst>
              <a:ext uri="{C183D7F6-B498-43B3-948B-1728B52AA6E4}">
                <adec:decorative xmlns:adec="http://schemas.microsoft.com/office/drawing/2017/decorative" val="1"/>
              </a:ext>
            </a:extLst>
          </p:cNvPr>
          <p:cNvSpPr/>
          <p:nvPr/>
        </p:nvSpPr>
        <p:spPr>
          <a:xfrm>
            <a:off x="2810694" y="3090672"/>
            <a:ext cx="16980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anonymisation">
            <a:extLst>
              <a:ext uri="{C183D7F6-B498-43B3-948B-1728B52AA6E4}">
                <adec:decorative xmlns:adec="http://schemas.microsoft.com/office/drawing/2017/decorative" val="1"/>
              </a:ext>
            </a:extLst>
          </p:cNvPr>
          <p:cNvSpPr/>
          <p:nvPr/>
        </p:nvSpPr>
        <p:spPr>
          <a:xfrm>
            <a:off x="293871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anonymisation"/>
          <p:cNvSpPr txBox="1"/>
          <p:nvPr/>
        </p:nvSpPr>
        <p:spPr>
          <a:xfrm>
            <a:off x="3103302" y="3214116"/>
            <a:ext cx="151516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anonymisation</a:t>
            </a:r>
          </a:p>
        </p:txBody>
      </p:sp>
      <p:sp>
        <p:nvSpPr>
          <p:cNvPr id="46" name="!!term-explainability">
            <a:extLst>
              <a:ext uri="{C183D7F6-B498-43B3-948B-1728B52AA6E4}">
                <adec:decorative xmlns:adec="http://schemas.microsoft.com/office/drawing/2017/decorative" val="1"/>
              </a:ext>
            </a:extLst>
          </p:cNvPr>
          <p:cNvSpPr/>
          <p:nvPr/>
        </p:nvSpPr>
        <p:spPr>
          <a:xfrm>
            <a:off x="4655038" y="3090672"/>
            <a:ext cx="15610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explainability">
            <a:extLst>
              <a:ext uri="{C183D7F6-B498-43B3-948B-1728B52AA6E4}">
                <adec:decorative xmlns:adec="http://schemas.microsoft.com/office/drawing/2017/decorative" val="1"/>
              </a:ext>
            </a:extLst>
          </p:cNvPr>
          <p:cNvSpPr/>
          <p:nvPr/>
        </p:nvSpPr>
        <p:spPr>
          <a:xfrm>
            <a:off x="478305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explainability"/>
          <p:cNvSpPr txBox="1"/>
          <p:nvPr/>
        </p:nvSpPr>
        <p:spPr>
          <a:xfrm>
            <a:off x="4947646" y="3214116"/>
            <a:ext cx="137817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explainability</a:t>
            </a:r>
          </a:p>
        </p:txBody>
      </p:sp>
      <p:sp>
        <p:nvSpPr>
          <p:cNvPr id="49" name="!!term-SHAP">
            <a:extLst>
              <a:ext uri="{C183D7F6-B498-43B3-948B-1728B52AA6E4}">
                <adec:decorative xmlns:adec="http://schemas.microsoft.com/office/drawing/2017/decorative" val="1"/>
              </a:ext>
            </a:extLst>
          </p:cNvPr>
          <p:cNvSpPr/>
          <p:nvPr/>
        </p:nvSpPr>
        <p:spPr>
          <a:xfrm>
            <a:off x="6362395" y="3090672"/>
            <a:ext cx="9141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SHAP">
            <a:extLst>
              <a:ext uri="{C183D7F6-B498-43B3-948B-1728B52AA6E4}">
                <adec:decorative xmlns:adec="http://schemas.microsoft.com/office/drawing/2017/decorative" val="1"/>
              </a:ext>
            </a:extLst>
          </p:cNvPr>
          <p:cNvSpPr/>
          <p:nvPr/>
        </p:nvSpPr>
        <p:spPr>
          <a:xfrm>
            <a:off x="649041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SHAP"/>
          <p:cNvSpPr txBox="1"/>
          <p:nvPr/>
        </p:nvSpPr>
        <p:spPr>
          <a:xfrm>
            <a:off x="6655003" y="3214116"/>
            <a:ext cx="73131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SHAP</a:t>
            </a:r>
          </a:p>
        </p:txBody>
      </p:sp>
      <p:sp>
        <p:nvSpPr>
          <p:cNvPr id="52" name="!!term-LIME">
            <a:extLst>
              <a:ext uri="{C183D7F6-B498-43B3-948B-1728B52AA6E4}">
                <adec:decorative xmlns:adec="http://schemas.microsoft.com/office/drawing/2017/decorative" val="1"/>
              </a:ext>
            </a:extLst>
          </p:cNvPr>
          <p:cNvSpPr/>
          <p:nvPr/>
        </p:nvSpPr>
        <p:spPr>
          <a:xfrm>
            <a:off x="7422893" y="3090672"/>
            <a:ext cx="8549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LIME">
            <a:extLst>
              <a:ext uri="{C183D7F6-B498-43B3-948B-1728B52AA6E4}">
                <adec:decorative xmlns:adec="http://schemas.microsoft.com/office/drawing/2017/decorative" val="1"/>
              </a:ext>
            </a:extLst>
          </p:cNvPr>
          <p:cNvSpPr/>
          <p:nvPr/>
        </p:nvSpPr>
        <p:spPr>
          <a:xfrm>
            <a:off x="755090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LIME"/>
          <p:cNvSpPr txBox="1"/>
          <p:nvPr/>
        </p:nvSpPr>
        <p:spPr>
          <a:xfrm>
            <a:off x="7715501" y="3214116"/>
            <a:ext cx="6720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LIME</a:t>
            </a:r>
          </a:p>
        </p:txBody>
      </p:sp>
      <p:sp>
        <p:nvSpPr>
          <p:cNvPr id="55" name="!!term-model card">
            <a:extLst>
              <a:ext uri="{C183D7F6-B498-43B3-948B-1728B52AA6E4}">
                <adec:decorative xmlns:adec="http://schemas.microsoft.com/office/drawing/2017/decorative" val="1"/>
              </a:ext>
            </a:extLst>
          </p:cNvPr>
          <p:cNvSpPr/>
          <p:nvPr/>
        </p:nvSpPr>
        <p:spPr>
          <a:xfrm>
            <a:off x="8424127" y="3090672"/>
            <a:ext cx="14071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model card">
            <a:extLst>
              <a:ext uri="{C183D7F6-B498-43B3-948B-1728B52AA6E4}">
                <adec:decorative xmlns:adec="http://schemas.microsoft.com/office/drawing/2017/decorative" val="1"/>
              </a:ext>
            </a:extLst>
          </p:cNvPr>
          <p:cNvSpPr/>
          <p:nvPr/>
        </p:nvSpPr>
        <p:spPr>
          <a:xfrm>
            <a:off x="855214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model card"/>
          <p:cNvSpPr txBox="1"/>
          <p:nvPr/>
        </p:nvSpPr>
        <p:spPr>
          <a:xfrm>
            <a:off x="8716735" y="3214116"/>
            <a:ext cx="12242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model card</a:t>
            </a:r>
          </a:p>
        </p:txBody>
      </p:sp>
      <p:sp>
        <p:nvSpPr>
          <p:cNvPr id="58"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014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183–189     </a:t>
            </a:r>
            <a:fld id="{39828464-A8E5-4B1D-BF17-53417C5DA47F}" type="slidenum">
              <a:rPr lang="en-GB" sz="1000">
                <a:solidFill>
                  <a:srgbClr val="8795A1"/>
                </a:solidFill>
                <a:latin typeface="Segoe UI"/>
              </a:rPr>
              <a:t>5</a:t>
            </a:fld>
          </a:p>
        </p:txBody>
      </p:sp>
      <p:sp>
        <p:nvSpPr>
          <p:cNvPr id="7" name="!!ag0" descr="Go to section 28.1 Why This Chapter Is Not Optional">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28.1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This Chapter Is Not Optional</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183  ›</a:t>
            </a:r>
          </a:p>
        </p:txBody>
      </p:sp>
      <p:sp>
        <p:nvSpPr>
          <p:cNvPr id="12" name="!!ag1" descr="Go to section 28.2 Where Bias Enter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28.2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Bias Enters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183  ›</a:t>
            </a:r>
          </a:p>
        </p:txBody>
      </p:sp>
      <p:sp>
        <p:nvSpPr>
          <p:cNvPr id="17" name="!!ag2" descr="Go to section 28.3 Fairness Metrics — and Why You Cannot Have Them All">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28.3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Fairness Metrics — and Why You Cannot Have Them All</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184  ›</a:t>
            </a:r>
          </a:p>
        </p:txBody>
      </p:sp>
      <p:sp>
        <p:nvSpPr>
          <p:cNvPr id="22" name="!!ag3" descr="Go to section 28.4 Privacy and Data Protection">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28.4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Privacy and Data Protection</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185  ›</a:t>
            </a:r>
          </a:p>
        </p:txBody>
      </p:sp>
      <p:sp>
        <p:nvSpPr>
          <p:cNvPr id="27" name="!!ag4" descr="Go to section 28.5 Explainability">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28.5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Explainability</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186  ›</a:t>
            </a:r>
          </a:p>
        </p:txBody>
      </p:sp>
      <p:sp>
        <p:nvSpPr>
          <p:cNvPr id="32" name="!!ag5" descr="Go to section 28.6 An Ethical Review You Can Actually Run">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28.6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An Ethical Review You Can Actually Run</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187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3251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Position This Chapter Takes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§28.1  ·  Handout p. 183     </a:t>
            </a:r>
            <a:fld id="{23EFBD41-AE60-40D8-A5BA-3E44B1E8CC88}"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Everything in this book so far optimises a number. This chapter is about the questions that number cannot answer: whether the system should exist, who it affects, who can contest it, and what happens when it is wrong about a particular person. A technically excellent system that fails these questions is a failed system — and increasingly, an unlawful one.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5902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Five stages at which bias enters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28.1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§28.2  ·  Handout p. 183     </a:t>
            </a:r>
            <a:fld id="{9CE39F77-3EA6-4D74-BFB6-3195FA478A16}" type="slidenum">
              <a:rPr lang="en-GB" sz="1000">
                <a:solidFill>
                  <a:srgbClr val="8795A1"/>
                </a:solidFill>
                <a:latin typeface="Segoe UI"/>
              </a:rPr>
              <a:t>7</a:t>
            </a:fld>
          </a:p>
        </p:txBody>
      </p:sp>
      <p:pic>
        <p:nvPicPr>
          <p:cNvPr id="6" name="!!figure" descr="Figure 28.1. Five stages at which bias enters. Only stage 4 is a modelling problem; the other four are design, data and deployment problems, which is why fairness cannot be fixed by choosing a different algorith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4221" y="1737360"/>
            <a:ext cx="10603251"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Only stage 4 is a modelling problem; the other four are design, data and deployment problems, which is why fairness cannot be fixed by choosing a different algorithm.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5525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Fairness Metrics — and Why You Cannot Have Them All</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28.3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28.1   Why This Chapter Is Not Optional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28.2   Where Bias Enters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28.3   Fairness Metrics — and Why You Cannot Have Them All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28.4   Privacy and Data Protection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28.5   Explainability</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28.6   An Ethical Review You Can Actually Run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§28.3     </a:t>
            </a:r>
            <a:fld id="{CD3A5839-6E70-43D7-BCE8-CF8B38EA90E9}" type="slidenum">
              <a:rPr lang="en-GB" sz="1000">
                <a:solidFill>
                  <a:srgbClr val="8795A1"/>
                </a:solidFill>
                <a:latin typeface="Segoe UI"/>
              </a:rPr>
              <a:t>8</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1202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Common Fairness Criteria</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§28.3  ·  Handout p. 184     </a:t>
            </a:r>
            <a:fld id="{F17B1D11-F2B0-4CB1-8CF5-4D3041549C42}"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30346"/>
          </a:xfrm>
          <a:prstGeom prst="roundRect">
            <a:avLst>
              <a:gd name="adj" fmla="val 292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3034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Demographic parity</a:t>
            </a:r>
            <a:r>
              <a:rPr sz="2300" b="0" i="0">
                <a:solidFill>
                  <a:srgbClr val="1C252B"/>
                </a:solidFill>
                <a:latin typeface="Segoe UI"/>
              </a:rPr>
              <a:t>: the flag rate is equal across groups,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ŷ</a:t>
            </a:r>
            <a:r>
              <a:rPr sz="2300" b="0" i="0">
                <a:solidFill>
                  <a:srgbClr val="1C252B"/>
                </a:solidFill>
                <a:latin typeface="Cambria"/>
              </a:rPr>
              <a:t>=1 ∣ </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equal for all </a:t>
            </a:r>
            <a:r>
              <a:rPr sz="2300" b="0" i="1">
                <a:solidFill>
                  <a:srgbClr val="1C252B"/>
                </a:solidFill>
                <a:latin typeface="Cambria"/>
              </a:rPr>
              <a:t>a</a:t>
            </a:r>
            <a:r>
              <a:rPr sz="2300" b="0" i="0">
                <a:solidFill>
                  <a:srgbClr val="1C252B"/>
                </a:solidFill>
                <a:latin typeface="Segoe UI"/>
              </a:rPr>
              <a:t>.</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Equal opportunity</a:t>
            </a:r>
            <a:r>
              <a:rPr sz="2300" b="0" i="0">
                <a:solidFill>
                  <a:srgbClr val="1C252B"/>
                </a:solidFill>
                <a:latin typeface="Segoe UI"/>
              </a:rPr>
              <a:t>: recall is equal across groups,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ŷ</a:t>
            </a:r>
            <a:r>
              <a:rPr sz="2300" b="0" i="0">
                <a:solidFill>
                  <a:srgbClr val="1C252B"/>
                </a:solidFill>
                <a:latin typeface="Cambria"/>
              </a:rPr>
              <a:t>=1 ∣ </a:t>
            </a:r>
            <a:r>
              <a:rPr sz="2300" b="0" i="1">
                <a:solidFill>
                  <a:srgbClr val="1C252B"/>
                </a:solidFill>
                <a:latin typeface="Cambria"/>
              </a:rPr>
              <a:t>y</a:t>
            </a:r>
            <a:r>
              <a:rPr sz="2300" b="0" i="0">
                <a:solidFill>
                  <a:srgbClr val="1C252B"/>
                </a:solidFill>
                <a:latin typeface="Cambria"/>
              </a:rPr>
              <a:t>=1, </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equal for all </a:t>
            </a:r>
            <a:r>
              <a:rPr sz="2300" b="0" i="1">
                <a:solidFill>
                  <a:srgbClr val="1C252B"/>
                </a:solidFill>
                <a:latin typeface="Cambria"/>
              </a:rPr>
              <a:t>a</a:t>
            </a:r>
            <a:r>
              <a:rPr sz="2300" b="0" i="0">
                <a:solidFill>
                  <a:srgbClr val="1C252B"/>
                </a:solidFill>
                <a:latin typeface="Segoe UI"/>
              </a:rPr>
              <a:t>.</a:t>
            </a:r>
          </a:p>
        </p:txBody>
      </p:sp>
      <p:sp>
        <p:nvSpPr>
          <p:cNvPr id="11" name="body-2"/>
          <p:cNvSpPr txBox="1"/>
          <p:nvPr/>
        </p:nvSpPr>
        <p:spPr>
          <a:xfrm>
            <a:off x="1060704" y="3827729"/>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Calibration</a:t>
            </a:r>
            <a:r>
              <a:rPr sz="2300" b="0" i="0">
                <a:solidFill>
                  <a:srgbClr val="1C252B"/>
                </a:solidFill>
                <a:latin typeface="Segoe UI"/>
              </a:rPr>
              <a:t>: a score of 0.7 means the same thing in every group,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y</a:t>
            </a:r>
            <a:r>
              <a:rPr sz="2300" b="0" i="0">
                <a:solidFill>
                  <a:srgbClr val="1C252B"/>
                </a:solidFill>
                <a:latin typeface="Cambria"/>
              </a:rPr>
              <a:t>=1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equal for all </a:t>
            </a:r>
            <a:r>
              <a:rPr sz="2300" b="0" i="1">
                <a:solidFill>
                  <a:srgbClr val="1C252B"/>
                </a:solidFill>
                <a:latin typeface="Cambria"/>
              </a:rPr>
              <a:t>a</a:t>
            </a:r>
            <a:r>
              <a:rPr sz="23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38533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Impossibility Result, in Numbers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§28.3  ·  Handout p. 184     </a:t>
            </a:r>
            <a:fld id="{CB03C4B2-0D05-40AF-AD9A-1B4D60FCA713}"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60493"/>
          </a:xfrm>
          <a:prstGeom prst="roundRect">
            <a:avLst>
              <a:gd name="adj" fmla="val 200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6049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dropout model is evaluated on two groups. Group A has a genuine base rate of 20%; group B, for reasons of prior disadvantage entirely outside the model, has 40%.</a:t>
            </a:r>
          </a:p>
        </p:txBody>
      </p:sp>
      <p:sp>
        <p:nvSpPr>
          <p:cNvPr id="10" name="body-1"/>
          <p:cNvSpPr txBox="1"/>
          <p:nvPr/>
        </p:nvSpPr>
        <p:spPr>
          <a:xfrm>
            <a:off x="1042416" y="2746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Suppose the model is well calibrated</a:t>
            </a:r>
            <a:r>
              <a:rPr sz="1900" b="0" i="0">
                <a:solidFill>
                  <a:srgbClr val="1C252B"/>
                </a:solidFill>
                <a:latin typeface="Segoe UI"/>
              </a:rPr>
              <a:t> in both groups — a score of 0.6 means a 60% chance of failing, whoever you are. This is usually considered the minimum requirement for a score to be honest.</a:t>
            </a:r>
          </a:p>
        </p:txBody>
      </p:sp>
      <p:sp>
        <p:nvSpPr>
          <p:cNvPr id="11" name="body-2"/>
          <p:cNvSpPr txBox="1"/>
          <p:nvPr/>
        </p:nvSpPr>
        <p:spPr>
          <a:xfrm>
            <a:off x="1042416" y="3782821"/>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Then flag rates cannot be equal.</a:t>
            </a:r>
            <a:r>
              <a:rPr sz="1900" b="0" i="0">
                <a:solidFill>
                  <a:srgbClr val="1C252B"/>
                </a:solidFill>
                <a:latin typeface="Segoe UI"/>
              </a:rPr>
              <a:t> Group B contains twice as many genuine cases, so any calibrated model flags roughly twice as many of them. Demographic parity is violated by construction.</a:t>
            </a:r>
          </a:p>
        </p:txBody>
      </p:sp>
      <p:sp>
        <p:nvSpPr>
          <p:cNvPr id="12" name="body-3"/>
          <p:cNvSpPr txBox="1"/>
          <p:nvPr/>
        </p:nvSpPr>
        <p:spPr>
          <a:xfrm>
            <a:off x="1042416" y="4818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Force demographic parity instead</a:t>
            </a:r>
            <a:r>
              <a:rPr sz="1900" b="0" i="0">
                <a:solidFill>
                  <a:srgbClr val="1C252B"/>
                </a:solidFill>
                <a:latin typeface="Segoe UI"/>
              </a:rPr>
              <a:t> — flag 25% of each group. Now you must use a lower threshold for A and a higher one for B. In group B, students at genuine risk are left unflagged so the quota can be met; in group A, students who are fine are flagged. The score no longer means the same thing in each group, so calibration is broken.</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6503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Impossibility Result, in Numbers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§28.3  ·  Handout p. 184     </a:t>
            </a:r>
            <a:fld id="{0DF9DC11-5B63-4CDF-A83E-4A8C35B23B8C}"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494"/>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This is not a defect of your model.</a:t>
            </a:r>
            <a:r>
              <a:rPr sz="1900" b="0" i="0">
                <a:solidFill>
                  <a:srgbClr val="1C252B"/>
                </a:solidFill>
                <a:latin typeface="Segoe UI"/>
              </a:rPr>
              <a:t> It is a theorem: when base rates differ between groups, calibration and equal error rates cannot both hold, except in the degenerate case of a perfect classifier. You must </a:t>
            </a:r>
            <a:r>
              <a:rPr sz="1900" b="0" i="1">
                <a:solidFill>
                  <a:srgbClr val="1C252B"/>
                </a:solidFill>
                <a:latin typeface="Segoe UI"/>
              </a:rPr>
              <a:t>choose</a:t>
            </a:r>
            <a:r>
              <a:rPr sz="1900" b="0" i="0">
                <a:solidFill>
                  <a:srgbClr val="1C252B"/>
                </a:solidFill>
                <a:latin typeface="Segoe UI"/>
              </a:rPr>
              <a:t> which fairness criterion your context demands, state the choice explicitly, and justify it — and no amount of technical work will let you avoid the choice.</a:t>
            </a:r>
          </a:p>
        </p:txBody>
      </p:sp>
      <p:sp>
        <p:nvSpPr>
          <p:cNvPr id="10" name="body-1"/>
          <p:cNvSpPr txBox="1"/>
          <p:nvPr/>
        </p:nvSpPr>
        <p:spPr>
          <a:xfrm>
            <a:off x="1042416" y="3348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How to choose here.</a:t>
            </a:r>
            <a:r>
              <a:rPr sz="1900" b="0" i="0">
                <a:solidFill>
                  <a:srgbClr val="1C252B"/>
                </a:solidFill>
                <a:latin typeface="Segoe UI"/>
              </a:rPr>
              <a:t> The intervention is supportive (a phone call offering help), not punitive, and capacity is limited. Equal opportunity is the defensible target: a student at genuine risk should have the same chance of being offered help regardless of group. That is a value judgement, made by the institution, recorded in writing — not a hyperparameter.</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91540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model under three fairness criteria</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28.2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§28.3  ·  Handout p. 184     </a:t>
            </a:r>
            <a:fld id="{5CB13DB8-87DB-4D17-AC78-3831DA25C10B}" type="slidenum">
              <a:rPr lang="en-GB" sz="1000">
                <a:solidFill>
                  <a:srgbClr val="8795A1"/>
                </a:solidFill>
                <a:latin typeface="Segoe UI"/>
              </a:rPr>
              <a:t>12</a:t>
            </a:fld>
          </a:p>
        </p:txBody>
      </p:sp>
      <p:pic>
        <p:nvPicPr>
          <p:cNvPr id="6" name="!!figure" descr="Figure 28.2. The same model under three fairness criteria. Each panel is defensible in some context and indefensible in others. The professional obligation is to choose deliberately and say so, not to achieve all thre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23708"/>
            <a:ext cx="10874959" cy="324708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panel is defensible in some context and indefensible in others. The professional obligation is to choose deliberately and say so, not to achieve all three.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1804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Privacy and Data Protection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28.4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28.1   Why This Chapter Is Not Optional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28.2   Where Bias Enters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28.3   Fairness Metrics — and Why You Cannot Have Them All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28.4   Privacy and Data Protection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28.5   Explainability</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28.6   An Ethical Review You Can Actually Run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§28.4     </a:t>
            </a:r>
            <a:fld id="{537B4231-5888-4FDE-AEA3-5C0235EB5325}" type="slidenum">
              <a:rPr lang="en-GB" sz="1000">
                <a:solidFill>
                  <a:srgbClr val="8795A1"/>
                </a:solidFill>
                <a:latin typeface="Segoe UI"/>
              </a:rPr>
              <a:t>13</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44547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Privacy and Data Protection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§28.4  ·  Handout p. 185     </a:t>
            </a:r>
            <a:fld id="{6550C5E8-71A9-45AB-B392-ECD987FD2570}" type="slidenum">
              <a:rPr lang="en-GB" sz="1000">
                <a:solidFill>
                  <a:srgbClr val="8795A1"/>
                </a:solidFill>
                <a:latin typeface="Segoe UI"/>
              </a:rPr>
              <a:t>14</a:t>
            </a:fld>
          </a:p>
        </p:txBody>
      </p:sp>
      <p:graphicFrame>
        <p:nvGraphicFramePr>
          <p:cNvPr id="7" name="!!table"/>
          <p:cNvGraphicFramePr>
            <a:graphicFrameLocks noGrp="1"/>
          </p:cNvGraphicFramePr>
          <p:nvPr/>
        </p:nvGraphicFramePr>
        <p:xfrm>
          <a:off x="658368" y="1737360"/>
          <a:ext cx="10874958" cy="4288536"/>
        </p:xfrm>
        <a:graphic>
          <a:graphicData uri="http://schemas.openxmlformats.org/drawingml/2006/table">
            <a:tbl>
              <a:tblPr firstRow="0" bandRow="0" firstCol="0" lastRow="0" lastCol="0" bandCol="0">
                <a:tableStyleId>{2D5ABB26-0587-4C30-8999-92F81FD0307C}</a:tableStyleId>
              </a:tblPr>
              <a:tblGrid>
                <a:gridCol w="2450695"/>
                <a:gridCol w="3676042"/>
                <a:gridCol w="4748221"/>
              </a:tblGrid>
              <a:tr h="374904">
                <a:tc>
                  <a:txBody>
                    <a:bodyPr wrap="square"/>
                    <a:lstStyle/>
                    <a:p>
                      <a:pPr algn="l"/>
                      <a:r>
                        <a:rPr sz="1500" b="1" i="0">
                          <a:solidFill>
                            <a:srgbClr val="1A5276"/>
                          </a:solidFill>
                          <a:latin typeface="Segoe UI"/>
                        </a:rPr>
                        <a:t>Principle</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Means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In practice, for your project</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03504">
                <a:tc>
                  <a:txBody>
                    <a:bodyPr wrap="square"/>
                    <a:lstStyle/>
                    <a:p>
                      <a:pPr algn="l"/>
                      <a:r>
                        <a:rPr sz="1500" b="0" i="0">
                          <a:solidFill>
                            <a:srgbClr val="1C252B"/>
                          </a:solidFill>
                          <a:latin typeface="Segoe UI"/>
                        </a:rPr>
                        <a:t>Lawful basis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You need a legal reason to process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Identify it before collection, not after the model works</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Purpose limitation</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Use it only for the stated purpose</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Attendance collected for registers may not be repurposed for risk scoring without a new basis</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Data minimisation</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Collect only what you need</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Every extra field is liability. Justify each one</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Accuracy</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Keep it correct and current</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Stale data produces wrong decisions about real people</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Storage limitation</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Delete when no longer needed</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Set retention at creation; nobody deletes later</a:t>
                      </a:r>
                      <a:endParaRPr sz="1500"/>
                    </a:p>
                  </a:txBody>
                  <a:tcPr marL="109728" marR="109728" marT="64008" marB="45720" anchor="t">
                    <a:lnL w="0" cmpd="sng">
                      <a:noFill/>
                    </a:lnL>
                    <a:lnR w="0" cmpd="sng">
                      <a:noFill/>
                    </a:lnR>
                    <a:lnT w="9525" cmpd="sng">
                      <a:noFill/>
                    </a:lnT>
                    <a:lnB w="9525" cmpd="sng">
                      <a:noFill/>
                    </a:lnB>
                    <a:solidFill>
                      <a:srgbClr val="FFFFFF"/>
                    </a:solidFill>
                  </a:tcPr>
                </a:tc>
              </a:tr>
              <a:tr h="374904">
                <a:tc>
                  <a:txBody>
                    <a:bodyPr wrap="square"/>
                    <a:lstStyle/>
                    <a:p>
                      <a:pPr algn="l"/>
                      <a:r>
                        <a:rPr sz="1500" b="0" i="0">
                          <a:solidFill>
                            <a:srgbClr val="1C252B"/>
                          </a:solidFill>
                          <a:latin typeface="Segoe UI"/>
                        </a:rPr>
                        <a:t>Security</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Protect it appropriately</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Encryption, access control, audit logs (Chapter 26)</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Accountability</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Be able to demonstrate compliance</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Documentation, lineage (Chapter 23), model cards</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Rights of the individual</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Access, rectification, objection, explanation</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You must be able to say why </a:t>
                      </a:r>
                      <a:r>
                        <a:rPr sz="1500" b="0" i="1">
                          <a:solidFill>
                            <a:srgbClr val="1C252B"/>
                          </a:solidFill>
                          <a:latin typeface="Segoe UI"/>
                        </a:rPr>
                        <a:t>this person</a:t>
                      </a:r>
                      <a:r>
                        <a:rPr sz="1500" b="0" i="0">
                          <a:solidFill>
                            <a:srgbClr val="1C252B"/>
                          </a:solidFill>
                          <a:latin typeface="Segoe UI"/>
                        </a:rPr>
                        <a:t> was scored as they were</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71051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Law Stands — as of October 2026</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§28.4  ·  Handout p. 185     </a:t>
            </a:r>
            <a:fld id="{17DEB370-1703-4201-A835-E7A5562C6FB2}"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287475"/>
          </a:xfrm>
          <a:prstGeom prst="roundRect">
            <a:avLst>
              <a:gd name="adj" fmla="val 710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28747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Principles outlast statutes, which is why this chapter is organised around them. But you will be asked in interviews what the rules actually are, so:</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9755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Law Stands — as of October 2026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§28.4  ·  Handout p. 185     </a:t>
            </a:r>
            <a:fld id="{3515F8B9-9908-4D69-9DCC-F2A9C6E76874}"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50207"/>
          </a:xfrm>
          <a:prstGeom prst="roundRect">
            <a:avLst>
              <a:gd name="adj" fmla="val 231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50207"/>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374135"/>
          </a:xfrm>
          <a:prstGeom prst="rect">
            <a:avLst/>
          </a:prstGeom>
          <a:noFill/>
        </p:spPr>
        <p:txBody>
          <a:bodyPr wrap="square" anchor="t" lIns="0" rIns="0" tIns="0" bIns="0">
            <a:noAutofit/>
          </a:bodyPr>
          <a:lstStyle/>
          <a:p>
            <a:pPr algn="l" marL="234813" indent="-234813">
              <a:lnSpc>
                <a:spcPct val="104000"/>
              </a:lnSpc>
              <a:spcBef>
                <a:spcPts val="0"/>
              </a:spcBef>
              <a:spcAft>
                <a:spcPts val="0"/>
              </a:spcAft>
            </a:pPr>
            <a:r>
              <a:rPr sz="2100" b="1">
                <a:solidFill>
                  <a:srgbClr val="1F618D"/>
                </a:solidFill>
                <a:latin typeface="Segoe UI"/>
              </a:rPr>
              <a:t>•	</a:t>
            </a:r>
            <a:r>
              <a:rPr sz="2100" b="1" i="0">
                <a:solidFill>
                  <a:srgbClr val="1F618D"/>
                </a:solidFill>
                <a:latin typeface="Segoe UI"/>
              </a:rPr>
              <a:t>EU AI Act.</a:t>
            </a:r>
            <a:r>
              <a:rPr sz="2100" b="0" i="0">
                <a:solidFill>
                  <a:srgbClr val="1C252B"/>
                </a:solidFill>
                <a:latin typeface="Segoe UI"/>
              </a:rPr>
              <a:t> The ban on unacceptable-risk uses and the obligations on general-purpose models are already in force. From </a:t>
            </a:r>
            <a:r>
              <a:rPr sz="2100" b="1" i="0">
                <a:solidFill>
                  <a:srgbClr val="1C252B"/>
                </a:solidFill>
                <a:latin typeface="Segoe UI"/>
              </a:rPr>
              <a:t>2 August 2026</a:t>
            </a:r>
            <a:r>
              <a:rPr sz="2100" b="0" i="0">
                <a:solidFill>
                  <a:srgbClr val="1C252B"/>
                </a:solidFill>
                <a:latin typeface="Segoe UI"/>
              </a:rPr>
              <a:t> the Article 50 transparency duties apply: tell people they are talking to an AI, label deepfakes, and mark synthetic content — with until 2 December 2026 for systems already on the market. The </a:t>
            </a:r>
            <a:r>
              <a:rPr sz="2100" b="0" i="1">
                <a:solidFill>
                  <a:srgbClr val="1C252B"/>
                </a:solidFill>
                <a:latin typeface="Segoe UI"/>
              </a:rPr>
              <a:t>high-risk</a:t>
            </a:r>
            <a:r>
              <a:rPr sz="2100" b="0" i="0">
                <a:solidFill>
                  <a:srgbClr val="1C252B"/>
                </a:solidFill>
                <a:latin typeface="Segoe UI"/>
              </a:rPr>
              <a:t> duties, which are the ones that would bite on a student-risk model, were deferred by the Digital Omnibus (Regulation (EU) 2026/1744) from August 2026 to </a:t>
            </a:r>
            <a:r>
              <a:rPr sz="2100" b="1" i="0">
                <a:solidFill>
                  <a:srgbClr val="1C252B"/>
                </a:solidFill>
                <a:latin typeface="Segoe UI"/>
              </a:rPr>
              <a:t>2 December 2027</a:t>
            </a:r>
            <a:r>
              <a:rPr sz="2100" b="0" i="0">
                <a:solidFill>
                  <a:srgbClr val="1C252B"/>
                </a:solidFill>
                <a:latin typeface="Segoe UI"/>
              </a:rPr>
              <a:t> for stand-alone systems, and to August 2028 for AI embedded in regulated products. The delay was granted because standards and national authorities were not ready — not because the requirements were withdrawn.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4058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Law Stands — as of October 2026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§28.4  ·  Handout p. 185     </a:t>
            </a:r>
            <a:fld id="{E50FD77C-2F80-4F6E-B6ED-32F599FF16F8}"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77869"/>
          </a:xfrm>
          <a:prstGeom prst="roundRect">
            <a:avLst>
              <a:gd name="adj" fmla="val 2707"/>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7786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801797"/>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1F618D"/>
                </a:solidFill>
                <a:latin typeface="Segoe UI"/>
              </a:rPr>
              <a:t>•	</a:t>
            </a:r>
            <a:r>
              <a:rPr sz="2100" b="1" i="0">
                <a:solidFill>
                  <a:srgbClr val="1F618D"/>
                </a:solidFill>
                <a:latin typeface="Segoe UI"/>
              </a:rPr>
              <a:t>Pakistan.</a:t>
            </a:r>
            <a:r>
              <a:rPr sz="2100" b="0" i="0">
                <a:solidFill>
                  <a:srgbClr val="1C252B"/>
                </a:solidFill>
                <a:latin typeface="Segoe UI"/>
              </a:rPr>
              <a:t> The </a:t>
            </a:r>
            <a:r>
              <a:rPr sz="2100" b="0" i="1">
                <a:solidFill>
                  <a:srgbClr val="1C252B"/>
                </a:solidFill>
                <a:latin typeface="Segoe UI"/>
              </a:rPr>
              <a:t>National AI Policy</a:t>
            </a:r>
            <a:r>
              <a:rPr sz="2100" b="0" i="0">
                <a:solidFill>
                  <a:srgbClr val="1C252B"/>
                </a:solidFill>
                <a:latin typeface="Segoe UI"/>
              </a:rPr>
              <a:t> was approved in July 2025; a comprehensive Personal Data Protection Act is still pending, with a draft Data Governance Policy issued for consultation in 2026. So for a project here, the binding constraints are usually your institution’s own policy, contractual terms, and the GDPR when any EU data subject is involved — not a domestic statute.</a:t>
            </a:r>
          </a:p>
          <a:p>
            <a:pPr algn="l" marL="234813" indent="-234813">
              <a:lnSpc>
                <a:spcPct val="104000"/>
              </a:lnSpc>
              <a:spcBef>
                <a:spcPts val="0"/>
              </a:spcBef>
              <a:spcAft>
                <a:spcPts val="0"/>
              </a:spcAft>
            </a:pPr>
            <a:r>
              <a:rPr sz="2100" b="1">
                <a:solidFill>
                  <a:srgbClr val="1F618D"/>
                </a:solidFill>
                <a:latin typeface="Segoe UI"/>
              </a:rPr>
              <a:t>•	</a:t>
            </a:r>
            <a:r>
              <a:rPr sz="2100" b="1" i="0">
                <a:solidFill>
                  <a:srgbClr val="1F618D"/>
                </a:solidFill>
                <a:latin typeface="Segoe UI"/>
              </a:rPr>
              <a:t>Voluntary frameworks</a:t>
            </a:r>
            <a:r>
              <a:rPr sz="2100" b="0" i="0">
                <a:solidFill>
                  <a:srgbClr val="1C252B"/>
                </a:solidFill>
                <a:latin typeface="Segoe UI"/>
              </a:rPr>
              <a:t> fill the gap and are what auditors ask for: the </a:t>
            </a:r>
            <a:r>
              <a:rPr sz="2100" b="1" i="0">
                <a:solidFill>
                  <a:srgbClr val="1C252B"/>
                </a:solidFill>
                <a:latin typeface="Segoe UI"/>
              </a:rPr>
              <a:t>NIST AI Risk Management Framework</a:t>
            </a:r>
            <a:r>
              <a:rPr sz="2100" b="0" i="0">
                <a:solidFill>
                  <a:srgbClr val="1C252B"/>
                </a:solidFill>
                <a:latin typeface="Segoe UI"/>
              </a:rPr>
              <a:t> and </a:t>
            </a:r>
            <a:r>
              <a:rPr sz="2100" b="1" i="0">
                <a:solidFill>
                  <a:srgbClr val="1C252B"/>
                </a:solidFill>
                <a:latin typeface="Segoe UI"/>
              </a:rPr>
              <a:t>ISO/IEC 42001</a:t>
            </a:r>
            <a:r>
              <a:rPr sz="2100" b="0" i="0">
                <a:solidFill>
                  <a:srgbClr val="1C252B"/>
                </a:solidFill>
                <a:latin typeface="Segoe UI"/>
              </a:rPr>
              <a:t>, the management-system standard for AI. Both are organised around the same questions as Figure 28.3.</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5056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Law Stands — as of October 2026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§28.4  ·  Handout p. 185     </a:t>
            </a:r>
            <a:fld id="{42B5E739-FB37-4B3B-8569-DEC510AE2A85}"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953158"/>
          </a:xfrm>
          <a:prstGeom prst="roundRect">
            <a:avLst>
              <a:gd name="adj" fmla="val 468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95315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The practical reading:</a:t>
            </a:r>
            <a:r>
              <a:rPr sz="2100" b="0" i="0">
                <a:solidFill>
                  <a:srgbClr val="1C252B"/>
                </a:solidFill>
                <a:latin typeface="Segoe UI"/>
              </a:rPr>
              <a:t> do not wait for a law to require the review in this chapter. Every dated obligation above is a floor, it arrives later than the systems it governs, and “it was not illegal yet” has never been a defence a university or an employer accepted.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77066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Anonymisation Is Harder Than It Looks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§28.4  ·  Handout p. 185     </a:t>
            </a:r>
            <a:fld id="{D2CF8001-A1ED-4250-B0A0-7BFB88F7C363}"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Removing names is </a:t>
            </a:r>
            <a:r>
              <a:rPr sz="2300" b="0" i="1">
                <a:solidFill>
                  <a:srgbClr val="1C252B"/>
                </a:solidFill>
                <a:latin typeface="Segoe UI"/>
              </a:rPr>
              <a:t>pseudonymisation</a:t>
            </a:r>
            <a:r>
              <a:rPr sz="2300" b="0" i="0">
                <a:solidFill>
                  <a:srgbClr val="1C252B"/>
                </a:solidFill>
                <a:latin typeface="Segoe UI"/>
              </a:rPr>
              <a:t>, not anonymisation. A combination of postcode, date of birth and gender identifies most individuals uniquely; a single student’s timetable plus a few timestamps identifies them in any campus dataset. Assume re-identification is possible unless you have specifically tested otherwise, and treat pseudonymised data as personal data — because legally, it usually is.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03570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Explainability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28.5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28.1   Why This Chapter Is Not Optional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28.2   Where Bias Enters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28.3   Fairness Metrics — and Why You Cannot Have Them All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28.4   Privacy and Data Protection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28.5   Explainability</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28.6   An Ethical Review You Can Actually Run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§28.5     </a:t>
            </a:r>
            <a:fld id="{80822822-ED65-4A8F-93A9-E5600DAF0AE0}" type="slidenum">
              <a:rPr lang="en-GB" sz="1000">
                <a:solidFill>
                  <a:srgbClr val="8795A1"/>
                </a:solidFill>
                <a:latin typeface="Segoe UI"/>
              </a:rPr>
              <a:t>20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30073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Explainability</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§28.5  ·  Handout p. 186     </a:t>
            </a:r>
            <a:fld id="{057AE65D-6A3B-4007-A057-8C676F5FF341}" type="slidenum">
              <a:rPr lang="en-GB" sz="1000">
                <a:solidFill>
                  <a:srgbClr val="8795A1"/>
                </a:solidFill>
                <a:latin typeface="Segoe UI"/>
              </a:rPr>
              <a:t>21</a:t>
            </a:fld>
          </a:p>
        </p:txBody>
      </p:sp>
      <p:graphicFrame>
        <p:nvGraphicFramePr>
          <p:cNvPr id="7" name="!!table"/>
          <p:cNvGraphicFramePr>
            <a:graphicFrameLocks noGrp="1"/>
          </p:cNvGraphicFramePr>
          <p:nvPr/>
        </p:nvGraphicFramePr>
        <p:xfrm>
          <a:off x="658368" y="1737360"/>
          <a:ext cx="10874958" cy="3995928"/>
        </p:xfrm>
        <a:graphic>
          <a:graphicData uri="http://schemas.openxmlformats.org/drawingml/2006/table">
            <a:tbl>
              <a:tblPr firstRow="0" bandRow="0" firstCol="0" lastRow="0" lastCol="0" bandCol="0">
                <a:tableStyleId>{2D5ABB26-0587-4C30-8999-92F81FD0307C}</a:tableStyleId>
              </a:tblPr>
              <a:tblGrid>
                <a:gridCol w="2297526"/>
                <a:gridCol w="3522874"/>
                <a:gridCol w="5054558"/>
              </a:tblGrid>
              <a:tr h="374904">
                <a:tc>
                  <a:txBody>
                    <a:bodyPr wrap="square"/>
                    <a:lstStyle/>
                    <a:p>
                      <a:pPr algn="l"/>
                      <a:r>
                        <a:rPr sz="1500" b="1" i="0">
                          <a:solidFill>
                            <a:srgbClr val="1A5276"/>
                          </a:solidFill>
                          <a:latin typeface="Segoe UI"/>
                        </a:rPr>
                        <a:t>Technique</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Gives you</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Use when</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03504">
                <a:tc>
                  <a:txBody>
                    <a:bodyPr wrap="square"/>
                    <a:lstStyle/>
                    <a:p>
                      <a:pPr algn="l"/>
                      <a:r>
                        <a:rPr sz="1500" b="0" i="0">
                          <a:solidFill>
                            <a:srgbClr val="1C252B"/>
                          </a:solidFill>
                          <a:latin typeface="Segoe UI"/>
                        </a:rPr>
                        <a:t>Use a simple model</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Global, exact, free</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The stakes are high and a small accuracy loss is acceptable — often the right answer</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Coefficients / odds ratios</a:t>
                      </a:r>
                      <a:endParaRPr sz="15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500" b="0" i="0">
                          <a:solidFill>
                            <a:srgbClr val="1C252B"/>
                          </a:solidFill>
                          <a:latin typeface="Segoe UI"/>
                        </a:rPr>
                        <a:t>Global, exact</a:t>
                      </a:r>
                      <a:endParaRPr sz="15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500" b="0" i="0">
                          <a:solidFill>
                            <a:srgbClr val="1C252B"/>
                          </a:solidFill>
                          <a:latin typeface="Segoe UI"/>
                        </a:rPr>
                        <a:t>Linear or logistic models (Chapter 13)</a:t>
                      </a:r>
                      <a:endParaRPr sz="1500"/>
                    </a:p>
                  </a:txBody>
                  <a:tcPr marL="109728" marR="109728" marT="64008" marB="45720" anchor="t">
                    <a:lnL w="0" cmpd="sng">
                      <a:noFill/>
                    </a:lnL>
                    <a:lnR w="0" cmpd="sng">
                      <a:noFill/>
                    </a:lnR>
                    <a:lnT w="9525" cmpd="sng">
                      <a:noFill/>
                    </a:lnT>
                    <a:lnB w="9525" cmpd="sng">
                      <a:noFill/>
                    </a:lnB>
                    <a:solidFill>
                      <a:srgbClr val="FEF7F1"/>
                    </a:solidFill>
                  </a:tcPr>
                </a:tc>
              </a:tr>
              <a:tr h="603504">
                <a:tc>
                  <a:txBody>
                    <a:bodyPr wrap="square"/>
                    <a:lstStyle/>
                    <a:p>
                      <a:pPr algn="l"/>
                      <a:r>
                        <a:rPr sz="1500" b="0" i="0">
                          <a:solidFill>
                            <a:srgbClr val="1C252B"/>
                          </a:solidFill>
                          <a:latin typeface="Segoe UI"/>
                        </a:rPr>
                        <a:t>Permutation importance</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Global, model-agnostic</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“Which features matter overall?” (Chapter 15)</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SHAP</a:t>
                      </a:r>
                      <a:endParaRPr sz="15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500" b="0" i="0">
                          <a:solidFill>
                            <a:srgbClr val="1C252B"/>
                          </a:solidFill>
                          <a:latin typeface="Segoe UI"/>
                        </a:rPr>
                        <a:t>Per-prediction contribution of each feature, with a consistency guarantee</a:t>
                      </a:r>
                      <a:endParaRPr sz="15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500" b="0" i="0">
                          <a:solidFill>
                            <a:srgbClr val="1C252B"/>
                          </a:solidFill>
                          <a:latin typeface="Segoe UI"/>
                        </a:rPr>
                        <a:t>You must explain </a:t>
                      </a:r>
                      <a:r>
                        <a:rPr sz="1500" b="0" i="1">
                          <a:solidFill>
                            <a:srgbClr val="1C252B"/>
                          </a:solidFill>
                          <a:latin typeface="Segoe UI"/>
                        </a:rPr>
                        <a:t>this</a:t>
                      </a:r>
                      <a:r>
                        <a:rPr sz="1500" b="0" i="0">
                          <a:solidFill>
                            <a:srgbClr val="1C252B"/>
                          </a:solidFill>
                          <a:latin typeface="Segoe UI"/>
                        </a:rPr>
                        <a:t> decision to </a:t>
                      </a:r>
                      <a:r>
                        <a:rPr sz="1500" b="0" i="1">
                          <a:solidFill>
                            <a:srgbClr val="1C252B"/>
                          </a:solidFill>
                          <a:latin typeface="Segoe UI"/>
                        </a:rPr>
                        <a:t>this</a:t>
                      </a:r>
                      <a:r>
                        <a:rPr sz="1500" b="0" i="0">
                          <a:solidFill>
                            <a:srgbClr val="1C252B"/>
                          </a:solidFill>
                          <a:latin typeface="Segoe UI"/>
                        </a:rPr>
                        <a:t> person</a:t>
                      </a:r>
                      <a:endParaRPr sz="1500"/>
                    </a:p>
                  </a:txBody>
                  <a:tcPr marL="109728" marR="109728" marT="64008" marB="45720" anchor="t">
                    <a:lnL w="0" cmpd="sng">
                      <a:noFill/>
                    </a:lnL>
                    <a:lnR w="0" cmpd="sng">
                      <a:noFill/>
                    </a:lnR>
                    <a:lnT w="9525" cmpd="sng">
                      <a:noFill/>
                    </a:lnT>
                    <a:lnB w="9525" cmpd="sng">
                      <a:noFill/>
                    </a:lnB>
                    <a:solidFill>
                      <a:srgbClr val="FEF7F1"/>
                    </a:solidFill>
                  </a:tcPr>
                </a:tc>
              </a:tr>
              <a:tr h="603504">
                <a:tc>
                  <a:txBody>
                    <a:bodyPr wrap="square"/>
                    <a:lstStyle/>
                    <a:p>
                      <a:pPr algn="l"/>
                      <a:r>
                        <a:rPr sz="1500" b="0" i="0">
                          <a:solidFill>
                            <a:srgbClr val="1C252B"/>
                          </a:solidFill>
                          <a:latin typeface="Segoe UI"/>
                        </a:rPr>
                        <a:t>LIME</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Local linear approximation around one prediction</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Quick local intuition; less stable than SHAP</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Counterfactual</a:t>
                      </a:r>
                      <a:endParaRPr sz="15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500" b="0" i="0">
                          <a:solidFill>
                            <a:srgbClr val="1C252B"/>
                          </a:solidFill>
                          <a:latin typeface="Segoe UI"/>
                        </a:rPr>
                        <a:t>“Had X been different, the decision would change”</a:t>
                      </a:r>
                      <a:endParaRPr sz="15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500" b="1" i="0">
                          <a:solidFill>
                            <a:srgbClr val="1C252B"/>
                          </a:solidFill>
                          <a:latin typeface="Segoe UI"/>
                        </a:rPr>
                        <a:t>The most actionable form</a:t>
                      </a:r>
                      <a:r>
                        <a:rPr sz="1500" b="0" i="0">
                          <a:solidFill>
                            <a:srgbClr val="1C252B"/>
                          </a:solidFill>
                          <a:latin typeface="Segoe UI"/>
                        </a:rPr>
                        <a:t> — it tells the person what to do</a:t>
                      </a:r>
                      <a:endParaRPr sz="15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56577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Explain to the Audience, Not to Yourself</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§28.5  ·  Handout p. 186     </a:t>
            </a:r>
            <a:fld id="{A706CBCB-C399-4DC3-98FC-08577E15A0E3}"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SHAP force plot satisfies a data scientist. A student needs: </a:t>
            </a:r>
            <a:r>
              <a:rPr sz="2300" b="0" i="1">
                <a:solidFill>
                  <a:srgbClr val="1C252B"/>
                </a:solidFill>
                <a:latin typeface="Segoe UI"/>
              </a:rPr>
              <a:t>“You were flagged mainly because you have not submitted since week 2. Submitting this week’s work would remove the flag.”</a:t>
            </a:r>
            <a:r>
              <a:rPr sz="2300" b="0" i="0">
                <a:solidFill>
                  <a:srgbClr val="1C252B"/>
                </a:solidFill>
                <a:latin typeface="Segoe UI"/>
              </a:rPr>
              <a:t> That is a counterfactual explanation, and it is the only kind that gives the person a route to a different outcome. If your explanation does not tell someone what they could do differently, it is documentation rather than accountability.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83081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An Ethical Review You Can Actually Run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28.6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28.1   Why This Chapter Is Not Optional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28.2   Where Bias Enters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28.3   Fairness Metrics — and Why You Cannot Have Them All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28.4   Privacy and Data Protection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28.5   Explainability</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28.6   An Ethical Review You Can Actually Run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§28.6     </a:t>
            </a:r>
            <a:fld id="{691CBBB5-E0A9-47A5-8E53-DB28AD5EFD47}" type="slidenum">
              <a:rPr lang="en-GB" sz="1000">
                <a:solidFill>
                  <a:srgbClr val="8795A1"/>
                </a:solidFill>
                <a:latin typeface="Segoe UI"/>
              </a:rPr>
              <a:t>23</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three-stage ethical review</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28.3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§28.6  ·  Handout p. 187     </a:t>
            </a:r>
            <a:fld id="{95910413-E651-40F6-94AA-4C1D3E57A873}" type="slidenum">
              <a:rPr lang="en-GB" sz="1000">
                <a:solidFill>
                  <a:srgbClr val="8795A1"/>
                </a:solidFill>
                <a:latin typeface="Segoe UI"/>
              </a:rPr>
              <a:t>24</a:t>
            </a:fld>
          </a:p>
        </p:txBody>
      </p:sp>
      <p:pic>
        <p:nvPicPr>
          <p:cNvPr id="6" name="!!figure" descr="Figure 28.3. A three-stage ethical review. It takes about an hour, requires no specialist training, and catches most of what goes wro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65690"/>
            <a:ext cx="10874959" cy="3848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It takes about an hour, requires no specialist training, and catches most of what goes wrong.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3608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Model Card</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§28.6  ·  Handout p. 187     </a:t>
            </a:r>
            <a:fld id="{917B9F43-9855-47C1-BC8A-B8C797B6F23D}"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short standard document accompanying every deployed model: its intended use, out-of-scope uses, training data and its limitations, performance overall </a:t>
            </a:r>
            <a:r>
              <a:rPr sz="2300" b="0" i="1">
                <a:solidFill>
                  <a:srgbClr val="1C252B"/>
                </a:solidFill>
                <a:latin typeface="Segoe UI"/>
              </a:rPr>
              <a:t>and by subgroup</a:t>
            </a:r>
            <a:r>
              <a:rPr sz="2300" b="0" i="0">
                <a:solidFill>
                  <a:srgbClr val="1C252B"/>
                </a:solidFill>
                <a:latin typeface="Segoe UI"/>
              </a:rPr>
              <a:t>, ethical considerations, and contact details for challenge. It is the accountability artefact that makes the rest of this chapter auditable.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6259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Responsible Practice</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38163434-E2C0-4F5C-97BA-64AE6EDA1701}"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highest-stakes lens in this book, because the subjects are identifiable young people with limited power in the relationship.</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Predicting which teams or individuals will underperform edges quickly into workplace surveillance.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Sensing is easy to deploy and hard to consent to.</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Security work involves monitoring colleagues, which is legitimate and requires limits.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89095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Responsible Practice</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0988D4DA-81ED-4070-A0EB-E77AFDCB5EAF}"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353263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highest-stakes lens in this book, because the subjects are identifiable young people with limited power in the relationship. </a:t>
            </a:r>
            <a:r>
              <a:rPr sz="2200" b="0" i="1">
                <a:solidFill>
                  <a:srgbClr val="1C252B"/>
                </a:solidFill>
                <a:latin typeface="Segoe UI"/>
              </a:rPr>
              <a:t>Specific risks:</a:t>
            </a:r>
            <a:r>
              <a:rPr sz="2200" b="0" i="0">
                <a:solidFill>
                  <a:srgbClr val="1C252B"/>
                </a:solidFill>
                <a:latin typeface="Segoe UI"/>
              </a:rPr>
              <a:t> self-fulfilling prophecy — a student told they are “high risk” may disengage further; proxy discrimination via postcode, school and device type; and mission creep from support into assessment. </a:t>
            </a:r>
            <a:r>
              <a:rPr sz="2200" b="0" i="1">
                <a:solidFill>
                  <a:srgbClr val="1C252B"/>
                </a:solidFill>
                <a:latin typeface="Segoe UI"/>
              </a:rPr>
              <a:t>Requirements:</a:t>
            </a:r>
            <a:r>
              <a:rPr sz="2200" b="0" i="0">
                <a:solidFill>
                  <a:srgbClr val="1C252B"/>
                </a:solidFill>
                <a:latin typeface="Segoe UI"/>
              </a:rPr>
              <a:t> equal opportunity as the fairness criterion, counterfactual explanations given to the student, a human adviser who can and does overrule the model, and a stated route to contest. Never show a raw risk score to a student.</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15599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Responsible Practice</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BE097130-1AB6-4DB3-AA1D-66261DE1A794}" type="slidenum">
              <a:rPr lang="en-GB" sz="1000">
                <a:solidFill>
                  <a:srgbClr val="8795A1"/>
                </a:solidFill>
                <a:latin typeface="Segoe UI"/>
              </a:rPr>
              <a:t>28</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Predicting which teams or individuals will underperform edges quickly into workplace surveillance. </a:t>
            </a:r>
            <a:r>
              <a:rPr sz="2200" b="0" i="1">
                <a:solidFill>
                  <a:srgbClr val="1C252B"/>
                </a:solidFill>
                <a:latin typeface="Segoe UI"/>
              </a:rPr>
              <a:t>Rule of thumb:</a:t>
            </a:r>
            <a:r>
              <a:rPr sz="2200" b="0" i="0">
                <a:solidFill>
                  <a:srgbClr val="1C252B"/>
                </a:solidFill>
                <a:latin typeface="Segoe UI"/>
              </a:rPr>
              <a:t> model the </a:t>
            </a:r>
            <a:r>
              <a:rPr sz="2200" b="0" i="1">
                <a:solidFill>
                  <a:srgbClr val="1C252B"/>
                </a:solidFill>
                <a:latin typeface="Segoe UI"/>
              </a:rPr>
              <a:t>work</a:t>
            </a:r>
            <a:r>
              <a:rPr sz="2200" b="0" i="0">
                <a:solidFill>
                  <a:srgbClr val="1C252B"/>
                </a:solidFill>
                <a:latin typeface="Segoe UI"/>
              </a:rPr>
              <a:t>, not the </a:t>
            </a:r>
            <a:r>
              <a:rPr sz="2200" b="0" i="1">
                <a:solidFill>
                  <a:srgbClr val="1C252B"/>
                </a:solidFill>
                <a:latin typeface="Segoe UI"/>
              </a:rPr>
              <a:t>worker</a:t>
            </a:r>
            <a:r>
              <a:rPr sz="2200" b="0" i="0">
                <a:solidFill>
                  <a:srgbClr val="1C252B"/>
                </a:solidFill>
                <a:latin typeface="Segoe UI"/>
              </a:rPr>
              <a:t>. Forecasting sprint completion is legitimate; ranking developers by predicted productivity is a different activity with employment-law consequences and predictable effects on behaviour — people optimise whatever is measured, usually at the expense of what is not.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2103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Responsible Practice</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364DE9B0-4082-45D4-AA58-16F8A18842CA}" type="slidenum">
              <a:rPr lang="en-GB" sz="1000">
                <a:solidFill>
                  <a:srgbClr val="8795A1"/>
                </a:solidFill>
                <a:latin typeface="Segoe UI"/>
              </a:rPr>
              <a:t>29</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Sensing is easy to deploy and hard to consent to. Occupancy and movement data is personal data the moment it can be linked to an individual, which is more often than designers assume. </a:t>
            </a:r>
            <a:r>
              <a:rPr sz="2200" b="0" i="1">
                <a:solidFill>
                  <a:srgbClr val="1C252B"/>
                </a:solidFill>
                <a:latin typeface="Segoe UI"/>
              </a:rPr>
              <a:t>Practices:</a:t>
            </a:r>
            <a:r>
              <a:rPr sz="2200" b="0" i="0">
                <a:solidFill>
                  <a:srgbClr val="1C252B"/>
                </a:solidFill>
                <a:latin typeface="Segoe UI"/>
              </a:rPr>
              <a:t> aggregate at the edge so that raw identifiable data never leaves the device (Chapter 24), set retention short and enforce it, and post clear notice where sensing occurs. “We only store counts” is only true if you engineered it to be.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6860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Responsible Practice</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8E211115-5FD5-4FD2-9BF0-EA4CF9730591}" type="slidenum">
              <a:rPr lang="en-GB" sz="1000">
                <a:solidFill>
                  <a:srgbClr val="8795A1"/>
                </a:solidFill>
                <a:latin typeface="Segoe UI"/>
              </a:rPr>
              <a:t>30</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Security work involves monitoring colleagues, which is legitimate and requires limits. </a:t>
            </a:r>
            <a:r>
              <a:rPr sz="2200" b="0" i="1">
                <a:solidFill>
                  <a:srgbClr val="1C252B"/>
                </a:solidFill>
                <a:latin typeface="Segoe UI"/>
              </a:rPr>
              <a:t>Practices:</a:t>
            </a:r>
            <a:r>
              <a:rPr sz="2200" b="0" i="0">
                <a:solidFill>
                  <a:srgbClr val="1C252B"/>
                </a:solidFill>
                <a:latin typeface="Segoe UI"/>
              </a:rPr>
              <a:t> proportionality — monitor what the threat justifies, not what is technically possible; access to raw logs restricted and itself audited; and a documented process for when monitoring surfaces something non-security-related. Note also the dual-use problem: the techniques in Chapter 26 defend systems and also enable surveillance, and the difference lies entirely in governance rather than in the code.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95110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Measuring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§28.6  ·  Handout p. 187     </a:t>
            </a:r>
            <a:fld id="{FF632826-7602-40AB-A4F4-8A0C4AB4AA47}" type="slidenum">
              <a:rPr lang="en-GB" sz="1000">
                <a:solidFill>
                  <a:srgbClr val="8795A1"/>
                </a:solidFill>
                <a:latin typeface="Segoe UI"/>
              </a:rPr>
              <a:t>31</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7429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Calibration check: does 0.7 mean 0.7 for everyone?</a:t>
            </a:r>
          </a:p>
          <a:p>
            <a:pPr algn="l" marL="459473" indent="-459473">
              <a:lnSpc>
                <a:spcPct val="100000"/>
              </a:lnSpc>
              <a:spcBef>
                <a:spcPts val="0"/>
              </a:spcBef>
              <a:spcAft>
                <a:spcPts val="0"/>
              </a:spcAft>
            </a:pPr>
            <a:r>
              <a:rPr sz="1900" b="1">
                <a:solidFill>
                  <a:srgbClr val="117A65"/>
                </a:solidFill>
                <a:latin typeface="Segoe UI"/>
              </a:rPr>
              <a:t>2.	</a:t>
            </a:r>
            <a:r>
              <a:rPr sz="1900" b="0" i="0">
                <a:solidFill>
                  <a:srgbClr val="1C252B"/>
                </a:solidFill>
                <a:latin typeface="Segoe UI"/>
              </a:rPr>
              <a:t>Proxy detection: can group be predicted from the features?</a:t>
            </a:r>
          </a:p>
        </p:txBody>
      </p:sp>
      <p:sp>
        <p:nvSpPr>
          <p:cNvPr id="1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Monitored service; fairness measurement</a:t>
            </a:r>
          </a:p>
        </p:txBody>
      </p:sp>
      <p:sp>
        <p:nvSpPr>
          <p:cNvPr id="1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42 lines of Python</a:t>
            </a:r>
          </a:p>
        </p:txBody>
      </p:sp>
      <p:sp>
        <p:nvSpPr>
          <p:cNvPr id="2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2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code/ch28_fairness.py</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82161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§28.6  ·  Handout p. 187     </a:t>
            </a:r>
            <a:fld id="{B18634D8-9AEB-4C4F-A358-83209642EB50}"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code/ch28_fairness.py</a:t>
            </a:r>
          </a:p>
        </p:txBody>
      </p:sp>
      <p:sp>
        <p:nvSpPr>
          <p:cNvPr id="14" name="!!code-text" descr="import numpy as np, pandas as pd from sklearn.metrics import confusion_matrix def fairness_report(y_true, y_pred, y_score, group): &quot;&quot;&quot;Fairness metrics are just per-group confusion matrices (Chapter 14).&quot;&quot;&quot; rows = [] for g in pd.unique(group): m = group == g tn, fp, fn, tp = confusion_matrix(y_true[m], y_pred[m]).ravel() rows.append({ &quot;group&quot;: g, &quot;n&quot;: int(m.sum()), &quot;base_rate&quot;: round(y_true[m].mean(), 3), &quot;flag_rate&quot;: round(y_pred[m].mean(), 3), # demographic parity &quot;recall&quot;: round(tp / (tp + fn), 3), # equal opportunity &quot;precision&quot;: round(tp / (tp + fp), 3), &quot;fpr&quot;: round(fp / (fp + tn), 3), # equalised odds (with recall) }) df = pd.DataFrame(rows)"/>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import</a:t>
            </a:r>
            <a:r>
              <a:rPr sz="1300" i="0">
                <a:solidFill>
                  <a:srgbClr val="E8EDF2"/>
                </a:solidFill>
                <a:latin typeface="Consolas"/>
              </a:rPr>
              <a:t> </a:t>
            </a:r>
            <a:r>
              <a:rPr sz="1300" i="0">
                <a:solidFill>
                  <a:srgbClr val="76D7C4"/>
                </a:solidFill>
                <a:latin typeface="Consolas"/>
              </a:rPr>
              <a:t>numpy</a:t>
            </a:r>
            <a:r>
              <a:rPr sz="1300" i="0">
                <a:solidFill>
                  <a:srgbClr val="E8EDF2"/>
                </a:solidFill>
                <a:latin typeface="Consolas"/>
              </a:rPr>
              <a:t> </a:t>
            </a:r>
            <a:r>
              <a:rPr sz="1300" i="0">
                <a:solidFill>
                  <a:srgbClr val="5DADE2"/>
                </a:solidFill>
                <a:latin typeface="Consolas"/>
              </a:rPr>
              <a:t>as</a:t>
            </a:r>
            <a:r>
              <a:rPr sz="1300" i="0">
                <a:solidFill>
                  <a:srgbClr val="E8EDF2"/>
                </a:solidFill>
                <a:latin typeface="Consolas"/>
              </a:rPr>
              <a:t> </a:t>
            </a:r>
            <a:r>
              <a:rPr sz="1300" i="0">
                <a:solidFill>
                  <a:srgbClr val="76D7C4"/>
                </a:solidFill>
                <a:latin typeface="Consolas"/>
              </a:rPr>
              <a:t>np</a:t>
            </a:r>
            <a:r>
              <a:rPr sz="1300" i="0">
                <a:solidFill>
                  <a:srgbClr val="AEB6BF"/>
                </a:solidFill>
                <a:latin typeface="Consolas"/>
              </a:rPr>
              <a:t>,</a:t>
            </a:r>
            <a:r>
              <a:rPr sz="1300" i="0">
                <a:solidFill>
                  <a:srgbClr val="E8EDF2"/>
                </a:solidFill>
                <a:latin typeface="Consolas"/>
              </a:rPr>
              <a:t> </a:t>
            </a:r>
            <a:r>
              <a:rPr sz="1300" i="0">
                <a:solidFill>
                  <a:srgbClr val="76D7C4"/>
                </a:solidFill>
                <a:latin typeface="Consolas"/>
              </a:rPr>
              <a:t>pandas</a:t>
            </a:r>
            <a:r>
              <a:rPr sz="1300" i="0">
                <a:solidFill>
                  <a:srgbClr val="E8EDF2"/>
                </a:solidFill>
                <a:latin typeface="Consolas"/>
              </a:rPr>
              <a:t> </a:t>
            </a:r>
            <a:r>
              <a:rPr sz="1300" i="0">
                <a:solidFill>
                  <a:srgbClr val="5DADE2"/>
                </a:solidFill>
                <a:latin typeface="Consolas"/>
              </a:rPr>
              <a:t>as</a:t>
            </a:r>
            <a:r>
              <a:rPr sz="1300" i="0">
                <a:solidFill>
                  <a:srgbClr val="E8EDF2"/>
                </a:solidFill>
                <a:latin typeface="Consolas"/>
              </a:rPr>
              <a:t> </a:t>
            </a:r>
            <a:r>
              <a:rPr sz="1300" i="0">
                <a:solidFill>
                  <a:srgbClr val="76D7C4"/>
                </a:solidFill>
                <a:latin typeface="Consolas"/>
              </a:rPr>
              <a:t>pd</a:t>
            </a:r>
          </a:p>
          <a:p>
            <a:pPr>
              <a:lnSpc>
                <a:spcPct val="100000"/>
              </a:lnSpc>
              <a:spcAft>
                <a:spcPts val="0"/>
              </a:spcAft>
            </a:pPr>
            <a:r>
              <a:rPr sz="1300" i="0">
                <a:solidFill>
                  <a:srgbClr val="5DADE2"/>
                </a:solidFill>
                <a:latin typeface="Consolas"/>
              </a:rPr>
              <a:t>from</a:t>
            </a:r>
            <a:r>
              <a:rPr sz="1300" i="0">
                <a:solidFill>
                  <a:srgbClr val="E8EDF2"/>
                </a:solidFill>
                <a:latin typeface="Consolas"/>
              </a:rPr>
              <a:t> </a:t>
            </a:r>
            <a:r>
              <a:rPr sz="1300" i="0">
                <a:solidFill>
                  <a:srgbClr val="76D7C4"/>
                </a:solidFill>
                <a:latin typeface="Consolas"/>
              </a:rPr>
              <a:t>sklearn</a:t>
            </a:r>
            <a:r>
              <a:rPr sz="1300" i="0">
                <a:solidFill>
                  <a:srgbClr val="76D7C4"/>
                </a:solidFill>
                <a:latin typeface="Consolas"/>
              </a:rPr>
              <a:t>.</a:t>
            </a:r>
            <a:r>
              <a:rPr sz="1300" i="0">
                <a:solidFill>
                  <a:srgbClr val="76D7C4"/>
                </a:solidFill>
                <a:latin typeface="Consolas"/>
              </a:rPr>
              <a:t>metrics</a:t>
            </a:r>
            <a:r>
              <a:rPr sz="1300" i="0">
                <a:solidFill>
                  <a:srgbClr val="E8EDF2"/>
                </a:solidFill>
                <a:latin typeface="Consolas"/>
              </a:rPr>
              <a:t> </a:t>
            </a:r>
            <a:r>
              <a:rPr sz="1300" i="0">
                <a:solidFill>
                  <a:srgbClr val="5DADE2"/>
                </a:solidFill>
                <a:latin typeface="Consolas"/>
              </a:rPr>
              <a:t>import</a:t>
            </a:r>
            <a:r>
              <a:rPr sz="1300" i="0">
                <a:solidFill>
                  <a:srgbClr val="E8EDF2"/>
                </a:solidFill>
                <a:latin typeface="Consolas"/>
              </a:rPr>
              <a:t> </a:t>
            </a:r>
            <a:r>
              <a:rPr sz="1300" i="0">
                <a:solidFill>
                  <a:srgbClr val="E8EDF2"/>
                </a:solidFill>
                <a:latin typeface="Consolas"/>
              </a:rPr>
              <a:t>confusion_matrix</a:t>
            </a:r>
          </a:p>
          <a:p>
            <a:pPr>
              <a:lnSpc>
                <a:spcPct val="100000"/>
              </a:lnSpc>
              <a:spcAft>
                <a:spcPts val="0"/>
              </a:spcAft>
            </a:pPr>
            <a:r>
              <a:rPr sz="1300">
                <a:latin typeface="Consolas"/>
              </a:rPr>
              <a:t> </a:t>
            </a:r>
          </a:p>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fairness_report</a:t>
            </a:r>
            <a:r>
              <a:rPr sz="1300" i="0">
                <a:solidFill>
                  <a:srgbClr val="AEB6BF"/>
                </a:solidFill>
                <a:latin typeface="Consolas"/>
              </a:rPr>
              <a:t>(</a:t>
            </a:r>
            <a:r>
              <a:rPr sz="1300" i="0">
                <a:solidFill>
                  <a:srgbClr val="E8EDF2"/>
                </a:solidFill>
                <a:latin typeface="Consolas"/>
              </a:rPr>
              <a:t>y_true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y_pred</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y_score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group</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"""Fairness metrics are just per-group confusion matrices (Chapter 14)."""</a:t>
            </a:r>
          </a:p>
          <a:p>
            <a:pPr>
              <a:lnSpc>
                <a:spcPct val="100000"/>
              </a:lnSpc>
              <a:spcAft>
                <a:spcPts val="0"/>
              </a:spcAft>
            </a:pPr>
            <a:r>
              <a:rPr sz="1300" i="0">
                <a:solidFill>
                  <a:srgbClr val="E8EDF2"/>
                </a:solidFill>
                <a:latin typeface="Consolas"/>
              </a:rPr>
              <a:t>    </a:t>
            </a:r>
            <a:r>
              <a:rPr sz="1300" i="0">
                <a:solidFill>
                  <a:srgbClr val="E8EDF2"/>
                </a:solidFill>
                <a:latin typeface="Consolas"/>
              </a:rPr>
              <a:t>rows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g</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pd</a:t>
            </a:r>
            <a:r>
              <a:rPr sz="1300" i="0">
                <a:solidFill>
                  <a:srgbClr val="AEB6BF"/>
                </a:solidFill>
                <a:latin typeface="Consolas"/>
              </a:rPr>
              <a:t>.</a:t>
            </a:r>
            <a:r>
              <a:rPr sz="1300" i="0">
                <a:solidFill>
                  <a:srgbClr val="E8EDF2"/>
                </a:solidFill>
                <a:latin typeface="Consolas"/>
              </a:rPr>
              <a:t>unique</a:t>
            </a:r>
            <a:r>
              <a:rPr sz="1300" i="0">
                <a:solidFill>
                  <a:srgbClr val="AEB6BF"/>
                </a:solidFill>
                <a:latin typeface="Consolas"/>
              </a:rPr>
              <a:t>(</a:t>
            </a:r>
            <a:r>
              <a:rPr sz="1300" i="0">
                <a:solidFill>
                  <a:srgbClr val="E8EDF2"/>
                </a:solidFill>
                <a:latin typeface="Consolas"/>
              </a:rPr>
              <a:t>group</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m</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group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a:t>
            </a:r>
          </a:p>
          <a:p>
            <a:pPr>
              <a:lnSpc>
                <a:spcPct val="100000"/>
              </a:lnSpc>
              <a:spcAft>
                <a:spcPts val="0"/>
              </a:spcAft>
            </a:pPr>
            <a:r>
              <a:rPr sz="1300" i="0">
                <a:solidFill>
                  <a:srgbClr val="E8EDF2"/>
                </a:solidFill>
                <a:latin typeface="Consolas"/>
              </a:rPr>
              <a:t>        </a:t>
            </a:r>
            <a:r>
              <a:rPr sz="1300" i="0">
                <a:solidFill>
                  <a:srgbClr val="E8EDF2"/>
                </a:solidFill>
                <a:latin typeface="Consolas"/>
              </a:rPr>
              <a:t>tn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fp</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confusion_matrix</a:t>
            </a:r>
            <a:r>
              <a:rPr sz="1300" i="0">
                <a:solidFill>
                  <a:srgbClr val="AEB6BF"/>
                </a:solidFill>
                <a:latin typeface="Consolas"/>
              </a:rPr>
              <a:t>(</a:t>
            </a:r>
            <a:r>
              <a:rPr sz="1300" i="0">
                <a:solidFill>
                  <a:srgbClr val="E8EDF2"/>
                </a:solidFill>
                <a:latin typeface="Consolas"/>
              </a:rPr>
              <a:t>y_true</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y_pred</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ravel</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rows</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group</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int</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E8EDF2"/>
                </a:solidFill>
                <a:latin typeface="Consolas"/>
              </a:rPr>
              <a:t>sum</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base_rate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round</a:t>
            </a:r>
            <a:r>
              <a:rPr sz="1300" i="0">
                <a:solidFill>
                  <a:srgbClr val="AEB6BF"/>
                </a:solidFill>
                <a:latin typeface="Consolas"/>
              </a:rPr>
              <a:t>(</a:t>
            </a:r>
            <a:r>
              <a:rPr sz="1300" i="0">
                <a:solidFill>
                  <a:srgbClr val="E8EDF2"/>
                </a:solidFill>
                <a:latin typeface="Consolas"/>
              </a:rPr>
              <a:t>y_true</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mean</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flag_rate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round</a:t>
            </a:r>
            <a:r>
              <a:rPr sz="1300" i="0">
                <a:solidFill>
                  <a:srgbClr val="AEB6BF"/>
                </a:solidFill>
                <a:latin typeface="Consolas"/>
              </a:rPr>
              <a:t>(</a:t>
            </a:r>
            <a:r>
              <a:rPr sz="1300" i="0">
                <a:solidFill>
                  <a:srgbClr val="E8EDF2"/>
                </a:solidFill>
                <a:latin typeface="Consolas"/>
              </a:rPr>
              <a:t>y_pred</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mean</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demographic parity</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recall</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round</a:t>
            </a:r>
            <a:r>
              <a:rPr sz="1300" i="0">
                <a:solidFill>
                  <a:srgbClr val="AEB6BF"/>
                </a:solidFill>
                <a:latin typeface="Consolas"/>
              </a:rPr>
              <a:t>(</a:t>
            </a:r>
            <a:r>
              <a:rPr sz="1300" i="0">
                <a:solidFill>
                  <a:srgbClr val="E8EDF2"/>
                </a:solidFill>
                <a:latin typeface="Consolas"/>
              </a:rPr>
              <a:t>tp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tp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fn</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equal opportunity</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precision</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round</a:t>
            </a:r>
            <a:r>
              <a:rPr sz="1300" i="0">
                <a:solidFill>
                  <a:srgbClr val="AEB6BF"/>
                </a:solidFill>
                <a:latin typeface="Consolas"/>
              </a:rPr>
              <a:t>(</a:t>
            </a:r>
            <a:r>
              <a:rPr sz="1300" i="0">
                <a:solidFill>
                  <a:srgbClr val="E8EDF2"/>
                </a:solidFill>
                <a:latin typeface="Consolas"/>
              </a:rPr>
              <a:t>tp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tp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fp</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fpr</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round</a:t>
            </a:r>
            <a:r>
              <a:rPr sz="1300" i="0">
                <a:solidFill>
                  <a:srgbClr val="AEB6BF"/>
                </a:solidFill>
                <a:latin typeface="Consolas"/>
              </a:rPr>
              <a:t>(</a:t>
            </a:r>
            <a:r>
              <a:rPr sz="1300" i="0">
                <a:solidFill>
                  <a:srgbClr val="E8EDF2"/>
                </a:solidFill>
                <a:latin typeface="Consolas"/>
              </a:rPr>
              <a:t>fp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fp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tn</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equalised odds (with recall)</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df</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pd</a:t>
            </a:r>
            <a:r>
              <a:rPr sz="1300" i="0">
                <a:solidFill>
                  <a:srgbClr val="AEB6BF"/>
                </a:solidFill>
                <a:latin typeface="Consolas"/>
              </a:rPr>
              <a:t>.</a:t>
            </a:r>
            <a:r>
              <a:rPr sz="1300" i="0">
                <a:solidFill>
                  <a:srgbClr val="E8EDF2"/>
                </a:solidFill>
                <a:latin typeface="Consolas"/>
              </a:rPr>
              <a:t>DataFrame</a:t>
            </a:r>
            <a:r>
              <a:rPr sz="1300" i="0">
                <a:solidFill>
                  <a:srgbClr val="AEB6BF"/>
                </a:solidFill>
                <a:latin typeface="Consolas"/>
              </a:rPr>
              <a:t>(</a:t>
            </a:r>
            <a:r>
              <a:rPr sz="1300" i="0">
                <a:solidFill>
                  <a:srgbClr val="E8EDF2"/>
                </a:solidFill>
                <a:latin typeface="Consolas"/>
              </a:rPr>
              <a:t>rows</a:t>
            </a:r>
            <a:r>
              <a:rPr sz="1300" i="0">
                <a:solidFill>
                  <a:srgbClr val="AEB6BF"/>
                </a:solidFill>
                <a:latin typeface="Consolas"/>
              </a:rPr>
              <a:t>)</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a:t>
            </a:r>
          </a:p>
          <a:p>
            <a:pPr algn="r">
              <a:lnSpc>
                <a:spcPct val="100000"/>
              </a:lnSpc>
            </a:pPr>
            <a:r>
              <a:rPr sz="1300">
                <a:solidFill>
                  <a:srgbClr val="4F5D6A"/>
                </a:solidFill>
                <a:latin typeface="Consolas"/>
              </a:rPr>
              <a:t>2</a:t>
            </a:r>
          </a:p>
          <a:p>
            <a:pPr algn="r">
              <a:lnSpc>
                <a:spcPct val="100000"/>
              </a:lnSpc>
            </a:pPr>
            <a:r>
              <a:rPr sz="1300">
                <a:solidFill>
                  <a:srgbClr val="4F5D6A"/>
                </a:solidFill>
                <a:latin typeface="Consolas"/>
              </a:rPr>
              <a:t>3</a:t>
            </a:r>
          </a:p>
          <a:p>
            <a:pPr algn="r">
              <a:lnSpc>
                <a:spcPct val="100000"/>
              </a:lnSpc>
            </a:pPr>
            <a:r>
              <a:rPr sz="1300">
                <a:solidFill>
                  <a:srgbClr val="4F5D6A"/>
                </a:solidFill>
                <a:latin typeface="Consolas"/>
              </a:rPr>
              <a:t>4</a:t>
            </a:r>
          </a:p>
          <a:p>
            <a:pPr algn="r">
              <a:lnSpc>
                <a:spcPct val="100000"/>
              </a:lnSpc>
            </a:pPr>
            <a:r>
              <a:rPr sz="1300">
                <a:solidFill>
                  <a:srgbClr val="4F5D6A"/>
                </a:solidFill>
                <a:latin typeface="Consolas"/>
              </a:rPr>
              <a:t>5</a:t>
            </a:r>
          </a:p>
          <a:p>
            <a:pPr algn="r">
              <a:lnSpc>
                <a:spcPct val="100000"/>
              </a:lnSpc>
            </a:pPr>
            <a:r>
              <a:rPr sz="1300">
                <a:solidFill>
                  <a:srgbClr val="4F5D6A"/>
                </a:solidFill>
                <a:latin typeface="Consolas"/>
              </a:rPr>
              <a:t>6</a:t>
            </a:r>
          </a:p>
          <a:p>
            <a:pPr algn="r">
              <a:lnSpc>
                <a:spcPct val="100000"/>
              </a:lnSpc>
            </a:pPr>
            <a:r>
              <a:rPr sz="1300">
                <a:solidFill>
                  <a:srgbClr val="4F5D6A"/>
                </a:solidFill>
                <a:latin typeface="Consolas"/>
              </a:rPr>
              <a:t>7</a:t>
            </a:r>
          </a:p>
          <a:p>
            <a:pPr algn="r">
              <a:lnSpc>
                <a:spcPct val="100000"/>
              </a:lnSpc>
            </a:pPr>
            <a:r>
              <a:rPr sz="1300">
                <a:solidFill>
                  <a:srgbClr val="4F5D6A"/>
                </a:solidFill>
                <a:latin typeface="Consolas"/>
              </a:rPr>
              <a:t>8</a:t>
            </a:r>
          </a:p>
          <a:p>
            <a:pPr algn="r">
              <a:lnSpc>
                <a:spcPct val="100000"/>
              </a:lnSpc>
            </a:pPr>
            <a:r>
              <a:rPr sz="1300">
                <a:solidFill>
                  <a:srgbClr val="4F5D6A"/>
                </a:solidFill>
                <a:latin typeface="Consolas"/>
              </a:rPr>
              <a:t>9</a:t>
            </a:r>
          </a:p>
          <a:p>
            <a:pPr algn="r">
              <a:lnSpc>
                <a:spcPct val="100000"/>
              </a:lnSpc>
            </a:pPr>
            <a:r>
              <a:rPr sz="1300">
                <a:solidFill>
                  <a:srgbClr val="4F5D6A"/>
                </a:solidFill>
                <a:latin typeface="Consolas"/>
              </a:rPr>
              <a:t>10</a:t>
            </a:r>
          </a:p>
          <a:p>
            <a:pPr algn="r">
              <a:lnSpc>
                <a:spcPct val="100000"/>
              </a:lnSpc>
            </a:pPr>
            <a:r>
              <a:rPr sz="1300">
                <a:solidFill>
                  <a:srgbClr val="4F5D6A"/>
                </a:solidFill>
                <a:latin typeface="Consolas"/>
              </a:rPr>
              <a:t>11</a:t>
            </a:r>
          </a:p>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8117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§28.6  ·  Handout p. 187     </a:t>
            </a:r>
            <a:fld id="{3ACC2E8C-DB95-4E78-BE42-96460775712C}" type="slidenum">
              <a:rPr lang="en-GB" sz="1000">
                <a:solidFill>
                  <a:srgbClr val="8795A1"/>
                </a:solidFill>
                <a:latin typeface="Segoe UI"/>
              </a:rPr>
              <a:t>33</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1898904"/>
          </a:xfrm>
          <a:prstGeom prst="roundRect">
            <a:avLst>
              <a:gd name="adj" fmla="val 481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code/ch28_fairness.py</a:t>
            </a:r>
          </a:p>
        </p:txBody>
      </p:sp>
      <p:sp>
        <p:nvSpPr>
          <p:cNvPr id="13" name="!!code-text" descr="print(df.to_string(index=False)) print(f&quot;\nmax recall gap : {df.recall.max() - df.recall.min():.3f}&quot;) print(f&quot;max flag-rate gap : {df.flag_rate.max() - df.flag_rate.min():.3f}&quot;) print(&quot;NOTE: if base rates differ, these two gaps CANNOT both be zero.&quot;) return df"/>
          <p:cNvSpPr txBox="1"/>
          <p:nvPr/>
        </p:nvSpPr>
        <p:spPr>
          <a:xfrm>
            <a:off x="1362456" y="2066543"/>
            <a:ext cx="9987991" cy="1405128"/>
          </a:xfrm>
          <a:prstGeom prst="rect">
            <a:avLst/>
          </a:prstGeom>
          <a:noFill/>
        </p:spPr>
        <p:txBody>
          <a:bodyPr wrap="none" anchor="t" lIns="0" rIns="0" tIns="0" bIns="0">
            <a:noAutofit/>
          </a:bodyPr>
          <a:lstStyle/>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to_string</a:t>
            </a:r>
            <a:r>
              <a:rPr sz="1700" i="0">
                <a:solidFill>
                  <a:srgbClr val="AEB6BF"/>
                </a:solidFill>
                <a:latin typeface="Consolas"/>
              </a:rPr>
              <a:t>(</a:t>
            </a:r>
            <a:r>
              <a:rPr sz="1700" i="0">
                <a:solidFill>
                  <a:srgbClr val="E8EDF2"/>
                </a:solidFill>
                <a:latin typeface="Consolas"/>
              </a:rPr>
              <a:t>index</a:t>
            </a:r>
            <a:r>
              <a:rPr sz="1700" i="0">
                <a:solidFill>
                  <a:srgbClr val="AEB6BF"/>
                </a:solidFill>
                <a:latin typeface="Consolas"/>
              </a:rPr>
              <a:t>=</a:t>
            </a:r>
            <a:r>
              <a:rPr sz="1700" i="0">
                <a:solidFill>
                  <a:srgbClr val="5DADE2"/>
                </a:solidFill>
                <a:latin typeface="Consolas"/>
              </a:rPr>
              <a:t>False</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\n</a:t>
            </a:r>
            <a:r>
              <a:rPr sz="1700" i="0">
                <a:solidFill>
                  <a:srgbClr val="7DCEA0"/>
                </a:solidFill>
                <a:latin typeface="Consolas"/>
              </a:rPr>
              <a:t>max recall gap    : </a:t>
            </a:r>
            <a:r>
              <a:rPr sz="1700" i="0">
                <a:solidFill>
                  <a:srgbClr val="7DCEA0"/>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recall</a:t>
            </a:r>
            <a:r>
              <a:rPr sz="1700" i="0">
                <a:solidFill>
                  <a:srgbClr val="AEB6BF"/>
                </a:solidFill>
                <a:latin typeface="Consolas"/>
              </a:rPr>
              <a:t>.</a:t>
            </a:r>
            <a:r>
              <a:rPr sz="1700" i="0">
                <a:solidFill>
                  <a:srgbClr val="E8EDF2"/>
                </a:solidFill>
                <a:latin typeface="Consolas"/>
              </a:rPr>
              <a:t>max</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recall</a:t>
            </a:r>
            <a:r>
              <a:rPr sz="1700" i="0">
                <a:solidFill>
                  <a:srgbClr val="AEB6BF"/>
                </a:solidFill>
                <a:latin typeface="Consolas"/>
              </a:rPr>
              <a:t>.</a:t>
            </a:r>
            <a:r>
              <a:rPr sz="1700" i="0">
                <a:solidFill>
                  <a:srgbClr val="E8EDF2"/>
                </a:solidFill>
                <a:latin typeface="Consolas"/>
              </a:rPr>
              <a:t>min</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max flag-rate gap : </a:t>
            </a:r>
            <a:r>
              <a:rPr sz="1700" i="0">
                <a:solidFill>
                  <a:srgbClr val="7DCEA0"/>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flag_rate</a:t>
            </a:r>
            <a:r>
              <a:rPr sz="1700" i="0">
                <a:solidFill>
                  <a:srgbClr val="AEB6BF"/>
                </a:solidFill>
                <a:latin typeface="Consolas"/>
              </a:rPr>
              <a:t>.</a:t>
            </a:r>
            <a:r>
              <a:rPr sz="1700" i="0">
                <a:solidFill>
                  <a:srgbClr val="E8EDF2"/>
                </a:solidFill>
                <a:latin typeface="Consolas"/>
              </a:rPr>
              <a:t>max</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flag_rate</a:t>
            </a:r>
            <a:r>
              <a:rPr sz="1700" i="0">
                <a:solidFill>
                  <a:srgbClr val="AEB6BF"/>
                </a:solidFill>
                <a:latin typeface="Consolas"/>
              </a:rPr>
              <a:t>.</a:t>
            </a:r>
            <a:r>
              <a:rPr sz="1700" i="0">
                <a:solidFill>
                  <a:srgbClr val="E8EDF2"/>
                </a:solidFill>
                <a:latin typeface="Consolas"/>
              </a:rPr>
              <a:t>min</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NOTE: if base rates differ, these two gaps CANNOT both be zero.</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return</a:t>
            </a:r>
            <a:r>
              <a:rPr sz="1700" i="0">
                <a:solidFill>
                  <a:srgbClr val="E8EDF2"/>
                </a:solidFill>
                <a:latin typeface="Consolas"/>
              </a:rPr>
              <a:t> </a:t>
            </a:r>
            <a:r>
              <a:rPr sz="1700" i="0">
                <a:solidFill>
                  <a:srgbClr val="E8EDF2"/>
                </a:solidFill>
                <a:latin typeface="Consolas"/>
              </a:rPr>
              <a:t>df</a:t>
            </a:r>
          </a:p>
        </p:txBody>
      </p:sp>
      <p:sp>
        <p:nvSpPr>
          <p:cNvPr id="14" name="!!code-num"/>
          <p:cNvSpPr txBox="1"/>
          <p:nvPr/>
        </p:nvSpPr>
        <p:spPr>
          <a:xfrm>
            <a:off x="768096" y="2066543"/>
            <a:ext cx="393192" cy="14051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20</a:t>
            </a:r>
          </a:p>
          <a:p>
            <a:pPr algn="r">
              <a:lnSpc>
                <a:spcPct val="100000"/>
              </a:lnSpc>
            </a:pPr>
            <a:r>
              <a:rPr sz="1700">
                <a:solidFill>
                  <a:srgbClr val="4F5D6A"/>
                </a:solidFill>
                <a:latin typeface="Consolas"/>
              </a:rPr>
              <a:t>21</a:t>
            </a:r>
          </a:p>
          <a:p>
            <a:pPr algn="r">
              <a:lnSpc>
                <a:spcPct val="100000"/>
              </a:lnSpc>
            </a:pPr>
            <a:r>
              <a:rPr sz="1700">
                <a:solidFill>
                  <a:srgbClr val="4F5D6A"/>
                </a:solidFill>
                <a:latin typeface="Consolas"/>
              </a:rPr>
              <a:t>22</a:t>
            </a:r>
          </a:p>
          <a:p>
            <a:pPr algn="r">
              <a:lnSpc>
                <a:spcPct val="100000"/>
              </a:lnSpc>
            </a:pPr>
            <a:r>
              <a:rPr sz="1700">
                <a:solidFill>
                  <a:srgbClr val="4F5D6A"/>
                </a:solidFill>
                <a:latin typeface="Consolas"/>
              </a:rPr>
              <a:t>23</a:t>
            </a:r>
          </a:p>
          <a:p>
            <a:pPr algn="r">
              <a:lnSpc>
                <a:spcPct val="100000"/>
              </a:lnSpc>
            </a:pPr>
            <a:r>
              <a:rPr sz="1700">
                <a:solidFill>
                  <a:srgbClr val="4F5D6A"/>
                </a:solidFill>
                <a:latin typeface="Consolas"/>
              </a:rPr>
              <a:t>24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74621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§28.6  ·  Handout p. 187     </a:t>
            </a:r>
            <a:fld id="{BE58860E-E94E-4BA8-95A0-BAD60ECE9AA7}"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Calibration check: does 0.7 mean 0.7 for everyone?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03704"/>
          </a:xfrm>
          <a:prstGeom prst="roundRect">
            <a:avLst>
              <a:gd name="adj" fmla="val 41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code/ch28_fairness.py</a:t>
            </a:r>
          </a:p>
        </p:txBody>
      </p:sp>
      <p:sp>
        <p:nvSpPr>
          <p:cNvPr id="14" name="!!code-text" descr="# --- calibration check: does 0.7 mean 0.7 for everyone? --------------- def calibration_by_group(y_true, y_score, group, bins=5): q = pd.qcut(y_score, bins, labels=False, duplicates=&quot;drop&quot;) tab = (pd.DataFrame({&quot;bin&quot;: q, &quot;y&quot;: y_true, &quot;g&quot;: group}) .groupby([&quot;g&quot;, &quot;bin&quot;])[&quot;y&quot;].mean().unstack()) print(&quot;\nobserved rate per score bin, per group:&quot;) print(tab.round(3)) # rows should be similar; large differences = miscalibration"/>
          <p:cNvSpPr txBox="1"/>
          <p:nvPr/>
        </p:nvSpPr>
        <p:spPr>
          <a:xfrm>
            <a:off x="1362456" y="2523744"/>
            <a:ext cx="9987991" cy="1709928"/>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calibration check: does 0.7 mean 0.7 for everyone?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calibration_by_group</a:t>
            </a:r>
            <a:r>
              <a:rPr sz="1500" i="0">
                <a:solidFill>
                  <a:srgbClr val="AEB6BF"/>
                </a:solidFill>
                <a:latin typeface="Consolas"/>
              </a:rPr>
              <a:t>(</a:t>
            </a:r>
            <a:r>
              <a:rPr sz="1500" i="0">
                <a:solidFill>
                  <a:srgbClr val="E8EDF2"/>
                </a:solidFill>
                <a:latin typeface="Consolas"/>
              </a:rPr>
              <a:t>y_true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y_score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group</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bins</a:t>
            </a:r>
            <a:r>
              <a:rPr sz="1500" i="0">
                <a:solidFill>
                  <a:srgbClr val="AEB6BF"/>
                </a:solidFill>
                <a:latin typeface="Consolas"/>
              </a:rPr>
              <a:t>=</a:t>
            </a:r>
            <a:r>
              <a:rPr sz="1500" i="0">
                <a:solidFill>
                  <a:srgbClr val="F7DC6F"/>
                </a:solidFill>
                <a:latin typeface="Consolas"/>
              </a:rPr>
              <a:t>5</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q</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pd</a:t>
            </a:r>
            <a:r>
              <a:rPr sz="1500" i="0">
                <a:solidFill>
                  <a:srgbClr val="AEB6BF"/>
                </a:solidFill>
                <a:latin typeface="Consolas"/>
              </a:rPr>
              <a:t>.</a:t>
            </a:r>
            <a:r>
              <a:rPr sz="1500" i="0">
                <a:solidFill>
                  <a:srgbClr val="E8EDF2"/>
                </a:solidFill>
                <a:latin typeface="Consolas"/>
              </a:rPr>
              <a:t>qcut</a:t>
            </a:r>
            <a:r>
              <a:rPr sz="1500" i="0">
                <a:solidFill>
                  <a:srgbClr val="AEB6BF"/>
                </a:solidFill>
                <a:latin typeface="Consolas"/>
              </a:rPr>
              <a:t>(</a:t>
            </a:r>
            <a:r>
              <a:rPr sz="1500" i="0">
                <a:solidFill>
                  <a:srgbClr val="E8EDF2"/>
                </a:solidFill>
                <a:latin typeface="Consolas"/>
              </a:rPr>
              <a:t>y_score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bins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labels</a:t>
            </a:r>
            <a:r>
              <a:rPr sz="1500" i="0">
                <a:solidFill>
                  <a:srgbClr val="AEB6BF"/>
                </a:solidFill>
                <a:latin typeface="Consolas"/>
              </a:rPr>
              <a:t>=</a:t>
            </a:r>
            <a:r>
              <a:rPr sz="1500" i="0">
                <a:solidFill>
                  <a:srgbClr val="5DADE2"/>
                </a:solidFill>
                <a:latin typeface="Consolas"/>
              </a:rPr>
              <a:t>False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duplicates</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drop</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tab</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pd</a:t>
            </a:r>
            <a:r>
              <a:rPr sz="1500" i="0">
                <a:solidFill>
                  <a:srgbClr val="AEB6BF"/>
                </a:solidFill>
                <a:latin typeface="Consolas"/>
              </a:rPr>
              <a:t>.</a:t>
            </a:r>
            <a:r>
              <a:rPr sz="1500" i="0">
                <a:solidFill>
                  <a:srgbClr val="E8EDF2"/>
                </a:solidFill>
                <a:latin typeface="Consolas"/>
              </a:rPr>
              <a:t>DataFrame</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bin</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q</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y</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y_true</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g</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group</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groupby</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g</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bin</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y</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unstack</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\n</a:t>
            </a:r>
            <a:r>
              <a:rPr sz="1500" i="0">
                <a:solidFill>
                  <a:srgbClr val="7DCEA0"/>
                </a:solidFill>
                <a:latin typeface="Consolas"/>
              </a:rPr>
              <a:t>observed rate per score bin, per group:</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E8EDF2"/>
                </a:solidFill>
                <a:latin typeface="Consolas"/>
              </a:rPr>
              <a:t>tab</a:t>
            </a:r>
            <a:r>
              <a:rPr sz="1500" i="0">
                <a:solidFill>
                  <a:srgbClr val="AEB6BF"/>
                </a:solidFill>
                <a:latin typeface="Consolas"/>
              </a:rPr>
              <a:t>.</a:t>
            </a:r>
            <a:r>
              <a:rPr sz="1500" i="0">
                <a:solidFill>
                  <a:srgbClr val="E8EDF2"/>
                </a:solidFill>
                <a:latin typeface="Consolas"/>
              </a:rPr>
              <a:t>round</a:t>
            </a:r>
            <a:r>
              <a:rPr sz="1500" i="0">
                <a:solidFill>
                  <a:srgbClr val="AEB6BF"/>
                </a:solidFill>
                <a:latin typeface="Consolas"/>
              </a:rPr>
              <a:t>(</a:t>
            </a:r>
            <a:r>
              <a:rPr sz="1500" i="0">
                <a:solidFill>
                  <a:srgbClr val="F7DC6F"/>
                </a:solidFill>
                <a:latin typeface="Consolas"/>
              </a:rPr>
              <a:t>3</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rows should be similar; large differences = miscalibration</a:t>
            </a:r>
          </a:p>
        </p:txBody>
      </p:sp>
      <p:sp>
        <p:nvSpPr>
          <p:cNvPr id="15" name="!!code-num"/>
          <p:cNvSpPr txBox="1"/>
          <p:nvPr/>
        </p:nvSpPr>
        <p:spPr>
          <a:xfrm>
            <a:off x="768096" y="2523744"/>
            <a:ext cx="393192" cy="1709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25</a:t>
            </a:r>
          </a:p>
          <a:p>
            <a:pPr algn="r">
              <a:lnSpc>
                <a:spcPct val="100000"/>
              </a:lnSpc>
            </a:pPr>
            <a:r>
              <a:rPr sz="1500">
                <a:solidFill>
                  <a:srgbClr val="4F5D6A"/>
                </a:solidFill>
                <a:latin typeface="Consolas"/>
              </a:rPr>
              <a:t>26</a:t>
            </a:r>
          </a:p>
          <a:p>
            <a:pPr algn="r">
              <a:lnSpc>
                <a:spcPct val="100000"/>
              </a:lnSpc>
            </a:pPr>
            <a:r>
              <a:rPr sz="1500">
                <a:solidFill>
                  <a:srgbClr val="4F5D6A"/>
                </a:solidFill>
                <a:latin typeface="Consolas"/>
              </a:rPr>
              <a:t>27</a:t>
            </a:r>
          </a:p>
          <a:p>
            <a:pPr algn="r">
              <a:lnSpc>
                <a:spcPct val="100000"/>
              </a:lnSpc>
            </a:pPr>
            <a:r>
              <a:rPr sz="1500">
                <a:solidFill>
                  <a:srgbClr val="4F5D6A"/>
                </a:solidFill>
                <a:latin typeface="Consolas"/>
              </a:rPr>
              <a:t>28</a:t>
            </a:r>
          </a:p>
          <a:p>
            <a:pPr algn="r">
              <a:lnSpc>
                <a:spcPct val="100000"/>
              </a:lnSpc>
            </a:pPr>
            <a:r>
              <a:rPr sz="1500">
                <a:solidFill>
                  <a:srgbClr val="4F5D6A"/>
                </a:solidFill>
                <a:latin typeface="Consolas"/>
              </a:rPr>
              <a:t>29</a:t>
            </a:r>
          </a:p>
          <a:p>
            <a:pPr algn="r">
              <a:lnSpc>
                <a:spcPct val="100000"/>
              </a:lnSpc>
            </a:pPr>
            <a:r>
              <a:rPr sz="1500">
                <a:solidFill>
                  <a:srgbClr val="4F5D6A"/>
                </a:solidFill>
                <a:latin typeface="Consolas"/>
              </a:rPr>
              <a:t>30</a:t>
            </a:r>
          </a:p>
          <a:p>
            <a:pPr algn="r">
              <a:lnSpc>
                <a:spcPct val="100000"/>
              </a:lnSpc>
            </a:pPr>
            <a:r>
              <a:rPr sz="1500">
                <a:solidFill>
                  <a:srgbClr val="4F5D6A"/>
                </a:solidFill>
                <a:latin typeface="Consolas"/>
              </a:rPr>
              <a:t>31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112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§28.6  ·  Handout p. 187     </a:t>
            </a:r>
            <a:fld id="{DBF945AE-A5F6-43B9-AF7E-0AFC202A879A}"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Proxy detection: can group be predicted from the features?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code/ch28_fairness.py</a:t>
            </a:r>
          </a:p>
        </p:txBody>
      </p:sp>
      <p:sp>
        <p:nvSpPr>
          <p:cNvPr id="14" name="!!code-text" descr="# --- proxy detection: can group be predicted from the features? ------- from sklearn.ensemble import RandomForestClassifier from sklearn.model_selection import cross_val_score proxy_auc = cross_val_score(RandomForestClassifier(n_estimators=200), X, group, cv=5, scoring=&quot;roc_auc&quot;).mean() print(f&quot;\ngroup predictable from features: AUC {proxy_auc:.3f}&quot;) # AUC well above 0.5 means proxies exist -- dropping the protected attribute # achieved nothing except making the bias unmeasurable."/>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proxy detection: can group be predicted from the features? -------</a:t>
            </a:r>
          </a:p>
          <a:p>
            <a:pPr>
              <a:lnSpc>
                <a:spcPct val="100000"/>
              </a:lnSpc>
              <a:spcAft>
                <a:spcPts val="0"/>
              </a:spcAft>
            </a:pPr>
            <a:r>
              <a:rPr sz="1800" i="0">
                <a:solidFill>
                  <a:srgbClr val="5DADE2"/>
                </a:solidFill>
                <a:latin typeface="Consolas"/>
              </a:rPr>
              <a:t>from</a:t>
            </a:r>
            <a:r>
              <a:rPr sz="1800" i="0">
                <a:solidFill>
                  <a:srgbClr val="E8EDF2"/>
                </a:solidFill>
                <a:latin typeface="Consolas"/>
              </a:rPr>
              <a:t> </a:t>
            </a:r>
            <a:r>
              <a:rPr sz="1800" i="0">
                <a:solidFill>
                  <a:srgbClr val="76D7C4"/>
                </a:solidFill>
                <a:latin typeface="Consolas"/>
              </a:rPr>
              <a:t>sklearn</a:t>
            </a:r>
            <a:r>
              <a:rPr sz="1800" i="0">
                <a:solidFill>
                  <a:srgbClr val="76D7C4"/>
                </a:solidFill>
                <a:latin typeface="Consolas"/>
              </a:rPr>
              <a:t>.</a:t>
            </a:r>
            <a:r>
              <a:rPr sz="1800" i="0">
                <a:solidFill>
                  <a:srgbClr val="76D7C4"/>
                </a:solidFill>
                <a:latin typeface="Consolas"/>
              </a:rPr>
              <a:t>ensemble</a:t>
            </a:r>
            <a:r>
              <a:rPr sz="1800" i="0">
                <a:solidFill>
                  <a:srgbClr val="E8EDF2"/>
                </a:solidFill>
                <a:latin typeface="Consolas"/>
              </a:rPr>
              <a:t> </a:t>
            </a:r>
            <a:r>
              <a:rPr sz="1800" i="0">
                <a:solidFill>
                  <a:srgbClr val="5DADE2"/>
                </a:solidFill>
                <a:latin typeface="Consolas"/>
              </a:rPr>
              <a:t>import</a:t>
            </a:r>
            <a:r>
              <a:rPr sz="1800" i="0">
                <a:solidFill>
                  <a:srgbClr val="E8EDF2"/>
                </a:solidFill>
                <a:latin typeface="Consolas"/>
              </a:rPr>
              <a:t> </a:t>
            </a:r>
            <a:r>
              <a:rPr sz="1800" i="0">
                <a:solidFill>
                  <a:srgbClr val="E8EDF2"/>
                </a:solidFill>
                <a:latin typeface="Consolas"/>
              </a:rPr>
              <a:t>RandomForestClassifier</a:t>
            </a:r>
          </a:p>
          <a:p>
            <a:pPr>
              <a:lnSpc>
                <a:spcPct val="100000"/>
              </a:lnSpc>
              <a:spcAft>
                <a:spcPts val="0"/>
              </a:spcAft>
            </a:pPr>
            <a:r>
              <a:rPr sz="1800" i="0">
                <a:solidFill>
                  <a:srgbClr val="5DADE2"/>
                </a:solidFill>
                <a:latin typeface="Consolas"/>
              </a:rPr>
              <a:t>from</a:t>
            </a:r>
            <a:r>
              <a:rPr sz="1800" i="0">
                <a:solidFill>
                  <a:srgbClr val="E8EDF2"/>
                </a:solidFill>
                <a:latin typeface="Consolas"/>
              </a:rPr>
              <a:t> </a:t>
            </a:r>
            <a:r>
              <a:rPr sz="1800" i="0">
                <a:solidFill>
                  <a:srgbClr val="76D7C4"/>
                </a:solidFill>
                <a:latin typeface="Consolas"/>
              </a:rPr>
              <a:t>sklearn</a:t>
            </a:r>
            <a:r>
              <a:rPr sz="1800" i="0">
                <a:solidFill>
                  <a:srgbClr val="76D7C4"/>
                </a:solidFill>
                <a:latin typeface="Consolas"/>
              </a:rPr>
              <a:t>.</a:t>
            </a:r>
            <a:r>
              <a:rPr sz="1800" i="0">
                <a:solidFill>
                  <a:srgbClr val="76D7C4"/>
                </a:solidFill>
                <a:latin typeface="Consolas"/>
              </a:rPr>
              <a:t>model_selection</a:t>
            </a:r>
            <a:r>
              <a:rPr sz="1800" i="0">
                <a:solidFill>
                  <a:srgbClr val="E8EDF2"/>
                </a:solidFill>
                <a:latin typeface="Consolas"/>
              </a:rPr>
              <a:t> </a:t>
            </a:r>
            <a:r>
              <a:rPr sz="1800" i="0">
                <a:solidFill>
                  <a:srgbClr val="5DADE2"/>
                </a:solidFill>
                <a:latin typeface="Consolas"/>
              </a:rPr>
              <a:t>import</a:t>
            </a:r>
            <a:r>
              <a:rPr sz="1800" i="0">
                <a:solidFill>
                  <a:srgbClr val="E8EDF2"/>
                </a:solidFill>
                <a:latin typeface="Consolas"/>
              </a:rPr>
              <a:t> </a:t>
            </a:r>
            <a:r>
              <a:rPr sz="1800" i="0">
                <a:solidFill>
                  <a:srgbClr val="E8EDF2"/>
                </a:solidFill>
                <a:latin typeface="Consolas"/>
              </a:rPr>
              <a:t>cross_val_score</a:t>
            </a:r>
          </a:p>
          <a:p>
            <a:pPr>
              <a:lnSpc>
                <a:spcPct val="100000"/>
              </a:lnSpc>
              <a:spcAft>
                <a:spcPts val="0"/>
              </a:spcAft>
            </a:pPr>
            <a:r>
              <a:rPr sz="1800" i="0">
                <a:solidFill>
                  <a:srgbClr val="E8EDF2"/>
                </a:solidFill>
                <a:latin typeface="Consolas"/>
              </a:rPr>
              <a:t>proxy_auc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cross_val_score</a:t>
            </a:r>
            <a:r>
              <a:rPr sz="1800" i="0">
                <a:solidFill>
                  <a:srgbClr val="AEB6BF"/>
                </a:solidFill>
                <a:latin typeface="Consolas"/>
              </a:rPr>
              <a:t>(</a:t>
            </a:r>
            <a:r>
              <a:rPr sz="1800" i="0">
                <a:solidFill>
                  <a:srgbClr val="E8EDF2"/>
                </a:solidFill>
                <a:latin typeface="Consolas"/>
              </a:rPr>
              <a:t>RandomForestClassifier</a:t>
            </a:r>
            <a:r>
              <a:rPr sz="1800" i="0">
                <a:solidFill>
                  <a:srgbClr val="AEB6BF"/>
                </a:solidFill>
                <a:latin typeface="Consolas"/>
              </a:rPr>
              <a:t>(</a:t>
            </a:r>
            <a:r>
              <a:rPr sz="1800" i="0">
                <a:solidFill>
                  <a:srgbClr val="E8EDF2"/>
                </a:solidFill>
                <a:latin typeface="Consolas"/>
              </a:rPr>
              <a:t>n_estimators</a:t>
            </a:r>
            <a:r>
              <a:rPr sz="1800" i="0">
                <a:solidFill>
                  <a:srgbClr val="AEB6BF"/>
                </a:solidFill>
                <a:latin typeface="Consolas"/>
              </a:rPr>
              <a:t>=</a:t>
            </a:r>
            <a:r>
              <a:rPr sz="1800" i="0">
                <a:solidFill>
                  <a:srgbClr val="F7DC6F"/>
                </a:solidFill>
                <a:latin typeface="Consolas"/>
              </a:rPr>
              <a:t>200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group</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cv</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scoring</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roc_auc</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\n</a:t>
            </a:r>
            <a:r>
              <a:rPr sz="1800" i="0">
                <a:solidFill>
                  <a:srgbClr val="7DCEA0"/>
                </a:solidFill>
                <a:latin typeface="Consolas"/>
              </a:rPr>
              <a:t>group predictable from features: AUC </a:t>
            </a:r>
            <a:r>
              <a:rPr sz="1800" i="0">
                <a:solidFill>
                  <a:srgbClr val="7DCEA0"/>
                </a:solidFill>
                <a:latin typeface="Consolas"/>
              </a:rPr>
              <a:t>{</a:t>
            </a:r>
            <a:r>
              <a:rPr sz="1800" i="0">
                <a:solidFill>
                  <a:srgbClr val="E8EDF2"/>
                </a:solidFill>
                <a:latin typeface="Consolas"/>
              </a:rPr>
              <a:t>proxy_auc</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1">
                <a:solidFill>
                  <a:srgbClr val="8795A1"/>
                </a:solidFill>
                <a:latin typeface="Consolas"/>
              </a:rPr>
              <a:t># AUC well above 0.5 means proxies exist -- dropping the protected attribute</a:t>
            </a:r>
          </a:p>
          <a:p>
            <a:pPr>
              <a:lnSpc>
                <a:spcPct val="100000"/>
              </a:lnSpc>
              <a:spcAft>
                <a:spcPts val="0"/>
              </a:spcAft>
            </a:pPr>
            <a:r>
              <a:rPr sz="1800" i="1">
                <a:solidFill>
                  <a:srgbClr val="8795A1"/>
                </a:solidFill>
                <a:latin typeface="Consolas"/>
              </a:rPr>
              <a:t># achieved nothing except making the bias unmeasurable.</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27628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remove </a:t>
            </a:r>
            <a:r>
              <a:rPr sz="3200" b="0" i="0">
                <a:solidFill>
                  <a:srgbClr val="FFFFFF"/>
                </a:solidFill>
                <a:latin typeface="Consolas"/>
              </a:rPr>
              <a:t>gender</a:t>
            </a:r>
            <a:r>
              <a:rPr sz="3400" b="0" i="0">
                <a:solidFill>
                  <a:srgbClr val="FFFFFF"/>
                </a:solidFill>
                <a:latin typeface="Segoe UI Semibold"/>
              </a:rPr>
              <a:t> from the feature set. Has the model become fair? What test would you run to find out?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28  ·  Responsible AI and Data Ethics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189  ·  answers in Appendix D     </a:t>
            </a:r>
            <a:fld id="{78C75066-3B43-48B9-81CE-7BB6FE0CCD2B}"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 remove </a:t>
            </a:r>
            <a:r>
              <a:rPr sz="2250" b="0" i="0">
                <a:solidFill>
                  <a:srgbClr val="1A5276"/>
                </a:solidFill>
                <a:latin typeface="Consolas"/>
              </a:rPr>
              <a:t>gender</a:t>
            </a:r>
            <a:r>
              <a:rPr sz="2400" b="0" i="0">
                <a:solidFill>
                  <a:srgbClr val="1A5276"/>
                </a:solidFill>
                <a:latin typeface="Segoe UI Semibold"/>
              </a:rPr>
              <a:t> from the feature set. Has the model become fair? What test would you run to find out?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The model will reconstruct gender from proxies — programme, device type, activity timing — and you have now lost the ability to </a:t>
            </a:r>
            <a:r>
              <a:rPr sz="2200" b="0" i="1">
                <a:solidFill>
                  <a:srgbClr val="1C252B"/>
                </a:solidFill>
                <a:latin typeface="Segoe UI"/>
              </a:rPr>
              <a:t>measure</a:t>
            </a:r>
            <a:r>
              <a:rPr sz="2200" b="0" i="0">
                <a:solidFill>
                  <a:srgbClr val="1C252B"/>
                </a:solidFill>
                <a:latin typeface="Segoe UI"/>
              </a:rPr>
              <a:t> the disparity. Test by trying to predict the protected attribute from the remaining features; an AUC well above 0.5 confirms proxies exist.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  answers in Appendix D     </a:t>
            </a:r>
            <a:fld id="{E67B2F41-C74A-4F2A-B5FE-91F723A6EB63}"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0636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Two groups have base rates of 15% and 35%. Can a calibrated model also achieve demographic parity? Explain.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28  ·  Responsible AI and Data Ethics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189  ·  answers in Appendix D     </a:t>
            </a:r>
            <a:fld id="{C3A5E420-6828-4824-92F7-305095FA2233}"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Two groups have base rates of 15% and 35%. Can a calibrated model also achieve demographic parity? Explain.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This is the impossibility result: with different base rates, a calibrated model necessarily flags the higher-base-rate group more often. Forcing equal flag rates breaks calibration.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  answers in Appendix D     </a:t>
            </a:r>
            <a:fld id="{0876C3ED-7AB4-4B32-A8AB-35DD13D6124B}"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3643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student asks why they were flagged. Which explainability technique gives them something they can act on, and what does the explanation look like?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28  ·  Responsible AI and Data Ethics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189  ·  answers in Appendix D     </a:t>
            </a:r>
            <a:fld id="{7399CF27-5A5C-433C-B883-E733BBE461B6}"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student asks why they were flagged. Which explainability technique gives them something they can act on, and what does the explanation look like?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a:t>
            </a:r>
            <a:r>
              <a:rPr sz="2200" b="1" i="0">
                <a:solidFill>
                  <a:srgbClr val="1C252B"/>
                </a:solidFill>
                <a:latin typeface="Segoe UI"/>
              </a:rPr>
              <a:t>counterfactual</a:t>
            </a:r>
            <a:r>
              <a:rPr sz="2200" b="0" i="0">
                <a:solidFill>
                  <a:srgbClr val="1C252B"/>
                </a:solidFill>
                <a:latin typeface="Segoe UI"/>
              </a:rPr>
              <a:t> explanation: “you were flagged mainly because you have not submitted since week 2; submitting this week’s work would remove the flag.” It is the only form that tells the person what they can do.</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  answers in Appendix D     </a:t>
            </a:r>
            <a:fld id="{3FCD52B8-6D34-423A-88D1-372C594834C6}"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6651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EE39EE37-5434-451B-84FB-F8D3EB5383CB}" type="slidenum">
              <a:rPr lang="en-GB" sz="1000">
                <a:solidFill>
                  <a:srgbClr val="8795A1"/>
                </a:solidFill>
                <a:latin typeface="Segoe UI"/>
              </a:rPr>
              <a:t>42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Bias enters at five stages; only one is a modelling problem, so no algorithm choice fixes it.</a:t>
            </a:r>
          </a:p>
        </p:txBody>
      </p:sp>
      <p:sp>
        <p:nvSpPr>
          <p:cNvPr id="10" name="!!sb1">
            <a:extLst>
              <a:ext uri="{C183D7F6-B498-43B3-948B-1728B52AA6E4}">
                <adec:decorative xmlns:adec="http://schemas.microsoft.com/office/drawing/2017/decorative" val="1"/>
              </a:ext>
            </a:extLst>
          </p:cNvPr>
          <p:cNvSpPr/>
          <p:nvPr/>
        </p:nvSpPr>
        <p:spPr>
          <a:xfrm>
            <a:off x="658368" y="233172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38658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32257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Removing a protected attribute does not remove bias — proxies reconstruct it and make it unmeasurable. Retain it for measurement, control its use.</a:t>
            </a:r>
          </a:p>
        </p:txBody>
      </p:sp>
      <p:sp>
        <p:nvSpPr>
          <p:cNvPr id="13" name="!!sb2">
            <a:extLst>
              <a:ext uri="{C183D7F6-B498-43B3-948B-1728B52AA6E4}">
                <adec:decorative xmlns:adec="http://schemas.microsoft.com/office/drawing/2017/decorative" val="1"/>
              </a:ext>
            </a:extLst>
          </p:cNvPr>
          <p:cNvSpPr/>
          <p:nvPr/>
        </p:nvSpPr>
        <p:spPr>
          <a:xfrm>
            <a:off x="658368" y="305348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0835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4434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Demographic parity, equal opportunity and calibration cannot all hold when base rates differ. Choose deliberately, document the choice, and have it signed off.</a:t>
            </a:r>
          </a:p>
        </p:txBody>
      </p:sp>
      <p:sp>
        <p:nvSpPr>
          <p:cNvPr id="16" name="!!sb3">
            <a:extLst>
              <a:ext uri="{C183D7F6-B498-43B3-948B-1728B52AA6E4}">
                <adec:decorative xmlns:adec="http://schemas.microsoft.com/office/drawing/2017/decorative" val="1"/>
              </a:ext>
            </a:extLst>
          </p:cNvPr>
          <p:cNvSpPr/>
          <p:nvPr/>
        </p:nvSpPr>
        <p:spPr>
          <a:xfrm>
            <a:off x="658368" y="377525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3011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6610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Data protection principles — lawful basis, purpose limitation, minimisation, retention, security, accountability, individual rights — constrain project design from the start.</a:t>
            </a:r>
          </a:p>
        </p:txBody>
      </p:sp>
      <p:sp>
        <p:nvSpPr>
          <p:cNvPr id="19" name="!!sb4">
            <a:extLst>
              <a:ext uri="{C183D7F6-B498-43B3-948B-1728B52AA6E4}">
                <adec:decorative xmlns:adec="http://schemas.microsoft.com/office/drawing/2017/decorative" val="1"/>
              </a:ext>
            </a:extLst>
          </p:cNvPr>
          <p:cNvSpPr/>
          <p:nvPr/>
        </p:nvSpPr>
        <p:spPr>
          <a:xfrm>
            <a:off x="658368" y="449701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55188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48787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Pseudonymisation is not anonymisation; assume re-identification is possible.</a:t>
            </a:r>
          </a:p>
        </p:txBody>
      </p:sp>
      <p:sp>
        <p:nvSpPr>
          <p:cNvPr id="22" name="!!sb5">
            <a:extLst>
              <a:ext uri="{C183D7F6-B498-43B3-948B-1728B52AA6E4}">
                <adec:decorative xmlns:adec="http://schemas.microsoft.com/office/drawing/2017/decorative" val="1"/>
              </a:ext>
            </a:extLst>
          </p:cNvPr>
          <p:cNvSpPr/>
          <p:nvPr/>
        </p:nvSpPr>
        <p:spPr>
          <a:xfrm>
            <a:off x="658368" y="50822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1370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07309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Explain to the audience. Counterfactual explanations are the only kind that give a person a route to a different outcome.</a:t>
            </a:r>
          </a:p>
        </p:txBody>
      </p:sp>
      <p:sp>
        <p:nvSpPr>
          <p:cNvPr id="25" name="!!sb6">
            <a:extLst>
              <a:ext uri="{C183D7F6-B498-43B3-948B-1728B52AA6E4}">
                <adec:decorative xmlns:adec="http://schemas.microsoft.com/office/drawing/2017/decorative" val="1"/>
              </a:ext>
            </a:extLst>
          </p:cNvPr>
          <p:cNvSpPr/>
          <p:nvPr/>
        </p:nvSpPr>
        <p:spPr>
          <a:xfrm>
            <a:off x="658368" y="580400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sbn6"/>
          <p:cNvSpPr txBox="1"/>
          <p:nvPr/>
        </p:nvSpPr>
        <p:spPr>
          <a:xfrm>
            <a:off x="658368" y="585886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27" name="!!st6"/>
          <p:cNvSpPr txBox="1"/>
          <p:nvPr/>
        </p:nvSpPr>
        <p:spPr>
          <a:xfrm>
            <a:off x="1298448" y="5794857"/>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Run the three-stage review, and publish a model card.</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1113154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83E2D24D-41F1-44A8-8A68-8AC6C38F17AA}"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Equal opportunity requires equality across groups of: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flag rate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recall</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precision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accuracy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965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A209F4DB-1945-4CB3-9F17-0D6864ADC3D0}"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Postcode used as a feature is problematic mainly because it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high-cardinality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proxy for protected attributes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missing often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nominal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616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28  ·  Responsible AI and Data Ethics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1E4B3095-A2D8-429F-A198-7D99553144CB}" type="slidenum">
              <a:rPr lang="en-GB" sz="1000">
                <a:solidFill>
                  <a:srgbClr val="8795A1"/>
                </a:solidFill>
                <a:latin typeface="Segoe UI"/>
              </a:rPr>
              <a:t>45</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impossibility result in your own words and explain what it obliges a practitioner to do.</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Distinguish pseudonymisation from anonymisation, with an example of re-identification.</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a counterfactual explanation more useful to an affected individual than a feature-importance chart?</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Write a model card for the dropout-prediction model used throughout this book: intended use, out-of-scope use, data, subgroup performance you would report, limitations, and the contest route.</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university proposes webcam-based exam proctoring with automated cheating detection. Run the three-stage ethical review of Figure 28.3 and give a recommendation with conditions.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665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28</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28</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29 — Research Methods and Experimental Design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28, pages 183–189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Monitored service; fairness measurement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Capstone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28  ·  Responsible AI and Data Ethics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108AEE67-A917-43D2-8CF9-9F0025D6B05E}"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28: Responsible AI and Data Ethics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