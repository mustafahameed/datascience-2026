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5.svg" ContentType="image/svg+xml"/>
  <Override PartName="/ppt/media/image8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A4BA6EF-CE0E-49C5-ABA3-AE67188ADDBE}">
          <p14:sldIdLst>
            <p14:sldId id="256"/>
            <p14:sldId id="257"/>
            <p14:sldId id="258"/>
            <p14:sldId id="259"/>
            <p14:sldId id="260"/>
          </p14:sldIdLst>
        </p14:section>
        <p14:section name="10.1 The Four Explanations for Any Correlation" id="{C5A969C2-7955-4EC6-9C8A-830800B547A8}">
          <p14:sldIdLst>
            <p14:sldId id="261"/>
            <p14:sldId id="262"/>
            <p14:sldId id="263"/>
          </p14:sldIdLst>
        </p14:section>
        <p14:section name="10.2 Confounders, Colliders and Mediators" id="{1A1C4A50-BE7A-40C7-A233-AFE03F673AF3}">
          <p14:sldIdLst>
            <p14:sldId id="264"/>
            <p14:sldId id="265"/>
            <p14:sldId id="266"/>
          </p14:sldIdLst>
        </p14:section>
        <p14:section name="10.3 Experiments: The Gold Standard" id="{E45E3A85-4D2A-4AD4-A9F7-8D6BD1BBE8DE}">
          <p14:sldIdLst>
            <p14:sldId id="267"/>
            <p14:sldId id="268"/>
            <p14:sldId id="269"/>
            <p14:sldId id="270"/>
            <p14:sldId id="271"/>
          </p14:sldIdLst>
        </p14:section>
        <p14:section name="10.4 When You Cannot Randomise" id="{D8617911-C051-49C2-85F5-1A63033CF8F7}">
          <p14:sldIdLst>
            <p14:sldId id="272"/>
            <p14:sldId id="273"/>
            <p14:sldId id="274"/>
          </p14:sldIdLst>
        </p14:section>
        <p14:section name="10.5 Prediction Does Not Need Causation — Until It Does" id="{038CC2B1-8AD5-4DB0-BB8C-FBDB12799106}">
          <p14:sldIdLst>
            <p14:sldId id="275"/>
          </p14:sldIdLst>
        </p14:section>
        <p14:section name="Four lenses" id="{10EA684A-46C2-4713-9675-00B8162B517F}">
          <p14:sldIdLst>
            <p14:sldId id="276"/>
            <p14:sldId id="277"/>
            <p14:sldId id="278"/>
            <p14:sldId id="279"/>
            <p14:sldId id="280"/>
          </p14:sldIdLst>
        </p14:section>
        <p14:section name="Lab" id="{7A74CE0D-0685-48FB-B085-45C6A1C99FFA}">
          <p14:sldIdLst>
            <p14:sldId id="281"/>
            <p14:sldId id="282"/>
            <p14:sldId id="283"/>
            <p14:sldId id="284"/>
          </p14:sldIdLst>
        </p14:section>
        <p14:section name="Checkpoint" id="{2D9D3918-0AC6-4DD5-BEDB-7B3E259A3F2A}">
          <p14:sldIdLst>
            <p14:sldId id="285"/>
            <p14:sldId id="286"/>
            <p14:sldId id="287"/>
            <p14:sldId id="288"/>
            <p14:sldId id="289"/>
            <p14:sldId id="290"/>
          </p14:sldIdLst>
        </p14:section>
        <p14:section name="Wrap-up" id="{9F04C021-8DE2-4F64-A9BE-466F18409EE0}">
          <p14:sldIdLst>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10: Relationships and Causality. Part 2 — From Data to Insight. Week 6: Inference and causality. Handout pages 62–69.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8 (Simpson’s paradox, which is confounding seen in a chart) and Chapter 9 (hypothesis testing, effect size, power).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causation; confounder; collider; mediator; reverse causation; spurious correlation; randomised controlled trial; A/B test; control group; counterfactual; natural experiment; difference-in-differences; selection bias.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observe that students who attend the optional revision session score higher. Before concluding the session helps, note that there are four possible explanations, and only one of them is the one you want.</a:t>
            </a:r>
          </a:p>
          <a:p/>
          <a:p>
            <a:r>
              <a:t>Figure 10.1 (handout p. 62): The four explanations for an observed association. Data alone cannot distinguish them — the same correlation coefficient is consistent with all four. Only a design can.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different roles a third variable can play. They look similar in a dataset and demand opposite treatment, which is why they are worth separating carefully.</a:t>
            </a:r>
          </a:p>
          <a:p/>
          <a:p>
            <a:r>
              <a:t>Figure 10.2 (handout p. 63): Three roles for a third variable. “Control for everything you have” is not a safe default: adjusting for a mediator hides a real effect, and adjusting for a collider manufactures a false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10.3 (handout p. 64): The structure of a randomised experiment. Everything hinges on the random assignment step: without it, the final difference confounds the treatment with whatever made people end up in each group.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Often randomisation is impossible — you cannot randomly assign students to be disadvantaged, or randomly expose half your servers to attack. Quasi-experimental designs recover part of the causal claim.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Confounder: prior attainment causes both engagement and final marks, so any “engagement helps” finding must adjust for it. Design: randomise which students are offered the intervention, not who takes it — then compare by offer (intention to treat), which stays causal even though uptake is voluntary. Ethical constraint: you may not withhold a support service believed to work, so stepped-wedge designs, where everyone eventually receives it, are the norm.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Confounder: project complexity causes both the choice of methodology and the risk of overrun, so “agile projects succeed more” is almost always confounded — simple projects get agile. Design: randomising methodology across projects is rarely feasible; difference-in-differences across teams that adopted a practice at different times is the practical alternative. Collider warning: studying only completed projects conditions on survival and will mislead you.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Confounder: ambient temperature drives both cooling-fan speed and failure rate. Advantage: devices are far easier to randomise than people — push a firmware change to a random half of the fleet and you have a true RCT, with no consent problem and thousands of units. This makes IoT one of the few domains where clean causal evidence is cheap, and it is badly under-exploited.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Reverse causation: do more security tools cause fewer incidents, or do organisations that suffer incidents buy more tools? Both, which makes cross-sectional comparisons nearly meaningless. Design: A/B test detection rules on randomly split traffic. Collider warning: analysing only detected attacks conditions on detection, so you will systematically conclude that attacks look like the ones your current tools already catch.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clearest way to understand confounding is to build one and watch it fool you.</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confounder is hot weather, which increases both ice cream sales and swimming. Explanation 3 in Figure 10.1.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participation is not random: people who choose to participate differ systematically from those who do not (motivation, availability, need). A larger sample makes the biased estimate more precise, not more correct.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Conditioning on a collider. Both traits increase the chance of being hired, so among the hired the two become negatively correlated. The association is an artefact of studying only successful applicants.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11 — Machine Learning Fundamentals. READ: Handout Chapter 10, pages 62–69. THIS WEEK'S LAB: Intervals, tests, confounder simulation.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7.xml"/><Relationship Id="rId9"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1.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image" Target="../media/image27.png"/><Relationship Id="rId7" Type="http://schemas.openxmlformats.org/officeDocument/2006/relationships/image" Target="../media/image28.sv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3.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image" Target="../media/image36.png"/><Relationship Id="rId5" Type="http://schemas.openxmlformats.org/officeDocument/2006/relationships/image" Target="../media/image37.sv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 Id="rId9" Type="http://schemas.openxmlformats.org/officeDocument/2006/relationships/image" Target="../media/image41.svg"/><Relationship Id="rId10" Type="http://schemas.openxmlformats.org/officeDocument/2006/relationships/image" Target="../media/image42.png"/><Relationship Id="rId11" Type="http://schemas.openxmlformats.org/officeDocument/2006/relationships/image" Target="../media/image43.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image" Target="../media/image36.png"/><Relationship Id="rId5" Type="http://schemas.openxmlformats.org/officeDocument/2006/relationships/image" Target="../media/image46.svg"/><Relationship Id="rId6" Type="http://schemas.openxmlformats.org/officeDocument/2006/relationships/image" Target="../media/image38.png"/><Relationship Id="rId7" Type="http://schemas.openxmlformats.org/officeDocument/2006/relationships/image" Target="../media/image47.svg"/><Relationship Id="rId8" Type="http://schemas.openxmlformats.org/officeDocument/2006/relationships/image" Target="../media/image40.png"/><Relationship Id="rId9" Type="http://schemas.openxmlformats.org/officeDocument/2006/relationships/image" Target="../media/image48.svg"/><Relationship Id="rId10" Type="http://schemas.openxmlformats.org/officeDocument/2006/relationships/image" Target="../media/image42.png"/><Relationship Id="rId11" Type="http://schemas.openxmlformats.org/officeDocument/2006/relationships/image" Target="../media/image49.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image" Target="../media/image38.png"/><Relationship Id="rId5" Type="http://schemas.openxmlformats.org/officeDocument/2006/relationships/image" Target="../media/image52.svg"/><Relationship Id="rId6" Type="http://schemas.openxmlformats.org/officeDocument/2006/relationships/image" Target="../media/image36.png"/><Relationship Id="rId7" Type="http://schemas.openxmlformats.org/officeDocument/2006/relationships/image" Target="../media/image53.svg"/><Relationship Id="rId8" Type="http://schemas.openxmlformats.org/officeDocument/2006/relationships/image" Target="../media/image40.png"/><Relationship Id="rId9" Type="http://schemas.openxmlformats.org/officeDocument/2006/relationships/image" Target="../media/image54.svg"/><Relationship Id="rId10" Type="http://schemas.openxmlformats.org/officeDocument/2006/relationships/image" Target="../media/image42.png"/><Relationship Id="rId11" Type="http://schemas.openxmlformats.org/officeDocument/2006/relationships/image" Target="../media/image55.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image" Target="../media/image40.png"/><Relationship Id="rId5" Type="http://schemas.openxmlformats.org/officeDocument/2006/relationships/image" Target="../media/image58.svg"/><Relationship Id="rId6" Type="http://schemas.openxmlformats.org/officeDocument/2006/relationships/image" Target="../media/image36.png"/><Relationship Id="rId7" Type="http://schemas.openxmlformats.org/officeDocument/2006/relationships/image" Target="../media/image59.svg"/><Relationship Id="rId8" Type="http://schemas.openxmlformats.org/officeDocument/2006/relationships/image" Target="../media/image38.png"/><Relationship Id="rId9" Type="http://schemas.openxmlformats.org/officeDocument/2006/relationships/image" Target="../media/image60.svg"/><Relationship Id="rId10" Type="http://schemas.openxmlformats.org/officeDocument/2006/relationships/image" Target="../media/image42.png"/><Relationship Id="rId11" Type="http://schemas.openxmlformats.org/officeDocument/2006/relationships/image" Target="../media/image61.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42.png"/><Relationship Id="rId5" Type="http://schemas.openxmlformats.org/officeDocument/2006/relationships/image" Target="../media/image64.svg"/><Relationship Id="rId6" Type="http://schemas.openxmlformats.org/officeDocument/2006/relationships/image" Target="../media/image36.png"/><Relationship Id="rId7" Type="http://schemas.openxmlformats.org/officeDocument/2006/relationships/image" Target="../media/image65.svg"/><Relationship Id="rId8" Type="http://schemas.openxmlformats.org/officeDocument/2006/relationships/image" Target="../media/image38.png"/><Relationship Id="rId9" Type="http://schemas.openxmlformats.org/officeDocument/2006/relationships/image" Target="../media/image66.svg"/><Relationship Id="rId10" Type="http://schemas.openxmlformats.org/officeDocument/2006/relationships/image" Target="../media/image40.png"/><Relationship Id="rId11" Type="http://schemas.openxmlformats.org/officeDocument/2006/relationships/image" Target="../media/image67.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7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image" Target="../media/image80.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image" Target="../media/image86.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10</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Relationships and Causality</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FROM DATA TO INSIGHT</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10  ·  WEEK 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62     </a:t>
            </a:r>
            <a:fld id="{D1C040AC-E7E2-4488-9A9A-C8A344131060}"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22678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226781"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70832"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57083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1568296"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Relationships and Causality</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8">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8">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8"/>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Exploratory Data Analysis and Visualisation</a:t>
            </a:r>
          </a:p>
        </p:txBody>
      </p:sp>
      <p:sp>
        <p:nvSpPr>
          <p:cNvPr id="88" name="!!chipBU9">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9">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9"/>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9  </a:t>
            </a:r>
            <a:r>
              <a:rPr sz="1400" b="0" i="0">
                <a:solidFill>
                  <a:srgbClr val="1C252B"/>
                </a:solidFill>
                <a:latin typeface="Segoe UI"/>
              </a:rPr>
              <a:t>Inferential Statistics</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28">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28">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28"/>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28  </a:t>
            </a:r>
            <a:r>
              <a:rPr sz="1400" b="0" i="0">
                <a:solidFill>
                  <a:srgbClr val="1C252B"/>
                </a:solidFill>
                <a:latin typeface="Segoe UI"/>
              </a:rPr>
              <a:t>Responsible AI and Data Ethics</a:t>
            </a:r>
          </a:p>
        </p:txBody>
      </p:sp>
      <p:sp>
        <p:nvSpPr>
          <p:cNvPr id="95" name="!!chipUS2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2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2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29  </a:t>
            </a:r>
            <a:r>
              <a:rPr sz="1400" b="0" i="0">
                <a:solidFill>
                  <a:srgbClr val="1C252B"/>
                </a:solidFill>
                <a:latin typeface="Segoe UI"/>
              </a:rPr>
              <a:t>Research Methods and Experimental Design</a:t>
            </a:r>
          </a:p>
        </p:txBody>
      </p:sp>
      <p:sp>
        <p:nvSpPr>
          <p:cNvPr id="9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62     </a:t>
            </a:r>
            <a:fld id="{24F4237F-4296-45E0-ACBB-DBA58FF1DE9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why correlation does not imply causation, and name the four alternative explanations for any observed association.</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Identify</a:t>
            </a:r>
            <a:r>
              <a:rPr sz="2100" b="0" i="0">
                <a:solidFill>
                  <a:srgbClr val="1C252B"/>
                </a:solidFill>
                <a:latin typeface="Segoe UI"/>
              </a:rPr>
              <a:t> confounders, colliders and mediators in a described scenario.</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Design</a:t>
            </a:r>
            <a:r>
              <a:rPr sz="2100" b="0" i="0">
                <a:solidFill>
                  <a:srgbClr val="1C252B"/>
                </a:solidFill>
                <a:latin typeface="Segoe UI"/>
              </a:rPr>
              <a:t> a randomised controlled experiment (A/B test) with a defensible sample size.</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Select</a:t>
            </a:r>
            <a:r>
              <a:rPr sz="2100" b="0" i="0">
                <a:solidFill>
                  <a:srgbClr val="1C252B"/>
                </a:solidFill>
                <a:latin typeface="Segoe UI"/>
              </a:rPr>
              <a:t> an appropriate quasi-experimental design when randomisation is impossible.</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871923"/>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Distinguish</a:t>
            </a:r>
            <a:r>
              <a:rPr sz="2100" b="0" i="0">
                <a:solidFill>
                  <a:srgbClr val="1C252B"/>
                </a:solidFill>
                <a:latin typeface="Segoe UI"/>
              </a:rPr>
              <a:t> the questions prediction can answer from those that require causal inference.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1437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62     </a:t>
            </a:r>
            <a:fld id="{D05F71EA-9A4A-4BD9-90B0-429CFD9E31F0}" type="slidenum">
              <a:rPr lang="en-GB" sz="1000">
                <a:solidFill>
                  <a:srgbClr val="8795A1"/>
                </a:solidFill>
                <a:latin typeface="Segoe UI"/>
              </a:rPr>
              <a:t>4</a:t>
            </a:fld>
          </a:p>
        </p:txBody>
      </p:sp>
      <p:sp>
        <p:nvSpPr>
          <p:cNvPr id="7" name="!!term-causation">
            <a:extLst>
              <a:ext uri="{C183D7F6-B498-43B3-948B-1728B52AA6E4}">
                <adec:decorative xmlns:adec="http://schemas.microsoft.com/office/drawing/2017/decorative" val="1"/>
              </a:ext>
            </a:extLst>
          </p:cNvPr>
          <p:cNvSpPr/>
          <p:nvPr/>
        </p:nvSpPr>
        <p:spPr>
          <a:xfrm>
            <a:off x="658368" y="1847088"/>
            <a:ext cx="13100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causa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causation"/>
          <p:cNvSpPr txBox="1"/>
          <p:nvPr/>
        </p:nvSpPr>
        <p:spPr>
          <a:xfrm>
            <a:off x="950976" y="1962911"/>
            <a:ext cx="112716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causation</a:t>
            </a:r>
          </a:p>
        </p:txBody>
      </p:sp>
      <p:sp>
        <p:nvSpPr>
          <p:cNvPr id="10" name="!!term-confounder">
            <a:extLst>
              <a:ext uri="{C183D7F6-B498-43B3-948B-1728B52AA6E4}">
                <adec:decorative xmlns:adec="http://schemas.microsoft.com/office/drawing/2017/decorative" val="1"/>
              </a:ext>
            </a:extLst>
          </p:cNvPr>
          <p:cNvSpPr/>
          <p:nvPr/>
        </p:nvSpPr>
        <p:spPr>
          <a:xfrm>
            <a:off x="2114714" y="1847088"/>
            <a:ext cx="14969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confounder">
            <a:extLst>
              <a:ext uri="{C183D7F6-B498-43B3-948B-1728B52AA6E4}">
                <adec:decorative xmlns:adec="http://schemas.microsoft.com/office/drawing/2017/decorative" val="1"/>
              </a:ext>
            </a:extLst>
          </p:cNvPr>
          <p:cNvSpPr/>
          <p:nvPr/>
        </p:nvSpPr>
        <p:spPr>
          <a:xfrm>
            <a:off x="224273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confounder"/>
          <p:cNvSpPr txBox="1"/>
          <p:nvPr/>
        </p:nvSpPr>
        <p:spPr>
          <a:xfrm>
            <a:off x="2407322" y="1962911"/>
            <a:ext cx="131411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confounder</a:t>
            </a:r>
          </a:p>
        </p:txBody>
      </p:sp>
      <p:sp>
        <p:nvSpPr>
          <p:cNvPr id="13" name="!!term-collider">
            <a:extLst>
              <a:ext uri="{C183D7F6-B498-43B3-948B-1728B52AA6E4}">
                <adec:decorative xmlns:adec="http://schemas.microsoft.com/office/drawing/2017/decorative" val="1"/>
              </a:ext>
            </a:extLst>
          </p:cNvPr>
          <p:cNvSpPr/>
          <p:nvPr/>
        </p:nvSpPr>
        <p:spPr>
          <a:xfrm>
            <a:off x="3758013" y="1847088"/>
            <a:ext cx="11092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ollider">
            <a:extLst>
              <a:ext uri="{C183D7F6-B498-43B3-948B-1728B52AA6E4}">
                <adec:decorative xmlns:adec="http://schemas.microsoft.com/office/drawing/2017/decorative" val="1"/>
              </a:ext>
            </a:extLst>
          </p:cNvPr>
          <p:cNvSpPr/>
          <p:nvPr/>
        </p:nvSpPr>
        <p:spPr>
          <a:xfrm>
            <a:off x="388602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ollider"/>
          <p:cNvSpPr txBox="1"/>
          <p:nvPr/>
        </p:nvSpPr>
        <p:spPr>
          <a:xfrm>
            <a:off x="4050621" y="1962911"/>
            <a:ext cx="92632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collider</a:t>
            </a:r>
          </a:p>
        </p:txBody>
      </p:sp>
      <p:sp>
        <p:nvSpPr>
          <p:cNvPr id="16" name="!!term-mediator">
            <a:extLst>
              <a:ext uri="{C183D7F6-B498-43B3-948B-1728B52AA6E4}">
                <adec:decorative xmlns:adec="http://schemas.microsoft.com/office/drawing/2017/decorative" val="1"/>
              </a:ext>
            </a:extLst>
          </p:cNvPr>
          <p:cNvSpPr/>
          <p:nvPr/>
        </p:nvSpPr>
        <p:spPr>
          <a:xfrm>
            <a:off x="5013521" y="1847088"/>
            <a:ext cx="12673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mediator">
            <a:extLst>
              <a:ext uri="{C183D7F6-B498-43B3-948B-1728B52AA6E4}">
                <adec:decorative xmlns:adec="http://schemas.microsoft.com/office/drawing/2017/decorative" val="1"/>
              </a:ext>
            </a:extLst>
          </p:cNvPr>
          <p:cNvSpPr/>
          <p:nvPr/>
        </p:nvSpPr>
        <p:spPr>
          <a:xfrm>
            <a:off x="514153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mediator"/>
          <p:cNvSpPr txBox="1"/>
          <p:nvPr/>
        </p:nvSpPr>
        <p:spPr>
          <a:xfrm>
            <a:off x="5306129" y="1962911"/>
            <a:ext cx="108444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mediator</a:t>
            </a:r>
          </a:p>
        </p:txBody>
      </p:sp>
      <p:sp>
        <p:nvSpPr>
          <p:cNvPr id="19" name="!!term-reverse causat">
            <a:extLst>
              <a:ext uri="{C183D7F6-B498-43B3-948B-1728B52AA6E4}">
                <adec:decorative xmlns:adec="http://schemas.microsoft.com/office/drawing/2017/decorative" val="1"/>
              </a:ext>
            </a:extLst>
          </p:cNvPr>
          <p:cNvSpPr/>
          <p:nvPr/>
        </p:nvSpPr>
        <p:spPr>
          <a:xfrm>
            <a:off x="6427145" y="1847088"/>
            <a:ext cx="20234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everse causat">
            <a:extLst>
              <a:ext uri="{C183D7F6-B498-43B3-948B-1728B52AA6E4}">
                <adec:decorative xmlns:adec="http://schemas.microsoft.com/office/drawing/2017/decorative" val="1"/>
              </a:ext>
            </a:extLst>
          </p:cNvPr>
          <p:cNvSpPr/>
          <p:nvPr/>
        </p:nvSpPr>
        <p:spPr>
          <a:xfrm>
            <a:off x="655516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everse causat"/>
          <p:cNvSpPr txBox="1"/>
          <p:nvPr/>
        </p:nvSpPr>
        <p:spPr>
          <a:xfrm>
            <a:off x="6719753" y="1962911"/>
            <a:ext cx="184052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reverse causation</a:t>
            </a:r>
          </a:p>
        </p:txBody>
      </p:sp>
      <p:sp>
        <p:nvSpPr>
          <p:cNvPr id="22" name="!!term-spurious corre">
            <a:extLst>
              <a:ext uri="{C183D7F6-B498-43B3-948B-1728B52AA6E4}">
                <adec:decorative xmlns:adec="http://schemas.microsoft.com/office/drawing/2017/decorative" val="1"/>
              </a:ext>
            </a:extLst>
          </p:cNvPr>
          <p:cNvSpPr/>
          <p:nvPr/>
        </p:nvSpPr>
        <p:spPr>
          <a:xfrm>
            <a:off x="8596855" y="1847088"/>
            <a:ext cx="22563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purious corre">
            <a:extLst>
              <a:ext uri="{C183D7F6-B498-43B3-948B-1728B52AA6E4}">
                <adec:decorative xmlns:adec="http://schemas.microsoft.com/office/drawing/2017/decorative" val="1"/>
              </a:ext>
            </a:extLst>
          </p:cNvPr>
          <p:cNvSpPr/>
          <p:nvPr/>
        </p:nvSpPr>
        <p:spPr>
          <a:xfrm>
            <a:off x="872487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purious corre"/>
          <p:cNvSpPr txBox="1"/>
          <p:nvPr/>
        </p:nvSpPr>
        <p:spPr>
          <a:xfrm>
            <a:off x="8889463" y="1962911"/>
            <a:ext cx="207348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spurious correlation</a:t>
            </a:r>
          </a:p>
        </p:txBody>
      </p:sp>
      <p:sp>
        <p:nvSpPr>
          <p:cNvPr id="25" name="!!term-randomised con">
            <a:extLst>
              <a:ext uri="{C183D7F6-B498-43B3-948B-1728B52AA6E4}">
                <adec:decorative xmlns:adec="http://schemas.microsoft.com/office/drawing/2017/decorative" val="1"/>
              </a:ext>
            </a:extLst>
          </p:cNvPr>
          <p:cNvSpPr/>
          <p:nvPr/>
        </p:nvSpPr>
        <p:spPr>
          <a:xfrm>
            <a:off x="658368" y="2468880"/>
            <a:ext cx="29152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randomised co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randomised con"/>
          <p:cNvSpPr txBox="1"/>
          <p:nvPr/>
        </p:nvSpPr>
        <p:spPr>
          <a:xfrm>
            <a:off x="950976" y="2584704"/>
            <a:ext cx="27323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randomised controlled trial</a:t>
            </a:r>
          </a:p>
        </p:txBody>
      </p:sp>
      <p:sp>
        <p:nvSpPr>
          <p:cNvPr id="28" name="!!term-A/B test">
            <a:extLst>
              <a:ext uri="{C183D7F6-B498-43B3-948B-1728B52AA6E4}">
                <adec:decorative xmlns:adec="http://schemas.microsoft.com/office/drawing/2017/decorative" val="1"/>
              </a:ext>
            </a:extLst>
          </p:cNvPr>
          <p:cNvSpPr/>
          <p:nvPr/>
        </p:nvSpPr>
        <p:spPr>
          <a:xfrm>
            <a:off x="3719932" y="2468880"/>
            <a:ext cx="11657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A/B test">
            <a:extLst>
              <a:ext uri="{C183D7F6-B498-43B3-948B-1728B52AA6E4}">
                <adec:decorative xmlns:adec="http://schemas.microsoft.com/office/drawing/2017/decorative" val="1"/>
              </a:ext>
            </a:extLst>
          </p:cNvPr>
          <p:cNvSpPr/>
          <p:nvPr/>
        </p:nvSpPr>
        <p:spPr>
          <a:xfrm>
            <a:off x="384794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A/B test"/>
          <p:cNvSpPr txBox="1"/>
          <p:nvPr/>
        </p:nvSpPr>
        <p:spPr>
          <a:xfrm>
            <a:off x="4012540" y="2584704"/>
            <a:ext cx="9828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A/B test</a:t>
            </a:r>
          </a:p>
        </p:txBody>
      </p:sp>
      <p:sp>
        <p:nvSpPr>
          <p:cNvPr id="31" name="!!term-control group">
            <a:extLst>
              <a:ext uri="{C183D7F6-B498-43B3-948B-1728B52AA6E4}">
                <adec:decorative xmlns:adec="http://schemas.microsoft.com/office/drawing/2017/decorative" val="1"/>
              </a:ext>
            </a:extLst>
          </p:cNvPr>
          <p:cNvSpPr/>
          <p:nvPr/>
        </p:nvSpPr>
        <p:spPr>
          <a:xfrm>
            <a:off x="5031997" y="2468880"/>
            <a:ext cx="16989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control group">
            <a:extLst>
              <a:ext uri="{C183D7F6-B498-43B3-948B-1728B52AA6E4}">
                <adec:decorative xmlns:adec="http://schemas.microsoft.com/office/drawing/2017/decorative" val="1"/>
              </a:ext>
            </a:extLst>
          </p:cNvPr>
          <p:cNvSpPr/>
          <p:nvPr/>
        </p:nvSpPr>
        <p:spPr>
          <a:xfrm>
            <a:off x="516001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control group"/>
          <p:cNvSpPr txBox="1"/>
          <p:nvPr/>
        </p:nvSpPr>
        <p:spPr>
          <a:xfrm>
            <a:off x="5324605" y="2584704"/>
            <a:ext cx="151611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control group</a:t>
            </a:r>
          </a:p>
        </p:txBody>
      </p:sp>
      <p:sp>
        <p:nvSpPr>
          <p:cNvPr id="34" name="!!term-counterfactual">
            <a:extLst>
              <a:ext uri="{C183D7F6-B498-43B3-948B-1728B52AA6E4}">
                <adec:decorative xmlns:adec="http://schemas.microsoft.com/office/drawing/2017/decorative" val="1"/>
              </a:ext>
            </a:extLst>
          </p:cNvPr>
          <p:cNvSpPr/>
          <p:nvPr/>
        </p:nvSpPr>
        <p:spPr>
          <a:xfrm>
            <a:off x="6877294" y="2468880"/>
            <a:ext cx="17509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counterfactual">
            <a:extLst>
              <a:ext uri="{C183D7F6-B498-43B3-948B-1728B52AA6E4}">
                <adec:decorative xmlns:adec="http://schemas.microsoft.com/office/drawing/2017/decorative" val="1"/>
              </a:ext>
            </a:extLst>
          </p:cNvPr>
          <p:cNvSpPr/>
          <p:nvPr/>
        </p:nvSpPr>
        <p:spPr>
          <a:xfrm>
            <a:off x="700531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counterfactual"/>
          <p:cNvSpPr txBox="1"/>
          <p:nvPr/>
        </p:nvSpPr>
        <p:spPr>
          <a:xfrm>
            <a:off x="7169902" y="2584704"/>
            <a:ext cx="156804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counterfactual</a:t>
            </a:r>
          </a:p>
        </p:txBody>
      </p:sp>
      <p:sp>
        <p:nvSpPr>
          <p:cNvPr id="37" name="!!term-natural experi">
            <a:extLst>
              <a:ext uri="{C183D7F6-B498-43B3-948B-1728B52AA6E4}">
                <adec:decorative xmlns:adec="http://schemas.microsoft.com/office/drawing/2017/decorative" val="1"/>
              </a:ext>
            </a:extLst>
          </p:cNvPr>
          <p:cNvSpPr/>
          <p:nvPr/>
        </p:nvSpPr>
        <p:spPr>
          <a:xfrm>
            <a:off x="8774526" y="2468880"/>
            <a:ext cx="21643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natural experi">
            <a:extLst>
              <a:ext uri="{C183D7F6-B498-43B3-948B-1728B52AA6E4}">
                <adec:decorative xmlns:adec="http://schemas.microsoft.com/office/drawing/2017/decorative" val="1"/>
              </a:ext>
            </a:extLst>
          </p:cNvPr>
          <p:cNvSpPr/>
          <p:nvPr/>
        </p:nvSpPr>
        <p:spPr>
          <a:xfrm>
            <a:off x="890254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natural experi"/>
          <p:cNvSpPr txBox="1"/>
          <p:nvPr/>
        </p:nvSpPr>
        <p:spPr>
          <a:xfrm>
            <a:off x="9067134" y="2584704"/>
            <a:ext cx="19815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natural experiment</a:t>
            </a:r>
          </a:p>
        </p:txBody>
      </p:sp>
      <p:sp>
        <p:nvSpPr>
          <p:cNvPr id="40" name="!!term-difference-in-">
            <a:extLst>
              <a:ext uri="{C183D7F6-B498-43B3-948B-1728B52AA6E4}">
                <adec:decorative xmlns:adec="http://schemas.microsoft.com/office/drawing/2017/decorative" val="1"/>
              </a:ext>
            </a:extLst>
          </p:cNvPr>
          <p:cNvSpPr/>
          <p:nvPr/>
        </p:nvSpPr>
        <p:spPr>
          <a:xfrm>
            <a:off x="658368" y="3090672"/>
            <a:ext cx="26847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difference-i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difference-in-"/>
          <p:cNvSpPr txBox="1"/>
          <p:nvPr/>
        </p:nvSpPr>
        <p:spPr>
          <a:xfrm>
            <a:off x="950976" y="3206496"/>
            <a:ext cx="250186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difference-in-differences</a:t>
            </a:r>
          </a:p>
        </p:txBody>
      </p:sp>
      <p:sp>
        <p:nvSpPr>
          <p:cNvPr id="43" name="!!term-selection bias">
            <a:extLst>
              <a:ext uri="{C183D7F6-B498-43B3-948B-1728B52AA6E4}">
                <adec:decorative xmlns:adec="http://schemas.microsoft.com/office/drawing/2017/decorative" val="1"/>
              </a:ext>
            </a:extLst>
          </p:cNvPr>
          <p:cNvSpPr/>
          <p:nvPr/>
        </p:nvSpPr>
        <p:spPr>
          <a:xfrm>
            <a:off x="3489412" y="3090672"/>
            <a:ext cx="16708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selection bias">
            <a:extLst>
              <a:ext uri="{C183D7F6-B498-43B3-948B-1728B52AA6E4}">
                <adec:decorative xmlns:adec="http://schemas.microsoft.com/office/drawing/2017/decorative" val="1"/>
              </a:ext>
            </a:extLst>
          </p:cNvPr>
          <p:cNvSpPr/>
          <p:nvPr/>
        </p:nvSpPr>
        <p:spPr>
          <a:xfrm>
            <a:off x="361742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selection bias"/>
          <p:cNvSpPr txBox="1"/>
          <p:nvPr/>
        </p:nvSpPr>
        <p:spPr>
          <a:xfrm>
            <a:off x="3782020" y="3206496"/>
            <a:ext cx="14880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selection bias</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62–69     </a:t>
            </a:r>
            <a:fld id="{399AF722-8065-4C7E-BD42-6AE320C8F58D}" type="slidenum">
              <a:rPr lang="en-GB" sz="1000">
                <a:solidFill>
                  <a:srgbClr val="8795A1"/>
                </a:solidFill>
                <a:latin typeface="Segoe UI"/>
              </a:rPr>
              <a:t>5</a:t>
            </a:fld>
          </a:p>
        </p:txBody>
      </p:sp>
      <p:sp>
        <p:nvSpPr>
          <p:cNvPr id="7" name="!!ag0" descr="Go to section 10.1 The Four Explanations for Any Correlatio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10.1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Four Explanations for Any Correlation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62  ›</a:t>
            </a:r>
          </a:p>
        </p:txBody>
      </p:sp>
      <p:sp>
        <p:nvSpPr>
          <p:cNvPr id="12" name="!!ag1" descr="Go to section 10.2 Confounders, Colliders and Mediator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10.2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Confounders, Colliders and Mediators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63  ›</a:t>
            </a:r>
          </a:p>
        </p:txBody>
      </p:sp>
      <p:sp>
        <p:nvSpPr>
          <p:cNvPr id="17" name="!!ag2" descr="Go to section 10.3 Experiments: The Gold Standar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10.3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Experiments: The Gold Standard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63  ›</a:t>
            </a:r>
          </a:p>
        </p:txBody>
      </p:sp>
      <p:sp>
        <p:nvSpPr>
          <p:cNvPr id="22" name="!!ag3" descr="Go to section 10.4 When You Cannot Randomise">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10.4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When You Cannot Randomise</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64  ›</a:t>
            </a:r>
          </a:p>
        </p:txBody>
      </p:sp>
      <p:sp>
        <p:nvSpPr>
          <p:cNvPr id="27" name="!!ag4" descr="Go to section 10.5 Prediction Does Not Need Causation — Until It Doe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10.5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Prediction Does Not Need Causation — Until It Does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65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Four Explanations for Any Correlation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10.1   The Four Explanations for Any Correlation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Confounders, Colliders and Mediators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Experiments: The Gold Standard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When You Cannot Randomise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10.5   Prediction Does Not Need Causation — Until It Does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§10.1     </a:t>
            </a:r>
            <a:fld id="{3A5339BE-D88D-406B-BE44-E5DA0CCB628A}"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four explanations for an observed association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10.1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§10.1  ·  Handout p. 62     </a:t>
            </a:r>
            <a:fld id="{363142C6-7AF6-47C0-90CC-ECCAD7E26639}" type="slidenum">
              <a:rPr lang="en-GB" sz="1000">
                <a:solidFill>
                  <a:srgbClr val="8795A1"/>
                </a:solidFill>
                <a:latin typeface="Segoe UI"/>
              </a:rPr>
              <a:t>7</a:t>
            </a:fld>
          </a:p>
        </p:txBody>
      </p:sp>
      <p:pic>
        <p:nvPicPr>
          <p:cNvPr id="6" name="!!figure" descr="Figure 10.1. The four explanations for an observed association. Data alone cannot distinguish them — the same correlation coefficient is consistent with all four. Only a design ca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92240"/>
            <a:ext cx="10874959" cy="228404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Data alone cannot distinguish them — the same correlation coefficient is consistent with all four. Only a design can.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13354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Applying the Four to One Finding</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§10.1  ·  Handout p. 62     </a:t>
            </a:r>
            <a:fld id="{9F00CDA2-AD69-4C81-92A8-C1D43CE475E9}"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75683"/>
          </a:xfrm>
          <a:prstGeom prst="roundRect">
            <a:avLst>
              <a:gd name="adj" fmla="val 208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7568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0" i="1">
                <a:solidFill>
                  <a:srgbClr val="1C252B"/>
                </a:solidFill>
                <a:latin typeface="Segoe UI"/>
              </a:rPr>
              <a:t>“Students who attend revision sessions score 12 marks higher.”</a:t>
            </a:r>
          </a:p>
        </p:txBody>
      </p:sp>
      <p:sp>
        <p:nvSpPr>
          <p:cNvPr id="10" name="body-1"/>
          <p:cNvSpPr txBox="1"/>
          <p:nvPr/>
        </p:nvSpPr>
        <p:spPr>
          <a:xfrm>
            <a:off x="1042416" y="2399868"/>
            <a:ext cx="10234879" cy="315163"/>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1. Causation.</a:t>
            </a:r>
            <a:r>
              <a:rPr sz="1700" b="0" i="0">
                <a:solidFill>
                  <a:srgbClr val="1C252B"/>
                </a:solidFill>
                <a:latin typeface="Segoe UI"/>
              </a:rPr>
              <a:t> The session teaches them things. Plausible.</a:t>
            </a:r>
          </a:p>
        </p:txBody>
      </p:sp>
      <p:sp>
        <p:nvSpPr>
          <p:cNvPr id="11" name="body-2"/>
          <p:cNvSpPr txBox="1"/>
          <p:nvPr/>
        </p:nvSpPr>
        <p:spPr>
          <a:xfrm>
            <a:off x="1042416" y="2788056"/>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2. Reverse causation.</a:t>
            </a:r>
            <a:r>
              <a:rPr sz="1700" b="0" i="0">
                <a:solidFill>
                  <a:srgbClr val="1C252B"/>
                </a:solidFill>
                <a:latin typeface="Segoe UI"/>
              </a:rPr>
              <a:t> Students already doing well feel they can spare an evening; struggling students are behind on coursework and cannot. Also plausible, and it predicts the same correlation.</a:t>
            </a:r>
          </a:p>
        </p:txBody>
      </p:sp>
      <p:sp>
        <p:nvSpPr>
          <p:cNvPr id="12" name="body-3"/>
          <p:cNvSpPr txBox="1"/>
          <p:nvPr/>
        </p:nvSpPr>
        <p:spPr>
          <a:xfrm>
            <a:off x="1042416" y="3445687"/>
            <a:ext cx="10234879"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3. Confounding.</a:t>
            </a:r>
            <a:r>
              <a:rPr sz="1700" b="0" i="0">
                <a:solidFill>
                  <a:srgbClr val="1C252B"/>
                </a:solidFill>
                <a:latin typeface="Segoe UI"/>
              </a:rPr>
              <a:t> </a:t>
            </a:r>
            <a:r>
              <a:rPr sz="1700" b="0" i="1">
                <a:solidFill>
                  <a:srgbClr val="1C252B"/>
                </a:solidFill>
                <a:latin typeface="Segoe UI"/>
              </a:rPr>
              <a:t>Conscientiousness</a:t>
            </a:r>
            <a:r>
              <a:rPr sz="1700" b="0" i="0">
                <a:solidFill>
                  <a:srgbClr val="1C252B"/>
                </a:solidFill>
                <a:latin typeface="Segoe UI"/>
              </a:rPr>
              <a:t> causes both attendance at optional sessions and higher marks. The session may contribute nothing. Highly plausible — and it is the default explanation for almost every “optional activity helps” finding in education.</a:t>
            </a:r>
          </a:p>
        </p:txBody>
      </p:sp>
      <p:sp>
        <p:nvSpPr>
          <p:cNvPr id="13" name="body-4"/>
          <p:cNvSpPr txBox="1"/>
          <p:nvPr/>
        </p:nvSpPr>
        <p:spPr>
          <a:xfrm>
            <a:off x="1042416" y="4372762"/>
            <a:ext cx="10234879" cy="58460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4. Chance.</a:t>
            </a:r>
            <a:r>
              <a:rPr sz="1700" b="0" i="0">
                <a:solidFill>
                  <a:srgbClr val="1C252B"/>
                </a:solidFill>
                <a:latin typeface="Segoe UI"/>
              </a:rPr>
              <a:t> If the department examined 30 optional activities, one showing a 12-mark gap is unremarkable.</a:t>
            </a:r>
          </a:p>
        </p:txBody>
      </p:sp>
      <p:sp>
        <p:nvSpPr>
          <p:cNvPr id="14" name="body-5"/>
          <p:cNvSpPr txBox="1"/>
          <p:nvPr/>
        </p:nvSpPr>
        <p:spPr>
          <a:xfrm>
            <a:off x="1042416" y="5030393"/>
            <a:ext cx="10234879" cy="85404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7D6608"/>
                </a:solidFill>
                <a:latin typeface="Segoe UI"/>
              </a:rPr>
              <a:t>The 12 marks is not wrong; the interpretation is unsupported.</a:t>
            </a:r>
            <a:r>
              <a:rPr sz="1700" b="0" i="0">
                <a:solidFill>
                  <a:srgbClr val="1C252B"/>
                </a:solidFill>
                <a:latin typeface="Segoe UI"/>
              </a:rPr>
              <a:t> If the department cancels the session on the strength of a null finding, or expands it on the strength of this one, both decisions rest on nothing. What settles it is </a:t>
            </a:r>
            <a:r>
              <a:rPr sz="1700" b="0" i="1">
                <a:solidFill>
                  <a:srgbClr val="1C252B"/>
                </a:solidFill>
                <a:latin typeface="Segoe UI"/>
              </a:rPr>
              <a:t>assignment</a:t>
            </a:r>
            <a:r>
              <a:rPr sz="1700" b="0" i="0">
                <a:solidFill>
                  <a:srgbClr val="1C252B"/>
                </a:solidFill>
                <a:latin typeface="Segoe UI"/>
              </a:rPr>
              <a:t>: decide who attends by a mechanism unrelated to the student.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Confounders, Colliders and Mediators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The Four Explanations for Any Correlation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10.2   Confounders, Colliders and Mediators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Experiments: The Gold Standard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When You Cannot Randomise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10.5   Prediction Does Not Need Causation — Until It Does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§10.2     </a:t>
            </a:r>
            <a:fld id="{E090F3AA-70B0-4014-A325-42F031925D5A}" type="slidenum">
              <a:rPr lang="en-GB" sz="1000">
                <a:solidFill>
                  <a:srgbClr val="8795A1"/>
                </a:solidFill>
                <a:latin typeface="Segoe UI"/>
              </a:rPr>
              <a:t>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7431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roles for a third variable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10.2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63     </a:t>
            </a:r>
            <a:fld id="{9A68FB66-6CF4-4291-A362-3DFD72976858}" type="slidenum">
              <a:rPr lang="en-GB" sz="1000">
                <a:solidFill>
                  <a:srgbClr val="8795A1"/>
                </a:solidFill>
                <a:latin typeface="Segoe UI"/>
              </a:rPr>
              <a:t>10</a:t>
            </a:fld>
          </a:p>
        </p:txBody>
      </p:sp>
      <p:pic>
        <p:nvPicPr>
          <p:cNvPr id="6" name="!!figure" descr="Figure 10.2. Three roles for a third variable. “Control for everything you have” is not a safe default: adjusting for a mediator hides a real effect, and adjusting for a collider manufactures a false o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35993"/>
            <a:ext cx="10874959" cy="317688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“Control for everything you have” is not a safe default: adjusting for a mediator hides a real effect, and adjusting for a collider manufactures a false one.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Collider You Will Meet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63     </a:t>
            </a:r>
            <a:fld id="{432881FE-86B7-49D1-8862-12C0E5F4BC6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Suppose both </a:t>
            </a:r>
            <a:r>
              <a:rPr sz="2300" b="0" i="1">
                <a:solidFill>
                  <a:srgbClr val="1C252B"/>
                </a:solidFill>
                <a:latin typeface="Segoe UI"/>
              </a:rPr>
              <a:t>technical skill</a:t>
            </a:r>
            <a:r>
              <a:rPr sz="2300" b="0" i="0">
                <a:solidFill>
                  <a:srgbClr val="1C252B"/>
                </a:solidFill>
                <a:latin typeface="Segoe UI"/>
              </a:rPr>
              <a:t> and </a:t>
            </a:r>
            <a:r>
              <a:rPr sz="2300" b="0" i="1">
                <a:solidFill>
                  <a:srgbClr val="1C252B"/>
                </a:solidFill>
                <a:latin typeface="Segoe UI"/>
              </a:rPr>
              <a:t>interview preparation</a:t>
            </a:r>
            <a:r>
              <a:rPr sz="2300" b="0" i="0">
                <a:solidFill>
                  <a:srgbClr val="1C252B"/>
                </a:solidFill>
                <a:latin typeface="Segoe UI"/>
              </a:rPr>
              <a:t> independently increase the chance of being hired. Among </a:t>
            </a:r>
            <a:r>
              <a:rPr sz="2300" b="0" i="1">
                <a:solidFill>
                  <a:srgbClr val="1C252B"/>
                </a:solidFill>
                <a:latin typeface="Segoe UI"/>
              </a:rPr>
              <a:t>hired</a:t>
            </a:r>
            <a:r>
              <a:rPr sz="2300" b="0" i="0">
                <a:solidFill>
                  <a:srgbClr val="1C252B"/>
                </a:solidFill>
                <a:latin typeface="Segoe UI"/>
              </a:rPr>
              <a:t> employees, the two become negatively correlated — someone who got in with little preparation must have been very skilled. Studying only hired staff, you would “discover” that preparation harms skill. Selecting on the outcome (hiring) is conditioning on a collider, and it is the mechanism behind a great deal of survivorship bias.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35271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Experiments: The Gold Standard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The Four Explanations for Any Correlation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Confounders, Colliders and Mediators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10.3   Experiments: The Gold Standard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When You Cannot Randomise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10.5   Prediction Does Not Need Causation — Until It Does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§10.3     </a:t>
            </a:r>
            <a:fld id="{66AA0873-4D1E-4B5E-87F1-72584D2B7181}"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Randomised Controlled Trial</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§10.3  ·  Handout p. 63     </a:t>
            </a:r>
            <a:fld id="{127B929F-F53A-4AFC-9565-946B5AE7FDA6}"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Units are assigned to treatment or control </a:t>
            </a:r>
            <a:r>
              <a:rPr sz="2300" b="0" i="1">
                <a:solidFill>
                  <a:srgbClr val="1C252B"/>
                </a:solidFill>
                <a:latin typeface="Segoe UI"/>
              </a:rPr>
              <a:t>at random</a:t>
            </a:r>
            <a:r>
              <a:rPr sz="2300" b="0" i="0">
                <a:solidFill>
                  <a:srgbClr val="1C252B"/>
                </a:solidFill>
                <a:latin typeface="Segoe UI"/>
              </a:rPr>
              <a:t>. Randomisation makes the two groups equivalent in expectation on </a:t>
            </a:r>
            <a:r>
              <a:rPr sz="2300" b="0" i="1">
                <a:solidFill>
                  <a:srgbClr val="1C252B"/>
                </a:solidFill>
                <a:latin typeface="Segoe UI"/>
              </a:rPr>
              <a:t>every</a:t>
            </a:r>
            <a:r>
              <a:rPr sz="2300" b="0" i="0">
                <a:solidFill>
                  <a:srgbClr val="1C252B"/>
                </a:solidFill>
                <a:latin typeface="Segoe UI"/>
              </a:rPr>
              <a:t> variable — measured, unmeasured and unimagined — so any difference in outcome can be attributed to the treatment.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96230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Randomisation Is So Powerful</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§10.3  ·  Handout p. 63     </a:t>
            </a:r>
            <a:fld id="{61379C56-CD71-484E-AC21-432062AE9BB9}"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Statistical control can only adjust for confounders you thought of and measured. Randomisation handles the ones you never knew existed. That is the whole argument, and it is why one small randomised study can outweigh a large observational one.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structure of a randomised experiment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10.3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§10.3  ·  Handout p. 63     </a:t>
            </a:r>
            <a:fld id="{744FD147-3282-4C60-944B-993B90559CCE}" type="slidenum">
              <a:rPr lang="en-GB" sz="1000">
                <a:solidFill>
                  <a:srgbClr val="8795A1"/>
                </a:solidFill>
                <a:latin typeface="Segoe UI"/>
              </a:rPr>
              <a:t>15</a:t>
            </a:fld>
          </a:p>
        </p:txBody>
      </p:sp>
      <p:pic>
        <p:nvPicPr>
          <p:cNvPr id="6" name="!!figure" descr="Figure 10.3. The structure of a randomised experiment. Everything hinges on the random assignment step: without it, the final difference confounds the treatment with whatever made people end up in each group."/>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90102"/>
            <a:ext cx="10874959" cy="286769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Everything hinges on the random assignment step: without it, the final difference confounds the treatment with whatever made people end up in each group.</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Many Students Do You Need?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§10.3.1  ·  Handout p. 64     </a:t>
            </a:r>
            <a:fld id="{4C7E4E95-6FED-4DE4-A59E-D542F60069E9}"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81825"/>
          </a:xfrm>
          <a:prstGeom prst="roundRect">
            <a:avLst>
              <a:gd name="adj" fmla="val 218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8182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You want to detect a 10 percentage-point rise in pass rate (from 68% to 78%) with 80% power at </a:t>
            </a:r>
            <a:r>
              <a:rPr sz="1600" b="0" i="0">
                <a:solidFill>
                  <a:srgbClr val="1C252B"/>
                </a:solidFill>
                <a:latin typeface="Cambria"/>
              </a:rPr>
              <a:t>α = 0.05</a:t>
            </a:r>
            <a:r>
              <a:rPr sz="1600" b="0" i="0">
                <a:solidFill>
                  <a:srgbClr val="1C252B"/>
                </a:solidFill>
                <a:latin typeface="Segoe UI"/>
              </a:rPr>
              <a:t>.</a:t>
            </a:r>
          </a:p>
        </p:txBody>
      </p:sp>
      <p:sp>
        <p:nvSpPr>
          <p:cNvPr id="10" name="body-1"/>
          <p:cNvSpPr txBox="1"/>
          <p:nvPr/>
        </p:nvSpPr>
        <p:spPr>
          <a:xfrm>
            <a:off x="1042416" y="2377033"/>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For two proportions, a workable approximation is</a:t>
            </a:r>
          </a:p>
        </p:txBody>
      </p:sp>
      <p:pic>
        <p:nvPicPr>
          <p:cNvPr id="11" name="body-2" descr="n \;\approx\; \frac{16 \,\bar{p}(1-\bar{p})}{\delta^2} \quad\text{per group, where } \delta \text{ is the difference to detec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742387"/>
            <a:ext cx="10234879" cy="467715"/>
          </a:xfrm>
          <a:prstGeom prst="rect">
            <a:avLst/>
          </a:prstGeom>
        </p:spPr>
      </p:pic>
      <p:sp>
        <p:nvSpPr>
          <p:cNvPr id="12" name="body-3"/>
          <p:cNvSpPr txBox="1"/>
          <p:nvPr/>
        </p:nvSpPr>
        <p:spPr>
          <a:xfrm>
            <a:off x="1042416" y="3321862"/>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With </a:t>
            </a:r>
            <a:r>
              <a:rPr sz="1600" b="0" i="1">
                <a:solidFill>
                  <a:srgbClr val="1C252B"/>
                </a:solidFill>
                <a:latin typeface="Cambria"/>
              </a:rPr>
              <a:t>p̄</a:t>
            </a:r>
            <a:r>
              <a:rPr sz="1600" b="0" i="0">
                <a:solidFill>
                  <a:srgbClr val="1C252B"/>
                </a:solidFill>
                <a:latin typeface="Cambria"/>
              </a:rPr>
              <a:t> = 0.73</a:t>
            </a:r>
            <a:r>
              <a:rPr sz="1600" b="0" i="0">
                <a:solidFill>
                  <a:srgbClr val="1C252B"/>
                </a:solidFill>
                <a:latin typeface="Segoe UI"/>
              </a:rPr>
              <a:t> and </a:t>
            </a:r>
            <a:r>
              <a:rPr sz="1600" b="0" i="0">
                <a:solidFill>
                  <a:srgbClr val="1C252B"/>
                </a:solidFill>
                <a:latin typeface="Cambria"/>
              </a:rPr>
              <a:t>δ = 0.10</a:t>
            </a:r>
            <a:r>
              <a:rPr sz="1600" b="0" i="0">
                <a:solidFill>
                  <a:srgbClr val="1C252B"/>
                </a:solidFill>
                <a:latin typeface="Segoe UI"/>
              </a:rPr>
              <a:t>:</a:t>
            </a:r>
          </a:p>
        </p:txBody>
      </p:sp>
      <p:pic>
        <p:nvPicPr>
          <p:cNvPr id="13" name="body-4" descr="n \approx \frac{16 \times 0.73 \times 0.27}{0.01} = \frac{16 \times 0.1971}{0.01} = \frac{3.154}{0.01} \approx 315 \text{ per group}"/>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687216"/>
            <a:ext cx="10234879" cy="466161"/>
          </a:xfrm>
          <a:prstGeom prst="rect">
            <a:avLst/>
          </a:prstGeom>
        </p:spPr>
      </p:pic>
      <p:sp>
        <p:nvSpPr>
          <p:cNvPr id="14" name="body-5"/>
          <p:cNvSpPr txBox="1"/>
          <p:nvPr/>
        </p:nvSpPr>
        <p:spPr>
          <a:xfrm>
            <a:off x="1042416" y="4265137"/>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So 630 students in total</a:t>
            </a:r>
            <a:r>
              <a:rPr sz="1600" b="0" i="0">
                <a:solidFill>
                  <a:srgbClr val="1C252B"/>
                </a:solidFill>
                <a:latin typeface="Segoe UI"/>
              </a:rPr>
              <a:t> — and the worked example in Chapter 9, which had 100 per group, was therefore never capable of detecting this effect. That is why its </a:t>
            </a:r>
            <a:r>
              <a:rPr sz="1600" b="0" i="1">
                <a:solidFill>
                  <a:srgbClr val="1C252B"/>
                </a:solidFill>
                <a:latin typeface="Cambria"/>
              </a:rPr>
              <a:t>p</a:t>
            </a:r>
            <a:r>
              <a:rPr sz="1600" b="0" i="0">
                <a:solidFill>
                  <a:srgbClr val="1C252B"/>
                </a:solidFill>
                <a:latin typeface="Cambria"/>
              </a:rPr>
              <a:t> = 0.078</a:t>
            </a:r>
            <a:r>
              <a:rPr sz="1600" b="0" i="0">
                <a:solidFill>
                  <a:srgbClr val="1C252B"/>
                </a:solidFill>
                <a:latin typeface="Segoe UI"/>
              </a:rPr>
              <a:t> told you almost nothing.</a:t>
            </a:r>
          </a:p>
        </p:txBody>
      </p:sp>
      <p:sp>
        <p:nvSpPr>
          <p:cNvPr id="15" name="body-5bar">
            <a:extLst>
              <a:ext uri="{C183D7F6-B498-43B3-948B-1728B52AA6E4}">
                <adec:decorative xmlns:adec="http://schemas.microsoft.com/office/drawing/2017/decorative" val="1"/>
              </a:ext>
            </a:extLst>
          </p:cNvPr>
          <p:cNvSpPr/>
          <p:nvPr/>
        </p:nvSpPr>
        <p:spPr>
          <a:xfrm>
            <a:off x="841248" y="4283425"/>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body-6"/>
          <p:cNvSpPr txBox="1"/>
          <p:nvPr/>
        </p:nvSpPr>
        <p:spPr>
          <a:xfrm>
            <a:off x="1042416" y="4884084"/>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Halve the effect you want to detect</a:t>
            </a:r>
            <a:r>
              <a:rPr sz="1600" b="0" i="0">
                <a:solidFill>
                  <a:srgbClr val="1C252B"/>
                </a:solidFill>
                <a:latin typeface="Segoe UI"/>
              </a:rPr>
              <a:t> (</a:t>
            </a:r>
            <a:r>
              <a:rPr sz="1600" b="0" i="0">
                <a:solidFill>
                  <a:srgbClr val="1C252B"/>
                </a:solidFill>
                <a:latin typeface="Cambria"/>
              </a:rPr>
              <a:t>δ = 0.05</a:t>
            </a:r>
            <a:r>
              <a:rPr sz="1600" b="0" i="0">
                <a:solidFill>
                  <a:srgbClr val="1C252B"/>
                </a:solidFill>
                <a:latin typeface="Segoe UI"/>
              </a:rPr>
              <a:t>) and </a:t>
            </a:r>
            <a:r>
              <a:rPr sz="1600" b="0" i="1">
                <a:solidFill>
                  <a:srgbClr val="1C252B"/>
                </a:solidFill>
                <a:latin typeface="Cambria"/>
              </a:rPr>
              <a:t>n</a:t>
            </a:r>
            <a:r>
              <a:rPr sz="1600" b="0" i="0">
                <a:solidFill>
                  <a:srgbClr val="1C252B"/>
                </a:solidFill>
                <a:latin typeface="Segoe UI"/>
              </a:rPr>
              <a:t> rises to about 1,260 per group: the sample scales with </a:t>
            </a:r>
            <a:r>
              <a:rPr sz="1600" b="0" i="0">
                <a:solidFill>
                  <a:srgbClr val="1C252B"/>
                </a:solidFill>
                <a:latin typeface="Cambria"/>
              </a:rPr>
              <a:t>1/δ</a:t>
            </a:r>
            <a:r>
              <a:rPr sz="1600" b="0" i="0" baseline="30000">
                <a:solidFill>
                  <a:srgbClr val="1C252B"/>
                </a:solidFill>
                <a:latin typeface="Cambria"/>
              </a:rPr>
              <a:t>2</a:t>
            </a:r>
            <a:r>
              <a:rPr sz="1600" b="0" i="0">
                <a:solidFill>
                  <a:srgbClr val="1C252B"/>
                </a:solidFill>
                <a:latin typeface="Segoe UI"/>
              </a:rPr>
              <a:t>. Small effects are extremely expensive to establish, which is worth knowing </a:t>
            </a:r>
            <a:r>
              <a:rPr sz="1600" b="0" i="1">
                <a:solidFill>
                  <a:srgbClr val="1C252B"/>
                </a:solidFill>
                <a:latin typeface="Segoe UI"/>
              </a:rPr>
              <a:t>before</a:t>
            </a:r>
            <a:r>
              <a:rPr sz="1600" b="0" i="0">
                <a:solidFill>
                  <a:srgbClr val="1C252B"/>
                </a:solidFill>
                <a:latin typeface="Segoe UI"/>
              </a:rPr>
              <a:t> promising a stakeholder an answer.</a:t>
            </a:r>
          </a:p>
        </p:txBody>
      </p:sp>
      <p:sp>
        <p:nvSpPr>
          <p:cNvPr id="17" name="body-6bar">
            <a:extLst>
              <a:ext uri="{C183D7F6-B498-43B3-948B-1728B52AA6E4}">
                <adec:decorative xmlns:adec="http://schemas.microsoft.com/office/drawing/2017/decorative" val="1"/>
              </a:ext>
            </a:extLst>
          </p:cNvPr>
          <p:cNvSpPr/>
          <p:nvPr/>
        </p:nvSpPr>
        <p:spPr>
          <a:xfrm>
            <a:off x="841248" y="4902372"/>
            <a:ext cx="54864" cy="7424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right)">
                                      <p:cBhvr>
                                        <p:cTn id="36" dur="42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When You Cannot Randomise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The Four Explanations for Any Correlation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Confounders, Colliders and Mediators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Experiments: The Gold Standard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10.4   When You Cannot Randomise</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10.5   Prediction Does Not Need Causation — Until It Does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§10.4     </a:t>
            </a:r>
            <a:fld id="{D000D101-DCEA-4878-82AB-A8D12360A460}" type="slidenum">
              <a:rPr lang="en-GB" sz="1000">
                <a:solidFill>
                  <a:srgbClr val="8795A1"/>
                </a:solidFill>
                <a:latin typeface="Segoe UI"/>
              </a:rPr>
              <a:t>17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1814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You Cannot Randomise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64     </a:t>
            </a:r>
            <a:fld id="{9E9287C7-D211-41AE-9572-0BC61007DC27}"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8" cy="3986784"/>
        </p:xfrm>
        <a:graphic>
          <a:graphicData uri="http://schemas.openxmlformats.org/drawingml/2006/table">
            <a:tbl>
              <a:tblPr firstRow="0" bandRow="0" firstCol="0" lastRow="0" lastCol="0" bandCol="0">
                <a:tableStyleId>{2D5ABB26-0587-4C30-8999-92F81FD0307C}</a:tableStyleId>
              </a:tblPr>
              <a:tblGrid>
                <a:gridCol w="2624990"/>
                <a:gridCol w="3899985"/>
                <a:gridCol w="4349983"/>
              </a:tblGrid>
              <a:tr h="405384">
                <a:tc>
                  <a:txBody>
                    <a:bodyPr wrap="square"/>
                    <a:lstStyle/>
                    <a:p>
                      <a:pPr algn="l"/>
                      <a:r>
                        <a:rPr sz="1700" b="1" i="0">
                          <a:solidFill>
                            <a:srgbClr val="1A5276"/>
                          </a:solidFill>
                          <a:latin typeface="Segoe UI"/>
                        </a:rPr>
                        <a:t>Design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Idea</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Key assumption (state it explicitly)</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Before/after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Compare the same units before and after a change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Nothing else changed at the same time — usually false</a:t>
                      </a:r>
                      <a:endParaRPr sz="1700"/>
                    </a:p>
                  </a:txBody>
                  <a:tcPr marL="109728" marR="109728" marT="64008" marB="45720" anchor="t">
                    <a:lnL w="0" cmpd="sng">
                      <a:noFill/>
                    </a:lnL>
                    <a:lnR w="0" cmpd="sng">
                      <a:noFill/>
                    </a:lnR>
                    <a:lnT w="9525" cmpd="sng">
                      <a:noFill/>
                    </a:lnT>
                    <a:lnB w="9525" cmpd="sng">
                      <a:noFill/>
                    </a:lnB>
                    <a:solidFill>
                      <a:srgbClr val="FFFFFF"/>
                    </a:solidFill>
                  </a:tcPr>
                </a:tc>
              </a:tr>
              <a:tr h="923544">
                <a:tc>
                  <a:txBody>
                    <a:bodyPr wrap="square"/>
                    <a:lstStyle/>
                    <a:p>
                      <a:pPr algn="l"/>
                      <a:r>
                        <a:rPr sz="1700" b="0" i="0">
                          <a:solidFill>
                            <a:srgbClr val="1C252B"/>
                          </a:solidFill>
                          <a:latin typeface="Segoe UI"/>
                        </a:rPr>
                        <a:t>Difference-in-differences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Compare before/after change in a treated group against an untreated one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The two groups’ trends would have moved in parallel without the treatment</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Matching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Pair each treated unit with a similar untreated one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All relevant confounders were measured and used in matching</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Regression discontinuity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Compare units just either side of a cutoff (e.g. a 40% pass mark)</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Units cannot precisely manipulate which side they land on</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Instrumental variable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Use something that shifts treatment but not the outcome directly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instrument affects the outcome </a:t>
                      </a:r>
                      <a:r>
                        <a:rPr sz="1700" b="0" i="1">
                          <a:solidFill>
                            <a:srgbClr val="1C252B"/>
                          </a:solidFill>
                          <a:latin typeface="Segoe UI"/>
                        </a:rPr>
                        <a:t>only</a:t>
                      </a:r>
                      <a:r>
                        <a:rPr sz="1700" b="0" i="0">
                          <a:solidFill>
                            <a:srgbClr val="1C252B"/>
                          </a:solidFill>
                          <a:latin typeface="Segoe UI"/>
                        </a:rPr>
                        <a:t> through the treatment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Before/After Alone Is Not Evidence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64     </a:t>
            </a:r>
            <a:fld id="{77DE969F-A43B-4999-B2E9-E9C3FD73CBDF}"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“We deployed the new firewall rules and incidents fell 40%” is compatible with: the rules worked; attack volume fell for unrelated reasons; the reporting process changed; a seasonal trough. Add a comparison group that did </a:t>
            </a:r>
            <a:r>
              <a:rPr sz="2300" b="0" i="1">
                <a:solidFill>
                  <a:srgbClr val="1C252B"/>
                </a:solidFill>
                <a:latin typeface="Segoe UI"/>
              </a:rPr>
              <a:t>not</a:t>
            </a:r>
            <a:r>
              <a:rPr sz="2300" b="0" i="0">
                <a:solidFill>
                  <a:srgbClr val="1C252B"/>
                </a:solidFill>
                <a:latin typeface="Segoe UI"/>
              </a:rPr>
              <a:t> receive the change and you have difference-in-differences — a genuinely different quality of claim, for very little extra work.</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79105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Distinction That Decides Your Method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§10.5  ·  Handout p. 65     </a:t>
            </a:r>
            <a:fld id="{14E13087-F034-4BA2-83F4-09FCCFA50A74}"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a:t>
            </a:r>
            <a:r>
              <a:rPr sz="2300" b="1" i="0">
                <a:solidFill>
                  <a:srgbClr val="1C252B"/>
                </a:solidFill>
                <a:latin typeface="Segoe UI"/>
              </a:rPr>
              <a:t>prediction</a:t>
            </a:r>
            <a:r>
              <a:rPr sz="2300" b="0" i="0">
                <a:solidFill>
                  <a:srgbClr val="1C252B"/>
                </a:solidFill>
                <a:latin typeface="Segoe UI"/>
              </a:rPr>
              <a:t>, correlation is enough. A model that flags at-risk students using forum inactivity works whether or not inactivity </a:t>
            </a:r>
            <a:r>
              <a:rPr sz="2300" b="0" i="1">
                <a:solidFill>
                  <a:srgbClr val="1C252B"/>
                </a:solidFill>
                <a:latin typeface="Segoe UI"/>
              </a:rPr>
              <a:t>causes</a:t>
            </a:r>
            <a:r>
              <a:rPr sz="2300" b="0" i="0">
                <a:solidFill>
                  <a:srgbClr val="1C252B"/>
                </a:solidFill>
                <a:latin typeface="Segoe UI"/>
              </a:rPr>
              <a:t> failure.</a:t>
            </a:r>
          </a:p>
        </p:txBody>
      </p:sp>
      <p:sp>
        <p:nvSpPr>
          <p:cNvPr id="10" name="body-1"/>
          <p:cNvSpPr txBox="1"/>
          <p:nvPr/>
        </p:nvSpPr>
        <p:spPr>
          <a:xfrm>
            <a:off x="1060704" y="2937992"/>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a:t>
            </a:r>
            <a:r>
              <a:rPr sz="2300" b="1" i="0">
                <a:solidFill>
                  <a:srgbClr val="1C252B"/>
                </a:solidFill>
                <a:latin typeface="Segoe UI"/>
              </a:rPr>
              <a:t>intervention</a:t>
            </a:r>
            <a:r>
              <a:rPr sz="2300" b="0" i="0">
                <a:solidFill>
                  <a:srgbClr val="1C252B"/>
                </a:solidFill>
                <a:latin typeface="Segoe UI"/>
              </a:rPr>
              <a:t>, correlation is useless. Forcing students to post on the forum will not help if inactivity was merely a symptom. The moment anyone asks “so what should we do?”, you have left prediction and entered causal inference — and Parts III and IV, which are entirely about prediction, will not answer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Causal Claims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634075FA-96AB-4123-A74E-2097D121F425}"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Confounder:</a:t>
            </a:r>
            <a:r>
              <a:rPr sz="2200" b="0" i="0">
                <a:solidFill>
                  <a:srgbClr val="1C252B"/>
                </a:solidFill>
                <a:latin typeface="Segoe UI"/>
              </a:rPr>
              <a:t> prior attainment causes both engagement and final marks, so any “engagement helps” finding must adjust for it.</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1">
                <a:solidFill>
                  <a:srgbClr val="1C252B"/>
                </a:solidFill>
                <a:latin typeface="Segoe UI"/>
              </a:rPr>
              <a:t>Confounder:</a:t>
            </a:r>
            <a:r>
              <a:rPr sz="1800" b="0" i="0">
                <a:solidFill>
                  <a:srgbClr val="1C252B"/>
                </a:solidFill>
                <a:latin typeface="Segoe UI"/>
              </a:rPr>
              <a:t> project complexity causes both the choice of methodology and the risk of overrun, so “agile projects succeed more” is almost always confounded — simple projects get agile.</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1">
                <a:solidFill>
                  <a:srgbClr val="1C252B"/>
                </a:solidFill>
                <a:latin typeface="Segoe UI"/>
              </a:rPr>
              <a:t>Confounder:</a:t>
            </a:r>
            <a:r>
              <a:rPr sz="2300" b="0" i="0">
                <a:solidFill>
                  <a:srgbClr val="1C252B"/>
                </a:solidFill>
                <a:latin typeface="Segoe UI"/>
              </a:rPr>
              <a:t> ambient temperature drives both cooling-fan speed and failure rate.</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Reverse causation:</a:t>
            </a:r>
            <a:r>
              <a:rPr sz="2200" b="0" i="0">
                <a:solidFill>
                  <a:srgbClr val="1C252B"/>
                </a:solidFill>
                <a:latin typeface="Segoe UI"/>
              </a:rPr>
              <a:t> do more security tools cause fewer incidents, or do organisations that suffer incidents buy more tools?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4006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Causal Claims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593A05EC-8B44-429B-AE84-3EBA9FFB2787}"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Confounder:</a:t>
            </a:r>
            <a:r>
              <a:rPr sz="2200" b="0" i="0">
                <a:solidFill>
                  <a:srgbClr val="1C252B"/>
                </a:solidFill>
                <a:latin typeface="Segoe UI"/>
              </a:rPr>
              <a:t> prior attainment causes both engagement and final marks, so any “engagement helps” finding must adjust for it. </a:t>
            </a:r>
            <a:r>
              <a:rPr sz="2200" b="0" i="1">
                <a:solidFill>
                  <a:srgbClr val="1C252B"/>
                </a:solidFill>
                <a:latin typeface="Segoe UI"/>
              </a:rPr>
              <a:t>Design:</a:t>
            </a:r>
            <a:r>
              <a:rPr sz="2200" b="0" i="0">
                <a:solidFill>
                  <a:srgbClr val="1C252B"/>
                </a:solidFill>
                <a:latin typeface="Segoe UI"/>
              </a:rPr>
              <a:t> randomise </a:t>
            </a:r>
            <a:r>
              <a:rPr sz="2200" b="0" i="1">
                <a:solidFill>
                  <a:srgbClr val="1C252B"/>
                </a:solidFill>
                <a:latin typeface="Segoe UI"/>
              </a:rPr>
              <a:t>which students are offered</a:t>
            </a:r>
            <a:r>
              <a:rPr sz="2200" b="0" i="0">
                <a:solidFill>
                  <a:srgbClr val="1C252B"/>
                </a:solidFill>
                <a:latin typeface="Segoe UI"/>
              </a:rPr>
              <a:t> the intervention, not who takes it — then compare by offer (intention to treat), which stays causal even though uptake is voluntary. </a:t>
            </a:r>
            <a:r>
              <a:rPr sz="2200" b="0" i="1">
                <a:solidFill>
                  <a:srgbClr val="1C252B"/>
                </a:solidFill>
                <a:latin typeface="Segoe UI"/>
              </a:rPr>
              <a:t>Ethical constraint:</a:t>
            </a:r>
            <a:r>
              <a:rPr sz="2200" b="0" i="0">
                <a:solidFill>
                  <a:srgbClr val="1C252B"/>
                </a:solidFill>
                <a:latin typeface="Segoe UI"/>
              </a:rPr>
              <a:t> you may not withhold a support service believed to work, so stepped-wedge designs, where everyone eventually receives it, are the norm.</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Causal Claims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72B40A85-7D1C-4CD2-8B75-227E65830012}" type="slidenum">
              <a:rPr lang="en-GB" sz="1000">
                <a:solidFill>
                  <a:srgbClr val="8795A1"/>
                </a:solidFill>
                <a:latin typeface="Segoe UI"/>
              </a:rPr>
              <a:t>23</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Confounder:</a:t>
            </a:r>
            <a:r>
              <a:rPr sz="2200" b="0" i="0">
                <a:solidFill>
                  <a:srgbClr val="1C252B"/>
                </a:solidFill>
                <a:latin typeface="Segoe UI"/>
              </a:rPr>
              <a:t> project complexity causes both the choice of methodology and the risk of overrun, so “agile projects succeed more” is almost always confounded — simple projects get agile. </a:t>
            </a:r>
            <a:r>
              <a:rPr sz="2200" b="0" i="1">
                <a:solidFill>
                  <a:srgbClr val="1C252B"/>
                </a:solidFill>
                <a:latin typeface="Segoe UI"/>
              </a:rPr>
              <a:t>Design:</a:t>
            </a:r>
            <a:r>
              <a:rPr sz="2200" b="0" i="0">
                <a:solidFill>
                  <a:srgbClr val="1C252B"/>
                </a:solidFill>
                <a:latin typeface="Segoe UI"/>
              </a:rPr>
              <a:t> randomising methodology across projects is rarely feasible; difference-in-differences across teams that adopted a practice at different times is the practical alternative. </a:t>
            </a:r>
            <a:r>
              <a:rPr sz="2200" b="0" i="1">
                <a:solidFill>
                  <a:srgbClr val="1C252B"/>
                </a:solidFill>
                <a:latin typeface="Segoe UI"/>
              </a:rPr>
              <a:t>Collider warning:</a:t>
            </a:r>
            <a:r>
              <a:rPr sz="2200" b="0" i="0">
                <a:solidFill>
                  <a:srgbClr val="1C252B"/>
                </a:solidFill>
                <a:latin typeface="Segoe UI"/>
              </a:rPr>
              <a:t> studying only </a:t>
            </a:r>
            <a:r>
              <a:rPr sz="2200" b="0" i="1">
                <a:solidFill>
                  <a:srgbClr val="1C252B"/>
                </a:solidFill>
                <a:latin typeface="Segoe UI"/>
              </a:rPr>
              <a:t>completed</a:t>
            </a:r>
            <a:r>
              <a:rPr sz="2200" b="0" i="0">
                <a:solidFill>
                  <a:srgbClr val="1C252B"/>
                </a:solidFill>
                <a:latin typeface="Segoe UI"/>
              </a:rPr>
              <a:t> projects conditions on survival and will mislead you.</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1022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Causal Claims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842C00A9-CBA6-45E1-9DD8-3B1B2EBE2EBD}" type="slidenum">
              <a:rPr lang="en-GB" sz="1000">
                <a:solidFill>
                  <a:srgbClr val="8795A1"/>
                </a:solidFill>
                <a:latin typeface="Segoe UI"/>
              </a:rPr>
              <a:t>24</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Confounder:</a:t>
            </a:r>
            <a:r>
              <a:rPr sz="2200" b="0" i="0">
                <a:solidFill>
                  <a:srgbClr val="1C252B"/>
                </a:solidFill>
                <a:latin typeface="Segoe UI"/>
              </a:rPr>
              <a:t> ambient temperature drives both cooling-fan speed and failure rate. </a:t>
            </a:r>
            <a:r>
              <a:rPr sz="2200" b="0" i="1">
                <a:solidFill>
                  <a:srgbClr val="1C252B"/>
                </a:solidFill>
                <a:latin typeface="Segoe UI"/>
              </a:rPr>
              <a:t>Advantage:</a:t>
            </a:r>
            <a:r>
              <a:rPr sz="2200" b="0" i="0">
                <a:solidFill>
                  <a:srgbClr val="1C252B"/>
                </a:solidFill>
                <a:latin typeface="Segoe UI"/>
              </a:rPr>
              <a:t> devices are far easier to randomise than people — push a firmware change to a random half of the fleet and you have a true RCT, with no consent problem and thousands of units. This makes IoT one of the few domains where clean causal evidence is cheap, and it is badly under-exploited.</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Causal Claims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DDA56784-F500-4313-9FE5-0348EEB14E57}" type="slidenum">
              <a:rPr lang="en-GB" sz="1000">
                <a:solidFill>
                  <a:srgbClr val="8795A1"/>
                </a:solidFill>
                <a:latin typeface="Segoe UI"/>
              </a:rPr>
              <a:t>25</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Reverse causation:</a:t>
            </a:r>
            <a:r>
              <a:rPr sz="2200" b="0" i="0">
                <a:solidFill>
                  <a:srgbClr val="1C252B"/>
                </a:solidFill>
                <a:latin typeface="Segoe UI"/>
              </a:rPr>
              <a:t> do more security tools cause fewer incidents, or do organisations that suffer incidents buy more tools? Both, which makes cross-sectional comparisons nearly meaningless. </a:t>
            </a:r>
            <a:r>
              <a:rPr sz="2200" b="0" i="1">
                <a:solidFill>
                  <a:srgbClr val="1C252B"/>
                </a:solidFill>
                <a:latin typeface="Segoe UI"/>
              </a:rPr>
              <a:t>Design:</a:t>
            </a:r>
            <a:r>
              <a:rPr sz="2200" b="0" i="0">
                <a:solidFill>
                  <a:srgbClr val="1C252B"/>
                </a:solidFill>
                <a:latin typeface="Segoe UI"/>
              </a:rPr>
              <a:t> A/B test detection rules on randomly split traffic. </a:t>
            </a:r>
            <a:r>
              <a:rPr sz="2200" b="0" i="1">
                <a:solidFill>
                  <a:srgbClr val="1C252B"/>
                </a:solidFill>
                <a:latin typeface="Segoe UI"/>
              </a:rPr>
              <a:t>Collider warning:</a:t>
            </a:r>
            <a:r>
              <a:rPr sz="2200" b="0" i="0">
                <a:solidFill>
                  <a:srgbClr val="1C252B"/>
                </a:solidFill>
                <a:latin typeface="Segoe UI"/>
              </a:rPr>
              <a:t> analysing only </a:t>
            </a:r>
            <a:r>
              <a:rPr sz="2200" b="0" i="1">
                <a:solidFill>
                  <a:srgbClr val="1C252B"/>
                </a:solidFill>
                <a:latin typeface="Segoe UI"/>
              </a:rPr>
              <a:t>detected</a:t>
            </a:r>
            <a:r>
              <a:rPr sz="2200" b="0" i="0">
                <a:solidFill>
                  <a:srgbClr val="1C252B"/>
                </a:solidFill>
                <a:latin typeface="Segoe UI"/>
              </a:rPr>
              <a:t> attacks conditions on detection, so you will systematically conclude that attacks look like the ones your current tools already catch.</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Simulating a Confounder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§10.5  ·  Handout p. 65     </a:t>
            </a:r>
            <a:fld id="{E7C8D168-0AD5-47FA-AE1A-E65C89B77FF5}" type="slidenum">
              <a:rPr lang="en-GB" sz="1000">
                <a:solidFill>
                  <a:srgbClr val="8795A1"/>
                </a:solidFill>
                <a:latin typeface="Segoe UI"/>
              </a:rPr>
              <a:t>26</a:t>
            </a:fld>
          </a:p>
        </p:txBody>
      </p:sp>
      <p:sp>
        <p:nvSpPr>
          <p:cNvPr id="7" name="body-0"/>
          <p:cNvSpPr txBox="1"/>
          <p:nvPr/>
        </p:nvSpPr>
        <p:spPr>
          <a:xfrm>
            <a:off x="658368" y="1737360"/>
            <a:ext cx="1087495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clearest way to understand confounding is to build one and watch it fool you.</a:t>
            </a:r>
          </a:p>
        </p:txBody>
      </p:sp>
      <p:sp>
        <p:nvSpPr>
          <p:cNvPr id="8" name="!!lfTHIS">
            <a:extLst>
              <a:ext uri="{C183D7F6-B498-43B3-948B-1728B52AA6E4}">
                <adec:decorative xmlns:adec="http://schemas.microsoft.com/office/drawing/2017/decorative" val="1"/>
              </a:ext>
            </a:extLst>
          </p:cNvPr>
          <p:cNvSpPr/>
          <p:nvPr/>
        </p:nvSpPr>
        <p:spPr>
          <a:xfrm>
            <a:off x="658368" y="236524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36524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52984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282244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6: Intervals, tests, confounder simulation</a:t>
            </a:r>
          </a:p>
        </p:txBody>
      </p:sp>
      <p:sp>
        <p:nvSpPr>
          <p:cNvPr id="12" name="!!lfWHAT">
            <a:extLst>
              <a:ext uri="{C183D7F6-B498-43B3-948B-1728B52AA6E4}">
                <adec:decorative xmlns:adec="http://schemas.microsoft.com/office/drawing/2017/decorative" val="1"/>
              </a:ext>
            </a:extLst>
          </p:cNvPr>
          <p:cNvSpPr/>
          <p:nvPr/>
        </p:nvSpPr>
        <p:spPr>
          <a:xfrm>
            <a:off x="4374794" y="236524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4374794" y="236524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4649114" y="252984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4649114" y="282244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23 lines of Python</a:t>
            </a:r>
          </a:p>
        </p:txBody>
      </p:sp>
      <p:sp>
        <p:nvSpPr>
          <p:cNvPr id="16" name="!!lfRUNN">
            <a:extLst>
              <a:ext uri="{C183D7F6-B498-43B3-948B-1728B52AA6E4}">
                <adec:decorative xmlns:adec="http://schemas.microsoft.com/office/drawing/2017/decorative" val="1"/>
              </a:ext>
            </a:extLst>
          </p:cNvPr>
          <p:cNvSpPr/>
          <p:nvPr/>
        </p:nvSpPr>
        <p:spPr>
          <a:xfrm>
            <a:off x="8091220" y="2365248"/>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bRUNN">
            <a:extLst>
              <a:ext uri="{C183D7F6-B498-43B3-948B-1728B52AA6E4}">
                <adec:decorative xmlns:adec="http://schemas.microsoft.com/office/drawing/2017/decorative" val="1"/>
              </a:ext>
            </a:extLst>
          </p:cNvPr>
          <p:cNvSpPr/>
          <p:nvPr/>
        </p:nvSpPr>
        <p:spPr>
          <a:xfrm>
            <a:off x="8091220" y="236524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lflRUNN"/>
          <p:cNvSpPr txBox="1"/>
          <p:nvPr/>
        </p:nvSpPr>
        <p:spPr>
          <a:xfrm>
            <a:off x="8365540" y="2529840"/>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9" name="!!lfvRUNN"/>
          <p:cNvSpPr txBox="1"/>
          <p:nvPr/>
        </p:nvSpPr>
        <p:spPr>
          <a:xfrm>
            <a:off x="8365540" y="2822448"/>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code/ch10_confounder.py</a:t>
            </a: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Simulating a Confounder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§10.5  ·  Handout p. 65     </a:t>
            </a:r>
            <a:fld id="{DCED6C74-4142-4FBF-A1F5-00C4211F661F}"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code/ch10_confounder.py</a:t>
            </a:r>
          </a:p>
        </p:txBody>
      </p:sp>
      <p:sp>
        <p:nvSpPr>
          <p:cNvPr id="14" name="!!code-text" descr="import numpy as np, pandas as pd rng = np.random.default_rng(7) n = 2000 # Z = conscientiousness. It causes BOTH attendance and marks. Z = rng.normal(0, 1, n) attends = (Z + rng.normal(0, 0.6, n)) &gt; 0.3 # caused by Z mark = 55 + 9*Z + rng.normal(0, 5, n) # caused by Z ONLY # note: `attends` does NOT appear in `mark` -- zero true effect df = pd.DataFrame({&quot;Z&quot;: Z, &quot;attends&quot;: attends, &quot;mark&quot;: mark}) naive = df[df.attends].mark.mean() - df[~df.attends].mark.mean() print(f&quot;naive 'effect' of attending: {naive:+.2f} marks&quot;) # ~ +10, and entirely fake"/>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numpy</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np</a:t>
            </a:r>
            <a:r>
              <a:rPr sz="1600" i="0">
                <a:solidFill>
                  <a:srgbClr val="AEB6BF"/>
                </a:solidFill>
                <a:latin typeface="Consolas"/>
              </a:rPr>
              <a:t>,</a:t>
            </a:r>
            <a:r>
              <a:rPr sz="1600" i="0">
                <a:solidFill>
                  <a:srgbClr val="E8EDF2"/>
                </a:solidFill>
                <a:latin typeface="Consolas"/>
              </a:rPr>
              <a:t> </a:t>
            </a:r>
            <a:r>
              <a:rPr sz="1600" i="0">
                <a:solidFill>
                  <a:srgbClr val="76D7C4"/>
                </a:solidFill>
                <a:latin typeface="Consolas"/>
              </a:rPr>
              <a:t>pandas</a:t>
            </a:r>
            <a:r>
              <a:rPr sz="1600" i="0">
                <a:solidFill>
                  <a:srgbClr val="E8EDF2"/>
                </a:solidFill>
                <a:latin typeface="Consolas"/>
              </a:rPr>
              <a:t> </a:t>
            </a:r>
            <a:r>
              <a:rPr sz="1600" i="0">
                <a:solidFill>
                  <a:srgbClr val="5DADE2"/>
                </a:solidFill>
                <a:latin typeface="Consolas"/>
              </a:rPr>
              <a:t>as</a:t>
            </a:r>
            <a:r>
              <a:rPr sz="1600" i="0">
                <a:solidFill>
                  <a:srgbClr val="E8EDF2"/>
                </a:solidFill>
                <a:latin typeface="Consolas"/>
              </a:rPr>
              <a:t> </a:t>
            </a:r>
            <a:r>
              <a:rPr sz="1600" i="0">
                <a:solidFill>
                  <a:srgbClr val="76D7C4"/>
                </a:solidFill>
                <a:latin typeface="Consolas"/>
              </a:rPr>
              <a:t>pd</a:t>
            </a:r>
          </a:p>
          <a:p>
            <a:pPr>
              <a:lnSpc>
                <a:spcPct val="100000"/>
              </a:lnSpc>
              <a:spcAft>
                <a:spcPts val="0"/>
              </a:spcAft>
            </a:pPr>
            <a:r>
              <a:rPr sz="1600" i="0">
                <a:solidFill>
                  <a:srgbClr val="E8EDF2"/>
                </a:solidFill>
                <a:latin typeface="Consolas"/>
              </a:rPr>
              <a:t>rng</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random</a:t>
            </a:r>
            <a:r>
              <a:rPr sz="1600" i="0">
                <a:solidFill>
                  <a:srgbClr val="AEB6BF"/>
                </a:solidFill>
                <a:latin typeface="Consolas"/>
              </a:rPr>
              <a:t>.</a:t>
            </a:r>
            <a:r>
              <a:rPr sz="1600" i="0">
                <a:solidFill>
                  <a:srgbClr val="E8EDF2"/>
                </a:solidFill>
                <a:latin typeface="Consolas"/>
              </a:rPr>
              <a:t>default_rng</a:t>
            </a:r>
            <a:r>
              <a:rPr sz="1600" i="0">
                <a:solidFill>
                  <a:srgbClr val="AEB6BF"/>
                </a:solidFill>
                <a:latin typeface="Consolas"/>
              </a:rPr>
              <a:t>(</a:t>
            </a:r>
            <a:r>
              <a:rPr sz="1600" i="0">
                <a:solidFill>
                  <a:srgbClr val="F7DC6F"/>
                </a:solidFill>
                <a:latin typeface="Consolas"/>
              </a:rPr>
              <a:t>7</a:t>
            </a:r>
            <a:r>
              <a:rPr sz="1600" i="0">
                <a:solidFill>
                  <a:srgbClr val="AEB6BF"/>
                </a:solidFill>
                <a:latin typeface="Consolas"/>
              </a:rPr>
              <a:t>)</a:t>
            </a:r>
          </a:p>
          <a:p>
            <a:pPr>
              <a:lnSpc>
                <a:spcPct val="100000"/>
              </a:lnSpc>
              <a:spcAft>
                <a:spcPts val="0"/>
              </a:spcAft>
            </a:pPr>
            <a:r>
              <a:rPr sz="1600" i="0">
                <a:solidFill>
                  <a:srgbClr val="E8EDF2"/>
                </a:solidFill>
                <a:latin typeface="Consolas"/>
              </a:rPr>
              <a:t>n</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2000</a:t>
            </a:r>
          </a:p>
          <a:p>
            <a:pPr>
              <a:lnSpc>
                <a:spcPct val="100000"/>
              </a:lnSpc>
              <a:spcAft>
                <a:spcPts val="0"/>
              </a:spcAft>
            </a:pPr>
            <a:r>
              <a:rPr sz="1600">
                <a:latin typeface="Consolas"/>
              </a:rPr>
              <a:t> </a:t>
            </a:r>
          </a:p>
          <a:p>
            <a:pPr>
              <a:lnSpc>
                <a:spcPct val="100000"/>
              </a:lnSpc>
              <a:spcAft>
                <a:spcPts val="0"/>
              </a:spcAft>
            </a:pPr>
            <a:r>
              <a:rPr sz="1600" i="1">
                <a:solidFill>
                  <a:srgbClr val="8795A1"/>
                </a:solidFill>
                <a:latin typeface="Consolas"/>
              </a:rPr>
              <a:t># Z = conscientiousness. It causes BOTH attendance and marks.</a:t>
            </a:r>
          </a:p>
          <a:p>
            <a:pPr>
              <a:lnSpc>
                <a:spcPct val="100000"/>
              </a:lnSpc>
              <a:spcAft>
                <a:spcPts val="0"/>
              </a:spcAft>
            </a:pPr>
            <a:r>
              <a:rPr sz="1600" i="0">
                <a:solidFill>
                  <a:srgbClr val="E8EDF2"/>
                </a:solidFill>
                <a:latin typeface="Consolas"/>
              </a:rPr>
              <a:t>Z</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rng</a:t>
            </a:r>
            <a:r>
              <a:rPr sz="1600" i="0">
                <a:solidFill>
                  <a:srgbClr val="AEB6BF"/>
                </a:solidFill>
                <a:latin typeface="Consolas"/>
              </a:rPr>
              <a:t>.</a:t>
            </a:r>
            <a:r>
              <a:rPr sz="1600" i="0">
                <a:solidFill>
                  <a:srgbClr val="E8EDF2"/>
                </a:solidFill>
                <a:latin typeface="Consolas"/>
              </a:rPr>
              <a:t>normal</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a:t>
            </a:r>
            <a:r>
              <a:rPr sz="1600" i="0">
                <a:solidFill>
                  <a:srgbClr val="AEB6BF"/>
                </a:solidFill>
                <a:latin typeface="Consolas"/>
              </a:rPr>
              <a:t>)</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attends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Z</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rng</a:t>
            </a:r>
            <a:r>
              <a:rPr sz="1600" i="0">
                <a:solidFill>
                  <a:srgbClr val="AEB6BF"/>
                </a:solidFill>
                <a:latin typeface="Consolas"/>
              </a:rPr>
              <a:t>.</a:t>
            </a:r>
            <a:r>
              <a:rPr sz="1600" i="0">
                <a:solidFill>
                  <a:srgbClr val="E8EDF2"/>
                </a:solidFill>
                <a:latin typeface="Consolas"/>
              </a:rPr>
              <a:t>normal</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0.6</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&gt;</a:t>
            </a:r>
            <a:r>
              <a:rPr sz="1600" i="0">
                <a:solidFill>
                  <a:srgbClr val="E8EDF2"/>
                </a:solidFill>
                <a:latin typeface="Consolas"/>
              </a:rPr>
              <a:t> </a:t>
            </a:r>
            <a:r>
              <a:rPr sz="1600" i="0">
                <a:solidFill>
                  <a:srgbClr val="F7DC6F"/>
                </a:solidFill>
                <a:latin typeface="Consolas"/>
              </a:rPr>
              <a:t>0.3</a:t>
            </a:r>
            <a:r>
              <a:rPr sz="1600" i="0">
                <a:solidFill>
                  <a:srgbClr val="E8EDF2"/>
                </a:solidFill>
                <a:latin typeface="Consolas"/>
              </a:rPr>
              <a:t>        </a:t>
            </a:r>
            <a:r>
              <a:rPr sz="1600" i="1">
                <a:solidFill>
                  <a:srgbClr val="8795A1"/>
                </a:solidFill>
                <a:latin typeface="Consolas"/>
              </a:rPr>
              <a:t># caused by Z</a:t>
            </a:r>
          </a:p>
          <a:p>
            <a:pPr>
              <a:lnSpc>
                <a:spcPct val="100000"/>
              </a:lnSpc>
              <a:spcAft>
                <a:spcPts val="0"/>
              </a:spcAft>
            </a:pPr>
            <a:r>
              <a:rPr sz="1600" i="0">
                <a:solidFill>
                  <a:srgbClr val="E8EDF2"/>
                </a:solidFill>
                <a:latin typeface="Consolas"/>
              </a:rPr>
              <a:t>mark</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55</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9</a:t>
            </a:r>
            <a:r>
              <a:rPr sz="1600" i="0">
                <a:solidFill>
                  <a:srgbClr val="AEB6BF"/>
                </a:solidFill>
                <a:latin typeface="Consolas"/>
              </a:rPr>
              <a:t>*</a:t>
            </a:r>
            <a:r>
              <a:rPr sz="1600" i="0">
                <a:solidFill>
                  <a:srgbClr val="E8EDF2"/>
                </a:solidFill>
                <a:latin typeface="Consolas"/>
              </a:rPr>
              <a:t>Z</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rng</a:t>
            </a:r>
            <a:r>
              <a:rPr sz="1600" i="0">
                <a:solidFill>
                  <a:srgbClr val="AEB6BF"/>
                </a:solidFill>
                <a:latin typeface="Consolas"/>
              </a:rPr>
              <a:t>.</a:t>
            </a:r>
            <a:r>
              <a:rPr sz="1600" i="0">
                <a:solidFill>
                  <a:srgbClr val="E8EDF2"/>
                </a:solidFill>
                <a:latin typeface="Consolas"/>
              </a:rPr>
              <a:t>normal</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5</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caused by Z ONLY</a:t>
            </a:r>
          </a:p>
          <a:p>
            <a:pPr>
              <a:lnSpc>
                <a:spcPct val="100000"/>
              </a:lnSpc>
              <a:spcAft>
                <a:spcPts val="0"/>
              </a:spcAft>
            </a:pPr>
            <a:r>
              <a:rPr sz="1600" i="1">
                <a:solidFill>
                  <a:srgbClr val="8795A1"/>
                </a:solidFill>
                <a:latin typeface="Consolas"/>
              </a:rPr>
              <a:t>#          note: `attends` does NOT appear in `mark` -- zero true effect</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df</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pd</a:t>
            </a:r>
            <a:r>
              <a:rPr sz="1600" i="0">
                <a:solidFill>
                  <a:srgbClr val="AEB6BF"/>
                </a:solidFill>
                <a:latin typeface="Consolas"/>
              </a:rPr>
              <a:t>.</a:t>
            </a:r>
            <a:r>
              <a:rPr sz="1600" i="0">
                <a:solidFill>
                  <a:srgbClr val="E8EDF2"/>
                </a:solidFill>
                <a:latin typeface="Consolas"/>
              </a:rPr>
              <a:t>DataFrame</a:t>
            </a:r>
            <a:r>
              <a:rPr sz="1600" i="0">
                <a:solidFill>
                  <a:srgbClr val="AEB6BF"/>
                </a:solidFill>
                <a:latin typeface="Consolas"/>
              </a:rPr>
              <a:t>(</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Z</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Z</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attends</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attends</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mark</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mark</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naive</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df</a:t>
            </a:r>
            <a:r>
              <a:rPr sz="1600" i="0">
                <a:solidFill>
                  <a:srgbClr val="AEB6BF"/>
                </a:solidFill>
                <a:latin typeface="Consolas"/>
              </a:rPr>
              <a:t>[</a:t>
            </a:r>
            <a:r>
              <a:rPr sz="1600" i="0">
                <a:solidFill>
                  <a:srgbClr val="E8EDF2"/>
                </a:solidFill>
                <a:latin typeface="Consolas"/>
              </a:rPr>
              <a:t>df</a:t>
            </a:r>
            <a:r>
              <a:rPr sz="1600" i="0">
                <a:solidFill>
                  <a:srgbClr val="AEB6BF"/>
                </a:solidFill>
                <a:latin typeface="Consolas"/>
              </a:rPr>
              <a:t>.</a:t>
            </a:r>
            <a:r>
              <a:rPr sz="1600" i="0">
                <a:solidFill>
                  <a:srgbClr val="E8EDF2"/>
                </a:solidFill>
                <a:latin typeface="Consolas"/>
              </a:rPr>
              <a:t>attends</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mark</a:t>
            </a:r>
            <a:r>
              <a:rPr sz="1600" i="0">
                <a:solidFill>
                  <a:srgbClr val="AEB6BF"/>
                </a:solidFill>
                <a:latin typeface="Consolas"/>
              </a:rPr>
              <a:t>.</a:t>
            </a:r>
            <a:r>
              <a:rPr sz="1600" i="0">
                <a:solidFill>
                  <a:srgbClr val="E8EDF2"/>
                </a:solidFill>
                <a:latin typeface="Consolas"/>
              </a:rPr>
              <a:t>mean</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df</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df</a:t>
            </a:r>
            <a:r>
              <a:rPr sz="1600" i="0">
                <a:solidFill>
                  <a:srgbClr val="AEB6BF"/>
                </a:solidFill>
                <a:latin typeface="Consolas"/>
              </a:rPr>
              <a:t>.</a:t>
            </a:r>
            <a:r>
              <a:rPr sz="1600" i="0">
                <a:solidFill>
                  <a:srgbClr val="E8EDF2"/>
                </a:solidFill>
                <a:latin typeface="Consolas"/>
              </a:rPr>
              <a:t>attends</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mark</a:t>
            </a:r>
            <a:r>
              <a:rPr sz="1600" i="0">
                <a:solidFill>
                  <a:srgbClr val="AEB6BF"/>
                </a:solidFill>
                <a:latin typeface="Consolas"/>
              </a:rPr>
              <a:t>.</a:t>
            </a:r>
            <a:r>
              <a:rPr sz="1600" i="0">
                <a:solidFill>
                  <a:srgbClr val="E8EDF2"/>
                </a:solidFill>
                <a:latin typeface="Consolas"/>
              </a:rPr>
              <a:t>mean</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C39BD3"/>
                </a:solidFill>
                <a:latin typeface="Consolas"/>
              </a:rPr>
              <a:t>print</a:t>
            </a:r>
            <a:r>
              <a:rPr sz="1600" i="0">
                <a:solidFill>
                  <a:srgbClr val="AEB6BF"/>
                </a:solidFill>
                <a:latin typeface="Consolas"/>
              </a:rPr>
              <a:t>(</a:t>
            </a:r>
            <a:r>
              <a:rPr sz="1600" i="0">
                <a:solidFill>
                  <a:srgbClr val="7DCEA0"/>
                </a:solidFill>
                <a:latin typeface="Consolas"/>
              </a:rPr>
              <a:t>f</a:t>
            </a:r>
            <a:r>
              <a:rPr sz="1600" i="0">
                <a:solidFill>
                  <a:srgbClr val="7DCEA0"/>
                </a:solidFill>
                <a:latin typeface="Consolas"/>
              </a:rPr>
              <a:t>"</a:t>
            </a:r>
            <a:r>
              <a:rPr sz="1600" i="0">
                <a:solidFill>
                  <a:srgbClr val="7DCEA0"/>
                </a:solidFill>
                <a:latin typeface="Consolas"/>
              </a:rPr>
              <a:t>naive </a:t>
            </a:r>
            <a:r>
              <a:rPr sz="1600" i="0">
                <a:solidFill>
                  <a:srgbClr val="7DCEA0"/>
                </a:solidFill>
                <a:latin typeface="Consolas"/>
              </a:rPr>
              <a:t>'</a:t>
            </a:r>
            <a:r>
              <a:rPr sz="1600" i="0">
                <a:solidFill>
                  <a:srgbClr val="7DCEA0"/>
                </a:solidFill>
                <a:latin typeface="Consolas"/>
              </a:rPr>
              <a:t>effect</a:t>
            </a:r>
            <a:r>
              <a:rPr sz="1600" i="0">
                <a:solidFill>
                  <a:srgbClr val="7DCEA0"/>
                </a:solidFill>
                <a:latin typeface="Consolas"/>
              </a:rPr>
              <a:t>'</a:t>
            </a:r>
            <a:r>
              <a:rPr sz="1600" i="0">
                <a:solidFill>
                  <a:srgbClr val="7DCEA0"/>
                </a:solidFill>
                <a:latin typeface="Consolas"/>
              </a:rPr>
              <a:t> of attending: </a:t>
            </a:r>
            <a:r>
              <a:rPr sz="1600" i="0">
                <a:solidFill>
                  <a:srgbClr val="7DCEA0"/>
                </a:solidFill>
                <a:latin typeface="Consolas"/>
              </a:rPr>
              <a:t>{</a:t>
            </a:r>
            <a:r>
              <a:rPr sz="1600" i="0">
                <a:solidFill>
                  <a:srgbClr val="E8EDF2"/>
                </a:solidFill>
                <a:latin typeface="Consolas"/>
              </a:rPr>
              <a:t>naive</a:t>
            </a:r>
            <a:r>
              <a:rPr sz="1600" i="0">
                <a:solidFill>
                  <a:srgbClr val="7DCEA0"/>
                </a:solidFill>
                <a:latin typeface="Consolas"/>
              </a:rPr>
              <a:t>:</a:t>
            </a:r>
            <a:r>
              <a:rPr sz="1600" i="0">
                <a:solidFill>
                  <a:srgbClr val="7DCEA0"/>
                </a:solidFill>
                <a:latin typeface="Consolas"/>
              </a:rPr>
              <a:t>+.2f</a:t>
            </a:r>
            <a:r>
              <a:rPr sz="1600" i="0">
                <a:solidFill>
                  <a:srgbClr val="7DCEA0"/>
                </a:solidFill>
                <a:latin typeface="Consolas"/>
              </a:rPr>
              <a:t>}</a:t>
            </a:r>
            <a:r>
              <a:rPr sz="1600" i="0">
                <a:solidFill>
                  <a:srgbClr val="7DCEA0"/>
                </a:solidFill>
                <a:latin typeface="Consolas"/>
              </a:rPr>
              <a:t> marks</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1">
                <a:solidFill>
                  <a:srgbClr val="8795A1"/>
                </a:solidFill>
                <a:latin typeface="Consolas"/>
              </a:rPr>
              <a:t># ~ +10, and entirely fake</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a:t>
            </a:r>
          </a:p>
          <a:p>
            <a:pPr algn="r">
              <a:lnSpc>
                <a:spcPct val="100000"/>
              </a:lnSpc>
            </a:pPr>
            <a:r>
              <a:rPr sz="1600">
                <a:solidFill>
                  <a:srgbClr val="4F5D6A"/>
                </a:solidFill>
                <a:latin typeface="Consolas"/>
              </a:rPr>
              <a:t>2</a:t>
            </a:r>
          </a:p>
          <a:p>
            <a:pPr algn="r">
              <a:lnSpc>
                <a:spcPct val="100000"/>
              </a:lnSpc>
            </a:pPr>
            <a:r>
              <a:rPr sz="1600">
                <a:solidFill>
                  <a:srgbClr val="4F5D6A"/>
                </a:solidFill>
                <a:latin typeface="Consolas"/>
              </a:rPr>
              <a:t>3</a:t>
            </a:r>
          </a:p>
          <a:p>
            <a:pPr algn="r">
              <a:lnSpc>
                <a:spcPct val="100000"/>
              </a:lnSpc>
            </a:pPr>
            <a:r>
              <a:rPr sz="1600">
                <a:solidFill>
                  <a:srgbClr val="4F5D6A"/>
                </a:solidFill>
                <a:latin typeface="Consolas"/>
              </a:rPr>
              <a:t>4</a:t>
            </a:r>
          </a:p>
          <a:p>
            <a:pPr algn="r">
              <a:lnSpc>
                <a:spcPct val="100000"/>
              </a:lnSpc>
            </a:pPr>
            <a:r>
              <a:rPr sz="1600">
                <a:solidFill>
                  <a:srgbClr val="4F5D6A"/>
                </a:solidFill>
                <a:latin typeface="Consolas"/>
              </a:rPr>
              <a:t>5</a:t>
            </a:r>
          </a:p>
          <a:p>
            <a:pPr algn="r">
              <a:lnSpc>
                <a:spcPct val="100000"/>
              </a:lnSpc>
            </a:pPr>
            <a:r>
              <a:rPr sz="1600">
                <a:solidFill>
                  <a:srgbClr val="4F5D6A"/>
                </a:solidFill>
                <a:latin typeface="Consolas"/>
              </a:rPr>
              <a:t>6</a:t>
            </a:r>
          </a:p>
          <a:p>
            <a:pPr algn="r">
              <a:lnSpc>
                <a:spcPct val="100000"/>
              </a:lnSpc>
            </a:pPr>
            <a:r>
              <a:rPr sz="1600">
                <a:solidFill>
                  <a:srgbClr val="4F5D6A"/>
                </a:solidFill>
                <a:latin typeface="Consolas"/>
              </a:rPr>
              <a:t>7</a:t>
            </a:r>
          </a:p>
          <a:p>
            <a:pPr algn="r">
              <a:lnSpc>
                <a:spcPct val="100000"/>
              </a:lnSpc>
            </a:pPr>
            <a:r>
              <a:rPr sz="1600">
                <a:solidFill>
                  <a:srgbClr val="4F5D6A"/>
                </a:solidFill>
                <a:latin typeface="Consolas"/>
              </a:rPr>
              <a:t>8</a:t>
            </a:r>
          </a:p>
          <a:p>
            <a:pPr algn="r">
              <a:lnSpc>
                <a:spcPct val="100000"/>
              </a:lnSpc>
            </a:pPr>
            <a:r>
              <a:rPr sz="1600">
                <a:solidFill>
                  <a:srgbClr val="4F5D6A"/>
                </a:solidFill>
                <a:latin typeface="Consolas"/>
              </a:rPr>
              <a:t>9</a:t>
            </a:r>
          </a:p>
          <a:p>
            <a:pPr algn="r">
              <a:lnSpc>
                <a:spcPct val="100000"/>
              </a:lnSpc>
            </a:pPr>
            <a:r>
              <a:rPr sz="1600">
                <a:solidFill>
                  <a:srgbClr val="4F5D6A"/>
                </a:solidFill>
                <a:latin typeface="Consolas"/>
              </a:rPr>
              <a:t>10</a:t>
            </a:r>
          </a:p>
          <a:p>
            <a:pPr algn="r">
              <a:lnSpc>
                <a:spcPct val="100000"/>
              </a:lnSpc>
            </a:pPr>
            <a:r>
              <a:rPr sz="1600">
                <a:solidFill>
                  <a:srgbClr val="4F5D6A"/>
                </a:solidFill>
                <a:latin typeface="Consolas"/>
              </a:rPr>
              <a:t>11</a:t>
            </a:r>
          </a:p>
          <a:p>
            <a:pPr algn="r">
              <a:lnSpc>
                <a:spcPct val="100000"/>
              </a:lnSpc>
            </a:pPr>
            <a:r>
              <a:rPr sz="1600">
                <a:solidFill>
                  <a:srgbClr val="4F5D6A"/>
                </a:solidFill>
                <a:latin typeface="Consolas"/>
              </a:rPr>
              <a:t>12</a:t>
            </a:r>
          </a:p>
          <a:p>
            <a:pPr algn="r">
              <a:lnSpc>
                <a:spcPct val="100000"/>
              </a:lnSpc>
            </a:pPr>
            <a:r>
              <a:rPr sz="1600">
                <a:solidFill>
                  <a:srgbClr val="4F5D6A"/>
                </a:solidFill>
                <a:latin typeface="Consolas"/>
              </a:rPr>
              <a:t>13</a:t>
            </a:r>
          </a:p>
          <a:p>
            <a:pPr algn="r">
              <a:lnSpc>
                <a:spcPct val="100000"/>
              </a:lnSpc>
            </a:pPr>
            <a:r>
              <a:rPr sz="1600">
                <a:solidFill>
                  <a:srgbClr val="4F5D6A"/>
                </a:solidFill>
                <a:latin typeface="Consolas"/>
              </a:rPr>
              <a:t>14</a:t>
            </a:r>
          </a:p>
          <a:p>
            <a:pPr algn="r">
              <a:lnSpc>
                <a:spcPct val="100000"/>
              </a:lnSpc>
            </a:pPr>
            <a:r>
              <a:rPr sz="16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939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Simulating a Confounder</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§10.5  ·  Handout p. 65     </a:t>
            </a:r>
            <a:fld id="{F5DDE799-A76B-4E21-B499-272DE3BBAB2C}"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2417064"/>
          </a:xfrm>
          <a:prstGeom prst="roundRect">
            <a:avLst>
              <a:gd name="adj" fmla="val 378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code/ch10_confounder.py</a:t>
            </a:r>
          </a:p>
        </p:txBody>
      </p:sp>
      <p:sp>
        <p:nvSpPr>
          <p:cNvPr id="13" name="!!code-text" descr="# Adjust for the confounder by comparing within strata of Z: df[&quot;band&quot;] = pd.qcut(df.Z, 5) adj = (df.groupby(&quot;band&quot;, observed=True) .apply(lambda g: g[g.attends].mark.mean() - g[~g.attends].mark.mean(), include_groups=False) .mean()) print(f&quot;after adjusting for Z: {adj:+.2f} marks&quot;) # ~ 0, the truth"/>
          <p:cNvSpPr txBox="1"/>
          <p:nvPr/>
        </p:nvSpPr>
        <p:spPr>
          <a:xfrm>
            <a:off x="1362456" y="2066543"/>
            <a:ext cx="9987991" cy="192328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Adjust for the confounder by comparing within strata of Z:</a:t>
            </a:r>
          </a:p>
          <a:p>
            <a:pPr>
              <a:lnSpc>
                <a:spcPct val="100000"/>
              </a:lnSpc>
              <a:spcAft>
                <a:spcPts val="0"/>
              </a:spcAft>
            </a:pPr>
            <a:r>
              <a:rPr sz="1700" i="0">
                <a:solidFill>
                  <a:srgbClr val="E8EDF2"/>
                </a:solidFill>
                <a:latin typeface="Consolas"/>
              </a:rPr>
              <a:t>df</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band</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pd</a:t>
            </a:r>
            <a:r>
              <a:rPr sz="1700" i="0">
                <a:solidFill>
                  <a:srgbClr val="AEB6BF"/>
                </a:solidFill>
                <a:latin typeface="Consolas"/>
              </a:rPr>
              <a:t>.</a:t>
            </a:r>
            <a:r>
              <a:rPr sz="1700" i="0">
                <a:solidFill>
                  <a:srgbClr val="E8EDF2"/>
                </a:solidFill>
                <a:latin typeface="Consolas"/>
              </a:rPr>
              <a:t>qcut</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Z</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5</a:t>
            </a:r>
            <a:r>
              <a:rPr sz="1700" i="0">
                <a:solidFill>
                  <a:srgbClr val="AEB6BF"/>
                </a:solidFill>
                <a:latin typeface="Consolas"/>
              </a:rPr>
              <a:t>)</a:t>
            </a:r>
          </a:p>
          <a:p>
            <a:pPr>
              <a:lnSpc>
                <a:spcPct val="100000"/>
              </a:lnSpc>
              <a:spcAft>
                <a:spcPts val="0"/>
              </a:spcAft>
            </a:pPr>
            <a:r>
              <a:rPr sz="1700" i="0">
                <a:solidFill>
                  <a:srgbClr val="E8EDF2"/>
                </a:solidFill>
                <a:latin typeface="Consolas"/>
              </a:rPr>
              <a:t>adj</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df</a:t>
            </a:r>
            <a:r>
              <a:rPr sz="1700" i="0">
                <a:solidFill>
                  <a:srgbClr val="AEB6BF"/>
                </a:solidFill>
                <a:latin typeface="Consolas"/>
              </a:rPr>
              <a:t>.</a:t>
            </a:r>
            <a:r>
              <a:rPr sz="1700" i="0">
                <a:solidFill>
                  <a:srgbClr val="E8EDF2"/>
                </a:solidFill>
                <a:latin typeface="Consolas"/>
              </a:rPr>
              <a:t>groupby</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band</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observed</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apply</a:t>
            </a:r>
            <a:r>
              <a:rPr sz="1700" i="0">
                <a:solidFill>
                  <a:srgbClr val="AEB6BF"/>
                </a:solidFill>
                <a:latin typeface="Consolas"/>
              </a:rPr>
              <a:t>(</a:t>
            </a:r>
            <a:r>
              <a:rPr sz="1700" i="0">
                <a:solidFill>
                  <a:srgbClr val="5DADE2"/>
                </a:solidFill>
                <a:latin typeface="Consolas"/>
              </a:rPr>
              <a:t>lambda</a:t>
            </a:r>
            <a:r>
              <a:rPr sz="1700" i="0">
                <a:solidFill>
                  <a:srgbClr val="E8EDF2"/>
                </a:solidFill>
                <a:latin typeface="Consolas"/>
              </a:rPr>
              <a:t> </a:t>
            </a:r>
            <a:r>
              <a:rPr sz="1700" i="0">
                <a:solidFill>
                  <a:srgbClr val="E8EDF2"/>
                </a:solidFill>
                <a:latin typeface="Consolas"/>
              </a:rPr>
              <a:t>g</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g</a:t>
            </a:r>
            <a:r>
              <a:rPr sz="1700" i="0">
                <a:solidFill>
                  <a:srgbClr val="AEB6BF"/>
                </a:solidFill>
                <a:latin typeface="Consolas"/>
              </a:rPr>
              <a:t>[</a:t>
            </a:r>
            <a:r>
              <a:rPr sz="1700" i="0">
                <a:solidFill>
                  <a:srgbClr val="E8EDF2"/>
                </a:solidFill>
                <a:latin typeface="Consolas"/>
              </a:rPr>
              <a:t>g</a:t>
            </a:r>
            <a:r>
              <a:rPr sz="1700" i="0">
                <a:solidFill>
                  <a:srgbClr val="AEB6BF"/>
                </a:solidFill>
                <a:latin typeface="Consolas"/>
              </a:rPr>
              <a:t>.</a:t>
            </a:r>
            <a:r>
              <a:rPr sz="1700" i="0">
                <a:solidFill>
                  <a:srgbClr val="E8EDF2"/>
                </a:solidFill>
                <a:latin typeface="Consolas"/>
              </a:rPr>
              <a:t>attends</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mark</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g</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g</a:t>
            </a:r>
            <a:r>
              <a:rPr sz="1700" i="0">
                <a:solidFill>
                  <a:srgbClr val="AEB6BF"/>
                </a:solidFill>
                <a:latin typeface="Consolas"/>
              </a:rPr>
              <a:t>.</a:t>
            </a:r>
            <a:r>
              <a:rPr sz="1700" i="0">
                <a:solidFill>
                  <a:srgbClr val="E8EDF2"/>
                </a:solidFill>
                <a:latin typeface="Consolas"/>
              </a:rPr>
              <a:t>attends</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mark</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include_groups</a:t>
            </a:r>
            <a:r>
              <a:rPr sz="1700" i="0">
                <a:solidFill>
                  <a:srgbClr val="AEB6BF"/>
                </a:solidFill>
                <a:latin typeface="Consolas"/>
              </a:rPr>
              <a:t>=</a:t>
            </a:r>
            <a:r>
              <a:rPr sz="1700" i="0">
                <a:solidFill>
                  <a:srgbClr val="5DADE2"/>
                </a:solidFill>
                <a:latin typeface="Consolas"/>
              </a:rPr>
              <a:t>False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after adjusting for Z:       </a:t>
            </a:r>
            <a:r>
              <a:rPr sz="1700" i="0">
                <a:solidFill>
                  <a:srgbClr val="7DCEA0"/>
                </a:solidFill>
                <a:latin typeface="Consolas"/>
              </a:rPr>
              <a:t>{</a:t>
            </a:r>
            <a:r>
              <a:rPr sz="1700" i="0">
                <a:solidFill>
                  <a:srgbClr val="E8EDF2"/>
                </a:solidFill>
                <a:latin typeface="Consolas"/>
              </a:rPr>
              <a:t>adj</a:t>
            </a:r>
            <a:r>
              <a:rPr sz="1700" i="0">
                <a:solidFill>
                  <a:srgbClr val="7DCEA0"/>
                </a:solidFill>
                <a:latin typeface="Consolas"/>
              </a:rPr>
              <a:t>:</a:t>
            </a:r>
            <a:r>
              <a:rPr sz="1700" i="0">
                <a:solidFill>
                  <a:srgbClr val="7DCEA0"/>
                </a:solidFill>
                <a:latin typeface="Consolas"/>
              </a:rPr>
              <a:t>+.2f</a:t>
            </a:r>
            <a:r>
              <a:rPr sz="1700" i="0">
                <a:solidFill>
                  <a:srgbClr val="7DCEA0"/>
                </a:solidFill>
                <a:latin typeface="Consolas"/>
              </a:rPr>
              <a:t>}</a:t>
            </a:r>
            <a:r>
              <a:rPr sz="1700" i="0">
                <a:solidFill>
                  <a:srgbClr val="7DCEA0"/>
                </a:solidFill>
                <a:latin typeface="Consolas"/>
              </a:rPr>
              <a:t> marks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 0, the truth</a:t>
            </a:r>
          </a:p>
        </p:txBody>
      </p:sp>
      <p:sp>
        <p:nvSpPr>
          <p:cNvPr id="14" name="!!code-num"/>
          <p:cNvSpPr txBox="1"/>
          <p:nvPr/>
        </p:nvSpPr>
        <p:spPr>
          <a:xfrm>
            <a:off x="768096" y="2066543"/>
            <a:ext cx="393192" cy="192328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16</a:t>
            </a:r>
          </a:p>
          <a:p>
            <a:pPr algn="r">
              <a:lnSpc>
                <a:spcPct val="100000"/>
              </a:lnSpc>
            </a:pPr>
            <a:r>
              <a:rPr sz="1700">
                <a:solidFill>
                  <a:srgbClr val="4F5D6A"/>
                </a:solidFill>
                <a:latin typeface="Consolas"/>
              </a:rPr>
              <a:t>17</a:t>
            </a:r>
          </a:p>
          <a:p>
            <a:pPr algn="r">
              <a:lnSpc>
                <a:spcPct val="100000"/>
              </a:lnSpc>
            </a:pPr>
            <a:r>
              <a:rPr sz="1700">
                <a:solidFill>
                  <a:srgbClr val="4F5D6A"/>
                </a:solidFill>
                <a:latin typeface="Consolas"/>
              </a:rPr>
              <a:t>18</a:t>
            </a:r>
          </a:p>
          <a:p>
            <a:pPr algn="r">
              <a:lnSpc>
                <a:spcPct val="100000"/>
              </a:lnSpc>
            </a:pPr>
            <a:r>
              <a:rPr sz="1700">
                <a:solidFill>
                  <a:srgbClr val="4F5D6A"/>
                </a:solidFill>
                <a:latin typeface="Consolas"/>
              </a:rPr>
              <a:t>19</a:t>
            </a:r>
          </a:p>
          <a:p>
            <a:pPr algn="r">
              <a:lnSpc>
                <a:spcPct val="100000"/>
              </a:lnSpc>
            </a:pPr>
            <a:r>
              <a:rPr sz="1700">
                <a:solidFill>
                  <a:srgbClr val="4F5D6A"/>
                </a:solidFill>
                <a:latin typeface="Consolas"/>
              </a:rPr>
              <a:t>20</a:t>
            </a:r>
          </a:p>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§10.5  ·  Handout p. 65     </a:t>
            </a:r>
            <a:fld id="{3949C97B-B89E-4EC5-A729-B7CF8E89DAB7}"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 lesson:</a:t>
            </a:r>
            <a:r>
              <a:rPr sz="2300" b="0" i="0">
                <a:solidFill>
                  <a:srgbClr val="1C252B"/>
                </a:solidFill>
                <a:latin typeface="Segoe UI"/>
              </a:rPr>
              <a:t> the naive comparison reports a large, highly significant effect of a variable that has no effect at all. No amount of extra data would have corrected it — only the adjustment did.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8389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Ice cream sales correlate with drowning deaths. Name the confounder and classify the association using Figure 10.1.</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10  ·  Relationships and Causality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69  ·  answers in Appendix D     </a:t>
            </a:r>
            <a:fld id="{9CC6EAA3-3897-49B4-974C-3C40B8C67B78}" type="slidenum">
              <a:rPr lang="en-GB" sz="1000">
                <a:solidFill>
                  <a:srgbClr val="D5DEE5"/>
                </a:solidFill>
                <a:latin typeface="Segoe UI"/>
              </a:rPr>
              <a:t>30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Ice cream sales correlate with drowning deaths. Name the confounder and classify the association using Figure 10.1.</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confounder is hot weather, which increases both ice cream sales and swimming. Explanation 3 in Figure 10.1.</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  answers in Appendix D     </a:t>
            </a:r>
            <a:fld id="{E1B9CE5A-AEBD-46EC-8B90-DA8515D1BDDA}" type="slidenum">
              <a:rPr lang="en-GB" sz="1000">
                <a:solidFill>
                  <a:srgbClr val="8795A1"/>
                </a:solidFill>
                <a:latin typeface="Segoe UI"/>
              </a:rPr>
              <a:t>31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4856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want to know whether a support programme helps. Why is comparing participants with non-participants insufficient, even with a large sample?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10  ·  Relationships and Causality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69  ·  answers in Appendix D     </a:t>
            </a:r>
            <a:fld id="{B6649E81-02F0-440E-BCCD-B0B3A378023C}"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 want to know whether a support programme helps. Why is comparing participants with non-participants insufficient, even with a large sample?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participation is not random: people who choose to participate differ systematically from those who do not (motivation, availability, need). A larger sample makes the biased estimate more precise, not more correct.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  answers in Appendix D     </a:t>
            </a:r>
            <a:fld id="{D66294F6-4F85-4F9E-9A8E-CC01F94E1B0D}"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5814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study of hired employees finds that interview preparation correlates negatively with technical skill. What is the likely explanation?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10  ·  Relationships and Causality</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69  ·  answers in Appendix D     </a:t>
            </a:r>
            <a:fld id="{1C366601-7B51-402D-9CDE-07F0B05BD647}"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study of hired employees finds that interview preparation correlates negatively with technical skill. What is the likely explanation?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Conditioning on a collider. Both traits increase the chance of being hired, so among the hired the two become negatively correlated. The association is an artefact of studying only successful applicants.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  answers in Appendix D     </a:t>
            </a:r>
            <a:fld id="{DED9EE45-0998-41CF-8995-DAC0F7B60A70}"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9DB46547-2134-42CD-9326-23E3D273EFA3}" type="slidenum">
              <a:rPr lang="en-GB" sz="1000">
                <a:solidFill>
                  <a:srgbClr val="8795A1"/>
                </a:solidFill>
                <a:latin typeface="Segoe UI"/>
              </a:rPr>
              <a:t>36</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Any correlation admits four explanations: causation, reverse causation, confounding and chance. Data alone cannot separate them.</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Control for confounders; do </a:t>
            </a:r>
            <a:r>
              <a:rPr sz="1900" b="0" i="1">
                <a:solidFill>
                  <a:srgbClr val="1C252B"/>
                </a:solidFill>
                <a:latin typeface="Segoe UI"/>
              </a:rPr>
              <a:t>not</a:t>
            </a:r>
            <a:r>
              <a:rPr sz="1900" b="0" i="0">
                <a:solidFill>
                  <a:srgbClr val="1C252B"/>
                </a:solidFill>
                <a:latin typeface="Segoe UI"/>
              </a:rPr>
              <a:t> control for mediators or colliders — adjusting for a collider creates associations that are not there.</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Randomisation balances confounders you never thought of, which is why an RCT beats a much larger observational study.</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Required sample size scales as </a:t>
            </a:r>
            <a:r>
              <a:rPr sz="1900" b="0" i="0">
                <a:solidFill>
                  <a:srgbClr val="1C252B"/>
                </a:solidFill>
                <a:latin typeface="Cambria"/>
              </a:rPr>
              <a:t>1/δ</a:t>
            </a:r>
            <a:r>
              <a:rPr sz="1900" b="0" i="0" baseline="30000">
                <a:solidFill>
                  <a:srgbClr val="1C252B"/>
                </a:solidFill>
                <a:latin typeface="Cambria"/>
              </a:rPr>
              <a:t>2</a:t>
            </a:r>
            <a:r>
              <a:rPr sz="1900" b="0" i="0">
                <a:solidFill>
                  <a:srgbClr val="1C252B"/>
                </a:solidFill>
                <a:latin typeface="Segoe UI"/>
              </a:rPr>
              <a:t>: detecting small effects is disproportionately expensive.</a:t>
            </a:r>
          </a:p>
        </p:txBody>
      </p:sp>
      <p:sp>
        <p:nvSpPr>
          <p:cNvPr id="19" name="!!sb4">
            <a:extLst>
              <a:ext uri="{C183D7F6-B498-43B3-948B-1728B52AA6E4}">
                <adec:decorative xmlns:adec="http://schemas.microsoft.com/office/drawing/2017/decorative" val="1"/>
              </a:ext>
            </a:extLst>
          </p:cNvPr>
          <p:cNvSpPr/>
          <p:nvPr/>
        </p:nvSpPr>
        <p:spPr>
          <a:xfrm>
            <a:off x="658368" y="468721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74207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7807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When randomisation is impossible, quasi-experimental designs work — but each rests on an assumption you must state.</a:t>
            </a:r>
          </a:p>
        </p:txBody>
      </p:sp>
      <p:sp>
        <p:nvSpPr>
          <p:cNvPr id="22" name="!!sb5">
            <a:extLst>
              <a:ext uri="{C183D7F6-B498-43B3-948B-1728B52AA6E4}">
                <adec:decorative xmlns:adec="http://schemas.microsoft.com/office/drawing/2017/decorative" val="1"/>
              </a:ext>
            </a:extLst>
          </p:cNvPr>
          <p:cNvSpPr/>
          <p:nvPr/>
        </p:nvSpPr>
        <p:spPr>
          <a:xfrm>
            <a:off x="658368" y="547237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2724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463235"/>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Prediction tolerates correlation; intervention requires causation. Know which question you are being asked.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057ED643-9B80-426A-B6AB-0DFBE4E97F80}"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Adjusting for which type of variable </a:t>
            </a:r>
            <a:r>
              <a:rPr sz="2600" b="0" i="1">
                <a:solidFill>
                  <a:srgbClr val="1C252B"/>
                </a:solidFill>
                <a:latin typeface="Segoe UI"/>
              </a:rPr>
              <a:t>creates</a:t>
            </a:r>
            <a:r>
              <a:rPr sz="2600" b="0" i="0">
                <a:solidFill>
                  <a:srgbClr val="1C252B"/>
                </a:solidFill>
                <a:latin typeface="Segoe UI"/>
              </a:rPr>
              <a:t> a spurious association?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Confounder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Mediator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Collider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Instrument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773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FDDB93B0-F55F-45B8-8272-B089EF7552D6}" type="slidenum">
              <a:rPr lang="en-GB" sz="1000">
                <a:solidFill>
                  <a:srgbClr val="8795A1"/>
                </a:solidFill>
                <a:latin typeface="Segoe UI"/>
              </a:rPr>
              <a:t>38</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To detect an effect half as large, the required sample size multiplies by roughly:</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4</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8</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Cambria"/>
              </a:rPr>
              <a:t>√2</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10  ·  Relationships and Causality</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69     </a:t>
            </a:r>
            <a:fld id="{EA31D088-6F82-4584-B772-DE20FF2376FA}"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26944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Explain in three sentences why randomisation defeats confounders that were never measured.</a:t>
            </a:r>
          </a:p>
        </p:txBody>
      </p:sp>
      <p:sp>
        <p:nvSpPr>
          <p:cNvPr id="10" name="!!rt1">
            <a:extLst>
              <a:ext uri="{C183D7F6-B498-43B3-948B-1728B52AA6E4}">
                <adec:decorative xmlns:adec="http://schemas.microsoft.com/office/drawing/2017/decorative" val="1"/>
              </a:ext>
            </a:extLst>
          </p:cNvPr>
          <p:cNvSpPr/>
          <p:nvPr/>
        </p:nvSpPr>
        <p:spPr>
          <a:xfrm>
            <a:off x="658368" y="224454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2856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26259"/>
            <a:ext cx="9549079" cy="26944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State the key assumption of difference-in-differences and give one situation where it plainly fails.</a:t>
            </a:r>
          </a:p>
        </p:txBody>
      </p:sp>
      <p:sp>
        <p:nvSpPr>
          <p:cNvPr id="13" name="!!rt2">
            <a:extLst>
              <a:ext uri="{C183D7F6-B498-43B3-948B-1728B52AA6E4}">
                <adec:decorative xmlns:adec="http://schemas.microsoft.com/office/drawing/2017/decorative" val="1"/>
              </a:ext>
            </a:extLst>
          </p:cNvPr>
          <p:cNvSpPr/>
          <p:nvPr/>
        </p:nvSpPr>
        <p:spPr>
          <a:xfrm>
            <a:off x="658368" y="27334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7745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15158"/>
            <a:ext cx="95490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Why is analysing only </a:t>
            </a:r>
            <a:r>
              <a:rPr sz="1700" b="0" i="1">
                <a:solidFill>
                  <a:srgbClr val="1C252B"/>
                </a:solidFill>
                <a:latin typeface="Segoe UI"/>
              </a:rPr>
              <a:t>detected</a:t>
            </a:r>
            <a:r>
              <a:rPr sz="1700" b="0" i="0">
                <a:solidFill>
                  <a:srgbClr val="1C252B"/>
                </a:solidFill>
                <a:latin typeface="Segoe UI"/>
              </a:rPr>
              <a:t> attacks a collider problem, and what does it do to your conclusions?</a:t>
            </a:r>
          </a:p>
        </p:txBody>
      </p:sp>
      <p:sp>
        <p:nvSpPr>
          <p:cNvPr id="16" name="!!rt3">
            <a:extLst>
              <a:ext uri="{C183D7F6-B498-43B3-948B-1728B52AA6E4}">
                <adec:decorative xmlns:adec="http://schemas.microsoft.com/office/drawing/2017/decorative" val="1"/>
              </a:ext>
            </a:extLst>
          </p:cNvPr>
          <p:cNvSpPr/>
          <p:nvPr/>
        </p:nvSpPr>
        <p:spPr>
          <a:xfrm>
            <a:off x="658368" y="349178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5329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473500"/>
            <a:ext cx="95490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university reports that students using the new mobile app achieve 6 marks more on average. Design a study — randomised if possible, quasi-experimental if not — that would support a causal claim. State your sample size reasoning and the assumption your design relies on.</a:t>
            </a:r>
          </a:p>
        </p:txBody>
      </p:sp>
      <p:sp>
        <p:nvSpPr>
          <p:cNvPr id="19" name="!!rt4">
            <a:extLst>
              <a:ext uri="{C183D7F6-B498-43B3-948B-1728B52AA6E4}">
                <adec:decorative xmlns:adec="http://schemas.microsoft.com/office/drawing/2017/decorative" val="1"/>
              </a:ext>
            </a:extLst>
          </p:cNvPr>
          <p:cNvSpPr/>
          <p:nvPr/>
        </p:nvSpPr>
        <p:spPr>
          <a:xfrm>
            <a:off x="658368" y="4519574"/>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56072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501286"/>
            <a:ext cx="95490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An operations team says “since we introduced automated patching, incidents are down 35%”. List three alternative explanations and describe the smallest change to their analysis that would make the claim credible.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8690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10</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10</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11 — Machine Learning Fundamentals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10, pages 62–69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Intervals, tests, confounder simulation</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10  ·  Relationships and Causality</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40AF4128-5B53-49AB-A1F1-DA0A6B92E464}"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Relationships and Causality</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