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19.svg" ContentType="image/svg+xml"/>
  <Override PartName="/ppt/media/image21.svg" ContentType="image/svg+xml"/>
  <Override PartName="/ppt/media/image23.svg" ContentType="image/svg+xml"/>
  <Override PartName="/ppt/media/image24.svg" ContentType="image/svg+xml"/>
  <Override PartName="/ppt/media/image25.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1.svg" ContentType="image/svg+xml"/>
  <Override PartName="/ppt/media/image42.svg" ContentType="image/svg+xml"/>
  <Override PartName="/ppt/media/image43.svg" ContentType="image/svg+xml"/>
  <Override PartName="/ppt/media/image44.svg" ContentType="image/svg+xml"/>
  <Override PartName="/ppt/media/image46.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2.svg" ContentType="image/svg+xml"/>
  <Override PartName="/ppt/media/image53.svg" ContentType="image/svg+xml"/>
  <Override PartName="/ppt/media/image54.svg" ContentType="image/svg+xml"/>
  <Override PartName="/ppt/media/image55.svg" ContentType="image/svg+xml"/>
  <Override PartName="/ppt/media/image56.svg" ContentType="image/svg+xml"/>
  <Override PartName="/ppt/media/image58.svg" ContentType="image/svg+xml"/>
  <Override PartName="/ppt/media/image59.svg" ContentType="image/svg+xml"/>
  <Override PartName="/ppt/media/image6.svg" ContentType="image/svg+xml"/>
  <Override PartName="/ppt/media/image60.svg" ContentType="image/svg+xml"/>
  <Override PartName="/ppt/media/image61.svg" ContentType="image/svg+xml"/>
  <Override PartName="/ppt/media/image62.svg" ContentType="image/svg+xml"/>
  <Override PartName="/ppt/media/image64.svg" ContentType="image/svg+xml"/>
  <Override PartName="/ppt/media/image65.svg" ContentType="image/svg+xml"/>
  <Override PartName="/ppt/media/image66.svg" ContentType="image/svg+xml"/>
  <Override PartName="/ppt/media/image67.svg" ContentType="image/svg+xml"/>
  <Override PartName="/ppt/media/image69.svg" ContentType="image/svg+xml"/>
  <Override PartName="/ppt/media/image71.svg" ContentType="image/svg+xml"/>
  <Override PartName="/ppt/media/image72.svg" ContentType="image/svg+xml"/>
  <Override PartName="/ppt/media/image73.svg" ContentType="image/svg+xml"/>
  <Override PartName="/ppt/media/image74.svg" ContentType="image/svg+xml"/>
  <Override PartName="/ppt/media/image75.svg" ContentType="image/svg+xml"/>
  <Override PartName="/ppt/media/image77.svg" ContentType="image/svg+xml"/>
  <Override PartName="/ppt/media/image79.svg" ContentType="image/svg+xml"/>
  <Override PartName="/ppt/media/image8.svg" ContentType="image/svg+xml"/>
  <Override PartName="/ppt/media/image80.svg" ContentType="image/svg+xml"/>
  <Override PartName="/ppt/media/image81.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6E35CB2D-E72E-4C93-BBDE-007BEB35F72E}">
          <p14:sldIdLst>
            <p14:sldId id="256"/>
            <p14:sldId id="257"/>
            <p14:sldId id="258"/>
            <p14:sldId id="259"/>
            <p14:sldId id="260"/>
          </p14:sldIdLst>
        </p14:section>
        <p14:section name="31.1 The Work Is Not Finished Until Someone Acts" id="{51EBEADD-4D03-4DDC-9FB1-75DA5A9F6AD8}">
          <p14:sldIdLst>
            <p14:sldId id="261"/>
          </p14:sldIdLst>
        </p14:section>
        <p14:section name="31.2 Three Audiences, One Result" id="{EE128FCA-4E03-47E4-921B-1CCFA6004535}">
          <p14:sldIdLst>
            <p14:sldId id="262"/>
          </p14:sldIdLst>
        </p14:section>
        <p14:section name="31.3 Structure: Conclusion First" id="{89440C52-F8A5-4B5F-A9CC-CEA527AF5177}">
          <p14:sldIdLst>
            <p14:sldId id="263"/>
            <p14:sldId id="264"/>
            <p14:sldId id="265"/>
            <p14:sldId id="266"/>
          </p14:sldIdLst>
        </p14:section>
        <p14:section name="31.4 Communicating Uncertainty" id="{822AE8C0-90B8-48F6-9FCB-3AF4A868E616}">
          <p14:sldIdLst>
            <p14:sldId id="267"/>
            <p14:sldId id="268"/>
            <p14:sldId id="269"/>
            <p14:sldId id="270"/>
          </p14:sldIdLst>
        </p14:section>
        <p14:section name="31.5 Dashboards" id="{540133ED-0C9B-4B55-AEAE-95672900E189}">
          <p14:sldIdLst>
            <p14:sldId id="271"/>
            <p14:sldId id="272"/>
            <p14:sldId id="273"/>
          </p14:sldIdLst>
        </p14:section>
        <p14:section name="Pitfalls" id="{03D42852-B2C5-4CA1-8FBF-0EB344885F26}">
          <p14:sldIdLst>
            <p14:sldId id="274"/>
          </p14:sldIdLst>
        </p14:section>
        <p14:section name="Four lenses" id="{B8CF6D2C-3EDE-4C32-A458-35A26C024CE3}">
          <p14:sldIdLst>
            <p14:sldId id="275"/>
            <p14:sldId id="276"/>
            <p14:sldId id="277"/>
            <p14:sldId id="278"/>
            <p14:sldId id="279"/>
          </p14:sldIdLst>
        </p14:section>
        <p14:section name="Lab" id="{1E0708E0-B8A1-494A-842E-57BFB7EE3D49}">
          <p14:sldIdLst>
            <p14:sldId id="280"/>
            <p14:sldId id="281"/>
            <p14:sldId id="282"/>
            <p14:sldId id="283"/>
          </p14:sldIdLst>
        </p14:section>
        <p14:section name="Checkpoint" id="{48E0DA47-2C59-4A37-B09B-6AB9805EC6AE}">
          <p14:sldIdLst>
            <p14:sldId id="284"/>
            <p14:sldId id="285"/>
            <p14:sldId id="286"/>
            <p14:sldId id="287"/>
            <p14:sldId id="288"/>
            <p14:sldId id="289"/>
          </p14:sldIdLst>
        </p14:section>
        <p14:section name="Wrap-up" id="{9C3E54EA-387A-488A-B0C9-29802382672A}">
          <p14:sldIdLst>
            <p14:sldId id="290"/>
            <p14:sldId id="291"/>
            <p14:sldId id="292"/>
            <p14:sldId id="293"/>
            <p14:sldId id="294"/>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31: Communicating Data Science. Part 6 — Professional Practice. Week 16: MLOps; ethics; practice &amp; capstone. Handout pages 202–207.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Place the chapter. Before you start: Chapter 8 (chart selection and anti-patterns), Chapter 9 (what an interval does and does not mean) and Chapter 28 (explaining a decision to the person it affects).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out: they are the chapter's contract with the room. Each click adds one.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they arrive one at a time. This slide is for the students' notes. Terms: audience analysis; bottom line up front; executive summary; narrative arc; uncertainty communication; natural frequencies; actionable insight; dashboard; decision support; caveat.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route through the chapter. Each row is a link: click it to jump to that section in the slide show.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 31.1 (handout p. 203): One result, three audiences. What changes is not the honesty but the unit of explanation: a metric for the peer, a decision for the manager, an action for the person.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click adds one step of the working. Ask for the next number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Name the question this section answers.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read the table row by row: pick the row the room is most likely to get wrong and ask why.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pitfall, ask who has seen it happen. One real story beats five bullets.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method, four domains. Each of the next four slides opens one lens in full.</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Analytics. Three audiences with genuinely different needs. The committee needs cohort-level effect and cost. The adviser needs a ranked list with a one-line reason per student, and the authority to disagree with it. The student needs a specific, actionable, non-stigmatising statement — never a risk score, and never the word “predicted to fail”. Getting the third audience right is an ethical requirement (Chapter 28), not a stylistic preference.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Management. Executives want a range and a confidence level, not a point estimate: “we will complete 32–41 points, and we are more likely to land in the lower half if the API dependency is not resolved this week.” Note the reflexive effect — publishing a forecast changes the team’s behaviour — so state whether the number is a prediction or a target. Confusing those two destroys the credibility of both.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Internet of Things. The audience is a technician holding a tablet, not an analyst. The deliverable is not a probability but an instruction: “Unit 47: bearing vibration rising for 6 days. Inspect within 2 weeks. Evidence: 3× normal variance since 14 July.” Include the evidence, because a technician who can see why will tell you when the model is wrong — which is the feedback loop your monitoring depends on (Chapter 27).</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Cybersecurity. Two audiences, both hard. The analyst needs context, evidence and a recommended action within seconds — alert fatigue is partly a communication design problem, not only a threshold problem (Chapter 26). The board needs the business case for work whose success is invisible; talk in terms of time to detect, coverage and risk reduction, never model accuracy. Both need to know what the system cannot see, because an unstated blind spot becomes an assumed capability.</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one result from your own work — or use the one below — and write all three versions. The exercise is harder than it looks and is worth doing before any real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 1: Set-up. 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code aloud; ask what each line would print before running it.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box aloud, then ask for an example from the room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“Of every 100 cases we flag, about 82 are genuine.”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Which decision does this chart change, and who makes it? Anything that cannot change an action comes out.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someone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(Appendix D): Because an unstated limitation becomes an assumed capability. The reader will rely on the system in situations you know it cannot handle, and will discover the gap in production — with less context, less goodwill, and possibly someone harmed.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say each takeaway before you reveal it.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Take a show of hands for each option before discussing. (The handout does not print MCQ answers.)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these for independent study. Model answers are not printed in the handout.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NEXT: Chapter 32 — Capstone: One Problem, Four Domains. READ: Handout Chapter 31, pages 202–207. THIS WEEK'S LAB: Monitored service; fairness measurement. ASSESSMENT: Capstone due.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000" kern="1200" b="0">
          <a:solidFill>
            <a:srgbClr val="1A5276"/>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png"/><Relationship Id="rId3" Type="http://schemas.openxmlformats.org/officeDocument/2006/relationships/image" Target="../media/image4.sv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png"/><Relationship Id="rId3" Type="http://schemas.openxmlformats.org/officeDocument/2006/relationships/image" Target="../media/image6.sv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png"/><Relationship Id="rId3" Type="http://schemas.openxmlformats.org/officeDocument/2006/relationships/image" Target="../media/image8.sv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svg"/><Relationship Id="rId4" Type="http://schemas.openxmlformats.org/officeDocument/2006/relationships/notesSlide" Target="../notesSlides/notesSlide5.xml"/><Relationship Id="rId5" Type="http://schemas.openxmlformats.org/officeDocument/2006/relationships/slide" Target="slide6.xml"/><Relationship Id="rId6" Type="http://schemas.openxmlformats.org/officeDocument/2006/relationships/slide" Target="slide7.xml"/><Relationship Id="rId7" Type="http://schemas.openxmlformats.org/officeDocument/2006/relationships/slide" Target="slide8.xml"/><Relationship Id="rId8" Type="http://schemas.openxmlformats.org/officeDocument/2006/relationships/slide" Target="slide12.xml"/><Relationship Id="rId9" Type="http://schemas.openxmlformats.org/officeDocument/2006/relationships/slide" Target="slide1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12.sv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3.png"/><Relationship Id="rId3" Type="http://schemas.openxmlformats.org/officeDocument/2006/relationships/image" Target="../media/image14.sv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 Id="rId3" Type="http://schemas.openxmlformats.org/officeDocument/2006/relationships/image" Target="../media/image16.sv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8.svg"/><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7.png"/><Relationship Id="rId3" Type="http://schemas.openxmlformats.org/officeDocument/2006/relationships/image" Target="../media/image19.sv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1.svg"/><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3.svg"/><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1.png"/><Relationship Id="rId3" Type="http://schemas.openxmlformats.org/officeDocument/2006/relationships/image" Target="../media/image24.svg"/><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0.png"/><Relationship Id="rId3" Type="http://schemas.openxmlformats.org/officeDocument/2006/relationships/image" Target="../media/image25.svg"/><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2.png"/><Relationship Id="rId3" Type="http://schemas.openxmlformats.org/officeDocument/2006/relationships/image" Target="../media/image26.sv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7.png"/><Relationship Id="rId3" Type="http://schemas.openxmlformats.org/officeDocument/2006/relationships/image" Target="../media/image28.sv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9.png"/><Relationship Id="rId3" Type="http://schemas.openxmlformats.org/officeDocument/2006/relationships/image" Target="../media/image30.svg"/><Relationship Id="rId4" Type="http://schemas.openxmlformats.org/officeDocument/2006/relationships/image" Target="../media/image31.png"/><Relationship Id="rId5" Type="http://schemas.openxmlformats.org/officeDocument/2006/relationships/image" Target="../media/image32.svg"/><Relationship Id="rId6" Type="http://schemas.openxmlformats.org/officeDocument/2006/relationships/image" Target="../media/image33.png"/><Relationship Id="rId7" Type="http://schemas.openxmlformats.org/officeDocument/2006/relationships/image" Target="../media/image34.svg"/><Relationship Id="rId8" Type="http://schemas.openxmlformats.org/officeDocument/2006/relationships/image" Target="../media/image35.png"/><Relationship Id="rId9" Type="http://schemas.openxmlformats.org/officeDocument/2006/relationships/image" Target="../media/image36.svg"/><Relationship Id="rId10" Type="http://schemas.openxmlformats.org/officeDocument/2006/relationships/image" Target="../media/image37.png"/><Relationship Id="rId11" Type="http://schemas.openxmlformats.org/officeDocument/2006/relationships/image" Target="../media/image38.svg"/><Relationship Id="rId1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9.png"/><Relationship Id="rId3" Type="http://schemas.openxmlformats.org/officeDocument/2006/relationships/image" Target="../media/image40.svg"/><Relationship Id="rId4" Type="http://schemas.openxmlformats.org/officeDocument/2006/relationships/image" Target="../media/image31.png"/><Relationship Id="rId5" Type="http://schemas.openxmlformats.org/officeDocument/2006/relationships/image" Target="../media/image41.svg"/><Relationship Id="rId6" Type="http://schemas.openxmlformats.org/officeDocument/2006/relationships/image" Target="../media/image33.png"/><Relationship Id="rId7" Type="http://schemas.openxmlformats.org/officeDocument/2006/relationships/image" Target="../media/image42.svg"/><Relationship Id="rId8" Type="http://schemas.openxmlformats.org/officeDocument/2006/relationships/image" Target="../media/image35.png"/><Relationship Id="rId9" Type="http://schemas.openxmlformats.org/officeDocument/2006/relationships/image" Target="../media/image43.svg"/><Relationship Id="rId10" Type="http://schemas.openxmlformats.org/officeDocument/2006/relationships/image" Target="../media/image37.png"/><Relationship Id="rId11" Type="http://schemas.openxmlformats.org/officeDocument/2006/relationships/image" Target="../media/image44.svg"/><Relationship Id="rId1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5.png"/><Relationship Id="rId3" Type="http://schemas.openxmlformats.org/officeDocument/2006/relationships/image" Target="../media/image46.svg"/><Relationship Id="rId4" Type="http://schemas.openxmlformats.org/officeDocument/2006/relationships/image" Target="../media/image33.png"/><Relationship Id="rId5" Type="http://schemas.openxmlformats.org/officeDocument/2006/relationships/image" Target="../media/image47.svg"/><Relationship Id="rId6" Type="http://schemas.openxmlformats.org/officeDocument/2006/relationships/image" Target="../media/image31.png"/><Relationship Id="rId7" Type="http://schemas.openxmlformats.org/officeDocument/2006/relationships/image" Target="../media/image48.svg"/><Relationship Id="rId8" Type="http://schemas.openxmlformats.org/officeDocument/2006/relationships/image" Target="../media/image35.png"/><Relationship Id="rId9" Type="http://schemas.openxmlformats.org/officeDocument/2006/relationships/image" Target="../media/image49.svg"/><Relationship Id="rId10" Type="http://schemas.openxmlformats.org/officeDocument/2006/relationships/image" Target="../media/image37.png"/><Relationship Id="rId11" Type="http://schemas.openxmlformats.org/officeDocument/2006/relationships/image" Target="../media/image50.svg"/><Relationship Id="rId1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1.png"/><Relationship Id="rId3" Type="http://schemas.openxmlformats.org/officeDocument/2006/relationships/image" Target="../media/image52.svg"/><Relationship Id="rId4" Type="http://schemas.openxmlformats.org/officeDocument/2006/relationships/image" Target="../media/image35.png"/><Relationship Id="rId5" Type="http://schemas.openxmlformats.org/officeDocument/2006/relationships/image" Target="../media/image53.svg"/><Relationship Id="rId6" Type="http://schemas.openxmlformats.org/officeDocument/2006/relationships/image" Target="../media/image31.png"/><Relationship Id="rId7" Type="http://schemas.openxmlformats.org/officeDocument/2006/relationships/image" Target="../media/image54.svg"/><Relationship Id="rId8" Type="http://schemas.openxmlformats.org/officeDocument/2006/relationships/image" Target="../media/image33.png"/><Relationship Id="rId9" Type="http://schemas.openxmlformats.org/officeDocument/2006/relationships/image" Target="../media/image55.svg"/><Relationship Id="rId10" Type="http://schemas.openxmlformats.org/officeDocument/2006/relationships/image" Target="../media/image37.png"/><Relationship Id="rId11" Type="http://schemas.openxmlformats.org/officeDocument/2006/relationships/image" Target="../media/image56.svg"/><Relationship Id="rId1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57.png"/><Relationship Id="rId3" Type="http://schemas.openxmlformats.org/officeDocument/2006/relationships/image" Target="../media/image58.svg"/><Relationship Id="rId4" Type="http://schemas.openxmlformats.org/officeDocument/2006/relationships/image" Target="../media/image37.png"/><Relationship Id="rId5" Type="http://schemas.openxmlformats.org/officeDocument/2006/relationships/image" Target="../media/image59.svg"/><Relationship Id="rId6" Type="http://schemas.openxmlformats.org/officeDocument/2006/relationships/image" Target="../media/image31.png"/><Relationship Id="rId7" Type="http://schemas.openxmlformats.org/officeDocument/2006/relationships/image" Target="../media/image60.svg"/><Relationship Id="rId8" Type="http://schemas.openxmlformats.org/officeDocument/2006/relationships/image" Target="../media/image33.png"/><Relationship Id="rId9" Type="http://schemas.openxmlformats.org/officeDocument/2006/relationships/image" Target="../media/image61.svg"/><Relationship Id="rId10" Type="http://schemas.openxmlformats.org/officeDocument/2006/relationships/image" Target="../media/image35.png"/><Relationship Id="rId11" Type="http://schemas.openxmlformats.org/officeDocument/2006/relationships/image" Target="../media/image62.svg"/><Relationship Id="rId1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4.sv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5.sv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6.sv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3.png"/><Relationship Id="rId3" Type="http://schemas.openxmlformats.org/officeDocument/2006/relationships/image" Target="../media/image67.sv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69.sv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1.sv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72.sv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3.sv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68.png"/><Relationship Id="rId3" Type="http://schemas.openxmlformats.org/officeDocument/2006/relationships/image" Target="../media/image74.sv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0.png"/><Relationship Id="rId3" Type="http://schemas.openxmlformats.org/officeDocument/2006/relationships/image" Target="../media/image75.svg"/><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6.png"/><Relationship Id="rId3" Type="http://schemas.openxmlformats.org/officeDocument/2006/relationships/image" Target="../media/image77.sv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79.sv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0.svg"/><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78.png"/><Relationship Id="rId3" Type="http://schemas.openxmlformats.org/officeDocument/2006/relationships/image" Target="../media/image81.sv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E6B1F"/>
                </a:solidFill>
                <a:latin typeface="Segoe UI Black"/>
              </a:rPr>
              <a:t>31</a:t>
            </a:r>
          </a:p>
        </p:txBody>
      </p:sp>
      <p:sp>
        <p:nvSpPr>
          <p:cNvPr id="2" name="!!title"/>
          <p:cNvSpPr>
            <a:spLocks noGrp="1"/>
          </p:cNvSpPr>
          <p:nvPr>
            <p:ph type="title"/>
          </p:nvPr>
        </p:nvSpPr>
        <p:spPr>
          <a:xfrm>
            <a:off x="658368" y="2304288"/>
            <a:ext cx="8503920" cy="1920240"/>
          </a:xfrm>
        </p:spPr>
        <p:txBody>
          <a:bodyPr wrap="square" lIns="0" rIns="0" tIns="0" bIns="0" anchor="t">
            <a:noAutofit/>
          </a:bodyPr>
          <a:lstStyle/>
          <a:p>
            <a:pPr algn="l">
              <a:lnSpc>
                <a:spcPct val="96000"/>
              </a:lnSpc>
            </a:pPr>
            <a:r>
              <a:rPr sz="4600" b="0">
                <a:solidFill>
                  <a:srgbClr val="FFFFFF"/>
                </a:solidFill>
                <a:latin typeface="Segoe UI Semibold"/>
              </a:rPr>
              <a:t>Communicating Data Science</a:t>
            </a:r>
          </a:p>
        </p:txBody>
      </p:sp>
      <p:sp>
        <p:nvSpPr>
          <p:cNvPr id="4" name="!!tbar">
            <a:extLst>
              <a:ext uri="{C183D7F6-B498-43B3-948B-1728B52AA6E4}">
                <adec:decorative xmlns:adec="http://schemas.microsoft.com/office/drawing/2017/decorative" val="1"/>
              </a:ext>
            </a:extLst>
          </p:cNvPr>
          <p:cNvSpPr/>
          <p:nvPr/>
        </p:nvSpPr>
        <p:spPr>
          <a:xfrm>
            <a:off x="658368" y="129844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tpart"/>
          <p:cNvSpPr txBox="1"/>
          <p:nvPr/>
        </p:nvSpPr>
        <p:spPr>
          <a:xfrm>
            <a:off x="658368" y="1517904"/>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PART VI  ·  PROFESSIONAL PRACTICE</a:t>
            </a:r>
          </a:p>
        </p:txBody>
      </p:sp>
      <p:sp>
        <p:nvSpPr>
          <p:cNvPr id="6" name="!!tch"/>
          <p:cNvSpPr txBox="1"/>
          <p:nvPr/>
        </p:nvSpPr>
        <p:spPr>
          <a:xfrm>
            <a:off x="658368" y="1865376"/>
            <a:ext cx="8686800" cy="292608"/>
          </a:xfrm>
          <a:prstGeom prst="rect">
            <a:avLst/>
          </a:prstGeom>
          <a:noFill/>
        </p:spPr>
        <p:txBody>
          <a:bodyPr wrap="square" anchor="t" lIns="0" rIns="0" tIns="0" bIns="0">
            <a:noAutofit/>
          </a:bodyPr>
          <a:lstStyle/>
          <a:p>
            <a:pPr algn="l">
              <a:lnSpc>
                <a:spcPct val="100000"/>
              </a:lnSpc>
              <a:spcBef>
                <a:spcPts val="0"/>
              </a:spcBef>
              <a:spcAft>
                <a:spcPts val="0"/>
              </a:spcAft>
            </a:pPr>
            <a:r>
              <a:rPr sz="1300" b="1" i="0" spc="180">
                <a:solidFill>
                  <a:srgbClr val="D7D1B9"/>
                </a:solidFill>
                <a:latin typeface="Segoe UI"/>
              </a:rPr>
              <a:t>CHAPTER 31  ·  WEEK 16</a:t>
            </a:r>
          </a:p>
        </p:txBody>
      </p:sp>
      <p:sp>
        <p:nvSpPr>
          <p:cNvPr id="7" name="!!tsub"/>
          <p:cNvSpPr txBox="1"/>
          <p:nvPr/>
        </p:nvSpPr>
        <p:spPr>
          <a:xfrm>
            <a:off x="658368" y="4315968"/>
            <a:ext cx="8503920"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E2DECD"/>
                </a:solidFill>
                <a:latin typeface="Segoe UI"/>
              </a:rPr>
              <a:t>Data Science — From Foundations to Intelligent Systems</a:t>
            </a:r>
          </a:p>
        </p:txBody>
      </p:sp>
      <p:sp>
        <p:nvSpPr>
          <p:cNvPr id="8" name="!!band">
            <a:extLst>
              <a:ext uri="{C183D7F6-B498-43B3-948B-1728B52AA6E4}">
                <adec:decorative xmlns:adec="http://schemas.microsoft.com/office/drawing/2017/decorative" val="1"/>
              </a:ext>
            </a:extLst>
          </p:cNvPr>
          <p:cNvSpPr/>
          <p:nvPr/>
        </p:nvSpPr>
        <p:spPr>
          <a:xfrm>
            <a:off x="0" y="5285232"/>
            <a:ext cx="12191695" cy="1572767"/>
          </a:xfrm>
          <a:prstGeom prst="rect">
            <a:avLst/>
          </a:prstGeom>
          <a:solidFill>
            <a:srgbClr val="51420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ab"/>
          <p:cNvSpPr txBox="1"/>
          <p:nvPr/>
        </p:nvSpPr>
        <p:spPr>
          <a:xfrm>
            <a:off x="658368" y="5541264"/>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50" b="1" i="0" spc="160">
                <a:solidFill>
                  <a:srgbClr val="BDB7A0"/>
                </a:solidFill>
                <a:latin typeface="Segoe UI"/>
              </a:rPr>
              <a:t>LECTURER</a:t>
            </a:r>
          </a:p>
        </p:txBody>
      </p:sp>
      <p:sp>
        <p:nvSpPr>
          <p:cNvPr id="10" name="!!author"/>
          <p:cNvSpPr txBox="1"/>
          <p:nvPr/>
        </p:nvSpPr>
        <p:spPr>
          <a:xfrm>
            <a:off x="658368" y="5779008"/>
            <a:ext cx="5486400" cy="365760"/>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FFFFFF"/>
                </a:solidFill>
                <a:latin typeface="Segoe UI Semibold"/>
              </a:rPr>
              <a:t>Dr. Mustafa Hameed</a:t>
            </a:r>
          </a:p>
        </p:txBody>
      </p:sp>
      <p:sp>
        <p:nvSpPr>
          <p:cNvPr id="11" name="!!dept"/>
          <p:cNvSpPr txBox="1"/>
          <p:nvPr/>
        </p:nvSpPr>
        <p:spPr>
          <a:xfrm>
            <a:off x="658368" y="6181344"/>
            <a:ext cx="5852160" cy="274320"/>
          </a:xfrm>
          <a:prstGeom prst="rect">
            <a:avLst/>
          </a:prstGeom>
          <a:noFill/>
        </p:spPr>
        <p:txBody>
          <a:bodyPr wrap="square" anchor="t" lIns="0" rIns="0" tIns="0" bIns="0">
            <a:noAutofit/>
          </a:bodyPr>
          <a:lstStyle/>
          <a:p>
            <a:pPr algn="l">
              <a:lnSpc>
                <a:spcPct val="100000"/>
              </a:lnSpc>
              <a:spcBef>
                <a:spcPts val="0"/>
              </a:spcBef>
              <a:spcAft>
                <a:spcPts val="0"/>
              </a:spcAft>
            </a:pPr>
            <a:r>
              <a:rPr sz="1200" b="0" i="0">
                <a:solidFill>
                  <a:srgbClr val="CECAB9"/>
                </a:solidFill>
                <a:latin typeface="Segoe UI"/>
              </a:rPr>
              <a:t>Department of Information Technology  ·  BSIT · Fall 2026</a:t>
            </a:r>
          </a:p>
        </p:txBody>
      </p:sp>
      <p:sp>
        <p:nvSpPr>
          <p:cNvPr id="12" name="!!uni"/>
          <p:cNvSpPr txBox="1"/>
          <p:nvPr/>
        </p:nvSpPr>
        <p:spPr>
          <a:xfrm>
            <a:off x="5205818" y="568756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150" b="1" i="0" spc="60">
                <a:solidFill>
                  <a:srgbClr val="FFFFFF"/>
                </a:solidFill>
                <a:latin typeface="Segoe UI"/>
              </a:rPr>
              <a:t>THE ISLAMIA UNIVERSITY OF BAHAWALPUR</a:t>
            </a:r>
          </a:p>
        </p:txBody>
      </p:sp>
      <p:sp>
        <p:nvSpPr>
          <p:cNvPr id="13" name="!!uni2"/>
          <p:cNvSpPr txBox="1"/>
          <p:nvPr/>
        </p:nvSpPr>
        <p:spPr>
          <a:xfrm>
            <a:off x="5205818" y="5961888"/>
            <a:ext cx="4023360" cy="274320"/>
          </a:xfrm>
          <a:prstGeom prst="rect">
            <a:avLst/>
          </a:prstGeom>
          <a:noFill/>
        </p:spPr>
        <p:txBody>
          <a:bodyPr wrap="square" anchor="t" lIns="0" rIns="0" tIns="0" bIns="0">
            <a:noAutofit/>
          </a:bodyPr>
          <a:lstStyle/>
          <a:p>
            <a:pPr algn="r">
              <a:lnSpc>
                <a:spcPct val="100000"/>
              </a:lnSpc>
              <a:spcBef>
                <a:spcPts val="0"/>
              </a:spcBef>
              <a:spcAft>
                <a:spcPts val="0"/>
              </a:spcAft>
            </a:pPr>
            <a:r>
              <a:rPr sz="1050" b="0" i="0">
                <a:solidFill>
                  <a:srgbClr val="BDB7A0"/>
                </a:solidFill>
                <a:latin typeface="Segoe UI"/>
              </a:rPr>
              <a:t>Bahawalpur, Pakistan</a:t>
            </a:r>
          </a:p>
        </p:txBody>
      </p:sp>
      <p:pic>
        <p:nvPicPr>
          <p:cNvPr id="14" name="!!logo-iub-logo-white" descr="The Islamia University of Bahawalpur"/>
          <p:cNvPicPr>
            <a:picLocks noChangeAspect="1"/>
          </p:cNvPicPr>
          <p:nvPr/>
        </p:nvPicPr>
        <p:blipFill>
          <a:blip r:embed="rId2"/>
          <a:stretch>
            <a:fillRect/>
          </a:stretch>
        </p:blipFill>
        <p:spPr>
          <a:xfrm>
            <a:off x="9503498" y="5486400"/>
            <a:ext cx="904084" cy="896112"/>
          </a:xfrm>
          <a:prstGeom prst="rect">
            <a:avLst/>
          </a:prstGeom>
        </p:spPr>
      </p:pic>
      <p:pic>
        <p:nvPicPr>
          <p:cNvPr id="15" name="!!logo-dit-logo" descr="Department of Information Technology"/>
          <p:cNvPicPr>
            <a:picLocks noChangeAspect="1"/>
          </p:cNvPicPr>
          <p:nvPr/>
        </p:nvPicPr>
        <p:blipFill>
          <a:blip r:embed="rId3"/>
          <a:stretch>
            <a:fillRect/>
          </a:stretch>
        </p:blipFill>
        <p:spPr>
          <a:xfrm>
            <a:off x="10663614" y="5486400"/>
            <a:ext cx="869712" cy="896112"/>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Where this chapter sits</a:t>
            </a:r>
          </a:p>
        </p:txBody>
      </p:sp>
      <p:pic>
        <p:nvPicPr>
          <p:cNvPr id="3" name="!!kicker-icon" descr="map-signs-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THE COURSE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202     </a:t>
            </a:r>
            <a:fld id="{F7ADCA20-2D2C-4F6F-9C66-82FFC15276A2}" type="slidenum">
              <a:rPr lang="en-GB" sz="1000">
                <a:solidFill>
                  <a:srgbClr val="8795A1"/>
                </a:solidFill>
                <a:latin typeface="Segoe UI"/>
              </a:rPr>
              <a:t>2</a:t>
            </a:fld>
          </a:p>
        </p:txBody>
      </p:sp>
      <p:sp>
        <p:nvSpPr>
          <p:cNvPr id="7" name="!!rp1"/>
          <p:cNvSpPr txBox="1"/>
          <p:nvPr/>
        </p:nvSpPr>
        <p:spPr>
          <a:xfrm>
            <a:off x="777240"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a:t>
            </a:r>
          </a:p>
        </p:txBody>
      </p:sp>
      <p:sp>
        <p:nvSpPr>
          <p:cNvPr id="8" name="!!rpl1">
            <a:extLst>
              <a:ext uri="{C183D7F6-B498-43B3-948B-1728B52AA6E4}">
                <adec:decorative xmlns:adec="http://schemas.microsoft.com/office/drawing/2017/decorative" val="1"/>
              </a:ext>
            </a:extLst>
          </p:cNvPr>
          <p:cNvSpPr/>
          <p:nvPr/>
        </p:nvSpPr>
        <p:spPr>
          <a:xfrm>
            <a:off x="777240"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rp2"/>
          <p:cNvSpPr txBox="1"/>
          <p:nvPr/>
        </p:nvSpPr>
        <p:spPr>
          <a:xfrm>
            <a:off x="2740856" y="1755648"/>
            <a:ext cx="107133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a:t>
            </a:r>
          </a:p>
        </p:txBody>
      </p:sp>
      <p:sp>
        <p:nvSpPr>
          <p:cNvPr id="10" name="!!rpl2">
            <a:extLst>
              <a:ext uri="{C183D7F6-B498-43B3-948B-1728B52AA6E4}">
                <adec:decorative xmlns:adec="http://schemas.microsoft.com/office/drawing/2017/decorative" val="1"/>
              </a:ext>
            </a:extLst>
          </p:cNvPr>
          <p:cNvSpPr/>
          <p:nvPr/>
        </p:nvSpPr>
        <p:spPr>
          <a:xfrm>
            <a:off x="2740856" y="2029967"/>
            <a:ext cx="107133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p3"/>
          <p:cNvSpPr txBox="1"/>
          <p:nvPr/>
        </p:nvSpPr>
        <p:spPr>
          <a:xfrm>
            <a:off x="4141374"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III</a:t>
            </a:r>
          </a:p>
        </p:txBody>
      </p:sp>
      <p:sp>
        <p:nvSpPr>
          <p:cNvPr id="12" name="!!rpl3">
            <a:extLst>
              <a:ext uri="{C183D7F6-B498-43B3-948B-1728B52AA6E4}">
                <adec:decorative xmlns:adec="http://schemas.microsoft.com/office/drawing/2017/decorative" val="1"/>
              </a:ext>
            </a:extLst>
          </p:cNvPr>
          <p:cNvSpPr/>
          <p:nvPr/>
        </p:nvSpPr>
        <p:spPr>
          <a:xfrm>
            <a:off x="4141374"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rp4"/>
          <p:cNvSpPr txBox="1"/>
          <p:nvPr/>
        </p:nvSpPr>
        <p:spPr>
          <a:xfrm>
            <a:off x="6104991" y="1755648"/>
            <a:ext cx="1634432"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IV</a:t>
            </a:r>
          </a:p>
        </p:txBody>
      </p:sp>
      <p:sp>
        <p:nvSpPr>
          <p:cNvPr id="14" name="!!rpl4">
            <a:extLst>
              <a:ext uri="{C183D7F6-B498-43B3-948B-1728B52AA6E4}">
                <adec:decorative xmlns:adec="http://schemas.microsoft.com/office/drawing/2017/decorative" val="1"/>
              </a:ext>
            </a:extLst>
          </p:cNvPr>
          <p:cNvSpPr/>
          <p:nvPr/>
        </p:nvSpPr>
        <p:spPr>
          <a:xfrm>
            <a:off x="6104991" y="2029967"/>
            <a:ext cx="1634432"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rp5"/>
          <p:cNvSpPr txBox="1"/>
          <p:nvPr/>
        </p:nvSpPr>
        <p:spPr>
          <a:xfrm>
            <a:off x="8068608" y="1755648"/>
            <a:ext cx="1352883"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98A4AE"/>
                </a:solidFill>
                <a:latin typeface="Segoe UI"/>
              </a:rPr>
              <a:t>PART V</a:t>
            </a:r>
          </a:p>
        </p:txBody>
      </p:sp>
      <p:sp>
        <p:nvSpPr>
          <p:cNvPr id="16" name="!!rpl5">
            <a:extLst>
              <a:ext uri="{C183D7F6-B498-43B3-948B-1728B52AA6E4}">
                <adec:decorative xmlns:adec="http://schemas.microsoft.com/office/drawing/2017/decorative" val="1"/>
              </a:ext>
            </a:extLst>
          </p:cNvPr>
          <p:cNvSpPr/>
          <p:nvPr/>
        </p:nvSpPr>
        <p:spPr>
          <a:xfrm>
            <a:off x="8068608" y="2029967"/>
            <a:ext cx="1352883" cy="27432"/>
          </a:xfrm>
          <a:prstGeom prst="rect">
            <a:avLst/>
          </a:prstGeom>
          <a:solidFill>
            <a:srgbClr val="D9E1E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p6"/>
          <p:cNvSpPr txBox="1"/>
          <p:nvPr/>
        </p:nvSpPr>
        <p:spPr>
          <a:xfrm>
            <a:off x="9750675" y="1755648"/>
            <a:ext cx="1663779"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705B06"/>
                </a:solidFill>
                <a:latin typeface="Segoe UI"/>
              </a:rPr>
              <a:t>PART VI</a:t>
            </a:r>
          </a:p>
        </p:txBody>
      </p:sp>
      <p:sp>
        <p:nvSpPr>
          <p:cNvPr id="18" name="!!rpl6">
            <a:extLst>
              <a:ext uri="{C183D7F6-B498-43B3-948B-1728B52AA6E4}">
                <adec:decorative xmlns:adec="http://schemas.microsoft.com/office/drawing/2017/decorative" val="1"/>
              </a:ext>
            </a:extLst>
          </p:cNvPr>
          <p:cNvSpPr/>
          <p:nvPr/>
        </p:nvSpPr>
        <p:spPr>
          <a:xfrm>
            <a:off x="9750675" y="2029967"/>
            <a:ext cx="1663779" cy="4572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dot1">
            <a:extLst>
              <a:ext uri="{C183D7F6-B498-43B3-948B-1728B52AA6E4}">
                <adec:decorative xmlns:adec="http://schemas.microsoft.com/office/drawing/2017/decorative" val="1"/>
              </a:ext>
            </a:extLst>
          </p:cNvPr>
          <p:cNvSpPr/>
          <p:nvPr/>
        </p:nvSpPr>
        <p:spPr>
          <a:xfrm>
            <a:off x="75342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dotn1"/>
          <p:cNvSpPr txBox="1"/>
          <p:nvPr/>
        </p:nvSpPr>
        <p:spPr>
          <a:xfrm>
            <a:off x="6619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a:t>
            </a:r>
          </a:p>
        </p:txBody>
      </p:sp>
      <p:sp>
        <p:nvSpPr>
          <p:cNvPr id="21" name="!!dot2">
            <a:extLst>
              <a:ext uri="{C183D7F6-B498-43B3-948B-1728B52AA6E4}">
                <adec:decorative xmlns:adec="http://schemas.microsoft.com/office/drawing/2017/decorative" val="1"/>
              </a:ext>
            </a:extLst>
          </p:cNvPr>
          <p:cNvSpPr/>
          <p:nvPr/>
        </p:nvSpPr>
        <p:spPr>
          <a:xfrm>
            <a:off x="1034972"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dotn2"/>
          <p:cNvSpPr txBox="1"/>
          <p:nvPr/>
        </p:nvSpPr>
        <p:spPr>
          <a:xfrm>
            <a:off x="9435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a:t>
            </a:r>
          </a:p>
        </p:txBody>
      </p:sp>
      <p:sp>
        <p:nvSpPr>
          <p:cNvPr id="23" name="!!dot3">
            <a:extLst>
              <a:ext uri="{C183D7F6-B498-43B3-948B-1728B52AA6E4}">
                <adec:decorative xmlns:adec="http://schemas.microsoft.com/office/drawing/2017/decorative" val="1"/>
              </a:ext>
            </a:extLst>
          </p:cNvPr>
          <p:cNvSpPr/>
          <p:nvPr/>
        </p:nvSpPr>
        <p:spPr>
          <a:xfrm>
            <a:off x="131652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dotn3"/>
          <p:cNvSpPr txBox="1"/>
          <p:nvPr/>
        </p:nvSpPr>
        <p:spPr>
          <a:xfrm>
            <a:off x="12250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a:t>
            </a:r>
          </a:p>
        </p:txBody>
      </p:sp>
      <p:sp>
        <p:nvSpPr>
          <p:cNvPr id="25" name="!!dot4">
            <a:extLst>
              <a:ext uri="{C183D7F6-B498-43B3-948B-1728B52AA6E4}">
                <adec:decorative xmlns:adec="http://schemas.microsoft.com/office/drawing/2017/decorative" val="1"/>
              </a:ext>
            </a:extLst>
          </p:cNvPr>
          <p:cNvSpPr/>
          <p:nvPr/>
        </p:nvSpPr>
        <p:spPr>
          <a:xfrm>
            <a:off x="1598071"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dotn4"/>
          <p:cNvSpPr txBox="1"/>
          <p:nvPr/>
        </p:nvSpPr>
        <p:spPr>
          <a:xfrm>
            <a:off x="150663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4</a:t>
            </a:r>
          </a:p>
        </p:txBody>
      </p:sp>
      <p:sp>
        <p:nvSpPr>
          <p:cNvPr id="27" name="!!dot5">
            <a:extLst>
              <a:ext uri="{C183D7F6-B498-43B3-948B-1728B52AA6E4}">
                <adec:decorative xmlns:adec="http://schemas.microsoft.com/office/drawing/2017/decorative" val="1"/>
              </a:ext>
            </a:extLst>
          </p:cNvPr>
          <p:cNvSpPr/>
          <p:nvPr/>
        </p:nvSpPr>
        <p:spPr>
          <a:xfrm>
            <a:off x="187962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dotn5"/>
          <p:cNvSpPr txBox="1"/>
          <p:nvPr/>
        </p:nvSpPr>
        <p:spPr>
          <a:xfrm>
            <a:off x="178818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5</a:t>
            </a:r>
          </a:p>
        </p:txBody>
      </p:sp>
      <p:sp>
        <p:nvSpPr>
          <p:cNvPr id="29" name="!!dot6">
            <a:extLst>
              <a:ext uri="{C183D7F6-B498-43B3-948B-1728B52AA6E4}">
                <adec:decorative xmlns:adec="http://schemas.microsoft.com/office/drawing/2017/decorative" val="1"/>
              </a:ext>
            </a:extLst>
          </p:cNvPr>
          <p:cNvSpPr/>
          <p:nvPr/>
        </p:nvSpPr>
        <p:spPr>
          <a:xfrm>
            <a:off x="2161170" y="2258568"/>
            <a:ext cx="274320" cy="274320"/>
          </a:xfrm>
          <a:prstGeom prst="ellipse">
            <a:avLst/>
          </a:prstGeom>
          <a:solidFill>
            <a:srgbClr val="3C6C8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dotn6"/>
          <p:cNvSpPr txBox="1"/>
          <p:nvPr/>
        </p:nvSpPr>
        <p:spPr>
          <a:xfrm>
            <a:off x="206973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6</a:t>
            </a:r>
          </a:p>
        </p:txBody>
      </p:sp>
      <p:sp>
        <p:nvSpPr>
          <p:cNvPr id="31" name="!!dot7">
            <a:extLst>
              <a:ext uri="{C183D7F6-B498-43B3-948B-1728B52AA6E4}">
                <adec:decorative xmlns:adec="http://schemas.microsoft.com/office/drawing/2017/decorative" val="1"/>
              </a:ext>
            </a:extLst>
          </p:cNvPr>
          <p:cNvSpPr/>
          <p:nvPr/>
        </p:nvSpPr>
        <p:spPr>
          <a:xfrm>
            <a:off x="271703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dotn7"/>
          <p:cNvSpPr txBox="1"/>
          <p:nvPr/>
        </p:nvSpPr>
        <p:spPr>
          <a:xfrm>
            <a:off x="26255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7</a:t>
            </a:r>
          </a:p>
        </p:txBody>
      </p:sp>
      <p:sp>
        <p:nvSpPr>
          <p:cNvPr id="33" name="!!dot8">
            <a:extLst>
              <a:ext uri="{C183D7F6-B498-43B3-948B-1728B52AA6E4}">
                <adec:decorative xmlns:adec="http://schemas.microsoft.com/office/drawing/2017/decorative" val="1"/>
              </a:ext>
            </a:extLst>
          </p:cNvPr>
          <p:cNvSpPr/>
          <p:nvPr/>
        </p:nvSpPr>
        <p:spPr>
          <a:xfrm>
            <a:off x="2998589"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dotn8"/>
          <p:cNvSpPr txBox="1"/>
          <p:nvPr/>
        </p:nvSpPr>
        <p:spPr>
          <a:xfrm>
            <a:off x="29071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8</a:t>
            </a:r>
          </a:p>
        </p:txBody>
      </p:sp>
      <p:sp>
        <p:nvSpPr>
          <p:cNvPr id="35" name="!!dot9">
            <a:extLst>
              <a:ext uri="{C183D7F6-B498-43B3-948B-1728B52AA6E4}">
                <adec:decorative xmlns:adec="http://schemas.microsoft.com/office/drawing/2017/decorative" val="1"/>
              </a:ext>
            </a:extLst>
          </p:cNvPr>
          <p:cNvSpPr/>
          <p:nvPr/>
        </p:nvSpPr>
        <p:spPr>
          <a:xfrm>
            <a:off x="328013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dotn9"/>
          <p:cNvSpPr txBox="1"/>
          <p:nvPr/>
        </p:nvSpPr>
        <p:spPr>
          <a:xfrm>
            <a:off x="318869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9</a:t>
            </a:r>
          </a:p>
        </p:txBody>
      </p:sp>
      <p:sp>
        <p:nvSpPr>
          <p:cNvPr id="37" name="!!dot10">
            <a:extLst>
              <a:ext uri="{C183D7F6-B498-43B3-948B-1728B52AA6E4}">
                <adec:decorative xmlns:adec="http://schemas.microsoft.com/office/drawing/2017/decorative" val="1"/>
              </a:ext>
            </a:extLst>
          </p:cNvPr>
          <p:cNvSpPr/>
          <p:nvPr/>
        </p:nvSpPr>
        <p:spPr>
          <a:xfrm>
            <a:off x="3561688" y="2258568"/>
            <a:ext cx="274320" cy="274320"/>
          </a:xfrm>
          <a:prstGeom prst="ellipse">
            <a:avLst/>
          </a:prstGeom>
          <a:solidFill>
            <a:srgbClr val="4D98C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dotn10"/>
          <p:cNvSpPr txBox="1"/>
          <p:nvPr/>
        </p:nvSpPr>
        <p:spPr>
          <a:xfrm>
            <a:off x="347024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10</a:t>
            </a:r>
          </a:p>
        </p:txBody>
      </p:sp>
      <p:sp>
        <p:nvSpPr>
          <p:cNvPr id="39" name="!!dot11">
            <a:extLst>
              <a:ext uri="{C183D7F6-B498-43B3-948B-1728B52AA6E4}">
                <adec:decorative xmlns:adec="http://schemas.microsoft.com/office/drawing/2017/decorative" val="1"/>
              </a:ext>
            </a:extLst>
          </p:cNvPr>
          <p:cNvSpPr/>
          <p:nvPr/>
        </p:nvSpPr>
        <p:spPr>
          <a:xfrm>
            <a:off x="4117557"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0" name="!!dotn11"/>
          <p:cNvSpPr txBox="1"/>
          <p:nvPr/>
        </p:nvSpPr>
        <p:spPr>
          <a:xfrm>
            <a:off x="40261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11</a:t>
            </a:r>
          </a:p>
        </p:txBody>
      </p:sp>
      <p:sp>
        <p:nvSpPr>
          <p:cNvPr id="41" name="!!dot12">
            <a:extLst>
              <a:ext uri="{C183D7F6-B498-43B3-948B-1728B52AA6E4}">
                <adec:decorative xmlns:adec="http://schemas.microsoft.com/office/drawing/2017/decorative" val="1"/>
              </a:ext>
            </a:extLst>
          </p:cNvPr>
          <p:cNvSpPr/>
          <p:nvPr/>
        </p:nvSpPr>
        <p:spPr>
          <a:xfrm>
            <a:off x="439910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2" name="!!dotn12"/>
          <p:cNvSpPr txBox="1"/>
          <p:nvPr/>
        </p:nvSpPr>
        <p:spPr>
          <a:xfrm>
            <a:off x="430766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12</a:t>
            </a:r>
          </a:p>
        </p:txBody>
      </p:sp>
      <p:sp>
        <p:nvSpPr>
          <p:cNvPr id="43" name="!!dot13">
            <a:extLst>
              <a:ext uri="{C183D7F6-B498-43B3-948B-1728B52AA6E4}">
                <adec:decorative xmlns:adec="http://schemas.microsoft.com/office/drawing/2017/decorative" val="1"/>
              </a:ext>
            </a:extLst>
          </p:cNvPr>
          <p:cNvSpPr/>
          <p:nvPr/>
        </p:nvSpPr>
        <p:spPr>
          <a:xfrm>
            <a:off x="4680656"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4" name="!!dotn13"/>
          <p:cNvSpPr txBox="1"/>
          <p:nvPr/>
        </p:nvSpPr>
        <p:spPr>
          <a:xfrm>
            <a:off x="4589216"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13</a:t>
            </a:r>
          </a:p>
        </p:txBody>
      </p:sp>
      <p:sp>
        <p:nvSpPr>
          <p:cNvPr id="45" name="!!dot14">
            <a:extLst>
              <a:ext uri="{C183D7F6-B498-43B3-948B-1728B52AA6E4}">
                <adec:decorative xmlns:adec="http://schemas.microsoft.com/office/drawing/2017/decorative" val="1"/>
              </a:ext>
            </a:extLst>
          </p:cNvPr>
          <p:cNvSpPr/>
          <p:nvPr/>
        </p:nvSpPr>
        <p:spPr>
          <a:xfrm>
            <a:off x="496220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6" name="!!dotn14"/>
          <p:cNvSpPr txBox="1"/>
          <p:nvPr/>
        </p:nvSpPr>
        <p:spPr>
          <a:xfrm>
            <a:off x="487076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14</a:t>
            </a:r>
          </a:p>
        </p:txBody>
      </p:sp>
      <p:sp>
        <p:nvSpPr>
          <p:cNvPr id="47" name="!!dot15">
            <a:extLst>
              <a:ext uri="{C183D7F6-B498-43B3-948B-1728B52AA6E4}">
                <adec:decorative xmlns:adec="http://schemas.microsoft.com/office/drawing/2017/decorative" val="1"/>
              </a:ext>
            </a:extLst>
          </p:cNvPr>
          <p:cNvSpPr/>
          <p:nvPr/>
        </p:nvSpPr>
        <p:spPr>
          <a:xfrm>
            <a:off x="5243755"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8" name="!!dotn15"/>
          <p:cNvSpPr txBox="1"/>
          <p:nvPr/>
        </p:nvSpPr>
        <p:spPr>
          <a:xfrm>
            <a:off x="5152315"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15</a:t>
            </a:r>
          </a:p>
        </p:txBody>
      </p:sp>
      <p:sp>
        <p:nvSpPr>
          <p:cNvPr id="49" name="!!dot16">
            <a:extLst>
              <a:ext uri="{C183D7F6-B498-43B3-948B-1728B52AA6E4}">
                <adec:decorative xmlns:adec="http://schemas.microsoft.com/office/drawing/2017/decorative" val="1"/>
              </a:ext>
            </a:extLst>
          </p:cNvPr>
          <p:cNvSpPr/>
          <p:nvPr/>
        </p:nvSpPr>
        <p:spPr>
          <a:xfrm>
            <a:off x="5525304" y="2258568"/>
            <a:ext cx="274320" cy="274320"/>
          </a:xfrm>
          <a:prstGeom prst="ellipse">
            <a:avLst/>
          </a:prstGeom>
          <a:solidFill>
            <a:srgbClr val="47BA7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0" name="!!dotn16"/>
          <p:cNvSpPr txBox="1"/>
          <p:nvPr/>
        </p:nvSpPr>
        <p:spPr>
          <a:xfrm>
            <a:off x="543386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16</a:t>
            </a:r>
          </a:p>
        </p:txBody>
      </p:sp>
      <p:sp>
        <p:nvSpPr>
          <p:cNvPr id="51" name="!!dot17">
            <a:extLst>
              <a:ext uri="{C183D7F6-B498-43B3-948B-1728B52AA6E4}">
                <adec:decorative xmlns:adec="http://schemas.microsoft.com/office/drawing/2017/decorative" val="1"/>
              </a:ext>
            </a:extLst>
          </p:cNvPr>
          <p:cNvSpPr/>
          <p:nvPr/>
        </p:nvSpPr>
        <p:spPr>
          <a:xfrm>
            <a:off x="6081174"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2" name="!!dotn17"/>
          <p:cNvSpPr txBox="1"/>
          <p:nvPr/>
        </p:nvSpPr>
        <p:spPr>
          <a:xfrm>
            <a:off x="5989734"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17</a:t>
            </a:r>
          </a:p>
        </p:txBody>
      </p:sp>
      <p:sp>
        <p:nvSpPr>
          <p:cNvPr id="53" name="!!dot18">
            <a:extLst>
              <a:ext uri="{C183D7F6-B498-43B3-948B-1728B52AA6E4}">
                <adec:decorative xmlns:adec="http://schemas.microsoft.com/office/drawing/2017/decorative" val="1"/>
              </a:ext>
            </a:extLst>
          </p:cNvPr>
          <p:cNvSpPr/>
          <p:nvPr/>
        </p:nvSpPr>
        <p:spPr>
          <a:xfrm>
            <a:off x="636272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4" name="!!dotn18"/>
          <p:cNvSpPr txBox="1"/>
          <p:nvPr/>
        </p:nvSpPr>
        <p:spPr>
          <a:xfrm>
            <a:off x="627128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18</a:t>
            </a:r>
          </a:p>
        </p:txBody>
      </p:sp>
      <p:sp>
        <p:nvSpPr>
          <p:cNvPr id="55" name="!!dot19">
            <a:extLst>
              <a:ext uri="{C183D7F6-B498-43B3-948B-1728B52AA6E4}">
                <adec:decorative xmlns:adec="http://schemas.microsoft.com/office/drawing/2017/decorative" val="1"/>
              </a:ext>
            </a:extLst>
          </p:cNvPr>
          <p:cNvSpPr/>
          <p:nvPr/>
        </p:nvSpPr>
        <p:spPr>
          <a:xfrm>
            <a:off x="6644273"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6" name="!!dotn19"/>
          <p:cNvSpPr txBox="1"/>
          <p:nvPr/>
        </p:nvSpPr>
        <p:spPr>
          <a:xfrm>
            <a:off x="6552833"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19</a:t>
            </a:r>
          </a:p>
        </p:txBody>
      </p:sp>
      <p:sp>
        <p:nvSpPr>
          <p:cNvPr id="57" name="!!dot20">
            <a:extLst>
              <a:ext uri="{C183D7F6-B498-43B3-948B-1728B52AA6E4}">
                <adec:decorative xmlns:adec="http://schemas.microsoft.com/office/drawing/2017/decorative" val="1"/>
              </a:ext>
            </a:extLst>
          </p:cNvPr>
          <p:cNvSpPr/>
          <p:nvPr/>
        </p:nvSpPr>
        <p:spPr>
          <a:xfrm>
            <a:off x="692582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8" name="!!dotn20"/>
          <p:cNvSpPr txBox="1"/>
          <p:nvPr/>
        </p:nvSpPr>
        <p:spPr>
          <a:xfrm>
            <a:off x="683438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20</a:t>
            </a:r>
          </a:p>
        </p:txBody>
      </p:sp>
      <p:sp>
        <p:nvSpPr>
          <p:cNvPr id="59" name="!!dot21">
            <a:extLst>
              <a:ext uri="{C183D7F6-B498-43B3-948B-1728B52AA6E4}">
                <adec:decorative xmlns:adec="http://schemas.microsoft.com/office/drawing/2017/decorative" val="1"/>
              </a:ext>
            </a:extLst>
          </p:cNvPr>
          <p:cNvSpPr/>
          <p:nvPr/>
        </p:nvSpPr>
        <p:spPr>
          <a:xfrm>
            <a:off x="7207372"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dotn21"/>
          <p:cNvSpPr txBox="1"/>
          <p:nvPr/>
        </p:nvSpPr>
        <p:spPr>
          <a:xfrm>
            <a:off x="711593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21</a:t>
            </a:r>
          </a:p>
        </p:txBody>
      </p:sp>
      <p:sp>
        <p:nvSpPr>
          <p:cNvPr id="61" name="!!dot22">
            <a:extLst>
              <a:ext uri="{C183D7F6-B498-43B3-948B-1728B52AA6E4}">
                <adec:decorative xmlns:adec="http://schemas.microsoft.com/office/drawing/2017/decorative" val="1"/>
              </a:ext>
            </a:extLst>
          </p:cNvPr>
          <p:cNvSpPr/>
          <p:nvPr/>
        </p:nvSpPr>
        <p:spPr>
          <a:xfrm>
            <a:off x="7488921" y="2258568"/>
            <a:ext cx="274320" cy="274320"/>
          </a:xfrm>
          <a:prstGeom prst="ellipse">
            <a:avLst/>
          </a:prstGeom>
          <a:solidFill>
            <a:srgbClr val="9F60B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2" name="!!dotn22"/>
          <p:cNvSpPr txBox="1"/>
          <p:nvPr/>
        </p:nvSpPr>
        <p:spPr>
          <a:xfrm>
            <a:off x="739748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22</a:t>
            </a:r>
          </a:p>
        </p:txBody>
      </p:sp>
      <p:sp>
        <p:nvSpPr>
          <p:cNvPr id="63" name="!!dot23">
            <a:extLst>
              <a:ext uri="{C183D7F6-B498-43B3-948B-1728B52AA6E4}">
                <adec:decorative xmlns:adec="http://schemas.microsoft.com/office/drawing/2017/decorative" val="1"/>
              </a:ext>
            </a:extLst>
          </p:cNvPr>
          <p:cNvSpPr/>
          <p:nvPr/>
        </p:nvSpPr>
        <p:spPr>
          <a:xfrm>
            <a:off x="8044791"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4" name="!!dotn23"/>
          <p:cNvSpPr txBox="1"/>
          <p:nvPr/>
        </p:nvSpPr>
        <p:spPr>
          <a:xfrm>
            <a:off x="7953351"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23</a:t>
            </a:r>
          </a:p>
        </p:txBody>
      </p:sp>
      <p:sp>
        <p:nvSpPr>
          <p:cNvPr id="65" name="!!dot24">
            <a:extLst>
              <a:ext uri="{C183D7F6-B498-43B3-948B-1728B52AA6E4}">
                <adec:decorative xmlns:adec="http://schemas.microsoft.com/office/drawing/2017/decorative" val="1"/>
              </a:ext>
            </a:extLst>
          </p:cNvPr>
          <p:cNvSpPr/>
          <p:nvPr/>
        </p:nvSpPr>
        <p:spPr>
          <a:xfrm>
            <a:off x="8326340"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6" name="!!dotn24"/>
          <p:cNvSpPr txBox="1"/>
          <p:nvPr/>
        </p:nvSpPr>
        <p:spPr>
          <a:xfrm>
            <a:off x="823490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24</a:t>
            </a:r>
          </a:p>
        </p:txBody>
      </p:sp>
      <p:sp>
        <p:nvSpPr>
          <p:cNvPr id="67" name="!!dot25">
            <a:extLst>
              <a:ext uri="{C183D7F6-B498-43B3-948B-1728B52AA6E4}">
                <adec:decorative xmlns:adec="http://schemas.microsoft.com/office/drawing/2017/decorative" val="1"/>
              </a:ext>
            </a:extLst>
          </p:cNvPr>
          <p:cNvSpPr/>
          <p:nvPr/>
        </p:nvSpPr>
        <p:spPr>
          <a:xfrm>
            <a:off x="8607890"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8" name="!!dotn25"/>
          <p:cNvSpPr txBox="1"/>
          <p:nvPr/>
        </p:nvSpPr>
        <p:spPr>
          <a:xfrm>
            <a:off x="8516450"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25</a:t>
            </a:r>
          </a:p>
        </p:txBody>
      </p:sp>
      <p:sp>
        <p:nvSpPr>
          <p:cNvPr id="69" name="!!dot26">
            <a:extLst>
              <a:ext uri="{C183D7F6-B498-43B3-948B-1728B52AA6E4}">
                <adec:decorative xmlns:adec="http://schemas.microsoft.com/office/drawing/2017/decorative" val="1"/>
              </a:ext>
            </a:extLst>
          </p:cNvPr>
          <p:cNvSpPr/>
          <p:nvPr/>
        </p:nvSpPr>
        <p:spPr>
          <a:xfrm>
            <a:off x="8889439"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0" name="!!dotn26"/>
          <p:cNvSpPr txBox="1"/>
          <p:nvPr/>
        </p:nvSpPr>
        <p:spPr>
          <a:xfrm>
            <a:off x="879799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26</a:t>
            </a:r>
          </a:p>
        </p:txBody>
      </p:sp>
      <p:sp>
        <p:nvSpPr>
          <p:cNvPr id="71" name="!!dot27">
            <a:extLst>
              <a:ext uri="{C183D7F6-B498-43B3-948B-1728B52AA6E4}">
                <adec:decorative xmlns:adec="http://schemas.microsoft.com/office/drawing/2017/decorative" val="1"/>
              </a:ext>
            </a:extLst>
          </p:cNvPr>
          <p:cNvSpPr/>
          <p:nvPr/>
        </p:nvSpPr>
        <p:spPr>
          <a:xfrm>
            <a:off x="9170989" y="2258568"/>
            <a:ext cx="274320" cy="274320"/>
          </a:xfrm>
          <a:prstGeom prst="ellipse">
            <a:avLst/>
          </a:prstGeom>
          <a:solidFill>
            <a:srgbClr val="358E7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2" name="!!dotn27"/>
          <p:cNvSpPr txBox="1"/>
          <p:nvPr/>
        </p:nvSpPr>
        <p:spPr>
          <a:xfrm>
            <a:off x="9079549"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27</a:t>
            </a:r>
          </a:p>
        </p:txBody>
      </p:sp>
      <p:sp>
        <p:nvSpPr>
          <p:cNvPr id="73" name="!!dot28">
            <a:extLst>
              <a:ext uri="{C183D7F6-B498-43B3-948B-1728B52AA6E4}">
                <adec:decorative xmlns:adec="http://schemas.microsoft.com/office/drawing/2017/decorative" val="1"/>
              </a:ext>
            </a:extLst>
          </p:cNvPr>
          <p:cNvSpPr/>
          <p:nvPr/>
        </p:nvSpPr>
        <p:spPr>
          <a:xfrm>
            <a:off x="9726858"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4" name="!!dotn28"/>
          <p:cNvSpPr txBox="1"/>
          <p:nvPr/>
        </p:nvSpPr>
        <p:spPr>
          <a:xfrm>
            <a:off x="963541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28</a:t>
            </a:r>
          </a:p>
        </p:txBody>
      </p:sp>
      <p:sp>
        <p:nvSpPr>
          <p:cNvPr id="75" name="!!dot29">
            <a:extLst>
              <a:ext uri="{C183D7F6-B498-43B3-948B-1728B52AA6E4}">
                <adec:decorative xmlns:adec="http://schemas.microsoft.com/office/drawing/2017/decorative" val="1"/>
              </a:ext>
            </a:extLst>
          </p:cNvPr>
          <p:cNvSpPr/>
          <p:nvPr/>
        </p:nvSpPr>
        <p:spPr>
          <a:xfrm>
            <a:off x="10008408"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6" name="!!dotn29"/>
          <p:cNvSpPr txBox="1"/>
          <p:nvPr/>
        </p:nvSpPr>
        <p:spPr>
          <a:xfrm>
            <a:off x="9916968"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29</a:t>
            </a:r>
          </a:p>
        </p:txBody>
      </p:sp>
      <p:sp>
        <p:nvSpPr>
          <p:cNvPr id="77" name="!!dot30">
            <a:extLst>
              <a:ext uri="{C183D7F6-B498-43B3-948B-1728B52AA6E4}">
                <adec:decorative xmlns:adec="http://schemas.microsoft.com/office/drawing/2017/decorative" val="1"/>
              </a:ext>
            </a:extLst>
          </p:cNvPr>
          <p:cNvSpPr/>
          <p:nvPr/>
        </p:nvSpPr>
        <p:spPr>
          <a:xfrm>
            <a:off x="10289957" y="2258568"/>
            <a:ext cx="274320" cy="274320"/>
          </a:xfrm>
          <a:prstGeom prst="ellipse">
            <a:avLst/>
          </a:prstGeom>
          <a:solidFill>
            <a:srgbClr val="C2A53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8" name="!!dotn30"/>
          <p:cNvSpPr txBox="1"/>
          <p:nvPr/>
        </p:nvSpPr>
        <p:spPr>
          <a:xfrm>
            <a:off x="10198517"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FFFFFF"/>
                </a:solidFill>
                <a:latin typeface="Segoe UI"/>
              </a:rPr>
              <a:t>30</a:t>
            </a:r>
          </a:p>
        </p:txBody>
      </p:sp>
      <p:sp>
        <p:nvSpPr>
          <p:cNvPr id="79" name="!!dot31">
            <a:extLst>
              <a:ext uri="{C183D7F6-B498-43B3-948B-1728B52AA6E4}">
                <adec:decorative xmlns:adec="http://schemas.microsoft.com/office/drawing/2017/decorative" val="1"/>
              </a:ext>
            </a:extLst>
          </p:cNvPr>
          <p:cNvSpPr/>
          <p:nvPr/>
        </p:nvSpPr>
        <p:spPr>
          <a:xfrm>
            <a:off x="10580650" y="2112264"/>
            <a:ext cx="566928" cy="566928"/>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0" name="!!dotn31"/>
          <p:cNvSpPr txBox="1"/>
          <p:nvPr/>
        </p:nvSpPr>
        <p:spPr>
          <a:xfrm>
            <a:off x="10580650" y="2240280"/>
            <a:ext cx="566928"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31</a:t>
            </a:r>
          </a:p>
        </p:txBody>
      </p:sp>
      <p:sp>
        <p:nvSpPr>
          <p:cNvPr id="81" name="!!dot32">
            <a:extLst>
              <a:ext uri="{C183D7F6-B498-43B3-948B-1728B52AA6E4}">
                <adec:decorative xmlns:adec="http://schemas.microsoft.com/office/drawing/2017/decorative" val="1"/>
              </a:ext>
            </a:extLst>
          </p:cNvPr>
          <p:cNvSpPr/>
          <p:nvPr/>
        </p:nvSpPr>
        <p:spPr>
          <a:xfrm>
            <a:off x="11163952" y="2258568"/>
            <a:ext cx="274320" cy="274320"/>
          </a:xfrm>
          <a:prstGeom prst="ellipse">
            <a:avLst/>
          </a:prstGeom>
          <a:solidFill>
            <a:srgbClr val="FFFFFF"/>
          </a:solidFill>
          <a:ln w="15875">
            <a:solidFill>
              <a:srgbClr val="D7C57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2" name="!!dotn32"/>
          <p:cNvSpPr txBox="1"/>
          <p:nvPr/>
        </p:nvSpPr>
        <p:spPr>
          <a:xfrm>
            <a:off x="11072512" y="2295144"/>
            <a:ext cx="457200" cy="201168"/>
          </a:xfrm>
          <a:prstGeom prst="rect">
            <a:avLst/>
          </a:prstGeom>
          <a:noFill/>
        </p:spPr>
        <p:txBody>
          <a:bodyPr wrap="square" anchor="t" lIns="0" rIns="0" tIns="0" bIns="0">
            <a:noAutofit/>
          </a:bodyPr>
          <a:lstStyle/>
          <a:p>
            <a:pPr algn="ctr">
              <a:lnSpc>
                <a:spcPct val="100000"/>
              </a:lnSpc>
              <a:spcBef>
                <a:spcPts val="0"/>
              </a:spcBef>
              <a:spcAft>
                <a:spcPts val="0"/>
              </a:spcAft>
            </a:pPr>
            <a:r>
              <a:rPr sz="950" b="1" i="0">
                <a:solidFill>
                  <a:srgbClr val="987F11"/>
                </a:solidFill>
                <a:latin typeface="Segoe UI"/>
              </a:rPr>
              <a:t>32</a:t>
            </a:r>
          </a:p>
        </p:txBody>
      </p:sp>
      <p:sp>
        <p:nvSpPr>
          <p:cNvPr id="83" name="!!dotlabel"/>
          <p:cNvSpPr txBox="1"/>
          <p:nvPr/>
        </p:nvSpPr>
        <p:spPr>
          <a:xfrm>
            <a:off x="6961327" y="2798064"/>
            <a:ext cx="4572000" cy="310896"/>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705B06"/>
                </a:solidFill>
                <a:latin typeface="Segoe UI"/>
              </a:rPr>
              <a:t>Communicating Data Science</a:t>
            </a:r>
          </a:p>
        </p:txBody>
      </p:sp>
      <p:sp>
        <p:nvSpPr>
          <p:cNvPr id="84" name="!!dep-BUILD"/>
          <p:cNvSpPr txBox="1"/>
          <p:nvPr/>
        </p:nvSpPr>
        <p:spPr>
          <a:xfrm>
            <a:off x="658368"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BUILDS ON</a:t>
            </a:r>
          </a:p>
        </p:txBody>
      </p:sp>
      <p:sp>
        <p:nvSpPr>
          <p:cNvPr id="85" name="!!chipBU8">
            <a:extLst>
              <a:ext uri="{C183D7F6-B498-43B3-948B-1728B52AA6E4}">
                <adec:decorative xmlns:adec="http://schemas.microsoft.com/office/drawing/2017/decorative" val="1"/>
              </a:ext>
            </a:extLst>
          </p:cNvPr>
          <p:cNvSpPr/>
          <p:nvPr/>
        </p:nvSpPr>
        <p:spPr>
          <a:xfrm>
            <a:off x="658368" y="3785616"/>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6" name="!!chipbBU8">
            <a:extLst>
              <a:ext uri="{C183D7F6-B498-43B3-948B-1728B52AA6E4}">
                <adec:decorative xmlns:adec="http://schemas.microsoft.com/office/drawing/2017/decorative" val="1"/>
              </a:ext>
            </a:extLst>
          </p:cNvPr>
          <p:cNvSpPr/>
          <p:nvPr/>
        </p:nvSpPr>
        <p:spPr>
          <a:xfrm>
            <a:off x="658368" y="3785616"/>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7" name="!!chiptBU8"/>
          <p:cNvSpPr txBox="1"/>
          <p:nvPr/>
        </p:nvSpPr>
        <p:spPr>
          <a:xfrm>
            <a:off x="859536" y="3877056"/>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8  </a:t>
            </a:r>
            <a:r>
              <a:rPr sz="1400" b="0" i="0">
                <a:solidFill>
                  <a:srgbClr val="1C252B"/>
                </a:solidFill>
                <a:latin typeface="Segoe UI"/>
              </a:rPr>
              <a:t>Exploratory Data Analysis and Visualisation</a:t>
            </a:r>
          </a:p>
        </p:txBody>
      </p:sp>
      <p:sp>
        <p:nvSpPr>
          <p:cNvPr id="88" name="!!chipBU9">
            <a:extLst>
              <a:ext uri="{C183D7F6-B498-43B3-948B-1728B52AA6E4}">
                <adec:decorative xmlns:adec="http://schemas.microsoft.com/office/drawing/2017/decorative" val="1"/>
              </a:ext>
            </a:extLst>
          </p:cNvPr>
          <p:cNvSpPr/>
          <p:nvPr/>
        </p:nvSpPr>
        <p:spPr>
          <a:xfrm>
            <a:off x="658368" y="4297680"/>
            <a:ext cx="5208879" cy="420624"/>
          </a:xfrm>
          <a:prstGeom prst="roundRect">
            <a:avLst>
              <a:gd name="adj" fmla="val 17391"/>
            </a:avLst>
          </a:prstGeom>
          <a:solidFill>
            <a:srgbClr val="E9F0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9" name="!!chipbBU9">
            <a:extLst>
              <a:ext uri="{C183D7F6-B498-43B3-948B-1728B52AA6E4}">
                <adec:decorative xmlns:adec="http://schemas.microsoft.com/office/drawing/2017/decorative" val="1"/>
              </a:ext>
            </a:extLst>
          </p:cNvPr>
          <p:cNvSpPr/>
          <p:nvPr/>
        </p:nvSpPr>
        <p:spPr>
          <a:xfrm>
            <a:off x="658368" y="4297680"/>
            <a:ext cx="64008" cy="420624"/>
          </a:xfrm>
          <a:prstGeom prst="rect">
            <a:avLst/>
          </a:prstGeom>
          <a:solidFill>
            <a:srgbClr val="23679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0" name="!!chiptBU9"/>
          <p:cNvSpPr txBox="1"/>
          <p:nvPr/>
        </p:nvSpPr>
        <p:spPr>
          <a:xfrm>
            <a:off x="859536" y="4389120"/>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236794"/>
                </a:solidFill>
                <a:latin typeface="Segoe UI"/>
              </a:rPr>
              <a:t>Ch 9  </a:t>
            </a:r>
            <a:r>
              <a:rPr sz="1400" b="0" i="0">
                <a:solidFill>
                  <a:srgbClr val="1C252B"/>
                </a:solidFill>
                <a:latin typeface="Segoe UI"/>
              </a:rPr>
              <a:t>Inferential Statistics</a:t>
            </a:r>
          </a:p>
        </p:txBody>
      </p:sp>
      <p:sp>
        <p:nvSpPr>
          <p:cNvPr id="91" name="!!chipBU28">
            <a:extLst>
              <a:ext uri="{C183D7F6-B498-43B3-948B-1728B52AA6E4}">
                <adec:decorative xmlns:adec="http://schemas.microsoft.com/office/drawing/2017/decorative" val="1"/>
              </a:ext>
            </a:extLst>
          </p:cNvPr>
          <p:cNvSpPr/>
          <p:nvPr/>
        </p:nvSpPr>
        <p:spPr>
          <a:xfrm>
            <a:off x="658368" y="4809744"/>
            <a:ext cx="5208879" cy="420624"/>
          </a:xfrm>
          <a:prstGeom prst="roundRect">
            <a:avLst>
              <a:gd name="adj" fmla="val 17391"/>
            </a:avLst>
          </a:prstGeom>
          <a:solidFill>
            <a:srgbClr val="F1EFE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2" name="!!chipbBU28">
            <a:extLst>
              <a:ext uri="{C183D7F6-B498-43B3-948B-1728B52AA6E4}">
                <adec:decorative xmlns:adec="http://schemas.microsoft.com/office/drawing/2017/decorative" val="1"/>
              </a:ext>
            </a:extLst>
          </p:cNvPr>
          <p:cNvSpPr/>
          <p:nvPr/>
        </p:nvSpPr>
        <p:spPr>
          <a:xfrm>
            <a:off x="658368" y="4809744"/>
            <a:ext cx="64008" cy="420624"/>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3" name="!!chiptBU28"/>
          <p:cNvSpPr txBox="1"/>
          <p:nvPr/>
        </p:nvSpPr>
        <p:spPr>
          <a:xfrm>
            <a:off x="859536" y="4901184"/>
            <a:ext cx="493455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1" i="0">
                <a:solidFill>
                  <a:srgbClr val="705B06"/>
                </a:solidFill>
                <a:latin typeface="Segoe UI"/>
              </a:rPr>
              <a:t>Ch 28  </a:t>
            </a:r>
            <a:r>
              <a:rPr sz="1400" b="0" i="0">
                <a:solidFill>
                  <a:srgbClr val="1C252B"/>
                </a:solidFill>
                <a:latin typeface="Segoe UI"/>
              </a:rPr>
              <a:t>Responsible AI and Data Ethics</a:t>
            </a:r>
          </a:p>
        </p:txBody>
      </p:sp>
      <p:sp>
        <p:nvSpPr>
          <p:cNvPr id="94" name="!!dep-USED "/>
          <p:cNvSpPr txBox="1"/>
          <p:nvPr/>
        </p:nvSpPr>
        <p:spPr>
          <a:xfrm>
            <a:off x="6324447" y="3419856"/>
            <a:ext cx="5208879" cy="256032"/>
          </a:xfrm>
          <a:prstGeom prst="rect">
            <a:avLst/>
          </a:prstGeom>
          <a:noFill/>
        </p:spPr>
        <p:txBody>
          <a:bodyPr wrap="square" anchor="t" lIns="0" rIns="0" tIns="0" bIns="0">
            <a:noAutofit/>
          </a:bodyPr>
          <a:lstStyle/>
          <a:p>
            <a:pPr algn="l">
              <a:lnSpc>
                <a:spcPct val="100000"/>
              </a:lnSpc>
              <a:spcBef>
                <a:spcPts val="0"/>
              </a:spcBef>
              <a:spcAft>
                <a:spcPts val="0"/>
              </a:spcAft>
            </a:pPr>
            <a:r>
              <a:rPr sz="1200" b="1" i="0" spc="150">
                <a:solidFill>
                  <a:srgbClr val="5F6F7B"/>
                </a:solidFill>
                <a:latin typeface="Segoe UI"/>
              </a:rPr>
              <a:t>USED LATER IN</a:t>
            </a:r>
          </a:p>
        </p:txBody>
      </p:sp>
      <p:sp>
        <p:nvSpPr>
          <p:cNvPr id="95" name="!!dep-none-USED "/>
          <p:cNvSpPr txBox="1"/>
          <p:nvPr/>
        </p:nvSpPr>
        <p:spPr>
          <a:xfrm>
            <a:off x="6324447" y="3785616"/>
            <a:ext cx="5208879" cy="274320"/>
          </a:xfrm>
          <a:prstGeom prst="rect">
            <a:avLst/>
          </a:prstGeom>
          <a:noFill/>
        </p:spPr>
        <p:txBody>
          <a:bodyPr wrap="square" anchor="t" lIns="0" rIns="0" tIns="0" bIns="0">
            <a:noAutofit/>
          </a:bodyPr>
          <a:lstStyle/>
          <a:p>
            <a:pPr algn="l">
              <a:lnSpc>
                <a:spcPct val="100000"/>
              </a:lnSpc>
              <a:spcBef>
                <a:spcPts val="0"/>
              </a:spcBef>
              <a:spcAft>
                <a:spcPts val="0"/>
              </a:spcAft>
            </a:pPr>
            <a:r>
              <a:rPr sz="1400" b="0" i="0">
                <a:solidFill>
                  <a:srgbClr val="98A4AE"/>
                </a:solidFill>
                <a:latin typeface="Segoe UI"/>
              </a:rPr>
              <a:t>—  the course ends here</a:t>
            </a:r>
          </a:p>
        </p:txBody>
      </p:sp>
      <p:sp>
        <p:nvSpPr>
          <p:cNvPr id="9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7" name="!!pfill">
            <a:extLst>
              <a:ext uri="{C183D7F6-B498-43B3-948B-1728B52AA6E4}">
                <adec:decorative xmlns:adec="http://schemas.microsoft.com/office/drawing/2017/decorative" val="1"/>
              </a:ext>
            </a:extLst>
          </p:cNvPr>
          <p:cNvSpPr/>
          <p:nvPr/>
        </p:nvSpPr>
        <p:spPr>
          <a:xfrm>
            <a:off x="0" y="0"/>
            <a:ext cx="62521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you will be able to do</a:t>
            </a:r>
          </a:p>
        </p:txBody>
      </p:sp>
      <p:pic>
        <p:nvPicPr>
          <p:cNvPr id="3" name="!!kicker-icon" descr="bullsey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LEARNING OUTCOMES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202     </a:t>
            </a:r>
            <a:fld id="{F7D7FDA9-C3E4-4176-AE37-030881AF6D9B}" type="slidenum">
              <a:rPr lang="en-GB" sz="1000">
                <a:solidFill>
                  <a:srgbClr val="8795A1"/>
                </a:solidFill>
                <a:latin typeface="Segoe UI"/>
              </a:rPr>
              <a:t>3</a:t>
            </a:fld>
          </a:p>
        </p:txBody>
      </p:sp>
      <p:sp>
        <p:nvSpPr>
          <p:cNvPr id="7" name="!!olead"/>
          <p:cNvSpPr txBox="1"/>
          <p:nvPr/>
        </p:nvSpPr>
        <p:spPr>
          <a:xfrm>
            <a:off x="658368" y="1737360"/>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600" b="0" i="0">
                <a:solidFill>
                  <a:srgbClr val="5F6F7B"/>
                </a:solidFill>
                <a:latin typeface="Segoe UI"/>
              </a:rPr>
              <a:t>By the end of this chapter you will be able to:</a:t>
            </a:r>
          </a:p>
        </p:txBody>
      </p:sp>
      <p:sp>
        <p:nvSpPr>
          <p:cNvPr id="8" name="!!ob0">
            <a:extLst>
              <a:ext uri="{C183D7F6-B498-43B3-948B-1728B52AA6E4}">
                <adec:decorative xmlns:adec="http://schemas.microsoft.com/office/drawing/2017/decorative" val="1"/>
              </a:ext>
            </a:extLst>
          </p:cNvPr>
          <p:cNvSpPr/>
          <p:nvPr/>
        </p:nvSpPr>
        <p:spPr>
          <a:xfrm>
            <a:off x="658368" y="2221991"/>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obn0"/>
          <p:cNvSpPr txBox="1"/>
          <p:nvPr/>
        </p:nvSpPr>
        <p:spPr>
          <a:xfrm>
            <a:off x="658368" y="2281428"/>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10" name="!!ot0"/>
          <p:cNvSpPr txBox="1"/>
          <p:nvPr/>
        </p:nvSpPr>
        <p:spPr>
          <a:xfrm>
            <a:off x="1316736" y="2263140"/>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Adapt</a:t>
            </a:r>
            <a:r>
              <a:rPr sz="2100" b="0" i="0">
                <a:solidFill>
                  <a:srgbClr val="1C252B"/>
                </a:solidFill>
                <a:latin typeface="Segoe UI"/>
              </a:rPr>
              <a:t> the same result for a technical, managerial and affected-individual audience.</a:t>
            </a:r>
          </a:p>
        </p:txBody>
      </p:sp>
      <p:sp>
        <p:nvSpPr>
          <p:cNvPr id="11" name="!!ob1">
            <a:extLst>
              <a:ext uri="{C183D7F6-B498-43B3-948B-1728B52AA6E4}">
                <adec:decorative xmlns:adec="http://schemas.microsoft.com/office/drawing/2017/decorative" val="1"/>
              </a:ext>
            </a:extLst>
          </p:cNvPr>
          <p:cNvSpPr/>
          <p:nvPr/>
        </p:nvSpPr>
        <p:spPr>
          <a:xfrm>
            <a:off x="658368" y="2825496"/>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obn1"/>
          <p:cNvSpPr txBox="1"/>
          <p:nvPr/>
        </p:nvSpPr>
        <p:spPr>
          <a:xfrm>
            <a:off x="658368" y="2884932"/>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3" name="!!ot1"/>
          <p:cNvSpPr txBox="1"/>
          <p:nvPr/>
        </p:nvSpPr>
        <p:spPr>
          <a:xfrm>
            <a:off x="1316736" y="2866644"/>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Structure</a:t>
            </a:r>
            <a:r>
              <a:rPr sz="2100" b="0" i="0">
                <a:solidFill>
                  <a:srgbClr val="1C252B"/>
                </a:solidFill>
                <a:latin typeface="Segoe UI"/>
              </a:rPr>
              <a:t> a findings report so the conclusion arrives first.</a:t>
            </a:r>
          </a:p>
        </p:txBody>
      </p:sp>
      <p:sp>
        <p:nvSpPr>
          <p:cNvPr id="14" name="!!ob2">
            <a:extLst>
              <a:ext uri="{C183D7F6-B498-43B3-948B-1728B52AA6E4}">
                <adec:decorative xmlns:adec="http://schemas.microsoft.com/office/drawing/2017/decorative" val="1"/>
              </a:ext>
            </a:extLst>
          </p:cNvPr>
          <p:cNvSpPr/>
          <p:nvPr/>
        </p:nvSpPr>
        <p:spPr>
          <a:xfrm>
            <a:off x="658368" y="3429000"/>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obn2"/>
          <p:cNvSpPr txBox="1"/>
          <p:nvPr/>
        </p:nvSpPr>
        <p:spPr>
          <a:xfrm>
            <a:off x="658368" y="3488436"/>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6" name="!!ot2"/>
          <p:cNvSpPr txBox="1"/>
          <p:nvPr/>
        </p:nvSpPr>
        <p:spPr>
          <a:xfrm>
            <a:off x="1316736" y="3470148"/>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Express</a:t>
            </a:r>
            <a:r>
              <a:rPr sz="2100" b="0" i="0">
                <a:solidFill>
                  <a:srgbClr val="1C252B"/>
                </a:solidFill>
                <a:latin typeface="Segoe UI"/>
              </a:rPr>
              <a:t> uncertainty in language a non-specialist will act on correctly.</a:t>
            </a:r>
          </a:p>
        </p:txBody>
      </p:sp>
      <p:sp>
        <p:nvSpPr>
          <p:cNvPr id="17" name="!!ob3">
            <a:extLst>
              <a:ext uri="{C183D7F6-B498-43B3-948B-1728B52AA6E4}">
                <adec:decorative xmlns:adec="http://schemas.microsoft.com/office/drawing/2017/decorative" val="1"/>
              </a:ext>
            </a:extLst>
          </p:cNvPr>
          <p:cNvSpPr/>
          <p:nvPr/>
        </p:nvSpPr>
        <p:spPr>
          <a:xfrm>
            <a:off x="658368" y="4032504"/>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obn3"/>
          <p:cNvSpPr txBox="1"/>
          <p:nvPr/>
        </p:nvSpPr>
        <p:spPr>
          <a:xfrm>
            <a:off x="658368" y="4091940"/>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9" name="!!ot3"/>
          <p:cNvSpPr txBox="1"/>
          <p:nvPr/>
        </p:nvSpPr>
        <p:spPr>
          <a:xfrm>
            <a:off x="1316736" y="4073652"/>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Design</a:t>
            </a:r>
            <a:r>
              <a:rPr sz="2100" b="0" i="0">
                <a:solidFill>
                  <a:srgbClr val="1C252B"/>
                </a:solidFill>
                <a:latin typeface="Segoe UI"/>
              </a:rPr>
              <a:t> a dashboard around a decision rather than around available data.</a:t>
            </a:r>
          </a:p>
        </p:txBody>
      </p:sp>
      <p:sp>
        <p:nvSpPr>
          <p:cNvPr id="20" name="!!ob4">
            <a:extLst>
              <a:ext uri="{C183D7F6-B498-43B3-948B-1728B52AA6E4}">
                <adec:decorative xmlns:adec="http://schemas.microsoft.com/office/drawing/2017/decorative" val="1"/>
              </a:ext>
            </a:extLst>
          </p:cNvPr>
          <p:cNvSpPr/>
          <p:nvPr/>
        </p:nvSpPr>
        <p:spPr>
          <a:xfrm>
            <a:off x="658368" y="4636008"/>
            <a:ext cx="420624" cy="420624"/>
          </a:xfrm>
          <a:prstGeom prst="ellipse">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obn4"/>
          <p:cNvSpPr txBox="1"/>
          <p:nvPr/>
        </p:nvSpPr>
        <p:spPr>
          <a:xfrm>
            <a:off x="658368" y="4695444"/>
            <a:ext cx="420624"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2" name="!!ot4"/>
          <p:cNvSpPr txBox="1"/>
          <p:nvPr/>
        </p:nvSpPr>
        <p:spPr>
          <a:xfrm>
            <a:off x="1316736" y="4677156"/>
            <a:ext cx="10216591" cy="420624"/>
          </a:xfrm>
          <a:prstGeom prst="rect">
            <a:avLst/>
          </a:prstGeom>
          <a:noFill/>
        </p:spPr>
        <p:txBody>
          <a:bodyPr wrap="square" anchor="t" lIns="0" rIns="0" tIns="0" bIns="0">
            <a:noAutofit/>
          </a:bodyPr>
          <a:lstStyle/>
          <a:p>
            <a:pPr algn="l">
              <a:lnSpc>
                <a:spcPct val="104000"/>
              </a:lnSpc>
              <a:spcBef>
                <a:spcPts val="0"/>
              </a:spcBef>
              <a:spcAft>
                <a:spcPts val="0"/>
              </a:spcAft>
            </a:pPr>
            <a:r>
              <a:rPr sz="2100" b="1" i="0">
                <a:solidFill>
                  <a:srgbClr val="705B06"/>
                </a:solidFill>
                <a:latin typeface="Segoe UI"/>
              </a:rPr>
              <a:t>Recognise</a:t>
            </a:r>
            <a:r>
              <a:rPr sz="2100" b="0" i="0">
                <a:solidFill>
                  <a:srgbClr val="1C252B"/>
                </a:solidFill>
                <a:latin typeface="Segoe UI"/>
              </a:rPr>
              <a:t> the presentation choices that mislead, including your own.</a:t>
            </a:r>
          </a:p>
        </p:txBody>
      </p:sp>
      <p:sp>
        <p:nvSpPr>
          <p:cNvPr id="5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0" name="!!pfill">
            <a:extLst>
              <a:ext uri="{C183D7F6-B498-43B3-948B-1728B52AA6E4}">
                <adec:decorative xmlns:adec="http://schemas.microsoft.com/office/drawing/2017/decorative" val="1"/>
              </a:ext>
            </a:extLst>
          </p:cNvPr>
          <p:cNvSpPr/>
          <p:nvPr/>
        </p:nvSpPr>
        <p:spPr>
          <a:xfrm>
            <a:off x="0" y="0"/>
            <a:ext cx="93782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8"/>
                                        </p:tgtEl>
                                        <p:attrNameLst>
                                          <p:attrName>style.visibility</p:attrName>
                                        </p:attrNameLst>
                                      </p:cBhvr>
                                      <p:to>
                                        <p:strVal val="visible"/>
                                      </p:to>
                                    </p:set>
                                    <p:animEffect transition="in" filter="zoom(in)">
                                      <p:cBhvr>
                                        <p:cTn id="8" dur="300"/>
                                        <p:tgtEl>
                                          <p:spTgt spid="8"/>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00"/>
                                        <p:tgtEl>
                                          <p:spTgt spid="9"/>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right)">
                                      <p:cBhvr>
                                        <p:cTn id="14" dur="42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zoom(in)">
                                      <p:cBhvr>
                                        <p:cTn id="19" dur="300"/>
                                        <p:tgtEl>
                                          <p:spTgt spid="1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fade">
                                      <p:cBhvr>
                                        <p:cTn id="22" dur="300"/>
                                        <p:tgtEl>
                                          <p:spTgt spid="12"/>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wipe(right)">
                                      <p:cBhvr>
                                        <p:cTn id="25" dur="420"/>
                                        <p:tgtEl>
                                          <p:spTgt spid="13"/>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zoom(in)">
                                      <p:cBhvr>
                                        <p:cTn id="30" dur="300"/>
                                        <p:tgtEl>
                                          <p:spTgt spid="14"/>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5"/>
                                        </p:tgtEl>
                                        <p:attrNameLst>
                                          <p:attrName>style.visibility</p:attrName>
                                        </p:attrNameLst>
                                      </p:cBhvr>
                                      <p:to>
                                        <p:strVal val="visible"/>
                                      </p:to>
                                    </p:set>
                                    <p:animEffect transition="in" filter="fade">
                                      <p:cBhvr>
                                        <p:cTn id="33" dur="300"/>
                                        <p:tgtEl>
                                          <p:spTgt spid="15"/>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right)">
                                      <p:cBhvr>
                                        <p:cTn id="36" dur="420"/>
                                        <p:tgtEl>
                                          <p:spTgt spid="16"/>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zoom(in)">
                                      <p:cBhvr>
                                        <p:cTn id="41" dur="3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300"/>
                                        <p:tgtEl>
                                          <p:spTgt spid="18"/>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9"/>
                                        </p:tgtEl>
                                        <p:attrNameLst>
                                          <p:attrName>style.visibility</p:attrName>
                                        </p:attrNameLst>
                                      </p:cBhvr>
                                      <p:to>
                                        <p:strVal val="visible"/>
                                      </p:to>
                                    </p:set>
                                    <p:animEffect transition="in" filter="wipe(right)">
                                      <p:cBhvr>
                                        <p:cTn id="47" dur="420"/>
                                        <p:tgtEl>
                                          <p:spTgt spid="19"/>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zoom(in)">
                                      <p:cBhvr>
                                        <p:cTn id="52" dur="3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300"/>
                                        <p:tgtEl>
                                          <p:spTgt spid="21"/>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wipe(right)">
                                      <p:cBhvr>
                                        <p:cTn id="58" dur="42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Vocabulary for this chapter</a:t>
            </a:r>
          </a:p>
        </p:txBody>
      </p:sp>
      <p:pic>
        <p:nvPicPr>
          <p:cNvPr id="3" name="!!kicker-icon" descr="tags-8E44A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7256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8E44AD"/>
                </a:solidFill>
                <a:latin typeface="Segoe UI"/>
              </a:rPr>
              <a:t>KEY TERMS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202     </a:t>
            </a:r>
            <a:fld id="{993F46D3-25CA-48C6-B78A-3DBCAEA7E1A7}" type="slidenum">
              <a:rPr lang="en-GB" sz="1000">
                <a:solidFill>
                  <a:srgbClr val="8795A1"/>
                </a:solidFill>
                <a:latin typeface="Segoe UI"/>
              </a:rPr>
              <a:t>4</a:t>
            </a:fld>
          </a:p>
        </p:txBody>
      </p:sp>
      <p:sp>
        <p:nvSpPr>
          <p:cNvPr id="7" name="!!term-audience analy">
            <a:extLst>
              <a:ext uri="{C183D7F6-B498-43B3-948B-1728B52AA6E4}">
                <adec:decorative xmlns:adec="http://schemas.microsoft.com/office/drawing/2017/decorative" val="1"/>
              </a:ext>
            </a:extLst>
          </p:cNvPr>
          <p:cNvSpPr/>
          <p:nvPr/>
        </p:nvSpPr>
        <p:spPr>
          <a:xfrm>
            <a:off x="658368" y="1847088"/>
            <a:ext cx="2124460"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ermd-audience analy">
            <a:extLst>
              <a:ext uri="{C183D7F6-B498-43B3-948B-1728B52AA6E4}">
                <adec:decorative xmlns:adec="http://schemas.microsoft.com/office/drawing/2017/decorative" val="1"/>
              </a:ext>
            </a:extLst>
          </p:cNvPr>
          <p:cNvSpPr/>
          <p:nvPr/>
        </p:nvSpPr>
        <p:spPr>
          <a:xfrm>
            <a:off x="78638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termt-audience analy"/>
          <p:cNvSpPr txBox="1"/>
          <p:nvPr/>
        </p:nvSpPr>
        <p:spPr>
          <a:xfrm>
            <a:off x="950976" y="1955291"/>
            <a:ext cx="1941580"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audience analysis</a:t>
            </a:r>
          </a:p>
        </p:txBody>
      </p:sp>
      <p:sp>
        <p:nvSpPr>
          <p:cNvPr id="10" name="!!term-bottom line up">
            <a:extLst>
              <a:ext uri="{C183D7F6-B498-43B3-948B-1728B52AA6E4}">
                <adec:decorative xmlns:adec="http://schemas.microsoft.com/office/drawing/2017/decorative" val="1"/>
              </a:ext>
            </a:extLst>
          </p:cNvPr>
          <p:cNvSpPr/>
          <p:nvPr/>
        </p:nvSpPr>
        <p:spPr>
          <a:xfrm>
            <a:off x="2929132" y="1847088"/>
            <a:ext cx="2420801"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termd-bottom line up">
            <a:extLst>
              <a:ext uri="{C183D7F6-B498-43B3-948B-1728B52AA6E4}">
                <adec:decorative xmlns:adec="http://schemas.microsoft.com/office/drawing/2017/decorative" val="1"/>
              </a:ext>
            </a:extLst>
          </p:cNvPr>
          <p:cNvSpPr/>
          <p:nvPr/>
        </p:nvSpPr>
        <p:spPr>
          <a:xfrm>
            <a:off x="3057148"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termt-bottom line up"/>
          <p:cNvSpPr txBox="1"/>
          <p:nvPr/>
        </p:nvSpPr>
        <p:spPr>
          <a:xfrm>
            <a:off x="3221740" y="1955291"/>
            <a:ext cx="2237921"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bottom line up front</a:t>
            </a:r>
          </a:p>
        </p:txBody>
      </p:sp>
      <p:sp>
        <p:nvSpPr>
          <p:cNvPr id="13" name="!!term-executive summ">
            <a:extLst>
              <a:ext uri="{C183D7F6-B498-43B3-948B-1728B52AA6E4}">
                <adec:decorative xmlns:adec="http://schemas.microsoft.com/office/drawing/2017/decorative" val="1"/>
              </a:ext>
            </a:extLst>
          </p:cNvPr>
          <p:cNvSpPr/>
          <p:nvPr/>
        </p:nvSpPr>
        <p:spPr>
          <a:xfrm>
            <a:off x="5496238" y="1847088"/>
            <a:ext cx="229830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termd-executive summ">
            <a:extLst>
              <a:ext uri="{C183D7F6-B498-43B3-948B-1728B52AA6E4}">
                <adec:decorative xmlns:adec="http://schemas.microsoft.com/office/drawing/2017/decorative" val="1"/>
              </a:ext>
            </a:extLst>
          </p:cNvPr>
          <p:cNvSpPr/>
          <p:nvPr/>
        </p:nvSpPr>
        <p:spPr>
          <a:xfrm>
            <a:off x="5624254"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termt-executive summ"/>
          <p:cNvSpPr txBox="1"/>
          <p:nvPr/>
        </p:nvSpPr>
        <p:spPr>
          <a:xfrm>
            <a:off x="5788846" y="1955291"/>
            <a:ext cx="211542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executive summary</a:t>
            </a:r>
          </a:p>
        </p:txBody>
      </p:sp>
      <p:sp>
        <p:nvSpPr>
          <p:cNvPr id="16" name="!!term-narrative arc">
            <a:extLst>
              <a:ext uri="{C183D7F6-B498-43B3-948B-1728B52AA6E4}">
                <adec:decorative xmlns:adec="http://schemas.microsoft.com/office/drawing/2017/decorative" val="1"/>
              </a:ext>
            </a:extLst>
          </p:cNvPr>
          <p:cNvSpPr/>
          <p:nvPr/>
        </p:nvSpPr>
        <p:spPr>
          <a:xfrm>
            <a:off x="7940844" y="1847088"/>
            <a:ext cx="164035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termd-narrative arc">
            <a:extLst>
              <a:ext uri="{C183D7F6-B498-43B3-948B-1728B52AA6E4}">
                <adec:decorative xmlns:adec="http://schemas.microsoft.com/office/drawing/2017/decorative" val="1"/>
              </a:ext>
            </a:extLst>
          </p:cNvPr>
          <p:cNvSpPr/>
          <p:nvPr/>
        </p:nvSpPr>
        <p:spPr>
          <a:xfrm>
            <a:off x="8068860" y="2039112"/>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termt-narrative arc"/>
          <p:cNvSpPr txBox="1"/>
          <p:nvPr/>
        </p:nvSpPr>
        <p:spPr>
          <a:xfrm>
            <a:off x="8233452" y="1955291"/>
            <a:ext cx="145747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narrative arc</a:t>
            </a:r>
          </a:p>
        </p:txBody>
      </p:sp>
      <p:sp>
        <p:nvSpPr>
          <p:cNvPr id="19" name="!!term-uncertainty co">
            <a:extLst>
              <a:ext uri="{C183D7F6-B498-43B3-948B-1728B52AA6E4}">
                <adec:decorative xmlns:adec="http://schemas.microsoft.com/office/drawing/2017/decorative" val="1"/>
              </a:ext>
            </a:extLst>
          </p:cNvPr>
          <p:cNvSpPr/>
          <p:nvPr/>
        </p:nvSpPr>
        <p:spPr>
          <a:xfrm>
            <a:off x="658368" y="2468880"/>
            <a:ext cx="3096162"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termd-uncertainty co">
            <a:extLst>
              <a:ext uri="{C183D7F6-B498-43B3-948B-1728B52AA6E4}">
                <adec:decorative xmlns:adec="http://schemas.microsoft.com/office/drawing/2017/decorative" val="1"/>
              </a:ext>
            </a:extLst>
          </p:cNvPr>
          <p:cNvSpPr/>
          <p:nvPr/>
        </p:nvSpPr>
        <p:spPr>
          <a:xfrm>
            <a:off x="786384"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termt-uncertainty co"/>
          <p:cNvSpPr txBox="1"/>
          <p:nvPr/>
        </p:nvSpPr>
        <p:spPr>
          <a:xfrm>
            <a:off x="950976" y="2577084"/>
            <a:ext cx="2913282"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uncertainty communication</a:t>
            </a:r>
          </a:p>
        </p:txBody>
      </p:sp>
      <p:sp>
        <p:nvSpPr>
          <p:cNvPr id="22" name="!!term-natural freque">
            <a:extLst>
              <a:ext uri="{C183D7F6-B498-43B3-948B-1728B52AA6E4}">
                <adec:decorative xmlns:adec="http://schemas.microsoft.com/office/drawing/2017/decorative" val="1"/>
              </a:ext>
            </a:extLst>
          </p:cNvPr>
          <p:cNvSpPr/>
          <p:nvPr/>
        </p:nvSpPr>
        <p:spPr>
          <a:xfrm>
            <a:off x="3900834" y="2468880"/>
            <a:ext cx="2295745"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termd-natural freque">
            <a:extLst>
              <a:ext uri="{C183D7F6-B498-43B3-948B-1728B52AA6E4}">
                <adec:decorative xmlns:adec="http://schemas.microsoft.com/office/drawing/2017/decorative" val="1"/>
              </a:ext>
            </a:extLst>
          </p:cNvPr>
          <p:cNvSpPr/>
          <p:nvPr/>
        </p:nvSpPr>
        <p:spPr>
          <a:xfrm>
            <a:off x="4028850"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termt-natural freque"/>
          <p:cNvSpPr txBox="1"/>
          <p:nvPr/>
        </p:nvSpPr>
        <p:spPr>
          <a:xfrm>
            <a:off x="4193442" y="2577084"/>
            <a:ext cx="2112865"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natural frequencies</a:t>
            </a:r>
          </a:p>
        </p:txBody>
      </p:sp>
      <p:sp>
        <p:nvSpPr>
          <p:cNvPr id="25" name="!!term-actionable ins">
            <a:extLst>
              <a:ext uri="{C183D7F6-B498-43B3-948B-1728B52AA6E4}">
                <adec:decorative xmlns:adec="http://schemas.microsoft.com/office/drawing/2017/decorative" val="1"/>
              </a:ext>
            </a:extLst>
          </p:cNvPr>
          <p:cNvSpPr/>
          <p:nvPr/>
        </p:nvSpPr>
        <p:spPr>
          <a:xfrm>
            <a:off x="6342883" y="2468880"/>
            <a:ext cx="2158374"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termd-actionable ins">
            <a:extLst>
              <a:ext uri="{C183D7F6-B498-43B3-948B-1728B52AA6E4}">
                <adec:decorative xmlns:adec="http://schemas.microsoft.com/office/drawing/2017/decorative" val="1"/>
              </a:ext>
            </a:extLst>
          </p:cNvPr>
          <p:cNvSpPr/>
          <p:nvPr/>
        </p:nvSpPr>
        <p:spPr>
          <a:xfrm>
            <a:off x="6470899"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termt-actionable ins"/>
          <p:cNvSpPr txBox="1"/>
          <p:nvPr/>
        </p:nvSpPr>
        <p:spPr>
          <a:xfrm>
            <a:off x="6635491" y="2577084"/>
            <a:ext cx="1975494"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actionable insight</a:t>
            </a:r>
          </a:p>
        </p:txBody>
      </p:sp>
      <p:sp>
        <p:nvSpPr>
          <p:cNvPr id="28" name="!!term-dashboard">
            <a:extLst>
              <a:ext uri="{C183D7F6-B498-43B3-948B-1728B52AA6E4}">
                <adec:decorative xmlns:adec="http://schemas.microsoft.com/office/drawing/2017/decorative" val="1"/>
              </a:ext>
            </a:extLst>
          </p:cNvPr>
          <p:cNvSpPr/>
          <p:nvPr/>
        </p:nvSpPr>
        <p:spPr>
          <a:xfrm>
            <a:off x="8647561" y="2468880"/>
            <a:ext cx="1475608"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termd-dashboard">
            <a:extLst>
              <a:ext uri="{C183D7F6-B498-43B3-948B-1728B52AA6E4}">
                <adec:decorative xmlns:adec="http://schemas.microsoft.com/office/drawing/2017/decorative" val="1"/>
              </a:ext>
            </a:extLst>
          </p:cNvPr>
          <p:cNvSpPr/>
          <p:nvPr/>
        </p:nvSpPr>
        <p:spPr>
          <a:xfrm>
            <a:off x="8775577" y="2660904"/>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0" name="!!termt-dashboard"/>
          <p:cNvSpPr txBox="1"/>
          <p:nvPr/>
        </p:nvSpPr>
        <p:spPr>
          <a:xfrm>
            <a:off x="8940169" y="2577084"/>
            <a:ext cx="1292728"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dashboard</a:t>
            </a:r>
          </a:p>
        </p:txBody>
      </p:sp>
      <p:sp>
        <p:nvSpPr>
          <p:cNvPr id="31" name="!!term-decision suppo">
            <a:extLst>
              <a:ext uri="{C183D7F6-B498-43B3-948B-1728B52AA6E4}">
                <adec:decorative xmlns:adec="http://schemas.microsoft.com/office/drawing/2017/decorative" val="1"/>
              </a:ext>
            </a:extLst>
          </p:cNvPr>
          <p:cNvSpPr/>
          <p:nvPr/>
        </p:nvSpPr>
        <p:spPr>
          <a:xfrm>
            <a:off x="658368" y="3090672"/>
            <a:ext cx="2056953"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termd-decision suppo">
            <a:extLst>
              <a:ext uri="{C183D7F6-B498-43B3-948B-1728B52AA6E4}">
                <adec:decorative xmlns:adec="http://schemas.microsoft.com/office/drawing/2017/decorative" val="1"/>
              </a:ext>
            </a:extLst>
          </p:cNvPr>
          <p:cNvSpPr/>
          <p:nvPr/>
        </p:nvSpPr>
        <p:spPr>
          <a:xfrm>
            <a:off x="786384"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termt-decision suppo"/>
          <p:cNvSpPr txBox="1"/>
          <p:nvPr/>
        </p:nvSpPr>
        <p:spPr>
          <a:xfrm>
            <a:off x="950976" y="3198876"/>
            <a:ext cx="1874073"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decision support</a:t>
            </a:r>
          </a:p>
        </p:txBody>
      </p:sp>
      <p:sp>
        <p:nvSpPr>
          <p:cNvPr id="34" name="!!term-caveat">
            <a:extLst>
              <a:ext uri="{C183D7F6-B498-43B3-948B-1728B52AA6E4}">
                <adec:decorative xmlns:adec="http://schemas.microsoft.com/office/drawing/2017/decorative" val="1"/>
              </a:ext>
            </a:extLst>
          </p:cNvPr>
          <p:cNvSpPr/>
          <p:nvPr/>
        </p:nvSpPr>
        <p:spPr>
          <a:xfrm>
            <a:off x="2861625" y="3090672"/>
            <a:ext cx="1060126" cy="475488"/>
          </a:xfrm>
          <a:prstGeom prst="roundRect">
            <a:avLst>
              <a:gd name="adj" fmla="val 50000"/>
            </a:avLst>
          </a:prstGeom>
          <a:solidFill>
            <a:srgbClr val="F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5" name="!!termd-caveat">
            <a:extLst>
              <a:ext uri="{C183D7F6-B498-43B3-948B-1728B52AA6E4}">
                <adec:decorative xmlns:adec="http://schemas.microsoft.com/office/drawing/2017/decorative" val="1"/>
              </a:ext>
            </a:extLst>
          </p:cNvPr>
          <p:cNvSpPr/>
          <p:nvPr/>
        </p:nvSpPr>
        <p:spPr>
          <a:xfrm>
            <a:off x="2989641" y="3282696"/>
            <a:ext cx="91440" cy="91440"/>
          </a:xfrm>
          <a:prstGeom prst="ellipse">
            <a:avLst/>
          </a:prstGeom>
          <a:solidFill>
            <a:srgbClr val="8E44A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6" name="!!termt-caveat"/>
          <p:cNvSpPr txBox="1"/>
          <p:nvPr/>
        </p:nvSpPr>
        <p:spPr>
          <a:xfrm>
            <a:off x="3154233" y="3198876"/>
            <a:ext cx="877246" cy="310896"/>
          </a:xfrm>
          <a:prstGeom prst="rect">
            <a:avLst/>
          </a:prstGeom>
          <a:noFill/>
        </p:spPr>
        <p:txBody>
          <a:bodyPr wrap="none" anchor="t" lIns="0" rIns="0" tIns="0" bIns="0">
            <a:noAutofit/>
          </a:bodyPr>
          <a:lstStyle/>
          <a:p>
            <a:pPr algn="l">
              <a:lnSpc>
                <a:spcPct val="100000"/>
              </a:lnSpc>
              <a:spcBef>
                <a:spcPts val="0"/>
              </a:spcBef>
              <a:spcAft>
                <a:spcPts val="0"/>
              </a:spcAft>
            </a:pPr>
            <a:r>
              <a:rPr sz="1700" b="0" i="0">
                <a:solidFill>
                  <a:srgbClr val="1C252B"/>
                </a:solidFill>
                <a:latin typeface="Segoe UI"/>
              </a:rPr>
              <a:t>caveat</a:t>
            </a:r>
          </a:p>
        </p:txBody>
      </p:sp>
      <p:sp>
        <p:nvSpPr>
          <p:cNvPr id="37" name="!!termnote"/>
          <p:cNvSpPr txBox="1"/>
          <p:nvPr/>
        </p:nvSpPr>
        <p:spPr>
          <a:xfrm>
            <a:off x="658368" y="3913632"/>
            <a:ext cx="10874959" cy="274320"/>
          </a:xfrm>
          <a:prstGeom prst="rect">
            <a:avLst/>
          </a:prstGeom>
          <a:noFill/>
        </p:spPr>
        <p:txBody>
          <a:bodyPr wrap="square" anchor="t" lIns="0" rIns="0" tIns="0" bIns="0">
            <a:noAutofit/>
          </a:bodyPr>
          <a:lstStyle/>
          <a:p>
            <a:pPr algn="l">
              <a:lnSpc>
                <a:spcPct val="100000"/>
              </a:lnSpc>
              <a:spcBef>
                <a:spcPts val="0"/>
              </a:spcBef>
              <a:spcAft>
                <a:spcPts val="0"/>
              </a:spcAft>
            </a:pPr>
            <a:r>
              <a:rPr sz="1350" b="0" i="1">
                <a:solidFill>
                  <a:srgbClr val="5F6F7B"/>
                </a:solidFill>
                <a:latin typeface="Segoe UI"/>
              </a:rPr>
              <a:t>Each term is defined where it first matters — not here.</a:t>
            </a:r>
          </a:p>
        </p:txBody>
      </p:sp>
      <p:sp>
        <p:nvSpPr>
          <p:cNvPr id="3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9" name="!!pfill">
            <a:extLst>
              <a:ext uri="{C183D7F6-B498-43B3-948B-1728B52AA6E4}">
                <adec:decorative xmlns:adec="http://schemas.microsoft.com/office/drawing/2017/decorative" val="1"/>
              </a:ext>
            </a:extLst>
          </p:cNvPr>
          <p:cNvSpPr/>
          <p:nvPr/>
        </p:nvSpPr>
        <p:spPr>
          <a:xfrm>
            <a:off x="0" y="0"/>
            <a:ext cx="125043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 this chapter</a:t>
            </a:r>
          </a:p>
        </p:txBody>
      </p:sp>
      <p:pic>
        <p:nvPicPr>
          <p:cNvPr id="3" name="!!kicker-icon" descr="list-ul-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6883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IN THIS CHAPTER</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pp. 202–207     </a:t>
            </a:r>
            <a:fld id="{E61E3CA4-17F9-4A55-99AE-926BB61BCBEE}" type="slidenum">
              <a:rPr lang="en-GB" sz="1000">
                <a:solidFill>
                  <a:srgbClr val="8795A1"/>
                </a:solidFill>
                <a:latin typeface="Segoe UI"/>
              </a:rPr>
              <a:t>5</a:t>
            </a:fld>
          </a:p>
        </p:txBody>
      </p:sp>
      <p:sp>
        <p:nvSpPr>
          <p:cNvPr id="7" name="!!ag0" descr="Go to section 31.1 The Work Is Not Finished Until Someone Acts">
            <a:hlinkClick action="ppaction://hlinksldjump" r:id="rId5"/>
          </p:cNvPr>
          <p:cNvSpPr/>
          <p:nvPr/>
        </p:nvSpPr>
        <p:spPr>
          <a:xfrm>
            <a:off x="658368" y="17739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agb0">
            <a:extLst>
              <a:ext uri="{C183D7F6-B498-43B3-948B-1728B52AA6E4}">
                <adec:decorative xmlns:adec="http://schemas.microsoft.com/office/drawing/2017/decorative" val="1"/>
              </a:ext>
            </a:extLst>
          </p:cNvPr>
          <p:cNvSpPr/>
          <p:nvPr/>
        </p:nvSpPr>
        <p:spPr>
          <a:xfrm>
            <a:off x="658368" y="17739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agn0"/>
          <p:cNvSpPr txBox="1"/>
          <p:nvPr/>
        </p:nvSpPr>
        <p:spPr>
          <a:xfrm>
            <a:off x="932688" y="19202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31.1</a:t>
            </a:r>
          </a:p>
        </p:txBody>
      </p:sp>
      <p:sp>
        <p:nvSpPr>
          <p:cNvPr id="10" name="!!agt0"/>
          <p:cNvSpPr txBox="1"/>
          <p:nvPr/>
        </p:nvSpPr>
        <p:spPr>
          <a:xfrm>
            <a:off x="1847088" y="19202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The Work Is Not Finished Until Someone Acts</a:t>
            </a:r>
          </a:p>
        </p:txBody>
      </p:sp>
      <p:sp>
        <p:nvSpPr>
          <p:cNvPr id="11" name="!!agp0"/>
          <p:cNvSpPr txBox="1"/>
          <p:nvPr/>
        </p:nvSpPr>
        <p:spPr>
          <a:xfrm>
            <a:off x="9795967" y="19476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202  ›</a:t>
            </a:r>
          </a:p>
        </p:txBody>
      </p:sp>
      <p:sp>
        <p:nvSpPr>
          <p:cNvPr id="12" name="!!ag1" descr="Go to section 31.2 Three Audiences, One Result">
            <a:hlinkClick action="ppaction://hlinksldjump" r:id="rId6"/>
          </p:cNvPr>
          <p:cNvSpPr/>
          <p:nvPr/>
        </p:nvSpPr>
        <p:spPr>
          <a:xfrm>
            <a:off x="658368" y="2414015"/>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agb1">
            <a:extLst>
              <a:ext uri="{C183D7F6-B498-43B3-948B-1728B52AA6E4}">
                <adec:decorative xmlns:adec="http://schemas.microsoft.com/office/drawing/2017/decorative" val="1"/>
              </a:ext>
            </a:extLst>
          </p:cNvPr>
          <p:cNvSpPr/>
          <p:nvPr/>
        </p:nvSpPr>
        <p:spPr>
          <a:xfrm>
            <a:off x="658368" y="2414015"/>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agn1"/>
          <p:cNvSpPr txBox="1"/>
          <p:nvPr/>
        </p:nvSpPr>
        <p:spPr>
          <a:xfrm>
            <a:off x="932688" y="256032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31.2</a:t>
            </a:r>
          </a:p>
        </p:txBody>
      </p:sp>
      <p:sp>
        <p:nvSpPr>
          <p:cNvPr id="15" name="!!agt1"/>
          <p:cNvSpPr txBox="1"/>
          <p:nvPr/>
        </p:nvSpPr>
        <p:spPr>
          <a:xfrm>
            <a:off x="1847088" y="256032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Three Audiences, One Result</a:t>
            </a:r>
          </a:p>
        </p:txBody>
      </p:sp>
      <p:sp>
        <p:nvSpPr>
          <p:cNvPr id="16" name="!!agp1"/>
          <p:cNvSpPr txBox="1"/>
          <p:nvPr/>
        </p:nvSpPr>
        <p:spPr>
          <a:xfrm>
            <a:off x="9795967" y="2587751"/>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202  ›</a:t>
            </a:r>
          </a:p>
        </p:txBody>
      </p:sp>
      <p:sp>
        <p:nvSpPr>
          <p:cNvPr id="17" name="!!ag2" descr="Go to section 31.3 Structure: Conclusion First">
            <a:hlinkClick action="ppaction://hlinksldjump" r:id="rId7"/>
          </p:cNvPr>
          <p:cNvSpPr/>
          <p:nvPr/>
        </p:nvSpPr>
        <p:spPr>
          <a:xfrm>
            <a:off x="658368" y="305409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agb2">
            <a:extLst>
              <a:ext uri="{C183D7F6-B498-43B3-948B-1728B52AA6E4}">
                <adec:decorative xmlns:adec="http://schemas.microsoft.com/office/drawing/2017/decorative" val="1"/>
              </a:ext>
            </a:extLst>
          </p:cNvPr>
          <p:cNvSpPr/>
          <p:nvPr/>
        </p:nvSpPr>
        <p:spPr>
          <a:xfrm>
            <a:off x="658368" y="305409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agn2"/>
          <p:cNvSpPr txBox="1"/>
          <p:nvPr/>
        </p:nvSpPr>
        <p:spPr>
          <a:xfrm>
            <a:off x="932688" y="320040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31.3</a:t>
            </a:r>
          </a:p>
        </p:txBody>
      </p:sp>
      <p:sp>
        <p:nvSpPr>
          <p:cNvPr id="20" name="!!agt2"/>
          <p:cNvSpPr txBox="1"/>
          <p:nvPr/>
        </p:nvSpPr>
        <p:spPr>
          <a:xfrm>
            <a:off x="1847088" y="320040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Structure: Conclusion First</a:t>
            </a:r>
          </a:p>
        </p:txBody>
      </p:sp>
      <p:sp>
        <p:nvSpPr>
          <p:cNvPr id="21" name="!!agp2"/>
          <p:cNvSpPr txBox="1"/>
          <p:nvPr/>
        </p:nvSpPr>
        <p:spPr>
          <a:xfrm>
            <a:off x="9795967" y="322783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203  ›</a:t>
            </a:r>
          </a:p>
        </p:txBody>
      </p:sp>
      <p:sp>
        <p:nvSpPr>
          <p:cNvPr id="22" name="!!ag3" descr="Go to section 31.4 Communicating Uncertainty">
            <a:hlinkClick action="ppaction://hlinksldjump" r:id="rId8"/>
          </p:cNvPr>
          <p:cNvSpPr/>
          <p:nvPr/>
        </p:nvSpPr>
        <p:spPr>
          <a:xfrm>
            <a:off x="658368" y="369417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agb3">
            <a:extLst>
              <a:ext uri="{C183D7F6-B498-43B3-948B-1728B52AA6E4}">
                <adec:decorative xmlns:adec="http://schemas.microsoft.com/office/drawing/2017/decorative" val="1"/>
              </a:ext>
            </a:extLst>
          </p:cNvPr>
          <p:cNvSpPr/>
          <p:nvPr/>
        </p:nvSpPr>
        <p:spPr>
          <a:xfrm>
            <a:off x="658368" y="369417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agn3"/>
          <p:cNvSpPr txBox="1"/>
          <p:nvPr/>
        </p:nvSpPr>
        <p:spPr>
          <a:xfrm>
            <a:off x="932688" y="384048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31.4</a:t>
            </a:r>
          </a:p>
        </p:txBody>
      </p:sp>
      <p:sp>
        <p:nvSpPr>
          <p:cNvPr id="25" name="!!agt3"/>
          <p:cNvSpPr txBox="1"/>
          <p:nvPr/>
        </p:nvSpPr>
        <p:spPr>
          <a:xfrm>
            <a:off x="1847088" y="384048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Communicating Uncertainty</a:t>
            </a:r>
          </a:p>
        </p:txBody>
      </p:sp>
      <p:sp>
        <p:nvSpPr>
          <p:cNvPr id="26" name="!!agp3"/>
          <p:cNvSpPr txBox="1"/>
          <p:nvPr/>
        </p:nvSpPr>
        <p:spPr>
          <a:xfrm>
            <a:off x="9795967" y="386791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204  ›</a:t>
            </a:r>
          </a:p>
        </p:txBody>
      </p:sp>
      <p:sp>
        <p:nvSpPr>
          <p:cNvPr id="27" name="!!ag4" descr="Go to section 31.5 Dashboards">
            <a:hlinkClick action="ppaction://hlinksldjump" r:id="rId9"/>
          </p:cNvPr>
          <p:cNvSpPr/>
          <p:nvPr/>
        </p:nvSpPr>
        <p:spPr>
          <a:xfrm>
            <a:off x="658368" y="433425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8" name="!!agb4">
            <a:extLst>
              <a:ext uri="{C183D7F6-B498-43B3-948B-1728B52AA6E4}">
                <adec:decorative xmlns:adec="http://schemas.microsoft.com/office/drawing/2017/decorative" val="1"/>
              </a:ext>
            </a:extLst>
          </p:cNvPr>
          <p:cNvSpPr/>
          <p:nvPr/>
        </p:nvSpPr>
        <p:spPr>
          <a:xfrm>
            <a:off x="658368" y="433425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agn4"/>
          <p:cNvSpPr txBox="1"/>
          <p:nvPr/>
        </p:nvSpPr>
        <p:spPr>
          <a:xfrm>
            <a:off x="932688" y="448056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31.5</a:t>
            </a:r>
          </a:p>
        </p:txBody>
      </p:sp>
      <p:sp>
        <p:nvSpPr>
          <p:cNvPr id="30" name="!!agt4"/>
          <p:cNvSpPr txBox="1"/>
          <p:nvPr/>
        </p:nvSpPr>
        <p:spPr>
          <a:xfrm>
            <a:off x="1847088" y="448056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Dashboards</a:t>
            </a:r>
          </a:p>
        </p:txBody>
      </p:sp>
      <p:sp>
        <p:nvSpPr>
          <p:cNvPr id="31" name="!!agp4"/>
          <p:cNvSpPr txBox="1"/>
          <p:nvPr/>
        </p:nvSpPr>
        <p:spPr>
          <a:xfrm>
            <a:off x="9795967" y="450799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204  ›</a:t>
            </a:r>
          </a:p>
        </p:txBody>
      </p:sp>
      <p:sp>
        <p:nvSpPr>
          <p:cNvPr id="32" name="!!ag5" descr="Go to section 31.6 Presentation Choices That Mislead"/>
          <p:cNvSpPr/>
          <p:nvPr/>
        </p:nvSpPr>
        <p:spPr>
          <a:xfrm>
            <a:off x="658368" y="4974336"/>
            <a:ext cx="10874959" cy="566928"/>
          </a:xfrm>
          <a:prstGeom prst="roundRect">
            <a:avLst>
              <a:gd name="adj" fmla="val 9677"/>
            </a:avLst>
          </a:prstGeom>
          <a:solidFill>
            <a:srgbClr val="F4F7F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3" name="!!agb5">
            <a:extLst>
              <a:ext uri="{C183D7F6-B498-43B3-948B-1728B52AA6E4}">
                <adec:decorative xmlns:adec="http://schemas.microsoft.com/office/drawing/2017/decorative" val="1"/>
              </a:ext>
            </a:extLst>
          </p:cNvPr>
          <p:cNvSpPr/>
          <p:nvPr/>
        </p:nvSpPr>
        <p:spPr>
          <a:xfrm>
            <a:off x="658368" y="4974336"/>
            <a:ext cx="64008" cy="566928"/>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4" name="!!agn5"/>
          <p:cNvSpPr txBox="1"/>
          <p:nvPr/>
        </p:nvSpPr>
        <p:spPr>
          <a:xfrm>
            <a:off x="932688" y="5120640"/>
            <a:ext cx="914400" cy="329184"/>
          </a:xfrm>
          <a:prstGeom prst="rect">
            <a:avLst/>
          </a:prstGeom>
          <a:noFill/>
        </p:spPr>
        <p:txBody>
          <a:bodyPr wrap="square" anchor="t" lIns="0" rIns="0" tIns="0" bIns="0">
            <a:noAutofit/>
          </a:bodyPr>
          <a:lstStyle/>
          <a:p>
            <a:pPr algn="l">
              <a:lnSpc>
                <a:spcPct val="100000"/>
              </a:lnSpc>
              <a:spcBef>
                <a:spcPts val="0"/>
              </a:spcBef>
              <a:spcAft>
                <a:spcPts val="0"/>
              </a:spcAft>
            </a:pPr>
            <a:r>
              <a:rPr sz="1800" b="1" i="0">
                <a:solidFill>
                  <a:srgbClr val="705B06"/>
                </a:solidFill>
                <a:latin typeface="Segoe UI Semibold"/>
              </a:rPr>
              <a:t>31.6</a:t>
            </a:r>
          </a:p>
        </p:txBody>
      </p:sp>
      <p:sp>
        <p:nvSpPr>
          <p:cNvPr id="35" name="!!agt5"/>
          <p:cNvSpPr txBox="1"/>
          <p:nvPr/>
        </p:nvSpPr>
        <p:spPr>
          <a:xfrm>
            <a:off x="1847088" y="5120640"/>
            <a:ext cx="8131759" cy="329184"/>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Presentation Choices That Mislead</a:t>
            </a:r>
          </a:p>
        </p:txBody>
      </p:sp>
      <p:sp>
        <p:nvSpPr>
          <p:cNvPr id="36" name="!!agp5"/>
          <p:cNvSpPr txBox="1"/>
          <p:nvPr/>
        </p:nvSpPr>
        <p:spPr>
          <a:xfrm>
            <a:off x="9795967" y="5148072"/>
            <a:ext cx="1554480" cy="329184"/>
          </a:xfrm>
          <a:prstGeom prst="rect">
            <a:avLst/>
          </a:prstGeom>
          <a:noFill/>
        </p:spPr>
        <p:txBody>
          <a:bodyPr wrap="square" anchor="t" lIns="0" rIns="0" tIns="0" bIns="0">
            <a:noAutofit/>
          </a:bodyPr>
          <a:lstStyle/>
          <a:p>
            <a:pPr algn="r">
              <a:lnSpc>
                <a:spcPct val="100000"/>
              </a:lnSpc>
              <a:spcBef>
                <a:spcPts val="0"/>
              </a:spcBef>
              <a:spcAft>
                <a:spcPts val="0"/>
              </a:spcAft>
            </a:pPr>
            <a:r>
              <a:rPr sz="1500" b="0" i="0">
                <a:solidFill>
                  <a:srgbClr val="5F6F7B"/>
                </a:solidFill>
                <a:latin typeface="Segoe UI"/>
              </a:rPr>
              <a:t>p. 205  ›</a:t>
            </a:r>
          </a:p>
        </p:txBody>
      </p:sp>
      <p:sp>
        <p:nvSpPr>
          <p:cNvPr id="37"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8" name="!!pfill">
            <a:extLst>
              <a:ext uri="{C183D7F6-B498-43B3-948B-1728B52AA6E4}">
                <adec:decorative xmlns:adec="http://schemas.microsoft.com/office/drawing/2017/decorative" val="1"/>
              </a:ext>
            </a:extLst>
          </p:cNvPr>
          <p:cNvSpPr/>
          <p:nvPr/>
        </p:nvSpPr>
        <p:spPr>
          <a:xfrm>
            <a:off x="0" y="0"/>
            <a:ext cx="156303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Uncomfortable Truth of This Chapter</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§31.1  ·  Handout p. 202     </a:t>
            </a:r>
            <a:fld id="{B0742E61-9737-41E3-981F-5AE2D28F8905}" type="slidenum">
              <a:rPr lang="en-GB" sz="1000">
                <a:solidFill>
                  <a:srgbClr val="8795A1"/>
                </a:solidFill>
                <a:latin typeface="Segoe UI"/>
              </a:rPr>
              <a:t>6</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correct analysis nobody understands has the same effect on the world as no analysis. Communication is not a soft skill appended to the technical work — it is the step at which the technical work either produces value or does not. More good data science dies in the final presentation than in modelling.</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187564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One result, three audiences</a:t>
            </a:r>
          </a:p>
        </p:txBody>
      </p:sp>
      <p:sp>
        <p:nvSpPr>
          <p:cNvPr id="3" name="!!kicker"/>
          <p:cNvSpPr txBox="1"/>
          <p:nvPr/>
        </p:nvSpPr>
        <p:spPr>
          <a:xfrm>
            <a:off x="658368" y="402336"/>
            <a:ext cx="10874959"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705B06"/>
                </a:solidFill>
                <a:latin typeface="Segoe UI"/>
              </a:rPr>
              <a:t>FIGURE 31.1</a:t>
            </a:r>
          </a:p>
        </p:txBody>
      </p:sp>
      <p:sp>
        <p:nvSpPr>
          <p:cNvPr id="4"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5"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§31.2  ·  Handout p. 202     </a:t>
            </a:r>
            <a:fld id="{72BC0456-C505-4680-8553-3AFE49789869}" type="slidenum">
              <a:rPr lang="en-GB" sz="1000">
                <a:solidFill>
                  <a:srgbClr val="8795A1"/>
                </a:solidFill>
                <a:latin typeface="Segoe UI"/>
              </a:rPr>
              <a:t>7</a:t>
            </a:fld>
          </a:p>
        </p:txBody>
      </p:sp>
      <p:pic>
        <p:nvPicPr>
          <p:cNvPr id="6" name="!!figure" descr="Figure 31.1. One result, three audiences. What changes is not the honesty but the unit of explanation: a metric for the peer, a decision for the manager, an action for the person."/>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614099" y="1737360"/>
            <a:ext cx="8963496" cy="3740505"/>
          </a:xfrm>
          <a:prstGeom prst="rect">
            <a:avLst/>
          </a:prstGeom>
        </p:spPr>
      </p:pic>
      <p:sp>
        <p:nvSpPr>
          <p:cNvPr id="7" name="!!takebar">
            <a:extLst>
              <a:ext uri="{C183D7F6-B498-43B3-948B-1728B52AA6E4}">
                <adec:decorative xmlns:adec="http://schemas.microsoft.com/office/drawing/2017/decorative" val="1"/>
              </a:ext>
            </a:extLst>
          </p:cNvPr>
          <p:cNvSpPr/>
          <p:nvPr/>
        </p:nvSpPr>
        <p:spPr>
          <a:xfrm>
            <a:off x="658368" y="5660745"/>
            <a:ext cx="54864" cy="575462"/>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take"/>
          <p:cNvSpPr txBox="1"/>
          <p:nvPr/>
        </p:nvSpPr>
        <p:spPr>
          <a:xfrm>
            <a:off x="877824" y="5642457"/>
            <a:ext cx="10600639" cy="758342"/>
          </a:xfrm>
          <a:prstGeom prst="rect">
            <a:avLst/>
          </a:prstGeom>
          <a:noFill/>
        </p:spPr>
        <p:txBody>
          <a:bodyPr wrap="square" anchor="t" lIns="0" rIns="0" tIns="0" bIns="0">
            <a:noAutofit/>
          </a:bodyPr>
          <a:lstStyle/>
          <a:p>
            <a:pPr algn="l">
              <a:lnSpc>
                <a:spcPct val="104000"/>
              </a:lnSpc>
              <a:spcBef>
                <a:spcPts val="0"/>
              </a:spcBef>
              <a:spcAft>
                <a:spcPts val="0"/>
              </a:spcAft>
            </a:pPr>
            <a:r>
              <a:rPr sz="1700" b="0" i="0">
                <a:solidFill>
                  <a:srgbClr val="3E4C57"/>
                </a:solidFill>
                <a:latin typeface="Segoe UI"/>
              </a:rPr>
              <a:t>What changes is not the honesty but the unit of explanation: a metric for the peer, a decision for the manager, an action for the person.</a:t>
            </a:r>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218825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Structure: Conclusion First</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3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31.3</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31.1   The Work Is Not Finished Until Someone Acts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31.2   Three Audiences, One Result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31.3   Structure: Conclusion First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31.4   Communicating Uncertainty</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31.5   Dashboards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31.6   Presentation Choices That Mislead</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§31.3     </a:t>
            </a:r>
            <a:fld id="{A29CDC39-577A-49BE-B4DD-DAB7424114BA}" type="slidenum">
              <a:rPr lang="en-GB" sz="1000">
                <a:solidFill>
                  <a:srgbClr val="8795A1"/>
                </a:solidFill>
                <a:latin typeface="Segoe UI"/>
              </a:rPr>
              <a:t>8</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250086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Bottom Line Up Front</a:t>
            </a:r>
          </a:p>
        </p:txBody>
      </p:sp>
      <p:pic>
        <p:nvPicPr>
          <p:cNvPr id="3" name="!!kicker-icon" descr="book-B35900.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35900"/>
                </a:solidFill>
                <a:latin typeface="Segoe UI"/>
              </a:rPr>
              <a:t>DEFINITION</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§31.3  ·  Handout p. 203     </a:t>
            </a:r>
            <a:fld id="{188FD7DA-7367-4553-838E-937C517299FD}" type="slidenum">
              <a:rPr lang="en-GB" sz="1000">
                <a:solidFill>
                  <a:srgbClr val="8795A1"/>
                </a:solidFill>
                <a:latin typeface="Segoe UI"/>
              </a:rPr>
              <a:t>9</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FDF2E9"/>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B3590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State the conclusion and the recommended action in the first two sentences, then support it. Academic writing builds to a conclusion; professional writing leads with it, because your reader may stop after the first paragraph and must still leave with the right answer.</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281346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Same Finding, Written Two Ways</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§31.3  ·  Handout p. 203     </a:t>
            </a:r>
            <a:fld id="{854A8E96-6ED7-46A3-9D84-CC69D2A67D9C}" type="slidenum">
              <a:rPr lang="en-GB" sz="1000">
                <a:solidFill>
                  <a:srgbClr val="8795A1"/>
                </a:solidFill>
                <a:latin typeface="Segoe UI"/>
              </a:rPr>
              <a:t>10</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657066"/>
          </a:xfrm>
          <a:prstGeom prst="roundRect">
            <a:avLst>
              <a:gd name="adj" fmla="val 2500"/>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65706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Version A — the way students write it.</a:t>
            </a:r>
          </a:p>
        </p:txBody>
      </p:sp>
      <p:sp>
        <p:nvSpPr>
          <p:cNvPr id="10" name="body-1"/>
          <p:cNvSpPr txBox="1"/>
          <p:nvPr/>
        </p:nvSpPr>
        <p:spPr>
          <a:xfrm>
            <a:off x="1042416" y="2445537"/>
            <a:ext cx="10234879" cy="1551432"/>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Segoe UI"/>
              </a:rPr>
              <a:t>“We extracted VLE clickstream data for the 2025 cohort and performed an audit, finding 32% missingness in prior qualification. After cleaning and engineering 40 features, we compared logistic regression, random forest and gradient boosting using stratified 5-fold cross-validation. The gradient boosting model achieved the highest PR-AUC of 0.41. We then tuned the decision threshold and examined subgroup performance…”</a:t>
            </a:r>
          </a:p>
        </p:txBody>
      </p:sp>
      <p:sp>
        <p:nvSpPr>
          <p:cNvPr id="11" name="body-2"/>
          <p:cNvSpPr txBox="1"/>
          <p:nvPr/>
        </p:nvSpPr>
        <p:spPr>
          <a:xfrm>
            <a:off x="1042416" y="4083964"/>
            <a:ext cx="10234879" cy="64800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The reader is four sentences in and does not yet know whether anything works or what they are being asked to do. A busy head of department stops here.</a:t>
            </a:r>
          </a:p>
        </p:txBody>
      </p:sp>
      <p:sp>
        <p:nvSpPr>
          <p:cNvPr id="12" name="body-3"/>
          <p:cNvSpPr txBox="1"/>
          <p:nvPr/>
        </p:nvSpPr>
        <p:spPr>
          <a:xfrm>
            <a:off x="1042416" y="4818964"/>
            <a:ext cx="10234879" cy="346862"/>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Version B — bottom line up front.</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312607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10"/>
                                        </p:tgtEl>
                                        <p:attrNameLst>
                                          <p:attrName>style.visibility</p:attrName>
                                        </p:attrNameLst>
                                      </p:cBhvr>
                                      <p:to>
                                        <p:strVal val="visible"/>
                                      </p:to>
                                    </p:set>
                                    <p:animEffect transition="in" filter="wipe(right)">
                                      <p:cBhvr>
                                        <p:cTn id="8" dur="420"/>
                                        <p:tgtEl>
                                          <p:spTgt spid="10"/>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wipe(right)">
                                      <p:cBhvr>
                                        <p:cTn id="13" dur="420"/>
                                        <p:tgtEl>
                                          <p:spTgt spid="11"/>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right)">
                                      <p:cBhvr>
                                        <p:cTn id="18"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The Same Finding, Written Two Ways (continued)</a:t>
            </a:r>
          </a:p>
        </p:txBody>
      </p:sp>
      <p:pic>
        <p:nvPicPr>
          <p:cNvPr id="3" name="!!kicker-icon" descr="calculator-B7950B.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314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B7950B"/>
                </a:solidFill>
                <a:latin typeface="Segoe UI"/>
              </a:rPr>
              <a:t>WORKED EXAMPLE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§31.3  ·  Handout p. 203     </a:t>
            </a:r>
            <a:fld id="{FF3256F9-C5ED-449E-95C7-4588E52F5446}" type="slidenum">
              <a:rPr lang="en-GB" sz="1000">
                <a:solidFill>
                  <a:srgbClr val="8795A1"/>
                </a:solidFill>
                <a:latin typeface="Segoe UI"/>
              </a:rPr>
              <a:t>11</a:t>
            </a:fld>
          </a:p>
        </p:txBody>
      </p:sp>
      <p:sp>
        <p:nvSpPr>
          <p:cNvPr id="7" name="!!card">
            <a:extLst>
              <a:ext uri="{C183D7F6-B498-43B3-948B-1728B52AA6E4}">
                <adec:decorative xmlns:adec="http://schemas.microsoft.com/office/drawing/2017/decorative" val="1"/>
              </a:ext>
            </a:extLst>
          </p:cNvPr>
          <p:cNvSpPr/>
          <p:nvPr/>
        </p:nvSpPr>
        <p:spPr>
          <a:xfrm>
            <a:off x="658368" y="1737360"/>
            <a:ext cx="10874959" cy="4126636"/>
          </a:xfrm>
          <a:prstGeom prst="roundRect">
            <a:avLst>
              <a:gd name="adj" fmla="val 2215"/>
            </a:avLst>
          </a:prstGeom>
          <a:solidFill>
            <a:srgbClr val="FBF8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4126636"/>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42416" y="2011679"/>
            <a:ext cx="10234879" cy="949147"/>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Segoe UI"/>
              </a:rPr>
              <a:t>“We can identify about 7 in 10 students who will fail, by week 4, while contacting only 1 in 5 of the cohort. That is a substantial improvement on the current rule, which finds fewer than half. We recommend a one-semester pilot with three advisers, at an estimated cost of 0.4 FTE.</a:t>
            </a:r>
          </a:p>
        </p:txBody>
      </p:sp>
      <p:sp>
        <p:nvSpPr>
          <p:cNvPr id="10" name="body-1"/>
          <p:cNvSpPr txBox="1"/>
          <p:nvPr/>
        </p:nvSpPr>
        <p:spPr>
          <a:xfrm>
            <a:off x="1042416" y="3047822"/>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0" i="1">
                <a:solidFill>
                  <a:srgbClr val="1C252B"/>
                </a:solidFill>
                <a:latin typeface="Segoe UI"/>
              </a:rPr>
              <a:t>Three caveats: the model is trained on one cohort and should not be assumed to transfer; it identifies students who resemble past failures, not students who will benefit most from help; and about 2 in 3 flagged students would have passed anyway, so the outreach must be framed as an offer of support rather than a warning.”</a:t>
            </a:r>
          </a:p>
        </p:txBody>
      </p:sp>
      <p:sp>
        <p:nvSpPr>
          <p:cNvPr id="11" name="body-2"/>
          <p:cNvSpPr txBox="1"/>
          <p:nvPr/>
        </p:nvSpPr>
        <p:spPr>
          <a:xfrm>
            <a:off x="1042416" y="4385106"/>
            <a:ext cx="10234879" cy="1250289"/>
          </a:xfrm>
          <a:prstGeom prst="rect">
            <a:avLst/>
          </a:prstGeom>
          <a:noFill/>
        </p:spPr>
        <p:txBody>
          <a:bodyPr wrap="square" anchor="t" lIns="0" rIns="0" tIns="0" bIns="0">
            <a:noAutofit/>
          </a:bodyPr>
          <a:lstStyle/>
          <a:p>
            <a:pPr algn="l">
              <a:lnSpc>
                <a:spcPct val="104000"/>
              </a:lnSpc>
              <a:spcBef>
                <a:spcPts val="0"/>
              </a:spcBef>
              <a:spcAft>
                <a:spcPts val="0"/>
              </a:spcAft>
            </a:pPr>
            <a:r>
              <a:rPr sz="1900" b="1" i="0">
                <a:solidFill>
                  <a:srgbClr val="7D6608"/>
                </a:solidFill>
                <a:latin typeface="Segoe UI"/>
              </a:rPr>
              <a:t>What changed.</a:t>
            </a:r>
            <a:r>
              <a:rPr sz="1900" b="0" i="0">
                <a:solidFill>
                  <a:srgbClr val="1C252B"/>
                </a:solidFill>
                <a:latin typeface="Segoe UI"/>
              </a:rPr>
              <a:t> The number that leads is the one tied to the decision. The technical work is unchanged — and is available in the appendix for the peer audience. Note that Version B is also </a:t>
            </a:r>
            <a:r>
              <a:rPr sz="1900" b="0" i="1">
                <a:solidFill>
                  <a:srgbClr val="1C252B"/>
                </a:solidFill>
                <a:latin typeface="Segoe UI"/>
              </a:rPr>
              <a:t>more</a:t>
            </a:r>
            <a:r>
              <a:rPr sz="1900" b="0" i="0">
                <a:solidFill>
                  <a:srgbClr val="1C252B"/>
                </a:solidFill>
                <a:latin typeface="Segoe UI"/>
              </a:rPr>
              <a:t> honest: the precision caveat is stated plainly rather than buried, because a reader acting on this must know that most flagged students are fine.</a:t>
            </a:r>
          </a:p>
        </p:txBody>
      </p:sp>
      <p:sp>
        <p:nvSpPr>
          <p:cNvPr id="1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fill">
            <a:extLst>
              <a:ext uri="{C183D7F6-B498-43B3-948B-1728B52AA6E4}">
                <adec:decorative xmlns:adec="http://schemas.microsoft.com/office/drawing/2017/decorative" val="1"/>
              </a:ext>
            </a:extLst>
          </p:cNvPr>
          <p:cNvSpPr/>
          <p:nvPr/>
        </p:nvSpPr>
        <p:spPr>
          <a:xfrm>
            <a:off x="0" y="0"/>
            <a:ext cx="343868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2" presetClass="entr" presetSubtype="8" fill="hold" grpId="0" nodeType="clickEffect">
                                  <p:stCondLst>
                                    <p:cond delay="0"/>
                                  </p:stCondLst>
                                  <p:childTnLst>
                                    <p:set>
                                      <p:cBhvr>
                                        <p:cTn id="7" dur="1" fill="hold">
                                          <p:stCondLst>
                                            <p:cond delay="0"/>
                                          </p:stCondLst>
                                        </p:cTn>
                                        <p:tgtEl>
                                          <p:spTgt spid="9"/>
                                        </p:tgtEl>
                                        <p:attrNameLst>
                                          <p:attrName>style.visibility</p:attrName>
                                        </p:attrNameLst>
                                      </p:cBhvr>
                                      <p:to>
                                        <p:strVal val="visible"/>
                                      </p:to>
                                    </p:set>
                                    <p:animEffect transition="in" filter="wipe(right)">
                                      <p:cBhvr>
                                        <p:cTn id="8" dur="420"/>
                                        <p:tgtEl>
                                          <p:spTgt spid="9"/>
                                        </p:tgtEl>
                                      </p:cBhvr>
                                    </p:animEffect>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right)">
                                      <p:cBhvr>
                                        <p:cTn id="13" dur="420"/>
                                        <p:tgtEl>
                                          <p:spTgt spid="10"/>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right)">
                                      <p:cBhvr>
                                        <p:cTn id="18"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Communicating Uncertainty</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4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31.4</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31.1   The Work Is Not Finished Until Someone Acts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31.2   Three Audiences, One Result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31.3   Structure: Conclusion First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31.4   Communicating Uncertainty</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31.5   Dashboards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31.6   Presentation Choices That Mislead</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§31.4     </a:t>
            </a:r>
            <a:fld id="{45AA1002-26B9-4082-844B-DB9CF432DBF8}" type="slidenum">
              <a:rPr lang="en-GB" sz="1000">
                <a:solidFill>
                  <a:srgbClr val="8795A1"/>
                </a:solidFill>
                <a:latin typeface="Segoe UI"/>
              </a:rPr>
              <a:t>12</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375129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Percentages Mislead; Natural Frequencies Do Not</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§31.4  ·  Handout p. 204     </a:t>
            </a:r>
            <a:fld id="{E0F1B965-564E-4F5F-B58D-A5BE837ADB12}" type="slidenum">
              <a:rPr lang="en-GB" sz="1000">
                <a:solidFill>
                  <a:srgbClr val="8795A1"/>
                </a:solidFill>
                <a:latin typeface="Segoe UI"/>
              </a:rPr>
              <a:t>13</a:t>
            </a:fld>
          </a:p>
        </p:txBody>
      </p:sp>
      <p:sp>
        <p:nvSpPr>
          <p:cNvPr id="7" name="!!card">
            <a:extLst>
              <a:ext uri="{C183D7F6-B498-43B3-948B-1728B52AA6E4}">
                <adec:decorative xmlns:adec="http://schemas.microsoft.com/office/drawing/2017/decorative" val="1"/>
              </a:ext>
            </a:extLst>
          </p:cNvPr>
          <p:cNvSpPr/>
          <p:nvPr/>
        </p:nvSpPr>
        <p:spPr>
          <a:xfrm>
            <a:off x="658368" y="1737360"/>
            <a:ext cx="10874959" cy="3334232"/>
          </a:xfrm>
          <a:prstGeom prst="roundRect">
            <a:avLst>
              <a:gd name="adj" fmla="val 2742"/>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3334232"/>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model has 78% precision” is understood by almost nobody outside this course. “Of every 100 students we contact, about 78 would genuinely have failed” is understood by everybody. The research on risk communication is consistent on this: express probabilities as counts out of a stated population, and people reason about them correctly.</a:t>
            </a:r>
          </a:p>
        </p:txBody>
      </p:sp>
      <p:sp>
        <p:nvSpPr>
          <p:cNvPr id="10" name="body-1"/>
          <p:cNvSpPr txBox="1"/>
          <p:nvPr/>
        </p:nvSpPr>
        <p:spPr>
          <a:xfrm>
            <a:off x="1060704" y="403161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Likewise, replace “95% CI [39.1, 44.9]” with “our best estimate is 42 minutes; it would not surprise us if the true figure were anywhere between 39 and 45.”</a:t>
            </a:r>
          </a:p>
        </p:txBody>
      </p:sp>
      <p:sp>
        <p:nvSpPr>
          <p:cNvPr id="1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pfill">
            <a:extLst>
              <a:ext uri="{C183D7F6-B498-43B3-948B-1728B52AA6E4}">
                <adec:decorative xmlns:adec="http://schemas.microsoft.com/office/drawing/2017/decorative" val="1"/>
              </a:ext>
            </a:extLst>
          </p:cNvPr>
          <p:cNvSpPr/>
          <p:nvPr/>
        </p:nvSpPr>
        <p:spPr>
          <a:xfrm>
            <a:off x="0" y="0"/>
            <a:ext cx="406389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Communicating Uncertainty</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§31.4  ·  Handout p. 204     </a:t>
            </a:r>
            <a:fld id="{2906B1F8-1796-46B9-B0C2-75501635F3A5}" type="slidenum">
              <a:rPr lang="en-GB" sz="1000">
                <a:solidFill>
                  <a:srgbClr val="8795A1"/>
                </a:solidFill>
                <a:latin typeface="Segoe UI"/>
              </a:rPr>
              <a:t>14</a:t>
            </a:fld>
          </a:p>
        </p:txBody>
      </p:sp>
      <p:graphicFrame>
        <p:nvGraphicFramePr>
          <p:cNvPr id="7" name="!!table"/>
          <p:cNvGraphicFramePr>
            <a:graphicFrameLocks noGrp="1"/>
          </p:cNvGraphicFramePr>
          <p:nvPr/>
        </p:nvGraphicFramePr>
        <p:xfrm>
          <a:off x="658368" y="1737360"/>
          <a:ext cx="10874958" cy="3727704"/>
        </p:xfrm>
        <a:graphic>
          <a:graphicData uri="http://schemas.openxmlformats.org/drawingml/2006/table">
            <a:tbl>
              <a:tblPr firstRow="0" bandRow="0" firstCol="0" lastRow="0" lastCol="0" bandCol="0">
                <a:tableStyleId>{2D5ABB26-0587-4C30-8999-92F81FD0307C}</a:tableStyleId>
              </a:tblPr>
              <a:tblGrid>
                <a:gridCol w="4349983"/>
                <a:gridCol w="6524975"/>
              </a:tblGrid>
              <a:tr h="405384">
                <a:tc>
                  <a:txBody>
                    <a:bodyPr wrap="square"/>
                    <a:lstStyle/>
                    <a:p>
                      <a:pPr algn="l"/>
                      <a:r>
                        <a:rPr sz="1700" b="1" i="0">
                          <a:solidFill>
                            <a:srgbClr val="1A5276"/>
                          </a:solidFill>
                          <a:latin typeface="Segoe UI"/>
                        </a:rPr>
                        <a:t>Do not say</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Say instead</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“The model is 94% accurate.”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“It correctly classifies 94 in 100 — but 97 in 100 cases are negative, so a model that always said ‘no’ would score 97.”</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a:t>
                      </a:r>
                      <a:r>
                        <a:rPr sz="1700" b="0" i="1">
                          <a:solidFill>
                            <a:srgbClr val="1C252B"/>
                          </a:solidFill>
                          <a:latin typeface="Cambria"/>
                        </a:rPr>
                        <a:t>p</a:t>
                      </a:r>
                      <a:r>
                        <a:rPr sz="1700" b="0" i="0">
                          <a:solidFill>
                            <a:srgbClr val="1C252B"/>
                          </a:solidFill>
                          <a:latin typeface="Cambria"/>
                        </a:rPr>
                        <a:t> &lt; 0.05</a:t>
                      </a:r>
                      <a:r>
                        <a:rPr sz="1700" b="0" i="0">
                          <a:solidFill>
                            <a:srgbClr val="1C252B"/>
                          </a:solidFill>
                          <a:latin typeface="Segoe UI"/>
                        </a:rPr>
                        <a:t>, so it works.”</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“The improvement is larger than we would expect from chance; the effect is about 11 percentage points.”</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“There is a 95% chance the true value is in this range.”</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“If we repeated this study many times, about 95 of every 100 such ranges would contain the true value.”</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“The model predicts this student will fail.”</a:t>
                      </a:r>
                      <a:endParaRPr sz="1700"/>
                    </a:p>
                  </a:txBody>
                  <a:tcPr marL="109728" marR="109728" marT="64008" marB="45720" anchor="t">
                    <a:lnL w="0" cmpd="sng">
                      <a:noFill/>
                    </a:lnL>
                    <a:lnR w="0" cmpd="sng">
                      <a:noFill/>
                    </a:lnR>
                    <a:lnT w="9525" cmpd="sng">
                      <a:noFill/>
                    </a:lnT>
                    <a:lnB w="9525" cmpd="sng">
                      <a:noFill/>
                    </a:lnB>
                    <a:solidFill>
                      <a:srgbClr val="F2F8FC"/>
                    </a:solidFill>
                  </a:tcPr>
                </a:tc>
                <a:tc>
                  <a:txBody>
                    <a:bodyPr wrap="square"/>
                    <a:lstStyle/>
                    <a:p>
                      <a:pPr algn="l"/>
                      <a:r>
                        <a:rPr sz="1700" b="0" i="0">
                          <a:solidFill>
                            <a:srgbClr val="1C252B"/>
                          </a:solidFill>
                          <a:latin typeface="Segoe UI"/>
                        </a:rPr>
                        <a:t>“This student resembles past students of whom about 1 in 3 failed.”</a:t>
                      </a:r>
                      <a:endParaRPr sz="1700"/>
                    </a:p>
                  </a:txBody>
                  <a:tcPr marL="109728" marR="109728" marT="64008" marB="45720" anchor="t">
                    <a:lnL w="0" cmpd="sng">
                      <a:noFill/>
                    </a:lnL>
                    <a:lnR w="0" cmpd="sng">
                      <a:noFill/>
                    </a:lnR>
                    <a:lnT w="9525" cmpd="sng">
                      <a:noFill/>
                    </a:lnT>
                    <a:lnB w="9525" cmpd="sng">
                      <a:noFill/>
                    </a:lnB>
                    <a:solidFill>
                      <a:srgbClr val="F2F8FC"/>
                    </a:solidFill>
                  </a:tcPr>
                </a:tc>
              </a:tr>
              <a:tr h="664464">
                <a:tc>
                  <a:txBody>
                    <a:bodyPr wrap="square"/>
                    <a:lstStyle/>
                    <a:p>
                      <a:pPr algn="l"/>
                      <a:r>
                        <a:rPr sz="1700" b="0" i="0">
                          <a:solidFill>
                            <a:srgbClr val="1C252B"/>
                          </a:solidFill>
                          <a:latin typeface="Segoe UI"/>
                        </a:rPr>
                        <a:t>“The algorithm decided.”</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c>
                  <a:txBody>
                    <a:bodyPr wrap="square"/>
                    <a:lstStyle/>
                    <a:p>
                      <a:pPr algn="l"/>
                      <a:r>
                        <a:rPr sz="1700" b="0" i="0">
                          <a:solidFill>
                            <a:srgbClr val="1C252B"/>
                          </a:solidFill>
                          <a:latin typeface="Segoe UI"/>
                        </a:rPr>
                        <a:t>“The model scored this case highly; the decision is yours, and here is why it scored highly.”</a:t>
                      </a:r>
                      <a:endParaRPr sz="1700"/>
                    </a:p>
                  </a:txBody>
                  <a:tcPr marL="109728" marR="109728" marT="64008" marB="45720" anchor="t">
                    <a:lnL w="0" cmpd="sng">
                      <a:noFill/>
                    </a:lnL>
                    <a:lnR w="0" cmpd="sng">
                      <a:noFill/>
                    </a:lnR>
                    <a:lnT w="19050" cmpd="sng">
                      <a:noFill/>
                    </a:lnT>
                    <a:lnB w="19050" cmpd="sng">
                      <a:solidFill>
                        <a:srgbClr val="1A5276"/>
                      </a:solidFill>
                    </a:lnB>
                    <a:solidFill>
                      <a:srgbClr val="FFFFFF"/>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4376505"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Never Report a Point Estimate Alone</a:t>
            </a:r>
          </a:p>
        </p:txBody>
      </p:sp>
      <p:pic>
        <p:nvPicPr>
          <p:cNvPr id="3" name="!!kicker-icon" descr="lightbulb-2E86C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52915"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E86C1"/>
                </a:solidFill>
                <a:latin typeface="Segoe UI"/>
              </a:rPr>
              <a:t>CONCEPT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§31.4  ·  Handout p. 204     </a:t>
            </a:r>
            <a:fld id="{2CF602F0-2181-4945-9C6F-6000CB767608}" type="slidenum">
              <a:rPr lang="en-GB" sz="1000">
                <a:solidFill>
                  <a:srgbClr val="8795A1"/>
                </a:solidFill>
                <a:latin typeface="Segoe UI"/>
              </a:rPr>
              <a:t>15</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079955"/>
          </a:xfrm>
          <a:prstGeom prst="roundRect">
            <a:avLst>
              <a:gd name="adj" fmla="val 4396"/>
            </a:avLst>
          </a:prstGeom>
          <a:solidFill>
            <a:srgbClr val="EBF5FB"/>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079955"/>
          </a:xfrm>
          <a:prstGeom prst="rect">
            <a:avLst/>
          </a:prstGeom>
          <a:solidFill>
            <a:srgbClr val="2E86C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503883"/>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A single number invites false confidence. Give a range, or give the number with the one caveat that most changes how it should be used. This is not hedging — a stakeholder who later discovers an unmentioned uncertainty will discount everything else you have told them.</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468911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4846320" y="1874519"/>
            <a:ext cx="6659575" cy="1828800"/>
          </a:xfrm>
        </p:spPr>
        <p:txBody>
          <a:bodyPr wrap="square" lIns="0" rIns="0" tIns="0" bIns="0" anchor="ctr">
            <a:noAutofit/>
          </a:bodyPr>
          <a:lstStyle/>
          <a:p>
            <a:pPr algn="l">
              <a:lnSpc>
                <a:spcPct val="96000"/>
              </a:lnSpc>
            </a:pPr>
            <a:r>
              <a:rPr sz="3800" b="0">
                <a:solidFill>
                  <a:srgbClr val="1C252B"/>
                </a:solidFill>
                <a:latin typeface="Segoe UI Semibold"/>
              </a:rPr>
              <a:t>Dashboards</a:t>
            </a:r>
          </a:p>
        </p:txBody>
      </p:sp>
      <p:sp>
        <p:nvSpPr>
          <p:cNvPr id="3" name="!!dpanel">
            <a:extLst>
              <a:ext uri="{C183D7F6-B498-43B3-948B-1728B52AA6E4}">
                <adec:decorative xmlns:adec="http://schemas.microsoft.com/office/drawing/2017/decorative" val="1"/>
              </a:ext>
            </a:extLst>
          </p:cNvPr>
          <p:cNvSpPr/>
          <p:nvPr/>
        </p:nvSpPr>
        <p:spPr>
          <a:xfrm>
            <a:off x="0" y="0"/>
            <a:ext cx="4160520" cy="6858000"/>
          </a:xfrm>
          <a:prstGeom prst="rect">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4" name="!!dsec"/>
          <p:cNvSpPr txBox="1"/>
          <p:nvPr/>
        </p:nvSpPr>
        <p:spPr>
          <a:xfrm>
            <a:off x="658368" y="1920240"/>
            <a:ext cx="3246120" cy="274320"/>
          </a:xfrm>
          <a:prstGeom prst="rect">
            <a:avLst/>
          </a:prstGeom>
          <a:noFill/>
        </p:spPr>
        <p:txBody>
          <a:bodyPr wrap="square" anchor="t" lIns="0" rIns="0" tIns="0" bIns="0">
            <a:noAutofit/>
          </a:bodyPr>
          <a:lstStyle/>
          <a:p>
            <a:pPr algn="l">
              <a:lnSpc>
                <a:spcPct val="100000"/>
              </a:lnSpc>
              <a:spcBef>
                <a:spcPts val="0"/>
              </a:spcBef>
              <a:spcAft>
                <a:spcPts val="0"/>
              </a:spcAft>
            </a:pPr>
            <a:r>
              <a:rPr sz="1250" b="1" i="0" spc="180">
                <a:solidFill>
                  <a:srgbClr val="D4CEB4"/>
                </a:solidFill>
                <a:latin typeface="Segoe UI"/>
              </a:rPr>
              <a:t>SECTION 5 OF 6</a:t>
            </a:r>
          </a:p>
        </p:txBody>
      </p:sp>
      <p:sp>
        <p:nvSpPr>
          <p:cNvPr id="5" name="!!dnum"/>
          <p:cNvSpPr txBox="1"/>
          <p:nvPr/>
        </p:nvSpPr>
        <p:spPr>
          <a:xfrm>
            <a:off x="621792" y="2249424"/>
            <a:ext cx="3337560" cy="1463040"/>
          </a:xfrm>
          <a:prstGeom prst="rect">
            <a:avLst/>
          </a:prstGeom>
          <a:noFill/>
        </p:spPr>
        <p:txBody>
          <a:bodyPr wrap="square" anchor="t" lIns="0" rIns="0" tIns="0" bIns="0">
            <a:noAutofit/>
          </a:bodyPr>
          <a:lstStyle/>
          <a:p>
            <a:pPr algn="l">
              <a:lnSpc>
                <a:spcPct val="100000"/>
              </a:lnSpc>
              <a:spcBef>
                <a:spcPts val="0"/>
              </a:spcBef>
              <a:spcAft>
                <a:spcPts val="0"/>
              </a:spcAft>
            </a:pPr>
            <a:r>
              <a:rPr sz="7600" b="0" i="0">
                <a:solidFill>
                  <a:srgbClr val="FFFFFF"/>
                </a:solidFill>
                <a:latin typeface="Segoe UI Semibold"/>
              </a:rPr>
              <a:t>31.5</a:t>
            </a:r>
          </a:p>
        </p:txBody>
      </p:sp>
      <p:sp>
        <p:nvSpPr>
          <p:cNvPr id="6" name="!!dl0"/>
          <p:cNvSpPr txBox="1"/>
          <p:nvPr/>
        </p:nvSpPr>
        <p:spPr>
          <a:xfrm>
            <a:off x="4846320" y="416052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31.1   The Work Is Not Finished Until Someone Acts</a:t>
            </a:r>
          </a:p>
        </p:txBody>
      </p:sp>
      <p:sp>
        <p:nvSpPr>
          <p:cNvPr id="7" name="!!dl1"/>
          <p:cNvSpPr txBox="1"/>
          <p:nvPr/>
        </p:nvSpPr>
        <p:spPr>
          <a:xfrm>
            <a:off x="4846320" y="4434840"/>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31.2   Three Audiences, One Result</a:t>
            </a:r>
          </a:p>
        </p:txBody>
      </p:sp>
      <p:sp>
        <p:nvSpPr>
          <p:cNvPr id="8" name="!!dl2"/>
          <p:cNvSpPr txBox="1"/>
          <p:nvPr/>
        </p:nvSpPr>
        <p:spPr>
          <a:xfrm>
            <a:off x="4846320" y="470915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31.3   Structure: Conclusion First</a:t>
            </a:r>
          </a:p>
        </p:txBody>
      </p:sp>
      <p:sp>
        <p:nvSpPr>
          <p:cNvPr id="9" name="!!dl3"/>
          <p:cNvSpPr txBox="1"/>
          <p:nvPr/>
        </p:nvSpPr>
        <p:spPr>
          <a:xfrm>
            <a:off x="4846320" y="498347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31.4   Communicating Uncertainty</a:t>
            </a:r>
          </a:p>
        </p:txBody>
      </p:sp>
      <p:sp>
        <p:nvSpPr>
          <p:cNvPr id="10" name="!!dl4"/>
          <p:cNvSpPr txBox="1"/>
          <p:nvPr/>
        </p:nvSpPr>
        <p:spPr>
          <a:xfrm>
            <a:off x="4846320" y="525779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300" b="1" i="0">
                <a:solidFill>
                  <a:srgbClr val="705B06"/>
                </a:solidFill>
                <a:latin typeface="Segoe UI"/>
              </a:rPr>
              <a:t>31.5   Dashboards</a:t>
            </a:r>
          </a:p>
        </p:txBody>
      </p:sp>
      <p:sp>
        <p:nvSpPr>
          <p:cNvPr id="11" name="!!dl5"/>
          <p:cNvSpPr txBox="1"/>
          <p:nvPr/>
        </p:nvSpPr>
        <p:spPr>
          <a:xfrm>
            <a:off x="4846320" y="5532119"/>
            <a:ext cx="66595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0" i="0">
                <a:solidFill>
                  <a:srgbClr val="98A4AE"/>
                </a:solidFill>
                <a:latin typeface="Segoe UI"/>
              </a:rPr>
              <a:t>31.6   Presentation Choices That Mislead</a:t>
            </a:r>
          </a:p>
        </p:txBody>
      </p:sp>
      <p:sp>
        <p:nvSpPr>
          <p:cNvPr id="12" name="!!footL"/>
          <p:cNvSpPr txBox="1"/>
          <p:nvPr/>
        </p:nvSpPr>
        <p:spPr>
          <a:xfrm>
            <a:off x="4846320" y="6437376"/>
            <a:ext cx="4572000"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a:t>
            </a:r>
          </a:p>
        </p:txBody>
      </p:sp>
      <p:sp>
        <p:nvSpPr>
          <p:cNvPr id="13"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§31.5     </a:t>
            </a:r>
            <a:fld id="{74AE5196-4739-47DE-B39B-000C99C13EF5}" type="slidenum">
              <a:rPr lang="en-GB" sz="1000">
                <a:solidFill>
                  <a:srgbClr val="8795A1"/>
                </a:solidFill>
                <a:latin typeface="Segoe UI"/>
              </a:rPr>
              <a:t>16</a:t>
            </a:fld>
          </a:p>
        </p:txBody>
      </p:sp>
      <p:sp>
        <p:nvSpPr>
          <p:cNvPr id="1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pfill">
            <a:extLst>
              <a:ext uri="{C183D7F6-B498-43B3-948B-1728B52AA6E4}">
                <adec:decorative xmlns:adec="http://schemas.microsoft.com/office/drawing/2017/decorative" val="1"/>
              </a:ext>
            </a:extLst>
          </p:cNvPr>
          <p:cNvSpPr/>
          <p:nvPr/>
        </p:nvSpPr>
        <p:spPr>
          <a:xfrm>
            <a:off x="0" y="0"/>
            <a:ext cx="500172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push dir="u"/>
      </p:transition>
    </mc:Choice>
    <mc:Fallback>
      <p:transition spd="med">
        <p:push dir="u"/>
      </p:transition>
    </mc:Fallback>
  </mc:AlternateContent>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Design for the Decision, Not for the Data</a:t>
            </a:r>
          </a:p>
        </p:txBody>
      </p:sp>
      <p:pic>
        <p:nvPicPr>
          <p:cNvPr id="3" name="!!kicker-icon" descr="exclamation-triang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45688"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WATCH OUT</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§31.5  ·  Handout p. 204     </a:t>
            </a:r>
            <a:fld id="{64C7A2F9-CD72-4F2F-B7BE-4C097A6CB588}" type="slidenum">
              <a:rPr lang="en-GB" sz="1000">
                <a:solidFill>
                  <a:srgbClr val="8795A1"/>
                </a:solidFill>
                <a:latin typeface="Segoe UI"/>
              </a:rPr>
              <a:t>17</a:t>
            </a:fld>
          </a:p>
        </p:txBody>
      </p:sp>
      <p:sp>
        <p:nvSpPr>
          <p:cNvPr id="7" name="!!card">
            <a:extLst>
              <a:ext uri="{C183D7F6-B498-43B3-948B-1728B52AA6E4}">
                <adec:decorative xmlns:adec="http://schemas.microsoft.com/office/drawing/2017/decorative" val="1"/>
              </a:ext>
            </a:extLst>
          </p:cNvPr>
          <p:cNvSpPr/>
          <p:nvPr/>
        </p:nvSpPr>
        <p:spPr>
          <a:xfrm>
            <a:off x="658368" y="1737360"/>
            <a:ext cx="10874959" cy="2444496"/>
          </a:xfrm>
          <a:prstGeom prst="roundRect">
            <a:avLst>
              <a:gd name="adj" fmla="val 3740"/>
            </a:avLst>
          </a:prstGeom>
          <a:solidFill>
            <a:srgbClr val="FDEDEC"/>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2444496"/>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1868424"/>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failure mode is a dashboard containing everything that was easy to compute. Ask instead: </a:t>
            </a:r>
            <a:r>
              <a:rPr sz="2300" b="0" i="1">
                <a:solidFill>
                  <a:srgbClr val="1C252B"/>
                </a:solidFill>
                <a:latin typeface="Segoe UI"/>
              </a:rPr>
              <a:t>who looks at this, how often, and what do they do differently as a result?</a:t>
            </a:r>
            <a:r>
              <a:rPr sz="2300" b="0" i="0">
                <a:solidFill>
                  <a:srgbClr val="1C252B"/>
                </a:solidFill>
                <a:latin typeface="Segoe UI"/>
              </a:rPr>
              <a:t> If a chart cannot change an action, remove it. A dashboard with four decision-relevant numbers is used; one with forty is glanced at once.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531432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Dashboards</a:t>
            </a:r>
          </a:p>
        </p:txBody>
      </p:sp>
      <p:pic>
        <p:nvPicPr>
          <p:cNvPr id="3" name="!!kicker-icon" descr="table-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5007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AT A GLANCE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§31.5  ·  Handout p. 204     </a:t>
            </a:r>
            <a:fld id="{5C850466-D3F4-4E2F-ADAF-B8E0D598F675}" type="slidenum">
              <a:rPr lang="en-GB" sz="1000">
                <a:solidFill>
                  <a:srgbClr val="8795A1"/>
                </a:solidFill>
                <a:latin typeface="Segoe UI"/>
              </a:rPr>
              <a:t>18</a:t>
            </a:fld>
          </a:p>
        </p:txBody>
      </p:sp>
      <p:graphicFrame>
        <p:nvGraphicFramePr>
          <p:cNvPr id="7" name="!!table"/>
          <p:cNvGraphicFramePr>
            <a:graphicFrameLocks noGrp="1"/>
          </p:cNvGraphicFramePr>
          <p:nvPr/>
        </p:nvGraphicFramePr>
        <p:xfrm>
          <a:off x="658368" y="1737360"/>
          <a:ext cx="10874958" cy="3874008"/>
        </p:xfrm>
        <a:graphic>
          <a:graphicData uri="http://schemas.openxmlformats.org/drawingml/2006/table">
            <a:tbl>
              <a:tblPr firstRow="0" bandRow="0" firstCol="0" lastRow="0" lastCol="0" bandCol="0">
                <a:tableStyleId>{2D5ABB26-0587-4C30-8999-92F81FD0307C}</a:tableStyleId>
              </a:tblPr>
              <a:tblGrid>
                <a:gridCol w="2330348"/>
                <a:gridCol w="3495522"/>
                <a:gridCol w="5049088"/>
              </a:tblGrid>
              <a:tr h="405384">
                <a:tc>
                  <a:txBody>
                    <a:bodyPr wrap="square"/>
                    <a:lstStyle/>
                    <a:p>
                      <a:pPr algn="l"/>
                      <a:r>
                        <a:rPr sz="1700" b="1" i="0">
                          <a:solidFill>
                            <a:srgbClr val="1A5276"/>
                          </a:solidFill>
                          <a:latin typeface="Segoe UI"/>
                        </a:rPr>
                        <a:t>Principle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Means</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c>
                  <a:txBody>
                    <a:bodyPr wrap="square"/>
                    <a:lstStyle/>
                    <a:p>
                      <a:pPr algn="l"/>
                      <a:r>
                        <a:rPr sz="1700" b="1" i="0">
                          <a:solidFill>
                            <a:srgbClr val="1A5276"/>
                          </a:solidFill>
                          <a:latin typeface="Segoe UI"/>
                        </a:rPr>
                        <a:t>In practice</a:t>
                      </a:r>
                      <a:endParaRPr sz="1700"/>
                    </a:p>
                  </a:txBody>
                  <a:tcPr marL="109728" marR="109728" marT="64008" marB="45720" anchor="t">
                    <a:lnL w="0" cmpd="sng">
                      <a:noFill/>
                    </a:lnL>
                    <a:lnR w="0" cmpd="sng">
                      <a:noFill/>
                    </a:lnR>
                    <a:lnT w="19050" cmpd="sng">
                      <a:solidFill>
                        <a:srgbClr val="1A5276"/>
                      </a:solidFill>
                    </a:lnT>
                    <a:lnB w="19050" cmpd="sng">
                      <a:solidFill>
                        <a:srgbClr val="1A5276"/>
                      </a:solidFill>
                    </a:lnB>
                    <a:solidFill>
                      <a:srgbClr val="DDE5EA"/>
                    </a:solidFill>
                  </a:tcPr>
                </a:tc>
              </a:tr>
              <a:tr h="664464">
                <a:tc>
                  <a:txBody>
                    <a:bodyPr wrap="square"/>
                    <a:lstStyle/>
                    <a:p>
                      <a:pPr algn="l"/>
                      <a:r>
                        <a:rPr sz="1700" b="0" i="0">
                          <a:solidFill>
                            <a:srgbClr val="1C252B"/>
                          </a:solidFill>
                          <a:latin typeface="Segoe UI"/>
                        </a:rPr>
                        <a:t>One screen</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No scrolling for the primary view</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If it does not fit, you have more than one dashboard</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Top-left first</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Most important number in the reading-order corner</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The single figure the viewer came for</a:t>
                      </a:r>
                      <a:endParaRPr sz="1700"/>
                    </a:p>
                  </a:txBody>
                  <a:tcPr marL="109728" marR="109728" marT="64008" marB="45720" anchor="t">
                    <a:lnL w="0" cmpd="sng">
                      <a:noFill/>
                    </a:lnL>
                    <a:lnR w="0" cmpd="sng">
                      <a:noFill/>
                    </a:lnR>
                    <a:lnT w="9525" cmpd="sng">
                      <a:noFill/>
                    </a:lnT>
                    <a:lnB w="9525" cmpd="sng">
                      <a:noFill/>
                    </a:lnB>
                    <a:solidFill>
                      <a:srgbClr val="FEF7F1"/>
                    </a:solidFill>
                  </a:tcPr>
                </a:tc>
              </a:tr>
              <a:tr h="405384">
                <a:tc>
                  <a:txBody>
                    <a:bodyPr wrap="square"/>
                    <a:lstStyle/>
                    <a:p>
                      <a:pPr algn="l"/>
                      <a:r>
                        <a:rPr sz="1700" b="0" i="0">
                          <a:solidFill>
                            <a:srgbClr val="1C252B"/>
                          </a:solidFill>
                          <a:latin typeface="Segoe UI"/>
                        </a:rPr>
                        <a:t>Comparison always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 number alone means nothing</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Versus target, versus last period, versus baseline</a:t>
                      </a:r>
                      <a:endParaRPr sz="1700"/>
                    </a:p>
                  </a:txBody>
                  <a:tcPr marL="109728" marR="109728" marT="64008" marB="45720" anchor="t">
                    <a:lnL w="0" cmpd="sng">
                      <a:noFill/>
                    </a:lnL>
                    <a:lnR w="0" cmpd="sng">
                      <a:noFill/>
                    </a:lnR>
                    <a:lnT w="9525" cmpd="sng">
                      <a:noFill/>
                    </a:lnT>
                    <a:lnB w="9525" cmpd="sng">
                      <a:noFill/>
                    </a:lnB>
                    <a:solidFill>
                      <a:srgbClr val="FFFFFF"/>
                    </a:solidFill>
                  </a:tcPr>
                </a:tc>
              </a:tr>
              <a:tr h="664464">
                <a:tc>
                  <a:txBody>
                    <a:bodyPr wrap="square"/>
                    <a:lstStyle/>
                    <a:p>
                      <a:pPr algn="l"/>
                      <a:r>
                        <a:rPr sz="1700" b="0" i="0">
                          <a:solidFill>
                            <a:srgbClr val="1C252B"/>
                          </a:solidFill>
                          <a:latin typeface="Segoe UI"/>
                        </a:rPr>
                        <a:t>Consistent colour</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One meaning per colour throughout</a:t>
                      </a:r>
                      <a:endParaRPr sz="1700"/>
                    </a:p>
                  </a:txBody>
                  <a:tcPr marL="109728" marR="109728" marT="64008" marB="45720" anchor="t">
                    <a:lnL w="0" cmpd="sng">
                      <a:noFill/>
                    </a:lnL>
                    <a:lnR w="0" cmpd="sng">
                      <a:noFill/>
                    </a:lnR>
                    <a:lnT w="9525" cmpd="sng">
                      <a:noFill/>
                    </a:lnT>
                    <a:lnB w="9525" cmpd="sng">
                      <a:noFill/>
                    </a:lnB>
                    <a:solidFill>
                      <a:srgbClr val="FEF7F1"/>
                    </a:solidFill>
                  </a:tcPr>
                </a:tc>
                <a:tc>
                  <a:txBody>
                    <a:bodyPr wrap="square"/>
                    <a:lstStyle/>
                    <a:p>
                      <a:pPr algn="l"/>
                      <a:r>
                        <a:rPr sz="1700" b="0" i="0">
                          <a:solidFill>
                            <a:srgbClr val="1C252B"/>
                          </a:solidFill>
                          <a:latin typeface="Segoe UI"/>
                        </a:rPr>
                        <a:t>Red always means “needs attention”, never merely “category 2”</a:t>
                      </a:r>
                      <a:endParaRPr sz="1700"/>
                    </a:p>
                  </a:txBody>
                  <a:tcPr marL="109728" marR="109728" marT="64008" marB="45720" anchor="t">
                    <a:lnL w="0" cmpd="sng">
                      <a:noFill/>
                    </a:lnL>
                    <a:lnR w="0" cmpd="sng">
                      <a:noFill/>
                    </a:lnR>
                    <a:lnT w="9525" cmpd="sng">
                      <a:noFill/>
                    </a:lnT>
                    <a:lnB w="9525" cmpd="sng">
                      <a:noFill/>
                    </a:lnB>
                    <a:solidFill>
                      <a:srgbClr val="FEF7F1"/>
                    </a:solidFill>
                  </a:tcPr>
                </a:tc>
              </a:tr>
              <a:tr h="664464">
                <a:tc>
                  <a:txBody>
                    <a:bodyPr wrap="square"/>
                    <a:lstStyle/>
                    <a:p>
                      <a:pPr algn="l"/>
                      <a:r>
                        <a:rPr sz="1700" b="0" i="0">
                          <a:solidFill>
                            <a:srgbClr val="1C252B"/>
                          </a:solidFill>
                          <a:latin typeface="Segoe UI"/>
                        </a:rPr>
                        <a:t>Show uncertainty</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Bands, not bare lines</a:t>
                      </a:r>
                      <a:endParaRPr sz="1700"/>
                    </a:p>
                  </a:txBody>
                  <a:tcPr marL="109728" marR="109728" marT="64008" marB="45720" anchor="t">
                    <a:lnL w="0" cmpd="sng">
                      <a:noFill/>
                    </a:lnL>
                    <a:lnR w="0" cmpd="sng">
                      <a:noFill/>
                    </a:lnR>
                    <a:lnT w="9525" cmpd="sng">
                      <a:noFill/>
                    </a:lnT>
                    <a:lnB w="9525" cmpd="sng">
                      <a:noFill/>
                    </a:lnB>
                    <a:solidFill>
                      <a:srgbClr val="FFFFFF"/>
                    </a:solidFill>
                  </a:tcPr>
                </a:tc>
                <a:tc>
                  <a:txBody>
                    <a:bodyPr wrap="square"/>
                    <a:lstStyle/>
                    <a:p>
                      <a:pPr algn="l"/>
                      <a:r>
                        <a:rPr sz="1700" b="0" i="0">
                          <a:solidFill>
                            <a:srgbClr val="1C252B"/>
                          </a:solidFill>
                          <a:latin typeface="Segoe UI"/>
                        </a:rPr>
                        <a:t>A forecast without a range invites over-confidence</a:t>
                      </a:r>
                      <a:endParaRPr sz="1700"/>
                    </a:p>
                  </a:txBody>
                  <a:tcPr marL="109728" marR="109728" marT="64008" marB="45720" anchor="t">
                    <a:lnL w="0" cmpd="sng">
                      <a:noFill/>
                    </a:lnL>
                    <a:lnR w="0" cmpd="sng">
                      <a:noFill/>
                    </a:lnR>
                    <a:lnT w="9525" cmpd="sng">
                      <a:noFill/>
                    </a:lnT>
                    <a:lnB w="9525" cmpd="sng">
                      <a:noFill/>
                    </a:lnB>
                    <a:solidFill>
                      <a:srgbClr val="FFFFFF"/>
                    </a:solidFill>
                  </a:tcPr>
                </a:tc>
              </a:tr>
              <a:tr h="405384">
                <a:tc>
                  <a:txBody>
                    <a:bodyPr wrap="square"/>
                    <a:lstStyle/>
                    <a:p>
                      <a:pPr algn="l"/>
                      <a:r>
                        <a:rPr sz="1700" b="0" i="0">
                          <a:solidFill>
                            <a:srgbClr val="1C252B"/>
                          </a:solidFill>
                          <a:latin typeface="Segoe UI"/>
                        </a:rPr>
                        <a:t>State the freshness</a:t>
                      </a:r>
                      <a:endParaRPr sz="17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c>
                  <a:txBody>
                    <a:bodyPr wrap="square"/>
                    <a:lstStyle/>
                    <a:p>
                      <a:pPr algn="l"/>
                      <a:r>
                        <a:rPr sz="1700" b="0" i="0">
                          <a:solidFill>
                            <a:srgbClr val="1C252B"/>
                          </a:solidFill>
                          <a:latin typeface="Segoe UI"/>
                        </a:rPr>
                        <a:t>When was this last updated?</a:t>
                      </a:r>
                      <a:endParaRPr sz="17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c>
                  <a:txBody>
                    <a:bodyPr wrap="square"/>
                    <a:lstStyle/>
                    <a:p>
                      <a:pPr algn="l"/>
                      <a:r>
                        <a:rPr sz="1700" b="0" i="0">
                          <a:solidFill>
                            <a:srgbClr val="1C252B"/>
                          </a:solidFill>
                          <a:latin typeface="Segoe UI"/>
                        </a:rPr>
                        <a:t>A stale dashboard is worse than none</a:t>
                      </a:r>
                      <a:endParaRPr sz="1700"/>
                    </a:p>
                  </a:txBody>
                  <a:tcPr marL="109728" marR="109728" marT="64008" marB="45720" anchor="t">
                    <a:lnL w="0" cmpd="sng">
                      <a:noFill/>
                    </a:lnL>
                    <a:lnR w="0" cmpd="sng">
                      <a:noFill/>
                    </a:lnR>
                    <a:lnT w="19050" cmpd="sng">
                      <a:noFill/>
                    </a:lnT>
                    <a:lnB w="19050" cmpd="sng">
                      <a:solidFill>
                        <a:srgbClr val="1A5276"/>
                      </a:solidFill>
                    </a:lnB>
                    <a:solidFill>
                      <a:srgbClr val="FEF7F1"/>
                    </a:solidFill>
                  </a:tcPr>
                </a:tc>
              </a:tr>
            </a:tbl>
          </a:graphicData>
        </a:graphic>
      </p:graphicFrame>
      <p:sp>
        <p:nvSpPr>
          <p:cNvPr id="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pfill">
            <a:extLst>
              <a:ext uri="{C183D7F6-B498-43B3-948B-1728B52AA6E4}">
                <adec:decorative xmlns:adec="http://schemas.microsoft.com/office/drawing/2017/decorative" val="1"/>
              </a:ext>
            </a:extLst>
          </p:cNvPr>
          <p:cNvSpPr/>
          <p:nvPr/>
        </p:nvSpPr>
        <p:spPr>
          <a:xfrm>
            <a:off x="0" y="0"/>
            <a:ext cx="562693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Including the Ones You Will Be Tempted By</a:t>
            </a:r>
          </a:p>
        </p:txBody>
      </p:sp>
      <p:pic>
        <p:nvPicPr>
          <p:cNvPr id="3" name="!!kicker-icon" descr="exclamation-circle-E74C3C.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2672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E74C3C"/>
                </a:solidFill>
                <a:latin typeface="Segoe UI"/>
              </a:rPr>
              <a:t>COMMON PITFALLS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§31.6  ·  Handout p. 205     </a:t>
            </a:r>
            <a:fld id="{63156F5E-197C-4769-B132-AEF0EF3276B2}" type="slidenum">
              <a:rPr lang="en-GB" sz="1000">
                <a:solidFill>
                  <a:srgbClr val="8795A1"/>
                </a:solidFill>
                <a:latin typeface="Segoe UI"/>
              </a:rPr>
              <a:t>19</a:t>
            </a:fld>
          </a:p>
        </p:txBody>
      </p:sp>
      <p:sp>
        <p:nvSpPr>
          <p:cNvPr id="7" name="!!pb0">
            <a:extLst>
              <a:ext uri="{C183D7F6-B498-43B3-948B-1728B52AA6E4}">
                <adec:decorative xmlns:adec="http://schemas.microsoft.com/office/drawing/2017/decorative" val="1"/>
              </a:ext>
            </a:extLst>
          </p:cNvPr>
          <p:cNvSpPr/>
          <p:nvPr/>
        </p:nvSpPr>
        <p:spPr>
          <a:xfrm>
            <a:off x="658368" y="1755648"/>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px0"/>
          <p:cNvSpPr txBox="1"/>
          <p:nvPr/>
        </p:nvSpPr>
        <p:spPr>
          <a:xfrm>
            <a:off x="658368" y="1778507"/>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9" name="!!pt0"/>
          <p:cNvSpPr txBox="1"/>
          <p:nvPr/>
        </p:nvSpPr>
        <p:spPr>
          <a:xfrm>
            <a:off x="1261872" y="1737360"/>
            <a:ext cx="10271455"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Reporting the best of many runs.</a:t>
            </a:r>
            <a:r>
              <a:rPr sz="2000" b="0" i="0">
                <a:solidFill>
                  <a:srgbClr val="1C252B"/>
                </a:solidFill>
                <a:latin typeface="Segoe UI"/>
              </a:rPr>
              <a:t> If you tried twelve configurations, the best one is optimistically biased (Chapter 9).</a:t>
            </a:r>
          </a:p>
        </p:txBody>
      </p:sp>
      <p:sp>
        <p:nvSpPr>
          <p:cNvPr id="10" name="!!pb1">
            <a:extLst>
              <a:ext uri="{C183D7F6-B498-43B3-948B-1728B52AA6E4}">
                <adec:decorative xmlns:adec="http://schemas.microsoft.com/office/drawing/2017/decorative" val="1"/>
              </a:ext>
            </a:extLst>
          </p:cNvPr>
          <p:cNvSpPr/>
          <p:nvPr/>
        </p:nvSpPr>
        <p:spPr>
          <a:xfrm>
            <a:off x="658368" y="2590800"/>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x1"/>
          <p:cNvSpPr txBox="1"/>
          <p:nvPr/>
        </p:nvSpPr>
        <p:spPr>
          <a:xfrm>
            <a:off x="658368" y="261366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2" name="!!pt1"/>
          <p:cNvSpPr txBox="1"/>
          <p:nvPr/>
        </p:nvSpPr>
        <p:spPr>
          <a:xfrm>
            <a:off x="1261872" y="2572512"/>
            <a:ext cx="10271455"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Quoting a metric without its threshold or baseline.</a:t>
            </a:r>
            <a:r>
              <a:rPr sz="2000" b="0" i="0">
                <a:solidFill>
                  <a:srgbClr val="1C252B"/>
                </a:solidFill>
                <a:latin typeface="Segoe UI"/>
              </a:rPr>
              <a:t> Both are required for the number to mean anything.</a:t>
            </a:r>
          </a:p>
        </p:txBody>
      </p:sp>
      <p:sp>
        <p:nvSpPr>
          <p:cNvPr id="13" name="!!pb2">
            <a:extLst>
              <a:ext uri="{C183D7F6-B498-43B3-948B-1728B52AA6E4}">
                <adec:decorative xmlns:adec="http://schemas.microsoft.com/office/drawing/2017/decorative" val="1"/>
              </a:ext>
            </a:extLst>
          </p:cNvPr>
          <p:cNvSpPr/>
          <p:nvPr/>
        </p:nvSpPr>
        <p:spPr>
          <a:xfrm>
            <a:off x="658368" y="3425952"/>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px2"/>
          <p:cNvSpPr txBox="1"/>
          <p:nvPr/>
        </p:nvSpPr>
        <p:spPr>
          <a:xfrm>
            <a:off x="658368" y="344881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5" name="!!pt2"/>
          <p:cNvSpPr txBox="1"/>
          <p:nvPr/>
        </p:nvSpPr>
        <p:spPr>
          <a:xfrm>
            <a:off x="1261872" y="3407664"/>
            <a:ext cx="10271455" cy="365760"/>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Choosing the metric after seeing the results.</a:t>
            </a:r>
            <a:r>
              <a:rPr sz="2000" b="0" i="0">
                <a:solidFill>
                  <a:srgbClr val="1C252B"/>
                </a:solidFill>
                <a:latin typeface="Segoe UI"/>
              </a:rPr>
              <a:t> Decide at framing time (Chapter 2).</a:t>
            </a:r>
          </a:p>
        </p:txBody>
      </p:sp>
      <p:sp>
        <p:nvSpPr>
          <p:cNvPr id="16" name="!!pb3">
            <a:extLst>
              <a:ext uri="{C183D7F6-B498-43B3-948B-1728B52AA6E4}">
                <adec:decorative xmlns:adec="http://schemas.microsoft.com/office/drawing/2017/decorative" val="1"/>
              </a:ext>
            </a:extLst>
          </p:cNvPr>
          <p:cNvSpPr/>
          <p:nvPr/>
        </p:nvSpPr>
        <p:spPr>
          <a:xfrm>
            <a:off x="658368" y="3992879"/>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x3"/>
          <p:cNvSpPr txBox="1"/>
          <p:nvPr/>
        </p:nvSpPr>
        <p:spPr>
          <a:xfrm>
            <a:off x="658368" y="4015740"/>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18" name="!!pt3"/>
          <p:cNvSpPr txBox="1"/>
          <p:nvPr/>
        </p:nvSpPr>
        <p:spPr>
          <a:xfrm>
            <a:off x="1261872" y="3974592"/>
            <a:ext cx="10271455"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Showing the successful segment.</a:t>
            </a:r>
            <a:r>
              <a:rPr sz="2000" b="0" i="0">
                <a:solidFill>
                  <a:srgbClr val="1C252B"/>
                </a:solidFill>
                <a:latin typeface="Segoe UI"/>
              </a:rPr>
              <a:t> “It works well for full-time students” when it was evaluated across all students is a selective report.</a:t>
            </a:r>
          </a:p>
        </p:txBody>
      </p:sp>
      <p:sp>
        <p:nvSpPr>
          <p:cNvPr id="19" name="!!pb4">
            <a:extLst>
              <a:ext uri="{C183D7F6-B498-43B3-948B-1728B52AA6E4}">
                <adec:decorative xmlns:adec="http://schemas.microsoft.com/office/drawing/2017/decorative" val="1"/>
              </a:ext>
            </a:extLst>
          </p:cNvPr>
          <p:cNvSpPr/>
          <p:nvPr/>
        </p:nvSpPr>
        <p:spPr>
          <a:xfrm>
            <a:off x="658368" y="4828031"/>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px4"/>
          <p:cNvSpPr txBox="1"/>
          <p:nvPr/>
        </p:nvSpPr>
        <p:spPr>
          <a:xfrm>
            <a:off x="658368" y="4850892"/>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1" name="!!pt4"/>
          <p:cNvSpPr txBox="1"/>
          <p:nvPr/>
        </p:nvSpPr>
        <p:spPr>
          <a:xfrm>
            <a:off x="1261872" y="4809744"/>
            <a:ext cx="10271455"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A truncated axis on a bar chart</a:t>
            </a:r>
            <a:r>
              <a:rPr sz="2000" b="0" i="0">
                <a:solidFill>
                  <a:srgbClr val="1C252B"/>
                </a:solidFill>
                <a:latin typeface="Segoe UI"/>
              </a:rPr>
              <a:t> (Chapter 8) — the most common way an honest person misleads accidentally.</a:t>
            </a:r>
          </a:p>
        </p:txBody>
      </p:sp>
      <p:sp>
        <p:nvSpPr>
          <p:cNvPr id="22" name="!!pb5">
            <a:extLst>
              <a:ext uri="{C183D7F6-B498-43B3-948B-1728B52AA6E4}">
                <adec:decorative xmlns:adec="http://schemas.microsoft.com/office/drawing/2017/decorative" val="1"/>
              </a:ext>
            </a:extLst>
          </p:cNvPr>
          <p:cNvSpPr/>
          <p:nvPr/>
        </p:nvSpPr>
        <p:spPr>
          <a:xfrm>
            <a:off x="658368" y="5663183"/>
            <a:ext cx="365760" cy="365760"/>
          </a:xfrm>
          <a:prstGeom prst="ellipse">
            <a:avLst/>
          </a:prstGeom>
          <a:solidFill>
            <a:srgbClr val="FCE6E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x5"/>
          <p:cNvSpPr txBox="1"/>
          <p:nvPr/>
        </p:nvSpPr>
        <p:spPr>
          <a:xfrm>
            <a:off x="658368" y="5686044"/>
            <a:ext cx="36576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E74C3C"/>
                </a:solidFill>
                <a:latin typeface="Segoe UI"/>
              </a:rPr>
              <a:t>✕</a:t>
            </a:r>
          </a:p>
        </p:txBody>
      </p:sp>
      <p:sp>
        <p:nvSpPr>
          <p:cNvPr id="24" name="!!pt5"/>
          <p:cNvSpPr txBox="1"/>
          <p:nvPr/>
        </p:nvSpPr>
        <p:spPr>
          <a:xfrm>
            <a:off x="1261872" y="5644896"/>
            <a:ext cx="10271455" cy="633984"/>
          </a:xfrm>
          <a:prstGeom prst="rect">
            <a:avLst/>
          </a:prstGeom>
          <a:noFill/>
        </p:spPr>
        <p:txBody>
          <a:bodyPr wrap="square" anchor="t" lIns="0" rIns="0" tIns="0" bIns="0">
            <a:noAutofit/>
          </a:bodyPr>
          <a:lstStyle/>
          <a:p>
            <a:pPr algn="l">
              <a:lnSpc>
                <a:spcPct val="104000"/>
              </a:lnSpc>
              <a:spcBef>
                <a:spcPts val="0"/>
              </a:spcBef>
              <a:spcAft>
                <a:spcPts val="0"/>
              </a:spcAft>
            </a:pPr>
            <a:r>
              <a:rPr sz="2000" b="1" i="0">
                <a:solidFill>
                  <a:srgbClr val="A93226"/>
                </a:solidFill>
                <a:latin typeface="Segoe UI"/>
              </a:rPr>
              <a:t>Omitting the failure modes</a:t>
            </a:r>
            <a:r>
              <a:rPr sz="2000" b="0" i="0">
                <a:solidFill>
                  <a:srgbClr val="1C252B"/>
                </a:solidFill>
                <a:latin typeface="Segoe UI"/>
              </a:rPr>
              <a:t> because they weaken the story. They will be discovered in production instead, by someone with less context and less goodwill.</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5939543"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Four lenses: Communicating Results</a:t>
            </a:r>
          </a:p>
        </p:txBody>
      </p:sp>
      <p:pic>
        <p:nvPicPr>
          <p:cNvPr id="3" name="!!kicker-icon" descr="compass-12395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2395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207     </a:t>
            </a:r>
            <a:fld id="{93123BED-F4A4-4580-8607-6458EBE1BB62}" type="slidenum">
              <a:rPr lang="en-GB" sz="1000">
                <a:solidFill>
                  <a:srgbClr val="8795A1"/>
                </a:solidFill>
                <a:latin typeface="Segoe UI"/>
              </a:rPr>
              <a:t>20</a:t>
            </a:fld>
          </a:p>
        </p:txBody>
      </p:sp>
      <p:sp>
        <p:nvSpPr>
          <p:cNvPr id="7" name="!!lens-LA">
            <a:extLst>
              <a:ext uri="{C183D7F6-B498-43B3-948B-1728B52AA6E4}">
                <adec:decorative xmlns:adec="http://schemas.microsoft.com/office/drawing/2017/decorative" val="1"/>
              </a:ext>
            </a:extLst>
          </p:cNvPr>
          <p:cNvSpPr/>
          <p:nvPr/>
        </p:nvSpPr>
        <p:spPr>
          <a:xfrm>
            <a:off x="658368" y="1737360"/>
            <a:ext cx="5318607" cy="2176272"/>
          </a:xfrm>
          <a:prstGeom prst="roundRect">
            <a:avLst>
              <a:gd name="adj" fmla="val 4201"/>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5318607"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5318607"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4460197"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Three audiences with genuinely different needs.</a:t>
            </a:r>
          </a:p>
        </p:txBody>
      </p:sp>
      <p:sp>
        <p:nvSpPr>
          <p:cNvPr id="13" name="!!lens-PM">
            <a:extLst>
              <a:ext uri="{C183D7F6-B498-43B3-948B-1728B52AA6E4}">
                <adec:decorative xmlns:adec="http://schemas.microsoft.com/office/drawing/2017/decorative" val="1"/>
              </a:ext>
            </a:extLst>
          </p:cNvPr>
          <p:cNvSpPr/>
          <p:nvPr/>
        </p:nvSpPr>
        <p:spPr>
          <a:xfrm>
            <a:off x="6214719" y="1737360"/>
            <a:ext cx="5318607" cy="2176272"/>
          </a:xfrm>
          <a:prstGeom prst="roundRect">
            <a:avLst>
              <a:gd name="adj" fmla="val 4201"/>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6214719" y="1737360"/>
            <a:ext cx="5318607"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6214719" y="2121408"/>
            <a:ext cx="5318607"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415887" y="1856231"/>
            <a:ext cx="301783" cy="256032"/>
          </a:xfrm>
          <a:prstGeom prst="rect">
            <a:avLst/>
          </a:prstGeom>
        </p:spPr>
      </p:pic>
      <p:sp>
        <p:nvSpPr>
          <p:cNvPr id="17" name="!!lensn-PM"/>
          <p:cNvSpPr txBox="1"/>
          <p:nvPr/>
        </p:nvSpPr>
        <p:spPr>
          <a:xfrm>
            <a:off x="6863974" y="1837943"/>
            <a:ext cx="4577912"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8" name="!!lensb-PM-0"/>
          <p:cNvSpPr txBox="1"/>
          <p:nvPr/>
        </p:nvSpPr>
        <p:spPr>
          <a:xfrm>
            <a:off x="6452463" y="2414016"/>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1400" b="0" i="0">
                <a:solidFill>
                  <a:srgbClr val="1C252B"/>
                </a:solidFill>
                <a:latin typeface="Segoe UI"/>
              </a:rPr>
              <a:t>Executives want a range and a confidence level, not a point estimate: “we will complete 32–41 points, and we are more likely to land in the lower half if the API dependency is not resolved this week.” Note the reflexive effect — publishing a forecast changes the team’s behaviour — so state whether the number is a prediction or a target.</a:t>
            </a:r>
          </a:p>
        </p:txBody>
      </p:sp>
      <p:sp>
        <p:nvSpPr>
          <p:cNvPr id="19" name="!!lens-IOT">
            <a:extLst>
              <a:ext uri="{C183D7F6-B498-43B3-948B-1728B52AA6E4}">
                <adec:decorative xmlns:adec="http://schemas.microsoft.com/office/drawing/2017/decorative" val="1"/>
              </a:ext>
            </a:extLst>
          </p:cNvPr>
          <p:cNvSpPr/>
          <p:nvPr/>
        </p:nvSpPr>
        <p:spPr>
          <a:xfrm>
            <a:off x="658368" y="4133087"/>
            <a:ext cx="5318607" cy="2176272"/>
          </a:xfrm>
          <a:prstGeom prst="roundRect">
            <a:avLst>
              <a:gd name="adj" fmla="val 4201"/>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IOT">
            <a:extLst>
              <a:ext uri="{C183D7F6-B498-43B3-948B-1728B52AA6E4}">
                <adec:decorative xmlns:adec="http://schemas.microsoft.com/office/drawing/2017/decorative" val="1"/>
              </a:ext>
            </a:extLst>
          </p:cNvPr>
          <p:cNvSpPr/>
          <p:nvPr/>
        </p:nvSpPr>
        <p:spPr>
          <a:xfrm>
            <a:off x="658368" y="4133087"/>
            <a:ext cx="5318607"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lensh2-IOT">
            <a:extLst>
              <a:ext uri="{C183D7F6-B498-43B3-948B-1728B52AA6E4}">
                <adec:decorative xmlns:adec="http://schemas.microsoft.com/office/drawing/2017/decorative" val="1"/>
              </a:ext>
            </a:extLst>
          </p:cNvPr>
          <p:cNvSpPr/>
          <p:nvPr/>
        </p:nvSpPr>
        <p:spPr>
          <a:xfrm>
            <a:off x="658368" y="4517136"/>
            <a:ext cx="5318607"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2"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9536" y="4251959"/>
            <a:ext cx="256032" cy="256032"/>
          </a:xfrm>
          <a:prstGeom prst="rect">
            <a:avLst/>
          </a:prstGeom>
        </p:spPr>
      </p:pic>
      <p:sp>
        <p:nvSpPr>
          <p:cNvPr id="23" name="!!lensn-IOT"/>
          <p:cNvSpPr txBox="1"/>
          <p:nvPr/>
        </p:nvSpPr>
        <p:spPr>
          <a:xfrm>
            <a:off x="1261872"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24" name="!!lensb-IOT-0"/>
          <p:cNvSpPr txBox="1"/>
          <p:nvPr/>
        </p:nvSpPr>
        <p:spPr>
          <a:xfrm>
            <a:off x="896112"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The audience is a technician holding a tablet, not an analyst.</a:t>
            </a:r>
          </a:p>
        </p:txBody>
      </p:sp>
      <p:sp>
        <p:nvSpPr>
          <p:cNvPr id="25" name="!!lens-SEC">
            <a:extLst>
              <a:ext uri="{C183D7F6-B498-43B3-948B-1728B52AA6E4}">
                <adec:decorative xmlns:adec="http://schemas.microsoft.com/office/drawing/2017/decorative" val="1"/>
              </a:ext>
            </a:extLst>
          </p:cNvPr>
          <p:cNvSpPr/>
          <p:nvPr/>
        </p:nvSpPr>
        <p:spPr>
          <a:xfrm>
            <a:off x="6214719" y="4133087"/>
            <a:ext cx="5318607" cy="2176272"/>
          </a:xfrm>
          <a:prstGeom prst="roundRect">
            <a:avLst>
              <a:gd name="adj" fmla="val 4201"/>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6" name="!!lensh-SEC">
            <a:extLst>
              <a:ext uri="{C183D7F6-B498-43B3-948B-1728B52AA6E4}">
                <adec:decorative xmlns:adec="http://schemas.microsoft.com/office/drawing/2017/decorative" val="1"/>
              </a:ext>
            </a:extLst>
          </p:cNvPr>
          <p:cNvSpPr/>
          <p:nvPr/>
        </p:nvSpPr>
        <p:spPr>
          <a:xfrm>
            <a:off x="6214719" y="4133087"/>
            <a:ext cx="5318607"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7" name="!!lensh2-SEC">
            <a:extLst>
              <a:ext uri="{C183D7F6-B498-43B3-948B-1728B52AA6E4}">
                <adec:decorative xmlns:adec="http://schemas.microsoft.com/office/drawing/2017/decorative" val="1"/>
              </a:ext>
            </a:extLst>
          </p:cNvPr>
          <p:cNvSpPr/>
          <p:nvPr/>
        </p:nvSpPr>
        <p:spPr>
          <a:xfrm>
            <a:off x="6214719" y="4517136"/>
            <a:ext cx="5318607"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8"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415887" y="4251959"/>
            <a:ext cx="256032" cy="256032"/>
          </a:xfrm>
          <a:prstGeom prst="rect">
            <a:avLst/>
          </a:prstGeom>
        </p:spPr>
      </p:pic>
      <p:sp>
        <p:nvSpPr>
          <p:cNvPr id="29" name="!!lensn-SEC"/>
          <p:cNvSpPr txBox="1"/>
          <p:nvPr/>
        </p:nvSpPr>
        <p:spPr>
          <a:xfrm>
            <a:off x="6818223" y="4233672"/>
            <a:ext cx="4623663"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30" name="!!lensb-SEC-0"/>
          <p:cNvSpPr txBox="1"/>
          <p:nvPr/>
        </p:nvSpPr>
        <p:spPr>
          <a:xfrm>
            <a:off x="6452463" y="4809744"/>
            <a:ext cx="4861407" cy="1408175"/>
          </a:xfrm>
          <a:prstGeom prst="rect">
            <a:avLst/>
          </a:prstGeom>
          <a:noFill/>
        </p:spPr>
        <p:txBody>
          <a:bodyPr wrap="square" anchor="t" lIns="0" rIns="0" tIns="0" bIns="0">
            <a:noAutofit/>
          </a:bodyPr>
          <a:lstStyle/>
          <a:p>
            <a:pPr algn="l">
              <a:lnSpc>
                <a:spcPct val="104000"/>
              </a:lnSpc>
              <a:spcBef>
                <a:spcPts val="0"/>
              </a:spcBef>
              <a:spcAft>
                <a:spcPts val="0"/>
              </a:spcAft>
            </a:pPr>
            <a:r>
              <a:rPr sz="2300" b="0" i="0">
                <a:solidFill>
                  <a:srgbClr val="1C252B"/>
                </a:solidFill>
                <a:latin typeface="Segoe UI"/>
              </a:rPr>
              <a:t>Two audiences, both hard.</a:t>
            </a:r>
          </a:p>
        </p:txBody>
      </p:sp>
      <p:sp>
        <p:nvSpPr>
          <p:cNvPr id="31"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32" name="!!pfill">
            <a:extLst>
              <a:ext uri="{C183D7F6-B498-43B3-948B-1728B52AA6E4}">
                <adec:decorative xmlns:adec="http://schemas.microsoft.com/office/drawing/2017/decorative" val="1"/>
              </a:ext>
            </a:extLst>
          </p:cNvPr>
          <p:cNvSpPr/>
          <p:nvPr/>
        </p:nvSpPr>
        <p:spPr>
          <a:xfrm>
            <a:off x="0" y="0"/>
            <a:ext cx="625215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Learning Analytics: Communicating Results</a:t>
            </a:r>
          </a:p>
        </p:txBody>
      </p:sp>
      <p:pic>
        <p:nvPicPr>
          <p:cNvPr id="3" name="!!kicker-icon" descr="compass-6C3483.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6C3483"/>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207     </a:t>
            </a:r>
            <a:fld id="{56E1DFF1-4688-4D0B-B214-8D8D658A619E}" type="slidenum">
              <a:rPr lang="en-GB" sz="1000">
                <a:solidFill>
                  <a:srgbClr val="8795A1"/>
                </a:solidFill>
                <a:latin typeface="Segoe UI"/>
              </a:rPr>
              <a:t>21</a:t>
            </a:fld>
          </a:p>
        </p:txBody>
      </p:sp>
      <p:sp>
        <p:nvSpPr>
          <p:cNvPr id="7" name="!!lens-LA">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6F3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LA">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LA">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LA" descr="graduation-ca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419498" cy="256032"/>
          </a:xfrm>
          <a:prstGeom prst="rect">
            <a:avLst/>
          </a:prstGeom>
        </p:spPr>
      </p:pic>
      <p:sp>
        <p:nvSpPr>
          <p:cNvPr id="11" name="!!lensn-LA"/>
          <p:cNvSpPr txBox="1"/>
          <p:nvPr/>
        </p:nvSpPr>
        <p:spPr>
          <a:xfrm>
            <a:off x="1425337" y="1837943"/>
            <a:ext cx="7181909"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LEARNING ANALYTICS</a:t>
            </a:r>
          </a:p>
        </p:txBody>
      </p:sp>
      <p:sp>
        <p:nvSpPr>
          <p:cNvPr id="12" name="!!lensb-LA-0"/>
          <p:cNvSpPr txBox="1"/>
          <p:nvPr/>
        </p:nvSpPr>
        <p:spPr>
          <a:xfrm>
            <a:off x="896112" y="2432304"/>
            <a:ext cx="7583119" cy="2835249"/>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Three audiences with genuinely different needs. The </a:t>
            </a:r>
            <a:r>
              <a:rPr sz="2200" b="0" i="1">
                <a:solidFill>
                  <a:srgbClr val="1C252B"/>
                </a:solidFill>
                <a:latin typeface="Segoe UI"/>
              </a:rPr>
              <a:t>committee</a:t>
            </a:r>
            <a:r>
              <a:rPr sz="2200" b="0" i="0">
                <a:solidFill>
                  <a:srgbClr val="1C252B"/>
                </a:solidFill>
                <a:latin typeface="Segoe UI"/>
              </a:rPr>
              <a:t> needs cohort-level effect and cost. The </a:t>
            </a:r>
            <a:r>
              <a:rPr sz="2200" b="0" i="1">
                <a:solidFill>
                  <a:srgbClr val="1C252B"/>
                </a:solidFill>
                <a:latin typeface="Segoe UI"/>
              </a:rPr>
              <a:t>adviser</a:t>
            </a:r>
            <a:r>
              <a:rPr sz="2200" b="0" i="0">
                <a:solidFill>
                  <a:srgbClr val="1C252B"/>
                </a:solidFill>
                <a:latin typeface="Segoe UI"/>
              </a:rPr>
              <a:t> needs a ranked list with a one-line reason per student, and the authority to disagree with it. The </a:t>
            </a:r>
            <a:r>
              <a:rPr sz="2200" b="0" i="1">
                <a:solidFill>
                  <a:srgbClr val="1C252B"/>
                </a:solidFill>
                <a:latin typeface="Segoe UI"/>
              </a:rPr>
              <a:t>student</a:t>
            </a:r>
            <a:r>
              <a:rPr sz="2200" b="0" i="0">
                <a:solidFill>
                  <a:srgbClr val="1C252B"/>
                </a:solidFill>
                <a:latin typeface="Segoe UI"/>
              </a:rPr>
              <a:t> needs a specific, actionable, non-stigmatising statement — never a risk score, and never the word “predicted to fail”. Getting the third audience right is an ethical requirement (Chapter 28), not a stylistic preference.</a:t>
            </a:r>
          </a:p>
        </p:txBody>
      </p:sp>
      <p:sp>
        <p:nvSpPr>
          <p:cNvPr id="13" name="!!lens-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PM">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PM">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PM" descr="tasks-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301783" cy="256032"/>
          </a:xfrm>
          <a:prstGeom prst="rect">
            <a:avLst/>
          </a:prstGeom>
        </p:spPr>
      </p:pic>
      <p:sp>
        <p:nvSpPr>
          <p:cNvPr id="17" name="!!lensn-PM"/>
          <p:cNvSpPr txBox="1"/>
          <p:nvPr/>
        </p:nvSpPr>
        <p:spPr>
          <a:xfrm>
            <a:off x="9585686" y="1837943"/>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564758"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Project Management: Communicating Results</a:t>
            </a:r>
          </a:p>
        </p:txBody>
      </p:sp>
      <p:pic>
        <p:nvPicPr>
          <p:cNvPr id="3" name="!!kicker-icon" descr="compass-1F618D.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F618D"/>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207     </a:t>
            </a:r>
            <a:fld id="{BF205B27-27CB-434F-9A5C-30BE3A8EBD40}" type="slidenum">
              <a:rPr lang="en-GB" sz="1000">
                <a:solidFill>
                  <a:srgbClr val="8795A1"/>
                </a:solidFill>
                <a:latin typeface="Segoe UI"/>
              </a:rPr>
              <a:t>22</a:t>
            </a:fld>
          </a:p>
        </p:txBody>
      </p:sp>
      <p:sp>
        <p:nvSpPr>
          <p:cNvPr id="7" name="!!lens-PM">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2F6F8"/>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PM">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PM">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PM" descr="tasks-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301783" cy="256032"/>
          </a:xfrm>
          <a:prstGeom prst="rect">
            <a:avLst/>
          </a:prstGeom>
        </p:spPr>
      </p:pic>
      <p:sp>
        <p:nvSpPr>
          <p:cNvPr id="11" name="!!lensn-PM"/>
          <p:cNvSpPr txBox="1"/>
          <p:nvPr/>
        </p:nvSpPr>
        <p:spPr>
          <a:xfrm>
            <a:off x="1307622" y="1837943"/>
            <a:ext cx="7299624"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PROJECT MANAGEMENT</a:t>
            </a:r>
          </a:p>
        </p:txBody>
      </p:sp>
      <p:sp>
        <p:nvSpPr>
          <p:cNvPr id="12" name="!!lensb-PM-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Executives want a range and a confidence level, not a point estimate: “we will complete 32–41 points, and we are more likely to land in the lower half if the API dependency is not resolved this week.” Note the reflexive effect — publishing a forecast changes the team’s behaviour — so state whether the number is a prediction or a target. Confusing those two destroys the credibility of both.</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IOT">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IOT">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IOT" descr="microchip-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256032" cy="256032"/>
          </a:xfrm>
          <a:prstGeom prst="rect">
            <a:avLst/>
          </a:prstGeom>
        </p:spPr>
      </p:pic>
      <p:sp>
        <p:nvSpPr>
          <p:cNvPr id="22" name="!!lensn-IOT"/>
          <p:cNvSpPr txBox="1"/>
          <p:nvPr/>
        </p:nvSpPr>
        <p:spPr>
          <a:xfrm>
            <a:off x="9539935" y="2496312"/>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687736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Internet of Things: Communicating Results</a:t>
            </a:r>
          </a:p>
        </p:txBody>
      </p:sp>
      <p:pic>
        <p:nvPicPr>
          <p:cNvPr id="3" name="!!kicker-icon" descr="compass-117864.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864"/>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207     </a:t>
            </a:r>
            <a:fld id="{0D460545-6A41-4C5F-B0C4-9846E79F79FA}" type="slidenum">
              <a:rPr lang="en-GB" sz="1000">
                <a:solidFill>
                  <a:srgbClr val="8795A1"/>
                </a:solidFill>
                <a:latin typeface="Segoe UI"/>
              </a:rPr>
              <a:t>23</a:t>
            </a:fld>
          </a:p>
        </p:txBody>
      </p:sp>
      <p:sp>
        <p:nvSpPr>
          <p:cNvPr id="7" name="!!lens-IOT">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1F7F6"/>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IOT">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IOT">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IOT" descr="microchip-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IOT"/>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INTERNET OF THINGS</a:t>
            </a:r>
          </a:p>
        </p:txBody>
      </p:sp>
      <p:sp>
        <p:nvSpPr>
          <p:cNvPr id="12" name="!!lensb-IOT-0"/>
          <p:cNvSpPr txBox="1"/>
          <p:nvPr/>
        </p:nvSpPr>
        <p:spPr>
          <a:xfrm>
            <a:off x="896112" y="2432304"/>
            <a:ext cx="7583119" cy="2486558"/>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The audience is a technician holding a tablet, not an analyst. The deliverable is not a probability but an instruction: </a:t>
            </a:r>
            <a:r>
              <a:rPr sz="2200" b="0" i="1">
                <a:solidFill>
                  <a:srgbClr val="1C252B"/>
                </a:solidFill>
                <a:latin typeface="Segoe UI"/>
              </a:rPr>
              <a:t>“Unit 47: bearing vibration rising for 6 days. Inspect within 2 weeks. Evidence: 3</a:t>
            </a:r>
            <a:r>
              <a:rPr sz="2200" b="0" i="0">
                <a:solidFill>
                  <a:srgbClr val="1C252B"/>
                </a:solidFill>
                <a:latin typeface="Cambria"/>
              </a:rPr>
              <a:t>×</a:t>
            </a:r>
            <a:r>
              <a:rPr sz="2200" b="0" i="1">
                <a:solidFill>
                  <a:srgbClr val="1C252B"/>
                </a:solidFill>
                <a:latin typeface="Segoe UI"/>
              </a:rPr>
              <a:t> normal variance since 14 July.”</a:t>
            </a:r>
            <a:r>
              <a:rPr sz="2200" b="0" i="0">
                <a:solidFill>
                  <a:srgbClr val="1C252B"/>
                </a:solidFill>
                <a:latin typeface="Segoe UI"/>
              </a:rPr>
              <a:t> Include the evidence, because a technician who can see why will tell you when the model is wrong — which is the feedback loop your monitoring depends on (Chapter 27).</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8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SEC">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SEC">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SEC" descr="shield-alt-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SEC"/>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Cybersecurity</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18997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Cybersecurity: Communicating Results</a:t>
            </a:r>
          </a:p>
        </p:txBody>
      </p:sp>
      <p:pic>
        <p:nvPicPr>
          <p:cNvPr id="3" name="!!kicker-icon" descr="compass-922B21.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922B21"/>
                </a:solidFill>
                <a:latin typeface="Segoe UI"/>
              </a:rPr>
              <a:t>FOUR LENSES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207     </a:t>
            </a:r>
            <a:fld id="{FBD166BE-E0BD-48FC-A193-236BFA4E0EF0}" type="slidenum">
              <a:rPr lang="en-GB" sz="1000">
                <a:solidFill>
                  <a:srgbClr val="8795A1"/>
                </a:solidFill>
                <a:latin typeface="Segoe UI"/>
              </a:rPr>
              <a:t>24</a:t>
            </a:fld>
          </a:p>
        </p:txBody>
      </p:sp>
      <p:sp>
        <p:nvSpPr>
          <p:cNvPr id="7" name="!!lens-SEC">
            <a:extLst>
              <a:ext uri="{C183D7F6-B498-43B3-948B-1728B52AA6E4}">
                <adec:decorative xmlns:adec="http://schemas.microsoft.com/office/drawing/2017/decorative" val="1"/>
              </a:ext>
            </a:extLst>
          </p:cNvPr>
          <p:cNvSpPr/>
          <p:nvPr/>
        </p:nvSpPr>
        <p:spPr>
          <a:xfrm>
            <a:off x="658368" y="1737360"/>
            <a:ext cx="8040319" cy="4572000"/>
          </a:xfrm>
          <a:prstGeom prst="roundRect">
            <a:avLst>
              <a:gd name="adj" fmla="val 2000"/>
            </a:avLst>
          </a:prstGeom>
          <a:solidFill>
            <a:srgbClr val="F8F2F2"/>
          </a:solidFill>
          <a:ln>
            <a:noFill/>
          </a:ln>
          <a:effectLst>
            <a:outerShdw blurRad="177800" dist="38100" dir="5400000" algn="t" rotWithShape="0">
              <a:srgbClr val="1C252B">
                <a:alpha val="14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lensh-SEC">
            <a:extLst>
              <a:ext uri="{C183D7F6-B498-43B3-948B-1728B52AA6E4}">
                <adec:decorative xmlns:adec="http://schemas.microsoft.com/office/drawing/2017/decorative" val="1"/>
              </a:ext>
            </a:extLst>
          </p:cNvPr>
          <p:cNvSpPr/>
          <p:nvPr/>
        </p:nvSpPr>
        <p:spPr>
          <a:xfrm>
            <a:off x="658368" y="1737360"/>
            <a:ext cx="8040319" cy="493776"/>
          </a:xfrm>
          <a:prstGeom prst="roundRect">
            <a:avLst>
              <a:gd name="adj" fmla="val 18518"/>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ensh2-SEC">
            <a:extLst>
              <a:ext uri="{C183D7F6-B498-43B3-948B-1728B52AA6E4}">
                <adec:decorative xmlns:adec="http://schemas.microsoft.com/office/drawing/2017/decorative" val="1"/>
              </a:ext>
            </a:extLst>
          </p:cNvPr>
          <p:cNvSpPr/>
          <p:nvPr/>
        </p:nvSpPr>
        <p:spPr>
          <a:xfrm>
            <a:off x="658368" y="2121408"/>
            <a:ext cx="8040319" cy="109728"/>
          </a:xfrm>
          <a:prstGeom prst="rect">
            <a:avLst/>
          </a:prstGeom>
          <a:solidFill>
            <a:srgbClr val="922B2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0" name="!!lensi-SEC" descr="shield-alt-FFFFFF.png">
            <a:extLst>
              <a:ext uri="{C183D7F6-B498-43B3-948B-1728B52AA6E4}">
                <adec:decorative xmlns:adec="http://schemas.microsoft.com/office/drawing/2017/decorative" val="1"/>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59536" y="1856231"/>
            <a:ext cx="256032" cy="256032"/>
          </a:xfrm>
          <a:prstGeom prst="rect">
            <a:avLst/>
          </a:prstGeom>
        </p:spPr>
      </p:pic>
      <p:sp>
        <p:nvSpPr>
          <p:cNvPr id="11" name="!!lensn-SEC"/>
          <p:cNvSpPr txBox="1"/>
          <p:nvPr/>
        </p:nvSpPr>
        <p:spPr>
          <a:xfrm>
            <a:off x="1261872" y="1837943"/>
            <a:ext cx="7345375" cy="292608"/>
          </a:xfrm>
          <a:prstGeom prst="rect">
            <a:avLst/>
          </a:prstGeom>
          <a:noFill/>
        </p:spPr>
        <p:txBody>
          <a:bodyPr wrap="none" anchor="t" lIns="0" rIns="0" tIns="0" bIns="0">
            <a:noAutofit/>
          </a:bodyPr>
          <a:lstStyle/>
          <a:p>
            <a:pPr algn="l">
              <a:lnSpc>
                <a:spcPct val="100000"/>
              </a:lnSpc>
              <a:spcBef>
                <a:spcPts val="0"/>
              </a:spcBef>
              <a:spcAft>
                <a:spcPts val="0"/>
              </a:spcAft>
            </a:pPr>
            <a:r>
              <a:rPr sz="1350" b="1" i="0" spc="100">
                <a:solidFill>
                  <a:srgbClr val="FFFFFF"/>
                </a:solidFill>
                <a:latin typeface="Segoe UI"/>
              </a:rPr>
              <a:t>CYBERSECURITY</a:t>
            </a:r>
          </a:p>
        </p:txBody>
      </p:sp>
      <p:sp>
        <p:nvSpPr>
          <p:cNvPr id="12" name="!!lensb-SEC-0"/>
          <p:cNvSpPr txBox="1"/>
          <p:nvPr/>
        </p:nvSpPr>
        <p:spPr>
          <a:xfrm>
            <a:off x="896112" y="2432304"/>
            <a:ext cx="7583119" cy="3183940"/>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Two audiences, both hard. The </a:t>
            </a:r>
            <a:r>
              <a:rPr sz="2200" b="0" i="1">
                <a:solidFill>
                  <a:srgbClr val="1C252B"/>
                </a:solidFill>
                <a:latin typeface="Segoe UI"/>
              </a:rPr>
              <a:t>analyst</a:t>
            </a:r>
            <a:r>
              <a:rPr sz="2200" b="0" i="0">
                <a:solidFill>
                  <a:srgbClr val="1C252B"/>
                </a:solidFill>
                <a:latin typeface="Segoe UI"/>
              </a:rPr>
              <a:t> needs context, evidence and a recommended action within seconds — alert fatigue is partly a communication design problem, not only a threshold problem (Chapter 26). The </a:t>
            </a:r>
            <a:r>
              <a:rPr sz="2200" b="0" i="1">
                <a:solidFill>
                  <a:srgbClr val="1C252B"/>
                </a:solidFill>
                <a:latin typeface="Segoe UI"/>
              </a:rPr>
              <a:t>board</a:t>
            </a:r>
            <a:r>
              <a:rPr sz="2200" b="0" i="0">
                <a:solidFill>
                  <a:srgbClr val="1C252B"/>
                </a:solidFill>
                <a:latin typeface="Segoe UI"/>
              </a:rPr>
              <a:t> needs the business case for work whose success is invisible; talk in terms of time to detect, coverage and risk reduction, never model accuracy. Both need to know what the system </a:t>
            </a:r>
            <a:r>
              <a:rPr sz="2200" b="0" i="1">
                <a:solidFill>
                  <a:srgbClr val="1C252B"/>
                </a:solidFill>
                <a:latin typeface="Segoe UI"/>
              </a:rPr>
              <a:t>cannot</a:t>
            </a:r>
            <a:r>
              <a:rPr sz="2200" b="0" i="0">
                <a:solidFill>
                  <a:srgbClr val="1C252B"/>
                </a:solidFill>
                <a:latin typeface="Segoe UI"/>
              </a:rPr>
              <a:t> see, because an unstated blind spot becomes an assumed capability.</a:t>
            </a:r>
          </a:p>
        </p:txBody>
      </p:sp>
      <p:sp>
        <p:nvSpPr>
          <p:cNvPr id="13" name="!!lens-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F6F3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ensh-LA">
            <a:extLst>
              <a:ext uri="{C183D7F6-B498-43B3-948B-1728B52AA6E4}">
                <adec:decorative xmlns:adec="http://schemas.microsoft.com/office/drawing/2017/decorative" val="1"/>
              </a:ext>
            </a:extLst>
          </p:cNvPr>
          <p:cNvSpPr/>
          <p:nvPr/>
        </p:nvSpPr>
        <p:spPr>
          <a:xfrm>
            <a:off x="8936431" y="1737360"/>
            <a:ext cx="2596896" cy="493776"/>
          </a:xfrm>
          <a:prstGeom prst="roundRect">
            <a:avLst>
              <a:gd name="adj" fmla="val 18518"/>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lensh2-LA">
            <a:extLst>
              <a:ext uri="{C183D7F6-B498-43B3-948B-1728B52AA6E4}">
                <adec:decorative xmlns:adec="http://schemas.microsoft.com/office/drawing/2017/decorative" val="1"/>
              </a:ext>
            </a:extLst>
          </p:cNvPr>
          <p:cNvSpPr/>
          <p:nvPr/>
        </p:nvSpPr>
        <p:spPr>
          <a:xfrm>
            <a:off x="8936431" y="2121408"/>
            <a:ext cx="2596896" cy="109728"/>
          </a:xfrm>
          <a:prstGeom prst="rect">
            <a:avLst/>
          </a:prstGeom>
          <a:solidFill>
            <a:srgbClr val="6C348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16" name="!!lensi-LA" descr="graduation-cap-FFFFFF.png">
            <a:extLst>
              <a:ext uri="{C183D7F6-B498-43B3-948B-1728B52AA6E4}">
                <adec:decorative xmlns:adec="http://schemas.microsoft.com/office/drawing/2017/decorative" val="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137599" y="1856231"/>
            <a:ext cx="419498" cy="256032"/>
          </a:xfrm>
          <a:prstGeom prst="rect">
            <a:avLst/>
          </a:prstGeom>
        </p:spPr>
      </p:pic>
      <p:sp>
        <p:nvSpPr>
          <p:cNvPr id="17" name="!!lensn-LA"/>
          <p:cNvSpPr txBox="1"/>
          <p:nvPr/>
        </p:nvSpPr>
        <p:spPr>
          <a:xfrm>
            <a:off x="9703401" y="1837943"/>
            <a:ext cx="1738485"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Learning Analytics</a:t>
            </a:r>
          </a:p>
        </p:txBody>
      </p:sp>
      <p:sp>
        <p:nvSpPr>
          <p:cNvPr id="18" name="!!lens-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9" name="!!lensh-PM">
            <a:extLst>
              <a:ext uri="{C183D7F6-B498-43B3-948B-1728B52AA6E4}">
                <adec:decorative xmlns:adec="http://schemas.microsoft.com/office/drawing/2017/decorative" val="1"/>
              </a:ext>
            </a:extLst>
          </p:cNvPr>
          <p:cNvSpPr/>
          <p:nvPr/>
        </p:nvSpPr>
        <p:spPr>
          <a:xfrm>
            <a:off x="8936431" y="2395728"/>
            <a:ext cx="2596896" cy="493776"/>
          </a:xfrm>
          <a:prstGeom prst="roundRect">
            <a:avLst>
              <a:gd name="adj" fmla="val 18518"/>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lensh2-PM">
            <a:extLst>
              <a:ext uri="{C183D7F6-B498-43B3-948B-1728B52AA6E4}">
                <adec:decorative xmlns:adec="http://schemas.microsoft.com/office/drawing/2017/decorative" val="1"/>
              </a:ext>
            </a:extLst>
          </p:cNvPr>
          <p:cNvSpPr/>
          <p:nvPr/>
        </p:nvSpPr>
        <p:spPr>
          <a:xfrm>
            <a:off x="8936431" y="2779776"/>
            <a:ext cx="2596896" cy="1097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1" name="!!lensi-PM" descr="tasks-FFFFFF.png">
            <a:extLst>
              <a:ext uri="{C183D7F6-B498-43B3-948B-1728B52AA6E4}">
                <adec:decorative xmlns:adec="http://schemas.microsoft.com/office/drawing/2017/decorative" val="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9137599" y="2514600"/>
            <a:ext cx="301783" cy="256032"/>
          </a:xfrm>
          <a:prstGeom prst="rect">
            <a:avLst/>
          </a:prstGeom>
        </p:spPr>
      </p:pic>
      <p:sp>
        <p:nvSpPr>
          <p:cNvPr id="22" name="!!lensn-PM"/>
          <p:cNvSpPr txBox="1"/>
          <p:nvPr/>
        </p:nvSpPr>
        <p:spPr>
          <a:xfrm>
            <a:off x="9585686" y="2496312"/>
            <a:ext cx="1856200"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Project Management</a:t>
            </a:r>
          </a:p>
        </p:txBody>
      </p:sp>
      <p:sp>
        <p:nvSpPr>
          <p:cNvPr id="23" name="!!lens-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F1F7F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4" name="!!lensh-IOT">
            <a:extLst>
              <a:ext uri="{C183D7F6-B498-43B3-948B-1728B52AA6E4}">
                <adec:decorative xmlns:adec="http://schemas.microsoft.com/office/drawing/2017/decorative" val="1"/>
              </a:ext>
            </a:extLst>
          </p:cNvPr>
          <p:cNvSpPr/>
          <p:nvPr/>
        </p:nvSpPr>
        <p:spPr>
          <a:xfrm>
            <a:off x="8936431" y="3054096"/>
            <a:ext cx="2596896" cy="493776"/>
          </a:xfrm>
          <a:prstGeom prst="roundRect">
            <a:avLst>
              <a:gd name="adj" fmla="val 18518"/>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lensh2-IOT">
            <a:extLst>
              <a:ext uri="{C183D7F6-B498-43B3-948B-1728B52AA6E4}">
                <adec:decorative xmlns:adec="http://schemas.microsoft.com/office/drawing/2017/decorative" val="1"/>
              </a:ext>
            </a:extLst>
          </p:cNvPr>
          <p:cNvSpPr/>
          <p:nvPr/>
        </p:nvSpPr>
        <p:spPr>
          <a:xfrm>
            <a:off x="8936431" y="3438144"/>
            <a:ext cx="2596896" cy="109728"/>
          </a:xfrm>
          <a:prstGeom prst="rect">
            <a:avLst/>
          </a:prstGeom>
          <a:solidFill>
            <a:srgbClr val="117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pic>
        <p:nvPicPr>
          <p:cNvPr id="26" name="!!lensi-IOT" descr="microchip-FFFFFF.png">
            <a:extLst>
              <a:ext uri="{C183D7F6-B498-43B3-948B-1728B52AA6E4}">
                <adec:decorative xmlns:adec="http://schemas.microsoft.com/office/drawing/2017/decorative" val="1"/>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9137599" y="3172968"/>
            <a:ext cx="256032" cy="256032"/>
          </a:xfrm>
          <a:prstGeom prst="rect">
            <a:avLst/>
          </a:prstGeom>
        </p:spPr>
      </p:pic>
      <p:sp>
        <p:nvSpPr>
          <p:cNvPr id="27" name="!!lensn-IOT"/>
          <p:cNvSpPr txBox="1"/>
          <p:nvPr/>
        </p:nvSpPr>
        <p:spPr>
          <a:xfrm>
            <a:off x="9539935" y="3154679"/>
            <a:ext cx="1901951" cy="292608"/>
          </a:xfrm>
          <a:prstGeom prst="rect">
            <a:avLst/>
          </a:prstGeom>
          <a:noFill/>
        </p:spPr>
        <p:txBody>
          <a:bodyPr wrap="none" anchor="t" lIns="0" rIns="0" tIns="0" bIns="0">
            <a:noAutofit/>
          </a:bodyPr>
          <a:lstStyle/>
          <a:p>
            <a:pPr algn="l">
              <a:lnSpc>
                <a:spcPct val="100000"/>
              </a:lnSpc>
              <a:spcBef>
                <a:spcPts val="0"/>
              </a:spcBef>
              <a:spcAft>
                <a:spcPts val="0"/>
              </a:spcAft>
            </a:pPr>
            <a:r>
              <a:rPr sz="1300" b="1" i="0">
                <a:solidFill>
                  <a:srgbClr val="FFFFFF"/>
                </a:solidFill>
                <a:latin typeface="Segoe UI"/>
              </a:rPr>
              <a:t>Internet of Things</a:t>
            </a:r>
          </a:p>
        </p:txBody>
      </p:sp>
      <p:sp>
        <p:nvSpPr>
          <p:cNvPr id="28"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9" name="!!pfill">
            <a:extLst>
              <a:ext uri="{C183D7F6-B498-43B3-948B-1728B52AA6E4}">
                <adec:decorative xmlns:adec="http://schemas.microsoft.com/office/drawing/2017/decorative" val="1"/>
              </a:ext>
            </a:extLst>
          </p:cNvPr>
          <p:cNvSpPr/>
          <p:nvPr/>
        </p:nvSpPr>
        <p:spPr>
          <a:xfrm>
            <a:off x="0" y="0"/>
            <a:ext cx="750258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700">
        <p159:morph option="byObject"/>
      </p:transition>
    </mc:Choice>
    <mc:Fallback>
      <p:transition spd="med">
        <p:fade/>
      </p:transition>
    </mc:Fallback>
  </mc:AlternateContent>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Try it yourself: Rewrite a Result for Three Audiences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§31.6  ·  Handout p. 205     </a:t>
            </a:r>
            <a:fld id="{A68BB708-5886-4B65-A04E-69B758796674}" type="slidenum">
              <a:rPr lang="en-GB" sz="1000">
                <a:solidFill>
                  <a:srgbClr val="8795A1"/>
                </a:solidFill>
                <a:latin typeface="Segoe UI"/>
              </a:rPr>
              <a:t>25</a:t>
            </a:fld>
          </a:p>
        </p:txBody>
      </p:sp>
      <p:sp>
        <p:nvSpPr>
          <p:cNvPr id="7" name="body-0"/>
          <p:cNvSpPr txBox="1"/>
          <p:nvPr/>
        </p:nvSpPr>
        <p:spPr>
          <a:xfrm>
            <a:off x="658368" y="1737360"/>
            <a:ext cx="10874959" cy="67970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Take one result from your own work — or use the one below — and write all three versions. The exercise is harder than it looks and is worth doing before any real presentation.</a:t>
            </a:r>
          </a:p>
        </p:txBody>
      </p:sp>
      <p:sp>
        <p:nvSpPr>
          <p:cNvPr id="8" name="!!lfTHIS">
            <a:extLst>
              <a:ext uri="{C183D7F6-B498-43B3-948B-1728B52AA6E4}">
                <adec:decorative xmlns:adec="http://schemas.microsoft.com/office/drawing/2017/decorative" val="1"/>
              </a:ext>
            </a:extLst>
          </p:cNvPr>
          <p:cNvSpPr/>
          <p:nvPr/>
        </p:nvSpPr>
        <p:spPr>
          <a:xfrm>
            <a:off x="658368" y="2682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lfbTHIS">
            <a:extLst>
              <a:ext uri="{C183D7F6-B498-43B3-948B-1728B52AA6E4}">
                <adec:decorative xmlns:adec="http://schemas.microsoft.com/office/drawing/2017/decorative" val="1"/>
              </a:ext>
            </a:extLst>
          </p:cNvPr>
          <p:cNvSpPr/>
          <p:nvPr/>
        </p:nvSpPr>
        <p:spPr>
          <a:xfrm>
            <a:off x="658368"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lflTHIS"/>
          <p:cNvSpPr txBox="1"/>
          <p:nvPr/>
        </p:nvSpPr>
        <p:spPr>
          <a:xfrm>
            <a:off x="932688" y="2846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THIS WEEK'S LAB</a:t>
            </a:r>
          </a:p>
        </p:txBody>
      </p:sp>
      <p:sp>
        <p:nvSpPr>
          <p:cNvPr id="11" name="!!lfvTHIS"/>
          <p:cNvSpPr txBox="1"/>
          <p:nvPr/>
        </p:nvSpPr>
        <p:spPr>
          <a:xfrm>
            <a:off x="932688" y="3139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Week 16: Monitored service; fairness measurement</a:t>
            </a:r>
          </a:p>
        </p:txBody>
      </p:sp>
      <p:sp>
        <p:nvSpPr>
          <p:cNvPr id="12" name="!!lfWHAT">
            <a:extLst>
              <a:ext uri="{C183D7F6-B498-43B3-948B-1728B52AA6E4}">
                <adec:decorative xmlns:adec="http://schemas.microsoft.com/office/drawing/2017/decorative" val="1"/>
              </a:ext>
            </a:extLst>
          </p:cNvPr>
          <p:cNvSpPr/>
          <p:nvPr/>
        </p:nvSpPr>
        <p:spPr>
          <a:xfrm>
            <a:off x="6233007" y="2682240"/>
            <a:ext cx="5300319" cy="1078992"/>
          </a:xfrm>
          <a:prstGeom prst="roundRect">
            <a:avLst>
              <a:gd name="adj" fmla="val 8474"/>
            </a:avLst>
          </a:prstGeom>
          <a:solidFill>
            <a:srgbClr val="EEF6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lfbWHAT">
            <a:extLst>
              <a:ext uri="{C183D7F6-B498-43B3-948B-1728B52AA6E4}">
                <adec:decorative xmlns:adec="http://schemas.microsoft.com/office/drawing/2017/decorative" val="1"/>
              </a:ext>
            </a:extLst>
          </p:cNvPr>
          <p:cNvSpPr/>
          <p:nvPr/>
        </p:nvSpPr>
        <p:spPr>
          <a:xfrm>
            <a:off x="6233007" y="2682240"/>
            <a:ext cx="64008" cy="1078992"/>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lflWHAT"/>
          <p:cNvSpPr txBox="1"/>
          <p:nvPr/>
        </p:nvSpPr>
        <p:spPr>
          <a:xfrm>
            <a:off x="6507327" y="2846832"/>
            <a:ext cx="488883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40">
                <a:solidFill>
                  <a:srgbClr val="0E6655"/>
                </a:solidFill>
                <a:latin typeface="Segoe UI"/>
              </a:rPr>
              <a:t>WHAT YOU WILL RUN</a:t>
            </a:r>
          </a:p>
        </p:txBody>
      </p:sp>
      <p:sp>
        <p:nvSpPr>
          <p:cNvPr id="15" name="!!lfvWHAT"/>
          <p:cNvSpPr txBox="1"/>
          <p:nvPr/>
        </p:nvSpPr>
        <p:spPr>
          <a:xfrm>
            <a:off x="6507327" y="3139440"/>
            <a:ext cx="4888839" cy="566928"/>
          </a:xfrm>
          <a:prstGeom prst="rect">
            <a:avLst/>
          </a:prstGeom>
          <a:noFill/>
        </p:spPr>
        <p:txBody>
          <a:bodyPr wrap="square" anchor="t" lIns="0" rIns="0" tIns="0" bIns="0">
            <a:noAutofit/>
          </a:bodyPr>
          <a:lstStyle/>
          <a:p>
            <a:pPr algn="l">
              <a:lnSpc>
                <a:spcPct val="100000"/>
              </a:lnSpc>
              <a:spcBef>
                <a:spcPts val="0"/>
              </a:spcBef>
              <a:spcAft>
                <a:spcPts val="0"/>
              </a:spcAft>
            </a:pPr>
            <a:r>
              <a:rPr sz="1800" b="0" i="0">
                <a:solidFill>
                  <a:srgbClr val="1C252B"/>
                </a:solidFill>
                <a:latin typeface="Segoe UI"/>
              </a:rPr>
              <a:t>1 listing, 27 lines of Text</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7815189"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Rewrite a Result for Three Audiences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1 OF 2</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§31.6  ·  Handout p. 205     </a:t>
            </a:r>
            <a:fld id="{FE1FCD50-2405-4548-82D8-7BA166EEEAE7}" type="slidenum">
              <a:rPr lang="en-GB" sz="1000">
                <a:solidFill>
                  <a:srgbClr val="8795A1"/>
                </a:solidFill>
                <a:latin typeface="Segoe UI"/>
              </a:rPr>
              <a:t>26</a:t>
            </a:fld>
          </a:p>
        </p:txBody>
      </p:sp>
      <p:sp>
        <p:nvSpPr>
          <p:cNvPr id="7" name="!!codehead"/>
          <p:cNvSpPr txBox="1"/>
          <p:nvPr/>
        </p:nvSpPr>
        <p:spPr>
          <a:xfrm>
            <a:off x="658368" y="1627631"/>
            <a:ext cx="10874959" cy="329184"/>
          </a:xfrm>
          <a:prstGeom prst="rect">
            <a:avLst/>
          </a:prstGeom>
          <a:noFill/>
        </p:spPr>
        <p:txBody>
          <a:bodyPr wrap="square" anchor="t" lIns="0" rIns="0" tIns="0" bIns="0">
            <a:noAutofit/>
          </a:bodyPr>
          <a:lstStyle/>
          <a:p>
            <a:pPr algn="l">
              <a:lnSpc>
                <a:spcPct val="100000"/>
              </a:lnSpc>
              <a:spcBef>
                <a:spcPts val="0"/>
              </a:spcBef>
              <a:spcAft>
                <a:spcPts val="0"/>
              </a:spcAft>
            </a:pPr>
            <a:r>
              <a:rPr sz="1900" b="1" i="0">
                <a:solidFill>
                  <a:srgbClr val="0E6655"/>
                </a:solidFill>
                <a:latin typeface="Segoe UI Semibold"/>
              </a:rPr>
              <a:t>Set-up</a:t>
            </a:r>
          </a:p>
        </p:txBody>
      </p:sp>
      <p:sp>
        <p:nvSpPr>
          <p:cNvPr id="8" name="!!code-bg">
            <a:extLst>
              <a:ext uri="{C183D7F6-B498-43B3-948B-1728B52AA6E4}">
                <adec:decorative xmlns:adec="http://schemas.microsoft.com/office/drawing/2017/decorative" val="1"/>
              </a:ext>
            </a:extLst>
          </p:cNvPr>
          <p:cNvSpPr/>
          <p:nvPr/>
        </p:nvSpPr>
        <p:spPr>
          <a:xfrm>
            <a:off x="658368" y="2084831"/>
            <a:ext cx="10874959" cy="4224528"/>
          </a:xfrm>
          <a:prstGeom prst="roundRect">
            <a:avLst>
              <a:gd name="adj" fmla="val 2164"/>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sep">
            <a:extLst>
              <a:ext uri="{C183D7F6-B498-43B3-948B-1728B52AA6E4}">
                <adec:decorative xmlns:adec="http://schemas.microsoft.com/office/drawing/2017/decorative" val="1"/>
              </a:ext>
            </a:extLst>
          </p:cNvPr>
          <p:cNvSpPr/>
          <p:nvPr/>
        </p:nvSpPr>
        <p:spPr>
          <a:xfrm>
            <a:off x="676656" y="24048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0">
            <a:extLst>
              <a:ext uri="{C183D7F6-B498-43B3-948B-1728B52AA6E4}">
                <adec:decorative xmlns:adec="http://schemas.microsoft.com/office/drawing/2017/decorative" val="1"/>
              </a:ext>
            </a:extLst>
          </p:cNvPr>
          <p:cNvSpPr/>
          <p:nvPr/>
        </p:nvSpPr>
        <p:spPr>
          <a:xfrm>
            <a:off x="859536" y="2199132"/>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1">
            <a:extLst>
              <a:ext uri="{C183D7F6-B498-43B3-948B-1728B52AA6E4}">
                <adec:decorative xmlns:adec="http://schemas.microsoft.com/office/drawing/2017/decorative" val="1"/>
              </a:ext>
            </a:extLst>
          </p:cNvPr>
          <p:cNvSpPr/>
          <p:nvPr/>
        </p:nvSpPr>
        <p:spPr>
          <a:xfrm>
            <a:off x="1042415" y="2199132"/>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dot2">
            <a:extLst>
              <a:ext uri="{C183D7F6-B498-43B3-948B-1728B52AA6E4}">
                <adec:decorative xmlns:adec="http://schemas.microsoft.com/office/drawing/2017/decorative" val="1"/>
              </a:ext>
            </a:extLst>
          </p:cNvPr>
          <p:cNvSpPr/>
          <p:nvPr/>
        </p:nvSpPr>
        <p:spPr>
          <a:xfrm>
            <a:off x="1225295" y="2199132"/>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code-label"/>
          <p:cNvSpPr txBox="1"/>
          <p:nvPr/>
        </p:nvSpPr>
        <p:spPr>
          <a:xfrm>
            <a:off x="1527048" y="21488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Text</a:t>
            </a:r>
          </a:p>
        </p:txBody>
      </p:sp>
      <p:sp>
        <p:nvSpPr>
          <p:cNvPr id="14" name="!!code-text" descr="RAW RESULT Gradient boosting, walk-forward CV (5 folds). PR-AUC 0.41 (+/- 0.04) vs 0.22 majority baseline. At threshold 0.18: recall 0.71, precision 0.23, flag rate 0.20. Subgroups: recall 0.73 (full-time), 0.64 (part-time). Gap 9pp. --- 1. TECHNICAL PEER (method + limits) ------------------------------ &quot;Walk-forward 5-fold CV on 2024-25 cohorts; PR-AUC 0.41 +/- 0.04 against a 0.22 majority baseline. Operating point chosen by cost ratio (FN:FP = 267:1), giving recall 0.71 at a 20% flag rate. Recall is 9pp lower for part-time students (n=88), which is within CV noise but is being monitored as a fairness risk. Features are strictly week-1-to-4; leakage review passed.&quot; --- 2. DECISION MAKER (action + cost + caveat) ----------------------- &quot;We can find about 7 in 10 students who will fail, by week 4, by contacting 1 in 5 of the cohort. The current rule finds fewer than half. A pilot needs 0.4 FTE of adviser time for one semester. One caveat you must plan around: about 2 of every 3 students we flag would have passed anyway, so this must be framed as an offer of support.&quot;"/>
          <p:cNvSpPr txBox="1"/>
          <p:nvPr/>
        </p:nvSpPr>
        <p:spPr>
          <a:xfrm>
            <a:off x="1362456" y="2523744"/>
            <a:ext cx="9987991" cy="3730752"/>
          </a:xfrm>
          <a:prstGeom prst="rect">
            <a:avLst/>
          </a:prstGeom>
          <a:noFill/>
        </p:spPr>
        <p:txBody>
          <a:bodyPr wrap="none" anchor="t" lIns="0" rIns="0" tIns="0" bIns="0">
            <a:noAutofit/>
          </a:bodyPr>
          <a:lstStyle/>
          <a:p>
            <a:pPr>
              <a:lnSpc>
                <a:spcPct val="100000"/>
              </a:lnSpc>
              <a:spcAft>
                <a:spcPts val="0"/>
              </a:spcAft>
            </a:pPr>
            <a:r>
              <a:rPr sz="1300" i="0">
                <a:solidFill>
                  <a:srgbClr val="E8EDF2"/>
                </a:solidFill>
                <a:latin typeface="Consolas"/>
              </a:rPr>
              <a:t>RAW RESULT</a:t>
            </a:r>
          </a:p>
          <a:p>
            <a:pPr>
              <a:lnSpc>
                <a:spcPct val="100000"/>
              </a:lnSpc>
              <a:spcAft>
                <a:spcPts val="0"/>
              </a:spcAft>
            </a:pPr>
            <a:r>
              <a:rPr sz="1300" i="0">
                <a:solidFill>
                  <a:srgbClr val="E8EDF2"/>
                </a:solidFill>
                <a:latin typeface="Consolas"/>
              </a:rPr>
              <a:t>  Gradient boosting, walk-forward CV (5 folds).</a:t>
            </a:r>
          </a:p>
          <a:p>
            <a:pPr>
              <a:lnSpc>
                <a:spcPct val="100000"/>
              </a:lnSpc>
              <a:spcAft>
                <a:spcPts val="0"/>
              </a:spcAft>
            </a:pPr>
            <a:r>
              <a:rPr sz="1300" i="0">
                <a:solidFill>
                  <a:srgbClr val="E8EDF2"/>
                </a:solidFill>
                <a:latin typeface="Consolas"/>
              </a:rPr>
              <a:t>  PR-AUC 0.41 (+/- 0.04) vs 0.22 majority baseline.</a:t>
            </a:r>
          </a:p>
          <a:p>
            <a:pPr>
              <a:lnSpc>
                <a:spcPct val="100000"/>
              </a:lnSpc>
              <a:spcAft>
                <a:spcPts val="0"/>
              </a:spcAft>
            </a:pPr>
            <a:r>
              <a:rPr sz="1300" i="0">
                <a:solidFill>
                  <a:srgbClr val="E8EDF2"/>
                </a:solidFill>
                <a:latin typeface="Consolas"/>
              </a:rPr>
              <a:t>  At threshold 0.18: recall 0.71, precision 0.23, flag rate 0.20.</a:t>
            </a:r>
          </a:p>
          <a:p>
            <a:pPr>
              <a:lnSpc>
                <a:spcPct val="100000"/>
              </a:lnSpc>
              <a:spcAft>
                <a:spcPts val="0"/>
              </a:spcAft>
            </a:pPr>
            <a:r>
              <a:rPr sz="1300" i="0">
                <a:solidFill>
                  <a:srgbClr val="E8EDF2"/>
                </a:solidFill>
                <a:latin typeface="Consolas"/>
              </a:rPr>
              <a:t>  Subgroups: recall 0.73 (full-time), 0.64 (part-time). Gap 9pp.</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--- 1. TECHNICAL PEER (method + limits) ------------------------------</a:t>
            </a:r>
          </a:p>
          <a:p>
            <a:pPr>
              <a:lnSpc>
                <a:spcPct val="100000"/>
              </a:lnSpc>
              <a:spcAft>
                <a:spcPts val="0"/>
              </a:spcAft>
            </a:pPr>
            <a:r>
              <a:rPr sz="1300" i="0">
                <a:solidFill>
                  <a:srgbClr val="E8EDF2"/>
                </a:solidFill>
                <a:latin typeface="Consolas"/>
              </a:rPr>
              <a:t>"Walk-forward 5-fold CV on 2024-25 cohorts; PR-AUC 0.41 +/- 0.04 against a</a:t>
            </a:r>
          </a:p>
          <a:p>
            <a:pPr>
              <a:lnSpc>
                <a:spcPct val="100000"/>
              </a:lnSpc>
              <a:spcAft>
                <a:spcPts val="0"/>
              </a:spcAft>
            </a:pPr>
            <a:r>
              <a:rPr sz="1300" i="0">
                <a:solidFill>
                  <a:srgbClr val="E8EDF2"/>
                </a:solidFill>
                <a:latin typeface="Consolas"/>
              </a:rPr>
              <a:t> 0.22 majority baseline. Operating point chosen by cost ratio (FN:FP = 267:1),</a:t>
            </a:r>
          </a:p>
          <a:p>
            <a:pPr>
              <a:lnSpc>
                <a:spcPct val="100000"/>
              </a:lnSpc>
              <a:spcAft>
                <a:spcPts val="0"/>
              </a:spcAft>
            </a:pPr>
            <a:r>
              <a:rPr sz="1300" i="0">
                <a:solidFill>
                  <a:srgbClr val="E8EDF2"/>
                </a:solidFill>
                <a:latin typeface="Consolas"/>
              </a:rPr>
              <a:t> giving recall 0.71 at a 20% flag rate. Recall is 9pp lower for part-time</a:t>
            </a:r>
          </a:p>
          <a:p>
            <a:pPr>
              <a:lnSpc>
                <a:spcPct val="100000"/>
              </a:lnSpc>
              <a:spcAft>
                <a:spcPts val="0"/>
              </a:spcAft>
            </a:pPr>
            <a:r>
              <a:rPr sz="1300" i="0">
                <a:solidFill>
                  <a:srgbClr val="E8EDF2"/>
                </a:solidFill>
                <a:latin typeface="Consolas"/>
              </a:rPr>
              <a:t> students (n=88), which is within CV noise but is being monitored as a</a:t>
            </a:r>
          </a:p>
          <a:p>
            <a:pPr>
              <a:lnSpc>
                <a:spcPct val="100000"/>
              </a:lnSpc>
              <a:spcAft>
                <a:spcPts val="0"/>
              </a:spcAft>
            </a:pPr>
            <a:r>
              <a:rPr sz="1300" i="0">
                <a:solidFill>
                  <a:srgbClr val="E8EDF2"/>
                </a:solidFill>
                <a:latin typeface="Consolas"/>
              </a:rPr>
              <a:t> fairness risk. Features are strictly week-1-to-4; leakage review passed."</a:t>
            </a:r>
          </a:p>
          <a:p>
            <a:pPr>
              <a:lnSpc>
                <a:spcPct val="100000"/>
              </a:lnSpc>
              <a:spcAft>
                <a:spcPts val="0"/>
              </a:spcAft>
            </a:pPr>
            <a:r>
              <a:rPr sz="1300">
                <a:latin typeface="Consolas"/>
              </a:rPr>
              <a:t> </a:t>
            </a:r>
          </a:p>
          <a:p>
            <a:pPr>
              <a:lnSpc>
                <a:spcPct val="100000"/>
              </a:lnSpc>
              <a:spcAft>
                <a:spcPts val="0"/>
              </a:spcAft>
            </a:pPr>
            <a:r>
              <a:rPr sz="1300" i="0">
                <a:solidFill>
                  <a:srgbClr val="E8EDF2"/>
                </a:solidFill>
                <a:latin typeface="Consolas"/>
              </a:rPr>
              <a:t>--- 2. DECISION MAKER (action + cost + caveat) -----------------------</a:t>
            </a:r>
          </a:p>
          <a:p>
            <a:pPr>
              <a:lnSpc>
                <a:spcPct val="100000"/>
              </a:lnSpc>
              <a:spcAft>
                <a:spcPts val="0"/>
              </a:spcAft>
            </a:pPr>
            <a:r>
              <a:rPr sz="1300" i="0">
                <a:solidFill>
                  <a:srgbClr val="E8EDF2"/>
                </a:solidFill>
                <a:latin typeface="Consolas"/>
              </a:rPr>
              <a:t>"We can find about 7 in 10 students who will fail, by week 4, by contacting</a:t>
            </a:r>
          </a:p>
          <a:p>
            <a:pPr>
              <a:lnSpc>
                <a:spcPct val="100000"/>
              </a:lnSpc>
              <a:spcAft>
                <a:spcPts val="0"/>
              </a:spcAft>
            </a:pPr>
            <a:r>
              <a:rPr sz="1300" i="0">
                <a:solidFill>
                  <a:srgbClr val="E8EDF2"/>
                </a:solidFill>
                <a:latin typeface="Consolas"/>
              </a:rPr>
              <a:t> 1 in 5 of the cohort. The current rule finds fewer than half. A pilot needs</a:t>
            </a:r>
          </a:p>
          <a:p>
            <a:pPr>
              <a:lnSpc>
                <a:spcPct val="100000"/>
              </a:lnSpc>
              <a:spcAft>
                <a:spcPts val="0"/>
              </a:spcAft>
            </a:pPr>
            <a:r>
              <a:rPr sz="1300" i="0">
                <a:solidFill>
                  <a:srgbClr val="E8EDF2"/>
                </a:solidFill>
                <a:latin typeface="Consolas"/>
              </a:rPr>
              <a:t> 0.4 FTE of adviser time for one semester.</a:t>
            </a:r>
          </a:p>
          <a:p>
            <a:pPr>
              <a:lnSpc>
                <a:spcPct val="100000"/>
              </a:lnSpc>
              <a:spcAft>
                <a:spcPts val="0"/>
              </a:spcAft>
            </a:pPr>
            <a:r>
              <a:rPr sz="1300" i="0">
                <a:solidFill>
                  <a:srgbClr val="E8EDF2"/>
                </a:solidFill>
                <a:latin typeface="Consolas"/>
              </a:rPr>
              <a:t> One caveat you must plan around: about 2 of every 3 students we flag would</a:t>
            </a:r>
          </a:p>
          <a:p>
            <a:pPr>
              <a:lnSpc>
                <a:spcPct val="100000"/>
              </a:lnSpc>
              <a:spcAft>
                <a:spcPts val="0"/>
              </a:spcAft>
            </a:pPr>
            <a:r>
              <a:rPr sz="1300" i="0">
                <a:solidFill>
                  <a:srgbClr val="E8EDF2"/>
                </a:solidFill>
                <a:latin typeface="Consolas"/>
              </a:rPr>
              <a:t> have passed anyway, so this must be framed as an offer of support."</a:t>
            </a:r>
          </a:p>
        </p:txBody>
      </p:sp>
      <p:sp>
        <p:nvSpPr>
          <p:cNvPr id="15" name="!!code-num"/>
          <p:cNvSpPr txBox="1"/>
          <p:nvPr/>
        </p:nvSpPr>
        <p:spPr>
          <a:xfrm>
            <a:off x="768096" y="2523744"/>
            <a:ext cx="393192" cy="3730752"/>
          </a:xfrm>
          <a:prstGeom prst="rect">
            <a:avLst/>
          </a:prstGeom>
          <a:noFill/>
        </p:spPr>
        <p:txBody>
          <a:bodyPr wrap="none" anchor="t" lIns="0" rIns="0" tIns="0" bIns="0">
            <a:noAutofit/>
          </a:bodyPr>
          <a:lstStyle/>
          <a:p>
            <a:pPr algn="r">
              <a:lnSpc>
                <a:spcPct val="100000"/>
              </a:lnSpc>
            </a:pPr>
            <a:r>
              <a:rPr sz="1300">
                <a:solidFill>
                  <a:srgbClr val="4F5D6A"/>
                </a:solidFill>
                <a:latin typeface="Consolas"/>
              </a:rPr>
              <a:t>1</a:t>
            </a:r>
          </a:p>
          <a:p>
            <a:pPr algn="r">
              <a:lnSpc>
                <a:spcPct val="100000"/>
              </a:lnSpc>
            </a:pPr>
            <a:r>
              <a:rPr sz="1300">
                <a:solidFill>
                  <a:srgbClr val="4F5D6A"/>
                </a:solidFill>
                <a:latin typeface="Consolas"/>
              </a:rPr>
              <a:t>2</a:t>
            </a:r>
          </a:p>
          <a:p>
            <a:pPr algn="r">
              <a:lnSpc>
                <a:spcPct val="100000"/>
              </a:lnSpc>
            </a:pPr>
            <a:r>
              <a:rPr sz="1300">
                <a:solidFill>
                  <a:srgbClr val="4F5D6A"/>
                </a:solidFill>
                <a:latin typeface="Consolas"/>
              </a:rPr>
              <a:t>3</a:t>
            </a:r>
          </a:p>
          <a:p>
            <a:pPr algn="r">
              <a:lnSpc>
                <a:spcPct val="100000"/>
              </a:lnSpc>
            </a:pPr>
            <a:r>
              <a:rPr sz="1300">
                <a:solidFill>
                  <a:srgbClr val="4F5D6A"/>
                </a:solidFill>
                <a:latin typeface="Consolas"/>
              </a:rPr>
              <a:t>4</a:t>
            </a:r>
          </a:p>
          <a:p>
            <a:pPr algn="r">
              <a:lnSpc>
                <a:spcPct val="100000"/>
              </a:lnSpc>
            </a:pPr>
            <a:r>
              <a:rPr sz="1300">
                <a:solidFill>
                  <a:srgbClr val="4F5D6A"/>
                </a:solidFill>
                <a:latin typeface="Consolas"/>
              </a:rPr>
              <a:t>5</a:t>
            </a:r>
          </a:p>
          <a:p>
            <a:pPr algn="r">
              <a:lnSpc>
                <a:spcPct val="100000"/>
              </a:lnSpc>
            </a:pPr>
            <a:r>
              <a:rPr sz="1300">
                <a:solidFill>
                  <a:srgbClr val="4F5D6A"/>
                </a:solidFill>
                <a:latin typeface="Consolas"/>
              </a:rPr>
              <a:t>6</a:t>
            </a:r>
          </a:p>
          <a:p>
            <a:pPr algn="r">
              <a:lnSpc>
                <a:spcPct val="100000"/>
              </a:lnSpc>
            </a:pPr>
            <a:r>
              <a:rPr sz="1300">
                <a:solidFill>
                  <a:srgbClr val="4F5D6A"/>
                </a:solidFill>
                <a:latin typeface="Consolas"/>
              </a:rPr>
              <a:t>7</a:t>
            </a:r>
          </a:p>
          <a:p>
            <a:pPr algn="r">
              <a:lnSpc>
                <a:spcPct val="100000"/>
              </a:lnSpc>
            </a:pPr>
            <a:r>
              <a:rPr sz="1300">
                <a:solidFill>
                  <a:srgbClr val="4F5D6A"/>
                </a:solidFill>
                <a:latin typeface="Consolas"/>
              </a:rPr>
              <a:t>8</a:t>
            </a:r>
          </a:p>
          <a:p>
            <a:pPr algn="r">
              <a:lnSpc>
                <a:spcPct val="100000"/>
              </a:lnSpc>
            </a:pPr>
            <a:r>
              <a:rPr sz="1300">
                <a:solidFill>
                  <a:srgbClr val="4F5D6A"/>
                </a:solidFill>
                <a:latin typeface="Consolas"/>
              </a:rPr>
              <a:t>9</a:t>
            </a:r>
          </a:p>
          <a:p>
            <a:pPr algn="r">
              <a:lnSpc>
                <a:spcPct val="100000"/>
              </a:lnSpc>
            </a:pPr>
            <a:r>
              <a:rPr sz="1300">
                <a:solidFill>
                  <a:srgbClr val="4F5D6A"/>
                </a:solidFill>
                <a:latin typeface="Consolas"/>
              </a:rPr>
              <a:t>10</a:t>
            </a:r>
          </a:p>
          <a:p>
            <a:pPr algn="r">
              <a:lnSpc>
                <a:spcPct val="100000"/>
              </a:lnSpc>
            </a:pPr>
            <a:r>
              <a:rPr sz="1300">
                <a:solidFill>
                  <a:srgbClr val="4F5D6A"/>
                </a:solidFill>
                <a:latin typeface="Consolas"/>
              </a:rPr>
              <a:t>11</a:t>
            </a:r>
          </a:p>
          <a:p>
            <a:pPr algn="r">
              <a:lnSpc>
                <a:spcPct val="100000"/>
              </a:lnSpc>
            </a:pPr>
            <a:r>
              <a:rPr sz="1300">
                <a:solidFill>
                  <a:srgbClr val="4F5D6A"/>
                </a:solidFill>
                <a:latin typeface="Consolas"/>
              </a:rPr>
              <a:t>12</a:t>
            </a:r>
          </a:p>
          <a:p>
            <a:pPr algn="r">
              <a:lnSpc>
                <a:spcPct val="100000"/>
              </a:lnSpc>
            </a:pPr>
            <a:r>
              <a:rPr sz="1300">
                <a:solidFill>
                  <a:srgbClr val="4F5D6A"/>
                </a:solidFill>
                <a:latin typeface="Consolas"/>
              </a:rPr>
              <a:t>13</a:t>
            </a:r>
          </a:p>
          <a:p>
            <a:pPr algn="r">
              <a:lnSpc>
                <a:spcPct val="100000"/>
              </a:lnSpc>
            </a:pPr>
            <a:r>
              <a:rPr sz="1300">
                <a:solidFill>
                  <a:srgbClr val="4F5D6A"/>
                </a:solidFill>
                <a:latin typeface="Consolas"/>
              </a:rPr>
              <a:t>14</a:t>
            </a:r>
          </a:p>
          <a:p>
            <a:pPr algn="r">
              <a:lnSpc>
                <a:spcPct val="100000"/>
              </a:lnSpc>
            </a:pPr>
            <a:r>
              <a:rPr sz="1300">
                <a:solidFill>
                  <a:srgbClr val="4F5D6A"/>
                </a:solidFill>
                <a:latin typeface="Consolas"/>
              </a:rPr>
              <a:t>15</a:t>
            </a:r>
          </a:p>
          <a:p>
            <a:pPr algn="r">
              <a:lnSpc>
                <a:spcPct val="100000"/>
              </a:lnSpc>
            </a:pPr>
            <a:r>
              <a:rPr sz="1300">
                <a:solidFill>
                  <a:srgbClr val="4F5D6A"/>
                </a:solidFill>
                <a:latin typeface="Consolas"/>
              </a:rPr>
              <a:t>16</a:t>
            </a:r>
          </a:p>
          <a:p>
            <a:pPr algn="r">
              <a:lnSpc>
                <a:spcPct val="100000"/>
              </a:lnSpc>
            </a:pPr>
            <a:r>
              <a:rPr sz="1300">
                <a:solidFill>
                  <a:srgbClr val="4F5D6A"/>
                </a:solidFill>
                <a:latin typeface="Consolas"/>
              </a:rPr>
              <a:t>17</a:t>
            </a:r>
          </a:p>
          <a:p>
            <a:pPr algn="r">
              <a:lnSpc>
                <a:spcPct val="100000"/>
              </a:lnSpc>
            </a:pPr>
            <a:r>
              <a:rPr sz="1300">
                <a:solidFill>
                  <a:srgbClr val="4F5D6A"/>
                </a:solidFill>
                <a:latin typeface="Consolas"/>
              </a:rPr>
              <a:t>18</a:t>
            </a:r>
          </a:p>
          <a:p>
            <a:pPr algn="r">
              <a:lnSpc>
                <a:spcPct val="100000"/>
              </a:lnSpc>
            </a:pPr>
            <a:r>
              <a:rPr sz="1300">
                <a:solidFill>
                  <a:srgbClr val="4F5D6A"/>
                </a:solidFill>
                <a:latin typeface="Consolas"/>
              </a:rPr>
              <a:t>19</a:t>
            </a:r>
          </a:p>
        </p:txBody>
      </p:sp>
      <p:sp>
        <p:nvSpPr>
          <p:cNvPr id="16"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pfill">
            <a:extLst>
              <a:ext uri="{C183D7F6-B498-43B3-948B-1728B52AA6E4}">
                <adec:decorative xmlns:adec="http://schemas.microsoft.com/office/drawing/2017/decorative" val="1"/>
              </a:ext>
            </a:extLst>
          </p:cNvPr>
          <p:cNvSpPr/>
          <p:nvPr/>
        </p:nvSpPr>
        <p:spPr>
          <a:xfrm>
            <a:off x="0" y="0"/>
            <a:ext cx="8127796"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600">
        <p:fade/>
      </p:transition>
    </mc:Choice>
    <mc:Fallback>
      <p:transition spd="med">
        <p:fade/>
      </p:transition>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2600" b="0">
                <a:solidFill>
                  <a:srgbClr val="1A5276"/>
                </a:solidFill>
                <a:latin typeface="Segoe UI Semibold"/>
              </a:rPr>
              <a:t>Rewrite a Result for Three Audiences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LAB  ·  STEP 2 OF 2</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§31.6  ·  Handout p. 205     </a:t>
            </a:r>
            <a:fld id="{5F223B48-6D1A-44FC-8B1F-3043F257E07A}" type="slidenum">
              <a:rPr lang="en-GB" sz="1000">
                <a:solidFill>
                  <a:srgbClr val="8795A1"/>
                </a:solidFill>
                <a:latin typeface="Segoe UI"/>
              </a:rPr>
              <a:t>27</a:t>
            </a:fld>
          </a:p>
        </p:txBody>
      </p:sp>
      <p:sp>
        <p:nvSpPr>
          <p:cNvPr id="7" name="!!code-bg">
            <a:extLst>
              <a:ext uri="{C183D7F6-B498-43B3-948B-1728B52AA6E4}">
                <adec:decorative xmlns:adec="http://schemas.microsoft.com/office/drawing/2017/decorative" val="1"/>
              </a:ext>
            </a:extLst>
          </p:cNvPr>
          <p:cNvSpPr/>
          <p:nvPr/>
        </p:nvSpPr>
        <p:spPr>
          <a:xfrm>
            <a:off x="658368" y="1627631"/>
            <a:ext cx="10874959" cy="2630424"/>
          </a:xfrm>
          <a:prstGeom prst="roundRect">
            <a:avLst>
              <a:gd name="adj" fmla="val 3476"/>
            </a:avLst>
          </a:prstGeom>
          <a:solidFill>
            <a:srgbClr val="1E28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ode-sep">
            <a:extLst>
              <a:ext uri="{C183D7F6-B498-43B3-948B-1728B52AA6E4}">
                <adec:decorative xmlns:adec="http://schemas.microsoft.com/office/drawing/2017/decorative" val="1"/>
              </a:ext>
            </a:extLst>
          </p:cNvPr>
          <p:cNvSpPr/>
          <p:nvPr/>
        </p:nvSpPr>
        <p:spPr>
          <a:xfrm>
            <a:off x="676656" y="1947672"/>
            <a:ext cx="10838383" cy="10972"/>
          </a:xfrm>
          <a:prstGeom prst="rect">
            <a:avLst/>
          </a:prstGeom>
          <a:solidFill>
            <a:srgbClr val="2834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ode-dot0">
            <a:extLst>
              <a:ext uri="{C183D7F6-B498-43B3-948B-1728B52AA6E4}">
                <adec:decorative xmlns:adec="http://schemas.microsoft.com/office/drawing/2017/decorative" val="1"/>
              </a:ext>
            </a:extLst>
          </p:cNvPr>
          <p:cNvSpPr/>
          <p:nvPr/>
        </p:nvSpPr>
        <p:spPr>
          <a:xfrm>
            <a:off x="859536" y="1741931"/>
            <a:ext cx="100584" cy="100584"/>
          </a:xfrm>
          <a:prstGeom prst="ellipse">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code-dot1">
            <a:extLst>
              <a:ext uri="{C183D7F6-B498-43B3-948B-1728B52AA6E4}">
                <adec:decorative xmlns:adec="http://schemas.microsoft.com/office/drawing/2017/decorative" val="1"/>
              </a:ext>
            </a:extLst>
          </p:cNvPr>
          <p:cNvSpPr/>
          <p:nvPr/>
        </p:nvSpPr>
        <p:spPr>
          <a:xfrm>
            <a:off x="1042415" y="1741931"/>
            <a:ext cx="100584" cy="100584"/>
          </a:xfrm>
          <a:prstGeom prst="ellipse">
            <a:avLst/>
          </a:prstGeom>
          <a:solidFill>
            <a:srgbClr val="F4D03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code-dot2">
            <a:extLst>
              <a:ext uri="{C183D7F6-B498-43B3-948B-1728B52AA6E4}">
                <adec:decorative xmlns:adec="http://schemas.microsoft.com/office/drawing/2017/decorative" val="1"/>
              </a:ext>
            </a:extLst>
          </p:cNvPr>
          <p:cNvSpPr/>
          <p:nvPr/>
        </p:nvSpPr>
        <p:spPr>
          <a:xfrm>
            <a:off x="1225295" y="1741931"/>
            <a:ext cx="100584" cy="100584"/>
          </a:xfrm>
          <a:prstGeom prst="ellipse">
            <a:avLst/>
          </a:prstGeom>
          <a:solidFill>
            <a:srgbClr val="58D68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ode-label"/>
          <p:cNvSpPr txBox="1"/>
          <p:nvPr/>
        </p:nvSpPr>
        <p:spPr>
          <a:xfrm>
            <a:off x="1527048" y="1691639"/>
            <a:ext cx="9777679" cy="219456"/>
          </a:xfrm>
          <a:prstGeom prst="rect">
            <a:avLst/>
          </a:prstGeom>
          <a:noFill/>
        </p:spPr>
        <p:txBody>
          <a:bodyPr wrap="square" anchor="t" lIns="0" rIns="0" tIns="0" bIns="0">
            <a:noAutofit/>
          </a:bodyPr>
          <a:lstStyle/>
          <a:p>
            <a:pPr algn="l">
              <a:lnSpc>
                <a:spcPct val="100000"/>
              </a:lnSpc>
              <a:spcBef>
                <a:spcPts val="0"/>
              </a:spcBef>
              <a:spcAft>
                <a:spcPts val="0"/>
              </a:spcAft>
            </a:pPr>
            <a:r>
              <a:rPr sz="1100" b="1" i="0">
                <a:solidFill>
                  <a:srgbClr val="9FB0BF"/>
                </a:solidFill>
                <a:latin typeface="Segoe UI"/>
              </a:rPr>
              <a:t>Text</a:t>
            </a:r>
          </a:p>
        </p:txBody>
      </p:sp>
      <p:sp>
        <p:nvSpPr>
          <p:cNvPr id="13" name="!!code-text" descr="--- 3. AFFECTED INDIVIDUAL (specific, actionable, non-stigmatising) --- &quot;We noticed you haven't submitted since week 2, and students in that position often find the module hard to catch up on. Would a 20-minute session with an adviser this week be useful? Submitting this week's exercise would also help.&quot; -- no score, no &quot;at risk&quot; label, no &quot;predicted to fail&quot;, and a concrete action the student can take."/>
          <p:cNvSpPr txBox="1"/>
          <p:nvPr/>
        </p:nvSpPr>
        <p:spPr>
          <a:xfrm>
            <a:off x="1362456" y="2066543"/>
            <a:ext cx="9987991" cy="2136648"/>
          </a:xfrm>
          <a:prstGeom prst="rect">
            <a:avLst/>
          </a:prstGeom>
          <a:noFill/>
        </p:spPr>
        <p:txBody>
          <a:bodyPr wrap="none" anchor="t" lIns="0" rIns="0" tIns="0" bIns="0">
            <a:noAutofit/>
          </a:bodyPr>
          <a:lstStyle/>
          <a:p>
            <a:pPr>
              <a:lnSpc>
                <a:spcPct val="100000"/>
              </a:lnSpc>
              <a:spcAft>
                <a:spcPts val="0"/>
              </a:spcAft>
            </a:pPr>
            <a:r>
              <a:rPr sz="1900" i="0">
                <a:solidFill>
                  <a:srgbClr val="E8EDF2"/>
                </a:solidFill>
                <a:latin typeface="Consolas"/>
              </a:rPr>
              <a:t>--- 3. AFFECTED INDIVIDUAL (specific, actionable, non-stigmatising) ---</a:t>
            </a:r>
          </a:p>
          <a:p>
            <a:pPr>
              <a:lnSpc>
                <a:spcPct val="100000"/>
              </a:lnSpc>
              <a:spcAft>
                <a:spcPts val="0"/>
              </a:spcAft>
            </a:pPr>
            <a:r>
              <a:rPr sz="1900" i="0">
                <a:solidFill>
                  <a:srgbClr val="E8EDF2"/>
                </a:solidFill>
                <a:latin typeface="Consolas"/>
              </a:rPr>
              <a:t>"We noticed you haven't submitted since week 2, and students in that</a:t>
            </a:r>
          </a:p>
          <a:p>
            <a:pPr>
              <a:lnSpc>
                <a:spcPct val="100000"/>
              </a:lnSpc>
              <a:spcAft>
                <a:spcPts val="0"/>
              </a:spcAft>
            </a:pPr>
            <a:r>
              <a:rPr sz="1900" i="0">
                <a:solidFill>
                  <a:srgbClr val="E8EDF2"/>
                </a:solidFill>
                <a:latin typeface="Consolas"/>
              </a:rPr>
              <a:t> position often find the module hard to catch up on. Would a 20-minute</a:t>
            </a:r>
          </a:p>
          <a:p>
            <a:pPr>
              <a:lnSpc>
                <a:spcPct val="100000"/>
              </a:lnSpc>
              <a:spcAft>
                <a:spcPts val="0"/>
              </a:spcAft>
            </a:pPr>
            <a:r>
              <a:rPr sz="1900" i="0">
                <a:solidFill>
                  <a:srgbClr val="E8EDF2"/>
                </a:solidFill>
                <a:latin typeface="Consolas"/>
              </a:rPr>
              <a:t> session with an adviser this week be useful? Submitting this week's</a:t>
            </a:r>
          </a:p>
          <a:p>
            <a:pPr>
              <a:lnSpc>
                <a:spcPct val="100000"/>
              </a:lnSpc>
              <a:spcAft>
                <a:spcPts val="0"/>
              </a:spcAft>
            </a:pPr>
            <a:r>
              <a:rPr sz="1900" i="0">
                <a:solidFill>
                  <a:srgbClr val="E8EDF2"/>
                </a:solidFill>
                <a:latin typeface="Consolas"/>
              </a:rPr>
              <a:t> exercise would also help."</a:t>
            </a:r>
          </a:p>
          <a:p>
            <a:pPr>
              <a:lnSpc>
                <a:spcPct val="100000"/>
              </a:lnSpc>
              <a:spcAft>
                <a:spcPts val="0"/>
              </a:spcAft>
            </a:pPr>
            <a:r>
              <a:rPr sz="1900" i="0">
                <a:solidFill>
                  <a:srgbClr val="E8EDF2"/>
                </a:solidFill>
                <a:latin typeface="Consolas"/>
              </a:rPr>
              <a:t>   -- no score, no "at risk" label, no "predicted to fail",</a:t>
            </a:r>
          </a:p>
          <a:p>
            <a:pPr>
              <a:lnSpc>
                <a:spcPct val="100000"/>
              </a:lnSpc>
              <a:spcAft>
                <a:spcPts val="0"/>
              </a:spcAft>
            </a:pPr>
            <a:r>
              <a:rPr sz="1900" i="0">
                <a:solidFill>
                  <a:srgbClr val="E8EDF2"/>
                </a:solidFill>
                <a:latin typeface="Consolas"/>
              </a:rPr>
              <a:t>      and a concrete action the student can take.</a:t>
            </a:r>
          </a:p>
        </p:txBody>
      </p:sp>
      <p:sp>
        <p:nvSpPr>
          <p:cNvPr id="14" name="!!code-num"/>
          <p:cNvSpPr txBox="1"/>
          <p:nvPr/>
        </p:nvSpPr>
        <p:spPr>
          <a:xfrm>
            <a:off x="768096" y="2066543"/>
            <a:ext cx="393192" cy="2136648"/>
          </a:xfrm>
          <a:prstGeom prst="rect">
            <a:avLst/>
          </a:prstGeom>
          <a:noFill/>
        </p:spPr>
        <p:txBody>
          <a:bodyPr wrap="none" anchor="t" lIns="0" rIns="0" tIns="0" bIns="0">
            <a:noAutofit/>
          </a:bodyPr>
          <a:lstStyle/>
          <a:p>
            <a:pPr algn="r">
              <a:lnSpc>
                <a:spcPct val="100000"/>
              </a:lnSpc>
            </a:pPr>
            <a:r>
              <a:rPr sz="1900">
                <a:solidFill>
                  <a:srgbClr val="4F5D6A"/>
                </a:solidFill>
                <a:latin typeface="Consolas"/>
              </a:rPr>
              <a:t>20</a:t>
            </a:r>
          </a:p>
          <a:p>
            <a:pPr algn="r">
              <a:lnSpc>
                <a:spcPct val="100000"/>
              </a:lnSpc>
            </a:pPr>
            <a:r>
              <a:rPr sz="1900">
                <a:solidFill>
                  <a:srgbClr val="4F5D6A"/>
                </a:solidFill>
                <a:latin typeface="Consolas"/>
              </a:rPr>
              <a:t>21</a:t>
            </a:r>
          </a:p>
          <a:p>
            <a:pPr algn="r">
              <a:lnSpc>
                <a:spcPct val="100000"/>
              </a:lnSpc>
            </a:pPr>
            <a:r>
              <a:rPr sz="1900">
                <a:solidFill>
                  <a:srgbClr val="4F5D6A"/>
                </a:solidFill>
                <a:latin typeface="Consolas"/>
              </a:rPr>
              <a:t>22</a:t>
            </a:r>
          </a:p>
          <a:p>
            <a:pPr algn="r">
              <a:lnSpc>
                <a:spcPct val="100000"/>
              </a:lnSpc>
            </a:pPr>
            <a:r>
              <a:rPr sz="1900">
                <a:solidFill>
                  <a:srgbClr val="4F5D6A"/>
                </a:solidFill>
                <a:latin typeface="Consolas"/>
              </a:rPr>
              <a:t>23</a:t>
            </a:r>
          </a:p>
          <a:p>
            <a:pPr algn="r">
              <a:lnSpc>
                <a:spcPct val="100000"/>
              </a:lnSpc>
            </a:pPr>
            <a:r>
              <a:rPr sz="1900">
                <a:solidFill>
                  <a:srgbClr val="4F5D6A"/>
                </a:solidFill>
                <a:latin typeface="Consolas"/>
              </a:rPr>
              <a:t>24</a:t>
            </a:r>
          </a:p>
          <a:p>
            <a:pPr algn="r">
              <a:lnSpc>
                <a:spcPct val="100000"/>
              </a:lnSpc>
            </a:pPr>
            <a:r>
              <a:rPr sz="1900">
                <a:solidFill>
                  <a:srgbClr val="4F5D6A"/>
                </a:solidFill>
                <a:latin typeface="Consolas"/>
              </a:rPr>
              <a:t>25</a:t>
            </a:r>
          </a:p>
          <a:p>
            <a:pPr algn="r">
              <a:lnSpc>
                <a:spcPct val="100000"/>
              </a:lnSpc>
            </a:pPr>
            <a:r>
              <a:rPr sz="1900">
                <a:solidFill>
                  <a:srgbClr val="4F5D6A"/>
                </a:solidFill>
                <a:latin typeface="Consolas"/>
              </a:rPr>
              <a:t>26</a:t>
            </a:r>
          </a:p>
        </p:txBody>
      </p:sp>
      <p:sp>
        <p:nvSpPr>
          <p:cNvPr id="15"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6" name="!!pfill">
            <a:extLst>
              <a:ext uri="{C183D7F6-B498-43B3-948B-1728B52AA6E4}">
                <adec:decorative xmlns:adec="http://schemas.microsoft.com/office/drawing/2017/decorative" val="1"/>
              </a:ext>
            </a:extLst>
          </p:cNvPr>
          <p:cNvSpPr/>
          <p:nvPr/>
        </p:nvSpPr>
        <p:spPr>
          <a:xfrm>
            <a:off x="0" y="0"/>
            <a:ext cx="844040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00">
        <p159:morph option="byObject"/>
      </p:transition>
    </mc:Choice>
    <mc:Fallback>
      <p:transition spd="med">
        <p:fade/>
      </p:transition>
    </mc:Fallback>
  </mc:AlternateContent>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the lab shows</a:t>
            </a:r>
          </a:p>
        </p:txBody>
      </p:sp>
      <p:pic>
        <p:nvPicPr>
          <p:cNvPr id="3" name="!!kicker-icon" descr="flask-117A65.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92583"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17A65"/>
                </a:solidFill>
                <a:latin typeface="Segoe UI"/>
              </a:rPr>
              <a:t>TRY IT YOURSELF</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§31.6  ·  Handout p. 205     </a:t>
            </a:r>
            <a:fld id="{F4CEED4C-ED2A-4966-924A-9195CFE1E47B}" type="slidenum">
              <a:rPr lang="en-GB" sz="1000">
                <a:solidFill>
                  <a:srgbClr val="8795A1"/>
                </a:solidFill>
                <a:latin typeface="Segoe UI"/>
              </a:rPr>
              <a:t>28</a:t>
            </a:fld>
          </a:p>
        </p:txBody>
      </p:sp>
      <p:sp>
        <p:nvSpPr>
          <p:cNvPr id="7" name="!!card">
            <a:extLst>
              <a:ext uri="{C183D7F6-B498-43B3-948B-1728B52AA6E4}">
                <adec:decorative xmlns:adec="http://schemas.microsoft.com/office/drawing/2017/decorative" val="1"/>
              </a:ext>
            </a:extLst>
          </p:cNvPr>
          <p:cNvSpPr/>
          <p:nvPr/>
        </p:nvSpPr>
        <p:spPr>
          <a:xfrm>
            <a:off x="658368" y="1737360"/>
            <a:ext cx="10874959" cy="1350873"/>
          </a:xfrm>
          <a:prstGeom prst="roundRect">
            <a:avLst>
              <a:gd name="adj" fmla="val 6768"/>
            </a:avLst>
          </a:prstGeom>
          <a:solidFill>
            <a:srgbClr val="EEF6F4"/>
          </a:solidFill>
          <a:ln>
            <a:noFill/>
          </a:ln>
          <a:effectLst>
            <a:outerShdw blurRad="127000" dist="25400" dir="5400000" algn="t" rotWithShape="0">
              <a:srgbClr val="1C252B">
                <a:alpha val="10000"/>
              </a:srgbClr>
            </a:outerShdw>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cardrule">
            <a:extLst>
              <a:ext uri="{C183D7F6-B498-43B3-948B-1728B52AA6E4}">
                <adec:decorative xmlns:adec="http://schemas.microsoft.com/office/drawing/2017/decorative" val="1"/>
              </a:ext>
            </a:extLst>
          </p:cNvPr>
          <p:cNvSpPr/>
          <p:nvPr/>
        </p:nvSpPr>
        <p:spPr>
          <a:xfrm>
            <a:off x="658368" y="1737360"/>
            <a:ext cx="82296" cy="1350873"/>
          </a:xfrm>
          <a:prstGeom prst="rect">
            <a:avLst/>
          </a:prstGeom>
          <a:solidFill>
            <a:srgbClr val="117A6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body-0"/>
          <p:cNvSpPr txBox="1"/>
          <p:nvPr/>
        </p:nvSpPr>
        <p:spPr>
          <a:xfrm>
            <a:off x="1060704" y="2048255"/>
            <a:ext cx="10161727" cy="774801"/>
          </a:xfrm>
          <a:prstGeom prst="rect">
            <a:avLst/>
          </a:prstGeom>
          <a:noFill/>
        </p:spPr>
        <p:txBody>
          <a:bodyPr wrap="square" anchor="t" lIns="0" rIns="0" tIns="0" bIns="0">
            <a:noAutofit/>
          </a:bodyPr>
          <a:lstStyle/>
          <a:p>
            <a:pPr algn="l">
              <a:lnSpc>
                <a:spcPct val="104000"/>
              </a:lnSpc>
              <a:spcBef>
                <a:spcPts val="0"/>
              </a:spcBef>
              <a:spcAft>
                <a:spcPts val="0"/>
              </a:spcAft>
            </a:pPr>
            <a:r>
              <a:rPr sz="2300" b="1" i="0">
                <a:solidFill>
                  <a:srgbClr val="0E6655"/>
                </a:solidFill>
                <a:latin typeface="Segoe UI"/>
              </a:rPr>
              <a:t>Check yourself:</a:t>
            </a:r>
            <a:r>
              <a:rPr sz="2300" b="0" i="0">
                <a:solidFill>
                  <a:srgbClr val="1C252B"/>
                </a:solidFill>
                <a:latin typeface="Segoe UI"/>
              </a:rPr>
              <a:t> version 3 contains no number at all, and is the version that most affects an outcome.</a:t>
            </a:r>
          </a:p>
        </p:txBody>
      </p:sp>
      <p:sp>
        <p:nvSpPr>
          <p:cNvPr id="1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pfill">
            <a:extLst>
              <a:ext uri="{C183D7F6-B498-43B3-948B-1728B52AA6E4}">
                <adec:decorative xmlns:adec="http://schemas.microsoft.com/office/drawing/2017/decorative" val="1"/>
              </a:ext>
            </a:extLst>
          </p:cNvPr>
          <p:cNvSpPr/>
          <p:nvPr/>
        </p:nvSpPr>
        <p:spPr>
          <a:xfrm>
            <a:off x="0" y="0"/>
            <a:ext cx="8753011"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Rewrite “the model achieves 82% precision” as a natural-frequency statement.</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1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31  ·  Communicating Data Science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207  ·  answers in Appendix D     </a:t>
            </a:r>
            <a:fld id="{2ED29DCE-E8FE-44BF-B5C9-CCC631B254D5}" type="slidenum">
              <a:rPr lang="en-GB" sz="1000">
                <a:solidFill>
                  <a:srgbClr val="D5DEE5"/>
                </a:solidFill>
                <a:latin typeface="Segoe UI"/>
              </a:rPr>
              <a:t>29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Rewrite “the model achieves 82% precision” as a natural-frequency statement.</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1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348691"/>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394411"/>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“Of every 100 cases we flag, about 82 are genuine.”</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207  ·  answers in Appendix D     </a:t>
            </a:r>
            <a:fld id="{33056B38-96B5-498A-9D20-3600C239E359}" type="slidenum">
              <a:rPr lang="en-GB" sz="1000">
                <a:solidFill>
                  <a:srgbClr val="8795A1"/>
                </a:solidFill>
                <a:latin typeface="Segoe UI"/>
              </a:rPr>
              <a:t>30</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937822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Your dashboard has 22 charts. What single question decides which ones stay?</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2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31  ·  Communicating Data Science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207  ·  answers in Appendix D     </a:t>
            </a:r>
            <a:fld id="{970CA070-C472-4A8E-B02D-8D210D624E57}" type="slidenum">
              <a:rPr lang="en-GB" sz="1000">
                <a:solidFill>
                  <a:srgbClr val="D5DEE5"/>
                </a:solidFill>
                <a:latin typeface="Segoe UI"/>
              </a:rPr>
              <a:t>31</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Your dashboard has 22 charts. What single question decides which ones stay?</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2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697382"/>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743102"/>
          </a:xfrm>
          <a:prstGeom prst="rect">
            <a:avLst/>
          </a:prstGeom>
          <a:noFill/>
        </p:spPr>
        <p:txBody>
          <a:bodyPr wrap="square" anchor="t" lIns="0" rIns="0" tIns="0" bIns="0">
            <a:noAutofit/>
          </a:bodyPr>
          <a:lstStyle/>
          <a:p>
            <a:pPr algn="l">
              <a:lnSpc>
                <a:spcPct val="104000"/>
              </a:lnSpc>
              <a:spcBef>
                <a:spcPts val="0"/>
              </a:spcBef>
              <a:spcAft>
                <a:spcPts val="0"/>
              </a:spcAft>
            </a:pPr>
            <a:r>
              <a:rPr sz="2200" b="0" i="1">
                <a:solidFill>
                  <a:srgbClr val="1C252B"/>
                </a:solidFill>
                <a:latin typeface="Segoe UI"/>
              </a:rPr>
              <a:t>Which decision does this chart change, and who makes it?</a:t>
            </a:r>
            <a:r>
              <a:rPr sz="2200" b="0" i="0">
                <a:solidFill>
                  <a:srgbClr val="1C252B"/>
                </a:solidFill>
                <a:latin typeface="Segoe UI"/>
              </a:rPr>
              <a:t> Anything that cannot change an action comes out.</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207  ·  answers in Appendix D     </a:t>
            </a:r>
            <a:fld id="{E455F798-6199-426D-8936-F01EFBD667B3}" type="slidenum">
              <a:rPr lang="en-GB" sz="1000">
                <a:solidFill>
                  <a:srgbClr val="8795A1"/>
                </a:solidFill>
                <a:latin typeface="Segoe UI"/>
              </a:rPr>
              <a:t>32</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00344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236694"/>
        </a:solidFill>
        <a:effectLst/>
      </p:bgPr>
    </p:bg>
    <p:spTree>
      <p:nvGrpSpPr>
        <p:cNvPr id="1" name=""/>
        <p:cNvGrpSpPr/>
        <p:nvPr/>
      </p:nvGrpSpPr>
      <p:grpSpPr/>
      <p:sp>
        <p:nvSpPr>
          <p:cNvPr id="2" name="!!q"/>
          <p:cNvSpPr>
            <a:spLocks noGrp="1"/>
          </p:cNvSpPr>
          <p:nvPr>
            <p:ph type="title"/>
          </p:nvPr>
        </p:nvSpPr>
        <p:spPr>
          <a:xfrm>
            <a:off x="658368" y="2011680"/>
            <a:ext cx="10874959" cy="3017520"/>
          </a:xfrm>
        </p:spPr>
        <p:txBody>
          <a:bodyPr wrap="square" lIns="0" rIns="0" tIns="0" bIns="0" anchor="t">
            <a:noAutofit/>
          </a:bodyPr>
          <a:lstStyle/>
          <a:p>
            <a:pPr algn="l">
              <a:lnSpc>
                <a:spcPct val="96000"/>
              </a:lnSpc>
            </a:pPr>
            <a:r>
              <a:rPr sz="3400" b="0" i="0">
                <a:solidFill>
                  <a:srgbClr val="FFFFFF"/>
                </a:solidFill>
                <a:latin typeface="Segoe UI Semibold"/>
              </a:rPr>
              <a:t>Why should a report state the model’s failure modes even when nobody asked?</a:t>
            </a:r>
          </a:p>
        </p:txBody>
      </p:sp>
      <p:pic>
        <p:nvPicPr>
          <p:cNvPr id="3" name="!!qicon" descr="question-circle-FFFFFF.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1298448"/>
            <a:ext cx="396772" cy="384048"/>
          </a:xfrm>
          <a:prstGeom prst="rect">
            <a:avLst/>
          </a:prstGeom>
        </p:spPr>
      </p:pic>
      <p:sp>
        <p:nvSpPr>
          <p:cNvPr id="4" name="!!qlab"/>
          <p:cNvSpPr txBox="1"/>
          <p:nvPr/>
        </p:nvSpPr>
        <p:spPr>
          <a:xfrm>
            <a:off x="1225295" y="1344168"/>
            <a:ext cx="7315200" cy="310896"/>
          </a:xfrm>
          <a:prstGeom prst="rect">
            <a:avLst/>
          </a:prstGeom>
          <a:noFill/>
        </p:spPr>
        <p:txBody>
          <a:bodyPr wrap="square" anchor="t" lIns="0" rIns="0" tIns="0" bIns="0">
            <a:noAutofit/>
          </a:bodyPr>
          <a:lstStyle/>
          <a:p>
            <a:pPr algn="l">
              <a:lnSpc>
                <a:spcPct val="100000"/>
              </a:lnSpc>
              <a:spcBef>
                <a:spcPts val="0"/>
              </a:spcBef>
              <a:spcAft>
                <a:spcPts val="0"/>
              </a:spcAft>
            </a:pPr>
            <a:r>
              <a:rPr sz="1400" b="1" i="0" spc="200">
                <a:solidFill>
                  <a:srgbClr val="BDD1DF"/>
                </a:solidFill>
                <a:latin typeface="Segoe UI"/>
              </a:rPr>
              <a:t>CHECKPOINT  3 OF 3</a:t>
            </a:r>
          </a:p>
        </p:txBody>
      </p:sp>
      <p:sp>
        <p:nvSpPr>
          <p:cNvPr id="5" name="!!qhint"/>
          <p:cNvSpPr txBox="1"/>
          <p:nvPr/>
        </p:nvSpPr>
        <p:spPr>
          <a:xfrm>
            <a:off x="658368" y="5760720"/>
            <a:ext cx="10874959" cy="310896"/>
          </a:xfrm>
          <a:prstGeom prst="rect">
            <a:avLst/>
          </a:prstGeom>
          <a:noFill/>
        </p:spPr>
        <p:txBody>
          <a:bodyPr wrap="square" anchor="t" lIns="0" rIns="0" tIns="0" bIns="0">
            <a:noAutofit/>
          </a:bodyPr>
          <a:lstStyle/>
          <a:p>
            <a:pPr algn="l">
              <a:lnSpc>
                <a:spcPct val="100000"/>
              </a:lnSpc>
              <a:spcBef>
                <a:spcPts val="0"/>
              </a:spcBef>
              <a:spcAft>
                <a:spcPts val="0"/>
              </a:spcAft>
            </a:pPr>
            <a:r>
              <a:rPr sz="1400" b="0" i="1">
                <a:solidFill>
                  <a:srgbClr val="9CBACF"/>
                </a:solidFill>
                <a:latin typeface="Segoe UI"/>
              </a:rPr>
              <a:t>Discuss with the person next to you, then advance.</a:t>
            </a:r>
          </a:p>
        </p:txBody>
      </p:sp>
      <p:sp>
        <p:nvSpPr>
          <p:cNvPr id="6"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31  ·  Communicating Data Science</a:t>
            </a:r>
          </a:p>
        </p:txBody>
      </p:sp>
      <p:sp>
        <p:nvSpPr>
          <p:cNvPr id="7"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B9C6D0"/>
                </a:solidFill>
                <a:latin typeface="Segoe UI"/>
              </a:rPr>
              <a:t>Handout p. 207  ·  answers in Appendix D     </a:t>
            </a:r>
            <a:fld id="{42F49CCF-E7C8-4A2E-8496-785C7B0B5AE6}" type="slidenum">
              <a:rPr lang="en-GB" sz="1000">
                <a:solidFill>
                  <a:srgbClr val="D5DEE5"/>
                </a:solidFill>
                <a:latin typeface="Segoe UI"/>
              </a:rPr>
              <a:t>33</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q"/>
          <p:cNvSpPr>
            <a:spLocks noGrp="1"/>
          </p:cNvSpPr>
          <p:nvPr>
            <p:ph type="title"/>
          </p:nvPr>
        </p:nvSpPr>
        <p:spPr>
          <a:xfrm>
            <a:off x="658368" y="676656"/>
            <a:ext cx="10874959" cy="747979"/>
          </a:xfrm>
        </p:spPr>
        <p:txBody>
          <a:bodyPr wrap="square" lIns="0" rIns="0" tIns="0" bIns="0" anchor="t">
            <a:noAutofit/>
          </a:bodyPr>
          <a:lstStyle/>
          <a:p>
            <a:pPr algn="l">
              <a:lnSpc>
                <a:spcPct val="96000"/>
              </a:lnSpc>
            </a:pPr>
            <a:r>
              <a:rPr sz="2400" b="0" i="0">
                <a:solidFill>
                  <a:srgbClr val="1A5276"/>
                </a:solidFill>
                <a:latin typeface="Segoe UI Semibold"/>
              </a:rPr>
              <a:t>Why should a report state the model’s failure modes even when nobody asked?</a:t>
            </a:r>
          </a:p>
        </p:txBody>
      </p:sp>
      <p:pic>
        <p:nvPicPr>
          <p:cNvPr id="3" name="!!kicker-icon" descr="check-256B9A.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90630"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256B9A"/>
                </a:solidFill>
                <a:latin typeface="Segoe UI"/>
              </a:rPr>
              <a:t>CHECKPOINT 3 OF 3  ·  ANSWER</a:t>
            </a:r>
          </a:p>
        </p:txBody>
      </p:sp>
      <p:sp>
        <p:nvSpPr>
          <p:cNvPr id="5" name="!!abar">
            <a:extLst>
              <a:ext uri="{C183D7F6-B498-43B3-948B-1728B52AA6E4}">
                <adec:decorative xmlns:adec="http://schemas.microsoft.com/office/drawing/2017/decorative" val="1"/>
              </a:ext>
            </a:extLst>
          </p:cNvPr>
          <p:cNvSpPr/>
          <p:nvPr/>
        </p:nvSpPr>
        <p:spPr>
          <a:xfrm>
            <a:off x="658368" y="1762963"/>
            <a:ext cx="64008" cy="1046073"/>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ans-0"/>
          <p:cNvSpPr txBox="1"/>
          <p:nvPr/>
        </p:nvSpPr>
        <p:spPr>
          <a:xfrm>
            <a:off x="987552" y="1762963"/>
            <a:ext cx="10509199" cy="1091793"/>
          </a:xfrm>
          <a:prstGeom prst="rect">
            <a:avLst/>
          </a:prstGeom>
          <a:noFill/>
        </p:spPr>
        <p:txBody>
          <a:bodyPr wrap="square" anchor="t" lIns="0" rIns="0" tIns="0" bIns="0">
            <a:noAutofit/>
          </a:bodyPr>
          <a:lstStyle/>
          <a:p>
            <a:pPr algn="l">
              <a:lnSpc>
                <a:spcPct val="104000"/>
              </a:lnSpc>
              <a:spcBef>
                <a:spcPts val="0"/>
              </a:spcBef>
              <a:spcAft>
                <a:spcPts val="0"/>
              </a:spcAft>
            </a:pPr>
            <a:r>
              <a:rPr sz="2200" b="0" i="0">
                <a:solidFill>
                  <a:srgbClr val="1C252B"/>
                </a:solidFill>
                <a:latin typeface="Segoe UI"/>
              </a:rPr>
              <a:t>Because an unstated limitation becomes an assumed capability. The reader will rely on the system in situations you know it cannot handle, and will discover the gap in production — with less context, less goodwill, and possibly someone harmed.</a:t>
            </a:r>
          </a:p>
        </p:txBody>
      </p:sp>
      <p:sp>
        <p:nvSpPr>
          <p:cNvPr id="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8"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207  ·  answers in Appendix D     </a:t>
            </a:r>
            <a:fld id="{E1A7C9B0-5B83-472C-B696-7C896FB1F72C}" type="slidenum">
              <a:rPr lang="en-GB" sz="1000">
                <a:solidFill>
                  <a:srgbClr val="8795A1"/>
                </a:solidFill>
                <a:latin typeface="Segoe UI"/>
              </a:rPr>
              <a:t>34</a:t>
            </a:fld>
          </a:p>
        </p:txBody>
      </p:sp>
      <p:sp>
        <p:nvSpPr>
          <p:cNvPr id="9"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pfill">
            <a:extLst>
              <a:ext uri="{C183D7F6-B498-43B3-948B-1728B52AA6E4}">
                <adec:decorative xmlns:adec="http://schemas.microsoft.com/office/drawing/2017/decorative" val="1"/>
              </a:ext>
            </a:extLst>
          </p:cNvPr>
          <p:cNvSpPr/>
          <p:nvPr/>
        </p:nvSpPr>
        <p:spPr>
          <a:xfrm>
            <a:off x="0" y="0"/>
            <a:ext cx="1062865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xmlns:p159="http://schemas.microsoft.com/office/powerpoint/2015/09/main" Requires="p159">
      <p:transition spd="slow" p14:dur="650">
        <p159:morph option="byObject"/>
      </p:transition>
    </mc:Choice>
    <mc:Fallback>
      <p:transition spd="med">
        <p:fade/>
      </p:transition>
    </mc:Fallback>
  </mc:AlternateContent>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What to take away</a:t>
            </a:r>
          </a:p>
        </p:txBody>
      </p:sp>
      <p:pic>
        <p:nvPicPr>
          <p:cNvPr id="3" name="!!kicker-icon" descr="clipboard-check-15425E.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166837"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5425E"/>
                </a:solidFill>
                <a:latin typeface="Segoe UI"/>
              </a:rPr>
              <a:t>CHAPTER SUMMARY</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207     </a:t>
            </a:r>
            <a:fld id="{98A997B5-FBE7-42E9-91D5-BD19AB26E52D}" type="slidenum">
              <a:rPr lang="en-GB" sz="1000">
                <a:solidFill>
                  <a:srgbClr val="8795A1"/>
                </a:solidFill>
                <a:latin typeface="Segoe UI"/>
              </a:rPr>
              <a:t>35</a:t>
            </a:fld>
          </a:p>
        </p:txBody>
      </p:sp>
      <p:sp>
        <p:nvSpPr>
          <p:cNvPr id="7" name="!!sb0">
            <a:extLst>
              <a:ext uri="{C183D7F6-B498-43B3-948B-1728B52AA6E4}">
                <adec:decorative xmlns:adec="http://schemas.microsoft.com/office/drawing/2017/decorative" val="1"/>
              </a:ext>
            </a:extLst>
          </p:cNvPr>
          <p:cNvSpPr/>
          <p:nvPr/>
        </p:nvSpPr>
        <p:spPr>
          <a:xfrm>
            <a:off x="658368" y="1746504"/>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sbn0"/>
          <p:cNvSpPr txBox="1"/>
          <p:nvPr/>
        </p:nvSpPr>
        <p:spPr>
          <a:xfrm>
            <a:off x="658368" y="1801368"/>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1</a:t>
            </a:r>
          </a:p>
        </p:txBody>
      </p:sp>
      <p:sp>
        <p:nvSpPr>
          <p:cNvPr id="9" name="!!st0"/>
          <p:cNvSpPr txBox="1"/>
          <p:nvPr/>
        </p:nvSpPr>
        <p:spPr>
          <a:xfrm>
            <a:off x="1298448" y="1737360"/>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An analysis nobody acts on has produced nothing; communication is the step that converts work into value.</a:t>
            </a:r>
          </a:p>
        </p:txBody>
      </p:sp>
      <p:sp>
        <p:nvSpPr>
          <p:cNvPr id="10" name="!!sb1">
            <a:extLst>
              <a:ext uri="{C183D7F6-B498-43B3-948B-1728B52AA6E4}">
                <adec:decorative xmlns:adec="http://schemas.microsoft.com/office/drawing/2017/decorative" val="1"/>
              </a:ext>
            </a:extLst>
          </p:cNvPr>
          <p:cNvSpPr/>
          <p:nvPr/>
        </p:nvSpPr>
        <p:spPr>
          <a:xfrm>
            <a:off x="658368" y="256336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sbn1"/>
          <p:cNvSpPr txBox="1"/>
          <p:nvPr/>
        </p:nvSpPr>
        <p:spPr>
          <a:xfrm>
            <a:off x="658368" y="2618231"/>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2</a:t>
            </a:r>
          </a:p>
        </p:txBody>
      </p:sp>
      <p:sp>
        <p:nvSpPr>
          <p:cNvPr id="12" name="!!st1"/>
          <p:cNvSpPr txBox="1"/>
          <p:nvPr/>
        </p:nvSpPr>
        <p:spPr>
          <a:xfrm>
            <a:off x="1298448" y="2554223"/>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Technical peers need method and limits, decision makers need action and cost, affected individuals need a specific and actionable statement.</a:t>
            </a:r>
          </a:p>
        </p:txBody>
      </p:sp>
      <p:sp>
        <p:nvSpPr>
          <p:cNvPr id="13" name="!!sb2">
            <a:extLst>
              <a:ext uri="{C183D7F6-B498-43B3-948B-1728B52AA6E4}">
                <adec:decorative xmlns:adec="http://schemas.microsoft.com/office/drawing/2017/decorative" val="1"/>
              </a:ext>
            </a:extLst>
          </p:cNvPr>
          <p:cNvSpPr/>
          <p:nvPr/>
        </p:nvSpPr>
        <p:spPr>
          <a:xfrm>
            <a:off x="658368" y="3380231"/>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sbn2"/>
          <p:cNvSpPr txBox="1"/>
          <p:nvPr/>
        </p:nvSpPr>
        <p:spPr>
          <a:xfrm>
            <a:off x="658368" y="3435095"/>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3</a:t>
            </a:r>
          </a:p>
        </p:txBody>
      </p:sp>
      <p:sp>
        <p:nvSpPr>
          <p:cNvPr id="15" name="!!st2"/>
          <p:cNvSpPr txBox="1"/>
          <p:nvPr/>
        </p:nvSpPr>
        <p:spPr>
          <a:xfrm>
            <a:off x="1298448" y="3371088"/>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Lead with the conclusion and the recommendation; support afterwards.</a:t>
            </a:r>
          </a:p>
        </p:txBody>
      </p:sp>
      <p:sp>
        <p:nvSpPr>
          <p:cNvPr id="16" name="!!sb3">
            <a:extLst>
              <a:ext uri="{C183D7F6-B498-43B3-948B-1728B52AA6E4}">
                <adec:decorative xmlns:adec="http://schemas.microsoft.com/office/drawing/2017/decorative" val="1"/>
              </a:ext>
            </a:extLst>
          </p:cNvPr>
          <p:cNvSpPr/>
          <p:nvPr/>
        </p:nvSpPr>
        <p:spPr>
          <a:xfrm>
            <a:off x="658368" y="396544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sbn3"/>
          <p:cNvSpPr txBox="1"/>
          <p:nvPr/>
        </p:nvSpPr>
        <p:spPr>
          <a:xfrm>
            <a:off x="658368" y="402031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4</a:t>
            </a:r>
          </a:p>
        </p:txBody>
      </p:sp>
      <p:sp>
        <p:nvSpPr>
          <p:cNvPr id="18" name="!!st3"/>
          <p:cNvSpPr txBox="1"/>
          <p:nvPr/>
        </p:nvSpPr>
        <p:spPr>
          <a:xfrm>
            <a:off x="1298448" y="3956303"/>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Express probability as natural frequencies, and never report a point estimate without a range or the caveat that most changes its use.</a:t>
            </a:r>
          </a:p>
        </p:txBody>
      </p:sp>
      <p:sp>
        <p:nvSpPr>
          <p:cNvPr id="19" name="!!sb4">
            <a:extLst>
              <a:ext uri="{C183D7F6-B498-43B3-948B-1728B52AA6E4}">
                <adec:decorative xmlns:adec="http://schemas.microsoft.com/office/drawing/2017/decorative" val="1"/>
              </a:ext>
            </a:extLst>
          </p:cNvPr>
          <p:cNvSpPr/>
          <p:nvPr/>
        </p:nvSpPr>
        <p:spPr>
          <a:xfrm>
            <a:off x="658368" y="4782312"/>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sbn4"/>
          <p:cNvSpPr txBox="1"/>
          <p:nvPr/>
        </p:nvSpPr>
        <p:spPr>
          <a:xfrm>
            <a:off x="658368" y="4837176"/>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5</a:t>
            </a:r>
          </a:p>
        </p:txBody>
      </p:sp>
      <p:sp>
        <p:nvSpPr>
          <p:cNvPr id="21" name="!!st4"/>
          <p:cNvSpPr txBox="1"/>
          <p:nvPr/>
        </p:nvSpPr>
        <p:spPr>
          <a:xfrm>
            <a:off x="1298448" y="4773168"/>
            <a:ext cx="10234879" cy="402336"/>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Design dashboards around a decision; remove anything that cannot change an action.</a:t>
            </a:r>
          </a:p>
        </p:txBody>
      </p:sp>
      <p:sp>
        <p:nvSpPr>
          <p:cNvPr id="22" name="!!sb5">
            <a:extLst>
              <a:ext uri="{C183D7F6-B498-43B3-948B-1728B52AA6E4}">
                <adec:decorative xmlns:adec="http://schemas.microsoft.com/office/drawing/2017/decorative" val="1"/>
              </a:ext>
            </a:extLst>
          </p:cNvPr>
          <p:cNvSpPr/>
          <p:nvPr/>
        </p:nvSpPr>
        <p:spPr>
          <a:xfrm>
            <a:off x="658368" y="5367527"/>
            <a:ext cx="402336" cy="402336"/>
          </a:xfrm>
          <a:prstGeom prst="roundRect">
            <a:avLst>
              <a:gd name="adj" fmla="val 22727"/>
            </a:avLst>
          </a:prstGeom>
          <a:solidFill>
            <a:srgbClr val="15425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sbn5"/>
          <p:cNvSpPr txBox="1"/>
          <p:nvPr/>
        </p:nvSpPr>
        <p:spPr>
          <a:xfrm>
            <a:off x="658368" y="5422392"/>
            <a:ext cx="402336"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6</a:t>
            </a:r>
          </a:p>
        </p:txBody>
      </p:sp>
      <p:sp>
        <p:nvSpPr>
          <p:cNvPr id="24" name="!!st5"/>
          <p:cNvSpPr txBox="1"/>
          <p:nvPr/>
        </p:nvSpPr>
        <p:spPr>
          <a:xfrm>
            <a:off x="1298448" y="5358383"/>
            <a:ext cx="10234879" cy="633984"/>
          </a:xfrm>
          <a:prstGeom prst="rect">
            <a:avLst/>
          </a:prstGeom>
          <a:noFill/>
        </p:spPr>
        <p:txBody>
          <a:bodyPr wrap="square" anchor="t" lIns="0" rIns="0" tIns="0" bIns="0">
            <a:noAutofit/>
          </a:bodyPr>
          <a:lstStyle/>
          <a:p>
            <a:pPr algn="l">
              <a:lnSpc>
                <a:spcPct val="104000"/>
              </a:lnSpc>
              <a:spcBef>
                <a:spcPts val="0"/>
              </a:spcBef>
              <a:spcAft>
                <a:spcPts val="0"/>
              </a:spcAft>
            </a:pPr>
            <a:r>
              <a:rPr sz="2000" b="0" i="0">
                <a:solidFill>
                  <a:srgbClr val="1C252B"/>
                </a:solidFill>
                <a:latin typeface="Segoe UI"/>
              </a:rPr>
              <a:t>State failure modes and blind spots proactively — an unstated limitation becomes an assumed capability.</a:t>
            </a:r>
          </a:p>
        </p:txBody>
      </p:sp>
      <p:sp>
        <p:nvSpPr>
          <p:cNvPr id="70"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71" name="!!pfill">
            <a:extLst>
              <a:ext uri="{C183D7F6-B498-43B3-948B-1728B52AA6E4}">
                <adec:decorative xmlns:adec="http://schemas.microsoft.com/office/drawing/2017/decorative" val="1"/>
              </a:ext>
            </a:extLst>
          </p:cNvPr>
          <p:cNvSpPr/>
          <p:nvPr/>
        </p:nvSpPr>
        <p:spPr>
          <a:xfrm>
            <a:off x="0" y="0"/>
            <a:ext cx="10941264"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timing>
    <p:tnLst>
      <p:par>
        <p:cTn id="2" dur="indefinite" restart="never" nodeType="tmRoot">
          <p:childTnLst>
            <p:seq concurrent="1" nextAc="seek">
              <p:cTn id="3" dur="indefinite" nodeType="mainSeq">
                <p:childTnLst>
                  <p:par>
                    <p:cTn id="4" fill="hold">
                      <p:stCondLst>
                        <p:cond delay="indefinite"/>
                      </p:stCondLst>
                      <p:childTnLst>
                        <p:par>
                          <p:cTn id="5" fill="hold">
                            <p:stCondLst>
                              <p:cond delay="0"/>
                            </p:stCondLst>
                            <p:childTnLst>
                              <p:par>
                                <p:cTn id="6" presetID="23" presetClass="entr" presetSubtype="16" fill="hold" grpId="0" nodeType="clickEffect">
                                  <p:stCondLst>
                                    <p:cond delay="0"/>
                                  </p:stCondLst>
                                  <p:childTnLst>
                                    <p:set>
                                      <p:cBhvr>
                                        <p:cTn id="7" dur="1" fill="hold">
                                          <p:stCondLst>
                                            <p:cond delay="0"/>
                                          </p:stCondLst>
                                        </p:cTn>
                                        <p:tgtEl>
                                          <p:spTgt spid="7"/>
                                        </p:tgtEl>
                                        <p:attrNameLst>
                                          <p:attrName>style.visibility</p:attrName>
                                        </p:attrNameLst>
                                      </p:cBhvr>
                                      <p:to>
                                        <p:strVal val="visible"/>
                                      </p:to>
                                    </p:set>
                                    <p:animEffect transition="in" filter="zoom(in)">
                                      <p:cBhvr>
                                        <p:cTn id="8" dur="260"/>
                                        <p:tgtEl>
                                          <p:spTgt spid="7"/>
                                        </p:tgtEl>
                                      </p:cBhvr>
                                    </p:animEffect>
                                  </p:childTnLst>
                                </p:cTn>
                              </p:par>
                              <p:par>
                                <p:cTn id="9" presetID="10" presetClass="entr" presetSubtype="0" fill="hold" grpId="0" nodeType="with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26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right)">
                                      <p:cBhvr>
                                        <p:cTn id="14" dur="400"/>
                                        <p:tgtEl>
                                          <p:spTgt spid="9"/>
                                        </p:tgtEl>
                                      </p:cBhvr>
                                    </p:animEffect>
                                  </p:childTnLst>
                                </p:cTn>
                              </p:par>
                            </p:childTnLst>
                          </p:cTn>
                        </p:par>
                      </p:childTnLst>
                    </p:cTn>
                  </p:par>
                  <p:par>
                    <p:cTn id="15" fill="hold">
                      <p:stCondLst>
                        <p:cond delay="indefinite"/>
                      </p:stCondLst>
                      <p:childTnLst>
                        <p:par>
                          <p:cTn id="16" fill="hold">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zoom(in)">
                                      <p:cBhvr>
                                        <p:cTn id="19" dur="260"/>
                                        <p:tgtEl>
                                          <p:spTgt spid="1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260"/>
                                        <p:tgtEl>
                                          <p:spTgt spid="11"/>
                                        </p:tgtEl>
                                      </p:cBhvr>
                                    </p:animEffect>
                                  </p:childTnLst>
                                </p:cTn>
                              </p:par>
                              <p:par>
                                <p:cTn id="23" presetID="22" presetClass="entr" presetSubtype="8"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wipe(right)">
                                      <p:cBhvr>
                                        <p:cTn id="25" dur="400"/>
                                        <p:tgtEl>
                                          <p:spTgt spid="12"/>
                                        </p:tgtEl>
                                      </p:cBhvr>
                                    </p:animEffect>
                                  </p:childTnLst>
                                </p:cTn>
                              </p:par>
                            </p:childTnLst>
                          </p:cTn>
                        </p:par>
                      </p:childTnLst>
                    </p:cTn>
                  </p:par>
                  <p:par>
                    <p:cTn id="26" fill="hold">
                      <p:stCondLst>
                        <p:cond delay="indefinite"/>
                      </p:stCondLst>
                      <p:childTnLst>
                        <p:par>
                          <p:cTn id="27" fill="hold">
                            <p:stCondLst>
                              <p:cond delay="0"/>
                            </p:stCondLst>
                            <p:childTnLst>
                              <p:par>
                                <p:cTn id="28" presetID="23" presetClass="entr" presetSubtype="16" fill="hold" grpId="0" nodeType="click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zoom(in)">
                                      <p:cBhvr>
                                        <p:cTn id="30" dur="26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26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right)">
                                      <p:cBhvr>
                                        <p:cTn id="36" dur="4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3" presetClass="entr" presetSubtype="16"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zoom(in)">
                                      <p:cBhvr>
                                        <p:cTn id="41" dur="26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26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right)">
                                      <p:cBhvr>
                                        <p:cTn id="47" dur="400"/>
                                        <p:tgtEl>
                                          <p:spTgt spid="18"/>
                                        </p:tgtEl>
                                      </p:cBhvr>
                                    </p:animEffect>
                                  </p:childTnLst>
                                </p:cTn>
                              </p:par>
                            </p:childTnLst>
                          </p:cTn>
                        </p:par>
                      </p:childTnLst>
                    </p:cTn>
                  </p:par>
                  <p:par>
                    <p:cTn id="48" fill="hold">
                      <p:stCondLst>
                        <p:cond delay="indefinite"/>
                      </p:stCondLst>
                      <p:childTnLst>
                        <p:par>
                          <p:cTn id="49" fill="hold">
                            <p:stCondLst>
                              <p:cond delay="0"/>
                            </p:stCondLst>
                            <p:childTnLst>
                              <p:par>
                                <p:cTn id="50" presetID="23" presetClass="entr" presetSubtype="16" fill="hold" grpId="0" nodeType="click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zoom(in)">
                                      <p:cBhvr>
                                        <p:cTn id="52" dur="260"/>
                                        <p:tgtEl>
                                          <p:spTgt spid="19"/>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260"/>
                                        <p:tgtEl>
                                          <p:spTgt spid="20"/>
                                        </p:tgtEl>
                                      </p:cBhvr>
                                    </p:animEffect>
                                  </p:childTnLst>
                                </p:cTn>
                              </p:par>
                              <p:par>
                                <p:cTn id="56" presetID="22" presetClass="entr" presetSubtype="8" fill="hold" grpId="0" nodeType="with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wipe(right)">
                                      <p:cBhvr>
                                        <p:cTn id="58" dur="4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23" presetClass="entr" presetSubtype="16" fill="hold" grpId="0" nodeType="click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zoom(in)">
                                      <p:cBhvr>
                                        <p:cTn id="63" dur="260"/>
                                        <p:tgtEl>
                                          <p:spTgt spid="22"/>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260"/>
                                        <p:tgtEl>
                                          <p:spTgt spid="23"/>
                                        </p:tgtEl>
                                      </p:cBhvr>
                                    </p:animEffect>
                                  </p:childTnLst>
                                </p:cTn>
                              </p:par>
                              <p:par>
                                <p:cTn id="67" presetID="22" presetClass="entr" presetSubtype="8"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wipe(right)">
                                      <p:cBhvr>
                                        <p:cTn id="69" dur="4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1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207     </a:t>
            </a:r>
            <a:fld id="{68E305F2-412E-4892-BB06-43BC379DC702}" type="slidenum">
              <a:rPr lang="en-GB" sz="1000">
                <a:solidFill>
                  <a:srgbClr val="8795A1"/>
                </a:solidFill>
                <a:latin typeface="Segoe UI"/>
              </a:rPr>
              <a:t>36</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“Bottom line up front” means:</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put the data first</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7133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state the conclusion and recommendation first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summarise at the end</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lead with the method</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253872"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Quick check 2 of 2</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  MULTIPLE CHOICE</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207     </a:t>
            </a:r>
            <a:fld id="{4E6836F4-36D8-4609-AA30-3F373AE56FA2}" type="slidenum">
              <a:rPr lang="en-GB" sz="1000">
                <a:solidFill>
                  <a:srgbClr val="8795A1"/>
                </a:solidFill>
                <a:latin typeface="Segoe UI"/>
              </a:rPr>
              <a:t>37</a:t>
            </a:fld>
          </a:p>
        </p:txBody>
      </p:sp>
      <p:sp>
        <p:nvSpPr>
          <p:cNvPr id="7" name="!!mstem"/>
          <p:cNvSpPr txBox="1"/>
          <p:nvPr/>
        </p:nvSpPr>
        <p:spPr>
          <a:xfrm>
            <a:off x="658368" y="1737360"/>
            <a:ext cx="10874959" cy="457809"/>
          </a:xfrm>
          <a:prstGeom prst="rect">
            <a:avLst/>
          </a:prstGeom>
          <a:noFill/>
        </p:spPr>
        <p:txBody>
          <a:bodyPr wrap="square" anchor="t" lIns="0" rIns="0" tIns="0" bIns="0">
            <a:noAutofit/>
          </a:bodyPr>
          <a:lstStyle/>
          <a:p>
            <a:pPr algn="l">
              <a:lnSpc>
                <a:spcPct val="104000"/>
              </a:lnSpc>
              <a:spcBef>
                <a:spcPts val="0"/>
              </a:spcBef>
              <a:spcAft>
                <a:spcPts val="0"/>
              </a:spcAft>
            </a:pPr>
            <a:r>
              <a:rPr sz="2600" b="0" i="0">
                <a:solidFill>
                  <a:srgbClr val="1C252B"/>
                </a:solidFill>
                <a:latin typeface="Segoe UI"/>
              </a:rPr>
              <a:t>Which is a natural-frequency statement?</a:t>
            </a:r>
          </a:p>
        </p:txBody>
      </p:sp>
      <p:sp>
        <p:nvSpPr>
          <p:cNvPr id="8" name="!!mo0">
            <a:extLst>
              <a:ext uri="{C183D7F6-B498-43B3-948B-1728B52AA6E4}">
                <adec:decorative xmlns:adec="http://schemas.microsoft.com/office/drawing/2017/decorative" val="1"/>
              </a:ext>
            </a:extLst>
          </p:cNvPr>
          <p:cNvSpPr/>
          <p:nvPr/>
        </p:nvSpPr>
        <p:spPr>
          <a:xfrm>
            <a:off x="658368"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mol0">
            <a:extLst>
              <a:ext uri="{C183D7F6-B498-43B3-948B-1728B52AA6E4}">
                <adec:decorative xmlns:adec="http://schemas.microsoft.com/office/drawing/2017/decorative" val="1"/>
              </a:ext>
            </a:extLst>
          </p:cNvPr>
          <p:cNvSpPr/>
          <p:nvPr/>
        </p:nvSpPr>
        <p:spPr>
          <a:xfrm>
            <a:off x="841247"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0" name="!!molt0"/>
          <p:cNvSpPr txBox="1"/>
          <p:nvPr/>
        </p:nvSpPr>
        <p:spPr>
          <a:xfrm>
            <a:off x="841247"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A</a:t>
            </a:r>
          </a:p>
        </p:txBody>
      </p:sp>
      <p:sp>
        <p:nvSpPr>
          <p:cNvPr id="11" name="!!mot0"/>
          <p:cNvSpPr txBox="1"/>
          <p:nvPr/>
        </p:nvSpPr>
        <p:spPr>
          <a:xfrm>
            <a:off x="1481328"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“precision is 0.78”</a:t>
            </a:r>
          </a:p>
        </p:txBody>
      </p:sp>
      <p:sp>
        <p:nvSpPr>
          <p:cNvPr id="12" name="!!mo1">
            <a:extLst>
              <a:ext uri="{C183D7F6-B498-43B3-948B-1728B52AA6E4}">
                <adec:decorative xmlns:adec="http://schemas.microsoft.com/office/drawing/2017/decorative" val="1"/>
              </a:ext>
            </a:extLst>
          </p:cNvPr>
          <p:cNvSpPr/>
          <p:nvPr/>
        </p:nvSpPr>
        <p:spPr>
          <a:xfrm>
            <a:off x="6214719" y="251520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3" name="!!mol1">
            <a:extLst>
              <a:ext uri="{C183D7F6-B498-43B3-948B-1728B52AA6E4}">
                <adec:decorative xmlns:adec="http://schemas.microsoft.com/office/drawing/2017/decorative" val="1"/>
              </a:ext>
            </a:extLst>
          </p:cNvPr>
          <p:cNvSpPr/>
          <p:nvPr/>
        </p:nvSpPr>
        <p:spPr>
          <a:xfrm>
            <a:off x="6397599" y="278952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molt1"/>
          <p:cNvSpPr txBox="1"/>
          <p:nvPr/>
        </p:nvSpPr>
        <p:spPr>
          <a:xfrm>
            <a:off x="6397599" y="287182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B</a:t>
            </a:r>
          </a:p>
        </p:txBody>
      </p:sp>
      <p:sp>
        <p:nvSpPr>
          <p:cNvPr id="15" name="!!mot1"/>
          <p:cNvSpPr txBox="1"/>
          <p:nvPr/>
        </p:nvSpPr>
        <p:spPr>
          <a:xfrm>
            <a:off x="7037679" y="286572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t>
            </a:r>
            <a:r>
              <a:rPr sz="2000" b="0" i="1">
                <a:solidFill>
                  <a:srgbClr val="1C252B"/>
                </a:solidFill>
                <a:latin typeface="Cambria"/>
              </a:rPr>
              <a:t>p</a:t>
            </a:r>
            <a:r>
              <a:rPr sz="2000" b="0" i="0">
                <a:solidFill>
                  <a:srgbClr val="1C252B"/>
                </a:solidFill>
                <a:latin typeface="Cambria"/>
              </a:rPr>
              <a:t>&lt;0.05</a:t>
            </a:r>
            <a:r>
              <a:rPr sz="2000" b="0" i="0">
                <a:solidFill>
                  <a:srgbClr val="1C252B"/>
                </a:solidFill>
                <a:latin typeface="Segoe UI"/>
              </a:rPr>
              <a:t>”</a:t>
            </a:r>
          </a:p>
        </p:txBody>
      </p:sp>
      <p:sp>
        <p:nvSpPr>
          <p:cNvPr id="16" name="!!mo2">
            <a:extLst>
              <a:ext uri="{C183D7F6-B498-43B3-948B-1728B52AA6E4}">
                <adec:decorative xmlns:adec="http://schemas.microsoft.com/office/drawing/2017/decorative" val="1"/>
              </a:ext>
            </a:extLst>
          </p:cNvPr>
          <p:cNvSpPr/>
          <p:nvPr/>
        </p:nvSpPr>
        <p:spPr>
          <a:xfrm>
            <a:off x="658368"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mol2">
            <a:extLst>
              <a:ext uri="{C183D7F6-B498-43B3-948B-1728B52AA6E4}">
                <adec:decorative xmlns:adec="http://schemas.microsoft.com/office/drawing/2017/decorative" val="1"/>
              </a:ext>
            </a:extLst>
          </p:cNvPr>
          <p:cNvSpPr/>
          <p:nvPr/>
        </p:nvSpPr>
        <p:spPr>
          <a:xfrm>
            <a:off x="841247"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8" name="!!molt2"/>
          <p:cNvSpPr txBox="1"/>
          <p:nvPr/>
        </p:nvSpPr>
        <p:spPr>
          <a:xfrm>
            <a:off x="841247"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C</a:t>
            </a:r>
          </a:p>
        </p:txBody>
      </p:sp>
      <p:sp>
        <p:nvSpPr>
          <p:cNvPr id="19" name="!!mot2"/>
          <p:cNvSpPr txBox="1"/>
          <p:nvPr/>
        </p:nvSpPr>
        <p:spPr>
          <a:xfrm>
            <a:off x="1481328" y="39020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“about 78 of every 100 we contact would have failed”</a:t>
            </a:r>
          </a:p>
        </p:txBody>
      </p:sp>
      <p:sp>
        <p:nvSpPr>
          <p:cNvPr id="20" name="!!mo3">
            <a:extLst>
              <a:ext uri="{C183D7F6-B498-43B3-948B-1728B52AA6E4}">
                <adec:decorative xmlns:adec="http://schemas.microsoft.com/office/drawing/2017/decorative" val="1"/>
              </a:ext>
            </a:extLst>
          </p:cNvPr>
          <p:cNvSpPr/>
          <p:nvPr/>
        </p:nvSpPr>
        <p:spPr>
          <a:xfrm>
            <a:off x="6214719" y="3703929"/>
            <a:ext cx="5318607" cy="1005840"/>
          </a:xfrm>
          <a:prstGeom prst="roundRect">
            <a:avLst>
              <a:gd name="adj" fmla="val 9090"/>
            </a:avLst>
          </a:prstGeom>
          <a:solidFill>
            <a:srgbClr val="F4F7F9"/>
          </a:solidFill>
          <a:ln w="12700">
            <a:solidFill>
              <a:srgbClr val="D9E1E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1" name="!!mol3">
            <a:extLst>
              <a:ext uri="{C183D7F6-B498-43B3-948B-1728B52AA6E4}">
                <adec:decorative xmlns:adec="http://schemas.microsoft.com/office/drawing/2017/decorative" val="1"/>
              </a:ext>
            </a:extLst>
          </p:cNvPr>
          <p:cNvSpPr/>
          <p:nvPr/>
        </p:nvSpPr>
        <p:spPr>
          <a:xfrm>
            <a:off x="6397599" y="3978249"/>
            <a:ext cx="457200" cy="457200"/>
          </a:xfrm>
          <a:prstGeom prst="roundRect">
            <a:avLst>
              <a:gd name="adj" fmla="val 50000"/>
            </a:avLst>
          </a:prstGeom>
          <a:solidFill>
            <a:srgbClr val="705B0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2" name="!!molt3"/>
          <p:cNvSpPr txBox="1"/>
          <p:nvPr/>
        </p:nvSpPr>
        <p:spPr>
          <a:xfrm>
            <a:off x="6397599" y="4060545"/>
            <a:ext cx="457200" cy="274320"/>
          </a:xfrm>
          <a:prstGeom prst="rect">
            <a:avLst/>
          </a:prstGeom>
          <a:noFill/>
        </p:spPr>
        <p:txBody>
          <a:bodyPr wrap="square" anchor="t" lIns="0" rIns="0" tIns="0" bIns="0">
            <a:noAutofit/>
          </a:bodyPr>
          <a:lstStyle/>
          <a:p>
            <a:pPr algn="ctr">
              <a:lnSpc>
                <a:spcPct val="100000"/>
              </a:lnSpc>
              <a:spcBef>
                <a:spcPts val="0"/>
              </a:spcBef>
              <a:spcAft>
                <a:spcPts val="0"/>
              </a:spcAft>
            </a:pPr>
            <a:r>
              <a:rPr sz="1500" b="1" i="0">
                <a:solidFill>
                  <a:srgbClr val="FFFFFF"/>
                </a:solidFill>
                <a:latin typeface="Segoe UI Semibold"/>
              </a:rPr>
              <a:t>D</a:t>
            </a:r>
          </a:p>
        </p:txBody>
      </p:sp>
      <p:sp>
        <p:nvSpPr>
          <p:cNvPr id="23" name="!!mot3"/>
          <p:cNvSpPr txBox="1"/>
          <p:nvPr/>
        </p:nvSpPr>
        <p:spPr>
          <a:xfrm>
            <a:off x="7037679" y="4054449"/>
            <a:ext cx="4312767" cy="1005840"/>
          </a:xfrm>
          <a:prstGeom prst="rect">
            <a:avLst/>
          </a:prstGeom>
          <a:noFill/>
        </p:spPr>
        <p:txBody>
          <a:bodyPr wrap="square" anchor="t" lIns="0" rIns="0" tIns="0" bIns="0">
            <a:noAutofit/>
          </a:bodyPr>
          <a:lstStyle/>
          <a:p>
            <a:pPr algn="l">
              <a:lnSpc>
                <a:spcPct val="100000"/>
              </a:lnSpc>
              <a:spcBef>
                <a:spcPts val="0"/>
              </a:spcBef>
              <a:spcAft>
                <a:spcPts val="0"/>
              </a:spcAft>
            </a:pPr>
            <a:r>
              <a:rPr sz="2000" b="0" i="0">
                <a:solidFill>
                  <a:srgbClr val="1C252B"/>
                </a:solidFill>
                <a:latin typeface="Segoe UI"/>
              </a:rPr>
              <a:t>“AUC 0.91”</a:t>
            </a:r>
          </a:p>
        </p:txBody>
      </p:sp>
      <p:sp>
        <p:nvSpPr>
          <p:cNvPr id="24"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5" name="!!pfill">
            <a:extLst>
              <a:ext uri="{C183D7F6-B498-43B3-948B-1728B52AA6E4}">
                <adec:decorative xmlns:adec="http://schemas.microsoft.com/office/drawing/2017/decorative" val="1"/>
              </a:ext>
            </a:extLst>
          </p:cNvPr>
          <p:cNvSpPr/>
          <p:nvPr/>
        </p:nvSpPr>
        <p:spPr>
          <a:xfrm>
            <a:off x="0" y="0"/>
            <a:ext cx="11566480"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a:spLocks noGrp="1"/>
          </p:cNvSpPr>
          <p:nvPr>
            <p:ph type="title"/>
          </p:nvPr>
        </p:nvSpPr>
        <p:spPr>
          <a:xfrm>
            <a:off x="658368" y="676656"/>
            <a:ext cx="10874959" cy="932688"/>
          </a:xfrm>
        </p:spPr>
        <p:txBody>
          <a:bodyPr wrap="square" lIns="0" rIns="0" tIns="0" bIns="0" anchor="t">
            <a:noAutofit/>
          </a:bodyPr>
          <a:lstStyle/>
          <a:p>
            <a:pPr algn="l">
              <a:lnSpc>
                <a:spcPct val="96000"/>
              </a:lnSpc>
            </a:pPr>
            <a:r>
              <a:rPr sz="3000" b="0">
                <a:solidFill>
                  <a:srgbClr val="1A5276"/>
                </a:solidFill>
                <a:latin typeface="Segoe UI Semibold"/>
              </a:rPr>
              <a:t>For your notebook</a:t>
            </a:r>
          </a:p>
        </p:txBody>
      </p:sp>
      <p:pic>
        <p:nvPicPr>
          <p:cNvPr id="3" name="!!kicker-icon" descr="pen-fancy-1A5276.png">
            <a:extLst>
              <a:ext uri="{C183D7F6-B498-43B3-948B-1728B52AA6E4}">
                <adec:decorative xmlns:adec="http://schemas.microsoft.com/office/drawing/2017/decorative" val="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58368" y="411480"/>
            <a:ext cx="219456" cy="219456"/>
          </a:xfrm>
          <a:prstGeom prst="rect">
            <a:avLst/>
          </a:prstGeom>
        </p:spPr>
      </p:pic>
      <p:sp>
        <p:nvSpPr>
          <p:cNvPr id="4" name="!!kicker"/>
          <p:cNvSpPr txBox="1"/>
          <p:nvPr/>
        </p:nvSpPr>
        <p:spPr>
          <a:xfrm>
            <a:off x="987552" y="402336"/>
            <a:ext cx="10545775" cy="256032"/>
          </a:xfrm>
          <a:prstGeom prst="rect">
            <a:avLst/>
          </a:prstGeom>
          <a:noFill/>
        </p:spPr>
        <p:txBody>
          <a:bodyPr wrap="square" anchor="t" lIns="0" rIns="0" tIns="0" bIns="0">
            <a:noAutofit/>
          </a:bodyPr>
          <a:lstStyle/>
          <a:p>
            <a:pPr algn="l">
              <a:lnSpc>
                <a:spcPct val="100000"/>
              </a:lnSpc>
              <a:spcBef>
                <a:spcPts val="0"/>
              </a:spcBef>
              <a:spcAft>
                <a:spcPts val="0"/>
              </a:spcAft>
            </a:pPr>
            <a:r>
              <a:rPr sz="1250" b="1" i="0" spc="160">
                <a:solidFill>
                  <a:srgbClr val="1A5276"/>
                </a:solidFill>
                <a:latin typeface="Segoe UI"/>
              </a:rPr>
              <a:t>REVIEW QUESTIONS</a:t>
            </a:r>
          </a:p>
        </p:txBody>
      </p:sp>
      <p:sp>
        <p:nvSpPr>
          <p:cNvPr id="5"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98A4AE"/>
                </a:solidFill>
                <a:latin typeface="Segoe UI"/>
              </a:rPr>
              <a:t>Data Science  ·  Chapter 31  ·  Communicating Data Science</a:t>
            </a:r>
          </a:p>
        </p:txBody>
      </p:sp>
      <p:sp>
        <p:nvSpPr>
          <p:cNvPr id="6" name="!!footR"/>
          <p:cNvSpPr txBox="1"/>
          <p:nvPr/>
        </p:nvSpPr>
        <p:spPr>
          <a:xfrm>
            <a:off x="6639595" y="6437376"/>
            <a:ext cx="4893731" cy="237744"/>
          </a:xfrm>
          <a:prstGeom prst="rect">
            <a:avLst/>
          </a:prstGeom>
          <a:noFill/>
        </p:spPr>
        <p:txBody>
          <a:bodyPr wrap="square" anchor="t" lIns="0" rIns="0" tIns="0" bIns="0">
            <a:noAutofit/>
          </a:bodyPr>
          <a:lstStyle/>
          <a:p>
            <a:pPr algn="r"/>
            <a:r>
              <a:rPr sz="1000">
                <a:solidFill>
                  <a:srgbClr val="98A4AE"/>
                </a:solidFill>
                <a:latin typeface="Segoe UI"/>
              </a:rPr>
              <a:t>Handout p. 207     </a:t>
            </a:r>
            <a:fld id="{E7B777BE-5652-4FC5-99DD-B8316A2D6EFA}" type="slidenum">
              <a:rPr lang="en-GB" sz="1000">
                <a:solidFill>
                  <a:srgbClr val="8795A1"/>
                </a:solidFill>
                <a:latin typeface="Segoe UI"/>
              </a:rPr>
              <a:t>38</a:t>
            </a:fld>
          </a:p>
        </p:txBody>
      </p:sp>
      <p:sp>
        <p:nvSpPr>
          <p:cNvPr id="7" name="!!rt0">
            <a:extLst>
              <a:ext uri="{C183D7F6-B498-43B3-948B-1728B52AA6E4}">
                <adec:decorative xmlns:adec="http://schemas.microsoft.com/office/drawing/2017/decorative" val="1"/>
              </a:ext>
            </a:extLst>
          </p:cNvPr>
          <p:cNvSpPr/>
          <p:nvPr/>
        </p:nvSpPr>
        <p:spPr>
          <a:xfrm>
            <a:off x="658368" y="1755648"/>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8" name="!!rtt0"/>
          <p:cNvSpPr txBox="1"/>
          <p:nvPr/>
        </p:nvSpPr>
        <p:spPr>
          <a:xfrm>
            <a:off x="658368" y="1796795"/>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9" name="!!rq0"/>
          <p:cNvSpPr txBox="1"/>
          <p:nvPr/>
        </p:nvSpPr>
        <p:spPr>
          <a:xfrm>
            <a:off x="1892807" y="1737360"/>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Explain why a point estimate reported alone is a communication failure.</a:t>
            </a:r>
          </a:p>
        </p:txBody>
      </p:sp>
      <p:sp>
        <p:nvSpPr>
          <p:cNvPr id="10" name="!!rt1">
            <a:extLst>
              <a:ext uri="{C183D7F6-B498-43B3-948B-1728B52AA6E4}">
                <adec:decorative xmlns:adec="http://schemas.microsoft.com/office/drawing/2017/decorative" val="1"/>
              </a:ext>
            </a:extLst>
          </p:cNvPr>
          <p:cNvSpPr/>
          <p:nvPr/>
        </p:nvSpPr>
        <p:spPr>
          <a:xfrm>
            <a:off x="658368" y="2276246"/>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1" name="!!rtt1"/>
          <p:cNvSpPr txBox="1"/>
          <p:nvPr/>
        </p:nvSpPr>
        <p:spPr>
          <a:xfrm>
            <a:off x="658368" y="2317394"/>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2" name="!!rq1"/>
          <p:cNvSpPr txBox="1"/>
          <p:nvPr/>
        </p:nvSpPr>
        <p:spPr>
          <a:xfrm>
            <a:off x="1892807" y="2257958"/>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Give two reasons never to show a student their own risk score.</a:t>
            </a:r>
          </a:p>
        </p:txBody>
      </p:sp>
      <p:sp>
        <p:nvSpPr>
          <p:cNvPr id="13" name="!!rt2">
            <a:extLst>
              <a:ext uri="{C183D7F6-B498-43B3-948B-1728B52AA6E4}">
                <adec:decorative xmlns:adec="http://schemas.microsoft.com/office/drawing/2017/decorative" val="1"/>
              </a:ext>
            </a:extLst>
          </p:cNvPr>
          <p:cNvSpPr/>
          <p:nvPr/>
        </p:nvSpPr>
        <p:spPr>
          <a:xfrm>
            <a:off x="658368" y="2796844"/>
            <a:ext cx="1051560" cy="310896"/>
          </a:xfrm>
          <a:prstGeom prst="roundRect">
            <a:avLst>
              <a:gd name="adj" fmla="val 50000"/>
            </a:avLst>
          </a:prstGeom>
          <a:solidFill>
            <a:srgbClr val="E6F0F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4" name="!!rtt2"/>
          <p:cNvSpPr txBox="1"/>
          <p:nvPr/>
        </p:nvSpPr>
        <p:spPr>
          <a:xfrm>
            <a:off x="658368" y="2837992"/>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236794"/>
                </a:solidFill>
                <a:latin typeface="Segoe UI"/>
              </a:rPr>
              <a:t>SHORT</a:t>
            </a:r>
          </a:p>
        </p:txBody>
      </p:sp>
      <p:sp>
        <p:nvSpPr>
          <p:cNvPr id="15" name="!!rq2"/>
          <p:cNvSpPr txBox="1"/>
          <p:nvPr/>
        </p:nvSpPr>
        <p:spPr>
          <a:xfrm>
            <a:off x="1892807" y="2778556"/>
            <a:ext cx="9549079" cy="301142"/>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Why is alert fatigue partly a communication design problem?</a:t>
            </a:r>
          </a:p>
        </p:txBody>
      </p:sp>
      <p:sp>
        <p:nvSpPr>
          <p:cNvPr id="16" name="!!rt3">
            <a:extLst>
              <a:ext uri="{C183D7F6-B498-43B3-948B-1728B52AA6E4}">
                <adec:decorative xmlns:adec="http://schemas.microsoft.com/office/drawing/2017/decorative" val="1"/>
              </a:ext>
            </a:extLst>
          </p:cNvPr>
          <p:cNvSpPr/>
          <p:nvPr/>
        </p:nvSpPr>
        <p:spPr>
          <a:xfrm>
            <a:off x="658368" y="331744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7" name="!!rtt3"/>
          <p:cNvSpPr txBox="1"/>
          <p:nvPr/>
        </p:nvSpPr>
        <p:spPr>
          <a:xfrm>
            <a:off x="658368" y="335859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18" name="!!rq3"/>
          <p:cNvSpPr txBox="1"/>
          <p:nvPr/>
        </p:nvSpPr>
        <p:spPr>
          <a:xfrm>
            <a:off x="1892807" y="3299155"/>
            <a:ext cx="9549079" cy="602284"/>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Take the raw result in the lab above and write the three versions for a </a:t>
            </a:r>
            <a:r>
              <a:rPr sz="1900" b="0" i="1">
                <a:solidFill>
                  <a:srgbClr val="1C252B"/>
                </a:solidFill>
                <a:latin typeface="Segoe UI"/>
              </a:rPr>
              <a:t>predictive maintenance</a:t>
            </a:r>
            <a:r>
              <a:rPr sz="1900" b="0" i="0">
                <a:solidFill>
                  <a:srgbClr val="1C252B"/>
                </a:solidFill>
                <a:latin typeface="Segoe UI"/>
              </a:rPr>
              <a:t> model instead, naming your three audiences.</a:t>
            </a:r>
          </a:p>
        </p:txBody>
      </p:sp>
      <p:sp>
        <p:nvSpPr>
          <p:cNvPr id="19" name="!!rt4">
            <a:extLst>
              <a:ext uri="{C183D7F6-B498-43B3-948B-1728B52AA6E4}">
                <adec:decorative xmlns:adec="http://schemas.microsoft.com/office/drawing/2017/decorative" val="1"/>
              </a:ext>
            </a:extLst>
          </p:cNvPr>
          <p:cNvSpPr/>
          <p:nvPr/>
        </p:nvSpPr>
        <p:spPr>
          <a:xfrm>
            <a:off x="658368" y="4139183"/>
            <a:ext cx="1051560" cy="310896"/>
          </a:xfrm>
          <a:prstGeom prst="roundRect">
            <a:avLst>
              <a:gd name="adj" fmla="val 50000"/>
            </a:avLst>
          </a:prstGeom>
          <a:solidFill>
            <a:srgbClr val="E2EFE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0" name="!!rtt4"/>
          <p:cNvSpPr txBox="1"/>
          <p:nvPr/>
        </p:nvSpPr>
        <p:spPr>
          <a:xfrm>
            <a:off x="658368" y="4180331"/>
            <a:ext cx="1051560" cy="237744"/>
          </a:xfrm>
          <a:prstGeom prst="rect">
            <a:avLst/>
          </a:prstGeom>
          <a:noFill/>
        </p:spPr>
        <p:txBody>
          <a:bodyPr wrap="square" anchor="t" lIns="0" rIns="0" tIns="0" bIns="0">
            <a:noAutofit/>
          </a:bodyPr>
          <a:lstStyle/>
          <a:p>
            <a:pPr algn="ctr">
              <a:lnSpc>
                <a:spcPct val="100000"/>
              </a:lnSpc>
              <a:spcBef>
                <a:spcPts val="0"/>
              </a:spcBef>
              <a:spcAft>
                <a:spcPts val="0"/>
              </a:spcAft>
            </a:pPr>
            <a:r>
              <a:rPr sz="1100" b="1" i="0" spc="120">
                <a:solidFill>
                  <a:srgbClr val="107964"/>
                </a:solidFill>
                <a:latin typeface="Segoe UI"/>
              </a:rPr>
              <a:t>APPLIED</a:t>
            </a:r>
          </a:p>
        </p:txBody>
      </p:sp>
      <p:sp>
        <p:nvSpPr>
          <p:cNvPr id="21" name="!!rq4"/>
          <p:cNvSpPr txBox="1"/>
          <p:nvPr/>
        </p:nvSpPr>
        <p:spPr>
          <a:xfrm>
            <a:off x="1892807" y="4120895"/>
            <a:ext cx="9549079" cy="903427"/>
          </a:xfrm>
          <a:prstGeom prst="rect">
            <a:avLst/>
          </a:prstGeom>
          <a:noFill/>
        </p:spPr>
        <p:txBody>
          <a:bodyPr wrap="square" anchor="t" lIns="0" rIns="0" tIns="0" bIns="0">
            <a:noAutofit/>
          </a:bodyPr>
          <a:lstStyle/>
          <a:p>
            <a:pPr algn="l">
              <a:lnSpc>
                <a:spcPct val="104000"/>
              </a:lnSpc>
              <a:spcBef>
                <a:spcPts val="0"/>
              </a:spcBef>
              <a:spcAft>
                <a:spcPts val="0"/>
              </a:spcAft>
            </a:pPr>
            <a:r>
              <a:rPr sz="1900" b="0" i="0">
                <a:solidFill>
                  <a:srgbClr val="1C252B"/>
                </a:solidFill>
                <a:latin typeface="Segoe UI"/>
              </a:rPr>
              <a:t>A dashboard shows 18 charts and is never used. Redesign it: state who uses it, what decision they make, the four things you would keep, and what you would remove and why.</a:t>
            </a:r>
          </a:p>
        </p:txBody>
      </p:sp>
      <p:sp>
        <p:nvSpPr>
          <p:cNvPr id="22" name="!!ptrack">
            <a:extLst>
              <a:ext uri="{C183D7F6-B498-43B3-948B-1728B52AA6E4}">
                <adec:decorative xmlns:adec="http://schemas.microsoft.com/office/drawing/2017/decorative" val="1"/>
              </a:ext>
            </a:extLst>
          </p:cNvPr>
          <p:cNvSpPr/>
          <p:nvPr/>
        </p:nvSpPr>
        <p:spPr>
          <a:xfrm>
            <a:off x="0" y="0"/>
            <a:ext cx="12191695" cy="54864"/>
          </a:xfrm>
          <a:prstGeom prst="rect">
            <a:avLst/>
          </a:prstGeom>
          <a:solidFill>
            <a:srgbClr val="EDF1F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23" name="!!pfill">
            <a:extLst>
              <a:ext uri="{C183D7F6-B498-43B3-948B-1728B52AA6E4}">
                <adec:decorative xmlns:adec="http://schemas.microsoft.com/office/drawing/2017/decorative" val="1"/>
              </a:ext>
            </a:extLst>
          </p:cNvPr>
          <p:cNvSpPr/>
          <p:nvPr/>
        </p:nvSpPr>
        <p:spPr>
          <a:xfrm>
            <a:off x="0" y="0"/>
            <a:ext cx="11879087" cy="54864"/>
          </a:xfrm>
          <a:prstGeom prst="rect">
            <a:avLst/>
          </a:prstGeom>
          <a:solidFill>
            <a:srgbClr val="B795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705B06"/>
        </a:solidFill>
        <a:effectLst/>
      </p:bgPr>
    </p:bg>
    <p:spTree>
      <p:nvGrpSpPr>
        <p:cNvPr id="1" name=""/>
        <p:cNvGrpSpPr/>
        <p:nvPr/>
      </p:nvGrpSpPr>
      <p:grpSpPr/>
      <p:sp>
        <p:nvSpPr>
          <p:cNvPr id="3" name="!!wm">
            <a:extLst>
              <a:ext uri="{C183D7F6-B498-43B3-948B-1728B52AA6E4}">
                <adec:decorative xmlns:adec="http://schemas.microsoft.com/office/drawing/2017/decorative" val="1"/>
              </a:ext>
            </a:extLst>
          </p:cNvPr>
          <p:cNvSpPr txBox="1"/>
          <p:nvPr/>
        </p:nvSpPr>
        <p:spPr>
          <a:xfrm>
            <a:off x="6430975" y="-502920"/>
            <a:ext cx="5486400" cy="4572000"/>
          </a:xfrm>
          <a:prstGeom prst="rect">
            <a:avLst/>
          </a:prstGeom>
          <a:noFill/>
        </p:spPr>
        <p:txBody>
          <a:bodyPr wrap="square" anchor="t" lIns="0" rIns="0" tIns="0" bIns="0">
            <a:noAutofit/>
          </a:bodyPr>
          <a:lstStyle/>
          <a:p>
            <a:pPr algn="r">
              <a:lnSpc>
                <a:spcPct val="100000"/>
              </a:lnSpc>
              <a:spcBef>
                <a:spcPts val="0"/>
              </a:spcBef>
              <a:spcAft>
                <a:spcPts val="0"/>
              </a:spcAft>
            </a:pPr>
            <a:r>
              <a:rPr sz="28000" b="0" i="0">
                <a:solidFill>
                  <a:srgbClr val="7B681A"/>
                </a:solidFill>
                <a:latin typeface="Segoe UI Black"/>
              </a:rPr>
              <a:t>31</a:t>
            </a:r>
          </a:p>
        </p:txBody>
      </p:sp>
      <p:sp>
        <p:nvSpPr>
          <p:cNvPr id="2" name="!!title"/>
          <p:cNvSpPr>
            <a:spLocks noGrp="1"/>
          </p:cNvSpPr>
          <p:nvPr>
            <p:ph type="title"/>
          </p:nvPr>
        </p:nvSpPr>
        <p:spPr>
          <a:xfrm>
            <a:off x="658368" y="1243584"/>
            <a:ext cx="8229600" cy="822960"/>
          </a:xfrm>
        </p:spPr>
        <p:txBody>
          <a:bodyPr wrap="square" lIns="0" rIns="0" tIns="0" bIns="0" anchor="t">
            <a:noAutofit/>
          </a:bodyPr>
          <a:lstStyle/>
          <a:p>
            <a:pPr algn="l">
              <a:lnSpc>
                <a:spcPct val="96000"/>
              </a:lnSpc>
            </a:pPr>
            <a:r>
              <a:rPr sz="4000" b="0">
                <a:solidFill>
                  <a:srgbClr val="FFFFFF"/>
                </a:solidFill>
                <a:latin typeface="Segoe UI Semibold"/>
              </a:rPr>
              <a:t>End of Chapter 31</a:t>
            </a:r>
          </a:p>
        </p:txBody>
      </p:sp>
      <p:sp>
        <p:nvSpPr>
          <p:cNvPr id="4" name="!!tbar">
            <a:extLst>
              <a:ext uri="{C183D7F6-B498-43B3-948B-1728B52AA6E4}">
                <adec:decorative xmlns:adec="http://schemas.microsoft.com/office/drawing/2017/decorative" val="1"/>
              </a:ext>
            </a:extLst>
          </p:cNvPr>
          <p:cNvSpPr/>
          <p:nvPr/>
        </p:nvSpPr>
        <p:spPr>
          <a:xfrm>
            <a:off x="658368" y="1024128"/>
            <a:ext cx="822960" cy="640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5" name="!!cl0">
            <a:extLst>
              <a:ext uri="{C183D7F6-B498-43B3-948B-1728B52AA6E4}">
                <adec:decorative xmlns:adec="http://schemas.microsoft.com/office/drawing/2017/decorative" val="1"/>
              </a:ext>
            </a:extLst>
          </p:cNvPr>
          <p:cNvSpPr/>
          <p:nvPr/>
        </p:nvSpPr>
        <p:spPr>
          <a:xfrm>
            <a:off x="658368"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6" name="!!cll0"/>
          <p:cNvSpPr txBox="1"/>
          <p:nvPr/>
        </p:nvSpPr>
        <p:spPr>
          <a:xfrm>
            <a:off x="932688"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NEXT</a:t>
            </a:r>
          </a:p>
        </p:txBody>
      </p:sp>
      <p:sp>
        <p:nvSpPr>
          <p:cNvPr id="7" name="!!clv0"/>
          <p:cNvSpPr txBox="1"/>
          <p:nvPr/>
        </p:nvSpPr>
        <p:spPr>
          <a:xfrm>
            <a:off x="932688"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Chapter 32 — Capstone: One Problem, Four Domains</a:t>
            </a:r>
          </a:p>
        </p:txBody>
      </p:sp>
      <p:sp>
        <p:nvSpPr>
          <p:cNvPr id="8" name="!!cl1">
            <a:extLst>
              <a:ext uri="{C183D7F6-B498-43B3-948B-1728B52AA6E4}">
                <adec:decorative xmlns:adec="http://schemas.microsoft.com/office/drawing/2017/decorative" val="1"/>
              </a:ext>
            </a:extLst>
          </p:cNvPr>
          <p:cNvSpPr/>
          <p:nvPr/>
        </p:nvSpPr>
        <p:spPr>
          <a:xfrm>
            <a:off x="6233007" y="2286000"/>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9" name="!!cll1"/>
          <p:cNvSpPr txBox="1"/>
          <p:nvPr/>
        </p:nvSpPr>
        <p:spPr>
          <a:xfrm>
            <a:off x="6507327" y="2468880"/>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READ</a:t>
            </a:r>
          </a:p>
        </p:txBody>
      </p:sp>
      <p:sp>
        <p:nvSpPr>
          <p:cNvPr id="10" name="!!clv1"/>
          <p:cNvSpPr txBox="1"/>
          <p:nvPr/>
        </p:nvSpPr>
        <p:spPr>
          <a:xfrm>
            <a:off x="6507327" y="2761488"/>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Handout Chapter 31, pages 202–207</a:t>
            </a:r>
          </a:p>
        </p:txBody>
      </p:sp>
      <p:sp>
        <p:nvSpPr>
          <p:cNvPr id="11" name="!!cl2">
            <a:extLst>
              <a:ext uri="{C183D7F6-B498-43B3-948B-1728B52AA6E4}">
                <adec:decorative xmlns:adec="http://schemas.microsoft.com/office/drawing/2017/decorative" val="1"/>
              </a:ext>
            </a:extLst>
          </p:cNvPr>
          <p:cNvSpPr/>
          <p:nvPr/>
        </p:nvSpPr>
        <p:spPr>
          <a:xfrm>
            <a:off x="658368"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2" name="!!cll2"/>
          <p:cNvSpPr txBox="1"/>
          <p:nvPr/>
        </p:nvSpPr>
        <p:spPr>
          <a:xfrm>
            <a:off x="932688"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THIS WEEK'S LAB</a:t>
            </a:r>
          </a:p>
        </p:txBody>
      </p:sp>
      <p:sp>
        <p:nvSpPr>
          <p:cNvPr id="13" name="!!clv2"/>
          <p:cNvSpPr txBox="1"/>
          <p:nvPr/>
        </p:nvSpPr>
        <p:spPr>
          <a:xfrm>
            <a:off x="932688"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1900" b="0" i="0">
                <a:solidFill>
                  <a:srgbClr val="FFFFFF"/>
                </a:solidFill>
                <a:latin typeface="Segoe UI Semibold"/>
              </a:rPr>
              <a:t>Monitored service; fairness measurement</a:t>
            </a:r>
          </a:p>
        </p:txBody>
      </p:sp>
      <p:sp>
        <p:nvSpPr>
          <p:cNvPr id="14" name="!!cl3">
            <a:extLst>
              <a:ext uri="{C183D7F6-B498-43B3-948B-1728B52AA6E4}">
                <adec:decorative xmlns:adec="http://schemas.microsoft.com/office/drawing/2017/decorative" val="1"/>
              </a:ext>
            </a:extLst>
          </p:cNvPr>
          <p:cNvSpPr/>
          <p:nvPr/>
        </p:nvSpPr>
        <p:spPr>
          <a:xfrm>
            <a:off x="6233007" y="3584448"/>
            <a:ext cx="5300319" cy="1097280"/>
          </a:xfrm>
          <a:prstGeom prst="roundRect">
            <a:avLst>
              <a:gd name="adj" fmla="val 8333"/>
            </a:avLst>
          </a:prstGeom>
          <a:solidFill>
            <a:srgbClr val="57470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p>
        </p:txBody>
      </p:sp>
      <p:sp>
        <p:nvSpPr>
          <p:cNvPr id="15" name="!!cll3"/>
          <p:cNvSpPr txBox="1"/>
          <p:nvPr/>
        </p:nvSpPr>
        <p:spPr>
          <a:xfrm>
            <a:off x="6507327" y="3767328"/>
            <a:ext cx="4751679" cy="237744"/>
          </a:xfrm>
          <a:prstGeom prst="rect">
            <a:avLst/>
          </a:prstGeom>
          <a:noFill/>
        </p:spPr>
        <p:txBody>
          <a:bodyPr wrap="square" anchor="t" lIns="0" rIns="0" tIns="0" bIns="0">
            <a:noAutofit/>
          </a:bodyPr>
          <a:lstStyle/>
          <a:p>
            <a:pPr algn="l">
              <a:lnSpc>
                <a:spcPct val="100000"/>
              </a:lnSpc>
              <a:spcBef>
                <a:spcPts val="0"/>
              </a:spcBef>
              <a:spcAft>
                <a:spcPts val="0"/>
              </a:spcAft>
            </a:pPr>
            <a:r>
              <a:rPr sz="1150" b="1" i="0" spc="160">
                <a:solidFill>
                  <a:srgbClr val="C9C1A0"/>
                </a:solidFill>
                <a:latin typeface="Segoe UI"/>
              </a:rPr>
              <a:t>ASSESSMENT</a:t>
            </a:r>
          </a:p>
        </p:txBody>
      </p:sp>
      <p:sp>
        <p:nvSpPr>
          <p:cNvPr id="16" name="!!clv3"/>
          <p:cNvSpPr txBox="1"/>
          <p:nvPr/>
        </p:nvSpPr>
        <p:spPr>
          <a:xfrm>
            <a:off x="6507327" y="4059935"/>
            <a:ext cx="4751679" cy="566928"/>
          </a:xfrm>
          <a:prstGeom prst="rect">
            <a:avLst/>
          </a:prstGeom>
          <a:noFill/>
        </p:spPr>
        <p:txBody>
          <a:bodyPr wrap="square" anchor="t" lIns="0" rIns="0" tIns="0" bIns="0">
            <a:noAutofit/>
          </a:bodyPr>
          <a:lstStyle/>
          <a:p>
            <a:pPr algn="l">
              <a:lnSpc>
                <a:spcPct val="100000"/>
              </a:lnSpc>
              <a:spcBef>
                <a:spcPts val="0"/>
              </a:spcBef>
              <a:spcAft>
                <a:spcPts val="0"/>
              </a:spcAft>
            </a:pPr>
            <a:r>
              <a:rPr sz="2100" b="0" i="0">
                <a:solidFill>
                  <a:srgbClr val="FFFFFF"/>
                </a:solidFill>
                <a:latin typeface="Segoe UI Semibold"/>
              </a:rPr>
              <a:t>Capstone due</a:t>
            </a:r>
          </a:p>
        </p:txBody>
      </p:sp>
      <p:sp>
        <p:nvSpPr>
          <p:cNvPr id="17" name="!!footL"/>
          <p:cNvSpPr txBox="1"/>
          <p:nvPr/>
        </p:nvSpPr>
        <p:spPr>
          <a:xfrm>
            <a:off x="658368" y="6437376"/>
            <a:ext cx="6742474" cy="237744"/>
          </a:xfrm>
          <a:prstGeom prst="rect">
            <a:avLst/>
          </a:prstGeom>
          <a:noFill/>
        </p:spPr>
        <p:txBody>
          <a:bodyPr wrap="square" anchor="t" lIns="0" rIns="0" tIns="0" bIns="0">
            <a:noAutofit/>
          </a:bodyPr>
          <a:lstStyle/>
          <a:p>
            <a:pPr algn="l">
              <a:lnSpc>
                <a:spcPct val="100000"/>
              </a:lnSpc>
              <a:spcBef>
                <a:spcPts val="0"/>
              </a:spcBef>
              <a:spcAft>
                <a:spcPts val="0"/>
              </a:spcAft>
            </a:pPr>
            <a:r>
              <a:rPr sz="1000" b="0" i="0">
                <a:solidFill>
                  <a:srgbClr val="B9C6D0"/>
                </a:solidFill>
                <a:latin typeface="Segoe UI"/>
              </a:rPr>
              <a:t>Data Science  ·  Chapter 31  ·  Communicating Data Science</a:t>
            </a:r>
          </a:p>
        </p:txBody>
      </p:sp>
      <p:sp>
        <p:nvSpPr>
          <p:cNvPr id="18" name="!!footR"/>
          <p:cNvSpPr txBox="1"/>
          <p:nvPr/>
        </p:nvSpPr>
        <p:spPr>
          <a:xfrm>
            <a:off x="6639595" y="6437376"/>
            <a:ext cx="4893731" cy="237744"/>
          </a:xfrm>
          <a:prstGeom prst="rect">
            <a:avLst/>
          </a:prstGeom>
          <a:noFill/>
        </p:spPr>
        <p:txBody>
          <a:bodyPr wrap="square" anchor="t" lIns="0" rIns="0" tIns="0" bIns="0">
            <a:noAutofit/>
          </a:bodyPr>
          <a:lstStyle/>
          <a:p>
            <a:pPr algn="r"/>
            <a:fld id="{0230D21F-9F4C-46D1-9820-AF6D71E1FBBF}" type="slidenum">
              <a:rPr lang="en-GB" sz="1000">
                <a:solidFill>
                  <a:srgbClr val="D5DEE5"/>
                </a:solidFill>
                <a:latin typeface="Segoe UI"/>
              </a:rPr>
              <a:t>39</a:t>
            </a:fld>
          </a:p>
        </p:txBody>
      </p:sp>
    </p:spTree>
  </p:cSld>
  <p:clrMapOvr>
    <a:masterClrMapping/>
  </p:clrMapOvr>
  <mc:AlternateContent xmlns:mc="http://schemas.openxmlformats.org/markup-compatibility/2006" xmlns:p14="http://schemas.microsoft.com/office/powerpoint/2010/main">
    <mc:Choice Requires="p14">
      <p:transition spd="med" p14:dur="450">
        <p:fade/>
      </p:transition>
    </mc:Choice>
    <mc:Fallback>
      <p:transition spd="med">
        <p:fade/>
      </p:transition>
    </mc:Fallback>
  </mc:AlternateContent>
</p:sld>
</file>

<file path=ppt/theme/theme1.xml><?xml version="1.0" encoding="utf-8"?>
<a:theme xmlns:a="http://schemas.openxmlformats.org/drawingml/2006/main" name="Data Science Fall 2026">
  <a:themeElements>
    <a:clrScheme name="Data Science Fall 2026">
      <a:dk1>
        <a:srgbClr val="1C252B"/>
      </a:dk1>
      <a:lt1>
        <a:srgbClr val="FFFFFF"/>
      </a:lt1>
      <a:dk2>
        <a:srgbClr val="1A5276"/>
      </a:dk2>
      <a:lt2>
        <a:srgbClr val="EBF5FB"/>
      </a:lt2>
      <a:accent1>
        <a:srgbClr val="1A5276"/>
      </a:accent1>
      <a:accent2>
        <a:srgbClr val="2E86C1"/>
      </a:accent2>
      <a:accent3>
        <a:srgbClr val="E74C3C"/>
      </a:accent3>
      <a:accent4>
        <a:srgbClr val="27AE60"/>
      </a:accent4>
      <a:accent5>
        <a:srgbClr val="8E44AD"/>
      </a:accent5>
      <a:accent6>
        <a:srgbClr val="B7950B"/>
      </a:accent6>
      <a:hlink>
        <a:srgbClr val="2E86C1"/>
      </a:hlink>
      <a:folHlink>
        <a:srgbClr val="8E44AD"/>
      </a:folHlink>
    </a:clrScheme>
    <a:fontScheme name="Data Science Fall 2026">
      <a:majorFont>
        <a:latin typeface="Segoe UI Semibold"/>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egoe U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31: Communicating Data Science</dc:title>
  <dc:subject>Data Science — From Foundations to Intelligent Systems · BSIT · Fall 2026</dc:subject>
  <dc:creator>Dr. Mustafa Hameed</dc:creator>
  <cp:keywords>data science; lecture slides; BSIT; Fall 2026</cp:keywords>
  <dc:description>generated using python-pptx</dc:description>
  <cp:lastModifiedBy>Steve Canny</cp:lastModifiedBy>
  <cp:revision>1</cp:revision>
  <dcterms:created xsi:type="dcterms:W3CDTF">2013-01-27T09:14:16Z</dcterms:created>
  <dcterms:modified xsi:type="dcterms:W3CDTF">2013-01-27T09:15:58Z</dcterms:modified>
  <cp:category>Lecture slides</cp:category>
</cp:coreProperties>
</file>