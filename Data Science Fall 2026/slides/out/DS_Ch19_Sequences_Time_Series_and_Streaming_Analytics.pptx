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8.svg" ContentType="image/svg+xml"/>
  <Override PartName="/ppt/media/image30.svg" ContentType="image/svg+xml"/>
  <Override PartName="/ppt/media/image31.svg" ContentType="image/svg+xml"/>
  <Override PartName="/ppt/media/image33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8.svg" ContentType="image/svg+xml"/>
  <Override PartName="/ppt/media/image8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32396DA-CC8D-4AB3-B0F2-8A9DF166B212}">
          <p14:sldIdLst>
            <p14:sldId id="256"/>
            <p14:sldId id="257"/>
            <p14:sldId id="258"/>
            <p14:sldId id="259"/>
            <p14:sldId id="260"/>
          </p14:sldIdLst>
        </p14:section>
        <p14:section name="19.1 What Makes Time Different" id="{CF75CEA8-3650-4728-B956-FAB9D3142329}">
          <p14:sldIdLst>
            <p14:sldId id="261"/>
          </p14:sldIdLst>
        </p14:section>
        <p14:section name="19.2 Decomposition" id="{B6E574F9-C852-47F3-93C1-528B8E3BFDC1}">
          <p14:sldIdLst>
            <p14:sldId id="262"/>
            <p14:sldId id="263"/>
            <p14:sldId id="264"/>
            <p14:sldId id="265"/>
          </p14:sldIdLst>
        </p14:section>
        <p14:section name="19.3 Features for Forecasting" id="{F76361D4-6539-40D3-8CA9-33256992C7B7}">
          <p14:sldIdLst>
            <p14:sldId id="266"/>
            <p14:sldId id="267"/>
            <p14:sldId id="268"/>
          </p14:sldIdLst>
        </p14:section>
        <p14:section name="19.4 Validating a Temporal Model" id="{791A0EAD-61C7-42FD-85BE-F96B5F06A8BC}">
          <p14:sldIdLst>
            <p14:sldId id="269"/>
            <p14:sldId id="270"/>
            <p14:sldId id="271"/>
          </p14:sldIdLst>
        </p14:section>
        <p14:section name="19.5 Batch and Stream Processing" id="{6FDBBBFC-1361-4F4E-813F-580B393D56F8}">
          <p14:sldIdLst>
            <p14:sldId id="272"/>
            <p14:sldId id="273"/>
            <p14:sldId id="274"/>
          </p14:sldIdLst>
        </p14:section>
        <p14:section name="19.6 Concept Drift" id="{DAE6CAEA-4BC4-4C69-A1A4-92F200D53693}">
          <p14:sldIdLst>
            <p14:sldId id="275"/>
            <p14:sldId id="276"/>
            <p14:sldId id="277"/>
            <p14:sldId id="278"/>
          </p14:sldIdLst>
        </p14:section>
        <p14:section name="Four lenses" id="{62EBC2AE-CBCE-49F6-93A9-878C5325FDF7}">
          <p14:sldIdLst>
            <p14:sldId id="279"/>
            <p14:sldId id="280"/>
            <p14:sldId id="281"/>
            <p14:sldId id="282"/>
            <p14:sldId id="283"/>
          </p14:sldIdLst>
        </p14:section>
        <p14:section name="Lab" id="{664E7A15-1BA8-4B03-9640-8D2B48B9EC87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Checkpoint" id="{2F347C0F-81C6-479E-AE18-A19C8D4E0DC5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Wrap-up" id="{E8C44093-5D4D-490D-88AD-46111C7B7212}">
          <p14:sldIdLst>
            <p14:sldId id="296"/>
            <p14:sldId id="297"/>
            <p14:sldId id="298"/>
            <p14:sldId id="299"/>
            <p14:sldId id="30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19: Sequences, Time Series and Streaming Analytics. Part 4 — Deep Learning and Modern AI. Week 12: Time series; text and NLP. Handout pages 122–128.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5, Chapter 14 (validation strategy) and Chapter 15 (window aggregations). This chapter is the direct bridge into Chapter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time series; trend; seasonality; residual; stationarity; lag feature; rolling window; autocorrelation; ARIMA; horizon; walk-forward validation; batch vs stream; tumbling and sliding windows; watermark; concept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19.1 (handout p. 123): Decomposition of a weekly series. Separating trend and seasonality is what lets you say whether a drop is alarming: a fall in week 31 means nothing if week 31 always falls, and everything if it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19.2 (handout p. 124): Walk-forward (rolling-origin) validation. The training window only ever extends backwards; each validation block sits strictly after its training data, exactly as deployment will.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19.3 (handout p. 125): Three windowing strategies for streaming data. Choosing the window is choosing what “recent” means, and it determines both detection latency and false-alarm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19.4 (handout p. 125): Three fates of a deployed model. Nothing about the code changed in any of them — the world did. Monitoring for this is the subject of Chapter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method, four domains. Each of the next four slides opens one lens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Analytics. Engagement is strongly seasonal on a weekly and a semester cycle — always decompose before alerting, or you will raise an alarm every reading week. The trajectory of a student’s residual is the signal: two consecutive weeks below their own baseline is a far better trigger than any absolute threshold. Validation must be walk-forward across cohorts, since a model trained on the 2025 cohort to predict 2024 proves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Management. Sprint data is a short, irregular series with strong autocorrelation — this sprint resembles the last. The naive baseline (“same as last sprint”) is genuinely hard to beat, and saying so honestly is more valuable than a marginally better model. Concept drift is guaranteed whenever the team composition changes, which is why models here need a shorter memory than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Internet of Things. This chapter is the technical bridge to Chapter 25. Telemetry is the purest streaming problem: unbounded, high-volume, out-of-order. Use sliding windows for detection latency, tumbling for reporting, and set the watermark from the worst-case network delay in your fleet. Sensors drift physically as well as statistically — a thermistor ages — so drift monitoring must distinguish a failing sensor from a changing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Cybersecurity. Windowed counts are the core feature type: failed logins per account per 5 minutes, distinct ports per host per minute. Diurnal and weekly seasonality is strong, so a 3 a.m. spike matters and a 3 p.m. one may not — decompose first. Drift here is adversarial, which makes it categorically different from the other three lenses: the distribution is not shifting by accident, it is being shifted deliberately, and scheduled retraining on recent data can be poisoned.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what the room will have at the end of the lab, then let them start. Circulate rather than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Set-up.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Decompose before doing anything else.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Features -- every one looks BACKWARDS only.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Walk-forward validation, never random.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A simple drift monitor.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A centred window includes values after time t, which will not exist when the model runs. The feature encodes the future, so validation scores are inflated and production performance collapses.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Not necessarily. Decompose first: if traffic drops every 25 December, the seasonal component accounts for it and the residual is unremarkable. Only a drop beyond the expected seasonal pattern is an anomaly.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(i) Did an upstream data source change or break — check input distributions and row counts. (ii) Did the world change — a new system, a policy change, a new attacker technique. A sudden cliff is almost always an upstream change rather than gradual model decay.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20 — Text and Natural Language Processing. READ: Handout Chapter 19, pages 122–128. THIS WEEK'S LAB: Decompose &amp; walk-forward; TF-IDF classifier. ASSESSMENT: Assignment 2 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11.xml"/><Relationship Id="rId8" Type="http://schemas.openxmlformats.org/officeDocument/2006/relationships/slide" Target="slide14.xml"/><Relationship Id="rId9" Type="http://schemas.openxmlformats.org/officeDocument/2006/relationships/slide" Target="slide17.xml"/><Relationship Id="rId10" Type="http://schemas.openxmlformats.org/officeDocument/2006/relationships/slide" Target="slide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23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28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4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3" Type="http://schemas.openxmlformats.org/officeDocument/2006/relationships/image" Target="../media/image36.svg"/><Relationship Id="rId4" Type="http://schemas.openxmlformats.org/officeDocument/2006/relationships/image" Target="../media/image37.png"/><Relationship Id="rId5" Type="http://schemas.openxmlformats.org/officeDocument/2006/relationships/image" Target="../media/image38.svg"/><Relationship Id="rId6" Type="http://schemas.openxmlformats.org/officeDocument/2006/relationships/image" Target="../media/image39.png"/><Relationship Id="rId7" Type="http://schemas.openxmlformats.org/officeDocument/2006/relationships/image" Target="../media/image40.svg"/><Relationship Id="rId8" Type="http://schemas.openxmlformats.org/officeDocument/2006/relationships/image" Target="../media/image41.png"/><Relationship Id="rId9" Type="http://schemas.openxmlformats.org/officeDocument/2006/relationships/image" Target="../media/image42.sv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Relationship Id="rId3" Type="http://schemas.openxmlformats.org/officeDocument/2006/relationships/image" Target="../media/image46.svg"/><Relationship Id="rId4" Type="http://schemas.openxmlformats.org/officeDocument/2006/relationships/image" Target="../media/image37.png"/><Relationship Id="rId5" Type="http://schemas.openxmlformats.org/officeDocument/2006/relationships/image" Target="../media/image47.svg"/><Relationship Id="rId6" Type="http://schemas.openxmlformats.org/officeDocument/2006/relationships/image" Target="../media/image39.png"/><Relationship Id="rId7" Type="http://schemas.openxmlformats.org/officeDocument/2006/relationships/image" Target="../media/image48.svg"/><Relationship Id="rId8" Type="http://schemas.openxmlformats.org/officeDocument/2006/relationships/image" Target="../media/image41.png"/><Relationship Id="rId9" Type="http://schemas.openxmlformats.org/officeDocument/2006/relationships/image" Target="../media/image49.svg"/><Relationship Id="rId10" Type="http://schemas.openxmlformats.org/officeDocument/2006/relationships/image" Target="../media/image43.png"/><Relationship Id="rId11" Type="http://schemas.openxmlformats.org/officeDocument/2006/relationships/image" Target="../media/image50.svg"/><Relationship Id="rId1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Relationship Id="rId3" Type="http://schemas.openxmlformats.org/officeDocument/2006/relationships/image" Target="../media/image52.svg"/><Relationship Id="rId4" Type="http://schemas.openxmlformats.org/officeDocument/2006/relationships/image" Target="../media/image39.png"/><Relationship Id="rId5" Type="http://schemas.openxmlformats.org/officeDocument/2006/relationships/image" Target="../media/image53.svg"/><Relationship Id="rId6" Type="http://schemas.openxmlformats.org/officeDocument/2006/relationships/image" Target="../media/image37.png"/><Relationship Id="rId7" Type="http://schemas.openxmlformats.org/officeDocument/2006/relationships/image" Target="../media/image54.svg"/><Relationship Id="rId8" Type="http://schemas.openxmlformats.org/officeDocument/2006/relationships/image" Target="../media/image41.png"/><Relationship Id="rId9" Type="http://schemas.openxmlformats.org/officeDocument/2006/relationships/image" Target="../media/image55.svg"/><Relationship Id="rId10" Type="http://schemas.openxmlformats.org/officeDocument/2006/relationships/image" Target="../media/image43.png"/><Relationship Id="rId11" Type="http://schemas.openxmlformats.org/officeDocument/2006/relationships/image" Target="../media/image56.svg"/><Relationship Id="rId1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3" Type="http://schemas.openxmlformats.org/officeDocument/2006/relationships/image" Target="../media/image58.svg"/><Relationship Id="rId4" Type="http://schemas.openxmlformats.org/officeDocument/2006/relationships/image" Target="../media/image41.png"/><Relationship Id="rId5" Type="http://schemas.openxmlformats.org/officeDocument/2006/relationships/image" Target="../media/image59.svg"/><Relationship Id="rId6" Type="http://schemas.openxmlformats.org/officeDocument/2006/relationships/image" Target="../media/image37.png"/><Relationship Id="rId7" Type="http://schemas.openxmlformats.org/officeDocument/2006/relationships/image" Target="../media/image60.svg"/><Relationship Id="rId8" Type="http://schemas.openxmlformats.org/officeDocument/2006/relationships/image" Target="../media/image39.png"/><Relationship Id="rId9" Type="http://schemas.openxmlformats.org/officeDocument/2006/relationships/image" Target="../media/image61.svg"/><Relationship Id="rId10" Type="http://schemas.openxmlformats.org/officeDocument/2006/relationships/image" Target="../media/image43.png"/><Relationship Id="rId11" Type="http://schemas.openxmlformats.org/officeDocument/2006/relationships/image" Target="../media/image62.svg"/><Relationship Id="rId1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Relationship Id="rId3" Type="http://schemas.openxmlformats.org/officeDocument/2006/relationships/image" Target="../media/image64.svg"/><Relationship Id="rId4" Type="http://schemas.openxmlformats.org/officeDocument/2006/relationships/image" Target="../media/image43.png"/><Relationship Id="rId5" Type="http://schemas.openxmlformats.org/officeDocument/2006/relationships/image" Target="../media/image65.svg"/><Relationship Id="rId6" Type="http://schemas.openxmlformats.org/officeDocument/2006/relationships/image" Target="../media/image37.png"/><Relationship Id="rId7" Type="http://schemas.openxmlformats.org/officeDocument/2006/relationships/image" Target="../media/image66.svg"/><Relationship Id="rId8" Type="http://schemas.openxmlformats.org/officeDocument/2006/relationships/image" Target="../media/image39.png"/><Relationship Id="rId9" Type="http://schemas.openxmlformats.org/officeDocument/2006/relationships/image" Target="../media/image67.svg"/><Relationship Id="rId10" Type="http://schemas.openxmlformats.org/officeDocument/2006/relationships/image" Target="../media/image41.png"/><Relationship Id="rId11" Type="http://schemas.openxmlformats.org/officeDocument/2006/relationships/image" Target="../media/image68.svg"/><Relationship Id="rId1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0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1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2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3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4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5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png"/><Relationship Id="rId3" Type="http://schemas.openxmlformats.org/officeDocument/2006/relationships/image" Target="../media/image77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3" Type="http://schemas.openxmlformats.org/officeDocument/2006/relationships/image" Target="../media/image79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png"/><Relationship Id="rId3" Type="http://schemas.openxmlformats.org/officeDocument/2006/relationships/image" Target="../media/image80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3" Type="http://schemas.openxmlformats.org/officeDocument/2006/relationships/image" Target="../media/image81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png"/><Relationship Id="rId3" Type="http://schemas.openxmlformats.org/officeDocument/2006/relationships/image" Target="../media/image82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3" Type="http://schemas.openxmlformats.org/officeDocument/2006/relationships/image" Target="../media/image83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4.png"/><Relationship Id="rId3" Type="http://schemas.openxmlformats.org/officeDocument/2006/relationships/image" Target="../media/image85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3" Type="http://schemas.openxmlformats.org/officeDocument/2006/relationships/image" Target="../media/image87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3" Type="http://schemas.openxmlformats.org/officeDocument/2006/relationships/image" Target="../media/image88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3" Type="http://schemas.openxmlformats.org/officeDocument/2006/relationships/image" Target="../media/image89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74EA0"/>
                </a:solidFill>
                <a:latin typeface="Segoe UI Black"/>
              </a:rPr>
              <a:t>19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Sequences, Time Series and Streaming Analytics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PART IV  ·  DEEP LEARNING AND MODERN AI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CHAPTER 19  ·  WEEK 12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4D8EA"/>
                </a:solidFill>
                <a:latin typeface="Segoe UI"/>
              </a:rPr>
              <a:t>Data Science — From Foundations to Intelligent Systems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8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C0AE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0C3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0AE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122     </a:t>
            </a:r>
            <a:fld id="{22C7A029-0B33-4C22-9866-4BCA545C81F9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740856" y="1755648"/>
            <a:ext cx="107133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0856" y="2029967"/>
            <a:ext cx="107133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4141374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41374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6104991" y="1755648"/>
            <a:ext cx="194532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A3A95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4991" y="2029967"/>
            <a:ext cx="1945328" cy="4572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379504" y="1755648"/>
            <a:ext cx="135288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9504" y="2029967"/>
            <a:ext cx="135288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061571" y="1755648"/>
            <a:ext cx="135288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61571" y="2029967"/>
            <a:ext cx="135288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22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66198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4972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94353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652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22508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80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5066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7962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178818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117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06973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17039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262559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8589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29071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0138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318869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1688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34702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7557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40261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910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430766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065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458921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62205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487076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3755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515231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25304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543386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1174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598973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2723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627128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53417" y="2112264"/>
            <a:ext cx="566928" cy="566928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6653417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671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714527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1826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742682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9981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770837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68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826424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23</a:t>
            </a:r>
          </a:p>
        </p:txBody>
      </p:sp>
      <p:sp>
        <p:nvSpPr>
          <p:cNvPr id="65" name="!!dot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723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dotn24"/>
          <p:cNvSpPr txBox="1"/>
          <p:nvPr/>
        </p:nvSpPr>
        <p:spPr>
          <a:xfrm>
            <a:off x="85457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24</a:t>
            </a:r>
          </a:p>
        </p:txBody>
      </p:sp>
      <p:sp>
        <p:nvSpPr>
          <p:cNvPr id="67" name="!!dot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878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dotn25"/>
          <p:cNvSpPr txBox="1"/>
          <p:nvPr/>
        </p:nvSpPr>
        <p:spPr>
          <a:xfrm>
            <a:off x="882734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25</a:t>
            </a:r>
          </a:p>
        </p:txBody>
      </p:sp>
      <p:sp>
        <p:nvSpPr>
          <p:cNvPr id="69" name="!!dot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0033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dotn26"/>
          <p:cNvSpPr txBox="1"/>
          <p:nvPr/>
        </p:nvSpPr>
        <p:spPr>
          <a:xfrm>
            <a:off x="91088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26</a:t>
            </a:r>
          </a:p>
        </p:txBody>
      </p:sp>
      <p:sp>
        <p:nvSpPr>
          <p:cNvPr id="71" name="!!dot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188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dotn27"/>
          <p:cNvSpPr txBox="1"/>
          <p:nvPr/>
        </p:nvSpPr>
        <p:spPr>
          <a:xfrm>
            <a:off x="939044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27</a:t>
            </a:r>
          </a:p>
        </p:txBody>
      </p:sp>
      <p:sp>
        <p:nvSpPr>
          <p:cNvPr id="73" name="!!dot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77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dotn28"/>
          <p:cNvSpPr txBox="1"/>
          <p:nvPr/>
        </p:nvSpPr>
        <p:spPr>
          <a:xfrm>
            <a:off x="99463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28</a:t>
            </a:r>
          </a:p>
        </p:txBody>
      </p:sp>
      <p:sp>
        <p:nvSpPr>
          <p:cNvPr id="75" name="!!dot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930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dotn29"/>
          <p:cNvSpPr txBox="1"/>
          <p:nvPr/>
        </p:nvSpPr>
        <p:spPr>
          <a:xfrm>
            <a:off x="1022786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29</a:t>
            </a:r>
          </a:p>
        </p:txBody>
      </p:sp>
      <p:sp>
        <p:nvSpPr>
          <p:cNvPr id="77" name="!!dot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085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dotn30"/>
          <p:cNvSpPr txBox="1"/>
          <p:nvPr/>
        </p:nvSpPr>
        <p:spPr>
          <a:xfrm>
            <a:off x="1050941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30</a:t>
            </a:r>
          </a:p>
        </p:txBody>
      </p:sp>
      <p:sp>
        <p:nvSpPr>
          <p:cNvPr id="79" name="!!dot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240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!!dotn31"/>
          <p:cNvSpPr txBox="1"/>
          <p:nvPr/>
        </p:nvSpPr>
        <p:spPr>
          <a:xfrm>
            <a:off x="1079096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31</a:t>
            </a:r>
          </a:p>
        </p:txBody>
      </p:sp>
      <p:sp>
        <p:nvSpPr>
          <p:cNvPr id="81" name="!!dot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6395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dotn32"/>
          <p:cNvSpPr txBox="1"/>
          <p:nvPr/>
        </p:nvSpPr>
        <p:spPr>
          <a:xfrm>
            <a:off x="1107251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32</a:t>
            </a:r>
          </a:p>
        </p:txBody>
      </p:sp>
      <p:sp>
        <p:nvSpPr>
          <p:cNvPr id="83" name="!!dotlabel"/>
          <p:cNvSpPr txBox="1"/>
          <p:nvPr/>
        </p:nvSpPr>
        <p:spPr>
          <a:xfrm>
            <a:off x="4650881" y="2798064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A3A95"/>
                </a:solidFill>
                <a:latin typeface="Segoe UI"/>
              </a:rPr>
              <a:t>Sequences, Time Series and Streaming Analytics</a:t>
            </a:r>
          </a:p>
        </p:txBody>
      </p:sp>
      <p:sp>
        <p:nvSpPr>
          <p:cNvPr id="8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85" name="!!chip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!!chipb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!!chiptBU5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Describing Data: Centre, Spread and Shape</a:t>
            </a:r>
          </a:p>
        </p:txBody>
      </p:sp>
      <p:sp>
        <p:nvSpPr>
          <p:cNvPr id="88" name="!!chipBU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!!chipbBU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!!chiptBU14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Model Evaluation and Selection</a:t>
            </a:r>
          </a:p>
        </p:txBody>
      </p:sp>
      <p:sp>
        <p:nvSpPr>
          <p:cNvPr id="91" name="!!chipBU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!!chipbBU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!!chiptBU15"/>
          <p:cNvSpPr txBox="1"/>
          <p:nvPr/>
        </p:nvSpPr>
        <p:spPr>
          <a:xfrm>
            <a:off x="859536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Feature Engineering and Ensembles</a:t>
            </a:r>
          </a:p>
        </p:txBody>
      </p:sp>
      <p:sp>
        <p:nvSpPr>
          <p:cNvPr id="94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95" name="!!chip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!!chipb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!!chiptUS23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Data Engineering at Scale</a:t>
            </a:r>
          </a:p>
        </p:txBody>
      </p:sp>
      <p:sp>
        <p:nvSpPr>
          <p:cNvPr id="98" name="!!chipUS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!!chipbUS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!!chiptUS25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Data Science for the Internet of Things</a:t>
            </a:r>
          </a:p>
        </p:txBody>
      </p:sp>
      <p:sp>
        <p:nvSpPr>
          <p:cNvPr id="101" name="!!chipUS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!!chipbUS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!!chiptUS26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26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Data Science for Cybersecurity</a:t>
            </a:r>
          </a:p>
        </p:txBody>
      </p:sp>
      <p:sp>
        <p:nvSpPr>
          <p:cNvPr id="104" name="!!chipUS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!!chipbUS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!!chiptUS27"/>
          <p:cNvSpPr txBox="1"/>
          <p:nvPr/>
        </p:nvSpPr>
        <p:spPr>
          <a:xfrm>
            <a:off x="6525615" y="5413248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27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MLOps: Deployment, Monitoring and Reliability</a:t>
            </a:r>
          </a:p>
        </p:txBody>
      </p:sp>
      <p:sp>
        <p:nvSpPr>
          <p:cNvPr id="10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185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122     </a:t>
            </a:r>
            <a:fld id="{B9A8C3DA-7726-4409-90CE-94D779FE2839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Decompose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time series into trend, seasonality and residual, and read the decomposition.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11170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Build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lag, rolling-window and calendar features for a forecasting model.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715207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Validate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temporal model correctly, and explain why random splitting is invalid.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318711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Distinguish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batch from stream processing and describe windowing.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81067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4940503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4922215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Detect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concept drift and specify a response.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122     </a:t>
            </a:r>
            <a:fld id="{630D8174-4959-48DE-8424-4D932B406FF0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time seri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41781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time seri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time series"/>
          <p:cNvSpPr txBox="1"/>
          <p:nvPr/>
        </p:nvSpPr>
        <p:spPr>
          <a:xfrm>
            <a:off x="950976" y="1962911"/>
            <a:ext cx="123493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time series</a:t>
            </a:r>
          </a:p>
        </p:txBody>
      </p:sp>
      <p:sp>
        <p:nvSpPr>
          <p:cNvPr id="10" name="!!term-tre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22491" y="1847088"/>
            <a:ext cx="92904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tre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5050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trend"/>
          <p:cNvSpPr txBox="1"/>
          <p:nvPr/>
        </p:nvSpPr>
        <p:spPr>
          <a:xfrm>
            <a:off x="2515099" y="1962911"/>
            <a:ext cx="74616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trend</a:t>
            </a:r>
          </a:p>
        </p:txBody>
      </p:sp>
      <p:sp>
        <p:nvSpPr>
          <p:cNvPr id="13" name="!!term-seasona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7845" y="1847088"/>
            <a:ext cx="144372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seasona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586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seasonality"/>
          <p:cNvSpPr txBox="1"/>
          <p:nvPr/>
        </p:nvSpPr>
        <p:spPr>
          <a:xfrm>
            <a:off x="3590453" y="1962911"/>
            <a:ext cx="126084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seasonality</a:t>
            </a:r>
          </a:p>
        </p:txBody>
      </p:sp>
      <p:sp>
        <p:nvSpPr>
          <p:cNvPr id="16" name="!!term-residu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7877" y="1847088"/>
            <a:ext cx="115247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residu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1589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residual"/>
          <p:cNvSpPr txBox="1"/>
          <p:nvPr/>
        </p:nvSpPr>
        <p:spPr>
          <a:xfrm>
            <a:off x="5180485" y="1962911"/>
            <a:ext cx="96959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residual</a:t>
            </a:r>
          </a:p>
        </p:txBody>
      </p:sp>
      <p:sp>
        <p:nvSpPr>
          <p:cNvPr id="19" name="!!term-stationar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6660" y="1847088"/>
            <a:ext cx="146010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stationar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467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stationarity"/>
          <p:cNvSpPr txBox="1"/>
          <p:nvPr/>
        </p:nvSpPr>
        <p:spPr>
          <a:xfrm>
            <a:off x="6479268" y="1962911"/>
            <a:ext cx="127722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stationarity</a:t>
            </a:r>
          </a:p>
        </p:txBody>
      </p:sp>
      <p:sp>
        <p:nvSpPr>
          <p:cNvPr id="22" name="!!term-lag fea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93066" y="1847088"/>
            <a:ext cx="142026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lag fea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1082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lag feature"/>
          <p:cNvSpPr txBox="1"/>
          <p:nvPr/>
        </p:nvSpPr>
        <p:spPr>
          <a:xfrm>
            <a:off x="8085674" y="1962911"/>
            <a:ext cx="123738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lag feature</a:t>
            </a:r>
          </a:p>
        </p:txBody>
      </p:sp>
      <p:sp>
        <p:nvSpPr>
          <p:cNvPr id="25" name="!!term-rolling wind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9635" y="1847088"/>
            <a:ext cx="178981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rolling wind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765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rolling window"/>
          <p:cNvSpPr txBox="1"/>
          <p:nvPr/>
        </p:nvSpPr>
        <p:spPr>
          <a:xfrm>
            <a:off x="9652243" y="1962911"/>
            <a:ext cx="160693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rolling window</a:t>
            </a:r>
          </a:p>
        </p:txBody>
      </p:sp>
      <p:sp>
        <p:nvSpPr>
          <p:cNvPr id="28" name="!!term-autocorrelat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83808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autocorrelat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autocorrelatio"/>
          <p:cNvSpPr txBox="1"/>
          <p:nvPr/>
        </p:nvSpPr>
        <p:spPr>
          <a:xfrm>
            <a:off x="950976" y="2584704"/>
            <a:ext cx="165520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autocorrelation</a:t>
            </a:r>
          </a:p>
        </p:txBody>
      </p:sp>
      <p:sp>
        <p:nvSpPr>
          <p:cNvPr id="31" name="!!term-ARIM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2755" y="2468880"/>
            <a:ext cx="107148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ARIM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077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ARIMA"/>
          <p:cNvSpPr txBox="1"/>
          <p:nvPr/>
        </p:nvSpPr>
        <p:spPr>
          <a:xfrm>
            <a:off x="2935363" y="2584704"/>
            <a:ext cx="88860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ARIMA</a:t>
            </a:r>
          </a:p>
        </p:txBody>
      </p:sp>
      <p:sp>
        <p:nvSpPr>
          <p:cNvPr id="34" name="!!term-horiz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0540" y="2468880"/>
            <a:ext cx="113241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horiz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8556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horizon"/>
          <p:cNvSpPr txBox="1"/>
          <p:nvPr/>
        </p:nvSpPr>
        <p:spPr>
          <a:xfrm>
            <a:off x="4153148" y="2584704"/>
            <a:ext cx="94953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horizon</a:t>
            </a:r>
          </a:p>
        </p:txBody>
      </p:sp>
      <p:sp>
        <p:nvSpPr>
          <p:cNvPr id="37" name="!!term-walk-forwar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39262" y="2468880"/>
            <a:ext cx="258680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walk-forwar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6727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walk-forward v"/>
          <p:cNvSpPr txBox="1"/>
          <p:nvPr/>
        </p:nvSpPr>
        <p:spPr>
          <a:xfrm>
            <a:off x="5431870" y="2584704"/>
            <a:ext cx="240392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walk-forward validation</a:t>
            </a:r>
          </a:p>
        </p:txBody>
      </p:sp>
      <p:sp>
        <p:nvSpPr>
          <p:cNvPr id="40" name="!!term-batch vs str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72371" y="2468880"/>
            <a:ext cx="187284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batch vs str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0387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batch vs strea"/>
          <p:cNvSpPr txBox="1"/>
          <p:nvPr/>
        </p:nvSpPr>
        <p:spPr>
          <a:xfrm>
            <a:off x="8164979" y="2584704"/>
            <a:ext cx="168996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batch vs stream</a:t>
            </a:r>
          </a:p>
        </p:txBody>
      </p:sp>
      <p:sp>
        <p:nvSpPr>
          <p:cNvPr id="43" name="!!term-tumbling and 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318018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termd-tumbling and 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termt-tumbling and s"/>
          <p:cNvSpPr txBox="1"/>
          <p:nvPr/>
        </p:nvSpPr>
        <p:spPr>
          <a:xfrm>
            <a:off x="950976" y="3206496"/>
            <a:ext cx="299730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tumbling and sliding windows</a:t>
            </a:r>
          </a:p>
        </p:txBody>
      </p:sp>
      <p:sp>
        <p:nvSpPr>
          <p:cNvPr id="46" name="!!term-water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4857" y="3090672"/>
            <a:ext cx="140410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!!termd-water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2873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termt-watermark"/>
          <p:cNvSpPr txBox="1"/>
          <p:nvPr/>
        </p:nvSpPr>
        <p:spPr>
          <a:xfrm>
            <a:off x="4277465" y="3206496"/>
            <a:ext cx="122122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watermark</a:t>
            </a:r>
          </a:p>
        </p:txBody>
      </p:sp>
      <p:sp>
        <p:nvSpPr>
          <p:cNvPr id="49" name="!!term-concept drif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5269" y="3090672"/>
            <a:ext cx="160607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termd-concept drif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3285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!!termt-concept drift"/>
          <p:cNvSpPr txBox="1"/>
          <p:nvPr/>
        </p:nvSpPr>
        <p:spPr>
          <a:xfrm>
            <a:off x="5827877" y="3206496"/>
            <a:ext cx="142319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concept drift</a:t>
            </a:r>
          </a:p>
        </p:txBody>
      </p:sp>
      <p:sp>
        <p:nvSpPr>
          <p:cNvPr id="52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5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370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122–128     </a:t>
            </a:r>
            <a:fld id="{32D42C63-E5E1-47B4-8B35-3487B7749762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9.1 What Makes Time Different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19.1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What Makes Time Different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122  ›</a:t>
            </a:r>
          </a:p>
        </p:txBody>
      </p:sp>
      <p:sp>
        <p:nvSpPr>
          <p:cNvPr id="12" name="!!ag1" descr="Go to section 19.2 Decomposition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19.2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Decomposition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122  ›</a:t>
            </a:r>
          </a:p>
        </p:txBody>
      </p:sp>
      <p:sp>
        <p:nvSpPr>
          <p:cNvPr id="17" name="!!ag2" descr="Go to section 19.3 Features for Forecasting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19.3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Features for Forecasting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22" name="!!ag3" descr="Go to section 19.4 Validating a Temporal Model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19.4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Validating a Temporal Model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124  ›</a:t>
            </a:r>
          </a:p>
        </p:txBody>
      </p:sp>
      <p:sp>
        <p:nvSpPr>
          <p:cNvPr id="27" name="!!ag4" descr="Go to section 19.5 Batch and Stream Processing">
            <a:hlinkClick action="ppaction://hlinksldjump" r:id="rId9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19.5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Batch and Stream Processing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124  ›</a:t>
            </a:r>
          </a:p>
        </p:txBody>
      </p:sp>
      <p:sp>
        <p:nvSpPr>
          <p:cNvPr id="32" name="!!ag5" descr="Go to section 19.6 Concept Drift">
            <a:hlinkClick action="ppaction://hlinksldjump" r:id="rId10"/>
          </p:cNvPr>
          <p:cNvSpPr/>
          <p:nvPr/>
        </p:nvSpPr>
        <p:spPr>
          <a:xfrm>
            <a:off x="658368" y="49743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ag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7433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agn5"/>
          <p:cNvSpPr txBox="1"/>
          <p:nvPr/>
        </p:nvSpPr>
        <p:spPr>
          <a:xfrm>
            <a:off x="932688" y="51206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19.6</a:t>
            </a:r>
          </a:p>
        </p:txBody>
      </p:sp>
      <p:sp>
        <p:nvSpPr>
          <p:cNvPr id="35" name="!!agt5"/>
          <p:cNvSpPr txBox="1"/>
          <p:nvPr/>
        </p:nvSpPr>
        <p:spPr>
          <a:xfrm>
            <a:off x="1847088" y="51206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Concept Drift</a:t>
            </a:r>
          </a:p>
        </p:txBody>
      </p:sp>
      <p:sp>
        <p:nvSpPr>
          <p:cNvPr id="36" name="!!agp5"/>
          <p:cNvSpPr txBox="1"/>
          <p:nvPr/>
        </p:nvSpPr>
        <p:spPr>
          <a:xfrm>
            <a:off x="9795967" y="51480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125  ›</a:t>
            </a:r>
          </a:p>
        </p:txBody>
      </p:sp>
      <p:sp>
        <p:nvSpPr>
          <p:cNvPr id="3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35463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Rule That Governs This Whole Chapter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§19.1  ·  Handout p. 122     </a:t>
            </a:r>
            <a:fld id="{E766420F-F3FA-48FD-801B-69AAD0D7091A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Observations are 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not independent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Today’s value depends on yesterday’s. Every technique in Part III assumed independence, so every one of them needs adjusting here — most importantly the validation strategy. Shuffling a time series destroys the only structure that matters.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Decomposition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2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19.2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19.1   What Makes Time Different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19.2   Decomposition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19.3   Features for Forecasting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19.4   Validating a Temporal Model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19.5   Batch and Stream Processing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19.6   Concept Drift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§19.2     </a:t>
            </a:r>
            <a:fld id="{43C72875-D9FC-4EB2-97C6-B4ED9499DA39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9648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Time Series Decomposition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§19.2  ·  Handout p. 122     </a:t>
            </a:r>
            <a:fld id="{031EDD23-2627-405E-B977-98A4E7EB5E0A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801040"/>
          </a:xfrm>
          <a:prstGeom prst="roundRect">
            <a:avLst>
              <a:gd name="adj" fmla="val 3264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80104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Any series can be viewed as</a:t>
            </a:r>
          </a:p>
        </p:txBody>
      </p:sp>
      <p:pic>
        <p:nvPicPr>
          <p:cNvPr id="10" name="body-1" descr="y_t = \text{Trend}_t + \text{Seasonality}_t + \text{Residual}_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573451"/>
            <a:ext cx="10161727" cy="399775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60704" y="3133882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(or multiplicatively).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Trend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the long-run direction,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seasonality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the repeating cycle, and the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residual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what is left — which is where anomalies live.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741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Decomposition of a weekly series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7A3A95"/>
                </a:solidFill>
                <a:latin typeface="Segoe UI"/>
              </a:rPr>
              <a:t>FIGURE 19.1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§19.2  ·  Handout p. 122     </a:t>
            </a:r>
            <a:fld id="{7318DC8E-8D1E-4103-9226-C70EE756840D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pic>
        <p:nvPicPr>
          <p:cNvPr id="6" name="!!figure" descr="Figure 19.1. Decomposition of a weekly series. Separating trend and seasonality is what lets you say whether a drop is alarming: a fall in week 31 means nothing if week 31 always falls, and everything if it does not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737360"/>
            <a:ext cx="6863148" cy="4572000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05564" y="3085185"/>
            <a:ext cx="54864" cy="187634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125020" y="3057753"/>
            <a:ext cx="3353442" cy="19677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3E4C57"/>
                </a:solidFill>
                <a:latin typeface="Segoe UI"/>
              </a:rPr>
              <a:t>Separating trend and seasonality is what lets you say whether a drop is alarming: a fall in week 31 means nothing if week 31 always falls, and everything if it does not.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Why Decomposition Is the First Step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§19.2  ·  Handout p. 122     </a:t>
            </a:r>
            <a:fld id="{E2B006D0-18F1-47B7-8F14-A1FAEA79F385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“Logins fell 30% this week” is not information until you know whether they fall every year at this point. Decomposition converts a raw number into a statement about the residual — and only the residual is worth alerting on. This is the single most useful idea in operational monitoring.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0926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Features for Forecasting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3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19.3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19.1   What Makes Time Different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19.2   Decomposition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19.3   Features for Forecasting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19.4   Validating a Temporal Model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19.5   Batch and Stream Processing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19.6   Concept Drift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§19.3     </a:t>
            </a:r>
            <a:fld id="{132FE06B-2A4D-46A4-B0C2-349062CC00E0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98019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Features for Forecasting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AT A GLANCE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§19.3  ·  Handout p. 123     </a:t>
            </a:r>
            <a:fld id="{66B1C975-A274-45F1-B849-DE3AFEE9C5B9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10874958" cy="38740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74110"/>
                <a:gridCol w="3522874"/>
                <a:gridCol w="4977974"/>
              </a:tblGrid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Feature type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Construction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Captures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Lags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700" b="0" i="1" baseline="-25000">
                          <a:solidFill>
                            <a:srgbClr val="1C252B"/>
                          </a:solidFill>
                          <a:latin typeface="Cambria"/>
                        </a:rPr>
                        <a:t>t</a:t>
                      </a:r>
                      <a:r>
                        <a:rPr sz="1700" b="0" i="0" baseline="-25000">
                          <a:solidFill>
                            <a:srgbClr val="1C252B"/>
                          </a:solidFill>
                          <a:latin typeface="Cambria"/>
                        </a:rPr>
                        <a:t>−1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700" b="0" i="1" baseline="-25000">
                          <a:solidFill>
                            <a:srgbClr val="1C252B"/>
                          </a:solidFill>
                          <a:latin typeface="Cambria"/>
                        </a:rPr>
                        <a:t>t</a:t>
                      </a:r>
                      <a:r>
                        <a:rPr sz="1700" b="0" i="0" baseline="-25000">
                          <a:solidFill>
                            <a:srgbClr val="1C252B"/>
                          </a:solidFill>
                          <a:latin typeface="Cambria"/>
                        </a:rPr>
                        <a:t>−7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700" b="0" i="1" baseline="-25000">
                          <a:solidFill>
                            <a:srgbClr val="1C252B"/>
                          </a:solidFill>
                          <a:latin typeface="Cambria"/>
                        </a:rPr>
                        <a:t>t</a:t>
                      </a:r>
                      <a:r>
                        <a:rPr sz="1700" b="0" i="0" baseline="-25000">
                          <a:solidFill>
                            <a:srgbClr val="1C252B"/>
                          </a:solidFill>
                          <a:latin typeface="Cambria"/>
                        </a:rPr>
                        <a:t>−365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Recent level, last week, last year — pick lags matching known cycles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Rolling statistics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mean, sd, min, max over a window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Local level and volatility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Rolling differences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700" b="0" i="1" baseline="-25000">
                          <a:solidFill>
                            <a:srgbClr val="1C252B"/>
                          </a:solidFill>
                          <a:latin typeface="Cambria"/>
                        </a:rPr>
                        <a:t>t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 −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700" b="0" i="1" baseline="-25000">
                          <a:solidFill>
                            <a:srgbClr val="1C252B"/>
                          </a:solidFill>
                          <a:latin typeface="Cambria"/>
                        </a:rPr>
                        <a:t>t</a:t>
                      </a:r>
                      <a:r>
                        <a:rPr sz="1700" b="0" i="0" baseline="-25000">
                          <a:solidFill>
                            <a:srgbClr val="1C252B"/>
                          </a:solidFill>
                          <a:latin typeface="Cambria"/>
                        </a:rPr>
                        <a:t>−1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;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700" b="0" i="1" baseline="-25000">
                          <a:solidFill>
                            <a:srgbClr val="1C252B"/>
                          </a:solidFill>
                          <a:latin typeface="Cambria"/>
                        </a:rPr>
                        <a:t>t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 /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y</a:t>
                      </a:r>
                      <a:r>
                        <a:rPr sz="1700" b="0" i="1" baseline="-25000">
                          <a:solidFill>
                            <a:srgbClr val="1C252B"/>
                          </a:solidFill>
                          <a:latin typeface="Cambria"/>
                        </a:rPr>
                        <a:t>t</a:t>
                      </a:r>
                      <a:r>
                        <a:rPr sz="1700" b="0" i="0" baseline="-25000">
                          <a:solidFill>
                            <a:srgbClr val="1C252B"/>
                          </a:solidFill>
                          <a:latin typeface="Cambria"/>
                        </a:rPr>
                        <a:t>−7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Change and growth rate rather than level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Calendar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hour, day of week, month, is_holiday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Human rhythms — essential in security and IoT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Expanding statistics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mean since the start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Long-run baseline for that entity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Time since event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days since last failure / login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Recency, which is often the strongest single feature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Every Lag Must Look Backwards Only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§19.3  ·  Handout p. 123     </a:t>
            </a:r>
            <a:fld id="{D15B250B-7C85-4691-9F94-37F4910AB153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rolling mean centred on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uses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2300" b="0" i="1" baseline="-25000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 baseline="-25000">
                <a:solidFill>
                  <a:srgbClr val="1C252B"/>
                </a:solidFill>
                <a:latin typeface="Cambria"/>
              </a:rPr>
              <a:t>+1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which will not exist at prediction time. Use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trailing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windows exclusively. Most time-series leakage is a centred window or a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shift()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the wrong direction — and it produces spectacular, entirely fake, validation scores.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52204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Validating a Temporal Model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4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19.4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19.1   What Makes Time Different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19.2   Decomposition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19.3   Features for Forecasting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19.4   Validating a Temporal Model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19.5   Batch and Stream Processing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19.6   Concept Drift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§19.4     </a:t>
            </a:r>
            <a:fld id="{4E46A3D0-8746-4DE6-B4D7-C06A30B0034F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79297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Walk-forward (rolling-origin) validation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7A3A95"/>
                </a:solidFill>
                <a:latin typeface="Segoe UI"/>
              </a:rPr>
              <a:t>FIGURE 19.2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§19.4  ·  Handout p. 124     </a:t>
            </a:r>
            <a:fld id="{AB08ABD3-D594-46A5-9FFD-28FDDC562182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pic>
        <p:nvPicPr>
          <p:cNvPr id="6" name="!!figure" descr="Figure 19.2. Walk-forward (rolling-origin) validation. The training window only ever extends backwards; each validation block sits strictly after its training data, exactly as deployment will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1180" y="1737360"/>
            <a:ext cx="7069334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The training window only ever extends backwards; each validation block sits strictly after its training data, exactly as deployment will.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Choosing the Forecast Horizon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§19.4  ·  Handout p. 124     </a:t>
            </a:r>
            <a:fld id="{9E879221-BDFA-429B-8C04-EB1F57DBA2F7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34636"/>
          </a:xfrm>
          <a:prstGeom prst="roundRect">
            <a:avLst>
              <a:gd name="adj" fmla="val 206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3463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 university wants to predict weekly VLE logins to size its servers.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377033"/>
            <a:ext cx="10234879" cy="5529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The question nobody asks first: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600" b="0" i="1">
                <a:solidFill>
                  <a:srgbClr val="1C252B"/>
                </a:solidFill>
                <a:latin typeface="Segoe UI"/>
              </a:rPr>
              <a:t>how far ahead, and why?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The horizon is set by how long the resulting action takes, not by what the model can do.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2995980"/>
            <a:ext cx="10234879" cy="948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78905" indent="-178905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</a:pPr>
            <a:r>
              <a:rPr sz="1600" b="1">
                <a:solidFill>
                  <a:srgbClr val="7D6608"/>
                </a:solidFill>
                <a:latin typeface="Segoe UI"/>
              </a:rPr>
              <a:t>•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Auto-scaling cloud capacity: minutes of lead time needed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1-hour horizon.</a:t>
            </a:r>
          </a:p>
          <a:p>
            <a:pPr algn="l" marL="178905" indent="-178905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</a:pPr>
            <a:r>
              <a:rPr sz="1600" b="1">
                <a:solidFill>
                  <a:srgbClr val="7D6608"/>
                </a:solidFill>
                <a:latin typeface="Segoe UI"/>
              </a:rPr>
              <a:t>•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Provisioning extra servers: 2 weeks of procurement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2-week horizon.</a:t>
            </a:r>
          </a:p>
          <a:p>
            <a:pPr algn="l" marL="178905" indent="-178905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6608"/>
                </a:solidFill>
                <a:latin typeface="Segoe UI"/>
              </a:rPr>
              <a:t>•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Budgeting next year’s contract: 12-month horizon.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42416" y="4010761"/>
            <a:ext cx="10234879" cy="106009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Why it changes the model.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At a 1-hour horizon,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y</a:t>
            </a:r>
            <a:r>
              <a:rPr sz="1600" b="0" i="1" baseline="-25000">
                <a:solidFill>
                  <a:srgbClr val="1C252B"/>
                </a:solidFill>
                <a:latin typeface="Cambria"/>
              </a:rPr>
              <a:t>t</a:t>
            </a:r>
            <a:r>
              <a:rPr sz="1600" b="0" i="0" baseline="-25000">
                <a:solidFill>
                  <a:srgbClr val="1C252B"/>
                </a:solidFill>
                <a:latin typeface="Cambria"/>
              </a:rPr>
              <a:t>−1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is available and is overwhelmingly the best predictor — a naive “same as last hour” baseline is hard to beat. At a 12-month horizon, no recent lag is available at prediction time, so the model must rely on trend, seasonality and enrolment forecasts, and error will be several times larger.</a:t>
            </a:r>
          </a:p>
        </p:txBody>
      </p:sp>
      <p:sp>
        <p:nvSpPr>
          <p:cNvPr id="13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029049"/>
            <a:ext cx="54864" cy="99608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body-4"/>
          <p:cNvSpPr txBox="1"/>
          <p:nvPr/>
        </p:nvSpPr>
        <p:spPr>
          <a:xfrm>
            <a:off x="1042416" y="5136896"/>
            <a:ext cx="10234879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The consequence for evaluation.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A model quoted as “8% error” is meaningless without its horizon. Always report error </a:t>
            </a:r>
            <a:r>
              <a:rPr sz="1600" b="0" i="1">
                <a:solidFill>
                  <a:srgbClr val="1C252B"/>
                </a:solidFill>
                <a:latin typeface="Segoe UI"/>
              </a:rPr>
              <a:t>per horizon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and always compare against the naive baseline at that same horizon — which, at short horizons, is a much stronger competitor than students expect.</a:t>
            </a:r>
          </a:p>
        </p:txBody>
      </p:sp>
      <p:sp>
        <p:nvSpPr>
          <p:cNvPr id="15" name="body-4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155183"/>
            <a:ext cx="54864" cy="74249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3482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Batch and Stream Processing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5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19.5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19.1   What Makes Time Different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19.2   Decomposition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19.3   Features for Forecasting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19.4   Validating a Temporal Model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19.5   Batch and Stream Processing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19.6   Concept Drift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§19.5     </a:t>
            </a:r>
            <a:fld id="{9B2E25E4-1287-485C-9D9C-91378674A72F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0575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Batch versus Stream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§19.5  ·  Handout p. 124     </a:t>
            </a:r>
            <a:fld id="{F16D7AC6-CDCD-4E7B-964F-31CD18AF1A49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715414"/>
          </a:xfrm>
          <a:prstGeom prst="roundRect">
            <a:avLst>
              <a:gd name="adj" fmla="val 5330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715414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Batch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processing runs over a bounded, stored dataset — nightly, hourly.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Stream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processing runs continuously over an unbounded sequence of events, computing results incrementally as data arrives.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Three windowing strategies for streaming data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7A3A95"/>
                </a:solidFill>
                <a:latin typeface="Segoe UI"/>
              </a:rPr>
              <a:t>FIGURE 19.3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§19.5  ·  Handout p. 124     </a:t>
            </a:r>
            <a:fld id="{E2C36AFB-2A23-4FA9-B67A-13811D17298D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pic>
        <p:nvPicPr>
          <p:cNvPr id="6" name="!!figure" descr="Figure 19.3. Three windowing strategies for streaming data. Choosing the window is choosing what “recent” means, and it determines both detection latency and false-alarm rate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8295" y="1737360"/>
            <a:ext cx="7335104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Choosing the window is choosing what “recent” means, and it determines both detection latency and false-alarm rate.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60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Concept Drift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6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19.6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19.1   What Makes Time Different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19.2   Decomposition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19.3   Features for Forecasting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19.4   Validating a Temporal Model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19.5   Batch and Stream Processing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19.6   Concept Drift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§19.6     </a:t>
            </a:r>
            <a:fld id="{1355A172-1DAC-4ABA-B556-6A124DE03910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1853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Concept Drift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6A18BE5C-B89F-4AD8-B6C7-D0A6C315844E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relationship between features and target changes over time, so a model that was correct becomes wrong without anything breaking.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Data drift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a change in the inputs’ distribution;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concept drift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a change in the mapping itself.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8945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Three fates of a deployed model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7A3A95"/>
                </a:solidFill>
                <a:latin typeface="Segoe UI"/>
              </a:rPr>
              <a:t>FIGURE 19.4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FB90B0A6-1841-41BE-AC94-3DA64283CDD8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pic>
        <p:nvPicPr>
          <p:cNvPr id="6" name="!!figure" descr="Figure 19.4. Three fates of a deployed model. Nothing about the code changed in any of them — the world did. Monitoring for this is the subject of Chapter 27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172" y="1737360"/>
            <a:ext cx="9933350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Nothing about the code changed in any of them — the world did. Monitoring for this is the subject of Chapter 27.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6038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Concept Drift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AT A GLANCE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C79007F6-3799-4AB9-9822-A18DDCE57FDC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10874958" cy="28041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297526"/>
                <a:gridCol w="3676042"/>
                <a:gridCol w="4901390"/>
              </a:tblGrid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Drift type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Looks like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Response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Sudden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A cliff in the performance chart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Investigate the cause first — usually an upstream change, not the model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Gradual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Slow decline over months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Scheduled retraining on a rolling window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EF7F1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Seasonal / recurring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Performance dips at the same point each cycle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Add the seasonal feature; do not retrain away a pattern you can model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Adversarial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Decline that accelerates after deployment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The attacker is adapting (Chapter 26); retraining alone will not fix it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EF7F1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23131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Four lenses: Time and Streams</a:t>
            </a:r>
          </a:p>
        </p:txBody>
      </p:sp>
      <p:pic>
        <p:nvPicPr>
          <p:cNvPr id="3" name="!!kicker-icon" descr="compass-123953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23953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1ECCAD8A-08B7-4098-B1EF-EBD70D4CD9FC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5318607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419498" cy="256032"/>
          </a:xfrm>
          <a:prstGeom prst="rect">
            <a:avLst/>
          </a:prstGeom>
        </p:spPr>
      </p:pic>
      <p:sp>
        <p:nvSpPr>
          <p:cNvPr id="11" name="!!lensn-LA"/>
          <p:cNvSpPr txBox="1"/>
          <p:nvPr/>
        </p:nvSpPr>
        <p:spPr>
          <a:xfrm>
            <a:off x="1425337" y="1837943"/>
            <a:ext cx="4460197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2" name="!!lensb-LA-0"/>
          <p:cNvSpPr txBox="1"/>
          <p:nvPr/>
        </p:nvSpPr>
        <p:spPr>
          <a:xfrm>
            <a:off x="896112" y="2414016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Engagement is strongly seasonal on a weekly and a semester cycle — always decompose before alerting, or you will raise an alarm every reading week.</a:t>
            </a:r>
          </a:p>
        </p:txBody>
      </p:sp>
      <p:sp>
        <p:nvSpPr>
          <p:cNvPr id="13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1737360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1737360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121408"/>
            <a:ext cx="5318607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5887" y="1856231"/>
            <a:ext cx="301783" cy="256032"/>
          </a:xfrm>
          <a:prstGeom prst="rect">
            <a:avLst/>
          </a:prstGeom>
        </p:spPr>
      </p:pic>
      <p:sp>
        <p:nvSpPr>
          <p:cNvPr id="17" name="!!lensn-PM"/>
          <p:cNvSpPr txBox="1"/>
          <p:nvPr/>
        </p:nvSpPr>
        <p:spPr>
          <a:xfrm>
            <a:off x="6863974" y="1837943"/>
            <a:ext cx="4577912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8" name="!!lensb-PM-0"/>
          <p:cNvSpPr txBox="1"/>
          <p:nvPr/>
        </p:nvSpPr>
        <p:spPr>
          <a:xfrm>
            <a:off x="6452463" y="2414016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Sprint data is a short, irregular series with strong autocorrelation — this sprint resembles the last.</a:t>
            </a:r>
          </a:p>
        </p:txBody>
      </p:sp>
      <p:sp>
        <p:nvSpPr>
          <p:cNvPr id="19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3087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3087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17136"/>
            <a:ext cx="5318607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2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536" y="4251959"/>
            <a:ext cx="256032" cy="256032"/>
          </a:xfrm>
          <a:prstGeom prst="rect">
            <a:avLst/>
          </a:prstGeom>
        </p:spPr>
      </p:pic>
      <p:sp>
        <p:nvSpPr>
          <p:cNvPr id="23" name="!!lensn-IOT"/>
          <p:cNvSpPr txBox="1"/>
          <p:nvPr/>
        </p:nvSpPr>
        <p:spPr>
          <a:xfrm>
            <a:off x="1261872" y="4233672"/>
            <a:ext cx="4623663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4" name="!!lensb-IOT-0"/>
          <p:cNvSpPr txBox="1"/>
          <p:nvPr/>
        </p:nvSpPr>
        <p:spPr>
          <a:xfrm>
            <a:off x="896112" y="4809744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This chapter is the technical bridge to Chapter 25.</a:t>
            </a:r>
          </a:p>
        </p:txBody>
      </p:sp>
      <p:sp>
        <p:nvSpPr>
          <p:cNvPr id="25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33087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33087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517136"/>
            <a:ext cx="5318607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8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5887" y="4251959"/>
            <a:ext cx="256032" cy="256032"/>
          </a:xfrm>
          <a:prstGeom prst="rect">
            <a:avLst/>
          </a:prstGeom>
        </p:spPr>
      </p:pic>
      <p:sp>
        <p:nvSpPr>
          <p:cNvPr id="29" name="!!lensn-SEC"/>
          <p:cNvSpPr txBox="1"/>
          <p:nvPr/>
        </p:nvSpPr>
        <p:spPr>
          <a:xfrm>
            <a:off x="6818223" y="4233672"/>
            <a:ext cx="4623663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30" name="!!lensb-SEC-0"/>
          <p:cNvSpPr txBox="1"/>
          <p:nvPr/>
        </p:nvSpPr>
        <p:spPr>
          <a:xfrm>
            <a:off x="6452463" y="4809744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Windowed counts are the core feature type: failed logins per account per 5 minutes, distinct ports per host per minute.</a:t>
            </a:r>
          </a:p>
        </p:txBody>
      </p:sp>
      <p:sp>
        <p:nvSpPr>
          <p:cNvPr id="3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Learning Analytics: Time and Streams</a:t>
            </a:r>
          </a:p>
        </p:txBody>
      </p:sp>
      <p:pic>
        <p:nvPicPr>
          <p:cNvPr id="3" name="!!kicker-icon" descr="compass-6C3483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6C3483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95EFB0A4-40B4-4271-A891-6276C4794F73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6F3F8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419498" cy="256032"/>
          </a:xfrm>
          <a:prstGeom prst="rect">
            <a:avLst/>
          </a:prstGeom>
        </p:spPr>
      </p:pic>
      <p:sp>
        <p:nvSpPr>
          <p:cNvPr id="11" name="!!lensn-LA"/>
          <p:cNvSpPr txBox="1"/>
          <p:nvPr/>
        </p:nvSpPr>
        <p:spPr>
          <a:xfrm>
            <a:off x="1425337" y="1837943"/>
            <a:ext cx="7181909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2" name="!!lensb-LA-0"/>
          <p:cNvSpPr txBox="1"/>
          <p:nvPr/>
        </p:nvSpPr>
        <p:spPr>
          <a:xfrm>
            <a:off x="896112" y="2432304"/>
            <a:ext cx="7583119" cy="283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Engagement is strongly seasonal on a weekly and a semester cycle — always decompose before alerting, or you will raise an alarm every reading week. The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trajectory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of a student’s residual is the signal: two consecutive weeks below their own baseline is a far better trigger than any absolute threshold. Validation must be walk-forward across cohorts, since a model trained on the 2025 cohort to predict 2024 proves nothing.</a:t>
            </a:r>
          </a:p>
        </p:txBody>
      </p:sp>
      <p:sp>
        <p:nvSpPr>
          <p:cNvPr id="13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301783" cy="256032"/>
          </a:xfrm>
          <a:prstGeom prst="rect">
            <a:avLst/>
          </a:prstGeom>
        </p:spPr>
      </p:pic>
      <p:sp>
        <p:nvSpPr>
          <p:cNvPr id="17" name="!!lensn-PM"/>
          <p:cNvSpPr txBox="1"/>
          <p:nvPr/>
        </p:nvSpPr>
        <p:spPr>
          <a:xfrm>
            <a:off x="9585686" y="1837943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8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256032" cy="256032"/>
          </a:xfrm>
          <a:prstGeom prst="rect">
            <a:avLst/>
          </a:prstGeom>
        </p:spPr>
      </p:pic>
      <p:sp>
        <p:nvSpPr>
          <p:cNvPr id="22" name="!!lensn-IOT"/>
          <p:cNvSpPr txBox="1"/>
          <p:nvPr/>
        </p:nvSpPr>
        <p:spPr>
          <a:xfrm>
            <a:off x="9539935" y="2496312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7316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Project Management: Time and Streams</a:t>
            </a:r>
          </a:p>
        </p:txBody>
      </p:sp>
      <p:pic>
        <p:nvPicPr>
          <p:cNvPr id="3" name="!!kicker-icon" descr="compass-1F618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F618D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AAC51420-5DB4-4791-9C3B-DA85E1B5BACD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2F6F8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301783" cy="256032"/>
          </a:xfrm>
          <a:prstGeom prst="rect">
            <a:avLst/>
          </a:prstGeom>
        </p:spPr>
      </p:pic>
      <p:sp>
        <p:nvSpPr>
          <p:cNvPr id="11" name="!!lensn-PM"/>
          <p:cNvSpPr txBox="1"/>
          <p:nvPr/>
        </p:nvSpPr>
        <p:spPr>
          <a:xfrm>
            <a:off x="1307622" y="1837943"/>
            <a:ext cx="7299624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2" name="!!lensb-PM-0"/>
          <p:cNvSpPr txBox="1"/>
          <p:nvPr/>
        </p:nvSpPr>
        <p:spPr>
          <a:xfrm>
            <a:off x="896112" y="2432304"/>
            <a:ext cx="7583119" cy="24865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Sprint data is a short, irregular series with strong autocorrelation — this sprint resembles the last. The naive baseline (“same as last sprint”) is genuinely hard to beat, and saying so honestly is more valuable than a marginally better model. Concept drift is guaranteed whenever the team composition changes, which is why models here need a shorter memory than elsewhere.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256032" cy="256032"/>
          </a:xfrm>
          <a:prstGeom prst="rect">
            <a:avLst/>
          </a:prstGeom>
        </p:spPr>
      </p:pic>
      <p:sp>
        <p:nvSpPr>
          <p:cNvPr id="22" name="!!lensn-IOT"/>
          <p:cNvSpPr txBox="1"/>
          <p:nvPr/>
        </p:nvSpPr>
        <p:spPr>
          <a:xfrm>
            <a:off x="9539935" y="2496312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4409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Internet of Things: Time and Streams</a:t>
            </a:r>
          </a:p>
        </p:txBody>
      </p:sp>
      <p:pic>
        <p:nvPicPr>
          <p:cNvPr id="3" name="!!kicker-icon" descr="compass-117864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864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AF46950F-F842-40D9-999F-E5FAE6F36F78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1F7F6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256032" cy="256032"/>
          </a:xfrm>
          <a:prstGeom prst="rect">
            <a:avLst/>
          </a:prstGeom>
        </p:spPr>
      </p:pic>
      <p:sp>
        <p:nvSpPr>
          <p:cNvPr id="11" name="!!lensn-IOT"/>
          <p:cNvSpPr txBox="1"/>
          <p:nvPr/>
        </p:nvSpPr>
        <p:spPr>
          <a:xfrm>
            <a:off x="1261872" y="1837943"/>
            <a:ext cx="734537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12" name="!!lensb-IOT-0"/>
          <p:cNvSpPr txBox="1"/>
          <p:nvPr/>
        </p:nvSpPr>
        <p:spPr>
          <a:xfrm>
            <a:off x="896112" y="2432304"/>
            <a:ext cx="7583119" cy="283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This chapter is the technical bridge to Chapter 25. Telemetry is the purest streaming problem: unbounded, high-volume, out-of-order. Use sliding windows for detection latency, tumbling for reporting, and set the watermark from the worst-case network delay in your fleet. Sensors drift physically as well as statistically — a thermistor ages — so drift monitoring must distinguish a failing sensor from a changing process.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301783" cy="256032"/>
          </a:xfrm>
          <a:prstGeom prst="rect">
            <a:avLst/>
          </a:prstGeom>
        </p:spPr>
      </p:pic>
      <p:sp>
        <p:nvSpPr>
          <p:cNvPr id="22" name="!!lensn-PM"/>
          <p:cNvSpPr txBox="1"/>
          <p:nvPr/>
        </p:nvSpPr>
        <p:spPr>
          <a:xfrm>
            <a:off x="9585686" y="2496312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1501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Cybersecurity: Time and Streams</a:t>
            </a:r>
          </a:p>
        </p:txBody>
      </p:sp>
      <p:pic>
        <p:nvPicPr>
          <p:cNvPr id="3" name="!!kicker-icon" descr="compass-922B2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922B21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7068F195-C102-4A92-9E1C-FF999C62A516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8F2F2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256032" cy="256032"/>
          </a:xfrm>
          <a:prstGeom prst="rect">
            <a:avLst/>
          </a:prstGeom>
        </p:spPr>
      </p:pic>
      <p:sp>
        <p:nvSpPr>
          <p:cNvPr id="11" name="!!lensn-SEC"/>
          <p:cNvSpPr txBox="1"/>
          <p:nvPr/>
        </p:nvSpPr>
        <p:spPr>
          <a:xfrm>
            <a:off x="1261872" y="1837943"/>
            <a:ext cx="734537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12" name="!!lensb-SEC-0"/>
          <p:cNvSpPr txBox="1"/>
          <p:nvPr/>
        </p:nvSpPr>
        <p:spPr>
          <a:xfrm>
            <a:off x="896112" y="2432304"/>
            <a:ext cx="7583119" cy="283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Windowed counts are the core feature type: failed logins per account per 5 minutes, distinct ports per host per minute. Diurnal and weekly seasonality is strong, so a 3 a.m. spike matters and a 3 p.m. one may not — decompose first. Drift here is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adversarial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which makes it categorically different from the other three lenses: the distribution is not shifting by accident, it is being shifted deliberately, and scheduled retraining on recent data can be poisoned.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301783" cy="256032"/>
          </a:xfrm>
          <a:prstGeom prst="rect">
            <a:avLst/>
          </a:prstGeom>
        </p:spPr>
      </p:pic>
      <p:sp>
        <p:nvSpPr>
          <p:cNvPr id="22" name="!!lensn-PM"/>
          <p:cNvSpPr txBox="1"/>
          <p:nvPr/>
        </p:nvSpPr>
        <p:spPr>
          <a:xfrm>
            <a:off x="9585686" y="2496312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23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IOT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58594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Decompose, Feature, Validate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A4AFEB0A-FAC6-4DDA-9EF0-76683106349F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labsteps-h"/>
          <p:cNvSpPr txBox="1"/>
          <p:nvPr/>
        </p:nvSpPr>
        <p:spPr>
          <a:xfrm>
            <a:off x="658368" y="17373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8" name="!!labsteps"/>
          <p:cNvSpPr txBox="1"/>
          <p:nvPr/>
        </p:nvSpPr>
        <p:spPr>
          <a:xfrm>
            <a:off x="658368" y="2121408"/>
            <a:ext cx="10874959" cy="14668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1.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Decompose before doing anything else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2.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Features -- every one looks BACKWARDS only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3.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Walk-forward validation, never random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4.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 simple drift monitor</a:t>
            </a:r>
          </a:p>
        </p:txBody>
      </p:sp>
      <p:sp>
        <p:nvSpPr>
          <p:cNvPr id="24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5300319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lflTHIS"/>
          <p:cNvSpPr txBox="1"/>
          <p:nvPr/>
        </p:nvSpPr>
        <p:spPr>
          <a:xfrm>
            <a:off x="932688" y="5376672"/>
            <a:ext cx="488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27" name="!!lfvTHIS"/>
          <p:cNvSpPr txBox="1"/>
          <p:nvPr/>
        </p:nvSpPr>
        <p:spPr>
          <a:xfrm>
            <a:off x="932688" y="5669280"/>
            <a:ext cx="4888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12: Decompose &amp; walk-forward; TF-IDF classifier</a:t>
            </a:r>
          </a:p>
        </p:txBody>
      </p:sp>
      <p:sp>
        <p:nvSpPr>
          <p:cNvPr id="28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5212080"/>
            <a:ext cx="5300319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lflWHAT"/>
          <p:cNvSpPr txBox="1"/>
          <p:nvPr/>
        </p:nvSpPr>
        <p:spPr>
          <a:xfrm>
            <a:off x="6507327" y="5376672"/>
            <a:ext cx="488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31" name="!!lfvWHAT"/>
          <p:cNvSpPr txBox="1"/>
          <p:nvPr/>
        </p:nvSpPr>
        <p:spPr>
          <a:xfrm>
            <a:off x="6507327" y="5669280"/>
            <a:ext cx="4888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39 lines of Python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85687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Decompose, Feature, Validate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59F6E0D8-3FEF-437E-8FBF-F3810EFF0D8A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2737104"/>
          </a:xfrm>
          <a:prstGeom prst="roundRect">
            <a:avLst>
              <a:gd name="adj" fmla="val 3340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import pandas as pd, numpy as np from statsmodels.tsa.seasonal import seasonal_decompose from sklearn.model_selection import TimeSeriesSplit from sklearn.ensemble import HistGradientBoostingRegressor from sklearn.metrics import mean_absolute_error s = df.set_index(&quot;date&quot;)[&quot;logins&quot;].asfreq(&quot;W&quot;)"/>
          <p:cNvSpPr txBox="1"/>
          <p:nvPr/>
        </p:nvSpPr>
        <p:spPr>
          <a:xfrm>
            <a:off x="1362456" y="2523744"/>
            <a:ext cx="9987991" cy="22433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6D7C4"/>
                </a:solidFill>
                <a:latin typeface="Consolas"/>
              </a:rPr>
              <a:t>pandas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as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6D7C4"/>
                </a:solidFill>
                <a:latin typeface="Consolas"/>
              </a:rPr>
              <a:t>pd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6D7C4"/>
                </a:solidFill>
                <a:latin typeface="Consolas"/>
              </a:rPr>
              <a:t>numpy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as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6D7C4"/>
                </a:solidFill>
                <a:latin typeface="Consolas"/>
              </a:rPr>
              <a:t>np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5DADE2"/>
                </a:solidFill>
                <a:latin typeface="Consolas"/>
              </a:rPr>
              <a:t>from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6D7C4"/>
                </a:solidFill>
                <a:latin typeface="Consolas"/>
              </a:rPr>
              <a:t>statsmodels</a:t>
            </a:r>
            <a:r>
              <a:rPr sz="2000" i="0">
                <a:solidFill>
                  <a:srgbClr val="76D7C4"/>
                </a:solidFill>
                <a:latin typeface="Consolas"/>
              </a:rPr>
              <a:t>.</a:t>
            </a:r>
            <a:r>
              <a:rPr sz="2000" i="0">
                <a:solidFill>
                  <a:srgbClr val="76D7C4"/>
                </a:solidFill>
                <a:latin typeface="Consolas"/>
              </a:rPr>
              <a:t>tsa</a:t>
            </a:r>
            <a:r>
              <a:rPr sz="2000" i="0">
                <a:solidFill>
                  <a:srgbClr val="76D7C4"/>
                </a:solidFill>
                <a:latin typeface="Consolas"/>
              </a:rPr>
              <a:t>.</a:t>
            </a:r>
            <a:r>
              <a:rPr sz="2000" i="0">
                <a:solidFill>
                  <a:srgbClr val="76D7C4"/>
                </a:solidFill>
                <a:latin typeface="Consolas"/>
              </a:rPr>
              <a:t>seasonal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seasonal_decompose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5DADE2"/>
                </a:solidFill>
                <a:latin typeface="Consolas"/>
              </a:rPr>
              <a:t>from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2000" i="0">
                <a:solidFill>
                  <a:srgbClr val="76D7C4"/>
                </a:solidFill>
                <a:latin typeface="Consolas"/>
              </a:rPr>
              <a:t>.</a:t>
            </a:r>
            <a:r>
              <a:rPr sz="2000" i="0">
                <a:solidFill>
                  <a:srgbClr val="76D7C4"/>
                </a:solidFill>
                <a:latin typeface="Consolas"/>
              </a:rPr>
              <a:t>model_selection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TimeSeriesSplit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5DADE2"/>
                </a:solidFill>
                <a:latin typeface="Consolas"/>
              </a:rPr>
              <a:t>from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2000" i="0">
                <a:solidFill>
                  <a:srgbClr val="76D7C4"/>
                </a:solidFill>
                <a:latin typeface="Consolas"/>
              </a:rPr>
              <a:t>.</a:t>
            </a:r>
            <a:r>
              <a:rPr sz="2000" i="0">
                <a:solidFill>
                  <a:srgbClr val="76D7C4"/>
                </a:solidFill>
                <a:latin typeface="Consolas"/>
              </a:rPr>
              <a:t>ensemble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HistGradientBoostingRegressor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5DADE2"/>
                </a:solidFill>
                <a:latin typeface="Consolas"/>
              </a:rPr>
              <a:t>from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2000" i="0">
                <a:solidFill>
                  <a:srgbClr val="76D7C4"/>
                </a:solidFill>
                <a:latin typeface="Consolas"/>
              </a:rPr>
              <a:t>.</a:t>
            </a:r>
            <a:r>
              <a:rPr sz="2000" i="0">
                <a:solidFill>
                  <a:srgbClr val="76D7C4"/>
                </a:solidFill>
                <a:latin typeface="Consolas"/>
              </a:rPr>
              <a:t>metrics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mean_absolute_error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df</a:t>
            </a:r>
            <a:r>
              <a:rPr sz="2000" i="0">
                <a:solidFill>
                  <a:srgbClr val="AEB6BF"/>
                </a:solidFill>
                <a:latin typeface="Consolas"/>
              </a:rPr>
              <a:t>.</a:t>
            </a:r>
            <a:r>
              <a:rPr sz="2000" i="0">
                <a:solidFill>
                  <a:srgbClr val="E8EDF2"/>
                </a:solidFill>
                <a:latin typeface="Consolas"/>
              </a:rPr>
              <a:t>set_index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date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[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logins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]</a:t>
            </a:r>
            <a:r>
              <a:rPr sz="2000" i="0">
                <a:solidFill>
                  <a:srgbClr val="AEB6BF"/>
                </a:solidFill>
                <a:latin typeface="Consolas"/>
              </a:rPr>
              <a:t>.</a:t>
            </a:r>
            <a:r>
              <a:rPr sz="2000" i="0">
                <a:solidFill>
                  <a:srgbClr val="E8EDF2"/>
                </a:solidFill>
                <a:latin typeface="Consolas"/>
              </a:rPr>
              <a:t>asfreq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W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22433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7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Decompose, Feature, Validate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F2712CAD-1F5E-412B-BF6E-5DB8D6636B38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Decompose before doing anything else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182624"/>
          </a:xfrm>
          <a:prstGeom prst="roundRect">
            <a:avLst>
              <a:gd name="adj" fmla="val 773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# --- 1. decompose before doing anything else -------------------------- seasonal_decompose(s, model=&quot;additive&quot;, period=12).plot()"/>
          <p:cNvSpPr txBox="1"/>
          <p:nvPr/>
        </p:nvSpPr>
        <p:spPr>
          <a:xfrm>
            <a:off x="1362456" y="2523744"/>
            <a:ext cx="9987991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# --- 1. decompose before doing anything else 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seasonal_decompose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s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model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additive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period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F7DC6F"/>
                </a:solidFill>
                <a:latin typeface="Consolas"/>
              </a:rPr>
              <a:t>12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.</a:t>
            </a:r>
            <a:r>
              <a:rPr sz="1900" i="0">
                <a:solidFill>
                  <a:srgbClr val="E8EDF2"/>
                </a:solidFill>
                <a:latin typeface="Consolas"/>
              </a:rPr>
              <a:t>plot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9872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Decompose, Feature, Validate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81435B72-D9DB-41E7-9657-B07477FDACB1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Features -- every one looks BACKWARDS only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285743"/>
          </a:xfrm>
          <a:prstGeom prst="roundRect">
            <a:avLst>
              <a:gd name="adj" fmla="val 278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# --- 2. features -- every one looks BACKWARDS only -------------------- X = pd.DataFrame(index=s.index) for lag in (1, 2, 4, 12, 52): X[f&quot;lag{lag}&quot;] = s.shift(lag) # shift(+n) = past. Never shift(-n). X[&quot;roll4_mean&quot;] = s.shift(1).rolling(4).mean() # shift(1) FIRST, then roll X[&quot;roll4_std&quot;] = s.shift(1).rolling(4).std() X[&quot;delta1&quot;] = s.shift(1) - s.shift(2) X[&quot;week&quot;] = X.index.isocalendar().week.astype(int) X[&quot;month&quot;] = X.index.month y = s X, y = X.dropna(), y.loc[X.dropna().index]"/>
          <p:cNvSpPr txBox="1"/>
          <p:nvPr/>
        </p:nvSpPr>
        <p:spPr>
          <a:xfrm>
            <a:off x="1362456" y="2523744"/>
            <a:ext cx="9987991" cy="279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# --- 2. features -- every one looks BACKWARDS only 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pd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DataFrame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index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s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index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5DADE2"/>
                </a:solidFill>
                <a:latin typeface="Consolas"/>
              </a:rPr>
              <a:t>for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lag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in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F7DC6F"/>
                </a:solidFill>
                <a:latin typeface="Consolas"/>
              </a:rPr>
              <a:t>1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2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4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12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52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7DCEA0"/>
                </a:solidFill>
                <a:latin typeface="Consolas"/>
              </a:rPr>
              <a:t>f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7DCEA0"/>
                </a:solidFill>
                <a:latin typeface="Consolas"/>
              </a:rPr>
              <a:t>lag</a:t>
            </a:r>
            <a:r>
              <a:rPr sz="1600" i="0">
                <a:solidFill>
                  <a:srgbClr val="7DCEA0"/>
                </a:solidFill>
                <a:latin typeface="Consolas"/>
              </a:rPr>
              <a:t>{</a:t>
            </a:r>
            <a:r>
              <a:rPr sz="1600" i="0">
                <a:solidFill>
                  <a:srgbClr val="E8EDF2"/>
                </a:solidFill>
                <a:latin typeface="Consolas"/>
              </a:rPr>
              <a:t>lag</a:t>
            </a:r>
            <a:r>
              <a:rPr sz="1600" i="0">
                <a:solidFill>
                  <a:srgbClr val="7DCEA0"/>
                </a:solidFill>
                <a:latin typeface="Consolas"/>
              </a:rPr>
              <a:t>}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lag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                 </a:t>
            </a:r>
            <a:r>
              <a:rPr sz="1600" i="1">
                <a:solidFill>
                  <a:srgbClr val="8795A1"/>
                </a:solidFill>
                <a:latin typeface="Consolas"/>
              </a:rPr>
              <a:t># shift(+n) = past. Never shift(-n).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7DCEA0"/>
                </a:solidFill>
                <a:latin typeface="Consolas"/>
              </a:rPr>
              <a:t>roll4_mean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F7DC6F"/>
                </a:solidFill>
                <a:latin typeface="Consolas"/>
              </a:rPr>
              <a:t>1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rolling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F7DC6F"/>
                </a:solidFill>
                <a:latin typeface="Consolas"/>
              </a:rPr>
              <a:t>4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mean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1">
                <a:solidFill>
                  <a:srgbClr val="8795A1"/>
                </a:solidFill>
                <a:latin typeface="Consolas"/>
              </a:rPr>
              <a:t># shift(1) FIRST, then roll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7DCEA0"/>
                </a:solidFill>
                <a:latin typeface="Consolas"/>
              </a:rPr>
              <a:t>roll4_std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F7DC6F"/>
                </a:solidFill>
                <a:latin typeface="Consolas"/>
              </a:rPr>
              <a:t>1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rolling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F7DC6F"/>
                </a:solidFill>
                <a:latin typeface="Consolas"/>
              </a:rPr>
              <a:t>4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7DCEA0"/>
                </a:solidFill>
                <a:latin typeface="Consolas"/>
              </a:rPr>
              <a:t>delta1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   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F7DC6F"/>
                </a:solidFill>
                <a:latin typeface="Consolas"/>
              </a:rPr>
              <a:t>1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-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F7DC6F"/>
                </a:solidFill>
                <a:latin typeface="Consolas"/>
              </a:rPr>
              <a:t>2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7DCEA0"/>
                </a:solidFill>
                <a:latin typeface="Consolas"/>
              </a:rPr>
              <a:t>week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     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index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isocalendar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week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astype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C39BD3"/>
                </a:solidFill>
                <a:latin typeface="Consolas"/>
              </a:rPr>
              <a:t>int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7DCEA0"/>
                </a:solidFill>
                <a:latin typeface="Consolas"/>
              </a:rPr>
              <a:t>month</a:t>
            </a:r>
            <a:r>
              <a:rPr sz="1600" i="0">
                <a:solidFill>
                  <a:srgbClr val="7DCEA0"/>
                </a:solidFill>
                <a:latin typeface="Consolas"/>
              </a:rPr>
              <a:t>"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    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index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month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y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y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dropna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y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loc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X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dropna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index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279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20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66964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Decompose, Feature, Validate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DBC75E3C-30D9-4523-8190-AD5DAD0DD81B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Walk-forward validation, never random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118104"/>
          </a:xfrm>
          <a:prstGeom prst="roundRect">
            <a:avLst>
              <a:gd name="adj" fmla="val 293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# --- 3. walk-forward validation, never random ------------------------- tscv = TimeSeriesSplit(n_splits=5) naive_errs, model_errs = [], [] for tr, te in tscv.split(X): m = HistGradientBoostingRegressor().fit(X.iloc[tr], y.iloc[tr]) model_errs.append(mean_absolute_error(y.iloc[te], m.predict(X.iloc[te]))) naive_errs.append(mean_absolute_error(y.iloc[te], X.iloc[te][&quot;lag1&quot;])) print(f&quot;naive (last value) MAE : {np.mean(naive_errs):.2f}&quot;) print(f&quot;model MAE : {np.mean(model_errs):.2f}&quot;) # If the model does not clearly beat naive, the extra complexity is not earning its keep."/>
          <p:cNvSpPr txBox="1"/>
          <p:nvPr/>
        </p:nvSpPr>
        <p:spPr>
          <a:xfrm>
            <a:off x="1362456" y="2523744"/>
            <a:ext cx="9987991" cy="26243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8795A1"/>
                </a:solidFill>
                <a:latin typeface="Consolas"/>
              </a:rPr>
              <a:t># --- 3. walk-forward validation, never random 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tscv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TimeSeriesSplit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n_splits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F7DC6F"/>
                </a:solidFill>
                <a:latin typeface="Consolas"/>
              </a:rPr>
              <a:t>5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naive_errs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model_errs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5DADE2"/>
                </a:solidFill>
                <a:latin typeface="Consolas"/>
              </a:rPr>
              <a:t>for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tr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in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tscv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split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m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HistGradientBoostingRegressor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fit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iloc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E8EDF2"/>
                </a:solidFill>
                <a:latin typeface="Consolas"/>
              </a:rPr>
              <a:t>tr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iloc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E8EDF2"/>
                </a:solidFill>
                <a:latin typeface="Consolas"/>
              </a:rPr>
              <a:t>tr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model_errs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append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mean_absolute_error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iloc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E8EDF2"/>
                </a:solidFill>
                <a:latin typeface="Consolas"/>
              </a:rPr>
              <a:t>te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m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predict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iloc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E8EDF2"/>
                </a:solidFill>
                <a:latin typeface="Consolas"/>
              </a:rPr>
              <a:t>te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naive_errs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append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mean_absolute_error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y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iloc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E8EDF2"/>
                </a:solidFill>
                <a:latin typeface="Consolas"/>
              </a:rPr>
              <a:t>te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X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iloc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E8EDF2"/>
                </a:solidFill>
                <a:latin typeface="Consolas"/>
              </a:rPr>
              <a:t>te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7DCEA0"/>
                </a:solidFill>
                <a:latin typeface="Consolas"/>
              </a:rPr>
              <a:t>lag1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7DCEA0"/>
                </a:solidFill>
                <a:latin typeface="Consolas"/>
              </a:rPr>
              <a:t>f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7DCEA0"/>
                </a:solidFill>
                <a:latin typeface="Consolas"/>
              </a:rPr>
              <a:t>naive (last value) MAE : </a:t>
            </a:r>
            <a:r>
              <a:rPr sz="1500" i="0">
                <a:solidFill>
                  <a:srgbClr val="7DCEA0"/>
                </a:solidFill>
                <a:latin typeface="Consolas"/>
              </a:rPr>
              <a:t>{</a:t>
            </a:r>
            <a:r>
              <a:rPr sz="1500" i="0">
                <a:solidFill>
                  <a:srgbClr val="E8EDF2"/>
                </a:solidFill>
                <a:latin typeface="Consolas"/>
              </a:rPr>
              <a:t>np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mean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naive_errs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7DCEA0"/>
                </a:solidFill>
                <a:latin typeface="Consolas"/>
              </a:rPr>
              <a:t>:</a:t>
            </a:r>
            <a:r>
              <a:rPr sz="1500" i="0">
                <a:solidFill>
                  <a:srgbClr val="7DCEA0"/>
                </a:solidFill>
                <a:latin typeface="Consolas"/>
              </a:rPr>
              <a:t>.2f</a:t>
            </a:r>
            <a:r>
              <a:rPr sz="1500" i="0">
                <a:solidFill>
                  <a:srgbClr val="7DCEA0"/>
                </a:solidFill>
                <a:latin typeface="Consolas"/>
              </a:rPr>
              <a:t>}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7DCEA0"/>
                </a:solidFill>
                <a:latin typeface="Consolas"/>
              </a:rPr>
              <a:t>f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7DCEA0"/>
                </a:solidFill>
                <a:latin typeface="Consolas"/>
              </a:rPr>
              <a:t>model MAE              : </a:t>
            </a:r>
            <a:r>
              <a:rPr sz="1500" i="0">
                <a:solidFill>
                  <a:srgbClr val="7DCEA0"/>
                </a:solidFill>
                <a:latin typeface="Consolas"/>
              </a:rPr>
              <a:t>{</a:t>
            </a:r>
            <a:r>
              <a:rPr sz="1500" i="0">
                <a:solidFill>
                  <a:srgbClr val="E8EDF2"/>
                </a:solidFill>
                <a:latin typeface="Consolas"/>
              </a:rPr>
              <a:t>np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mean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model_errs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7DCEA0"/>
                </a:solidFill>
                <a:latin typeface="Consolas"/>
              </a:rPr>
              <a:t>:</a:t>
            </a:r>
            <a:r>
              <a:rPr sz="1500" i="0">
                <a:solidFill>
                  <a:srgbClr val="7DCEA0"/>
                </a:solidFill>
                <a:latin typeface="Consolas"/>
              </a:rPr>
              <a:t>.2f</a:t>
            </a:r>
            <a:r>
              <a:rPr sz="1500" i="0">
                <a:solidFill>
                  <a:srgbClr val="7DCEA0"/>
                </a:solidFill>
                <a:latin typeface="Consolas"/>
              </a:rPr>
              <a:t>}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8795A1"/>
                </a:solidFill>
                <a:latin typeface="Consolas"/>
              </a:rPr>
              <a:t># If the model does not clearly beat naive, the extra complexity is not earning its keep.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26243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31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94057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Decompose, Feature, Validate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125     </a:t>
            </a:r>
            <a:fld id="{8F677120-91BB-4595-964B-476731AB8E21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 simple drift monitor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761743"/>
          </a:xfrm>
          <a:prstGeom prst="roundRect">
            <a:avLst>
              <a:gd name="adj" fmla="val 5190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# --- 4. a simple drift monitor ---------------------------------------- recent, reference = model_errs[-1], np.mean(model_errs[:-1]) if recent &gt; 1.5 * reference: print(&quot;DRIFT ALERT: recent error is 50% above the reference window&quot;)"/>
          <p:cNvSpPr txBox="1"/>
          <p:nvPr/>
        </p:nvSpPr>
        <p:spPr>
          <a:xfrm>
            <a:off x="1362456" y="2523744"/>
            <a:ext cx="9987991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# --- 4. a simple drift monitor ----------------------------------------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recent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reference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model_errs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AEB6BF"/>
                </a:solidFill>
                <a:latin typeface="Consolas"/>
              </a:rPr>
              <a:t>-</a:t>
            </a:r>
            <a:r>
              <a:rPr sz="1900" i="0">
                <a:solidFill>
                  <a:srgbClr val="F7DC6F"/>
                </a:solidFill>
                <a:latin typeface="Consolas"/>
              </a:rPr>
              <a:t>1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np</a:t>
            </a:r>
            <a:r>
              <a:rPr sz="1900" i="0">
                <a:solidFill>
                  <a:srgbClr val="AEB6BF"/>
                </a:solidFill>
                <a:latin typeface="Consolas"/>
              </a:rPr>
              <a:t>.</a:t>
            </a:r>
            <a:r>
              <a:rPr sz="1900" i="0">
                <a:solidFill>
                  <a:srgbClr val="E8EDF2"/>
                </a:solidFill>
                <a:latin typeface="Consolas"/>
              </a:rPr>
              <a:t>mean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model_errs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AEB6BF"/>
                </a:solidFill>
                <a:latin typeface="Consolas"/>
              </a:rPr>
              <a:t>-</a:t>
            </a:r>
            <a:r>
              <a:rPr sz="1900" i="0">
                <a:solidFill>
                  <a:srgbClr val="F7DC6F"/>
                </a:solidFill>
                <a:latin typeface="Consolas"/>
              </a:rPr>
              <a:t>1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5DADE2"/>
                </a:solidFill>
                <a:latin typeface="Consolas"/>
              </a:rPr>
              <a:t>if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recent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&gt;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1.5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reference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DRIFT ALERT: recent error is 50</a:t>
            </a:r>
            <a:r>
              <a:rPr sz="1900" i="0">
                <a:solidFill>
                  <a:srgbClr val="7DCEA0"/>
                </a:solidFill>
                <a:latin typeface="Consolas"/>
              </a:rPr>
              <a:t>% a</a:t>
            </a:r>
            <a:r>
              <a:rPr sz="1900" i="0">
                <a:solidFill>
                  <a:srgbClr val="7DCEA0"/>
                </a:solidFill>
                <a:latin typeface="Consolas"/>
              </a:rPr>
              <a:t>bove the reference window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35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21150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Why is </a:t>
            </a:r>
            <a:r>
              <a:rPr sz="3200" b="0" i="0">
                <a:solidFill>
                  <a:srgbClr val="FFFFFF"/>
                </a:solidFill>
                <a:latin typeface="Consolas"/>
              </a:rPr>
              <a:t>rolling(7, center=True)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 leakage bug in a forecasting feature?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EE44ADD4-893A-47A0-BD90-22BADA149B45}" type="slidenum">
              <a:rPr lang="en-GB" sz="1000">
                <a:solidFill>
                  <a:srgbClr val="D5DEE5"/>
                </a:solidFill>
                <a:latin typeface="Segoe UI"/>
              </a:rPr>
              <a:t>35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Why is </a:t>
            </a:r>
            <a:r>
              <a:rPr sz="2250" b="0" i="0">
                <a:solidFill>
                  <a:srgbClr val="1A5276"/>
                </a:solidFill>
                <a:latin typeface="Consolas"/>
              </a:rPr>
              <a:t>rolling(7, center=True)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a leakage bug in a forecasting feature?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A centred window includes values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after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time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which will not exist when the model runs. The feature encodes the future, so validation scores are inflated and production performance collapses.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3EEE99C3-DDFC-4501-8475-94599D584479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Traffic drops 40% on 25 December. Is this an anomaly? What must you compute before answering?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EE26AF87-30FE-493E-A35F-DDD64A146C01}" type="slidenum">
              <a:rPr lang="en-GB" sz="1000">
                <a:solidFill>
                  <a:srgbClr val="D5DEE5"/>
                </a:solidFill>
                <a:latin typeface="Segoe UI"/>
              </a:rPr>
              <a:t>37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Traffic drops 40% on 25 December. Is this an anomaly? What must you compute before answering?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Not necessarily. Decompose first: if traffic drops every 25 December, the seasonal component accounts for it and the residual is unremarkable. Only a drop beyond the expected seasonal pattern is an anomaly.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1A819362-4A7C-489A-A147-C246F7AC504A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29520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model’s accuracy fell from 0.87 to 0.62 in one week with no code change. What are the first two things you check?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9A8A1892-4E81-4254-B400-8D169A01A556}" type="slidenum">
              <a:rPr lang="en-GB" sz="1000">
                <a:solidFill>
                  <a:srgbClr val="D5DEE5"/>
                </a:solidFill>
                <a:latin typeface="Segoe UI"/>
              </a:rPr>
              <a:t>39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 model’s accuracy fell from 0.87 to 0.62 in one week with no code change. What are the first two things you check?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3947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440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(i) Did an upstream data source change or break — check input distributions and row counts. (ii) Did the world change — a new system, a policy change, a new attacker technique. A sudden cliff is almost always an upstream change rather than gradual model decay.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3F777734-2020-458C-B98A-6F7E3F7E4EA4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3706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7747D7A0-289C-49F5-B6B0-7A62E7A76A2D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Temporal observations are dependent, so the independence assumption behind Part III does not hold — most importantly for validation.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Decompose into trend, seasonality and residual; alert on the residual, not the raw value.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348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10835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04434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Build lag, rolling, difference and calendar features, all strictly backward-looking.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3870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69356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629558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Validate walk-forward. Random k-fold on a time series trains on the future and produces meaningless scores.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604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4153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351324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forecast horizon is set by the lead time of the action it supports, and error must be reported per horizon against the naive baseline.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8223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13709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073091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Streams need windows — tumbling, sliding or session — plus a watermark for late data.</a:t>
            </a:r>
          </a:p>
        </p:txBody>
      </p:sp>
      <p:sp>
        <p:nvSpPr>
          <p:cNvPr id="25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745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sbn6"/>
          <p:cNvSpPr txBox="1"/>
          <p:nvPr/>
        </p:nvSpPr>
        <p:spPr>
          <a:xfrm>
            <a:off x="658368" y="5722315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27" name="!!st6"/>
          <p:cNvSpPr txBox="1"/>
          <p:nvPr/>
        </p:nvSpPr>
        <p:spPr>
          <a:xfrm>
            <a:off x="1298448" y="5658307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Concept drift degrades deployed models silently. Monitor, and distinguish gradual, sudden, seasonal and adversarial drift.</a:t>
            </a:r>
          </a:p>
        </p:txBody>
      </p:sp>
      <p:sp>
        <p:nvSpPr>
          <p:cNvPr id="8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0798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74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7565F170-44D9-4A41-B307-F70794BA363D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The correct validation scheme for a forecasting model is: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random k-fold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stratified k-fold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walk-forward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leave-one-out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DB605E15-EA67-4C9E-9901-F5669C3E03FF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Windows that are fixed-length and non-overlapping are called: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sliding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tumbling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session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expanding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4984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C64630EF-3822-449E-913D-8236881E69E4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Define concept drift and distinguish it from data drift.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Why is the naive “last value” baseline so strong at short horizons, and what does that imply for how you report results?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798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13913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079699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What is a watermark in stream processing and why does IoT need one?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18585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659733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600297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You must alert on unusual failed-login volume per account. Specify the window type and length, the decomposition you would apply, and the threshold rule — and justify each against the base-rate argument of Chapter 6.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414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478261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4723180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deployed predictive-maintenance model degrades steadily over eight months. List four possible causes spanning sensors, process and model, and state the diagnostic that would distinguish them.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2076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54A9D"/>
                </a:solidFill>
                <a:latin typeface="Segoe UI Black"/>
              </a:rPr>
              <a:t>19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19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20 — Text and Natural Language Processing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19, pages 122–128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Decompose &amp; walk-forward; TF-IDF classifier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Assignment 2 due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19  ·  Sequences, Time Series and Streaming Analytics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3D37FB4E-44A1-4E82-A553-1BFE8A07DE29}" type="slidenum">
              <a:rPr lang="en-GB" sz="1000">
                <a:solidFill>
                  <a:srgbClr val="D5DEE5"/>
                </a:solidFill>
                <a:latin typeface="Segoe UI"/>
              </a:rPr>
              <a:t>45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ta Science Fall 2026">
  <a:themeElements>
    <a:clrScheme name="Data Sci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Data Sci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19: Sequences, Time Series and Streaming Analytics</dc:title>
  <dc:subject>Data Science — From Foundations to Intelligent Systems · BSIT · Fall 2026</dc:subject>
  <dc:creator>Dr. Mustafa Hameed</dc:creator>
  <cp:keywords>data science; lecture slides; BSIT;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