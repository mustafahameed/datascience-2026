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1.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9.svg" ContentType="image/svg+xml"/>
  <Override PartName="/ppt/media/image8.svg" ContentType="image/svg+xml"/>
  <Override PartName="/ppt/media/image81.svg" ContentType="image/svg+xml"/>
  <Override PartName="/ppt/media/image82.svg" ContentType="image/svg+xml"/>
  <Override PartName="/ppt/media/image8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1681F9A-7115-47B5-9208-0BFDA1FF4A74}">
          <p14:sldIdLst>
            <p14:sldId id="256"/>
            <p14:sldId id="257"/>
            <p14:sldId id="258"/>
            <p14:sldId id="259"/>
            <p14:sldId id="260"/>
          </p14:sldIdLst>
        </p14:section>
        <p14:section name="15.1 Features Beat Algorithms" id="{2FA3F200-2D71-478F-AA3D-6F2737B8F86B}">
          <p14:sldIdLst>
            <p14:sldId id="261"/>
            <p14:sldId id="262"/>
            <p14:sldId id="263"/>
            <p14:sldId id="264"/>
          </p14:sldIdLst>
        </p14:section>
        <p14:section name="15.2 Feature Selection" id="{3C939456-8EAD-4A30-80D4-569B7F1DED29}">
          <p14:sldIdLst>
            <p14:sldId id="265"/>
            <p14:sldId id="266"/>
            <p14:sldId id="267"/>
          </p14:sldIdLst>
        </p14:section>
        <p14:section name="15.3 Ensembles: Many Weak Models Beat One Strong One" id="{CDE8CDC7-E4B4-43ED-820F-20346E339188}">
          <p14:sldIdLst>
            <p14:sldId id="268"/>
            <p14:sldId id="269"/>
            <p14:sldId id="270"/>
            <p14:sldId id="271"/>
            <p14:sldId id="272"/>
            <p14:sldId id="273"/>
            <p14:sldId id="274"/>
          </p14:sldIdLst>
        </p14:section>
        <p14:section name="15.4 Reading Feature Importances — Carefully" id="{2F683358-3786-4EE0-9BD2-C4DE7BE3875F}">
          <p14:sldIdLst>
            <p14:sldId id="275"/>
          </p14:sldIdLst>
        </p14:section>
        <p14:section name="Four lenses" id="{E214BB2A-8FB7-405E-8709-80DAE93F150F}">
          <p14:sldIdLst>
            <p14:sldId id="276"/>
            <p14:sldId id="277"/>
            <p14:sldId id="278"/>
            <p14:sldId id="279"/>
            <p14:sldId id="280"/>
          </p14:sldIdLst>
        </p14:section>
        <p14:section name="Lab" id="{6D5FD253-5D4A-48D6-9E8D-63574B1FB201}">
          <p14:sldIdLst>
            <p14:sldId id="281"/>
            <p14:sldId id="282"/>
            <p14:sldId id="283"/>
            <p14:sldId id="284"/>
            <p14:sldId id="285"/>
          </p14:sldIdLst>
        </p14:section>
        <p14:section name="Checkpoint" id="{E31A27CC-BF16-43E3-A126-550668D21D21}">
          <p14:sldIdLst>
            <p14:sldId id="286"/>
            <p14:sldId id="287"/>
            <p14:sldId id="288"/>
            <p14:sldId id="289"/>
            <p14:sldId id="290"/>
            <p14:sldId id="291"/>
          </p14:sldIdLst>
        </p14:section>
        <p14:section name="Wrap-up" id="{1E1481B7-9CB2-416B-98CE-833FF5BE266F}">
          <p14:sldIdLst>
            <p14:sldId id="292"/>
            <p14:sldId id="293"/>
            <p14:sldId id="294"/>
            <p14:sldId id="295"/>
            <p14:sldId id="29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15: Feature Engineering and Ensembles. Part 3 — Machine Learning Core. Week 9: Features and ensembles; unsupervised (mostly revision). Handout pages 95–100.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13 (decision trees — the base learner for every ensemble here) and Chapter 14 (you must be able to measure before you can improve). Revision note: the ensembles half revises Machine Learning Fall 2026, Chapter 14 (Ensemble Learning); feature engineering is genuinely new.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feature engineering; feature selection; filter / wrapper / embedded methods; curse of dimensionality; ensemble; bagging; bootstrap; random forest; boosting; gradient boosting; stacking; feature importance; permutation importance.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15.1 (handout p. 97): Three families of feature selection. The choice is mostly a compute-versus-quality trade-off, but the leakage warning applies to all three equally.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15.2 (handout p. 97): Bagging versus boosting. Bagging builds independent models and averages away their variance; boosting builds dependent models, each correcting its predecessor, and drives down bias. This is the distinction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The highest-value features are almost never raw counts. Build days_since_last_activity, the slope of weekly engagement, and consecutive_missed_labs. A student’s trajectory carries far more signal than their total. Use a random forest for accuracy, but keep a depth-3 tree beside it as the explanation you can defend to an appeals panel.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With 40 sprints, ensembles will overfit spectacularly. Engineer two or three strong features instead — points_committed / historical_velocity, share_of_tasks_with_unresolved_dependencies, team_changed_since_last_sprint — and fit something simple. This is a domain where feature engineering does not merely beat algorithm choice; it is the only thing that works.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Raw sensor values are weak; window statistics are strong. Compute rolling mean, standard deviation, min, max, and rate of change over 1-minute, 1-hour and 24-hour windows, plus frequency-domain features for vibration. This single step usually matters more than anything in Chapter 18. Gradient boosting on well-engineered window features is the standard, hard-to-beat baseline for predictive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Aggregate over time and entity: failed logins per account in 5 minutes, distinct destination ports per source in 1 minute, bytes-out to bytes-in ratio, deviation from that account’s own 30-day baseline. The last is the key idea — features relative to an entity’s own history detect compromise far better than absolute thresholds. Tree ensembles dominate here, but keep in mind that an adversary who learns which features you use will manipulate them (Chapter 26).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Engineer from raw click logs.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Ensembles.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Interpret: permutation, NOT the built-in impurity importance.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Bagging averages many independently-trained models, cancelling the uncorrelated part of their error — it reduces variance. Boosting fits each new model to the previous one’s residuals, progressively correcting systematic error — it reduces bias.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Otherwise every tree would choose the same dominant feature at the root and the trees would be nearly identical. Correlated models do not average away their errors, which defeats the purpose of bagging.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Impurity-based importance is biased towards high-cardinality features, and an ID can perfectly separate training rows without generalising at all. It should not be a feature; use permutation importance to confirm.</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16 — Unsupervised Learning and Anomaly Detection. READ: Handout Chapter 15, pages 95–100. THIS WEEK'S LAB: Engineer, ensemble, interpret; cluster &amp; detect. ASSESSMENT: Assignment 2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3.xml"/><Relationship Id="rId8" Type="http://schemas.openxmlformats.org/officeDocument/2006/relationships/slide" Target="slide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5.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6.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7.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8.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9.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4.png"/><Relationship Id="rId7" Type="http://schemas.openxmlformats.org/officeDocument/2006/relationships/image" Target="../media/image35.svg"/><Relationship Id="rId8" Type="http://schemas.openxmlformats.org/officeDocument/2006/relationships/image" Target="../media/image36.png"/><Relationship Id="rId9" Type="http://schemas.openxmlformats.org/officeDocument/2006/relationships/image" Target="../media/image37.svg"/><Relationship Id="rId10" Type="http://schemas.openxmlformats.org/officeDocument/2006/relationships/image" Target="../media/image38.png"/><Relationship Id="rId11" Type="http://schemas.openxmlformats.org/officeDocument/2006/relationships/image" Target="../media/image39.svg"/><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image" Target="../media/image32.png"/><Relationship Id="rId5" Type="http://schemas.openxmlformats.org/officeDocument/2006/relationships/image" Target="../media/image42.svg"/><Relationship Id="rId6" Type="http://schemas.openxmlformats.org/officeDocument/2006/relationships/image" Target="../media/image34.png"/><Relationship Id="rId7" Type="http://schemas.openxmlformats.org/officeDocument/2006/relationships/image" Target="../media/image43.svg"/><Relationship Id="rId8" Type="http://schemas.openxmlformats.org/officeDocument/2006/relationships/image" Target="../media/image36.png"/><Relationship Id="rId9" Type="http://schemas.openxmlformats.org/officeDocument/2006/relationships/image" Target="../media/image44.svg"/><Relationship Id="rId10" Type="http://schemas.openxmlformats.org/officeDocument/2006/relationships/image" Target="../media/image38.png"/><Relationship Id="rId11" Type="http://schemas.openxmlformats.org/officeDocument/2006/relationships/image" Target="../media/image45.svg"/><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image" Target="../media/image34.png"/><Relationship Id="rId5" Type="http://schemas.openxmlformats.org/officeDocument/2006/relationships/image" Target="../media/image48.svg"/><Relationship Id="rId6" Type="http://schemas.openxmlformats.org/officeDocument/2006/relationships/image" Target="../media/image32.png"/><Relationship Id="rId7" Type="http://schemas.openxmlformats.org/officeDocument/2006/relationships/image" Target="../media/image49.svg"/><Relationship Id="rId8" Type="http://schemas.openxmlformats.org/officeDocument/2006/relationships/image" Target="../media/image36.png"/><Relationship Id="rId9" Type="http://schemas.openxmlformats.org/officeDocument/2006/relationships/image" Target="../media/image50.svg"/><Relationship Id="rId10" Type="http://schemas.openxmlformats.org/officeDocument/2006/relationships/image" Target="../media/image38.png"/><Relationship Id="rId11" Type="http://schemas.openxmlformats.org/officeDocument/2006/relationships/image" Target="../media/image51.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36.png"/><Relationship Id="rId5" Type="http://schemas.openxmlformats.org/officeDocument/2006/relationships/image" Target="../media/image54.svg"/><Relationship Id="rId6" Type="http://schemas.openxmlformats.org/officeDocument/2006/relationships/image" Target="../media/image32.png"/><Relationship Id="rId7" Type="http://schemas.openxmlformats.org/officeDocument/2006/relationships/image" Target="../media/image55.svg"/><Relationship Id="rId8" Type="http://schemas.openxmlformats.org/officeDocument/2006/relationships/image" Target="../media/image34.png"/><Relationship Id="rId9" Type="http://schemas.openxmlformats.org/officeDocument/2006/relationships/image" Target="../media/image56.svg"/><Relationship Id="rId10" Type="http://schemas.openxmlformats.org/officeDocument/2006/relationships/image" Target="../media/image38.png"/><Relationship Id="rId11" Type="http://schemas.openxmlformats.org/officeDocument/2006/relationships/image" Target="../media/image57.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image" Target="../media/image38.png"/><Relationship Id="rId5" Type="http://schemas.openxmlformats.org/officeDocument/2006/relationships/image" Target="../media/image60.svg"/><Relationship Id="rId6" Type="http://schemas.openxmlformats.org/officeDocument/2006/relationships/image" Target="../media/image32.png"/><Relationship Id="rId7" Type="http://schemas.openxmlformats.org/officeDocument/2006/relationships/image" Target="../media/image61.svg"/><Relationship Id="rId8" Type="http://schemas.openxmlformats.org/officeDocument/2006/relationships/image" Target="../media/image34.png"/><Relationship Id="rId9" Type="http://schemas.openxmlformats.org/officeDocument/2006/relationships/image" Target="../media/image62.svg"/><Relationship Id="rId10" Type="http://schemas.openxmlformats.org/officeDocument/2006/relationships/image" Target="../media/image36.png"/><Relationship Id="rId11" Type="http://schemas.openxmlformats.org/officeDocument/2006/relationships/image" Target="../media/image63.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5.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6.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7.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8.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1.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6.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79.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3.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15</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Feature Engineering and Ensembles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MACHINE LEARNING CORE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15  ·  WEEK 9</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95     </a:t>
            </a:r>
            <a:fld id="{36049DC5-FDA2-4632-B15C-2A00D90DF02D}"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94532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945328"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415887"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415887"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52899"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252899"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15</a:t>
            </a:r>
          </a:p>
        </p:txBody>
      </p:sp>
      <p:sp>
        <p:nvSpPr>
          <p:cNvPr id="49" name="!!dot16">
            <a:extLst>
              <a:ext uri="{C183D7F6-B498-43B3-948B-1728B52AA6E4}">
                <adec:decorative xmlns:adec="http://schemas.microsoft.com/office/drawing/2017/decorative" val="1"/>
              </a:ext>
            </a:extLst>
          </p:cNvPr>
          <p:cNvSpPr/>
          <p:nvPr/>
        </p:nvSpPr>
        <p:spPr>
          <a:xfrm>
            <a:off x="5836200"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7447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39207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3006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3250363"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Feature Engineering and Ensembles</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13">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13">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13"/>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13  </a:t>
            </a:r>
            <a:r>
              <a:rPr sz="1400" b="0" i="0">
                <a:solidFill>
                  <a:srgbClr val="1C252B"/>
                </a:solidFill>
                <a:latin typeface="Segoe UI"/>
              </a:rPr>
              <a:t>Supervised Learning II: Classification</a:t>
            </a:r>
          </a:p>
        </p:txBody>
      </p:sp>
      <p:sp>
        <p:nvSpPr>
          <p:cNvPr id="88" name="!!chipBU14">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14">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14"/>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14  </a:t>
            </a:r>
            <a:r>
              <a:rPr sz="1400" b="0" i="0">
                <a:solidFill>
                  <a:srgbClr val="1C252B"/>
                </a:solidFill>
                <a:latin typeface="Segoe UI"/>
              </a:rPr>
              <a:t>Model Evaluation and Selection</a:t>
            </a:r>
          </a:p>
        </p:txBody>
      </p:sp>
      <p:sp>
        <p:nvSpPr>
          <p:cNvPr id="9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2" name="!!chipUS19">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bUS19">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chiptUS19"/>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19  </a:t>
            </a:r>
            <a:r>
              <a:rPr sz="1400" b="0" i="0">
                <a:solidFill>
                  <a:srgbClr val="1C252B"/>
                </a:solidFill>
                <a:latin typeface="Segoe UI"/>
              </a:rPr>
              <a:t>Sequences, Time Series and Streaming Analytics</a:t>
            </a:r>
          </a:p>
        </p:txBody>
      </p:sp>
      <p:sp>
        <p:nvSpPr>
          <p:cNvPr id="95" name="!!chipUS25">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25">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25"/>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25  </a:t>
            </a:r>
            <a:r>
              <a:rPr sz="1400" b="0" i="0">
                <a:solidFill>
                  <a:srgbClr val="1C252B"/>
                </a:solidFill>
                <a:latin typeface="Segoe UI"/>
              </a:rPr>
              <a:t>Data Science for the Internet of Things</a:t>
            </a:r>
          </a:p>
        </p:txBody>
      </p:sp>
      <p:sp>
        <p:nvSpPr>
          <p:cNvPr id="9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pfill">
            <a:extLst>
              <a:ext uri="{C183D7F6-B498-43B3-948B-1728B52AA6E4}">
                <adec:decorative xmlns:adec="http://schemas.microsoft.com/office/drawing/2017/decorative" val="1"/>
              </a:ext>
            </a:extLst>
          </p:cNvPr>
          <p:cNvSpPr/>
          <p:nvPr/>
        </p:nvSpPr>
        <p:spPr>
          <a:xfrm>
            <a:off x="0" y="0"/>
            <a:ext cx="59471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95     </a:t>
            </a:r>
            <a:fld id="{6DE8F987-B6EE-4A8A-A4A5-520AE1C4CC1D}"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Construct</a:t>
            </a:r>
            <a:r>
              <a:rPr sz="2100" b="0" i="0">
                <a:solidFill>
                  <a:srgbClr val="1C252B"/>
                </a:solidFill>
                <a:latin typeface="Segoe UI"/>
              </a:rPr>
              <a:t> informative features from raw columns using ratios, aggregations, time deltas and domain knowledge.</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Apply</a:t>
            </a:r>
            <a:r>
              <a:rPr sz="2100" b="0" i="0">
                <a:solidFill>
                  <a:srgbClr val="1C252B"/>
                </a:solidFill>
                <a:latin typeface="Segoe UI"/>
              </a:rPr>
              <a:t> filter, wrapper and embedded methods of feature selection.</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how bagging reduces variance and boosting reduces bias.</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Distinguish</a:t>
            </a:r>
            <a:r>
              <a:rPr sz="2100" b="0" i="0">
                <a:solidFill>
                  <a:srgbClr val="1C252B"/>
                </a:solidFill>
                <a:latin typeface="Segoe UI"/>
              </a:rPr>
              <a:t> random forests from gradient boosting and choose between them.</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Interpret</a:t>
            </a:r>
            <a:r>
              <a:rPr sz="2100" b="0" i="0">
                <a:solidFill>
                  <a:srgbClr val="1C252B"/>
                </a:solidFill>
                <a:latin typeface="Segoe UI"/>
              </a:rPr>
              <a:t> feature importances, and state the traps in doing so.</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9207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95     </a:t>
            </a:r>
            <a:fld id="{F187B8C6-3BB2-46B4-8082-367EE6882231}" type="slidenum">
              <a:rPr lang="en-GB" sz="1000">
                <a:solidFill>
                  <a:srgbClr val="8795A1"/>
                </a:solidFill>
                <a:latin typeface="Segoe UI"/>
              </a:rPr>
              <a:t>4</a:t>
            </a:fld>
          </a:p>
        </p:txBody>
      </p:sp>
      <p:sp>
        <p:nvSpPr>
          <p:cNvPr id="7" name="!!term-feature engine">
            <a:extLst>
              <a:ext uri="{C183D7F6-B498-43B3-948B-1728B52AA6E4}">
                <adec:decorative xmlns:adec="http://schemas.microsoft.com/office/drawing/2017/decorative" val="1"/>
              </a:ext>
            </a:extLst>
          </p:cNvPr>
          <p:cNvSpPr/>
          <p:nvPr/>
        </p:nvSpPr>
        <p:spPr>
          <a:xfrm>
            <a:off x="658368" y="1847088"/>
            <a:ext cx="223626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feature engine">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feature engine"/>
          <p:cNvSpPr txBox="1"/>
          <p:nvPr/>
        </p:nvSpPr>
        <p:spPr>
          <a:xfrm>
            <a:off x="950976" y="1962911"/>
            <a:ext cx="205338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feature engineering</a:t>
            </a:r>
          </a:p>
        </p:txBody>
      </p:sp>
      <p:sp>
        <p:nvSpPr>
          <p:cNvPr id="10" name="!!term-feature select">
            <a:extLst>
              <a:ext uri="{C183D7F6-B498-43B3-948B-1728B52AA6E4}">
                <adec:decorative xmlns:adec="http://schemas.microsoft.com/office/drawing/2017/decorative" val="1"/>
              </a:ext>
            </a:extLst>
          </p:cNvPr>
          <p:cNvSpPr/>
          <p:nvPr/>
        </p:nvSpPr>
        <p:spPr>
          <a:xfrm>
            <a:off x="3040935" y="1847088"/>
            <a:ext cx="19523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feature select">
            <a:extLst>
              <a:ext uri="{C183D7F6-B498-43B3-948B-1728B52AA6E4}">
                <adec:decorative xmlns:adec="http://schemas.microsoft.com/office/drawing/2017/decorative" val="1"/>
              </a:ext>
            </a:extLst>
          </p:cNvPr>
          <p:cNvSpPr/>
          <p:nvPr/>
        </p:nvSpPr>
        <p:spPr>
          <a:xfrm>
            <a:off x="316895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feature select"/>
          <p:cNvSpPr txBox="1"/>
          <p:nvPr/>
        </p:nvSpPr>
        <p:spPr>
          <a:xfrm>
            <a:off x="3333543" y="1962911"/>
            <a:ext cx="176943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feature selection</a:t>
            </a:r>
          </a:p>
        </p:txBody>
      </p:sp>
      <p:sp>
        <p:nvSpPr>
          <p:cNvPr id="13" name="!!term-filter / wrapp">
            <a:extLst>
              <a:ext uri="{C183D7F6-B498-43B3-948B-1728B52AA6E4}">
                <adec:decorative xmlns:adec="http://schemas.microsoft.com/office/drawing/2017/decorative" val="1"/>
              </a:ext>
            </a:extLst>
          </p:cNvPr>
          <p:cNvSpPr/>
          <p:nvPr/>
        </p:nvSpPr>
        <p:spPr>
          <a:xfrm>
            <a:off x="5139550" y="1847088"/>
            <a:ext cx="38498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filter / wrapp">
            <a:extLst>
              <a:ext uri="{C183D7F6-B498-43B3-948B-1728B52AA6E4}">
                <adec:decorative xmlns:adec="http://schemas.microsoft.com/office/drawing/2017/decorative" val="1"/>
              </a:ext>
            </a:extLst>
          </p:cNvPr>
          <p:cNvSpPr/>
          <p:nvPr/>
        </p:nvSpPr>
        <p:spPr>
          <a:xfrm>
            <a:off x="526756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filter / wrapp"/>
          <p:cNvSpPr txBox="1"/>
          <p:nvPr/>
        </p:nvSpPr>
        <p:spPr>
          <a:xfrm>
            <a:off x="5432158" y="1962911"/>
            <a:ext cx="366694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filter / wrapper / embedded methods</a:t>
            </a:r>
          </a:p>
        </p:txBody>
      </p:sp>
      <p:sp>
        <p:nvSpPr>
          <p:cNvPr id="16" name="!!term-curse of dimen">
            <a:extLst>
              <a:ext uri="{C183D7F6-B498-43B3-948B-1728B52AA6E4}">
                <adec:decorative xmlns:adec="http://schemas.microsoft.com/office/drawing/2017/decorative" val="1"/>
              </a:ext>
            </a:extLst>
          </p:cNvPr>
          <p:cNvSpPr/>
          <p:nvPr/>
        </p:nvSpPr>
        <p:spPr>
          <a:xfrm>
            <a:off x="658368" y="2468880"/>
            <a:ext cx="25498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curse of dimen">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curse of dimen"/>
          <p:cNvSpPr txBox="1"/>
          <p:nvPr/>
        </p:nvSpPr>
        <p:spPr>
          <a:xfrm>
            <a:off x="950976" y="2584704"/>
            <a:ext cx="236698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curse of dimensionality</a:t>
            </a:r>
          </a:p>
        </p:txBody>
      </p:sp>
      <p:sp>
        <p:nvSpPr>
          <p:cNvPr id="19" name="!!term-ensemble">
            <a:extLst>
              <a:ext uri="{C183D7F6-B498-43B3-948B-1728B52AA6E4}">
                <adec:decorative xmlns:adec="http://schemas.microsoft.com/office/drawing/2017/decorative" val="1"/>
              </a:ext>
            </a:extLst>
          </p:cNvPr>
          <p:cNvSpPr/>
          <p:nvPr/>
        </p:nvSpPr>
        <p:spPr>
          <a:xfrm>
            <a:off x="3354532" y="2468880"/>
            <a:ext cx="13197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ensemble">
            <a:extLst>
              <a:ext uri="{C183D7F6-B498-43B3-948B-1728B52AA6E4}">
                <adec:decorative xmlns:adec="http://schemas.microsoft.com/office/drawing/2017/decorative" val="1"/>
              </a:ext>
            </a:extLst>
          </p:cNvPr>
          <p:cNvSpPr/>
          <p:nvPr/>
        </p:nvSpPr>
        <p:spPr>
          <a:xfrm>
            <a:off x="348254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ensemble"/>
          <p:cNvSpPr txBox="1"/>
          <p:nvPr/>
        </p:nvSpPr>
        <p:spPr>
          <a:xfrm>
            <a:off x="3647140" y="2584704"/>
            <a:ext cx="113690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ensemble</a:t>
            </a:r>
          </a:p>
        </p:txBody>
      </p:sp>
      <p:sp>
        <p:nvSpPr>
          <p:cNvPr id="22" name="!!term-bagging">
            <a:extLst>
              <a:ext uri="{C183D7F6-B498-43B3-948B-1728B52AA6E4}">
                <adec:decorative xmlns:adec="http://schemas.microsoft.com/office/drawing/2017/decorative" val="1"/>
              </a:ext>
            </a:extLst>
          </p:cNvPr>
          <p:cNvSpPr/>
          <p:nvPr/>
        </p:nvSpPr>
        <p:spPr>
          <a:xfrm>
            <a:off x="4820620" y="2468880"/>
            <a:ext cx="11999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bagging">
            <a:extLst>
              <a:ext uri="{C183D7F6-B498-43B3-948B-1728B52AA6E4}">
                <adec:decorative xmlns:adec="http://schemas.microsoft.com/office/drawing/2017/decorative" val="1"/>
              </a:ext>
            </a:extLst>
          </p:cNvPr>
          <p:cNvSpPr/>
          <p:nvPr/>
        </p:nvSpPr>
        <p:spPr>
          <a:xfrm>
            <a:off x="494863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bagging"/>
          <p:cNvSpPr txBox="1"/>
          <p:nvPr/>
        </p:nvSpPr>
        <p:spPr>
          <a:xfrm>
            <a:off x="5113228" y="2584704"/>
            <a:ext cx="101706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bagging</a:t>
            </a:r>
          </a:p>
        </p:txBody>
      </p:sp>
      <p:sp>
        <p:nvSpPr>
          <p:cNvPr id="25" name="!!term-bootstrap">
            <a:extLst>
              <a:ext uri="{C183D7F6-B498-43B3-948B-1728B52AA6E4}">
                <adec:decorative xmlns:adec="http://schemas.microsoft.com/office/drawing/2017/decorative" val="1"/>
              </a:ext>
            </a:extLst>
          </p:cNvPr>
          <p:cNvSpPr/>
          <p:nvPr/>
        </p:nvSpPr>
        <p:spPr>
          <a:xfrm>
            <a:off x="6166867" y="2468880"/>
            <a:ext cx="133159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bootstrap">
            <a:extLst>
              <a:ext uri="{C183D7F6-B498-43B3-948B-1728B52AA6E4}">
                <adec:decorative xmlns:adec="http://schemas.microsoft.com/office/drawing/2017/decorative" val="1"/>
              </a:ext>
            </a:extLst>
          </p:cNvPr>
          <p:cNvSpPr/>
          <p:nvPr/>
        </p:nvSpPr>
        <p:spPr>
          <a:xfrm>
            <a:off x="629488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bootstrap"/>
          <p:cNvSpPr txBox="1"/>
          <p:nvPr/>
        </p:nvSpPr>
        <p:spPr>
          <a:xfrm>
            <a:off x="6459475" y="2584704"/>
            <a:ext cx="114871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bootstrap</a:t>
            </a:r>
          </a:p>
        </p:txBody>
      </p:sp>
      <p:sp>
        <p:nvSpPr>
          <p:cNvPr id="28" name="!!term-random forest">
            <a:extLst>
              <a:ext uri="{C183D7F6-B498-43B3-948B-1728B52AA6E4}">
                <adec:decorative xmlns:adec="http://schemas.microsoft.com/office/drawing/2017/decorative" val="1"/>
              </a:ext>
            </a:extLst>
          </p:cNvPr>
          <p:cNvSpPr/>
          <p:nvPr/>
        </p:nvSpPr>
        <p:spPr>
          <a:xfrm>
            <a:off x="7644769" y="2468880"/>
            <a:ext cx="17375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random forest">
            <a:extLst>
              <a:ext uri="{C183D7F6-B498-43B3-948B-1728B52AA6E4}">
                <adec:decorative xmlns:adec="http://schemas.microsoft.com/office/drawing/2017/decorative" val="1"/>
              </a:ext>
            </a:extLst>
          </p:cNvPr>
          <p:cNvSpPr/>
          <p:nvPr/>
        </p:nvSpPr>
        <p:spPr>
          <a:xfrm>
            <a:off x="777278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random forest"/>
          <p:cNvSpPr txBox="1"/>
          <p:nvPr/>
        </p:nvSpPr>
        <p:spPr>
          <a:xfrm>
            <a:off x="7937377" y="2584704"/>
            <a:ext cx="155470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random forest</a:t>
            </a:r>
          </a:p>
        </p:txBody>
      </p:sp>
      <p:sp>
        <p:nvSpPr>
          <p:cNvPr id="31" name="!!term-boosting">
            <a:extLst>
              <a:ext uri="{C183D7F6-B498-43B3-948B-1728B52AA6E4}">
                <adec:decorative xmlns:adec="http://schemas.microsoft.com/office/drawing/2017/decorative" val="1"/>
              </a:ext>
            </a:extLst>
          </p:cNvPr>
          <p:cNvSpPr/>
          <p:nvPr/>
        </p:nvSpPr>
        <p:spPr>
          <a:xfrm>
            <a:off x="9528659" y="2468880"/>
            <a:ext cx="12513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boosting">
            <a:extLst>
              <a:ext uri="{C183D7F6-B498-43B3-948B-1728B52AA6E4}">
                <adec:decorative xmlns:adec="http://schemas.microsoft.com/office/drawing/2017/decorative" val="1"/>
              </a:ext>
            </a:extLst>
          </p:cNvPr>
          <p:cNvSpPr/>
          <p:nvPr/>
        </p:nvSpPr>
        <p:spPr>
          <a:xfrm>
            <a:off x="965667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boosting"/>
          <p:cNvSpPr txBox="1"/>
          <p:nvPr/>
        </p:nvSpPr>
        <p:spPr>
          <a:xfrm>
            <a:off x="9821267" y="2584704"/>
            <a:ext cx="106850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boosting</a:t>
            </a:r>
          </a:p>
        </p:txBody>
      </p:sp>
      <p:sp>
        <p:nvSpPr>
          <p:cNvPr id="34" name="!!term-gradient boost">
            <a:extLst>
              <a:ext uri="{C183D7F6-B498-43B3-948B-1728B52AA6E4}">
                <adec:decorative xmlns:adec="http://schemas.microsoft.com/office/drawing/2017/decorative" val="1"/>
              </a:ext>
            </a:extLst>
          </p:cNvPr>
          <p:cNvSpPr/>
          <p:nvPr/>
        </p:nvSpPr>
        <p:spPr>
          <a:xfrm>
            <a:off x="658368" y="3090672"/>
            <a:ext cx="207609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gradient boost">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gradient boost"/>
          <p:cNvSpPr txBox="1"/>
          <p:nvPr/>
        </p:nvSpPr>
        <p:spPr>
          <a:xfrm>
            <a:off x="950976" y="3206496"/>
            <a:ext cx="189321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gradient boosting</a:t>
            </a:r>
          </a:p>
        </p:txBody>
      </p:sp>
      <p:sp>
        <p:nvSpPr>
          <p:cNvPr id="37" name="!!term-stacking">
            <a:extLst>
              <a:ext uri="{C183D7F6-B498-43B3-948B-1728B52AA6E4}">
                <adec:decorative xmlns:adec="http://schemas.microsoft.com/office/drawing/2017/decorative" val="1"/>
              </a:ext>
            </a:extLst>
          </p:cNvPr>
          <p:cNvSpPr/>
          <p:nvPr/>
        </p:nvSpPr>
        <p:spPr>
          <a:xfrm>
            <a:off x="2880762" y="3090672"/>
            <a:ext cx="119086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stacking">
            <a:extLst>
              <a:ext uri="{C183D7F6-B498-43B3-948B-1728B52AA6E4}">
                <adec:decorative xmlns:adec="http://schemas.microsoft.com/office/drawing/2017/decorative" val="1"/>
              </a:ext>
            </a:extLst>
          </p:cNvPr>
          <p:cNvSpPr/>
          <p:nvPr/>
        </p:nvSpPr>
        <p:spPr>
          <a:xfrm>
            <a:off x="300877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stacking"/>
          <p:cNvSpPr txBox="1"/>
          <p:nvPr/>
        </p:nvSpPr>
        <p:spPr>
          <a:xfrm>
            <a:off x="3173370" y="3206496"/>
            <a:ext cx="100798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stacking</a:t>
            </a:r>
          </a:p>
        </p:txBody>
      </p:sp>
      <p:sp>
        <p:nvSpPr>
          <p:cNvPr id="40" name="!!term-feature import">
            <a:extLst>
              <a:ext uri="{C183D7F6-B498-43B3-948B-1728B52AA6E4}">
                <adec:decorative xmlns:adec="http://schemas.microsoft.com/office/drawing/2017/decorative" val="1"/>
              </a:ext>
            </a:extLst>
          </p:cNvPr>
          <p:cNvSpPr/>
          <p:nvPr/>
        </p:nvSpPr>
        <p:spPr>
          <a:xfrm>
            <a:off x="4217932" y="3090672"/>
            <a:ext cx="21839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feature import">
            <a:extLst>
              <a:ext uri="{C183D7F6-B498-43B3-948B-1728B52AA6E4}">
                <adec:decorative xmlns:adec="http://schemas.microsoft.com/office/drawing/2017/decorative" val="1"/>
              </a:ext>
            </a:extLst>
          </p:cNvPr>
          <p:cNvSpPr/>
          <p:nvPr/>
        </p:nvSpPr>
        <p:spPr>
          <a:xfrm>
            <a:off x="434594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feature import"/>
          <p:cNvSpPr txBox="1"/>
          <p:nvPr/>
        </p:nvSpPr>
        <p:spPr>
          <a:xfrm>
            <a:off x="4510540" y="3206496"/>
            <a:ext cx="200103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feature importance</a:t>
            </a:r>
          </a:p>
        </p:txBody>
      </p:sp>
      <p:sp>
        <p:nvSpPr>
          <p:cNvPr id="43" name="!!term-permutation im">
            <a:extLst>
              <a:ext uri="{C183D7F6-B498-43B3-948B-1728B52AA6E4}">
                <adec:decorative xmlns:adec="http://schemas.microsoft.com/office/drawing/2017/decorative" val="1"/>
              </a:ext>
            </a:extLst>
          </p:cNvPr>
          <p:cNvSpPr/>
          <p:nvPr/>
        </p:nvSpPr>
        <p:spPr>
          <a:xfrm>
            <a:off x="6548155" y="3090672"/>
            <a:ext cx="267019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permutation im">
            <a:extLst>
              <a:ext uri="{C183D7F6-B498-43B3-948B-1728B52AA6E4}">
                <adec:decorative xmlns:adec="http://schemas.microsoft.com/office/drawing/2017/decorative" val="1"/>
              </a:ext>
            </a:extLst>
          </p:cNvPr>
          <p:cNvSpPr/>
          <p:nvPr/>
        </p:nvSpPr>
        <p:spPr>
          <a:xfrm>
            <a:off x="667617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permutation im"/>
          <p:cNvSpPr txBox="1"/>
          <p:nvPr/>
        </p:nvSpPr>
        <p:spPr>
          <a:xfrm>
            <a:off x="6840763" y="3206496"/>
            <a:ext cx="248731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permutation importance</a:t>
            </a:r>
          </a:p>
        </p:txBody>
      </p:sp>
      <p:sp>
        <p:nvSpPr>
          <p:cNvPr id="46"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118943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95–100     </a:t>
            </a:r>
            <a:fld id="{28CD4B42-580A-4A17-9451-66354A73C515}" type="slidenum">
              <a:rPr lang="en-GB" sz="1000">
                <a:solidFill>
                  <a:srgbClr val="8795A1"/>
                </a:solidFill>
                <a:latin typeface="Segoe UI"/>
              </a:rPr>
              <a:t>5</a:t>
            </a:fld>
          </a:p>
        </p:txBody>
      </p:sp>
      <p:sp>
        <p:nvSpPr>
          <p:cNvPr id="7" name="!!ag0" descr="Go to section 15.1 Features Beat Algorithm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15.1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Features Beat Algorithms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95  ›</a:t>
            </a:r>
          </a:p>
        </p:txBody>
      </p:sp>
      <p:sp>
        <p:nvSpPr>
          <p:cNvPr id="12" name="!!ag1" descr="Go to section 15.2 Feature Selection">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15.2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Feature Selection</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96  ›</a:t>
            </a:r>
          </a:p>
        </p:txBody>
      </p:sp>
      <p:sp>
        <p:nvSpPr>
          <p:cNvPr id="17" name="!!ag2" descr="Go to section 15.3 Ensembles: Many Weak Models Beat One Strong One">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15.3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Ensembles: Many Weak Models Beat One Strong One</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97  ›</a:t>
            </a:r>
          </a:p>
        </p:txBody>
      </p:sp>
      <p:sp>
        <p:nvSpPr>
          <p:cNvPr id="22" name="!!ag3" descr="Go to section 15.4 Reading Feature Importances — Carefully">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15.4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Reading Feature Importances — Carefully</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98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48679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Features Beat Algorithms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15.1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15.1   Features Beat Algorithms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15.2   Feature Selection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15.3   Ensembles: Many Weak Models Beat One Strong One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15.4   Reading Feature Importances — Carefully</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§15.1     </a:t>
            </a:r>
            <a:fld id="{1F85ACCD-692A-49A2-8E6B-FDD908034EF4}" type="slidenum">
              <a:rPr lang="en-GB" sz="1000">
                <a:solidFill>
                  <a:srgbClr val="8795A1"/>
                </a:solidFill>
                <a:latin typeface="Segoe UI"/>
              </a:rPr>
              <a:t>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78415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Most Reliable Lesson in Applied Machine Learning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§15.1  ·  Handout p. 95     </a:t>
            </a:r>
            <a:fld id="{4769BFE0-A2F1-4772-B9D4-C78E44F2269F}"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Given a fixed dataset, moving from logistic regression to a tuned gradient boosting machine might buy you two or three points of performance. Adding one good feature that encodes something a domain expert knows can buy you twenty. Spend your time accordingly.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08150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Features Beat Algorithms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§15.1  ·  Handout p. 95     </a:t>
            </a:r>
            <a:fld id="{7FD97FC5-4D5E-4FF2-9EDD-765DEACAE7F2}" type="slidenum">
              <a:rPr lang="en-GB" sz="1000">
                <a:solidFill>
                  <a:srgbClr val="8795A1"/>
                </a:solidFill>
                <a:latin typeface="Segoe UI"/>
              </a:rPr>
              <a:t>8</a:t>
            </a:fld>
          </a:p>
        </p:txBody>
      </p:sp>
      <p:graphicFrame>
        <p:nvGraphicFramePr>
          <p:cNvPr id="7" name="!!table"/>
          <p:cNvGraphicFramePr>
            <a:graphicFrameLocks noGrp="1"/>
          </p:cNvGraphicFramePr>
          <p:nvPr/>
        </p:nvGraphicFramePr>
        <p:xfrm>
          <a:off x="658368" y="1737360"/>
          <a:ext cx="10874957" cy="4288536"/>
        </p:xfrm>
        <a:graphic>
          <a:graphicData uri="http://schemas.openxmlformats.org/drawingml/2006/table">
            <a:tbl>
              <a:tblPr firstRow="0" bandRow="0" firstCol="0" lastRow="0" lastCol="0" bandCol="0">
                <a:tableStyleId>{2D5ABB26-0587-4C30-8999-92F81FD0307C}</a:tableStyleId>
              </a:tblPr>
              <a:tblGrid>
                <a:gridCol w="2174991"/>
                <a:gridCol w="3524986"/>
                <a:gridCol w="5174980"/>
              </a:tblGrid>
              <a:tr h="374904">
                <a:tc>
                  <a:txBody>
                    <a:bodyPr wrap="square"/>
                    <a:lstStyle/>
                    <a:p>
                      <a:pPr algn="l"/>
                      <a:r>
                        <a:rPr sz="1500" b="1" i="0">
                          <a:solidFill>
                            <a:srgbClr val="1A5276"/>
                          </a:solidFill>
                          <a:latin typeface="Segoe UI"/>
                        </a:rPr>
                        <a:t>Technique</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Construction</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Example</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03504">
                <a:tc>
                  <a:txBody>
                    <a:bodyPr wrap="square"/>
                    <a:lstStyle/>
                    <a:p>
                      <a:pPr algn="l"/>
                      <a:r>
                        <a:rPr sz="1500" b="0" i="0">
                          <a:solidFill>
                            <a:srgbClr val="1C252B"/>
                          </a:solidFill>
                          <a:latin typeface="Segoe UI"/>
                        </a:rPr>
                        <a:t>Ratios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Divide one column by another</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F4E79"/>
                          </a:solidFill>
                          <a:latin typeface="Consolas"/>
                        </a:rPr>
                        <a:t>submissions / days_enrolled</a:t>
                      </a:r>
                      <a:r>
                        <a:rPr sz="1500" b="0" i="0">
                          <a:solidFill>
                            <a:srgbClr val="1C252B"/>
                          </a:solidFill>
                          <a:latin typeface="Segoe UI"/>
                        </a:rPr>
                        <a:t> normalises for late joiners</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0" i="0">
                          <a:solidFill>
                            <a:srgbClr val="1C252B"/>
                          </a:solidFill>
                          <a:latin typeface="Segoe UI"/>
                        </a:rPr>
                        <a:t>Differences &amp; deltas</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Subtract, or compare with a previous row</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F4E79"/>
                          </a:solidFill>
                          <a:latin typeface="Consolas"/>
                        </a:rPr>
                        <a:t>this_week_logins </a:t>
                      </a:r>
                      <a:r>
                        <a:rPr sz="1500" b="0" i="0">
                          <a:solidFill>
                            <a:srgbClr val="1C252B"/>
                          </a:solidFill>
                          <a:latin typeface="Cambria"/>
                        </a:rPr>
                        <a:t>−</a:t>
                      </a:r>
                      <a:r>
                        <a:rPr sz="1400" b="0" i="0">
                          <a:solidFill>
                            <a:srgbClr val="1F4E79"/>
                          </a:solidFill>
                          <a:latin typeface="Consolas"/>
                        </a:rPr>
                        <a:t> last_week_logins</a:t>
                      </a:r>
                      <a:r>
                        <a:rPr sz="1500" b="0" i="0">
                          <a:solidFill>
                            <a:srgbClr val="1C252B"/>
                          </a:solidFill>
                          <a:latin typeface="Segoe UI"/>
                        </a:rPr>
                        <a:t> captures </a:t>
                      </a:r>
                      <a:r>
                        <a:rPr sz="1500" b="0" i="1">
                          <a:solidFill>
                            <a:srgbClr val="1C252B"/>
                          </a:solidFill>
                          <a:latin typeface="Segoe UI"/>
                        </a:rPr>
                        <a:t>change</a:t>
                      </a:r>
                      <a:r>
                        <a:rPr sz="1500" b="0" i="0">
                          <a:solidFill>
                            <a:srgbClr val="1C252B"/>
                          </a:solidFill>
                          <a:latin typeface="Segoe UI"/>
                        </a:rPr>
                        <a:t>, which raw counts hide</a:t>
                      </a:r>
                      <a:endParaRPr sz="1500"/>
                    </a:p>
                  </a:txBody>
                  <a:tcPr marL="109728" marR="109728" marT="64008" marB="45720" anchor="t">
                    <a:lnL w="0" cmpd="sng">
                      <a:noFill/>
                    </a:lnL>
                    <a:lnR w="0" cmpd="sng">
                      <a:noFill/>
                    </a:lnR>
                    <a:lnT w="9525" cmpd="sng">
                      <a:noFill/>
                    </a:lnT>
                    <a:lnB w="9525" cmpd="sng">
                      <a:noFill/>
                    </a:lnB>
                    <a:solidFill>
                      <a:srgbClr val="F2F8FC"/>
                    </a:solidFill>
                  </a:tcPr>
                </a:tc>
              </a:tr>
              <a:tr h="603504">
                <a:tc>
                  <a:txBody>
                    <a:bodyPr wrap="square"/>
                    <a:lstStyle/>
                    <a:p>
                      <a:pPr algn="l"/>
                      <a:r>
                        <a:rPr sz="1500" b="0" i="0">
                          <a:solidFill>
                            <a:srgbClr val="1C252B"/>
                          </a:solidFill>
                          <a:latin typeface="Segoe UI"/>
                        </a:rPr>
                        <a:t>Aggregations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Group and summarise</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mean, max and standard deviation of a sensor over a 1-hour window</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0" i="0">
                          <a:solidFill>
                            <a:srgbClr val="1C252B"/>
                          </a:solidFill>
                          <a:latin typeface="Segoe UI"/>
                        </a:rPr>
                        <a:t>Time features</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Extract components</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hour of day, day of week, is_weekend — crucial in security and IoT</a:t>
                      </a:r>
                      <a:endParaRPr sz="1500"/>
                    </a:p>
                  </a:txBody>
                  <a:tcPr marL="109728" marR="109728" marT="64008" marB="45720" anchor="t">
                    <a:lnL w="0" cmpd="sng">
                      <a:noFill/>
                    </a:lnL>
                    <a:lnR w="0" cmpd="sng">
                      <a:noFill/>
                    </a:lnR>
                    <a:lnT w="9525" cmpd="sng">
                      <a:noFill/>
                    </a:lnT>
                    <a:lnB w="9525" cmpd="sng">
                      <a:noFill/>
                    </a:lnB>
                    <a:solidFill>
                      <a:srgbClr val="F2F8FC"/>
                    </a:solidFill>
                  </a:tcPr>
                </a:tc>
              </a:tr>
              <a:tr h="374904">
                <a:tc>
                  <a:txBody>
                    <a:bodyPr wrap="square"/>
                    <a:lstStyle/>
                    <a:p>
                      <a:pPr algn="l"/>
                      <a:r>
                        <a:rPr sz="1500" b="0" i="0">
                          <a:solidFill>
                            <a:srgbClr val="1C252B"/>
                          </a:solidFill>
                          <a:latin typeface="Segoe UI"/>
                        </a:rPr>
                        <a:t>Counts of rare events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Count occurrences in a window</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failed logins in the last 5 minutes</a:t>
                      </a:r>
                      <a:endParaRPr sz="1500"/>
                    </a:p>
                  </a:txBody>
                  <a:tcPr marL="109728" marR="109728" marT="64008" marB="45720" anchor="t">
                    <a:lnL w="0" cmpd="sng">
                      <a:noFill/>
                    </a:lnL>
                    <a:lnR w="0" cmpd="sng">
                      <a:noFill/>
                    </a:lnR>
                    <a:lnT w="9525" cmpd="sng">
                      <a:noFill/>
                    </a:lnT>
                    <a:lnB w="9525" cmpd="sng">
                      <a:noFill/>
                    </a:lnB>
                    <a:solidFill>
                      <a:srgbClr val="FFFFFF"/>
                    </a:solidFill>
                  </a:tcPr>
                </a:tc>
              </a:tr>
              <a:tr h="374904">
                <a:tc>
                  <a:txBody>
                    <a:bodyPr wrap="square"/>
                    <a:lstStyle/>
                    <a:p>
                      <a:pPr algn="l"/>
                      <a:r>
                        <a:rPr sz="1500" b="0" i="0">
                          <a:solidFill>
                            <a:srgbClr val="1C252B"/>
                          </a:solidFill>
                          <a:latin typeface="Segoe UI"/>
                        </a:rPr>
                        <a:t>Binning</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Convert numeric to ordinal</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attendance into {low, medium, high} for a readable rule</a:t>
                      </a:r>
                      <a:endParaRPr sz="1500"/>
                    </a:p>
                  </a:txBody>
                  <a:tcPr marL="109728" marR="109728" marT="64008" marB="45720" anchor="t">
                    <a:lnL w="0" cmpd="sng">
                      <a:noFill/>
                    </a:lnL>
                    <a:lnR w="0" cmpd="sng">
                      <a:noFill/>
                    </a:lnR>
                    <a:lnT w="9525" cmpd="sng">
                      <a:noFill/>
                    </a:lnT>
                    <a:lnB w="9525" cmpd="sng">
                      <a:noFill/>
                    </a:lnB>
                    <a:solidFill>
                      <a:srgbClr val="F2F8FC"/>
                    </a:solidFill>
                  </a:tcPr>
                </a:tc>
              </a:tr>
              <a:tr h="374904">
                <a:tc>
                  <a:txBody>
                    <a:bodyPr wrap="square"/>
                    <a:lstStyle/>
                    <a:p>
                      <a:pPr algn="l"/>
                      <a:r>
                        <a:rPr sz="1500" b="0" i="0">
                          <a:solidFill>
                            <a:srgbClr val="1C252B"/>
                          </a:solidFill>
                          <a:latin typeface="Segoe UI"/>
                        </a:rPr>
                        <a:t>Interactions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Multiply two features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F4E79"/>
                          </a:solidFill>
                          <a:latin typeface="Consolas"/>
                        </a:rPr>
                        <a:t>low_attendance </a:t>
                      </a:r>
                      <a:r>
                        <a:rPr sz="1500" b="0" i="0">
                          <a:solidFill>
                            <a:srgbClr val="1C252B"/>
                          </a:solidFill>
                          <a:latin typeface="Cambria"/>
                        </a:rPr>
                        <a:t>×</a:t>
                      </a:r>
                      <a:r>
                        <a:rPr sz="1400" b="0" i="0">
                          <a:solidFill>
                            <a:srgbClr val="1F4E79"/>
                          </a:solidFill>
                          <a:latin typeface="Consolas"/>
                        </a:rPr>
                        <a:t> first_generation</a:t>
                      </a:r>
                      <a:endParaRPr sz="1500"/>
                    </a:p>
                  </a:txBody>
                  <a:tcPr marL="109728" marR="109728" marT="64008" marB="45720" anchor="t">
                    <a:lnL w="0" cmpd="sng">
                      <a:noFill/>
                    </a:lnL>
                    <a:lnR w="0" cmpd="sng">
                      <a:noFill/>
                    </a:lnR>
                    <a:lnT w="9525" cmpd="sng">
                      <a:noFill/>
                    </a:lnT>
                    <a:lnB w="9525" cmpd="sng">
                      <a:noFill/>
                    </a:lnB>
                    <a:solidFill>
                      <a:srgbClr val="FFFFFF"/>
                    </a:solidFill>
                  </a:tcPr>
                </a:tc>
              </a:tr>
              <a:tr h="374904">
                <a:tc>
                  <a:txBody>
                    <a:bodyPr wrap="square"/>
                    <a:lstStyle/>
                    <a:p>
                      <a:pPr algn="l"/>
                      <a:r>
                        <a:rPr sz="1500" b="0" i="0">
                          <a:solidFill>
                            <a:srgbClr val="1C252B"/>
                          </a:solidFill>
                          <a:latin typeface="Segoe UI"/>
                        </a:rPr>
                        <a:t>Domain flags</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500" b="0" i="0">
                          <a:solidFill>
                            <a:srgbClr val="1C252B"/>
                          </a:solidFill>
                          <a:latin typeface="Segoe UI"/>
                        </a:rPr>
                        <a:t>Encode expert rules</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400" b="0" i="0">
                          <a:solidFill>
                            <a:srgbClr val="1F4E79"/>
                          </a:solidFill>
                          <a:latin typeface="Consolas"/>
                        </a:rPr>
                        <a:t>missed_two_consecutive_labs</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37886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Turning Raw Logs into Features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§15.1  ·  Handout p. 95     </a:t>
            </a:r>
            <a:fld id="{3EFD7693-D6F4-4E6F-9572-352206B670FF}"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15916"/>
          </a:xfrm>
          <a:prstGeom prst="roundRect">
            <a:avLst>
              <a:gd name="adj" fmla="val 202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1591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You have one row per VLE click: </a:t>
            </a:r>
            <a:r>
              <a:rPr sz="1500" b="0" i="0">
                <a:solidFill>
                  <a:srgbClr val="1F4E79"/>
                </a:solidFill>
                <a:latin typeface="Consolas"/>
              </a:rPr>
              <a:t>(student, timestamp, resource)</a:t>
            </a:r>
            <a:r>
              <a:rPr sz="1600" b="0" i="0">
                <a:solidFill>
                  <a:srgbClr val="1C252B"/>
                </a:solidFill>
                <a:latin typeface="Segoe UI"/>
              </a:rPr>
              <a:t>. A model needs one row per student, using weeks 1–4 only.</a:t>
            </a:r>
          </a:p>
        </p:txBody>
      </p:sp>
      <p:sp>
        <p:nvSpPr>
          <p:cNvPr id="10" name="body-1"/>
          <p:cNvSpPr txBox="1"/>
          <p:nvPr/>
        </p:nvSpPr>
        <p:spPr>
          <a:xfrm>
            <a:off x="1042416" y="2630627"/>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Volume:</a:t>
            </a:r>
            <a:r>
              <a:rPr sz="1600" b="0" i="0">
                <a:solidFill>
                  <a:srgbClr val="1C252B"/>
                </a:solidFill>
                <a:latin typeface="Segoe UI"/>
              </a:rPr>
              <a:t> </a:t>
            </a:r>
            <a:r>
              <a:rPr sz="1500" b="0" i="0">
                <a:solidFill>
                  <a:srgbClr val="1F4E79"/>
                </a:solidFill>
                <a:latin typeface="Consolas"/>
              </a:rPr>
              <a:t>n_clicks</a:t>
            </a:r>
            <a:r>
              <a:rPr sz="1600" b="0" i="0">
                <a:solidFill>
                  <a:srgbClr val="1C252B"/>
                </a:solidFill>
                <a:latin typeface="Segoe UI"/>
              </a:rPr>
              <a:t>, </a:t>
            </a:r>
            <a:r>
              <a:rPr sz="1500" b="0" i="0">
                <a:solidFill>
                  <a:srgbClr val="1F4E79"/>
                </a:solidFill>
                <a:latin typeface="Consolas"/>
              </a:rPr>
              <a:t>n_distinct_resources</a:t>
            </a:r>
            <a:r>
              <a:rPr sz="1600" b="0" i="0">
                <a:solidFill>
                  <a:srgbClr val="1C252B"/>
                </a:solidFill>
                <a:latin typeface="Segoe UI"/>
              </a:rPr>
              <a:t>, </a:t>
            </a:r>
            <a:r>
              <a:rPr sz="1500" b="0" i="0">
                <a:solidFill>
                  <a:srgbClr val="1F4E79"/>
                </a:solidFill>
                <a:latin typeface="Consolas"/>
              </a:rPr>
              <a:t>n_active_days</a:t>
            </a:r>
            <a:r>
              <a:rPr sz="1600" b="0" i="0">
                <a:solidFill>
                  <a:srgbClr val="1C252B"/>
                </a:solidFill>
                <a:latin typeface="Segoe UI"/>
              </a:rPr>
              <a:t>.</a:t>
            </a:r>
          </a:p>
        </p:txBody>
      </p:sp>
      <p:sp>
        <p:nvSpPr>
          <p:cNvPr id="11" name="body-2"/>
          <p:cNvSpPr txBox="1"/>
          <p:nvPr/>
        </p:nvSpPr>
        <p:spPr>
          <a:xfrm>
            <a:off x="1042416" y="2995980"/>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Recency:</a:t>
            </a:r>
            <a:r>
              <a:rPr sz="1600" b="0" i="0">
                <a:solidFill>
                  <a:srgbClr val="1C252B"/>
                </a:solidFill>
                <a:latin typeface="Segoe UI"/>
              </a:rPr>
              <a:t> </a:t>
            </a:r>
            <a:r>
              <a:rPr sz="1500" b="0" i="0">
                <a:solidFill>
                  <a:srgbClr val="1F4E79"/>
                </a:solidFill>
                <a:latin typeface="Consolas"/>
              </a:rPr>
              <a:t>days_since_last_click</a:t>
            </a:r>
            <a:r>
              <a:rPr sz="1600" b="0" i="0">
                <a:solidFill>
                  <a:srgbClr val="1C252B"/>
                </a:solidFill>
                <a:latin typeface="Segoe UI"/>
              </a:rPr>
              <a:t>. Frequently the single strongest predictor of disengagement — and note it is unobtainable from any aggregate count.</a:t>
            </a:r>
          </a:p>
        </p:txBody>
      </p:sp>
      <p:sp>
        <p:nvSpPr>
          <p:cNvPr id="12" name="body-3"/>
          <p:cNvSpPr txBox="1"/>
          <p:nvPr/>
        </p:nvSpPr>
        <p:spPr>
          <a:xfrm>
            <a:off x="1042416" y="3614928"/>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Trend:</a:t>
            </a:r>
            <a:r>
              <a:rPr sz="1600" b="0" i="0">
                <a:solidFill>
                  <a:srgbClr val="1C252B"/>
                </a:solidFill>
                <a:latin typeface="Segoe UI"/>
              </a:rPr>
              <a:t> </a:t>
            </a:r>
            <a:r>
              <a:rPr sz="1500" b="0" i="0">
                <a:solidFill>
                  <a:srgbClr val="1F4E79"/>
                </a:solidFill>
                <a:latin typeface="Consolas"/>
              </a:rPr>
              <a:t>clicks_wk4 </a:t>
            </a:r>
            <a:r>
              <a:rPr sz="1600" b="0" i="0">
                <a:solidFill>
                  <a:srgbClr val="1C252B"/>
                </a:solidFill>
                <a:latin typeface="Cambria"/>
              </a:rPr>
              <a:t>−</a:t>
            </a:r>
            <a:r>
              <a:rPr sz="1500" b="0" i="0">
                <a:solidFill>
                  <a:srgbClr val="1F4E79"/>
                </a:solidFill>
                <a:latin typeface="Consolas"/>
              </a:rPr>
              <a:t> clicks_wk1</a:t>
            </a:r>
            <a:r>
              <a:rPr sz="1600" b="0" i="0">
                <a:solidFill>
                  <a:srgbClr val="1C252B"/>
                </a:solidFill>
                <a:latin typeface="Segoe UI"/>
              </a:rPr>
              <a:t>, and the slope of a line fitted through the four weekly totals. A student at 200 clicks and falling is in more danger than one at 80 and steady, yet both have similar totals.</a:t>
            </a:r>
          </a:p>
        </p:txBody>
      </p:sp>
      <p:sp>
        <p:nvSpPr>
          <p:cNvPr id="13" name="body-4"/>
          <p:cNvSpPr txBox="1"/>
          <p:nvPr/>
        </p:nvSpPr>
        <p:spPr>
          <a:xfrm>
            <a:off x="1042416" y="4233875"/>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Rhythm:</a:t>
            </a:r>
            <a:r>
              <a:rPr sz="1600" b="0" i="0">
                <a:solidFill>
                  <a:srgbClr val="1C252B"/>
                </a:solidFill>
                <a:latin typeface="Segoe UI"/>
              </a:rPr>
              <a:t> </a:t>
            </a:r>
            <a:r>
              <a:rPr sz="1500" b="0" i="0">
                <a:solidFill>
                  <a:srgbClr val="1F4E79"/>
                </a:solidFill>
                <a:latin typeface="Consolas"/>
              </a:rPr>
              <a:t>share_of_clicks_after_midnight</a:t>
            </a:r>
            <a:r>
              <a:rPr sz="1600" b="0" i="0">
                <a:solidFill>
                  <a:srgbClr val="1C252B"/>
                </a:solidFill>
                <a:latin typeface="Segoe UI"/>
              </a:rPr>
              <a:t>, </a:t>
            </a:r>
            <a:r>
              <a:rPr sz="1500" b="0" i="0">
                <a:solidFill>
                  <a:srgbClr val="1F4E79"/>
                </a:solidFill>
                <a:latin typeface="Consolas"/>
              </a:rPr>
              <a:t>n_weekend_days_active</a:t>
            </a:r>
            <a:r>
              <a:rPr sz="1600" b="0" i="0">
                <a:solidFill>
                  <a:srgbClr val="1C252B"/>
                </a:solidFill>
                <a:latin typeface="Segoe UI"/>
              </a:rPr>
              <a:t>. Behavioural signatures, not effort measures.</a:t>
            </a:r>
          </a:p>
        </p:txBody>
      </p:sp>
      <p:sp>
        <p:nvSpPr>
          <p:cNvPr id="14" name="body-5"/>
          <p:cNvSpPr txBox="1"/>
          <p:nvPr/>
        </p:nvSpPr>
        <p:spPr>
          <a:xfrm>
            <a:off x="1042416" y="4852822"/>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Consistency:</a:t>
            </a:r>
            <a:r>
              <a:rPr sz="1600" b="0" i="0">
                <a:solidFill>
                  <a:srgbClr val="1C252B"/>
                </a:solidFill>
                <a:latin typeface="Segoe UI"/>
              </a:rPr>
              <a:t> standard deviation of daily clicks. Steady beats bursty.</a:t>
            </a:r>
          </a:p>
        </p:txBody>
      </p:sp>
      <p:sp>
        <p:nvSpPr>
          <p:cNvPr id="15" name="body-6"/>
          <p:cNvSpPr txBox="1"/>
          <p:nvPr/>
        </p:nvSpPr>
        <p:spPr>
          <a:xfrm>
            <a:off x="1042416" y="5218175"/>
            <a:ext cx="10234879" cy="806500"/>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From three raw columns, twelve features</a:t>
            </a:r>
            <a:r>
              <a:rPr sz="1600" b="0" i="0">
                <a:solidFill>
                  <a:srgbClr val="1C252B"/>
                </a:solidFill>
                <a:latin typeface="Segoe UI"/>
              </a:rPr>
              <a:t> — and the ones most likely to matter (recency, trend, consistency) do not appear in the raw data at all. This is what feature engineering is. Everything here uses only weeks 1–4, so framing question 4 (Chapter 2) is satisfied by construction.</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267622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Feature Selection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15.2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15.1   Features Beat Algorithms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15.2   Feature Selection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15.3   Ensembles: Many Weak Models Beat One Strong One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15.4   Reading Feature Importances — Carefully</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§15.2     </a:t>
            </a:r>
            <a:fld id="{4B73BFB1-2D4A-431C-9079-7BD91C4F2845}" type="slidenum">
              <a:rPr lang="en-GB" sz="1000">
                <a:solidFill>
                  <a:srgbClr val="8795A1"/>
                </a:solidFill>
                <a:latin typeface="Segoe UI"/>
              </a:rPr>
              <a:t>10</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9735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Curse of Dimensionality</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§15.2  ·  Handout p. 96     </a:t>
            </a:r>
            <a:fld id="{E6B20C20-077B-4317-8C8E-CDC757FDED3B}"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As the number of features grows, the volume of the feature space explodes and your data becomes sparse within it — every point ends up roughly equidistant from every other, which destroys distance-based methods. More features is not more information; past a point it is more noise.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2709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families of feature selection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15.1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§15.2  ·  Handout p. 96     </a:t>
            </a:r>
            <a:fld id="{A839C30D-5604-4E88-901B-136CFEE784FD}" type="slidenum">
              <a:rPr lang="en-GB" sz="1000">
                <a:solidFill>
                  <a:srgbClr val="8795A1"/>
                </a:solidFill>
                <a:latin typeface="Segoe UI"/>
              </a:rPr>
              <a:t>12</a:t>
            </a:fld>
          </a:p>
        </p:txBody>
      </p:sp>
      <p:pic>
        <p:nvPicPr>
          <p:cNvPr id="6" name="!!figure" descr="Figure 15.1. Three families of feature selection. The choice is mostly a compute-versus-quality trade-off, but the leakage warning applies to all three equall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06492" y="1737360"/>
            <a:ext cx="9178709"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choice is mostly a compute-versus-quality trade-off, but the leakage warning applies to all three equally.</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56830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Ensembles: Many Weak Models Beat One Strong One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15.3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15.1   Features Beat Algorithms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15.2   Feature Selection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15.3   Ensembles: Many Weak Models Beat One Strong One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15.4   Reading Feature Importances — Carefully</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§15.3     </a:t>
            </a:r>
            <a:fld id="{A6378A5E-9752-4876-B332-108329586201}" type="slidenum">
              <a:rPr lang="en-GB" sz="1000">
                <a:solidFill>
                  <a:srgbClr val="8795A1"/>
                </a:solidFill>
                <a:latin typeface="Segoe UI"/>
              </a:rPr>
              <a:t>13</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8656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Ensemble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97     </a:t>
            </a:r>
            <a:fld id="{946DF411-D738-4ED1-A2E2-65273D2C219C}"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model made of many models. Predictions are combined — by voting for classification, averaging for regression. Ensembles work because individual models make </a:t>
            </a:r>
            <a:r>
              <a:rPr sz="2300" b="0" i="1">
                <a:solidFill>
                  <a:srgbClr val="1C252B"/>
                </a:solidFill>
                <a:latin typeface="Segoe UI"/>
              </a:rPr>
              <a:t>different</a:t>
            </a:r>
            <a:r>
              <a:rPr sz="2300" b="0" i="0">
                <a:solidFill>
                  <a:srgbClr val="1C252B"/>
                </a:solidFill>
                <a:latin typeface="Segoe UI"/>
              </a:rPr>
              <a:t> mistakes, and averaging cancels the uncorrelated part of the error.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16301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Bagging versus boosting</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15.2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97     </a:t>
            </a:r>
            <a:fld id="{AEE5A086-1BB1-4CF8-A73A-D1EC228B7443}" type="slidenum">
              <a:rPr lang="en-GB" sz="1000">
                <a:solidFill>
                  <a:srgbClr val="8795A1"/>
                </a:solidFill>
                <a:latin typeface="Segoe UI"/>
              </a:rPr>
              <a:t>15</a:t>
            </a:fld>
          </a:p>
        </p:txBody>
      </p:sp>
      <p:pic>
        <p:nvPicPr>
          <p:cNvPr id="6" name="!!figure" descr="Figure 15.2. Bagging versus boosting. Bagging builds independent models and averages away their variance; boosting builds dependent models, each correcting its predecessor, and drives down bias. This is the distinction to rememb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07677" y="1737360"/>
            <a:ext cx="7576339"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Bagging builds independent models and averages away their variance; boosting builds dependent models, each correcting its predecessor, and drives down bias. This is the distinction to remember.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46037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Random Forest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§15.3.1  ·  Handout p. 97     </a:t>
            </a:r>
            <a:fld id="{85D0E04B-2BFC-4347-9D49-D74CE451D7DF}"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Bagging applied to decision trees, with one addition: at each split, only a random subset of features may be considered. Without that, every tree would pick the same dominant feature first and the trees would be near-identical — defeating the whole purpose.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75773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Gradient Boosting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§15.3.2  ·  Handout p. 98     </a:t>
            </a:r>
            <a:fld id="{AEF036BB-981C-4AB3-B35D-76CF1254EF08}"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Fit a weak model. Compute its residuals. Fit the next weak model to those residuals. Add it to the ensemble, scaled by a </a:t>
            </a:r>
            <a:r>
              <a:rPr sz="2300" b="1" i="0">
                <a:solidFill>
                  <a:srgbClr val="1A5276"/>
                </a:solidFill>
                <a:latin typeface="Segoe UI"/>
              </a:rPr>
              <a:t>learning rate</a:t>
            </a:r>
            <a:r>
              <a:rPr sz="2300" b="0" i="0">
                <a:solidFill>
                  <a:srgbClr val="1C252B"/>
                </a:solidFill>
                <a:latin typeface="Segoe UI"/>
              </a:rPr>
              <a:t>. Repeat. Implementations you will meet: XGBoost, LightGBM, CatBoost.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05509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Gradient Boosting</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§15.3.2  ·  Handout p. 98     </a:t>
            </a:r>
            <a:fld id="{DB63DD2F-A1C8-4AE3-9B75-AF65453B55C3}" type="slidenum">
              <a:rPr lang="en-GB" sz="1000">
                <a:solidFill>
                  <a:srgbClr val="8795A1"/>
                </a:solidFill>
                <a:latin typeface="Segoe UI"/>
              </a:rPr>
              <a:t>18</a:t>
            </a:fld>
          </a:p>
        </p:txBody>
      </p:sp>
      <p:graphicFrame>
        <p:nvGraphicFramePr>
          <p:cNvPr id="7" name="!!table"/>
          <p:cNvGraphicFramePr>
            <a:graphicFrameLocks noGrp="1"/>
          </p:cNvGraphicFramePr>
          <p:nvPr/>
        </p:nvGraphicFramePr>
        <p:xfrm>
          <a:off x="658368" y="1737360"/>
          <a:ext cx="10874958" cy="3209544"/>
        </p:xfrm>
        <a:graphic>
          <a:graphicData uri="http://schemas.openxmlformats.org/drawingml/2006/table">
            <a:tbl>
              <a:tblPr firstRow="0" bandRow="0" firstCol="0" lastRow="0" lastCol="0" bandCol="0">
                <a:tableStyleId>{2D5ABB26-0587-4C30-8999-92F81FD0307C}</a:tableStyleId>
              </a:tblPr>
              <a:tblGrid>
                <a:gridCol w="2474990"/>
                <a:gridCol w="3974985"/>
                <a:gridCol w="4424983"/>
              </a:tblGrid>
              <a:tr h="405384">
                <a:tc>
                  <a:txBody>
                    <a:bodyPr wrap="square"/>
                    <a:lstStyle/>
                    <a:p>
                      <a:pPr algn="l"/>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Random Forest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Gradient Boosting</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Training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Parallel — fast on many cores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Sequential — slower</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Tuning</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Forgiving; defaults usually fine</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Sensitive; needs learning rate, depth, </a:t>
                      </a:r>
                      <a:r>
                        <a:rPr sz="1700" b="0" i="1">
                          <a:solidFill>
                            <a:srgbClr val="1C252B"/>
                          </a:solidFill>
                          <a:latin typeface="Cambria"/>
                        </a:rPr>
                        <a:t>n</a:t>
                      </a:r>
                      <a:r>
                        <a:rPr sz="1700" b="0" i="0">
                          <a:solidFill>
                            <a:srgbClr val="1C252B"/>
                          </a:solidFill>
                          <a:latin typeface="Segoe UI"/>
                        </a:rPr>
                        <a:t> trees</a:t>
                      </a:r>
                      <a:endParaRPr sz="1700"/>
                    </a:p>
                  </a:txBody>
                  <a:tcPr marL="109728" marR="109728" marT="64008" marB="45720" anchor="t">
                    <a:lnL w="0" cmpd="sng">
                      <a:noFill/>
                    </a:lnL>
                    <a:lnR w="0" cmpd="sng">
                      <a:noFill/>
                    </a:lnR>
                    <a:lnT w="9525" cmpd="sng">
                      <a:noFill/>
                    </a:lnT>
                    <a:lnB w="9525" cmpd="sng">
                      <a:noFill/>
                    </a:lnB>
                    <a:solidFill>
                      <a:srgbClr val="FEF7F1"/>
                    </a:solidFill>
                  </a:tcPr>
                </a:tc>
              </a:tr>
              <a:tr h="664464">
                <a:tc>
                  <a:txBody>
                    <a:bodyPr wrap="square"/>
                    <a:lstStyle/>
                    <a:p>
                      <a:pPr algn="l"/>
                      <a:r>
                        <a:rPr sz="1700" b="0" i="0">
                          <a:solidFill>
                            <a:srgbClr val="1C252B"/>
                          </a:solidFill>
                          <a:latin typeface="Segoe UI"/>
                        </a:rPr>
                        <a:t>Overfitting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Resistant; more trees never hurts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Will overfit if over-trained; needs early stopping</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Typical accuracy</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Very good</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Usually the best on tabular data</a:t>
                      </a:r>
                      <a:endParaRPr sz="1700"/>
                    </a:p>
                  </a:txBody>
                  <a:tcPr marL="109728" marR="109728" marT="64008" marB="45720" anchor="t">
                    <a:lnL w="0" cmpd="sng">
                      <a:noFill/>
                    </a:lnL>
                    <a:lnR w="0" cmpd="sng">
                      <a:noFill/>
                    </a:lnR>
                    <a:lnT w="9525" cmpd="sng">
                      <a:noFill/>
                    </a:lnT>
                    <a:lnB w="9525" cmpd="sng">
                      <a:noFill/>
                    </a:lnB>
                    <a:solidFill>
                      <a:srgbClr val="FEF7F1"/>
                    </a:solidFill>
                  </a:tcPr>
                </a:tc>
              </a:tr>
              <a:tr h="664464">
                <a:tc>
                  <a:txBody>
                    <a:bodyPr wrap="square"/>
                    <a:lstStyle/>
                    <a:p>
                      <a:pPr algn="l"/>
                      <a:r>
                        <a:rPr sz="1700" b="0" i="0">
                          <a:solidFill>
                            <a:srgbClr val="1C252B"/>
                          </a:solidFill>
                          <a:latin typeface="Segoe UI"/>
                        </a:rPr>
                        <a:t>Choose it when</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You want a strong result with little effort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You need maximum accuracy and can afford tuning</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35245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Honest Default for Tabular Data</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§15.3.2  ·  Handout p. 98     </a:t>
            </a:r>
            <a:fld id="{24C73326-D8B8-471D-B375-D788A738F225}"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Start with a random forest. It is hard to misuse, needs no scaling, handles mixed types, and gives a strong number in one line. If that number is close enough to your success criterion, stop. Move to gradient boosting only when the remaining gap matters and you have the time to tune it properly.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64980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Traps in Feature Importance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§15.4  ·  Handout p. 98     </a:t>
            </a:r>
            <a:fld id="{75A40F1D-D490-4DD5-8C74-D4A4DF31B4CE}"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57953"/>
          </a:xfrm>
          <a:prstGeom prst="roundRect">
            <a:avLst>
              <a:gd name="adj" fmla="val 2051"/>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57953"/>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682138"/>
          </a:xfrm>
          <a:prstGeom prst="rect">
            <a:avLst/>
          </a:prstGeom>
          <a:noFill/>
        </p:spPr>
        <p:txBody>
          <a:bodyPr wrap="square" anchor="t" lIns="0" rIns="0" tIns="0" bIns="0">
            <a:noAutofit/>
          </a:bodyPr>
          <a:lstStyle/>
          <a:p>
            <a:pPr algn="l" marL="245994" indent="-245994">
              <a:lnSpc>
                <a:spcPct val="104000"/>
              </a:lnSpc>
              <a:spcBef>
                <a:spcPts val="0"/>
              </a:spcBef>
              <a:spcAft>
                <a:spcPts val="769"/>
              </a:spcAft>
            </a:pPr>
            <a:r>
              <a:rPr sz="2200" b="1">
                <a:solidFill>
                  <a:srgbClr val="A93226"/>
                </a:solidFill>
                <a:latin typeface="Segoe UI"/>
              </a:rPr>
              <a:t>•	</a:t>
            </a:r>
            <a:r>
              <a:rPr sz="2200" b="1" i="0">
                <a:solidFill>
                  <a:srgbClr val="A93226"/>
                </a:solidFill>
                <a:latin typeface="Segoe UI"/>
              </a:rPr>
              <a:t>Correlated features split their importance.</a:t>
            </a:r>
            <a:r>
              <a:rPr sz="2200" b="0" i="0">
                <a:solidFill>
                  <a:srgbClr val="1C252B"/>
                </a:solidFill>
                <a:latin typeface="Segoe UI"/>
              </a:rPr>
              <a:t> If attendance and lectures-watched correlate at 0.94, each may show half the importance it deserves, making both look unimportant.</a:t>
            </a:r>
          </a:p>
          <a:p>
            <a:pPr algn="l" marL="245994" indent="-245994">
              <a:lnSpc>
                <a:spcPct val="104000"/>
              </a:lnSpc>
              <a:spcBef>
                <a:spcPts val="0"/>
              </a:spcBef>
              <a:spcAft>
                <a:spcPts val="769"/>
              </a:spcAft>
            </a:pPr>
            <a:r>
              <a:rPr sz="2200" b="1">
                <a:solidFill>
                  <a:srgbClr val="A93226"/>
                </a:solidFill>
                <a:latin typeface="Segoe UI"/>
              </a:rPr>
              <a:t>•	</a:t>
            </a:r>
            <a:r>
              <a:rPr sz="2200" b="1" i="0">
                <a:solidFill>
                  <a:srgbClr val="A93226"/>
                </a:solidFill>
                <a:latin typeface="Segoe UI"/>
              </a:rPr>
              <a:t>Impurity-based importance is biased</a:t>
            </a:r>
            <a:r>
              <a:rPr sz="2200" b="0" i="0">
                <a:solidFill>
                  <a:srgbClr val="1C252B"/>
                </a:solidFill>
                <a:latin typeface="Segoe UI"/>
              </a:rPr>
              <a:t> towards high-cardinality features. A near-unique ID column can appear highly “important”.</a:t>
            </a:r>
          </a:p>
          <a:p>
            <a:pPr algn="l" marL="245994" indent="-245994">
              <a:lnSpc>
                <a:spcPct val="104000"/>
              </a:lnSpc>
              <a:spcBef>
                <a:spcPts val="0"/>
              </a:spcBef>
              <a:spcAft>
                <a:spcPts val="0"/>
              </a:spcAft>
            </a:pPr>
            <a:r>
              <a:rPr sz="2200" b="1">
                <a:solidFill>
                  <a:srgbClr val="A93226"/>
                </a:solidFill>
                <a:latin typeface="Segoe UI"/>
              </a:rPr>
              <a:t>•	</a:t>
            </a:r>
            <a:r>
              <a:rPr sz="2200" b="1" i="0">
                <a:solidFill>
                  <a:srgbClr val="A93226"/>
                </a:solidFill>
                <a:latin typeface="Segoe UI"/>
              </a:rPr>
              <a:t>Importance is not causation.</a:t>
            </a:r>
            <a:r>
              <a:rPr sz="2200" b="0" i="0">
                <a:solidFill>
                  <a:srgbClr val="1C252B"/>
                </a:solidFill>
                <a:latin typeface="Segoe UI"/>
              </a:rPr>
              <a:t> A feature can be important to the model because it is a proxy for something you must not act on (Chapter 28).</a:t>
            </a:r>
          </a:p>
        </p:txBody>
      </p:sp>
      <p:sp>
        <p:nvSpPr>
          <p:cNvPr id="10" name="body-1"/>
          <p:cNvSpPr txBox="1"/>
          <p:nvPr/>
        </p:nvSpPr>
        <p:spPr>
          <a:xfrm>
            <a:off x="1060704" y="4838344"/>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A93226"/>
                </a:solidFill>
                <a:latin typeface="Segoe UI"/>
              </a:rPr>
              <a:t>Prefer permutation importance:</a:t>
            </a:r>
            <a:r>
              <a:rPr sz="2200" b="0" i="0">
                <a:solidFill>
                  <a:srgbClr val="1C252B"/>
                </a:solidFill>
                <a:latin typeface="Segoe UI"/>
              </a:rPr>
              <a:t> shuffle one column and measure how much performance drops. It is slower, model-agnostic, and measures what you actually mean by “does this feature matter”.</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59471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Engineering Features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06FCF8E1-162E-4B0A-B200-88FD28FD4ED3}" type="slidenum">
              <a:rPr lang="en-GB" sz="1000">
                <a:solidFill>
                  <a:srgbClr val="8795A1"/>
                </a:solidFill>
                <a:latin typeface="Segoe UI"/>
              </a:rPr>
              <a:t>21</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highest-value features are almost never raw counts.</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With 40 sprints, ensembles will overfit spectacularly.</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Raw sensor values are weak; </a:t>
            </a:r>
            <a:r>
              <a:rPr sz="2300" b="0" i="1">
                <a:solidFill>
                  <a:srgbClr val="1C252B"/>
                </a:solidFill>
                <a:latin typeface="Segoe UI"/>
              </a:rPr>
              <a:t>window statistics</a:t>
            </a:r>
            <a:r>
              <a:rPr sz="2300" b="0" i="0">
                <a:solidFill>
                  <a:srgbClr val="1C252B"/>
                </a:solidFill>
                <a:latin typeface="Segoe UI"/>
              </a:rPr>
              <a:t> are strong.</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Aggregate over time and entity: failed logins per account in 5 minutes, distinct destination ports per source in 1 minute, bytes-out to bytes-in ratio, deviation from that account’s own 30-day baseline.</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24452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Engineering Features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C1C42278-C6A3-4267-A2F0-672DFE9B7875}" type="slidenum">
              <a:rPr lang="en-GB" sz="1000">
                <a:solidFill>
                  <a:srgbClr val="8795A1"/>
                </a:solidFill>
                <a:latin typeface="Segoe UI"/>
              </a:rPr>
              <a:t>22</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highest-value features are almost never raw counts. Build </a:t>
            </a:r>
            <a:r>
              <a:rPr sz="2050" b="0" i="0">
                <a:solidFill>
                  <a:srgbClr val="1F4E79"/>
                </a:solidFill>
                <a:latin typeface="Consolas"/>
              </a:rPr>
              <a:t>days_since_last_activity</a:t>
            </a:r>
            <a:r>
              <a:rPr sz="2200" b="0" i="0">
                <a:solidFill>
                  <a:srgbClr val="1C252B"/>
                </a:solidFill>
                <a:latin typeface="Segoe UI"/>
              </a:rPr>
              <a:t>, the </a:t>
            </a:r>
            <a:r>
              <a:rPr sz="2200" b="0" i="1">
                <a:solidFill>
                  <a:srgbClr val="1C252B"/>
                </a:solidFill>
                <a:latin typeface="Segoe UI"/>
              </a:rPr>
              <a:t>slope</a:t>
            </a:r>
            <a:r>
              <a:rPr sz="2200" b="0" i="0">
                <a:solidFill>
                  <a:srgbClr val="1C252B"/>
                </a:solidFill>
                <a:latin typeface="Segoe UI"/>
              </a:rPr>
              <a:t> of weekly engagement, and </a:t>
            </a:r>
            <a:r>
              <a:rPr sz="2050" b="0" i="0">
                <a:solidFill>
                  <a:srgbClr val="1F4E79"/>
                </a:solidFill>
                <a:latin typeface="Consolas"/>
              </a:rPr>
              <a:t>consecutive_missed_labs</a:t>
            </a:r>
            <a:r>
              <a:rPr sz="2200" b="0" i="0">
                <a:solidFill>
                  <a:srgbClr val="1C252B"/>
                </a:solidFill>
                <a:latin typeface="Segoe UI"/>
              </a:rPr>
              <a:t>. A student’s trajectory carries far more signal than their total. Use a random forest for accuracy, but keep a depth-3 tree beside it as the explanation you can defend to an appeals panel.</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54188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Engineering Features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F6B9B9F7-3E46-4CFA-A73D-29F606F6ECAF}" type="slidenum">
              <a:rPr lang="en-GB" sz="1000">
                <a:solidFill>
                  <a:srgbClr val="8795A1"/>
                </a:solidFill>
                <a:latin typeface="Segoe UI"/>
              </a:rPr>
              <a:t>23</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With 40 sprints, ensembles will overfit spectacularly. Engineer two or three strong features instead — </a:t>
            </a:r>
            <a:r>
              <a:rPr sz="2050" b="0" i="0">
                <a:solidFill>
                  <a:srgbClr val="1F4E79"/>
                </a:solidFill>
                <a:latin typeface="Consolas"/>
              </a:rPr>
              <a:t>points_committed / historical_velocity</a:t>
            </a:r>
            <a:r>
              <a:rPr sz="2200" b="0" i="0">
                <a:solidFill>
                  <a:srgbClr val="1C252B"/>
                </a:solidFill>
                <a:latin typeface="Segoe UI"/>
              </a:rPr>
              <a:t>, </a:t>
            </a:r>
            <a:r>
              <a:rPr sz="2050" b="0" i="0">
                <a:solidFill>
                  <a:srgbClr val="1F4E79"/>
                </a:solidFill>
                <a:latin typeface="Consolas"/>
              </a:rPr>
              <a:t>share_of_tasks_with_unresolved_dependencies</a:t>
            </a:r>
            <a:r>
              <a:rPr sz="2200" b="0" i="0">
                <a:solidFill>
                  <a:srgbClr val="1C252B"/>
                </a:solidFill>
                <a:latin typeface="Segoe UI"/>
              </a:rPr>
              <a:t>, </a:t>
            </a:r>
            <a:r>
              <a:rPr sz="2050" b="0" i="0">
                <a:solidFill>
                  <a:srgbClr val="1F4E79"/>
                </a:solidFill>
                <a:latin typeface="Consolas"/>
              </a:rPr>
              <a:t>team_changed_since_last_sprint</a:t>
            </a:r>
            <a:r>
              <a:rPr sz="2200" b="0" i="0">
                <a:solidFill>
                  <a:srgbClr val="1C252B"/>
                </a:solidFill>
                <a:latin typeface="Segoe UI"/>
              </a:rPr>
              <a:t> — and fit something simple. This is a domain where feature engineering does not merely beat algorithm choice; it is the only thing that works.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83924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Engineering Features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C01B1BC6-5A3C-46EF-B1EB-3FD8DAA4E537}" type="slidenum">
              <a:rPr lang="en-GB" sz="1000">
                <a:solidFill>
                  <a:srgbClr val="8795A1"/>
                </a:solidFill>
                <a:latin typeface="Segoe UI"/>
              </a:rPr>
              <a:t>24</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Raw sensor values are weak; </a:t>
            </a:r>
            <a:r>
              <a:rPr sz="2200" b="0" i="1">
                <a:solidFill>
                  <a:srgbClr val="1C252B"/>
                </a:solidFill>
                <a:latin typeface="Segoe UI"/>
              </a:rPr>
              <a:t>window statistics</a:t>
            </a:r>
            <a:r>
              <a:rPr sz="2200" b="0" i="0">
                <a:solidFill>
                  <a:srgbClr val="1C252B"/>
                </a:solidFill>
                <a:latin typeface="Segoe UI"/>
              </a:rPr>
              <a:t> are strong. Compute rolling mean, standard deviation, min, max, and rate of change over 1-minute, 1-hour and 24-hour windows, plus frequency-domain features for vibration. This single step usually matters more than anything in Chapter 18. Gradient boosting on well-engineered window features is the standard, hard-to-beat baseline for predictive maintenance.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13660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Engineering Features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DE2640A0-5AC4-4F5A-9E15-CA0DBDB766D5}" type="slidenum">
              <a:rPr lang="en-GB" sz="1000">
                <a:solidFill>
                  <a:srgbClr val="8795A1"/>
                </a:solidFill>
                <a:latin typeface="Segoe UI"/>
              </a:rPr>
              <a:t>25</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Aggregate over time and entity: failed logins per account in 5 minutes, distinct destination ports per source in 1 minute, bytes-out to bytes-in ratio, deviation from that account’s own 30-day baseline. The last is the key idea — features relative to an entity’s </a:t>
            </a:r>
            <a:r>
              <a:rPr sz="2200" b="0" i="1">
                <a:solidFill>
                  <a:srgbClr val="1C252B"/>
                </a:solidFill>
                <a:latin typeface="Segoe UI"/>
              </a:rPr>
              <a:t>own</a:t>
            </a:r>
            <a:r>
              <a:rPr sz="2200" b="0" i="0">
                <a:solidFill>
                  <a:srgbClr val="1C252B"/>
                </a:solidFill>
                <a:latin typeface="Segoe UI"/>
              </a:rPr>
              <a:t> history detect compromise far better than absolute thresholds. Tree ensembles dominate here, but keep in mind that an adversary who learns which features you use will manipulate them (Chapter 26).</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43396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Engineer, Ensemble, Interpret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§15.4  ·  Handout p. 98     </a:t>
            </a:r>
            <a:fld id="{970AAE17-2284-4735-87E0-1E13747CF985}" type="slidenum">
              <a:rPr lang="en-GB" sz="1000">
                <a:solidFill>
                  <a:srgbClr val="8795A1"/>
                </a:solidFill>
                <a:latin typeface="Segoe UI"/>
              </a:rPr>
              <a:t>26</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Engineer from raw click logs</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Ensembles</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Interpret: permutation, NOT the built-in impurity importance</a:t>
            </a:r>
          </a:p>
        </p:txBody>
      </p:sp>
      <p:sp>
        <p:nvSpPr>
          <p:cNvPr id="19"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9: Engineer, ensemble, interpret; cluster &amp; detect</a:t>
            </a:r>
          </a:p>
        </p:txBody>
      </p:sp>
      <p:sp>
        <p:nvSpPr>
          <p:cNvPr id="23"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35 lines of Python</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773131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Engineer, Ensemble, Interpret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§15.4  ·  Handout p. 98     </a:t>
            </a:r>
            <a:fld id="{606FE8A4-B015-45C3-A3C5-09935E6DBFA5}"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578864"/>
          </a:xfrm>
          <a:prstGeom prst="roundRect">
            <a:avLst>
              <a:gd name="adj" fmla="val 579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pandas as pd, numpy as np from sklearn.ensemble import RandomForestClassifier, HistGradientBoostingClassifier from sklearn.inspection import permutation_importance from sklearn.model_selection import cross_val_score"/>
          <p:cNvSpPr txBox="1"/>
          <p:nvPr/>
        </p:nvSpPr>
        <p:spPr>
          <a:xfrm>
            <a:off x="1362456" y="2523744"/>
            <a:ext cx="9987991" cy="1085088"/>
          </a:xfrm>
          <a:prstGeom prst="rect">
            <a:avLst/>
          </a:prstGeom>
          <a:noFill/>
        </p:spPr>
        <p:txBody>
          <a:bodyPr wrap="none" anchor="t" lIns="0" rIns="0" tIns="0" bIns="0">
            <a:noAutofit/>
          </a:bodyPr>
          <a:lstStyle/>
          <a:p>
            <a:pPr>
              <a:lnSpc>
                <a:spcPct val="100000"/>
              </a:lnSpc>
              <a:spcAft>
                <a:spcPts val="0"/>
              </a:spcAft>
            </a:pPr>
            <a:r>
              <a:rPr sz="1600" i="0">
                <a:solidFill>
                  <a:srgbClr val="5DADE2"/>
                </a:solidFill>
                <a:latin typeface="Consolas"/>
              </a:rPr>
              <a:t>import</a:t>
            </a:r>
            <a:r>
              <a:rPr sz="1600" i="0">
                <a:solidFill>
                  <a:srgbClr val="E8EDF2"/>
                </a:solidFill>
                <a:latin typeface="Consolas"/>
              </a:rPr>
              <a:t> </a:t>
            </a:r>
            <a:r>
              <a:rPr sz="1600" i="0">
                <a:solidFill>
                  <a:srgbClr val="76D7C4"/>
                </a:solidFill>
                <a:latin typeface="Consolas"/>
              </a:rPr>
              <a:t>pandas</a:t>
            </a:r>
            <a:r>
              <a:rPr sz="1600" i="0">
                <a:solidFill>
                  <a:srgbClr val="E8EDF2"/>
                </a:solidFill>
                <a:latin typeface="Consolas"/>
              </a:rPr>
              <a:t> </a:t>
            </a:r>
            <a:r>
              <a:rPr sz="1600" i="0">
                <a:solidFill>
                  <a:srgbClr val="5DADE2"/>
                </a:solidFill>
                <a:latin typeface="Consolas"/>
              </a:rPr>
              <a:t>as</a:t>
            </a:r>
            <a:r>
              <a:rPr sz="1600" i="0">
                <a:solidFill>
                  <a:srgbClr val="E8EDF2"/>
                </a:solidFill>
                <a:latin typeface="Consolas"/>
              </a:rPr>
              <a:t> </a:t>
            </a:r>
            <a:r>
              <a:rPr sz="1600" i="0">
                <a:solidFill>
                  <a:srgbClr val="76D7C4"/>
                </a:solidFill>
                <a:latin typeface="Consolas"/>
              </a:rPr>
              <a:t>pd</a:t>
            </a:r>
            <a:r>
              <a:rPr sz="1600" i="0">
                <a:solidFill>
                  <a:srgbClr val="AEB6BF"/>
                </a:solidFill>
                <a:latin typeface="Consolas"/>
              </a:rPr>
              <a:t>,</a:t>
            </a:r>
            <a:r>
              <a:rPr sz="1600" i="0">
                <a:solidFill>
                  <a:srgbClr val="E8EDF2"/>
                </a:solidFill>
                <a:latin typeface="Consolas"/>
              </a:rPr>
              <a:t> </a:t>
            </a:r>
            <a:r>
              <a:rPr sz="1600" i="0">
                <a:solidFill>
                  <a:srgbClr val="76D7C4"/>
                </a:solidFill>
                <a:latin typeface="Consolas"/>
              </a:rPr>
              <a:t>numpy</a:t>
            </a:r>
            <a:r>
              <a:rPr sz="1600" i="0">
                <a:solidFill>
                  <a:srgbClr val="E8EDF2"/>
                </a:solidFill>
                <a:latin typeface="Consolas"/>
              </a:rPr>
              <a:t> </a:t>
            </a:r>
            <a:r>
              <a:rPr sz="1600" i="0">
                <a:solidFill>
                  <a:srgbClr val="5DADE2"/>
                </a:solidFill>
                <a:latin typeface="Consolas"/>
              </a:rPr>
              <a:t>as</a:t>
            </a:r>
            <a:r>
              <a:rPr sz="1600" i="0">
                <a:solidFill>
                  <a:srgbClr val="E8EDF2"/>
                </a:solidFill>
                <a:latin typeface="Consolas"/>
              </a:rPr>
              <a:t> </a:t>
            </a:r>
            <a:r>
              <a:rPr sz="1600" i="0">
                <a:solidFill>
                  <a:srgbClr val="76D7C4"/>
                </a:solidFill>
                <a:latin typeface="Consolas"/>
              </a:rPr>
              <a:t>np</a:t>
            </a:r>
          </a:p>
          <a:p>
            <a:pPr>
              <a:lnSpc>
                <a:spcPct val="100000"/>
              </a:lnSpc>
              <a:spcAft>
                <a:spcPts val="0"/>
              </a:spcAft>
            </a:pPr>
            <a:r>
              <a:rPr sz="1600" i="0">
                <a:solidFill>
                  <a:srgbClr val="5DADE2"/>
                </a:solidFill>
                <a:latin typeface="Consolas"/>
              </a:rPr>
              <a:t>from</a:t>
            </a:r>
            <a:r>
              <a:rPr sz="1600" i="0">
                <a:solidFill>
                  <a:srgbClr val="E8EDF2"/>
                </a:solidFill>
                <a:latin typeface="Consolas"/>
              </a:rPr>
              <a:t> </a:t>
            </a:r>
            <a:r>
              <a:rPr sz="1600" i="0">
                <a:solidFill>
                  <a:srgbClr val="76D7C4"/>
                </a:solidFill>
                <a:latin typeface="Consolas"/>
              </a:rPr>
              <a:t>sklearn</a:t>
            </a:r>
            <a:r>
              <a:rPr sz="1600" i="0">
                <a:solidFill>
                  <a:srgbClr val="76D7C4"/>
                </a:solidFill>
                <a:latin typeface="Consolas"/>
              </a:rPr>
              <a:t>.</a:t>
            </a:r>
            <a:r>
              <a:rPr sz="1600" i="0">
                <a:solidFill>
                  <a:srgbClr val="76D7C4"/>
                </a:solidFill>
                <a:latin typeface="Consolas"/>
              </a:rPr>
              <a:t>ensemble</a:t>
            </a:r>
            <a:r>
              <a:rPr sz="1600" i="0">
                <a:solidFill>
                  <a:srgbClr val="E8EDF2"/>
                </a:solidFill>
                <a:latin typeface="Consolas"/>
              </a:rPr>
              <a:t> </a:t>
            </a:r>
            <a:r>
              <a:rPr sz="1600" i="0">
                <a:solidFill>
                  <a:srgbClr val="5DADE2"/>
                </a:solidFill>
                <a:latin typeface="Consolas"/>
              </a:rPr>
              <a:t>import</a:t>
            </a:r>
            <a:r>
              <a:rPr sz="1600" i="0">
                <a:solidFill>
                  <a:srgbClr val="E8EDF2"/>
                </a:solidFill>
                <a:latin typeface="Consolas"/>
              </a:rPr>
              <a:t> </a:t>
            </a:r>
            <a:r>
              <a:rPr sz="1600" i="0">
                <a:solidFill>
                  <a:srgbClr val="E8EDF2"/>
                </a:solidFill>
                <a:latin typeface="Consolas"/>
              </a:rPr>
              <a:t>RandomForestClassifier</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HistGradientBoostingClassifier</a:t>
            </a:r>
          </a:p>
          <a:p>
            <a:pPr>
              <a:lnSpc>
                <a:spcPct val="100000"/>
              </a:lnSpc>
              <a:spcAft>
                <a:spcPts val="0"/>
              </a:spcAft>
            </a:pPr>
            <a:r>
              <a:rPr sz="1600" i="0">
                <a:solidFill>
                  <a:srgbClr val="5DADE2"/>
                </a:solidFill>
                <a:latin typeface="Consolas"/>
              </a:rPr>
              <a:t>from</a:t>
            </a:r>
            <a:r>
              <a:rPr sz="1600" i="0">
                <a:solidFill>
                  <a:srgbClr val="E8EDF2"/>
                </a:solidFill>
                <a:latin typeface="Consolas"/>
              </a:rPr>
              <a:t> </a:t>
            </a:r>
            <a:r>
              <a:rPr sz="1600" i="0">
                <a:solidFill>
                  <a:srgbClr val="76D7C4"/>
                </a:solidFill>
                <a:latin typeface="Consolas"/>
              </a:rPr>
              <a:t>sklearn</a:t>
            </a:r>
            <a:r>
              <a:rPr sz="1600" i="0">
                <a:solidFill>
                  <a:srgbClr val="76D7C4"/>
                </a:solidFill>
                <a:latin typeface="Consolas"/>
              </a:rPr>
              <a:t>.</a:t>
            </a:r>
            <a:r>
              <a:rPr sz="1600" i="0">
                <a:solidFill>
                  <a:srgbClr val="76D7C4"/>
                </a:solidFill>
                <a:latin typeface="Consolas"/>
              </a:rPr>
              <a:t>inspection</a:t>
            </a:r>
            <a:r>
              <a:rPr sz="1600" i="0">
                <a:solidFill>
                  <a:srgbClr val="E8EDF2"/>
                </a:solidFill>
                <a:latin typeface="Consolas"/>
              </a:rPr>
              <a:t> </a:t>
            </a:r>
            <a:r>
              <a:rPr sz="1600" i="0">
                <a:solidFill>
                  <a:srgbClr val="5DADE2"/>
                </a:solidFill>
                <a:latin typeface="Consolas"/>
              </a:rPr>
              <a:t>import</a:t>
            </a:r>
            <a:r>
              <a:rPr sz="1600" i="0">
                <a:solidFill>
                  <a:srgbClr val="E8EDF2"/>
                </a:solidFill>
                <a:latin typeface="Consolas"/>
              </a:rPr>
              <a:t> </a:t>
            </a:r>
            <a:r>
              <a:rPr sz="1600" i="0">
                <a:solidFill>
                  <a:srgbClr val="E8EDF2"/>
                </a:solidFill>
                <a:latin typeface="Consolas"/>
              </a:rPr>
              <a:t>permutation_importance</a:t>
            </a:r>
          </a:p>
          <a:p>
            <a:pPr>
              <a:lnSpc>
                <a:spcPct val="100000"/>
              </a:lnSpc>
              <a:spcAft>
                <a:spcPts val="0"/>
              </a:spcAft>
            </a:pPr>
            <a:r>
              <a:rPr sz="1600" i="0">
                <a:solidFill>
                  <a:srgbClr val="5DADE2"/>
                </a:solidFill>
                <a:latin typeface="Consolas"/>
              </a:rPr>
              <a:t>from</a:t>
            </a:r>
            <a:r>
              <a:rPr sz="1600" i="0">
                <a:solidFill>
                  <a:srgbClr val="E8EDF2"/>
                </a:solidFill>
                <a:latin typeface="Consolas"/>
              </a:rPr>
              <a:t> </a:t>
            </a:r>
            <a:r>
              <a:rPr sz="1600" i="0">
                <a:solidFill>
                  <a:srgbClr val="76D7C4"/>
                </a:solidFill>
                <a:latin typeface="Consolas"/>
              </a:rPr>
              <a:t>sklearn</a:t>
            </a:r>
            <a:r>
              <a:rPr sz="1600" i="0">
                <a:solidFill>
                  <a:srgbClr val="76D7C4"/>
                </a:solidFill>
                <a:latin typeface="Consolas"/>
              </a:rPr>
              <a:t>.</a:t>
            </a:r>
            <a:r>
              <a:rPr sz="1600" i="0">
                <a:solidFill>
                  <a:srgbClr val="76D7C4"/>
                </a:solidFill>
                <a:latin typeface="Consolas"/>
              </a:rPr>
              <a:t>model_selection</a:t>
            </a:r>
            <a:r>
              <a:rPr sz="1600" i="0">
                <a:solidFill>
                  <a:srgbClr val="E8EDF2"/>
                </a:solidFill>
                <a:latin typeface="Consolas"/>
              </a:rPr>
              <a:t> </a:t>
            </a:r>
            <a:r>
              <a:rPr sz="1600" i="0">
                <a:solidFill>
                  <a:srgbClr val="5DADE2"/>
                </a:solidFill>
                <a:latin typeface="Consolas"/>
              </a:rPr>
              <a:t>import</a:t>
            </a:r>
            <a:r>
              <a:rPr sz="1600" i="0">
                <a:solidFill>
                  <a:srgbClr val="E8EDF2"/>
                </a:solidFill>
                <a:latin typeface="Consolas"/>
              </a:rPr>
              <a:t> </a:t>
            </a:r>
            <a:r>
              <a:rPr sz="1600" i="0">
                <a:solidFill>
                  <a:srgbClr val="E8EDF2"/>
                </a:solidFill>
                <a:latin typeface="Consolas"/>
              </a:rPr>
              <a:t>cross_val_score</a:t>
            </a:r>
          </a:p>
        </p:txBody>
      </p:sp>
      <p:sp>
        <p:nvSpPr>
          <p:cNvPr id="15" name="!!code-num"/>
          <p:cNvSpPr txBox="1"/>
          <p:nvPr/>
        </p:nvSpPr>
        <p:spPr>
          <a:xfrm>
            <a:off x="768096" y="2523744"/>
            <a:ext cx="393192" cy="1085088"/>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1</a:t>
            </a:r>
          </a:p>
          <a:p>
            <a:pPr algn="r">
              <a:lnSpc>
                <a:spcPct val="100000"/>
              </a:lnSpc>
            </a:pPr>
            <a:r>
              <a:rPr sz="1600">
                <a:solidFill>
                  <a:srgbClr val="4F5D6A"/>
                </a:solidFill>
                <a:latin typeface="Consolas"/>
              </a:rPr>
              <a:t>2</a:t>
            </a:r>
          </a:p>
          <a:p>
            <a:pPr algn="r">
              <a:lnSpc>
                <a:spcPct val="100000"/>
              </a:lnSpc>
            </a:pPr>
            <a:r>
              <a:rPr sz="1600">
                <a:solidFill>
                  <a:srgbClr val="4F5D6A"/>
                </a:solidFill>
                <a:latin typeface="Consolas"/>
              </a:rPr>
              <a:t>3</a:t>
            </a:r>
          </a:p>
          <a:p>
            <a:pPr algn="r">
              <a:lnSpc>
                <a:spcPct val="100000"/>
              </a:lnSpc>
            </a:pPr>
            <a:r>
              <a:rPr sz="1600">
                <a:solidFill>
                  <a:srgbClr val="4F5D6A"/>
                </a:solidFill>
                <a:latin typeface="Consolas"/>
              </a:rPr>
              <a:t>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2867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Engineer, Ensemble, Interpret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§15.4  ·  Handout p. 98     </a:t>
            </a:r>
            <a:fld id="{F7CB1699-58EE-4EAB-B488-B101F24E175D}"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Engineer from raw click logs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803904"/>
          </a:xfrm>
          <a:prstGeom prst="roundRect">
            <a:avLst>
              <a:gd name="adj" fmla="val 240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1. engineer from raw click logs ----------------------------------- g = clicks.groupby(&quot;student&quot;) feats = pd.DataFrame({ &quot;n_clicks&quot;: g.size(), &quot;n_resources&quot;: g.resource.nunique(), &quot;n_active_days&quot;: g.timestamp.apply(lambda s: s.dt.date.nunique()), &quot;days_since&quot;: (CUTOFF - g.timestamp.max()).dt.days, # recency: often the best &quot;night_share&quot;: g.timestamp.apply(lambda s: (s.dt.hour &lt; 5).mean()), &quot;daily_sd&quot;: g.timestamp.apply(lambda s: s.dt.date.value_counts().std()), }) # trend: is engagement rising or falling? weekly = clicks.groupby([&quot;student&quot;, clicks.timestamp.dt.isocalendar().week]).size() feats[&quot;trend&quot;] = weekly.groupby(&quot;student&quot;).apply( lambda s: np.polyfit(range(len(s)), s.values, 1)[0] if len(s) &gt; 1 else 0.0)"/>
          <p:cNvSpPr txBox="1"/>
          <p:nvPr/>
        </p:nvSpPr>
        <p:spPr>
          <a:xfrm>
            <a:off x="1362456" y="2523744"/>
            <a:ext cx="9987991" cy="3310128"/>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--- 1. engineer from raw click logs -----------------------------------</a:t>
            </a:r>
          </a:p>
          <a:p>
            <a:pPr>
              <a:lnSpc>
                <a:spcPct val="100000"/>
              </a:lnSpc>
              <a:spcAft>
                <a:spcPts val="0"/>
              </a:spcAft>
            </a:pPr>
            <a:r>
              <a:rPr sz="1500" i="0">
                <a:solidFill>
                  <a:srgbClr val="E8EDF2"/>
                </a:solidFill>
                <a:latin typeface="Consolas"/>
              </a:rPr>
              <a:t>g</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clicks</a:t>
            </a:r>
            <a:r>
              <a:rPr sz="1500" i="0">
                <a:solidFill>
                  <a:srgbClr val="AEB6BF"/>
                </a:solidFill>
                <a:latin typeface="Consolas"/>
              </a:rPr>
              <a:t>.</a:t>
            </a:r>
            <a:r>
              <a:rPr sz="1500" i="0">
                <a:solidFill>
                  <a:srgbClr val="E8EDF2"/>
                </a:solidFill>
                <a:latin typeface="Consolas"/>
              </a:rPr>
              <a:t>groupby</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student</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feats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pd</a:t>
            </a:r>
            <a:r>
              <a:rPr sz="1500" i="0">
                <a:solidFill>
                  <a:srgbClr val="AEB6BF"/>
                </a:solidFill>
                <a:latin typeface="Consolas"/>
              </a:rPr>
              <a:t>.</a:t>
            </a:r>
            <a:r>
              <a:rPr sz="1500" i="0">
                <a:solidFill>
                  <a:srgbClr val="E8EDF2"/>
                </a:solidFill>
                <a:latin typeface="Consolas"/>
              </a:rPr>
              <a:t>DataFrame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n_clicks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a:t>
            </a:r>
            <a:r>
              <a:rPr sz="1500" i="0">
                <a:solidFill>
                  <a:srgbClr val="AEB6BF"/>
                </a:solidFill>
                <a:latin typeface="Consolas"/>
              </a:rPr>
              <a:t>.</a:t>
            </a:r>
            <a:r>
              <a:rPr sz="1500" i="0">
                <a:solidFill>
                  <a:srgbClr val="E8EDF2"/>
                </a:solidFill>
                <a:latin typeface="Consolas"/>
              </a:rPr>
              <a:t>size</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n_resources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a:t>
            </a:r>
            <a:r>
              <a:rPr sz="1500" i="0">
                <a:solidFill>
                  <a:srgbClr val="AEB6BF"/>
                </a:solidFill>
                <a:latin typeface="Consolas"/>
              </a:rPr>
              <a:t>.</a:t>
            </a:r>
            <a:r>
              <a:rPr sz="1500" i="0">
                <a:solidFill>
                  <a:srgbClr val="E8EDF2"/>
                </a:solidFill>
                <a:latin typeface="Consolas"/>
              </a:rPr>
              <a:t>resource</a:t>
            </a:r>
            <a:r>
              <a:rPr sz="1500" i="0">
                <a:solidFill>
                  <a:srgbClr val="AEB6BF"/>
                </a:solidFill>
                <a:latin typeface="Consolas"/>
              </a:rPr>
              <a:t>.</a:t>
            </a:r>
            <a:r>
              <a:rPr sz="1500" i="0">
                <a:solidFill>
                  <a:srgbClr val="E8EDF2"/>
                </a:solidFill>
                <a:latin typeface="Consolas"/>
              </a:rPr>
              <a:t>nunique</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n_active_days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a:t>
            </a:r>
            <a:r>
              <a:rPr sz="1500" i="0">
                <a:solidFill>
                  <a:srgbClr val="AEB6BF"/>
                </a:solidFill>
                <a:latin typeface="Consolas"/>
              </a:rPr>
              <a:t>.</a:t>
            </a:r>
            <a:r>
              <a:rPr sz="1500" i="0">
                <a:solidFill>
                  <a:srgbClr val="E8EDF2"/>
                </a:solidFill>
                <a:latin typeface="Consolas"/>
              </a:rPr>
              <a:t>timestamp</a:t>
            </a:r>
            <a:r>
              <a:rPr sz="1500" i="0">
                <a:solidFill>
                  <a:srgbClr val="AEB6BF"/>
                </a:solidFill>
                <a:latin typeface="Consolas"/>
              </a:rPr>
              <a:t>.</a:t>
            </a:r>
            <a:r>
              <a:rPr sz="1500" i="0">
                <a:solidFill>
                  <a:srgbClr val="E8EDF2"/>
                </a:solidFill>
                <a:latin typeface="Consolas"/>
              </a:rPr>
              <a:t>apply</a:t>
            </a:r>
            <a:r>
              <a:rPr sz="1500" i="0">
                <a:solidFill>
                  <a:srgbClr val="AEB6BF"/>
                </a:solidFill>
                <a:latin typeface="Consolas"/>
              </a:rPr>
              <a:t>(</a:t>
            </a:r>
            <a:r>
              <a:rPr sz="1500" i="0">
                <a:solidFill>
                  <a:srgbClr val="5DADE2"/>
                </a:solidFill>
                <a:latin typeface="Consolas"/>
              </a:rPr>
              <a:t>lambda</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dt</a:t>
            </a:r>
            <a:r>
              <a:rPr sz="1500" i="0">
                <a:solidFill>
                  <a:srgbClr val="AEB6BF"/>
                </a:solidFill>
                <a:latin typeface="Consolas"/>
              </a:rPr>
              <a:t>.</a:t>
            </a:r>
            <a:r>
              <a:rPr sz="1500" i="0">
                <a:solidFill>
                  <a:srgbClr val="E8EDF2"/>
                </a:solidFill>
                <a:latin typeface="Consolas"/>
              </a:rPr>
              <a:t>date</a:t>
            </a:r>
            <a:r>
              <a:rPr sz="1500" i="0">
                <a:solidFill>
                  <a:srgbClr val="AEB6BF"/>
                </a:solidFill>
                <a:latin typeface="Consolas"/>
              </a:rPr>
              <a:t>.</a:t>
            </a:r>
            <a:r>
              <a:rPr sz="1500" i="0">
                <a:solidFill>
                  <a:srgbClr val="E8EDF2"/>
                </a:solidFill>
                <a:latin typeface="Consolas"/>
              </a:rPr>
              <a:t>nunique</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days_since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CUTOFF</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a:t>
            </a:r>
            <a:r>
              <a:rPr sz="1500" i="0">
                <a:solidFill>
                  <a:srgbClr val="AEB6BF"/>
                </a:solidFill>
                <a:latin typeface="Consolas"/>
              </a:rPr>
              <a:t>.</a:t>
            </a:r>
            <a:r>
              <a:rPr sz="1500" i="0">
                <a:solidFill>
                  <a:srgbClr val="E8EDF2"/>
                </a:solidFill>
                <a:latin typeface="Consolas"/>
              </a:rPr>
              <a:t>timestamp</a:t>
            </a:r>
            <a:r>
              <a:rPr sz="1500" i="0">
                <a:solidFill>
                  <a:srgbClr val="AEB6BF"/>
                </a:solidFill>
                <a:latin typeface="Consolas"/>
              </a:rPr>
              <a:t>.</a:t>
            </a:r>
            <a:r>
              <a:rPr sz="1500" i="0">
                <a:solidFill>
                  <a:srgbClr val="E8EDF2"/>
                </a:solidFill>
                <a:latin typeface="Consolas"/>
              </a:rPr>
              <a:t>max</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dt</a:t>
            </a:r>
            <a:r>
              <a:rPr sz="1500" i="0">
                <a:solidFill>
                  <a:srgbClr val="AEB6BF"/>
                </a:solidFill>
                <a:latin typeface="Consolas"/>
              </a:rPr>
              <a:t>.</a:t>
            </a:r>
            <a:r>
              <a:rPr sz="1500" i="0">
                <a:solidFill>
                  <a:srgbClr val="E8EDF2"/>
                </a:solidFill>
                <a:latin typeface="Consolas"/>
              </a:rPr>
              <a:t>days</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recency: often the best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night_share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a:t>
            </a:r>
            <a:r>
              <a:rPr sz="1500" i="0">
                <a:solidFill>
                  <a:srgbClr val="AEB6BF"/>
                </a:solidFill>
                <a:latin typeface="Consolas"/>
              </a:rPr>
              <a:t>.</a:t>
            </a:r>
            <a:r>
              <a:rPr sz="1500" i="0">
                <a:solidFill>
                  <a:srgbClr val="E8EDF2"/>
                </a:solidFill>
                <a:latin typeface="Consolas"/>
              </a:rPr>
              <a:t>timestamp</a:t>
            </a:r>
            <a:r>
              <a:rPr sz="1500" i="0">
                <a:solidFill>
                  <a:srgbClr val="AEB6BF"/>
                </a:solidFill>
                <a:latin typeface="Consolas"/>
              </a:rPr>
              <a:t>.</a:t>
            </a:r>
            <a:r>
              <a:rPr sz="1500" i="0">
                <a:solidFill>
                  <a:srgbClr val="E8EDF2"/>
                </a:solidFill>
                <a:latin typeface="Consolas"/>
              </a:rPr>
              <a:t>apply</a:t>
            </a:r>
            <a:r>
              <a:rPr sz="1500" i="0">
                <a:solidFill>
                  <a:srgbClr val="AEB6BF"/>
                </a:solidFill>
                <a:latin typeface="Consolas"/>
              </a:rPr>
              <a:t>(</a:t>
            </a:r>
            <a:r>
              <a:rPr sz="1500" i="0">
                <a:solidFill>
                  <a:srgbClr val="5DADE2"/>
                </a:solidFill>
                <a:latin typeface="Consolas"/>
              </a:rPr>
              <a:t>lambda</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dt</a:t>
            </a:r>
            <a:r>
              <a:rPr sz="1500" i="0">
                <a:solidFill>
                  <a:srgbClr val="AEB6BF"/>
                </a:solidFill>
                <a:latin typeface="Consolas"/>
              </a:rPr>
              <a:t>.</a:t>
            </a:r>
            <a:r>
              <a:rPr sz="1500" i="0">
                <a:solidFill>
                  <a:srgbClr val="E8EDF2"/>
                </a:solidFill>
                <a:latin typeface="Consolas"/>
              </a:rPr>
              <a:t>hour</a:t>
            </a:r>
            <a:r>
              <a:rPr sz="1500" i="0">
                <a:solidFill>
                  <a:srgbClr val="E8EDF2"/>
                </a:solidFill>
                <a:latin typeface="Consolas"/>
              </a:rPr>
              <a:t> </a:t>
            </a:r>
            <a:r>
              <a:rPr sz="1500" i="0">
                <a:solidFill>
                  <a:srgbClr val="AEB6BF"/>
                </a:solidFill>
                <a:latin typeface="Consolas"/>
              </a:rPr>
              <a:t>&lt;</a:t>
            </a:r>
            <a:r>
              <a:rPr sz="1500" i="0">
                <a:solidFill>
                  <a:srgbClr val="E8EDF2"/>
                </a:solidFill>
                <a:latin typeface="Consolas"/>
              </a:rPr>
              <a:t> </a:t>
            </a:r>
            <a:r>
              <a:rPr sz="1500" i="0">
                <a:solidFill>
                  <a:srgbClr val="F7DC6F"/>
                </a:solidFill>
                <a:latin typeface="Consolas"/>
              </a:rPr>
              <a:t>5</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mean</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daily_sd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a:t>
            </a:r>
            <a:r>
              <a:rPr sz="1500" i="0">
                <a:solidFill>
                  <a:srgbClr val="AEB6BF"/>
                </a:solidFill>
                <a:latin typeface="Consolas"/>
              </a:rPr>
              <a:t>.</a:t>
            </a:r>
            <a:r>
              <a:rPr sz="1500" i="0">
                <a:solidFill>
                  <a:srgbClr val="E8EDF2"/>
                </a:solidFill>
                <a:latin typeface="Consolas"/>
              </a:rPr>
              <a:t>timestamp</a:t>
            </a:r>
            <a:r>
              <a:rPr sz="1500" i="0">
                <a:solidFill>
                  <a:srgbClr val="AEB6BF"/>
                </a:solidFill>
                <a:latin typeface="Consolas"/>
              </a:rPr>
              <a:t>.</a:t>
            </a:r>
            <a:r>
              <a:rPr sz="1500" i="0">
                <a:solidFill>
                  <a:srgbClr val="E8EDF2"/>
                </a:solidFill>
                <a:latin typeface="Consolas"/>
              </a:rPr>
              <a:t>apply</a:t>
            </a:r>
            <a:r>
              <a:rPr sz="1500" i="0">
                <a:solidFill>
                  <a:srgbClr val="AEB6BF"/>
                </a:solidFill>
                <a:latin typeface="Consolas"/>
              </a:rPr>
              <a:t>(</a:t>
            </a:r>
            <a:r>
              <a:rPr sz="1500" i="0">
                <a:solidFill>
                  <a:srgbClr val="5DADE2"/>
                </a:solidFill>
                <a:latin typeface="Consolas"/>
              </a:rPr>
              <a:t>lambda</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dt</a:t>
            </a:r>
            <a:r>
              <a:rPr sz="1500" i="0">
                <a:solidFill>
                  <a:srgbClr val="AEB6BF"/>
                </a:solidFill>
                <a:latin typeface="Consolas"/>
              </a:rPr>
              <a:t>.</a:t>
            </a:r>
            <a:r>
              <a:rPr sz="1500" i="0">
                <a:solidFill>
                  <a:srgbClr val="E8EDF2"/>
                </a:solidFill>
                <a:latin typeface="Consolas"/>
              </a:rPr>
              <a:t>date</a:t>
            </a:r>
            <a:r>
              <a:rPr sz="1500" i="0">
                <a:solidFill>
                  <a:srgbClr val="AEB6BF"/>
                </a:solidFill>
                <a:latin typeface="Consolas"/>
              </a:rPr>
              <a:t>.</a:t>
            </a:r>
            <a:r>
              <a:rPr sz="1500" i="0">
                <a:solidFill>
                  <a:srgbClr val="E8EDF2"/>
                </a:solidFill>
                <a:latin typeface="Consolas"/>
              </a:rPr>
              <a:t>value_counts</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std</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1">
                <a:solidFill>
                  <a:srgbClr val="8795A1"/>
                </a:solidFill>
                <a:latin typeface="Consolas"/>
              </a:rPr>
              <a:t># trend: is engagement rising or falling?</a:t>
            </a:r>
          </a:p>
          <a:p>
            <a:pPr>
              <a:lnSpc>
                <a:spcPct val="100000"/>
              </a:lnSpc>
              <a:spcAft>
                <a:spcPts val="0"/>
              </a:spcAft>
            </a:pPr>
            <a:r>
              <a:rPr sz="1500" i="0">
                <a:solidFill>
                  <a:srgbClr val="E8EDF2"/>
                </a:solidFill>
                <a:latin typeface="Consolas"/>
              </a:rPr>
              <a:t>weekly</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clicks</a:t>
            </a:r>
            <a:r>
              <a:rPr sz="1500" i="0">
                <a:solidFill>
                  <a:srgbClr val="AEB6BF"/>
                </a:solidFill>
                <a:latin typeface="Consolas"/>
              </a:rPr>
              <a:t>.</a:t>
            </a:r>
            <a:r>
              <a:rPr sz="1500" i="0">
                <a:solidFill>
                  <a:srgbClr val="E8EDF2"/>
                </a:solidFill>
                <a:latin typeface="Consolas"/>
              </a:rPr>
              <a:t>groupby</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student</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clicks</a:t>
            </a:r>
            <a:r>
              <a:rPr sz="1500" i="0">
                <a:solidFill>
                  <a:srgbClr val="AEB6BF"/>
                </a:solidFill>
                <a:latin typeface="Consolas"/>
              </a:rPr>
              <a:t>.</a:t>
            </a:r>
            <a:r>
              <a:rPr sz="1500" i="0">
                <a:solidFill>
                  <a:srgbClr val="E8EDF2"/>
                </a:solidFill>
                <a:latin typeface="Consolas"/>
              </a:rPr>
              <a:t>timestamp</a:t>
            </a:r>
            <a:r>
              <a:rPr sz="1500" i="0">
                <a:solidFill>
                  <a:srgbClr val="AEB6BF"/>
                </a:solidFill>
                <a:latin typeface="Consolas"/>
              </a:rPr>
              <a:t>.</a:t>
            </a:r>
            <a:r>
              <a:rPr sz="1500" i="0">
                <a:solidFill>
                  <a:srgbClr val="E8EDF2"/>
                </a:solidFill>
                <a:latin typeface="Consolas"/>
              </a:rPr>
              <a:t>dt</a:t>
            </a:r>
            <a:r>
              <a:rPr sz="1500" i="0">
                <a:solidFill>
                  <a:srgbClr val="AEB6BF"/>
                </a:solidFill>
                <a:latin typeface="Consolas"/>
              </a:rPr>
              <a:t>.</a:t>
            </a:r>
            <a:r>
              <a:rPr sz="1500" i="0">
                <a:solidFill>
                  <a:srgbClr val="E8EDF2"/>
                </a:solidFill>
                <a:latin typeface="Consolas"/>
              </a:rPr>
              <a:t>isocalendar</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week</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size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feats</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trend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weekly</a:t>
            </a:r>
            <a:r>
              <a:rPr sz="1500" i="0">
                <a:solidFill>
                  <a:srgbClr val="AEB6BF"/>
                </a:solidFill>
                <a:latin typeface="Consolas"/>
              </a:rPr>
              <a:t>.</a:t>
            </a:r>
            <a:r>
              <a:rPr sz="1500" i="0">
                <a:solidFill>
                  <a:srgbClr val="E8EDF2"/>
                </a:solidFill>
                <a:latin typeface="Consolas"/>
              </a:rPr>
              <a:t>groupby</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student</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apply</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lambda</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np</a:t>
            </a:r>
            <a:r>
              <a:rPr sz="1500" i="0">
                <a:solidFill>
                  <a:srgbClr val="AEB6BF"/>
                </a:solidFill>
                <a:latin typeface="Consolas"/>
              </a:rPr>
              <a:t>.</a:t>
            </a:r>
            <a:r>
              <a:rPr sz="1500" i="0">
                <a:solidFill>
                  <a:srgbClr val="E8EDF2"/>
                </a:solidFill>
                <a:latin typeface="Consolas"/>
              </a:rPr>
              <a:t>polyfit</a:t>
            </a:r>
            <a:r>
              <a:rPr sz="1500" i="0">
                <a:solidFill>
                  <a:srgbClr val="AEB6BF"/>
                </a:solidFill>
                <a:latin typeface="Consolas"/>
              </a:rPr>
              <a:t>(</a:t>
            </a:r>
            <a:r>
              <a:rPr sz="1500" i="0">
                <a:solidFill>
                  <a:srgbClr val="C39BD3"/>
                </a:solidFill>
                <a:latin typeface="Consolas"/>
              </a:rPr>
              <a:t>range</a:t>
            </a:r>
            <a:r>
              <a:rPr sz="1500" i="0">
                <a:solidFill>
                  <a:srgbClr val="AEB6BF"/>
                </a:solidFill>
                <a:latin typeface="Consolas"/>
              </a:rPr>
              <a:t>(</a:t>
            </a:r>
            <a:r>
              <a:rPr sz="1500" i="0">
                <a:solidFill>
                  <a:srgbClr val="C39BD3"/>
                </a:solidFill>
                <a:latin typeface="Consolas"/>
              </a:rPr>
              <a:t>len</a:t>
            </a:r>
            <a:r>
              <a:rPr sz="1500" i="0">
                <a:solidFill>
                  <a:srgbClr val="AEB6BF"/>
                </a:solidFill>
                <a:latin typeface="Consolas"/>
              </a:rPr>
              <a:t>(</a:t>
            </a:r>
            <a:r>
              <a:rPr sz="1500" i="0">
                <a:solidFill>
                  <a:srgbClr val="E8EDF2"/>
                </a:solidFill>
                <a:latin typeface="Consolas"/>
              </a:rPr>
              <a:t>s</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values</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a:t>
            </a:r>
            <a:r>
              <a:rPr sz="1500" i="0">
                <a:solidFill>
                  <a:srgbClr val="AEB6BF"/>
                </a:solidFill>
                <a:latin typeface="Consolas"/>
              </a:rPr>
              <a:t>)</a:t>
            </a:r>
            <a:r>
              <a:rPr sz="1500" i="0">
                <a:solidFill>
                  <a:srgbClr val="AEB6BF"/>
                </a:solidFill>
                <a:latin typeface="Consolas"/>
              </a:rPr>
              <a:t>[</a:t>
            </a:r>
            <a:r>
              <a:rPr sz="1500" i="0">
                <a:solidFill>
                  <a:srgbClr val="F7DC6F"/>
                </a:solidFill>
                <a:latin typeface="Consolas"/>
              </a:rPr>
              <a:t>0</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C39BD3"/>
                </a:solidFill>
                <a:latin typeface="Consolas"/>
              </a:rPr>
              <a:t>len</a:t>
            </a:r>
            <a:r>
              <a:rPr sz="1500" i="0">
                <a:solidFill>
                  <a:srgbClr val="AEB6BF"/>
                </a:solidFill>
                <a:latin typeface="Consolas"/>
              </a:rPr>
              <a:t>(</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&gt;</a:t>
            </a:r>
            <a:r>
              <a:rPr sz="1500" i="0">
                <a:solidFill>
                  <a:srgbClr val="E8EDF2"/>
                </a:solidFill>
                <a:latin typeface="Consolas"/>
              </a:rPr>
              <a:t> </a:t>
            </a:r>
            <a:r>
              <a:rPr sz="1500" i="0">
                <a:solidFill>
                  <a:srgbClr val="F7DC6F"/>
                </a:solidFill>
                <a:latin typeface="Consolas"/>
              </a:rPr>
              <a:t>1</a:t>
            </a:r>
            <a:r>
              <a:rPr sz="1500" i="0">
                <a:solidFill>
                  <a:srgbClr val="E8EDF2"/>
                </a:solidFill>
                <a:latin typeface="Consolas"/>
              </a:rPr>
              <a:t> </a:t>
            </a:r>
            <a:r>
              <a:rPr sz="1500" i="0">
                <a:solidFill>
                  <a:srgbClr val="5DADE2"/>
                </a:solidFill>
                <a:latin typeface="Consolas"/>
              </a:rPr>
              <a:t>else</a:t>
            </a:r>
            <a:r>
              <a:rPr sz="1500" i="0">
                <a:solidFill>
                  <a:srgbClr val="E8EDF2"/>
                </a:solidFill>
                <a:latin typeface="Consolas"/>
              </a:rPr>
              <a:t> </a:t>
            </a:r>
            <a:r>
              <a:rPr sz="1500" i="0">
                <a:solidFill>
                  <a:srgbClr val="F7DC6F"/>
                </a:solidFill>
                <a:latin typeface="Consolas"/>
              </a:rPr>
              <a:t>0.0</a:t>
            </a:r>
            <a:r>
              <a:rPr sz="1500" i="0">
                <a:solidFill>
                  <a:srgbClr val="AEB6BF"/>
                </a:solidFill>
                <a:latin typeface="Consolas"/>
              </a:rPr>
              <a:t>)</a:t>
            </a:r>
          </a:p>
        </p:txBody>
      </p:sp>
      <p:sp>
        <p:nvSpPr>
          <p:cNvPr id="15" name="!!code-num"/>
          <p:cNvSpPr txBox="1"/>
          <p:nvPr/>
        </p:nvSpPr>
        <p:spPr>
          <a:xfrm>
            <a:off x="768096" y="2523744"/>
            <a:ext cx="393192" cy="33101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5</a:t>
            </a:r>
          </a:p>
          <a:p>
            <a:pPr algn="r">
              <a:lnSpc>
                <a:spcPct val="100000"/>
              </a:lnSpc>
            </a:pPr>
            <a:r>
              <a:rPr sz="1500">
                <a:solidFill>
                  <a:srgbClr val="4F5D6A"/>
                </a:solidFill>
                <a:latin typeface="Consolas"/>
              </a:rPr>
              <a:t>6</a:t>
            </a:r>
          </a:p>
          <a:p>
            <a:pPr algn="r">
              <a:lnSpc>
                <a:spcPct val="100000"/>
              </a:lnSpc>
            </a:pPr>
            <a:r>
              <a:rPr sz="1500">
                <a:solidFill>
                  <a:srgbClr val="4F5D6A"/>
                </a:solidFill>
                <a:latin typeface="Consolas"/>
              </a:rPr>
              <a:t>7</a:t>
            </a:r>
          </a:p>
          <a:p>
            <a:pPr algn="r">
              <a:lnSpc>
                <a:spcPct val="100000"/>
              </a:lnSpc>
            </a:pPr>
            <a:r>
              <a:rPr sz="1500">
                <a:solidFill>
                  <a:srgbClr val="4F5D6A"/>
                </a:solidFill>
                <a:latin typeface="Consolas"/>
              </a:rPr>
              <a:t>8</a:t>
            </a:r>
          </a:p>
          <a:p>
            <a:pPr algn="r">
              <a:lnSpc>
                <a:spcPct val="100000"/>
              </a:lnSpc>
            </a:pPr>
            <a:r>
              <a:rPr sz="1500">
                <a:solidFill>
                  <a:srgbClr val="4F5D6A"/>
                </a:solidFill>
                <a:latin typeface="Consolas"/>
              </a:rPr>
              <a:t>9</a:t>
            </a:r>
          </a:p>
          <a:p>
            <a:pPr algn="r">
              <a:lnSpc>
                <a:spcPct val="100000"/>
              </a:lnSpc>
            </a:pPr>
            <a:r>
              <a:rPr sz="1500">
                <a:solidFill>
                  <a:srgbClr val="4F5D6A"/>
                </a:solidFill>
                <a:latin typeface="Consolas"/>
              </a:rPr>
              <a:t>10</a:t>
            </a:r>
          </a:p>
          <a:p>
            <a:pPr algn="r">
              <a:lnSpc>
                <a:spcPct val="100000"/>
              </a:lnSpc>
            </a:pPr>
            <a:r>
              <a:rPr sz="1500">
                <a:solidFill>
                  <a:srgbClr val="4F5D6A"/>
                </a:solidFill>
                <a:latin typeface="Consolas"/>
              </a:rPr>
              <a:t>11</a:t>
            </a:r>
          </a:p>
          <a:p>
            <a:pPr algn="r">
              <a:lnSpc>
                <a:spcPct val="100000"/>
              </a:lnSpc>
            </a:pPr>
            <a:r>
              <a:rPr sz="1500">
                <a:solidFill>
                  <a:srgbClr val="4F5D6A"/>
                </a:solidFill>
                <a:latin typeface="Consolas"/>
              </a:rPr>
              <a:t>12</a:t>
            </a:r>
          </a:p>
          <a:p>
            <a:pPr algn="r">
              <a:lnSpc>
                <a:spcPct val="100000"/>
              </a:lnSpc>
            </a:pPr>
            <a:r>
              <a:rPr sz="1500">
                <a:solidFill>
                  <a:srgbClr val="4F5D6A"/>
                </a:solidFill>
                <a:latin typeface="Consolas"/>
              </a:rPr>
              <a:t>13</a:t>
            </a:r>
          </a:p>
          <a:p>
            <a:pPr algn="r">
              <a:lnSpc>
                <a:spcPct val="100000"/>
              </a:lnSpc>
            </a:pPr>
            <a:r>
              <a:rPr sz="1500">
                <a:solidFill>
                  <a:srgbClr val="4F5D6A"/>
                </a:solidFill>
                <a:latin typeface="Consolas"/>
              </a:rPr>
              <a:t>14</a:t>
            </a:r>
          </a:p>
          <a:p>
            <a:pPr algn="r">
              <a:lnSpc>
                <a:spcPct val="100000"/>
              </a:lnSpc>
            </a:pPr>
            <a:r>
              <a:rPr sz="1500">
                <a:solidFill>
                  <a:srgbClr val="4F5D6A"/>
                </a:solidFill>
                <a:latin typeface="Consolas"/>
              </a:rPr>
              <a:t>15</a:t>
            </a:r>
          </a:p>
          <a:p>
            <a:pPr algn="r">
              <a:lnSpc>
                <a:spcPct val="100000"/>
              </a:lnSpc>
            </a:pPr>
            <a:r>
              <a:rPr sz="1500">
                <a:solidFill>
                  <a:srgbClr val="4F5D6A"/>
                </a:solidFill>
                <a:latin typeface="Consolas"/>
              </a:rPr>
              <a:t>16</a:t>
            </a:r>
          </a:p>
          <a:p>
            <a:pPr algn="r">
              <a:lnSpc>
                <a:spcPct val="100000"/>
              </a:lnSpc>
            </a:pPr>
            <a:r>
              <a:rPr sz="1500">
                <a:solidFill>
                  <a:srgbClr val="4F5D6A"/>
                </a:solidFill>
                <a:latin typeface="Consolas"/>
              </a:rPr>
              <a:t>17</a:t>
            </a:r>
          </a:p>
          <a:p>
            <a:pPr algn="r">
              <a:lnSpc>
                <a:spcPct val="100000"/>
              </a:lnSpc>
            </a:pPr>
            <a:r>
              <a:rPr sz="1500">
                <a:solidFill>
                  <a:srgbClr val="4F5D6A"/>
                </a:solidFill>
                <a:latin typeface="Consolas"/>
              </a:rPr>
              <a:t>18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260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Engineer, Ensemble, Interpret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§15.4  ·  Handout p. 98     </a:t>
            </a:r>
            <a:fld id="{3FF4C593-1141-4D45-9F59-F54DB0425FAE}"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Ensembles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2. ensembles ------------------------------------------------------ rf = RandomForestClassifier(n_estimators=400, random_state=0, n_jobs=-1) gb = HistGradientBoostingClassifier(random_state=0) for name, m in [(&quot;random forest&quot;, rf), (&quot;grad boosting&quot;, gb)]: s = cross_val_score(m, X_tr, y_tr, cv=5, scoring=&quot;average_precision&quot;) print(f&quot;{name:14s} PR-AUC {s.mean():.3f} +/- {s.std():.3f}&quot;)"/>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ensembles ------------------------------------------------------</a:t>
            </a:r>
          </a:p>
          <a:p>
            <a:pPr>
              <a:lnSpc>
                <a:spcPct val="100000"/>
              </a:lnSpc>
              <a:spcAft>
                <a:spcPts val="0"/>
              </a:spcAft>
            </a:pPr>
            <a:r>
              <a:rPr sz="1800" i="0">
                <a:solidFill>
                  <a:srgbClr val="E8EDF2"/>
                </a:solidFill>
                <a:latin typeface="Consolas"/>
              </a:rPr>
              <a:t>rf</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RandomForestClassifier</a:t>
            </a:r>
            <a:r>
              <a:rPr sz="1800" i="0">
                <a:solidFill>
                  <a:srgbClr val="AEB6BF"/>
                </a:solidFill>
                <a:latin typeface="Consolas"/>
              </a:rPr>
              <a:t>(</a:t>
            </a:r>
            <a:r>
              <a:rPr sz="1800" i="0">
                <a:solidFill>
                  <a:srgbClr val="E8EDF2"/>
                </a:solidFill>
                <a:latin typeface="Consolas"/>
              </a:rPr>
              <a:t>n_estimators</a:t>
            </a:r>
            <a:r>
              <a:rPr sz="1800" i="0">
                <a:solidFill>
                  <a:srgbClr val="AEB6BF"/>
                </a:solidFill>
                <a:latin typeface="Consolas"/>
              </a:rPr>
              <a:t>=</a:t>
            </a:r>
            <a:r>
              <a:rPr sz="1800" i="0">
                <a:solidFill>
                  <a:srgbClr val="F7DC6F"/>
                </a:solidFill>
                <a:latin typeface="Consolas"/>
              </a:rPr>
              <a:t>400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n_jobs</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p>
          <a:p>
            <a:pPr>
              <a:lnSpc>
                <a:spcPct val="100000"/>
              </a:lnSpc>
              <a:spcAft>
                <a:spcPts val="0"/>
              </a:spcAft>
            </a:pPr>
            <a:r>
              <a:rPr sz="1800" i="0">
                <a:solidFill>
                  <a:srgbClr val="E8EDF2"/>
                </a:solidFill>
                <a:latin typeface="Consolas"/>
              </a:rPr>
              <a:t>gb</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HistGradientBoostingClassifier</a:t>
            </a:r>
            <a:r>
              <a:rPr sz="1800" i="0">
                <a:solidFill>
                  <a:srgbClr val="AEB6BF"/>
                </a:solidFill>
                <a:latin typeface="Consolas"/>
              </a:rPr>
              <a:t>(</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name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random forest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rf</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grad boosting</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gb</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cross_val_score</a:t>
            </a:r>
            <a:r>
              <a:rPr sz="1800" i="0">
                <a:solidFill>
                  <a:srgbClr val="AEB6BF"/>
                </a:solidFill>
                <a:latin typeface="Consolas"/>
              </a:rPr>
              <a:t>(</a:t>
            </a:r>
            <a:r>
              <a:rPr sz="1800" i="0">
                <a:solidFill>
                  <a:srgbClr val="E8EDF2"/>
                </a:solidFill>
                <a:latin typeface="Consolas"/>
              </a:rPr>
              <a:t>m</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cv</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scoring</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average_precision</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a:t>
            </a:r>
            <a:r>
              <a:rPr sz="1800" i="0">
                <a:solidFill>
                  <a:srgbClr val="E8EDF2"/>
                </a:solidFill>
                <a:latin typeface="Consolas"/>
              </a:rPr>
              <a:t>name</a:t>
            </a:r>
            <a:r>
              <a:rPr sz="1800" i="0">
                <a:solidFill>
                  <a:srgbClr val="7DCEA0"/>
                </a:solidFill>
                <a:latin typeface="Consolas"/>
              </a:rPr>
              <a:t>:</a:t>
            </a:r>
            <a:r>
              <a:rPr sz="1800" i="0">
                <a:solidFill>
                  <a:srgbClr val="7DCEA0"/>
                </a:solidFill>
                <a:latin typeface="Consolas"/>
              </a:rPr>
              <a:t>14s</a:t>
            </a:r>
            <a:r>
              <a:rPr sz="1800" i="0">
                <a:solidFill>
                  <a:srgbClr val="7DCEA0"/>
                </a:solidFill>
                <a:latin typeface="Consolas"/>
              </a:rPr>
              <a:t>}</a:t>
            </a:r>
            <a:r>
              <a:rPr sz="1800" i="0">
                <a:solidFill>
                  <a:srgbClr val="7DCEA0"/>
                </a:solidFill>
                <a:latin typeface="Consolas"/>
              </a:rPr>
              <a:t> PR-AUC </a:t>
            </a:r>
            <a:r>
              <a:rPr sz="1800" i="0">
                <a:solidFill>
                  <a:srgbClr val="7DCEA0"/>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 +/- </a:t>
            </a:r>
            <a:r>
              <a:rPr sz="1800" i="0">
                <a:solidFill>
                  <a:srgbClr val="7DCEA0"/>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std</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2339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Engineer, Ensemble, Interpret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§15.4  ·  Handout p. 98     </a:t>
            </a:r>
            <a:fld id="{5583413E-8E9E-46F6-9288-DD2950B0D0B3}"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Interpret: permutation, NOT the built-in impurity importance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3. interpret: permutation, NOT the built-in impurity importance ---- rf.fit(X_tr, y_tr) perm = permutation_importance(rf, X_te, y_te, n_repeats=20, random_state=0, scoring=&quot;average_precision&quot;) order = perm.importances_mean.argsort()[::-1] for i in order[:8]: print(f&quot; {feature_names[i]:24s} {perm.importances_mean[i]:+.4f}&quot; f&quot; +/- {perm.importances_std[i]:.4f}&quot;)"/>
          <p:cNvSpPr txBox="1"/>
          <p:nvPr/>
        </p:nvSpPr>
        <p:spPr>
          <a:xfrm>
            <a:off x="1362456" y="2523744"/>
            <a:ext cx="9987991" cy="23042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interpret: permutation, NOT the built-in impurity importance ----</a:t>
            </a:r>
          </a:p>
          <a:p>
            <a:pPr>
              <a:lnSpc>
                <a:spcPct val="100000"/>
              </a:lnSpc>
              <a:spcAft>
                <a:spcPts val="0"/>
              </a:spcAft>
            </a:pPr>
            <a:r>
              <a:rPr sz="1800" i="0">
                <a:solidFill>
                  <a:srgbClr val="E8EDF2"/>
                </a:solidFill>
                <a:latin typeface="Consolas"/>
              </a:rPr>
              <a:t>rf</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p>
          <a:p>
            <a:pPr>
              <a:lnSpc>
                <a:spcPct val="100000"/>
              </a:lnSpc>
              <a:spcAft>
                <a:spcPts val="0"/>
              </a:spcAft>
            </a:pPr>
            <a:r>
              <a:rPr sz="1800" i="0">
                <a:solidFill>
                  <a:srgbClr val="E8EDF2"/>
                </a:solidFill>
                <a:latin typeface="Consolas"/>
              </a:rPr>
              <a:t>perm</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permutation_importance</a:t>
            </a:r>
            <a:r>
              <a:rPr sz="1800" i="0">
                <a:solidFill>
                  <a:srgbClr val="AEB6BF"/>
                </a:solidFill>
                <a:latin typeface="Consolas"/>
              </a:rPr>
              <a:t>(</a:t>
            </a:r>
            <a:r>
              <a:rPr sz="1800" i="0">
                <a:solidFill>
                  <a:srgbClr val="E8EDF2"/>
                </a:solidFill>
                <a:latin typeface="Consolas"/>
              </a:rPr>
              <a:t>rf</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n_repeats</a:t>
            </a:r>
            <a:r>
              <a:rPr sz="1800" i="0">
                <a:solidFill>
                  <a:srgbClr val="AEB6BF"/>
                </a:solidFill>
                <a:latin typeface="Consolas"/>
              </a:rPr>
              <a:t>=</a:t>
            </a:r>
            <a:r>
              <a:rPr sz="1800" i="0">
                <a:solidFill>
                  <a:srgbClr val="F7DC6F"/>
                </a:solidFill>
                <a:latin typeface="Consolas"/>
              </a:rPr>
              <a:t>20</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scoring</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average_precision</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order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perm</a:t>
            </a:r>
            <a:r>
              <a:rPr sz="1800" i="0">
                <a:solidFill>
                  <a:srgbClr val="AEB6BF"/>
                </a:solidFill>
                <a:latin typeface="Consolas"/>
              </a:rPr>
              <a:t>.</a:t>
            </a:r>
            <a:r>
              <a:rPr sz="1800" i="0">
                <a:solidFill>
                  <a:srgbClr val="E8EDF2"/>
                </a:solidFill>
                <a:latin typeface="Consolas"/>
              </a:rPr>
              <a:t>importances_mean</a:t>
            </a:r>
            <a:r>
              <a:rPr sz="1800" i="0">
                <a:solidFill>
                  <a:srgbClr val="AEB6BF"/>
                </a:solidFill>
                <a:latin typeface="Consolas"/>
              </a:rPr>
              <a:t>.</a:t>
            </a:r>
            <a:r>
              <a:rPr sz="1800" i="0">
                <a:solidFill>
                  <a:srgbClr val="E8EDF2"/>
                </a:solidFill>
                <a:latin typeface="Consolas"/>
              </a:rPr>
              <a:t>argsort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i</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order</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8</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r>
              <a:rPr sz="1800" i="0">
                <a:solidFill>
                  <a:srgbClr val="E8EDF2"/>
                </a:solidFill>
                <a:latin typeface="Consolas"/>
              </a:rPr>
              <a:t>feature_names</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24s</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r>
              <a:rPr sz="1800" i="0">
                <a:solidFill>
                  <a:srgbClr val="E8EDF2"/>
                </a:solidFill>
                <a:latin typeface="Consolas"/>
              </a:rPr>
              <a:t>perm</a:t>
            </a:r>
            <a:r>
              <a:rPr sz="1800" i="0">
                <a:solidFill>
                  <a:srgbClr val="AEB6BF"/>
                </a:solidFill>
                <a:latin typeface="Consolas"/>
              </a:rPr>
              <a:t>.</a:t>
            </a:r>
            <a:r>
              <a:rPr sz="1800" i="0">
                <a:solidFill>
                  <a:srgbClr val="E8EDF2"/>
                </a:solidFill>
                <a:latin typeface="Consolas"/>
              </a:rPr>
              <a:t>importances_mean</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+.4f</a:t>
            </a:r>
            <a:r>
              <a:rPr sz="1800" i="0">
                <a:solidFill>
                  <a:srgbClr val="7DCEA0"/>
                </a:solidFill>
                <a:latin typeface="Consolas"/>
              </a:rPr>
              <a:t>}</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 +/- </a:t>
            </a:r>
            <a:r>
              <a:rPr sz="1800" i="0">
                <a:solidFill>
                  <a:srgbClr val="7DCEA0"/>
                </a:solidFill>
                <a:latin typeface="Consolas"/>
              </a:rPr>
              <a:t>{</a:t>
            </a:r>
            <a:r>
              <a:rPr sz="1800" i="0">
                <a:solidFill>
                  <a:srgbClr val="E8EDF2"/>
                </a:solidFill>
                <a:latin typeface="Consolas"/>
              </a:rPr>
              <a:t>perm</a:t>
            </a:r>
            <a:r>
              <a:rPr sz="1800" i="0">
                <a:solidFill>
                  <a:srgbClr val="AEB6BF"/>
                </a:solidFill>
                <a:latin typeface="Consolas"/>
              </a:rPr>
              <a:t>.</a:t>
            </a:r>
            <a:r>
              <a:rPr sz="1800" i="0">
                <a:solidFill>
                  <a:srgbClr val="E8EDF2"/>
                </a:solidFill>
                <a:latin typeface="Consolas"/>
              </a:rPr>
              <a:t>importances_std</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.4f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a:p>
            <a:pPr algn="r">
              <a:lnSpc>
                <a:spcPct val="100000"/>
              </a:lnSpc>
            </a:pPr>
            <a:r>
              <a:rPr sz="1800">
                <a:solidFill>
                  <a:srgbClr val="4F5D6A"/>
                </a:solidFill>
                <a:latin typeface="Consolas"/>
              </a:rPr>
              <a:t>30</a:t>
            </a:r>
          </a:p>
          <a:p>
            <a:pPr algn="r">
              <a:lnSpc>
                <a:spcPct val="100000"/>
              </a:lnSpc>
            </a:pPr>
            <a:r>
              <a:rPr sz="1800">
                <a:solidFill>
                  <a:srgbClr val="4F5D6A"/>
                </a:solidFill>
                <a:latin typeface="Consolas"/>
              </a:rPr>
              <a:t>31</a:t>
            </a:r>
          </a:p>
          <a:p>
            <a:pPr algn="r">
              <a:lnSpc>
                <a:spcPct val="100000"/>
              </a:lnSpc>
            </a:pPr>
            <a:r>
              <a:rPr sz="1800">
                <a:solidFill>
                  <a:srgbClr val="4F5D6A"/>
                </a:solidFill>
                <a:latin typeface="Consolas"/>
              </a:rPr>
              <a:t>32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2075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Explain in one sentence each how bagging and boosting reduce error, and which component of error each targets.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15  ·  Feature Engineering and Ensembles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100  ·  answers in Appendix D     </a:t>
            </a:r>
            <a:fld id="{D8D57528-3B50-4499-BE6A-9ACF26B61D5F}"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Explain in one sentence each how bagging and boosting reduce error, and which component of error each targets.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Bagging averages many independently-trained models, cancelling the uncorrelated part of their error — it reduces </a:t>
            </a:r>
            <a:r>
              <a:rPr sz="2200" b="1" i="0">
                <a:solidFill>
                  <a:srgbClr val="1C252B"/>
                </a:solidFill>
                <a:latin typeface="Segoe UI"/>
              </a:rPr>
              <a:t>variance</a:t>
            </a:r>
            <a:r>
              <a:rPr sz="2200" b="0" i="0">
                <a:solidFill>
                  <a:srgbClr val="1C252B"/>
                </a:solidFill>
                <a:latin typeface="Segoe UI"/>
              </a:rPr>
              <a:t>. Boosting fits each new model to the previous one’s residuals, progressively correcting systematic error — it reduces </a:t>
            </a:r>
            <a:r>
              <a:rPr sz="2200" b="1" i="0">
                <a:solidFill>
                  <a:srgbClr val="1C252B"/>
                </a:solidFill>
                <a:latin typeface="Segoe UI"/>
              </a:rPr>
              <a:t>bias</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  answers in Appendix D     </a:t>
            </a:r>
            <a:fld id="{1AB9E84C-577C-492E-9B27-01CEF8BCD340}"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1546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a random forest sample features at each split as well as sampling rows?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15  ·  Feature Engineering and Ensembles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100  ·  answers in Appendix D     </a:t>
            </a:r>
            <a:fld id="{C7E0CDBF-4C79-4EB8-9CFB-20A51332035F}"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does a random forest sample features at each split as well as sampling rows?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Otherwise every tree would choose the same dominant feature at the root and the trees would be nearly identical. Correlated models do not average away their errors, which defeats the purpose of bagging.</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  answers in Appendix D     </a:t>
            </a:r>
            <a:fld id="{DC0773E5-54D6-4557-8B42-17AF3C925394}"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1018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tree ensemble reports </a:t>
            </a:r>
            <a:r>
              <a:rPr sz="3200" b="0" i="0">
                <a:solidFill>
                  <a:srgbClr val="FFFFFF"/>
                </a:solidFill>
                <a:latin typeface="Consolas"/>
              </a:rPr>
              <a:t>student_id</a:t>
            </a:r>
            <a:r>
              <a:rPr sz="3400" b="0" i="0">
                <a:solidFill>
                  <a:srgbClr val="FFFFFF"/>
                </a:solidFill>
                <a:latin typeface="Segoe UI Semibold"/>
              </a:rPr>
              <a:t> as the third most important feature. What has gone wrong?</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15  ·  Feature Engineering and Ensembles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100  ·  answers in Appendix D     </a:t>
            </a:r>
            <a:fld id="{8857381E-4123-4423-A526-B1A6722774D9}"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tree ensemble reports </a:t>
            </a:r>
            <a:r>
              <a:rPr sz="2250" b="0" i="0">
                <a:solidFill>
                  <a:srgbClr val="1A5276"/>
                </a:solidFill>
                <a:latin typeface="Consolas"/>
              </a:rPr>
              <a:t>student_id</a:t>
            </a:r>
            <a:r>
              <a:rPr sz="2400" b="0" i="0">
                <a:solidFill>
                  <a:srgbClr val="1A5276"/>
                </a:solidFill>
                <a:latin typeface="Segoe UI Semibold"/>
              </a:rPr>
              <a:t> as the third most important feature. What has gone wrong?</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Impurity-based importance is biased towards high-cardinality features, and an ID can perfectly separate training rows without generalising at all. It should not be a feature; use permutation importance to confirm.</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  answers in Appendix D     </a:t>
            </a:r>
            <a:fld id="{607C40EB-1DAB-4072-8947-7216140F5BB1}"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0490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C2FBE792-6EEB-4400-90DA-221EF50FFF2D}" type="slidenum">
              <a:rPr lang="en-GB" sz="1000">
                <a:solidFill>
                  <a:srgbClr val="8795A1"/>
                </a:solidFill>
                <a:latin typeface="Segoe UI"/>
              </a:rPr>
              <a:t>37</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Good features beat clever algorithms. Ratios, deltas, window aggregations, recency and trend usually outperform raw columns.</a:t>
            </a:r>
          </a:p>
        </p:txBody>
      </p:sp>
      <p:sp>
        <p:nvSpPr>
          <p:cNvPr id="10" name="!!sb1">
            <a:extLst>
              <a:ext uri="{C183D7F6-B498-43B3-948B-1728B52AA6E4}">
                <adec:decorative xmlns:adec="http://schemas.microsoft.com/office/drawing/2017/decorative" val="1"/>
              </a:ext>
            </a:extLst>
          </p:cNvPr>
          <p:cNvSpPr/>
          <p:nvPr/>
        </p:nvSpPr>
        <p:spPr>
          <a:xfrm>
            <a:off x="658368" y="25633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182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5422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Feature selection comes in filter, wrapper and embedded flavours; run it inside the cross-validation folds or it leaks.</a:t>
            </a:r>
          </a:p>
        </p:txBody>
      </p:sp>
      <p:sp>
        <p:nvSpPr>
          <p:cNvPr id="13" name="!!sb2">
            <a:extLst>
              <a:ext uri="{C183D7F6-B498-43B3-948B-1728B52AA6E4}">
                <adec:decorative xmlns:adec="http://schemas.microsoft.com/office/drawing/2017/decorative" val="1"/>
              </a:ext>
            </a:extLst>
          </p:cNvPr>
          <p:cNvSpPr/>
          <p:nvPr/>
        </p:nvSpPr>
        <p:spPr>
          <a:xfrm>
            <a:off x="658368" y="338023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3509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71088"/>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Ensembles work because member models make different mistakes.</a:t>
            </a:r>
          </a:p>
        </p:txBody>
      </p:sp>
      <p:sp>
        <p:nvSpPr>
          <p:cNvPr id="16" name="!!sb3">
            <a:extLst>
              <a:ext uri="{C183D7F6-B498-43B3-948B-1728B52AA6E4}">
                <adec:decorative xmlns:adec="http://schemas.microsoft.com/office/drawing/2017/decorative" val="1"/>
              </a:ext>
            </a:extLst>
          </p:cNvPr>
          <p:cNvSpPr/>
          <p:nvPr/>
        </p:nvSpPr>
        <p:spPr>
          <a:xfrm>
            <a:off x="658368" y="396544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2031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5630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Bagging (random forest) trains in parallel and reduces variance; boosting trains sequentially on residuals and reduces bias.</a:t>
            </a:r>
          </a:p>
        </p:txBody>
      </p:sp>
      <p:sp>
        <p:nvSpPr>
          <p:cNvPr id="19" name="!!sb4">
            <a:extLst>
              <a:ext uri="{C183D7F6-B498-43B3-948B-1728B52AA6E4}">
                <adec:decorative xmlns:adec="http://schemas.microsoft.com/office/drawing/2017/decorative" val="1"/>
              </a:ext>
            </a:extLst>
          </p:cNvPr>
          <p:cNvSpPr/>
          <p:nvPr/>
        </p:nvSpPr>
        <p:spPr>
          <a:xfrm>
            <a:off x="658368" y="47823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371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73168"/>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Random forest is the forgiving default; gradient boosting usually wins on tabular data but needs tuning and early stopping.</a:t>
            </a:r>
          </a:p>
        </p:txBody>
      </p:sp>
      <p:sp>
        <p:nvSpPr>
          <p:cNvPr id="22" name="!!sb5">
            <a:extLst>
              <a:ext uri="{C183D7F6-B498-43B3-948B-1728B52AA6E4}">
                <adec:decorative xmlns:adec="http://schemas.microsoft.com/office/drawing/2017/decorative" val="1"/>
              </a:ext>
            </a:extLst>
          </p:cNvPr>
          <p:cNvSpPr/>
          <p:nvPr/>
        </p:nvSpPr>
        <p:spPr>
          <a:xfrm>
            <a:off x="658368" y="559917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65404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90032"/>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Use permutation importance, and remember importance is neither causation nor a licence to act.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0226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274EBE99-F3D3-4997-A2A8-82A65E42BBF2}"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Boosting principally reduces: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variance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bias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leakage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dimensionality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9961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546A0DDC-BC56-4F75-8A7D-FC565CE90803}"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requires no feature scaling?</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SVM</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k-NN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random forest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ridge regression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9697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15  ·  Feature Engineering and Ensembles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842C3C3E-933D-4F69-94C0-632CC52F4372}" type="slidenum">
              <a:rPr lang="en-GB" sz="1000">
                <a:solidFill>
                  <a:srgbClr val="8795A1"/>
                </a:solidFill>
                <a:latin typeface="Segoe UI"/>
              </a:rPr>
              <a:t>40</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curse of dimensionality and its effect on distance-based methods.</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can two features that are individually useless be jointly decisive, and which selection family would miss this?</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two reasons to prefer permutation importance over impurity-based importance.</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 have one row per network connection with columns </a:t>
            </a:r>
            <a:r>
              <a:rPr sz="1800" b="0" i="0">
                <a:solidFill>
                  <a:srgbClr val="1F4E79"/>
                </a:solidFill>
                <a:latin typeface="Consolas"/>
              </a:rPr>
              <a:t>src_ip</a:t>
            </a:r>
            <a:r>
              <a:rPr sz="1900" b="0" i="0">
                <a:solidFill>
                  <a:srgbClr val="1C252B"/>
                </a:solidFill>
                <a:latin typeface="Segoe UI"/>
              </a:rPr>
              <a:t>, </a:t>
            </a:r>
            <a:r>
              <a:rPr sz="1800" b="0" i="0">
                <a:solidFill>
                  <a:srgbClr val="1F4E79"/>
                </a:solidFill>
                <a:latin typeface="Consolas"/>
              </a:rPr>
              <a:t>dst_port</a:t>
            </a:r>
            <a:r>
              <a:rPr sz="1900" b="0" i="0">
                <a:solidFill>
                  <a:srgbClr val="1C252B"/>
                </a:solidFill>
                <a:latin typeface="Segoe UI"/>
              </a:rPr>
              <a:t>, </a:t>
            </a:r>
            <a:r>
              <a:rPr sz="1800" b="0" i="0">
                <a:solidFill>
                  <a:srgbClr val="1F4E79"/>
                </a:solidFill>
                <a:latin typeface="Consolas"/>
              </a:rPr>
              <a:t>bytes_in</a:t>
            </a:r>
            <a:r>
              <a:rPr sz="1900" b="0" i="0">
                <a:solidFill>
                  <a:srgbClr val="1C252B"/>
                </a:solidFill>
                <a:latin typeface="Segoe UI"/>
              </a:rPr>
              <a:t>, </a:t>
            </a:r>
            <a:r>
              <a:rPr sz="1800" b="0" i="0">
                <a:solidFill>
                  <a:srgbClr val="1F4E79"/>
                </a:solidFill>
                <a:latin typeface="Consolas"/>
              </a:rPr>
              <a:t>bytes_out</a:t>
            </a:r>
            <a:r>
              <a:rPr sz="1900" b="0" i="0">
                <a:solidFill>
                  <a:srgbClr val="1C252B"/>
                </a:solidFill>
                <a:latin typeface="Segoe UI"/>
              </a:rPr>
              <a:t>, </a:t>
            </a:r>
            <a:r>
              <a:rPr sz="1800" b="0" i="0">
                <a:solidFill>
                  <a:srgbClr val="1F4E79"/>
                </a:solidFill>
                <a:latin typeface="Consolas"/>
              </a:rPr>
              <a:t>timestamp</a:t>
            </a:r>
            <a:r>
              <a:rPr sz="1900" b="0" i="0">
                <a:solidFill>
                  <a:srgbClr val="1C252B"/>
                </a:solidFill>
                <a:latin typeface="Segoe UI"/>
              </a:rPr>
              <a:t>. Engineer eight features for detecting compromised hosts, and say what each is meant to capture.</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team’s random forest scores PR-AUC 0.71 and their gradient boosting machine 0.74 after two weeks of tuning. Advise them, referring to effort, maintenance and the success criterion.</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9433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15</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15</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16 — Unsupervised Learning and Anomaly Detection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15, pages 95–100</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Engineer, ensemble, interpret; cluster &amp; detect</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2 set</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15  ·  Feature Engineering and Ensembles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5CA4B1E2-2635-4510-A492-F2E3F7A170AA}"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15: Feature Engineering and Ensembles</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