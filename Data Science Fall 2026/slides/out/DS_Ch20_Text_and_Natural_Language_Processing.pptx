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9.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2.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3.svg" ContentType="image/svg+xml"/>
  <Override PartName="/ppt/media/image8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6262E73-6E0C-4CB1-8A20-2F74D01654D5}">
          <p14:sldIdLst>
            <p14:sldId id="256"/>
            <p14:sldId id="257"/>
            <p14:sldId id="258"/>
            <p14:sldId id="259"/>
            <p14:sldId id="260"/>
          </p14:sldIdLst>
        </p14:section>
        <p14:section name="20.1 Turning Words into Numbers" id="{427B06AA-54DD-43C8-B26A-27F6AD5D6369}">
          <p14:sldIdLst>
            <p14:sldId id="261"/>
          </p14:sldIdLst>
        </p14:section>
        <p14:section name="20.2 Bag of Words and TF-IDF" id="{FFF75C5A-2D60-4C62-88D3-F5962EBDC5AC}">
          <p14:sldIdLst>
            <p14:sldId id="262"/>
            <p14:sldId id="263"/>
            <p14:sldId id="264"/>
            <p14:sldId id="265"/>
            <p14:sldId id="266"/>
          </p14:sldIdLst>
        </p14:section>
        <p14:section name="20.3 From Sparse to Dense" id="{DF6348E2-38D8-49F0-91E9-E4223A4A9E07}">
          <p14:sldIdLst>
            <p14:sldId id="267"/>
            <p14:sldId id="268"/>
            <p14:sldId id="269"/>
            <p14:sldId id="270"/>
            <p14:sldId id="271"/>
          </p14:sldIdLst>
        </p14:section>
        <p14:section name="20.4 Topic Modelling" id="{2C8502B6-5091-4BCF-A551-00CC64635FDF}">
          <p14:sldIdLst>
            <p14:sldId id="272"/>
            <p14:sldId id="273"/>
            <p14:sldId id="274"/>
          </p14:sldIdLst>
        </p14:section>
        <p14:section name="Four lenses" id="{C3A787DE-0578-40D6-8DA3-2CF39301E116}">
          <p14:sldIdLst>
            <p14:sldId id="275"/>
            <p14:sldId id="276"/>
            <p14:sldId id="277"/>
            <p14:sldId id="278"/>
            <p14:sldId id="279"/>
          </p14:sldIdLst>
        </p14:section>
        <p14:section name="Lab" id="{5E52D1FF-5E12-4330-9BBA-B9DC92700477}">
          <p14:sldIdLst>
            <p14:sldId id="280"/>
            <p14:sldId id="281"/>
            <p14:sldId id="282"/>
            <p14:sldId id="283"/>
            <p14:sldId id="284"/>
          </p14:sldIdLst>
        </p14:section>
        <p14:section name="Checkpoint" id="{F87A1B2D-ED49-4FFB-8F88-E6876E11E10E}">
          <p14:sldIdLst>
            <p14:sldId id="285"/>
            <p14:sldId id="286"/>
            <p14:sldId id="287"/>
            <p14:sldId id="288"/>
            <p14:sldId id="289"/>
            <p14:sldId id="290"/>
          </p14:sldIdLst>
        </p14:section>
        <p14:section name="Wrap-up" id="{6C39FF42-D69C-484B-B6AB-2411D8733210}">
          <p14:sldIdLst>
            <p14:sldId id="291"/>
            <p14:sldId id="292"/>
            <p14:sldId id="293"/>
            <p14:sldId id="294"/>
            <p14:sldId id="2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20: Text and Natural Language Processing. Part 4 — Deep Learning and Modern AI. Week 12: Time series; text and NLP. Handout pages 129–133.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4 (cosine similarity — the standard text metric), Chapter 13 (naive Bayes) and Chapter 18 (embeddings and attention).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corpus; token; tokenisation; stop words; stemming; lemmatisation; bag of words; n-gram; term frequency; inverse document frequency; TF-IDF; sparse vs dense; word embedding; contextual embedding; topic modelling; named entity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in this book consumes an n × p matrix of numbers (Figure 4.1). Text is not that. The entire first half of natural language processing is the problem of producing that matrix without throwing away the meaning.</a:t>
            </a:r>
          </a:p>
          <a:p/>
          <a:p>
            <a:r>
              <a:t>Figure 20.1 (handout p. 129): The classical text preprocessing pipeline. Modern transformer models skip most of steps 2–5, using subword tokenisation directly — but the classical pipeline is still what you want for fast, explainable, low-resource classifiers.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20.2 (handout p. 131): Sparse versus dense text representations. TF-IDF is interpretable but has no concept of synonymy; embeddings capture meaning but no single dimension means anything you can name.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20.3 (handout p. 131): Output of a four-topic LDA on IT support tickets. Three topics are useful; the fourth is a statistical artefact. Never present topic model output without human inspection.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Analyse free-text reflections, forum posts and module feedback. Sentiment and topic trends across a semester reveal problems that numeric engagement data misses entirely — a cohort can be clicking dutifully and telling you in prose that they are lost. Two cautions: student writing is identifiable even after anonymisation, and automated sentiment scoring of individuals is an ethical decision, not a technical one (Chapter 28).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Classify support tickets and requirement documents automatically, and mine retrospective notes for recurring themes. TF-IDF plus logistic regression is usually sufficient and takes an afternoon; it is also explainable, which matters when the classifier is routing work to people. Topic modelling over several years of retrospectives is a genuinely useful way to find problems the organisation keeps re-discovering.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Text appears where you might not expect it: device logs, error strings and maintenance notes. Treating log lines as text — tokenising, then clustering templates — turns an unmanageable stream into a manageable set of message types, and a new template appearing is itself an anomaly signal. Engineers’ free-text maintenance records are often the only ground-truth labels available for predictive maintenance (Chapter 25).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Phishing and spam detection is the classic application: naive Bayes on TF-IDF remains fast enough for mail-gateway volumes and is still competitive. Beyond that, text classification applies to malware strings, command-line arguments and DNS names. Note the adversarial character: spammers deliberately misspell, insert homoglyphs and pad with innocuous text specifically to defeat tokenisation — so preprocessing choices here are a security control, not a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A strong, explainable text classifier in four lines.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WHY did it decide that? the great virtue of this approach.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Topic modelling: ALWAYS read the topics before believing them.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log(N/N) = log 1 = 0, so its TF-IDF score is zero regardless of how often it appears. IDF removes uninformative words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system is not vulnerable” becomes “system vulnerable” once not is removed as a stop word — an exact reversal. Bigrams or a curated stop-word list avoid this.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bag-of-words dimensions correspond to exact strings, and “server” and “host” are simply different strings. Dense embeddings, which place words used in similar contexts near each other, fix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21 — Generative AI and Large Language Models. READ: Handout Chapter 20, pages 129–133. THIS WEEK'S LAB: Decompose &amp; walk-forward; TF-IDF classifier. ASSESSMENT: Assignment 2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5.svg"/><Relationship Id="rId4" Type="http://schemas.openxmlformats.org/officeDocument/2006/relationships/image" Target="../media/image16.png"/><Relationship Id="rId5" Type="http://schemas.openxmlformats.org/officeDocument/2006/relationships/image" Target="../media/image17.sv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20.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3.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8.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image" Target="../media/image35.png"/><Relationship Id="rId7" Type="http://schemas.openxmlformats.org/officeDocument/2006/relationships/image" Target="../media/image36.svg"/><Relationship Id="rId8" Type="http://schemas.openxmlformats.org/officeDocument/2006/relationships/image" Target="../media/image37.png"/><Relationship Id="rId9" Type="http://schemas.openxmlformats.org/officeDocument/2006/relationships/image" Target="../media/image38.svg"/><Relationship Id="rId10" Type="http://schemas.openxmlformats.org/officeDocument/2006/relationships/image" Target="../media/image39.png"/><Relationship Id="rId11" Type="http://schemas.openxmlformats.org/officeDocument/2006/relationships/image" Target="../media/image40.svg"/><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image" Target="../media/image33.png"/><Relationship Id="rId5" Type="http://schemas.openxmlformats.org/officeDocument/2006/relationships/image" Target="../media/image43.svg"/><Relationship Id="rId6" Type="http://schemas.openxmlformats.org/officeDocument/2006/relationships/image" Target="../media/image35.png"/><Relationship Id="rId7" Type="http://schemas.openxmlformats.org/officeDocument/2006/relationships/image" Target="../media/image44.svg"/><Relationship Id="rId8" Type="http://schemas.openxmlformats.org/officeDocument/2006/relationships/image" Target="../media/image37.png"/><Relationship Id="rId9" Type="http://schemas.openxmlformats.org/officeDocument/2006/relationships/image" Target="../media/image45.svg"/><Relationship Id="rId10" Type="http://schemas.openxmlformats.org/officeDocument/2006/relationships/image" Target="../media/image39.png"/><Relationship Id="rId11" Type="http://schemas.openxmlformats.org/officeDocument/2006/relationships/image" Target="../media/image46.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image" Target="../media/image35.png"/><Relationship Id="rId5" Type="http://schemas.openxmlformats.org/officeDocument/2006/relationships/image" Target="../media/image49.svg"/><Relationship Id="rId6" Type="http://schemas.openxmlformats.org/officeDocument/2006/relationships/image" Target="../media/image33.png"/><Relationship Id="rId7" Type="http://schemas.openxmlformats.org/officeDocument/2006/relationships/image" Target="../media/image50.svg"/><Relationship Id="rId8" Type="http://schemas.openxmlformats.org/officeDocument/2006/relationships/image" Target="../media/image37.png"/><Relationship Id="rId9" Type="http://schemas.openxmlformats.org/officeDocument/2006/relationships/image" Target="../media/image51.svg"/><Relationship Id="rId10" Type="http://schemas.openxmlformats.org/officeDocument/2006/relationships/image" Target="../media/image39.png"/><Relationship Id="rId11" Type="http://schemas.openxmlformats.org/officeDocument/2006/relationships/image" Target="../media/image52.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image" Target="../media/image37.png"/><Relationship Id="rId5" Type="http://schemas.openxmlformats.org/officeDocument/2006/relationships/image" Target="../media/image55.svg"/><Relationship Id="rId6" Type="http://schemas.openxmlformats.org/officeDocument/2006/relationships/image" Target="../media/image33.png"/><Relationship Id="rId7" Type="http://schemas.openxmlformats.org/officeDocument/2006/relationships/image" Target="../media/image56.svg"/><Relationship Id="rId8" Type="http://schemas.openxmlformats.org/officeDocument/2006/relationships/image" Target="../media/image35.png"/><Relationship Id="rId9" Type="http://schemas.openxmlformats.org/officeDocument/2006/relationships/image" Target="../media/image57.svg"/><Relationship Id="rId10" Type="http://schemas.openxmlformats.org/officeDocument/2006/relationships/image" Target="../media/image39.png"/><Relationship Id="rId11" Type="http://schemas.openxmlformats.org/officeDocument/2006/relationships/image" Target="../media/image58.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image" Target="../media/image39.png"/><Relationship Id="rId5" Type="http://schemas.openxmlformats.org/officeDocument/2006/relationships/image" Target="../media/image61.svg"/><Relationship Id="rId6" Type="http://schemas.openxmlformats.org/officeDocument/2006/relationships/image" Target="../media/image33.png"/><Relationship Id="rId7" Type="http://schemas.openxmlformats.org/officeDocument/2006/relationships/image" Target="../media/image62.svg"/><Relationship Id="rId8" Type="http://schemas.openxmlformats.org/officeDocument/2006/relationships/image" Target="../media/image35.png"/><Relationship Id="rId9" Type="http://schemas.openxmlformats.org/officeDocument/2006/relationships/image" Target="../media/image63.svg"/><Relationship Id="rId10" Type="http://schemas.openxmlformats.org/officeDocument/2006/relationships/image" Target="../media/image37.png"/><Relationship Id="rId11" Type="http://schemas.openxmlformats.org/officeDocument/2006/relationships/image" Target="../media/image64.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7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2.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20</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Text and Natural Language Processing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DEEP LEARNING AND MODERN AI</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20  ·  WEEK 12</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129     </a:t>
            </a:r>
            <a:fld id="{02FE3664-EF4A-4807-A2CD-C5B7CD141E52}"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94532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945328"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34966"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934966"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4932430"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Text and Natural Language Processing</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4  </a:t>
            </a:r>
            <a:r>
              <a:rPr sz="1400" b="0" i="0">
                <a:solidFill>
                  <a:srgbClr val="1C252B"/>
                </a:solidFill>
                <a:latin typeface="Segoe UI"/>
              </a:rPr>
              <a:t>The Mathematical Toolkit</a:t>
            </a:r>
          </a:p>
        </p:txBody>
      </p:sp>
      <p:sp>
        <p:nvSpPr>
          <p:cNvPr id="88" name="!!chipBU13">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13">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13"/>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Supervised Learning II: Classification</a:t>
            </a:r>
          </a:p>
        </p:txBody>
      </p:sp>
      <p:sp>
        <p:nvSpPr>
          <p:cNvPr id="91" name="!!chipBU18">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18">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18"/>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18  </a:t>
            </a:r>
            <a:r>
              <a:rPr sz="1400" b="0" i="0">
                <a:solidFill>
                  <a:srgbClr val="1C252B"/>
                </a:solidFill>
                <a:latin typeface="Segoe UI"/>
              </a:rPr>
              <a:t>Deep Architectures</a:t>
            </a:r>
          </a:p>
        </p:txBody>
      </p:sp>
      <p:sp>
        <p:nvSpPr>
          <p:cNvPr id="9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5" name="!!chipUS21">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21">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21"/>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21  </a:t>
            </a:r>
            <a:r>
              <a:rPr sz="1400" b="0" i="0">
                <a:solidFill>
                  <a:srgbClr val="1C252B"/>
                </a:solidFill>
                <a:latin typeface="Segoe UI"/>
              </a:rPr>
              <a:t>Generative AI and Large Language Models</a:t>
            </a:r>
          </a:p>
        </p:txBody>
      </p:sp>
      <p:sp>
        <p:nvSpPr>
          <p:cNvPr id="9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pfill">
            <a:extLst>
              <a:ext uri="{C183D7F6-B498-43B3-948B-1728B52AA6E4}">
                <adec:decorative xmlns:adec="http://schemas.microsoft.com/office/drawing/2017/decorative" val="1"/>
              </a:ext>
            </a:extLst>
          </p:cNvPr>
          <p:cNvSpPr/>
          <p:nvPr/>
        </p:nvSpPr>
        <p:spPr>
          <a:xfrm>
            <a:off x="0" y="0"/>
            <a:ext cx="6095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129     </a:t>
            </a:r>
            <a:fld id="{8EE6DC83-3D01-4B5A-8C35-20ABE37721E1}"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Apply</a:t>
            </a:r>
            <a:r>
              <a:rPr sz="2100" b="0" i="0">
                <a:solidFill>
                  <a:srgbClr val="1C252B"/>
                </a:solidFill>
                <a:latin typeface="Segoe UI"/>
              </a:rPr>
              <a:t> the standard text preprocessing pipeline and justify each step.</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Compute</a:t>
            </a:r>
            <a:r>
              <a:rPr sz="2100" b="0" i="0">
                <a:solidFill>
                  <a:srgbClr val="1C252B"/>
                </a:solidFill>
                <a:latin typeface="Segoe UI"/>
              </a:rPr>
              <a:t> TF-IDF and explain what it measures.</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70148"/>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Distinguish</a:t>
            </a:r>
            <a:r>
              <a:rPr sz="2100" b="0" i="0">
                <a:solidFill>
                  <a:srgbClr val="1C252B"/>
                </a:solidFill>
                <a:latin typeface="Segoe UI"/>
              </a:rPr>
              <a:t> sparse bag-of-words representations from dense embeddings.</a:t>
            </a:r>
          </a:p>
        </p:txBody>
      </p:sp>
      <p:sp>
        <p:nvSpPr>
          <p:cNvPr id="17" name="!!ob3">
            <a:extLst>
              <a:ext uri="{C183D7F6-B498-43B3-948B-1728B52AA6E4}">
                <adec:decorative xmlns:adec="http://schemas.microsoft.com/office/drawing/2017/decorative" val="1"/>
              </a:ext>
            </a:extLst>
          </p:cNvPr>
          <p:cNvSpPr/>
          <p:nvPr/>
        </p:nvSpPr>
        <p:spPr>
          <a:xfrm>
            <a:off x="658368" y="4032504"/>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09194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07365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Build</a:t>
            </a:r>
            <a:r>
              <a:rPr sz="2100" b="0" i="0">
                <a:solidFill>
                  <a:srgbClr val="1C252B"/>
                </a:solidFill>
                <a:latin typeface="Segoe UI"/>
              </a:rPr>
              <a:t> a text classifier and evaluate it appropriately.</a:t>
            </a:r>
          </a:p>
        </p:txBody>
      </p:sp>
      <p:sp>
        <p:nvSpPr>
          <p:cNvPr id="20" name="!!ob4">
            <a:extLst>
              <a:ext uri="{C183D7F6-B498-43B3-948B-1728B52AA6E4}">
                <adec:decorative xmlns:adec="http://schemas.microsoft.com/office/drawing/2017/decorative" val="1"/>
              </a:ext>
            </a:extLst>
          </p:cNvPr>
          <p:cNvSpPr/>
          <p:nvPr/>
        </p:nvSpPr>
        <p:spPr>
          <a:xfrm>
            <a:off x="658368" y="4636008"/>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69544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67715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Interpret</a:t>
            </a:r>
            <a:r>
              <a:rPr sz="2100" b="0" i="0">
                <a:solidFill>
                  <a:srgbClr val="1C252B"/>
                </a:solidFill>
                <a:latin typeface="Segoe UI"/>
              </a:rPr>
              <a:t> topic model output and state its limitations.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1437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129     </a:t>
            </a:r>
            <a:fld id="{F3F6F008-D1D0-4EEC-93B9-4A8C6D9799D7}" type="slidenum">
              <a:rPr lang="en-GB" sz="1000">
                <a:solidFill>
                  <a:srgbClr val="8795A1"/>
                </a:solidFill>
                <a:latin typeface="Segoe UI"/>
              </a:rPr>
              <a:t>4</a:t>
            </a:fld>
          </a:p>
        </p:txBody>
      </p:sp>
      <p:sp>
        <p:nvSpPr>
          <p:cNvPr id="7" name="!!term-corpus">
            <a:extLst>
              <a:ext uri="{C183D7F6-B498-43B3-948B-1728B52AA6E4}">
                <adec:decorative xmlns:adec="http://schemas.microsoft.com/office/drawing/2017/decorative" val="1"/>
              </a:ext>
            </a:extLst>
          </p:cNvPr>
          <p:cNvSpPr/>
          <p:nvPr/>
        </p:nvSpPr>
        <p:spPr>
          <a:xfrm>
            <a:off x="658368" y="1847088"/>
            <a:ext cx="10553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orpus">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orpus"/>
          <p:cNvSpPr txBox="1"/>
          <p:nvPr/>
        </p:nvSpPr>
        <p:spPr>
          <a:xfrm>
            <a:off x="950976" y="1962911"/>
            <a:ext cx="87243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corpus</a:t>
            </a:r>
          </a:p>
        </p:txBody>
      </p:sp>
      <p:sp>
        <p:nvSpPr>
          <p:cNvPr id="10" name="!!term-token">
            <a:extLst>
              <a:ext uri="{C183D7F6-B498-43B3-948B-1728B52AA6E4}">
                <adec:decorative xmlns:adec="http://schemas.microsoft.com/office/drawing/2017/decorative" val="1"/>
              </a:ext>
            </a:extLst>
          </p:cNvPr>
          <p:cNvSpPr/>
          <p:nvPr/>
        </p:nvSpPr>
        <p:spPr>
          <a:xfrm>
            <a:off x="1859987" y="1847088"/>
            <a:ext cx="9592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token">
            <a:extLst>
              <a:ext uri="{C183D7F6-B498-43B3-948B-1728B52AA6E4}">
                <adec:decorative xmlns:adec="http://schemas.microsoft.com/office/drawing/2017/decorative" val="1"/>
              </a:ext>
            </a:extLst>
          </p:cNvPr>
          <p:cNvSpPr/>
          <p:nvPr/>
        </p:nvSpPr>
        <p:spPr>
          <a:xfrm>
            <a:off x="198800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token"/>
          <p:cNvSpPr txBox="1"/>
          <p:nvPr/>
        </p:nvSpPr>
        <p:spPr>
          <a:xfrm>
            <a:off x="2152595" y="1962911"/>
            <a:ext cx="77638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token</a:t>
            </a:r>
          </a:p>
        </p:txBody>
      </p:sp>
      <p:sp>
        <p:nvSpPr>
          <p:cNvPr id="13" name="!!term-tokenisation">
            <a:extLst>
              <a:ext uri="{C183D7F6-B498-43B3-948B-1728B52AA6E4}">
                <adec:decorative xmlns:adec="http://schemas.microsoft.com/office/drawing/2017/decorative" val="1"/>
              </a:ext>
            </a:extLst>
          </p:cNvPr>
          <p:cNvSpPr/>
          <p:nvPr/>
        </p:nvSpPr>
        <p:spPr>
          <a:xfrm>
            <a:off x="2965552" y="1847088"/>
            <a:ext cx="15619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okenisation">
            <a:extLst>
              <a:ext uri="{C183D7F6-B498-43B3-948B-1728B52AA6E4}">
                <adec:decorative xmlns:adec="http://schemas.microsoft.com/office/drawing/2017/decorative" val="1"/>
              </a:ext>
            </a:extLst>
          </p:cNvPr>
          <p:cNvSpPr/>
          <p:nvPr/>
        </p:nvSpPr>
        <p:spPr>
          <a:xfrm>
            <a:off x="309356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okenisation"/>
          <p:cNvSpPr txBox="1"/>
          <p:nvPr/>
        </p:nvSpPr>
        <p:spPr>
          <a:xfrm>
            <a:off x="3258160" y="1962911"/>
            <a:ext cx="137910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tokenisation</a:t>
            </a:r>
          </a:p>
        </p:txBody>
      </p:sp>
      <p:sp>
        <p:nvSpPr>
          <p:cNvPr id="16" name="!!term-stop words">
            <a:extLst>
              <a:ext uri="{C183D7F6-B498-43B3-948B-1728B52AA6E4}">
                <adec:decorative xmlns:adec="http://schemas.microsoft.com/office/drawing/2017/decorative" val="1"/>
              </a:ext>
            </a:extLst>
          </p:cNvPr>
          <p:cNvSpPr/>
          <p:nvPr/>
        </p:nvSpPr>
        <p:spPr>
          <a:xfrm>
            <a:off x="4673841" y="1847088"/>
            <a:ext cx="14504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stop words">
            <a:extLst>
              <a:ext uri="{C183D7F6-B498-43B3-948B-1728B52AA6E4}">
                <adec:decorative xmlns:adec="http://schemas.microsoft.com/office/drawing/2017/decorative" val="1"/>
              </a:ext>
            </a:extLst>
          </p:cNvPr>
          <p:cNvSpPr/>
          <p:nvPr/>
        </p:nvSpPr>
        <p:spPr>
          <a:xfrm>
            <a:off x="480185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stop words"/>
          <p:cNvSpPr txBox="1"/>
          <p:nvPr/>
        </p:nvSpPr>
        <p:spPr>
          <a:xfrm>
            <a:off x="4966449" y="1962911"/>
            <a:ext cx="126760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stop words</a:t>
            </a:r>
          </a:p>
        </p:txBody>
      </p:sp>
      <p:sp>
        <p:nvSpPr>
          <p:cNvPr id="19" name="!!term-stemming">
            <a:extLst>
              <a:ext uri="{C183D7F6-B498-43B3-948B-1728B52AA6E4}">
                <adec:decorative xmlns:adec="http://schemas.microsoft.com/office/drawing/2017/decorative" val="1"/>
              </a:ext>
            </a:extLst>
          </p:cNvPr>
          <p:cNvSpPr/>
          <p:nvPr/>
        </p:nvSpPr>
        <p:spPr>
          <a:xfrm>
            <a:off x="6270635" y="1847088"/>
            <a:ext cx="13518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stemming">
            <a:extLst>
              <a:ext uri="{C183D7F6-B498-43B3-948B-1728B52AA6E4}">
                <adec:decorative xmlns:adec="http://schemas.microsoft.com/office/drawing/2017/decorative" val="1"/>
              </a:ext>
            </a:extLst>
          </p:cNvPr>
          <p:cNvSpPr/>
          <p:nvPr/>
        </p:nvSpPr>
        <p:spPr>
          <a:xfrm>
            <a:off x="63986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stemming"/>
          <p:cNvSpPr txBox="1"/>
          <p:nvPr/>
        </p:nvSpPr>
        <p:spPr>
          <a:xfrm>
            <a:off x="6563243" y="1962911"/>
            <a:ext cx="116900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stemming</a:t>
            </a:r>
          </a:p>
        </p:txBody>
      </p:sp>
      <p:sp>
        <p:nvSpPr>
          <p:cNvPr id="22" name="!!term-lemmatisation">
            <a:extLst>
              <a:ext uri="{C183D7F6-B498-43B3-948B-1728B52AA6E4}">
                <adec:decorative xmlns:adec="http://schemas.microsoft.com/office/drawing/2017/decorative" val="1"/>
              </a:ext>
            </a:extLst>
          </p:cNvPr>
          <p:cNvSpPr/>
          <p:nvPr/>
        </p:nvSpPr>
        <p:spPr>
          <a:xfrm>
            <a:off x="7768823" y="1847088"/>
            <a:ext cx="17328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lemmatisation">
            <a:extLst>
              <a:ext uri="{C183D7F6-B498-43B3-948B-1728B52AA6E4}">
                <adec:decorative xmlns:adec="http://schemas.microsoft.com/office/drawing/2017/decorative" val="1"/>
              </a:ext>
            </a:extLst>
          </p:cNvPr>
          <p:cNvSpPr/>
          <p:nvPr/>
        </p:nvSpPr>
        <p:spPr>
          <a:xfrm>
            <a:off x="789683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lemmatisation"/>
          <p:cNvSpPr txBox="1"/>
          <p:nvPr/>
        </p:nvSpPr>
        <p:spPr>
          <a:xfrm>
            <a:off x="8061431" y="1962911"/>
            <a:ext cx="154998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lemmatisation</a:t>
            </a:r>
          </a:p>
        </p:txBody>
      </p:sp>
      <p:sp>
        <p:nvSpPr>
          <p:cNvPr id="25" name="!!term-bag of words">
            <a:extLst>
              <a:ext uri="{C183D7F6-B498-43B3-948B-1728B52AA6E4}">
                <adec:decorative xmlns:adec="http://schemas.microsoft.com/office/drawing/2017/decorative" val="1"/>
              </a:ext>
            </a:extLst>
          </p:cNvPr>
          <p:cNvSpPr/>
          <p:nvPr/>
        </p:nvSpPr>
        <p:spPr>
          <a:xfrm>
            <a:off x="9647988" y="1847088"/>
            <a:ext cx="16415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bag of words">
            <a:extLst>
              <a:ext uri="{C183D7F6-B498-43B3-948B-1728B52AA6E4}">
                <adec:decorative xmlns:adec="http://schemas.microsoft.com/office/drawing/2017/decorative" val="1"/>
              </a:ext>
            </a:extLst>
          </p:cNvPr>
          <p:cNvSpPr/>
          <p:nvPr/>
        </p:nvSpPr>
        <p:spPr>
          <a:xfrm>
            <a:off x="977600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bag of words"/>
          <p:cNvSpPr txBox="1"/>
          <p:nvPr/>
        </p:nvSpPr>
        <p:spPr>
          <a:xfrm>
            <a:off x="9940596" y="1962911"/>
            <a:ext cx="145863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bag of words</a:t>
            </a:r>
          </a:p>
        </p:txBody>
      </p:sp>
      <p:sp>
        <p:nvSpPr>
          <p:cNvPr id="28" name="!!term-n-gram">
            <a:extLst>
              <a:ext uri="{C183D7F6-B498-43B3-948B-1728B52AA6E4}">
                <adec:decorative xmlns:adec="http://schemas.microsoft.com/office/drawing/2017/decorative" val="1"/>
              </a:ext>
            </a:extLst>
          </p:cNvPr>
          <p:cNvSpPr/>
          <p:nvPr/>
        </p:nvSpPr>
        <p:spPr>
          <a:xfrm>
            <a:off x="658368" y="2468880"/>
            <a:ext cx="11172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n-gram">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n-gram"/>
          <p:cNvSpPr txBox="1"/>
          <p:nvPr/>
        </p:nvSpPr>
        <p:spPr>
          <a:xfrm>
            <a:off x="950976" y="2584704"/>
            <a:ext cx="93440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n-gram</a:t>
            </a:r>
          </a:p>
        </p:txBody>
      </p:sp>
      <p:sp>
        <p:nvSpPr>
          <p:cNvPr id="31" name="!!term-term frequency">
            <a:extLst>
              <a:ext uri="{C183D7F6-B498-43B3-948B-1728B52AA6E4}">
                <adec:decorative xmlns:adec="http://schemas.microsoft.com/office/drawing/2017/decorative" val="1"/>
              </a:ext>
            </a:extLst>
          </p:cNvPr>
          <p:cNvSpPr/>
          <p:nvPr/>
        </p:nvSpPr>
        <p:spPr>
          <a:xfrm>
            <a:off x="1921959" y="2468880"/>
            <a:ext cx="18314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term frequency">
            <a:extLst>
              <a:ext uri="{C183D7F6-B498-43B3-948B-1728B52AA6E4}">
                <adec:decorative xmlns:adec="http://schemas.microsoft.com/office/drawing/2017/decorative" val="1"/>
              </a:ext>
            </a:extLst>
          </p:cNvPr>
          <p:cNvSpPr/>
          <p:nvPr/>
        </p:nvSpPr>
        <p:spPr>
          <a:xfrm>
            <a:off x="204997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term frequency"/>
          <p:cNvSpPr txBox="1"/>
          <p:nvPr/>
        </p:nvSpPr>
        <p:spPr>
          <a:xfrm>
            <a:off x="2214567" y="2584704"/>
            <a:ext cx="164856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term frequency</a:t>
            </a:r>
          </a:p>
        </p:txBody>
      </p:sp>
      <p:sp>
        <p:nvSpPr>
          <p:cNvPr id="34" name="!!term-inverse docume">
            <a:extLst>
              <a:ext uri="{C183D7F6-B498-43B3-948B-1728B52AA6E4}">
                <adec:decorative xmlns:adec="http://schemas.microsoft.com/office/drawing/2017/decorative" val="1"/>
              </a:ext>
            </a:extLst>
          </p:cNvPr>
          <p:cNvSpPr/>
          <p:nvPr/>
        </p:nvSpPr>
        <p:spPr>
          <a:xfrm>
            <a:off x="3899707" y="2468880"/>
            <a:ext cx="30336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inverse docume">
            <a:extLst>
              <a:ext uri="{C183D7F6-B498-43B3-948B-1728B52AA6E4}">
                <adec:decorative xmlns:adec="http://schemas.microsoft.com/office/drawing/2017/decorative" val="1"/>
              </a:ext>
            </a:extLst>
          </p:cNvPr>
          <p:cNvSpPr/>
          <p:nvPr/>
        </p:nvSpPr>
        <p:spPr>
          <a:xfrm>
            <a:off x="40277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inverse docume"/>
          <p:cNvSpPr txBox="1"/>
          <p:nvPr/>
        </p:nvSpPr>
        <p:spPr>
          <a:xfrm>
            <a:off x="4192315" y="2584704"/>
            <a:ext cx="28507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inverse document frequency</a:t>
            </a:r>
          </a:p>
        </p:txBody>
      </p:sp>
      <p:sp>
        <p:nvSpPr>
          <p:cNvPr id="37" name="!!term-TF-IDF">
            <a:extLst>
              <a:ext uri="{C183D7F6-B498-43B3-948B-1728B52AA6E4}">
                <adec:decorative xmlns:adec="http://schemas.microsoft.com/office/drawing/2017/decorative" val="1"/>
              </a:ext>
            </a:extLst>
          </p:cNvPr>
          <p:cNvSpPr/>
          <p:nvPr/>
        </p:nvSpPr>
        <p:spPr>
          <a:xfrm>
            <a:off x="7079622" y="2468880"/>
            <a:ext cx="10331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TF-IDF">
            <a:extLst>
              <a:ext uri="{C183D7F6-B498-43B3-948B-1728B52AA6E4}">
                <adec:decorative xmlns:adec="http://schemas.microsoft.com/office/drawing/2017/decorative" val="1"/>
              </a:ext>
            </a:extLst>
          </p:cNvPr>
          <p:cNvSpPr/>
          <p:nvPr/>
        </p:nvSpPr>
        <p:spPr>
          <a:xfrm>
            <a:off x="720763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TF-IDF"/>
          <p:cNvSpPr txBox="1"/>
          <p:nvPr/>
        </p:nvSpPr>
        <p:spPr>
          <a:xfrm>
            <a:off x="7372230" y="2584704"/>
            <a:ext cx="8502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TF-IDF</a:t>
            </a:r>
          </a:p>
        </p:txBody>
      </p:sp>
      <p:sp>
        <p:nvSpPr>
          <p:cNvPr id="40" name="!!term-sparse vs dens">
            <a:extLst>
              <a:ext uri="{C183D7F6-B498-43B3-948B-1728B52AA6E4}">
                <adec:decorative xmlns:adec="http://schemas.microsoft.com/office/drawing/2017/decorative" val="1"/>
              </a:ext>
            </a:extLst>
          </p:cNvPr>
          <p:cNvSpPr/>
          <p:nvPr/>
        </p:nvSpPr>
        <p:spPr>
          <a:xfrm>
            <a:off x="8259064" y="2468880"/>
            <a:ext cx="18673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sparse vs dens">
            <a:extLst>
              <a:ext uri="{C183D7F6-B498-43B3-948B-1728B52AA6E4}">
                <adec:decorative xmlns:adec="http://schemas.microsoft.com/office/drawing/2017/decorative" val="1"/>
              </a:ext>
            </a:extLst>
          </p:cNvPr>
          <p:cNvSpPr/>
          <p:nvPr/>
        </p:nvSpPr>
        <p:spPr>
          <a:xfrm>
            <a:off x="838708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sparse vs dens"/>
          <p:cNvSpPr txBox="1"/>
          <p:nvPr/>
        </p:nvSpPr>
        <p:spPr>
          <a:xfrm>
            <a:off x="8551672" y="2584704"/>
            <a:ext cx="168447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sparse vs dense</a:t>
            </a:r>
          </a:p>
        </p:txBody>
      </p:sp>
      <p:sp>
        <p:nvSpPr>
          <p:cNvPr id="43" name="!!term-word embedding">
            <a:extLst>
              <a:ext uri="{C183D7F6-B498-43B3-948B-1728B52AA6E4}">
                <adec:decorative xmlns:adec="http://schemas.microsoft.com/office/drawing/2017/decorative" val="1"/>
              </a:ext>
            </a:extLst>
          </p:cNvPr>
          <p:cNvSpPr/>
          <p:nvPr/>
        </p:nvSpPr>
        <p:spPr>
          <a:xfrm>
            <a:off x="658368" y="3090672"/>
            <a:ext cx="20119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word embedding">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word embedding"/>
          <p:cNvSpPr txBox="1"/>
          <p:nvPr/>
        </p:nvSpPr>
        <p:spPr>
          <a:xfrm>
            <a:off x="950976" y="3206496"/>
            <a:ext cx="18291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word embedding</a:t>
            </a:r>
          </a:p>
        </p:txBody>
      </p:sp>
      <p:sp>
        <p:nvSpPr>
          <p:cNvPr id="46" name="!!term-contextual emb">
            <a:extLst>
              <a:ext uri="{C183D7F6-B498-43B3-948B-1728B52AA6E4}">
                <adec:decorative xmlns:adec="http://schemas.microsoft.com/office/drawing/2017/decorative" val="1"/>
              </a:ext>
            </a:extLst>
          </p:cNvPr>
          <p:cNvSpPr/>
          <p:nvPr/>
        </p:nvSpPr>
        <p:spPr>
          <a:xfrm>
            <a:off x="2816665" y="3090672"/>
            <a:ext cx="24980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contextual emb">
            <a:extLst>
              <a:ext uri="{C183D7F6-B498-43B3-948B-1728B52AA6E4}">
                <adec:decorative xmlns:adec="http://schemas.microsoft.com/office/drawing/2017/decorative" val="1"/>
              </a:ext>
            </a:extLst>
          </p:cNvPr>
          <p:cNvSpPr/>
          <p:nvPr/>
        </p:nvSpPr>
        <p:spPr>
          <a:xfrm>
            <a:off x="294468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contextual emb"/>
          <p:cNvSpPr txBox="1"/>
          <p:nvPr/>
        </p:nvSpPr>
        <p:spPr>
          <a:xfrm>
            <a:off x="3109273" y="3206496"/>
            <a:ext cx="231517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contextual embedding</a:t>
            </a:r>
          </a:p>
        </p:txBody>
      </p:sp>
      <p:sp>
        <p:nvSpPr>
          <p:cNvPr id="49" name="!!term-topic modellin">
            <a:extLst>
              <a:ext uri="{C183D7F6-B498-43B3-948B-1728B52AA6E4}">
                <adec:decorative xmlns:adec="http://schemas.microsoft.com/office/drawing/2017/decorative" val="1"/>
              </a:ext>
            </a:extLst>
          </p:cNvPr>
          <p:cNvSpPr/>
          <p:nvPr/>
        </p:nvSpPr>
        <p:spPr>
          <a:xfrm>
            <a:off x="5461023" y="3090672"/>
            <a:ext cx="18754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topic modellin">
            <a:extLst>
              <a:ext uri="{C183D7F6-B498-43B3-948B-1728B52AA6E4}">
                <adec:decorative xmlns:adec="http://schemas.microsoft.com/office/drawing/2017/decorative" val="1"/>
              </a:ext>
            </a:extLst>
          </p:cNvPr>
          <p:cNvSpPr/>
          <p:nvPr/>
        </p:nvSpPr>
        <p:spPr>
          <a:xfrm>
            <a:off x="558903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topic modellin"/>
          <p:cNvSpPr txBox="1"/>
          <p:nvPr/>
        </p:nvSpPr>
        <p:spPr>
          <a:xfrm>
            <a:off x="5753631" y="3206496"/>
            <a:ext cx="169255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topic modelling</a:t>
            </a:r>
          </a:p>
        </p:txBody>
      </p:sp>
      <p:sp>
        <p:nvSpPr>
          <p:cNvPr id="52" name="!!term-named entity r">
            <a:extLst>
              <a:ext uri="{C183D7F6-B498-43B3-948B-1728B52AA6E4}">
                <adec:decorative xmlns:adec="http://schemas.microsoft.com/office/drawing/2017/decorative" val="1"/>
              </a:ext>
            </a:extLst>
          </p:cNvPr>
          <p:cNvSpPr/>
          <p:nvPr/>
        </p:nvSpPr>
        <p:spPr>
          <a:xfrm>
            <a:off x="7482760" y="3090672"/>
            <a:ext cx="27473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named entity r">
            <a:extLst>
              <a:ext uri="{C183D7F6-B498-43B3-948B-1728B52AA6E4}">
                <adec:decorative xmlns:adec="http://schemas.microsoft.com/office/drawing/2017/decorative" val="1"/>
              </a:ext>
            </a:extLst>
          </p:cNvPr>
          <p:cNvSpPr/>
          <p:nvPr/>
        </p:nvSpPr>
        <p:spPr>
          <a:xfrm>
            <a:off x="761077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named entity r"/>
          <p:cNvSpPr txBox="1"/>
          <p:nvPr/>
        </p:nvSpPr>
        <p:spPr>
          <a:xfrm>
            <a:off x="7775368" y="3206496"/>
            <a:ext cx="256449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named entity recognition</a:t>
            </a:r>
          </a:p>
        </p:txBody>
      </p:sp>
      <p:sp>
        <p:nvSpPr>
          <p:cNvPr id="55"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129–133     </a:t>
            </a:r>
            <a:fld id="{E4AABFA3-DFBF-4273-88C7-219EF0F9A8AE}" type="slidenum">
              <a:rPr lang="en-GB" sz="1000">
                <a:solidFill>
                  <a:srgbClr val="8795A1"/>
                </a:solidFill>
                <a:latin typeface="Segoe UI"/>
              </a:rPr>
              <a:t>5</a:t>
            </a:fld>
          </a:p>
        </p:txBody>
      </p:sp>
      <p:sp>
        <p:nvSpPr>
          <p:cNvPr id="7" name="!!ag0" descr="Go to section 20.1 Turning Words into Number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20.1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Turning Words into Numbers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129  ›</a:t>
            </a:r>
          </a:p>
        </p:txBody>
      </p:sp>
      <p:sp>
        <p:nvSpPr>
          <p:cNvPr id="12" name="!!ag1" descr="Go to section 20.2 Bag of Words and TF-IDF">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20.2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Bag of Words and TF-IDF</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130  ›</a:t>
            </a:r>
          </a:p>
        </p:txBody>
      </p:sp>
      <p:sp>
        <p:nvSpPr>
          <p:cNvPr id="17" name="!!ag2" descr="Go to section 20.3 From Sparse to Dense">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20.3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From Sparse to Dense</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130  ›</a:t>
            </a:r>
          </a:p>
        </p:txBody>
      </p:sp>
      <p:sp>
        <p:nvSpPr>
          <p:cNvPr id="22" name="!!ag3" descr="Go to section 20.4 Topic Modell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20.4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Topic Modelling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131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classical text preprocessing pipeline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20.1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§20.1  ·  Handout p. 129     </a:t>
            </a:r>
            <a:fld id="{4DA72AE0-5C45-425C-8FF7-249EC2AB3D33}" type="slidenum">
              <a:rPr lang="en-GB" sz="1000">
                <a:solidFill>
                  <a:srgbClr val="8795A1"/>
                </a:solidFill>
                <a:latin typeface="Segoe UI"/>
              </a:rPr>
              <a:t>6</a:t>
            </a:fld>
          </a:p>
        </p:txBody>
      </p:sp>
      <p:pic>
        <p:nvPicPr>
          <p:cNvPr id="6" name="!!figure" descr="Figure 20.1. The classical text preprocessing pipeline. Modern transformer models skip most of steps 2–5, using subword tokenisation directly — but the classical pipeline is still what you want for fast, explainable, low-resource classifier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44926"/>
            <a:ext cx="10874959" cy="312583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Modern transformer models skip most of steps 2–5, using subword tokenisation directly — but the classical pipeline is still what you want for fast, explainable, low-resource classifiers.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2875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Bag of Words and TF-IDF</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Turning Words into Numbers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20.2   Bag of Words and TF-IDF</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20.3   From Sparse to Dense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20.4   Topic Modelling</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§20.2     </a:t>
            </a:r>
            <a:fld id="{C0B08D8E-2088-410D-8E24-5531D86D05DF}" type="slidenum">
              <a:rPr lang="en-GB" sz="1000">
                <a:solidFill>
                  <a:srgbClr val="8795A1"/>
                </a:solidFill>
                <a:latin typeface="Segoe UI"/>
              </a:rPr>
              <a:t>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13354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Bag of Words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130     </a:t>
            </a:r>
            <a:fld id="{59C7D3F6-DCB4-4243-ABFE-995FB9C0CCB3}"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Represent each document as a vector of word counts over a fixed vocabulary. Word order is discarded entirely — hence “bag”. Crude, and surprisingly effective for classification.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TF-IDF</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130     </a:t>
            </a:r>
            <a:fld id="{0A76AD2B-9A5B-408A-A273-CBDC2FCFD58B}"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31668"/>
          </a:xfrm>
          <a:prstGeom prst="roundRect">
            <a:avLst>
              <a:gd name="adj" fmla="val 347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3166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ext{tf-idf}(t, d) \;=\; \underbrace{\text{tf}(t,d)}_{\text{count in this doc}} \times \underbrace{\log\frac{N}{\text{df}(t)}}_{\text{rarity across the corpu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1120140"/>
          </a:xfrm>
          <a:prstGeom prst="rect">
            <a:avLst/>
          </a:prstGeom>
        </p:spPr>
      </p:pic>
      <p:sp>
        <p:nvSpPr>
          <p:cNvPr id="10" name="body-1"/>
          <p:cNvSpPr txBox="1"/>
          <p:nvPr/>
        </p:nvSpPr>
        <p:spPr>
          <a:xfrm>
            <a:off x="1060704" y="3329051"/>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term scores highly when it is frequent </a:t>
            </a:r>
            <a:r>
              <a:rPr sz="2300" b="0" i="1">
                <a:solidFill>
                  <a:srgbClr val="1C252B"/>
                </a:solidFill>
                <a:latin typeface="Segoe UI"/>
              </a:rPr>
              <a:t>in this document</a:t>
            </a:r>
            <a:r>
              <a:rPr sz="2300" b="0" i="0">
                <a:solidFill>
                  <a:srgbClr val="1C252B"/>
                </a:solidFill>
                <a:latin typeface="Segoe UI"/>
              </a:rPr>
              <a:t> and rare </a:t>
            </a:r>
            <a:r>
              <a:rPr sz="2300" b="0" i="1">
                <a:solidFill>
                  <a:srgbClr val="1C252B"/>
                </a:solidFill>
                <a:latin typeface="Segoe UI"/>
              </a:rPr>
              <a:t>across the corpus</a:t>
            </a:r>
            <a:r>
              <a:rPr sz="2300" b="0" i="0">
                <a:solidFill>
                  <a:srgbClr val="1C252B"/>
                </a:solidFill>
                <a:latin typeface="Segoe UI"/>
              </a:rPr>
              <a:t> — which is a good working definition of “distinctive”.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7431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Computing TF-IDF</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130     </a:t>
            </a:r>
            <a:fld id="{8407F2F1-BEDE-42F3-B761-8456153FD1D0}"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83125"/>
          </a:xfrm>
          <a:prstGeom prst="roundRect">
            <a:avLst>
              <a:gd name="adj" fmla="val 203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8312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corpus of </a:t>
            </a:r>
            <a:r>
              <a:rPr sz="1900" b="0" i="1">
                <a:solidFill>
                  <a:srgbClr val="1C252B"/>
                </a:solidFill>
                <a:latin typeface="Cambria"/>
              </a:rPr>
              <a:t>N</a:t>
            </a:r>
            <a:r>
              <a:rPr sz="1900" b="0" i="0">
                <a:solidFill>
                  <a:srgbClr val="1C252B"/>
                </a:solidFill>
                <a:latin typeface="Cambria"/>
              </a:rPr>
              <a:t> = 1000</a:t>
            </a:r>
            <a:r>
              <a:rPr sz="1900" b="0" i="0">
                <a:solidFill>
                  <a:srgbClr val="1C252B"/>
                </a:solidFill>
                <a:latin typeface="Segoe UI"/>
              </a:rPr>
              <a:t> support tickets. Consider one ticket of 100 words.</a:t>
            </a:r>
          </a:p>
        </p:txBody>
      </p:sp>
      <p:graphicFrame>
        <p:nvGraphicFramePr>
          <p:cNvPr id="10" name="body-1"/>
          <p:cNvGraphicFramePr>
            <a:graphicFrameLocks noGrp="1"/>
          </p:cNvGraphicFramePr>
          <p:nvPr/>
        </p:nvGraphicFramePr>
        <p:xfrm>
          <a:off x="1042416" y="2445537"/>
          <a:ext cx="6390353" cy="1560576"/>
        </p:xfrm>
        <a:graphic>
          <a:graphicData uri="http://schemas.openxmlformats.org/drawingml/2006/table">
            <a:tbl>
              <a:tblPr firstRow="0" bandRow="0" firstCol="0" lastRow="0" lastCol="0" bandCol="0">
                <a:tableStyleId>{2D5ABB26-0587-4C30-8999-92F81FD0307C}</a:tableStyleId>
              </a:tblPr>
              <a:tblGrid>
                <a:gridCol w="1051197"/>
                <a:gridCol w="813572"/>
                <a:gridCol w="636154"/>
                <a:gridCol w="1799319"/>
                <a:gridCol w="2090111"/>
              </a:tblGrid>
              <a:tr h="390144">
                <a:tc>
                  <a:txBody>
                    <a:bodyPr wrap="square"/>
                    <a:lstStyle/>
                    <a:p>
                      <a:pPr algn="l"/>
                      <a:r>
                        <a:rPr sz="1600" b="1" i="0">
                          <a:solidFill>
                            <a:srgbClr val="1A5276"/>
                          </a:solidFill>
                          <a:latin typeface="Segoe UI"/>
                        </a:rPr>
                        <a:t>Term</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count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tf</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docs containing</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idf</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the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0.08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Cambria"/>
                        </a:rPr>
                        <a:t>log(1000/1000)=0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server</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0.04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Cambria"/>
                        </a:rPr>
                        <a:t>log(1000/300)=1.20</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kerberos</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0.02</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12</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Cambria"/>
                        </a:rPr>
                        <a:t>log(1000/12)=4.42</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4138828"/>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TF-IDF scores:</a:t>
            </a:r>
          </a:p>
        </p:txBody>
      </p:sp>
      <p:sp>
        <p:nvSpPr>
          <p:cNvPr id="12" name="body-2bar">
            <a:extLst>
              <a:ext uri="{C183D7F6-B498-43B3-948B-1728B52AA6E4}">
                <adec:decorative xmlns:adec="http://schemas.microsoft.com/office/drawing/2017/decorative" val="1"/>
              </a:ext>
            </a:extLst>
          </p:cNvPr>
          <p:cNvSpPr/>
          <p:nvPr/>
        </p:nvSpPr>
        <p:spPr>
          <a:xfrm>
            <a:off x="841248" y="4157116"/>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4572685"/>
            <a:ext cx="10234879" cy="141919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800" b="0" i="0">
                <a:solidFill>
                  <a:srgbClr val="1F4E79"/>
                </a:solidFill>
                <a:latin typeface="Consolas"/>
              </a:rPr>
              <a:t>the</a:t>
            </a:r>
            <a:r>
              <a:rPr sz="1900" b="0" i="0">
                <a:solidFill>
                  <a:srgbClr val="1C252B"/>
                </a:solidFill>
                <a:latin typeface="Segoe UI"/>
              </a:rPr>
              <a:t>: </a:t>
            </a:r>
            <a:r>
              <a:rPr sz="1900" b="0" i="0">
                <a:solidFill>
                  <a:srgbClr val="1C252B"/>
                </a:solidFill>
                <a:latin typeface="Cambria"/>
              </a:rPr>
              <a:t>0.08 × 0 = </a:t>
            </a:r>
            <a:r>
              <a:rPr sz="1900" b="1" i="0">
                <a:solidFill>
                  <a:srgbClr val="1C252B"/>
                </a:solidFill>
                <a:latin typeface="Cambria"/>
              </a:rPr>
              <a:t>0</a:t>
            </a:r>
            <a:r>
              <a:rPr sz="1900" b="0" i="0">
                <a:solidFill>
                  <a:srgbClr val="1C252B"/>
                </a:solidFill>
                <a:latin typeface="Segoe UI"/>
              </a:rPr>
              <a:t> — appears everywhere, so it distinguishes nothing. Note that IDF has removed it </a:t>
            </a:r>
            <a:r>
              <a:rPr sz="1900" b="0" i="1">
                <a:solidFill>
                  <a:srgbClr val="1C252B"/>
                </a:solidFill>
                <a:latin typeface="Segoe UI"/>
              </a:rPr>
              <a:t>automatically</a:t>
            </a:r>
            <a:r>
              <a:rPr sz="1900" b="0" i="0">
                <a:solidFill>
                  <a:srgbClr val="1C252B"/>
                </a:solidFill>
                <a:latin typeface="Segoe UI"/>
              </a:rPr>
              <a:t>, without any stop-word list.</a:t>
            </a:r>
          </a:p>
          <a:p>
            <a:pPr algn="l" marL="212450" indent="-212450">
              <a:lnSpc>
                <a:spcPct val="104000"/>
              </a:lnSpc>
              <a:spcBef>
                <a:spcPts val="0"/>
              </a:spcBef>
              <a:spcAft>
                <a:spcPts val="665"/>
              </a:spcAft>
            </a:pPr>
            <a:r>
              <a:rPr sz="1900" b="1">
                <a:solidFill>
                  <a:srgbClr val="7D6608"/>
                </a:solidFill>
                <a:latin typeface="Segoe UI"/>
              </a:rPr>
              <a:t>•	</a:t>
            </a:r>
            <a:r>
              <a:rPr sz="1800" b="0" i="0">
                <a:solidFill>
                  <a:srgbClr val="1F4E79"/>
                </a:solidFill>
                <a:latin typeface="Consolas"/>
              </a:rPr>
              <a:t>server</a:t>
            </a:r>
            <a:r>
              <a:rPr sz="1900" b="0" i="0">
                <a:solidFill>
                  <a:srgbClr val="1C252B"/>
                </a:solidFill>
                <a:latin typeface="Segoe UI"/>
              </a:rPr>
              <a:t>: </a:t>
            </a:r>
            <a:r>
              <a:rPr sz="1900" b="0" i="0">
                <a:solidFill>
                  <a:srgbClr val="1C252B"/>
                </a:solidFill>
                <a:latin typeface="Cambria"/>
              </a:rPr>
              <a:t>0.04 × 1.20 = </a:t>
            </a:r>
            <a:r>
              <a:rPr sz="1900" b="1" i="0">
                <a:solidFill>
                  <a:srgbClr val="1C252B"/>
                </a:solidFill>
                <a:latin typeface="Cambria"/>
              </a:rPr>
              <a:t>0.048</a:t>
            </a:r>
          </a:p>
          <a:p>
            <a:pPr algn="l" marL="212450" indent="-212450">
              <a:lnSpc>
                <a:spcPct val="104000"/>
              </a:lnSpc>
              <a:spcBef>
                <a:spcPts val="0"/>
              </a:spcBef>
              <a:spcAft>
                <a:spcPts val="0"/>
              </a:spcAft>
            </a:pPr>
            <a:r>
              <a:rPr sz="1900" b="1">
                <a:solidFill>
                  <a:srgbClr val="7D6608"/>
                </a:solidFill>
                <a:latin typeface="Segoe UI"/>
              </a:rPr>
              <a:t>•	</a:t>
            </a:r>
            <a:r>
              <a:rPr sz="1800" b="0" i="0">
                <a:solidFill>
                  <a:srgbClr val="1F4E79"/>
                </a:solidFill>
                <a:latin typeface="Consolas"/>
              </a:rPr>
              <a:t>kerberos</a:t>
            </a:r>
            <a:r>
              <a:rPr sz="1900" b="0" i="0">
                <a:solidFill>
                  <a:srgbClr val="1C252B"/>
                </a:solidFill>
                <a:latin typeface="Segoe UI"/>
              </a:rPr>
              <a:t>: </a:t>
            </a:r>
            <a:r>
              <a:rPr sz="1900" b="0" i="0">
                <a:solidFill>
                  <a:srgbClr val="1C252B"/>
                </a:solidFill>
                <a:latin typeface="Cambria"/>
              </a:rPr>
              <a:t>0.02 × 4.42 = </a:t>
            </a:r>
            <a:r>
              <a:rPr sz="1900" b="1" i="0">
                <a:solidFill>
                  <a:srgbClr val="1C252B"/>
                </a:solidFill>
                <a:latin typeface="Cambria"/>
              </a:rPr>
              <a:t>0.088</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fade">
                                      <p:cBhvr>
                                        <p:cTn id="21" dur="350"/>
                                        <p:tgtEl>
                                          <p:spTgt spid="1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xEl>
                                              <p:pRg st="1" end="1"/>
                                            </p:txEl>
                                          </p:spTgt>
                                        </p:tgtEl>
                                        <p:attrNameLst>
                                          <p:attrName>style.visibility</p:attrName>
                                        </p:attrNameLst>
                                      </p:cBhvr>
                                      <p:to>
                                        <p:strVal val="visible"/>
                                      </p:to>
                                    </p:set>
                                    <p:animEffect transition="in" filter="fade">
                                      <p:cBhvr>
                                        <p:cTn id="26" dur="350"/>
                                        <p:tgtEl>
                                          <p:spTgt spid="1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xEl>
                                              <p:pRg st="2" end="2"/>
                                            </p:txEl>
                                          </p:spTgt>
                                        </p:tgtEl>
                                        <p:attrNameLst>
                                          <p:attrName>style.visibility</p:attrName>
                                        </p:attrNameLst>
                                      </p:cBhvr>
                                      <p:to>
                                        <p:strVal val="visible"/>
                                      </p:to>
                                    </p:set>
                                    <p:animEffect transition="in" filter="fade">
                                      <p:cBhvr>
                                        <p:cTn id="31" dur="35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Computing TF-IDF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§20.2  ·  Handout p. 130     </a:t>
            </a:r>
            <a:fld id="{93E194B6-3BAB-49C9-ACB3-27CE4538431B}"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result that matters:</a:t>
            </a:r>
            <a:r>
              <a:rPr sz="1900" b="0" i="0">
                <a:solidFill>
                  <a:srgbClr val="1C252B"/>
                </a:solidFill>
                <a:latin typeface="Segoe UI"/>
              </a:rPr>
              <a:t> </a:t>
            </a:r>
            <a:r>
              <a:rPr sz="1800" b="0" i="0">
                <a:solidFill>
                  <a:srgbClr val="1F4E79"/>
                </a:solidFill>
                <a:latin typeface="Consolas"/>
              </a:rPr>
              <a:t>kerberos</a:t>
            </a:r>
            <a:r>
              <a:rPr sz="1900" b="0" i="0">
                <a:solidFill>
                  <a:srgbClr val="1C252B"/>
                </a:solidFill>
                <a:latin typeface="Segoe UI"/>
              </a:rPr>
              <a:t> outranks </a:t>
            </a:r>
            <a:r>
              <a:rPr sz="1800" b="0" i="0">
                <a:solidFill>
                  <a:srgbClr val="1F4E79"/>
                </a:solidFill>
                <a:latin typeface="Consolas"/>
              </a:rPr>
              <a:t>server</a:t>
            </a:r>
            <a:r>
              <a:rPr sz="1900" b="0" i="0">
                <a:solidFill>
                  <a:srgbClr val="1C252B"/>
                </a:solidFill>
                <a:latin typeface="Segoe UI"/>
              </a:rPr>
              <a:t> despite appearing half as often, because it is rare across the corpus and therefore tells you far more about which ticket this is. That is the whole idea, and it is why TF-IDF — whose inverse-document-frequency term dates from 1972 — remains a strong baseline half a century on.</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35271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From Sparse to Dense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Turning Words into Numbers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20.2   Bag of Words and TF-IDF</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20.3   From Sparse to Dense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20.4   Topic Modelling</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§20.3     </a:t>
            </a:r>
            <a:fld id="{0074FCE9-B0BB-4113-8164-B14319F5356A}" type="slidenum">
              <a:rPr lang="en-GB" sz="1000">
                <a:solidFill>
                  <a:srgbClr val="8795A1"/>
                </a:solidFill>
                <a:latin typeface="Segoe UI"/>
              </a:rPr>
              <a:t>12</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Weakness of Bag of Words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130     </a:t>
            </a:r>
            <a:fld id="{FC7B412B-8B11-487A-83A1-CCA2CDFF9F06}"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 a TF-IDF space, </a:t>
            </a:r>
            <a:r>
              <a:rPr sz="2300" b="0" i="1">
                <a:solidFill>
                  <a:srgbClr val="1C252B"/>
                </a:solidFill>
                <a:latin typeface="Segoe UI"/>
              </a:rPr>
              <a:t>server</a:t>
            </a:r>
            <a:r>
              <a:rPr sz="2300" b="0" i="0">
                <a:solidFill>
                  <a:srgbClr val="1C252B"/>
                </a:solidFill>
                <a:latin typeface="Segoe UI"/>
              </a:rPr>
              <a:t>, </a:t>
            </a:r>
            <a:r>
              <a:rPr sz="2300" b="0" i="1">
                <a:solidFill>
                  <a:srgbClr val="1C252B"/>
                </a:solidFill>
                <a:latin typeface="Segoe UI"/>
              </a:rPr>
              <a:t>host</a:t>
            </a:r>
            <a:r>
              <a:rPr sz="2300" b="0" i="0">
                <a:solidFill>
                  <a:srgbClr val="1C252B"/>
                </a:solidFill>
                <a:latin typeface="Segoe UI"/>
              </a:rPr>
              <a:t> and </a:t>
            </a:r>
            <a:r>
              <a:rPr sz="2300" b="0" i="1">
                <a:solidFill>
                  <a:srgbClr val="1C252B"/>
                </a:solidFill>
                <a:latin typeface="Segoe UI"/>
              </a:rPr>
              <a:t>machine</a:t>
            </a:r>
            <a:r>
              <a:rPr sz="2300" b="0" i="0">
                <a:solidFill>
                  <a:srgbClr val="1C252B"/>
                </a:solidFill>
                <a:latin typeface="Segoe UI"/>
              </a:rPr>
              <a:t> are three completely unrelated dimensions — as unrelated as </a:t>
            </a:r>
            <a:r>
              <a:rPr sz="2300" b="0" i="1">
                <a:solidFill>
                  <a:srgbClr val="1C252B"/>
                </a:solidFill>
                <a:latin typeface="Segoe UI"/>
              </a:rPr>
              <a:t>server</a:t>
            </a:r>
            <a:r>
              <a:rPr sz="2300" b="0" i="0">
                <a:solidFill>
                  <a:srgbClr val="1C252B"/>
                </a:solidFill>
                <a:latin typeface="Segoe UI"/>
              </a:rPr>
              <a:t> and </a:t>
            </a:r>
            <a:r>
              <a:rPr sz="2300" b="0" i="1">
                <a:solidFill>
                  <a:srgbClr val="1C252B"/>
                </a:solidFill>
                <a:latin typeface="Segoe UI"/>
              </a:rPr>
              <a:t>banana</a:t>
            </a:r>
            <a:r>
              <a:rPr sz="2300" b="0" i="0">
                <a:solidFill>
                  <a:srgbClr val="1C252B"/>
                </a:solidFill>
                <a:latin typeface="Segoe UI"/>
              </a:rPr>
              <a:t>. The representation has no notion of meaning, only of spelling. A model trained on documents saying “server” will learn nothing applicable to documents saying “host”.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9623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Word Embedding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130     </a:t>
            </a:r>
            <a:fld id="{F448FBB0-A129-4541-A131-FDC5095D5126}"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dense vector of a few hundred dimensions, learned so that words appearing in similar contexts get similar vectors. Meaning becomes geometry: cosine similarity between embeddings measures semantic relatedness.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26709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Sparse versus dense text representations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20.2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130     </a:t>
            </a:r>
            <a:fld id="{93888163-C36B-418F-B7FA-AB5095E4FD5D}" type="slidenum">
              <a:rPr lang="en-GB" sz="1000">
                <a:solidFill>
                  <a:srgbClr val="8795A1"/>
                </a:solidFill>
                <a:latin typeface="Segoe UI"/>
              </a:rPr>
              <a:t>15</a:t>
            </a:fld>
          </a:p>
        </p:txBody>
      </p:sp>
      <p:pic>
        <p:nvPicPr>
          <p:cNvPr id="6" name="!!figure" descr="Figure 20.2. Sparse versus dense text representations. TF-IDF is interpretable but has no concept of synonymy; embeddings capture meaning but no single dimension means anything you can nam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849" y="1737360"/>
            <a:ext cx="10517995"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TF-IDF is interpretable but has no concept of synonymy; embeddings capture meaning but no single dimension means anything you can name.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Static versus Contextual Embeddings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§20.3  ·  Handout p. 130     </a:t>
            </a:r>
            <a:fld id="{4E0FA087-D84A-48E5-9C40-D9B807F5E22A}"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Early embeddings (word2vec, GloVe) give each word one fixed vector, so </a:t>
            </a:r>
            <a:r>
              <a:rPr sz="2300" b="0" i="1">
                <a:solidFill>
                  <a:srgbClr val="1C252B"/>
                </a:solidFill>
                <a:latin typeface="Segoe UI"/>
              </a:rPr>
              <a:t>bank</a:t>
            </a:r>
            <a:r>
              <a:rPr sz="2300" b="0" i="0">
                <a:solidFill>
                  <a:srgbClr val="1C252B"/>
                </a:solidFill>
                <a:latin typeface="Segoe UI"/>
              </a:rPr>
              <a:t> in “river bank” and “bank account” share a vector — a real limitation. Transformer models (Chapter 18) produce </a:t>
            </a:r>
            <a:r>
              <a:rPr sz="2300" b="0" i="1">
                <a:solidFill>
                  <a:srgbClr val="1C252B"/>
                </a:solidFill>
                <a:latin typeface="Segoe UI"/>
              </a:rPr>
              <a:t>contextual</a:t>
            </a:r>
            <a:r>
              <a:rPr sz="2300" b="0" i="0">
                <a:solidFill>
                  <a:srgbClr val="1C252B"/>
                </a:solidFill>
                <a:latin typeface="Segoe UI"/>
              </a:rPr>
              <a:t> embeddings: the vector for a word depends on the sentence it is in. This is the main practical advance behind modern NLP, and it is what Chapter 21 builds 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Topic Modelling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20.4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20.1   Turning Words into Numbers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20.2   Bag of Words and TF-IDF</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20.3   From Sparse to Dense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20.4   Topic Modelling</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§20.4     </a:t>
            </a:r>
            <a:fld id="{5645E4CD-7019-4279-96C8-2BF4EB43E2DE}" type="slidenum">
              <a:rPr lang="en-GB" sz="1000">
                <a:solidFill>
                  <a:srgbClr val="8795A1"/>
                </a:solidFill>
                <a:latin typeface="Segoe UI"/>
              </a:rPr>
              <a:t>17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18147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Topic Modelling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131     </a:t>
            </a:r>
            <a:fld id="{6341BE41-ECBE-46A0-A807-43804A8DD95B}"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unsupervised method (Chapter 16 applied to text) that discovers recurring themes in a corpus. Each topic is a distribution over words; each document is a mixture of topics. Latent Dirichlet Allocation (LDA) is the classical method.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48626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Output of a four-topic LDA on IT support tickets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20.3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131     </a:t>
            </a:r>
            <a:fld id="{7FED7C4E-8560-4D27-B19C-11053B3B3CAC}" type="slidenum">
              <a:rPr lang="en-GB" sz="1000">
                <a:solidFill>
                  <a:srgbClr val="8795A1"/>
                </a:solidFill>
                <a:latin typeface="Segoe UI"/>
              </a:rPr>
              <a:t>19</a:t>
            </a:fld>
          </a:p>
        </p:txBody>
      </p:sp>
      <p:pic>
        <p:nvPicPr>
          <p:cNvPr id="6" name="!!figure" descr="Figure 20.3. Output of a four-topic LDA on IT support tickets. Three topics are useful; the fourth is a statistical artefact. Never present topic model output without human inspect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90623"/>
            <a:ext cx="10874959" cy="343614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Three topics are useful; the fourth is a statistical artefact. Never present topic model output without human inspection.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79105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Text Analytics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348D2883-D696-418E-B274-9998D9075426}" type="slidenum">
              <a:rPr lang="en-GB" sz="1000">
                <a:solidFill>
                  <a:srgbClr val="8795A1"/>
                </a:solidFill>
                <a:latin typeface="Segoe UI"/>
              </a:rPr>
              <a:t>20</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Analyse free-text reflections, forum posts and module feedback.</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Classify support tickets and requirement documents automatically, and mine retrospective notes for recurring themes.</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Text appears where you might not expect it: device logs, error strings and maintenance notes.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Phishing and spam detection is the classic application: naive Bayes on TF-IDF remains fast enough for mail-gateway volumes and is still competitive.</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Text Analytics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E277E27E-9B5A-48BB-BD4D-0E76F3BBD07E}"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Analyse free-text reflections, forum posts and module feedback. Sentiment and topic trends across a semester reveal problems that numeric engagement data misses entirely — a cohort can be clicking dutifully and telling you in prose that they are lost. </a:t>
            </a:r>
            <a:r>
              <a:rPr sz="2200" b="1" i="0">
                <a:solidFill>
                  <a:srgbClr val="1C252B"/>
                </a:solidFill>
                <a:latin typeface="Segoe UI"/>
              </a:rPr>
              <a:t>Two cautions:</a:t>
            </a:r>
            <a:r>
              <a:rPr sz="2200" b="0" i="0">
                <a:solidFill>
                  <a:srgbClr val="1C252B"/>
                </a:solidFill>
                <a:latin typeface="Segoe UI"/>
              </a:rPr>
              <a:t> student writing is identifiable even after anonymisation, and automated sentiment scoring of individuals is an ethical decision, not a technical one (Chapter 28).</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4006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Text Analytics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0D3EF871-6327-4EEB-8824-DD2257123D94}" type="slidenum">
              <a:rPr lang="en-GB" sz="1000">
                <a:solidFill>
                  <a:srgbClr val="8795A1"/>
                </a:solidFill>
                <a:latin typeface="Segoe UI"/>
              </a:rPr>
              <a:t>22</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Classify support tickets and requirement documents automatically, and mine retrospective notes for recurring themes. TF-IDF plus logistic regression is usually sufficient and takes an afternoon; it is also explainable, which matters when the classifier is routing work to people. Topic modelling over several years of retrospectives is a genuinely useful way to find problems the organisation keeps re-discovering.</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70543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Text Analytics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4939F618-DC38-4014-A195-B5C12005B0A7}" type="slidenum">
              <a:rPr lang="en-GB" sz="1000">
                <a:solidFill>
                  <a:srgbClr val="8795A1"/>
                </a:solidFill>
                <a:latin typeface="Segoe UI"/>
              </a:rPr>
              <a:t>23</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Text appears where you might not expect it: device logs, error strings and maintenance notes. Treating log lines as text — tokenising, then clustering templates — turns an unmanageable stream into a manageable set of message types, and a </a:t>
            </a:r>
            <a:r>
              <a:rPr sz="2200" b="0" i="1">
                <a:solidFill>
                  <a:srgbClr val="1C252B"/>
                </a:solidFill>
                <a:latin typeface="Segoe UI"/>
              </a:rPr>
              <a:t>new</a:t>
            </a:r>
            <a:r>
              <a:rPr sz="2200" b="0" i="0">
                <a:solidFill>
                  <a:srgbClr val="1C252B"/>
                </a:solidFill>
                <a:latin typeface="Segoe UI"/>
              </a:rPr>
              <a:t> template appearing is itself an anomaly signal. Engineers’ free-text maintenance records are often the only ground-truth labels available for predictive maintenance (Chapter 25).</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1022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Text Analytics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B218A846-D34E-42DB-B97B-41334866EFBE}" type="slidenum">
              <a:rPr lang="en-GB" sz="1000">
                <a:solidFill>
                  <a:srgbClr val="8795A1"/>
                </a:solidFill>
                <a:latin typeface="Segoe UI"/>
              </a:rPr>
              <a:t>24</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Phishing and spam detection is the classic application: naive Bayes on TF-IDF remains fast enough for mail-gateway volumes and is still competitive. Beyond that, text classification applies to malware strings, command-line arguments and DNS names. Note the adversarial character: spammers deliberately misspell, insert homoglyphs and pad with innocuous text specifically to defeat tokenisation — so preprocessing choices here are a security control, not a convenience.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TF-IDF Classifier and Topics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131     </a:t>
            </a:r>
            <a:fld id="{47F69E66-3CDF-4EA0-A776-7E406C830D67}" type="slidenum">
              <a:rPr lang="en-GB" sz="1000">
                <a:solidFill>
                  <a:srgbClr val="8795A1"/>
                </a:solidFill>
                <a:latin typeface="Segoe UI"/>
              </a:rPr>
              <a:t>25</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A strong, explainable text classifier in four lines</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WHY did it decide that? the great virtue of this approach</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Topic modelling: ALWAYS read the topics before believing them</a:t>
            </a:r>
          </a:p>
        </p:txBody>
      </p:sp>
      <p:sp>
        <p:nvSpPr>
          <p:cNvPr id="1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12: Decompose &amp; walk-forward; TF-IDF classifier</a:t>
            </a:r>
          </a:p>
        </p:txBody>
      </p:sp>
      <p:sp>
        <p:nvSpPr>
          <p:cNvPr id="2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33 lines of Python</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TF-IDF Classifier and Topics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131     </a:t>
            </a:r>
            <a:fld id="{76143F72-12EE-44AB-9DD8-9D75CC4395AD}"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32304"/>
          </a:xfrm>
          <a:prstGeom prst="roundRect">
            <a:avLst>
              <a:gd name="adj" fmla="val 375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from sklearn.feature_extraction.text import TfidfVectorizer from sklearn.linear_model import LogisticRegression from sklearn.pipeline import make_pipeline from sklearn.decomposition import LatentDirichletAllocation from sklearn.metrics import classification_report import numpy as np"/>
          <p:cNvSpPr txBox="1"/>
          <p:nvPr/>
        </p:nvSpPr>
        <p:spPr>
          <a:xfrm>
            <a:off x="1362456" y="2523744"/>
            <a:ext cx="9987991" cy="19385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feature_extraction</a:t>
            </a:r>
            <a:r>
              <a:rPr sz="2000" i="0">
                <a:solidFill>
                  <a:srgbClr val="76D7C4"/>
                </a:solidFill>
                <a:latin typeface="Consolas"/>
              </a:rPr>
              <a:t>.</a:t>
            </a:r>
            <a:r>
              <a:rPr sz="2000" i="0">
                <a:solidFill>
                  <a:srgbClr val="76D7C4"/>
                </a:solidFill>
                <a:latin typeface="Consolas"/>
              </a:rPr>
              <a:t>text</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TfidfVectorizer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linear_model</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LogisticRegression</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pipeline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make_pipeline</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decomposition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LatentDirichletAllocation</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metrics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classification_report</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p:txBody>
      </p:sp>
      <p:sp>
        <p:nvSpPr>
          <p:cNvPr id="15" name="!!code-num"/>
          <p:cNvSpPr txBox="1"/>
          <p:nvPr/>
        </p:nvSpPr>
        <p:spPr>
          <a:xfrm>
            <a:off x="768096" y="2523744"/>
            <a:ext cx="393192" cy="19385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2460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TF-IDF Classifier and Topics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131     </a:t>
            </a:r>
            <a:fld id="{F9C3B24F-4260-4964-9CC4-FFA04BAF77CE}"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strong, explainable text classifier in four lines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41903"/>
          </a:xfrm>
          <a:prstGeom prst="roundRect">
            <a:avLst>
              <a:gd name="adj" fmla="val 30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1. a strong, explainable text classifier in four lines ----------- clf = make_pipeline( TfidfVectorizer(ngram_range=(1, 2), # unigrams + bigrams: &quot;not vulnerable&quot; min_df=3, # ignore terms in fewer than 3 docs max_df=0.85, # ignore terms in &gt;85% of docs sublinear_tf=True), LogisticRegression(max_iter=1000, class_weight=&quot;balanced&quot;), ).fit(train_texts, train_labels) print(classification_report(test_labels, clf.predict(test_texts), digits=3))"/>
          <p:cNvSpPr txBox="1"/>
          <p:nvPr/>
        </p:nvSpPr>
        <p:spPr>
          <a:xfrm>
            <a:off x="1362456" y="2523744"/>
            <a:ext cx="9987991" cy="2548127"/>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--- 1. a strong, explainable text classifier in four lines -----------</a:t>
            </a:r>
          </a:p>
          <a:p>
            <a:pPr>
              <a:lnSpc>
                <a:spcPct val="100000"/>
              </a:lnSpc>
              <a:spcAft>
                <a:spcPts val="0"/>
              </a:spcAft>
            </a:pPr>
            <a:r>
              <a:rPr sz="1600" i="0">
                <a:solidFill>
                  <a:srgbClr val="E8EDF2"/>
                </a:solidFill>
                <a:latin typeface="Consolas"/>
              </a:rPr>
              <a:t>clf</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make_pipeline</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TfidfVectorizer</a:t>
            </a:r>
            <a:r>
              <a:rPr sz="1600" i="0">
                <a:solidFill>
                  <a:srgbClr val="AEB6BF"/>
                </a:solidFill>
                <a:latin typeface="Consolas"/>
              </a:rPr>
              <a:t>(</a:t>
            </a:r>
            <a:r>
              <a:rPr sz="1600" i="0">
                <a:solidFill>
                  <a:srgbClr val="E8EDF2"/>
                </a:solidFill>
                <a:latin typeface="Consolas"/>
              </a:rPr>
              <a:t>ngram_range</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1</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2</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unigrams + bigrams: "not vulnerable"</a:t>
            </a:r>
          </a:p>
          <a:p>
            <a:pPr>
              <a:lnSpc>
                <a:spcPct val="100000"/>
              </a:lnSpc>
              <a:spcAft>
                <a:spcPts val="0"/>
              </a:spcAft>
            </a:pPr>
            <a:r>
              <a:rPr sz="1600" i="0">
                <a:solidFill>
                  <a:srgbClr val="E8EDF2"/>
                </a:solidFill>
                <a:latin typeface="Consolas"/>
              </a:rPr>
              <a:t>                    </a:t>
            </a:r>
            <a:r>
              <a:rPr sz="1600" i="0">
                <a:solidFill>
                  <a:srgbClr val="E8EDF2"/>
                </a:solidFill>
                <a:latin typeface="Consolas"/>
              </a:rPr>
              <a:t>min_df</a:t>
            </a:r>
            <a:r>
              <a:rPr sz="1600" i="0">
                <a:solidFill>
                  <a:srgbClr val="AEB6BF"/>
                </a:solidFill>
                <a:latin typeface="Consolas"/>
              </a:rPr>
              <a:t>=</a:t>
            </a:r>
            <a:r>
              <a:rPr sz="1600" i="0">
                <a:solidFill>
                  <a:srgbClr val="F7DC6F"/>
                </a:solidFill>
                <a:latin typeface="Consolas"/>
              </a:rPr>
              <a:t>3</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ignore terms in fewer than 3 docs</a:t>
            </a:r>
          </a:p>
          <a:p>
            <a:pPr>
              <a:lnSpc>
                <a:spcPct val="100000"/>
              </a:lnSpc>
              <a:spcAft>
                <a:spcPts val="0"/>
              </a:spcAft>
            </a:pPr>
            <a:r>
              <a:rPr sz="1600" i="0">
                <a:solidFill>
                  <a:srgbClr val="E8EDF2"/>
                </a:solidFill>
                <a:latin typeface="Consolas"/>
              </a:rPr>
              <a:t>                    </a:t>
            </a:r>
            <a:r>
              <a:rPr sz="1600" i="0">
                <a:solidFill>
                  <a:srgbClr val="E8EDF2"/>
                </a:solidFill>
                <a:latin typeface="Consolas"/>
              </a:rPr>
              <a:t>max_df</a:t>
            </a:r>
            <a:r>
              <a:rPr sz="1600" i="0">
                <a:solidFill>
                  <a:srgbClr val="AEB6BF"/>
                </a:solidFill>
                <a:latin typeface="Consolas"/>
              </a:rPr>
              <a:t>=</a:t>
            </a:r>
            <a:r>
              <a:rPr sz="1600" i="0">
                <a:solidFill>
                  <a:srgbClr val="F7DC6F"/>
                </a:solidFill>
                <a:latin typeface="Consolas"/>
              </a:rPr>
              <a:t>0.85</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ignore terms in &gt;85% of docs</a:t>
            </a:r>
          </a:p>
          <a:p>
            <a:pPr>
              <a:lnSpc>
                <a:spcPct val="100000"/>
              </a:lnSpc>
              <a:spcAft>
                <a:spcPts val="0"/>
              </a:spcAft>
            </a:pPr>
            <a:r>
              <a:rPr sz="1600" i="0">
                <a:solidFill>
                  <a:srgbClr val="E8EDF2"/>
                </a:solidFill>
                <a:latin typeface="Consolas"/>
              </a:rPr>
              <a:t>                    </a:t>
            </a:r>
            <a:r>
              <a:rPr sz="1600" i="0">
                <a:solidFill>
                  <a:srgbClr val="E8EDF2"/>
                </a:solidFill>
                <a:latin typeface="Consolas"/>
              </a:rPr>
              <a:t>sublinear_tf</a:t>
            </a:r>
            <a:r>
              <a:rPr sz="1600" i="0">
                <a:solidFill>
                  <a:srgbClr val="AEB6BF"/>
                </a:solidFill>
                <a:latin typeface="Consolas"/>
              </a:rPr>
              <a:t>=</a:t>
            </a:r>
            <a:r>
              <a:rPr sz="1600" i="0">
                <a:solidFill>
                  <a:srgbClr val="5DADE2"/>
                </a:solidFill>
                <a:latin typeface="Consolas"/>
              </a:rPr>
              <a:t>True</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LogisticRegression</a:t>
            </a:r>
            <a:r>
              <a:rPr sz="1600" i="0">
                <a:solidFill>
                  <a:srgbClr val="AEB6BF"/>
                </a:solidFill>
                <a:latin typeface="Consolas"/>
              </a:rPr>
              <a:t>(</a:t>
            </a:r>
            <a:r>
              <a:rPr sz="1600" i="0">
                <a:solidFill>
                  <a:srgbClr val="E8EDF2"/>
                </a:solidFill>
                <a:latin typeface="Consolas"/>
              </a:rPr>
              <a:t>max_iter</a:t>
            </a:r>
            <a:r>
              <a:rPr sz="1600" i="0">
                <a:solidFill>
                  <a:srgbClr val="AEB6BF"/>
                </a:solidFill>
                <a:latin typeface="Consolas"/>
              </a:rPr>
              <a:t>=</a:t>
            </a:r>
            <a:r>
              <a:rPr sz="1600" i="0">
                <a:solidFill>
                  <a:srgbClr val="F7DC6F"/>
                </a:solidFill>
                <a:latin typeface="Consolas"/>
              </a:rPr>
              <a:t>1000</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class_weight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balanced</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fit</a:t>
            </a:r>
            <a:r>
              <a:rPr sz="1600" i="0">
                <a:solidFill>
                  <a:srgbClr val="AEB6BF"/>
                </a:solidFill>
                <a:latin typeface="Consolas"/>
              </a:rPr>
              <a:t>(</a:t>
            </a:r>
            <a:r>
              <a:rPr sz="1600" i="0">
                <a:solidFill>
                  <a:srgbClr val="E8EDF2"/>
                </a:solidFill>
                <a:latin typeface="Consolas"/>
              </a:rPr>
              <a:t>train_texts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train_labels</a:t>
            </a:r>
            <a:r>
              <a:rPr sz="1600" i="0">
                <a:solidFill>
                  <a:srgbClr val="AEB6BF"/>
                </a:solidFill>
                <a:latin typeface="Consolas"/>
              </a:rPr>
              <a:t>)</a:t>
            </a:r>
          </a:p>
          <a:p>
            <a:pPr>
              <a:lnSpc>
                <a:spcPct val="100000"/>
              </a:lnSpc>
              <a:spcAft>
                <a:spcPts val="0"/>
              </a:spcAft>
            </a:pPr>
            <a:r>
              <a:rPr sz="1600">
                <a:latin typeface="Consolas"/>
              </a:rPr>
              <a:t> </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E8EDF2"/>
                </a:solidFill>
                <a:latin typeface="Consolas"/>
              </a:rPr>
              <a:t>classification_report</a:t>
            </a:r>
            <a:r>
              <a:rPr sz="1600" i="0">
                <a:solidFill>
                  <a:srgbClr val="AEB6BF"/>
                </a:solidFill>
                <a:latin typeface="Consolas"/>
              </a:rPr>
              <a:t>(</a:t>
            </a:r>
            <a:r>
              <a:rPr sz="1600" i="0">
                <a:solidFill>
                  <a:srgbClr val="E8EDF2"/>
                </a:solidFill>
                <a:latin typeface="Consolas"/>
              </a:rPr>
              <a:t>test_labels</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clf</a:t>
            </a:r>
            <a:r>
              <a:rPr sz="1600" i="0">
                <a:solidFill>
                  <a:srgbClr val="AEB6BF"/>
                </a:solidFill>
                <a:latin typeface="Consolas"/>
              </a:rPr>
              <a:t>.</a:t>
            </a:r>
            <a:r>
              <a:rPr sz="1600" i="0">
                <a:solidFill>
                  <a:srgbClr val="E8EDF2"/>
                </a:solidFill>
                <a:latin typeface="Consolas"/>
              </a:rPr>
              <a:t>predict</a:t>
            </a:r>
            <a:r>
              <a:rPr sz="1600" i="0">
                <a:solidFill>
                  <a:srgbClr val="AEB6BF"/>
                </a:solidFill>
                <a:latin typeface="Consolas"/>
              </a:rPr>
              <a:t>(</a:t>
            </a:r>
            <a:r>
              <a:rPr sz="1600" i="0">
                <a:solidFill>
                  <a:srgbClr val="E8EDF2"/>
                </a:solidFill>
                <a:latin typeface="Consolas"/>
              </a:rPr>
              <a:t>test_texts</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digits</a:t>
            </a:r>
            <a:r>
              <a:rPr sz="1600" i="0">
                <a:solidFill>
                  <a:srgbClr val="AEB6BF"/>
                </a:solidFill>
                <a:latin typeface="Consolas"/>
              </a:rPr>
              <a:t>=</a:t>
            </a:r>
            <a:r>
              <a:rPr sz="1600" i="0">
                <a:solidFill>
                  <a:srgbClr val="F7DC6F"/>
                </a:solidFill>
                <a:latin typeface="Consolas"/>
              </a:rPr>
              <a:t>3</a:t>
            </a:r>
            <a:r>
              <a:rPr sz="1600" i="0">
                <a:solidFill>
                  <a:srgbClr val="AEB6BF"/>
                </a:solidFill>
                <a:latin typeface="Consolas"/>
              </a:rPr>
              <a:t>)</a:t>
            </a:r>
            <a:r>
              <a:rPr sz="1600" i="0">
                <a:solidFill>
                  <a:srgbClr val="AEB6BF"/>
                </a:solidFill>
                <a:latin typeface="Consolas"/>
              </a:rPr>
              <a:t>)</a:t>
            </a:r>
          </a:p>
        </p:txBody>
      </p:sp>
      <p:sp>
        <p:nvSpPr>
          <p:cNvPr id="15" name="!!code-num"/>
          <p:cNvSpPr txBox="1"/>
          <p:nvPr/>
        </p:nvSpPr>
        <p:spPr>
          <a:xfrm>
            <a:off x="768096" y="2523744"/>
            <a:ext cx="393192" cy="254812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7</a:t>
            </a:r>
          </a:p>
          <a:p>
            <a:pPr algn="r">
              <a:lnSpc>
                <a:spcPct val="100000"/>
              </a:lnSpc>
            </a:pPr>
            <a:r>
              <a:rPr sz="1600">
                <a:solidFill>
                  <a:srgbClr val="4F5D6A"/>
                </a:solidFill>
                <a:latin typeface="Consolas"/>
              </a:rPr>
              <a:t>8</a:t>
            </a:r>
          </a:p>
          <a:p>
            <a:pPr algn="r">
              <a:lnSpc>
                <a:spcPct val="100000"/>
              </a:lnSpc>
            </a:pPr>
            <a:r>
              <a:rPr sz="1600">
                <a:solidFill>
                  <a:srgbClr val="4F5D6A"/>
                </a:solidFill>
                <a:latin typeface="Consolas"/>
              </a:rPr>
              <a:t>9</a:t>
            </a:r>
          </a:p>
          <a:p>
            <a:pPr algn="r">
              <a:lnSpc>
                <a:spcPct val="100000"/>
              </a:lnSpc>
            </a:pPr>
            <a:r>
              <a:rPr sz="1600">
                <a:solidFill>
                  <a:srgbClr val="4F5D6A"/>
                </a:solidFill>
                <a:latin typeface="Consolas"/>
              </a:rPr>
              <a:t>10</a:t>
            </a:r>
          </a:p>
          <a:p>
            <a:pPr algn="r">
              <a:lnSpc>
                <a:spcPct val="100000"/>
              </a:lnSpc>
            </a:pPr>
            <a:r>
              <a:rPr sz="1600">
                <a:solidFill>
                  <a:srgbClr val="4F5D6A"/>
                </a:solidFill>
                <a:latin typeface="Consolas"/>
              </a:rPr>
              <a:t>11</a:t>
            </a:r>
          </a:p>
          <a:p>
            <a:pPr algn="r">
              <a:lnSpc>
                <a:spcPct val="100000"/>
              </a:lnSpc>
            </a:pPr>
            <a:r>
              <a:rPr sz="1600">
                <a:solidFill>
                  <a:srgbClr val="4F5D6A"/>
                </a:solidFill>
                <a:latin typeface="Consolas"/>
              </a:rPr>
              <a:t>12</a:t>
            </a:r>
          </a:p>
          <a:p>
            <a:pPr algn="r">
              <a:lnSpc>
                <a:spcPct val="100000"/>
              </a:lnSpc>
            </a:pPr>
            <a:r>
              <a:rPr sz="1600">
                <a:solidFill>
                  <a:srgbClr val="4F5D6A"/>
                </a:solidFill>
                <a:latin typeface="Consolas"/>
              </a:rPr>
              <a:t>13</a:t>
            </a:r>
          </a:p>
          <a:p>
            <a:pPr algn="r">
              <a:lnSpc>
                <a:spcPct val="100000"/>
              </a:lnSpc>
            </a:pPr>
            <a:r>
              <a:rPr sz="1600">
                <a:solidFill>
                  <a:srgbClr val="4F5D6A"/>
                </a:solidFill>
                <a:latin typeface="Consolas"/>
              </a:rPr>
              <a:t>14</a:t>
            </a:r>
          </a:p>
          <a:p>
            <a:pPr algn="r">
              <a:lnSpc>
                <a:spcPct val="100000"/>
              </a:lnSpc>
            </a:pPr>
            <a:r>
              <a:rPr sz="1600">
                <a:solidFill>
                  <a:srgbClr val="4F5D6A"/>
                </a:solidFill>
                <a:latin typeface="Consolas"/>
              </a:rPr>
              <a:t>15</a:t>
            </a:r>
          </a:p>
          <a:p>
            <a:pPr algn="r">
              <a:lnSpc>
                <a:spcPct val="100000"/>
              </a:lnSpc>
            </a:pPr>
            <a:r>
              <a:rPr sz="16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939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TF-IDF Classifier and Topics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131     </a:t>
            </a:r>
            <a:fld id="{F0DB7AD8-BB35-423E-8EDD-DAC136366674}"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WHY did it decide that? the great virtue of this approach</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66543"/>
          </a:xfrm>
          <a:prstGeom prst="roundRect">
            <a:avLst>
              <a:gd name="adj" fmla="val 44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2. WHY did it decide that? the great virtue of this approach ----- vec, lr = clf.named_steps[&quot;tfidfvectorizer&quot;], clf.named_steps[&quot;logisticregression&quot;] terms = np.array(vec.get_feature_names_out()) top = lr.coef_[0].argsort() print(&quot;most indicative of the positive class:&quot;, terms[top[-12:]][::-1]) print(&quot;most indicative of the negative class:&quot;, terms[top[:12]])"/>
          <p:cNvSpPr txBox="1"/>
          <p:nvPr/>
        </p:nvSpPr>
        <p:spPr>
          <a:xfrm>
            <a:off x="1362456" y="2523744"/>
            <a:ext cx="9987991" cy="1572768"/>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--- 2. WHY did it decide that? the great virtue of this approach -----</a:t>
            </a:r>
          </a:p>
          <a:p>
            <a:pPr>
              <a:lnSpc>
                <a:spcPct val="100000"/>
              </a:lnSpc>
              <a:spcAft>
                <a:spcPts val="0"/>
              </a:spcAft>
            </a:pPr>
            <a:r>
              <a:rPr sz="1600" i="0">
                <a:solidFill>
                  <a:srgbClr val="E8EDF2"/>
                </a:solidFill>
                <a:latin typeface="Consolas"/>
              </a:rPr>
              <a:t>vec</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lr</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clf</a:t>
            </a:r>
            <a:r>
              <a:rPr sz="1600" i="0">
                <a:solidFill>
                  <a:srgbClr val="AEB6BF"/>
                </a:solidFill>
                <a:latin typeface="Consolas"/>
              </a:rPr>
              <a:t>.</a:t>
            </a:r>
            <a:r>
              <a:rPr sz="1600" i="0">
                <a:solidFill>
                  <a:srgbClr val="E8EDF2"/>
                </a:solidFill>
                <a:latin typeface="Consolas"/>
              </a:rPr>
              <a:t>named_steps</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tfidfvectorizer</a:t>
            </a:r>
            <a:r>
              <a:rPr sz="1600" i="0">
                <a:solidFill>
                  <a:srgbClr val="7DCEA0"/>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clf</a:t>
            </a:r>
            <a:r>
              <a:rPr sz="1600" i="0">
                <a:solidFill>
                  <a:srgbClr val="AEB6BF"/>
                </a:solidFill>
                <a:latin typeface="Consolas"/>
              </a:rPr>
              <a:t>.</a:t>
            </a:r>
            <a:r>
              <a:rPr sz="1600" i="0">
                <a:solidFill>
                  <a:srgbClr val="E8EDF2"/>
                </a:solidFill>
                <a:latin typeface="Consolas"/>
              </a:rPr>
              <a:t>named_steps</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logisticregression</a:t>
            </a:r>
            <a:r>
              <a:rPr sz="1600" i="0">
                <a:solidFill>
                  <a:srgbClr val="7DCEA0"/>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terms</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array</a:t>
            </a:r>
            <a:r>
              <a:rPr sz="1600" i="0">
                <a:solidFill>
                  <a:srgbClr val="AEB6BF"/>
                </a:solidFill>
                <a:latin typeface="Consolas"/>
              </a:rPr>
              <a:t>(</a:t>
            </a:r>
            <a:r>
              <a:rPr sz="1600" i="0">
                <a:solidFill>
                  <a:srgbClr val="E8EDF2"/>
                </a:solidFill>
                <a:latin typeface="Consolas"/>
              </a:rPr>
              <a:t>vec</a:t>
            </a:r>
            <a:r>
              <a:rPr sz="1600" i="0">
                <a:solidFill>
                  <a:srgbClr val="AEB6BF"/>
                </a:solidFill>
                <a:latin typeface="Consolas"/>
              </a:rPr>
              <a:t>.</a:t>
            </a:r>
            <a:r>
              <a:rPr sz="1600" i="0">
                <a:solidFill>
                  <a:srgbClr val="E8EDF2"/>
                </a:solidFill>
                <a:latin typeface="Consolas"/>
              </a:rPr>
              <a:t>get_feature_names_out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top</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lr</a:t>
            </a:r>
            <a:r>
              <a:rPr sz="1600" i="0">
                <a:solidFill>
                  <a:srgbClr val="AEB6BF"/>
                </a:solidFill>
                <a:latin typeface="Consolas"/>
              </a:rPr>
              <a:t>.</a:t>
            </a:r>
            <a:r>
              <a:rPr sz="1600" i="0">
                <a:solidFill>
                  <a:srgbClr val="E8EDF2"/>
                </a:solidFill>
                <a:latin typeface="Consolas"/>
              </a:rPr>
              <a:t>coef_</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argsort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most indicative of the positive class:</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terms</a:t>
            </a:r>
            <a:r>
              <a:rPr sz="1600" i="0">
                <a:solidFill>
                  <a:srgbClr val="AEB6BF"/>
                </a:solidFill>
                <a:latin typeface="Consolas"/>
              </a:rPr>
              <a:t>[</a:t>
            </a:r>
            <a:r>
              <a:rPr sz="1600" i="0">
                <a:solidFill>
                  <a:srgbClr val="E8EDF2"/>
                </a:solidFill>
                <a:latin typeface="Consolas"/>
              </a:rPr>
              <a:t>top</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12</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1</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most indicative of the negative class:</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terms</a:t>
            </a:r>
            <a:r>
              <a:rPr sz="1600" i="0">
                <a:solidFill>
                  <a:srgbClr val="AEB6BF"/>
                </a:solidFill>
                <a:latin typeface="Consolas"/>
              </a:rPr>
              <a:t>[</a:t>
            </a:r>
            <a:r>
              <a:rPr sz="1600" i="0">
                <a:solidFill>
                  <a:srgbClr val="E8EDF2"/>
                </a:solidFill>
                <a:latin typeface="Consolas"/>
              </a:rPr>
              <a:t>top</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12</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p:txBody>
      </p:sp>
      <p:sp>
        <p:nvSpPr>
          <p:cNvPr id="15" name="!!code-num"/>
          <p:cNvSpPr txBox="1"/>
          <p:nvPr/>
        </p:nvSpPr>
        <p:spPr>
          <a:xfrm>
            <a:off x="768096" y="2523744"/>
            <a:ext cx="393192" cy="157276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17</a:t>
            </a:r>
          </a:p>
          <a:p>
            <a:pPr algn="r">
              <a:lnSpc>
                <a:spcPct val="100000"/>
              </a:lnSpc>
            </a:pPr>
            <a:r>
              <a:rPr sz="1600">
                <a:solidFill>
                  <a:srgbClr val="4F5D6A"/>
                </a:solidFill>
                <a:latin typeface="Consolas"/>
              </a:rPr>
              <a:t>18</a:t>
            </a:r>
          </a:p>
          <a:p>
            <a:pPr algn="r">
              <a:lnSpc>
                <a:spcPct val="100000"/>
              </a:lnSpc>
            </a:pPr>
            <a:r>
              <a:rPr sz="1600">
                <a:solidFill>
                  <a:srgbClr val="4F5D6A"/>
                </a:solidFill>
                <a:latin typeface="Consolas"/>
              </a:rPr>
              <a:t>19</a:t>
            </a:r>
          </a:p>
          <a:p>
            <a:pPr algn="r">
              <a:lnSpc>
                <a:spcPct val="100000"/>
              </a:lnSpc>
            </a:pPr>
            <a:r>
              <a:rPr sz="1600">
                <a:solidFill>
                  <a:srgbClr val="4F5D6A"/>
                </a:solidFill>
                <a:latin typeface="Consolas"/>
              </a:rPr>
              <a:t>20</a:t>
            </a:r>
          </a:p>
          <a:p>
            <a:pPr algn="r">
              <a:lnSpc>
                <a:spcPct val="100000"/>
              </a:lnSpc>
            </a:pPr>
            <a:r>
              <a:rPr sz="1600">
                <a:solidFill>
                  <a:srgbClr val="4F5D6A"/>
                </a:solidFill>
                <a:latin typeface="Consolas"/>
              </a:rPr>
              <a:t>21</a:t>
            </a:r>
          </a:p>
          <a:p>
            <a:pPr algn="r">
              <a:lnSpc>
                <a:spcPct val="100000"/>
              </a:lnSpc>
            </a:pPr>
            <a:r>
              <a:rPr sz="16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TF-IDF Classifier and Topics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§20.4  ·  Handout p. 131     </a:t>
            </a:r>
            <a:fld id="{B296C5AA-3F1C-4E1F-9292-193CC74E7E3C}"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Topic modelling: ALWAYS read the topics before believing them</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76144"/>
          </a:xfrm>
          <a:prstGeom prst="roundRect">
            <a:avLst>
              <a:gd name="adj" fmla="val 34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3. topic modelling: ALWAYS read the topics before believing them - counts = TfidfVectorizer(max_df=0.85, min_df=5).fit(all_texts) lda = LatentDirichletAllocation(n_components=6, random_state=0) lda.fit(counts.transform(all_texts)) vocab = counts.get_feature_names_out() for k, comp in enumerate(lda.components_): print(f&quot;topic {k}:&quot;, &quot;, &quot;.join(vocab[i] for i in comp.argsort()[-8:][::-1])) # Inspect each one. Expect at least one to be an artefact like Topic 4 above."/>
          <p:cNvSpPr txBox="1"/>
          <p:nvPr/>
        </p:nvSpPr>
        <p:spPr>
          <a:xfrm>
            <a:off x="1362456" y="2523744"/>
            <a:ext cx="9987991" cy="218236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--- 3. topic modelling: ALWAYS read the topics before believing them -</a:t>
            </a:r>
          </a:p>
          <a:p>
            <a:pPr>
              <a:lnSpc>
                <a:spcPct val="100000"/>
              </a:lnSpc>
              <a:spcAft>
                <a:spcPts val="0"/>
              </a:spcAft>
            </a:pPr>
            <a:r>
              <a:rPr sz="1700" i="0">
                <a:solidFill>
                  <a:srgbClr val="E8EDF2"/>
                </a:solidFill>
                <a:latin typeface="Consolas"/>
              </a:rPr>
              <a:t>counts</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TfidfVectorizer</a:t>
            </a:r>
            <a:r>
              <a:rPr sz="1700" i="0">
                <a:solidFill>
                  <a:srgbClr val="AEB6BF"/>
                </a:solidFill>
                <a:latin typeface="Consolas"/>
              </a:rPr>
              <a:t>(</a:t>
            </a:r>
            <a:r>
              <a:rPr sz="1700" i="0">
                <a:solidFill>
                  <a:srgbClr val="E8EDF2"/>
                </a:solidFill>
                <a:latin typeface="Consolas"/>
              </a:rPr>
              <a:t>max_df</a:t>
            </a:r>
            <a:r>
              <a:rPr sz="1700" i="0">
                <a:solidFill>
                  <a:srgbClr val="AEB6BF"/>
                </a:solidFill>
                <a:latin typeface="Consolas"/>
              </a:rPr>
              <a:t>=</a:t>
            </a:r>
            <a:r>
              <a:rPr sz="1700" i="0">
                <a:solidFill>
                  <a:srgbClr val="F7DC6F"/>
                </a:solidFill>
                <a:latin typeface="Consolas"/>
              </a:rPr>
              <a:t>0.85</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min_df</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all_texts</a:t>
            </a:r>
            <a:r>
              <a:rPr sz="1700" i="0">
                <a:solidFill>
                  <a:srgbClr val="AEB6BF"/>
                </a:solidFill>
                <a:latin typeface="Consolas"/>
              </a:rPr>
              <a:t>)</a:t>
            </a:r>
          </a:p>
          <a:p>
            <a:pPr>
              <a:lnSpc>
                <a:spcPct val="100000"/>
              </a:lnSpc>
              <a:spcAft>
                <a:spcPts val="0"/>
              </a:spcAft>
            </a:pPr>
            <a:r>
              <a:rPr sz="1700" i="0">
                <a:solidFill>
                  <a:srgbClr val="E8EDF2"/>
                </a:solidFill>
                <a:latin typeface="Consolas"/>
              </a:rPr>
              <a:t>lda</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LatentDirichletAllocation</a:t>
            </a:r>
            <a:r>
              <a:rPr sz="1700" i="0">
                <a:solidFill>
                  <a:srgbClr val="AEB6BF"/>
                </a:solidFill>
                <a:latin typeface="Consolas"/>
              </a:rPr>
              <a:t>(</a:t>
            </a:r>
            <a:r>
              <a:rPr sz="1700" i="0">
                <a:solidFill>
                  <a:srgbClr val="E8EDF2"/>
                </a:solidFill>
                <a:latin typeface="Consolas"/>
              </a:rPr>
              <a:t>n_components</a:t>
            </a:r>
            <a:r>
              <a:rPr sz="1700" i="0">
                <a:solidFill>
                  <a:srgbClr val="AEB6BF"/>
                </a:solidFill>
                <a:latin typeface="Consolas"/>
              </a:rPr>
              <a:t>=</a:t>
            </a:r>
            <a:r>
              <a:rPr sz="1700" i="0">
                <a:solidFill>
                  <a:srgbClr val="F7DC6F"/>
                </a:solidFill>
                <a:latin typeface="Consolas"/>
              </a:rPr>
              <a:t>6</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random_state</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i="0">
                <a:solidFill>
                  <a:srgbClr val="E8EDF2"/>
                </a:solidFill>
                <a:latin typeface="Consolas"/>
              </a:rPr>
              <a:t>lda</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counts</a:t>
            </a:r>
            <a:r>
              <a:rPr sz="1700" i="0">
                <a:solidFill>
                  <a:srgbClr val="AEB6BF"/>
                </a:solidFill>
                <a:latin typeface="Consolas"/>
              </a:rPr>
              <a:t>.</a:t>
            </a:r>
            <a:r>
              <a:rPr sz="1700" i="0">
                <a:solidFill>
                  <a:srgbClr val="E8EDF2"/>
                </a:solidFill>
                <a:latin typeface="Consolas"/>
              </a:rPr>
              <a:t>transform</a:t>
            </a:r>
            <a:r>
              <a:rPr sz="1700" i="0">
                <a:solidFill>
                  <a:srgbClr val="AEB6BF"/>
                </a:solidFill>
                <a:latin typeface="Consolas"/>
              </a:rPr>
              <a:t>(</a:t>
            </a:r>
            <a:r>
              <a:rPr sz="1700" i="0">
                <a:solidFill>
                  <a:srgbClr val="E8EDF2"/>
                </a:solidFill>
                <a:latin typeface="Consolas"/>
              </a:rPr>
              <a:t>all_texts</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vocab</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counts</a:t>
            </a:r>
            <a:r>
              <a:rPr sz="1700" i="0">
                <a:solidFill>
                  <a:srgbClr val="AEB6BF"/>
                </a:solidFill>
                <a:latin typeface="Consolas"/>
              </a:rPr>
              <a:t>.</a:t>
            </a:r>
            <a:r>
              <a:rPr sz="1700" i="0">
                <a:solidFill>
                  <a:srgbClr val="E8EDF2"/>
                </a:solidFill>
                <a:latin typeface="Consolas"/>
              </a:rPr>
              <a:t>get_feature_names_out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k</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comp</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C39BD3"/>
                </a:solidFill>
                <a:latin typeface="Consolas"/>
              </a:rPr>
              <a:t>enumerate</a:t>
            </a:r>
            <a:r>
              <a:rPr sz="1700" i="0">
                <a:solidFill>
                  <a:srgbClr val="AEB6BF"/>
                </a:solidFill>
                <a:latin typeface="Consolas"/>
              </a:rPr>
              <a:t>(</a:t>
            </a:r>
            <a:r>
              <a:rPr sz="1700" i="0">
                <a:solidFill>
                  <a:srgbClr val="E8EDF2"/>
                </a:solidFill>
                <a:latin typeface="Consolas"/>
              </a:rPr>
              <a:t>lda</a:t>
            </a:r>
            <a:r>
              <a:rPr sz="1700" i="0">
                <a:solidFill>
                  <a:srgbClr val="AEB6BF"/>
                </a:solidFill>
                <a:latin typeface="Consolas"/>
              </a:rPr>
              <a:t>.</a:t>
            </a:r>
            <a:r>
              <a:rPr sz="1700" i="0">
                <a:solidFill>
                  <a:srgbClr val="E8EDF2"/>
                </a:solidFill>
                <a:latin typeface="Consolas"/>
              </a:rPr>
              <a:t>components_</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topic </a:t>
            </a:r>
            <a:r>
              <a:rPr sz="1700" i="0">
                <a:solidFill>
                  <a:srgbClr val="7DCEA0"/>
                </a:solidFill>
                <a:latin typeface="Consolas"/>
              </a:rPr>
              <a:t>{</a:t>
            </a:r>
            <a:r>
              <a:rPr sz="1700" i="0">
                <a:solidFill>
                  <a:srgbClr val="E8EDF2"/>
                </a:solidFill>
                <a:latin typeface="Consolas"/>
              </a:rPr>
              <a:t>k</a:t>
            </a:r>
            <a:r>
              <a:rPr sz="1700" i="0">
                <a:solidFill>
                  <a:srgbClr val="7DCEA0"/>
                </a:solidFill>
                <a:latin typeface="Consolas"/>
              </a:rPr>
              <a:t>}</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join</a:t>
            </a:r>
            <a:r>
              <a:rPr sz="1700" i="0">
                <a:solidFill>
                  <a:srgbClr val="AEB6BF"/>
                </a:solidFill>
                <a:latin typeface="Consolas"/>
              </a:rPr>
              <a:t>(</a:t>
            </a:r>
            <a:r>
              <a:rPr sz="1700" i="0">
                <a:solidFill>
                  <a:srgbClr val="E8EDF2"/>
                </a:solidFill>
                <a:latin typeface="Consolas"/>
              </a:rPr>
              <a:t>vocab</a:t>
            </a:r>
            <a:r>
              <a:rPr sz="1700" i="0">
                <a:solidFill>
                  <a:srgbClr val="AEB6BF"/>
                </a:solidFill>
                <a:latin typeface="Consolas"/>
              </a:rPr>
              <a:t>[</a:t>
            </a:r>
            <a:r>
              <a:rPr sz="1700" i="0">
                <a:solidFill>
                  <a:srgbClr val="E8EDF2"/>
                </a:solidFill>
                <a:latin typeface="Consolas"/>
              </a:rPr>
              <a:t>i</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i</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comp</a:t>
            </a:r>
            <a:r>
              <a:rPr sz="1700" i="0">
                <a:solidFill>
                  <a:srgbClr val="AEB6BF"/>
                </a:solidFill>
                <a:latin typeface="Consolas"/>
              </a:rPr>
              <a:t>.</a:t>
            </a:r>
            <a:r>
              <a:rPr sz="1700" i="0">
                <a:solidFill>
                  <a:srgbClr val="E8EDF2"/>
                </a:solidFill>
                <a:latin typeface="Consolas"/>
              </a:rPr>
              <a:t>argsort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8</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1">
                <a:solidFill>
                  <a:srgbClr val="8795A1"/>
                </a:solidFill>
                <a:latin typeface="Consolas"/>
              </a:rPr>
              <a:t># Inspect each one. Expect at least one to be an artefact like Topic 4 above.</a:t>
            </a:r>
          </a:p>
        </p:txBody>
      </p:sp>
      <p:sp>
        <p:nvSpPr>
          <p:cNvPr id="15" name="!!code-num"/>
          <p:cNvSpPr txBox="1"/>
          <p:nvPr/>
        </p:nvSpPr>
        <p:spPr>
          <a:xfrm>
            <a:off x="768096" y="2523744"/>
            <a:ext cx="393192" cy="218236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23</a:t>
            </a:r>
          </a:p>
          <a:p>
            <a:pPr algn="r">
              <a:lnSpc>
                <a:spcPct val="100000"/>
              </a:lnSpc>
            </a:pPr>
            <a:r>
              <a:rPr sz="1700">
                <a:solidFill>
                  <a:srgbClr val="4F5D6A"/>
                </a:solidFill>
                <a:latin typeface="Consolas"/>
              </a:rPr>
              <a:t>24</a:t>
            </a:r>
          </a:p>
          <a:p>
            <a:pPr algn="r">
              <a:lnSpc>
                <a:spcPct val="100000"/>
              </a:lnSpc>
            </a:pPr>
            <a:r>
              <a:rPr sz="1700">
                <a:solidFill>
                  <a:srgbClr val="4F5D6A"/>
                </a:solidFill>
                <a:latin typeface="Consolas"/>
              </a:rPr>
              <a:t>25</a:t>
            </a:r>
          </a:p>
          <a:p>
            <a:pPr algn="r">
              <a:lnSpc>
                <a:spcPct val="100000"/>
              </a:lnSpc>
            </a:pPr>
            <a:r>
              <a:rPr sz="1700">
                <a:solidFill>
                  <a:srgbClr val="4F5D6A"/>
                </a:solidFill>
                <a:latin typeface="Consolas"/>
              </a:rPr>
              <a:t>26</a:t>
            </a:r>
          </a:p>
          <a:p>
            <a:pPr algn="r">
              <a:lnSpc>
                <a:spcPct val="100000"/>
              </a:lnSpc>
            </a:pPr>
            <a:r>
              <a:rPr sz="1700">
                <a:solidFill>
                  <a:srgbClr val="4F5D6A"/>
                </a:solidFill>
                <a:latin typeface="Consolas"/>
              </a:rPr>
              <a:t>27</a:t>
            </a:r>
          </a:p>
          <a:p>
            <a:pPr algn="r">
              <a:lnSpc>
                <a:spcPct val="100000"/>
              </a:lnSpc>
            </a:pPr>
            <a:r>
              <a:rPr sz="1700">
                <a:solidFill>
                  <a:srgbClr val="4F5D6A"/>
                </a:solidFill>
                <a:latin typeface="Consolas"/>
              </a:rPr>
              <a:t>28</a:t>
            </a:r>
          </a:p>
          <a:p>
            <a:pPr algn="r">
              <a:lnSpc>
                <a:spcPct val="100000"/>
              </a:lnSpc>
            </a:pPr>
            <a:r>
              <a:rPr sz="1700">
                <a:solidFill>
                  <a:srgbClr val="4F5D6A"/>
                </a:solidFill>
                <a:latin typeface="Consolas"/>
              </a:rPr>
              <a:t>29</a:t>
            </a:r>
          </a:p>
          <a:p>
            <a:pPr algn="r">
              <a:lnSpc>
                <a:spcPct val="100000"/>
              </a:lnSpc>
            </a:pPr>
            <a:r>
              <a:rPr sz="1700">
                <a:solidFill>
                  <a:srgbClr val="4F5D6A"/>
                </a:solidFill>
                <a:latin typeface="Consolas"/>
              </a:rPr>
              <a:t>30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389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word appears in every document of a corpus. What is its IDF, and what does that do to its TF-IDF score?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20  ·  Text and Natural Language Processing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133  ·  answers in Appendix D     </a:t>
            </a:r>
            <a:fld id="{2AC869D0-AFFA-4DD6-BFA6-508A5319D794}" type="slidenum">
              <a:rPr lang="en-GB" sz="1000">
                <a:solidFill>
                  <a:srgbClr val="D5DEE5"/>
                </a:solidFill>
                <a:latin typeface="Segoe UI"/>
              </a:rPr>
              <a:t>30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word appears in every document of a corpus. What is its IDF, and what does that do to its TF-IDF score?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log(</a:t>
            </a:r>
            <a:r>
              <a:rPr sz="2200" b="0" i="1">
                <a:solidFill>
                  <a:srgbClr val="1C252B"/>
                </a:solidFill>
                <a:latin typeface="Cambria"/>
              </a:rPr>
              <a:t>N</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 = log 1 = 0</a:t>
            </a:r>
            <a:r>
              <a:rPr sz="2200" b="0" i="0">
                <a:solidFill>
                  <a:srgbClr val="1C252B"/>
                </a:solidFill>
                <a:latin typeface="Segoe UI"/>
              </a:rPr>
              <a:t>, so its TF-IDF score is zero regardless of how often it appears. IDF removes uninformative words automatically.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  answers in Appendix D     </a:t>
            </a:r>
            <a:fld id="{079C3517-4160-4CAF-8207-418CE0650B3E}" type="slidenum">
              <a:rPr lang="en-GB" sz="1000">
                <a:solidFill>
                  <a:srgbClr val="8795A1"/>
                </a:solidFill>
                <a:latin typeface="Segoe UI"/>
              </a:rPr>
              <a:t>31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485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Give a concrete example where removing stop words would reverse the meaning of a document.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20  ·  Text and Natural Language Processing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133  ·  answers in Appendix D     </a:t>
            </a:r>
            <a:fld id="{536D9C07-848D-4990-8FD2-B3CC876FC32B}"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Give a concrete example where removing stop words would reverse the meaning of a document.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system is </a:t>
            </a:r>
            <a:r>
              <a:rPr sz="2200" b="0" i="1">
                <a:solidFill>
                  <a:srgbClr val="1C252B"/>
                </a:solidFill>
                <a:latin typeface="Segoe UI"/>
              </a:rPr>
              <a:t>not</a:t>
            </a:r>
            <a:r>
              <a:rPr sz="2200" b="0" i="0">
                <a:solidFill>
                  <a:srgbClr val="1C252B"/>
                </a:solidFill>
                <a:latin typeface="Segoe UI"/>
              </a:rPr>
              <a:t> vulnerable” becomes “system vulnerable” once </a:t>
            </a:r>
            <a:r>
              <a:rPr sz="2200" b="0" i="1">
                <a:solidFill>
                  <a:srgbClr val="1C252B"/>
                </a:solidFill>
                <a:latin typeface="Segoe UI"/>
              </a:rPr>
              <a:t>not</a:t>
            </a:r>
            <a:r>
              <a:rPr sz="2200" b="0" i="0">
                <a:solidFill>
                  <a:srgbClr val="1C252B"/>
                </a:solidFill>
                <a:latin typeface="Segoe UI"/>
              </a:rPr>
              <a:t> is removed as a stop word — an exact reversal. Bigrams or a curated stop-word list avoid this.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  answers in Appendix D     </a:t>
            </a:r>
            <a:fld id="{E1E0E193-32FF-4687-9F75-25E8517F691B}"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5814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TF-IDF treat “server” and “host” as completely unrelated, and what representation fixes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20  ·  Text and Natural Language Processing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133  ·  answers in Appendix D     </a:t>
            </a:r>
            <a:fld id="{448C8DBD-FEC8-41FF-A383-6061A05A6E63}"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TF-IDF treat “server” and “host” as completely unrelated, and what representation fixes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bag-of-words dimensions correspond to exact strings, and “server” and “host” are simply different strings. Dense embeddings, which place words used in similar contexts near each other, fix it.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  answers in Appendix D     </a:t>
            </a:r>
            <a:fld id="{C57699E6-90A1-4180-BBA2-8F47FEE62888}"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796AA1BF-CDA4-4590-8062-A4593B3015B7}" type="slidenum">
              <a:rPr lang="en-GB" sz="1000">
                <a:solidFill>
                  <a:srgbClr val="8795A1"/>
                </a:solidFill>
                <a:latin typeface="Segoe UI"/>
              </a:rPr>
              <a:t>36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Text must become a numeric matrix; every preprocessing step trades information for tractability and must be justified.</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Bag of words discards order; TF-IDF weights terms by frequency in the document and rarity in the corpus, and downweights common words automatically.</a:t>
            </a:r>
          </a:p>
        </p:txBody>
      </p:sp>
      <p:sp>
        <p:nvSpPr>
          <p:cNvPr id="13" name="!!sb2">
            <a:extLst>
              <a:ext uri="{C183D7F6-B498-43B3-948B-1728B52AA6E4}">
                <adec:decorative xmlns:adec="http://schemas.microsoft.com/office/drawing/2017/decorative" val="1"/>
              </a:ext>
            </a:extLst>
          </p:cNvPr>
          <p:cNvSpPr/>
          <p:nvPr/>
        </p:nvSpPr>
        <p:spPr>
          <a:xfrm>
            <a:off x="658368" y="33802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3509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7108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Sparse representations are interpretable but blind to synonymy; dense embeddings capture meaning as geometry but individual dimensions mean nothing.</a:t>
            </a:r>
          </a:p>
        </p:txBody>
      </p:sp>
      <p:sp>
        <p:nvSpPr>
          <p:cNvPr id="16" name="!!sb3">
            <a:extLst>
              <a:ext uri="{C183D7F6-B498-43B3-948B-1728B52AA6E4}">
                <adec:decorative xmlns:adec="http://schemas.microsoft.com/office/drawing/2017/decorative" val="1"/>
              </a:ext>
            </a:extLst>
          </p:cNvPr>
          <p:cNvSpPr/>
          <p:nvPr/>
        </p:nvSpPr>
        <p:spPr>
          <a:xfrm>
            <a:off x="658368" y="419709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5196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8795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Contextual embeddings from transformers give a word a different vector in each sentence, which is the main modern advance.</a:t>
            </a:r>
          </a:p>
        </p:txBody>
      </p:sp>
      <p:sp>
        <p:nvSpPr>
          <p:cNvPr id="19" name="!!sb4">
            <a:extLst>
              <a:ext uri="{C183D7F6-B498-43B3-948B-1728B52AA6E4}">
                <adec:decorative xmlns:adec="http://schemas.microsoft.com/office/drawing/2017/decorative" val="1"/>
              </a:ext>
            </a:extLst>
          </p:cNvPr>
          <p:cNvSpPr/>
          <p:nvPr/>
        </p:nvSpPr>
        <p:spPr>
          <a:xfrm>
            <a:off x="658368" y="501396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06882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00481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Topic models find word clusters, not topics. Human inspection is mandatory.</a:t>
            </a:r>
          </a:p>
        </p:txBody>
      </p:sp>
      <p:sp>
        <p:nvSpPr>
          <p:cNvPr id="22" name="!!sb5">
            <a:extLst>
              <a:ext uri="{C183D7F6-B498-43B3-948B-1728B52AA6E4}">
                <adec:decorative xmlns:adec="http://schemas.microsoft.com/office/drawing/2017/decorative" val="1"/>
              </a:ext>
            </a:extLst>
          </p:cNvPr>
          <p:cNvSpPr/>
          <p:nvPr/>
        </p:nvSpPr>
        <p:spPr>
          <a:xfrm>
            <a:off x="658368" y="55991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540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9003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TF-IDF plus logistic regression remains a fast, strong, explainable baseline — try it before anything larger.</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0FD4087A-A77F-42EB-8870-5B33DB9BD711}"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term appearing in 1 of 1000 documents has an IDF of roughly: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3</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7</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7731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B03C4294-6028-42EE-BCDE-850CEB3A5763}"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representation captures that “laptop” and “notebook” are related?</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bag of words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TF-IDF</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word embeddings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n-grams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821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20  ·  Text and Natural Language Processing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FEB8CC34-31EC-4A5E-ABC0-7FB539E14D90}" type="slidenum">
              <a:rPr lang="en-GB" sz="1000">
                <a:solidFill>
                  <a:srgbClr val="8795A1"/>
                </a:solidFill>
                <a:latin typeface="Segoe UI"/>
              </a:rPr>
              <a:t>39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in your own words what TF-IDF measures and why the IDF term makes stop-word removal partly redundant.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reasons why bigrams often improve a text classifier.</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must topic model output be inspected by a human before it is reported?</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Design a pipeline to classify 40,000 IT support tickets into eight categories. State your preprocessing choices with a justification for each, your representation, your model, and your evaluation metric — noting that the categories are heavily imbalanced.</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phishing classifier trained on TF-IDF starts failing. Investigation shows attackers now write “pa55word” and “inv0ice”. Explain why the model failed, and propose two changes that would make it more robust.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8690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20</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20</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21 — Generative AI and Large Language Models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20, pages 129–133</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Decompose &amp; walk-forward; TF-IDF classifier</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20  ·  Text and Natural Language Processing</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1334C843-D3BC-4F94-95C1-C65A4653D0F5}"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20: Text and Natural Language Processing</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