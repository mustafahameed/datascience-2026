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ED972E-9E79-4DC8-869B-D707A0ACD38A}">
          <p14:sldIdLst>
            <p14:sldId id="256"/>
            <p14:sldId id="257"/>
            <p14:sldId id="258"/>
            <p14:sldId id="259"/>
          </p14:sldIdLst>
        </p14:section>
        <p14:section name="32.1 The Shared Problem" id="{6BD2CC58-E9DE-4E0C-B7F8-601880327F03}">
          <p14:sldIdLst>
            <p14:sldId id="260"/>
            <p14:sldId id="261"/>
            <p14:sldId id="262"/>
            <p14:sldId id="263"/>
          </p14:sldIdLst>
        </p14:section>
        <p14:section name="32.2 The Capstone Brief" id="{A8D8D870-FF4F-4853-B69C-F087FE780321}">
          <p14:sldIdLst>
            <p14:sldId id="264"/>
            <p14:sldId id="265"/>
            <p14:sldId id="266"/>
          </p14:sldIdLst>
        </p14:section>
        <p14:section name="32.3 The Four Deliverables" id="{B12AF44F-7408-40D8-9178-4B1D895BA7E7}">
          <p14:sldIdLst>
            <p14:sldId id="267"/>
          </p14:sldIdLst>
        </p14:section>
        <p14:section name="32.4 Marking Rubric — Assess Yourself First" id="{863F0C9C-6636-4901-B2D2-466E01D59DCA}">
          <p14:sldIdLst>
            <p14:sldId id="268"/>
            <p14:sldId id="269"/>
            <p14:sldId id="270"/>
          </p14:sldIdLst>
        </p14:section>
        <p14:section name="Four lenses" id="{E3D24850-7DFF-4A2E-9749-4EA18074522D}">
          <p14:sldIdLst>
            <p14:sldId id="271"/>
            <p14:sldId id="272"/>
            <p14:sldId id="273"/>
            <p14:sldId id="274"/>
            <p14:sldId id="275"/>
          </p14:sldIdLst>
        </p14:section>
        <p14:section name="Lab" id="{D29D676B-7975-47A6-ACFF-B34D3442DBC8}">
          <p14:sldIdLst>
            <p14:sldId id="276"/>
            <p14:sldId id="277"/>
            <p14:sldId id="278"/>
            <p14:sldId id="279"/>
            <p14:sldId id="280"/>
            <p14:sldId id="281"/>
            <p14:sldId id="282"/>
            <p14:sldId id="283"/>
            <p14:sldId id="284"/>
            <p14:sldId id="285"/>
          </p14:sldIdLst>
        </p14:section>
        <p14:section name="Checkpoint" id="{061AA4A3-1DEB-4353-ACFB-91A7201EC92F}">
          <p14:sldIdLst>
            <p14:sldId id="286"/>
            <p14:sldId id="287"/>
            <p14:sldId id="288"/>
            <p14:sldId id="289"/>
            <p14:sldId id="290"/>
            <p14:sldId id="291"/>
          </p14:sldIdLst>
        </p14:section>
        <p14:section name="Wrap-up" id="{D79BAAF4-90D2-4C5B-9CD5-EF63FDC3F814}">
          <p14:sldIdLst>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32: Capstone: One Problem, Four Domains. Part 6 — Professional Practice. Week 16: MLOps; ethics; practice &amp; capstone. Handout pages 208–214.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All thirty-one preceding chapters. This one introduces no new technique — it asks whether you can choose among the ones you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Four Lenses panel in this book has hinted at something worth making explicit now: the four domains have been solving the same problem in different clothing.</a:t>
            </a:r>
          </a:p>
          <a:p/>
          <a:p>
            <a:r>
              <a:t>Figure 32.1 (handout p. 208): The common structure beneath the four domains. Recognising it is the point of the whole handout: the technique transfers, and the constraints do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32.2 (handout p. 209): The ten-step capstone process, with the chapter that supplies each step. If you can carry a problem through all ten and justify each choice, you have completed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If you built here and moved elsewhere: your interpretable model and counterfactual explanations were driven by the fairness stakes of modelling people. Moving to IoT, that constraint disappears and you may use a black box freely — which is a genuine gain in accuracy, obtained by leaving the hardest constraint behind. State that honestly rather than claiming the model improved.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If you built here: your entire design was shaped by n ≈ 40. Moving to security, you gain billions of rows and lose the ability to inspect them, so cross-validation stops being the bottleneck and label quality becomes it. Conversely, moving into project management from any other domain, expect to discard your model class entirely — ensembles cannot be justified on 40 rows.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If you built here: you had abundant data and almost no labels, so you used anomaly detection. Moving to learning analytics, labels appear but rows collapse from millions to thousands, and — decisively — the entity becomes a person with rights. Every architectural freedom you enjoyed at the edge is replaced by an accountability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If you built here: you designed against an adversary, chose features by manipulation cost, and worked backwards from analyst capacity. Moving to IoT, the adversary vanishes and you may use the cheap, obvious features you previously had to avoid. Moving into security from anywhere else, the reverse holds, and it is the single largest adjustment in this book: you must now assume your model will be studied and attacked.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FRAME (Ch 2) -- written down BEFORE any data is loaded.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2-3. AUDIT and EXPLORE (Ch 3, 7, 8).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BASELINE FIRST (Ch 11). Never skip..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5-6. FEATURES and MODEL (Ch 15, 19).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EVALUATE: right metric, cost-based threshold (Ch 14).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FAIRNESS (Ch 28).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9-10. DEPLOY and MONITOR plans (Ch 24, 27).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 Is it leakage? Check every feature against the prediction-time cutoff and check the split for entity or time overlap. (ii) What is the majority-class baseline? At 6% positives it is 94%, so 0.97 is a much smaller gain than it appears. Only then look at precision and recall.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 Labels appear but rows collapse from millions to thousands, so unsupervised anomaly detection gives way to supervised learning with careful validation. (ii) The entity becomes a person, so interpretability and a contest route become requirements rather than preferences. (iii) Ground-truth lag stretches to a full term, so input and prediction monitoring must carry the alerting load.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one-page decision brief. Its first two sentences must state what the system can do, in the sponsor’s units, and what you recommend doing about it — not the method.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32 chapters  ·  six parts  ·  four lenses  ·  one capstone. READ: Handout Chapter 32, pages 208–214.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 Id="rId5" Type="http://schemas.openxmlformats.org/officeDocument/2006/relationships/slide" Target="slide5.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image" Target="../media/image29.png"/><Relationship Id="rId9" Type="http://schemas.openxmlformats.org/officeDocument/2006/relationships/image" Target="../media/image30.svg"/><Relationship Id="rId10" Type="http://schemas.openxmlformats.org/officeDocument/2006/relationships/image" Target="../media/image31.png"/><Relationship Id="rId11" Type="http://schemas.openxmlformats.org/officeDocument/2006/relationships/image" Target="../media/image32.sv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25.png"/><Relationship Id="rId5" Type="http://schemas.openxmlformats.org/officeDocument/2006/relationships/image" Target="../media/image35.svg"/><Relationship Id="rId6" Type="http://schemas.openxmlformats.org/officeDocument/2006/relationships/image" Target="../media/image27.png"/><Relationship Id="rId7" Type="http://schemas.openxmlformats.org/officeDocument/2006/relationships/image" Target="../media/image36.svg"/><Relationship Id="rId8" Type="http://schemas.openxmlformats.org/officeDocument/2006/relationships/image" Target="../media/image29.png"/><Relationship Id="rId9" Type="http://schemas.openxmlformats.org/officeDocument/2006/relationships/image" Target="../media/image37.svg"/><Relationship Id="rId10" Type="http://schemas.openxmlformats.org/officeDocument/2006/relationships/image" Target="../media/image31.png"/><Relationship Id="rId11" Type="http://schemas.openxmlformats.org/officeDocument/2006/relationships/image" Target="../media/image38.svg"/><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27.png"/><Relationship Id="rId5" Type="http://schemas.openxmlformats.org/officeDocument/2006/relationships/image" Target="../media/image41.svg"/><Relationship Id="rId6" Type="http://schemas.openxmlformats.org/officeDocument/2006/relationships/image" Target="../media/image25.png"/><Relationship Id="rId7" Type="http://schemas.openxmlformats.org/officeDocument/2006/relationships/image" Target="../media/image42.svg"/><Relationship Id="rId8" Type="http://schemas.openxmlformats.org/officeDocument/2006/relationships/image" Target="../media/image29.png"/><Relationship Id="rId9" Type="http://schemas.openxmlformats.org/officeDocument/2006/relationships/image" Target="../media/image43.svg"/><Relationship Id="rId10" Type="http://schemas.openxmlformats.org/officeDocument/2006/relationships/image" Target="../media/image31.png"/><Relationship Id="rId11" Type="http://schemas.openxmlformats.org/officeDocument/2006/relationships/image" Target="../media/image44.svg"/><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29.png"/><Relationship Id="rId5" Type="http://schemas.openxmlformats.org/officeDocument/2006/relationships/image" Target="../media/image47.svg"/><Relationship Id="rId6" Type="http://schemas.openxmlformats.org/officeDocument/2006/relationships/image" Target="../media/image25.png"/><Relationship Id="rId7" Type="http://schemas.openxmlformats.org/officeDocument/2006/relationships/image" Target="../media/image48.svg"/><Relationship Id="rId8" Type="http://schemas.openxmlformats.org/officeDocument/2006/relationships/image" Target="../media/image27.png"/><Relationship Id="rId9" Type="http://schemas.openxmlformats.org/officeDocument/2006/relationships/image" Target="../media/image49.svg"/><Relationship Id="rId10" Type="http://schemas.openxmlformats.org/officeDocument/2006/relationships/image" Target="../media/image31.png"/><Relationship Id="rId11" Type="http://schemas.openxmlformats.org/officeDocument/2006/relationships/image" Target="../media/image50.svg"/><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1.png"/><Relationship Id="rId5" Type="http://schemas.openxmlformats.org/officeDocument/2006/relationships/image" Target="../media/image53.svg"/><Relationship Id="rId6" Type="http://schemas.openxmlformats.org/officeDocument/2006/relationships/image" Target="../media/image25.png"/><Relationship Id="rId7" Type="http://schemas.openxmlformats.org/officeDocument/2006/relationships/image" Target="../media/image54.svg"/><Relationship Id="rId8" Type="http://schemas.openxmlformats.org/officeDocument/2006/relationships/image" Target="../media/image27.png"/><Relationship Id="rId9" Type="http://schemas.openxmlformats.org/officeDocument/2006/relationships/image" Target="../media/image55.svg"/><Relationship Id="rId10" Type="http://schemas.openxmlformats.org/officeDocument/2006/relationships/image" Target="../media/image29.png"/><Relationship Id="rId11" Type="http://schemas.openxmlformats.org/officeDocument/2006/relationships/image" Target="../media/image56.sv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32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Capstone: One Problem, Four Domains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PROFESSIONAL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32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208     </a:t>
            </a:r>
            <a:fld id="{8C5D665B-3C56-4771-B9CE-D9FFEA867A6A}"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750675" y="1755648"/>
            <a:ext cx="150833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750675" y="2029967"/>
            <a:ext cx="1508331"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7098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0795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972685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6354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00840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99169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289957"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1985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571506"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4800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0862200"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086220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Capstone: One Problem, Four Domains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8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7"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8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pfill">
            <a:extLst>
              <a:ext uri="{C183D7F6-B498-43B3-948B-1728B52AA6E4}">
                <adec:decorative xmlns:adec="http://schemas.microsoft.com/office/drawing/2017/decorative" val="1"/>
              </a:ext>
            </a:extLst>
          </p:cNvPr>
          <p:cNvSpPr/>
          <p:nvPr/>
        </p:nvSpPr>
        <p:spPr>
          <a:xfrm>
            <a:off x="0" y="0"/>
            <a:ext cx="6252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208     </a:t>
            </a:r>
            <a:fld id="{4A67391A-795A-4ADA-ADB1-F4449B124EB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Execute</a:t>
            </a:r>
            <a:r>
              <a:rPr sz="2100" b="0" i="0">
                <a:solidFill>
                  <a:srgbClr val="1C252B"/>
                </a:solidFill>
                <a:latin typeface="Segoe UI"/>
              </a:rPr>
              <a:t> a complete data science project from framing to monitoring, unaided.</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Transfer</a:t>
            </a:r>
            <a:r>
              <a:rPr sz="2100" b="0" i="0">
                <a:solidFill>
                  <a:srgbClr val="1C252B"/>
                </a:solidFill>
                <a:latin typeface="Segoe UI"/>
              </a:rPr>
              <a:t> one technical approach across four application domains, adapting it to each.</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Justify</a:t>
            </a:r>
            <a:r>
              <a:rPr sz="2100" b="0" i="0">
                <a:solidFill>
                  <a:srgbClr val="1C252B"/>
                </a:solidFill>
                <a:latin typeface="Segoe UI"/>
              </a:rPr>
              <a:t> every design decision by reference to the constraint that forced it.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Produce</a:t>
            </a:r>
            <a:r>
              <a:rPr sz="2100" b="0" i="0">
                <a:solidFill>
                  <a:srgbClr val="1C252B"/>
                </a:solidFill>
                <a:latin typeface="Segoe UI"/>
              </a:rPr>
              <a:t> the four artefacts a professional project delivers.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Assess</a:t>
            </a:r>
            <a:r>
              <a:rPr sz="2100" b="0" i="0">
                <a:solidFill>
                  <a:srgbClr val="1C252B"/>
                </a:solidFill>
                <a:latin typeface="Segoe UI"/>
              </a:rPr>
              <a:t> your own work against the rubric used to mark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208–214     </a:t>
            </a:r>
            <a:fld id="{62D80DF8-3C9F-4686-9ABB-7AF993EAED34}" type="slidenum">
              <a:rPr lang="en-GB" sz="1000">
                <a:solidFill>
                  <a:srgbClr val="8795A1"/>
                </a:solidFill>
                <a:latin typeface="Segoe UI"/>
              </a:rPr>
              <a:t>4</a:t>
            </a:fld>
          </a:p>
        </p:txBody>
      </p:sp>
      <p:sp>
        <p:nvSpPr>
          <p:cNvPr id="7" name="!!ag0" descr="Go to section 32.1 The Shared Proble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Shared Problem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208  ›</a:t>
            </a:r>
          </a:p>
        </p:txBody>
      </p:sp>
      <p:sp>
        <p:nvSpPr>
          <p:cNvPr id="12" name="!!ag1" descr="Go to section 32.2 The Capstone Brief">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Capstone Brief</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209  ›</a:t>
            </a:r>
          </a:p>
        </p:txBody>
      </p:sp>
      <p:sp>
        <p:nvSpPr>
          <p:cNvPr id="17" name="!!ag2" descr="Go to section 32.3 The Four Deliverable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Four Deliverables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210  ›</a:t>
            </a:r>
          </a:p>
        </p:txBody>
      </p:sp>
      <p:sp>
        <p:nvSpPr>
          <p:cNvPr id="22" name="!!ag3" descr="Go to section 32.4 Marking Rubric — Assess Yourself Firs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Marking Rubric — Assess Yourself First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210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504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Shared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32.1   The Shared Problem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32.2   The Capstone Brief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32.3   The Four Deliverables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32.4   Marking Rubric — Assess Yourself First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§32.1     </a:t>
            </a:r>
            <a:fld id="{31A01758-0049-49DC-9201-C2F9CB2A0D11}" type="slidenum">
              <a:rPr lang="en-GB" sz="1000">
                <a:solidFill>
                  <a:srgbClr val="8795A1"/>
                </a:solidFill>
                <a:latin typeface="Segoe UI"/>
              </a:rPr>
              <a:t>5</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630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common structure beneath the four domains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32.1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§32.1  ·  Handout p. 208     </a:t>
            </a:r>
            <a:fld id="{68C81BFE-FFBD-4F0B-8366-0E634ECAA57D}" type="slidenum">
              <a:rPr lang="en-GB" sz="1000">
                <a:solidFill>
                  <a:srgbClr val="8795A1"/>
                </a:solidFill>
                <a:latin typeface="Segoe UI"/>
              </a:rPr>
              <a:t>6</a:t>
            </a:fld>
          </a:p>
        </p:txBody>
      </p:sp>
      <p:pic>
        <p:nvPicPr>
          <p:cNvPr id="6" name="!!figure" descr="Figure 32.1. The common structure beneath the four domains. Recognising it is the point of the whole handout: the technique transfers, and the constraints do no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28739" y="1737360"/>
            <a:ext cx="81342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Recognising it is the point of the whole handout: the technique transfers, and the constraints do not.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Shared Problem</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§32.1  ·  Handout p. 208     </a:t>
            </a:r>
            <a:fld id="{FE373FD6-86CD-47ED-9581-51C191414D0A}" type="slidenum">
              <a:rPr lang="en-GB" sz="1000">
                <a:solidFill>
                  <a:srgbClr val="8795A1"/>
                </a:solidFill>
                <a:latin typeface="Segoe UI"/>
              </a:rPr>
              <a:t>7</a:t>
            </a:fld>
          </a:p>
        </p:txBody>
      </p:sp>
      <p:graphicFrame>
        <p:nvGraphicFramePr>
          <p:cNvPr id="7" name="!!table"/>
          <p:cNvGraphicFramePr>
            <a:graphicFrameLocks noGrp="1"/>
          </p:cNvGraphicFramePr>
          <p:nvPr/>
        </p:nvGraphicFramePr>
        <p:xfrm>
          <a:off x="658368" y="1737360"/>
          <a:ext cx="9748385" cy="4315968"/>
        </p:xfrm>
        <a:graphic>
          <a:graphicData uri="http://schemas.openxmlformats.org/drawingml/2006/table">
            <a:tbl>
              <a:tblPr firstRow="0" bandRow="0" firstCol="0" lastRow="0" lastCol="0" bandCol="0">
                <a:tableStyleId>{2D5ABB26-0587-4C30-8999-92F81FD0307C}</a:tableStyleId>
              </a:tblPr>
              <a:tblGrid>
                <a:gridCol w="2051700"/>
                <a:gridCol w="2162230"/>
                <a:gridCol w="1768706"/>
                <a:gridCol w="1834169"/>
                <a:gridCol w="1931580"/>
              </a:tblGrid>
              <a:tr h="359664">
                <a:tc>
                  <a:txBody>
                    <a:bodyPr wrap="square"/>
                    <a:lstStyle/>
                    <a:p>
                      <a:pPr algn="l"/>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Learning</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Projects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IoT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Security</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Base rate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a:t>
                      </a:r>
                      <a:r>
                        <a:rPr sz="1400" b="0" i="0">
                          <a:solidFill>
                            <a:srgbClr val="1C252B"/>
                          </a:solidFill>
                          <a:latin typeface="Segoe UI"/>
                        </a:rPr>
                        <a:t>8%</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a:t>
                      </a:r>
                      <a:r>
                        <a:rPr sz="1400" b="0" i="0">
                          <a:solidFill>
                            <a:srgbClr val="1C252B"/>
                          </a:solidFill>
                          <a:latin typeface="Segoe UI"/>
                        </a:rPr>
                        <a:t>50%</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a:t>
                      </a:r>
                      <a:r>
                        <a:rPr sz="1400" b="0" i="0">
                          <a:solidFill>
                            <a:srgbClr val="1C252B"/>
                          </a:solidFill>
                          <a:latin typeface="Segoe UI"/>
                        </a:rPr>
                        <a:t>0.2%</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Cambria"/>
                        </a:rPr>
                        <a:t>∼</a:t>
                      </a:r>
                      <a:r>
                        <a:rPr sz="1400" b="0" i="0">
                          <a:solidFill>
                            <a:srgbClr val="1C252B"/>
                          </a:solidFill>
                          <a:latin typeface="Segoe UI"/>
                        </a:rPr>
                        <a:t>0.001%</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Rows available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thousands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1" i="0">
                          <a:solidFill>
                            <a:srgbClr val="1C252B"/>
                          </a:solidFill>
                          <a:latin typeface="Segoe UI"/>
                        </a:rPr>
                        <a:t>dozens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millions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billions</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Labels?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yes, lagged</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yes, few</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1" i="0">
                          <a:solidFill>
                            <a:srgbClr val="1C252B"/>
                          </a:solidFill>
                          <a:latin typeface="Segoe UI"/>
                        </a:rPr>
                        <a:t>rarely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few, biased</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Ground-truth lag</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one term</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one sprint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months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often never</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Adversarial?</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mildly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no</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no</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1" i="0">
                          <a:solidFill>
                            <a:srgbClr val="1C252B"/>
                          </a:solidFill>
                          <a:latin typeface="Segoe UI"/>
                        </a:rPr>
                        <a:t>yes</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Cost of a miss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a lost student</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a late release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a line stoppage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a breach</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Cost of a false alarm</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a wasted call</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lost credibility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a wasted inspection</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analyst time</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Fairness stakes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1" i="0">
                          <a:solidFill>
                            <a:srgbClr val="1C252B"/>
                          </a:solidFill>
                          <a:latin typeface="Segoe UI"/>
                        </a:rPr>
                        <a:t>very high</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high</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low</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moderate</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Right primary metric</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recall @ capacity</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F</a:t>
                      </a:r>
                      <a:r>
                        <a:rPr sz="1400" b="0" i="0" baseline="-25000">
                          <a:solidFill>
                            <a:srgbClr val="1C252B"/>
                          </a:solidFill>
                          <a:latin typeface="Cambria"/>
                        </a:rPr>
                        <a:t>1</a:t>
                      </a:r>
                      <a:r>
                        <a:rPr sz="1400" b="0" i="0">
                          <a:solidFill>
                            <a:srgbClr val="1C252B"/>
                          </a:solidFill>
                          <a:latin typeface="Segoe UI"/>
                        </a:rPr>
                        <a:t> / interval</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recall + lead time</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precision @ capacity</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Right model class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interpretable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1" i="0">
                          <a:solidFill>
                            <a:srgbClr val="1C252B"/>
                          </a:solidFill>
                          <a:latin typeface="Segoe UI"/>
                        </a:rPr>
                        <a:t>very simple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boosting / anomaly</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ensemble + anomaly</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Right validation</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walk-forward, by cohort</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chronological</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by device &amp; time</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strictly chronological</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188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 That Table Downwards, Then Across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§32.1  ·  Handout p. 208     </a:t>
            </a:r>
            <a:fld id="{F29BB446-33AD-4339-B21B-F5807186CEA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Downwards, it is four independent project briefs. Across, it is the answer to “what actually changes between domains?” — and the answer is almost never the algorithm. It is the base rate, the labels, the lag, the adversary and the stakes. A graduate who can reason across that table is employable in all four fields.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5008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Capstone Brief</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32.1   The Shared Problem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32.2   The Capstone Brief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32.3   The Four Deliverables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32.4   Marking Rubric — Assess Yourself First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§32.2     </a:t>
            </a:r>
            <a:fld id="{94EFDFAF-6038-41F1-8ED3-56E7ECE5810B}"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Your Task</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§32.2  ·  Handout p. 209     </a:t>
            </a:r>
            <a:fld id="{86C9408C-882F-4C0C-9766-066B74A2FE71}"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Choose </a:t>
            </a:r>
            <a:r>
              <a:rPr sz="2300" b="1" i="0">
                <a:solidFill>
                  <a:srgbClr val="1C252B"/>
                </a:solidFill>
                <a:latin typeface="Segoe UI"/>
              </a:rPr>
              <a:t>one</a:t>
            </a:r>
            <a:r>
              <a:rPr sz="2300" b="0" i="0">
                <a:solidFill>
                  <a:srgbClr val="1C252B"/>
                </a:solidFill>
                <a:latin typeface="Segoe UI"/>
              </a:rPr>
              <a:t> domain from Figure 32.1. Execute a complete project on it, from framing to monitoring plan. Then write one page explaining how your design would have to change if you moved it to a </a:t>
            </a:r>
            <a:r>
              <a:rPr sz="2300" b="0" i="1">
                <a:solidFill>
                  <a:srgbClr val="1C252B"/>
                </a:solidFill>
                <a:latin typeface="Segoe UI"/>
              </a:rPr>
              <a:t>different</a:t>
            </a:r>
            <a:r>
              <a:rPr sz="2300" b="0" i="0">
                <a:solidFill>
                  <a:srgbClr val="1C252B"/>
                </a:solidFill>
                <a:latin typeface="Segoe UI"/>
              </a:rPr>
              <a:t> one of the four — naming the specific constraint that forces each change.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26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ten-step capstone process, with the chapter that supplies each step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32.2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§32.2  ·  Handout p. 209     </a:t>
            </a:r>
            <a:fld id="{FDB412AF-C4E3-4C22-B1AA-313EDD00B4F9}" type="slidenum">
              <a:rPr lang="en-GB" sz="1000">
                <a:solidFill>
                  <a:srgbClr val="8795A1"/>
                </a:solidFill>
                <a:latin typeface="Segoe UI"/>
              </a:rPr>
              <a:t>11</a:t>
            </a:fld>
          </a:p>
        </p:txBody>
      </p:sp>
      <p:pic>
        <p:nvPicPr>
          <p:cNvPr id="6" name="!!figure" descr="Figure 32.2. The ten-step capstone process, with the chapter that supplies each step. If you can carry a problem through all ten and justify each choice, you have completed this cours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7662"/>
            <a:ext cx="10874959" cy="349393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If you can carry a problem through all ten and justify each choice, you have completed this course.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386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Deliverables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§32.3  ·  Handout p. 210     </a:t>
            </a:r>
            <a:fld id="{94A4DF9E-B476-4AAB-B8C1-AC4FDAB85831}" type="slidenum">
              <a:rPr lang="en-GB" sz="1000">
                <a:solidFill>
                  <a:srgbClr val="8795A1"/>
                </a:solidFill>
                <a:latin typeface="Segoe UI"/>
              </a:rPr>
              <a:t>12</a:t>
            </a:fld>
          </a:p>
        </p:txBody>
      </p:sp>
      <p:graphicFrame>
        <p:nvGraphicFramePr>
          <p:cNvPr id="7" name="!!table"/>
          <p:cNvGraphicFramePr>
            <a:graphicFrameLocks noGrp="1"/>
          </p:cNvGraphicFramePr>
          <p:nvPr/>
        </p:nvGraphicFramePr>
        <p:xfrm>
          <a:off x="658368" y="1737360"/>
          <a:ext cx="10874958" cy="4099560"/>
        </p:xfrm>
        <a:graphic>
          <a:graphicData uri="http://schemas.openxmlformats.org/drawingml/2006/table">
            <a:tbl>
              <a:tblPr firstRow="0" bandRow="0" firstCol="0" lastRow="0" lastCol="0" bandCol="0">
                <a:tableStyleId>{2D5ABB26-0587-4C30-8999-92F81FD0307C}</a:tableStyleId>
              </a:tblPr>
              <a:tblGrid>
                <a:gridCol w="2641061"/>
                <a:gridCol w="3417844"/>
                <a:gridCol w="4816053"/>
              </a:tblGrid>
              <a:tr h="405384">
                <a:tc>
                  <a:txBody>
                    <a:bodyPr wrap="square"/>
                    <a:lstStyle/>
                    <a:p>
                      <a:pPr algn="l"/>
                      <a:r>
                        <a:rPr sz="1700" b="1" i="0">
                          <a:solidFill>
                            <a:srgbClr val="1A5276"/>
                          </a:solidFill>
                          <a:latin typeface="Segoe UI"/>
                        </a:rPr>
                        <a:t>Artefact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Audience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Must contain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0" i="0">
                          <a:solidFill>
                            <a:srgbClr val="1C252B"/>
                          </a:solidFill>
                          <a:latin typeface="Segoe UI"/>
                        </a:rPr>
                        <a:t>Technical report (8–12 pp)</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Peer / examiner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Framing, audit, method, validation scheme, results with uncertainty, subgroup performance, limitations (Chapter 29)</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Reproducible repository</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Anyone, in a year</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Pinned environment, fixed seeds, one command that regenerates every figure (Chapter 29)</a:t>
                      </a:r>
                      <a:endParaRPr sz="1700"/>
                    </a:p>
                  </a:txBody>
                  <a:tcPr marL="109728" marR="109728" marT="64008" marB="45720" anchor="t">
                    <a:lnL w="0" cmpd="sng">
                      <a:noFill/>
                    </a:lnL>
                    <a:lnR w="0" cmpd="sng">
                      <a:noFill/>
                    </a:lnR>
                    <a:lnT w="9525" cmpd="sng">
                      <a:noFill/>
                    </a:lnT>
                    <a:lnB w="9525" cmpd="sng">
                      <a:noFill/>
                    </a:lnB>
                    <a:solidFill>
                      <a:srgbClr val="FEF7F1"/>
                    </a:solidFill>
                  </a:tcPr>
                </a:tc>
              </a:tr>
              <a:tr h="923544">
                <a:tc>
                  <a:txBody>
                    <a:bodyPr wrap="square"/>
                    <a:lstStyle/>
                    <a:p>
                      <a:pPr algn="l"/>
                      <a:r>
                        <a:rPr sz="1700" b="0" i="0">
                          <a:solidFill>
                            <a:srgbClr val="1C252B"/>
                          </a:solidFill>
                          <a:latin typeface="Segoe UI"/>
                        </a:rPr>
                        <a:t>One-page decision brief</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sponsor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Bottom line up front, cost, recommendation, the one caveat that changes the decision (Chapter 31)</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Model card</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The record</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Intended and out-of-scope use, data, subgroup metrics, ethical review, contest route (Chapter 28)</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Marking Rubric — Assess Yourself First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32.1   The Shared Problem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32.2   The Capstone Brief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32.3   The Four Deliverables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32.4   Marking Rubric — Assess Yourself First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§32.4     </a:t>
            </a:r>
            <a:fld id="{5DC4DDE9-E7CD-43B9-AED5-D05CF43EBEC6}"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Marking Rubric — Assess Yourself First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CCC62404-7F3A-45C9-BD74-1AD689A5E8FC}"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7" cy="4340352"/>
        </p:xfrm>
        <a:graphic>
          <a:graphicData uri="http://schemas.openxmlformats.org/drawingml/2006/table">
            <a:tbl>
              <a:tblPr firstRow="0" bandRow="0" firstCol="0" lastRow="0" lastCol="0" bandCol="0">
                <a:tableStyleId>{2D5ABB26-0587-4C30-8999-92F81FD0307C}</a:tableStyleId>
              </a:tblPr>
              <a:tblGrid>
                <a:gridCol w="2836945"/>
                <a:gridCol w="1260864"/>
                <a:gridCol w="3388574"/>
                <a:gridCol w="3388574"/>
              </a:tblGrid>
              <a:tr h="344424">
                <a:tc>
                  <a:txBody>
                    <a:bodyPr wrap="square"/>
                    <a:lstStyle/>
                    <a:p>
                      <a:pPr algn="l"/>
                      <a:r>
                        <a:rPr sz="1300" b="1" i="0">
                          <a:solidFill>
                            <a:srgbClr val="1A5276"/>
                          </a:solidFill>
                          <a:latin typeface="Segoe UI"/>
                        </a:rPr>
                        <a:t>Criterion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Weight</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Strong work</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Weak work</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42544">
                <a:tc>
                  <a:txBody>
                    <a:bodyPr wrap="square"/>
                    <a:lstStyle/>
                    <a:p>
                      <a:pPr algn="l"/>
                      <a:r>
                        <a:rPr sz="1300" b="0" i="0">
                          <a:solidFill>
                            <a:srgbClr val="1C252B"/>
                          </a:solidFill>
                          <a:latin typeface="Segoe UI"/>
                        </a:rPr>
                        <a:t>Framing</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15%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All six questions answered; baseline identified before modelling</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“Predict X” with no decision or baseline</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Data handling</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15%</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Audited, leakage checked, missingness mechanism reasoned about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Loaded and modelled</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Method choice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15%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Simplest adequate model, justified by a constraint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Most complex model available, unjustified</a:t>
                      </a:r>
                      <a:endParaRPr sz="1300"/>
                    </a:p>
                  </a:txBody>
                  <a:tcPr marL="109728" marR="109728" marT="64008" marB="45720" anchor="t">
                    <a:lnL w="0" cmpd="sng">
                      <a:noFill/>
                    </a:lnL>
                    <a:lnR w="0" cmpd="sng">
                      <a:noFill/>
                    </a:lnR>
                    <a:lnT w="9525" cmpd="sng">
                      <a:noFill/>
                    </a:lnT>
                    <a:lnB w="9525" cmpd="sng">
                      <a:noFill/>
                    </a:lnB>
                    <a:solidFill>
                      <a:srgbClr val="FFFFFF"/>
                    </a:solidFill>
                  </a:tcPr>
                </a:tc>
              </a:tr>
              <a:tr h="740664">
                <a:tc>
                  <a:txBody>
                    <a:bodyPr wrap="square"/>
                    <a:lstStyle/>
                    <a:p>
                      <a:pPr algn="l"/>
                      <a:r>
                        <a:rPr sz="1300" b="0" i="0">
                          <a:solidFill>
                            <a:srgbClr val="1C252B"/>
                          </a:solidFill>
                          <a:latin typeface="Segoe UI"/>
                        </a:rPr>
                        <a:t>Evaluation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20%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Right metric for the base rate; threshold from costs; validation matches deployment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Accuracy on a random split</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Ethics &amp; fairness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15%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Subgroup metrics, criterion chosen and defended, contest route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Mentioned in a closing paragraph</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Operations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10%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Deployment tier justified; four-layer monitoring; retraining trigger</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“Then we deploy it”</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Communication</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10%</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Conclusion first; uncertainty in natural frequencies; three audiences served</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Method narrated chronologically</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3765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 Things That Sink Capstone Projects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22EDD4E2-F5A2-43C7-9F7C-FACC6740ADB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8047"/>
          </a:xfrm>
          <a:prstGeom prst="roundRect">
            <a:avLst>
              <a:gd name="adj" fmla="val 270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804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801975"/>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A93226"/>
                </a:solidFill>
                <a:latin typeface="Segoe UI"/>
              </a:rPr>
              <a:t>1.	</a:t>
            </a:r>
            <a:r>
              <a:rPr sz="2300" b="1" i="0">
                <a:solidFill>
                  <a:srgbClr val="A93226"/>
                </a:solidFill>
                <a:latin typeface="Segoe UI"/>
              </a:rPr>
              <a:t>An unbelievably good result.</a:t>
            </a:r>
            <a:r>
              <a:rPr sz="2300" b="0" i="0">
                <a:solidFill>
                  <a:srgbClr val="1C252B"/>
                </a:solidFill>
                <a:latin typeface="Segoe UI"/>
              </a:rPr>
              <a:t> 99% accuracy on a hard problem is leakage until proven otherwise (Chapter 7). Examiners check this first, and finding it yourself is worth more marks than hiding it.</a:t>
            </a:r>
          </a:p>
          <a:p>
            <a:pPr algn="l" marL="554820" indent="-554820">
              <a:lnSpc>
                <a:spcPct val="104000"/>
              </a:lnSpc>
              <a:spcBef>
                <a:spcPts val="0"/>
              </a:spcBef>
              <a:spcAft>
                <a:spcPts val="804"/>
              </a:spcAft>
            </a:pPr>
            <a:r>
              <a:rPr sz="2300" b="1">
                <a:solidFill>
                  <a:srgbClr val="A93226"/>
                </a:solidFill>
                <a:latin typeface="Segoe UI"/>
              </a:rPr>
              <a:t>2.	</a:t>
            </a:r>
            <a:r>
              <a:rPr sz="2300" b="1" i="0">
                <a:solidFill>
                  <a:srgbClr val="A93226"/>
                </a:solidFill>
                <a:latin typeface="Segoe UI"/>
              </a:rPr>
              <a:t>Accuracy on an imbalanced problem.</a:t>
            </a:r>
            <a:r>
              <a:rPr sz="2300" b="0" i="0">
                <a:solidFill>
                  <a:srgbClr val="1C252B"/>
                </a:solidFill>
                <a:latin typeface="Segoe UI"/>
              </a:rPr>
              <a:t> Reporting 97% where 97% is the majority class demonstrates that Chapter 14 was not understood.</a:t>
            </a:r>
          </a:p>
          <a:p>
            <a:pPr algn="l" marL="554820" indent="-554820">
              <a:lnSpc>
                <a:spcPct val="104000"/>
              </a:lnSpc>
              <a:spcBef>
                <a:spcPts val="0"/>
              </a:spcBef>
              <a:spcAft>
                <a:spcPts val="0"/>
              </a:spcAft>
            </a:pPr>
            <a:r>
              <a:rPr sz="2300" b="1">
                <a:solidFill>
                  <a:srgbClr val="A93226"/>
                </a:solidFill>
                <a:latin typeface="Segoe UI"/>
              </a:rPr>
              <a:t>3.	</a:t>
            </a:r>
            <a:r>
              <a:rPr sz="2300" b="1" i="0">
                <a:solidFill>
                  <a:srgbClr val="A93226"/>
                </a:solidFill>
                <a:latin typeface="Segoe UI"/>
              </a:rPr>
              <a:t>No baseline.</a:t>
            </a:r>
            <a:r>
              <a:rPr sz="2300" b="0" i="0">
                <a:solidFill>
                  <a:srgbClr val="1C252B"/>
                </a:solidFill>
                <a:latin typeface="Segoe UI"/>
              </a:rPr>
              <a:t> Without it, no result can be shown to be worth anything, and the entire project is unassessable.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The Same Project, Moved</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2C073667-FA6E-4D0D-A1DA-4D9CC8223710}" type="slidenum">
              <a:rPr lang="en-GB" sz="1000">
                <a:solidFill>
                  <a:srgbClr val="8795A1"/>
                </a:solidFill>
                <a:latin typeface="Segoe UI"/>
              </a:rPr>
              <a:t>16</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If you built here and moved elsewhere:</a:t>
            </a:r>
            <a:r>
              <a:rPr sz="1900" b="0" i="0">
                <a:solidFill>
                  <a:srgbClr val="1C252B"/>
                </a:solidFill>
                <a:latin typeface="Segoe UI"/>
              </a:rPr>
              <a:t> your interpretable model and counterfactual explanations were driven by the fairness stakes of modelling people.</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If you built here:</a:t>
            </a:r>
            <a:r>
              <a:rPr sz="2300" b="0" i="0">
                <a:solidFill>
                  <a:srgbClr val="1C252B"/>
                </a:solidFill>
                <a:latin typeface="Segoe UI"/>
              </a:rPr>
              <a:t> your entire design was shaped by </a:t>
            </a:r>
            <a:r>
              <a:rPr sz="2300" b="0" i="1">
                <a:solidFill>
                  <a:srgbClr val="1C252B"/>
                </a:solidFill>
                <a:latin typeface="Cambria"/>
              </a:rPr>
              <a:t>n</a:t>
            </a:r>
            <a:r>
              <a:rPr sz="2300" b="0" i="0">
                <a:solidFill>
                  <a:srgbClr val="1C252B"/>
                </a:solidFill>
                <a:latin typeface="Cambria"/>
              </a:rPr>
              <a:t> ≈ 40</a:t>
            </a:r>
            <a:r>
              <a:rPr sz="2300" b="0" i="0">
                <a:solidFill>
                  <a:srgbClr val="1C252B"/>
                </a:solidFill>
                <a:latin typeface="Segoe UI"/>
              </a:rPr>
              <a: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If you built here:</a:t>
            </a:r>
            <a:r>
              <a:rPr sz="2300" b="0" i="0">
                <a:solidFill>
                  <a:srgbClr val="1C252B"/>
                </a:solidFill>
                <a:latin typeface="Segoe UI"/>
              </a:rPr>
              <a:t> you had abundant data and almost no labels, so you used anomaly detection.</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If you built here:</a:t>
            </a:r>
            <a:r>
              <a:rPr sz="2200" b="0" i="0">
                <a:solidFill>
                  <a:srgbClr val="1C252B"/>
                </a:solidFill>
                <a:latin typeface="Segoe UI"/>
              </a:rPr>
              <a:t> you designed against an adversary, chose features by manipulation cost, and worked backwards from analyst capacity.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0017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The Same Project, Moved</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C4267EA0-26B9-4C1B-9A9A-E2975A39AD66}" type="slidenum">
              <a:rPr lang="en-GB" sz="1000">
                <a:solidFill>
                  <a:srgbClr val="8795A1"/>
                </a:solidFill>
                <a:latin typeface="Segoe UI"/>
              </a:rPr>
              <a:t>17</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If you built here and moved elsewhere:</a:t>
            </a:r>
            <a:r>
              <a:rPr sz="2200" b="0" i="0">
                <a:solidFill>
                  <a:srgbClr val="1C252B"/>
                </a:solidFill>
                <a:latin typeface="Segoe UI"/>
              </a:rPr>
              <a:t> your interpretable model and counterfactual explanations were driven by the fairness stakes of modelling people. Moving to IoT, that constraint disappears and you may use a black box freely — which is a genuine gain in accuracy, obtained by leaving the hardest constraint behind. State that honestly rather than claiming the model improved.</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3143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The Same Project, Moved</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9D3247C4-C01A-4754-A387-9B02B0463631}" type="slidenum">
              <a:rPr lang="en-GB" sz="1000">
                <a:solidFill>
                  <a:srgbClr val="8795A1"/>
                </a:solidFill>
                <a:latin typeface="Segoe UI"/>
              </a:rPr>
              <a:t>18</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If you built here:</a:t>
            </a:r>
            <a:r>
              <a:rPr sz="2200" b="0" i="0">
                <a:solidFill>
                  <a:srgbClr val="1C252B"/>
                </a:solidFill>
                <a:latin typeface="Segoe UI"/>
              </a:rPr>
              <a:t> your entire design was shaped by </a:t>
            </a:r>
            <a:r>
              <a:rPr sz="2200" b="0" i="1">
                <a:solidFill>
                  <a:srgbClr val="1C252B"/>
                </a:solidFill>
                <a:latin typeface="Cambria"/>
              </a:rPr>
              <a:t>n</a:t>
            </a:r>
            <a:r>
              <a:rPr sz="2200" b="0" i="0">
                <a:solidFill>
                  <a:srgbClr val="1C252B"/>
                </a:solidFill>
                <a:latin typeface="Cambria"/>
              </a:rPr>
              <a:t> ≈ 40</a:t>
            </a:r>
            <a:r>
              <a:rPr sz="2200" b="0" i="0">
                <a:solidFill>
                  <a:srgbClr val="1C252B"/>
                </a:solidFill>
                <a:latin typeface="Segoe UI"/>
              </a:rPr>
              <a:t>. Moving to security, you gain billions of rows and lose the ability to inspect them, so cross-validation stops being the bottleneck and label quality becomes it. Conversely, moving </a:t>
            </a:r>
            <a:r>
              <a:rPr sz="2200" b="0" i="1">
                <a:solidFill>
                  <a:srgbClr val="1C252B"/>
                </a:solidFill>
                <a:latin typeface="Segoe UI"/>
              </a:rPr>
              <a:t>into</a:t>
            </a:r>
            <a:r>
              <a:rPr sz="2200" b="0" i="0">
                <a:solidFill>
                  <a:srgbClr val="1C252B"/>
                </a:solidFill>
                <a:latin typeface="Segoe UI"/>
              </a:rPr>
              <a:t> project management from any other domain, expect to discard your model class entirely — ensembles cannot be justified on 40 rows.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The Same Project, Moved</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A540351E-BD32-4E8E-81F8-67BE8E1A1DF7}" type="slidenum">
              <a:rPr lang="en-GB" sz="1000">
                <a:solidFill>
                  <a:srgbClr val="8795A1"/>
                </a:solidFill>
                <a:latin typeface="Segoe UI"/>
              </a:rPr>
              <a:t>19</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If you built here:</a:t>
            </a:r>
            <a:r>
              <a:rPr sz="2200" b="0" i="0">
                <a:solidFill>
                  <a:srgbClr val="1C252B"/>
                </a:solidFill>
                <a:latin typeface="Segoe UI"/>
              </a:rPr>
              <a:t> you had abundant data and almost no labels, so you used anomaly detection. Moving to learning analytics, labels appear but rows collapse from millions to thousands, and — decisively — the entity becomes a person with rights. Every architectural freedom you enjoyed at the edge is replaced by an accountability requirement.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9395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The Same Project, Moved</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27C949FE-80AC-44BA-B457-D4F0D77767E5}" type="slidenum">
              <a:rPr lang="en-GB" sz="1000">
                <a:solidFill>
                  <a:srgbClr val="8795A1"/>
                </a:solidFill>
                <a:latin typeface="Segoe UI"/>
              </a:rPr>
              <a:t>20</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If you built here:</a:t>
            </a:r>
            <a:r>
              <a:rPr sz="2200" b="0" i="0">
                <a:solidFill>
                  <a:srgbClr val="1C252B"/>
                </a:solidFill>
                <a:latin typeface="Segoe UI"/>
              </a:rPr>
              <a:t> you designed against an adversary, chose features by manipulation cost, and worked backwards from analyst capacity. Moving to IoT, the adversary vanishes and you may use the cheap, obvious features you previously had to avoid. Moving </a:t>
            </a:r>
            <a:r>
              <a:rPr sz="2200" b="0" i="1">
                <a:solidFill>
                  <a:srgbClr val="1C252B"/>
                </a:solidFill>
                <a:latin typeface="Segoe UI"/>
              </a:rPr>
              <a:t>into</a:t>
            </a:r>
            <a:r>
              <a:rPr sz="2200" b="0" i="0">
                <a:solidFill>
                  <a:srgbClr val="1C252B"/>
                </a:solidFill>
                <a:latin typeface="Segoe UI"/>
              </a:rPr>
              <a:t> security from anywhere else, the reverse holds, and it is the single largest adjustment in this book: you must now assume your model will be studied and attacked.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2521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2DF03909-8725-497F-89AA-7018A9ECA572}" type="slidenum">
              <a:rPr lang="en-GB" sz="1000">
                <a:solidFill>
                  <a:srgbClr val="8795A1"/>
                </a:solidFill>
                <a:latin typeface="Segoe UI"/>
              </a:rPr>
              <a:t>21</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25527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FRAME (Ch 2) -- written down BEFORE any data is loaded</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2-3. AUDIT and EXPLORE (Ch 3, 7, 8)</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BASELINE FIRST (Ch 11). Never skip.</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5-6. FEATURES and MODEL (Ch 15, 19)</a:t>
            </a:r>
          </a:p>
          <a:p>
            <a:pPr algn="l" marL="459473" indent="-459473">
              <a:lnSpc>
                <a:spcPct val="100000"/>
              </a:lnSpc>
              <a:spcBef>
                <a:spcPts val="0"/>
              </a:spcBef>
              <a:spcAft>
                <a:spcPts val="570"/>
              </a:spcAft>
            </a:pPr>
            <a:r>
              <a:rPr sz="1900" b="1">
                <a:solidFill>
                  <a:srgbClr val="117A65"/>
                </a:solidFill>
                <a:latin typeface="Segoe UI"/>
              </a:rPr>
              <a:t>5.	</a:t>
            </a:r>
            <a:r>
              <a:rPr sz="1900" b="0" i="0">
                <a:solidFill>
                  <a:srgbClr val="1C252B"/>
                </a:solidFill>
                <a:latin typeface="Segoe UI"/>
              </a:rPr>
              <a:t>EVALUATE: right metric, cost-based threshold (Ch 14)</a:t>
            </a:r>
          </a:p>
          <a:p>
            <a:pPr algn="l" marL="459473" indent="-459473">
              <a:lnSpc>
                <a:spcPct val="100000"/>
              </a:lnSpc>
              <a:spcBef>
                <a:spcPts val="0"/>
              </a:spcBef>
              <a:spcAft>
                <a:spcPts val="570"/>
              </a:spcAft>
            </a:pPr>
            <a:r>
              <a:rPr sz="1900" b="1">
                <a:solidFill>
                  <a:srgbClr val="117A65"/>
                </a:solidFill>
                <a:latin typeface="Segoe UI"/>
              </a:rPr>
              <a:t>6.	</a:t>
            </a:r>
            <a:r>
              <a:rPr sz="1900" b="0" i="0">
                <a:solidFill>
                  <a:srgbClr val="1C252B"/>
                </a:solidFill>
                <a:latin typeface="Segoe UI"/>
              </a:rPr>
              <a:t>FAIRNESS (Ch 28)</a:t>
            </a:r>
          </a:p>
          <a:p>
            <a:pPr algn="l" marL="459473" indent="-459473">
              <a:lnSpc>
                <a:spcPct val="100000"/>
              </a:lnSpc>
              <a:spcBef>
                <a:spcPts val="0"/>
              </a:spcBef>
              <a:spcAft>
                <a:spcPts val="0"/>
              </a:spcAft>
            </a:pPr>
            <a:r>
              <a:rPr sz="1900" b="1">
                <a:solidFill>
                  <a:srgbClr val="117A65"/>
                </a:solidFill>
                <a:latin typeface="Segoe UI"/>
              </a:rPr>
              <a:t>7.	</a:t>
            </a:r>
            <a:r>
              <a:rPr sz="1900" b="0" i="0">
                <a:solidFill>
                  <a:srgbClr val="1C252B"/>
                </a:solidFill>
                <a:latin typeface="Segoe UI"/>
              </a:rPr>
              <a:t>9-10. DEPLOY and MONITOR plans (Ch 24, 27)</a:t>
            </a:r>
          </a:p>
        </p:txBody>
      </p:sp>
      <p:sp>
        <p:nvSpPr>
          <p:cNvPr id="3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4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38 lines of Python</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300"/>
                                        <p:tgtEl>
                                          <p:spTgt spid="8">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3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C5676AC3-3BC5-4990-8CCB-0CA004D18FD1}"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quot;&quot;&quot;capstone.py -- one command regenerates every figure in the report.&quot;&quot;&quot; import random, numpy as np SEED = 42 random.seed(SEED); np.random.seed(SEED)"/>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0">
                <a:solidFill>
                  <a:srgbClr val="7DCEA0"/>
                </a:solidFill>
                <a:latin typeface="Consolas"/>
              </a:rPr>
              <a:t>"""capstone.py -- one command regenerates every figure in the report."""</a:t>
            </a:r>
          </a:p>
          <a:p>
            <a:pPr>
              <a:lnSpc>
                <a:spcPct val="100000"/>
              </a:lnSpc>
              <a:spcAft>
                <a:spcPts val="0"/>
              </a:spcAft>
            </a:pPr>
            <a:r>
              <a:rPr sz="1900" i="0">
                <a:solidFill>
                  <a:srgbClr val="5DADE2"/>
                </a:solidFill>
                <a:latin typeface="Consolas"/>
              </a:rPr>
              <a:t>import</a:t>
            </a:r>
            <a:r>
              <a:rPr sz="1900" i="0">
                <a:solidFill>
                  <a:srgbClr val="E8EDF2"/>
                </a:solidFill>
                <a:latin typeface="Consolas"/>
              </a:rPr>
              <a:t> </a:t>
            </a:r>
            <a:r>
              <a:rPr sz="1900" i="0">
                <a:solidFill>
                  <a:srgbClr val="76D7C4"/>
                </a:solidFill>
                <a:latin typeface="Consolas"/>
              </a:rPr>
              <a:t>random</a:t>
            </a:r>
            <a:r>
              <a:rPr sz="1900" i="0">
                <a:solidFill>
                  <a:srgbClr val="AEB6BF"/>
                </a:solidFill>
                <a:latin typeface="Consolas"/>
              </a:rPr>
              <a:t>,</a:t>
            </a:r>
            <a:r>
              <a:rPr sz="1900" i="0">
                <a:solidFill>
                  <a:srgbClr val="E8EDF2"/>
                </a:solidFill>
                <a:latin typeface="Consolas"/>
              </a:rPr>
              <a:t> </a:t>
            </a:r>
            <a:r>
              <a:rPr sz="1900" i="0">
                <a:solidFill>
                  <a:srgbClr val="76D7C4"/>
                </a:solidFill>
                <a:latin typeface="Consolas"/>
              </a:rPr>
              <a:t>numpy</a:t>
            </a:r>
            <a:r>
              <a:rPr sz="1900" i="0">
                <a:solidFill>
                  <a:srgbClr val="E8EDF2"/>
                </a:solidFill>
                <a:latin typeface="Consolas"/>
              </a:rPr>
              <a:t> </a:t>
            </a:r>
            <a:r>
              <a:rPr sz="1900" i="0">
                <a:solidFill>
                  <a:srgbClr val="5DADE2"/>
                </a:solidFill>
                <a:latin typeface="Consolas"/>
              </a:rPr>
              <a:t>as</a:t>
            </a:r>
            <a:r>
              <a:rPr sz="1900" i="0">
                <a:solidFill>
                  <a:srgbClr val="E8EDF2"/>
                </a:solidFill>
                <a:latin typeface="Consolas"/>
              </a:rPr>
              <a:t> </a:t>
            </a:r>
            <a:r>
              <a:rPr sz="1900" i="0">
                <a:solidFill>
                  <a:srgbClr val="76D7C4"/>
                </a:solidFill>
                <a:latin typeface="Consolas"/>
              </a:rPr>
              <a:t>np</a:t>
            </a:r>
          </a:p>
          <a:p>
            <a:pPr>
              <a:lnSpc>
                <a:spcPct val="100000"/>
              </a:lnSpc>
              <a:spcAft>
                <a:spcPts val="0"/>
              </a:spcAft>
            </a:pPr>
            <a:r>
              <a:rPr sz="1900" i="0">
                <a:solidFill>
                  <a:srgbClr val="E8EDF2"/>
                </a:solidFill>
                <a:latin typeface="Consolas"/>
              </a:rPr>
              <a:t>SEED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42</a:t>
            </a:r>
          </a:p>
          <a:p>
            <a:pPr>
              <a:lnSpc>
                <a:spcPct val="100000"/>
              </a:lnSpc>
              <a:spcAft>
                <a:spcPts val="0"/>
              </a:spcAft>
            </a:pPr>
            <a:r>
              <a:rPr sz="1900" i="0">
                <a:solidFill>
                  <a:srgbClr val="E8EDF2"/>
                </a:solidFill>
                <a:latin typeface="Consolas"/>
              </a:rPr>
              <a:t>random</a:t>
            </a:r>
            <a:r>
              <a:rPr sz="1900" i="0">
                <a:solidFill>
                  <a:srgbClr val="AEB6BF"/>
                </a:solidFill>
                <a:latin typeface="Consolas"/>
              </a:rPr>
              <a:t>.</a:t>
            </a:r>
            <a:r>
              <a:rPr sz="1900" i="0">
                <a:solidFill>
                  <a:srgbClr val="E8EDF2"/>
                </a:solidFill>
                <a:latin typeface="Consolas"/>
              </a:rPr>
              <a:t>seed</a:t>
            </a:r>
            <a:r>
              <a:rPr sz="1900" i="0">
                <a:solidFill>
                  <a:srgbClr val="AEB6BF"/>
                </a:solidFill>
                <a:latin typeface="Consolas"/>
              </a:rPr>
              <a:t>(</a:t>
            </a:r>
            <a:r>
              <a:rPr sz="1900" i="0">
                <a:solidFill>
                  <a:srgbClr val="E8EDF2"/>
                </a:solidFill>
                <a:latin typeface="Consolas"/>
              </a:rPr>
              <a:t>SEED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np</a:t>
            </a:r>
            <a:r>
              <a:rPr sz="1900" i="0">
                <a:solidFill>
                  <a:srgbClr val="AEB6BF"/>
                </a:solidFill>
                <a:latin typeface="Consolas"/>
              </a:rPr>
              <a:t>.</a:t>
            </a:r>
            <a:r>
              <a:rPr sz="1900" i="0">
                <a:solidFill>
                  <a:srgbClr val="E8EDF2"/>
                </a:solidFill>
                <a:latin typeface="Consolas"/>
              </a:rPr>
              <a:t>random</a:t>
            </a:r>
            <a:r>
              <a:rPr sz="1900" i="0">
                <a:solidFill>
                  <a:srgbClr val="AEB6BF"/>
                </a:solidFill>
                <a:latin typeface="Consolas"/>
              </a:rPr>
              <a:t>.</a:t>
            </a:r>
            <a:r>
              <a:rPr sz="1900" i="0">
                <a:solidFill>
                  <a:srgbClr val="E8EDF2"/>
                </a:solidFill>
                <a:latin typeface="Consolas"/>
              </a:rPr>
              <a:t>seed</a:t>
            </a:r>
            <a:r>
              <a:rPr sz="1900" i="0">
                <a:solidFill>
                  <a:srgbClr val="AEB6BF"/>
                </a:solidFill>
                <a:latin typeface="Consolas"/>
              </a:rPr>
              <a:t>(</a:t>
            </a:r>
            <a:r>
              <a:rPr sz="1900" i="0">
                <a:solidFill>
                  <a:srgbClr val="E8EDF2"/>
                </a:solidFill>
                <a:latin typeface="Consolas"/>
              </a:rPr>
              <a:t>SEED</a:t>
            </a:r>
            <a:r>
              <a:rPr sz="1900" i="0">
                <a:solidFill>
                  <a:srgbClr val="AEB6BF"/>
                </a:solidFill>
                <a:latin typeface="Consolas"/>
              </a:rPr>
              <a: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773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F0A49691-5627-432B-AFE0-AD81098001C1}"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FRAME (Ch 2) -- written down BEFORE any data is loaded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FRAME (Ch 2) -- written down BEFORE any data is loaded -------- FRAME = { &quot;decision&quot;: &quot;Which 20% of entities receive the limited intervention.&quot;, &quot;unit&quot;: &quot;one entity per week&quot;, &quot;target&quot;: &quot;bad outcome within the next 30 days&quot;, &quot;timing&quot;: &quot;features from strictly before the prediction point&quot;, &quot;criterion&quot;: &quot;recall &gt;= 0.70 at a flag rate &lt;= 0.20&quot;, &quot;baseline&quot;: &quot;current rule; measure it FIRST&quot;, }"/>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FRAME (Ch 2) -- written down BEFORE any data is loaded --------</a:t>
            </a:r>
          </a:p>
          <a:p>
            <a:pPr>
              <a:lnSpc>
                <a:spcPct val="100000"/>
              </a:lnSpc>
              <a:spcAft>
                <a:spcPts val="0"/>
              </a:spcAft>
            </a:pPr>
            <a:r>
              <a:rPr sz="1800" i="0">
                <a:solidFill>
                  <a:srgbClr val="E8EDF2"/>
                </a:solidFill>
                <a:latin typeface="Consolas"/>
              </a:rPr>
              <a:t>FRAME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decision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Which 20</a:t>
            </a:r>
            <a:r>
              <a:rPr sz="1800" i="0">
                <a:solidFill>
                  <a:srgbClr val="7DCEA0"/>
                </a:solidFill>
                <a:latin typeface="Consolas"/>
              </a:rPr>
              <a:t>% o</a:t>
            </a:r>
            <a:r>
              <a:rPr sz="1800" i="0">
                <a:solidFill>
                  <a:srgbClr val="7DCEA0"/>
                </a:solidFill>
                <a:latin typeface="Consolas"/>
              </a:rPr>
              <a:t>f entities receive the limited intervention.</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unit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one entity per week</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target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bad outcome within the next 30 days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timing</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features from strictly before the prediction point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criterion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recall &gt;= 0.70 at a flag rate &lt;= 0.20</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baseline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current rule; measure it FIRST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8997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827C5273-0534-4688-B037-56DD7201E7A7}"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2-3. AUDIT and EXPLORE (Ch 3, 7, 8)</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3. AUDIT and EXPLORE (Ch 3, 7, 8) ------------------------------ audit(df) # completeness, validity, uniqueness, volume assert not leaks(features, cutoff=PREDICTION_TIME) # Ch 7: the fatal error"/>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---- 2-3. AUDIT and EXPLORE (Ch 3, 7, 8) ------------------------------</a:t>
            </a:r>
          </a:p>
          <a:p>
            <a:pPr>
              <a:lnSpc>
                <a:spcPct val="100000"/>
              </a:lnSpc>
              <a:spcAft>
                <a:spcPts val="0"/>
              </a:spcAft>
            </a:pPr>
            <a:r>
              <a:rPr sz="1800" i="0">
                <a:solidFill>
                  <a:srgbClr val="E8EDF2"/>
                </a:solidFill>
                <a:latin typeface="Consolas"/>
              </a:rPr>
              <a:t>audit</a:t>
            </a:r>
            <a:r>
              <a:rPr sz="1800" i="0">
                <a:solidFill>
                  <a:srgbClr val="AEB6BF"/>
                </a:solidFill>
                <a:latin typeface="Consolas"/>
              </a:rPr>
              <a:t>(</a:t>
            </a:r>
            <a:r>
              <a:rPr sz="1800" i="0">
                <a:solidFill>
                  <a:srgbClr val="E8EDF2"/>
                </a:solidFill>
                <a:latin typeface="Consolas"/>
              </a:rPr>
              <a:t>df</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completeness, validity, uniqueness, volume</a:t>
            </a:r>
          </a:p>
          <a:p>
            <a:pPr>
              <a:lnSpc>
                <a:spcPct val="100000"/>
              </a:lnSpc>
              <a:spcAft>
                <a:spcPts val="0"/>
              </a:spcAft>
            </a:pPr>
            <a:r>
              <a:rPr sz="1800" i="0">
                <a:solidFill>
                  <a:srgbClr val="5DADE2"/>
                </a:solidFill>
                <a:latin typeface="Consolas"/>
              </a:rPr>
              <a:t>assert</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E8EDF2"/>
                </a:solidFill>
                <a:latin typeface="Consolas"/>
              </a:rPr>
              <a:t>leaks</a:t>
            </a:r>
            <a:r>
              <a:rPr sz="1800" i="0">
                <a:solidFill>
                  <a:srgbClr val="AEB6BF"/>
                </a:solidFill>
                <a:latin typeface="Consolas"/>
              </a:rPr>
              <a:t>(</a:t>
            </a:r>
            <a:r>
              <a:rPr sz="1800" i="0">
                <a:solidFill>
                  <a:srgbClr val="E8EDF2"/>
                </a:solidFill>
                <a:latin typeface="Consolas"/>
              </a:rPr>
              <a:t>features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cutoff</a:t>
            </a:r>
            <a:r>
              <a:rPr sz="1800" i="0">
                <a:solidFill>
                  <a:srgbClr val="AEB6BF"/>
                </a:solidFill>
                <a:latin typeface="Consolas"/>
              </a:rPr>
              <a:t>=</a:t>
            </a:r>
            <a:r>
              <a:rPr sz="1800" i="0">
                <a:solidFill>
                  <a:srgbClr val="E8EDF2"/>
                </a:solidFill>
                <a:latin typeface="Consolas"/>
              </a:rPr>
              <a:t>PREDICTION_TIME</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Ch 7: the fatal error</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9B558CBC-BCA4-4DFA-9A5D-2E554BBA5EF1}"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BASELINE FIRST (Ch 11). Never skip.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380743"/>
          </a:xfrm>
          <a:prstGeom prst="roundRect">
            <a:avLst>
              <a:gd name="adj" fmla="val 662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4. BASELINE FIRST (Ch 11). Never skip. --------------------------- base = current_rule(df) print(&quot;baseline:&quot;, score(base)) # everything is measured against this"/>
          <p:cNvSpPr txBox="1"/>
          <p:nvPr/>
        </p:nvSpPr>
        <p:spPr>
          <a:xfrm>
            <a:off x="1362456" y="2523744"/>
            <a:ext cx="9987991" cy="8869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---- 4. BASELINE FIRST (Ch 11). Never skip. ---------------------------</a:t>
            </a:r>
          </a:p>
          <a:p>
            <a:pPr>
              <a:lnSpc>
                <a:spcPct val="100000"/>
              </a:lnSpc>
              <a:spcAft>
                <a:spcPts val="0"/>
              </a:spcAft>
            </a:pPr>
            <a:r>
              <a:rPr sz="1700" i="0">
                <a:solidFill>
                  <a:srgbClr val="E8EDF2"/>
                </a:solidFill>
                <a:latin typeface="Consolas"/>
              </a:rPr>
              <a:t>base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current_rule</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baseline: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score</a:t>
            </a:r>
            <a:r>
              <a:rPr sz="1700" i="0">
                <a:solidFill>
                  <a:srgbClr val="AEB6BF"/>
                </a:solidFill>
                <a:latin typeface="Consolas"/>
              </a:rPr>
              <a:t>(</a:t>
            </a:r>
            <a:r>
              <a:rPr sz="1700" i="0">
                <a:solidFill>
                  <a:srgbClr val="E8EDF2"/>
                </a:solidFill>
                <a:latin typeface="Consolas"/>
              </a:rPr>
              <a:t>base</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everything is measured against this</a:t>
            </a:r>
          </a:p>
        </p:txBody>
      </p:sp>
      <p:sp>
        <p:nvSpPr>
          <p:cNvPr id="15" name="!!code-num"/>
          <p:cNvSpPr txBox="1"/>
          <p:nvPr/>
        </p:nvSpPr>
        <p:spPr>
          <a:xfrm>
            <a:off x="768096" y="2523744"/>
            <a:ext cx="393192" cy="8869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151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AB4D5D7B-40FE-4948-8A2E-4DCFE7765B50}"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5-6. FEATURES and MODEL (Ch 15, 19)</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335024"/>
          </a:xfrm>
          <a:prstGeom prst="roundRect">
            <a:avLst>
              <a:gd name="adj" fmla="val 6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5-6. FEATURES and MODEL (Ch 15, 19) ------------------------------ X = build_features(df) # windows, lags, recency, trend, per-entity z-scores model = fit(X, y, cv=correct_cv_for_domain()) # walk-forward / group / stratified"/>
          <p:cNvSpPr txBox="1"/>
          <p:nvPr/>
        </p:nvSpPr>
        <p:spPr>
          <a:xfrm>
            <a:off x="1362456" y="2523744"/>
            <a:ext cx="9987991" cy="84124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---- 5-6. FEATURES and MODEL (Ch 15, 19) ------------------------------</a:t>
            </a:r>
          </a:p>
          <a:p>
            <a:pPr>
              <a:lnSpc>
                <a:spcPct val="100000"/>
              </a:lnSpc>
              <a:spcAft>
                <a:spcPts val="0"/>
              </a:spcAft>
            </a:pPr>
            <a:r>
              <a:rPr sz="1600" i="0">
                <a:solidFill>
                  <a:srgbClr val="E8EDF2"/>
                </a:solidFill>
                <a:latin typeface="Consolas"/>
              </a:rPr>
              <a:t>X</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build_features</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windows, lags, recency, trend, per-entity z-scores</a:t>
            </a:r>
          </a:p>
          <a:p>
            <a:pPr>
              <a:lnSpc>
                <a:spcPct val="100000"/>
              </a:lnSpc>
              <a:spcAft>
                <a:spcPts val="0"/>
              </a:spcAft>
            </a:pPr>
            <a:r>
              <a:rPr sz="1600" i="0">
                <a:solidFill>
                  <a:srgbClr val="E8EDF2"/>
                </a:solidFill>
                <a:latin typeface="Consolas"/>
              </a:rPr>
              <a:t>model</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X</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cv</a:t>
            </a:r>
            <a:r>
              <a:rPr sz="1600" i="0">
                <a:solidFill>
                  <a:srgbClr val="AEB6BF"/>
                </a:solidFill>
                <a:latin typeface="Consolas"/>
              </a:rPr>
              <a:t>=</a:t>
            </a:r>
            <a:r>
              <a:rPr sz="1600" i="0">
                <a:solidFill>
                  <a:srgbClr val="E8EDF2"/>
                </a:solidFill>
                <a:latin typeface="Consolas"/>
              </a:rPr>
              <a:t>correct_cv_for_domain</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walk-forward / group / stratified</a:t>
            </a:r>
          </a:p>
        </p:txBody>
      </p:sp>
      <p:sp>
        <p:nvSpPr>
          <p:cNvPr id="15" name="!!code-num"/>
          <p:cNvSpPr txBox="1"/>
          <p:nvPr/>
        </p:nvSpPr>
        <p:spPr>
          <a:xfrm>
            <a:off x="768096" y="2523744"/>
            <a:ext cx="393192" cy="84124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20</a:t>
            </a:r>
          </a:p>
          <a:p>
            <a:pPr algn="r">
              <a:lnSpc>
                <a:spcPct val="100000"/>
              </a:lnSpc>
            </a:pPr>
            <a:r>
              <a:rPr sz="1600">
                <a:solidFill>
                  <a:srgbClr val="4F5D6A"/>
                </a:solidFill>
                <a:latin typeface="Consolas"/>
              </a:rPr>
              <a:t>21</a:t>
            </a:r>
          </a:p>
          <a:p>
            <a:pPr algn="r">
              <a:lnSpc>
                <a:spcPct val="100000"/>
              </a:lnSpc>
            </a:pPr>
            <a:r>
              <a:rPr sz="16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7D96B629-E0C5-41A1-A375-679ACD2D5CCE}"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EVALUATE: right metric, cost-based threshold (Ch 14)</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335024"/>
          </a:xfrm>
          <a:prstGeom prst="roundRect">
            <a:avLst>
              <a:gd name="adj" fmla="val 6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7. EVALUATE: right metric, cost-based threshold (Ch 14) ---------- report_pr_curve(model, X_te, y_te) # NOT roc if positives are rare thr = threshold_from_costs(cost_fp=COST_FP, cost_fn=COST_FN)"/>
          <p:cNvSpPr txBox="1"/>
          <p:nvPr/>
        </p:nvSpPr>
        <p:spPr>
          <a:xfrm>
            <a:off x="1362456" y="2523744"/>
            <a:ext cx="9987991" cy="84124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---- 7. EVALUATE: right metric, cost-based threshold (Ch 14) ----------</a:t>
            </a:r>
          </a:p>
          <a:p>
            <a:pPr>
              <a:lnSpc>
                <a:spcPct val="100000"/>
              </a:lnSpc>
              <a:spcAft>
                <a:spcPts val="0"/>
              </a:spcAft>
            </a:pPr>
            <a:r>
              <a:rPr sz="1600" i="0">
                <a:solidFill>
                  <a:srgbClr val="E8EDF2"/>
                </a:solidFill>
                <a:latin typeface="Consolas"/>
              </a:rPr>
              <a:t>report_pr_curve</a:t>
            </a:r>
            <a:r>
              <a:rPr sz="1600" i="0">
                <a:solidFill>
                  <a:srgbClr val="AEB6BF"/>
                </a:solidFill>
                <a:latin typeface="Consolas"/>
              </a:rPr>
              <a:t>(</a:t>
            </a:r>
            <a:r>
              <a:rPr sz="1600" i="0">
                <a:solidFill>
                  <a:srgbClr val="E8EDF2"/>
                </a:solidFill>
                <a:latin typeface="Consolas"/>
              </a:rPr>
              <a:t>model</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X_te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y_te</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NOT roc if positives are rare</a:t>
            </a:r>
          </a:p>
          <a:p>
            <a:pPr>
              <a:lnSpc>
                <a:spcPct val="100000"/>
              </a:lnSpc>
              <a:spcAft>
                <a:spcPts val="0"/>
              </a:spcAft>
            </a:pPr>
            <a:r>
              <a:rPr sz="1600" i="0">
                <a:solidFill>
                  <a:srgbClr val="E8EDF2"/>
                </a:solidFill>
                <a:latin typeface="Consolas"/>
              </a:rPr>
              <a:t>thr</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threshold_from_costs</a:t>
            </a:r>
            <a:r>
              <a:rPr sz="1600" i="0">
                <a:solidFill>
                  <a:srgbClr val="AEB6BF"/>
                </a:solidFill>
                <a:latin typeface="Consolas"/>
              </a:rPr>
              <a:t>(</a:t>
            </a:r>
            <a:r>
              <a:rPr sz="1600" i="0">
                <a:solidFill>
                  <a:srgbClr val="E8EDF2"/>
                </a:solidFill>
                <a:latin typeface="Consolas"/>
              </a:rPr>
              <a:t>cost_fp</a:t>
            </a:r>
            <a:r>
              <a:rPr sz="1600" i="0">
                <a:solidFill>
                  <a:srgbClr val="AEB6BF"/>
                </a:solidFill>
                <a:latin typeface="Consolas"/>
              </a:rPr>
              <a:t>=</a:t>
            </a:r>
            <a:r>
              <a:rPr sz="1600" i="0">
                <a:solidFill>
                  <a:srgbClr val="E8EDF2"/>
                </a:solidFill>
                <a:latin typeface="Consolas"/>
              </a:rPr>
              <a:t>COST_FP</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cost_fn</a:t>
            </a:r>
            <a:r>
              <a:rPr sz="1600" i="0">
                <a:solidFill>
                  <a:srgbClr val="AEB6BF"/>
                </a:solidFill>
                <a:latin typeface="Consolas"/>
              </a:rPr>
              <a:t>=</a:t>
            </a:r>
            <a:r>
              <a:rPr sz="1600" i="0">
                <a:solidFill>
                  <a:srgbClr val="E8EDF2"/>
                </a:solidFill>
                <a:latin typeface="Consolas"/>
              </a:rPr>
              <a:t>COST_FN</a:t>
            </a:r>
            <a:r>
              <a:rPr sz="1600" i="0">
                <a:solidFill>
                  <a:srgbClr val="AEB6BF"/>
                </a:solidFill>
                <a:latin typeface="Consolas"/>
              </a:rPr>
              <a:t>)</a:t>
            </a:r>
          </a:p>
        </p:txBody>
      </p:sp>
      <p:sp>
        <p:nvSpPr>
          <p:cNvPr id="15" name="!!code-num"/>
          <p:cNvSpPr txBox="1"/>
          <p:nvPr/>
        </p:nvSpPr>
        <p:spPr>
          <a:xfrm>
            <a:off x="768096" y="2523744"/>
            <a:ext cx="393192" cy="84124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23</a:t>
            </a:r>
          </a:p>
          <a:p>
            <a:pPr algn="r">
              <a:lnSpc>
                <a:spcPct val="100000"/>
              </a:lnSpc>
            </a:pPr>
            <a:r>
              <a:rPr sz="1600">
                <a:solidFill>
                  <a:srgbClr val="4F5D6A"/>
                </a:solidFill>
                <a:latin typeface="Consolas"/>
              </a:rPr>
              <a:t>24</a:t>
            </a:r>
          </a:p>
          <a:p>
            <a:pPr algn="r">
              <a:lnSpc>
                <a:spcPct val="100000"/>
              </a:lnSpc>
            </a:pPr>
            <a:r>
              <a:rPr sz="16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49F241C7-CBBC-48B1-B51B-D0E3261E18D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FAIRNESS (Ch 28)</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8. FAIRNESS (Ch 28) --------------------------------------------- fairness_report(y_te, y_pred, y_score, group=protected_attribute) assert recall_gap() &lt; 0.05, &quot;subgroup recall gap too large -- do not deploy&quot;"/>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---- 8. FAIRNESS (Ch 28) ---------------------------------------------</a:t>
            </a:r>
          </a:p>
          <a:p>
            <a:pPr>
              <a:lnSpc>
                <a:spcPct val="100000"/>
              </a:lnSpc>
              <a:spcAft>
                <a:spcPts val="0"/>
              </a:spcAft>
            </a:pPr>
            <a:r>
              <a:rPr sz="1800" i="0">
                <a:solidFill>
                  <a:srgbClr val="E8EDF2"/>
                </a:solidFill>
                <a:latin typeface="Consolas"/>
              </a:rPr>
              <a:t>fairness_report</a:t>
            </a:r>
            <a:r>
              <a:rPr sz="1800" i="0">
                <a:solidFill>
                  <a:srgbClr val="AEB6BF"/>
                </a:solidFill>
                <a:latin typeface="Consolas"/>
              </a:rPr>
              <a:t>(</a:t>
            </a:r>
            <a:r>
              <a:rPr sz="1800" i="0">
                <a:solidFill>
                  <a:srgbClr val="E8EDF2"/>
                </a:solidFill>
                <a:latin typeface="Consolas"/>
              </a:rPr>
              <a:t>y_te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y_pred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y_score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group</a:t>
            </a:r>
            <a:r>
              <a:rPr sz="1800" i="0">
                <a:solidFill>
                  <a:srgbClr val="AEB6BF"/>
                </a:solidFill>
                <a:latin typeface="Consolas"/>
              </a:rPr>
              <a:t>=</a:t>
            </a:r>
            <a:r>
              <a:rPr sz="1800" i="0">
                <a:solidFill>
                  <a:srgbClr val="E8EDF2"/>
                </a:solidFill>
                <a:latin typeface="Consolas"/>
              </a:rPr>
              <a:t>protected_attribute</a:t>
            </a:r>
            <a:r>
              <a:rPr sz="1800" i="0">
                <a:solidFill>
                  <a:srgbClr val="AEB6BF"/>
                </a:solidFill>
                <a:latin typeface="Consolas"/>
              </a:rPr>
              <a:t>)</a:t>
            </a:r>
          </a:p>
          <a:p>
            <a:pPr>
              <a:lnSpc>
                <a:spcPct val="100000"/>
              </a:lnSpc>
              <a:spcAft>
                <a:spcPts val="0"/>
              </a:spcAft>
            </a:pPr>
            <a:r>
              <a:rPr sz="1800" i="0">
                <a:solidFill>
                  <a:srgbClr val="5DADE2"/>
                </a:solidFill>
                <a:latin typeface="Consolas"/>
              </a:rPr>
              <a:t>assert</a:t>
            </a:r>
            <a:r>
              <a:rPr sz="1800" i="0">
                <a:solidFill>
                  <a:srgbClr val="E8EDF2"/>
                </a:solidFill>
                <a:latin typeface="Consolas"/>
              </a:rPr>
              <a:t> </a:t>
            </a:r>
            <a:r>
              <a:rPr sz="1800" i="0">
                <a:solidFill>
                  <a:srgbClr val="E8EDF2"/>
                </a:solidFill>
                <a:latin typeface="Consolas"/>
              </a:rPr>
              <a:t>recall_gap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0.05</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subgroup recall gap too large -- do not deploy</a:t>
            </a:r>
            <a:r>
              <a:rPr sz="1800" i="0">
                <a:solidFill>
                  <a:srgbClr val="7DCEA0"/>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530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Capstone Skeleton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CD3798B6-B8DC-411F-9392-CE356A3C87DA}"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9-10. DEPLOY and MONITOR plans (Ch 24, 27)</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380743"/>
          </a:xfrm>
          <a:prstGeom prst="roundRect">
            <a:avLst>
              <a:gd name="adj" fmla="val 662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9-10. DEPLOY and MONITOR plans (Ch 24, 27) ---------------------- write_model_card(FRAME, metrics, subgroup_metrics, limitations, contest_route) write_monitoring_plan(layers=[&quot;inputs&quot;, &quot;predictions&quot;, &quot;outcomes&quot;, &quot;business&quot;])"/>
          <p:cNvSpPr txBox="1"/>
          <p:nvPr/>
        </p:nvSpPr>
        <p:spPr>
          <a:xfrm>
            <a:off x="1362456" y="2523744"/>
            <a:ext cx="9987991" cy="8869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---- 9-10. DEPLOY and MONITOR plans (Ch 24, 27) ----------------------</a:t>
            </a:r>
          </a:p>
          <a:p>
            <a:pPr>
              <a:lnSpc>
                <a:spcPct val="100000"/>
              </a:lnSpc>
              <a:spcAft>
                <a:spcPts val="0"/>
              </a:spcAft>
            </a:pPr>
            <a:r>
              <a:rPr sz="1700" i="0">
                <a:solidFill>
                  <a:srgbClr val="E8EDF2"/>
                </a:solidFill>
                <a:latin typeface="Consolas"/>
              </a:rPr>
              <a:t>write_model_card</a:t>
            </a:r>
            <a:r>
              <a:rPr sz="1700" i="0">
                <a:solidFill>
                  <a:srgbClr val="AEB6BF"/>
                </a:solidFill>
                <a:latin typeface="Consolas"/>
              </a:rPr>
              <a:t>(</a:t>
            </a:r>
            <a:r>
              <a:rPr sz="1700" i="0">
                <a:solidFill>
                  <a:srgbClr val="E8EDF2"/>
                </a:solidFill>
                <a:latin typeface="Consolas"/>
              </a:rPr>
              <a:t>FRAME</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metrics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subgroup_metrics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limitations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contest_route</a:t>
            </a:r>
            <a:r>
              <a:rPr sz="1700" i="0">
                <a:solidFill>
                  <a:srgbClr val="AEB6BF"/>
                </a:solidFill>
                <a:latin typeface="Consolas"/>
              </a:rPr>
              <a:t>)</a:t>
            </a:r>
          </a:p>
          <a:p>
            <a:pPr>
              <a:lnSpc>
                <a:spcPct val="100000"/>
              </a:lnSpc>
              <a:spcAft>
                <a:spcPts val="0"/>
              </a:spcAft>
            </a:pPr>
            <a:r>
              <a:rPr sz="1700" i="0">
                <a:solidFill>
                  <a:srgbClr val="E8EDF2"/>
                </a:solidFill>
                <a:latin typeface="Consolas"/>
              </a:rPr>
              <a:t>write_monitoring_plan</a:t>
            </a:r>
            <a:r>
              <a:rPr sz="1700" i="0">
                <a:solidFill>
                  <a:srgbClr val="AEB6BF"/>
                </a:solidFill>
                <a:latin typeface="Consolas"/>
              </a:rPr>
              <a:t>(</a:t>
            </a:r>
            <a:r>
              <a:rPr sz="1700" i="0">
                <a:solidFill>
                  <a:srgbClr val="E8EDF2"/>
                </a:solidFill>
                <a:latin typeface="Consolas"/>
              </a:rPr>
              <a:t>layers</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inputs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predictions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outcomes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business</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8869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a:p>
            <a:pPr algn="r">
              <a:lnSpc>
                <a:spcPct val="100000"/>
              </a:lnSpc>
            </a:pPr>
            <a:r>
              <a:rPr sz="1700">
                <a:solidFill>
                  <a:srgbClr val="4F5D6A"/>
                </a:solidFill>
                <a:latin typeface="Consolas"/>
              </a:rPr>
              <a:t>31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65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§32.4  ·  Handout p. 210     </a:t>
            </a:r>
            <a:fld id="{687EB29B-F1DF-4CEA-8141-8204DBB2BF0D}"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Notice what this skeleton enforces:</a:t>
            </a:r>
            <a:r>
              <a:rPr sz="2300" b="0" i="0">
                <a:solidFill>
                  <a:srgbClr val="1C252B"/>
                </a:solidFill>
                <a:latin typeface="Segoe UI"/>
              </a:rPr>
              <a:t> the frame exists before the data, the baseline exists before the model, the leakage check is an assertion rather than an intention, and the fairness gap can block deployment. Those four lines are the difference between a student project and a professional 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capstone model reaches 0.97 accuracy on a problem where 6% of cases are positive. What are the first two things you check, in order?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32  ·  Capstone: One Problem, Four Domains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214  ·  answers in Appendix D     </a:t>
            </a:r>
            <a:fld id="{95E46941-6B6D-4F75-A3E2-051DBF4F162E}"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capstone model reaches 0.97 accuracy on a problem where 6% of cases are positive. What are the first two things you check, in order?</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 Is it leakage? Check every feature against the prediction-time cutoff and check the split for entity or time overlap. (ii) What is the majority-class baseline? At 6% positives it is 94%, so 0.97 is a much smaller gain than it appears. Only then look at precision and recall.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  answers in Appendix D     </a:t>
            </a:r>
            <a:fld id="{37672BDB-EBAE-4A8D-9167-20306DA0E513}"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03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built for IoT and are asked to move the approach to learning analytics. Name the three constraints that change and what each forces you to do differently.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32  ·  Capstone: One Problem, Four Domains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214  ·  answers in Appendix D     </a:t>
            </a:r>
            <a:fld id="{BD646D51-9B28-49F7-8E66-91825C3F0CA8}"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You built for IoT and are asked to move the approach to learning analytics. Name the three constraints that change and what each forces you to do differently.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 Labels appear but rows collapse from millions to thousands, so unsupervised anomaly detection gives way to supervised learning with careful validation. (ii) The entity becomes a person, so interpretability and a contest route become requirements rather than preferences. (iii) Ground-truth lag stretches to a full term, so input and prediction monitoring must carry the alerting load.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  answers in Appendix D     </a:t>
            </a:r>
            <a:fld id="{5DC6D783-DC5A-4600-85CD-CC9CE0581F8B}"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286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Which single deliverable of the four would a sponsor read, and what must be in its first two sentences?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32  ·  Capstone: One Problem, Four Domains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214  ·  answers in Appendix D     </a:t>
            </a:r>
            <a:fld id="{EB807D69-9F9A-4671-BE89-3D452733BB8E}"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Which single deliverable of the four would a sponsor read, and what must be in its first two sentences?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C252B"/>
                </a:solidFill>
                <a:latin typeface="Segoe UI"/>
              </a:rPr>
              <a:t>one-page decision brief</a:t>
            </a:r>
            <a:r>
              <a:rPr sz="2200" b="0" i="0">
                <a:solidFill>
                  <a:srgbClr val="1C252B"/>
                </a:solidFill>
                <a:latin typeface="Segoe UI"/>
              </a:rPr>
              <a:t>. Its first two sentences must state what the system can do, in the sponsor’s units, and what you recommend doing about it — not the method.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  answers in Appendix D     </a:t>
            </a:r>
            <a:fld id="{70069220-7640-493E-BACC-DE1A690F70C6}"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23BE4F59-6AE4-4BF4-BF07-6D40B3A75D64}"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All four course domains are the same problem: early detection of rare bad outcomes from behavioural traces under a capacity constraint.</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differs between them is the base rate, label availability, ground-truth lag, the presence of an adversary and the human stakes — not the algorithm.</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ten-step process runs framing </a:t>
            </a:r>
            <a:r>
              <a:rPr sz="1900" b="0" i="0">
                <a:solidFill>
                  <a:srgbClr val="1C252B"/>
                </a:solidFill>
                <a:latin typeface="Cambria"/>
              </a:rPr>
              <a:t>→</a:t>
            </a:r>
            <a:r>
              <a:rPr sz="1900" b="0" i="0">
                <a:solidFill>
                  <a:srgbClr val="1C252B"/>
                </a:solidFill>
                <a:latin typeface="Segoe UI"/>
              </a:rPr>
              <a:t> audit </a:t>
            </a:r>
            <a:r>
              <a:rPr sz="1900" b="0" i="0">
                <a:solidFill>
                  <a:srgbClr val="1C252B"/>
                </a:solidFill>
                <a:latin typeface="Cambria"/>
              </a:rPr>
              <a:t>→</a:t>
            </a:r>
            <a:r>
              <a:rPr sz="1900" b="0" i="0">
                <a:solidFill>
                  <a:srgbClr val="1C252B"/>
                </a:solidFill>
                <a:latin typeface="Segoe UI"/>
              </a:rPr>
              <a:t> explore </a:t>
            </a:r>
            <a:r>
              <a:rPr sz="1900" b="0" i="0">
                <a:solidFill>
                  <a:srgbClr val="1C252B"/>
                </a:solidFill>
                <a:latin typeface="Cambria"/>
              </a:rPr>
              <a:t>→</a:t>
            </a:r>
            <a:r>
              <a:rPr sz="1900" b="0" i="0">
                <a:solidFill>
                  <a:srgbClr val="1C252B"/>
                </a:solidFill>
                <a:latin typeface="Segoe UI"/>
              </a:rPr>
              <a:t> baseline </a:t>
            </a:r>
            <a:r>
              <a:rPr sz="1900" b="0" i="0">
                <a:solidFill>
                  <a:srgbClr val="1C252B"/>
                </a:solidFill>
                <a:latin typeface="Cambria"/>
              </a:rPr>
              <a:t>→</a:t>
            </a:r>
            <a:r>
              <a:rPr sz="1900" b="0" i="0">
                <a:solidFill>
                  <a:srgbClr val="1C252B"/>
                </a:solidFill>
                <a:latin typeface="Segoe UI"/>
              </a:rPr>
              <a:t> features </a:t>
            </a:r>
            <a:r>
              <a:rPr sz="1900" b="0" i="0">
                <a:solidFill>
                  <a:srgbClr val="1C252B"/>
                </a:solidFill>
                <a:latin typeface="Cambria"/>
              </a:rPr>
              <a:t>→</a:t>
            </a:r>
            <a:r>
              <a:rPr sz="1900" b="0" i="0">
                <a:solidFill>
                  <a:srgbClr val="1C252B"/>
                </a:solidFill>
                <a:latin typeface="Segoe UI"/>
              </a:rPr>
              <a:t> model </a:t>
            </a:r>
            <a:r>
              <a:rPr sz="1900" b="0" i="0">
                <a:solidFill>
                  <a:srgbClr val="1C252B"/>
                </a:solidFill>
                <a:latin typeface="Cambria"/>
              </a:rPr>
              <a:t>→</a:t>
            </a:r>
            <a:r>
              <a:rPr sz="1900" b="0" i="0">
                <a:solidFill>
                  <a:srgbClr val="1C252B"/>
                </a:solidFill>
                <a:latin typeface="Segoe UI"/>
              </a:rPr>
              <a:t> evaluate </a:t>
            </a:r>
            <a:r>
              <a:rPr sz="1900" b="0" i="0">
                <a:solidFill>
                  <a:srgbClr val="1C252B"/>
                </a:solidFill>
                <a:latin typeface="Cambria"/>
              </a:rPr>
              <a:t>→</a:t>
            </a:r>
            <a:r>
              <a:rPr sz="1900" b="0" i="0">
                <a:solidFill>
                  <a:srgbClr val="1C252B"/>
                </a:solidFill>
                <a:latin typeface="Segoe UI"/>
              </a:rPr>
              <a:t> fairness </a:t>
            </a:r>
            <a:r>
              <a:rPr sz="1900" b="0" i="0">
                <a:solidFill>
                  <a:srgbClr val="1C252B"/>
                </a:solidFill>
                <a:latin typeface="Cambria"/>
              </a:rPr>
              <a:t>→</a:t>
            </a:r>
            <a:r>
              <a:rPr sz="1900" b="0" i="0">
                <a:solidFill>
                  <a:srgbClr val="1C252B"/>
                </a:solidFill>
                <a:latin typeface="Segoe UI"/>
              </a:rPr>
              <a:t> deploy </a:t>
            </a:r>
            <a:r>
              <a:rPr sz="1900" b="0" i="0">
                <a:solidFill>
                  <a:srgbClr val="1C252B"/>
                </a:solidFill>
                <a:latin typeface="Cambria"/>
              </a:rPr>
              <a:t>→</a:t>
            </a:r>
            <a:r>
              <a:rPr sz="1900" b="0" i="0">
                <a:solidFill>
                  <a:srgbClr val="1C252B"/>
                </a:solidFill>
                <a:latin typeface="Segoe UI"/>
              </a:rPr>
              <a:t> monitor.</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Deliver four artefacts: technical report, reproducible repository, one-page decision brief, model card.</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Projects fail on leakage, on accuracy under imbalance, and on the absence of a baseline — all three preventable in the first week.</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mark of competence is not building the most complex model, but choosing the simplest one the constraints permit and saying which constraint forced each choice.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56648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32  ·  Capstone: One Problem, Four Domains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214     </a:t>
            </a:r>
            <a:fld id="{1CCD1E3F-1EE7-48FE-AAA3-F23CBEA306BE}" type="slidenum">
              <a:rPr lang="en-GB" sz="1000">
                <a:solidFill>
                  <a:srgbClr val="8795A1"/>
                </a:solidFill>
                <a:latin typeface="Segoe UI"/>
              </a:rPr>
              <a:t>38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5359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State, in one sentence each, the four properties that distinguish the course’s domains from one another.</a:t>
            </a:r>
          </a:p>
        </p:txBody>
      </p:sp>
      <p:sp>
        <p:nvSpPr>
          <p:cNvPr id="10" name="!!rt1">
            <a:extLst>
              <a:ext uri="{C183D7F6-B498-43B3-948B-1728B52AA6E4}">
                <adec:decorative xmlns:adec="http://schemas.microsoft.com/office/drawing/2017/decorative" val="1"/>
              </a:ext>
            </a:extLst>
          </p:cNvPr>
          <p:cNvSpPr/>
          <p:nvPr/>
        </p:nvSpPr>
        <p:spPr>
          <a:xfrm>
            <a:off x="658368" y="222869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26984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10409"/>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Why is “we used gradient boosting because it was most accurate” a weaker justification than “we used logistic regression because advisers must be able to explain the decision to a student”?</a:t>
            </a:r>
          </a:p>
        </p:txBody>
      </p:sp>
      <p:sp>
        <p:nvSpPr>
          <p:cNvPr id="13" name="!!rt2">
            <a:extLst>
              <a:ext uri="{C183D7F6-B498-43B3-948B-1728B52AA6E4}">
                <adec:decorative xmlns:adec="http://schemas.microsoft.com/office/drawing/2017/decorative" val="1"/>
              </a:ext>
            </a:extLst>
          </p:cNvPr>
          <p:cNvSpPr/>
          <p:nvPr/>
        </p:nvSpPr>
        <p:spPr>
          <a:xfrm>
            <a:off x="658368" y="2955340"/>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99648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937052"/>
            <a:ext cx="9549079" cy="25359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Give the three checks an examiner performs first on a suspiciously good result.</a:t>
            </a:r>
          </a:p>
        </p:txBody>
      </p:sp>
      <p:sp>
        <p:nvSpPr>
          <p:cNvPr id="16" name="!!rt3">
            <a:extLst>
              <a:ext uri="{C183D7F6-B498-43B3-948B-1728B52AA6E4}">
                <adec:decorative xmlns:adec="http://schemas.microsoft.com/office/drawing/2017/decorative" val="1"/>
              </a:ext>
            </a:extLst>
          </p:cNvPr>
          <p:cNvSpPr/>
          <p:nvPr/>
        </p:nvSpPr>
        <p:spPr>
          <a:xfrm>
            <a:off x="658368" y="342839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46953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410102"/>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Complete the full ten-step process for one domain of your choice. Produce all four deliverables. Then write the one-page transfer analysis required by the brief.</a:t>
            </a:r>
          </a:p>
        </p:txBody>
      </p:sp>
      <p:sp>
        <p:nvSpPr>
          <p:cNvPr id="19" name="!!rt4">
            <a:extLst>
              <a:ext uri="{C183D7F6-B498-43B3-948B-1728B52AA6E4}">
                <adec:decorative xmlns:adec="http://schemas.microsoft.com/office/drawing/2017/decorative" val="1"/>
              </a:ext>
            </a:extLst>
          </p:cNvPr>
          <p:cNvSpPr/>
          <p:nvPr/>
        </p:nvSpPr>
        <p:spPr>
          <a:xfrm>
            <a:off x="658368" y="415503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9618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36745"/>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Take a project you have already completed — in this or another module — and mark it against the rubric above. Identify the two criteria on which it scored worst and write what you would do differently.</a:t>
            </a:r>
          </a:p>
        </p:txBody>
      </p:sp>
      <p:sp>
        <p:nvSpPr>
          <p:cNvPr id="22" name="!!rt5">
            <a:extLst>
              <a:ext uri="{C183D7F6-B498-43B3-948B-1728B52AA6E4}">
                <adec:decorative xmlns:adec="http://schemas.microsoft.com/office/drawing/2017/decorative" val="1"/>
              </a:ext>
            </a:extLst>
          </p:cNvPr>
          <p:cNvSpPr/>
          <p:nvPr/>
        </p:nvSpPr>
        <p:spPr>
          <a:xfrm>
            <a:off x="658368" y="488167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rtt5"/>
          <p:cNvSpPr txBox="1"/>
          <p:nvPr/>
        </p:nvSpPr>
        <p:spPr>
          <a:xfrm>
            <a:off x="658368" y="492282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4" name="!!rq5"/>
          <p:cNvSpPr txBox="1"/>
          <p:nvPr/>
        </p:nvSpPr>
        <p:spPr>
          <a:xfrm>
            <a:off x="1892807" y="4863388"/>
            <a:ext cx="9549079" cy="76078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You are given 40 sprints of project data and asked for a completion-risk model. Write the honest one-paragraph response you would send the sponsor, including what you can and cannot deliver, and what you would do instead.</a:t>
            </a: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1187908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32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the course</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THE COURSE</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32 chapters  ·  six parts  ·  four lenses  ·  one capstone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32, pages 208–214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32  ·  Capstone: One Problem, Four Domains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37FAEFF5-2224-443F-A4A2-774A5BABBC3F}"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32: Capstone: One Problem, Four Domains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