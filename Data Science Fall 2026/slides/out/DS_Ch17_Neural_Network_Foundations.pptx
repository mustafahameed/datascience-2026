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0.svg" ContentType="image/svg+xml"/>
  <Override PartName="/ppt/media/image12.svg" ContentType="image/svg+xml"/>
  <Override PartName="/ppt/media/image14.svg" ContentType="image/svg+xml"/>
  <Override PartName="/ppt/media/image16.svg" ContentType="image/svg+xml"/>
  <Override PartName="/ppt/media/image18.svg" ContentType="image/svg+xml"/>
  <Override PartName="/ppt/media/image20.svg" ContentType="image/svg+xml"/>
  <Override PartName="/ppt/media/image22.svg" ContentType="image/svg+xml"/>
  <Override PartName="/ppt/media/image24.svg" ContentType="image/svg+xml"/>
  <Override PartName="/ppt/media/image26.svg" ContentType="image/svg+xml"/>
  <Override PartName="/ppt/media/image28.svg" ContentType="image/svg+xml"/>
  <Override PartName="/ppt/media/image30.svg" ContentType="image/svg+xml"/>
  <Override PartName="/ppt/media/image31.svg" ContentType="image/svg+xml"/>
  <Override PartName="/ppt/media/image33.svg" ContentType="image/svg+xml"/>
  <Override PartName="/ppt/media/image34.svg" ContentType="image/svg+xml"/>
  <Override PartName="/ppt/media/image36.svg" ContentType="image/svg+xml"/>
  <Override PartName="/ppt/media/image38.svg" ContentType="image/svg+xml"/>
  <Override PartName="/ppt/media/image39.svg" ContentType="image/svg+xml"/>
  <Override PartName="/ppt/media/image4.svg" ContentType="image/svg+xml"/>
  <Override PartName="/ppt/media/image41.svg" ContentType="image/svg+xml"/>
  <Override PartName="/ppt/media/image43.svg" ContentType="image/svg+xml"/>
  <Override PartName="/ppt/media/image45.svg" ContentType="image/svg+xml"/>
  <Override PartName="/ppt/media/image47.svg" ContentType="image/svg+xml"/>
  <Override PartName="/ppt/media/image49.svg" ContentType="image/svg+xml"/>
  <Override PartName="/ppt/media/image51.svg" ContentType="image/svg+xml"/>
  <Override PartName="/ppt/media/image52.svg" ContentType="image/svg+xml"/>
  <Override PartName="/ppt/media/image53.svg" ContentType="image/svg+xml"/>
  <Override PartName="/ppt/media/image54.svg" ContentType="image/svg+xml"/>
  <Override PartName="/ppt/media/image55.svg" ContentType="image/svg+xml"/>
  <Override PartName="/ppt/media/image57.svg" ContentType="image/svg+xml"/>
  <Override PartName="/ppt/media/image58.svg" ContentType="image/svg+xml"/>
  <Override PartName="/ppt/media/image59.svg" ContentType="image/svg+xml"/>
  <Override PartName="/ppt/media/image6.svg" ContentType="image/svg+xml"/>
  <Override PartName="/ppt/media/image60.svg" ContentType="image/svg+xml"/>
  <Override PartName="/ppt/media/image61.svg" ContentType="image/svg+xml"/>
  <Override PartName="/ppt/media/image63.svg" ContentType="image/svg+xml"/>
  <Override PartName="/ppt/media/image64.svg" ContentType="image/svg+xml"/>
  <Override PartName="/ppt/media/image65.svg" ContentType="image/svg+xml"/>
  <Override PartName="/ppt/media/image66.svg" ContentType="image/svg+xml"/>
  <Override PartName="/ppt/media/image67.svg" ContentType="image/svg+xml"/>
  <Override PartName="/ppt/media/image69.svg" ContentType="image/svg+xml"/>
  <Override PartName="/ppt/media/image70.svg" ContentType="image/svg+xml"/>
  <Override PartName="/ppt/media/image71.svg" ContentType="image/svg+xml"/>
  <Override PartName="/ppt/media/image72.svg" ContentType="image/svg+xml"/>
  <Override PartName="/ppt/media/image73.svg" ContentType="image/svg+xml"/>
  <Override PartName="/ppt/media/image75.svg" ContentType="image/svg+xml"/>
  <Override PartName="/ppt/media/image76.svg" ContentType="image/svg+xml"/>
  <Override PartName="/ppt/media/image77.svg" ContentType="image/svg+xml"/>
  <Override PartName="/ppt/media/image78.svg" ContentType="image/svg+xml"/>
  <Override PartName="/ppt/media/image79.svg" ContentType="image/svg+xml"/>
  <Override PartName="/ppt/media/image8.svg" ContentType="image/svg+xml"/>
  <Override PartName="/ppt/media/image80.svg" ContentType="image/svg+xml"/>
  <Override PartName="/ppt/media/image81.svg" ContentType="image/svg+xml"/>
  <Override PartName="/ppt/media/image83.svg" ContentType="image/svg+xml"/>
  <Override PartName="/ppt/media/image85.svg" ContentType="image/svg+xml"/>
  <Override PartName="/ppt/media/image86.svg" ContentType="image/svg+xml"/>
  <Override PartName="/ppt/media/image87.svg" ContentType="image/svg+xml"/>
  <Override PartName="/ppt/media/image88.svg" ContentType="image/svg+xml"/>
  <Override PartName="/ppt/media/image89.svg" ContentType="image/svg+xml"/>
  <Override PartName="/ppt/media/image91.svg" ContentType="image/svg+xml"/>
  <Override PartName="/ppt/media/image93.svg" ContentType="image/svg+xml"/>
  <Override PartName="/ppt/media/image94.svg" ContentType="image/svg+xml"/>
  <Override PartName="/ppt/media/image95.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E4BC7C71-38D7-4C8E-A267-4915BC37D312}">
          <p14:sldIdLst>
            <p14:sldId id="256"/>
            <p14:sldId id="257"/>
            <p14:sldId id="258"/>
            <p14:sldId id="259"/>
            <p14:sldId id="260"/>
          </p14:sldIdLst>
        </p14:section>
        <p14:section name="17.1 One Neuron" id="{BAFC366A-191F-4CB1-A956-98CE2AFAE85B}">
          <p14:sldIdLst>
            <p14:sldId id="261"/>
            <p14:sldId id="262"/>
            <p14:sldId id="263"/>
            <p14:sldId id="264"/>
          </p14:sldIdLst>
        </p14:section>
        <p14:section name="17.2 Why Non-Linearity Is Not Optional" id="{A648D38B-03BD-464D-8B14-FD0F0F7D3942}">
          <p14:sldIdLst>
            <p14:sldId id="265"/>
            <p14:sldId id="266"/>
            <p14:sldId id="267"/>
            <p14:sldId id="268"/>
          </p14:sldIdLst>
        </p14:section>
        <p14:section name="17.3 Layers and the Forward Pass" id="{3D96A677-0AFB-46F9-BC44-2C1EECAC8E55}">
          <p14:sldIdLst>
            <p14:sldId id="269"/>
          </p14:sldIdLst>
        </p14:section>
        <p14:section name="17.4 Training: The Four-Step Cycle" id="{99DABCCC-8340-4A82-8DCB-F46E497AA83B}">
          <p14:sldIdLst>
            <p14:sldId id="270"/>
            <p14:sldId id="271"/>
            <p14:sldId id="272"/>
            <p14:sldId id="273"/>
          </p14:sldIdLst>
        </p14:section>
        <p14:section name="17.5 Reading a Training Curve" id="{56D402CB-F86A-4347-AE40-AB6B5DFA979E}">
          <p14:sldIdLst>
            <p14:sldId id="274"/>
            <p14:sldId id="275"/>
          </p14:sldIdLst>
        </p14:section>
        <p14:section name="Pitfalls" id="{B7679256-7AE8-466F-9300-F50D2D12152E}">
          <p14:sldIdLst>
            <p14:sldId id="276"/>
            <p14:sldId id="277"/>
          </p14:sldIdLst>
        </p14:section>
        <p14:section name="Four lenses" id="{AF7C1CAD-7E02-4EBE-B3AF-21438B3D3957}">
          <p14:sldIdLst>
            <p14:sldId id="278"/>
            <p14:sldId id="279"/>
            <p14:sldId id="280"/>
            <p14:sldId id="281"/>
            <p14:sldId id="282"/>
          </p14:sldIdLst>
        </p14:section>
        <p14:section name="Lab" id="{0A6966DC-DCC4-496F-B43D-161820768FDD}">
          <p14:sldIdLst>
            <p14:sldId id="283"/>
            <p14:sldId id="284"/>
            <p14:sldId id="285"/>
            <p14:sldId id="286"/>
            <p14:sldId id="287"/>
            <p14:sldId id="288"/>
            <p14:sldId id="289"/>
          </p14:sldIdLst>
        </p14:section>
        <p14:section name="Checkpoint" id="{0259BF80-C1BE-4FD0-BAC6-27711D374F49}">
          <p14:sldIdLst>
            <p14:sldId id="290"/>
            <p14:sldId id="291"/>
            <p14:sldId id="292"/>
            <p14:sldId id="293"/>
            <p14:sldId id="294"/>
            <p14:sldId id="295"/>
          </p14:sldIdLst>
        </p14:section>
        <p14:section name="Wrap-up" id="{7BDBFC14-6C82-4F5F-B074-645DB009C0FF}">
          <p14:sldIdLst>
            <p14:sldId id="296"/>
            <p14:sldId id="297"/>
            <p14:sldId id="298"/>
            <p14:sldId id="299"/>
            <p14:sldId id="300"/>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Chapter 17: Neural Network Foundations. Part 4 — Deep Learning and Modern AI. Week 11: Neural networks and architectures. Handout pages 109–114.</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Place the chapter. Before you start: Chapter 4 (gradients, gradient descent, learning rate — this chapter is that machinery applied at scale), Chapter 12 (loss functions) and Chapter 11 (overfitting).</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these out: they are the chapter's contract with the room. Each click adds one.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define these now; they arrive one at a time. This slide is for the students' notes. Terms: neuron; weight; bias; activation function; ReLU; sigmoid; softmax; hidden layer; forward pass; loss; backpropagation; epoch; batch; optimiser; vanishing gradient; dropout; early stopping.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route through the chapter. Each row is a link: click it to jump to that section in the slide show.</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Figure 17.1 (handout p. 110): A single neuron. The summation is a linear model; the activation is what makes depth worthwhile. A neuron with a sigmoid activation is logistic regression (Chapter 13).</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click adds one step of the working. Ask for the next number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Figure 17.2 (handout p. 110): Four activation functions. ReLU is the default for hidden layers because it is cheap and its gradient does not vanish for positive inputs; sigmoid and tanh saturate, which stalls learning in deep networks.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read the table row by row: pick the row the room is most likely to get wrong and ask why.</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Figure 17.3 (handout p. 111): A small feed-forward network. Data moves right to produce a prediction; error moves left to produce the gradient for every weight. Both directions run on every training batch.</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read the table row by row: pick the row the room is most likely to get wrong and ask why.</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Figure 17.4 (handout p. 112): Three training runs. The gap between the two curves diagnoses overfitting; the shape of the training curve alone diagnoses the learning rate. Plot both curves for every run you do.</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each pitfall, ask who has seen it happen. One real story beats five bullets.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same method, four domains. Each of the next four slides opens one lens in full.</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Learning Analytics. Rarely the right tool for tabular engagement data — a few thousand students and 40 features is gradient-boosting territory. Networks earn their place when the input is unstructured: assessing free-text reflections, or modelling the raw clickstream sequence rather than aggregates (Chapter 19). Whatever the accuracy, an unexplainable model driving interventions on students runs into Chapter 28.</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Project Management. Almost never appropriate. With 40 sprints and 67 parameters in even the toy network above, the model has more parameters than observations. The honest answer is a two-feature regression. Knowing when not to use the powerful tool is part of the competence being assessed.</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Internet of Things. Genuinely useful here, because raw sensor waveforms are unstructured and the fleet generates millions of examples. A small network can also be quantised to run on-device (Chapter 24). Note the constraint that shapes everything: the model must fit in kilobytes and infer in milliseconds, so architecture size is dictated by the hardware, not by accuracy alone.</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Cybersecurity. Used for malware classification from raw bytes and for sequence models over session logs, where hand-engineered features are brittle against an adapting adversary. But networks are also uniquely vulnerable: small, deliberately crafted input perturbations can flip a confident prediction. That is adversarial machine learning, and Chapter 26 treats it in full.</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what the room will have at the end of the lab, then let them start. Circulate rather than lecture.</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1: Set-up.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2: One neuron, no framework: verify the worked example.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3: A tiny two-layer network trained by hand.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4: A tiny two-layer network trained by hand (continued).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5: The same thing with a framework, plus early stopping.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someone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(Appendix D): z = (0.5)(2.0) + (−1.0)(1.0) + 0.3 = 1.0 − 1.0 + 0.3 = 0.3. ReLU(0.3) = 0.3.</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someone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(Appendix D): Because the composition of linear functions is linear: W2(W1x) = (W2W1)x. A hundred linear layers compute what one linear layer computes.</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someone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(Appendix D): Overfitting. Stop training and restore the weights from the epoch with the lowest validation loss — which is exactly what early stopping automates.</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to say each takeaway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 a show of hands for each option before discussing. (The handout does not print MCQ answers.)</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 a show of hands for each option before discussing. (The handout does not print MCQ answers.)</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 these for independent study. Model answers are not printed in the handout.</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NEXT: Chapter 18 — Deep Architectures. READ: Handout Chapter 17, pages 109–114. THIS WEEK'S LAB: Network from scratch; transfer learning.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457200" rtl="0" eaLnBrk="1" latinLnBrk="0" hangingPunct="1">
        <a:spcBef>
          <a:spcPct val="0"/>
        </a:spcBef>
        <a:buNone/>
        <a:defRPr sz="3000" kern="1200" b="0">
          <a:solidFill>
            <a:srgbClr val="1A5276"/>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png"/><Relationship Id="rId3" Type="http://schemas.openxmlformats.org/officeDocument/2006/relationships/image" Target="../media/image4.sv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png"/><Relationship Id="rId3" Type="http://schemas.openxmlformats.org/officeDocument/2006/relationships/image" Target="../media/image6.sv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png"/><Relationship Id="rId3" Type="http://schemas.openxmlformats.org/officeDocument/2006/relationships/image" Target="../media/image8.sv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png"/><Relationship Id="rId3" Type="http://schemas.openxmlformats.org/officeDocument/2006/relationships/image" Target="../media/image10.svg"/><Relationship Id="rId4" Type="http://schemas.openxmlformats.org/officeDocument/2006/relationships/notesSlide" Target="../notesSlides/notesSlide5.xml"/><Relationship Id="rId5" Type="http://schemas.openxmlformats.org/officeDocument/2006/relationships/slide" Target="slide6.xml"/><Relationship Id="rId6" Type="http://schemas.openxmlformats.org/officeDocument/2006/relationships/slide" Target="slide10.xml"/><Relationship Id="rId7" Type="http://schemas.openxmlformats.org/officeDocument/2006/relationships/slide" Target="slide14.xml"/><Relationship Id="rId8" Type="http://schemas.openxmlformats.org/officeDocument/2006/relationships/slide" Target="slide15.xml"/><Relationship Id="rId9" Type="http://schemas.openxmlformats.org/officeDocument/2006/relationships/slide" Target="slide19.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1.png"/><Relationship Id="rId3" Type="http://schemas.openxmlformats.org/officeDocument/2006/relationships/image" Target="../media/image12.svg"/><Relationship Id="rId4" Type="http://schemas.openxmlformats.org/officeDocument/2006/relationships/image" Target="../media/image13.png"/><Relationship Id="rId5" Type="http://schemas.openxmlformats.org/officeDocument/2006/relationships/image" Target="../media/image14.svg"/><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5.png"/><Relationship Id="rId3" Type="http://schemas.openxmlformats.org/officeDocument/2006/relationships/image" Target="../media/image16.sv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7.png"/><Relationship Id="rId3" Type="http://schemas.openxmlformats.org/officeDocument/2006/relationships/image" Target="../media/image18.svg"/><Relationship Id="rId4" Type="http://schemas.openxmlformats.org/officeDocument/2006/relationships/image" Target="../media/image19.png"/><Relationship Id="rId5" Type="http://schemas.openxmlformats.org/officeDocument/2006/relationships/image" Target="../media/image20.svg"/><Relationship Id="rId6" Type="http://schemas.openxmlformats.org/officeDocument/2006/relationships/image" Target="../media/image21.png"/><Relationship Id="rId7" Type="http://schemas.openxmlformats.org/officeDocument/2006/relationships/image" Target="../media/image22.svg"/><Relationship Id="rId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3.png"/><Relationship Id="rId3" Type="http://schemas.openxmlformats.org/officeDocument/2006/relationships/image" Target="../media/image24.sv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5.png"/><Relationship Id="rId3" Type="http://schemas.openxmlformats.org/officeDocument/2006/relationships/image" Target="../media/image26.sv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7.png"/><Relationship Id="rId3" Type="http://schemas.openxmlformats.org/officeDocument/2006/relationships/image" Target="../media/image28.sv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9.png"/><Relationship Id="rId3" Type="http://schemas.openxmlformats.org/officeDocument/2006/relationships/image" Target="../media/image30.svg"/><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1.png"/><Relationship Id="rId3" Type="http://schemas.openxmlformats.org/officeDocument/2006/relationships/image" Target="../media/image31.svg"/><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2.png"/><Relationship Id="rId3" Type="http://schemas.openxmlformats.org/officeDocument/2006/relationships/image" Target="../media/image33.svg"/><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7.png"/><Relationship Id="rId3" Type="http://schemas.openxmlformats.org/officeDocument/2006/relationships/image" Target="../media/image34.svg"/><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5.png"/><Relationship Id="rId3" Type="http://schemas.openxmlformats.org/officeDocument/2006/relationships/image" Target="../media/image36.svg"/><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7.png"/><Relationship Id="rId3" Type="http://schemas.openxmlformats.org/officeDocument/2006/relationships/image" Target="../media/image38.svg"/><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2.png"/><Relationship Id="rId3" Type="http://schemas.openxmlformats.org/officeDocument/2006/relationships/image" Target="../media/image39.svg"/><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0.png"/><Relationship Id="rId3" Type="http://schemas.openxmlformats.org/officeDocument/2006/relationships/image" Target="../media/image41.svg"/><Relationship Id="rId4" Type="http://schemas.openxmlformats.org/officeDocument/2006/relationships/image" Target="../media/image42.png"/><Relationship Id="rId5" Type="http://schemas.openxmlformats.org/officeDocument/2006/relationships/image" Target="../media/image43.svg"/><Relationship Id="rId6" Type="http://schemas.openxmlformats.org/officeDocument/2006/relationships/image" Target="../media/image44.png"/><Relationship Id="rId7" Type="http://schemas.openxmlformats.org/officeDocument/2006/relationships/image" Target="../media/image45.svg"/><Relationship Id="rId8" Type="http://schemas.openxmlformats.org/officeDocument/2006/relationships/image" Target="../media/image46.png"/><Relationship Id="rId9" Type="http://schemas.openxmlformats.org/officeDocument/2006/relationships/image" Target="../media/image47.svg"/><Relationship Id="rId10" Type="http://schemas.openxmlformats.org/officeDocument/2006/relationships/image" Target="../media/image48.png"/><Relationship Id="rId11" Type="http://schemas.openxmlformats.org/officeDocument/2006/relationships/image" Target="../media/image49.svg"/><Relationship Id="rId1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0.png"/><Relationship Id="rId3" Type="http://schemas.openxmlformats.org/officeDocument/2006/relationships/image" Target="../media/image51.svg"/><Relationship Id="rId4" Type="http://schemas.openxmlformats.org/officeDocument/2006/relationships/image" Target="../media/image42.png"/><Relationship Id="rId5" Type="http://schemas.openxmlformats.org/officeDocument/2006/relationships/image" Target="../media/image52.svg"/><Relationship Id="rId6" Type="http://schemas.openxmlformats.org/officeDocument/2006/relationships/image" Target="../media/image44.png"/><Relationship Id="rId7" Type="http://schemas.openxmlformats.org/officeDocument/2006/relationships/image" Target="../media/image53.svg"/><Relationship Id="rId8" Type="http://schemas.openxmlformats.org/officeDocument/2006/relationships/image" Target="../media/image46.png"/><Relationship Id="rId9" Type="http://schemas.openxmlformats.org/officeDocument/2006/relationships/image" Target="../media/image54.svg"/><Relationship Id="rId10" Type="http://schemas.openxmlformats.org/officeDocument/2006/relationships/image" Target="../media/image48.png"/><Relationship Id="rId11" Type="http://schemas.openxmlformats.org/officeDocument/2006/relationships/image" Target="../media/image55.svg"/><Relationship Id="rId1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6.png"/><Relationship Id="rId3" Type="http://schemas.openxmlformats.org/officeDocument/2006/relationships/image" Target="../media/image57.svg"/><Relationship Id="rId4" Type="http://schemas.openxmlformats.org/officeDocument/2006/relationships/image" Target="../media/image44.png"/><Relationship Id="rId5" Type="http://schemas.openxmlformats.org/officeDocument/2006/relationships/image" Target="../media/image58.svg"/><Relationship Id="rId6" Type="http://schemas.openxmlformats.org/officeDocument/2006/relationships/image" Target="../media/image42.png"/><Relationship Id="rId7" Type="http://schemas.openxmlformats.org/officeDocument/2006/relationships/image" Target="../media/image59.svg"/><Relationship Id="rId8" Type="http://schemas.openxmlformats.org/officeDocument/2006/relationships/image" Target="../media/image46.png"/><Relationship Id="rId9" Type="http://schemas.openxmlformats.org/officeDocument/2006/relationships/image" Target="../media/image60.svg"/><Relationship Id="rId10" Type="http://schemas.openxmlformats.org/officeDocument/2006/relationships/image" Target="../media/image48.png"/><Relationship Id="rId11" Type="http://schemas.openxmlformats.org/officeDocument/2006/relationships/image" Target="../media/image61.svg"/><Relationship Id="rId1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2.png"/><Relationship Id="rId3" Type="http://schemas.openxmlformats.org/officeDocument/2006/relationships/image" Target="../media/image63.svg"/><Relationship Id="rId4" Type="http://schemas.openxmlformats.org/officeDocument/2006/relationships/image" Target="../media/image46.png"/><Relationship Id="rId5" Type="http://schemas.openxmlformats.org/officeDocument/2006/relationships/image" Target="../media/image64.svg"/><Relationship Id="rId6" Type="http://schemas.openxmlformats.org/officeDocument/2006/relationships/image" Target="../media/image42.png"/><Relationship Id="rId7" Type="http://schemas.openxmlformats.org/officeDocument/2006/relationships/image" Target="../media/image65.svg"/><Relationship Id="rId8" Type="http://schemas.openxmlformats.org/officeDocument/2006/relationships/image" Target="../media/image44.png"/><Relationship Id="rId9" Type="http://schemas.openxmlformats.org/officeDocument/2006/relationships/image" Target="../media/image66.svg"/><Relationship Id="rId10" Type="http://schemas.openxmlformats.org/officeDocument/2006/relationships/image" Target="../media/image48.png"/><Relationship Id="rId11" Type="http://schemas.openxmlformats.org/officeDocument/2006/relationships/image" Target="../media/image67.svg"/><Relationship Id="rId1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8.png"/><Relationship Id="rId3" Type="http://schemas.openxmlformats.org/officeDocument/2006/relationships/image" Target="../media/image69.svg"/><Relationship Id="rId4" Type="http://schemas.openxmlformats.org/officeDocument/2006/relationships/image" Target="../media/image48.png"/><Relationship Id="rId5" Type="http://schemas.openxmlformats.org/officeDocument/2006/relationships/image" Target="../media/image70.svg"/><Relationship Id="rId6" Type="http://schemas.openxmlformats.org/officeDocument/2006/relationships/image" Target="../media/image42.png"/><Relationship Id="rId7" Type="http://schemas.openxmlformats.org/officeDocument/2006/relationships/image" Target="../media/image71.svg"/><Relationship Id="rId8" Type="http://schemas.openxmlformats.org/officeDocument/2006/relationships/image" Target="../media/image44.png"/><Relationship Id="rId9" Type="http://schemas.openxmlformats.org/officeDocument/2006/relationships/image" Target="../media/image72.svg"/><Relationship Id="rId10" Type="http://schemas.openxmlformats.org/officeDocument/2006/relationships/image" Target="../media/image46.png"/><Relationship Id="rId11" Type="http://schemas.openxmlformats.org/officeDocument/2006/relationships/image" Target="../media/image73.svg"/><Relationship Id="rId1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4.png"/><Relationship Id="rId3" Type="http://schemas.openxmlformats.org/officeDocument/2006/relationships/image" Target="../media/image75.svg"/><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4.png"/><Relationship Id="rId3" Type="http://schemas.openxmlformats.org/officeDocument/2006/relationships/image" Target="../media/image76.svg"/><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4.png"/><Relationship Id="rId3" Type="http://schemas.openxmlformats.org/officeDocument/2006/relationships/image" Target="../media/image77.svg"/><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4.png"/><Relationship Id="rId3" Type="http://schemas.openxmlformats.org/officeDocument/2006/relationships/image" Target="../media/image78.svg"/><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4.png"/><Relationship Id="rId3" Type="http://schemas.openxmlformats.org/officeDocument/2006/relationships/image" Target="../media/image79.svg"/><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4.png"/><Relationship Id="rId3" Type="http://schemas.openxmlformats.org/officeDocument/2006/relationships/image" Target="../media/image80.svg"/><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4.png"/><Relationship Id="rId3" Type="http://schemas.openxmlformats.org/officeDocument/2006/relationships/image" Target="../media/image81.svg"/><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2.png"/><Relationship Id="rId3" Type="http://schemas.openxmlformats.org/officeDocument/2006/relationships/image" Target="../media/image83.svg"/><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4.png"/><Relationship Id="rId3" Type="http://schemas.openxmlformats.org/officeDocument/2006/relationships/image" Target="../media/image85.svg"/><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2.png"/><Relationship Id="rId3" Type="http://schemas.openxmlformats.org/officeDocument/2006/relationships/image" Target="../media/image86.svg"/><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4.png"/><Relationship Id="rId3" Type="http://schemas.openxmlformats.org/officeDocument/2006/relationships/image" Target="../media/image87.svg"/><Relationship Id="rId4"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2.png"/><Relationship Id="rId3" Type="http://schemas.openxmlformats.org/officeDocument/2006/relationships/image" Target="../media/image88.svg"/><Relationship Id="rId4"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4.png"/><Relationship Id="rId3" Type="http://schemas.openxmlformats.org/officeDocument/2006/relationships/image" Target="../media/image89.svg"/><Relationship Id="rId4"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0.png"/><Relationship Id="rId3" Type="http://schemas.openxmlformats.org/officeDocument/2006/relationships/image" Target="../media/image91.svg"/><Relationship Id="rId4"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2.png"/><Relationship Id="rId3" Type="http://schemas.openxmlformats.org/officeDocument/2006/relationships/image" Target="../media/image93.svg"/><Relationship Id="rId4"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2.png"/><Relationship Id="rId3" Type="http://schemas.openxmlformats.org/officeDocument/2006/relationships/image" Target="../media/image94.svg"/><Relationship Id="rId4"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2.png"/><Relationship Id="rId3" Type="http://schemas.openxmlformats.org/officeDocument/2006/relationships/image" Target="../media/image95.svg"/><Relationship Id="rId4"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7A3A95"/>
        </a:solidFill>
        <a:effectLst/>
      </p:bgPr>
    </p:bg>
    <p:spTree>
      <p:nvGrpSpPr>
        <p:cNvPr id="1" name=""/>
        <p:cNvGrpSpPr/>
        <p:nvPr/>
      </p:nvGrpSpPr>
      <p:grpSpPr/>
      <p:sp>
        <p:nvSpPr>
          <p:cNvPr id="3" name="!!wm">
            <a:extLst>
              <a:ext uri="{C183D7F6-B498-43B3-948B-1728B52AA6E4}">
                <adec:decorative xmlns:adec="http://schemas.microsoft.com/office/drawing/2017/decorative" val="1"/>
              </a:ext>
            </a:extLst>
          </p:cNvPr>
          <p:cNvSpPr txBox="1"/>
          <p:nvPr/>
        </p:nvSpPr>
        <p:spPr>
          <a:xfrm>
            <a:off x="6430975" y="-502920"/>
            <a:ext cx="5486400" cy="4572000"/>
          </a:xfrm>
          <a:prstGeom prst="rect">
            <a:avLst/>
          </a:prstGeom>
          <a:noFill/>
        </p:spPr>
        <p:txBody>
          <a:bodyPr wrap="square" anchor="t" lIns="0" rIns="0" tIns="0" bIns="0">
            <a:noAutofit/>
          </a:bodyPr>
          <a:lstStyle/>
          <a:p>
            <a:pPr algn="r">
              <a:lnSpc>
                <a:spcPct val="100000"/>
              </a:lnSpc>
              <a:spcBef>
                <a:spcPts val="0"/>
              </a:spcBef>
              <a:spcAft>
                <a:spcPts val="0"/>
              </a:spcAft>
            </a:pPr>
            <a:r>
              <a:rPr sz="28000" b="0" i="0">
                <a:solidFill>
                  <a:srgbClr val="874EA0"/>
                </a:solidFill>
                <a:latin typeface="Segoe UI Black"/>
              </a:rPr>
              <a:t>17</a:t>
            </a:r>
          </a:p>
        </p:txBody>
      </p:sp>
      <p:sp>
        <p:nvSpPr>
          <p:cNvPr id="2" name="!!title"/>
          <p:cNvSpPr>
            <a:spLocks noGrp="1"/>
          </p:cNvSpPr>
          <p:nvPr>
            <p:ph type="title"/>
          </p:nvPr>
        </p:nvSpPr>
        <p:spPr>
          <a:xfrm>
            <a:off x="658368" y="2304288"/>
            <a:ext cx="8503920" cy="1920240"/>
          </a:xfrm>
        </p:spPr>
        <p:txBody>
          <a:bodyPr wrap="square" lIns="0" rIns="0" tIns="0" bIns="0" anchor="t">
            <a:noAutofit/>
          </a:bodyPr>
          <a:lstStyle/>
          <a:p>
            <a:pPr algn="l">
              <a:lnSpc>
                <a:spcPct val="96000"/>
              </a:lnSpc>
            </a:pPr>
            <a:r>
              <a:rPr sz="4600" b="0">
                <a:solidFill>
                  <a:srgbClr val="FFFFFF"/>
                </a:solidFill>
                <a:latin typeface="Segoe UI Semibold"/>
              </a:rPr>
              <a:t>Neural Network Foundations</a:t>
            </a:r>
          </a:p>
        </p:txBody>
      </p:sp>
      <p:sp>
        <p:nvSpPr>
          <p:cNvPr id="4" name="!!tbar">
            <a:extLst>
              <a:ext uri="{C183D7F6-B498-43B3-948B-1728B52AA6E4}">
                <adec:decorative xmlns:adec="http://schemas.microsoft.com/office/drawing/2017/decorative" val="1"/>
              </a:ext>
            </a:extLst>
          </p:cNvPr>
          <p:cNvSpPr/>
          <p:nvPr/>
        </p:nvSpPr>
        <p:spPr>
          <a:xfrm>
            <a:off x="658368" y="1298448"/>
            <a:ext cx="822960" cy="640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part"/>
          <p:cNvSpPr txBox="1"/>
          <p:nvPr/>
        </p:nvSpPr>
        <p:spPr>
          <a:xfrm>
            <a:off x="658368" y="1517904"/>
            <a:ext cx="8686800" cy="292608"/>
          </a:xfrm>
          <a:prstGeom prst="rect">
            <a:avLst/>
          </a:prstGeom>
          <a:noFill/>
        </p:spPr>
        <p:txBody>
          <a:bodyPr wrap="square" anchor="t" lIns="0" rIns="0" tIns="0" bIns="0">
            <a:noAutofit/>
          </a:bodyPr>
          <a:lstStyle/>
          <a:p>
            <a:pPr algn="l">
              <a:lnSpc>
                <a:spcPct val="100000"/>
              </a:lnSpc>
              <a:spcBef>
                <a:spcPts val="0"/>
              </a:spcBef>
              <a:spcAft>
                <a:spcPts val="0"/>
              </a:spcAft>
            </a:pPr>
            <a:r>
              <a:rPr sz="1300" b="1" i="0" spc="180">
                <a:solidFill>
                  <a:srgbClr val="DAC8E1"/>
                </a:solidFill>
                <a:latin typeface="Segoe UI"/>
              </a:rPr>
              <a:t>PART IV  ·  DEEP LEARNING AND MODERN AI</a:t>
            </a:r>
          </a:p>
        </p:txBody>
      </p:sp>
      <p:sp>
        <p:nvSpPr>
          <p:cNvPr id="6" name="!!tch"/>
          <p:cNvSpPr txBox="1"/>
          <p:nvPr/>
        </p:nvSpPr>
        <p:spPr>
          <a:xfrm>
            <a:off x="658368" y="1865376"/>
            <a:ext cx="8686800" cy="292608"/>
          </a:xfrm>
          <a:prstGeom prst="rect">
            <a:avLst/>
          </a:prstGeom>
          <a:noFill/>
        </p:spPr>
        <p:txBody>
          <a:bodyPr wrap="square" anchor="t" lIns="0" rIns="0" tIns="0" bIns="0">
            <a:noAutofit/>
          </a:bodyPr>
          <a:lstStyle/>
          <a:p>
            <a:pPr algn="l">
              <a:lnSpc>
                <a:spcPct val="100000"/>
              </a:lnSpc>
              <a:spcBef>
                <a:spcPts val="0"/>
              </a:spcBef>
              <a:spcAft>
                <a:spcPts val="0"/>
              </a:spcAft>
            </a:pPr>
            <a:r>
              <a:rPr sz="1300" b="1" i="0" spc="180">
                <a:solidFill>
                  <a:srgbClr val="DAC8E1"/>
                </a:solidFill>
                <a:latin typeface="Segoe UI"/>
              </a:rPr>
              <a:t>CHAPTER 17  ·  WEEK 11</a:t>
            </a:r>
          </a:p>
        </p:txBody>
      </p:sp>
      <p:sp>
        <p:nvSpPr>
          <p:cNvPr id="7" name="!!tsub"/>
          <p:cNvSpPr txBox="1"/>
          <p:nvPr/>
        </p:nvSpPr>
        <p:spPr>
          <a:xfrm>
            <a:off x="658368" y="4315968"/>
            <a:ext cx="8503920" cy="329184"/>
          </a:xfrm>
          <a:prstGeom prst="rect">
            <a:avLst/>
          </a:prstGeom>
          <a:noFill/>
        </p:spPr>
        <p:txBody>
          <a:bodyPr wrap="square" anchor="t" lIns="0" rIns="0" tIns="0" bIns="0">
            <a:noAutofit/>
          </a:bodyPr>
          <a:lstStyle/>
          <a:p>
            <a:pPr algn="l">
              <a:lnSpc>
                <a:spcPct val="100000"/>
              </a:lnSpc>
              <a:spcBef>
                <a:spcPts val="0"/>
              </a:spcBef>
              <a:spcAft>
                <a:spcPts val="0"/>
              </a:spcAft>
            </a:pPr>
            <a:r>
              <a:rPr sz="1600" b="0" i="0">
                <a:solidFill>
                  <a:srgbClr val="E4D8EA"/>
                </a:solidFill>
                <a:latin typeface="Segoe UI"/>
              </a:rPr>
              <a:t>Data Science — From Foundations to Intelligent Systems</a:t>
            </a:r>
          </a:p>
        </p:txBody>
      </p:sp>
      <p:sp>
        <p:nvSpPr>
          <p:cNvPr id="8" name="!!band">
            <a:extLst>
              <a:ext uri="{C183D7F6-B498-43B3-948B-1728B52AA6E4}">
                <adec:decorative xmlns:adec="http://schemas.microsoft.com/office/drawing/2017/decorative" val="1"/>
              </a:ext>
            </a:extLst>
          </p:cNvPr>
          <p:cNvSpPr/>
          <p:nvPr/>
        </p:nvSpPr>
        <p:spPr>
          <a:xfrm>
            <a:off x="0" y="5285232"/>
            <a:ext cx="12191695" cy="1572767"/>
          </a:xfrm>
          <a:prstGeom prst="rect">
            <a:avLst/>
          </a:prstGeom>
          <a:solidFill>
            <a:srgbClr val="582A6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lab"/>
          <p:cNvSpPr txBox="1"/>
          <p:nvPr/>
        </p:nvSpPr>
        <p:spPr>
          <a:xfrm>
            <a:off x="658368" y="5541264"/>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50" b="1" i="0" spc="160">
                <a:solidFill>
                  <a:srgbClr val="C0AEC7"/>
                </a:solidFill>
                <a:latin typeface="Segoe UI"/>
              </a:rPr>
              <a:t>LECTURER</a:t>
            </a:r>
          </a:p>
        </p:txBody>
      </p:sp>
      <p:sp>
        <p:nvSpPr>
          <p:cNvPr id="10" name="!!author"/>
          <p:cNvSpPr txBox="1"/>
          <p:nvPr/>
        </p:nvSpPr>
        <p:spPr>
          <a:xfrm>
            <a:off x="658368" y="5779008"/>
            <a:ext cx="5486400" cy="365760"/>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FFFFFF"/>
                </a:solidFill>
                <a:latin typeface="Segoe UI Semibold"/>
              </a:rPr>
              <a:t>Dr. Mustafa Hameed</a:t>
            </a:r>
          </a:p>
        </p:txBody>
      </p:sp>
      <p:sp>
        <p:nvSpPr>
          <p:cNvPr id="11" name="!!dept"/>
          <p:cNvSpPr txBox="1"/>
          <p:nvPr/>
        </p:nvSpPr>
        <p:spPr>
          <a:xfrm>
            <a:off x="658368" y="6181344"/>
            <a:ext cx="5852160" cy="274320"/>
          </a:xfrm>
          <a:prstGeom prst="rect">
            <a:avLst/>
          </a:prstGeom>
          <a:noFill/>
        </p:spPr>
        <p:txBody>
          <a:bodyPr wrap="square" anchor="t" lIns="0" rIns="0" tIns="0" bIns="0">
            <a:noAutofit/>
          </a:bodyPr>
          <a:lstStyle/>
          <a:p>
            <a:pPr algn="l">
              <a:lnSpc>
                <a:spcPct val="100000"/>
              </a:lnSpc>
              <a:spcBef>
                <a:spcPts val="0"/>
              </a:spcBef>
              <a:spcAft>
                <a:spcPts val="0"/>
              </a:spcAft>
            </a:pPr>
            <a:r>
              <a:rPr sz="1200" b="0" i="0">
                <a:solidFill>
                  <a:srgbClr val="D0C3D6"/>
                </a:solidFill>
                <a:latin typeface="Segoe UI"/>
              </a:rPr>
              <a:t>Department of Information Technology  ·  BSIT · Fall 2026</a:t>
            </a:r>
          </a:p>
        </p:txBody>
      </p:sp>
      <p:sp>
        <p:nvSpPr>
          <p:cNvPr id="12" name="!!uni"/>
          <p:cNvSpPr txBox="1"/>
          <p:nvPr/>
        </p:nvSpPr>
        <p:spPr>
          <a:xfrm>
            <a:off x="5205818" y="5687568"/>
            <a:ext cx="4023360" cy="274320"/>
          </a:xfrm>
          <a:prstGeom prst="rect">
            <a:avLst/>
          </a:prstGeom>
          <a:noFill/>
        </p:spPr>
        <p:txBody>
          <a:bodyPr wrap="square" anchor="t" lIns="0" rIns="0" tIns="0" bIns="0">
            <a:noAutofit/>
          </a:bodyPr>
          <a:lstStyle/>
          <a:p>
            <a:pPr algn="r">
              <a:lnSpc>
                <a:spcPct val="100000"/>
              </a:lnSpc>
              <a:spcBef>
                <a:spcPts val="0"/>
              </a:spcBef>
              <a:spcAft>
                <a:spcPts val="0"/>
              </a:spcAft>
            </a:pPr>
            <a:r>
              <a:rPr sz="1150" b="1" i="0" spc="60">
                <a:solidFill>
                  <a:srgbClr val="FFFFFF"/>
                </a:solidFill>
                <a:latin typeface="Segoe UI"/>
              </a:rPr>
              <a:t>THE ISLAMIA UNIVERSITY OF BAHAWALPUR</a:t>
            </a:r>
          </a:p>
        </p:txBody>
      </p:sp>
      <p:sp>
        <p:nvSpPr>
          <p:cNvPr id="13" name="!!uni2"/>
          <p:cNvSpPr txBox="1"/>
          <p:nvPr/>
        </p:nvSpPr>
        <p:spPr>
          <a:xfrm>
            <a:off x="5205818" y="5961888"/>
            <a:ext cx="4023360" cy="274320"/>
          </a:xfrm>
          <a:prstGeom prst="rect">
            <a:avLst/>
          </a:prstGeom>
          <a:noFill/>
        </p:spPr>
        <p:txBody>
          <a:bodyPr wrap="square" anchor="t" lIns="0" rIns="0" tIns="0" bIns="0">
            <a:noAutofit/>
          </a:bodyPr>
          <a:lstStyle/>
          <a:p>
            <a:pPr algn="r">
              <a:lnSpc>
                <a:spcPct val="100000"/>
              </a:lnSpc>
              <a:spcBef>
                <a:spcPts val="0"/>
              </a:spcBef>
              <a:spcAft>
                <a:spcPts val="0"/>
              </a:spcAft>
            </a:pPr>
            <a:r>
              <a:rPr sz="1050" b="0" i="0">
                <a:solidFill>
                  <a:srgbClr val="C0AEC7"/>
                </a:solidFill>
                <a:latin typeface="Segoe UI"/>
              </a:rPr>
              <a:t>Bahawalpur, Pakistan</a:t>
            </a:r>
          </a:p>
        </p:txBody>
      </p:sp>
      <p:pic>
        <p:nvPicPr>
          <p:cNvPr id="14" name="!!logo-iub-logo-white" descr="The Islamia University of Bahawalpur"/>
          <p:cNvPicPr>
            <a:picLocks noChangeAspect="1"/>
          </p:cNvPicPr>
          <p:nvPr/>
        </p:nvPicPr>
        <p:blipFill>
          <a:blip r:embed="rId2"/>
          <a:stretch>
            <a:fillRect/>
          </a:stretch>
        </p:blipFill>
        <p:spPr>
          <a:xfrm>
            <a:off x="9503498" y="5486400"/>
            <a:ext cx="904084" cy="896112"/>
          </a:xfrm>
          <a:prstGeom prst="rect">
            <a:avLst/>
          </a:prstGeom>
        </p:spPr>
      </p:pic>
      <p:pic>
        <p:nvPicPr>
          <p:cNvPr id="15" name="!!logo-dit-logo" descr="Department of Information Technology"/>
          <p:cNvPicPr>
            <a:picLocks noChangeAspect="1"/>
          </p:cNvPicPr>
          <p:nvPr/>
        </p:nvPicPr>
        <p:blipFill>
          <a:blip r:embed="rId3"/>
          <a:stretch>
            <a:fillRect/>
          </a:stretch>
        </p:blipFill>
        <p:spPr>
          <a:xfrm>
            <a:off x="10663614" y="5486400"/>
            <a:ext cx="869712" cy="896112"/>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Where this chapter sits</a:t>
            </a:r>
          </a:p>
        </p:txBody>
      </p:sp>
      <p:pic>
        <p:nvPicPr>
          <p:cNvPr id="3" name="!!kicker-icon" descr="map-signs-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THE COURSE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17  ·  Neural Network Foundations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109     </a:t>
            </a:r>
            <a:fld id="{D737F8E7-BC2E-4723-94AA-DF38FF2D6D98}" type="slidenum">
              <a:rPr lang="en-GB" sz="1000">
                <a:solidFill>
                  <a:srgbClr val="8795A1"/>
                </a:solidFill>
                <a:latin typeface="Segoe UI"/>
              </a:rPr>
              <a:t>2</a:t>
            </a:fld>
          </a:p>
        </p:txBody>
      </p:sp>
      <p:sp>
        <p:nvSpPr>
          <p:cNvPr id="7" name="!!rp1"/>
          <p:cNvSpPr txBox="1"/>
          <p:nvPr/>
        </p:nvSpPr>
        <p:spPr>
          <a:xfrm>
            <a:off x="777240" y="1755648"/>
            <a:ext cx="1634432"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I</a:t>
            </a:r>
          </a:p>
        </p:txBody>
      </p:sp>
      <p:sp>
        <p:nvSpPr>
          <p:cNvPr id="8" name="!!rpl1">
            <a:extLst>
              <a:ext uri="{C183D7F6-B498-43B3-948B-1728B52AA6E4}">
                <adec:decorative xmlns:adec="http://schemas.microsoft.com/office/drawing/2017/decorative" val="1"/>
              </a:ext>
            </a:extLst>
          </p:cNvPr>
          <p:cNvSpPr/>
          <p:nvPr/>
        </p:nvSpPr>
        <p:spPr>
          <a:xfrm>
            <a:off x="777240" y="2029967"/>
            <a:ext cx="1634432"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rp2"/>
          <p:cNvSpPr txBox="1"/>
          <p:nvPr/>
        </p:nvSpPr>
        <p:spPr>
          <a:xfrm>
            <a:off x="2740856" y="1755648"/>
            <a:ext cx="1071333"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II</a:t>
            </a:r>
          </a:p>
        </p:txBody>
      </p:sp>
      <p:sp>
        <p:nvSpPr>
          <p:cNvPr id="10" name="!!rpl2">
            <a:extLst>
              <a:ext uri="{C183D7F6-B498-43B3-948B-1728B52AA6E4}">
                <adec:decorative xmlns:adec="http://schemas.microsoft.com/office/drawing/2017/decorative" val="1"/>
              </a:ext>
            </a:extLst>
          </p:cNvPr>
          <p:cNvSpPr/>
          <p:nvPr/>
        </p:nvSpPr>
        <p:spPr>
          <a:xfrm>
            <a:off x="2740856" y="2029967"/>
            <a:ext cx="1071333"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rp3"/>
          <p:cNvSpPr txBox="1"/>
          <p:nvPr/>
        </p:nvSpPr>
        <p:spPr>
          <a:xfrm>
            <a:off x="4141374" y="1755648"/>
            <a:ext cx="1634432"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III</a:t>
            </a:r>
          </a:p>
        </p:txBody>
      </p:sp>
      <p:sp>
        <p:nvSpPr>
          <p:cNvPr id="12" name="!!rpl3">
            <a:extLst>
              <a:ext uri="{C183D7F6-B498-43B3-948B-1728B52AA6E4}">
                <adec:decorative xmlns:adec="http://schemas.microsoft.com/office/drawing/2017/decorative" val="1"/>
              </a:ext>
            </a:extLst>
          </p:cNvPr>
          <p:cNvSpPr/>
          <p:nvPr/>
        </p:nvSpPr>
        <p:spPr>
          <a:xfrm>
            <a:off x="4141374" y="2029967"/>
            <a:ext cx="1634432"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rp4"/>
          <p:cNvSpPr txBox="1"/>
          <p:nvPr/>
        </p:nvSpPr>
        <p:spPr>
          <a:xfrm>
            <a:off x="6260439" y="1755648"/>
            <a:ext cx="178988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7A3A95"/>
                </a:solidFill>
                <a:latin typeface="Segoe UI"/>
              </a:rPr>
              <a:t>PART IV</a:t>
            </a:r>
          </a:p>
        </p:txBody>
      </p:sp>
      <p:sp>
        <p:nvSpPr>
          <p:cNvPr id="14" name="!!rpl4">
            <a:extLst>
              <a:ext uri="{C183D7F6-B498-43B3-948B-1728B52AA6E4}">
                <adec:decorative xmlns:adec="http://schemas.microsoft.com/office/drawing/2017/decorative" val="1"/>
              </a:ext>
            </a:extLst>
          </p:cNvPr>
          <p:cNvSpPr/>
          <p:nvPr/>
        </p:nvSpPr>
        <p:spPr>
          <a:xfrm>
            <a:off x="6260439" y="2029967"/>
            <a:ext cx="1789880" cy="45720"/>
          </a:xfrm>
          <a:prstGeom prst="rect">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rp5"/>
          <p:cNvSpPr txBox="1"/>
          <p:nvPr/>
        </p:nvSpPr>
        <p:spPr>
          <a:xfrm>
            <a:off x="8379504" y="1755648"/>
            <a:ext cx="1352883"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V</a:t>
            </a:r>
          </a:p>
        </p:txBody>
      </p:sp>
      <p:sp>
        <p:nvSpPr>
          <p:cNvPr id="16" name="!!rpl5">
            <a:extLst>
              <a:ext uri="{C183D7F6-B498-43B3-948B-1728B52AA6E4}">
                <adec:decorative xmlns:adec="http://schemas.microsoft.com/office/drawing/2017/decorative" val="1"/>
              </a:ext>
            </a:extLst>
          </p:cNvPr>
          <p:cNvSpPr/>
          <p:nvPr/>
        </p:nvSpPr>
        <p:spPr>
          <a:xfrm>
            <a:off x="8379504" y="2029967"/>
            <a:ext cx="1352883"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rp6"/>
          <p:cNvSpPr txBox="1"/>
          <p:nvPr/>
        </p:nvSpPr>
        <p:spPr>
          <a:xfrm>
            <a:off x="10061571" y="1755648"/>
            <a:ext cx="1352883"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VI</a:t>
            </a:r>
          </a:p>
        </p:txBody>
      </p:sp>
      <p:sp>
        <p:nvSpPr>
          <p:cNvPr id="18" name="!!rpl6">
            <a:extLst>
              <a:ext uri="{C183D7F6-B498-43B3-948B-1728B52AA6E4}">
                <adec:decorative xmlns:adec="http://schemas.microsoft.com/office/drawing/2017/decorative" val="1"/>
              </a:ext>
            </a:extLst>
          </p:cNvPr>
          <p:cNvSpPr/>
          <p:nvPr/>
        </p:nvSpPr>
        <p:spPr>
          <a:xfrm>
            <a:off x="10061571" y="2029967"/>
            <a:ext cx="1352883"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dot1">
            <a:extLst>
              <a:ext uri="{C183D7F6-B498-43B3-948B-1728B52AA6E4}">
                <adec:decorative xmlns:adec="http://schemas.microsoft.com/office/drawing/2017/decorative" val="1"/>
              </a:ext>
            </a:extLst>
          </p:cNvPr>
          <p:cNvSpPr/>
          <p:nvPr/>
        </p:nvSpPr>
        <p:spPr>
          <a:xfrm>
            <a:off x="753422"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dotn1"/>
          <p:cNvSpPr txBox="1"/>
          <p:nvPr/>
        </p:nvSpPr>
        <p:spPr>
          <a:xfrm>
            <a:off x="661982"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a:t>
            </a:r>
          </a:p>
        </p:txBody>
      </p:sp>
      <p:sp>
        <p:nvSpPr>
          <p:cNvPr id="21" name="!!dot2">
            <a:extLst>
              <a:ext uri="{C183D7F6-B498-43B3-948B-1728B52AA6E4}">
                <adec:decorative xmlns:adec="http://schemas.microsoft.com/office/drawing/2017/decorative" val="1"/>
              </a:ext>
            </a:extLst>
          </p:cNvPr>
          <p:cNvSpPr/>
          <p:nvPr/>
        </p:nvSpPr>
        <p:spPr>
          <a:xfrm>
            <a:off x="1034972"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dotn2"/>
          <p:cNvSpPr txBox="1"/>
          <p:nvPr/>
        </p:nvSpPr>
        <p:spPr>
          <a:xfrm>
            <a:off x="943532"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2</a:t>
            </a:r>
          </a:p>
        </p:txBody>
      </p:sp>
      <p:sp>
        <p:nvSpPr>
          <p:cNvPr id="23" name="!!dot3">
            <a:extLst>
              <a:ext uri="{C183D7F6-B498-43B3-948B-1728B52AA6E4}">
                <adec:decorative xmlns:adec="http://schemas.microsoft.com/office/drawing/2017/decorative" val="1"/>
              </a:ext>
            </a:extLst>
          </p:cNvPr>
          <p:cNvSpPr/>
          <p:nvPr/>
        </p:nvSpPr>
        <p:spPr>
          <a:xfrm>
            <a:off x="1316521"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dotn3"/>
          <p:cNvSpPr txBox="1"/>
          <p:nvPr/>
        </p:nvSpPr>
        <p:spPr>
          <a:xfrm>
            <a:off x="1225081"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3</a:t>
            </a:r>
          </a:p>
        </p:txBody>
      </p:sp>
      <p:sp>
        <p:nvSpPr>
          <p:cNvPr id="25" name="!!dot4">
            <a:extLst>
              <a:ext uri="{C183D7F6-B498-43B3-948B-1728B52AA6E4}">
                <adec:decorative xmlns:adec="http://schemas.microsoft.com/office/drawing/2017/decorative" val="1"/>
              </a:ext>
            </a:extLst>
          </p:cNvPr>
          <p:cNvSpPr/>
          <p:nvPr/>
        </p:nvSpPr>
        <p:spPr>
          <a:xfrm>
            <a:off x="1598071"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6" name="!!dotn4"/>
          <p:cNvSpPr txBox="1"/>
          <p:nvPr/>
        </p:nvSpPr>
        <p:spPr>
          <a:xfrm>
            <a:off x="1506631"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4</a:t>
            </a:r>
          </a:p>
        </p:txBody>
      </p:sp>
      <p:sp>
        <p:nvSpPr>
          <p:cNvPr id="27" name="!!dot5">
            <a:extLst>
              <a:ext uri="{C183D7F6-B498-43B3-948B-1728B52AA6E4}">
                <adec:decorative xmlns:adec="http://schemas.microsoft.com/office/drawing/2017/decorative" val="1"/>
              </a:ext>
            </a:extLst>
          </p:cNvPr>
          <p:cNvSpPr/>
          <p:nvPr/>
        </p:nvSpPr>
        <p:spPr>
          <a:xfrm>
            <a:off x="1879620"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8" name="!!dotn5"/>
          <p:cNvSpPr txBox="1"/>
          <p:nvPr/>
        </p:nvSpPr>
        <p:spPr>
          <a:xfrm>
            <a:off x="1788180"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5</a:t>
            </a:r>
          </a:p>
        </p:txBody>
      </p:sp>
      <p:sp>
        <p:nvSpPr>
          <p:cNvPr id="29" name="!!dot6">
            <a:extLst>
              <a:ext uri="{C183D7F6-B498-43B3-948B-1728B52AA6E4}">
                <adec:decorative xmlns:adec="http://schemas.microsoft.com/office/drawing/2017/decorative" val="1"/>
              </a:ext>
            </a:extLst>
          </p:cNvPr>
          <p:cNvSpPr/>
          <p:nvPr/>
        </p:nvSpPr>
        <p:spPr>
          <a:xfrm>
            <a:off x="2161170"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0" name="!!dotn6"/>
          <p:cNvSpPr txBox="1"/>
          <p:nvPr/>
        </p:nvSpPr>
        <p:spPr>
          <a:xfrm>
            <a:off x="2069730"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6</a:t>
            </a:r>
          </a:p>
        </p:txBody>
      </p:sp>
      <p:sp>
        <p:nvSpPr>
          <p:cNvPr id="31" name="!!dot7">
            <a:extLst>
              <a:ext uri="{C183D7F6-B498-43B3-948B-1728B52AA6E4}">
                <adec:decorative xmlns:adec="http://schemas.microsoft.com/office/drawing/2017/decorative" val="1"/>
              </a:ext>
            </a:extLst>
          </p:cNvPr>
          <p:cNvSpPr/>
          <p:nvPr/>
        </p:nvSpPr>
        <p:spPr>
          <a:xfrm>
            <a:off x="2717039" y="2258568"/>
            <a:ext cx="274320" cy="274320"/>
          </a:xfrm>
          <a:prstGeom prst="ellipse">
            <a:avLst/>
          </a:prstGeom>
          <a:solidFill>
            <a:srgbClr val="4D98C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2" name="!!dotn7"/>
          <p:cNvSpPr txBox="1"/>
          <p:nvPr/>
        </p:nvSpPr>
        <p:spPr>
          <a:xfrm>
            <a:off x="2625599"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7</a:t>
            </a:r>
          </a:p>
        </p:txBody>
      </p:sp>
      <p:sp>
        <p:nvSpPr>
          <p:cNvPr id="33" name="!!dot8">
            <a:extLst>
              <a:ext uri="{C183D7F6-B498-43B3-948B-1728B52AA6E4}">
                <adec:decorative xmlns:adec="http://schemas.microsoft.com/office/drawing/2017/decorative" val="1"/>
              </a:ext>
            </a:extLst>
          </p:cNvPr>
          <p:cNvSpPr/>
          <p:nvPr/>
        </p:nvSpPr>
        <p:spPr>
          <a:xfrm>
            <a:off x="2998589" y="2258568"/>
            <a:ext cx="274320" cy="274320"/>
          </a:xfrm>
          <a:prstGeom prst="ellipse">
            <a:avLst/>
          </a:prstGeom>
          <a:solidFill>
            <a:srgbClr val="4D98C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4" name="!!dotn8"/>
          <p:cNvSpPr txBox="1"/>
          <p:nvPr/>
        </p:nvSpPr>
        <p:spPr>
          <a:xfrm>
            <a:off x="2907149"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8</a:t>
            </a:r>
          </a:p>
        </p:txBody>
      </p:sp>
      <p:sp>
        <p:nvSpPr>
          <p:cNvPr id="35" name="!!dot9">
            <a:extLst>
              <a:ext uri="{C183D7F6-B498-43B3-948B-1728B52AA6E4}">
                <adec:decorative xmlns:adec="http://schemas.microsoft.com/office/drawing/2017/decorative" val="1"/>
              </a:ext>
            </a:extLst>
          </p:cNvPr>
          <p:cNvSpPr/>
          <p:nvPr/>
        </p:nvSpPr>
        <p:spPr>
          <a:xfrm>
            <a:off x="3280138" y="2258568"/>
            <a:ext cx="274320" cy="274320"/>
          </a:xfrm>
          <a:prstGeom prst="ellipse">
            <a:avLst/>
          </a:prstGeom>
          <a:solidFill>
            <a:srgbClr val="4D98C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6" name="!!dotn9"/>
          <p:cNvSpPr txBox="1"/>
          <p:nvPr/>
        </p:nvSpPr>
        <p:spPr>
          <a:xfrm>
            <a:off x="3188698"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9</a:t>
            </a:r>
          </a:p>
        </p:txBody>
      </p:sp>
      <p:sp>
        <p:nvSpPr>
          <p:cNvPr id="37" name="!!dot10">
            <a:extLst>
              <a:ext uri="{C183D7F6-B498-43B3-948B-1728B52AA6E4}">
                <adec:decorative xmlns:adec="http://schemas.microsoft.com/office/drawing/2017/decorative" val="1"/>
              </a:ext>
            </a:extLst>
          </p:cNvPr>
          <p:cNvSpPr/>
          <p:nvPr/>
        </p:nvSpPr>
        <p:spPr>
          <a:xfrm>
            <a:off x="3561688" y="2258568"/>
            <a:ext cx="274320" cy="274320"/>
          </a:xfrm>
          <a:prstGeom prst="ellipse">
            <a:avLst/>
          </a:prstGeom>
          <a:solidFill>
            <a:srgbClr val="4D98C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8" name="!!dotn10"/>
          <p:cNvSpPr txBox="1"/>
          <p:nvPr/>
        </p:nvSpPr>
        <p:spPr>
          <a:xfrm>
            <a:off x="3470248"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10</a:t>
            </a:r>
          </a:p>
        </p:txBody>
      </p:sp>
      <p:sp>
        <p:nvSpPr>
          <p:cNvPr id="39" name="!!dot11">
            <a:extLst>
              <a:ext uri="{C183D7F6-B498-43B3-948B-1728B52AA6E4}">
                <adec:decorative xmlns:adec="http://schemas.microsoft.com/office/drawing/2017/decorative" val="1"/>
              </a:ext>
            </a:extLst>
          </p:cNvPr>
          <p:cNvSpPr/>
          <p:nvPr/>
        </p:nvSpPr>
        <p:spPr>
          <a:xfrm>
            <a:off x="4117557" y="2258568"/>
            <a:ext cx="274320" cy="274320"/>
          </a:xfrm>
          <a:prstGeom prst="ellipse">
            <a:avLst/>
          </a:prstGeom>
          <a:solidFill>
            <a:srgbClr val="47BA7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0" name="!!dotn11"/>
          <p:cNvSpPr txBox="1"/>
          <p:nvPr/>
        </p:nvSpPr>
        <p:spPr>
          <a:xfrm>
            <a:off x="4026117"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11</a:t>
            </a:r>
          </a:p>
        </p:txBody>
      </p:sp>
      <p:sp>
        <p:nvSpPr>
          <p:cNvPr id="41" name="!!dot12">
            <a:extLst>
              <a:ext uri="{C183D7F6-B498-43B3-948B-1728B52AA6E4}">
                <adec:decorative xmlns:adec="http://schemas.microsoft.com/office/drawing/2017/decorative" val="1"/>
              </a:ext>
            </a:extLst>
          </p:cNvPr>
          <p:cNvSpPr/>
          <p:nvPr/>
        </p:nvSpPr>
        <p:spPr>
          <a:xfrm>
            <a:off x="4399106" y="2258568"/>
            <a:ext cx="274320" cy="274320"/>
          </a:xfrm>
          <a:prstGeom prst="ellipse">
            <a:avLst/>
          </a:prstGeom>
          <a:solidFill>
            <a:srgbClr val="47BA7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2" name="!!dotn12"/>
          <p:cNvSpPr txBox="1"/>
          <p:nvPr/>
        </p:nvSpPr>
        <p:spPr>
          <a:xfrm>
            <a:off x="4307666"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12</a:t>
            </a:r>
          </a:p>
        </p:txBody>
      </p:sp>
      <p:sp>
        <p:nvSpPr>
          <p:cNvPr id="43" name="!!dot13">
            <a:extLst>
              <a:ext uri="{C183D7F6-B498-43B3-948B-1728B52AA6E4}">
                <adec:decorative xmlns:adec="http://schemas.microsoft.com/office/drawing/2017/decorative" val="1"/>
              </a:ext>
            </a:extLst>
          </p:cNvPr>
          <p:cNvSpPr/>
          <p:nvPr/>
        </p:nvSpPr>
        <p:spPr>
          <a:xfrm>
            <a:off x="4680656" y="2258568"/>
            <a:ext cx="274320" cy="274320"/>
          </a:xfrm>
          <a:prstGeom prst="ellipse">
            <a:avLst/>
          </a:prstGeom>
          <a:solidFill>
            <a:srgbClr val="47BA7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4" name="!!dotn13"/>
          <p:cNvSpPr txBox="1"/>
          <p:nvPr/>
        </p:nvSpPr>
        <p:spPr>
          <a:xfrm>
            <a:off x="4589216"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13</a:t>
            </a:r>
          </a:p>
        </p:txBody>
      </p:sp>
      <p:sp>
        <p:nvSpPr>
          <p:cNvPr id="45" name="!!dot14">
            <a:extLst>
              <a:ext uri="{C183D7F6-B498-43B3-948B-1728B52AA6E4}">
                <adec:decorative xmlns:adec="http://schemas.microsoft.com/office/drawing/2017/decorative" val="1"/>
              </a:ext>
            </a:extLst>
          </p:cNvPr>
          <p:cNvSpPr/>
          <p:nvPr/>
        </p:nvSpPr>
        <p:spPr>
          <a:xfrm>
            <a:off x="4962205" y="2258568"/>
            <a:ext cx="274320" cy="274320"/>
          </a:xfrm>
          <a:prstGeom prst="ellipse">
            <a:avLst/>
          </a:prstGeom>
          <a:solidFill>
            <a:srgbClr val="47BA7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6" name="!!dotn14"/>
          <p:cNvSpPr txBox="1"/>
          <p:nvPr/>
        </p:nvSpPr>
        <p:spPr>
          <a:xfrm>
            <a:off x="4870765"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14</a:t>
            </a:r>
          </a:p>
        </p:txBody>
      </p:sp>
      <p:sp>
        <p:nvSpPr>
          <p:cNvPr id="47" name="!!dot15">
            <a:extLst>
              <a:ext uri="{C183D7F6-B498-43B3-948B-1728B52AA6E4}">
                <adec:decorative xmlns:adec="http://schemas.microsoft.com/office/drawing/2017/decorative" val="1"/>
              </a:ext>
            </a:extLst>
          </p:cNvPr>
          <p:cNvSpPr/>
          <p:nvPr/>
        </p:nvSpPr>
        <p:spPr>
          <a:xfrm>
            <a:off x="5243755" y="2258568"/>
            <a:ext cx="274320" cy="274320"/>
          </a:xfrm>
          <a:prstGeom prst="ellipse">
            <a:avLst/>
          </a:prstGeom>
          <a:solidFill>
            <a:srgbClr val="47BA7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8" name="!!dotn15"/>
          <p:cNvSpPr txBox="1"/>
          <p:nvPr/>
        </p:nvSpPr>
        <p:spPr>
          <a:xfrm>
            <a:off x="5152315"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15</a:t>
            </a:r>
          </a:p>
        </p:txBody>
      </p:sp>
      <p:sp>
        <p:nvSpPr>
          <p:cNvPr id="49" name="!!dot16">
            <a:extLst>
              <a:ext uri="{C183D7F6-B498-43B3-948B-1728B52AA6E4}">
                <adec:decorative xmlns:adec="http://schemas.microsoft.com/office/drawing/2017/decorative" val="1"/>
              </a:ext>
            </a:extLst>
          </p:cNvPr>
          <p:cNvSpPr/>
          <p:nvPr/>
        </p:nvSpPr>
        <p:spPr>
          <a:xfrm>
            <a:off x="5525304" y="2258568"/>
            <a:ext cx="274320" cy="274320"/>
          </a:xfrm>
          <a:prstGeom prst="ellipse">
            <a:avLst/>
          </a:prstGeom>
          <a:solidFill>
            <a:srgbClr val="47BA7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0" name="!!dotn16"/>
          <p:cNvSpPr txBox="1"/>
          <p:nvPr/>
        </p:nvSpPr>
        <p:spPr>
          <a:xfrm>
            <a:off x="5433864"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16</a:t>
            </a:r>
          </a:p>
        </p:txBody>
      </p:sp>
      <p:sp>
        <p:nvSpPr>
          <p:cNvPr id="51" name="!!dot17">
            <a:extLst>
              <a:ext uri="{C183D7F6-B498-43B3-948B-1728B52AA6E4}">
                <adec:decorative xmlns:adec="http://schemas.microsoft.com/office/drawing/2017/decorative" val="1"/>
              </a:ext>
            </a:extLst>
          </p:cNvPr>
          <p:cNvSpPr/>
          <p:nvPr/>
        </p:nvSpPr>
        <p:spPr>
          <a:xfrm>
            <a:off x="6090318" y="2112264"/>
            <a:ext cx="566928" cy="566928"/>
          </a:xfrm>
          <a:prstGeom prst="ellipse">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2" name="!!dotn17"/>
          <p:cNvSpPr txBox="1"/>
          <p:nvPr/>
        </p:nvSpPr>
        <p:spPr>
          <a:xfrm>
            <a:off x="6090318" y="2240280"/>
            <a:ext cx="566928" cy="310896"/>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17</a:t>
            </a:r>
          </a:p>
        </p:txBody>
      </p:sp>
      <p:sp>
        <p:nvSpPr>
          <p:cNvPr id="53" name="!!dot18">
            <a:extLst>
              <a:ext uri="{C183D7F6-B498-43B3-948B-1728B52AA6E4}">
                <adec:decorative xmlns:adec="http://schemas.microsoft.com/office/drawing/2017/decorative" val="1"/>
              </a:ext>
            </a:extLst>
          </p:cNvPr>
          <p:cNvSpPr/>
          <p:nvPr/>
        </p:nvSpPr>
        <p:spPr>
          <a:xfrm>
            <a:off x="6673619" y="2258568"/>
            <a:ext cx="274320" cy="274320"/>
          </a:xfrm>
          <a:prstGeom prst="ellipse">
            <a:avLst/>
          </a:prstGeom>
          <a:solidFill>
            <a:srgbClr val="FFFFFF"/>
          </a:solidFill>
          <a:ln w="15875">
            <a:solidFill>
              <a:srgbClr val="C198D2"/>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4" name="!!dotn18"/>
          <p:cNvSpPr txBox="1"/>
          <p:nvPr/>
        </p:nvSpPr>
        <p:spPr>
          <a:xfrm>
            <a:off x="6582179"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773E93"/>
                </a:solidFill>
                <a:latin typeface="Segoe UI"/>
              </a:rPr>
              <a:t>18</a:t>
            </a:r>
          </a:p>
        </p:txBody>
      </p:sp>
      <p:sp>
        <p:nvSpPr>
          <p:cNvPr id="55" name="!!dot19">
            <a:extLst>
              <a:ext uri="{C183D7F6-B498-43B3-948B-1728B52AA6E4}">
                <adec:decorative xmlns:adec="http://schemas.microsoft.com/office/drawing/2017/decorative" val="1"/>
              </a:ext>
            </a:extLst>
          </p:cNvPr>
          <p:cNvSpPr/>
          <p:nvPr/>
        </p:nvSpPr>
        <p:spPr>
          <a:xfrm>
            <a:off x="6955169" y="2258568"/>
            <a:ext cx="274320" cy="274320"/>
          </a:xfrm>
          <a:prstGeom prst="ellipse">
            <a:avLst/>
          </a:prstGeom>
          <a:solidFill>
            <a:srgbClr val="FFFFFF"/>
          </a:solidFill>
          <a:ln w="15875">
            <a:solidFill>
              <a:srgbClr val="C198D2"/>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6" name="!!dotn19"/>
          <p:cNvSpPr txBox="1"/>
          <p:nvPr/>
        </p:nvSpPr>
        <p:spPr>
          <a:xfrm>
            <a:off x="6863729"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773E93"/>
                </a:solidFill>
                <a:latin typeface="Segoe UI"/>
              </a:rPr>
              <a:t>19</a:t>
            </a:r>
          </a:p>
        </p:txBody>
      </p:sp>
      <p:sp>
        <p:nvSpPr>
          <p:cNvPr id="57" name="!!dot20">
            <a:extLst>
              <a:ext uri="{C183D7F6-B498-43B3-948B-1728B52AA6E4}">
                <adec:decorative xmlns:adec="http://schemas.microsoft.com/office/drawing/2017/decorative" val="1"/>
              </a:ext>
            </a:extLst>
          </p:cNvPr>
          <p:cNvSpPr/>
          <p:nvPr/>
        </p:nvSpPr>
        <p:spPr>
          <a:xfrm>
            <a:off x="7236718" y="2258568"/>
            <a:ext cx="274320" cy="274320"/>
          </a:xfrm>
          <a:prstGeom prst="ellipse">
            <a:avLst/>
          </a:prstGeom>
          <a:solidFill>
            <a:srgbClr val="FFFFFF"/>
          </a:solidFill>
          <a:ln w="15875">
            <a:solidFill>
              <a:srgbClr val="C198D2"/>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8" name="!!dotn20"/>
          <p:cNvSpPr txBox="1"/>
          <p:nvPr/>
        </p:nvSpPr>
        <p:spPr>
          <a:xfrm>
            <a:off x="7145278"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773E93"/>
                </a:solidFill>
                <a:latin typeface="Segoe UI"/>
              </a:rPr>
              <a:t>20</a:t>
            </a:r>
          </a:p>
        </p:txBody>
      </p:sp>
      <p:sp>
        <p:nvSpPr>
          <p:cNvPr id="59" name="!!dot21">
            <a:extLst>
              <a:ext uri="{C183D7F6-B498-43B3-948B-1728B52AA6E4}">
                <adec:decorative xmlns:adec="http://schemas.microsoft.com/office/drawing/2017/decorative" val="1"/>
              </a:ext>
            </a:extLst>
          </p:cNvPr>
          <p:cNvSpPr/>
          <p:nvPr/>
        </p:nvSpPr>
        <p:spPr>
          <a:xfrm>
            <a:off x="7518268" y="2258568"/>
            <a:ext cx="274320" cy="274320"/>
          </a:xfrm>
          <a:prstGeom prst="ellipse">
            <a:avLst/>
          </a:prstGeom>
          <a:solidFill>
            <a:srgbClr val="FFFFFF"/>
          </a:solidFill>
          <a:ln w="15875">
            <a:solidFill>
              <a:srgbClr val="C198D2"/>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0" name="!!dotn21"/>
          <p:cNvSpPr txBox="1"/>
          <p:nvPr/>
        </p:nvSpPr>
        <p:spPr>
          <a:xfrm>
            <a:off x="7426828"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773E93"/>
                </a:solidFill>
                <a:latin typeface="Segoe UI"/>
              </a:rPr>
              <a:t>21</a:t>
            </a:r>
          </a:p>
        </p:txBody>
      </p:sp>
      <p:sp>
        <p:nvSpPr>
          <p:cNvPr id="61" name="!!dot22">
            <a:extLst>
              <a:ext uri="{C183D7F6-B498-43B3-948B-1728B52AA6E4}">
                <adec:decorative xmlns:adec="http://schemas.microsoft.com/office/drawing/2017/decorative" val="1"/>
              </a:ext>
            </a:extLst>
          </p:cNvPr>
          <p:cNvSpPr/>
          <p:nvPr/>
        </p:nvSpPr>
        <p:spPr>
          <a:xfrm>
            <a:off x="7799817" y="2258568"/>
            <a:ext cx="274320" cy="274320"/>
          </a:xfrm>
          <a:prstGeom prst="ellipse">
            <a:avLst/>
          </a:prstGeom>
          <a:solidFill>
            <a:srgbClr val="FFFFFF"/>
          </a:solidFill>
          <a:ln w="15875">
            <a:solidFill>
              <a:srgbClr val="C198D2"/>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2" name="!!dotn22"/>
          <p:cNvSpPr txBox="1"/>
          <p:nvPr/>
        </p:nvSpPr>
        <p:spPr>
          <a:xfrm>
            <a:off x="7708377"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773E93"/>
                </a:solidFill>
                <a:latin typeface="Segoe UI"/>
              </a:rPr>
              <a:t>22</a:t>
            </a:r>
          </a:p>
        </p:txBody>
      </p:sp>
      <p:sp>
        <p:nvSpPr>
          <p:cNvPr id="63" name="!!dot23">
            <a:extLst>
              <a:ext uri="{C183D7F6-B498-43B3-948B-1728B52AA6E4}">
                <adec:decorative xmlns:adec="http://schemas.microsoft.com/office/drawing/2017/decorative" val="1"/>
              </a:ext>
            </a:extLst>
          </p:cNvPr>
          <p:cNvSpPr/>
          <p:nvPr/>
        </p:nvSpPr>
        <p:spPr>
          <a:xfrm>
            <a:off x="8355687" y="2258568"/>
            <a:ext cx="274320" cy="274320"/>
          </a:xfrm>
          <a:prstGeom prst="ellipse">
            <a:avLst/>
          </a:prstGeom>
          <a:solidFill>
            <a:srgbClr val="FFFFFF"/>
          </a:solidFill>
          <a:ln w="15875">
            <a:solidFill>
              <a:srgbClr val="7CB6A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4" name="!!dotn23"/>
          <p:cNvSpPr txBox="1"/>
          <p:nvPr/>
        </p:nvSpPr>
        <p:spPr>
          <a:xfrm>
            <a:off x="8264247"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136959"/>
                </a:solidFill>
                <a:latin typeface="Segoe UI"/>
              </a:rPr>
              <a:t>23</a:t>
            </a:r>
          </a:p>
        </p:txBody>
      </p:sp>
      <p:sp>
        <p:nvSpPr>
          <p:cNvPr id="65" name="!!dot24">
            <a:extLst>
              <a:ext uri="{C183D7F6-B498-43B3-948B-1728B52AA6E4}">
                <adec:decorative xmlns:adec="http://schemas.microsoft.com/office/drawing/2017/decorative" val="1"/>
              </a:ext>
            </a:extLst>
          </p:cNvPr>
          <p:cNvSpPr/>
          <p:nvPr/>
        </p:nvSpPr>
        <p:spPr>
          <a:xfrm>
            <a:off x="8637236" y="2258568"/>
            <a:ext cx="274320" cy="274320"/>
          </a:xfrm>
          <a:prstGeom prst="ellipse">
            <a:avLst/>
          </a:prstGeom>
          <a:solidFill>
            <a:srgbClr val="FFFFFF"/>
          </a:solidFill>
          <a:ln w="15875">
            <a:solidFill>
              <a:srgbClr val="7CB6A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6" name="!!dotn24"/>
          <p:cNvSpPr txBox="1"/>
          <p:nvPr/>
        </p:nvSpPr>
        <p:spPr>
          <a:xfrm>
            <a:off x="8545796"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136959"/>
                </a:solidFill>
                <a:latin typeface="Segoe UI"/>
              </a:rPr>
              <a:t>24</a:t>
            </a:r>
          </a:p>
        </p:txBody>
      </p:sp>
      <p:sp>
        <p:nvSpPr>
          <p:cNvPr id="67" name="!!dot25">
            <a:extLst>
              <a:ext uri="{C183D7F6-B498-43B3-948B-1728B52AA6E4}">
                <adec:decorative xmlns:adec="http://schemas.microsoft.com/office/drawing/2017/decorative" val="1"/>
              </a:ext>
            </a:extLst>
          </p:cNvPr>
          <p:cNvSpPr/>
          <p:nvPr/>
        </p:nvSpPr>
        <p:spPr>
          <a:xfrm>
            <a:off x="8918786" y="2258568"/>
            <a:ext cx="274320" cy="274320"/>
          </a:xfrm>
          <a:prstGeom prst="ellipse">
            <a:avLst/>
          </a:prstGeom>
          <a:solidFill>
            <a:srgbClr val="FFFFFF"/>
          </a:solidFill>
          <a:ln w="15875">
            <a:solidFill>
              <a:srgbClr val="7CB6A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8" name="!!dotn25"/>
          <p:cNvSpPr txBox="1"/>
          <p:nvPr/>
        </p:nvSpPr>
        <p:spPr>
          <a:xfrm>
            <a:off x="8827346"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136959"/>
                </a:solidFill>
                <a:latin typeface="Segoe UI"/>
              </a:rPr>
              <a:t>25</a:t>
            </a:r>
          </a:p>
        </p:txBody>
      </p:sp>
      <p:sp>
        <p:nvSpPr>
          <p:cNvPr id="69" name="!!dot26">
            <a:extLst>
              <a:ext uri="{C183D7F6-B498-43B3-948B-1728B52AA6E4}">
                <adec:decorative xmlns:adec="http://schemas.microsoft.com/office/drawing/2017/decorative" val="1"/>
              </a:ext>
            </a:extLst>
          </p:cNvPr>
          <p:cNvSpPr/>
          <p:nvPr/>
        </p:nvSpPr>
        <p:spPr>
          <a:xfrm>
            <a:off x="9200335" y="2258568"/>
            <a:ext cx="274320" cy="274320"/>
          </a:xfrm>
          <a:prstGeom prst="ellipse">
            <a:avLst/>
          </a:prstGeom>
          <a:solidFill>
            <a:srgbClr val="FFFFFF"/>
          </a:solidFill>
          <a:ln w="15875">
            <a:solidFill>
              <a:srgbClr val="7CB6A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0" name="!!dotn26"/>
          <p:cNvSpPr txBox="1"/>
          <p:nvPr/>
        </p:nvSpPr>
        <p:spPr>
          <a:xfrm>
            <a:off x="9108895"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136959"/>
                </a:solidFill>
                <a:latin typeface="Segoe UI"/>
              </a:rPr>
              <a:t>26</a:t>
            </a:r>
          </a:p>
        </p:txBody>
      </p:sp>
      <p:sp>
        <p:nvSpPr>
          <p:cNvPr id="71" name="!!dot27">
            <a:extLst>
              <a:ext uri="{C183D7F6-B498-43B3-948B-1728B52AA6E4}">
                <adec:decorative xmlns:adec="http://schemas.microsoft.com/office/drawing/2017/decorative" val="1"/>
              </a:ext>
            </a:extLst>
          </p:cNvPr>
          <p:cNvSpPr/>
          <p:nvPr/>
        </p:nvSpPr>
        <p:spPr>
          <a:xfrm>
            <a:off x="9481885" y="2258568"/>
            <a:ext cx="274320" cy="274320"/>
          </a:xfrm>
          <a:prstGeom prst="ellipse">
            <a:avLst/>
          </a:prstGeom>
          <a:solidFill>
            <a:srgbClr val="FFFFFF"/>
          </a:solidFill>
          <a:ln w="15875">
            <a:solidFill>
              <a:srgbClr val="7CB6A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2" name="!!dotn27"/>
          <p:cNvSpPr txBox="1"/>
          <p:nvPr/>
        </p:nvSpPr>
        <p:spPr>
          <a:xfrm>
            <a:off x="9390445"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136959"/>
                </a:solidFill>
                <a:latin typeface="Segoe UI"/>
              </a:rPr>
              <a:t>27</a:t>
            </a:r>
          </a:p>
        </p:txBody>
      </p:sp>
      <p:sp>
        <p:nvSpPr>
          <p:cNvPr id="73" name="!!dot28">
            <a:extLst>
              <a:ext uri="{C183D7F6-B498-43B3-948B-1728B52AA6E4}">
                <adec:decorative xmlns:adec="http://schemas.microsoft.com/office/drawing/2017/decorative" val="1"/>
              </a:ext>
            </a:extLst>
          </p:cNvPr>
          <p:cNvSpPr/>
          <p:nvPr/>
        </p:nvSpPr>
        <p:spPr>
          <a:xfrm>
            <a:off x="10037754"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4" name="!!dotn28"/>
          <p:cNvSpPr txBox="1"/>
          <p:nvPr/>
        </p:nvSpPr>
        <p:spPr>
          <a:xfrm>
            <a:off x="9946314"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28</a:t>
            </a:r>
          </a:p>
        </p:txBody>
      </p:sp>
      <p:sp>
        <p:nvSpPr>
          <p:cNvPr id="75" name="!!dot29">
            <a:extLst>
              <a:ext uri="{C183D7F6-B498-43B3-948B-1728B52AA6E4}">
                <adec:decorative xmlns:adec="http://schemas.microsoft.com/office/drawing/2017/decorative" val="1"/>
              </a:ext>
            </a:extLst>
          </p:cNvPr>
          <p:cNvSpPr/>
          <p:nvPr/>
        </p:nvSpPr>
        <p:spPr>
          <a:xfrm>
            <a:off x="10319304"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6" name="!!dotn29"/>
          <p:cNvSpPr txBox="1"/>
          <p:nvPr/>
        </p:nvSpPr>
        <p:spPr>
          <a:xfrm>
            <a:off x="10227864"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29</a:t>
            </a:r>
          </a:p>
        </p:txBody>
      </p:sp>
      <p:sp>
        <p:nvSpPr>
          <p:cNvPr id="77" name="!!dot30">
            <a:extLst>
              <a:ext uri="{C183D7F6-B498-43B3-948B-1728B52AA6E4}">
                <adec:decorative xmlns:adec="http://schemas.microsoft.com/office/drawing/2017/decorative" val="1"/>
              </a:ext>
            </a:extLst>
          </p:cNvPr>
          <p:cNvSpPr/>
          <p:nvPr/>
        </p:nvSpPr>
        <p:spPr>
          <a:xfrm>
            <a:off x="10600853"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8" name="!!dotn30"/>
          <p:cNvSpPr txBox="1"/>
          <p:nvPr/>
        </p:nvSpPr>
        <p:spPr>
          <a:xfrm>
            <a:off x="10509413"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30</a:t>
            </a:r>
          </a:p>
        </p:txBody>
      </p:sp>
      <p:sp>
        <p:nvSpPr>
          <p:cNvPr id="79" name="!!dot31">
            <a:extLst>
              <a:ext uri="{C183D7F6-B498-43B3-948B-1728B52AA6E4}">
                <adec:decorative xmlns:adec="http://schemas.microsoft.com/office/drawing/2017/decorative" val="1"/>
              </a:ext>
            </a:extLst>
          </p:cNvPr>
          <p:cNvSpPr/>
          <p:nvPr/>
        </p:nvSpPr>
        <p:spPr>
          <a:xfrm>
            <a:off x="10882402"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0" name="!!dotn31"/>
          <p:cNvSpPr txBox="1"/>
          <p:nvPr/>
        </p:nvSpPr>
        <p:spPr>
          <a:xfrm>
            <a:off x="10790962"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31</a:t>
            </a:r>
          </a:p>
        </p:txBody>
      </p:sp>
      <p:sp>
        <p:nvSpPr>
          <p:cNvPr id="81" name="!!dot32">
            <a:extLst>
              <a:ext uri="{C183D7F6-B498-43B3-948B-1728B52AA6E4}">
                <adec:decorative xmlns:adec="http://schemas.microsoft.com/office/drawing/2017/decorative" val="1"/>
              </a:ext>
            </a:extLst>
          </p:cNvPr>
          <p:cNvSpPr/>
          <p:nvPr/>
        </p:nvSpPr>
        <p:spPr>
          <a:xfrm>
            <a:off x="11163952"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2" name="!!dotn32"/>
          <p:cNvSpPr txBox="1"/>
          <p:nvPr/>
        </p:nvSpPr>
        <p:spPr>
          <a:xfrm>
            <a:off x="11072512"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32</a:t>
            </a:r>
          </a:p>
        </p:txBody>
      </p:sp>
      <p:sp>
        <p:nvSpPr>
          <p:cNvPr id="83" name="!!dotlabel"/>
          <p:cNvSpPr txBox="1"/>
          <p:nvPr/>
        </p:nvSpPr>
        <p:spPr>
          <a:xfrm>
            <a:off x="4087782" y="2798064"/>
            <a:ext cx="4572000" cy="310896"/>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7A3A95"/>
                </a:solidFill>
                <a:latin typeface="Segoe UI"/>
              </a:rPr>
              <a:t>Neural Network Foundations</a:t>
            </a:r>
          </a:p>
        </p:txBody>
      </p:sp>
      <p:sp>
        <p:nvSpPr>
          <p:cNvPr id="84" name="!!dep-BUILD"/>
          <p:cNvSpPr txBox="1"/>
          <p:nvPr/>
        </p:nvSpPr>
        <p:spPr>
          <a:xfrm>
            <a:off x="658368" y="3419856"/>
            <a:ext cx="5208879" cy="256032"/>
          </a:xfrm>
          <a:prstGeom prst="rect">
            <a:avLst/>
          </a:prstGeom>
          <a:noFill/>
        </p:spPr>
        <p:txBody>
          <a:bodyPr wrap="square" anchor="t" lIns="0" rIns="0" tIns="0" bIns="0">
            <a:noAutofit/>
          </a:bodyPr>
          <a:lstStyle/>
          <a:p>
            <a:pPr algn="l">
              <a:lnSpc>
                <a:spcPct val="100000"/>
              </a:lnSpc>
              <a:spcBef>
                <a:spcPts val="0"/>
              </a:spcBef>
              <a:spcAft>
                <a:spcPts val="0"/>
              </a:spcAft>
            </a:pPr>
            <a:r>
              <a:rPr sz="1200" b="1" i="0" spc="150">
                <a:solidFill>
                  <a:srgbClr val="5F6F7B"/>
                </a:solidFill>
                <a:latin typeface="Segoe UI"/>
              </a:rPr>
              <a:t>BUILDS ON</a:t>
            </a:r>
          </a:p>
        </p:txBody>
      </p:sp>
      <p:sp>
        <p:nvSpPr>
          <p:cNvPr id="85" name="!!chipBU4">
            <a:extLst>
              <a:ext uri="{C183D7F6-B498-43B3-948B-1728B52AA6E4}">
                <adec:decorative xmlns:adec="http://schemas.microsoft.com/office/drawing/2017/decorative" val="1"/>
              </a:ext>
            </a:extLst>
          </p:cNvPr>
          <p:cNvSpPr/>
          <p:nvPr/>
        </p:nvSpPr>
        <p:spPr>
          <a:xfrm>
            <a:off x="658368" y="3785616"/>
            <a:ext cx="5208879" cy="420624"/>
          </a:xfrm>
          <a:prstGeom prst="roundRect">
            <a:avLst>
              <a:gd name="adj" fmla="val 17391"/>
            </a:avLst>
          </a:prstGeom>
          <a:solidFill>
            <a:srgbClr val="E8EEF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6" name="!!chipbBU4">
            <a:extLst>
              <a:ext uri="{C183D7F6-B498-43B3-948B-1728B52AA6E4}">
                <adec:decorative xmlns:adec="http://schemas.microsoft.com/office/drawing/2017/decorative" val="1"/>
              </a:ext>
            </a:extLst>
          </p:cNvPr>
          <p:cNvSpPr/>
          <p:nvPr/>
        </p:nvSpPr>
        <p:spPr>
          <a:xfrm>
            <a:off x="658368" y="3785616"/>
            <a:ext cx="64008" cy="42062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7" name="!!chiptBU4"/>
          <p:cNvSpPr txBox="1"/>
          <p:nvPr/>
        </p:nvSpPr>
        <p:spPr>
          <a:xfrm>
            <a:off x="859536" y="3877056"/>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1A5276"/>
                </a:solidFill>
                <a:latin typeface="Segoe UI"/>
              </a:rPr>
              <a:t>Ch 4  </a:t>
            </a:r>
            <a:r>
              <a:rPr sz="1400" b="0" i="0">
                <a:solidFill>
                  <a:srgbClr val="1C252B"/>
                </a:solidFill>
                <a:latin typeface="Segoe UI"/>
              </a:rPr>
              <a:t>The Mathematical Toolkit</a:t>
            </a:r>
          </a:p>
        </p:txBody>
      </p:sp>
      <p:sp>
        <p:nvSpPr>
          <p:cNvPr id="88" name="!!chipBU11">
            <a:extLst>
              <a:ext uri="{C183D7F6-B498-43B3-948B-1728B52AA6E4}">
                <adec:decorative xmlns:adec="http://schemas.microsoft.com/office/drawing/2017/decorative" val="1"/>
              </a:ext>
            </a:extLst>
          </p:cNvPr>
          <p:cNvSpPr/>
          <p:nvPr/>
        </p:nvSpPr>
        <p:spPr>
          <a:xfrm>
            <a:off x="658368" y="4297680"/>
            <a:ext cx="5208879" cy="420624"/>
          </a:xfrm>
          <a:prstGeom prst="roundRect">
            <a:avLst>
              <a:gd name="adj" fmla="val 17391"/>
            </a:avLst>
          </a:prstGeom>
          <a:solidFill>
            <a:srgbClr val="E8F2E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9" name="!!chipbBU11">
            <a:extLst>
              <a:ext uri="{C183D7F6-B498-43B3-948B-1728B52AA6E4}">
                <adec:decorative xmlns:adec="http://schemas.microsoft.com/office/drawing/2017/decorative" val="1"/>
              </a:ext>
            </a:extLst>
          </p:cNvPr>
          <p:cNvSpPr/>
          <p:nvPr/>
        </p:nvSpPr>
        <p:spPr>
          <a:xfrm>
            <a:off x="658368" y="4297680"/>
            <a:ext cx="64008" cy="420624"/>
          </a:xfrm>
          <a:prstGeom prst="rect">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0" name="!!chiptBU11"/>
          <p:cNvSpPr txBox="1"/>
          <p:nvPr/>
        </p:nvSpPr>
        <p:spPr>
          <a:xfrm>
            <a:off x="859536" y="4389120"/>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1B7A43"/>
                </a:solidFill>
                <a:latin typeface="Segoe UI"/>
              </a:rPr>
              <a:t>Ch 11  </a:t>
            </a:r>
            <a:r>
              <a:rPr sz="1400" b="0" i="0">
                <a:solidFill>
                  <a:srgbClr val="1C252B"/>
                </a:solidFill>
                <a:latin typeface="Segoe UI"/>
              </a:rPr>
              <a:t>Machine Learning Fundamentals</a:t>
            </a:r>
          </a:p>
        </p:txBody>
      </p:sp>
      <p:sp>
        <p:nvSpPr>
          <p:cNvPr id="91" name="!!chipBU12">
            <a:extLst>
              <a:ext uri="{C183D7F6-B498-43B3-948B-1728B52AA6E4}">
                <adec:decorative xmlns:adec="http://schemas.microsoft.com/office/drawing/2017/decorative" val="1"/>
              </a:ext>
            </a:extLst>
          </p:cNvPr>
          <p:cNvSpPr/>
          <p:nvPr/>
        </p:nvSpPr>
        <p:spPr>
          <a:xfrm>
            <a:off x="658368" y="4809744"/>
            <a:ext cx="5208879" cy="420624"/>
          </a:xfrm>
          <a:prstGeom prst="roundRect">
            <a:avLst>
              <a:gd name="adj" fmla="val 17391"/>
            </a:avLst>
          </a:prstGeom>
          <a:solidFill>
            <a:srgbClr val="E8F2E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2" name="!!chipbBU12">
            <a:extLst>
              <a:ext uri="{C183D7F6-B498-43B3-948B-1728B52AA6E4}">
                <adec:decorative xmlns:adec="http://schemas.microsoft.com/office/drawing/2017/decorative" val="1"/>
              </a:ext>
            </a:extLst>
          </p:cNvPr>
          <p:cNvSpPr/>
          <p:nvPr/>
        </p:nvSpPr>
        <p:spPr>
          <a:xfrm>
            <a:off x="658368" y="4809744"/>
            <a:ext cx="64008" cy="420624"/>
          </a:xfrm>
          <a:prstGeom prst="rect">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3" name="!!chiptBU12"/>
          <p:cNvSpPr txBox="1"/>
          <p:nvPr/>
        </p:nvSpPr>
        <p:spPr>
          <a:xfrm>
            <a:off x="859536" y="4901184"/>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1B7A43"/>
                </a:solidFill>
                <a:latin typeface="Segoe UI"/>
              </a:rPr>
              <a:t>Ch 12  </a:t>
            </a:r>
            <a:r>
              <a:rPr sz="1400" b="0" i="0">
                <a:solidFill>
                  <a:srgbClr val="1C252B"/>
                </a:solidFill>
                <a:latin typeface="Segoe UI"/>
              </a:rPr>
              <a:t>Supervised Learning I: Regression</a:t>
            </a:r>
          </a:p>
        </p:txBody>
      </p:sp>
      <p:sp>
        <p:nvSpPr>
          <p:cNvPr id="94" name="!!dep-USED "/>
          <p:cNvSpPr txBox="1"/>
          <p:nvPr/>
        </p:nvSpPr>
        <p:spPr>
          <a:xfrm>
            <a:off x="6324447" y="3419856"/>
            <a:ext cx="5208879" cy="256032"/>
          </a:xfrm>
          <a:prstGeom prst="rect">
            <a:avLst/>
          </a:prstGeom>
          <a:noFill/>
        </p:spPr>
        <p:txBody>
          <a:bodyPr wrap="square" anchor="t" lIns="0" rIns="0" tIns="0" bIns="0">
            <a:noAutofit/>
          </a:bodyPr>
          <a:lstStyle/>
          <a:p>
            <a:pPr algn="l">
              <a:lnSpc>
                <a:spcPct val="100000"/>
              </a:lnSpc>
              <a:spcBef>
                <a:spcPts val="0"/>
              </a:spcBef>
              <a:spcAft>
                <a:spcPts val="0"/>
              </a:spcAft>
            </a:pPr>
            <a:r>
              <a:rPr sz="1200" b="1" i="0" spc="150">
                <a:solidFill>
                  <a:srgbClr val="5F6F7B"/>
                </a:solidFill>
                <a:latin typeface="Segoe UI"/>
              </a:rPr>
              <a:t>USED LATER IN</a:t>
            </a:r>
          </a:p>
        </p:txBody>
      </p:sp>
      <p:sp>
        <p:nvSpPr>
          <p:cNvPr id="95" name="!!chipUS18">
            <a:extLst>
              <a:ext uri="{C183D7F6-B498-43B3-948B-1728B52AA6E4}">
                <adec:decorative xmlns:adec="http://schemas.microsoft.com/office/drawing/2017/decorative" val="1"/>
              </a:ext>
            </a:extLst>
          </p:cNvPr>
          <p:cNvSpPr/>
          <p:nvPr/>
        </p:nvSpPr>
        <p:spPr>
          <a:xfrm>
            <a:off x="6324447" y="3785616"/>
            <a:ext cx="5208879" cy="420624"/>
          </a:xfrm>
          <a:prstGeom prst="roundRect">
            <a:avLst>
              <a:gd name="adj" fmla="val 17391"/>
            </a:avLst>
          </a:prstGeom>
          <a:solidFill>
            <a:srgbClr val="F2EB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6" name="!!chipbUS18">
            <a:extLst>
              <a:ext uri="{C183D7F6-B498-43B3-948B-1728B52AA6E4}">
                <adec:decorative xmlns:adec="http://schemas.microsoft.com/office/drawing/2017/decorative" val="1"/>
              </a:ext>
            </a:extLst>
          </p:cNvPr>
          <p:cNvSpPr/>
          <p:nvPr/>
        </p:nvSpPr>
        <p:spPr>
          <a:xfrm>
            <a:off x="6324447" y="3785616"/>
            <a:ext cx="64008" cy="420624"/>
          </a:xfrm>
          <a:prstGeom prst="rect">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7" name="!!chiptUS18"/>
          <p:cNvSpPr txBox="1"/>
          <p:nvPr/>
        </p:nvSpPr>
        <p:spPr>
          <a:xfrm>
            <a:off x="6525615" y="3877056"/>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7A3A95"/>
                </a:solidFill>
                <a:latin typeface="Segoe UI"/>
              </a:rPr>
              <a:t>Ch 18  </a:t>
            </a:r>
            <a:r>
              <a:rPr sz="1400" b="0" i="0">
                <a:solidFill>
                  <a:srgbClr val="1C252B"/>
                </a:solidFill>
                <a:latin typeface="Segoe UI"/>
              </a:rPr>
              <a:t>Deep Architectures</a:t>
            </a:r>
          </a:p>
        </p:txBody>
      </p:sp>
      <p:sp>
        <p:nvSpPr>
          <p:cNvPr id="98"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9" name="!!pfill">
            <a:extLst>
              <a:ext uri="{C183D7F6-B498-43B3-948B-1728B52AA6E4}">
                <adec:decorative xmlns:adec="http://schemas.microsoft.com/office/drawing/2017/decorative" val="1"/>
              </a:ext>
            </a:extLst>
          </p:cNvPr>
          <p:cNvSpPr/>
          <p:nvPr/>
        </p:nvSpPr>
        <p:spPr>
          <a:xfrm>
            <a:off x="0" y="0"/>
            <a:ext cx="541853"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you will be able to do</a:t>
            </a:r>
          </a:p>
        </p:txBody>
      </p:sp>
      <p:pic>
        <p:nvPicPr>
          <p:cNvPr id="3" name="!!kicker-icon" descr="bullseye-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LEARNING OUTCOMES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17  ·  Neural Network Foundations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109     </a:t>
            </a:r>
            <a:fld id="{9E25F1CD-B342-4CA8-81EF-7C6A1AB34066}" type="slidenum">
              <a:rPr lang="en-GB" sz="1000">
                <a:solidFill>
                  <a:srgbClr val="8795A1"/>
                </a:solidFill>
                <a:latin typeface="Segoe UI"/>
              </a:rPr>
              <a:t>3</a:t>
            </a:fld>
          </a:p>
        </p:txBody>
      </p:sp>
      <p:sp>
        <p:nvSpPr>
          <p:cNvPr id="7" name="!!olead"/>
          <p:cNvSpPr txBox="1"/>
          <p:nvPr/>
        </p:nvSpPr>
        <p:spPr>
          <a:xfrm>
            <a:off x="658368" y="1737360"/>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600" b="0" i="0">
                <a:solidFill>
                  <a:srgbClr val="5F6F7B"/>
                </a:solidFill>
                <a:latin typeface="Segoe UI"/>
              </a:rPr>
              <a:t>By the end of this chapter you will be able to:</a:t>
            </a:r>
          </a:p>
        </p:txBody>
      </p:sp>
      <p:sp>
        <p:nvSpPr>
          <p:cNvPr id="8" name="!!ob0">
            <a:extLst>
              <a:ext uri="{C183D7F6-B498-43B3-948B-1728B52AA6E4}">
                <adec:decorative xmlns:adec="http://schemas.microsoft.com/office/drawing/2017/decorative" val="1"/>
              </a:ext>
            </a:extLst>
          </p:cNvPr>
          <p:cNvSpPr/>
          <p:nvPr/>
        </p:nvSpPr>
        <p:spPr>
          <a:xfrm>
            <a:off x="658368" y="2221991"/>
            <a:ext cx="420624" cy="420624"/>
          </a:xfrm>
          <a:prstGeom prst="ellipse">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obn0"/>
          <p:cNvSpPr txBox="1"/>
          <p:nvPr/>
        </p:nvSpPr>
        <p:spPr>
          <a:xfrm>
            <a:off x="658368" y="2281428"/>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1</a:t>
            </a:r>
          </a:p>
        </p:txBody>
      </p:sp>
      <p:sp>
        <p:nvSpPr>
          <p:cNvPr id="10" name="!!ot0"/>
          <p:cNvSpPr txBox="1"/>
          <p:nvPr/>
        </p:nvSpPr>
        <p:spPr>
          <a:xfrm>
            <a:off x="1316736" y="2263140"/>
            <a:ext cx="10216591" cy="420624"/>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7A3A95"/>
                </a:solidFill>
                <a:latin typeface="Segoe UI"/>
              </a:rPr>
              <a:t>Compute</a:t>
            </a:r>
            <a:r>
              <a:rPr sz="2100" b="0" i="0">
                <a:solidFill>
                  <a:srgbClr val="1C252B"/>
                </a:solidFill>
                <a:latin typeface="Segoe UI"/>
              </a:rPr>
              <a:t> the output of a single neuron by hand.</a:t>
            </a:r>
          </a:p>
        </p:txBody>
      </p:sp>
      <p:sp>
        <p:nvSpPr>
          <p:cNvPr id="11" name="!!ob1">
            <a:extLst>
              <a:ext uri="{C183D7F6-B498-43B3-948B-1728B52AA6E4}">
                <adec:decorative xmlns:adec="http://schemas.microsoft.com/office/drawing/2017/decorative" val="1"/>
              </a:ext>
            </a:extLst>
          </p:cNvPr>
          <p:cNvSpPr/>
          <p:nvPr/>
        </p:nvSpPr>
        <p:spPr>
          <a:xfrm>
            <a:off x="658368" y="2825496"/>
            <a:ext cx="420624" cy="420624"/>
          </a:xfrm>
          <a:prstGeom prst="ellipse">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obn1"/>
          <p:cNvSpPr txBox="1"/>
          <p:nvPr/>
        </p:nvSpPr>
        <p:spPr>
          <a:xfrm>
            <a:off x="658368" y="2884932"/>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2</a:t>
            </a:r>
          </a:p>
        </p:txBody>
      </p:sp>
      <p:sp>
        <p:nvSpPr>
          <p:cNvPr id="13" name="!!ot1"/>
          <p:cNvSpPr txBox="1"/>
          <p:nvPr/>
        </p:nvSpPr>
        <p:spPr>
          <a:xfrm>
            <a:off x="1316736" y="2816352"/>
            <a:ext cx="10216591"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7A3A95"/>
                </a:solidFill>
                <a:latin typeface="Segoe UI"/>
              </a:rPr>
              <a:t>Describe</a:t>
            </a:r>
            <a:r>
              <a:rPr sz="2100" b="0" i="0">
                <a:solidFill>
                  <a:srgbClr val="1C252B"/>
                </a:solidFill>
                <a:latin typeface="Segoe UI"/>
              </a:rPr>
              <a:t> the forward pass, loss computation, backpropagation and weight update as one training cycle.</a:t>
            </a:r>
          </a:p>
        </p:txBody>
      </p:sp>
      <p:sp>
        <p:nvSpPr>
          <p:cNvPr id="14" name="!!ob2">
            <a:extLst>
              <a:ext uri="{C183D7F6-B498-43B3-948B-1728B52AA6E4}">
                <adec:decorative xmlns:adec="http://schemas.microsoft.com/office/drawing/2017/decorative" val="1"/>
              </a:ext>
            </a:extLst>
          </p:cNvPr>
          <p:cNvSpPr/>
          <p:nvPr/>
        </p:nvSpPr>
        <p:spPr>
          <a:xfrm>
            <a:off x="658368" y="3674059"/>
            <a:ext cx="420624" cy="420624"/>
          </a:xfrm>
          <a:prstGeom prst="ellipse">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obn2"/>
          <p:cNvSpPr txBox="1"/>
          <p:nvPr/>
        </p:nvSpPr>
        <p:spPr>
          <a:xfrm>
            <a:off x="658368" y="3733495"/>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3</a:t>
            </a:r>
          </a:p>
        </p:txBody>
      </p:sp>
      <p:sp>
        <p:nvSpPr>
          <p:cNvPr id="16" name="!!ot2"/>
          <p:cNvSpPr txBox="1"/>
          <p:nvPr/>
        </p:nvSpPr>
        <p:spPr>
          <a:xfrm>
            <a:off x="1316736" y="3715207"/>
            <a:ext cx="10216591" cy="420624"/>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7A3A95"/>
                </a:solidFill>
                <a:latin typeface="Segoe UI"/>
              </a:rPr>
              <a:t>Choose</a:t>
            </a:r>
            <a:r>
              <a:rPr sz="2100" b="0" i="0">
                <a:solidFill>
                  <a:srgbClr val="1C252B"/>
                </a:solidFill>
                <a:latin typeface="Segoe UI"/>
              </a:rPr>
              <a:t> an activation function and explain why non-linearity is essential.</a:t>
            </a:r>
          </a:p>
        </p:txBody>
      </p:sp>
      <p:sp>
        <p:nvSpPr>
          <p:cNvPr id="17" name="!!ob3">
            <a:extLst>
              <a:ext uri="{C183D7F6-B498-43B3-948B-1728B52AA6E4}">
                <adec:decorative xmlns:adec="http://schemas.microsoft.com/office/drawing/2017/decorative" val="1"/>
              </a:ext>
            </a:extLst>
          </p:cNvPr>
          <p:cNvSpPr/>
          <p:nvPr/>
        </p:nvSpPr>
        <p:spPr>
          <a:xfrm>
            <a:off x="658368" y="4277563"/>
            <a:ext cx="420624" cy="420624"/>
          </a:xfrm>
          <a:prstGeom prst="ellipse">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obn3"/>
          <p:cNvSpPr txBox="1"/>
          <p:nvPr/>
        </p:nvSpPr>
        <p:spPr>
          <a:xfrm>
            <a:off x="658368" y="4336999"/>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4</a:t>
            </a:r>
          </a:p>
        </p:txBody>
      </p:sp>
      <p:sp>
        <p:nvSpPr>
          <p:cNvPr id="19" name="!!ot3"/>
          <p:cNvSpPr txBox="1"/>
          <p:nvPr/>
        </p:nvSpPr>
        <p:spPr>
          <a:xfrm>
            <a:off x="1316736" y="4318711"/>
            <a:ext cx="10216591" cy="420624"/>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7A3A95"/>
                </a:solidFill>
                <a:latin typeface="Segoe UI"/>
              </a:rPr>
              <a:t>Diagnose</a:t>
            </a:r>
            <a:r>
              <a:rPr sz="2100" b="0" i="0">
                <a:solidFill>
                  <a:srgbClr val="1C252B"/>
                </a:solidFill>
                <a:latin typeface="Segoe UI"/>
              </a:rPr>
              <a:t> a training run from its loss curves.</a:t>
            </a:r>
          </a:p>
        </p:txBody>
      </p:sp>
      <p:sp>
        <p:nvSpPr>
          <p:cNvPr id="20" name="!!ob4">
            <a:extLst>
              <a:ext uri="{C183D7F6-B498-43B3-948B-1728B52AA6E4}">
                <adec:decorative xmlns:adec="http://schemas.microsoft.com/office/drawing/2017/decorative" val="1"/>
              </a:ext>
            </a:extLst>
          </p:cNvPr>
          <p:cNvSpPr/>
          <p:nvPr/>
        </p:nvSpPr>
        <p:spPr>
          <a:xfrm>
            <a:off x="658368" y="4881067"/>
            <a:ext cx="420624" cy="420624"/>
          </a:xfrm>
          <a:prstGeom prst="ellipse">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obn4"/>
          <p:cNvSpPr txBox="1"/>
          <p:nvPr/>
        </p:nvSpPr>
        <p:spPr>
          <a:xfrm>
            <a:off x="658368" y="4940503"/>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5</a:t>
            </a:r>
          </a:p>
        </p:txBody>
      </p:sp>
      <p:sp>
        <p:nvSpPr>
          <p:cNvPr id="22" name="!!ot4"/>
          <p:cNvSpPr txBox="1"/>
          <p:nvPr/>
        </p:nvSpPr>
        <p:spPr>
          <a:xfrm>
            <a:off x="1316736" y="4922215"/>
            <a:ext cx="10216591" cy="420624"/>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7A3A95"/>
                </a:solidFill>
                <a:latin typeface="Segoe UI"/>
              </a:rPr>
              <a:t>Decide</a:t>
            </a:r>
            <a:r>
              <a:rPr sz="2100" b="0" i="0">
                <a:solidFill>
                  <a:srgbClr val="1C252B"/>
                </a:solidFill>
                <a:latin typeface="Segoe UI"/>
              </a:rPr>
              <a:t> whether a problem calls for a neural network at all.</a:t>
            </a:r>
          </a:p>
        </p:txBody>
      </p:sp>
      <p:sp>
        <p:nvSpPr>
          <p:cNvPr id="5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0" name="!!pfill">
            <a:extLst>
              <a:ext uri="{C183D7F6-B498-43B3-948B-1728B52AA6E4}">
                <adec:decorative xmlns:adec="http://schemas.microsoft.com/office/drawing/2017/decorative" val="1"/>
              </a:ext>
            </a:extLst>
          </p:cNvPr>
          <p:cNvSpPr/>
          <p:nvPr/>
        </p:nvSpPr>
        <p:spPr>
          <a:xfrm>
            <a:off x="0" y="0"/>
            <a:ext cx="812779"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8"/>
                                        </p:tgtEl>
                                        <p:attrNameLst>
                                          <p:attrName>style.visibility</p:attrName>
                                        </p:attrNameLst>
                                      </p:cBhvr>
                                      <p:to>
                                        <p:strVal val="visible"/>
                                      </p:to>
                                    </p:set>
                                    <p:animEffect transition="in" filter="zoom(in)">
                                      <p:cBhvr>
                                        <p:cTn id="8" dur="300"/>
                                        <p:tgtEl>
                                          <p:spTgt spid="8"/>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300"/>
                                        <p:tgtEl>
                                          <p:spTgt spid="9"/>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wipe(right)">
                                      <p:cBhvr>
                                        <p:cTn id="14" dur="420"/>
                                        <p:tgtEl>
                                          <p:spTgt spid="10"/>
                                        </p:tgtEl>
                                      </p:cBhvr>
                                    </p:animEffect>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zoom(in)">
                                      <p:cBhvr>
                                        <p:cTn id="19" dur="300"/>
                                        <p:tgtEl>
                                          <p:spTgt spid="11"/>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300"/>
                                        <p:tgtEl>
                                          <p:spTgt spid="12"/>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13"/>
                                        </p:tgtEl>
                                        <p:attrNameLst>
                                          <p:attrName>style.visibility</p:attrName>
                                        </p:attrNameLst>
                                      </p:cBhvr>
                                      <p:to>
                                        <p:strVal val="visible"/>
                                      </p:to>
                                    </p:set>
                                    <p:animEffect transition="in" filter="wipe(right)">
                                      <p:cBhvr>
                                        <p:cTn id="25" dur="420"/>
                                        <p:tgtEl>
                                          <p:spTgt spid="13"/>
                                        </p:tgtEl>
                                      </p:cBhvr>
                                    </p:animEffect>
                                  </p:childTnLst>
                                </p:cTn>
                              </p:par>
                            </p:childTnLst>
                          </p:cTn>
                        </p:par>
                      </p:childTnLst>
                    </p:cTn>
                  </p:par>
                  <p:par>
                    <p:cTn id="26" fill="hold">
                      <p:stCondLst>
                        <p:cond delay="indefinite"/>
                      </p:stCondLst>
                      <p:childTnLst>
                        <p:par>
                          <p:cTn id="27" fill="hold">
                            <p:stCondLst>
                              <p:cond delay="0"/>
                            </p:stCondLst>
                            <p:childTnLst>
                              <p:par>
                                <p:cTn id="28" presetID="23" presetClass="entr" presetSubtype="16" fill="hold" grpId="0" nodeType="clickEffect">
                                  <p:stCondLst>
                                    <p:cond delay="0"/>
                                  </p:stCondLst>
                                  <p:childTnLst>
                                    <p:set>
                                      <p:cBhvr>
                                        <p:cTn id="29" dur="1" fill="hold">
                                          <p:stCondLst>
                                            <p:cond delay="0"/>
                                          </p:stCondLst>
                                        </p:cTn>
                                        <p:tgtEl>
                                          <p:spTgt spid="14"/>
                                        </p:tgtEl>
                                        <p:attrNameLst>
                                          <p:attrName>style.visibility</p:attrName>
                                        </p:attrNameLst>
                                      </p:cBhvr>
                                      <p:to>
                                        <p:strVal val="visible"/>
                                      </p:to>
                                    </p:set>
                                    <p:animEffect transition="in" filter="zoom(in)">
                                      <p:cBhvr>
                                        <p:cTn id="30" dur="300"/>
                                        <p:tgtEl>
                                          <p:spTgt spid="14"/>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5"/>
                                        </p:tgtEl>
                                        <p:attrNameLst>
                                          <p:attrName>style.visibility</p:attrName>
                                        </p:attrNameLst>
                                      </p:cBhvr>
                                      <p:to>
                                        <p:strVal val="visible"/>
                                      </p:to>
                                    </p:set>
                                    <p:animEffect transition="in" filter="fade">
                                      <p:cBhvr>
                                        <p:cTn id="33" dur="300"/>
                                        <p:tgtEl>
                                          <p:spTgt spid="15"/>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16"/>
                                        </p:tgtEl>
                                        <p:attrNameLst>
                                          <p:attrName>style.visibility</p:attrName>
                                        </p:attrNameLst>
                                      </p:cBhvr>
                                      <p:to>
                                        <p:strVal val="visible"/>
                                      </p:to>
                                    </p:set>
                                    <p:animEffect transition="in" filter="wipe(right)">
                                      <p:cBhvr>
                                        <p:cTn id="36" dur="420"/>
                                        <p:tgtEl>
                                          <p:spTgt spid="16"/>
                                        </p:tgtEl>
                                      </p:cBhvr>
                                    </p:animEffect>
                                  </p:childTnLst>
                                </p:cTn>
                              </p:par>
                            </p:childTnLst>
                          </p:cTn>
                        </p:par>
                      </p:childTnLst>
                    </p:cTn>
                  </p:par>
                  <p:par>
                    <p:cTn id="37" fill="hold">
                      <p:stCondLst>
                        <p:cond delay="indefinite"/>
                      </p:stCondLst>
                      <p:childTnLst>
                        <p:par>
                          <p:cTn id="38" fill="hold">
                            <p:stCondLst>
                              <p:cond delay="0"/>
                            </p:stCondLst>
                            <p:childTnLst>
                              <p:par>
                                <p:cTn id="39" presetID="23" presetClass="entr" presetSubtype="16" fill="hold" grpId="0" nodeType="clickEffect">
                                  <p:stCondLst>
                                    <p:cond delay="0"/>
                                  </p:stCondLst>
                                  <p:childTnLst>
                                    <p:set>
                                      <p:cBhvr>
                                        <p:cTn id="40" dur="1" fill="hold">
                                          <p:stCondLst>
                                            <p:cond delay="0"/>
                                          </p:stCondLst>
                                        </p:cTn>
                                        <p:tgtEl>
                                          <p:spTgt spid="17"/>
                                        </p:tgtEl>
                                        <p:attrNameLst>
                                          <p:attrName>style.visibility</p:attrName>
                                        </p:attrNameLst>
                                      </p:cBhvr>
                                      <p:to>
                                        <p:strVal val="visible"/>
                                      </p:to>
                                    </p:set>
                                    <p:animEffect transition="in" filter="zoom(in)">
                                      <p:cBhvr>
                                        <p:cTn id="41" dur="300"/>
                                        <p:tgtEl>
                                          <p:spTgt spid="17"/>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8"/>
                                        </p:tgtEl>
                                        <p:attrNameLst>
                                          <p:attrName>style.visibility</p:attrName>
                                        </p:attrNameLst>
                                      </p:cBhvr>
                                      <p:to>
                                        <p:strVal val="visible"/>
                                      </p:to>
                                    </p:set>
                                    <p:animEffect transition="in" filter="fade">
                                      <p:cBhvr>
                                        <p:cTn id="44" dur="300"/>
                                        <p:tgtEl>
                                          <p:spTgt spid="18"/>
                                        </p:tgtEl>
                                      </p:cBhvr>
                                    </p:animEffect>
                                  </p:childTnLst>
                                </p:cTn>
                              </p:par>
                              <p:par>
                                <p:cTn id="45" presetID="22" presetClass="entr" presetSubtype="8" fill="hold" grpId="0" nodeType="withEffect">
                                  <p:stCondLst>
                                    <p:cond delay="0"/>
                                  </p:stCondLst>
                                  <p:childTnLst>
                                    <p:set>
                                      <p:cBhvr>
                                        <p:cTn id="46" dur="1" fill="hold">
                                          <p:stCondLst>
                                            <p:cond delay="0"/>
                                          </p:stCondLst>
                                        </p:cTn>
                                        <p:tgtEl>
                                          <p:spTgt spid="19"/>
                                        </p:tgtEl>
                                        <p:attrNameLst>
                                          <p:attrName>style.visibility</p:attrName>
                                        </p:attrNameLst>
                                      </p:cBhvr>
                                      <p:to>
                                        <p:strVal val="visible"/>
                                      </p:to>
                                    </p:set>
                                    <p:animEffect transition="in" filter="wipe(right)">
                                      <p:cBhvr>
                                        <p:cTn id="47" dur="420"/>
                                        <p:tgtEl>
                                          <p:spTgt spid="19"/>
                                        </p:tgtEl>
                                      </p:cBhvr>
                                    </p:animEffect>
                                  </p:childTnLst>
                                </p:cTn>
                              </p:par>
                            </p:childTnLst>
                          </p:cTn>
                        </p:par>
                      </p:childTnLst>
                    </p:cTn>
                  </p:par>
                  <p:par>
                    <p:cTn id="48" fill="hold">
                      <p:stCondLst>
                        <p:cond delay="indefinite"/>
                      </p:stCondLst>
                      <p:childTnLst>
                        <p:par>
                          <p:cTn id="49" fill="hold">
                            <p:stCondLst>
                              <p:cond delay="0"/>
                            </p:stCondLst>
                            <p:childTnLst>
                              <p:par>
                                <p:cTn id="50" presetID="23" presetClass="entr" presetSubtype="16" fill="hold" grpId="0" nodeType="clickEffect">
                                  <p:stCondLst>
                                    <p:cond delay="0"/>
                                  </p:stCondLst>
                                  <p:childTnLst>
                                    <p:set>
                                      <p:cBhvr>
                                        <p:cTn id="51" dur="1" fill="hold">
                                          <p:stCondLst>
                                            <p:cond delay="0"/>
                                          </p:stCondLst>
                                        </p:cTn>
                                        <p:tgtEl>
                                          <p:spTgt spid="20"/>
                                        </p:tgtEl>
                                        <p:attrNameLst>
                                          <p:attrName>style.visibility</p:attrName>
                                        </p:attrNameLst>
                                      </p:cBhvr>
                                      <p:to>
                                        <p:strVal val="visible"/>
                                      </p:to>
                                    </p:set>
                                    <p:animEffect transition="in" filter="zoom(in)">
                                      <p:cBhvr>
                                        <p:cTn id="52" dur="300"/>
                                        <p:tgtEl>
                                          <p:spTgt spid="20"/>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1"/>
                                        </p:tgtEl>
                                        <p:attrNameLst>
                                          <p:attrName>style.visibility</p:attrName>
                                        </p:attrNameLst>
                                      </p:cBhvr>
                                      <p:to>
                                        <p:strVal val="visible"/>
                                      </p:to>
                                    </p:set>
                                    <p:animEffect transition="in" filter="fade">
                                      <p:cBhvr>
                                        <p:cTn id="55" dur="300"/>
                                        <p:tgtEl>
                                          <p:spTgt spid="21"/>
                                        </p:tgtEl>
                                      </p:cBhvr>
                                    </p:animEffect>
                                  </p:childTnLst>
                                </p:cTn>
                              </p:par>
                              <p:par>
                                <p:cTn id="56" presetID="22" presetClass="entr" presetSubtype="8" fill="hold" grpId="0" nodeType="withEffect">
                                  <p:stCondLst>
                                    <p:cond delay="0"/>
                                  </p:stCondLst>
                                  <p:childTnLst>
                                    <p:set>
                                      <p:cBhvr>
                                        <p:cTn id="57" dur="1" fill="hold">
                                          <p:stCondLst>
                                            <p:cond delay="0"/>
                                          </p:stCondLst>
                                        </p:cTn>
                                        <p:tgtEl>
                                          <p:spTgt spid="22"/>
                                        </p:tgtEl>
                                        <p:attrNameLst>
                                          <p:attrName>style.visibility</p:attrName>
                                        </p:attrNameLst>
                                      </p:cBhvr>
                                      <p:to>
                                        <p:strVal val="visible"/>
                                      </p:to>
                                    </p:set>
                                    <p:animEffect transition="in" filter="wipe(right)">
                                      <p:cBhvr>
                                        <p:cTn id="58" dur="42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Vocabulary for this chapter</a:t>
            </a:r>
          </a:p>
        </p:txBody>
      </p:sp>
      <p:pic>
        <p:nvPicPr>
          <p:cNvPr id="3" name="!!kicker-icon" descr="tags-8E44AD.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7256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8E44AD"/>
                </a:solidFill>
                <a:latin typeface="Segoe UI"/>
              </a:rPr>
              <a:t>KEY TERMS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17  ·  Neural Network Foundations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109     </a:t>
            </a:r>
            <a:fld id="{229D3DB7-0FC9-4321-938B-02061478F8B6}" type="slidenum">
              <a:rPr lang="en-GB" sz="1000">
                <a:solidFill>
                  <a:srgbClr val="8795A1"/>
                </a:solidFill>
                <a:latin typeface="Segoe UI"/>
              </a:rPr>
              <a:t>4</a:t>
            </a:fld>
          </a:p>
        </p:txBody>
      </p:sp>
      <p:sp>
        <p:nvSpPr>
          <p:cNvPr id="7" name="!!term-neuron">
            <a:extLst>
              <a:ext uri="{C183D7F6-B498-43B3-948B-1728B52AA6E4}">
                <adec:decorative xmlns:adec="http://schemas.microsoft.com/office/drawing/2017/decorative" val="1"/>
              </a:ext>
            </a:extLst>
          </p:cNvPr>
          <p:cNvSpPr/>
          <p:nvPr/>
        </p:nvSpPr>
        <p:spPr>
          <a:xfrm>
            <a:off x="658368" y="1847088"/>
            <a:ext cx="1051920"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ermd-neuron">
            <a:extLst>
              <a:ext uri="{C183D7F6-B498-43B3-948B-1728B52AA6E4}">
                <adec:decorative xmlns:adec="http://schemas.microsoft.com/office/drawing/2017/decorative" val="1"/>
              </a:ext>
            </a:extLst>
          </p:cNvPr>
          <p:cNvSpPr/>
          <p:nvPr/>
        </p:nvSpPr>
        <p:spPr>
          <a:xfrm>
            <a:off x="786384"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termt-neuron"/>
          <p:cNvSpPr txBox="1"/>
          <p:nvPr/>
        </p:nvSpPr>
        <p:spPr>
          <a:xfrm>
            <a:off x="950976" y="1970532"/>
            <a:ext cx="869040"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neuron</a:t>
            </a:r>
          </a:p>
        </p:txBody>
      </p:sp>
      <p:sp>
        <p:nvSpPr>
          <p:cNvPr id="10" name="!!term-weight">
            <a:extLst>
              <a:ext uri="{C183D7F6-B498-43B3-948B-1728B52AA6E4}">
                <adec:decorative xmlns:adec="http://schemas.microsoft.com/office/drawing/2017/decorative" val="1"/>
              </a:ext>
            </a:extLst>
          </p:cNvPr>
          <p:cNvSpPr/>
          <p:nvPr/>
        </p:nvSpPr>
        <p:spPr>
          <a:xfrm>
            <a:off x="1856592" y="1847088"/>
            <a:ext cx="1018329"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termd-weight">
            <a:extLst>
              <a:ext uri="{C183D7F6-B498-43B3-948B-1728B52AA6E4}">
                <adec:decorative xmlns:adec="http://schemas.microsoft.com/office/drawing/2017/decorative" val="1"/>
              </a:ext>
            </a:extLst>
          </p:cNvPr>
          <p:cNvSpPr/>
          <p:nvPr/>
        </p:nvSpPr>
        <p:spPr>
          <a:xfrm>
            <a:off x="1984608"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termt-weight"/>
          <p:cNvSpPr txBox="1"/>
          <p:nvPr/>
        </p:nvSpPr>
        <p:spPr>
          <a:xfrm>
            <a:off x="2149200" y="1970532"/>
            <a:ext cx="835449"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weight</a:t>
            </a:r>
          </a:p>
        </p:txBody>
      </p:sp>
      <p:sp>
        <p:nvSpPr>
          <p:cNvPr id="13" name="!!term-bias">
            <a:extLst>
              <a:ext uri="{C183D7F6-B498-43B3-948B-1728B52AA6E4}">
                <adec:decorative xmlns:adec="http://schemas.microsoft.com/office/drawing/2017/decorative" val="1"/>
              </a:ext>
            </a:extLst>
          </p:cNvPr>
          <p:cNvSpPr/>
          <p:nvPr/>
        </p:nvSpPr>
        <p:spPr>
          <a:xfrm>
            <a:off x="3021225" y="1847088"/>
            <a:ext cx="781480"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termd-bias">
            <a:extLst>
              <a:ext uri="{C183D7F6-B498-43B3-948B-1728B52AA6E4}">
                <adec:decorative xmlns:adec="http://schemas.microsoft.com/office/drawing/2017/decorative" val="1"/>
              </a:ext>
            </a:extLst>
          </p:cNvPr>
          <p:cNvSpPr/>
          <p:nvPr/>
        </p:nvSpPr>
        <p:spPr>
          <a:xfrm>
            <a:off x="3149241"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termt-bias"/>
          <p:cNvSpPr txBox="1"/>
          <p:nvPr/>
        </p:nvSpPr>
        <p:spPr>
          <a:xfrm>
            <a:off x="3313833" y="1970532"/>
            <a:ext cx="598600"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bias</a:t>
            </a:r>
          </a:p>
        </p:txBody>
      </p:sp>
      <p:sp>
        <p:nvSpPr>
          <p:cNvPr id="16" name="!!term-activation fun">
            <a:extLst>
              <a:ext uri="{C183D7F6-B498-43B3-948B-1728B52AA6E4}">
                <adec:decorative xmlns:adec="http://schemas.microsoft.com/office/drawing/2017/decorative" val="1"/>
              </a:ext>
            </a:extLst>
          </p:cNvPr>
          <p:cNvSpPr/>
          <p:nvPr/>
        </p:nvSpPr>
        <p:spPr>
          <a:xfrm>
            <a:off x="3949010" y="1847088"/>
            <a:ext cx="2029673"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termd-activation fun">
            <a:extLst>
              <a:ext uri="{C183D7F6-B498-43B3-948B-1728B52AA6E4}">
                <adec:decorative xmlns:adec="http://schemas.microsoft.com/office/drawing/2017/decorative" val="1"/>
              </a:ext>
            </a:extLst>
          </p:cNvPr>
          <p:cNvSpPr/>
          <p:nvPr/>
        </p:nvSpPr>
        <p:spPr>
          <a:xfrm>
            <a:off x="4077026"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termt-activation fun"/>
          <p:cNvSpPr txBox="1"/>
          <p:nvPr/>
        </p:nvSpPr>
        <p:spPr>
          <a:xfrm>
            <a:off x="4241618" y="1970532"/>
            <a:ext cx="1846793"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activation function</a:t>
            </a:r>
          </a:p>
        </p:txBody>
      </p:sp>
      <p:sp>
        <p:nvSpPr>
          <p:cNvPr id="19" name="!!term-ReLU">
            <a:extLst>
              <a:ext uri="{C183D7F6-B498-43B3-948B-1728B52AA6E4}">
                <adec:decorative xmlns:adec="http://schemas.microsoft.com/office/drawing/2017/decorative" val="1"/>
              </a:ext>
            </a:extLst>
          </p:cNvPr>
          <p:cNvSpPr/>
          <p:nvPr/>
        </p:nvSpPr>
        <p:spPr>
          <a:xfrm>
            <a:off x="6124987" y="1847088"/>
            <a:ext cx="881616"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termd-ReLU">
            <a:extLst>
              <a:ext uri="{C183D7F6-B498-43B3-948B-1728B52AA6E4}">
                <adec:decorative xmlns:adec="http://schemas.microsoft.com/office/drawing/2017/decorative" val="1"/>
              </a:ext>
            </a:extLst>
          </p:cNvPr>
          <p:cNvSpPr/>
          <p:nvPr/>
        </p:nvSpPr>
        <p:spPr>
          <a:xfrm>
            <a:off x="6253003"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termt-ReLU"/>
          <p:cNvSpPr txBox="1"/>
          <p:nvPr/>
        </p:nvSpPr>
        <p:spPr>
          <a:xfrm>
            <a:off x="6417595" y="1970532"/>
            <a:ext cx="698736"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ReLU</a:t>
            </a:r>
          </a:p>
        </p:txBody>
      </p:sp>
      <p:sp>
        <p:nvSpPr>
          <p:cNvPr id="22" name="!!term-sigmoid">
            <a:extLst>
              <a:ext uri="{C183D7F6-B498-43B3-948B-1728B52AA6E4}">
                <adec:decorative xmlns:adec="http://schemas.microsoft.com/office/drawing/2017/decorative" val="1"/>
              </a:ext>
            </a:extLst>
          </p:cNvPr>
          <p:cNvSpPr/>
          <p:nvPr/>
        </p:nvSpPr>
        <p:spPr>
          <a:xfrm>
            <a:off x="7152908" y="1847088"/>
            <a:ext cx="1125409"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termd-sigmoid">
            <a:extLst>
              <a:ext uri="{C183D7F6-B498-43B3-948B-1728B52AA6E4}">
                <adec:decorative xmlns:adec="http://schemas.microsoft.com/office/drawing/2017/decorative" val="1"/>
              </a:ext>
            </a:extLst>
          </p:cNvPr>
          <p:cNvSpPr/>
          <p:nvPr/>
        </p:nvSpPr>
        <p:spPr>
          <a:xfrm>
            <a:off x="7280924"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termt-sigmoid"/>
          <p:cNvSpPr txBox="1"/>
          <p:nvPr/>
        </p:nvSpPr>
        <p:spPr>
          <a:xfrm>
            <a:off x="7445516" y="1970532"/>
            <a:ext cx="942529"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sigmoid</a:t>
            </a:r>
          </a:p>
        </p:txBody>
      </p:sp>
      <p:sp>
        <p:nvSpPr>
          <p:cNvPr id="25" name="!!term-softmax">
            <a:extLst>
              <a:ext uri="{C183D7F6-B498-43B3-948B-1728B52AA6E4}">
                <adec:decorative xmlns:adec="http://schemas.microsoft.com/office/drawing/2017/decorative" val="1"/>
              </a:ext>
            </a:extLst>
          </p:cNvPr>
          <p:cNvSpPr/>
          <p:nvPr/>
        </p:nvSpPr>
        <p:spPr>
          <a:xfrm>
            <a:off x="8424621" y="1847088"/>
            <a:ext cx="1117248"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6" name="!!termd-softmax">
            <a:extLst>
              <a:ext uri="{C183D7F6-B498-43B3-948B-1728B52AA6E4}">
                <adec:decorative xmlns:adec="http://schemas.microsoft.com/office/drawing/2017/decorative" val="1"/>
              </a:ext>
            </a:extLst>
          </p:cNvPr>
          <p:cNvSpPr/>
          <p:nvPr/>
        </p:nvSpPr>
        <p:spPr>
          <a:xfrm>
            <a:off x="8552637"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7" name="!!termt-softmax"/>
          <p:cNvSpPr txBox="1"/>
          <p:nvPr/>
        </p:nvSpPr>
        <p:spPr>
          <a:xfrm>
            <a:off x="8717229" y="1970532"/>
            <a:ext cx="934368"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softmax</a:t>
            </a:r>
          </a:p>
        </p:txBody>
      </p:sp>
      <p:sp>
        <p:nvSpPr>
          <p:cNvPr id="28" name="!!term-hidden layer">
            <a:extLst>
              <a:ext uri="{C183D7F6-B498-43B3-948B-1728B52AA6E4}">
                <adec:decorative xmlns:adec="http://schemas.microsoft.com/office/drawing/2017/decorative" val="1"/>
              </a:ext>
            </a:extLst>
          </p:cNvPr>
          <p:cNvSpPr/>
          <p:nvPr/>
        </p:nvSpPr>
        <p:spPr>
          <a:xfrm>
            <a:off x="9688174" y="1847088"/>
            <a:ext cx="1498857"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termd-hidden layer">
            <a:extLst>
              <a:ext uri="{C183D7F6-B498-43B3-948B-1728B52AA6E4}">
                <adec:decorative xmlns:adec="http://schemas.microsoft.com/office/drawing/2017/decorative" val="1"/>
              </a:ext>
            </a:extLst>
          </p:cNvPr>
          <p:cNvSpPr/>
          <p:nvPr/>
        </p:nvSpPr>
        <p:spPr>
          <a:xfrm>
            <a:off x="9816190"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0" name="!!termt-hidden layer"/>
          <p:cNvSpPr txBox="1"/>
          <p:nvPr/>
        </p:nvSpPr>
        <p:spPr>
          <a:xfrm>
            <a:off x="9980782" y="1970532"/>
            <a:ext cx="1315977"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hidden layer</a:t>
            </a:r>
          </a:p>
        </p:txBody>
      </p:sp>
      <p:sp>
        <p:nvSpPr>
          <p:cNvPr id="31" name="!!term-forward pass">
            <a:extLst>
              <a:ext uri="{C183D7F6-B498-43B3-948B-1728B52AA6E4}">
                <adec:decorative xmlns:adec="http://schemas.microsoft.com/office/drawing/2017/decorative" val="1"/>
              </a:ext>
            </a:extLst>
          </p:cNvPr>
          <p:cNvSpPr/>
          <p:nvPr/>
        </p:nvSpPr>
        <p:spPr>
          <a:xfrm>
            <a:off x="658368" y="2468880"/>
            <a:ext cx="1533891"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2" name="!!termd-forward pass">
            <a:extLst>
              <a:ext uri="{C183D7F6-B498-43B3-948B-1728B52AA6E4}">
                <adec:decorative xmlns:adec="http://schemas.microsoft.com/office/drawing/2017/decorative" val="1"/>
              </a:ext>
            </a:extLst>
          </p:cNvPr>
          <p:cNvSpPr/>
          <p:nvPr/>
        </p:nvSpPr>
        <p:spPr>
          <a:xfrm>
            <a:off x="786384"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3" name="!!termt-forward pass"/>
          <p:cNvSpPr txBox="1"/>
          <p:nvPr/>
        </p:nvSpPr>
        <p:spPr>
          <a:xfrm>
            <a:off x="950976" y="2592324"/>
            <a:ext cx="1351011"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forward pass</a:t>
            </a:r>
          </a:p>
        </p:txBody>
      </p:sp>
      <p:sp>
        <p:nvSpPr>
          <p:cNvPr id="34" name="!!term-loss">
            <a:extLst>
              <a:ext uri="{C183D7F6-B498-43B3-948B-1728B52AA6E4}">
                <adec:decorative xmlns:adec="http://schemas.microsoft.com/office/drawing/2017/decorative" val="1"/>
              </a:ext>
            </a:extLst>
          </p:cNvPr>
          <p:cNvSpPr/>
          <p:nvPr/>
        </p:nvSpPr>
        <p:spPr>
          <a:xfrm>
            <a:off x="2338563" y="2468880"/>
            <a:ext cx="764575"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5" name="!!termd-loss">
            <a:extLst>
              <a:ext uri="{C183D7F6-B498-43B3-948B-1728B52AA6E4}">
                <adec:decorative xmlns:adec="http://schemas.microsoft.com/office/drawing/2017/decorative" val="1"/>
              </a:ext>
            </a:extLst>
          </p:cNvPr>
          <p:cNvSpPr/>
          <p:nvPr/>
        </p:nvSpPr>
        <p:spPr>
          <a:xfrm>
            <a:off x="2466579"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6" name="!!termt-loss"/>
          <p:cNvSpPr txBox="1"/>
          <p:nvPr/>
        </p:nvSpPr>
        <p:spPr>
          <a:xfrm>
            <a:off x="2631171" y="2592324"/>
            <a:ext cx="581695"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loss</a:t>
            </a:r>
          </a:p>
        </p:txBody>
      </p:sp>
      <p:sp>
        <p:nvSpPr>
          <p:cNvPr id="37" name="!!term-backpropagatio">
            <a:extLst>
              <a:ext uri="{C183D7F6-B498-43B3-948B-1728B52AA6E4}">
                <adec:decorative xmlns:adec="http://schemas.microsoft.com/office/drawing/2017/decorative" val="1"/>
              </a:ext>
            </a:extLst>
          </p:cNvPr>
          <p:cNvSpPr/>
          <p:nvPr/>
        </p:nvSpPr>
        <p:spPr>
          <a:xfrm>
            <a:off x="3249442" y="2468880"/>
            <a:ext cx="1897284"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8" name="!!termd-backpropagatio">
            <a:extLst>
              <a:ext uri="{C183D7F6-B498-43B3-948B-1728B52AA6E4}">
                <adec:decorative xmlns:adec="http://schemas.microsoft.com/office/drawing/2017/decorative" val="1"/>
              </a:ext>
            </a:extLst>
          </p:cNvPr>
          <p:cNvSpPr/>
          <p:nvPr/>
        </p:nvSpPr>
        <p:spPr>
          <a:xfrm>
            <a:off x="3377458"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9" name="!!termt-backpropagatio"/>
          <p:cNvSpPr txBox="1"/>
          <p:nvPr/>
        </p:nvSpPr>
        <p:spPr>
          <a:xfrm>
            <a:off x="3542050" y="2592324"/>
            <a:ext cx="1714404"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backpropagation</a:t>
            </a:r>
          </a:p>
        </p:txBody>
      </p:sp>
      <p:sp>
        <p:nvSpPr>
          <p:cNvPr id="40" name="!!term-epoch">
            <a:extLst>
              <a:ext uri="{C183D7F6-B498-43B3-948B-1728B52AA6E4}">
                <adec:decorative xmlns:adec="http://schemas.microsoft.com/office/drawing/2017/decorative" val="1"/>
              </a:ext>
            </a:extLst>
          </p:cNvPr>
          <p:cNvSpPr/>
          <p:nvPr/>
        </p:nvSpPr>
        <p:spPr>
          <a:xfrm>
            <a:off x="5293031" y="2468880"/>
            <a:ext cx="968406"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1" name="!!termd-epoch">
            <a:extLst>
              <a:ext uri="{C183D7F6-B498-43B3-948B-1728B52AA6E4}">
                <adec:decorative xmlns:adec="http://schemas.microsoft.com/office/drawing/2017/decorative" val="1"/>
              </a:ext>
            </a:extLst>
          </p:cNvPr>
          <p:cNvSpPr/>
          <p:nvPr/>
        </p:nvSpPr>
        <p:spPr>
          <a:xfrm>
            <a:off x="5421047"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2" name="!!termt-epoch"/>
          <p:cNvSpPr txBox="1"/>
          <p:nvPr/>
        </p:nvSpPr>
        <p:spPr>
          <a:xfrm>
            <a:off x="5585639" y="2592324"/>
            <a:ext cx="785526"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epoch</a:t>
            </a:r>
          </a:p>
        </p:txBody>
      </p:sp>
      <p:sp>
        <p:nvSpPr>
          <p:cNvPr id="43" name="!!term-batch">
            <a:extLst>
              <a:ext uri="{C183D7F6-B498-43B3-948B-1728B52AA6E4}">
                <adec:decorative xmlns:adec="http://schemas.microsoft.com/office/drawing/2017/decorative" val="1"/>
              </a:ext>
            </a:extLst>
          </p:cNvPr>
          <p:cNvSpPr/>
          <p:nvPr/>
        </p:nvSpPr>
        <p:spPr>
          <a:xfrm>
            <a:off x="6407742" y="2468880"/>
            <a:ext cx="917612"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4" name="!!termd-batch">
            <a:extLst>
              <a:ext uri="{C183D7F6-B498-43B3-948B-1728B52AA6E4}">
                <adec:decorative xmlns:adec="http://schemas.microsoft.com/office/drawing/2017/decorative" val="1"/>
              </a:ext>
            </a:extLst>
          </p:cNvPr>
          <p:cNvSpPr/>
          <p:nvPr/>
        </p:nvSpPr>
        <p:spPr>
          <a:xfrm>
            <a:off x="6535758"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5" name="!!termt-batch"/>
          <p:cNvSpPr txBox="1"/>
          <p:nvPr/>
        </p:nvSpPr>
        <p:spPr>
          <a:xfrm>
            <a:off x="6700350" y="2592324"/>
            <a:ext cx="734732"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batch</a:t>
            </a:r>
          </a:p>
        </p:txBody>
      </p:sp>
      <p:sp>
        <p:nvSpPr>
          <p:cNvPr id="46" name="!!term-optimiser">
            <a:extLst>
              <a:ext uri="{C183D7F6-B498-43B3-948B-1728B52AA6E4}">
                <adec:decorative xmlns:adec="http://schemas.microsoft.com/office/drawing/2017/decorative" val="1"/>
              </a:ext>
            </a:extLst>
          </p:cNvPr>
          <p:cNvSpPr/>
          <p:nvPr/>
        </p:nvSpPr>
        <p:spPr>
          <a:xfrm>
            <a:off x="7471659" y="2468880"/>
            <a:ext cx="1245881"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7" name="!!termd-optimiser">
            <a:extLst>
              <a:ext uri="{C183D7F6-B498-43B3-948B-1728B52AA6E4}">
                <adec:decorative xmlns:adec="http://schemas.microsoft.com/office/drawing/2017/decorative" val="1"/>
              </a:ext>
            </a:extLst>
          </p:cNvPr>
          <p:cNvSpPr/>
          <p:nvPr/>
        </p:nvSpPr>
        <p:spPr>
          <a:xfrm>
            <a:off x="7599675"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8" name="!!termt-optimiser"/>
          <p:cNvSpPr txBox="1"/>
          <p:nvPr/>
        </p:nvSpPr>
        <p:spPr>
          <a:xfrm>
            <a:off x="7764267" y="2592324"/>
            <a:ext cx="1063001"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optimiser</a:t>
            </a:r>
          </a:p>
        </p:txBody>
      </p:sp>
      <p:sp>
        <p:nvSpPr>
          <p:cNvPr id="49" name="!!term-vanishing grad">
            <a:extLst>
              <a:ext uri="{C183D7F6-B498-43B3-948B-1728B52AA6E4}">
                <adec:decorative xmlns:adec="http://schemas.microsoft.com/office/drawing/2017/decorative" val="1"/>
              </a:ext>
            </a:extLst>
          </p:cNvPr>
          <p:cNvSpPr/>
          <p:nvPr/>
        </p:nvSpPr>
        <p:spPr>
          <a:xfrm>
            <a:off x="8863844" y="2468880"/>
            <a:ext cx="2024815"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0" name="!!termd-vanishing grad">
            <a:extLst>
              <a:ext uri="{C183D7F6-B498-43B3-948B-1728B52AA6E4}">
                <adec:decorative xmlns:adec="http://schemas.microsoft.com/office/drawing/2017/decorative" val="1"/>
              </a:ext>
            </a:extLst>
          </p:cNvPr>
          <p:cNvSpPr/>
          <p:nvPr/>
        </p:nvSpPr>
        <p:spPr>
          <a:xfrm>
            <a:off x="8991860"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1" name="!!termt-vanishing grad"/>
          <p:cNvSpPr txBox="1"/>
          <p:nvPr/>
        </p:nvSpPr>
        <p:spPr>
          <a:xfrm>
            <a:off x="9156452" y="2592324"/>
            <a:ext cx="1841935"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vanishing gradient</a:t>
            </a:r>
          </a:p>
        </p:txBody>
      </p:sp>
      <p:sp>
        <p:nvSpPr>
          <p:cNvPr id="52" name="!!term-dropout">
            <a:extLst>
              <a:ext uri="{C183D7F6-B498-43B3-948B-1728B52AA6E4}">
                <adec:decorative xmlns:adec="http://schemas.microsoft.com/office/drawing/2017/decorative" val="1"/>
              </a:ext>
            </a:extLst>
          </p:cNvPr>
          <p:cNvSpPr/>
          <p:nvPr/>
        </p:nvSpPr>
        <p:spPr>
          <a:xfrm>
            <a:off x="658368" y="3090672"/>
            <a:ext cx="1138777"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3" name="!!termd-dropout">
            <a:extLst>
              <a:ext uri="{C183D7F6-B498-43B3-948B-1728B52AA6E4}">
                <adec:decorative xmlns:adec="http://schemas.microsoft.com/office/drawing/2017/decorative" val="1"/>
              </a:ext>
            </a:extLst>
          </p:cNvPr>
          <p:cNvSpPr/>
          <p:nvPr/>
        </p:nvSpPr>
        <p:spPr>
          <a:xfrm>
            <a:off x="786384"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4" name="!!termt-dropout"/>
          <p:cNvSpPr txBox="1"/>
          <p:nvPr/>
        </p:nvSpPr>
        <p:spPr>
          <a:xfrm>
            <a:off x="950976" y="3214116"/>
            <a:ext cx="955897"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dropout</a:t>
            </a:r>
          </a:p>
        </p:txBody>
      </p:sp>
      <p:sp>
        <p:nvSpPr>
          <p:cNvPr id="55" name="!!term-early stopping">
            <a:extLst>
              <a:ext uri="{C183D7F6-B498-43B3-948B-1728B52AA6E4}">
                <adec:decorative xmlns:adec="http://schemas.microsoft.com/office/drawing/2017/decorative" val="1"/>
              </a:ext>
            </a:extLst>
          </p:cNvPr>
          <p:cNvSpPr/>
          <p:nvPr/>
        </p:nvSpPr>
        <p:spPr>
          <a:xfrm>
            <a:off x="1943449" y="3090672"/>
            <a:ext cx="1663429"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6" name="!!termd-early stopping">
            <a:extLst>
              <a:ext uri="{C183D7F6-B498-43B3-948B-1728B52AA6E4}">
                <adec:decorative xmlns:adec="http://schemas.microsoft.com/office/drawing/2017/decorative" val="1"/>
              </a:ext>
            </a:extLst>
          </p:cNvPr>
          <p:cNvSpPr/>
          <p:nvPr/>
        </p:nvSpPr>
        <p:spPr>
          <a:xfrm>
            <a:off x="2071465"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7" name="!!termt-early stopping"/>
          <p:cNvSpPr txBox="1"/>
          <p:nvPr/>
        </p:nvSpPr>
        <p:spPr>
          <a:xfrm>
            <a:off x="2236057" y="3214116"/>
            <a:ext cx="1480549"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early stopping</a:t>
            </a:r>
          </a:p>
        </p:txBody>
      </p:sp>
      <p:sp>
        <p:nvSpPr>
          <p:cNvPr id="58" name="!!termnote"/>
          <p:cNvSpPr txBox="1"/>
          <p:nvPr/>
        </p:nvSpPr>
        <p:spPr>
          <a:xfrm>
            <a:off x="658368" y="3913632"/>
            <a:ext cx="10874959" cy="274320"/>
          </a:xfrm>
          <a:prstGeom prst="rect">
            <a:avLst/>
          </a:prstGeom>
          <a:noFill/>
        </p:spPr>
        <p:txBody>
          <a:bodyPr wrap="square" anchor="t" lIns="0" rIns="0" tIns="0" bIns="0">
            <a:noAutofit/>
          </a:bodyPr>
          <a:lstStyle/>
          <a:p>
            <a:pPr algn="l">
              <a:lnSpc>
                <a:spcPct val="100000"/>
              </a:lnSpc>
              <a:spcBef>
                <a:spcPts val="0"/>
              </a:spcBef>
              <a:spcAft>
                <a:spcPts val="0"/>
              </a:spcAft>
            </a:pPr>
            <a:r>
              <a:rPr sz="1350" b="0" i="1">
                <a:solidFill>
                  <a:srgbClr val="5F6F7B"/>
                </a:solidFill>
                <a:latin typeface="Segoe UI"/>
              </a:rPr>
              <a:t>Each term is defined where it first matters — not here.</a:t>
            </a:r>
          </a:p>
        </p:txBody>
      </p:sp>
      <p:sp>
        <p:nvSpPr>
          <p:cNvPr id="5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0" name="!!pfill">
            <a:extLst>
              <a:ext uri="{C183D7F6-B498-43B3-948B-1728B52AA6E4}">
                <adec:decorative xmlns:adec="http://schemas.microsoft.com/office/drawing/2017/decorative" val="1"/>
              </a:ext>
            </a:extLst>
          </p:cNvPr>
          <p:cNvSpPr/>
          <p:nvPr/>
        </p:nvSpPr>
        <p:spPr>
          <a:xfrm>
            <a:off x="0" y="0"/>
            <a:ext cx="1083706"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In this chapter</a:t>
            </a:r>
          </a:p>
        </p:txBody>
      </p:sp>
      <p:pic>
        <p:nvPicPr>
          <p:cNvPr id="3" name="!!kicker-icon" descr="list-ul-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6883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IN THIS CHAPTER</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17  ·  Neural Network Foundations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pp. 109–114     </a:t>
            </a:r>
            <a:fld id="{BE4D3B1D-0D52-4F34-A89C-3170A112CAE2}" type="slidenum">
              <a:rPr lang="en-GB" sz="1000">
                <a:solidFill>
                  <a:srgbClr val="8795A1"/>
                </a:solidFill>
                <a:latin typeface="Segoe UI"/>
              </a:rPr>
              <a:t>5</a:t>
            </a:fld>
          </a:p>
        </p:txBody>
      </p:sp>
      <p:sp>
        <p:nvSpPr>
          <p:cNvPr id="7" name="!!ag0" descr="Go to section 17.1 One Neuron">
            <a:hlinkClick action="ppaction://hlinksldjump" r:id="rId5"/>
          </p:cNvPr>
          <p:cNvSpPr/>
          <p:nvPr/>
        </p:nvSpPr>
        <p:spPr>
          <a:xfrm>
            <a:off x="658368" y="177393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agb0">
            <a:extLst>
              <a:ext uri="{C183D7F6-B498-43B3-948B-1728B52AA6E4}">
                <adec:decorative xmlns:adec="http://schemas.microsoft.com/office/drawing/2017/decorative" val="1"/>
              </a:ext>
            </a:extLst>
          </p:cNvPr>
          <p:cNvSpPr/>
          <p:nvPr/>
        </p:nvSpPr>
        <p:spPr>
          <a:xfrm>
            <a:off x="658368" y="1773936"/>
            <a:ext cx="64008" cy="566928"/>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agn0"/>
          <p:cNvSpPr txBox="1"/>
          <p:nvPr/>
        </p:nvSpPr>
        <p:spPr>
          <a:xfrm>
            <a:off x="932688" y="192024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7A3A95"/>
                </a:solidFill>
                <a:latin typeface="Segoe UI Semibold"/>
              </a:rPr>
              <a:t>17.1</a:t>
            </a:r>
          </a:p>
        </p:txBody>
      </p:sp>
      <p:sp>
        <p:nvSpPr>
          <p:cNvPr id="10" name="!!agt0"/>
          <p:cNvSpPr txBox="1"/>
          <p:nvPr/>
        </p:nvSpPr>
        <p:spPr>
          <a:xfrm>
            <a:off x="1847088" y="192024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One Neuron</a:t>
            </a:r>
          </a:p>
        </p:txBody>
      </p:sp>
      <p:sp>
        <p:nvSpPr>
          <p:cNvPr id="11" name="!!agp0"/>
          <p:cNvSpPr txBox="1"/>
          <p:nvPr/>
        </p:nvSpPr>
        <p:spPr>
          <a:xfrm>
            <a:off x="9795967" y="194767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109  ›</a:t>
            </a:r>
          </a:p>
        </p:txBody>
      </p:sp>
      <p:sp>
        <p:nvSpPr>
          <p:cNvPr id="12" name="!!ag1" descr="Go to section 17.2 Why Non-Linearity Is Not Optional">
            <a:hlinkClick action="ppaction://hlinksldjump" r:id="rId6"/>
          </p:cNvPr>
          <p:cNvSpPr/>
          <p:nvPr/>
        </p:nvSpPr>
        <p:spPr>
          <a:xfrm>
            <a:off x="658368" y="2414015"/>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agb1">
            <a:extLst>
              <a:ext uri="{C183D7F6-B498-43B3-948B-1728B52AA6E4}">
                <adec:decorative xmlns:adec="http://schemas.microsoft.com/office/drawing/2017/decorative" val="1"/>
              </a:ext>
            </a:extLst>
          </p:cNvPr>
          <p:cNvSpPr/>
          <p:nvPr/>
        </p:nvSpPr>
        <p:spPr>
          <a:xfrm>
            <a:off x="658368" y="2414015"/>
            <a:ext cx="64008" cy="566928"/>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agn1"/>
          <p:cNvSpPr txBox="1"/>
          <p:nvPr/>
        </p:nvSpPr>
        <p:spPr>
          <a:xfrm>
            <a:off x="932688" y="256032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7A3A95"/>
                </a:solidFill>
                <a:latin typeface="Segoe UI Semibold"/>
              </a:rPr>
              <a:t>17.2</a:t>
            </a:r>
          </a:p>
        </p:txBody>
      </p:sp>
      <p:sp>
        <p:nvSpPr>
          <p:cNvPr id="15" name="!!agt1"/>
          <p:cNvSpPr txBox="1"/>
          <p:nvPr/>
        </p:nvSpPr>
        <p:spPr>
          <a:xfrm>
            <a:off x="1847088" y="256032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Why Non-Linearity Is Not Optional</a:t>
            </a:r>
          </a:p>
        </p:txBody>
      </p:sp>
      <p:sp>
        <p:nvSpPr>
          <p:cNvPr id="16" name="!!agp1"/>
          <p:cNvSpPr txBox="1"/>
          <p:nvPr/>
        </p:nvSpPr>
        <p:spPr>
          <a:xfrm>
            <a:off x="9795967" y="2587751"/>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110  ›</a:t>
            </a:r>
          </a:p>
        </p:txBody>
      </p:sp>
      <p:sp>
        <p:nvSpPr>
          <p:cNvPr id="17" name="!!ag2" descr="Go to section 17.3 Layers and the Forward Pass">
            <a:hlinkClick action="ppaction://hlinksldjump" r:id="rId7"/>
          </p:cNvPr>
          <p:cNvSpPr/>
          <p:nvPr/>
        </p:nvSpPr>
        <p:spPr>
          <a:xfrm>
            <a:off x="658368" y="305409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agb2">
            <a:extLst>
              <a:ext uri="{C183D7F6-B498-43B3-948B-1728B52AA6E4}">
                <adec:decorative xmlns:adec="http://schemas.microsoft.com/office/drawing/2017/decorative" val="1"/>
              </a:ext>
            </a:extLst>
          </p:cNvPr>
          <p:cNvSpPr/>
          <p:nvPr/>
        </p:nvSpPr>
        <p:spPr>
          <a:xfrm>
            <a:off x="658368" y="3054096"/>
            <a:ext cx="64008" cy="566928"/>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agn2"/>
          <p:cNvSpPr txBox="1"/>
          <p:nvPr/>
        </p:nvSpPr>
        <p:spPr>
          <a:xfrm>
            <a:off x="932688" y="320040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7A3A95"/>
                </a:solidFill>
                <a:latin typeface="Segoe UI Semibold"/>
              </a:rPr>
              <a:t>17.3</a:t>
            </a:r>
          </a:p>
        </p:txBody>
      </p:sp>
      <p:sp>
        <p:nvSpPr>
          <p:cNvPr id="20" name="!!agt2"/>
          <p:cNvSpPr txBox="1"/>
          <p:nvPr/>
        </p:nvSpPr>
        <p:spPr>
          <a:xfrm>
            <a:off x="1847088" y="320040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Layers and the Forward Pass</a:t>
            </a:r>
          </a:p>
        </p:txBody>
      </p:sp>
      <p:sp>
        <p:nvSpPr>
          <p:cNvPr id="21" name="!!agp2"/>
          <p:cNvSpPr txBox="1"/>
          <p:nvPr/>
        </p:nvSpPr>
        <p:spPr>
          <a:xfrm>
            <a:off x="9795967" y="322783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111  ›</a:t>
            </a:r>
          </a:p>
        </p:txBody>
      </p:sp>
      <p:sp>
        <p:nvSpPr>
          <p:cNvPr id="22" name="!!ag3" descr="Go to section 17.4 Training: The Four-Step Cycle">
            <a:hlinkClick action="ppaction://hlinksldjump" r:id="rId8"/>
          </p:cNvPr>
          <p:cNvSpPr/>
          <p:nvPr/>
        </p:nvSpPr>
        <p:spPr>
          <a:xfrm>
            <a:off x="658368" y="369417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agb3">
            <a:extLst>
              <a:ext uri="{C183D7F6-B498-43B3-948B-1728B52AA6E4}">
                <adec:decorative xmlns:adec="http://schemas.microsoft.com/office/drawing/2017/decorative" val="1"/>
              </a:ext>
            </a:extLst>
          </p:cNvPr>
          <p:cNvSpPr/>
          <p:nvPr/>
        </p:nvSpPr>
        <p:spPr>
          <a:xfrm>
            <a:off x="658368" y="3694176"/>
            <a:ext cx="64008" cy="566928"/>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agn3"/>
          <p:cNvSpPr txBox="1"/>
          <p:nvPr/>
        </p:nvSpPr>
        <p:spPr>
          <a:xfrm>
            <a:off x="932688" y="384048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7A3A95"/>
                </a:solidFill>
                <a:latin typeface="Segoe UI Semibold"/>
              </a:rPr>
              <a:t>17.4</a:t>
            </a:r>
          </a:p>
        </p:txBody>
      </p:sp>
      <p:sp>
        <p:nvSpPr>
          <p:cNvPr id="25" name="!!agt3"/>
          <p:cNvSpPr txBox="1"/>
          <p:nvPr/>
        </p:nvSpPr>
        <p:spPr>
          <a:xfrm>
            <a:off x="1847088" y="384048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Training: The Four-Step Cycle</a:t>
            </a:r>
          </a:p>
        </p:txBody>
      </p:sp>
      <p:sp>
        <p:nvSpPr>
          <p:cNvPr id="26" name="!!agp3"/>
          <p:cNvSpPr txBox="1"/>
          <p:nvPr/>
        </p:nvSpPr>
        <p:spPr>
          <a:xfrm>
            <a:off x="9795967" y="386791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111  ›</a:t>
            </a:r>
          </a:p>
        </p:txBody>
      </p:sp>
      <p:sp>
        <p:nvSpPr>
          <p:cNvPr id="27" name="!!ag4" descr="Go to section 17.5 Reading a Training Curve">
            <a:hlinkClick action="ppaction://hlinksldjump" r:id="rId9"/>
          </p:cNvPr>
          <p:cNvSpPr/>
          <p:nvPr/>
        </p:nvSpPr>
        <p:spPr>
          <a:xfrm>
            <a:off x="658368" y="433425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8" name="!!agb4">
            <a:extLst>
              <a:ext uri="{C183D7F6-B498-43B3-948B-1728B52AA6E4}">
                <adec:decorative xmlns:adec="http://schemas.microsoft.com/office/drawing/2017/decorative" val="1"/>
              </a:ext>
            </a:extLst>
          </p:cNvPr>
          <p:cNvSpPr/>
          <p:nvPr/>
        </p:nvSpPr>
        <p:spPr>
          <a:xfrm>
            <a:off x="658368" y="4334256"/>
            <a:ext cx="64008" cy="566928"/>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agn4"/>
          <p:cNvSpPr txBox="1"/>
          <p:nvPr/>
        </p:nvSpPr>
        <p:spPr>
          <a:xfrm>
            <a:off x="932688" y="448056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7A3A95"/>
                </a:solidFill>
                <a:latin typeface="Segoe UI Semibold"/>
              </a:rPr>
              <a:t>17.5</a:t>
            </a:r>
          </a:p>
        </p:txBody>
      </p:sp>
      <p:sp>
        <p:nvSpPr>
          <p:cNvPr id="30" name="!!agt4"/>
          <p:cNvSpPr txBox="1"/>
          <p:nvPr/>
        </p:nvSpPr>
        <p:spPr>
          <a:xfrm>
            <a:off x="1847088" y="448056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Reading a Training Curve</a:t>
            </a:r>
          </a:p>
        </p:txBody>
      </p:sp>
      <p:sp>
        <p:nvSpPr>
          <p:cNvPr id="31" name="!!agp4"/>
          <p:cNvSpPr txBox="1"/>
          <p:nvPr/>
        </p:nvSpPr>
        <p:spPr>
          <a:xfrm>
            <a:off x="9795967" y="450799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112  ›</a:t>
            </a:r>
          </a:p>
        </p:txBody>
      </p:sp>
      <p:sp>
        <p:nvSpPr>
          <p:cNvPr id="3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3" name="!!pfill">
            <a:extLst>
              <a:ext uri="{C183D7F6-B498-43B3-948B-1728B52AA6E4}">
                <adec:decorative xmlns:adec="http://schemas.microsoft.com/office/drawing/2017/decorative" val="1"/>
              </a:ext>
            </a:extLst>
          </p:cNvPr>
          <p:cNvSpPr/>
          <p:nvPr/>
        </p:nvSpPr>
        <p:spPr>
          <a:xfrm>
            <a:off x="0" y="0"/>
            <a:ext cx="1354632"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One Neuron</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D7C4DF"/>
                </a:solidFill>
                <a:latin typeface="Segoe UI"/>
              </a:rPr>
              <a:t>SECTION 1 OF 5</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17.1</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7A3A95"/>
                </a:solidFill>
                <a:latin typeface="Segoe UI"/>
              </a:rPr>
              <a:t>17.1   One Neuron</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17.2   Why Non-Linearity Is Not Optional</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17.3   Layers and the Forward Pass</a:t>
            </a:r>
          </a:p>
        </p:txBody>
      </p:sp>
      <p:sp>
        <p:nvSpPr>
          <p:cNvPr id="9" name="!!dl3"/>
          <p:cNvSpPr txBox="1"/>
          <p:nvPr/>
        </p:nvSpPr>
        <p:spPr>
          <a:xfrm>
            <a:off x="4846320" y="498347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17.4   Training: The Four-Step Cycle</a:t>
            </a:r>
          </a:p>
        </p:txBody>
      </p:sp>
      <p:sp>
        <p:nvSpPr>
          <p:cNvPr id="10" name="!!dl4"/>
          <p:cNvSpPr txBox="1"/>
          <p:nvPr/>
        </p:nvSpPr>
        <p:spPr>
          <a:xfrm>
            <a:off x="4846320" y="525779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17.5   Reading a Training Curve</a:t>
            </a:r>
          </a:p>
        </p:txBody>
      </p:sp>
      <p:sp>
        <p:nvSpPr>
          <p:cNvPr id="11"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17</a:t>
            </a:r>
          </a:p>
        </p:txBody>
      </p:sp>
      <p:sp>
        <p:nvSpPr>
          <p:cNvPr id="12"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§17.1     </a:t>
            </a:r>
            <a:fld id="{A2C2B750-05C9-4E7A-A5A1-84849D7E301B}" type="slidenum">
              <a:rPr lang="en-GB" sz="1000">
                <a:solidFill>
                  <a:srgbClr val="8795A1"/>
                </a:solidFill>
                <a:latin typeface="Segoe UI"/>
              </a:rPr>
              <a:t>6</a:t>
            </a:fld>
          </a:p>
        </p:txBody>
      </p:sp>
      <p:sp>
        <p:nvSpPr>
          <p:cNvPr id="13"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pfill">
            <a:extLst>
              <a:ext uri="{C183D7F6-B498-43B3-948B-1728B52AA6E4}">
                <adec:decorative xmlns:adec="http://schemas.microsoft.com/office/drawing/2017/decorative" val="1"/>
              </a:ext>
            </a:extLst>
          </p:cNvPr>
          <p:cNvSpPr/>
          <p:nvPr/>
        </p:nvSpPr>
        <p:spPr>
          <a:xfrm>
            <a:off x="0" y="0"/>
            <a:ext cx="1625559"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Artificial Neuron</a:t>
            </a:r>
          </a:p>
        </p:txBody>
      </p:sp>
      <p:pic>
        <p:nvPicPr>
          <p:cNvPr id="3" name="!!kicker-icon" descr="book-B35900.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35900"/>
                </a:solidFill>
                <a:latin typeface="Segoe UI"/>
              </a:rPr>
              <a:t>DEFINITION</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17  ·  Neural Network Foundations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§17.1  ·  Handout p. 109     </a:t>
            </a:r>
            <a:fld id="{9B3A6095-5A4B-48B0-BF94-C184F2F3CF2F}" type="slidenum">
              <a:rPr lang="en-GB" sz="1000">
                <a:solidFill>
                  <a:srgbClr val="8795A1"/>
                </a:solidFill>
                <a:latin typeface="Segoe UI"/>
              </a:rPr>
              <a:t>7</a:t>
            </a:fld>
          </a:p>
        </p:txBody>
      </p:sp>
      <p:sp>
        <p:nvSpPr>
          <p:cNvPr id="7" name="!!card">
            <a:extLst>
              <a:ext uri="{C183D7F6-B498-43B3-948B-1728B52AA6E4}">
                <adec:decorative xmlns:adec="http://schemas.microsoft.com/office/drawing/2017/decorative" val="1"/>
              </a:ext>
            </a:extLst>
          </p:cNvPr>
          <p:cNvSpPr/>
          <p:nvPr/>
        </p:nvSpPr>
        <p:spPr>
          <a:xfrm>
            <a:off x="658368" y="1737360"/>
            <a:ext cx="10874959" cy="3056280"/>
          </a:xfrm>
          <a:prstGeom prst="roundRect">
            <a:avLst>
              <a:gd name="adj" fmla="val 2991"/>
            </a:avLst>
          </a:prstGeom>
          <a:solidFill>
            <a:srgbClr val="FDF2E9"/>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3056280"/>
          </a:xfrm>
          <a:prstGeom prst="rect">
            <a:avLst/>
          </a:prstGeom>
          <a:solidFill>
            <a:srgbClr val="B359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774801"/>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A neuron computes a weighted sum of its inputs, adds a </a:t>
            </a:r>
            <a:r>
              <a:rPr sz="2300" b="1" i="0">
                <a:solidFill>
                  <a:srgbClr val="1A5276"/>
                </a:solidFill>
                <a:latin typeface="Segoe UI"/>
              </a:rPr>
              <a:t>bias</a:t>
            </a:r>
            <a:r>
              <a:rPr sz="2300" b="0" i="0">
                <a:solidFill>
                  <a:srgbClr val="1C252B"/>
                </a:solidFill>
                <a:latin typeface="Segoe UI"/>
              </a:rPr>
              <a:t>, and passes the result through an </a:t>
            </a:r>
            <a:r>
              <a:rPr sz="2300" b="1" i="0">
                <a:solidFill>
                  <a:srgbClr val="1A5276"/>
                </a:solidFill>
                <a:latin typeface="Segoe UI"/>
              </a:rPr>
              <a:t>activation function</a:t>
            </a:r>
            <a:r>
              <a:rPr sz="2300" b="0" i="0">
                <a:solidFill>
                  <a:srgbClr val="1C252B"/>
                </a:solidFill>
                <a:latin typeface="Segoe UI"/>
              </a:rPr>
              <a:t>:</a:t>
            </a:r>
          </a:p>
        </p:txBody>
      </p:sp>
      <p:pic>
        <p:nvPicPr>
          <p:cNvPr id="10" name="body-1" descr="z = \sum_{j=1}^{p} w_j x_j + b, \qquad a = f(z)"/>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60704" y="2937992"/>
            <a:ext cx="10161727" cy="1019556"/>
          </a:xfrm>
          <a:prstGeom prst="rect">
            <a:avLst/>
          </a:prstGeom>
        </p:spPr>
      </p:pic>
      <p:sp>
        <p:nvSpPr>
          <p:cNvPr id="11" name="body-2"/>
          <p:cNvSpPr txBox="1"/>
          <p:nvPr/>
        </p:nvSpPr>
        <p:spPr>
          <a:xfrm>
            <a:off x="1060704" y="4118203"/>
            <a:ext cx="10161727" cy="410260"/>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The weights </a:t>
            </a:r>
            <a:r>
              <a:rPr sz="2300" b="0" i="1">
                <a:solidFill>
                  <a:srgbClr val="1C252B"/>
                </a:solidFill>
                <a:latin typeface="Cambria"/>
              </a:rPr>
              <a:t>w</a:t>
            </a:r>
            <a:r>
              <a:rPr sz="2300" b="0" i="1" baseline="-25000">
                <a:solidFill>
                  <a:srgbClr val="1C252B"/>
                </a:solidFill>
                <a:latin typeface="Cambria"/>
              </a:rPr>
              <a:t>j</a:t>
            </a:r>
            <a:r>
              <a:rPr sz="2300" b="0" i="0">
                <a:solidFill>
                  <a:srgbClr val="1C252B"/>
                </a:solidFill>
                <a:latin typeface="Segoe UI"/>
              </a:rPr>
              <a:t> and bias </a:t>
            </a:r>
            <a:r>
              <a:rPr sz="2300" b="0" i="1">
                <a:solidFill>
                  <a:srgbClr val="1C252B"/>
                </a:solidFill>
                <a:latin typeface="Cambria"/>
              </a:rPr>
              <a:t>b</a:t>
            </a:r>
            <a:r>
              <a:rPr sz="2300" b="0" i="0">
                <a:solidFill>
                  <a:srgbClr val="1C252B"/>
                </a:solidFill>
                <a:latin typeface="Segoe UI"/>
              </a:rPr>
              <a:t> are learned; the activation </a:t>
            </a:r>
            <a:r>
              <a:rPr sz="2300" b="0" i="1">
                <a:solidFill>
                  <a:srgbClr val="1C252B"/>
                </a:solidFill>
                <a:latin typeface="Cambria"/>
              </a:rPr>
              <a:t>f</a:t>
            </a:r>
            <a:r>
              <a:rPr sz="2300" b="0" i="0">
                <a:solidFill>
                  <a:srgbClr val="1C252B"/>
                </a:solidFill>
                <a:latin typeface="Segoe UI"/>
              </a:rPr>
              <a:t> is chosen by you.</a:t>
            </a:r>
          </a:p>
        </p:txBody>
      </p:sp>
      <p:sp>
        <p:nvSpPr>
          <p:cNvPr id="1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pfill">
            <a:extLst>
              <a:ext uri="{C183D7F6-B498-43B3-948B-1728B52AA6E4}">
                <adec:decorative xmlns:adec="http://schemas.microsoft.com/office/drawing/2017/decorative" val="1"/>
              </a:ext>
            </a:extLst>
          </p:cNvPr>
          <p:cNvSpPr/>
          <p:nvPr/>
        </p:nvSpPr>
        <p:spPr>
          <a:xfrm>
            <a:off x="0" y="0"/>
            <a:ext cx="1896485"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A single neuron</a:t>
            </a:r>
          </a:p>
        </p:txBody>
      </p:sp>
      <p:sp>
        <p:nvSpPr>
          <p:cNvPr id="3" name="!!kicker"/>
          <p:cNvSpPr txBox="1"/>
          <p:nvPr/>
        </p:nvSpPr>
        <p:spPr>
          <a:xfrm>
            <a:off x="658368" y="402336"/>
            <a:ext cx="10874959"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7A3A95"/>
                </a:solidFill>
                <a:latin typeface="Segoe UI"/>
              </a:rPr>
              <a:t>FIGURE 17.1</a:t>
            </a:r>
          </a:p>
        </p:txBody>
      </p:sp>
      <p:sp>
        <p:nvSpPr>
          <p:cNvPr id="4"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17  ·  Neural Network Foundations</a:t>
            </a:r>
          </a:p>
        </p:txBody>
      </p:sp>
      <p:sp>
        <p:nvSpPr>
          <p:cNvPr id="5"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§17.1  ·  Handout p. 109     </a:t>
            </a:r>
            <a:fld id="{1BB08040-E60F-43D0-B395-C66F66FC0CF6}" type="slidenum">
              <a:rPr lang="en-GB" sz="1000">
                <a:solidFill>
                  <a:srgbClr val="8795A1"/>
                </a:solidFill>
                <a:latin typeface="Segoe UI"/>
              </a:rPr>
              <a:t>8</a:t>
            </a:fld>
          </a:p>
        </p:txBody>
      </p:sp>
      <p:pic>
        <p:nvPicPr>
          <p:cNvPr id="6" name="!!figure" descr="Figure 17.1. A single neuron. The summation is a linear model; the activation is what makes depth worthwhile. A neuron with a sigmoid activation is logistic regression (Chapter 13)."/>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793476"/>
            <a:ext cx="10874959" cy="3419838"/>
          </a:xfrm>
          <a:prstGeom prst="rect">
            <a:avLst/>
          </a:prstGeom>
        </p:spPr>
      </p:pic>
      <p:sp>
        <p:nvSpPr>
          <p:cNvPr id="7" name="!!takebar">
            <a:extLst>
              <a:ext uri="{C183D7F6-B498-43B3-948B-1728B52AA6E4}">
                <adec:decorative xmlns:adec="http://schemas.microsoft.com/office/drawing/2017/decorative" val="1"/>
              </a:ext>
            </a:extLst>
          </p:cNvPr>
          <p:cNvSpPr/>
          <p:nvPr/>
        </p:nvSpPr>
        <p:spPr>
          <a:xfrm>
            <a:off x="658368" y="5660745"/>
            <a:ext cx="54864" cy="575462"/>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ake"/>
          <p:cNvSpPr txBox="1"/>
          <p:nvPr/>
        </p:nvSpPr>
        <p:spPr>
          <a:xfrm>
            <a:off x="877824" y="5642457"/>
            <a:ext cx="10600639" cy="758342"/>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3E4C57"/>
                </a:solidFill>
                <a:latin typeface="Segoe UI"/>
              </a:rPr>
              <a:t>The summation is a linear model; the activation is what makes depth worthwhile. A neuron with a sigmoid activation is logistic regression (Chapter 13).</a:t>
            </a:r>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2167412"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One Neuron, by Hand</a:t>
            </a:r>
          </a:p>
        </p:txBody>
      </p:sp>
      <p:pic>
        <p:nvPicPr>
          <p:cNvPr id="3" name="!!kicker-icon" descr="calculator-B7950B.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7950B"/>
                </a:solidFill>
                <a:latin typeface="Segoe UI"/>
              </a:rPr>
              <a:t>WORKED 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17  ·  Neural Network Foundations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§17.1  ·  Handout p. 109     </a:t>
            </a:r>
            <a:fld id="{43EB4737-31F9-4BF9-A197-3A91CEFF9BBB}" type="slidenum">
              <a:rPr lang="en-GB" sz="1000">
                <a:solidFill>
                  <a:srgbClr val="8795A1"/>
                </a:solidFill>
                <a:latin typeface="Segoe UI"/>
              </a:rPr>
              <a:t>9</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403110"/>
          </a:xfrm>
          <a:prstGeom prst="roundRect">
            <a:avLst>
              <a:gd name="adj" fmla="val 2076"/>
            </a:avLst>
          </a:prstGeom>
          <a:solidFill>
            <a:srgbClr val="FBF8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403110"/>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42416" y="2011679"/>
            <a:ext cx="10234879" cy="648004"/>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Inputs </a:t>
            </a:r>
            <a:r>
              <a:rPr sz="1900" b="0" i="1">
                <a:solidFill>
                  <a:srgbClr val="1C252B"/>
                </a:solidFill>
                <a:latin typeface="Cambria"/>
              </a:rPr>
              <a:t>x</a:t>
            </a:r>
            <a:r>
              <a:rPr sz="1900" b="0" i="0">
                <a:solidFill>
                  <a:srgbClr val="1C252B"/>
                </a:solidFill>
                <a:latin typeface="Cambria"/>
              </a:rPr>
              <a:t> = [0.8, 0.3, 0.5]</a:t>
            </a:r>
            <a:r>
              <a:rPr sz="1900" b="0" i="0">
                <a:solidFill>
                  <a:srgbClr val="1C252B"/>
                </a:solidFill>
                <a:latin typeface="Segoe UI"/>
              </a:rPr>
              <a:t> (scaled attendance, quizzes, forum activity), weights </a:t>
            </a:r>
            <a:r>
              <a:rPr sz="1900" b="0" i="1">
                <a:solidFill>
                  <a:srgbClr val="1C252B"/>
                </a:solidFill>
                <a:latin typeface="Cambria"/>
              </a:rPr>
              <a:t>w</a:t>
            </a:r>
            <a:r>
              <a:rPr sz="1900" b="0" i="0">
                <a:solidFill>
                  <a:srgbClr val="1C252B"/>
                </a:solidFill>
                <a:latin typeface="Cambria"/>
              </a:rPr>
              <a:t> = [1.2, −0.5, 0.9]</a:t>
            </a:r>
            <a:r>
              <a:rPr sz="1900" b="0" i="0">
                <a:solidFill>
                  <a:srgbClr val="1C252B"/>
                </a:solidFill>
                <a:latin typeface="Segoe UI"/>
              </a:rPr>
              <a:t>, bias </a:t>
            </a:r>
            <a:r>
              <a:rPr sz="1900" b="0" i="1">
                <a:solidFill>
                  <a:srgbClr val="1C252B"/>
                </a:solidFill>
                <a:latin typeface="Cambria"/>
              </a:rPr>
              <a:t>b</a:t>
            </a:r>
            <a:r>
              <a:rPr sz="1900" b="0" i="0">
                <a:solidFill>
                  <a:srgbClr val="1C252B"/>
                </a:solidFill>
                <a:latin typeface="Cambria"/>
              </a:rPr>
              <a:t> = −0.4</a:t>
            </a:r>
            <a:r>
              <a:rPr sz="1900" b="0" i="0">
                <a:solidFill>
                  <a:srgbClr val="1C252B"/>
                </a:solidFill>
                <a:latin typeface="Segoe UI"/>
              </a:rPr>
              <a:t>, activation ReLU.</a:t>
            </a:r>
          </a:p>
        </p:txBody>
      </p:sp>
      <p:sp>
        <p:nvSpPr>
          <p:cNvPr id="10" name="body-1"/>
          <p:cNvSpPr txBox="1"/>
          <p:nvPr/>
        </p:nvSpPr>
        <p:spPr>
          <a:xfrm>
            <a:off x="1042416" y="2746679"/>
            <a:ext cx="10234879" cy="346862"/>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Weighted sum:</a:t>
            </a:r>
          </a:p>
        </p:txBody>
      </p:sp>
      <p:pic>
        <p:nvPicPr>
          <p:cNvPr id="11" name="body-2" descr="z = (1.2)(0.8) + (-0.5)(0.3) + (0.9)(0.5) - 0.4 = 0.96 - 0.15 + 0.45 - 0.4 = 0.86"/>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42416" y="3180537"/>
            <a:ext cx="10234879" cy="324520"/>
          </a:xfrm>
          <a:prstGeom prst="rect">
            <a:avLst/>
          </a:prstGeom>
        </p:spPr>
      </p:pic>
      <p:sp>
        <p:nvSpPr>
          <p:cNvPr id="12" name="body-3"/>
          <p:cNvSpPr txBox="1"/>
          <p:nvPr/>
        </p:nvSpPr>
        <p:spPr>
          <a:xfrm>
            <a:off x="1042416" y="3637772"/>
            <a:ext cx="10234879" cy="346862"/>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ReLU:</a:t>
            </a:r>
            <a:r>
              <a:rPr sz="1900" b="0" i="0">
                <a:solidFill>
                  <a:srgbClr val="1C252B"/>
                </a:solidFill>
                <a:latin typeface="Segoe UI"/>
              </a:rPr>
              <a:t> </a:t>
            </a:r>
            <a:r>
              <a:rPr sz="1900" b="0" i="1">
                <a:solidFill>
                  <a:srgbClr val="1C252B"/>
                </a:solidFill>
                <a:latin typeface="Cambria"/>
              </a:rPr>
              <a:t>a</a:t>
            </a:r>
            <a:r>
              <a:rPr sz="1900" b="0" i="0">
                <a:solidFill>
                  <a:srgbClr val="1C252B"/>
                </a:solidFill>
                <a:latin typeface="Cambria"/>
              </a:rPr>
              <a:t> = max(0, 0.86) = </a:t>
            </a:r>
            <a:r>
              <a:rPr sz="1900" b="1" i="0">
                <a:solidFill>
                  <a:srgbClr val="1C252B"/>
                </a:solidFill>
                <a:latin typeface="Cambria"/>
              </a:rPr>
              <a:t>0.86</a:t>
            </a:r>
            <a:r>
              <a:rPr sz="1900" b="0" i="0">
                <a:solidFill>
                  <a:srgbClr val="1C252B"/>
                </a:solidFill>
                <a:latin typeface="Segoe UI"/>
              </a:rPr>
              <a:t>. The neuron fires.</a:t>
            </a:r>
          </a:p>
        </p:txBody>
      </p:sp>
      <p:sp>
        <p:nvSpPr>
          <p:cNvPr id="13" name="body-3bar">
            <a:extLst>
              <a:ext uri="{C183D7F6-B498-43B3-948B-1728B52AA6E4}">
                <adec:decorative xmlns:adec="http://schemas.microsoft.com/office/drawing/2017/decorative" val="1"/>
              </a:ext>
            </a:extLst>
          </p:cNvPr>
          <p:cNvSpPr/>
          <p:nvPr/>
        </p:nvSpPr>
        <p:spPr>
          <a:xfrm>
            <a:off x="841248" y="3656060"/>
            <a:ext cx="54864" cy="28285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body-4"/>
          <p:cNvSpPr txBox="1"/>
          <p:nvPr/>
        </p:nvSpPr>
        <p:spPr>
          <a:xfrm>
            <a:off x="1042416" y="4071630"/>
            <a:ext cx="10234879" cy="346862"/>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Now change the input</a:t>
            </a:r>
            <a:r>
              <a:rPr sz="1900" b="0" i="0">
                <a:solidFill>
                  <a:srgbClr val="1C252B"/>
                </a:solidFill>
                <a:latin typeface="Segoe UI"/>
              </a:rPr>
              <a:t> to </a:t>
            </a:r>
            <a:r>
              <a:rPr sz="1900" b="0" i="1">
                <a:solidFill>
                  <a:srgbClr val="1C252B"/>
                </a:solidFill>
                <a:latin typeface="Cambria"/>
              </a:rPr>
              <a:t>x</a:t>
            </a:r>
            <a:r>
              <a:rPr sz="1900" b="0" i="0">
                <a:solidFill>
                  <a:srgbClr val="1C252B"/>
                </a:solidFill>
                <a:latin typeface="Cambria"/>
              </a:rPr>
              <a:t> = [0.2, 0.9, 0.1]</a:t>
            </a:r>
            <a:r>
              <a:rPr sz="1900" b="0" i="0">
                <a:solidFill>
                  <a:srgbClr val="1C252B"/>
                </a:solidFill>
                <a:latin typeface="Segoe UI"/>
              </a:rPr>
              <a:t>:</a:t>
            </a:r>
          </a:p>
        </p:txBody>
      </p:sp>
      <p:sp>
        <p:nvSpPr>
          <p:cNvPr id="15" name="body-4bar">
            <a:extLst>
              <a:ext uri="{C183D7F6-B498-43B3-948B-1728B52AA6E4}">
                <adec:decorative xmlns:adec="http://schemas.microsoft.com/office/drawing/2017/decorative" val="1"/>
              </a:ext>
            </a:extLst>
          </p:cNvPr>
          <p:cNvSpPr/>
          <p:nvPr/>
        </p:nvSpPr>
        <p:spPr>
          <a:xfrm>
            <a:off x="841248" y="4089918"/>
            <a:ext cx="54864" cy="28285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6" name="body-5" descr="z = 0.24 - 0.45 + 0.09 - 0.4 = -0.52, \qquad a = \max(0, -0.52) = \mathbf{0}"/>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042416" y="4505487"/>
            <a:ext cx="10234879" cy="324520"/>
          </a:xfrm>
          <a:prstGeom prst="rect">
            <a:avLst/>
          </a:prstGeom>
        </p:spPr>
      </p:pic>
      <p:sp>
        <p:nvSpPr>
          <p:cNvPr id="17" name="body-6"/>
          <p:cNvSpPr txBox="1"/>
          <p:nvPr/>
        </p:nvSpPr>
        <p:spPr>
          <a:xfrm>
            <a:off x="1042416" y="4962723"/>
            <a:ext cx="10234879" cy="949147"/>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The neuron is silent. This on/off behaviour is what lets a layer of neurons carve the input space into regions — and it is why ReLU produces </a:t>
            </a:r>
            <a:r>
              <a:rPr sz="1900" b="0" i="1">
                <a:solidFill>
                  <a:srgbClr val="1C252B"/>
                </a:solidFill>
                <a:latin typeface="Segoe UI"/>
              </a:rPr>
              <a:t>sparse</a:t>
            </a:r>
            <a:r>
              <a:rPr sz="1900" b="0" i="0">
                <a:solidFill>
                  <a:srgbClr val="1C252B"/>
                </a:solidFill>
                <a:latin typeface="Segoe UI"/>
              </a:rPr>
              <a:t> activations, with most neurons quiet for any given input.</a:t>
            </a:r>
          </a:p>
        </p:txBody>
      </p:sp>
      <p:sp>
        <p:nvSpPr>
          <p:cNvPr id="4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1" name="!!pfill">
            <a:extLst>
              <a:ext uri="{C183D7F6-B498-43B3-948B-1728B52AA6E4}">
                <adec:decorative xmlns:adec="http://schemas.microsoft.com/office/drawing/2017/decorative" val="1"/>
              </a:ext>
            </a:extLst>
          </p:cNvPr>
          <p:cNvSpPr/>
          <p:nvPr/>
        </p:nvSpPr>
        <p:spPr>
          <a:xfrm>
            <a:off x="0" y="0"/>
            <a:ext cx="2438339"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wipe(right)">
                                      <p:cBhvr>
                                        <p:cTn id="8" dur="420"/>
                                        <p:tgtEl>
                                          <p:spTgt spid="10"/>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ipe(right)">
                                      <p:cBhvr>
                                        <p:cTn id="13" dur="42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wipe(right)">
                                      <p:cBhvr>
                                        <p:cTn id="18" dur="420"/>
                                        <p:tgtEl>
                                          <p:spTgt spid="13"/>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fade">
                                      <p:cBhvr>
                                        <p:cTn id="21" dur="420"/>
                                        <p:tgtEl>
                                          <p:spTgt spid="12"/>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wipe(right)">
                                      <p:cBhvr>
                                        <p:cTn id="26" dur="420"/>
                                        <p:tgtEl>
                                          <p:spTgt spid="15"/>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4"/>
                                        </p:tgtEl>
                                        <p:attrNameLst>
                                          <p:attrName>style.visibility</p:attrName>
                                        </p:attrNameLst>
                                      </p:cBhvr>
                                      <p:to>
                                        <p:strVal val="visible"/>
                                      </p:to>
                                    </p:set>
                                    <p:animEffect transition="in" filter="fade">
                                      <p:cBhvr>
                                        <p:cTn id="29" dur="420"/>
                                        <p:tgtEl>
                                          <p:spTgt spid="14"/>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grpId="0" nodeType="clickEffect">
                                  <p:stCondLst>
                                    <p:cond delay="0"/>
                                  </p:stCondLst>
                                  <p:childTnLst>
                                    <p:set>
                                      <p:cBhvr>
                                        <p:cTn id="33" dur="1" fill="hold">
                                          <p:stCondLst>
                                            <p:cond delay="0"/>
                                          </p:stCondLst>
                                        </p:cTn>
                                        <p:tgtEl>
                                          <p:spTgt spid="16"/>
                                        </p:tgtEl>
                                        <p:attrNameLst>
                                          <p:attrName>style.visibility</p:attrName>
                                        </p:attrNameLst>
                                      </p:cBhvr>
                                      <p:to>
                                        <p:strVal val="visible"/>
                                      </p:to>
                                    </p:set>
                                    <p:animEffect transition="in" filter="wipe(right)">
                                      <p:cBhvr>
                                        <p:cTn id="34" dur="420"/>
                                        <p:tgtEl>
                                          <p:spTgt spid="16"/>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grpId="0" nodeType="clickEffect">
                                  <p:stCondLst>
                                    <p:cond delay="0"/>
                                  </p:stCondLst>
                                  <p:childTnLst>
                                    <p:set>
                                      <p:cBhvr>
                                        <p:cTn id="38" dur="1" fill="hold">
                                          <p:stCondLst>
                                            <p:cond delay="0"/>
                                          </p:stCondLst>
                                        </p:cTn>
                                        <p:tgtEl>
                                          <p:spTgt spid="17"/>
                                        </p:tgtEl>
                                        <p:attrNameLst>
                                          <p:attrName>style.visibility</p:attrName>
                                        </p:attrNameLst>
                                      </p:cBhvr>
                                      <p:to>
                                        <p:strVal val="visible"/>
                                      </p:to>
                                    </p:set>
                                    <p:animEffect transition="in" filter="wipe(right)">
                                      <p:cBhvr>
                                        <p:cTn id="39" dur="42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Why Non-Linearity Is Not Optional</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D7C4DF"/>
                </a:solidFill>
                <a:latin typeface="Segoe UI"/>
              </a:rPr>
              <a:t>SECTION 2 OF 5</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17.2</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17.1   One Neuron</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7A3A95"/>
                </a:solidFill>
                <a:latin typeface="Segoe UI"/>
              </a:rPr>
              <a:t>17.2   Why Non-Linearity Is Not Optional</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17.3   Layers and the Forward Pass</a:t>
            </a:r>
          </a:p>
        </p:txBody>
      </p:sp>
      <p:sp>
        <p:nvSpPr>
          <p:cNvPr id="9" name="!!dl3"/>
          <p:cNvSpPr txBox="1"/>
          <p:nvPr/>
        </p:nvSpPr>
        <p:spPr>
          <a:xfrm>
            <a:off x="4846320" y="498347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17.4   Training: The Four-Step Cycle</a:t>
            </a:r>
          </a:p>
        </p:txBody>
      </p:sp>
      <p:sp>
        <p:nvSpPr>
          <p:cNvPr id="10" name="!!dl4"/>
          <p:cNvSpPr txBox="1"/>
          <p:nvPr/>
        </p:nvSpPr>
        <p:spPr>
          <a:xfrm>
            <a:off x="4846320" y="525779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17.5   Reading a Training Curve</a:t>
            </a:r>
          </a:p>
        </p:txBody>
      </p:sp>
      <p:sp>
        <p:nvSpPr>
          <p:cNvPr id="11"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17</a:t>
            </a:r>
          </a:p>
        </p:txBody>
      </p:sp>
      <p:sp>
        <p:nvSpPr>
          <p:cNvPr id="12"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§17.2     </a:t>
            </a:r>
            <a:fld id="{F46A508C-2A4A-4689-80AD-EE1E63CC80A3}" type="slidenum">
              <a:rPr lang="en-GB" sz="1000">
                <a:solidFill>
                  <a:srgbClr val="8795A1"/>
                </a:solidFill>
                <a:latin typeface="Segoe UI"/>
              </a:rPr>
              <a:t>10</a:t>
            </a:fld>
          </a:p>
        </p:txBody>
      </p:sp>
      <p:sp>
        <p:nvSpPr>
          <p:cNvPr id="13"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pfill">
            <a:extLst>
              <a:ext uri="{C183D7F6-B498-43B3-948B-1728B52AA6E4}">
                <adec:decorative xmlns:adec="http://schemas.microsoft.com/office/drawing/2017/decorative" val="1"/>
              </a:ext>
            </a:extLst>
          </p:cNvPr>
          <p:cNvSpPr/>
          <p:nvPr/>
        </p:nvSpPr>
        <p:spPr>
          <a:xfrm>
            <a:off x="0" y="0"/>
            <a:ext cx="2709265"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The Collapse Argument</a:t>
            </a:r>
          </a:p>
        </p:txBody>
      </p:sp>
      <p:pic>
        <p:nvPicPr>
          <p:cNvPr id="3" name="!!kicker-icon" descr="exclamation-triangle-E74C3C.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45688"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E74C3C"/>
                </a:solidFill>
                <a:latin typeface="Segoe UI"/>
              </a:rPr>
              <a:t>WATCH OUT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17  ·  Neural Network Foundations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§17.2  ·  Handout p. 110     </a:t>
            </a:r>
            <a:fld id="{69B2469A-4F78-476C-B060-0738A65FC80A}" type="slidenum">
              <a:rPr lang="en-GB" sz="1000">
                <a:solidFill>
                  <a:srgbClr val="8795A1"/>
                </a:solidFill>
                <a:latin typeface="Segoe UI"/>
              </a:rPr>
              <a:t>11</a:t>
            </a:fld>
          </a:p>
        </p:txBody>
      </p:sp>
      <p:sp>
        <p:nvSpPr>
          <p:cNvPr id="7" name="!!card">
            <a:extLst>
              <a:ext uri="{C183D7F6-B498-43B3-948B-1728B52AA6E4}">
                <adec:decorative xmlns:adec="http://schemas.microsoft.com/office/drawing/2017/decorative" val="1"/>
              </a:ext>
            </a:extLst>
          </p:cNvPr>
          <p:cNvSpPr/>
          <p:nvPr/>
        </p:nvSpPr>
        <p:spPr>
          <a:xfrm>
            <a:off x="658368" y="1737360"/>
            <a:ext cx="10874959" cy="2079955"/>
          </a:xfrm>
          <a:prstGeom prst="roundRect">
            <a:avLst>
              <a:gd name="adj" fmla="val 4396"/>
            </a:avLst>
          </a:prstGeom>
          <a:solidFill>
            <a:srgbClr val="FDED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2079955"/>
          </a:xfrm>
          <a:prstGeom prst="rect">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503883"/>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Stack two linear layers: </a:t>
            </a:r>
            <a:r>
              <a:rPr sz="2300" b="0" i="1">
                <a:solidFill>
                  <a:srgbClr val="1C252B"/>
                </a:solidFill>
                <a:latin typeface="Cambria"/>
              </a:rPr>
              <a:t>y</a:t>
            </a:r>
            <a:r>
              <a:rPr sz="2300" b="0" i="0">
                <a:solidFill>
                  <a:srgbClr val="1C252B"/>
                </a:solidFill>
                <a:latin typeface="Cambria"/>
              </a:rPr>
              <a:t> = </a:t>
            </a:r>
            <a:r>
              <a:rPr sz="2300" b="0" i="1">
                <a:solidFill>
                  <a:srgbClr val="1C252B"/>
                </a:solidFill>
                <a:latin typeface="Cambria"/>
              </a:rPr>
              <a:t>W</a:t>
            </a:r>
            <a:r>
              <a:rPr sz="2300" b="0" i="0" baseline="-25000">
                <a:solidFill>
                  <a:srgbClr val="1C252B"/>
                </a:solidFill>
                <a:latin typeface="Cambria"/>
              </a:rPr>
              <a:t>2</a:t>
            </a:r>
            <a:r>
              <a:rPr sz="2300" b="0" i="0">
                <a:solidFill>
                  <a:srgbClr val="1C252B"/>
                </a:solidFill>
                <a:latin typeface="Cambria"/>
              </a:rPr>
              <a:t>(</a:t>
            </a:r>
            <a:r>
              <a:rPr sz="2300" b="0" i="1">
                <a:solidFill>
                  <a:srgbClr val="1C252B"/>
                </a:solidFill>
                <a:latin typeface="Cambria"/>
              </a:rPr>
              <a:t>W</a:t>
            </a:r>
            <a:r>
              <a:rPr sz="2300" b="0" i="0" baseline="-25000">
                <a:solidFill>
                  <a:srgbClr val="1C252B"/>
                </a:solidFill>
                <a:latin typeface="Cambria"/>
              </a:rPr>
              <a:t>1</a:t>
            </a:r>
            <a:r>
              <a:rPr sz="2300" b="0" i="0">
                <a:solidFill>
                  <a:srgbClr val="1C252B"/>
                </a:solidFill>
                <a:latin typeface="Cambria"/>
              </a:rPr>
              <a:t> </a:t>
            </a:r>
            <a:r>
              <a:rPr sz="2300" b="0" i="1">
                <a:solidFill>
                  <a:srgbClr val="1C252B"/>
                </a:solidFill>
                <a:latin typeface="Cambria"/>
              </a:rPr>
              <a:t>x</a:t>
            </a:r>
            <a:r>
              <a:rPr sz="2300" b="0" i="0">
                <a:solidFill>
                  <a:srgbClr val="1C252B"/>
                </a:solidFill>
                <a:latin typeface="Cambria"/>
              </a:rPr>
              <a:t>) = (</a:t>
            </a:r>
            <a:r>
              <a:rPr sz="2300" b="0" i="1">
                <a:solidFill>
                  <a:srgbClr val="1C252B"/>
                </a:solidFill>
                <a:latin typeface="Cambria"/>
              </a:rPr>
              <a:t>W</a:t>
            </a:r>
            <a:r>
              <a:rPr sz="2300" b="0" i="0" baseline="-25000">
                <a:solidFill>
                  <a:srgbClr val="1C252B"/>
                </a:solidFill>
                <a:latin typeface="Cambria"/>
              </a:rPr>
              <a:t>2</a:t>
            </a:r>
            <a:r>
              <a:rPr sz="2300" b="0" i="0">
                <a:solidFill>
                  <a:srgbClr val="1C252B"/>
                </a:solidFill>
                <a:latin typeface="Cambria"/>
              </a:rPr>
              <a:t> </a:t>
            </a:r>
            <a:r>
              <a:rPr sz="2300" b="0" i="1">
                <a:solidFill>
                  <a:srgbClr val="1C252B"/>
                </a:solidFill>
                <a:latin typeface="Cambria"/>
              </a:rPr>
              <a:t>W</a:t>
            </a:r>
            <a:r>
              <a:rPr sz="2300" b="0" i="0" baseline="-25000">
                <a:solidFill>
                  <a:srgbClr val="1C252B"/>
                </a:solidFill>
                <a:latin typeface="Cambria"/>
              </a:rPr>
              <a:t>1</a:t>
            </a:r>
            <a:r>
              <a:rPr sz="2300" b="0" i="0">
                <a:solidFill>
                  <a:srgbClr val="1C252B"/>
                </a:solidFill>
                <a:latin typeface="Cambria"/>
              </a:rPr>
              <a:t>)</a:t>
            </a:r>
            <a:r>
              <a:rPr sz="2300" b="0" i="1">
                <a:solidFill>
                  <a:srgbClr val="1C252B"/>
                </a:solidFill>
                <a:latin typeface="Cambria"/>
              </a:rPr>
              <a:t>x</a:t>
            </a:r>
            <a:r>
              <a:rPr sz="2300" b="0" i="0">
                <a:solidFill>
                  <a:srgbClr val="1C252B"/>
                </a:solidFill>
                <a:latin typeface="Cambria"/>
              </a:rPr>
              <a:t> = </a:t>
            </a:r>
            <a:r>
              <a:rPr sz="2300" b="0" i="1">
                <a:solidFill>
                  <a:srgbClr val="1C252B"/>
                </a:solidFill>
                <a:latin typeface="Cambria"/>
              </a:rPr>
              <a:t>W</a:t>
            </a:r>
            <a:r>
              <a:rPr sz="2300" b="0" i="0">
                <a:solidFill>
                  <a:srgbClr val="1C252B"/>
                </a:solidFill>
                <a:latin typeface="Cambria"/>
              </a:rPr>
              <a:t> </a:t>
            </a:r>
            <a:r>
              <a:rPr sz="2300" b="0" i="1">
                <a:solidFill>
                  <a:srgbClr val="1C252B"/>
                </a:solidFill>
                <a:latin typeface="Cambria"/>
              </a:rPr>
              <a:t>x</a:t>
            </a:r>
            <a:r>
              <a:rPr sz="2300" b="0" i="0">
                <a:solidFill>
                  <a:srgbClr val="1C252B"/>
                </a:solidFill>
                <a:latin typeface="Segoe UI"/>
              </a:rPr>
              <a:t>. The product of two matrices is a matrix, so a hundred stacked linear layers compute exactly what one linear layer computes. Without a non-linear activation between layers, depth buys literally nothing. This single fact is why activation functions exist.</a:t>
            </a:r>
          </a:p>
        </p:txBody>
      </p:sp>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2980192"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Four activation functions</a:t>
            </a:r>
          </a:p>
        </p:txBody>
      </p:sp>
      <p:sp>
        <p:nvSpPr>
          <p:cNvPr id="3" name="!!kicker"/>
          <p:cNvSpPr txBox="1"/>
          <p:nvPr/>
        </p:nvSpPr>
        <p:spPr>
          <a:xfrm>
            <a:off x="658368" y="402336"/>
            <a:ext cx="10874959"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7A3A95"/>
                </a:solidFill>
                <a:latin typeface="Segoe UI"/>
              </a:rPr>
              <a:t>FIGURE 17.2</a:t>
            </a:r>
          </a:p>
        </p:txBody>
      </p:sp>
      <p:sp>
        <p:nvSpPr>
          <p:cNvPr id="4"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17  ·  Neural Network Foundations</a:t>
            </a:r>
          </a:p>
        </p:txBody>
      </p:sp>
      <p:sp>
        <p:nvSpPr>
          <p:cNvPr id="5"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§17.2  ·  Handout p. 110     </a:t>
            </a:r>
            <a:fld id="{10545831-571D-42C4-9FA6-DBF5AC90E07B}" type="slidenum">
              <a:rPr lang="en-GB" sz="1000">
                <a:solidFill>
                  <a:srgbClr val="8795A1"/>
                </a:solidFill>
                <a:latin typeface="Segoe UI"/>
              </a:rPr>
              <a:t>12</a:t>
            </a:fld>
          </a:p>
        </p:txBody>
      </p:sp>
      <p:pic>
        <p:nvPicPr>
          <p:cNvPr id="6" name="!!figure" descr="Figure 17.2. Four activation functions. ReLU is the default for hidden layers because it is cheap and its gradient does not vanish for positive inputs; sigmoid and tanh saturate, which stalls learning in deep networks."/>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982215"/>
            <a:ext cx="10874959" cy="2341331"/>
          </a:xfrm>
          <a:prstGeom prst="rect">
            <a:avLst/>
          </a:prstGeom>
        </p:spPr>
      </p:pic>
      <p:sp>
        <p:nvSpPr>
          <p:cNvPr id="7" name="!!takebar">
            <a:extLst>
              <a:ext uri="{C183D7F6-B498-43B3-948B-1728B52AA6E4}">
                <adec:decorative xmlns:adec="http://schemas.microsoft.com/office/drawing/2017/decorative" val="1"/>
              </a:ext>
            </a:extLst>
          </p:cNvPr>
          <p:cNvSpPr/>
          <p:nvPr/>
        </p:nvSpPr>
        <p:spPr>
          <a:xfrm>
            <a:off x="658368" y="5660745"/>
            <a:ext cx="54864" cy="575462"/>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ake"/>
          <p:cNvSpPr txBox="1"/>
          <p:nvPr/>
        </p:nvSpPr>
        <p:spPr>
          <a:xfrm>
            <a:off x="877824" y="5642457"/>
            <a:ext cx="10600639" cy="758342"/>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3E4C57"/>
                </a:solidFill>
                <a:latin typeface="Segoe UI"/>
              </a:rPr>
              <a:t>ReLU is the default for hidden layers because it is cheap and its gradient does not vanish for positive inputs; sigmoid and tanh saturate, which stalls learning in deep networks.</a:t>
            </a:r>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3251118"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Why Non-Linearity Is Not Optional</a:t>
            </a:r>
          </a:p>
        </p:txBody>
      </p:sp>
      <p:pic>
        <p:nvPicPr>
          <p:cNvPr id="3" name="!!kicker-icon" descr="table-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5007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AT A GLANCE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17  ·  Neural Network Foundations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§17.2  ·  Handout p. 110     </a:t>
            </a:r>
            <a:fld id="{93FD7C3A-CA09-4E36-BB05-BCE54E2F3A14}" type="slidenum">
              <a:rPr lang="en-GB" sz="1000">
                <a:solidFill>
                  <a:srgbClr val="8795A1"/>
                </a:solidFill>
                <a:latin typeface="Segoe UI"/>
              </a:rPr>
              <a:t>13</a:t>
            </a:fld>
          </a:p>
        </p:txBody>
      </p:sp>
      <p:graphicFrame>
        <p:nvGraphicFramePr>
          <p:cNvPr id="7" name="!!table"/>
          <p:cNvGraphicFramePr>
            <a:graphicFrameLocks noGrp="1"/>
          </p:cNvGraphicFramePr>
          <p:nvPr/>
        </p:nvGraphicFramePr>
        <p:xfrm>
          <a:off x="658368" y="1737360"/>
          <a:ext cx="10874957" cy="2950464"/>
        </p:xfrm>
        <a:graphic>
          <a:graphicData uri="http://schemas.openxmlformats.org/drawingml/2006/table">
            <a:tbl>
              <a:tblPr firstRow="0" bandRow="0" firstCol="0" lastRow="0" lastCol="0" bandCol="0">
                <a:tableStyleId>{2D5ABB26-0587-4C30-8999-92F81FD0307C}</a:tableStyleId>
              </a:tblPr>
              <a:tblGrid>
                <a:gridCol w="1915517"/>
                <a:gridCol w="3466446"/>
                <a:gridCol w="5492994"/>
              </a:tblGrid>
              <a:tr h="405384">
                <a:tc>
                  <a:txBody>
                    <a:bodyPr wrap="square"/>
                    <a:lstStyle/>
                    <a:p>
                      <a:pPr algn="l"/>
                      <a:r>
                        <a:rPr sz="1700" b="1" i="0">
                          <a:solidFill>
                            <a:srgbClr val="1A5276"/>
                          </a:solidFill>
                          <a:latin typeface="Segoe UI"/>
                        </a:rPr>
                        <a:t>Activation</a:t>
                      </a:r>
                      <a:endParaRPr sz="17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l"/>
                      <a:r>
                        <a:rPr sz="1700" b="1" i="0">
                          <a:solidFill>
                            <a:srgbClr val="1A5276"/>
                          </a:solidFill>
                          <a:latin typeface="Segoe UI"/>
                        </a:rPr>
                        <a:t>Where</a:t>
                      </a:r>
                      <a:endParaRPr sz="17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l"/>
                      <a:r>
                        <a:rPr sz="1700" b="1" i="0">
                          <a:solidFill>
                            <a:srgbClr val="1A5276"/>
                          </a:solidFill>
                          <a:latin typeface="Segoe UI"/>
                        </a:rPr>
                        <a:t>Why</a:t>
                      </a:r>
                      <a:endParaRPr sz="17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r>
              <a:tr h="405384">
                <a:tc>
                  <a:txBody>
                    <a:bodyPr wrap="square"/>
                    <a:lstStyle/>
                    <a:p>
                      <a:pPr algn="l"/>
                      <a:r>
                        <a:rPr sz="1700" b="0" i="0">
                          <a:solidFill>
                            <a:srgbClr val="1C252B"/>
                          </a:solidFill>
                          <a:latin typeface="Segoe UI"/>
                        </a:rPr>
                        <a:t>ReLU</a:t>
                      </a:r>
                      <a:endParaRPr sz="17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700" b="0" i="0">
                          <a:solidFill>
                            <a:srgbClr val="1C252B"/>
                          </a:solidFill>
                          <a:latin typeface="Segoe UI"/>
                        </a:rPr>
                        <a:t>Hidden layers (the default)</a:t>
                      </a:r>
                      <a:endParaRPr sz="17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700" b="0" i="0">
                          <a:solidFill>
                            <a:srgbClr val="1C252B"/>
                          </a:solidFill>
                          <a:latin typeface="Segoe UI"/>
                        </a:rPr>
                        <a:t>Cheap; gradient is 1 for </a:t>
                      </a:r>
                      <a:r>
                        <a:rPr sz="1700" b="0" i="1">
                          <a:solidFill>
                            <a:srgbClr val="1C252B"/>
                          </a:solidFill>
                          <a:latin typeface="Cambria"/>
                        </a:rPr>
                        <a:t>z</a:t>
                      </a:r>
                      <a:r>
                        <a:rPr sz="1700" b="0" i="0">
                          <a:solidFill>
                            <a:srgbClr val="1C252B"/>
                          </a:solidFill>
                          <a:latin typeface="Cambria"/>
                        </a:rPr>
                        <a:t>&gt;0</a:t>
                      </a:r>
                      <a:r>
                        <a:rPr sz="1700" b="0" i="0">
                          <a:solidFill>
                            <a:srgbClr val="1C252B"/>
                          </a:solidFill>
                          <a:latin typeface="Segoe UI"/>
                        </a:rPr>
                        <a:t>, so it does not vanish</a:t>
                      </a:r>
                      <a:endParaRPr sz="1700"/>
                    </a:p>
                  </a:txBody>
                  <a:tcPr marL="109728" marR="109728" marT="64008" marB="45720" anchor="t">
                    <a:lnL w="0" cmpd="sng">
                      <a:noFill/>
                    </a:lnL>
                    <a:lnR w="0" cmpd="sng">
                      <a:noFill/>
                    </a:lnR>
                    <a:lnT w="9525" cmpd="sng">
                      <a:noFill/>
                    </a:lnT>
                    <a:lnB w="9525" cmpd="sng">
                      <a:noFill/>
                    </a:lnB>
                    <a:solidFill>
                      <a:srgbClr val="FFFFFF"/>
                    </a:solidFill>
                  </a:tcPr>
                </a:tc>
              </a:tr>
              <a:tr h="664464">
                <a:tc>
                  <a:txBody>
                    <a:bodyPr wrap="square"/>
                    <a:lstStyle/>
                    <a:p>
                      <a:pPr algn="l"/>
                      <a:r>
                        <a:rPr sz="1700" b="0" i="0">
                          <a:solidFill>
                            <a:srgbClr val="1C252B"/>
                          </a:solidFill>
                          <a:latin typeface="Segoe UI"/>
                        </a:rPr>
                        <a:t>Leaky ReLU</a:t>
                      </a:r>
                      <a:endParaRPr sz="17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700" b="0" i="0">
                          <a:solidFill>
                            <a:srgbClr val="1C252B"/>
                          </a:solidFill>
                          <a:latin typeface="Segoe UI"/>
                        </a:rPr>
                        <a:t>Hidden layers, if neurons die</a:t>
                      </a:r>
                      <a:endParaRPr sz="17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700" b="0" i="0">
                          <a:solidFill>
                            <a:srgbClr val="1C252B"/>
                          </a:solidFill>
                          <a:latin typeface="Segoe UI"/>
                        </a:rPr>
                        <a:t>Small negative slope keeps a gradient alive below zero</a:t>
                      </a:r>
                      <a:endParaRPr sz="1700"/>
                    </a:p>
                  </a:txBody>
                  <a:tcPr marL="109728" marR="109728" marT="64008" marB="45720" anchor="t">
                    <a:lnL w="0" cmpd="sng">
                      <a:noFill/>
                    </a:lnL>
                    <a:lnR w="0" cmpd="sng">
                      <a:noFill/>
                    </a:lnR>
                    <a:lnT w="9525" cmpd="sng">
                      <a:noFill/>
                    </a:lnT>
                    <a:lnB w="9525" cmpd="sng">
                      <a:noFill/>
                    </a:lnB>
                    <a:solidFill>
                      <a:srgbClr val="F2F8FC"/>
                    </a:solidFill>
                  </a:tcPr>
                </a:tc>
              </a:tr>
              <a:tr h="664464">
                <a:tc>
                  <a:txBody>
                    <a:bodyPr wrap="square"/>
                    <a:lstStyle/>
                    <a:p>
                      <a:pPr algn="l"/>
                      <a:r>
                        <a:rPr sz="1700" b="0" i="0">
                          <a:solidFill>
                            <a:srgbClr val="1C252B"/>
                          </a:solidFill>
                          <a:latin typeface="Segoe UI"/>
                        </a:rPr>
                        <a:t>Sigmoid</a:t>
                      </a:r>
                      <a:endParaRPr sz="17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700" b="1" i="0">
                          <a:solidFill>
                            <a:srgbClr val="1C252B"/>
                          </a:solidFill>
                          <a:latin typeface="Segoe UI"/>
                        </a:rPr>
                        <a:t>Output only</a:t>
                      </a:r>
                      <a:r>
                        <a:rPr sz="1700" b="0" i="0">
                          <a:solidFill>
                            <a:srgbClr val="1C252B"/>
                          </a:solidFill>
                          <a:latin typeface="Segoe UI"/>
                        </a:rPr>
                        <a:t>, binary classification</a:t>
                      </a:r>
                      <a:endParaRPr sz="17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700" b="0" i="0">
                          <a:solidFill>
                            <a:srgbClr val="1C252B"/>
                          </a:solidFill>
                          <a:latin typeface="Segoe UI"/>
                        </a:rPr>
                        <a:t>Produces a probability in </a:t>
                      </a:r>
                      <a:r>
                        <a:rPr sz="1700" b="0" i="0">
                          <a:solidFill>
                            <a:srgbClr val="1C252B"/>
                          </a:solidFill>
                          <a:latin typeface="Cambria"/>
                        </a:rPr>
                        <a:t>(0,1)</a:t>
                      </a:r>
                      <a:endParaRPr sz="1700"/>
                    </a:p>
                  </a:txBody>
                  <a:tcPr marL="109728" marR="109728" marT="64008" marB="45720" anchor="t">
                    <a:lnL w="0" cmpd="sng">
                      <a:noFill/>
                    </a:lnL>
                    <a:lnR w="0" cmpd="sng">
                      <a:noFill/>
                    </a:lnR>
                    <a:lnT w="9525" cmpd="sng">
                      <a:noFill/>
                    </a:lnT>
                    <a:lnB w="9525" cmpd="sng">
                      <a:noFill/>
                    </a:lnB>
                    <a:solidFill>
                      <a:srgbClr val="FFFFFF"/>
                    </a:solidFill>
                  </a:tcPr>
                </a:tc>
              </a:tr>
              <a:tr h="405384">
                <a:tc>
                  <a:txBody>
                    <a:bodyPr wrap="square"/>
                    <a:lstStyle/>
                    <a:p>
                      <a:pPr algn="l"/>
                      <a:r>
                        <a:rPr sz="1700" b="0" i="0">
                          <a:solidFill>
                            <a:srgbClr val="1C252B"/>
                          </a:solidFill>
                          <a:latin typeface="Segoe UI"/>
                        </a:rPr>
                        <a:t>Softmax</a:t>
                      </a:r>
                      <a:endParaRPr sz="17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700" b="1" i="0">
                          <a:solidFill>
                            <a:srgbClr val="1C252B"/>
                          </a:solidFill>
                          <a:latin typeface="Segoe UI"/>
                        </a:rPr>
                        <a:t>Output only</a:t>
                      </a:r>
                      <a:r>
                        <a:rPr sz="1700" b="0" i="0">
                          <a:solidFill>
                            <a:srgbClr val="1C252B"/>
                          </a:solidFill>
                          <a:latin typeface="Segoe UI"/>
                        </a:rPr>
                        <a:t>, multi-class</a:t>
                      </a:r>
                      <a:endParaRPr sz="17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700" b="0" i="0">
                          <a:solidFill>
                            <a:srgbClr val="1C252B"/>
                          </a:solidFill>
                          <a:latin typeface="Segoe UI"/>
                        </a:rPr>
                        <a:t>Produces probabilities across </a:t>
                      </a:r>
                      <a:r>
                        <a:rPr sz="1700" b="0" i="1">
                          <a:solidFill>
                            <a:srgbClr val="1C252B"/>
                          </a:solidFill>
                          <a:latin typeface="Cambria"/>
                        </a:rPr>
                        <a:t>k</a:t>
                      </a:r>
                      <a:r>
                        <a:rPr sz="1700" b="0" i="0">
                          <a:solidFill>
                            <a:srgbClr val="1C252B"/>
                          </a:solidFill>
                          <a:latin typeface="Segoe UI"/>
                        </a:rPr>
                        <a:t> classes summing to 1</a:t>
                      </a:r>
                      <a:endParaRPr sz="1700"/>
                    </a:p>
                  </a:txBody>
                  <a:tcPr marL="109728" marR="109728" marT="64008" marB="45720" anchor="t">
                    <a:lnL w="0" cmpd="sng">
                      <a:noFill/>
                    </a:lnL>
                    <a:lnR w="0" cmpd="sng">
                      <a:noFill/>
                    </a:lnR>
                    <a:lnT w="9525" cmpd="sng">
                      <a:noFill/>
                    </a:lnT>
                    <a:lnB w="9525" cmpd="sng">
                      <a:noFill/>
                    </a:lnB>
                    <a:solidFill>
                      <a:srgbClr val="F2F8FC"/>
                    </a:solidFill>
                  </a:tcPr>
                </a:tc>
              </a:tr>
              <a:tr h="405384">
                <a:tc>
                  <a:txBody>
                    <a:bodyPr wrap="square"/>
                    <a:lstStyle/>
                    <a:p>
                      <a:pPr algn="l"/>
                      <a:r>
                        <a:rPr sz="1700" b="0" i="0">
                          <a:solidFill>
                            <a:srgbClr val="1C252B"/>
                          </a:solidFill>
                          <a:latin typeface="Segoe UI"/>
                        </a:rPr>
                        <a:t>None (linear)</a:t>
                      </a:r>
                      <a:endParaRPr sz="17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c>
                  <a:txBody>
                    <a:bodyPr wrap="square"/>
                    <a:lstStyle/>
                    <a:p>
                      <a:pPr algn="l"/>
                      <a:r>
                        <a:rPr sz="1700" b="1" i="0">
                          <a:solidFill>
                            <a:srgbClr val="1C252B"/>
                          </a:solidFill>
                          <a:latin typeface="Segoe UI"/>
                        </a:rPr>
                        <a:t>Output only</a:t>
                      </a:r>
                      <a:r>
                        <a:rPr sz="1700" b="0" i="0">
                          <a:solidFill>
                            <a:srgbClr val="1C252B"/>
                          </a:solidFill>
                          <a:latin typeface="Segoe UI"/>
                        </a:rPr>
                        <a:t>, regression</a:t>
                      </a:r>
                      <a:endParaRPr sz="17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c>
                  <a:txBody>
                    <a:bodyPr wrap="square"/>
                    <a:lstStyle/>
                    <a:p>
                      <a:pPr algn="l"/>
                      <a:r>
                        <a:rPr sz="1700" b="0" i="0">
                          <a:solidFill>
                            <a:srgbClr val="1C252B"/>
                          </a:solidFill>
                          <a:latin typeface="Segoe UI"/>
                        </a:rPr>
                        <a:t>The prediction is an unbounded number</a:t>
                      </a:r>
                      <a:endParaRPr sz="17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r>
            </a:tbl>
          </a:graphicData>
        </a:graphic>
      </p:graphicFrame>
      <p:sp>
        <p:nvSpPr>
          <p:cNvPr id="8"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pfill">
            <a:extLst>
              <a:ext uri="{C183D7F6-B498-43B3-948B-1728B52AA6E4}">
                <adec:decorative xmlns:adec="http://schemas.microsoft.com/office/drawing/2017/decorative" val="1"/>
              </a:ext>
            </a:extLst>
          </p:cNvPr>
          <p:cNvSpPr/>
          <p:nvPr/>
        </p:nvSpPr>
        <p:spPr>
          <a:xfrm>
            <a:off x="0" y="0"/>
            <a:ext cx="3522045"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A small feed-forward network</a:t>
            </a:r>
          </a:p>
        </p:txBody>
      </p:sp>
      <p:sp>
        <p:nvSpPr>
          <p:cNvPr id="3" name="!!kicker"/>
          <p:cNvSpPr txBox="1"/>
          <p:nvPr/>
        </p:nvSpPr>
        <p:spPr>
          <a:xfrm>
            <a:off x="658368" y="402336"/>
            <a:ext cx="10874959"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7A3A95"/>
                </a:solidFill>
                <a:latin typeface="Segoe UI"/>
              </a:rPr>
              <a:t>FIGURE 17.3</a:t>
            </a:r>
          </a:p>
        </p:txBody>
      </p:sp>
      <p:sp>
        <p:nvSpPr>
          <p:cNvPr id="4"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17  ·  Neural Network Foundations</a:t>
            </a:r>
          </a:p>
        </p:txBody>
      </p:sp>
      <p:sp>
        <p:nvSpPr>
          <p:cNvPr id="5"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§17.3  ·  Handout p. 111     </a:t>
            </a:r>
            <a:fld id="{273089B2-E50B-490E-8102-CF60DDD11D29}" type="slidenum">
              <a:rPr lang="en-GB" sz="1000">
                <a:solidFill>
                  <a:srgbClr val="8795A1"/>
                </a:solidFill>
                <a:latin typeface="Segoe UI"/>
              </a:rPr>
              <a:t>14</a:t>
            </a:fld>
          </a:p>
        </p:txBody>
      </p:sp>
      <p:pic>
        <p:nvPicPr>
          <p:cNvPr id="6" name="!!figure" descr="Figure 17.3. A small feed-forward network. Data moves right to produce a prediction; error moves left to produce the gradient for every weight. Both directions run on every training batch."/>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026121" y="1737360"/>
            <a:ext cx="8139452" cy="3740505"/>
          </a:xfrm>
          <a:prstGeom prst="rect">
            <a:avLst/>
          </a:prstGeom>
        </p:spPr>
      </p:pic>
      <p:sp>
        <p:nvSpPr>
          <p:cNvPr id="7" name="!!takebar">
            <a:extLst>
              <a:ext uri="{C183D7F6-B498-43B3-948B-1728B52AA6E4}">
                <adec:decorative xmlns:adec="http://schemas.microsoft.com/office/drawing/2017/decorative" val="1"/>
              </a:ext>
            </a:extLst>
          </p:cNvPr>
          <p:cNvSpPr/>
          <p:nvPr/>
        </p:nvSpPr>
        <p:spPr>
          <a:xfrm>
            <a:off x="658368" y="5660745"/>
            <a:ext cx="54864" cy="575462"/>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ake"/>
          <p:cNvSpPr txBox="1"/>
          <p:nvPr/>
        </p:nvSpPr>
        <p:spPr>
          <a:xfrm>
            <a:off x="877824" y="5642457"/>
            <a:ext cx="10600639" cy="758342"/>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3E4C57"/>
                </a:solidFill>
                <a:latin typeface="Segoe UI"/>
              </a:rPr>
              <a:t>Data moves right to produce a prediction; error moves left to produce the gradient for every weight. Both directions run on every training batch.</a:t>
            </a:r>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3792971"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Training: The Four-Step Cycle</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D7C4DF"/>
                </a:solidFill>
                <a:latin typeface="Segoe UI"/>
              </a:rPr>
              <a:t>SECTION 4 OF 5</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17.4</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17.1   One Neuron</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17.2   Why Non-Linearity Is Not Optional</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17.3   Layers and the Forward Pass</a:t>
            </a:r>
          </a:p>
        </p:txBody>
      </p:sp>
      <p:sp>
        <p:nvSpPr>
          <p:cNvPr id="9" name="!!dl3"/>
          <p:cNvSpPr txBox="1"/>
          <p:nvPr/>
        </p:nvSpPr>
        <p:spPr>
          <a:xfrm>
            <a:off x="4846320" y="498347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7A3A95"/>
                </a:solidFill>
                <a:latin typeface="Segoe UI"/>
              </a:rPr>
              <a:t>17.4   Training: The Four-Step Cycle</a:t>
            </a:r>
          </a:p>
        </p:txBody>
      </p:sp>
      <p:sp>
        <p:nvSpPr>
          <p:cNvPr id="10" name="!!dl4"/>
          <p:cNvSpPr txBox="1"/>
          <p:nvPr/>
        </p:nvSpPr>
        <p:spPr>
          <a:xfrm>
            <a:off x="4846320" y="525779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17.5   Reading a Training Curve</a:t>
            </a:r>
          </a:p>
        </p:txBody>
      </p:sp>
      <p:sp>
        <p:nvSpPr>
          <p:cNvPr id="11"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17</a:t>
            </a:r>
          </a:p>
        </p:txBody>
      </p:sp>
      <p:sp>
        <p:nvSpPr>
          <p:cNvPr id="12"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§17.4     </a:t>
            </a:r>
            <a:fld id="{47AECFED-C442-43B5-BF7D-19CEC2A7F9FB}" type="slidenum">
              <a:rPr lang="en-GB" sz="1000">
                <a:solidFill>
                  <a:srgbClr val="8795A1"/>
                </a:solidFill>
                <a:latin typeface="Segoe UI"/>
              </a:rPr>
              <a:t>15</a:t>
            </a:fld>
          </a:p>
        </p:txBody>
      </p:sp>
      <p:sp>
        <p:nvSpPr>
          <p:cNvPr id="13"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pfill">
            <a:extLst>
              <a:ext uri="{C183D7F6-B498-43B3-948B-1728B52AA6E4}">
                <adec:decorative xmlns:adec="http://schemas.microsoft.com/office/drawing/2017/decorative" val="1"/>
              </a:ext>
            </a:extLst>
          </p:cNvPr>
          <p:cNvSpPr/>
          <p:nvPr/>
        </p:nvSpPr>
        <p:spPr>
          <a:xfrm>
            <a:off x="0" y="0"/>
            <a:ext cx="4063898"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The Training Cycle</a:t>
            </a:r>
          </a:p>
        </p:txBody>
      </p:sp>
      <p:pic>
        <p:nvPicPr>
          <p:cNvPr id="3" name="!!kicker-icon" descr="book-B35900.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35900"/>
                </a:solidFill>
                <a:latin typeface="Segoe UI"/>
              </a:rPr>
              <a:t>DEFINITION</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17  ·  Neural Network Foundations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§17.4  ·  Handout p. 111     </a:t>
            </a:r>
            <a:fld id="{B248BA2C-720D-4251-B60C-32CE4F126EE1}" type="slidenum">
              <a:rPr lang="en-GB" sz="1000">
                <a:solidFill>
                  <a:srgbClr val="8795A1"/>
                </a:solidFill>
                <a:latin typeface="Segoe UI"/>
              </a:rPr>
              <a:t>16</a:t>
            </a:fld>
          </a:p>
        </p:txBody>
      </p:sp>
      <p:sp>
        <p:nvSpPr>
          <p:cNvPr id="7" name="!!card">
            <a:extLst>
              <a:ext uri="{C183D7F6-B498-43B3-948B-1728B52AA6E4}">
                <adec:decorative xmlns:adec="http://schemas.microsoft.com/office/drawing/2017/decorative" val="1"/>
              </a:ext>
            </a:extLst>
          </p:cNvPr>
          <p:cNvSpPr/>
          <p:nvPr/>
        </p:nvSpPr>
        <p:spPr>
          <a:xfrm>
            <a:off x="658368" y="1737360"/>
            <a:ext cx="10874959" cy="3640937"/>
          </a:xfrm>
          <a:prstGeom prst="roundRect">
            <a:avLst>
              <a:gd name="adj" fmla="val 2511"/>
            </a:avLst>
          </a:prstGeom>
          <a:solidFill>
            <a:srgbClr val="FDF2E9"/>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3640937"/>
          </a:xfrm>
          <a:prstGeom prst="rect">
            <a:avLst/>
          </a:prstGeom>
          <a:solidFill>
            <a:srgbClr val="B359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2539669"/>
          </a:xfrm>
          <a:prstGeom prst="rect">
            <a:avLst/>
          </a:prstGeom>
          <a:noFill/>
        </p:spPr>
        <p:txBody>
          <a:bodyPr wrap="square" anchor="t" lIns="0" rIns="0" tIns="0" bIns="0">
            <a:noAutofit/>
          </a:bodyPr>
          <a:lstStyle/>
          <a:p>
            <a:pPr algn="l" marL="554820" indent="-554820">
              <a:lnSpc>
                <a:spcPct val="104000"/>
              </a:lnSpc>
              <a:spcBef>
                <a:spcPts val="0"/>
              </a:spcBef>
              <a:spcAft>
                <a:spcPts val="804"/>
              </a:spcAft>
            </a:pPr>
            <a:r>
              <a:rPr sz="2300" b="1">
                <a:solidFill>
                  <a:srgbClr val="8A4500"/>
                </a:solidFill>
                <a:latin typeface="Segoe UI"/>
              </a:rPr>
              <a:t>1.	</a:t>
            </a:r>
            <a:r>
              <a:rPr sz="2300" b="1" i="0">
                <a:solidFill>
                  <a:srgbClr val="8A4500"/>
                </a:solidFill>
                <a:latin typeface="Segoe UI"/>
              </a:rPr>
              <a:t>Forward pass:</a:t>
            </a:r>
            <a:r>
              <a:rPr sz="2300" b="0" i="0">
                <a:solidFill>
                  <a:srgbClr val="1C252B"/>
                </a:solidFill>
                <a:latin typeface="Segoe UI"/>
              </a:rPr>
              <a:t> push a batch through the network to get predictions.</a:t>
            </a:r>
          </a:p>
          <a:p>
            <a:pPr algn="l" marL="554820" indent="-554820">
              <a:lnSpc>
                <a:spcPct val="104000"/>
              </a:lnSpc>
              <a:spcBef>
                <a:spcPts val="0"/>
              </a:spcBef>
              <a:spcAft>
                <a:spcPts val="804"/>
              </a:spcAft>
            </a:pPr>
            <a:r>
              <a:rPr sz="2300" b="1">
                <a:solidFill>
                  <a:srgbClr val="8A4500"/>
                </a:solidFill>
                <a:latin typeface="Segoe UI"/>
              </a:rPr>
              <a:t>2.	</a:t>
            </a:r>
            <a:r>
              <a:rPr sz="2300" b="1" i="0">
                <a:solidFill>
                  <a:srgbClr val="8A4500"/>
                </a:solidFill>
                <a:latin typeface="Segoe UI"/>
              </a:rPr>
              <a:t>Loss:</a:t>
            </a:r>
            <a:r>
              <a:rPr sz="2300" b="0" i="0">
                <a:solidFill>
                  <a:srgbClr val="1C252B"/>
                </a:solidFill>
                <a:latin typeface="Segoe UI"/>
              </a:rPr>
              <a:t> measure how wrong they are (cross-entropy for classification, MSE for regression).</a:t>
            </a:r>
          </a:p>
          <a:p>
            <a:pPr algn="l" marL="554820" indent="-554820">
              <a:lnSpc>
                <a:spcPct val="104000"/>
              </a:lnSpc>
              <a:spcBef>
                <a:spcPts val="0"/>
              </a:spcBef>
              <a:spcAft>
                <a:spcPts val="804"/>
              </a:spcAft>
            </a:pPr>
            <a:r>
              <a:rPr sz="2300" b="1">
                <a:solidFill>
                  <a:srgbClr val="8A4500"/>
                </a:solidFill>
                <a:latin typeface="Segoe UI"/>
              </a:rPr>
              <a:t>3.	</a:t>
            </a:r>
            <a:r>
              <a:rPr sz="2300" b="1" i="0">
                <a:solidFill>
                  <a:srgbClr val="8A4500"/>
                </a:solidFill>
                <a:latin typeface="Segoe UI"/>
              </a:rPr>
              <a:t>Backpropagation:</a:t>
            </a:r>
            <a:r>
              <a:rPr sz="2300" b="0" i="0">
                <a:solidFill>
                  <a:srgbClr val="1C252B"/>
                </a:solidFill>
                <a:latin typeface="Segoe UI"/>
              </a:rPr>
              <a:t> apply the chain rule backwards to get </a:t>
            </a:r>
            <a:r>
              <a:rPr sz="2300" b="0" i="0">
                <a:solidFill>
                  <a:srgbClr val="1C252B"/>
                </a:solidFill>
                <a:latin typeface="Cambria"/>
              </a:rPr>
              <a:t>∂ </a:t>
            </a:r>
            <a:r>
              <a:rPr sz="2300" b="0" i="1">
                <a:solidFill>
                  <a:srgbClr val="1C252B"/>
                </a:solidFill>
                <a:latin typeface="Cambria"/>
              </a:rPr>
              <a:t>L</a:t>
            </a:r>
            <a:r>
              <a:rPr sz="2300" b="0" i="0">
                <a:solidFill>
                  <a:srgbClr val="1C252B"/>
                </a:solidFill>
                <a:latin typeface="Cambria"/>
              </a:rPr>
              <a:t> / ∂ </a:t>
            </a:r>
            <a:r>
              <a:rPr sz="2300" b="0" i="1">
                <a:solidFill>
                  <a:srgbClr val="1C252B"/>
                </a:solidFill>
                <a:latin typeface="Cambria"/>
              </a:rPr>
              <a:t>w</a:t>
            </a:r>
            <a:r>
              <a:rPr sz="2300" b="0" i="0">
                <a:solidFill>
                  <a:srgbClr val="1C252B"/>
                </a:solidFill>
                <a:latin typeface="Segoe UI"/>
              </a:rPr>
              <a:t> for every weight.</a:t>
            </a:r>
          </a:p>
          <a:p>
            <a:pPr algn="l" marL="554820" indent="-554820">
              <a:lnSpc>
                <a:spcPct val="104000"/>
              </a:lnSpc>
              <a:spcBef>
                <a:spcPts val="0"/>
              </a:spcBef>
              <a:spcAft>
                <a:spcPts val="0"/>
              </a:spcAft>
            </a:pPr>
            <a:r>
              <a:rPr sz="2300" b="1">
                <a:solidFill>
                  <a:srgbClr val="8A4500"/>
                </a:solidFill>
                <a:latin typeface="Segoe UI"/>
              </a:rPr>
              <a:t>4.	</a:t>
            </a:r>
            <a:r>
              <a:rPr sz="2300" b="1" i="0">
                <a:solidFill>
                  <a:srgbClr val="8A4500"/>
                </a:solidFill>
                <a:latin typeface="Segoe UI"/>
              </a:rPr>
              <a:t>Update:</a:t>
            </a:r>
            <a:r>
              <a:rPr sz="2300" b="0" i="0">
                <a:solidFill>
                  <a:srgbClr val="1C252B"/>
                </a:solidFill>
                <a:latin typeface="Segoe UI"/>
              </a:rPr>
              <a:t> </a:t>
            </a:r>
            <a:r>
              <a:rPr sz="2300" b="0" i="1">
                <a:solidFill>
                  <a:srgbClr val="1C252B"/>
                </a:solidFill>
                <a:latin typeface="Cambria"/>
              </a:rPr>
              <a:t>w</a:t>
            </a:r>
            <a:r>
              <a:rPr sz="2300" b="0" i="0">
                <a:solidFill>
                  <a:srgbClr val="1C252B"/>
                </a:solidFill>
                <a:latin typeface="Cambria"/>
              </a:rPr>
              <a:t> ← </a:t>
            </a:r>
            <a:r>
              <a:rPr sz="2300" b="0" i="1">
                <a:solidFill>
                  <a:srgbClr val="1C252B"/>
                </a:solidFill>
                <a:latin typeface="Cambria"/>
              </a:rPr>
              <a:t>w</a:t>
            </a:r>
            <a:r>
              <a:rPr sz="2300" b="0" i="0">
                <a:solidFill>
                  <a:srgbClr val="1C252B"/>
                </a:solidFill>
                <a:latin typeface="Cambria"/>
              </a:rPr>
              <a:t> − α ∇ </a:t>
            </a:r>
            <a:r>
              <a:rPr sz="2300" b="0" i="1">
                <a:solidFill>
                  <a:srgbClr val="1C252B"/>
                </a:solidFill>
                <a:latin typeface="Cambria"/>
              </a:rPr>
              <a:t>L</a:t>
            </a:r>
            <a:r>
              <a:rPr sz="2300" b="0" i="0">
                <a:solidFill>
                  <a:srgbClr val="1C252B"/>
                </a:solidFill>
                <a:latin typeface="Segoe UI"/>
              </a:rPr>
              <a:t> — exactly the gradient descent of Chapter 4.</a:t>
            </a:r>
          </a:p>
        </p:txBody>
      </p:sp>
      <p:sp>
        <p:nvSpPr>
          <p:cNvPr id="10" name="body-1"/>
          <p:cNvSpPr txBox="1"/>
          <p:nvPr/>
        </p:nvSpPr>
        <p:spPr>
          <a:xfrm>
            <a:off x="1060704" y="4702860"/>
            <a:ext cx="10161727" cy="410260"/>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Repeat for every batch; one pass over the whole dataset is an </a:t>
            </a:r>
            <a:r>
              <a:rPr sz="2300" b="1" i="0">
                <a:solidFill>
                  <a:srgbClr val="1A5276"/>
                </a:solidFill>
                <a:latin typeface="Segoe UI"/>
              </a:rPr>
              <a:t>epoch</a:t>
            </a:r>
            <a:r>
              <a:rPr sz="2300" b="0" i="0">
                <a:solidFill>
                  <a:srgbClr val="1C252B"/>
                </a:solidFill>
                <a:latin typeface="Segoe UI"/>
              </a:rPr>
              <a:t>.</a:t>
            </a:r>
          </a:p>
        </p:txBody>
      </p:sp>
      <p:sp>
        <p:nvSpPr>
          <p:cNvPr id="2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pfill">
            <a:extLst>
              <a:ext uri="{C183D7F6-B498-43B3-948B-1728B52AA6E4}">
                <adec:decorative xmlns:adec="http://schemas.microsoft.com/office/drawing/2017/decorative" val="1"/>
              </a:ext>
            </a:extLst>
          </p:cNvPr>
          <p:cNvSpPr/>
          <p:nvPr/>
        </p:nvSpPr>
        <p:spPr>
          <a:xfrm>
            <a:off x="0" y="0"/>
            <a:ext cx="4334824"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9">
                                            <p:txEl>
                                              <p:pRg st="0" end="0"/>
                                            </p:txEl>
                                          </p:spTgt>
                                        </p:tgtEl>
                                        <p:attrNameLst>
                                          <p:attrName>style.visibility</p:attrName>
                                        </p:attrNameLst>
                                      </p:cBhvr>
                                      <p:to>
                                        <p:strVal val="visible"/>
                                      </p:to>
                                    </p:set>
                                    <p:animEffect transition="in" filter="fade">
                                      <p:cBhvr>
                                        <p:cTn id="8" dur="380"/>
                                        <p:tgtEl>
                                          <p:spTgt spid="9">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9">
                                            <p:txEl>
                                              <p:pRg st="1" end="1"/>
                                            </p:txEl>
                                          </p:spTgt>
                                        </p:tgtEl>
                                        <p:attrNameLst>
                                          <p:attrName>style.visibility</p:attrName>
                                        </p:attrNameLst>
                                      </p:cBhvr>
                                      <p:to>
                                        <p:strVal val="visible"/>
                                      </p:to>
                                    </p:set>
                                    <p:animEffect transition="in" filter="fade">
                                      <p:cBhvr>
                                        <p:cTn id="13" dur="380"/>
                                        <p:tgtEl>
                                          <p:spTgt spid="9">
                                            <p:txEl>
                                              <p:pRg st="1" end="1"/>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9">
                                            <p:txEl>
                                              <p:pRg st="2" end="2"/>
                                            </p:txEl>
                                          </p:spTgt>
                                        </p:tgtEl>
                                        <p:attrNameLst>
                                          <p:attrName>style.visibility</p:attrName>
                                        </p:attrNameLst>
                                      </p:cBhvr>
                                      <p:to>
                                        <p:strVal val="visible"/>
                                      </p:to>
                                    </p:set>
                                    <p:animEffect transition="in" filter="fade">
                                      <p:cBhvr>
                                        <p:cTn id="18" dur="380"/>
                                        <p:tgtEl>
                                          <p:spTgt spid="9">
                                            <p:txEl>
                                              <p:pRg st="2" end="2"/>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9">
                                            <p:txEl>
                                              <p:pRg st="3" end="3"/>
                                            </p:txEl>
                                          </p:spTgt>
                                        </p:tgtEl>
                                        <p:attrNameLst>
                                          <p:attrName>style.visibility</p:attrName>
                                        </p:attrNameLst>
                                      </p:cBhvr>
                                      <p:to>
                                        <p:strVal val="visible"/>
                                      </p:to>
                                    </p:set>
                                    <p:animEffect transition="in" filter="fade">
                                      <p:cBhvr>
                                        <p:cTn id="23" dur="380"/>
                                        <p:tgtEl>
                                          <p:spTgt spid="9">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bldLst>
  </p:timing>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Backpropagation in One Sentence</a:t>
            </a:r>
          </a:p>
        </p:txBody>
      </p:sp>
      <p:pic>
        <p:nvPicPr>
          <p:cNvPr id="3" name="!!kicker-icon" descr="lightbulb-2E86C1.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52915"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E86C1"/>
                </a:solidFill>
                <a:latin typeface="Segoe UI"/>
              </a:rPr>
              <a:t>CONCEPT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17  ·  Neural Network Foundations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§17.4  ·  Handout p. 111     </a:t>
            </a:r>
            <a:fld id="{7ADB7A3C-4364-4D13-92B6-E9250082EFE4}" type="slidenum">
              <a:rPr lang="en-GB" sz="1000">
                <a:solidFill>
                  <a:srgbClr val="8795A1"/>
                </a:solidFill>
                <a:latin typeface="Segoe UI"/>
              </a:rPr>
              <a:t>17</a:t>
            </a:fld>
          </a:p>
        </p:txBody>
      </p:sp>
      <p:sp>
        <p:nvSpPr>
          <p:cNvPr id="7" name="!!card">
            <a:extLst>
              <a:ext uri="{C183D7F6-B498-43B3-948B-1728B52AA6E4}">
                <adec:decorative xmlns:adec="http://schemas.microsoft.com/office/drawing/2017/decorative" val="1"/>
              </a:ext>
            </a:extLst>
          </p:cNvPr>
          <p:cNvSpPr/>
          <p:nvPr/>
        </p:nvSpPr>
        <p:spPr>
          <a:xfrm>
            <a:off x="658368" y="1737360"/>
            <a:ext cx="10874959" cy="2444496"/>
          </a:xfrm>
          <a:prstGeom prst="roundRect">
            <a:avLst>
              <a:gd name="adj" fmla="val 3740"/>
            </a:avLst>
          </a:prstGeom>
          <a:solidFill>
            <a:srgbClr val="EBF5FB"/>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2444496"/>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868424"/>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Backpropagation is the chain rule from calculus, applied efficiently: it computes how much each weight contributed to the final error by working backwards from the output, reusing the partial results at each layer instead of recomputing them. That efficiency is the entire reason deep networks are trainable at all.</a:t>
            </a:r>
          </a:p>
        </p:txBody>
      </p:sp>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4605751"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Training: The Four-Step Cycle</a:t>
            </a:r>
          </a:p>
        </p:txBody>
      </p:sp>
      <p:pic>
        <p:nvPicPr>
          <p:cNvPr id="3" name="!!kicker-icon" descr="table-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5007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AT A GLANCE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17  ·  Neural Network Foundations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§17.4  ·  Handout p. 111     </a:t>
            </a:r>
            <a:fld id="{A6875E49-3FB9-4F88-884A-4DCBC1403D6A}" type="slidenum">
              <a:rPr lang="en-GB" sz="1000">
                <a:solidFill>
                  <a:srgbClr val="8795A1"/>
                </a:solidFill>
                <a:latin typeface="Segoe UI"/>
              </a:rPr>
              <a:t>18</a:t>
            </a:fld>
          </a:p>
        </p:txBody>
      </p:sp>
      <p:graphicFrame>
        <p:nvGraphicFramePr>
          <p:cNvPr id="7" name="!!table"/>
          <p:cNvGraphicFramePr>
            <a:graphicFrameLocks noGrp="1"/>
          </p:cNvGraphicFramePr>
          <p:nvPr/>
        </p:nvGraphicFramePr>
        <p:xfrm>
          <a:off x="658368" y="1737360"/>
          <a:ext cx="10874958" cy="4340352"/>
        </p:xfrm>
        <a:graphic>
          <a:graphicData uri="http://schemas.openxmlformats.org/drawingml/2006/table">
            <a:tbl>
              <a:tblPr firstRow="0" bandRow="0" firstCol="0" lastRow="0" lastCol="0" bandCol="0">
                <a:tableStyleId>{2D5ABB26-0587-4C30-8999-92F81FD0307C}</a:tableStyleId>
              </a:tblPr>
              <a:tblGrid>
                <a:gridCol w="2603863"/>
                <a:gridCol w="3369705"/>
                <a:gridCol w="4901390"/>
              </a:tblGrid>
              <a:tr h="390144">
                <a:tc>
                  <a:txBody>
                    <a:bodyPr wrap="square"/>
                    <a:lstStyle/>
                    <a:p>
                      <a:pPr algn="l"/>
                      <a:r>
                        <a:rPr sz="1600" b="1" i="0">
                          <a:solidFill>
                            <a:srgbClr val="1A5276"/>
                          </a:solidFill>
                          <a:latin typeface="Segoe UI"/>
                        </a:rPr>
                        <a:t>Hyperparameter</a:t>
                      </a:r>
                      <a:endParaRPr sz="16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l"/>
                      <a:r>
                        <a:rPr sz="1600" b="1" i="0">
                          <a:solidFill>
                            <a:srgbClr val="1A5276"/>
                          </a:solidFill>
                          <a:latin typeface="Segoe UI"/>
                        </a:rPr>
                        <a:t>Typical value</a:t>
                      </a:r>
                      <a:endParaRPr sz="16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l"/>
                      <a:r>
                        <a:rPr sz="1600" b="1" i="0">
                          <a:solidFill>
                            <a:srgbClr val="1A5276"/>
                          </a:solidFill>
                          <a:latin typeface="Segoe UI"/>
                        </a:rPr>
                        <a:t>Effect if wrong</a:t>
                      </a:r>
                      <a:endParaRPr sz="16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r>
              <a:tr h="633984">
                <a:tc>
                  <a:txBody>
                    <a:bodyPr wrap="square"/>
                    <a:lstStyle/>
                    <a:p>
                      <a:pPr algn="l"/>
                      <a:r>
                        <a:rPr sz="1600" b="0" i="0">
                          <a:solidFill>
                            <a:srgbClr val="1C252B"/>
                          </a:solidFill>
                          <a:latin typeface="Segoe UI"/>
                        </a:rPr>
                        <a:t>Learning rate </a:t>
                      </a:r>
                      <a:r>
                        <a:rPr sz="1600" b="0" i="0">
                          <a:solidFill>
                            <a:srgbClr val="1C252B"/>
                          </a:solidFill>
                          <a:latin typeface="Cambria"/>
                        </a:rPr>
                        <a:t>α</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600" b="0" i="0">
                          <a:solidFill>
                            <a:srgbClr val="1C252B"/>
                          </a:solidFill>
                          <a:latin typeface="Segoe UI"/>
                        </a:rPr>
                        <a:t>0.001 (Adam)</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600" b="1" i="0">
                          <a:solidFill>
                            <a:srgbClr val="1C252B"/>
                          </a:solidFill>
                          <a:latin typeface="Segoe UI"/>
                        </a:rPr>
                        <a:t>The one that matters most.</a:t>
                      </a:r>
                      <a:r>
                        <a:rPr sz="1600" b="0" i="0">
                          <a:solidFill>
                            <a:srgbClr val="1C252B"/>
                          </a:solidFill>
                          <a:latin typeface="Segoe UI"/>
                        </a:rPr>
                        <a:t> Too high diverges, too low crawls (Figure 4.3)</a:t>
                      </a:r>
                      <a:endParaRPr sz="1600"/>
                    </a:p>
                  </a:txBody>
                  <a:tcPr marL="109728" marR="109728" marT="64008" marB="45720" anchor="t">
                    <a:lnL w="0" cmpd="sng">
                      <a:noFill/>
                    </a:lnL>
                    <a:lnR w="0" cmpd="sng">
                      <a:noFill/>
                    </a:lnR>
                    <a:lnT w="9525" cmpd="sng">
                      <a:noFill/>
                    </a:lnT>
                    <a:lnB w="9525" cmpd="sng">
                      <a:noFill/>
                    </a:lnB>
                    <a:solidFill>
                      <a:srgbClr val="FFFFFF"/>
                    </a:solidFill>
                  </a:tcPr>
                </a:tc>
              </a:tr>
              <a:tr h="633984">
                <a:tc>
                  <a:txBody>
                    <a:bodyPr wrap="square"/>
                    <a:lstStyle/>
                    <a:p>
                      <a:pPr algn="l"/>
                      <a:r>
                        <a:rPr sz="1600" b="0" i="0">
                          <a:solidFill>
                            <a:srgbClr val="1C252B"/>
                          </a:solidFill>
                          <a:latin typeface="Segoe UI"/>
                        </a:rPr>
                        <a:t>Batch size</a:t>
                      </a:r>
                      <a:endParaRPr sz="1600"/>
                    </a:p>
                  </a:txBody>
                  <a:tcPr marL="109728" marR="109728" marT="64008" marB="45720" anchor="t">
                    <a:lnL w="0" cmpd="sng">
                      <a:noFill/>
                    </a:lnL>
                    <a:lnR w="0" cmpd="sng">
                      <a:noFill/>
                    </a:lnR>
                    <a:lnT w="9525" cmpd="sng">
                      <a:noFill/>
                    </a:lnT>
                    <a:lnB w="9525" cmpd="sng">
                      <a:noFill/>
                    </a:lnB>
                    <a:solidFill>
                      <a:srgbClr val="FEF7F1"/>
                    </a:solidFill>
                  </a:tcPr>
                </a:tc>
                <a:tc>
                  <a:txBody>
                    <a:bodyPr wrap="square"/>
                    <a:lstStyle/>
                    <a:p>
                      <a:pPr algn="l"/>
                      <a:r>
                        <a:rPr sz="1600" b="0" i="0">
                          <a:solidFill>
                            <a:srgbClr val="1C252B"/>
                          </a:solidFill>
                          <a:latin typeface="Segoe UI"/>
                        </a:rPr>
                        <a:t>32–256</a:t>
                      </a:r>
                      <a:endParaRPr sz="1600"/>
                    </a:p>
                  </a:txBody>
                  <a:tcPr marL="109728" marR="109728" marT="64008" marB="45720" anchor="t">
                    <a:lnL w="0" cmpd="sng">
                      <a:noFill/>
                    </a:lnL>
                    <a:lnR w="0" cmpd="sng">
                      <a:noFill/>
                    </a:lnR>
                    <a:lnT w="9525" cmpd="sng">
                      <a:noFill/>
                    </a:lnT>
                    <a:lnB w="9525" cmpd="sng">
                      <a:noFill/>
                    </a:lnB>
                    <a:solidFill>
                      <a:srgbClr val="FEF7F1"/>
                    </a:solidFill>
                  </a:tcPr>
                </a:tc>
                <a:tc>
                  <a:txBody>
                    <a:bodyPr wrap="square"/>
                    <a:lstStyle/>
                    <a:p>
                      <a:pPr algn="l"/>
                      <a:r>
                        <a:rPr sz="1600" b="0" i="0">
                          <a:solidFill>
                            <a:srgbClr val="1C252B"/>
                          </a:solidFill>
                          <a:latin typeface="Segoe UI"/>
                        </a:rPr>
                        <a:t>Small = noisy but often generalises better; large = faster per epoch, needs more memory</a:t>
                      </a:r>
                      <a:endParaRPr sz="1600"/>
                    </a:p>
                  </a:txBody>
                  <a:tcPr marL="109728" marR="109728" marT="64008" marB="45720" anchor="t">
                    <a:lnL w="0" cmpd="sng">
                      <a:noFill/>
                    </a:lnL>
                    <a:lnR w="0" cmpd="sng">
                      <a:noFill/>
                    </a:lnR>
                    <a:lnT w="9525" cmpd="sng">
                      <a:noFill/>
                    </a:lnT>
                    <a:lnB w="9525" cmpd="sng">
                      <a:noFill/>
                    </a:lnB>
                    <a:solidFill>
                      <a:srgbClr val="FEF7F1"/>
                    </a:solidFill>
                  </a:tcPr>
                </a:tc>
              </a:tr>
              <a:tr h="633984">
                <a:tc>
                  <a:txBody>
                    <a:bodyPr wrap="square"/>
                    <a:lstStyle/>
                    <a:p>
                      <a:pPr algn="l"/>
                      <a:r>
                        <a:rPr sz="1600" b="0" i="0">
                          <a:solidFill>
                            <a:srgbClr val="1C252B"/>
                          </a:solidFill>
                          <a:latin typeface="Segoe UI"/>
                        </a:rPr>
                        <a:t>Epochs</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600" b="0" i="0">
                          <a:solidFill>
                            <a:srgbClr val="1C252B"/>
                          </a:solidFill>
                          <a:latin typeface="Segoe UI"/>
                        </a:rPr>
                        <a:t>Until validation loss rises</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600" b="0" i="0">
                          <a:solidFill>
                            <a:srgbClr val="1C252B"/>
                          </a:solidFill>
                          <a:latin typeface="Segoe UI"/>
                        </a:rPr>
                        <a:t>Too few underfits; too many overfits — use early stopping rather than guessing</a:t>
                      </a:r>
                      <a:endParaRPr sz="1600"/>
                    </a:p>
                  </a:txBody>
                  <a:tcPr marL="109728" marR="109728" marT="64008" marB="45720" anchor="t">
                    <a:lnL w="0" cmpd="sng">
                      <a:noFill/>
                    </a:lnL>
                    <a:lnR w="0" cmpd="sng">
                      <a:noFill/>
                    </a:lnR>
                    <a:lnT w="9525" cmpd="sng">
                      <a:noFill/>
                    </a:lnT>
                    <a:lnB w="9525" cmpd="sng">
                      <a:noFill/>
                    </a:lnB>
                    <a:solidFill>
                      <a:srgbClr val="FFFFFF"/>
                    </a:solidFill>
                  </a:tcPr>
                </a:tc>
              </a:tr>
              <a:tr h="633984">
                <a:tc>
                  <a:txBody>
                    <a:bodyPr wrap="square"/>
                    <a:lstStyle/>
                    <a:p>
                      <a:pPr algn="l"/>
                      <a:r>
                        <a:rPr sz="1600" b="0" i="0">
                          <a:solidFill>
                            <a:srgbClr val="1C252B"/>
                          </a:solidFill>
                          <a:latin typeface="Segoe UI"/>
                        </a:rPr>
                        <a:t>Hidden layers</a:t>
                      </a:r>
                      <a:endParaRPr sz="1600"/>
                    </a:p>
                  </a:txBody>
                  <a:tcPr marL="109728" marR="109728" marT="64008" marB="45720" anchor="t">
                    <a:lnL w="0" cmpd="sng">
                      <a:noFill/>
                    </a:lnL>
                    <a:lnR w="0" cmpd="sng">
                      <a:noFill/>
                    </a:lnR>
                    <a:lnT w="9525" cmpd="sng">
                      <a:noFill/>
                    </a:lnT>
                    <a:lnB w="9525" cmpd="sng">
                      <a:noFill/>
                    </a:lnB>
                    <a:solidFill>
                      <a:srgbClr val="FEF7F1"/>
                    </a:solidFill>
                  </a:tcPr>
                </a:tc>
                <a:tc>
                  <a:txBody>
                    <a:bodyPr wrap="square"/>
                    <a:lstStyle/>
                    <a:p>
                      <a:pPr algn="l"/>
                      <a:r>
                        <a:rPr sz="1600" b="0" i="0">
                          <a:solidFill>
                            <a:srgbClr val="1C252B"/>
                          </a:solidFill>
                          <a:latin typeface="Segoe UI"/>
                        </a:rPr>
                        <a:t>1–3 for tabular data</a:t>
                      </a:r>
                      <a:endParaRPr sz="1600"/>
                    </a:p>
                  </a:txBody>
                  <a:tcPr marL="109728" marR="109728" marT="64008" marB="45720" anchor="t">
                    <a:lnL w="0" cmpd="sng">
                      <a:noFill/>
                    </a:lnL>
                    <a:lnR w="0" cmpd="sng">
                      <a:noFill/>
                    </a:lnR>
                    <a:lnT w="9525" cmpd="sng">
                      <a:noFill/>
                    </a:lnT>
                    <a:lnB w="9525" cmpd="sng">
                      <a:noFill/>
                    </a:lnB>
                    <a:solidFill>
                      <a:srgbClr val="FEF7F1"/>
                    </a:solidFill>
                  </a:tcPr>
                </a:tc>
                <a:tc>
                  <a:txBody>
                    <a:bodyPr wrap="square"/>
                    <a:lstStyle/>
                    <a:p>
                      <a:pPr algn="l"/>
                      <a:r>
                        <a:rPr sz="1600" b="0" i="0">
                          <a:solidFill>
                            <a:srgbClr val="1C252B"/>
                          </a:solidFill>
                          <a:latin typeface="Segoe UI"/>
                        </a:rPr>
                        <a:t>More is not better on small data; deep networks need deep data</a:t>
                      </a:r>
                      <a:endParaRPr sz="1600"/>
                    </a:p>
                  </a:txBody>
                  <a:tcPr marL="109728" marR="109728" marT="64008" marB="45720" anchor="t">
                    <a:lnL w="0" cmpd="sng">
                      <a:noFill/>
                    </a:lnL>
                    <a:lnR w="0" cmpd="sng">
                      <a:noFill/>
                    </a:lnR>
                    <a:lnT w="9525" cmpd="sng">
                      <a:noFill/>
                    </a:lnT>
                    <a:lnB w="9525" cmpd="sng">
                      <a:noFill/>
                    </a:lnB>
                    <a:solidFill>
                      <a:srgbClr val="FEF7F1"/>
                    </a:solidFill>
                  </a:tcPr>
                </a:tc>
              </a:tr>
              <a:tr h="390144">
                <a:tc>
                  <a:txBody>
                    <a:bodyPr wrap="square"/>
                    <a:lstStyle/>
                    <a:p>
                      <a:pPr algn="l"/>
                      <a:r>
                        <a:rPr sz="1600" b="0" i="0">
                          <a:solidFill>
                            <a:srgbClr val="1C252B"/>
                          </a:solidFill>
                          <a:latin typeface="Segoe UI"/>
                        </a:rPr>
                        <a:t>Neurons per layer</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600" b="0" i="0">
                          <a:solidFill>
                            <a:srgbClr val="1C252B"/>
                          </a:solidFill>
                          <a:latin typeface="Segoe UI"/>
                        </a:rPr>
                        <a:t>16–256</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600" b="0" i="0">
                          <a:solidFill>
                            <a:srgbClr val="1C252B"/>
                          </a:solidFill>
                          <a:latin typeface="Segoe UI"/>
                        </a:rPr>
                        <a:t>Too few underfits; too many overfits</a:t>
                      </a:r>
                      <a:endParaRPr sz="1600"/>
                    </a:p>
                  </a:txBody>
                  <a:tcPr marL="109728" marR="109728" marT="64008" marB="45720" anchor="t">
                    <a:lnL w="0" cmpd="sng">
                      <a:noFill/>
                    </a:lnL>
                    <a:lnR w="0" cmpd="sng">
                      <a:noFill/>
                    </a:lnR>
                    <a:lnT w="9525" cmpd="sng">
                      <a:noFill/>
                    </a:lnT>
                    <a:lnB w="9525" cmpd="sng">
                      <a:noFill/>
                    </a:lnB>
                    <a:solidFill>
                      <a:srgbClr val="FFFFFF"/>
                    </a:solidFill>
                  </a:tcPr>
                </a:tc>
              </a:tr>
              <a:tr h="633984">
                <a:tc>
                  <a:txBody>
                    <a:bodyPr wrap="square"/>
                    <a:lstStyle/>
                    <a:p>
                      <a:pPr algn="l"/>
                      <a:r>
                        <a:rPr sz="1600" b="0" i="0">
                          <a:solidFill>
                            <a:srgbClr val="1C252B"/>
                          </a:solidFill>
                          <a:latin typeface="Segoe UI"/>
                        </a:rPr>
                        <a:t>Dropout</a:t>
                      </a:r>
                      <a:endParaRPr sz="1600"/>
                    </a:p>
                  </a:txBody>
                  <a:tcPr marL="109728" marR="109728" marT="64008" marB="45720" anchor="t">
                    <a:lnL w="0" cmpd="sng">
                      <a:noFill/>
                    </a:lnL>
                    <a:lnR w="0" cmpd="sng">
                      <a:noFill/>
                    </a:lnR>
                    <a:lnT w="9525" cmpd="sng">
                      <a:noFill/>
                    </a:lnT>
                    <a:lnB w="9525" cmpd="sng">
                      <a:noFill/>
                    </a:lnB>
                    <a:solidFill>
                      <a:srgbClr val="FEF7F1"/>
                    </a:solidFill>
                  </a:tcPr>
                </a:tc>
                <a:tc>
                  <a:txBody>
                    <a:bodyPr wrap="square"/>
                    <a:lstStyle/>
                    <a:p>
                      <a:pPr algn="l"/>
                      <a:r>
                        <a:rPr sz="1600" b="0" i="0">
                          <a:solidFill>
                            <a:srgbClr val="1C252B"/>
                          </a:solidFill>
                          <a:latin typeface="Segoe UI"/>
                        </a:rPr>
                        <a:t>0.2–0.5</a:t>
                      </a:r>
                      <a:endParaRPr sz="1600"/>
                    </a:p>
                  </a:txBody>
                  <a:tcPr marL="109728" marR="109728" marT="64008" marB="45720" anchor="t">
                    <a:lnL w="0" cmpd="sng">
                      <a:noFill/>
                    </a:lnL>
                    <a:lnR w="0" cmpd="sng">
                      <a:noFill/>
                    </a:lnR>
                    <a:lnT w="9525" cmpd="sng">
                      <a:noFill/>
                    </a:lnT>
                    <a:lnB w="9525" cmpd="sng">
                      <a:noFill/>
                    </a:lnB>
                    <a:solidFill>
                      <a:srgbClr val="FEF7F1"/>
                    </a:solidFill>
                  </a:tcPr>
                </a:tc>
                <a:tc>
                  <a:txBody>
                    <a:bodyPr wrap="square"/>
                    <a:lstStyle/>
                    <a:p>
                      <a:pPr algn="l"/>
                      <a:r>
                        <a:rPr sz="1600" b="0" i="0">
                          <a:solidFill>
                            <a:srgbClr val="1C252B"/>
                          </a:solidFill>
                          <a:latin typeface="Segoe UI"/>
                        </a:rPr>
                        <a:t>Randomly silences neurons during training, forcing redundancy</a:t>
                      </a:r>
                      <a:endParaRPr sz="1600"/>
                    </a:p>
                  </a:txBody>
                  <a:tcPr marL="109728" marR="109728" marT="64008" marB="45720" anchor="t">
                    <a:lnL w="0" cmpd="sng">
                      <a:noFill/>
                    </a:lnL>
                    <a:lnR w="0" cmpd="sng">
                      <a:noFill/>
                    </a:lnR>
                    <a:lnT w="9525" cmpd="sng">
                      <a:noFill/>
                    </a:lnT>
                    <a:lnB w="9525" cmpd="sng">
                      <a:noFill/>
                    </a:lnB>
                    <a:solidFill>
                      <a:srgbClr val="FEF7F1"/>
                    </a:solidFill>
                  </a:tcPr>
                </a:tc>
              </a:tr>
              <a:tr h="390144">
                <a:tc>
                  <a:txBody>
                    <a:bodyPr wrap="square"/>
                    <a:lstStyle/>
                    <a:p>
                      <a:pPr algn="l"/>
                      <a:r>
                        <a:rPr sz="1600" b="0" i="0">
                          <a:solidFill>
                            <a:srgbClr val="1C252B"/>
                          </a:solidFill>
                          <a:latin typeface="Segoe UI"/>
                        </a:rPr>
                        <a:t>Optimiser</a:t>
                      </a:r>
                      <a:endParaRPr sz="16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c>
                  <a:txBody>
                    <a:bodyPr wrap="square"/>
                    <a:lstStyle/>
                    <a:p>
                      <a:pPr algn="l"/>
                      <a:r>
                        <a:rPr sz="1600" b="0" i="0">
                          <a:solidFill>
                            <a:srgbClr val="1C252B"/>
                          </a:solidFill>
                          <a:latin typeface="Segoe UI"/>
                        </a:rPr>
                        <a:t>Adam</a:t>
                      </a:r>
                      <a:endParaRPr sz="16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c>
                  <a:txBody>
                    <a:bodyPr wrap="square"/>
                    <a:lstStyle/>
                    <a:p>
                      <a:pPr algn="l"/>
                      <a:r>
                        <a:rPr sz="1600" b="0" i="0">
                          <a:solidFill>
                            <a:srgbClr val="1C252B"/>
                          </a:solidFill>
                          <a:latin typeface="Segoe UI"/>
                        </a:rPr>
                        <a:t>SGD needs more tuning; Adam is the safe default</a:t>
                      </a:r>
                      <a:endParaRPr sz="16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r>
            </a:tbl>
          </a:graphicData>
        </a:graphic>
      </p:graphicFrame>
      <p:sp>
        <p:nvSpPr>
          <p:cNvPr id="8"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pfill">
            <a:extLst>
              <a:ext uri="{C183D7F6-B498-43B3-948B-1728B52AA6E4}">
                <adec:decorative xmlns:adec="http://schemas.microsoft.com/office/drawing/2017/decorative" val="1"/>
              </a:ext>
            </a:extLst>
          </p:cNvPr>
          <p:cNvSpPr/>
          <p:nvPr/>
        </p:nvSpPr>
        <p:spPr>
          <a:xfrm>
            <a:off x="0" y="0"/>
            <a:ext cx="4876678"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Reading a Training Curve</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D7C4DF"/>
                </a:solidFill>
                <a:latin typeface="Segoe UI"/>
              </a:rPr>
              <a:t>SECTION 5 OF 5</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17.5</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17.1   One Neuron</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17.2   Why Non-Linearity Is Not Optional</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17.3   Layers and the Forward Pass</a:t>
            </a:r>
          </a:p>
        </p:txBody>
      </p:sp>
      <p:sp>
        <p:nvSpPr>
          <p:cNvPr id="9" name="!!dl3"/>
          <p:cNvSpPr txBox="1"/>
          <p:nvPr/>
        </p:nvSpPr>
        <p:spPr>
          <a:xfrm>
            <a:off x="4846320" y="498347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17.4   Training: The Four-Step Cycle</a:t>
            </a:r>
          </a:p>
        </p:txBody>
      </p:sp>
      <p:sp>
        <p:nvSpPr>
          <p:cNvPr id="10" name="!!dl4"/>
          <p:cNvSpPr txBox="1"/>
          <p:nvPr/>
        </p:nvSpPr>
        <p:spPr>
          <a:xfrm>
            <a:off x="4846320" y="525779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7A3A95"/>
                </a:solidFill>
                <a:latin typeface="Segoe UI"/>
              </a:rPr>
              <a:t>17.5   Reading a Training Curve</a:t>
            </a:r>
          </a:p>
        </p:txBody>
      </p:sp>
      <p:sp>
        <p:nvSpPr>
          <p:cNvPr id="11"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17</a:t>
            </a:r>
          </a:p>
        </p:txBody>
      </p:sp>
      <p:sp>
        <p:nvSpPr>
          <p:cNvPr id="12"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§17.5     </a:t>
            </a:r>
            <a:fld id="{62BF946C-5BFA-4C03-8536-1CF0200C3A5A}" type="slidenum">
              <a:rPr lang="en-GB" sz="1000">
                <a:solidFill>
                  <a:srgbClr val="8795A1"/>
                </a:solidFill>
                <a:latin typeface="Segoe UI"/>
              </a:rPr>
              <a:t>19</a:t>
            </a:fld>
          </a:p>
        </p:txBody>
      </p:sp>
      <p:sp>
        <p:nvSpPr>
          <p:cNvPr id="13"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pfill">
            <a:extLst>
              <a:ext uri="{C183D7F6-B498-43B3-948B-1728B52AA6E4}">
                <adec:decorative xmlns:adec="http://schemas.microsoft.com/office/drawing/2017/decorative" val="1"/>
              </a:ext>
            </a:extLst>
          </p:cNvPr>
          <p:cNvSpPr/>
          <p:nvPr/>
        </p:nvSpPr>
        <p:spPr>
          <a:xfrm>
            <a:off x="0" y="0"/>
            <a:ext cx="5147604"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Three training runs</a:t>
            </a:r>
          </a:p>
        </p:txBody>
      </p:sp>
      <p:sp>
        <p:nvSpPr>
          <p:cNvPr id="3" name="!!kicker"/>
          <p:cNvSpPr txBox="1"/>
          <p:nvPr/>
        </p:nvSpPr>
        <p:spPr>
          <a:xfrm>
            <a:off x="658368" y="402336"/>
            <a:ext cx="10874959"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7A3A95"/>
                </a:solidFill>
                <a:latin typeface="Segoe UI"/>
              </a:rPr>
              <a:t>FIGURE 17.4</a:t>
            </a:r>
          </a:p>
        </p:txBody>
      </p:sp>
      <p:sp>
        <p:nvSpPr>
          <p:cNvPr id="4"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17  ·  Neural Network Foundations</a:t>
            </a:r>
          </a:p>
        </p:txBody>
      </p:sp>
      <p:sp>
        <p:nvSpPr>
          <p:cNvPr id="5"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§17.5  ·  Handout p. 112     </a:t>
            </a:r>
            <a:fld id="{E407077C-E86D-42ED-A3E2-B5A6CF75FFAB}" type="slidenum">
              <a:rPr lang="en-GB" sz="1000">
                <a:solidFill>
                  <a:srgbClr val="8795A1"/>
                </a:solidFill>
                <a:latin typeface="Segoe UI"/>
              </a:rPr>
              <a:t>20</a:t>
            </a:fld>
          </a:p>
        </p:txBody>
      </p:sp>
      <p:pic>
        <p:nvPicPr>
          <p:cNvPr id="6" name="!!figure" descr="Figure 17.4. Three training runs. The gap between the two curves diagnoses overfitting; the shape of the training curve alone diagnoses the learning rate. Plot both curves for every run you do."/>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813898"/>
            <a:ext cx="10874959" cy="3303141"/>
          </a:xfrm>
          <a:prstGeom prst="rect">
            <a:avLst/>
          </a:prstGeom>
        </p:spPr>
      </p:pic>
      <p:sp>
        <p:nvSpPr>
          <p:cNvPr id="7" name="!!takebar">
            <a:extLst>
              <a:ext uri="{C183D7F6-B498-43B3-948B-1728B52AA6E4}">
                <adec:decorative xmlns:adec="http://schemas.microsoft.com/office/drawing/2017/decorative" val="1"/>
              </a:ext>
            </a:extLst>
          </p:cNvPr>
          <p:cNvSpPr/>
          <p:nvPr/>
        </p:nvSpPr>
        <p:spPr>
          <a:xfrm>
            <a:off x="658368" y="5660745"/>
            <a:ext cx="54864" cy="575462"/>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ake"/>
          <p:cNvSpPr txBox="1"/>
          <p:nvPr/>
        </p:nvSpPr>
        <p:spPr>
          <a:xfrm>
            <a:off x="877824" y="5642457"/>
            <a:ext cx="10600639" cy="758342"/>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3E4C57"/>
                </a:solidFill>
                <a:latin typeface="Segoe UI"/>
              </a:rPr>
              <a:t>The gap between the two curves diagnoses overfitting; the shape of the training curve alone diagnoses the learning rate. Plot both curves for every run you do.</a:t>
            </a:r>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5418531"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Common pitfalls</a:t>
            </a:r>
          </a:p>
        </p:txBody>
      </p:sp>
      <p:pic>
        <p:nvPicPr>
          <p:cNvPr id="3" name="!!kicker-icon" descr="exclamation-circle-E74C3C.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2672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E74C3C"/>
                </a:solidFill>
                <a:latin typeface="Segoe UI"/>
              </a:rPr>
              <a:t>COMMON PITFALLS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17  ·  Neural Network Foundations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§17.5  ·  Handout p. 112     </a:t>
            </a:r>
            <a:fld id="{183758E3-02BB-4682-9C3E-572E8BC5D8C7}" type="slidenum">
              <a:rPr lang="en-GB" sz="1000">
                <a:solidFill>
                  <a:srgbClr val="8795A1"/>
                </a:solidFill>
                <a:latin typeface="Segoe UI"/>
              </a:rPr>
              <a:t>21</a:t>
            </a:fld>
          </a:p>
        </p:txBody>
      </p:sp>
      <p:sp>
        <p:nvSpPr>
          <p:cNvPr id="7" name="!!pb0">
            <a:extLst>
              <a:ext uri="{C183D7F6-B498-43B3-948B-1728B52AA6E4}">
                <adec:decorative xmlns:adec="http://schemas.microsoft.com/office/drawing/2017/decorative" val="1"/>
              </a:ext>
            </a:extLst>
          </p:cNvPr>
          <p:cNvSpPr/>
          <p:nvPr/>
        </p:nvSpPr>
        <p:spPr>
          <a:xfrm>
            <a:off x="658368" y="1755648"/>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px0"/>
          <p:cNvSpPr txBox="1"/>
          <p:nvPr/>
        </p:nvSpPr>
        <p:spPr>
          <a:xfrm>
            <a:off x="658368" y="1778507"/>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9" name="!!pt0"/>
          <p:cNvSpPr txBox="1"/>
          <p:nvPr/>
        </p:nvSpPr>
        <p:spPr>
          <a:xfrm>
            <a:off x="1261872" y="1737360"/>
            <a:ext cx="10271455"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A93226"/>
                </a:solidFill>
                <a:latin typeface="Segoe UI"/>
              </a:rPr>
              <a:t>Forgetting to scale inputs.</a:t>
            </a:r>
            <a:r>
              <a:rPr sz="2100" b="0" i="0">
                <a:solidFill>
                  <a:srgbClr val="1C252B"/>
                </a:solidFill>
                <a:latin typeface="Segoe UI"/>
              </a:rPr>
              <a:t> Neural networks are gradient-based, so unscaled features make the loss surface a narrow ravine and training stalls.</a:t>
            </a:r>
          </a:p>
        </p:txBody>
      </p:sp>
      <p:sp>
        <p:nvSpPr>
          <p:cNvPr id="10" name="!!pb1">
            <a:extLst>
              <a:ext uri="{C183D7F6-B498-43B3-948B-1728B52AA6E4}">
                <adec:decorative xmlns:adec="http://schemas.microsoft.com/office/drawing/2017/decorative" val="1"/>
              </a:ext>
            </a:extLst>
          </p:cNvPr>
          <p:cNvSpPr/>
          <p:nvPr/>
        </p:nvSpPr>
        <p:spPr>
          <a:xfrm>
            <a:off x="658368" y="2622499"/>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x1"/>
          <p:cNvSpPr txBox="1"/>
          <p:nvPr/>
        </p:nvSpPr>
        <p:spPr>
          <a:xfrm>
            <a:off x="658368" y="2645359"/>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12" name="!!pt1"/>
          <p:cNvSpPr txBox="1"/>
          <p:nvPr/>
        </p:nvSpPr>
        <p:spPr>
          <a:xfrm>
            <a:off x="1261872" y="2604211"/>
            <a:ext cx="10271455"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A93226"/>
                </a:solidFill>
                <a:latin typeface="Segoe UI"/>
              </a:rPr>
              <a:t>Sigmoid in hidden layers.</a:t>
            </a:r>
            <a:r>
              <a:rPr sz="2100" b="0" i="0">
                <a:solidFill>
                  <a:srgbClr val="1C252B"/>
                </a:solidFill>
                <a:latin typeface="Segoe UI"/>
              </a:rPr>
              <a:t> Its flat tails give near-zero gradients, so early layers stop learning — the </a:t>
            </a:r>
            <a:r>
              <a:rPr sz="2100" b="1" i="0">
                <a:solidFill>
                  <a:srgbClr val="1A5276"/>
                </a:solidFill>
                <a:latin typeface="Segoe UI"/>
              </a:rPr>
              <a:t>vanishing gradient</a:t>
            </a:r>
            <a:r>
              <a:rPr sz="2100" b="0" i="0">
                <a:solidFill>
                  <a:srgbClr val="1C252B"/>
                </a:solidFill>
                <a:latin typeface="Segoe UI"/>
              </a:rPr>
              <a:t> problem. Use ReLU.</a:t>
            </a:r>
          </a:p>
        </p:txBody>
      </p:sp>
      <p:sp>
        <p:nvSpPr>
          <p:cNvPr id="13" name="!!pb2">
            <a:extLst>
              <a:ext uri="{C183D7F6-B498-43B3-948B-1728B52AA6E4}">
                <adec:decorative xmlns:adec="http://schemas.microsoft.com/office/drawing/2017/decorative" val="1"/>
              </a:ext>
            </a:extLst>
          </p:cNvPr>
          <p:cNvSpPr/>
          <p:nvPr/>
        </p:nvSpPr>
        <p:spPr>
          <a:xfrm>
            <a:off x="658368" y="3489350"/>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px2"/>
          <p:cNvSpPr txBox="1"/>
          <p:nvPr/>
        </p:nvSpPr>
        <p:spPr>
          <a:xfrm>
            <a:off x="658368" y="3512210"/>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15" name="!!pt2"/>
          <p:cNvSpPr txBox="1"/>
          <p:nvPr/>
        </p:nvSpPr>
        <p:spPr>
          <a:xfrm>
            <a:off x="1261872" y="3471062"/>
            <a:ext cx="10271455" cy="365760"/>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A93226"/>
                </a:solidFill>
                <a:latin typeface="Segoe UI"/>
              </a:rPr>
              <a:t>Training for a fixed number of epochs.</a:t>
            </a:r>
            <a:r>
              <a:rPr sz="2100" b="0" i="0">
                <a:solidFill>
                  <a:srgbClr val="1C252B"/>
                </a:solidFill>
                <a:latin typeface="Segoe UI"/>
              </a:rPr>
              <a:t> Use early stopping on validation loss.</a:t>
            </a:r>
          </a:p>
        </p:txBody>
      </p:sp>
      <p:sp>
        <p:nvSpPr>
          <p:cNvPr id="16" name="!!pb3">
            <a:extLst>
              <a:ext uri="{C183D7F6-B498-43B3-948B-1728B52AA6E4}">
                <adec:decorative xmlns:adec="http://schemas.microsoft.com/office/drawing/2017/decorative" val="1"/>
              </a:ext>
            </a:extLst>
          </p:cNvPr>
          <p:cNvSpPr/>
          <p:nvPr/>
        </p:nvSpPr>
        <p:spPr>
          <a:xfrm>
            <a:off x="658368" y="4056278"/>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x3"/>
          <p:cNvSpPr txBox="1"/>
          <p:nvPr/>
        </p:nvSpPr>
        <p:spPr>
          <a:xfrm>
            <a:off x="658368" y="4079138"/>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18" name="!!pt3"/>
          <p:cNvSpPr txBox="1"/>
          <p:nvPr/>
        </p:nvSpPr>
        <p:spPr>
          <a:xfrm>
            <a:off x="1261872" y="4037990"/>
            <a:ext cx="10271455"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A93226"/>
                </a:solidFill>
                <a:latin typeface="Segoe UI"/>
              </a:rPr>
              <a:t>Reaching for a network on 500 rows of tabular data.</a:t>
            </a:r>
            <a:r>
              <a:rPr sz="2100" b="0" i="0">
                <a:solidFill>
                  <a:srgbClr val="1C252B"/>
                </a:solidFill>
                <a:latin typeface="Segoe UI"/>
              </a:rPr>
              <a:t> Gradient boosting (Chapter 15) will beat it, train in seconds, and be explainable.</a:t>
            </a:r>
          </a:p>
        </p:txBody>
      </p:sp>
      <p:sp>
        <p:nvSpPr>
          <p:cNvPr id="48"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9" name="!!pfill">
            <a:extLst>
              <a:ext uri="{C183D7F6-B498-43B3-948B-1728B52AA6E4}">
                <adec:decorative xmlns:adec="http://schemas.microsoft.com/office/drawing/2017/decorative" val="1"/>
              </a:ext>
            </a:extLst>
          </p:cNvPr>
          <p:cNvSpPr/>
          <p:nvPr/>
        </p:nvSpPr>
        <p:spPr>
          <a:xfrm>
            <a:off x="0" y="0"/>
            <a:ext cx="5689457"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zoom(in)">
                                      <p:cBhvr>
                                        <p:cTn id="8" dur="26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260"/>
                                        <p:tgtEl>
                                          <p:spTgt spid="8"/>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wipe(right)">
                                      <p:cBhvr>
                                        <p:cTn id="14" dur="400"/>
                                        <p:tgtEl>
                                          <p:spTgt spid="9"/>
                                        </p:tgtEl>
                                      </p:cBhvr>
                                    </p:animEffect>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zoom(in)">
                                      <p:cBhvr>
                                        <p:cTn id="19" dur="260"/>
                                        <p:tgtEl>
                                          <p:spTgt spid="1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260"/>
                                        <p:tgtEl>
                                          <p:spTgt spid="11"/>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wipe(right)">
                                      <p:cBhvr>
                                        <p:cTn id="25" dur="400"/>
                                        <p:tgtEl>
                                          <p:spTgt spid="12"/>
                                        </p:tgtEl>
                                      </p:cBhvr>
                                    </p:animEffect>
                                  </p:childTnLst>
                                </p:cTn>
                              </p:par>
                            </p:childTnLst>
                          </p:cTn>
                        </p:par>
                      </p:childTnLst>
                    </p:cTn>
                  </p:par>
                  <p:par>
                    <p:cTn id="26" fill="hold">
                      <p:stCondLst>
                        <p:cond delay="indefinite"/>
                      </p:stCondLst>
                      <p:childTnLst>
                        <p:par>
                          <p:cTn id="27" fill="hold">
                            <p:stCondLst>
                              <p:cond delay="0"/>
                            </p:stCondLst>
                            <p:childTnLst>
                              <p:par>
                                <p:cTn id="28" presetID="23" presetClass="entr" presetSubtype="16" fill="hold" grpId="0" nodeType="click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zoom(in)">
                                      <p:cBhvr>
                                        <p:cTn id="30" dur="260"/>
                                        <p:tgtEl>
                                          <p:spTgt spid="1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260"/>
                                        <p:tgtEl>
                                          <p:spTgt spid="14"/>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wipe(right)">
                                      <p:cBhvr>
                                        <p:cTn id="36" dur="400"/>
                                        <p:tgtEl>
                                          <p:spTgt spid="15"/>
                                        </p:tgtEl>
                                      </p:cBhvr>
                                    </p:animEffect>
                                  </p:childTnLst>
                                </p:cTn>
                              </p:par>
                            </p:childTnLst>
                          </p:cTn>
                        </p:par>
                      </p:childTnLst>
                    </p:cTn>
                  </p:par>
                  <p:par>
                    <p:cTn id="37" fill="hold">
                      <p:stCondLst>
                        <p:cond delay="indefinite"/>
                      </p:stCondLst>
                      <p:childTnLst>
                        <p:par>
                          <p:cTn id="38" fill="hold">
                            <p:stCondLst>
                              <p:cond delay="0"/>
                            </p:stCondLst>
                            <p:childTnLst>
                              <p:par>
                                <p:cTn id="39" presetID="23" presetClass="entr" presetSubtype="16" fill="hold" grpId="0" nodeType="clickEffect">
                                  <p:stCondLst>
                                    <p:cond delay="0"/>
                                  </p:stCondLst>
                                  <p:childTnLst>
                                    <p:set>
                                      <p:cBhvr>
                                        <p:cTn id="40" dur="1" fill="hold">
                                          <p:stCondLst>
                                            <p:cond delay="0"/>
                                          </p:stCondLst>
                                        </p:cTn>
                                        <p:tgtEl>
                                          <p:spTgt spid="16"/>
                                        </p:tgtEl>
                                        <p:attrNameLst>
                                          <p:attrName>style.visibility</p:attrName>
                                        </p:attrNameLst>
                                      </p:cBhvr>
                                      <p:to>
                                        <p:strVal val="visible"/>
                                      </p:to>
                                    </p:set>
                                    <p:animEffect transition="in" filter="zoom(in)">
                                      <p:cBhvr>
                                        <p:cTn id="41" dur="260"/>
                                        <p:tgtEl>
                                          <p:spTgt spid="16"/>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7"/>
                                        </p:tgtEl>
                                        <p:attrNameLst>
                                          <p:attrName>style.visibility</p:attrName>
                                        </p:attrNameLst>
                                      </p:cBhvr>
                                      <p:to>
                                        <p:strVal val="visible"/>
                                      </p:to>
                                    </p:set>
                                    <p:animEffect transition="in" filter="fade">
                                      <p:cBhvr>
                                        <p:cTn id="44" dur="260"/>
                                        <p:tgtEl>
                                          <p:spTgt spid="17"/>
                                        </p:tgtEl>
                                      </p:cBhvr>
                                    </p:animEffect>
                                  </p:childTnLst>
                                </p:cTn>
                              </p:par>
                              <p:par>
                                <p:cTn id="45" presetID="22" presetClass="entr" presetSubtype="8" fill="hold" grpId="0" nodeType="withEffect">
                                  <p:stCondLst>
                                    <p:cond delay="0"/>
                                  </p:stCondLst>
                                  <p:childTnLst>
                                    <p:set>
                                      <p:cBhvr>
                                        <p:cTn id="46" dur="1" fill="hold">
                                          <p:stCondLst>
                                            <p:cond delay="0"/>
                                          </p:stCondLst>
                                        </p:cTn>
                                        <p:tgtEl>
                                          <p:spTgt spid="18"/>
                                        </p:tgtEl>
                                        <p:attrNameLst>
                                          <p:attrName>style.visibility</p:attrName>
                                        </p:attrNameLst>
                                      </p:cBhvr>
                                      <p:to>
                                        <p:strVal val="visible"/>
                                      </p:to>
                                    </p:set>
                                    <p:animEffect transition="in" filter="wipe(right)">
                                      <p:cBhvr>
                                        <p:cTn id="47" dur="4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When to Use a Neural Network — and When Not To</a:t>
            </a:r>
          </a:p>
        </p:txBody>
      </p:sp>
      <p:pic>
        <p:nvPicPr>
          <p:cNvPr id="3" name="!!kicker-icon" descr="lightbulb-2E86C1.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52915"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E86C1"/>
                </a:solidFill>
                <a:latin typeface="Segoe UI"/>
              </a:rPr>
              <a:t>CONCEPT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17  ·  Neural Network Foundations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§17.5  ·  Handout p. 112     </a:t>
            </a:r>
            <a:fld id="{8D6FF505-98DC-4FE5-AF7D-89F187E88F6B}" type="slidenum">
              <a:rPr lang="en-GB" sz="1000">
                <a:solidFill>
                  <a:srgbClr val="8795A1"/>
                </a:solidFill>
                <a:latin typeface="Segoe UI"/>
              </a:rPr>
              <a:t>22</a:t>
            </a:fld>
          </a:p>
        </p:txBody>
      </p:sp>
      <p:sp>
        <p:nvSpPr>
          <p:cNvPr id="7" name="!!card">
            <a:extLst>
              <a:ext uri="{C183D7F6-B498-43B3-948B-1728B52AA6E4}">
                <adec:decorative xmlns:adec="http://schemas.microsoft.com/office/drawing/2017/decorative" val="1"/>
              </a:ext>
            </a:extLst>
          </p:cNvPr>
          <p:cNvSpPr/>
          <p:nvPr/>
        </p:nvSpPr>
        <p:spPr>
          <a:xfrm>
            <a:off x="658368" y="1737360"/>
            <a:ext cx="10874959" cy="3698773"/>
          </a:xfrm>
          <a:prstGeom prst="roundRect">
            <a:avLst>
              <a:gd name="adj" fmla="val 2472"/>
            </a:avLst>
          </a:prstGeom>
          <a:solidFill>
            <a:srgbClr val="EBF5FB"/>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3698773"/>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139342"/>
          </a:xfrm>
          <a:prstGeom prst="rect">
            <a:avLst/>
          </a:prstGeom>
          <a:noFill/>
        </p:spPr>
        <p:txBody>
          <a:bodyPr wrap="square" anchor="t" lIns="0" rIns="0" tIns="0" bIns="0">
            <a:noAutofit/>
          </a:bodyPr>
          <a:lstStyle/>
          <a:p>
            <a:pPr algn="l">
              <a:lnSpc>
                <a:spcPct val="104000"/>
              </a:lnSpc>
              <a:spcBef>
                <a:spcPts val="0"/>
              </a:spcBef>
              <a:spcAft>
                <a:spcPts val="0"/>
              </a:spcAft>
            </a:pPr>
            <a:r>
              <a:rPr sz="2300" b="1" i="0">
                <a:solidFill>
                  <a:srgbClr val="1F618D"/>
                </a:solidFill>
                <a:latin typeface="Segoe UI"/>
              </a:rPr>
              <a:t>Use one</a:t>
            </a:r>
            <a:r>
              <a:rPr sz="2300" b="0" i="0">
                <a:solidFill>
                  <a:srgbClr val="1C252B"/>
                </a:solidFill>
                <a:latin typeface="Segoe UI"/>
              </a:rPr>
              <a:t> for unstructured data — images, audio, text, raw sequences — where features must be learned rather than engineered, and where you have tens of thousands of examples or a pre-trained model to fine-tune.</a:t>
            </a:r>
          </a:p>
        </p:txBody>
      </p:sp>
      <p:sp>
        <p:nvSpPr>
          <p:cNvPr id="10" name="body-1"/>
          <p:cNvSpPr txBox="1"/>
          <p:nvPr/>
        </p:nvSpPr>
        <p:spPr>
          <a:xfrm>
            <a:off x="1060704" y="3302533"/>
            <a:ext cx="10161727" cy="1868424"/>
          </a:xfrm>
          <a:prstGeom prst="rect">
            <a:avLst/>
          </a:prstGeom>
          <a:noFill/>
        </p:spPr>
        <p:txBody>
          <a:bodyPr wrap="square" anchor="t" lIns="0" rIns="0" tIns="0" bIns="0">
            <a:noAutofit/>
          </a:bodyPr>
          <a:lstStyle/>
          <a:p>
            <a:pPr algn="l">
              <a:lnSpc>
                <a:spcPct val="104000"/>
              </a:lnSpc>
              <a:spcBef>
                <a:spcPts val="0"/>
              </a:spcBef>
              <a:spcAft>
                <a:spcPts val="0"/>
              </a:spcAft>
            </a:pPr>
            <a:r>
              <a:rPr sz="2300" b="1" i="0">
                <a:solidFill>
                  <a:srgbClr val="1F618D"/>
                </a:solidFill>
                <a:latin typeface="Segoe UI"/>
              </a:rPr>
              <a:t>Do not</a:t>
            </a:r>
            <a:r>
              <a:rPr sz="2300" b="0" i="0">
                <a:solidFill>
                  <a:srgbClr val="1C252B"/>
                </a:solidFill>
                <a:latin typeface="Segoe UI"/>
              </a:rPr>
              <a:t> use one for ordinary tabular data of moderate size. On tabular problems, gradient-boosted trees remain at least competitive and usually better, while training faster and explaining themselves. This is one of the most reliably reproduced results in applied machine learning, and ignoring it costs students a great deal of time.</a:t>
            </a:r>
          </a:p>
        </p:txBody>
      </p:sp>
      <p:sp>
        <p:nvSpPr>
          <p:cNvPr id="11"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pfill">
            <a:extLst>
              <a:ext uri="{C183D7F6-B498-43B3-948B-1728B52AA6E4}">
                <adec:decorative xmlns:adec="http://schemas.microsoft.com/office/drawing/2017/decorative" val="1"/>
              </a:ext>
            </a:extLst>
          </p:cNvPr>
          <p:cNvSpPr/>
          <p:nvPr/>
        </p:nvSpPr>
        <p:spPr>
          <a:xfrm>
            <a:off x="0" y="0"/>
            <a:ext cx="5960384"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Four lenses: Neural Networks</a:t>
            </a:r>
          </a:p>
        </p:txBody>
      </p:sp>
      <p:pic>
        <p:nvPicPr>
          <p:cNvPr id="3" name="!!kicker-icon" descr="compass-123953.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23953"/>
                </a:solidFill>
                <a:latin typeface="Segoe UI"/>
              </a:rPr>
              <a:t>FOUR LENSES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17  ·  Neural Network Foundations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114     </a:t>
            </a:r>
            <a:fld id="{1A1E7BE7-A457-4D47-8450-436C698179E1}" type="slidenum">
              <a:rPr lang="en-GB" sz="1000">
                <a:solidFill>
                  <a:srgbClr val="8795A1"/>
                </a:solidFill>
                <a:latin typeface="Segoe UI"/>
              </a:rPr>
              <a:t>23</a:t>
            </a:fld>
          </a:p>
        </p:txBody>
      </p:sp>
      <p:sp>
        <p:nvSpPr>
          <p:cNvPr id="7" name="!!lens-LA">
            <a:extLst>
              <a:ext uri="{C183D7F6-B498-43B3-948B-1728B52AA6E4}">
                <adec:decorative xmlns:adec="http://schemas.microsoft.com/office/drawing/2017/decorative" val="1"/>
              </a:ext>
            </a:extLst>
          </p:cNvPr>
          <p:cNvSpPr/>
          <p:nvPr/>
        </p:nvSpPr>
        <p:spPr>
          <a:xfrm>
            <a:off x="658368" y="1737360"/>
            <a:ext cx="5318607" cy="2176272"/>
          </a:xfrm>
          <a:prstGeom prst="roundRect">
            <a:avLst>
              <a:gd name="adj" fmla="val 4201"/>
            </a:avLst>
          </a:prstGeom>
          <a:solidFill>
            <a:srgbClr val="F6F3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lensh-LA">
            <a:extLst>
              <a:ext uri="{C183D7F6-B498-43B3-948B-1728B52AA6E4}">
                <adec:decorative xmlns:adec="http://schemas.microsoft.com/office/drawing/2017/decorative" val="1"/>
              </a:ext>
            </a:extLst>
          </p:cNvPr>
          <p:cNvSpPr/>
          <p:nvPr/>
        </p:nvSpPr>
        <p:spPr>
          <a:xfrm>
            <a:off x="658368" y="1737360"/>
            <a:ext cx="5318607" cy="493776"/>
          </a:xfrm>
          <a:prstGeom prst="roundRect">
            <a:avLst>
              <a:gd name="adj" fmla="val 18518"/>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lensh2-LA">
            <a:extLst>
              <a:ext uri="{C183D7F6-B498-43B3-948B-1728B52AA6E4}">
                <adec:decorative xmlns:adec="http://schemas.microsoft.com/office/drawing/2017/decorative" val="1"/>
              </a:ext>
            </a:extLst>
          </p:cNvPr>
          <p:cNvSpPr/>
          <p:nvPr/>
        </p:nvSpPr>
        <p:spPr>
          <a:xfrm>
            <a:off x="658368" y="2121408"/>
            <a:ext cx="5318607" cy="109728"/>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0" name="!!lensi-LA" descr="graduation-cap-FFFFFF.png">
            <a:extLs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59536" y="1856231"/>
            <a:ext cx="419498" cy="256032"/>
          </a:xfrm>
          <a:prstGeom prst="rect">
            <a:avLst/>
          </a:prstGeom>
        </p:spPr>
      </p:pic>
      <p:sp>
        <p:nvSpPr>
          <p:cNvPr id="11" name="!!lensn-LA"/>
          <p:cNvSpPr txBox="1"/>
          <p:nvPr/>
        </p:nvSpPr>
        <p:spPr>
          <a:xfrm>
            <a:off x="1425337" y="1837943"/>
            <a:ext cx="4460197" cy="292608"/>
          </a:xfrm>
          <a:prstGeom prst="rect">
            <a:avLst/>
          </a:prstGeom>
          <a:noFill/>
        </p:spPr>
        <p:txBody>
          <a:bodyPr wrap="none" anchor="t" lIns="0" rIns="0" tIns="0" bIns="0">
            <a:noAutofit/>
          </a:bodyPr>
          <a:lstStyle/>
          <a:p>
            <a:pPr algn="l">
              <a:lnSpc>
                <a:spcPct val="100000"/>
              </a:lnSpc>
              <a:spcBef>
                <a:spcPts val="0"/>
              </a:spcBef>
              <a:spcAft>
                <a:spcPts val="0"/>
              </a:spcAft>
            </a:pPr>
            <a:r>
              <a:rPr sz="1350" b="1" i="0" spc="100">
                <a:solidFill>
                  <a:srgbClr val="FFFFFF"/>
                </a:solidFill>
                <a:latin typeface="Segoe UI"/>
              </a:rPr>
              <a:t>LEARNING ANALYTICS</a:t>
            </a:r>
          </a:p>
        </p:txBody>
      </p:sp>
      <p:sp>
        <p:nvSpPr>
          <p:cNvPr id="12" name="!!lensb-LA-0"/>
          <p:cNvSpPr txBox="1"/>
          <p:nvPr/>
        </p:nvSpPr>
        <p:spPr>
          <a:xfrm>
            <a:off x="896112" y="2414016"/>
            <a:ext cx="4861407" cy="1408175"/>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Rarely the right tool for tabular engagement data — a few thousand students and 40 features is gradient-boosting territory.</a:t>
            </a:r>
          </a:p>
        </p:txBody>
      </p:sp>
      <p:sp>
        <p:nvSpPr>
          <p:cNvPr id="13" name="!!lens-PM">
            <a:extLst>
              <a:ext uri="{C183D7F6-B498-43B3-948B-1728B52AA6E4}">
                <adec:decorative xmlns:adec="http://schemas.microsoft.com/office/drawing/2017/decorative" val="1"/>
              </a:ext>
            </a:extLst>
          </p:cNvPr>
          <p:cNvSpPr/>
          <p:nvPr/>
        </p:nvSpPr>
        <p:spPr>
          <a:xfrm>
            <a:off x="6214719" y="1737360"/>
            <a:ext cx="5318607" cy="2176272"/>
          </a:xfrm>
          <a:prstGeom prst="roundRect">
            <a:avLst>
              <a:gd name="adj" fmla="val 4201"/>
            </a:avLst>
          </a:prstGeom>
          <a:solidFill>
            <a:srgbClr val="F2F6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lensh-PM">
            <a:extLst>
              <a:ext uri="{C183D7F6-B498-43B3-948B-1728B52AA6E4}">
                <adec:decorative xmlns:adec="http://schemas.microsoft.com/office/drawing/2017/decorative" val="1"/>
              </a:ext>
            </a:extLst>
          </p:cNvPr>
          <p:cNvSpPr/>
          <p:nvPr/>
        </p:nvSpPr>
        <p:spPr>
          <a:xfrm>
            <a:off x="6214719" y="1737360"/>
            <a:ext cx="5318607" cy="493776"/>
          </a:xfrm>
          <a:prstGeom prst="roundRect">
            <a:avLst>
              <a:gd name="adj" fmla="val 18518"/>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lensh2-PM">
            <a:extLst>
              <a:ext uri="{C183D7F6-B498-43B3-948B-1728B52AA6E4}">
                <adec:decorative xmlns:adec="http://schemas.microsoft.com/office/drawing/2017/decorative" val="1"/>
              </a:ext>
            </a:extLst>
          </p:cNvPr>
          <p:cNvSpPr/>
          <p:nvPr/>
        </p:nvSpPr>
        <p:spPr>
          <a:xfrm>
            <a:off x="6214719" y="2121408"/>
            <a:ext cx="5318607" cy="109728"/>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6" name="!!lensi-PM" descr="tasks-FFFFFF.png">
            <a:extLs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415887" y="1856231"/>
            <a:ext cx="301783" cy="256032"/>
          </a:xfrm>
          <a:prstGeom prst="rect">
            <a:avLst/>
          </a:prstGeom>
        </p:spPr>
      </p:pic>
      <p:sp>
        <p:nvSpPr>
          <p:cNvPr id="17" name="!!lensn-PM"/>
          <p:cNvSpPr txBox="1"/>
          <p:nvPr/>
        </p:nvSpPr>
        <p:spPr>
          <a:xfrm>
            <a:off x="6863974" y="1837943"/>
            <a:ext cx="4577912" cy="292608"/>
          </a:xfrm>
          <a:prstGeom prst="rect">
            <a:avLst/>
          </a:prstGeom>
          <a:noFill/>
        </p:spPr>
        <p:txBody>
          <a:bodyPr wrap="none" anchor="t" lIns="0" rIns="0" tIns="0" bIns="0">
            <a:noAutofit/>
          </a:bodyPr>
          <a:lstStyle/>
          <a:p>
            <a:pPr algn="l">
              <a:lnSpc>
                <a:spcPct val="100000"/>
              </a:lnSpc>
              <a:spcBef>
                <a:spcPts val="0"/>
              </a:spcBef>
              <a:spcAft>
                <a:spcPts val="0"/>
              </a:spcAft>
            </a:pPr>
            <a:r>
              <a:rPr sz="1350" b="1" i="0" spc="100">
                <a:solidFill>
                  <a:srgbClr val="FFFFFF"/>
                </a:solidFill>
                <a:latin typeface="Segoe UI"/>
              </a:rPr>
              <a:t>PROJECT MANAGEMENT</a:t>
            </a:r>
          </a:p>
        </p:txBody>
      </p:sp>
      <p:sp>
        <p:nvSpPr>
          <p:cNvPr id="18" name="!!lensb-PM-0"/>
          <p:cNvSpPr txBox="1"/>
          <p:nvPr/>
        </p:nvSpPr>
        <p:spPr>
          <a:xfrm>
            <a:off x="6452463" y="2414016"/>
            <a:ext cx="4861407" cy="1408175"/>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Almost never appropriate.</a:t>
            </a:r>
          </a:p>
        </p:txBody>
      </p:sp>
      <p:sp>
        <p:nvSpPr>
          <p:cNvPr id="19" name="!!lens-IOT">
            <a:extLst>
              <a:ext uri="{C183D7F6-B498-43B3-948B-1728B52AA6E4}">
                <adec:decorative xmlns:adec="http://schemas.microsoft.com/office/drawing/2017/decorative" val="1"/>
              </a:ext>
            </a:extLst>
          </p:cNvPr>
          <p:cNvSpPr/>
          <p:nvPr/>
        </p:nvSpPr>
        <p:spPr>
          <a:xfrm>
            <a:off x="658368" y="4133087"/>
            <a:ext cx="5318607" cy="2176272"/>
          </a:xfrm>
          <a:prstGeom prst="roundRect">
            <a:avLst>
              <a:gd name="adj" fmla="val 4201"/>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lensh-IOT">
            <a:extLst>
              <a:ext uri="{C183D7F6-B498-43B3-948B-1728B52AA6E4}">
                <adec:decorative xmlns:adec="http://schemas.microsoft.com/office/drawing/2017/decorative" val="1"/>
              </a:ext>
            </a:extLst>
          </p:cNvPr>
          <p:cNvSpPr/>
          <p:nvPr/>
        </p:nvSpPr>
        <p:spPr>
          <a:xfrm>
            <a:off x="658368" y="4133087"/>
            <a:ext cx="5318607" cy="493776"/>
          </a:xfrm>
          <a:prstGeom prst="roundRect">
            <a:avLst>
              <a:gd name="adj" fmla="val 18518"/>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lensh2-IOT">
            <a:extLst>
              <a:ext uri="{C183D7F6-B498-43B3-948B-1728B52AA6E4}">
                <adec:decorative xmlns:adec="http://schemas.microsoft.com/office/drawing/2017/decorative" val="1"/>
              </a:ext>
            </a:extLst>
          </p:cNvPr>
          <p:cNvSpPr/>
          <p:nvPr/>
        </p:nvSpPr>
        <p:spPr>
          <a:xfrm>
            <a:off x="658368" y="4517136"/>
            <a:ext cx="5318607" cy="109728"/>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2" name="!!lensi-IOT" descr="microchip-FFFFFF.png">
            <a:extLs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859536" y="4251959"/>
            <a:ext cx="256032" cy="256032"/>
          </a:xfrm>
          <a:prstGeom prst="rect">
            <a:avLst/>
          </a:prstGeom>
        </p:spPr>
      </p:pic>
      <p:sp>
        <p:nvSpPr>
          <p:cNvPr id="23" name="!!lensn-IOT"/>
          <p:cNvSpPr txBox="1"/>
          <p:nvPr/>
        </p:nvSpPr>
        <p:spPr>
          <a:xfrm>
            <a:off x="1261872" y="4233672"/>
            <a:ext cx="4623663" cy="292608"/>
          </a:xfrm>
          <a:prstGeom prst="rect">
            <a:avLst/>
          </a:prstGeom>
          <a:noFill/>
        </p:spPr>
        <p:txBody>
          <a:bodyPr wrap="none" anchor="t" lIns="0" rIns="0" tIns="0" bIns="0">
            <a:noAutofit/>
          </a:bodyPr>
          <a:lstStyle/>
          <a:p>
            <a:pPr algn="l">
              <a:lnSpc>
                <a:spcPct val="100000"/>
              </a:lnSpc>
              <a:spcBef>
                <a:spcPts val="0"/>
              </a:spcBef>
              <a:spcAft>
                <a:spcPts val="0"/>
              </a:spcAft>
            </a:pPr>
            <a:r>
              <a:rPr sz="1350" b="1" i="0" spc="100">
                <a:solidFill>
                  <a:srgbClr val="FFFFFF"/>
                </a:solidFill>
                <a:latin typeface="Segoe UI"/>
              </a:rPr>
              <a:t>INTERNET OF THINGS</a:t>
            </a:r>
          </a:p>
        </p:txBody>
      </p:sp>
      <p:sp>
        <p:nvSpPr>
          <p:cNvPr id="24" name="!!lensb-IOT-0"/>
          <p:cNvSpPr txBox="1"/>
          <p:nvPr/>
        </p:nvSpPr>
        <p:spPr>
          <a:xfrm>
            <a:off x="896112" y="4809744"/>
            <a:ext cx="4861407" cy="1408175"/>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Genuinely useful here, because raw sensor </a:t>
            </a:r>
            <a:r>
              <a:rPr sz="2200" b="0" i="1">
                <a:solidFill>
                  <a:srgbClr val="1C252B"/>
                </a:solidFill>
                <a:latin typeface="Segoe UI"/>
              </a:rPr>
              <a:t>waveforms</a:t>
            </a:r>
            <a:r>
              <a:rPr sz="2200" b="0" i="0">
                <a:solidFill>
                  <a:srgbClr val="1C252B"/>
                </a:solidFill>
                <a:latin typeface="Segoe UI"/>
              </a:rPr>
              <a:t> are unstructured and the fleet generates millions of examples.</a:t>
            </a:r>
          </a:p>
        </p:txBody>
      </p:sp>
      <p:sp>
        <p:nvSpPr>
          <p:cNvPr id="25" name="!!lens-SEC">
            <a:extLst>
              <a:ext uri="{C183D7F6-B498-43B3-948B-1728B52AA6E4}">
                <adec:decorative xmlns:adec="http://schemas.microsoft.com/office/drawing/2017/decorative" val="1"/>
              </a:ext>
            </a:extLst>
          </p:cNvPr>
          <p:cNvSpPr/>
          <p:nvPr/>
        </p:nvSpPr>
        <p:spPr>
          <a:xfrm>
            <a:off x="6214719" y="4133087"/>
            <a:ext cx="5318607" cy="2176272"/>
          </a:xfrm>
          <a:prstGeom prst="roundRect">
            <a:avLst>
              <a:gd name="adj" fmla="val 4201"/>
            </a:avLst>
          </a:prstGeom>
          <a:solidFill>
            <a:srgbClr val="F8F2F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6" name="!!lensh-SEC">
            <a:extLst>
              <a:ext uri="{C183D7F6-B498-43B3-948B-1728B52AA6E4}">
                <adec:decorative xmlns:adec="http://schemas.microsoft.com/office/drawing/2017/decorative" val="1"/>
              </a:ext>
            </a:extLst>
          </p:cNvPr>
          <p:cNvSpPr/>
          <p:nvPr/>
        </p:nvSpPr>
        <p:spPr>
          <a:xfrm>
            <a:off x="6214719" y="4133087"/>
            <a:ext cx="5318607" cy="493776"/>
          </a:xfrm>
          <a:prstGeom prst="roundRect">
            <a:avLst>
              <a:gd name="adj" fmla="val 18518"/>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7" name="!!lensh2-SEC">
            <a:extLst>
              <a:ext uri="{C183D7F6-B498-43B3-948B-1728B52AA6E4}">
                <adec:decorative xmlns:adec="http://schemas.microsoft.com/office/drawing/2017/decorative" val="1"/>
              </a:ext>
            </a:extLst>
          </p:cNvPr>
          <p:cNvSpPr/>
          <p:nvPr/>
        </p:nvSpPr>
        <p:spPr>
          <a:xfrm>
            <a:off x="6214719" y="4517136"/>
            <a:ext cx="5318607" cy="109728"/>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8" name="!!lensi-SEC" descr="shield-alt-FFFFFF.png">
            <a:extLst>
              <a:ext uri="{C183D7F6-B498-43B3-948B-1728B52AA6E4}">
                <adec:decorative xmlns:adec="http://schemas.microsoft.com/office/drawing/2017/decorative" val="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6415887" y="4251959"/>
            <a:ext cx="256032" cy="256032"/>
          </a:xfrm>
          <a:prstGeom prst="rect">
            <a:avLst/>
          </a:prstGeom>
        </p:spPr>
      </p:pic>
      <p:sp>
        <p:nvSpPr>
          <p:cNvPr id="29" name="!!lensn-SEC"/>
          <p:cNvSpPr txBox="1"/>
          <p:nvPr/>
        </p:nvSpPr>
        <p:spPr>
          <a:xfrm>
            <a:off x="6818223" y="4233672"/>
            <a:ext cx="4623663" cy="292608"/>
          </a:xfrm>
          <a:prstGeom prst="rect">
            <a:avLst/>
          </a:prstGeom>
          <a:noFill/>
        </p:spPr>
        <p:txBody>
          <a:bodyPr wrap="none" anchor="t" lIns="0" rIns="0" tIns="0" bIns="0">
            <a:noAutofit/>
          </a:bodyPr>
          <a:lstStyle/>
          <a:p>
            <a:pPr algn="l">
              <a:lnSpc>
                <a:spcPct val="100000"/>
              </a:lnSpc>
              <a:spcBef>
                <a:spcPts val="0"/>
              </a:spcBef>
              <a:spcAft>
                <a:spcPts val="0"/>
              </a:spcAft>
            </a:pPr>
            <a:r>
              <a:rPr sz="1350" b="1" i="0" spc="100">
                <a:solidFill>
                  <a:srgbClr val="FFFFFF"/>
                </a:solidFill>
                <a:latin typeface="Segoe UI"/>
              </a:rPr>
              <a:t>CYBERSECURITY</a:t>
            </a:r>
          </a:p>
        </p:txBody>
      </p:sp>
      <p:sp>
        <p:nvSpPr>
          <p:cNvPr id="30" name="!!lensb-SEC-0"/>
          <p:cNvSpPr txBox="1"/>
          <p:nvPr/>
        </p:nvSpPr>
        <p:spPr>
          <a:xfrm>
            <a:off x="6452463" y="4809744"/>
            <a:ext cx="4861407" cy="1408175"/>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Used for malware classification from raw bytes and for sequence models over session logs, where hand-engineered features are brittle against an adapting adversary.</a:t>
            </a:r>
          </a:p>
        </p:txBody>
      </p:sp>
      <p:sp>
        <p:nvSpPr>
          <p:cNvPr id="31"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2" name="!!pfill">
            <a:extLst>
              <a:ext uri="{C183D7F6-B498-43B3-948B-1728B52AA6E4}">
                <adec:decorative xmlns:adec="http://schemas.microsoft.com/office/drawing/2017/decorative" val="1"/>
              </a:ext>
            </a:extLst>
          </p:cNvPr>
          <p:cNvSpPr/>
          <p:nvPr/>
        </p:nvSpPr>
        <p:spPr>
          <a:xfrm>
            <a:off x="0" y="0"/>
            <a:ext cx="6231310"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Learning Analytics: Neural Networks</a:t>
            </a:r>
          </a:p>
        </p:txBody>
      </p:sp>
      <p:pic>
        <p:nvPicPr>
          <p:cNvPr id="3" name="!!kicker-icon" descr="compass-6C3483.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6C3483"/>
                </a:solidFill>
                <a:latin typeface="Segoe UI"/>
              </a:rPr>
              <a:t>FOUR LENSES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17  ·  Neural Network Foundations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114     </a:t>
            </a:r>
            <a:fld id="{026C3F82-20AF-4ABA-A99F-4289EA881183}" type="slidenum">
              <a:rPr lang="en-GB" sz="1000">
                <a:solidFill>
                  <a:srgbClr val="8795A1"/>
                </a:solidFill>
                <a:latin typeface="Segoe UI"/>
              </a:rPr>
              <a:t>24</a:t>
            </a:fld>
          </a:p>
        </p:txBody>
      </p:sp>
      <p:sp>
        <p:nvSpPr>
          <p:cNvPr id="7" name="!!lens-LA">
            <a:extLst>
              <a:ext uri="{C183D7F6-B498-43B3-948B-1728B52AA6E4}">
                <adec:decorative xmlns:adec="http://schemas.microsoft.com/office/drawing/2017/decorative" val="1"/>
              </a:ext>
            </a:extLst>
          </p:cNvPr>
          <p:cNvSpPr/>
          <p:nvPr/>
        </p:nvSpPr>
        <p:spPr>
          <a:xfrm>
            <a:off x="658368" y="1737360"/>
            <a:ext cx="8040319" cy="4572000"/>
          </a:xfrm>
          <a:prstGeom prst="roundRect">
            <a:avLst>
              <a:gd name="adj" fmla="val 2000"/>
            </a:avLst>
          </a:prstGeom>
          <a:solidFill>
            <a:srgbClr val="F6F3F8"/>
          </a:solidFill>
          <a:ln>
            <a:noFill/>
          </a:ln>
          <a:effectLst>
            <a:outerShdw blurRad="177800" dist="38100" dir="5400000" algn="t" rotWithShape="0">
              <a:srgbClr val="1C252B">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lensh-LA">
            <a:extLst>
              <a:ext uri="{C183D7F6-B498-43B3-948B-1728B52AA6E4}">
                <adec:decorative xmlns:adec="http://schemas.microsoft.com/office/drawing/2017/decorative" val="1"/>
              </a:ext>
            </a:extLst>
          </p:cNvPr>
          <p:cNvSpPr/>
          <p:nvPr/>
        </p:nvSpPr>
        <p:spPr>
          <a:xfrm>
            <a:off x="658368" y="1737360"/>
            <a:ext cx="8040319" cy="493776"/>
          </a:xfrm>
          <a:prstGeom prst="roundRect">
            <a:avLst>
              <a:gd name="adj" fmla="val 18518"/>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lensh2-LA">
            <a:extLst>
              <a:ext uri="{C183D7F6-B498-43B3-948B-1728B52AA6E4}">
                <adec:decorative xmlns:adec="http://schemas.microsoft.com/office/drawing/2017/decorative" val="1"/>
              </a:ext>
            </a:extLst>
          </p:cNvPr>
          <p:cNvSpPr/>
          <p:nvPr/>
        </p:nvSpPr>
        <p:spPr>
          <a:xfrm>
            <a:off x="658368" y="2121408"/>
            <a:ext cx="8040319" cy="109728"/>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0" name="!!lensi-LA" descr="graduation-cap-FFFFFF.png">
            <a:extLs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59536" y="1856231"/>
            <a:ext cx="419498" cy="256032"/>
          </a:xfrm>
          <a:prstGeom prst="rect">
            <a:avLst/>
          </a:prstGeom>
        </p:spPr>
      </p:pic>
      <p:sp>
        <p:nvSpPr>
          <p:cNvPr id="11" name="!!lensn-LA"/>
          <p:cNvSpPr txBox="1"/>
          <p:nvPr/>
        </p:nvSpPr>
        <p:spPr>
          <a:xfrm>
            <a:off x="1425337" y="1837943"/>
            <a:ext cx="7181909" cy="292608"/>
          </a:xfrm>
          <a:prstGeom prst="rect">
            <a:avLst/>
          </a:prstGeom>
          <a:noFill/>
        </p:spPr>
        <p:txBody>
          <a:bodyPr wrap="none" anchor="t" lIns="0" rIns="0" tIns="0" bIns="0">
            <a:noAutofit/>
          </a:bodyPr>
          <a:lstStyle/>
          <a:p>
            <a:pPr algn="l">
              <a:lnSpc>
                <a:spcPct val="100000"/>
              </a:lnSpc>
              <a:spcBef>
                <a:spcPts val="0"/>
              </a:spcBef>
              <a:spcAft>
                <a:spcPts val="0"/>
              </a:spcAft>
            </a:pPr>
            <a:r>
              <a:rPr sz="1350" b="1" i="0" spc="100">
                <a:solidFill>
                  <a:srgbClr val="FFFFFF"/>
                </a:solidFill>
                <a:latin typeface="Segoe UI"/>
              </a:rPr>
              <a:t>LEARNING ANALYTICS</a:t>
            </a:r>
          </a:p>
        </p:txBody>
      </p:sp>
      <p:sp>
        <p:nvSpPr>
          <p:cNvPr id="12" name="!!lensb-LA-0"/>
          <p:cNvSpPr txBox="1"/>
          <p:nvPr/>
        </p:nvSpPr>
        <p:spPr>
          <a:xfrm>
            <a:off x="896112" y="2432304"/>
            <a:ext cx="7583119" cy="2835249"/>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Rarely the right tool for tabular engagement data — a few thousand students and 40 features is gradient-boosting territory. Networks earn their place when the input is unstructured: assessing free-text reflections, or modelling the raw clickstream </a:t>
            </a:r>
            <a:r>
              <a:rPr sz="2200" b="0" i="1">
                <a:solidFill>
                  <a:srgbClr val="1C252B"/>
                </a:solidFill>
                <a:latin typeface="Segoe UI"/>
              </a:rPr>
              <a:t>sequence</a:t>
            </a:r>
            <a:r>
              <a:rPr sz="2200" b="0" i="0">
                <a:solidFill>
                  <a:srgbClr val="1C252B"/>
                </a:solidFill>
                <a:latin typeface="Segoe UI"/>
              </a:rPr>
              <a:t> rather than aggregates (Chapter 19). Whatever the accuracy, an unexplainable model driving interventions on students runs into Chapter 28.</a:t>
            </a:r>
          </a:p>
        </p:txBody>
      </p:sp>
      <p:sp>
        <p:nvSpPr>
          <p:cNvPr id="13" name="!!lens-PM">
            <a:extLst>
              <a:ext uri="{C183D7F6-B498-43B3-948B-1728B52AA6E4}">
                <adec:decorative xmlns:adec="http://schemas.microsoft.com/office/drawing/2017/decorative" val="1"/>
              </a:ext>
            </a:extLst>
          </p:cNvPr>
          <p:cNvSpPr/>
          <p:nvPr/>
        </p:nvSpPr>
        <p:spPr>
          <a:xfrm>
            <a:off x="8936431" y="1737360"/>
            <a:ext cx="2596896" cy="493776"/>
          </a:xfrm>
          <a:prstGeom prst="roundRect">
            <a:avLst>
              <a:gd name="adj" fmla="val 18518"/>
            </a:avLst>
          </a:prstGeom>
          <a:solidFill>
            <a:srgbClr val="F2F6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lensh-PM">
            <a:extLst>
              <a:ext uri="{C183D7F6-B498-43B3-948B-1728B52AA6E4}">
                <adec:decorative xmlns:adec="http://schemas.microsoft.com/office/drawing/2017/decorative" val="1"/>
              </a:ext>
            </a:extLst>
          </p:cNvPr>
          <p:cNvSpPr/>
          <p:nvPr/>
        </p:nvSpPr>
        <p:spPr>
          <a:xfrm>
            <a:off x="8936431" y="1737360"/>
            <a:ext cx="2596896" cy="493776"/>
          </a:xfrm>
          <a:prstGeom prst="roundRect">
            <a:avLst>
              <a:gd name="adj" fmla="val 18518"/>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lensh2-PM">
            <a:extLst>
              <a:ext uri="{C183D7F6-B498-43B3-948B-1728B52AA6E4}">
                <adec:decorative xmlns:adec="http://schemas.microsoft.com/office/drawing/2017/decorative" val="1"/>
              </a:ext>
            </a:extLst>
          </p:cNvPr>
          <p:cNvSpPr/>
          <p:nvPr/>
        </p:nvSpPr>
        <p:spPr>
          <a:xfrm>
            <a:off x="8936431" y="2121408"/>
            <a:ext cx="2596896" cy="109728"/>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6" name="!!lensi-PM" descr="tasks-FFFFFF.png">
            <a:extLs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137599" y="1856231"/>
            <a:ext cx="301783" cy="256032"/>
          </a:xfrm>
          <a:prstGeom prst="rect">
            <a:avLst/>
          </a:prstGeom>
        </p:spPr>
      </p:pic>
      <p:sp>
        <p:nvSpPr>
          <p:cNvPr id="17" name="!!lensn-PM"/>
          <p:cNvSpPr txBox="1"/>
          <p:nvPr/>
        </p:nvSpPr>
        <p:spPr>
          <a:xfrm>
            <a:off x="9585686" y="1837943"/>
            <a:ext cx="1856200"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Project Management</a:t>
            </a:r>
          </a:p>
        </p:txBody>
      </p:sp>
      <p:sp>
        <p:nvSpPr>
          <p:cNvPr id="18" name="!!lens-IOT">
            <a:extLst>
              <a:ext uri="{C183D7F6-B498-43B3-948B-1728B52AA6E4}">
                <adec:decorative xmlns:adec="http://schemas.microsoft.com/office/drawing/2017/decorative" val="1"/>
              </a:ext>
            </a:extLst>
          </p:cNvPr>
          <p:cNvSpPr/>
          <p:nvPr/>
        </p:nvSpPr>
        <p:spPr>
          <a:xfrm>
            <a:off x="8936431" y="2395728"/>
            <a:ext cx="2596896" cy="493776"/>
          </a:xfrm>
          <a:prstGeom prst="roundRect">
            <a:avLst>
              <a:gd name="adj" fmla="val 18518"/>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lensh-IOT">
            <a:extLst>
              <a:ext uri="{C183D7F6-B498-43B3-948B-1728B52AA6E4}">
                <adec:decorative xmlns:adec="http://schemas.microsoft.com/office/drawing/2017/decorative" val="1"/>
              </a:ext>
            </a:extLst>
          </p:cNvPr>
          <p:cNvSpPr/>
          <p:nvPr/>
        </p:nvSpPr>
        <p:spPr>
          <a:xfrm>
            <a:off x="8936431" y="2395728"/>
            <a:ext cx="2596896" cy="493776"/>
          </a:xfrm>
          <a:prstGeom prst="roundRect">
            <a:avLst>
              <a:gd name="adj" fmla="val 18518"/>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lensh2-IOT">
            <a:extLst>
              <a:ext uri="{C183D7F6-B498-43B3-948B-1728B52AA6E4}">
                <adec:decorative xmlns:adec="http://schemas.microsoft.com/office/drawing/2017/decorative" val="1"/>
              </a:ext>
            </a:extLst>
          </p:cNvPr>
          <p:cNvSpPr/>
          <p:nvPr/>
        </p:nvSpPr>
        <p:spPr>
          <a:xfrm>
            <a:off x="8936431" y="2779776"/>
            <a:ext cx="2596896" cy="109728"/>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1" name="!!lensi-IOT" descr="microchip-FFFFFF.png">
            <a:extLs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137599" y="2514600"/>
            <a:ext cx="256032" cy="256032"/>
          </a:xfrm>
          <a:prstGeom prst="rect">
            <a:avLst/>
          </a:prstGeom>
        </p:spPr>
      </p:pic>
      <p:sp>
        <p:nvSpPr>
          <p:cNvPr id="22" name="!!lensn-IOT"/>
          <p:cNvSpPr txBox="1"/>
          <p:nvPr/>
        </p:nvSpPr>
        <p:spPr>
          <a:xfrm>
            <a:off x="9539935" y="2496312"/>
            <a:ext cx="1901951"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Internet of Things</a:t>
            </a:r>
          </a:p>
        </p:txBody>
      </p:sp>
      <p:sp>
        <p:nvSpPr>
          <p:cNvPr id="23" name="!!lens-SEC">
            <a:extLst>
              <a:ext uri="{C183D7F6-B498-43B3-948B-1728B52AA6E4}">
                <adec:decorative xmlns:adec="http://schemas.microsoft.com/office/drawing/2017/decorative" val="1"/>
              </a:ext>
            </a:extLst>
          </p:cNvPr>
          <p:cNvSpPr/>
          <p:nvPr/>
        </p:nvSpPr>
        <p:spPr>
          <a:xfrm>
            <a:off x="8936431" y="3054096"/>
            <a:ext cx="2596896" cy="493776"/>
          </a:xfrm>
          <a:prstGeom prst="roundRect">
            <a:avLst>
              <a:gd name="adj" fmla="val 18518"/>
            </a:avLst>
          </a:prstGeom>
          <a:solidFill>
            <a:srgbClr val="F8F2F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lensh-SEC">
            <a:extLst>
              <a:ext uri="{C183D7F6-B498-43B3-948B-1728B52AA6E4}">
                <adec:decorative xmlns:adec="http://schemas.microsoft.com/office/drawing/2017/decorative" val="1"/>
              </a:ext>
            </a:extLst>
          </p:cNvPr>
          <p:cNvSpPr/>
          <p:nvPr/>
        </p:nvSpPr>
        <p:spPr>
          <a:xfrm>
            <a:off x="8936431" y="3054096"/>
            <a:ext cx="2596896" cy="493776"/>
          </a:xfrm>
          <a:prstGeom prst="roundRect">
            <a:avLst>
              <a:gd name="adj" fmla="val 18518"/>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lensh2-SEC">
            <a:extLst>
              <a:ext uri="{C183D7F6-B498-43B3-948B-1728B52AA6E4}">
                <adec:decorative xmlns:adec="http://schemas.microsoft.com/office/drawing/2017/decorative" val="1"/>
              </a:ext>
            </a:extLst>
          </p:cNvPr>
          <p:cNvSpPr/>
          <p:nvPr/>
        </p:nvSpPr>
        <p:spPr>
          <a:xfrm>
            <a:off x="8936431" y="3438144"/>
            <a:ext cx="2596896" cy="109728"/>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6" name="!!lensi-SEC" descr="shield-alt-FFFFFF.png">
            <a:extLst>
              <a:ext uri="{C183D7F6-B498-43B3-948B-1728B52AA6E4}">
                <adec:decorative xmlns:adec="http://schemas.microsoft.com/office/drawing/2017/decorative" val="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9137599" y="3172968"/>
            <a:ext cx="256032" cy="256032"/>
          </a:xfrm>
          <a:prstGeom prst="rect">
            <a:avLst/>
          </a:prstGeom>
        </p:spPr>
      </p:pic>
      <p:sp>
        <p:nvSpPr>
          <p:cNvPr id="27" name="!!lensn-SEC"/>
          <p:cNvSpPr txBox="1"/>
          <p:nvPr/>
        </p:nvSpPr>
        <p:spPr>
          <a:xfrm>
            <a:off x="9539935" y="3154679"/>
            <a:ext cx="1901951"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Cybersecurity</a:t>
            </a:r>
          </a:p>
        </p:txBody>
      </p:sp>
      <p:sp>
        <p:nvSpPr>
          <p:cNvPr id="28"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pfill">
            <a:extLst>
              <a:ext uri="{C183D7F6-B498-43B3-948B-1728B52AA6E4}">
                <adec:decorative xmlns:adec="http://schemas.microsoft.com/office/drawing/2017/decorative" val="1"/>
              </a:ext>
            </a:extLst>
          </p:cNvPr>
          <p:cNvSpPr/>
          <p:nvPr/>
        </p:nvSpPr>
        <p:spPr>
          <a:xfrm>
            <a:off x="0" y="0"/>
            <a:ext cx="6502237"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700">
        <p159:morph option="byObject"/>
      </p:transition>
    </mc:Choice>
    <mc:Fallback>
      <p:transition spd="med">
        <p:fade/>
      </p:transition>
    </mc:Fallback>
  </mc:AlternateContent>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Project Management: Neural Networks</a:t>
            </a:r>
          </a:p>
        </p:txBody>
      </p:sp>
      <p:pic>
        <p:nvPicPr>
          <p:cNvPr id="3" name="!!kicker-icon" descr="compass-1F618D.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F618D"/>
                </a:solidFill>
                <a:latin typeface="Segoe UI"/>
              </a:rPr>
              <a:t>FOUR LENSES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17  ·  Neural Network Foundations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114     </a:t>
            </a:r>
            <a:fld id="{AD69E549-8CBE-4E72-BD53-87CA64E0C680}" type="slidenum">
              <a:rPr lang="en-GB" sz="1000">
                <a:solidFill>
                  <a:srgbClr val="8795A1"/>
                </a:solidFill>
                <a:latin typeface="Segoe UI"/>
              </a:rPr>
              <a:t>25</a:t>
            </a:fld>
          </a:p>
        </p:txBody>
      </p:sp>
      <p:sp>
        <p:nvSpPr>
          <p:cNvPr id="7" name="!!lens-PM">
            <a:extLst>
              <a:ext uri="{C183D7F6-B498-43B3-948B-1728B52AA6E4}">
                <adec:decorative xmlns:adec="http://schemas.microsoft.com/office/drawing/2017/decorative" val="1"/>
              </a:ext>
            </a:extLst>
          </p:cNvPr>
          <p:cNvSpPr/>
          <p:nvPr/>
        </p:nvSpPr>
        <p:spPr>
          <a:xfrm>
            <a:off x="658368" y="1737360"/>
            <a:ext cx="8040319" cy="4572000"/>
          </a:xfrm>
          <a:prstGeom prst="roundRect">
            <a:avLst>
              <a:gd name="adj" fmla="val 2000"/>
            </a:avLst>
          </a:prstGeom>
          <a:solidFill>
            <a:srgbClr val="F2F6F8"/>
          </a:solidFill>
          <a:ln>
            <a:noFill/>
          </a:ln>
          <a:effectLst>
            <a:outerShdw blurRad="177800" dist="38100" dir="5400000" algn="t" rotWithShape="0">
              <a:srgbClr val="1C252B">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lensh-PM">
            <a:extLst>
              <a:ext uri="{C183D7F6-B498-43B3-948B-1728B52AA6E4}">
                <adec:decorative xmlns:adec="http://schemas.microsoft.com/office/drawing/2017/decorative" val="1"/>
              </a:ext>
            </a:extLst>
          </p:cNvPr>
          <p:cNvSpPr/>
          <p:nvPr/>
        </p:nvSpPr>
        <p:spPr>
          <a:xfrm>
            <a:off x="658368" y="1737360"/>
            <a:ext cx="8040319" cy="493776"/>
          </a:xfrm>
          <a:prstGeom prst="roundRect">
            <a:avLst>
              <a:gd name="adj" fmla="val 18518"/>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lensh2-PM">
            <a:extLst>
              <a:ext uri="{C183D7F6-B498-43B3-948B-1728B52AA6E4}">
                <adec:decorative xmlns:adec="http://schemas.microsoft.com/office/drawing/2017/decorative" val="1"/>
              </a:ext>
            </a:extLst>
          </p:cNvPr>
          <p:cNvSpPr/>
          <p:nvPr/>
        </p:nvSpPr>
        <p:spPr>
          <a:xfrm>
            <a:off x="658368" y="2121408"/>
            <a:ext cx="8040319" cy="109728"/>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0" name="!!lensi-PM" descr="tasks-FFFFFF.png">
            <a:extLs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59536" y="1856231"/>
            <a:ext cx="301783" cy="256032"/>
          </a:xfrm>
          <a:prstGeom prst="rect">
            <a:avLst/>
          </a:prstGeom>
        </p:spPr>
      </p:pic>
      <p:sp>
        <p:nvSpPr>
          <p:cNvPr id="11" name="!!lensn-PM"/>
          <p:cNvSpPr txBox="1"/>
          <p:nvPr/>
        </p:nvSpPr>
        <p:spPr>
          <a:xfrm>
            <a:off x="1307622" y="1837943"/>
            <a:ext cx="7299624" cy="292608"/>
          </a:xfrm>
          <a:prstGeom prst="rect">
            <a:avLst/>
          </a:prstGeom>
          <a:noFill/>
        </p:spPr>
        <p:txBody>
          <a:bodyPr wrap="none" anchor="t" lIns="0" rIns="0" tIns="0" bIns="0">
            <a:noAutofit/>
          </a:bodyPr>
          <a:lstStyle/>
          <a:p>
            <a:pPr algn="l">
              <a:lnSpc>
                <a:spcPct val="100000"/>
              </a:lnSpc>
              <a:spcBef>
                <a:spcPts val="0"/>
              </a:spcBef>
              <a:spcAft>
                <a:spcPts val="0"/>
              </a:spcAft>
            </a:pPr>
            <a:r>
              <a:rPr sz="1350" b="1" i="0" spc="100">
                <a:solidFill>
                  <a:srgbClr val="FFFFFF"/>
                </a:solidFill>
                <a:latin typeface="Segoe UI"/>
              </a:rPr>
              <a:t>PROJECT MANAGEMENT</a:t>
            </a:r>
          </a:p>
        </p:txBody>
      </p:sp>
      <p:sp>
        <p:nvSpPr>
          <p:cNvPr id="12" name="!!lensb-PM-0"/>
          <p:cNvSpPr txBox="1"/>
          <p:nvPr/>
        </p:nvSpPr>
        <p:spPr>
          <a:xfrm>
            <a:off x="896112" y="2432304"/>
            <a:ext cx="7583119" cy="1789176"/>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Almost never appropriate. With 40 sprints and 67 parameters in even the toy network above, the model has more parameters than observations. The honest answer is a two-feature regression. Knowing when </a:t>
            </a:r>
            <a:r>
              <a:rPr sz="2200" b="0" i="1">
                <a:solidFill>
                  <a:srgbClr val="1C252B"/>
                </a:solidFill>
                <a:latin typeface="Segoe UI"/>
              </a:rPr>
              <a:t>not</a:t>
            </a:r>
            <a:r>
              <a:rPr sz="2200" b="0" i="0">
                <a:solidFill>
                  <a:srgbClr val="1C252B"/>
                </a:solidFill>
                <a:latin typeface="Segoe UI"/>
              </a:rPr>
              <a:t> to use the powerful tool is part of the competence being assessed.</a:t>
            </a:r>
          </a:p>
        </p:txBody>
      </p:sp>
      <p:sp>
        <p:nvSpPr>
          <p:cNvPr id="13" name="!!lens-LA">
            <a:extLst>
              <a:ext uri="{C183D7F6-B498-43B3-948B-1728B52AA6E4}">
                <adec:decorative xmlns:adec="http://schemas.microsoft.com/office/drawing/2017/decorative" val="1"/>
              </a:ext>
            </a:extLst>
          </p:cNvPr>
          <p:cNvSpPr/>
          <p:nvPr/>
        </p:nvSpPr>
        <p:spPr>
          <a:xfrm>
            <a:off x="8936431" y="1737360"/>
            <a:ext cx="2596896" cy="493776"/>
          </a:xfrm>
          <a:prstGeom prst="roundRect">
            <a:avLst>
              <a:gd name="adj" fmla="val 18518"/>
            </a:avLst>
          </a:prstGeom>
          <a:solidFill>
            <a:srgbClr val="F6F3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lensh-LA">
            <a:extLst>
              <a:ext uri="{C183D7F6-B498-43B3-948B-1728B52AA6E4}">
                <adec:decorative xmlns:adec="http://schemas.microsoft.com/office/drawing/2017/decorative" val="1"/>
              </a:ext>
            </a:extLst>
          </p:cNvPr>
          <p:cNvSpPr/>
          <p:nvPr/>
        </p:nvSpPr>
        <p:spPr>
          <a:xfrm>
            <a:off x="8936431" y="1737360"/>
            <a:ext cx="2596896" cy="493776"/>
          </a:xfrm>
          <a:prstGeom prst="roundRect">
            <a:avLst>
              <a:gd name="adj" fmla="val 18518"/>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lensh2-LA">
            <a:extLst>
              <a:ext uri="{C183D7F6-B498-43B3-948B-1728B52AA6E4}">
                <adec:decorative xmlns:adec="http://schemas.microsoft.com/office/drawing/2017/decorative" val="1"/>
              </a:ext>
            </a:extLst>
          </p:cNvPr>
          <p:cNvSpPr/>
          <p:nvPr/>
        </p:nvSpPr>
        <p:spPr>
          <a:xfrm>
            <a:off x="8936431" y="2121408"/>
            <a:ext cx="2596896" cy="109728"/>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6" name="!!lensi-LA" descr="graduation-cap-FFFFFF.png">
            <a:extLs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137599" y="1856231"/>
            <a:ext cx="419498" cy="256032"/>
          </a:xfrm>
          <a:prstGeom prst="rect">
            <a:avLst/>
          </a:prstGeom>
        </p:spPr>
      </p:pic>
      <p:sp>
        <p:nvSpPr>
          <p:cNvPr id="17" name="!!lensn-LA"/>
          <p:cNvSpPr txBox="1"/>
          <p:nvPr/>
        </p:nvSpPr>
        <p:spPr>
          <a:xfrm>
            <a:off x="9703401" y="1837943"/>
            <a:ext cx="1738485"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Learning Analytics</a:t>
            </a:r>
          </a:p>
        </p:txBody>
      </p:sp>
      <p:sp>
        <p:nvSpPr>
          <p:cNvPr id="18" name="!!lens-IOT">
            <a:extLst>
              <a:ext uri="{C183D7F6-B498-43B3-948B-1728B52AA6E4}">
                <adec:decorative xmlns:adec="http://schemas.microsoft.com/office/drawing/2017/decorative" val="1"/>
              </a:ext>
            </a:extLst>
          </p:cNvPr>
          <p:cNvSpPr/>
          <p:nvPr/>
        </p:nvSpPr>
        <p:spPr>
          <a:xfrm>
            <a:off x="8936431" y="2395728"/>
            <a:ext cx="2596896" cy="493776"/>
          </a:xfrm>
          <a:prstGeom prst="roundRect">
            <a:avLst>
              <a:gd name="adj" fmla="val 18518"/>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lensh-IOT">
            <a:extLst>
              <a:ext uri="{C183D7F6-B498-43B3-948B-1728B52AA6E4}">
                <adec:decorative xmlns:adec="http://schemas.microsoft.com/office/drawing/2017/decorative" val="1"/>
              </a:ext>
            </a:extLst>
          </p:cNvPr>
          <p:cNvSpPr/>
          <p:nvPr/>
        </p:nvSpPr>
        <p:spPr>
          <a:xfrm>
            <a:off x="8936431" y="2395728"/>
            <a:ext cx="2596896" cy="493776"/>
          </a:xfrm>
          <a:prstGeom prst="roundRect">
            <a:avLst>
              <a:gd name="adj" fmla="val 18518"/>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lensh2-IOT">
            <a:extLst>
              <a:ext uri="{C183D7F6-B498-43B3-948B-1728B52AA6E4}">
                <adec:decorative xmlns:adec="http://schemas.microsoft.com/office/drawing/2017/decorative" val="1"/>
              </a:ext>
            </a:extLst>
          </p:cNvPr>
          <p:cNvSpPr/>
          <p:nvPr/>
        </p:nvSpPr>
        <p:spPr>
          <a:xfrm>
            <a:off x="8936431" y="2779776"/>
            <a:ext cx="2596896" cy="109728"/>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1" name="!!lensi-IOT" descr="microchip-FFFFFF.png">
            <a:extLs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137599" y="2514600"/>
            <a:ext cx="256032" cy="256032"/>
          </a:xfrm>
          <a:prstGeom prst="rect">
            <a:avLst/>
          </a:prstGeom>
        </p:spPr>
      </p:pic>
      <p:sp>
        <p:nvSpPr>
          <p:cNvPr id="22" name="!!lensn-IOT"/>
          <p:cNvSpPr txBox="1"/>
          <p:nvPr/>
        </p:nvSpPr>
        <p:spPr>
          <a:xfrm>
            <a:off x="9539935" y="2496312"/>
            <a:ext cx="1901951"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Internet of Things</a:t>
            </a:r>
          </a:p>
        </p:txBody>
      </p:sp>
      <p:sp>
        <p:nvSpPr>
          <p:cNvPr id="23" name="!!lens-SEC">
            <a:extLst>
              <a:ext uri="{C183D7F6-B498-43B3-948B-1728B52AA6E4}">
                <adec:decorative xmlns:adec="http://schemas.microsoft.com/office/drawing/2017/decorative" val="1"/>
              </a:ext>
            </a:extLst>
          </p:cNvPr>
          <p:cNvSpPr/>
          <p:nvPr/>
        </p:nvSpPr>
        <p:spPr>
          <a:xfrm>
            <a:off x="8936431" y="3054096"/>
            <a:ext cx="2596896" cy="493776"/>
          </a:xfrm>
          <a:prstGeom prst="roundRect">
            <a:avLst>
              <a:gd name="adj" fmla="val 18518"/>
            </a:avLst>
          </a:prstGeom>
          <a:solidFill>
            <a:srgbClr val="F8F2F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lensh-SEC">
            <a:extLst>
              <a:ext uri="{C183D7F6-B498-43B3-948B-1728B52AA6E4}">
                <adec:decorative xmlns:adec="http://schemas.microsoft.com/office/drawing/2017/decorative" val="1"/>
              </a:ext>
            </a:extLst>
          </p:cNvPr>
          <p:cNvSpPr/>
          <p:nvPr/>
        </p:nvSpPr>
        <p:spPr>
          <a:xfrm>
            <a:off x="8936431" y="3054096"/>
            <a:ext cx="2596896" cy="493776"/>
          </a:xfrm>
          <a:prstGeom prst="roundRect">
            <a:avLst>
              <a:gd name="adj" fmla="val 18518"/>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lensh2-SEC">
            <a:extLst>
              <a:ext uri="{C183D7F6-B498-43B3-948B-1728B52AA6E4}">
                <adec:decorative xmlns:adec="http://schemas.microsoft.com/office/drawing/2017/decorative" val="1"/>
              </a:ext>
            </a:extLst>
          </p:cNvPr>
          <p:cNvSpPr/>
          <p:nvPr/>
        </p:nvSpPr>
        <p:spPr>
          <a:xfrm>
            <a:off x="8936431" y="3438144"/>
            <a:ext cx="2596896" cy="109728"/>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6" name="!!lensi-SEC" descr="shield-alt-FFFFFF.png">
            <a:extLst>
              <a:ext uri="{C183D7F6-B498-43B3-948B-1728B52AA6E4}">
                <adec:decorative xmlns:adec="http://schemas.microsoft.com/office/drawing/2017/decorative" val="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9137599" y="3172968"/>
            <a:ext cx="256032" cy="256032"/>
          </a:xfrm>
          <a:prstGeom prst="rect">
            <a:avLst/>
          </a:prstGeom>
        </p:spPr>
      </p:pic>
      <p:sp>
        <p:nvSpPr>
          <p:cNvPr id="27" name="!!lensn-SEC"/>
          <p:cNvSpPr txBox="1"/>
          <p:nvPr/>
        </p:nvSpPr>
        <p:spPr>
          <a:xfrm>
            <a:off x="9539935" y="3154679"/>
            <a:ext cx="1901951"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Cybersecurity</a:t>
            </a:r>
          </a:p>
        </p:txBody>
      </p:sp>
      <p:sp>
        <p:nvSpPr>
          <p:cNvPr id="28"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pfill">
            <a:extLst>
              <a:ext uri="{C183D7F6-B498-43B3-948B-1728B52AA6E4}">
                <adec:decorative xmlns:adec="http://schemas.microsoft.com/office/drawing/2017/decorative" val="1"/>
              </a:ext>
            </a:extLst>
          </p:cNvPr>
          <p:cNvSpPr/>
          <p:nvPr/>
        </p:nvSpPr>
        <p:spPr>
          <a:xfrm>
            <a:off x="0" y="0"/>
            <a:ext cx="6773164"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700">
        <p159:morph option="byObject"/>
      </p:transition>
    </mc:Choice>
    <mc:Fallback>
      <p:transition spd="med">
        <p:fade/>
      </p:transition>
    </mc:Fallback>
  </mc:AlternateContent>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Internet of Things: Neural Networks</a:t>
            </a:r>
          </a:p>
        </p:txBody>
      </p:sp>
      <p:pic>
        <p:nvPicPr>
          <p:cNvPr id="3" name="!!kicker-icon" descr="compass-117864.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864"/>
                </a:solidFill>
                <a:latin typeface="Segoe UI"/>
              </a:rPr>
              <a:t>FOUR LENSES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17  ·  Neural Network Foundations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114     </a:t>
            </a:r>
            <a:fld id="{4954C9C7-F07B-4DF8-9CEA-8EF5030BF64A}" type="slidenum">
              <a:rPr lang="en-GB" sz="1000">
                <a:solidFill>
                  <a:srgbClr val="8795A1"/>
                </a:solidFill>
                <a:latin typeface="Segoe UI"/>
              </a:rPr>
              <a:t>26</a:t>
            </a:fld>
          </a:p>
        </p:txBody>
      </p:sp>
      <p:sp>
        <p:nvSpPr>
          <p:cNvPr id="7" name="!!lens-IOT">
            <a:extLst>
              <a:ext uri="{C183D7F6-B498-43B3-948B-1728B52AA6E4}">
                <adec:decorative xmlns:adec="http://schemas.microsoft.com/office/drawing/2017/decorative" val="1"/>
              </a:ext>
            </a:extLst>
          </p:cNvPr>
          <p:cNvSpPr/>
          <p:nvPr/>
        </p:nvSpPr>
        <p:spPr>
          <a:xfrm>
            <a:off x="658368" y="1737360"/>
            <a:ext cx="8040319" cy="4572000"/>
          </a:xfrm>
          <a:prstGeom prst="roundRect">
            <a:avLst>
              <a:gd name="adj" fmla="val 2000"/>
            </a:avLst>
          </a:prstGeom>
          <a:solidFill>
            <a:srgbClr val="F1F7F6"/>
          </a:solidFill>
          <a:ln>
            <a:noFill/>
          </a:ln>
          <a:effectLst>
            <a:outerShdw blurRad="177800" dist="38100" dir="5400000" algn="t" rotWithShape="0">
              <a:srgbClr val="1C252B">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lensh-IOT">
            <a:extLst>
              <a:ext uri="{C183D7F6-B498-43B3-948B-1728B52AA6E4}">
                <adec:decorative xmlns:adec="http://schemas.microsoft.com/office/drawing/2017/decorative" val="1"/>
              </a:ext>
            </a:extLst>
          </p:cNvPr>
          <p:cNvSpPr/>
          <p:nvPr/>
        </p:nvSpPr>
        <p:spPr>
          <a:xfrm>
            <a:off x="658368" y="1737360"/>
            <a:ext cx="8040319" cy="493776"/>
          </a:xfrm>
          <a:prstGeom prst="roundRect">
            <a:avLst>
              <a:gd name="adj" fmla="val 18518"/>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lensh2-IOT">
            <a:extLst>
              <a:ext uri="{C183D7F6-B498-43B3-948B-1728B52AA6E4}">
                <adec:decorative xmlns:adec="http://schemas.microsoft.com/office/drawing/2017/decorative" val="1"/>
              </a:ext>
            </a:extLst>
          </p:cNvPr>
          <p:cNvSpPr/>
          <p:nvPr/>
        </p:nvSpPr>
        <p:spPr>
          <a:xfrm>
            <a:off x="658368" y="2121408"/>
            <a:ext cx="8040319" cy="109728"/>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0" name="!!lensi-IOT" descr="microchip-FFFFFF.png">
            <a:extLs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59536" y="1856231"/>
            <a:ext cx="256032" cy="256032"/>
          </a:xfrm>
          <a:prstGeom prst="rect">
            <a:avLst/>
          </a:prstGeom>
        </p:spPr>
      </p:pic>
      <p:sp>
        <p:nvSpPr>
          <p:cNvPr id="11" name="!!lensn-IOT"/>
          <p:cNvSpPr txBox="1"/>
          <p:nvPr/>
        </p:nvSpPr>
        <p:spPr>
          <a:xfrm>
            <a:off x="1261872" y="1837943"/>
            <a:ext cx="7345375" cy="292608"/>
          </a:xfrm>
          <a:prstGeom prst="rect">
            <a:avLst/>
          </a:prstGeom>
          <a:noFill/>
        </p:spPr>
        <p:txBody>
          <a:bodyPr wrap="none" anchor="t" lIns="0" rIns="0" tIns="0" bIns="0">
            <a:noAutofit/>
          </a:bodyPr>
          <a:lstStyle/>
          <a:p>
            <a:pPr algn="l">
              <a:lnSpc>
                <a:spcPct val="100000"/>
              </a:lnSpc>
              <a:spcBef>
                <a:spcPts val="0"/>
              </a:spcBef>
              <a:spcAft>
                <a:spcPts val="0"/>
              </a:spcAft>
            </a:pPr>
            <a:r>
              <a:rPr sz="1350" b="1" i="0" spc="100">
                <a:solidFill>
                  <a:srgbClr val="FFFFFF"/>
                </a:solidFill>
                <a:latin typeface="Segoe UI"/>
              </a:rPr>
              <a:t>INTERNET OF THINGS</a:t>
            </a:r>
          </a:p>
        </p:txBody>
      </p:sp>
      <p:sp>
        <p:nvSpPr>
          <p:cNvPr id="12" name="!!lensb-IOT-0"/>
          <p:cNvSpPr txBox="1"/>
          <p:nvPr/>
        </p:nvSpPr>
        <p:spPr>
          <a:xfrm>
            <a:off x="896112" y="2432304"/>
            <a:ext cx="7583119" cy="2486558"/>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Genuinely useful here, because raw sensor </a:t>
            </a:r>
            <a:r>
              <a:rPr sz="2200" b="0" i="1">
                <a:solidFill>
                  <a:srgbClr val="1C252B"/>
                </a:solidFill>
                <a:latin typeface="Segoe UI"/>
              </a:rPr>
              <a:t>waveforms</a:t>
            </a:r>
            <a:r>
              <a:rPr sz="2200" b="0" i="0">
                <a:solidFill>
                  <a:srgbClr val="1C252B"/>
                </a:solidFill>
                <a:latin typeface="Segoe UI"/>
              </a:rPr>
              <a:t> are unstructured and the fleet generates millions of examples. A small network can also be quantised to run on-device (Chapter 24). Note the constraint that shapes everything: the model must fit in kilobytes and infer in milliseconds, so architecture size is dictated by the hardware, not by accuracy alone.</a:t>
            </a:r>
          </a:p>
        </p:txBody>
      </p:sp>
      <p:sp>
        <p:nvSpPr>
          <p:cNvPr id="13" name="!!lens-LA">
            <a:extLst>
              <a:ext uri="{C183D7F6-B498-43B3-948B-1728B52AA6E4}">
                <adec:decorative xmlns:adec="http://schemas.microsoft.com/office/drawing/2017/decorative" val="1"/>
              </a:ext>
            </a:extLst>
          </p:cNvPr>
          <p:cNvSpPr/>
          <p:nvPr/>
        </p:nvSpPr>
        <p:spPr>
          <a:xfrm>
            <a:off x="8936431" y="1737360"/>
            <a:ext cx="2596896" cy="493776"/>
          </a:xfrm>
          <a:prstGeom prst="roundRect">
            <a:avLst>
              <a:gd name="adj" fmla="val 18518"/>
            </a:avLst>
          </a:prstGeom>
          <a:solidFill>
            <a:srgbClr val="F6F3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lensh-LA">
            <a:extLst>
              <a:ext uri="{C183D7F6-B498-43B3-948B-1728B52AA6E4}">
                <adec:decorative xmlns:adec="http://schemas.microsoft.com/office/drawing/2017/decorative" val="1"/>
              </a:ext>
            </a:extLst>
          </p:cNvPr>
          <p:cNvSpPr/>
          <p:nvPr/>
        </p:nvSpPr>
        <p:spPr>
          <a:xfrm>
            <a:off x="8936431" y="1737360"/>
            <a:ext cx="2596896" cy="493776"/>
          </a:xfrm>
          <a:prstGeom prst="roundRect">
            <a:avLst>
              <a:gd name="adj" fmla="val 18518"/>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lensh2-LA">
            <a:extLst>
              <a:ext uri="{C183D7F6-B498-43B3-948B-1728B52AA6E4}">
                <adec:decorative xmlns:adec="http://schemas.microsoft.com/office/drawing/2017/decorative" val="1"/>
              </a:ext>
            </a:extLst>
          </p:cNvPr>
          <p:cNvSpPr/>
          <p:nvPr/>
        </p:nvSpPr>
        <p:spPr>
          <a:xfrm>
            <a:off x="8936431" y="2121408"/>
            <a:ext cx="2596896" cy="109728"/>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6" name="!!lensi-LA" descr="graduation-cap-FFFFFF.png">
            <a:extLs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137599" y="1856231"/>
            <a:ext cx="419498" cy="256032"/>
          </a:xfrm>
          <a:prstGeom prst="rect">
            <a:avLst/>
          </a:prstGeom>
        </p:spPr>
      </p:pic>
      <p:sp>
        <p:nvSpPr>
          <p:cNvPr id="17" name="!!lensn-LA"/>
          <p:cNvSpPr txBox="1"/>
          <p:nvPr/>
        </p:nvSpPr>
        <p:spPr>
          <a:xfrm>
            <a:off x="9703401" y="1837943"/>
            <a:ext cx="1738485"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Learning Analytics</a:t>
            </a:r>
          </a:p>
        </p:txBody>
      </p:sp>
      <p:sp>
        <p:nvSpPr>
          <p:cNvPr id="18" name="!!lens-PM">
            <a:extLst>
              <a:ext uri="{C183D7F6-B498-43B3-948B-1728B52AA6E4}">
                <adec:decorative xmlns:adec="http://schemas.microsoft.com/office/drawing/2017/decorative" val="1"/>
              </a:ext>
            </a:extLst>
          </p:cNvPr>
          <p:cNvSpPr/>
          <p:nvPr/>
        </p:nvSpPr>
        <p:spPr>
          <a:xfrm>
            <a:off x="8936431" y="2395728"/>
            <a:ext cx="2596896" cy="493776"/>
          </a:xfrm>
          <a:prstGeom prst="roundRect">
            <a:avLst>
              <a:gd name="adj" fmla="val 18518"/>
            </a:avLst>
          </a:prstGeom>
          <a:solidFill>
            <a:srgbClr val="F2F6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lensh-PM">
            <a:extLst>
              <a:ext uri="{C183D7F6-B498-43B3-948B-1728B52AA6E4}">
                <adec:decorative xmlns:adec="http://schemas.microsoft.com/office/drawing/2017/decorative" val="1"/>
              </a:ext>
            </a:extLst>
          </p:cNvPr>
          <p:cNvSpPr/>
          <p:nvPr/>
        </p:nvSpPr>
        <p:spPr>
          <a:xfrm>
            <a:off x="8936431" y="2395728"/>
            <a:ext cx="2596896" cy="493776"/>
          </a:xfrm>
          <a:prstGeom prst="roundRect">
            <a:avLst>
              <a:gd name="adj" fmla="val 18518"/>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lensh2-PM">
            <a:extLst>
              <a:ext uri="{C183D7F6-B498-43B3-948B-1728B52AA6E4}">
                <adec:decorative xmlns:adec="http://schemas.microsoft.com/office/drawing/2017/decorative" val="1"/>
              </a:ext>
            </a:extLst>
          </p:cNvPr>
          <p:cNvSpPr/>
          <p:nvPr/>
        </p:nvSpPr>
        <p:spPr>
          <a:xfrm>
            <a:off x="8936431" y="2779776"/>
            <a:ext cx="2596896" cy="109728"/>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1" name="!!lensi-PM" descr="tasks-FFFFFF.png">
            <a:extLs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137599" y="2514600"/>
            <a:ext cx="301783" cy="256032"/>
          </a:xfrm>
          <a:prstGeom prst="rect">
            <a:avLst/>
          </a:prstGeom>
        </p:spPr>
      </p:pic>
      <p:sp>
        <p:nvSpPr>
          <p:cNvPr id="22" name="!!lensn-PM"/>
          <p:cNvSpPr txBox="1"/>
          <p:nvPr/>
        </p:nvSpPr>
        <p:spPr>
          <a:xfrm>
            <a:off x="9585686" y="2496312"/>
            <a:ext cx="1856200"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Project Management</a:t>
            </a:r>
          </a:p>
        </p:txBody>
      </p:sp>
      <p:sp>
        <p:nvSpPr>
          <p:cNvPr id="23" name="!!lens-SEC">
            <a:extLst>
              <a:ext uri="{C183D7F6-B498-43B3-948B-1728B52AA6E4}">
                <adec:decorative xmlns:adec="http://schemas.microsoft.com/office/drawing/2017/decorative" val="1"/>
              </a:ext>
            </a:extLst>
          </p:cNvPr>
          <p:cNvSpPr/>
          <p:nvPr/>
        </p:nvSpPr>
        <p:spPr>
          <a:xfrm>
            <a:off x="8936431" y="3054096"/>
            <a:ext cx="2596896" cy="493776"/>
          </a:xfrm>
          <a:prstGeom prst="roundRect">
            <a:avLst>
              <a:gd name="adj" fmla="val 18518"/>
            </a:avLst>
          </a:prstGeom>
          <a:solidFill>
            <a:srgbClr val="F8F2F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lensh-SEC">
            <a:extLst>
              <a:ext uri="{C183D7F6-B498-43B3-948B-1728B52AA6E4}">
                <adec:decorative xmlns:adec="http://schemas.microsoft.com/office/drawing/2017/decorative" val="1"/>
              </a:ext>
            </a:extLst>
          </p:cNvPr>
          <p:cNvSpPr/>
          <p:nvPr/>
        </p:nvSpPr>
        <p:spPr>
          <a:xfrm>
            <a:off x="8936431" y="3054096"/>
            <a:ext cx="2596896" cy="493776"/>
          </a:xfrm>
          <a:prstGeom prst="roundRect">
            <a:avLst>
              <a:gd name="adj" fmla="val 18518"/>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lensh2-SEC">
            <a:extLst>
              <a:ext uri="{C183D7F6-B498-43B3-948B-1728B52AA6E4}">
                <adec:decorative xmlns:adec="http://schemas.microsoft.com/office/drawing/2017/decorative" val="1"/>
              </a:ext>
            </a:extLst>
          </p:cNvPr>
          <p:cNvSpPr/>
          <p:nvPr/>
        </p:nvSpPr>
        <p:spPr>
          <a:xfrm>
            <a:off x="8936431" y="3438144"/>
            <a:ext cx="2596896" cy="109728"/>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6" name="!!lensi-SEC" descr="shield-alt-FFFFFF.png">
            <a:extLst>
              <a:ext uri="{C183D7F6-B498-43B3-948B-1728B52AA6E4}">
                <adec:decorative xmlns:adec="http://schemas.microsoft.com/office/drawing/2017/decorative" val="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9137599" y="3172968"/>
            <a:ext cx="256032" cy="256032"/>
          </a:xfrm>
          <a:prstGeom prst="rect">
            <a:avLst/>
          </a:prstGeom>
        </p:spPr>
      </p:pic>
      <p:sp>
        <p:nvSpPr>
          <p:cNvPr id="27" name="!!lensn-SEC"/>
          <p:cNvSpPr txBox="1"/>
          <p:nvPr/>
        </p:nvSpPr>
        <p:spPr>
          <a:xfrm>
            <a:off x="9539935" y="3154679"/>
            <a:ext cx="1901951"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Cybersecurity</a:t>
            </a:r>
          </a:p>
        </p:txBody>
      </p:sp>
      <p:sp>
        <p:nvSpPr>
          <p:cNvPr id="28"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pfill">
            <a:extLst>
              <a:ext uri="{C183D7F6-B498-43B3-948B-1728B52AA6E4}">
                <adec:decorative xmlns:adec="http://schemas.microsoft.com/office/drawing/2017/decorative" val="1"/>
              </a:ext>
            </a:extLst>
          </p:cNvPr>
          <p:cNvSpPr/>
          <p:nvPr/>
        </p:nvSpPr>
        <p:spPr>
          <a:xfrm>
            <a:off x="0" y="0"/>
            <a:ext cx="7044090"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700">
        <p159:morph option="byObject"/>
      </p:transition>
    </mc:Choice>
    <mc:Fallback>
      <p:transition spd="med">
        <p:fade/>
      </p:transition>
    </mc:Fallback>
  </mc:AlternateContent>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Cybersecurity: Neural Networks</a:t>
            </a:r>
          </a:p>
        </p:txBody>
      </p:sp>
      <p:pic>
        <p:nvPicPr>
          <p:cNvPr id="3" name="!!kicker-icon" descr="compass-922B21.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922B21"/>
                </a:solidFill>
                <a:latin typeface="Segoe UI"/>
              </a:rPr>
              <a:t>FOUR LENSES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17  ·  Neural Network Foundations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114     </a:t>
            </a:r>
            <a:fld id="{6EC910E2-9D5B-4136-9FAB-7EFFEC80C8B6}" type="slidenum">
              <a:rPr lang="en-GB" sz="1000">
                <a:solidFill>
                  <a:srgbClr val="8795A1"/>
                </a:solidFill>
                <a:latin typeface="Segoe UI"/>
              </a:rPr>
              <a:t>27</a:t>
            </a:fld>
          </a:p>
        </p:txBody>
      </p:sp>
      <p:sp>
        <p:nvSpPr>
          <p:cNvPr id="7" name="!!lens-SEC">
            <a:extLst>
              <a:ext uri="{C183D7F6-B498-43B3-948B-1728B52AA6E4}">
                <adec:decorative xmlns:adec="http://schemas.microsoft.com/office/drawing/2017/decorative" val="1"/>
              </a:ext>
            </a:extLst>
          </p:cNvPr>
          <p:cNvSpPr/>
          <p:nvPr/>
        </p:nvSpPr>
        <p:spPr>
          <a:xfrm>
            <a:off x="658368" y="1737360"/>
            <a:ext cx="8040319" cy="4572000"/>
          </a:xfrm>
          <a:prstGeom prst="roundRect">
            <a:avLst>
              <a:gd name="adj" fmla="val 2000"/>
            </a:avLst>
          </a:prstGeom>
          <a:solidFill>
            <a:srgbClr val="F8F2F2"/>
          </a:solidFill>
          <a:ln>
            <a:noFill/>
          </a:ln>
          <a:effectLst>
            <a:outerShdw blurRad="177800" dist="38100" dir="5400000" algn="t" rotWithShape="0">
              <a:srgbClr val="1C252B">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lensh-SEC">
            <a:extLst>
              <a:ext uri="{C183D7F6-B498-43B3-948B-1728B52AA6E4}">
                <adec:decorative xmlns:adec="http://schemas.microsoft.com/office/drawing/2017/decorative" val="1"/>
              </a:ext>
            </a:extLst>
          </p:cNvPr>
          <p:cNvSpPr/>
          <p:nvPr/>
        </p:nvSpPr>
        <p:spPr>
          <a:xfrm>
            <a:off x="658368" y="1737360"/>
            <a:ext cx="8040319" cy="493776"/>
          </a:xfrm>
          <a:prstGeom prst="roundRect">
            <a:avLst>
              <a:gd name="adj" fmla="val 18518"/>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lensh2-SEC">
            <a:extLst>
              <a:ext uri="{C183D7F6-B498-43B3-948B-1728B52AA6E4}">
                <adec:decorative xmlns:adec="http://schemas.microsoft.com/office/drawing/2017/decorative" val="1"/>
              </a:ext>
            </a:extLst>
          </p:cNvPr>
          <p:cNvSpPr/>
          <p:nvPr/>
        </p:nvSpPr>
        <p:spPr>
          <a:xfrm>
            <a:off x="658368" y="2121408"/>
            <a:ext cx="8040319" cy="109728"/>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0" name="!!lensi-SEC" descr="shield-alt-FFFFFF.png">
            <a:extLs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59536" y="1856231"/>
            <a:ext cx="256032" cy="256032"/>
          </a:xfrm>
          <a:prstGeom prst="rect">
            <a:avLst/>
          </a:prstGeom>
        </p:spPr>
      </p:pic>
      <p:sp>
        <p:nvSpPr>
          <p:cNvPr id="11" name="!!lensn-SEC"/>
          <p:cNvSpPr txBox="1"/>
          <p:nvPr/>
        </p:nvSpPr>
        <p:spPr>
          <a:xfrm>
            <a:off x="1261872" y="1837943"/>
            <a:ext cx="7345375" cy="292608"/>
          </a:xfrm>
          <a:prstGeom prst="rect">
            <a:avLst/>
          </a:prstGeom>
          <a:noFill/>
        </p:spPr>
        <p:txBody>
          <a:bodyPr wrap="none" anchor="t" lIns="0" rIns="0" tIns="0" bIns="0">
            <a:noAutofit/>
          </a:bodyPr>
          <a:lstStyle/>
          <a:p>
            <a:pPr algn="l">
              <a:lnSpc>
                <a:spcPct val="100000"/>
              </a:lnSpc>
              <a:spcBef>
                <a:spcPts val="0"/>
              </a:spcBef>
              <a:spcAft>
                <a:spcPts val="0"/>
              </a:spcAft>
            </a:pPr>
            <a:r>
              <a:rPr sz="1350" b="1" i="0" spc="100">
                <a:solidFill>
                  <a:srgbClr val="FFFFFF"/>
                </a:solidFill>
                <a:latin typeface="Segoe UI"/>
              </a:rPr>
              <a:t>CYBERSECURITY</a:t>
            </a:r>
          </a:p>
        </p:txBody>
      </p:sp>
      <p:sp>
        <p:nvSpPr>
          <p:cNvPr id="12" name="!!lensb-SEC-0"/>
          <p:cNvSpPr txBox="1"/>
          <p:nvPr/>
        </p:nvSpPr>
        <p:spPr>
          <a:xfrm>
            <a:off x="896112" y="2432304"/>
            <a:ext cx="7583119" cy="2486558"/>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Used for malware classification from raw bytes and for sequence models over session logs, where hand-engineered features are brittle against an adapting adversary. But networks are also uniquely vulnerable: small, deliberately crafted input perturbations can flip a confident prediction. That is adversarial machine learning, and Chapter 26 treats it in full.</a:t>
            </a:r>
          </a:p>
        </p:txBody>
      </p:sp>
      <p:sp>
        <p:nvSpPr>
          <p:cNvPr id="13" name="!!lens-LA">
            <a:extLst>
              <a:ext uri="{C183D7F6-B498-43B3-948B-1728B52AA6E4}">
                <adec:decorative xmlns:adec="http://schemas.microsoft.com/office/drawing/2017/decorative" val="1"/>
              </a:ext>
            </a:extLst>
          </p:cNvPr>
          <p:cNvSpPr/>
          <p:nvPr/>
        </p:nvSpPr>
        <p:spPr>
          <a:xfrm>
            <a:off x="8936431" y="1737360"/>
            <a:ext cx="2596896" cy="493776"/>
          </a:xfrm>
          <a:prstGeom prst="roundRect">
            <a:avLst>
              <a:gd name="adj" fmla="val 18518"/>
            </a:avLst>
          </a:prstGeom>
          <a:solidFill>
            <a:srgbClr val="F6F3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lensh-LA">
            <a:extLst>
              <a:ext uri="{C183D7F6-B498-43B3-948B-1728B52AA6E4}">
                <adec:decorative xmlns:adec="http://schemas.microsoft.com/office/drawing/2017/decorative" val="1"/>
              </a:ext>
            </a:extLst>
          </p:cNvPr>
          <p:cNvSpPr/>
          <p:nvPr/>
        </p:nvSpPr>
        <p:spPr>
          <a:xfrm>
            <a:off x="8936431" y="1737360"/>
            <a:ext cx="2596896" cy="493776"/>
          </a:xfrm>
          <a:prstGeom prst="roundRect">
            <a:avLst>
              <a:gd name="adj" fmla="val 18518"/>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lensh2-LA">
            <a:extLst>
              <a:ext uri="{C183D7F6-B498-43B3-948B-1728B52AA6E4}">
                <adec:decorative xmlns:adec="http://schemas.microsoft.com/office/drawing/2017/decorative" val="1"/>
              </a:ext>
            </a:extLst>
          </p:cNvPr>
          <p:cNvSpPr/>
          <p:nvPr/>
        </p:nvSpPr>
        <p:spPr>
          <a:xfrm>
            <a:off x="8936431" y="2121408"/>
            <a:ext cx="2596896" cy="109728"/>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6" name="!!lensi-LA" descr="graduation-cap-FFFFFF.png">
            <a:extLs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137599" y="1856231"/>
            <a:ext cx="419498" cy="256032"/>
          </a:xfrm>
          <a:prstGeom prst="rect">
            <a:avLst/>
          </a:prstGeom>
        </p:spPr>
      </p:pic>
      <p:sp>
        <p:nvSpPr>
          <p:cNvPr id="17" name="!!lensn-LA"/>
          <p:cNvSpPr txBox="1"/>
          <p:nvPr/>
        </p:nvSpPr>
        <p:spPr>
          <a:xfrm>
            <a:off x="9703401" y="1837943"/>
            <a:ext cx="1738485"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Learning Analytics</a:t>
            </a:r>
          </a:p>
        </p:txBody>
      </p:sp>
      <p:sp>
        <p:nvSpPr>
          <p:cNvPr id="18" name="!!lens-PM">
            <a:extLst>
              <a:ext uri="{C183D7F6-B498-43B3-948B-1728B52AA6E4}">
                <adec:decorative xmlns:adec="http://schemas.microsoft.com/office/drawing/2017/decorative" val="1"/>
              </a:ext>
            </a:extLst>
          </p:cNvPr>
          <p:cNvSpPr/>
          <p:nvPr/>
        </p:nvSpPr>
        <p:spPr>
          <a:xfrm>
            <a:off x="8936431" y="2395728"/>
            <a:ext cx="2596896" cy="493776"/>
          </a:xfrm>
          <a:prstGeom prst="roundRect">
            <a:avLst>
              <a:gd name="adj" fmla="val 18518"/>
            </a:avLst>
          </a:prstGeom>
          <a:solidFill>
            <a:srgbClr val="F2F6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lensh-PM">
            <a:extLst>
              <a:ext uri="{C183D7F6-B498-43B3-948B-1728B52AA6E4}">
                <adec:decorative xmlns:adec="http://schemas.microsoft.com/office/drawing/2017/decorative" val="1"/>
              </a:ext>
            </a:extLst>
          </p:cNvPr>
          <p:cNvSpPr/>
          <p:nvPr/>
        </p:nvSpPr>
        <p:spPr>
          <a:xfrm>
            <a:off x="8936431" y="2395728"/>
            <a:ext cx="2596896" cy="493776"/>
          </a:xfrm>
          <a:prstGeom prst="roundRect">
            <a:avLst>
              <a:gd name="adj" fmla="val 18518"/>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lensh2-PM">
            <a:extLst>
              <a:ext uri="{C183D7F6-B498-43B3-948B-1728B52AA6E4}">
                <adec:decorative xmlns:adec="http://schemas.microsoft.com/office/drawing/2017/decorative" val="1"/>
              </a:ext>
            </a:extLst>
          </p:cNvPr>
          <p:cNvSpPr/>
          <p:nvPr/>
        </p:nvSpPr>
        <p:spPr>
          <a:xfrm>
            <a:off x="8936431" y="2779776"/>
            <a:ext cx="2596896" cy="109728"/>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1" name="!!lensi-PM" descr="tasks-FFFFFF.png">
            <a:extLs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137599" y="2514600"/>
            <a:ext cx="301783" cy="256032"/>
          </a:xfrm>
          <a:prstGeom prst="rect">
            <a:avLst/>
          </a:prstGeom>
        </p:spPr>
      </p:pic>
      <p:sp>
        <p:nvSpPr>
          <p:cNvPr id="22" name="!!lensn-PM"/>
          <p:cNvSpPr txBox="1"/>
          <p:nvPr/>
        </p:nvSpPr>
        <p:spPr>
          <a:xfrm>
            <a:off x="9585686" y="2496312"/>
            <a:ext cx="1856200"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Project Management</a:t>
            </a:r>
          </a:p>
        </p:txBody>
      </p:sp>
      <p:sp>
        <p:nvSpPr>
          <p:cNvPr id="23" name="!!lens-IOT">
            <a:extLst>
              <a:ext uri="{C183D7F6-B498-43B3-948B-1728B52AA6E4}">
                <adec:decorative xmlns:adec="http://schemas.microsoft.com/office/drawing/2017/decorative" val="1"/>
              </a:ext>
            </a:extLst>
          </p:cNvPr>
          <p:cNvSpPr/>
          <p:nvPr/>
        </p:nvSpPr>
        <p:spPr>
          <a:xfrm>
            <a:off x="8936431" y="3054096"/>
            <a:ext cx="2596896" cy="493776"/>
          </a:xfrm>
          <a:prstGeom prst="roundRect">
            <a:avLst>
              <a:gd name="adj" fmla="val 18518"/>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lensh-IOT">
            <a:extLst>
              <a:ext uri="{C183D7F6-B498-43B3-948B-1728B52AA6E4}">
                <adec:decorative xmlns:adec="http://schemas.microsoft.com/office/drawing/2017/decorative" val="1"/>
              </a:ext>
            </a:extLst>
          </p:cNvPr>
          <p:cNvSpPr/>
          <p:nvPr/>
        </p:nvSpPr>
        <p:spPr>
          <a:xfrm>
            <a:off x="8936431" y="3054096"/>
            <a:ext cx="2596896" cy="493776"/>
          </a:xfrm>
          <a:prstGeom prst="roundRect">
            <a:avLst>
              <a:gd name="adj" fmla="val 18518"/>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lensh2-IOT">
            <a:extLst>
              <a:ext uri="{C183D7F6-B498-43B3-948B-1728B52AA6E4}">
                <adec:decorative xmlns:adec="http://schemas.microsoft.com/office/drawing/2017/decorative" val="1"/>
              </a:ext>
            </a:extLst>
          </p:cNvPr>
          <p:cNvSpPr/>
          <p:nvPr/>
        </p:nvSpPr>
        <p:spPr>
          <a:xfrm>
            <a:off x="8936431" y="3438144"/>
            <a:ext cx="2596896" cy="109728"/>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6" name="!!lensi-IOT" descr="microchip-FFFFFF.png">
            <a:extLst>
              <a:ext uri="{C183D7F6-B498-43B3-948B-1728B52AA6E4}">
                <adec:decorative xmlns:adec="http://schemas.microsoft.com/office/drawing/2017/decorative" val="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9137599" y="3172968"/>
            <a:ext cx="256032" cy="256032"/>
          </a:xfrm>
          <a:prstGeom prst="rect">
            <a:avLst/>
          </a:prstGeom>
        </p:spPr>
      </p:pic>
      <p:sp>
        <p:nvSpPr>
          <p:cNvPr id="27" name="!!lensn-IOT"/>
          <p:cNvSpPr txBox="1"/>
          <p:nvPr/>
        </p:nvSpPr>
        <p:spPr>
          <a:xfrm>
            <a:off x="9539935" y="3154679"/>
            <a:ext cx="1901951"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Internet of Things</a:t>
            </a:r>
          </a:p>
        </p:txBody>
      </p:sp>
      <p:sp>
        <p:nvSpPr>
          <p:cNvPr id="28"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pfill">
            <a:extLst>
              <a:ext uri="{C183D7F6-B498-43B3-948B-1728B52AA6E4}">
                <adec:decorative xmlns:adec="http://schemas.microsoft.com/office/drawing/2017/decorative" val="1"/>
              </a:ext>
            </a:extLst>
          </p:cNvPr>
          <p:cNvSpPr/>
          <p:nvPr/>
        </p:nvSpPr>
        <p:spPr>
          <a:xfrm>
            <a:off x="0" y="0"/>
            <a:ext cx="7315017"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700">
        <p159:morph option="byObject"/>
      </p:transition>
    </mc:Choice>
    <mc:Fallback>
      <p:transition spd="med">
        <p:fade/>
      </p:transition>
    </mc:Fallback>
  </mc:AlternateContent>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Try it yourself: A Network from Scratch, then with a Framework</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TRY IT YOURSELF</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17  ·  Neural Network Foundations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§17.5  ·  Handout p. 112     </a:t>
            </a:r>
            <a:fld id="{4803C65A-4664-46C1-BE9B-D639A10422E1}" type="slidenum">
              <a:rPr lang="en-GB" sz="1000">
                <a:solidFill>
                  <a:srgbClr val="8795A1"/>
                </a:solidFill>
                <a:latin typeface="Segoe UI"/>
              </a:rPr>
              <a:t>28</a:t>
            </a:fld>
          </a:p>
        </p:txBody>
      </p:sp>
      <p:sp>
        <p:nvSpPr>
          <p:cNvPr id="7" name="!!labsteps-h"/>
          <p:cNvSpPr txBox="1"/>
          <p:nvPr/>
        </p:nvSpPr>
        <p:spPr>
          <a:xfrm>
            <a:off x="658368" y="1737360"/>
            <a:ext cx="10874959" cy="274320"/>
          </a:xfrm>
          <a:prstGeom prst="rect">
            <a:avLst/>
          </a:prstGeom>
          <a:noFill/>
        </p:spPr>
        <p:txBody>
          <a:bodyPr wrap="square" anchor="t" lIns="0" rIns="0" tIns="0" bIns="0">
            <a:noAutofit/>
          </a:bodyPr>
          <a:lstStyle/>
          <a:p>
            <a:pPr algn="l">
              <a:lnSpc>
                <a:spcPct val="100000"/>
              </a:lnSpc>
              <a:spcBef>
                <a:spcPts val="0"/>
              </a:spcBef>
              <a:spcAft>
                <a:spcPts val="0"/>
              </a:spcAft>
            </a:pPr>
            <a:r>
              <a:rPr sz="1200" b="1" i="0" spc="150">
                <a:solidFill>
                  <a:srgbClr val="0E6655"/>
                </a:solidFill>
                <a:latin typeface="Segoe UI"/>
              </a:rPr>
              <a:t>WHAT YOU WILL DO</a:t>
            </a:r>
          </a:p>
        </p:txBody>
      </p:sp>
      <p:sp>
        <p:nvSpPr>
          <p:cNvPr id="8" name="!!labsteps"/>
          <p:cNvSpPr txBox="1"/>
          <p:nvPr/>
        </p:nvSpPr>
        <p:spPr>
          <a:xfrm>
            <a:off x="658368" y="2121408"/>
            <a:ext cx="10874959" cy="1104900"/>
          </a:xfrm>
          <a:prstGeom prst="rect">
            <a:avLst/>
          </a:prstGeom>
          <a:noFill/>
        </p:spPr>
        <p:txBody>
          <a:bodyPr wrap="square" anchor="t" lIns="0" rIns="0" tIns="0" bIns="0">
            <a:noAutofit/>
          </a:bodyPr>
          <a:lstStyle/>
          <a:p>
            <a:pPr algn="l" marL="459473" indent="-459473">
              <a:lnSpc>
                <a:spcPct val="100000"/>
              </a:lnSpc>
              <a:spcBef>
                <a:spcPts val="0"/>
              </a:spcBef>
              <a:spcAft>
                <a:spcPts val="570"/>
              </a:spcAft>
            </a:pPr>
            <a:r>
              <a:rPr sz="1900" b="1">
                <a:solidFill>
                  <a:srgbClr val="117A65"/>
                </a:solidFill>
                <a:latin typeface="Segoe UI"/>
              </a:rPr>
              <a:t>1.	</a:t>
            </a:r>
            <a:r>
              <a:rPr sz="1900" b="0" i="0">
                <a:solidFill>
                  <a:srgbClr val="1C252B"/>
                </a:solidFill>
                <a:latin typeface="Segoe UI"/>
              </a:rPr>
              <a:t>One neuron, no framework: verify the worked example</a:t>
            </a:r>
          </a:p>
          <a:p>
            <a:pPr algn="l" marL="459473" indent="-459473">
              <a:lnSpc>
                <a:spcPct val="100000"/>
              </a:lnSpc>
              <a:spcBef>
                <a:spcPts val="0"/>
              </a:spcBef>
              <a:spcAft>
                <a:spcPts val="570"/>
              </a:spcAft>
            </a:pPr>
            <a:r>
              <a:rPr sz="1900" b="1">
                <a:solidFill>
                  <a:srgbClr val="117A65"/>
                </a:solidFill>
                <a:latin typeface="Segoe UI"/>
              </a:rPr>
              <a:t>2.	</a:t>
            </a:r>
            <a:r>
              <a:rPr sz="1900" b="0" i="0">
                <a:solidFill>
                  <a:srgbClr val="1C252B"/>
                </a:solidFill>
                <a:latin typeface="Segoe UI"/>
              </a:rPr>
              <a:t>A tiny two-layer network trained by hand</a:t>
            </a:r>
          </a:p>
          <a:p>
            <a:pPr algn="l" marL="459473" indent="-459473">
              <a:lnSpc>
                <a:spcPct val="100000"/>
              </a:lnSpc>
              <a:spcBef>
                <a:spcPts val="0"/>
              </a:spcBef>
              <a:spcAft>
                <a:spcPts val="0"/>
              </a:spcAft>
            </a:pPr>
            <a:r>
              <a:rPr sz="1900" b="1">
                <a:solidFill>
                  <a:srgbClr val="117A65"/>
                </a:solidFill>
                <a:latin typeface="Segoe UI"/>
              </a:rPr>
              <a:t>3.	</a:t>
            </a:r>
            <a:r>
              <a:rPr sz="1900" b="0" i="0">
                <a:solidFill>
                  <a:srgbClr val="1C252B"/>
                </a:solidFill>
                <a:latin typeface="Segoe UI"/>
              </a:rPr>
              <a:t>The same thing with a framework, plus early stopping</a:t>
            </a:r>
          </a:p>
        </p:txBody>
      </p:sp>
      <p:sp>
        <p:nvSpPr>
          <p:cNvPr id="19" name="!!lfTHIS">
            <a:extLst>
              <a:ext uri="{C183D7F6-B498-43B3-948B-1728B52AA6E4}">
                <adec:decorative xmlns:adec="http://schemas.microsoft.com/office/drawing/2017/decorative" val="1"/>
              </a:ext>
            </a:extLst>
          </p:cNvPr>
          <p:cNvSpPr/>
          <p:nvPr/>
        </p:nvSpPr>
        <p:spPr>
          <a:xfrm>
            <a:off x="658368" y="5212080"/>
            <a:ext cx="3442106" cy="1078992"/>
          </a:xfrm>
          <a:prstGeom prst="roundRect">
            <a:avLst>
              <a:gd name="adj" fmla="val 8474"/>
            </a:avLst>
          </a:prstGeom>
          <a:solidFill>
            <a:srgbClr val="EEF6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lfbTHIS">
            <a:extLst>
              <a:ext uri="{C183D7F6-B498-43B3-948B-1728B52AA6E4}">
                <adec:decorative xmlns:adec="http://schemas.microsoft.com/office/drawing/2017/decorative" val="1"/>
              </a:ext>
            </a:extLst>
          </p:cNvPr>
          <p:cNvSpPr/>
          <p:nvPr/>
        </p:nvSpPr>
        <p:spPr>
          <a:xfrm>
            <a:off x="658368" y="5212080"/>
            <a:ext cx="64008" cy="1078992"/>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lflTHIS"/>
          <p:cNvSpPr txBox="1"/>
          <p:nvPr/>
        </p:nvSpPr>
        <p:spPr>
          <a:xfrm>
            <a:off x="932688" y="5376672"/>
            <a:ext cx="3030626"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40">
                <a:solidFill>
                  <a:srgbClr val="0E6655"/>
                </a:solidFill>
                <a:latin typeface="Segoe UI"/>
              </a:rPr>
              <a:t>THIS WEEK'S LAB</a:t>
            </a:r>
          </a:p>
        </p:txBody>
      </p:sp>
      <p:sp>
        <p:nvSpPr>
          <p:cNvPr id="22" name="!!lfvTHIS"/>
          <p:cNvSpPr txBox="1"/>
          <p:nvPr/>
        </p:nvSpPr>
        <p:spPr>
          <a:xfrm>
            <a:off x="932688" y="5669280"/>
            <a:ext cx="3030626" cy="566928"/>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Week 11: Network from scratch; transfer learning</a:t>
            </a:r>
          </a:p>
        </p:txBody>
      </p:sp>
      <p:sp>
        <p:nvSpPr>
          <p:cNvPr id="23" name="!!lfWHAT">
            <a:extLst>
              <a:ext uri="{C183D7F6-B498-43B3-948B-1728B52AA6E4}">
                <adec:decorative xmlns:adec="http://schemas.microsoft.com/office/drawing/2017/decorative" val="1"/>
              </a:ext>
            </a:extLst>
          </p:cNvPr>
          <p:cNvSpPr/>
          <p:nvPr/>
        </p:nvSpPr>
        <p:spPr>
          <a:xfrm>
            <a:off x="4374794" y="5212080"/>
            <a:ext cx="3442106" cy="1078992"/>
          </a:xfrm>
          <a:prstGeom prst="roundRect">
            <a:avLst>
              <a:gd name="adj" fmla="val 8474"/>
            </a:avLst>
          </a:prstGeom>
          <a:solidFill>
            <a:srgbClr val="EEF6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lfbWHAT">
            <a:extLst>
              <a:ext uri="{C183D7F6-B498-43B3-948B-1728B52AA6E4}">
                <adec:decorative xmlns:adec="http://schemas.microsoft.com/office/drawing/2017/decorative" val="1"/>
              </a:ext>
            </a:extLst>
          </p:cNvPr>
          <p:cNvSpPr/>
          <p:nvPr/>
        </p:nvSpPr>
        <p:spPr>
          <a:xfrm>
            <a:off x="4374794" y="5212080"/>
            <a:ext cx="64008" cy="1078992"/>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lflWHAT"/>
          <p:cNvSpPr txBox="1"/>
          <p:nvPr/>
        </p:nvSpPr>
        <p:spPr>
          <a:xfrm>
            <a:off x="4649114" y="5376672"/>
            <a:ext cx="3030626"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40">
                <a:solidFill>
                  <a:srgbClr val="0E6655"/>
                </a:solidFill>
                <a:latin typeface="Segoe UI"/>
              </a:rPr>
              <a:t>WHAT YOU WILL RUN</a:t>
            </a:r>
          </a:p>
        </p:txBody>
      </p:sp>
      <p:sp>
        <p:nvSpPr>
          <p:cNvPr id="26" name="!!lfvWHAT"/>
          <p:cNvSpPr txBox="1"/>
          <p:nvPr/>
        </p:nvSpPr>
        <p:spPr>
          <a:xfrm>
            <a:off x="4649114" y="5669280"/>
            <a:ext cx="3030626" cy="566928"/>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1 listing, 41 lines of Python</a:t>
            </a:r>
          </a:p>
        </p:txBody>
      </p:sp>
      <p:sp>
        <p:nvSpPr>
          <p:cNvPr id="27" name="!!lfRUNN">
            <a:extLst>
              <a:ext uri="{C183D7F6-B498-43B3-948B-1728B52AA6E4}">
                <adec:decorative xmlns:adec="http://schemas.microsoft.com/office/drawing/2017/decorative" val="1"/>
              </a:ext>
            </a:extLst>
          </p:cNvPr>
          <p:cNvSpPr/>
          <p:nvPr/>
        </p:nvSpPr>
        <p:spPr>
          <a:xfrm>
            <a:off x="8091220" y="5212080"/>
            <a:ext cx="3442106" cy="1078992"/>
          </a:xfrm>
          <a:prstGeom prst="roundRect">
            <a:avLst>
              <a:gd name="adj" fmla="val 8474"/>
            </a:avLst>
          </a:prstGeom>
          <a:solidFill>
            <a:srgbClr val="EEF6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8" name="!!lfbRUNN">
            <a:extLst>
              <a:ext uri="{C183D7F6-B498-43B3-948B-1728B52AA6E4}">
                <adec:decorative xmlns:adec="http://schemas.microsoft.com/office/drawing/2017/decorative" val="1"/>
              </a:ext>
            </a:extLst>
          </p:cNvPr>
          <p:cNvSpPr/>
          <p:nvPr/>
        </p:nvSpPr>
        <p:spPr>
          <a:xfrm>
            <a:off x="8091220" y="5212080"/>
            <a:ext cx="64008" cy="1078992"/>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lflRUNN"/>
          <p:cNvSpPr txBox="1"/>
          <p:nvPr/>
        </p:nvSpPr>
        <p:spPr>
          <a:xfrm>
            <a:off x="8365540" y="5376672"/>
            <a:ext cx="3030626"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40">
                <a:solidFill>
                  <a:srgbClr val="0E6655"/>
                </a:solidFill>
                <a:latin typeface="Segoe UI"/>
              </a:rPr>
              <a:t>RUNNABLE COPY</a:t>
            </a:r>
          </a:p>
        </p:txBody>
      </p:sp>
      <p:sp>
        <p:nvSpPr>
          <p:cNvPr id="30" name="!!lfvRUNN"/>
          <p:cNvSpPr txBox="1"/>
          <p:nvPr/>
        </p:nvSpPr>
        <p:spPr>
          <a:xfrm>
            <a:off x="8365540" y="5669280"/>
            <a:ext cx="3030626" cy="566928"/>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Consolas"/>
              </a:rPr>
              <a:t>code/ch17_network_from_scratch.py</a:t>
            </a:r>
          </a:p>
        </p:txBody>
      </p:sp>
      <p:sp>
        <p:nvSpPr>
          <p:cNvPr id="31"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2" name="!!pfill">
            <a:extLst>
              <a:ext uri="{C183D7F6-B498-43B3-948B-1728B52AA6E4}">
                <adec:decorative xmlns:adec="http://schemas.microsoft.com/office/drawing/2017/decorative" val="1"/>
              </a:ext>
            </a:extLst>
          </p:cNvPr>
          <p:cNvSpPr/>
          <p:nvPr/>
        </p:nvSpPr>
        <p:spPr>
          <a:xfrm>
            <a:off x="0" y="0"/>
            <a:ext cx="7585943"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8">
                                            <p:txEl>
                                              <p:pRg st="0" end="0"/>
                                            </p:txEl>
                                          </p:spTgt>
                                        </p:tgtEl>
                                        <p:attrNameLst>
                                          <p:attrName>style.visibility</p:attrName>
                                        </p:attrNameLst>
                                      </p:cBhvr>
                                      <p:to>
                                        <p:strVal val="visible"/>
                                      </p:to>
                                    </p:set>
                                    <p:animEffect transition="in" filter="fade">
                                      <p:cBhvr>
                                        <p:cTn id="8" dur="300"/>
                                        <p:tgtEl>
                                          <p:spTgt spid="8">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8">
                                            <p:txEl>
                                              <p:pRg st="1" end="1"/>
                                            </p:txEl>
                                          </p:spTgt>
                                        </p:tgtEl>
                                        <p:attrNameLst>
                                          <p:attrName>style.visibility</p:attrName>
                                        </p:attrNameLst>
                                      </p:cBhvr>
                                      <p:to>
                                        <p:strVal val="visible"/>
                                      </p:to>
                                    </p:set>
                                    <p:animEffect transition="in" filter="fade">
                                      <p:cBhvr>
                                        <p:cTn id="13" dur="300"/>
                                        <p:tgtEl>
                                          <p:spTgt spid="8">
                                            <p:txEl>
                                              <p:pRg st="1" end="1"/>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8">
                                            <p:txEl>
                                              <p:pRg st="2" end="2"/>
                                            </p:txEl>
                                          </p:spTgt>
                                        </p:tgtEl>
                                        <p:attrNameLst>
                                          <p:attrName>style.visibility</p:attrName>
                                        </p:attrNameLst>
                                      </p:cBhvr>
                                      <p:to>
                                        <p:strVal val="visible"/>
                                      </p:to>
                                    </p:set>
                                    <p:animEffect transition="in" filter="fade">
                                      <p:cBhvr>
                                        <p:cTn id="18" dur="300"/>
                                        <p:tgtEl>
                                          <p:spTgt spid="8">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p:bldLst>
  </p:timing>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A Network from Scratch, then with a Framework</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1 OF 5</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17  ·  Neural Network Foundations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§17.5  ·  Handout p. 112     </a:t>
            </a:r>
            <a:fld id="{AC55D989-686F-4856-8520-7E479F3D47C5}" type="slidenum">
              <a:rPr lang="en-GB" sz="1000">
                <a:solidFill>
                  <a:srgbClr val="8795A1"/>
                </a:solidFill>
                <a:latin typeface="Segoe UI"/>
              </a:rPr>
              <a:t>29</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Set-up</a:t>
            </a:r>
          </a:p>
        </p:txBody>
      </p:sp>
      <p:sp>
        <p:nvSpPr>
          <p:cNvPr id="8" name="!!code-bg">
            <a:extLst>
              <a:ext uri="{C183D7F6-B498-43B3-948B-1728B52AA6E4}">
                <adec:decorative xmlns:adec="http://schemas.microsoft.com/office/drawing/2017/decorative" val="1"/>
              </a:ext>
            </a:extLst>
          </p:cNvPr>
          <p:cNvSpPr/>
          <p:nvPr/>
        </p:nvSpPr>
        <p:spPr>
          <a:xfrm>
            <a:off x="658368" y="2084831"/>
            <a:ext cx="10874959" cy="908303"/>
          </a:xfrm>
          <a:prstGeom prst="roundRect">
            <a:avLst>
              <a:gd name="adj" fmla="val 10067"/>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  ·  code/ch17_network_from_scratch.py</a:t>
            </a:r>
          </a:p>
        </p:txBody>
      </p:sp>
      <p:sp>
        <p:nvSpPr>
          <p:cNvPr id="14" name="!!code-text" descr="import numpy as np"/>
          <p:cNvSpPr txBox="1"/>
          <p:nvPr/>
        </p:nvSpPr>
        <p:spPr>
          <a:xfrm>
            <a:off x="1362456" y="2523744"/>
            <a:ext cx="9987991" cy="414527"/>
          </a:xfrm>
          <a:prstGeom prst="rect">
            <a:avLst/>
          </a:prstGeom>
          <a:noFill/>
        </p:spPr>
        <p:txBody>
          <a:bodyPr wrap="none" anchor="t" lIns="0" rIns="0" tIns="0" bIns="0">
            <a:noAutofit/>
          </a:bodyPr>
          <a:lstStyle/>
          <a:p>
            <a:pPr>
              <a:lnSpc>
                <a:spcPct val="100000"/>
              </a:lnSpc>
              <a:spcAft>
                <a:spcPts val="0"/>
              </a:spcAft>
            </a:pPr>
            <a:r>
              <a:rPr sz="2000" i="0">
                <a:solidFill>
                  <a:srgbClr val="5DADE2"/>
                </a:solidFill>
                <a:latin typeface="Consolas"/>
              </a:rPr>
              <a:t>import</a:t>
            </a:r>
            <a:r>
              <a:rPr sz="2000" i="0">
                <a:solidFill>
                  <a:srgbClr val="E8EDF2"/>
                </a:solidFill>
                <a:latin typeface="Consolas"/>
              </a:rPr>
              <a:t> </a:t>
            </a:r>
            <a:r>
              <a:rPr sz="2000" i="0">
                <a:solidFill>
                  <a:srgbClr val="76D7C4"/>
                </a:solidFill>
                <a:latin typeface="Consolas"/>
              </a:rPr>
              <a:t>numpy</a:t>
            </a:r>
            <a:r>
              <a:rPr sz="2000" i="0">
                <a:solidFill>
                  <a:srgbClr val="E8EDF2"/>
                </a:solidFill>
                <a:latin typeface="Consolas"/>
              </a:rPr>
              <a:t> </a:t>
            </a:r>
            <a:r>
              <a:rPr sz="2000" i="0">
                <a:solidFill>
                  <a:srgbClr val="5DADE2"/>
                </a:solidFill>
                <a:latin typeface="Consolas"/>
              </a:rPr>
              <a:t>as</a:t>
            </a:r>
            <a:r>
              <a:rPr sz="2000" i="0">
                <a:solidFill>
                  <a:srgbClr val="E8EDF2"/>
                </a:solidFill>
                <a:latin typeface="Consolas"/>
              </a:rPr>
              <a:t> </a:t>
            </a:r>
            <a:r>
              <a:rPr sz="2000" i="0">
                <a:solidFill>
                  <a:srgbClr val="76D7C4"/>
                </a:solidFill>
                <a:latin typeface="Consolas"/>
              </a:rPr>
              <a:t>np</a:t>
            </a:r>
          </a:p>
        </p:txBody>
      </p:sp>
      <p:sp>
        <p:nvSpPr>
          <p:cNvPr id="15" name="!!code-num"/>
          <p:cNvSpPr txBox="1"/>
          <p:nvPr/>
        </p:nvSpPr>
        <p:spPr>
          <a:xfrm>
            <a:off x="768096" y="2523744"/>
            <a:ext cx="393192" cy="414527"/>
          </a:xfrm>
          <a:prstGeom prst="rect">
            <a:avLst/>
          </a:prstGeom>
          <a:noFill/>
        </p:spPr>
        <p:txBody>
          <a:bodyPr wrap="none" anchor="t" lIns="0" rIns="0" tIns="0" bIns="0">
            <a:noAutofit/>
          </a:bodyPr>
          <a:lstStyle/>
          <a:p>
            <a:pPr algn="r">
              <a:lnSpc>
                <a:spcPct val="100000"/>
              </a:lnSpc>
            </a:pPr>
            <a:r>
              <a:rPr sz="2000">
                <a:solidFill>
                  <a:srgbClr val="4F5D6A"/>
                </a:solidFill>
                <a:latin typeface="Consolas"/>
              </a:rPr>
              <a:t>1</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7856870"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600">
        <p:fade/>
      </p:transition>
    </mc:Choice>
    <mc:Fallback>
      <p:transition spd="med">
        <p:fade/>
      </p:transition>
    </mc:Fallback>
  </mc:AlternateContent>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A Network from Scratch, then with a Framework</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2 OF 5</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17  ·  Neural Network Foundations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§17.5  ·  Handout p. 112     </a:t>
            </a:r>
            <a:fld id="{77B51937-00AA-4B27-85A2-3C548F5788CD}" type="slidenum">
              <a:rPr lang="en-GB" sz="1000">
                <a:solidFill>
                  <a:srgbClr val="8795A1"/>
                </a:solidFill>
                <a:latin typeface="Segoe UI"/>
              </a:rPr>
              <a:t>30</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One neuron, no framework: verify the worked example</a:t>
            </a:r>
          </a:p>
        </p:txBody>
      </p:sp>
      <p:sp>
        <p:nvSpPr>
          <p:cNvPr id="8" name="!!code-bg">
            <a:extLst>
              <a:ext uri="{C183D7F6-B498-43B3-948B-1728B52AA6E4}">
                <adec:decorative xmlns:adec="http://schemas.microsoft.com/office/drawing/2017/decorative" val="1"/>
              </a:ext>
            </a:extLst>
          </p:cNvPr>
          <p:cNvSpPr/>
          <p:nvPr/>
        </p:nvSpPr>
        <p:spPr>
          <a:xfrm>
            <a:off x="658368" y="2084831"/>
            <a:ext cx="10874959" cy="1700784"/>
          </a:xfrm>
          <a:prstGeom prst="roundRect">
            <a:avLst>
              <a:gd name="adj" fmla="val 5376"/>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  ·  code/ch17_network_from_scratch.py</a:t>
            </a:r>
          </a:p>
        </p:txBody>
      </p:sp>
      <p:sp>
        <p:nvSpPr>
          <p:cNvPr id="14" name="!!code-text" descr="# ---- one neuron, no framework: verify the worked example -------------- x = np.array([0.8, 0.3, 0.5]); w = np.array([1.2, -0.5, 0.9]); b = -0.4 z = w @ x + b print(&quot;z =&quot;, z, &quot; relu(z) =&quot;, max(0.0, z)) # 0.86, 0.86"/>
          <p:cNvSpPr txBox="1"/>
          <p:nvPr/>
        </p:nvSpPr>
        <p:spPr>
          <a:xfrm>
            <a:off x="1362456" y="2523744"/>
            <a:ext cx="9987991" cy="1207008"/>
          </a:xfrm>
          <a:prstGeom prst="rect">
            <a:avLst/>
          </a:prstGeom>
          <a:noFill/>
        </p:spPr>
        <p:txBody>
          <a:bodyPr wrap="none" anchor="t" lIns="0" rIns="0" tIns="0" bIns="0">
            <a:noAutofit/>
          </a:bodyPr>
          <a:lstStyle/>
          <a:p>
            <a:pPr>
              <a:lnSpc>
                <a:spcPct val="100000"/>
              </a:lnSpc>
              <a:spcAft>
                <a:spcPts val="0"/>
              </a:spcAft>
            </a:pPr>
            <a:r>
              <a:rPr sz="1800" i="1">
                <a:solidFill>
                  <a:srgbClr val="8795A1"/>
                </a:solidFill>
                <a:latin typeface="Consolas"/>
              </a:rPr>
              <a:t># ---- one neuron, no framework: verify the worked example --------------</a:t>
            </a:r>
          </a:p>
          <a:p>
            <a:pPr>
              <a:lnSpc>
                <a:spcPct val="100000"/>
              </a:lnSpc>
              <a:spcAft>
                <a:spcPts val="0"/>
              </a:spcAft>
            </a:pPr>
            <a:r>
              <a:rPr sz="1800" i="0">
                <a:solidFill>
                  <a:srgbClr val="E8EDF2"/>
                </a:solidFill>
                <a:latin typeface="Consolas"/>
              </a:rPr>
              <a:t>x</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np</a:t>
            </a:r>
            <a:r>
              <a:rPr sz="1800" i="0">
                <a:solidFill>
                  <a:srgbClr val="AEB6BF"/>
                </a:solidFill>
                <a:latin typeface="Consolas"/>
              </a:rPr>
              <a:t>.</a:t>
            </a:r>
            <a:r>
              <a:rPr sz="1800" i="0">
                <a:solidFill>
                  <a:srgbClr val="E8EDF2"/>
                </a:solidFill>
                <a:latin typeface="Consolas"/>
              </a:rPr>
              <a:t>array</a:t>
            </a:r>
            <a:r>
              <a:rPr sz="1800" i="0">
                <a:solidFill>
                  <a:srgbClr val="AEB6BF"/>
                </a:solidFill>
                <a:latin typeface="Consolas"/>
              </a:rPr>
              <a:t>(</a:t>
            </a:r>
            <a:r>
              <a:rPr sz="1800" i="0">
                <a:solidFill>
                  <a:srgbClr val="AEB6BF"/>
                </a:solidFill>
                <a:latin typeface="Consolas"/>
              </a:rPr>
              <a:t>[</a:t>
            </a:r>
            <a:r>
              <a:rPr sz="1800" i="0">
                <a:solidFill>
                  <a:srgbClr val="F7DC6F"/>
                </a:solidFill>
                <a:latin typeface="Consolas"/>
              </a:rPr>
              <a:t>0.8</a:t>
            </a:r>
            <a:r>
              <a:rPr sz="1800" i="0">
                <a:solidFill>
                  <a:srgbClr val="AEB6BF"/>
                </a:solidFill>
                <a:latin typeface="Consolas"/>
              </a:rPr>
              <a:t>,</a:t>
            </a:r>
            <a:r>
              <a:rPr sz="1800" i="0">
                <a:solidFill>
                  <a:srgbClr val="E8EDF2"/>
                </a:solidFill>
                <a:latin typeface="Consolas"/>
              </a:rPr>
              <a:t> </a:t>
            </a:r>
            <a:r>
              <a:rPr sz="1800" i="0">
                <a:solidFill>
                  <a:srgbClr val="F7DC6F"/>
                </a:solidFill>
                <a:latin typeface="Consolas"/>
              </a:rPr>
              <a:t>0.3</a:t>
            </a:r>
            <a:r>
              <a:rPr sz="1800" i="0">
                <a:solidFill>
                  <a:srgbClr val="AEB6BF"/>
                </a:solidFill>
                <a:latin typeface="Consolas"/>
              </a:rPr>
              <a:t>,</a:t>
            </a:r>
            <a:r>
              <a:rPr sz="1800" i="0">
                <a:solidFill>
                  <a:srgbClr val="E8EDF2"/>
                </a:solidFill>
                <a:latin typeface="Consolas"/>
              </a:rPr>
              <a:t> </a:t>
            </a:r>
            <a:r>
              <a:rPr sz="1800" i="0">
                <a:solidFill>
                  <a:srgbClr val="F7DC6F"/>
                </a:solidFill>
                <a:latin typeface="Consolas"/>
              </a:rPr>
              <a:t>0.5</a:t>
            </a:r>
            <a:r>
              <a:rPr sz="1800" i="0">
                <a:solidFill>
                  <a:srgbClr val="AEB6BF"/>
                </a:solidFill>
                <a:latin typeface="Consolas"/>
              </a:rPr>
              <a:t>]</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w</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np</a:t>
            </a:r>
            <a:r>
              <a:rPr sz="1800" i="0">
                <a:solidFill>
                  <a:srgbClr val="AEB6BF"/>
                </a:solidFill>
                <a:latin typeface="Consolas"/>
              </a:rPr>
              <a:t>.</a:t>
            </a:r>
            <a:r>
              <a:rPr sz="1800" i="0">
                <a:solidFill>
                  <a:srgbClr val="E8EDF2"/>
                </a:solidFill>
                <a:latin typeface="Consolas"/>
              </a:rPr>
              <a:t>array</a:t>
            </a:r>
            <a:r>
              <a:rPr sz="1800" i="0">
                <a:solidFill>
                  <a:srgbClr val="AEB6BF"/>
                </a:solidFill>
                <a:latin typeface="Consolas"/>
              </a:rPr>
              <a:t>(</a:t>
            </a:r>
            <a:r>
              <a:rPr sz="1800" i="0">
                <a:solidFill>
                  <a:srgbClr val="AEB6BF"/>
                </a:solidFill>
                <a:latin typeface="Consolas"/>
              </a:rPr>
              <a:t>[</a:t>
            </a:r>
            <a:r>
              <a:rPr sz="1800" i="0">
                <a:solidFill>
                  <a:srgbClr val="F7DC6F"/>
                </a:solidFill>
                <a:latin typeface="Consolas"/>
              </a:rPr>
              <a:t>1.2</a:t>
            </a:r>
            <a:r>
              <a:rPr sz="1800" i="0">
                <a:solidFill>
                  <a:srgbClr val="AEB6BF"/>
                </a:solidFill>
                <a:latin typeface="Consolas"/>
              </a:rPr>
              <a:t>,</a:t>
            </a:r>
            <a:r>
              <a:rPr sz="1800" i="0">
                <a:solidFill>
                  <a:srgbClr val="E8EDF2"/>
                </a:solidFill>
                <a:latin typeface="Consolas"/>
              </a:rPr>
              <a:t> </a:t>
            </a:r>
            <a:r>
              <a:rPr sz="1800" i="0">
                <a:solidFill>
                  <a:srgbClr val="AEB6BF"/>
                </a:solidFill>
                <a:latin typeface="Consolas"/>
              </a:rPr>
              <a:t>-</a:t>
            </a:r>
            <a:r>
              <a:rPr sz="1800" i="0">
                <a:solidFill>
                  <a:srgbClr val="F7DC6F"/>
                </a:solidFill>
                <a:latin typeface="Consolas"/>
              </a:rPr>
              <a:t>0.5</a:t>
            </a:r>
            <a:r>
              <a:rPr sz="1800" i="0">
                <a:solidFill>
                  <a:srgbClr val="AEB6BF"/>
                </a:solidFill>
                <a:latin typeface="Consolas"/>
              </a:rPr>
              <a:t>,</a:t>
            </a:r>
            <a:r>
              <a:rPr sz="1800" i="0">
                <a:solidFill>
                  <a:srgbClr val="E8EDF2"/>
                </a:solidFill>
                <a:latin typeface="Consolas"/>
              </a:rPr>
              <a:t> </a:t>
            </a:r>
            <a:r>
              <a:rPr sz="1800" i="0">
                <a:solidFill>
                  <a:srgbClr val="F7DC6F"/>
                </a:solidFill>
                <a:latin typeface="Consolas"/>
              </a:rPr>
              <a:t>0.9</a:t>
            </a:r>
            <a:r>
              <a:rPr sz="1800" i="0">
                <a:solidFill>
                  <a:srgbClr val="AEB6BF"/>
                </a:solidFill>
                <a:latin typeface="Consolas"/>
              </a:rPr>
              <a:t>]</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b</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AEB6BF"/>
                </a:solidFill>
                <a:latin typeface="Consolas"/>
              </a:rPr>
              <a:t>-</a:t>
            </a:r>
            <a:r>
              <a:rPr sz="1800" i="0">
                <a:solidFill>
                  <a:srgbClr val="F7DC6F"/>
                </a:solidFill>
                <a:latin typeface="Consolas"/>
              </a:rPr>
              <a:t>0.4</a:t>
            </a:r>
          </a:p>
          <a:p>
            <a:pPr>
              <a:lnSpc>
                <a:spcPct val="100000"/>
              </a:lnSpc>
              <a:spcAft>
                <a:spcPts val="0"/>
              </a:spcAft>
            </a:pPr>
            <a:r>
              <a:rPr sz="1800" i="0">
                <a:solidFill>
                  <a:srgbClr val="E8EDF2"/>
                </a:solidFill>
                <a:latin typeface="Consolas"/>
              </a:rPr>
              <a:t>z</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w</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x</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b</a:t>
            </a:r>
          </a:p>
          <a:p>
            <a:pPr>
              <a:lnSpc>
                <a:spcPct val="100000"/>
              </a:lnSpc>
              <a:spcAft>
                <a:spcPts val="0"/>
              </a:spcAft>
            </a:pPr>
            <a:r>
              <a:rPr sz="1800" i="0">
                <a:solidFill>
                  <a:srgbClr val="C39BD3"/>
                </a:solidFill>
                <a:latin typeface="Consolas"/>
              </a:rPr>
              <a:t>print</a:t>
            </a:r>
            <a:r>
              <a:rPr sz="1800" i="0">
                <a:solidFill>
                  <a:srgbClr val="AEB6BF"/>
                </a:solidFill>
                <a:latin typeface="Consolas"/>
              </a:rPr>
              <a:t>(</a:t>
            </a:r>
            <a:r>
              <a:rPr sz="1800" i="0">
                <a:solidFill>
                  <a:srgbClr val="7DCEA0"/>
                </a:solidFill>
                <a:latin typeface="Consolas"/>
              </a:rPr>
              <a:t>"</a:t>
            </a:r>
            <a:r>
              <a:rPr sz="1800" i="0">
                <a:solidFill>
                  <a:srgbClr val="7DCEA0"/>
                </a:solidFill>
                <a:latin typeface="Consolas"/>
              </a:rPr>
              <a:t>z =</a:t>
            </a:r>
            <a:r>
              <a:rPr sz="1800" i="0">
                <a:solidFill>
                  <a:srgbClr val="7DCEA0"/>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z</a:t>
            </a:r>
            <a:r>
              <a:rPr sz="1800" i="0">
                <a:solidFill>
                  <a:srgbClr val="AEB6BF"/>
                </a:solidFill>
                <a:latin typeface="Consolas"/>
              </a:rPr>
              <a:t>,</a:t>
            </a:r>
            <a:r>
              <a:rPr sz="1800" i="0">
                <a:solidFill>
                  <a:srgbClr val="E8EDF2"/>
                </a:solidFill>
                <a:latin typeface="Consolas"/>
              </a:rPr>
              <a:t> </a:t>
            </a:r>
            <a:r>
              <a:rPr sz="1800" i="0">
                <a:solidFill>
                  <a:srgbClr val="7DCEA0"/>
                </a:solidFill>
                <a:latin typeface="Consolas"/>
              </a:rPr>
              <a:t>"</a:t>
            </a:r>
            <a:r>
              <a:rPr sz="1800" i="0">
                <a:solidFill>
                  <a:srgbClr val="7DCEA0"/>
                </a:solidFill>
                <a:latin typeface="Consolas"/>
              </a:rPr>
              <a:t> relu(z) =</a:t>
            </a:r>
            <a:r>
              <a:rPr sz="1800" i="0">
                <a:solidFill>
                  <a:srgbClr val="7DCEA0"/>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C39BD3"/>
                </a:solidFill>
                <a:latin typeface="Consolas"/>
              </a:rPr>
              <a:t>max</a:t>
            </a:r>
            <a:r>
              <a:rPr sz="1800" i="0">
                <a:solidFill>
                  <a:srgbClr val="AEB6BF"/>
                </a:solidFill>
                <a:latin typeface="Consolas"/>
              </a:rPr>
              <a:t>(</a:t>
            </a:r>
            <a:r>
              <a:rPr sz="1800" i="0">
                <a:solidFill>
                  <a:srgbClr val="F7DC6F"/>
                </a:solidFill>
                <a:latin typeface="Consolas"/>
              </a:rPr>
              <a:t>0.0</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z</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       </a:t>
            </a:r>
            <a:r>
              <a:rPr sz="1800" i="1">
                <a:solidFill>
                  <a:srgbClr val="8795A1"/>
                </a:solidFill>
                <a:latin typeface="Consolas"/>
              </a:rPr>
              <a:t># 0.86, 0.86</a:t>
            </a:r>
          </a:p>
        </p:txBody>
      </p:sp>
      <p:sp>
        <p:nvSpPr>
          <p:cNvPr id="15" name="!!code-num"/>
          <p:cNvSpPr txBox="1"/>
          <p:nvPr/>
        </p:nvSpPr>
        <p:spPr>
          <a:xfrm>
            <a:off x="768096" y="2523744"/>
            <a:ext cx="393192" cy="1207008"/>
          </a:xfrm>
          <a:prstGeom prst="rect">
            <a:avLst/>
          </a:prstGeom>
          <a:noFill/>
        </p:spPr>
        <p:txBody>
          <a:bodyPr wrap="none" anchor="t" lIns="0" rIns="0" tIns="0" bIns="0">
            <a:noAutofit/>
          </a:bodyPr>
          <a:lstStyle/>
          <a:p>
            <a:pPr algn="r">
              <a:lnSpc>
                <a:spcPct val="100000"/>
              </a:lnSpc>
            </a:pPr>
            <a:r>
              <a:rPr sz="1800">
                <a:solidFill>
                  <a:srgbClr val="4F5D6A"/>
                </a:solidFill>
                <a:latin typeface="Consolas"/>
              </a:rPr>
              <a:t>2</a:t>
            </a:r>
          </a:p>
          <a:p>
            <a:pPr algn="r">
              <a:lnSpc>
                <a:spcPct val="100000"/>
              </a:lnSpc>
            </a:pPr>
            <a:r>
              <a:rPr sz="1800">
                <a:solidFill>
                  <a:srgbClr val="4F5D6A"/>
                </a:solidFill>
                <a:latin typeface="Consolas"/>
              </a:rPr>
              <a:t>3</a:t>
            </a:r>
          </a:p>
          <a:p>
            <a:pPr algn="r">
              <a:lnSpc>
                <a:spcPct val="100000"/>
              </a:lnSpc>
            </a:pPr>
            <a:r>
              <a:rPr sz="1800">
                <a:solidFill>
                  <a:srgbClr val="4F5D6A"/>
                </a:solidFill>
                <a:latin typeface="Consolas"/>
              </a:rPr>
              <a:t>4</a:t>
            </a:r>
          </a:p>
          <a:p>
            <a:pPr algn="r">
              <a:lnSpc>
                <a:spcPct val="100000"/>
              </a:lnSpc>
            </a:pPr>
            <a:r>
              <a:rPr sz="1800">
                <a:solidFill>
                  <a:srgbClr val="4F5D6A"/>
                </a:solidFill>
                <a:latin typeface="Consolas"/>
              </a:rPr>
              <a:t>5</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8127796"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A Network from Scratch, then with a Framework</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3 OF 5</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17  ·  Neural Network Foundations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§17.5  ·  Handout p. 112     </a:t>
            </a:r>
            <a:fld id="{6DE616D9-22FF-45EB-A9F6-8A7F1F65E5D2}" type="slidenum">
              <a:rPr lang="en-GB" sz="1000">
                <a:solidFill>
                  <a:srgbClr val="8795A1"/>
                </a:solidFill>
                <a:latin typeface="Segoe UI"/>
              </a:rPr>
              <a:t>31</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A tiny two-layer network trained by hand</a:t>
            </a:r>
          </a:p>
        </p:txBody>
      </p:sp>
      <p:sp>
        <p:nvSpPr>
          <p:cNvPr id="8" name="!!code-bg">
            <a:extLst>
              <a:ext uri="{C183D7F6-B498-43B3-948B-1728B52AA6E4}">
                <adec:decorative xmlns:adec="http://schemas.microsoft.com/office/drawing/2017/decorative" val="1"/>
              </a:ext>
            </a:extLst>
          </p:cNvPr>
          <p:cNvSpPr/>
          <p:nvPr/>
        </p:nvSpPr>
        <p:spPr>
          <a:xfrm>
            <a:off x="658368" y="2084831"/>
            <a:ext cx="10874959" cy="4224528"/>
          </a:xfrm>
          <a:prstGeom prst="roundRect">
            <a:avLst>
              <a:gd name="adj" fmla="val 2164"/>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  ·  code/ch17_network_from_scratch.py</a:t>
            </a:r>
          </a:p>
        </p:txBody>
      </p:sp>
      <p:sp>
        <p:nvSpPr>
          <p:cNvPr id="14" name="!!code-text" descr="# ---- a tiny two-layer network trained by hand ------------------------ rng = np.random.default_rng(0) X = rng.normal(size=(500, 3)) y = ((X[:, 0] + X[:, 2] - X[:, 1]) &gt; 0).astype(float).reshape(-1, 1) W1, b1 = rng.normal(size=(3, 8))*0.5, np.zeros((1, 8)) W2, b2 = rng.normal(size=(8, 1))*0.5, np.zeros((1, 1)) lr = 0.1 for epoch in range(400): h = np.maximum(0, X @ W1 + b1) # forward: ReLU hidden p = 1/(1 + np.exp(-(h @ W2 + b2))) # forward: sigmoid out loss = -np.mean(y*np.log(p+1e-9) + (1-y)*np.log(1-p+1e-9)) dz2 = (p - y) / len(X) # backprop dW2, db2 = h.T @ dz2, dz2.sum(0, keepdims=True) dh = dz2 @ W2.T dz1 = dh * (h &gt; 0) # ReLU derivative dW1, db1 = X.T @ dz1, dz1.sum(0, keepdims=True)"/>
          <p:cNvSpPr txBox="1"/>
          <p:nvPr/>
        </p:nvSpPr>
        <p:spPr>
          <a:xfrm>
            <a:off x="1362456" y="2523744"/>
            <a:ext cx="9987991" cy="3730752"/>
          </a:xfrm>
          <a:prstGeom prst="rect">
            <a:avLst/>
          </a:prstGeom>
          <a:noFill/>
        </p:spPr>
        <p:txBody>
          <a:bodyPr wrap="none" anchor="t" lIns="0" rIns="0" tIns="0" bIns="0">
            <a:noAutofit/>
          </a:bodyPr>
          <a:lstStyle/>
          <a:p>
            <a:pPr>
              <a:lnSpc>
                <a:spcPct val="100000"/>
              </a:lnSpc>
              <a:spcAft>
                <a:spcPts val="0"/>
              </a:spcAft>
            </a:pPr>
            <a:r>
              <a:rPr sz="1300" i="1">
                <a:solidFill>
                  <a:srgbClr val="8795A1"/>
                </a:solidFill>
                <a:latin typeface="Consolas"/>
              </a:rPr>
              <a:t># ---- a tiny two-layer network trained by hand ------------------------</a:t>
            </a:r>
          </a:p>
          <a:p>
            <a:pPr>
              <a:lnSpc>
                <a:spcPct val="100000"/>
              </a:lnSpc>
              <a:spcAft>
                <a:spcPts val="0"/>
              </a:spcAft>
            </a:pPr>
            <a:r>
              <a:rPr sz="1300" i="0">
                <a:solidFill>
                  <a:srgbClr val="E8EDF2"/>
                </a:solidFill>
                <a:latin typeface="Consolas"/>
              </a:rPr>
              <a:t>rng</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np</a:t>
            </a:r>
            <a:r>
              <a:rPr sz="1300" i="0">
                <a:solidFill>
                  <a:srgbClr val="AEB6BF"/>
                </a:solidFill>
                <a:latin typeface="Consolas"/>
              </a:rPr>
              <a:t>.</a:t>
            </a:r>
            <a:r>
              <a:rPr sz="1300" i="0">
                <a:solidFill>
                  <a:srgbClr val="E8EDF2"/>
                </a:solidFill>
                <a:latin typeface="Consolas"/>
              </a:rPr>
              <a:t>random</a:t>
            </a:r>
            <a:r>
              <a:rPr sz="1300" i="0">
                <a:solidFill>
                  <a:srgbClr val="AEB6BF"/>
                </a:solidFill>
                <a:latin typeface="Consolas"/>
              </a:rPr>
              <a:t>.</a:t>
            </a:r>
            <a:r>
              <a:rPr sz="1300" i="0">
                <a:solidFill>
                  <a:srgbClr val="E8EDF2"/>
                </a:solidFill>
                <a:latin typeface="Consolas"/>
              </a:rPr>
              <a:t>default_rng</a:t>
            </a:r>
            <a:r>
              <a:rPr sz="1300" i="0">
                <a:solidFill>
                  <a:srgbClr val="AEB6BF"/>
                </a:solidFill>
                <a:latin typeface="Consolas"/>
              </a:rPr>
              <a:t>(</a:t>
            </a:r>
            <a:r>
              <a:rPr sz="1300" i="0">
                <a:solidFill>
                  <a:srgbClr val="F7DC6F"/>
                </a:solidFill>
                <a:latin typeface="Consolas"/>
              </a:rPr>
              <a:t>0</a:t>
            </a:r>
            <a:r>
              <a:rPr sz="1300" i="0">
                <a:solidFill>
                  <a:srgbClr val="AEB6BF"/>
                </a:solidFill>
                <a:latin typeface="Consolas"/>
              </a:rPr>
              <a:t>)</a:t>
            </a:r>
          </a:p>
          <a:p>
            <a:pPr>
              <a:lnSpc>
                <a:spcPct val="100000"/>
              </a:lnSpc>
              <a:spcAft>
                <a:spcPts val="0"/>
              </a:spcAft>
            </a:pPr>
            <a:r>
              <a:rPr sz="1300" i="0">
                <a:solidFill>
                  <a:srgbClr val="E8EDF2"/>
                </a:solidFill>
                <a:latin typeface="Consolas"/>
              </a:rPr>
              <a:t>X</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rng</a:t>
            </a:r>
            <a:r>
              <a:rPr sz="1300" i="0">
                <a:solidFill>
                  <a:srgbClr val="AEB6BF"/>
                </a:solidFill>
                <a:latin typeface="Consolas"/>
              </a:rPr>
              <a:t>.</a:t>
            </a:r>
            <a:r>
              <a:rPr sz="1300" i="0">
                <a:solidFill>
                  <a:srgbClr val="E8EDF2"/>
                </a:solidFill>
                <a:latin typeface="Consolas"/>
              </a:rPr>
              <a:t>normal</a:t>
            </a:r>
            <a:r>
              <a:rPr sz="1300" i="0">
                <a:solidFill>
                  <a:srgbClr val="AEB6BF"/>
                </a:solidFill>
                <a:latin typeface="Consolas"/>
              </a:rPr>
              <a:t>(</a:t>
            </a:r>
            <a:r>
              <a:rPr sz="1300" i="0">
                <a:solidFill>
                  <a:srgbClr val="E8EDF2"/>
                </a:solidFill>
                <a:latin typeface="Consolas"/>
              </a:rPr>
              <a:t>size</a:t>
            </a:r>
            <a:r>
              <a:rPr sz="1300" i="0">
                <a:solidFill>
                  <a:srgbClr val="AEB6BF"/>
                </a:solidFill>
                <a:latin typeface="Consolas"/>
              </a:rPr>
              <a:t>=</a:t>
            </a:r>
            <a:r>
              <a:rPr sz="1300" i="0">
                <a:solidFill>
                  <a:srgbClr val="AEB6BF"/>
                </a:solidFill>
                <a:latin typeface="Consolas"/>
              </a:rPr>
              <a:t>(</a:t>
            </a:r>
            <a:r>
              <a:rPr sz="1300" i="0">
                <a:solidFill>
                  <a:srgbClr val="F7DC6F"/>
                </a:solidFill>
                <a:latin typeface="Consolas"/>
              </a:rPr>
              <a:t>500</a:t>
            </a:r>
            <a:r>
              <a:rPr sz="1300" i="0">
                <a:solidFill>
                  <a:srgbClr val="AEB6BF"/>
                </a:solidFill>
                <a:latin typeface="Consolas"/>
              </a:rPr>
              <a:t>,</a:t>
            </a:r>
            <a:r>
              <a:rPr sz="1300" i="0">
                <a:solidFill>
                  <a:srgbClr val="E8EDF2"/>
                </a:solidFill>
                <a:latin typeface="Consolas"/>
              </a:rPr>
              <a:t> </a:t>
            </a:r>
            <a:r>
              <a:rPr sz="1300" i="0">
                <a:solidFill>
                  <a:srgbClr val="F7DC6F"/>
                </a:solidFill>
                <a:latin typeface="Consolas"/>
              </a:rPr>
              <a:t>3</a:t>
            </a:r>
            <a:r>
              <a:rPr sz="1300" i="0">
                <a:solidFill>
                  <a:srgbClr val="AEB6BF"/>
                </a:solidFill>
                <a:latin typeface="Consolas"/>
              </a:rPr>
              <a:t>)</a:t>
            </a:r>
            <a:r>
              <a:rPr sz="1300" i="0">
                <a:solidFill>
                  <a:srgbClr val="AEB6BF"/>
                </a:solidFill>
                <a:latin typeface="Consolas"/>
              </a:rPr>
              <a:t>)</a:t>
            </a:r>
          </a:p>
          <a:p>
            <a:pPr>
              <a:lnSpc>
                <a:spcPct val="100000"/>
              </a:lnSpc>
              <a:spcAft>
                <a:spcPts val="0"/>
              </a:spcAft>
            </a:pPr>
            <a:r>
              <a:rPr sz="1300" i="0">
                <a:solidFill>
                  <a:srgbClr val="E8EDF2"/>
                </a:solidFill>
                <a:latin typeface="Consolas"/>
              </a:rPr>
              <a:t>y</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 </a:t>
            </a:r>
            <a:r>
              <a:rPr sz="1300" i="0">
                <a:solidFill>
                  <a:srgbClr val="AEB6BF"/>
                </a:solidFill>
                <a:latin typeface="Consolas"/>
              </a:rPr>
              <a:t>(</a:t>
            </a:r>
            <a:r>
              <a:rPr sz="1300" i="0">
                <a:solidFill>
                  <a:srgbClr val="AEB6BF"/>
                </a:solidFill>
                <a:latin typeface="Consolas"/>
              </a:rPr>
              <a:t>(</a:t>
            </a:r>
            <a:r>
              <a:rPr sz="1300" i="0">
                <a:solidFill>
                  <a:srgbClr val="E8EDF2"/>
                </a:solidFill>
                <a:latin typeface="Consolas"/>
              </a:rPr>
              <a:t>X</a:t>
            </a:r>
            <a:r>
              <a:rPr sz="1300" i="0">
                <a:solidFill>
                  <a:srgbClr val="AEB6BF"/>
                </a:solidFill>
                <a:latin typeface="Consolas"/>
              </a:rPr>
              <a:t>[</a:t>
            </a:r>
            <a:r>
              <a:rPr sz="1300" i="0">
                <a:solidFill>
                  <a:srgbClr val="AEB6BF"/>
                </a:solidFill>
                <a:latin typeface="Consolas"/>
              </a:rPr>
              <a:t>:</a:t>
            </a:r>
            <a:r>
              <a:rPr sz="1300" i="0">
                <a:solidFill>
                  <a:srgbClr val="AEB6BF"/>
                </a:solidFill>
                <a:latin typeface="Consolas"/>
              </a:rPr>
              <a:t>,</a:t>
            </a:r>
            <a:r>
              <a:rPr sz="1300" i="0">
                <a:solidFill>
                  <a:srgbClr val="E8EDF2"/>
                </a:solidFill>
                <a:latin typeface="Consolas"/>
              </a:rPr>
              <a:t> </a:t>
            </a:r>
            <a:r>
              <a:rPr sz="1300" i="0">
                <a:solidFill>
                  <a:srgbClr val="F7DC6F"/>
                </a:solidFill>
                <a:latin typeface="Consolas"/>
              </a:rPr>
              <a:t>0</a:t>
            </a:r>
            <a:r>
              <a:rPr sz="1300" i="0">
                <a:solidFill>
                  <a:srgbClr val="AEB6BF"/>
                </a:solidFill>
                <a:latin typeface="Consolas"/>
              </a:rPr>
              <a:t>]</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X</a:t>
            </a:r>
            <a:r>
              <a:rPr sz="1300" i="0">
                <a:solidFill>
                  <a:srgbClr val="AEB6BF"/>
                </a:solidFill>
                <a:latin typeface="Consolas"/>
              </a:rPr>
              <a:t>[</a:t>
            </a:r>
            <a:r>
              <a:rPr sz="1300" i="0">
                <a:solidFill>
                  <a:srgbClr val="AEB6BF"/>
                </a:solidFill>
                <a:latin typeface="Consolas"/>
              </a:rPr>
              <a:t>:</a:t>
            </a:r>
            <a:r>
              <a:rPr sz="1300" i="0">
                <a:solidFill>
                  <a:srgbClr val="AEB6BF"/>
                </a:solidFill>
                <a:latin typeface="Consolas"/>
              </a:rPr>
              <a:t>,</a:t>
            </a:r>
            <a:r>
              <a:rPr sz="1300" i="0">
                <a:solidFill>
                  <a:srgbClr val="E8EDF2"/>
                </a:solidFill>
                <a:latin typeface="Consolas"/>
              </a:rPr>
              <a:t> </a:t>
            </a:r>
            <a:r>
              <a:rPr sz="1300" i="0">
                <a:solidFill>
                  <a:srgbClr val="F7DC6F"/>
                </a:solidFill>
                <a:latin typeface="Consolas"/>
              </a:rPr>
              <a:t>2</a:t>
            </a:r>
            <a:r>
              <a:rPr sz="1300" i="0">
                <a:solidFill>
                  <a:srgbClr val="AEB6BF"/>
                </a:solidFill>
                <a:latin typeface="Consolas"/>
              </a:rPr>
              <a:t>]</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X</a:t>
            </a:r>
            <a:r>
              <a:rPr sz="1300" i="0">
                <a:solidFill>
                  <a:srgbClr val="AEB6BF"/>
                </a:solidFill>
                <a:latin typeface="Consolas"/>
              </a:rPr>
              <a:t>[</a:t>
            </a:r>
            <a:r>
              <a:rPr sz="1300" i="0">
                <a:solidFill>
                  <a:srgbClr val="AEB6BF"/>
                </a:solidFill>
                <a:latin typeface="Consolas"/>
              </a:rPr>
              <a:t>:</a:t>
            </a:r>
            <a:r>
              <a:rPr sz="1300" i="0">
                <a:solidFill>
                  <a:srgbClr val="AEB6BF"/>
                </a:solidFill>
                <a:latin typeface="Consolas"/>
              </a:rPr>
              <a:t>,</a:t>
            </a:r>
            <a:r>
              <a:rPr sz="1300" i="0">
                <a:solidFill>
                  <a:srgbClr val="E8EDF2"/>
                </a:solidFill>
                <a:latin typeface="Consolas"/>
              </a:rPr>
              <a:t> </a:t>
            </a:r>
            <a:r>
              <a:rPr sz="1300" i="0">
                <a:solidFill>
                  <a:srgbClr val="F7DC6F"/>
                </a:solidFill>
                <a:latin typeface="Consolas"/>
              </a:rPr>
              <a:t>1</a:t>
            </a:r>
            <a:r>
              <a:rPr sz="1300" i="0">
                <a:solidFill>
                  <a:srgbClr val="AEB6BF"/>
                </a:solidFill>
                <a:latin typeface="Consolas"/>
              </a:rPr>
              <a:t>]</a:t>
            </a:r>
            <a:r>
              <a:rPr sz="1300" i="0">
                <a:solidFill>
                  <a:srgbClr val="AEB6BF"/>
                </a:solidFill>
                <a:latin typeface="Consolas"/>
              </a:rPr>
              <a:t>)</a:t>
            </a:r>
            <a:r>
              <a:rPr sz="1300" i="0">
                <a:solidFill>
                  <a:srgbClr val="E8EDF2"/>
                </a:solidFill>
                <a:latin typeface="Consolas"/>
              </a:rPr>
              <a:t> </a:t>
            </a:r>
            <a:r>
              <a:rPr sz="1300" i="0">
                <a:solidFill>
                  <a:srgbClr val="AEB6BF"/>
                </a:solidFill>
                <a:latin typeface="Consolas"/>
              </a:rPr>
              <a:t>&gt;</a:t>
            </a:r>
            <a:r>
              <a:rPr sz="1300" i="0">
                <a:solidFill>
                  <a:srgbClr val="E8EDF2"/>
                </a:solidFill>
                <a:latin typeface="Consolas"/>
              </a:rPr>
              <a:t> </a:t>
            </a:r>
            <a:r>
              <a:rPr sz="1300" i="0">
                <a:solidFill>
                  <a:srgbClr val="F7DC6F"/>
                </a:solidFill>
                <a:latin typeface="Consolas"/>
              </a:rPr>
              <a:t>0</a:t>
            </a:r>
            <a:r>
              <a:rPr sz="1300" i="0">
                <a:solidFill>
                  <a:srgbClr val="AEB6BF"/>
                </a:solidFill>
                <a:latin typeface="Consolas"/>
              </a:rPr>
              <a:t>)</a:t>
            </a:r>
            <a:r>
              <a:rPr sz="1300" i="0">
                <a:solidFill>
                  <a:srgbClr val="AEB6BF"/>
                </a:solidFill>
                <a:latin typeface="Consolas"/>
              </a:rPr>
              <a:t>.</a:t>
            </a:r>
            <a:r>
              <a:rPr sz="1300" i="0">
                <a:solidFill>
                  <a:srgbClr val="E8EDF2"/>
                </a:solidFill>
                <a:latin typeface="Consolas"/>
              </a:rPr>
              <a:t>astype</a:t>
            </a:r>
            <a:r>
              <a:rPr sz="1300" i="0">
                <a:solidFill>
                  <a:srgbClr val="AEB6BF"/>
                </a:solidFill>
                <a:latin typeface="Consolas"/>
              </a:rPr>
              <a:t>(</a:t>
            </a:r>
            <a:r>
              <a:rPr sz="1300" i="0">
                <a:solidFill>
                  <a:srgbClr val="C39BD3"/>
                </a:solidFill>
                <a:latin typeface="Consolas"/>
              </a:rPr>
              <a:t>float</a:t>
            </a:r>
            <a:r>
              <a:rPr sz="1300" i="0">
                <a:solidFill>
                  <a:srgbClr val="AEB6BF"/>
                </a:solidFill>
                <a:latin typeface="Consolas"/>
              </a:rPr>
              <a:t>)</a:t>
            </a:r>
            <a:r>
              <a:rPr sz="1300" i="0">
                <a:solidFill>
                  <a:srgbClr val="AEB6BF"/>
                </a:solidFill>
                <a:latin typeface="Consolas"/>
              </a:rPr>
              <a:t>.</a:t>
            </a:r>
            <a:r>
              <a:rPr sz="1300" i="0">
                <a:solidFill>
                  <a:srgbClr val="E8EDF2"/>
                </a:solidFill>
                <a:latin typeface="Consolas"/>
              </a:rPr>
              <a:t>reshape</a:t>
            </a:r>
            <a:r>
              <a:rPr sz="1300" i="0">
                <a:solidFill>
                  <a:srgbClr val="AEB6BF"/>
                </a:solidFill>
                <a:latin typeface="Consolas"/>
              </a:rPr>
              <a:t>(</a:t>
            </a:r>
            <a:r>
              <a:rPr sz="1300" i="0">
                <a:solidFill>
                  <a:srgbClr val="AEB6BF"/>
                </a:solidFill>
                <a:latin typeface="Consolas"/>
              </a:rPr>
              <a:t>-</a:t>
            </a:r>
            <a:r>
              <a:rPr sz="1300" i="0">
                <a:solidFill>
                  <a:srgbClr val="F7DC6F"/>
                </a:solidFill>
                <a:latin typeface="Consolas"/>
              </a:rPr>
              <a:t>1</a:t>
            </a:r>
            <a:r>
              <a:rPr sz="1300" i="0">
                <a:solidFill>
                  <a:srgbClr val="AEB6BF"/>
                </a:solidFill>
                <a:latin typeface="Consolas"/>
              </a:rPr>
              <a:t>,</a:t>
            </a:r>
            <a:r>
              <a:rPr sz="1300" i="0">
                <a:solidFill>
                  <a:srgbClr val="E8EDF2"/>
                </a:solidFill>
                <a:latin typeface="Consolas"/>
              </a:rPr>
              <a:t> </a:t>
            </a:r>
            <a:r>
              <a:rPr sz="1300" i="0">
                <a:solidFill>
                  <a:srgbClr val="F7DC6F"/>
                </a:solidFill>
                <a:latin typeface="Consolas"/>
              </a:rPr>
              <a:t>1</a:t>
            </a:r>
            <a:r>
              <a:rPr sz="1300" i="0">
                <a:solidFill>
                  <a:srgbClr val="AEB6BF"/>
                </a:solidFill>
                <a:latin typeface="Consolas"/>
              </a:rPr>
              <a:t>)</a:t>
            </a:r>
          </a:p>
          <a:p>
            <a:pPr>
              <a:lnSpc>
                <a:spcPct val="100000"/>
              </a:lnSpc>
              <a:spcAft>
                <a:spcPts val="0"/>
              </a:spcAft>
            </a:pPr>
            <a:r>
              <a:rPr sz="1300">
                <a:latin typeface="Consolas"/>
              </a:rPr>
              <a:t> </a:t>
            </a:r>
          </a:p>
          <a:p>
            <a:pPr>
              <a:lnSpc>
                <a:spcPct val="100000"/>
              </a:lnSpc>
              <a:spcAft>
                <a:spcPts val="0"/>
              </a:spcAft>
            </a:pPr>
            <a:r>
              <a:rPr sz="1300" i="0">
                <a:solidFill>
                  <a:srgbClr val="E8EDF2"/>
                </a:solidFill>
                <a:latin typeface="Consolas"/>
              </a:rPr>
              <a:t>W1</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b1</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rng</a:t>
            </a:r>
            <a:r>
              <a:rPr sz="1300" i="0">
                <a:solidFill>
                  <a:srgbClr val="AEB6BF"/>
                </a:solidFill>
                <a:latin typeface="Consolas"/>
              </a:rPr>
              <a:t>.</a:t>
            </a:r>
            <a:r>
              <a:rPr sz="1300" i="0">
                <a:solidFill>
                  <a:srgbClr val="E8EDF2"/>
                </a:solidFill>
                <a:latin typeface="Consolas"/>
              </a:rPr>
              <a:t>normal</a:t>
            </a:r>
            <a:r>
              <a:rPr sz="1300" i="0">
                <a:solidFill>
                  <a:srgbClr val="AEB6BF"/>
                </a:solidFill>
                <a:latin typeface="Consolas"/>
              </a:rPr>
              <a:t>(</a:t>
            </a:r>
            <a:r>
              <a:rPr sz="1300" i="0">
                <a:solidFill>
                  <a:srgbClr val="E8EDF2"/>
                </a:solidFill>
                <a:latin typeface="Consolas"/>
              </a:rPr>
              <a:t>size</a:t>
            </a:r>
            <a:r>
              <a:rPr sz="1300" i="0">
                <a:solidFill>
                  <a:srgbClr val="AEB6BF"/>
                </a:solidFill>
                <a:latin typeface="Consolas"/>
              </a:rPr>
              <a:t>=</a:t>
            </a:r>
            <a:r>
              <a:rPr sz="1300" i="0">
                <a:solidFill>
                  <a:srgbClr val="AEB6BF"/>
                </a:solidFill>
                <a:latin typeface="Consolas"/>
              </a:rPr>
              <a:t>(</a:t>
            </a:r>
            <a:r>
              <a:rPr sz="1300" i="0">
                <a:solidFill>
                  <a:srgbClr val="F7DC6F"/>
                </a:solidFill>
                <a:latin typeface="Consolas"/>
              </a:rPr>
              <a:t>3</a:t>
            </a:r>
            <a:r>
              <a:rPr sz="1300" i="0">
                <a:solidFill>
                  <a:srgbClr val="AEB6BF"/>
                </a:solidFill>
                <a:latin typeface="Consolas"/>
              </a:rPr>
              <a:t>,</a:t>
            </a:r>
            <a:r>
              <a:rPr sz="1300" i="0">
                <a:solidFill>
                  <a:srgbClr val="E8EDF2"/>
                </a:solidFill>
                <a:latin typeface="Consolas"/>
              </a:rPr>
              <a:t> </a:t>
            </a:r>
            <a:r>
              <a:rPr sz="1300" i="0">
                <a:solidFill>
                  <a:srgbClr val="F7DC6F"/>
                </a:solidFill>
                <a:latin typeface="Consolas"/>
              </a:rPr>
              <a:t>8</a:t>
            </a:r>
            <a:r>
              <a:rPr sz="1300" i="0">
                <a:solidFill>
                  <a:srgbClr val="AEB6BF"/>
                </a:solidFill>
                <a:latin typeface="Consolas"/>
              </a:rPr>
              <a:t>)</a:t>
            </a:r>
            <a:r>
              <a:rPr sz="1300" i="0">
                <a:solidFill>
                  <a:srgbClr val="AEB6BF"/>
                </a:solidFill>
                <a:latin typeface="Consolas"/>
              </a:rPr>
              <a:t>)</a:t>
            </a:r>
            <a:r>
              <a:rPr sz="1300" i="0">
                <a:solidFill>
                  <a:srgbClr val="AEB6BF"/>
                </a:solidFill>
                <a:latin typeface="Consolas"/>
              </a:rPr>
              <a:t>*</a:t>
            </a:r>
            <a:r>
              <a:rPr sz="1300" i="0">
                <a:solidFill>
                  <a:srgbClr val="F7DC6F"/>
                </a:solidFill>
                <a:latin typeface="Consolas"/>
              </a:rPr>
              <a:t>0.5</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np</a:t>
            </a:r>
            <a:r>
              <a:rPr sz="1300" i="0">
                <a:solidFill>
                  <a:srgbClr val="AEB6BF"/>
                </a:solidFill>
                <a:latin typeface="Consolas"/>
              </a:rPr>
              <a:t>.</a:t>
            </a:r>
            <a:r>
              <a:rPr sz="1300" i="0">
                <a:solidFill>
                  <a:srgbClr val="E8EDF2"/>
                </a:solidFill>
                <a:latin typeface="Consolas"/>
              </a:rPr>
              <a:t>zeros</a:t>
            </a:r>
            <a:r>
              <a:rPr sz="1300" i="0">
                <a:solidFill>
                  <a:srgbClr val="AEB6BF"/>
                </a:solidFill>
                <a:latin typeface="Consolas"/>
              </a:rPr>
              <a:t>(</a:t>
            </a:r>
            <a:r>
              <a:rPr sz="1300" i="0">
                <a:solidFill>
                  <a:srgbClr val="AEB6BF"/>
                </a:solidFill>
                <a:latin typeface="Consolas"/>
              </a:rPr>
              <a:t>(</a:t>
            </a:r>
            <a:r>
              <a:rPr sz="1300" i="0">
                <a:solidFill>
                  <a:srgbClr val="F7DC6F"/>
                </a:solidFill>
                <a:latin typeface="Consolas"/>
              </a:rPr>
              <a:t>1</a:t>
            </a:r>
            <a:r>
              <a:rPr sz="1300" i="0">
                <a:solidFill>
                  <a:srgbClr val="AEB6BF"/>
                </a:solidFill>
                <a:latin typeface="Consolas"/>
              </a:rPr>
              <a:t>,</a:t>
            </a:r>
            <a:r>
              <a:rPr sz="1300" i="0">
                <a:solidFill>
                  <a:srgbClr val="E8EDF2"/>
                </a:solidFill>
                <a:latin typeface="Consolas"/>
              </a:rPr>
              <a:t> </a:t>
            </a:r>
            <a:r>
              <a:rPr sz="1300" i="0">
                <a:solidFill>
                  <a:srgbClr val="F7DC6F"/>
                </a:solidFill>
                <a:latin typeface="Consolas"/>
              </a:rPr>
              <a:t>8</a:t>
            </a:r>
            <a:r>
              <a:rPr sz="1300" i="0">
                <a:solidFill>
                  <a:srgbClr val="AEB6BF"/>
                </a:solidFill>
                <a:latin typeface="Consolas"/>
              </a:rPr>
              <a:t>)</a:t>
            </a:r>
            <a:r>
              <a:rPr sz="1300" i="0">
                <a:solidFill>
                  <a:srgbClr val="AEB6BF"/>
                </a:solidFill>
                <a:latin typeface="Consolas"/>
              </a:rPr>
              <a:t>)</a:t>
            </a:r>
          </a:p>
          <a:p>
            <a:pPr>
              <a:lnSpc>
                <a:spcPct val="100000"/>
              </a:lnSpc>
              <a:spcAft>
                <a:spcPts val="0"/>
              </a:spcAft>
            </a:pPr>
            <a:r>
              <a:rPr sz="1300" i="0">
                <a:solidFill>
                  <a:srgbClr val="E8EDF2"/>
                </a:solidFill>
                <a:latin typeface="Consolas"/>
              </a:rPr>
              <a:t>W2</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b2</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rng</a:t>
            </a:r>
            <a:r>
              <a:rPr sz="1300" i="0">
                <a:solidFill>
                  <a:srgbClr val="AEB6BF"/>
                </a:solidFill>
                <a:latin typeface="Consolas"/>
              </a:rPr>
              <a:t>.</a:t>
            </a:r>
            <a:r>
              <a:rPr sz="1300" i="0">
                <a:solidFill>
                  <a:srgbClr val="E8EDF2"/>
                </a:solidFill>
                <a:latin typeface="Consolas"/>
              </a:rPr>
              <a:t>normal</a:t>
            </a:r>
            <a:r>
              <a:rPr sz="1300" i="0">
                <a:solidFill>
                  <a:srgbClr val="AEB6BF"/>
                </a:solidFill>
                <a:latin typeface="Consolas"/>
              </a:rPr>
              <a:t>(</a:t>
            </a:r>
            <a:r>
              <a:rPr sz="1300" i="0">
                <a:solidFill>
                  <a:srgbClr val="E8EDF2"/>
                </a:solidFill>
                <a:latin typeface="Consolas"/>
              </a:rPr>
              <a:t>size</a:t>
            </a:r>
            <a:r>
              <a:rPr sz="1300" i="0">
                <a:solidFill>
                  <a:srgbClr val="AEB6BF"/>
                </a:solidFill>
                <a:latin typeface="Consolas"/>
              </a:rPr>
              <a:t>=</a:t>
            </a:r>
            <a:r>
              <a:rPr sz="1300" i="0">
                <a:solidFill>
                  <a:srgbClr val="AEB6BF"/>
                </a:solidFill>
                <a:latin typeface="Consolas"/>
              </a:rPr>
              <a:t>(</a:t>
            </a:r>
            <a:r>
              <a:rPr sz="1300" i="0">
                <a:solidFill>
                  <a:srgbClr val="F7DC6F"/>
                </a:solidFill>
                <a:latin typeface="Consolas"/>
              </a:rPr>
              <a:t>8</a:t>
            </a:r>
            <a:r>
              <a:rPr sz="1300" i="0">
                <a:solidFill>
                  <a:srgbClr val="AEB6BF"/>
                </a:solidFill>
                <a:latin typeface="Consolas"/>
              </a:rPr>
              <a:t>,</a:t>
            </a:r>
            <a:r>
              <a:rPr sz="1300" i="0">
                <a:solidFill>
                  <a:srgbClr val="E8EDF2"/>
                </a:solidFill>
                <a:latin typeface="Consolas"/>
              </a:rPr>
              <a:t> </a:t>
            </a:r>
            <a:r>
              <a:rPr sz="1300" i="0">
                <a:solidFill>
                  <a:srgbClr val="F7DC6F"/>
                </a:solidFill>
                <a:latin typeface="Consolas"/>
              </a:rPr>
              <a:t>1</a:t>
            </a:r>
            <a:r>
              <a:rPr sz="1300" i="0">
                <a:solidFill>
                  <a:srgbClr val="AEB6BF"/>
                </a:solidFill>
                <a:latin typeface="Consolas"/>
              </a:rPr>
              <a:t>)</a:t>
            </a:r>
            <a:r>
              <a:rPr sz="1300" i="0">
                <a:solidFill>
                  <a:srgbClr val="AEB6BF"/>
                </a:solidFill>
                <a:latin typeface="Consolas"/>
              </a:rPr>
              <a:t>)</a:t>
            </a:r>
            <a:r>
              <a:rPr sz="1300" i="0">
                <a:solidFill>
                  <a:srgbClr val="AEB6BF"/>
                </a:solidFill>
                <a:latin typeface="Consolas"/>
              </a:rPr>
              <a:t>*</a:t>
            </a:r>
            <a:r>
              <a:rPr sz="1300" i="0">
                <a:solidFill>
                  <a:srgbClr val="F7DC6F"/>
                </a:solidFill>
                <a:latin typeface="Consolas"/>
              </a:rPr>
              <a:t>0.5</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np</a:t>
            </a:r>
            <a:r>
              <a:rPr sz="1300" i="0">
                <a:solidFill>
                  <a:srgbClr val="AEB6BF"/>
                </a:solidFill>
                <a:latin typeface="Consolas"/>
              </a:rPr>
              <a:t>.</a:t>
            </a:r>
            <a:r>
              <a:rPr sz="1300" i="0">
                <a:solidFill>
                  <a:srgbClr val="E8EDF2"/>
                </a:solidFill>
                <a:latin typeface="Consolas"/>
              </a:rPr>
              <a:t>zeros</a:t>
            </a:r>
            <a:r>
              <a:rPr sz="1300" i="0">
                <a:solidFill>
                  <a:srgbClr val="AEB6BF"/>
                </a:solidFill>
                <a:latin typeface="Consolas"/>
              </a:rPr>
              <a:t>(</a:t>
            </a:r>
            <a:r>
              <a:rPr sz="1300" i="0">
                <a:solidFill>
                  <a:srgbClr val="AEB6BF"/>
                </a:solidFill>
                <a:latin typeface="Consolas"/>
              </a:rPr>
              <a:t>(</a:t>
            </a:r>
            <a:r>
              <a:rPr sz="1300" i="0">
                <a:solidFill>
                  <a:srgbClr val="F7DC6F"/>
                </a:solidFill>
                <a:latin typeface="Consolas"/>
              </a:rPr>
              <a:t>1</a:t>
            </a:r>
            <a:r>
              <a:rPr sz="1300" i="0">
                <a:solidFill>
                  <a:srgbClr val="AEB6BF"/>
                </a:solidFill>
                <a:latin typeface="Consolas"/>
              </a:rPr>
              <a:t>,</a:t>
            </a:r>
            <a:r>
              <a:rPr sz="1300" i="0">
                <a:solidFill>
                  <a:srgbClr val="E8EDF2"/>
                </a:solidFill>
                <a:latin typeface="Consolas"/>
              </a:rPr>
              <a:t> </a:t>
            </a:r>
            <a:r>
              <a:rPr sz="1300" i="0">
                <a:solidFill>
                  <a:srgbClr val="F7DC6F"/>
                </a:solidFill>
                <a:latin typeface="Consolas"/>
              </a:rPr>
              <a:t>1</a:t>
            </a:r>
            <a:r>
              <a:rPr sz="1300" i="0">
                <a:solidFill>
                  <a:srgbClr val="AEB6BF"/>
                </a:solidFill>
                <a:latin typeface="Consolas"/>
              </a:rPr>
              <a:t>)</a:t>
            </a:r>
            <a:r>
              <a:rPr sz="1300" i="0">
                <a:solidFill>
                  <a:srgbClr val="AEB6BF"/>
                </a:solidFill>
                <a:latin typeface="Consolas"/>
              </a:rPr>
              <a:t>)</a:t>
            </a:r>
          </a:p>
          <a:p>
            <a:pPr>
              <a:lnSpc>
                <a:spcPct val="100000"/>
              </a:lnSpc>
              <a:spcAft>
                <a:spcPts val="0"/>
              </a:spcAft>
            </a:pPr>
            <a:r>
              <a:rPr sz="1300" i="0">
                <a:solidFill>
                  <a:srgbClr val="E8EDF2"/>
                </a:solidFill>
                <a:latin typeface="Consolas"/>
              </a:rPr>
              <a:t>lr</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 </a:t>
            </a:r>
            <a:r>
              <a:rPr sz="1300" i="0">
                <a:solidFill>
                  <a:srgbClr val="F7DC6F"/>
                </a:solidFill>
                <a:latin typeface="Consolas"/>
              </a:rPr>
              <a:t>0.1</a:t>
            </a:r>
          </a:p>
          <a:p>
            <a:pPr>
              <a:lnSpc>
                <a:spcPct val="100000"/>
              </a:lnSpc>
              <a:spcAft>
                <a:spcPts val="0"/>
              </a:spcAft>
            </a:pPr>
            <a:r>
              <a:rPr sz="1300">
                <a:latin typeface="Consolas"/>
              </a:rPr>
              <a:t> </a:t>
            </a:r>
          </a:p>
          <a:p>
            <a:pPr>
              <a:lnSpc>
                <a:spcPct val="100000"/>
              </a:lnSpc>
              <a:spcAft>
                <a:spcPts val="0"/>
              </a:spcAft>
            </a:pPr>
            <a:r>
              <a:rPr sz="1300" i="0">
                <a:solidFill>
                  <a:srgbClr val="5DADE2"/>
                </a:solidFill>
                <a:latin typeface="Consolas"/>
              </a:rPr>
              <a:t>for</a:t>
            </a:r>
            <a:r>
              <a:rPr sz="1300" i="0">
                <a:solidFill>
                  <a:srgbClr val="E8EDF2"/>
                </a:solidFill>
                <a:latin typeface="Consolas"/>
              </a:rPr>
              <a:t> </a:t>
            </a:r>
            <a:r>
              <a:rPr sz="1300" i="0">
                <a:solidFill>
                  <a:srgbClr val="E8EDF2"/>
                </a:solidFill>
                <a:latin typeface="Consolas"/>
              </a:rPr>
              <a:t>epoch</a:t>
            </a:r>
            <a:r>
              <a:rPr sz="1300" i="0">
                <a:solidFill>
                  <a:srgbClr val="E8EDF2"/>
                </a:solidFill>
                <a:latin typeface="Consolas"/>
              </a:rPr>
              <a:t> </a:t>
            </a:r>
            <a:r>
              <a:rPr sz="1300" i="0">
                <a:solidFill>
                  <a:srgbClr val="AEB6BF"/>
                </a:solidFill>
                <a:latin typeface="Consolas"/>
              </a:rPr>
              <a:t>in</a:t>
            </a:r>
            <a:r>
              <a:rPr sz="1300" i="0">
                <a:solidFill>
                  <a:srgbClr val="E8EDF2"/>
                </a:solidFill>
                <a:latin typeface="Consolas"/>
              </a:rPr>
              <a:t> </a:t>
            </a:r>
            <a:r>
              <a:rPr sz="1300" i="0">
                <a:solidFill>
                  <a:srgbClr val="C39BD3"/>
                </a:solidFill>
                <a:latin typeface="Consolas"/>
              </a:rPr>
              <a:t>range</a:t>
            </a:r>
            <a:r>
              <a:rPr sz="1300" i="0">
                <a:solidFill>
                  <a:srgbClr val="AEB6BF"/>
                </a:solidFill>
                <a:latin typeface="Consolas"/>
              </a:rPr>
              <a:t>(</a:t>
            </a:r>
            <a:r>
              <a:rPr sz="1300" i="0">
                <a:solidFill>
                  <a:srgbClr val="F7DC6F"/>
                </a:solidFill>
                <a:latin typeface="Consolas"/>
              </a:rPr>
              <a:t>400</a:t>
            </a:r>
            <a:r>
              <a:rPr sz="1300" i="0">
                <a:solidFill>
                  <a:srgbClr val="AEB6BF"/>
                </a:solidFill>
                <a:latin typeface="Consolas"/>
              </a:rPr>
              <a:t>)</a:t>
            </a:r>
            <a:r>
              <a:rPr sz="1300" i="0">
                <a:solidFill>
                  <a:srgbClr val="AEB6BF"/>
                </a:solidFill>
                <a:latin typeface="Consolas"/>
              </a:rPr>
              <a:t>:</a:t>
            </a:r>
          </a:p>
          <a:p>
            <a:pPr>
              <a:lnSpc>
                <a:spcPct val="100000"/>
              </a:lnSpc>
              <a:spcAft>
                <a:spcPts val="0"/>
              </a:spcAft>
            </a:pPr>
            <a:r>
              <a:rPr sz="1300" i="0">
                <a:solidFill>
                  <a:srgbClr val="E8EDF2"/>
                </a:solidFill>
                <a:latin typeface="Consolas"/>
              </a:rPr>
              <a:t>    </a:t>
            </a:r>
            <a:r>
              <a:rPr sz="1300" i="0">
                <a:solidFill>
                  <a:srgbClr val="E8EDF2"/>
                </a:solidFill>
                <a:latin typeface="Consolas"/>
              </a:rPr>
              <a:t>h</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np</a:t>
            </a:r>
            <a:r>
              <a:rPr sz="1300" i="0">
                <a:solidFill>
                  <a:srgbClr val="AEB6BF"/>
                </a:solidFill>
                <a:latin typeface="Consolas"/>
              </a:rPr>
              <a:t>.</a:t>
            </a:r>
            <a:r>
              <a:rPr sz="1300" i="0">
                <a:solidFill>
                  <a:srgbClr val="E8EDF2"/>
                </a:solidFill>
                <a:latin typeface="Consolas"/>
              </a:rPr>
              <a:t>maximum</a:t>
            </a:r>
            <a:r>
              <a:rPr sz="1300" i="0">
                <a:solidFill>
                  <a:srgbClr val="AEB6BF"/>
                </a:solidFill>
                <a:latin typeface="Consolas"/>
              </a:rPr>
              <a:t>(</a:t>
            </a:r>
            <a:r>
              <a:rPr sz="1300" i="0">
                <a:solidFill>
                  <a:srgbClr val="F7DC6F"/>
                </a:solidFill>
                <a:latin typeface="Consolas"/>
              </a:rPr>
              <a:t>0</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X</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W1</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b1</a:t>
            </a:r>
            <a:r>
              <a:rPr sz="1300" i="0">
                <a:solidFill>
                  <a:srgbClr val="AEB6BF"/>
                </a:solidFill>
                <a:latin typeface="Consolas"/>
              </a:rPr>
              <a:t>)</a:t>
            </a:r>
            <a:r>
              <a:rPr sz="1300" i="0">
                <a:solidFill>
                  <a:srgbClr val="E8EDF2"/>
                </a:solidFill>
                <a:latin typeface="Consolas"/>
              </a:rPr>
              <a:t>                 </a:t>
            </a:r>
            <a:r>
              <a:rPr sz="1300" i="1">
                <a:solidFill>
                  <a:srgbClr val="8795A1"/>
                </a:solidFill>
                <a:latin typeface="Consolas"/>
              </a:rPr>
              <a:t># forward: ReLU hidden</a:t>
            </a:r>
          </a:p>
          <a:p>
            <a:pPr>
              <a:lnSpc>
                <a:spcPct val="100000"/>
              </a:lnSpc>
              <a:spcAft>
                <a:spcPts val="0"/>
              </a:spcAft>
            </a:pPr>
            <a:r>
              <a:rPr sz="1300" i="0">
                <a:solidFill>
                  <a:srgbClr val="E8EDF2"/>
                </a:solidFill>
                <a:latin typeface="Consolas"/>
              </a:rPr>
              <a:t>    </a:t>
            </a:r>
            <a:r>
              <a:rPr sz="1300" i="0">
                <a:solidFill>
                  <a:srgbClr val="E8EDF2"/>
                </a:solidFill>
                <a:latin typeface="Consolas"/>
              </a:rPr>
              <a:t>p</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 </a:t>
            </a:r>
            <a:r>
              <a:rPr sz="1300" i="0">
                <a:solidFill>
                  <a:srgbClr val="F7DC6F"/>
                </a:solidFill>
                <a:latin typeface="Consolas"/>
              </a:rPr>
              <a:t>1</a:t>
            </a:r>
            <a:r>
              <a:rPr sz="1300" i="0">
                <a:solidFill>
                  <a:srgbClr val="AEB6BF"/>
                </a:solidFill>
                <a:latin typeface="Consolas"/>
              </a:rPr>
              <a:t>/</a:t>
            </a:r>
            <a:r>
              <a:rPr sz="1300" i="0">
                <a:solidFill>
                  <a:srgbClr val="AEB6BF"/>
                </a:solidFill>
                <a:latin typeface="Consolas"/>
              </a:rPr>
              <a:t>(</a:t>
            </a:r>
            <a:r>
              <a:rPr sz="1300" i="0">
                <a:solidFill>
                  <a:srgbClr val="F7DC6F"/>
                </a:solidFill>
                <a:latin typeface="Consolas"/>
              </a:rPr>
              <a:t>1</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np</a:t>
            </a:r>
            <a:r>
              <a:rPr sz="1300" i="0">
                <a:solidFill>
                  <a:srgbClr val="AEB6BF"/>
                </a:solidFill>
                <a:latin typeface="Consolas"/>
              </a:rPr>
              <a:t>.</a:t>
            </a:r>
            <a:r>
              <a:rPr sz="1300" i="0">
                <a:solidFill>
                  <a:srgbClr val="E8EDF2"/>
                </a:solidFill>
                <a:latin typeface="Consolas"/>
              </a:rPr>
              <a:t>exp</a:t>
            </a:r>
            <a:r>
              <a:rPr sz="1300" i="0">
                <a:solidFill>
                  <a:srgbClr val="AEB6BF"/>
                </a:solidFill>
                <a:latin typeface="Consolas"/>
              </a:rPr>
              <a:t>(</a:t>
            </a:r>
            <a:r>
              <a:rPr sz="1300" i="0">
                <a:solidFill>
                  <a:srgbClr val="AEB6BF"/>
                </a:solidFill>
                <a:latin typeface="Consolas"/>
              </a:rPr>
              <a:t>-</a:t>
            </a:r>
            <a:r>
              <a:rPr sz="1300" i="0">
                <a:solidFill>
                  <a:srgbClr val="AEB6BF"/>
                </a:solidFill>
                <a:latin typeface="Consolas"/>
              </a:rPr>
              <a:t>(</a:t>
            </a:r>
            <a:r>
              <a:rPr sz="1300" i="0">
                <a:solidFill>
                  <a:srgbClr val="E8EDF2"/>
                </a:solidFill>
                <a:latin typeface="Consolas"/>
              </a:rPr>
              <a:t>h</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W2</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b2</a:t>
            </a:r>
            <a:r>
              <a:rPr sz="1300" i="0">
                <a:solidFill>
                  <a:srgbClr val="AEB6BF"/>
                </a:solidFill>
                <a:latin typeface="Consolas"/>
              </a:rPr>
              <a:t>)</a:t>
            </a:r>
            <a:r>
              <a:rPr sz="1300" i="0">
                <a:solidFill>
                  <a:srgbClr val="AEB6BF"/>
                </a:solidFill>
                <a:latin typeface="Consolas"/>
              </a:rPr>
              <a:t>)</a:t>
            </a:r>
            <a:r>
              <a:rPr sz="1300" i="0">
                <a:solidFill>
                  <a:srgbClr val="AEB6BF"/>
                </a:solidFill>
                <a:latin typeface="Consolas"/>
              </a:rPr>
              <a:t>)</a:t>
            </a:r>
            <a:r>
              <a:rPr sz="1300" i="0">
                <a:solidFill>
                  <a:srgbClr val="E8EDF2"/>
                </a:solidFill>
                <a:latin typeface="Consolas"/>
              </a:rPr>
              <a:t>             </a:t>
            </a:r>
            <a:r>
              <a:rPr sz="1300" i="1">
                <a:solidFill>
                  <a:srgbClr val="8795A1"/>
                </a:solidFill>
                <a:latin typeface="Consolas"/>
              </a:rPr>
              <a:t># forward: sigmoid out</a:t>
            </a:r>
          </a:p>
          <a:p>
            <a:pPr>
              <a:lnSpc>
                <a:spcPct val="100000"/>
              </a:lnSpc>
              <a:spcAft>
                <a:spcPts val="0"/>
              </a:spcAft>
            </a:pPr>
            <a:r>
              <a:rPr sz="1300" i="0">
                <a:solidFill>
                  <a:srgbClr val="E8EDF2"/>
                </a:solidFill>
                <a:latin typeface="Consolas"/>
              </a:rPr>
              <a:t>    </a:t>
            </a:r>
            <a:r>
              <a:rPr sz="1300" i="0">
                <a:solidFill>
                  <a:srgbClr val="E8EDF2"/>
                </a:solidFill>
                <a:latin typeface="Consolas"/>
              </a:rPr>
              <a:t>loss</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np</a:t>
            </a:r>
            <a:r>
              <a:rPr sz="1300" i="0">
                <a:solidFill>
                  <a:srgbClr val="AEB6BF"/>
                </a:solidFill>
                <a:latin typeface="Consolas"/>
              </a:rPr>
              <a:t>.</a:t>
            </a:r>
            <a:r>
              <a:rPr sz="1300" i="0">
                <a:solidFill>
                  <a:srgbClr val="E8EDF2"/>
                </a:solidFill>
                <a:latin typeface="Consolas"/>
              </a:rPr>
              <a:t>mean</a:t>
            </a:r>
            <a:r>
              <a:rPr sz="1300" i="0">
                <a:solidFill>
                  <a:srgbClr val="AEB6BF"/>
                </a:solidFill>
                <a:latin typeface="Consolas"/>
              </a:rPr>
              <a:t>(</a:t>
            </a:r>
            <a:r>
              <a:rPr sz="1300" i="0">
                <a:solidFill>
                  <a:srgbClr val="E8EDF2"/>
                </a:solidFill>
                <a:latin typeface="Consolas"/>
              </a:rPr>
              <a:t>y</a:t>
            </a:r>
            <a:r>
              <a:rPr sz="1300" i="0">
                <a:solidFill>
                  <a:srgbClr val="AEB6BF"/>
                </a:solidFill>
                <a:latin typeface="Consolas"/>
              </a:rPr>
              <a:t>*</a:t>
            </a:r>
            <a:r>
              <a:rPr sz="1300" i="0">
                <a:solidFill>
                  <a:srgbClr val="E8EDF2"/>
                </a:solidFill>
                <a:latin typeface="Consolas"/>
              </a:rPr>
              <a:t>np</a:t>
            </a:r>
            <a:r>
              <a:rPr sz="1300" i="0">
                <a:solidFill>
                  <a:srgbClr val="AEB6BF"/>
                </a:solidFill>
                <a:latin typeface="Consolas"/>
              </a:rPr>
              <a:t>.</a:t>
            </a:r>
            <a:r>
              <a:rPr sz="1300" i="0">
                <a:solidFill>
                  <a:srgbClr val="E8EDF2"/>
                </a:solidFill>
                <a:latin typeface="Consolas"/>
              </a:rPr>
              <a:t>log</a:t>
            </a:r>
            <a:r>
              <a:rPr sz="1300" i="0">
                <a:solidFill>
                  <a:srgbClr val="AEB6BF"/>
                </a:solidFill>
                <a:latin typeface="Consolas"/>
              </a:rPr>
              <a:t>(</a:t>
            </a:r>
            <a:r>
              <a:rPr sz="1300" i="0">
                <a:solidFill>
                  <a:srgbClr val="E8EDF2"/>
                </a:solidFill>
                <a:latin typeface="Consolas"/>
              </a:rPr>
              <a:t>p</a:t>
            </a:r>
            <a:r>
              <a:rPr sz="1300" i="0">
                <a:solidFill>
                  <a:srgbClr val="AEB6BF"/>
                </a:solidFill>
                <a:latin typeface="Consolas"/>
              </a:rPr>
              <a:t>+</a:t>
            </a:r>
            <a:r>
              <a:rPr sz="1300" i="0">
                <a:solidFill>
                  <a:srgbClr val="F7DC6F"/>
                </a:solidFill>
                <a:latin typeface="Consolas"/>
              </a:rPr>
              <a:t>1e-9</a:t>
            </a:r>
            <a:r>
              <a:rPr sz="1300" i="0">
                <a:solidFill>
                  <a:srgbClr val="AEB6BF"/>
                </a:solidFill>
                <a:latin typeface="Consolas"/>
              </a:rPr>
              <a:t>)</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 </a:t>
            </a:r>
            <a:r>
              <a:rPr sz="1300" i="0">
                <a:solidFill>
                  <a:srgbClr val="AEB6BF"/>
                </a:solidFill>
                <a:latin typeface="Consolas"/>
              </a:rPr>
              <a:t>(</a:t>
            </a:r>
            <a:r>
              <a:rPr sz="1300" i="0">
                <a:solidFill>
                  <a:srgbClr val="F7DC6F"/>
                </a:solidFill>
                <a:latin typeface="Consolas"/>
              </a:rPr>
              <a:t>1</a:t>
            </a:r>
            <a:r>
              <a:rPr sz="1300" i="0">
                <a:solidFill>
                  <a:srgbClr val="AEB6BF"/>
                </a:solidFill>
                <a:latin typeface="Consolas"/>
              </a:rPr>
              <a:t>-</a:t>
            </a:r>
            <a:r>
              <a:rPr sz="1300" i="0">
                <a:solidFill>
                  <a:srgbClr val="E8EDF2"/>
                </a:solidFill>
                <a:latin typeface="Consolas"/>
              </a:rPr>
              <a:t>y</a:t>
            </a:r>
            <a:r>
              <a:rPr sz="1300" i="0">
                <a:solidFill>
                  <a:srgbClr val="AEB6BF"/>
                </a:solidFill>
                <a:latin typeface="Consolas"/>
              </a:rPr>
              <a:t>)</a:t>
            </a:r>
            <a:r>
              <a:rPr sz="1300" i="0">
                <a:solidFill>
                  <a:srgbClr val="AEB6BF"/>
                </a:solidFill>
                <a:latin typeface="Consolas"/>
              </a:rPr>
              <a:t>*</a:t>
            </a:r>
            <a:r>
              <a:rPr sz="1300" i="0">
                <a:solidFill>
                  <a:srgbClr val="E8EDF2"/>
                </a:solidFill>
                <a:latin typeface="Consolas"/>
              </a:rPr>
              <a:t>np</a:t>
            </a:r>
            <a:r>
              <a:rPr sz="1300" i="0">
                <a:solidFill>
                  <a:srgbClr val="AEB6BF"/>
                </a:solidFill>
                <a:latin typeface="Consolas"/>
              </a:rPr>
              <a:t>.</a:t>
            </a:r>
            <a:r>
              <a:rPr sz="1300" i="0">
                <a:solidFill>
                  <a:srgbClr val="E8EDF2"/>
                </a:solidFill>
                <a:latin typeface="Consolas"/>
              </a:rPr>
              <a:t>log</a:t>
            </a:r>
            <a:r>
              <a:rPr sz="1300" i="0">
                <a:solidFill>
                  <a:srgbClr val="AEB6BF"/>
                </a:solidFill>
                <a:latin typeface="Consolas"/>
              </a:rPr>
              <a:t>(</a:t>
            </a:r>
            <a:r>
              <a:rPr sz="1300" i="0">
                <a:solidFill>
                  <a:srgbClr val="F7DC6F"/>
                </a:solidFill>
                <a:latin typeface="Consolas"/>
              </a:rPr>
              <a:t>1</a:t>
            </a:r>
            <a:r>
              <a:rPr sz="1300" i="0">
                <a:solidFill>
                  <a:srgbClr val="AEB6BF"/>
                </a:solidFill>
                <a:latin typeface="Consolas"/>
              </a:rPr>
              <a:t>-</a:t>
            </a:r>
            <a:r>
              <a:rPr sz="1300" i="0">
                <a:solidFill>
                  <a:srgbClr val="E8EDF2"/>
                </a:solidFill>
                <a:latin typeface="Consolas"/>
              </a:rPr>
              <a:t>p</a:t>
            </a:r>
            <a:r>
              <a:rPr sz="1300" i="0">
                <a:solidFill>
                  <a:srgbClr val="AEB6BF"/>
                </a:solidFill>
                <a:latin typeface="Consolas"/>
              </a:rPr>
              <a:t>+</a:t>
            </a:r>
            <a:r>
              <a:rPr sz="1300" i="0">
                <a:solidFill>
                  <a:srgbClr val="F7DC6F"/>
                </a:solidFill>
                <a:latin typeface="Consolas"/>
              </a:rPr>
              <a:t>1e-9</a:t>
            </a:r>
            <a:r>
              <a:rPr sz="1300" i="0">
                <a:solidFill>
                  <a:srgbClr val="AEB6BF"/>
                </a:solidFill>
                <a:latin typeface="Consolas"/>
              </a:rPr>
              <a:t>)</a:t>
            </a:r>
            <a:r>
              <a:rPr sz="1300" i="0">
                <a:solidFill>
                  <a:srgbClr val="AEB6BF"/>
                </a:solidFill>
                <a:latin typeface="Consolas"/>
              </a:rPr>
              <a:t>)</a:t>
            </a:r>
          </a:p>
          <a:p>
            <a:pPr>
              <a:lnSpc>
                <a:spcPct val="100000"/>
              </a:lnSpc>
              <a:spcAft>
                <a:spcPts val="0"/>
              </a:spcAft>
            </a:pPr>
            <a:r>
              <a:rPr sz="1300">
                <a:latin typeface="Consolas"/>
              </a:rPr>
              <a:t> </a:t>
            </a:r>
          </a:p>
          <a:p>
            <a:pPr>
              <a:lnSpc>
                <a:spcPct val="100000"/>
              </a:lnSpc>
              <a:spcAft>
                <a:spcPts val="0"/>
              </a:spcAft>
            </a:pPr>
            <a:r>
              <a:rPr sz="1300" i="0">
                <a:solidFill>
                  <a:srgbClr val="E8EDF2"/>
                </a:solidFill>
                <a:latin typeface="Consolas"/>
              </a:rPr>
              <a:t>    </a:t>
            </a:r>
            <a:r>
              <a:rPr sz="1300" i="0">
                <a:solidFill>
                  <a:srgbClr val="E8EDF2"/>
                </a:solidFill>
                <a:latin typeface="Consolas"/>
              </a:rPr>
              <a:t>dz2</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p</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y</a:t>
            </a:r>
            <a:r>
              <a:rPr sz="1300" i="0">
                <a:solidFill>
                  <a:srgbClr val="AEB6BF"/>
                </a:solidFill>
                <a:latin typeface="Consolas"/>
              </a:rPr>
              <a:t>)</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 </a:t>
            </a:r>
            <a:r>
              <a:rPr sz="1300" i="0">
                <a:solidFill>
                  <a:srgbClr val="C39BD3"/>
                </a:solidFill>
                <a:latin typeface="Consolas"/>
              </a:rPr>
              <a:t>len</a:t>
            </a:r>
            <a:r>
              <a:rPr sz="1300" i="0">
                <a:solidFill>
                  <a:srgbClr val="AEB6BF"/>
                </a:solidFill>
                <a:latin typeface="Consolas"/>
              </a:rPr>
              <a:t>(</a:t>
            </a:r>
            <a:r>
              <a:rPr sz="1300" i="0">
                <a:solidFill>
                  <a:srgbClr val="E8EDF2"/>
                </a:solidFill>
                <a:latin typeface="Consolas"/>
              </a:rPr>
              <a:t>X</a:t>
            </a:r>
            <a:r>
              <a:rPr sz="1300" i="0">
                <a:solidFill>
                  <a:srgbClr val="AEB6BF"/>
                </a:solidFill>
                <a:latin typeface="Consolas"/>
              </a:rPr>
              <a:t>)</a:t>
            </a:r>
            <a:r>
              <a:rPr sz="1300" i="0">
                <a:solidFill>
                  <a:srgbClr val="E8EDF2"/>
                </a:solidFill>
                <a:latin typeface="Consolas"/>
              </a:rPr>
              <a:t>                          </a:t>
            </a:r>
            <a:r>
              <a:rPr sz="1300" i="1">
                <a:solidFill>
                  <a:srgbClr val="8795A1"/>
                </a:solidFill>
                <a:latin typeface="Consolas"/>
              </a:rPr>
              <a:t># backprop</a:t>
            </a:r>
          </a:p>
          <a:p>
            <a:pPr>
              <a:lnSpc>
                <a:spcPct val="100000"/>
              </a:lnSpc>
              <a:spcAft>
                <a:spcPts val="0"/>
              </a:spcAft>
            </a:pPr>
            <a:r>
              <a:rPr sz="1300" i="0">
                <a:solidFill>
                  <a:srgbClr val="E8EDF2"/>
                </a:solidFill>
                <a:latin typeface="Consolas"/>
              </a:rPr>
              <a:t>    </a:t>
            </a:r>
            <a:r>
              <a:rPr sz="1300" i="0">
                <a:solidFill>
                  <a:srgbClr val="E8EDF2"/>
                </a:solidFill>
                <a:latin typeface="Consolas"/>
              </a:rPr>
              <a:t>dW2</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db2</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h</a:t>
            </a:r>
            <a:r>
              <a:rPr sz="1300" i="0">
                <a:solidFill>
                  <a:srgbClr val="AEB6BF"/>
                </a:solidFill>
                <a:latin typeface="Consolas"/>
              </a:rPr>
              <a:t>.</a:t>
            </a:r>
            <a:r>
              <a:rPr sz="1300" i="0">
                <a:solidFill>
                  <a:srgbClr val="E8EDF2"/>
                </a:solidFill>
                <a:latin typeface="Consolas"/>
              </a:rPr>
              <a:t>T</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dz2</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dz2</a:t>
            </a:r>
            <a:r>
              <a:rPr sz="1300" i="0">
                <a:solidFill>
                  <a:srgbClr val="AEB6BF"/>
                </a:solidFill>
                <a:latin typeface="Consolas"/>
              </a:rPr>
              <a:t>.</a:t>
            </a:r>
            <a:r>
              <a:rPr sz="1300" i="0">
                <a:solidFill>
                  <a:srgbClr val="E8EDF2"/>
                </a:solidFill>
                <a:latin typeface="Consolas"/>
              </a:rPr>
              <a:t>sum</a:t>
            </a:r>
            <a:r>
              <a:rPr sz="1300" i="0">
                <a:solidFill>
                  <a:srgbClr val="AEB6BF"/>
                </a:solidFill>
                <a:latin typeface="Consolas"/>
              </a:rPr>
              <a:t>(</a:t>
            </a:r>
            <a:r>
              <a:rPr sz="1300" i="0">
                <a:solidFill>
                  <a:srgbClr val="F7DC6F"/>
                </a:solidFill>
                <a:latin typeface="Consolas"/>
              </a:rPr>
              <a:t>0</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keepdims</a:t>
            </a:r>
            <a:r>
              <a:rPr sz="1300" i="0">
                <a:solidFill>
                  <a:srgbClr val="AEB6BF"/>
                </a:solidFill>
                <a:latin typeface="Consolas"/>
              </a:rPr>
              <a:t>=</a:t>
            </a:r>
            <a:r>
              <a:rPr sz="1300" i="0">
                <a:solidFill>
                  <a:srgbClr val="5DADE2"/>
                </a:solidFill>
                <a:latin typeface="Consolas"/>
              </a:rPr>
              <a:t>True</a:t>
            </a:r>
            <a:r>
              <a:rPr sz="1300" i="0">
                <a:solidFill>
                  <a:srgbClr val="AEB6BF"/>
                </a:solidFill>
                <a:latin typeface="Consolas"/>
              </a:rPr>
              <a:t>)</a:t>
            </a:r>
          </a:p>
          <a:p>
            <a:pPr>
              <a:lnSpc>
                <a:spcPct val="100000"/>
              </a:lnSpc>
              <a:spcAft>
                <a:spcPts val="0"/>
              </a:spcAft>
            </a:pPr>
            <a:r>
              <a:rPr sz="1300" i="0">
                <a:solidFill>
                  <a:srgbClr val="E8EDF2"/>
                </a:solidFill>
                <a:latin typeface="Consolas"/>
              </a:rPr>
              <a:t>    </a:t>
            </a:r>
            <a:r>
              <a:rPr sz="1300" i="0">
                <a:solidFill>
                  <a:srgbClr val="E8EDF2"/>
                </a:solidFill>
                <a:latin typeface="Consolas"/>
              </a:rPr>
              <a:t>dh</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dz2</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W2</a:t>
            </a:r>
            <a:r>
              <a:rPr sz="1300" i="0">
                <a:solidFill>
                  <a:srgbClr val="AEB6BF"/>
                </a:solidFill>
                <a:latin typeface="Consolas"/>
              </a:rPr>
              <a:t>.</a:t>
            </a:r>
            <a:r>
              <a:rPr sz="1300" i="0">
                <a:solidFill>
                  <a:srgbClr val="E8EDF2"/>
                </a:solidFill>
                <a:latin typeface="Consolas"/>
              </a:rPr>
              <a:t>T</a:t>
            </a:r>
          </a:p>
          <a:p>
            <a:pPr>
              <a:lnSpc>
                <a:spcPct val="100000"/>
              </a:lnSpc>
              <a:spcAft>
                <a:spcPts val="0"/>
              </a:spcAft>
            </a:pPr>
            <a:r>
              <a:rPr sz="1300" i="0">
                <a:solidFill>
                  <a:srgbClr val="E8EDF2"/>
                </a:solidFill>
                <a:latin typeface="Consolas"/>
              </a:rPr>
              <a:t>    </a:t>
            </a:r>
            <a:r>
              <a:rPr sz="1300" i="0">
                <a:solidFill>
                  <a:srgbClr val="E8EDF2"/>
                </a:solidFill>
                <a:latin typeface="Consolas"/>
              </a:rPr>
              <a:t>dz1</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dh</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h</a:t>
            </a:r>
            <a:r>
              <a:rPr sz="1300" i="0">
                <a:solidFill>
                  <a:srgbClr val="E8EDF2"/>
                </a:solidFill>
                <a:latin typeface="Consolas"/>
              </a:rPr>
              <a:t> </a:t>
            </a:r>
            <a:r>
              <a:rPr sz="1300" i="0">
                <a:solidFill>
                  <a:srgbClr val="AEB6BF"/>
                </a:solidFill>
                <a:latin typeface="Consolas"/>
              </a:rPr>
              <a:t>&gt;</a:t>
            </a:r>
            <a:r>
              <a:rPr sz="1300" i="0">
                <a:solidFill>
                  <a:srgbClr val="E8EDF2"/>
                </a:solidFill>
                <a:latin typeface="Consolas"/>
              </a:rPr>
              <a:t> </a:t>
            </a:r>
            <a:r>
              <a:rPr sz="1300" i="0">
                <a:solidFill>
                  <a:srgbClr val="F7DC6F"/>
                </a:solidFill>
                <a:latin typeface="Consolas"/>
              </a:rPr>
              <a:t>0</a:t>
            </a:r>
            <a:r>
              <a:rPr sz="1300" i="0">
                <a:solidFill>
                  <a:srgbClr val="AEB6BF"/>
                </a:solidFill>
                <a:latin typeface="Consolas"/>
              </a:rPr>
              <a:t>)</a:t>
            </a:r>
            <a:r>
              <a:rPr sz="1300" i="0">
                <a:solidFill>
                  <a:srgbClr val="E8EDF2"/>
                </a:solidFill>
                <a:latin typeface="Consolas"/>
              </a:rPr>
              <a:t>                              </a:t>
            </a:r>
            <a:r>
              <a:rPr sz="1300" i="1">
                <a:solidFill>
                  <a:srgbClr val="8795A1"/>
                </a:solidFill>
                <a:latin typeface="Consolas"/>
              </a:rPr>
              <a:t># ReLU derivative</a:t>
            </a:r>
          </a:p>
          <a:p>
            <a:pPr>
              <a:lnSpc>
                <a:spcPct val="100000"/>
              </a:lnSpc>
              <a:spcAft>
                <a:spcPts val="0"/>
              </a:spcAft>
            </a:pPr>
            <a:r>
              <a:rPr sz="1300" i="0">
                <a:solidFill>
                  <a:srgbClr val="E8EDF2"/>
                </a:solidFill>
                <a:latin typeface="Consolas"/>
              </a:rPr>
              <a:t>    </a:t>
            </a:r>
            <a:r>
              <a:rPr sz="1300" i="0">
                <a:solidFill>
                  <a:srgbClr val="E8EDF2"/>
                </a:solidFill>
                <a:latin typeface="Consolas"/>
              </a:rPr>
              <a:t>dW1</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db1</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X</a:t>
            </a:r>
            <a:r>
              <a:rPr sz="1300" i="0">
                <a:solidFill>
                  <a:srgbClr val="AEB6BF"/>
                </a:solidFill>
                <a:latin typeface="Consolas"/>
              </a:rPr>
              <a:t>.</a:t>
            </a:r>
            <a:r>
              <a:rPr sz="1300" i="0">
                <a:solidFill>
                  <a:srgbClr val="E8EDF2"/>
                </a:solidFill>
                <a:latin typeface="Consolas"/>
              </a:rPr>
              <a:t>T</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dz1</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dz1</a:t>
            </a:r>
            <a:r>
              <a:rPr sz="1300" i="0">
                <a:solidFill>
                  <a:srgbClr val="AEB6BF"/>
                </a:solidFill>
                <a:latin typeface="Consolas"/>
              </a:rPr>
              <a:t>.</a:t>
            </a:r>
            <a:r>
              <a:rPr sz="1300" i="0">
                <a:solidFill>
                  <a:srgbClr val="E8EDF2"/>
                </a:solidFill>
                <a:latin typeface="Consolas"/>
              </a:rPr>
              <a:t>sum</a:t>
            </a:r>
            <a:r>
              <a:rPr sz="1300" i="0">
                <a:solidFill>
                  <a:srgbClr val="AEB6BF"/>
                </a:solidFill>
                <a:latin typeface="Consolas"/>
              </a:rPr>
              <a:t>(</a:t>
            </a:r>
            <a:r>
              <a:rPr sz="1300" i="0">
                <a:solidFill>
                  <a:srgbClr val="F7DC6F"/>
                </a:solidFill>
                <a:latin typeface="Consolas"/>
              </a:rPr>
              <a:t>0</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keepdims</a:t>
            </a:r>
            <a:r>
              <a:rPr sz="1300" i="0">
                <a:solidFill>
                  <a:srgbClr val="AEB6BF"/>
                </a:solidFill>
                <a:latin typeface="Consolas"/>
              </a:rPr>
              <a:t>=</a:t>
            </a:r>
            <a:r>
              <a:rPr sz="1300" i="0">
                <a:solidFill>
                  <a:srgbClr val="5DADE2"/>
                </a:solidFill>
                <a:latin typeface="Consolas"/>
              </a:rPr>
              <a:t>True</a:t>
            </a:r>
            <a:r>
              <a:rPr sz="1300" i="0">
                <a:solidFill>
                  <a:srgbClr val="AEB6BF"/>
                </a:solidFill>
                <a:latin typeface="Consolas"/>
              </a:rPr>
              <a:t>)</a:t>
            </a:r>
          </a:p>
        </p:txBody>
      </p:sp>
      <p:sp>
        <p:nvSpPr>
          <p:cNvPr id="15" name="!!code-num"/>
          <p:cNvSpPr txBox="1"/>
          <p:nvPr/>
        </p:nvSpPr>
        <p:spPr>
          <a:xfrm>
            <a:off x="768096" y="2523744"/>
            <a:ext cx="393192" cy="3730752"/>
          </a:xfrm>
          <a:prstGeom prst="rect">
            <a:avLst/>
          </a:prstGeom>
          <a:noFill/>
        </p:spPr>
        <p:txBody>
          <a:bodyPr wrap="none" anchor="t" lIns="0" rIns="0" tIns="0" bIns="0">
            <a:noAutofit/>
          </a:bodyPr>
          <a:lstStyle/>
          <a:p>
            <a:pPr algn="r">
              <a:lnSpc>
                <a:spcPct val="100000"/>
              </a:lnSpc>
            </a:pPr>
            <a:r>
              <a:rPr sz="1300">
                <a:solidFill>
                  <a:srgbClr val="4F5D6A"/>
                </a:solidFill>
                <a:latin typeface="Consolas"/>
              </a:rPr>
              <a:t>6</a:t>
            </a:r>
          </a:p>
          <a:p>
            <a:pPr algn="r">
              <a:lnSpc>
                <a:spcPct val="100000"/>
              </a:lnSpc>
            </a:pPr>
            <a:r>
              <a:rPr sz="1300">
                <a:solidFill>
                  <a:srgbClr val="4F5D6A"/>
                </a:solidFill>
                <a:latin typeface="Consolas"/>
              </a:rPr>
              <a:t>7</a:t>
            </a:r>
          </a:p>
          <a:p>
            <a:pPr algn="r">
              <a:lnSpc>
                <a:spcPct val="100000"/>
              </a:lnSpc>
            </a:pPr>
            <a:r>
              <a:rPr sz="1300">
                <a:solidFill>
                  <a:srgbClr val="4F5D6A"/>
                </a:solidFill>
                <a:latin typeface="Consolas"/>
              </a:rPr>
              <a:t>8</a:t>
            </a:r>
          </a:p>
          <a:p>
            <a:pPr algn="r">
              <a:lnSpc>
                <a:spcPct val="100000"/>
              </a:lnSpc>
            </a:pPr>
            <a:r>
              <a:rPr sz="1300">
                <a:solidFill>
                  <a:srgbClr val="4F5D6A"/>
                </a:solidFill>
                <a:latin typeface="Consolas"/>
              </a:rPr>
              <a:t>9</a:t>
            </a:r>
          </a:p>
          <a:p>
            <a:pPr algn="r">
              <a:lnSpc>
                <a:spcPct val="100000"/>
              </a:lnSpc>
            </a:pPr>
            <a:r>
              <a:rPr sz="1300">
                <a:solidFill>
                  <a:srgbClr val="4F5D6A"/>
                </a:solidFill>
                <a:latin typeface="Consolas"/>
              </a:rPr>
              <a:t>10</a:t>
            </a:r>
          </a:p>
          <a:p>
            <a:pPr algn="r">
              <a:lnSpc>
                <a:spcPct val="100000"/>
              </a:lnSpc>
            </a:pPr>
            <a:r>
              <a:rPr sz="1300">
                <a:solidFill>
                  <a:srgbClr val="4F5D6A"/>
                </a:solidFill>
                <a:latin typeface="Consolas"/>
              </a:rPr>
              <a:t>11</a:t>
            </a:r>
          </a:p>
          <a:p>
            <a:pPr algn="r">
              <a:lnSpc>
                <a:spcPct val="100000"/>
              </a:lnSpc>
            </a:pPr>
            <a:r>
              <a:rPr sz="1300">
                <a:solidFill>
                  <a:srgbClr val="4F5D6A"/>
                </a:solidFill>
                <a:latin typeface="Consolas"/>
              </a:rPr>
              <a:t>12</a:t>
            </a:r>
          </a:p>
          <a:p>
            <a:pPr algn="r">
              <a:lnSpc>
                <a:spcPct val="100000"/>
              </a:lnSpc>
            </a:pPr>
            <a:r>
              <a:rPr sz="1300">
                <a:solidFill>
                  <a:srgbClr val="4F5D6A"/>
                </a:solidFill>
                <a:latin typeface="Consolas"/>
              </a:rPr>
              <a:t>13</a:t>
            </a:r>
          </a:p>
          <a:p>
            <a:pPr algn="r">
              <a:lnSpc>
                <a:spcPct val="100000"/>
              </a:lnSpc>
            </a:pPr>
            <a:r>
              <a:rPr sz="1300">
                <a:solidFill>
                  <a:srgbClr val="4F5D6A"/>
                </a:solidFill>
                <a:latin typeface="Consolas"/>
              </a:rPr>
              <a:t>14</a:t>
            </a:r>
          </a:p>
          <a:p>
            <a:pPr algn="r">
              <a:lnSpc>
                <a:spcPct val="100000"/>
              </a:lnSpc>
            </a:pPr>
            <a:r>
              <a:rPr sz="1300">
                <a:solidFill>
                  <a:srgbClr val="4F5D6A"/>
                </a:solidFill>
                <a:latin typeface="Consolas"/>
              </a:rPr>
              <a:t>15</a:t>
            </a:r>
          </a:p>
          <a:p>
            <a:pPr algn="r">
              <a:lnSpc>
                <a:spcPct val="100000"/>
              </a:lnSpc>
            </a:pPr>
            <a:r>
              <a:rPr sz="1300">
                <a:solidFill>
                  <a:srgbClr val="4F5D6A"/>
                </a:solidFill>
                <a:latin typeface="Consolas"/>
              </a:rPr>
              <a:t>16</a:t>
            </a:r>
          </a:p>
          <a:p>
            <a:pPr algn="r">
              <a:lnSpc>
                <a:spcPct val="100000"/>
              </a:lnSpc>
            </a:pPr>
            <a:r>
              <a:rPr sz="1300">
                <a:solidFill>
                  <a:srgbClr val="4F5D6A"/>
                </a:solidFill>
                <a:latin typeface="Consolas"/>
              </a:rPr>
              <a:t>17</a:t>
            </a:r>
          </a:p>
          <a:p>
            <a:pPr algn="r">
              <a:lnSpc>
                <a:spcPct val="100000"/>
              </a:lnSpc>
            </a:pPr>
            <a:r>
              <a:rPr sz="1300">
                <a:solidFill>
                  <a:srgbClr val="4F5D6A"/>
                </a:solidFill>
                <a:latin typeface="Consolas"/>
              </a:rPr>
              <a:t>18</a:t>
            </a:r>
          </a:p>
          <a:p>
            <a:pPr algn="r">
              <a:lnSpc>
                <a:spcPct val="100000"/>
              </a:lnSpc>
            </a:pPr>
            <a:r>
              <a:rPr sz="1300">
                <a:solidFill>
                  <a:srgbClr val="4F5D6A"/>
                </a:solidFill>
                <a:latin typeface="Consolas"/>
              </a:rPr>
              <a:t>19</a:t>
            </a:r>
          </a:p>
          <a:p>
            <a:pPr algn="r">
              <a:lnSpc>
                <a:spcPct val="100000"/>
              </a:lnSpc>
            </a:pPr>
            <a:r>
              <a:rPr sz="1300">
                <a:solidFill>
                  <a:srgbClr val="4F5D6A"/>
                </a:solidFill>
                <a:latin typeface="Consolas"/>
              </a:rPr>
              <a:t>20</a:t>
            </a:r>
          </a:p>
          <a:p>
            <a:pPr algn="r">
              <a:lnSpc>
                <a:spcPct val="100000"/>
              </a:lnSpc>
            </a:pPr>
            <a:r>
              <a:rPr sz="1300">
                <a:solidFill>
                  <a:srgbClr val="4F5D6A"/>
                </a:solidFill>
                <a:latin typeface="Consolas"/>
              </a:rPr>
              <a:t>21</a:t>
            </a:r>
          </a:p>
          <a:p>
            <a:pPr algn="r">
              <a:lnSpc>
                <a:spcPct val="100000"/>
              </a:lnSpc>
            </a:pPr>
            <a:r>
              <a:rPr sz="1300">
                <a:solidFill>
                  <a:srgbClr val="4F5D6A"/>
                </a:solidFill>
                <a:latin typeface="Consolas"/>
              </a:rPr>
              <a:t>22</a:t>
            </a:r>
          </a:p>
          <a:p>
            <a:pPr algn="r">
              <a:lnSpc>
                <a:spcPct val="100000"/>
              </a:lnSpc>
            </a:pPr>
            <a:r>
              <a:rPr sz="1300">
                <a:solidFill>
                  <a:srgbClr val="4F5D6A"/>
                </a:solidFill>
                <a:latin typeface="Consolas"/>
              </a:rPr>
              <a:t>23</a:t>
            </a:r>
          </a:p>
          <a:p>
            <a:pPr algn="r">
              <a:lnSpc>
                <a:spcPct val="100000"/>
              </a:lnSpc>
            </a:pPr>
            <a:r>
              <a:rPr sz="1300">
                <a:solidFill>
                  <a:srgbClr val="4F5D6A"/>
                </a:solidFill>
                <a:latin typeface="Consolas"/>
              </a:rPr>
              <a:t>24</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8398723"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A Network from Scratch, then with a Framework</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4 OF 5</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17  ·  Neural Network Foundations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§17.5  ·  Handout p. 112     </a:t>
            </a:r>
            <a:fld id="{B3DB8320-9A2B-4C8D-9484-9B9742CB5C6A}" type="slidenum">
              <a:rPr lang="en-GB" sz="1000">
                <a:solidFill>
                  <a:srgbClr val="8795A1"/>
                </a:solidFill>
                <a:latin typeface="Segoe UI"/>
              </a:rPr>
              <a:t>32</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A tiny two-layer network trained by hand (continued)</a:t>
            </a:r>
          </a:p>
        </p:txBody>
      </p:sp>
      <p:sp>
        <p:nvSpPr>
          <p:cNvPr id="8" name="!!code-bg">
            <a:extLst>
              <a:ext uri="{C183D7F6-B498-43B3-948B-1728B52AA6E4}">
                <adec:decorative xmlns:adec="http://schemas.microsoft.com/office/drawing/2017/decorative" val="1"/>
              </a:ext>
            </a:extLst>
          </p:cNvPr>
          <p:cNvSpPr/>
          <p:nvPr/>
        </p:nvSpPr>
        <p:spPr>
          <a:xfrm>
            <a:off x="658368" y="2084831"/>
            <a:ext cx="10874959" cy="1517904"/>
          </a:xfrm>
          <a:prstGeom prst="roundRect">
            <a:avLst>
              <a:gd name="adj" fmla="val 6024"/>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  ·  code/ch17_network_from_scratch.py</a:t>
            </a:r>
          </a:p>
        </p:txBody>
      </p:sp>
      <p:sp>
        <p:nvSpPr>
          <p:cNvPr id="14" name="!!code-text" descr="W1 -= lr*dW1; b1 -= lr*db1; W2 -= lr*dW2; b2 -= lr*db2 # update if epoch % 100 == 0: print(f&quot;epoch {epoch:3d} loss {loss:.4f}&quot;)"/>
          <p:cNvSpPr txBox="1"/>
          <p:nvPr/>
        </p:nvSpPr>
        <p:spPr>
          <a:xfrm>
            <a:off x="1362456" y="2523744"/>
            <a:ext cx="9987991" cy="1024127"/>
          </a:xfrm>
          <a:prstGeom prst="rect">
            <a:avLst/>
          </a:prstGeom>
          <a:noFill/>
        </p:spPr>
        <p:txBody>
          <a:bodyPr wrap="none" anchor="t" lIns="0" rIns="0" tIns="0" bIns="0">
            <a:noAutofit/>
          </a:bodyPr>
          <a:lstStyle/>
          <a:p>
            <a:pPr>
              <a:lnSpc>
                <a:spcPct val="100000"/>
              </a:lnSpc>
              <a:spcAft>
                <a:spcPts val="0"/>
              </a:spcAft>
            </a:pPr>
            <a:r>
              <a:rPr sz="2000" i="0">
                <a:solidFill>
                  <a:srgbClr val="E8EDF2"/>
                </a:solidFill>
                <a:latin typeface="Consolas"/>
              </a:rPr>
              <a:t>    </a:t>
            </a:r>
            <a:r>
              <a:rPr sz="2000" i="0">
                <a:solidFill>
                  <a:srgbClr val="E8EDF2"/>
                </a:solidFill>
                <a:latin typeface="Consolas"/>
              </a:rPr>
              <a:t>W1</a:t>
            </a:r>
            <a:r>
              <a:rPr sz="2000" i="0">
                <a:solidFill>
                  <a:srgbClr val="E8EDF2"/>
                </a:solidFill>
                <a:latin typeface="Consolas"/>
              </a:rPr>
              <a:t> </a:t>
            </a:r>
            <a:r>
              <a:rPr sz="2000" i="0">
                <a:solidFill>
                  <a:srgbClr val="AEB6BF"/>
                </a:solidFill>
                <a:latin typeface="Consolas"/>
              </a:rPr>
              <a:t>-</a:t>
            </a:r>
            <a:r>
              <a:rPr sz="2000" i="0">
                <a:solidFill>
                  <a:srgbClr val="AEB6BF"/>
                </a:solidFill>
                <a:latin typeface="Consolas"/>
              </a:rPr>
              <a:t>=</a:t>
            </a:r>
            <a:r>
              <a:rPr sz="2000" i="0">
                <a:solidFill>
                  <a:srgbClr val="E8EDF2"/>
                </a:solidFill>
                <a:latin typeface="Consolas"/>
              </a:rPr>
              <a:t> </a:t>
            </a:r>
            <a:r>
              <a:rPr sz="2000" i="0">
                <a:solidFill>
                  <a:srgbClr val="E8EDF2"/>
                </a:solidFill>
                <a:latin typeface="Consolas"/>
              </a:rPr>
              <a:t>lr</a:t>
            </a:r>
            <a:r>
              <a:rPr sz="2000" i="0">
                <a:solidFill>
                  <a:srgbClr val="AEB6BF"/>
                </a:solidFill>
                <a:latin typeface="Consolas"/>
              </a:rPr>
              <a:t>*</a:t>
            </a:r>
            <a:r>
              <a:rPr sz="2000" i="0">
                <a:solidFill>
                  <a:srgbClr val="E8EDF2"/>
                </a:solidFill>
                <a:latin typeface="Consolas"/>
              </a:rPr>
              <a:t>dW1</a:t>
            </a:r>
            <a:r>
              <a:rPr sz="2000" i="0">
                <a:solidFill>
                  <a:srgbClr val="AEB6BF"/>
                </a:solidFill>
                <a:latin typeface="Consolas"/>
              </a:rPr>
              <a:t>;</a:t>
            </a:r>
            <a:r>
              <a:rPr sz="2000" i="0">
                <a:solidFill>
                  <a:srgbClr val="E8EDF2"/>
                </a:solidFill>
                <a:latin typeface="Consolas"/>
              </a:rPr>
              <a:t> </a:t>
            </a:r>
            <a:r>
              <a:rPr sz="2000" i="0">
                <a:solidFill>
                  <a:srgbClr val="E8EDF2"/>
                </a:solidFill>
                <a:latin typeface="Consolas"/>
              </a:rPr>
              <a:t>b1</a:t>
            </a:r>
            <a:r>
              <a:rPr sz="2000" i="0">
                <a:solidFill>
                  <a:srgbClr val="E8EDF2"/>
                </a:solidFill>
                <a:latin typeface="Consolas"/>
              </a:rPr>
              <a:t> </a:t>
            </a:r>
            <a:r>
              <a:rPr sz="2000" i="0">
                <a:solidFill>
                  <a:srgbClr val="AEB6BF"/>
                </a:solidFill>
                <a:latin typeface="Consolas"/>
              </a:rPr>
              <a:t>-</a:t>
            </a:r>
            <a:r>
              <a:rPr sz="2000" i="0">
                <a:solidFill>
                  <a:srgbClr val="AEB6BF"/>
                </a:solidFill>
                <a:latin typeface="Consolas"/>
              </a:rPr>
              <a:t>=</a:t>
            </a:r>
            <a:r>
              <a:rPr sz="2000" i="0">
                <a:solidFill>
                  <a:srgbClr val="E8EDF2"/>
                </a:solidFill>
                <a:latin typeface="Consolas"/>
              </a:rPr>
              <a:t> </a:t>
            </a:r>
            <a:r>
              <a:rPr sz="2000" i="0">
                <a:solidFill>
                  <a:srgbClr val="E8EDF2"/>
                </a:solidFill>
                <a:latin typeface="Consolas"/>
              </a:rPr>
              <a:t>lr</a:t>
            </a:r>
            <a:r>
              <a:rPr sz="2000" i="0">
                <a:solidFill>
                  <a:srgbClr val="AEB6BF"/>
                </a:solidFill>
                <a:latin typeface="Consolas"/>
              </a:rPr>
              <a:t>*</a:t>
            </a:r>
            <a:r>
              <a:rPr sz="2000" i="0">
                <a:solidFill>
                  <a:srgbClr val="E8EDF2"/>
                </a:solidFill>
                <a:latin typeface="Consolas"/>
              </a:rPr>
              <a:t>db1</a:t>
            </a:r>
            <a:r>
              <a:rPr sz="2000" i="0">
                <a:solidFill>
                  <a:srgbClr val="AEB6BF"/>
                </a:solidFill>
                <a:latin typeface="Consolas"/>
              </a:rPr>
              <a:t>;</a:t>
            </a:r>
            <a:r>
              <a:rPr sz="2000" i="0">
                <a:solidFill>
                  <a:srgbClr val="E8EDF2"/>
                </a:solidFill>
                <a:latin typeface="Consolas"/>
              </a:rPr>
              <a:t> </a:t>
            </a:r>
            <a:r>
              <a:rPr sz="2000" i="0">
                <a:solidFill>
                  <a:srgbClr val="E8EDF2"/>
                </a:solidFill>
                <a:latin typeface="Consolas"/>
              </a:rPr>
              <a:t>W2</a:t>
            </a:r>
            <a:r>
              <a:rPr sz="2000" i="0">
                <a:solidFill>
                  <a:srgbClr val="E8EDF2"/>
                </a:solidFill>
                <a:latin typeface="Consolas"/>
              </a:rPr>
              <a:t> </a:t>
            </a:r>
            <a:r>
              <a:rPr sz="2000" i="0">
                <a:solidFill>
                  <a:srgbClr val="AEB6BF"/>
                </a:solidFill>
                <a:latin typeface="Consolas"/>
              </a:rPr>
              <a:t>-</a:t>
            </a:r>
            <a:r>
              <a:rPr sz="2000" i="0">
                <a:solidFill>
                  <a:srgbClr val="AEB6BF"/>
                </a:solidFill>
                <a:latin typeface="Consolas"/>
              </a:rPr>
              <a:t>=</a:t>
            </a:r>
            <a:r>
              <a:rPr sz="2000" i="0">
                <a:solidFill>
                  <a:srgbClr val="E8EDF2"/>
                </a:solidFill>
                <a:latin typeface="Consolas"/>
              </a:rPr>
              <a:t> </a:t>
            </a:r>
            <a:r>
              <a:rPr sz="2000" i="0">
                <a:solidFill>
                  <a:srgbClr val="E8EDF2"/>
                </a:solidFill>
                <a:latin typeface="Consolas"/>
              </a:rPr>
              <a:t>lr</a:t>
            </a:r>
            <a:r>
              <a:rPr sz="2000" i="0">
                <a:solidFill>
                  <a:srgbClr val="AEB6BF"/>
                </a:solidFill>
                <a:latin typeface="Consolas"/>
              </a:rPr>
              <a:t>*</a:t>
            </a:r>
            <a:r>
              <a:rPr sz="2000" i="0">
                <a:solidFill>
                  <a:srgbClr val="E8EDF2"/>
                </a:solidFill>
                <a:latin typeface="Consolas"/>
              </a:rPr>
              <a:t>dW2</a:t>
            </a:r>
            <a:r>
              <a:rPr sz="2000" i="0">
                <a:solidFill>
                  <a:srgbClr val="AEB6BF"/>
                </a:solidFill>
                <a:latin typeface="Consolas"/>
              </a:rPr>
              <a:t>;</a:t>
            </a:r>
            <a:r>
              <a:rPr sz="2000" i="0">
                <a:solidFill>
                  <a:srgbClr val="E8EDF2"/>
                </a:solidFill>
                <a:latin typeface="Consolas"/>
              </a:rPr>
              <a:t> </a:t>
            </a:r>
            <a:r>
              <a:rPr sz="2000" i="0">
                <a:solidFill>
                  <a:srgbClr val="E8EDF2"/>
                </a:solidFill>
                <a:latin typeface="Consolas"/>
              </a:rPr>
              <a:t>b2</a:t>
            </a:r>
            <a:r>
              <a:rPr sz="2000" i="0">
                <a:solidFill>
                  <a:srgbClr val="E8EDF2"/>
                </a:solidFill>
                <a:latin typeface="Consolas"/>
              </a:rPr>
              <a:t> </a:t>
            </a:r>
            <a:r>
              <a:rPr sz="2000" i="0">
                <a:solidFill>
                  <a:srgbClr val="AEB6BF"/>
                </a:solidFill>
                <a:latin typeface="Consolas"/>
              </a:rPr>
              <a:t>-</a:t>
            </a:r>
            <a:r>
              <a:rPr sz="2000" i="0">
                <a:solidFill>
                  <a:srgbClr val="AEB6BF"/>
                </a:solidFill>
                <a:latin typeface="Consolas"/>
              </a:rPr>
              <a:t>=</a:t>
            </a:r>
            <a:r>
              <a:rPr sz="2000" i="0">
                <a:solidFill>
                  <a:srgbClr val="E8EDF2"/>
                </a:solidFill>
                <a:latin typeface="Consolas"/>
              </a:rPr>
              <a:t> </a:t>
            </a:r>
            <a:r>
              <a:rPr sz="2000" i="0">
                <a:solidFill>
                  <a:srgbClr val="E8EDF2"/>
                </a:solidFill>
                <a:latin typeface="Consolas"/>
              </a:rPr>
              <a:t>lr</a:t>
            </a:r>
            <a:r>
              <a:rPr sz="2000" i="0">
                <a:solidFill>
                  <a:srgbClr val="AEB6BF"/>
                </a:solidFill>
                <a:latin typeface="Consolas"/>
              </a:rPr>
              <a:t>*</a:t>
            </a:r>
            <a:r>
              <a:rPr sz="2000" i="0">
                <a:solidFill>
                  <a:srgbClr val="E8EDF2"/>
                </a:solidFill>
                <a:latin typeface="Consolas"/>
              </a:rPr>
              <a:t>db2</a:t>
            </a:r>
            <a:r>
              <a:rPr sz="2000" i="0">
                <a:solidFill>
                  <a:srgbClr val="E8EDF2"/>
                </a:solidFill>
                <a:latin typeface="Consolas"/>
              </a:rPr>
              <a:t>   </a:t>
            </a:r>
            <a:r>
              <a:rPr sz="2000" i="1">
                <a:solidFill>
                  <a:srgbClr val="8795A1"/>
                </a:solidFill>
                <a:latin typeface="Consolas"/>
              </a:rPr>
              <a:t># update</a:t>
            </a:r>
          </a:p>
          <a:p>
            <a:pPr>
              <a:lnSpc>
                <a:spcPct val="100000"/>
              </a:lnSpc>
              <a:spcAft>
                <a:spcPts val="0"/>
              </a:spcAft>
            </a:pPr>
            <a:r>
              <a:rPr sz="2000" i="0">
                <a:solidFill>
                  <a:srgbClr val="E8EDF2"/>
                </a:solidFill>
                <a:latin typeface="Consolas"/>
              </a:rPr>
              <a:t>    </a:t>
            </a:r>
            <a:r>
              <a:rPr sz="2000" i="0">
                <a:solidFill>
                  <a:srgbClr val="5DADE2"/>
                </a:solidFill>
                <a:latin typeface="Consolas"/>
              </a:rPr>
              <a:t>if</a:t>
            </a:r>
            <a:r>
              <a:rPr sz="2000" i="0">
                <a:solidFill>
                  <a:srgbClr val="E8EDF2"/>
                </a:solidFill>
                <a:latin typeface="Consolas"/>
              </a:rPr>
              <a:t> </a:t>
            </a:r>
            <a:r>
              <a:rPr sz="2000" i="0">
                <a:solidFill>
                  <a:srgbClr val="E8EDF2"/>
                </a:solidFill>
                <a:latin typeface="Consolas"/>
              </a:rPr>
              <a:t>epoch</a:t>
            </a:r>
            <a:r>
              <a:rPr sz="2000" i="0">
                <a:solidFill>
                  <a:srgbClr val="E8EDF2"/>
                </a:solidFill>
                <a:latin typeface="Consolas"/>
              </a:rPr>
              <a:t> </a:t>
            </a:r>
            <a:r>
              <a:rPr sz="2000" i="0">
                <a:solidFill>
                  <a:srgbClr val="AEB6BF"/>
                </a:solidFill>
                <a:latin typeface="Consolas"/>
              </a:rPr>
              <a:t>%</a:t>
            </a:r>
            <a:r>
              <a:rPr sz="2000" i="0">
                <a:solidFill>
                  <a:srgbClr val="E8EDF2"/>
                </a:solidFill>
                <a:latin typeface="Consolas"/>
              </a:rPr>
              <a:t> </a:t>
            </a:r>
            <a:r>
              <a:rPr sz="2000" i="0">
                <a:solidFill>
                  <a:srgbClr val="F7DC6F"/>
                </a:solidFill>
                <a:latin typeface="Consolas"/>
              </a:rPr>
              <a:t>100</a:t>
            </a:r>
            <a:r>
              <a:rPr sz="2000" i="0">
                <a:solidFill>
                  <a:srgbClr val="E8EDF2"/>
                </a:solidFill>
                <a:latin typeface="Consolas"/>
              </a:rPr>
              <a:t> </a:t>
            </a:r>
            <a:r>
              <a:rPr sz="2000" i="0">
                <a:solidFill>
                  <a:srgbClr val="AEB6BF"/>
                </a:solidFill>
                <a:latin typeface="Consolas"/>
              </a:rPr>
              <a:t>==</a:t>
            </a:r>
            <a:r>
              <a:rPr sz="2000" i="0">
                <a:solidFill>
                  <a:srgbClr val="E8EDF2"/>
                </a:solidFill>
                <a:latin typeface="Consolas"/>
              </a:rPr>
              <a:t> </a:t>
            </a:r>
            <a:r>
              <a:rPr sz="2000" i="0">
                <a:solidFill>
                  <a:srgbClr val="F7DC6F"/>
                </a:solidFill>
                <a:latin typeface="Consolas"/>
              </a:rPr>
              <a:t>0</a:t>
            </a:r>
            <a:r>
              <a:rPr sz="2000" i="0">
                <a:solidFill>
                  <a:srgbClr val="AEB6BF"/>
                </a:solidFill>
                <a:latin typeface="Consolas"/>
              </a:rPr>
              <a:t>:</a:t>
            </a:r>
          </a:p>
          <a:p>
            <a:pPr>
              <a:lnSpc>
                <a:spcPct val="100000"/>
              </a:lnSpc>
              <a:spcAft>
                <a:spcPts val="0"/>
              </a:spcAft>
            </a:pPr>
            <a:r>
              <a:rPr sz="2000" i="0">
                <a:solidFill>
                  <a:srgbClr val="E8EDF2"/>
                </a:solidFill>
                <a:latin typeface="Consolas"/>
              </a:rPr>
              <a:t>        </a:t>
            </a:r>
            <a:r>
              <a:rPr sz="2000" i="0">
                <a:solidFill>
                  <a:srgbClr val="C39BD3"/>
                </a:solidFill>
                <a:latin typeface="Consolas"/>
              </a:rPr>
              <a:t>print</a:t>
            </a:r>
            <a:r>
              <a:rPr sz="2000" i="0">
                <a:solidFill>
                  <a:srgbClr val="AEB6BF"/>
                </a:solidFill>
                <a:latin typeface="Consolas"/>
              </a:rPr>
              <a:t>(</a:t>
            </a:r>
            <a:r>
              <a:rPr sz="2000" i="0">
                <a:solidFill>
                  <a:srgbClr val="7DCEA0"/>
                </a:solidFill>
                <a:latin typeface="Consolas"/>
              </a:rPr>
              <a:t>f</a:t>
            </a:r>
            <a:r>
              <a:rPr sz="2000" i="0">
                <a:solidFill>
                  <a:srgbClr val="7DCEA0"/>
                </a:solidFill>
                <a:latin typeface="Consolas"/>
              </a:rPr>
              <a:t>"</a:t>
            </a:r>
            <a:r>
              <a:rPr sz="2000" i="0">
                <a:solidFill>
                  <a:srgbClr val="7DCEA0"/>
                </a:solidFill>
                <a:latin typeface="Consolas"/>
              </a:rPr>
              <a:t>epoch </a:t>
            </a:r>
            <a:r>
              <a:rPr sz="2000" i="0">
                <a:solidFill>
                  <a:srgbClr val="7DCEA0"/>
                </a:solidFill>
                <a:latin typeface="Consolas"/>
              </a:rPr>
              <a:t>{</a:t>
            </a:r>
            <a:r>
              <a:rPr sz="2000" i="0">
                <a:solidFill>
                  <a:srgbClr val="E8EDF2"/>
                </a:solidFill>
                <a:latin typeface="Consolas"/>
              </a:rPr>
              <a:t>epoch</a:t>
            </a:r>
            <a:r>
              <a:rPr sz="2000" i="0">
                <a:solidFill>
                  <a:srgbClr val="7DCEA0"/>
                </a:solidFill>
                <a:latin typeface="Consolas"/>
              </a:rPr>
              <a:t>:</a:t>
            </a:r>
            <a:r>
              <a:rPr sz="2000" i="0">
                <a:solidFill>
                  <a:srgbClr val="7DCEA0"/>
                </a:solidFill>
                <a:latin typeface="Consolas"/>
              </a:rPr>
              <a:t>3d</a:t>
            </a:r>
            <a:r>
              <a:rPr sz="2000" i="0">
                <a:solidFill>
                  <a:srgbClr val="7DCEA0"/>
                </a:solidFill>
                <a:latin typeface="Consolas"/>
              </a:rPr>
              <a:t>}</a:t>
            </a:r>
            <a:r>
              <a:rPr sz="2000" i="0">
                <a:solidFill>
                  <a:srgbClr val="7DCEA0"/>
                </a:solidFill>
                <a:latin typeface="Consolas"/>
              </a:rPr>
              <a:t>  loss </a:t>
            </a:r>
            <a:r>
              <a:rPr sz="2000" i="0">
                <a:solidFill>
                  <a:srgbClr val="7DCEA0"/>
                </a:solidFill>
                <a:latin typeface="Consolas"/>
              </a:rPr>
              <a:t>{</a:t>
            </a:r>
            <a:r>
              <a:rPr sz="2000" i="0">
                <a:solidFill>
                  <a:srgbClr val="E8EDF2"/>
                </a:solidFill>
                <a:latin typeface="Consolas"/>
              </a:rPr>
              <a:t>loss</a:t>
            </a:r>
            <a:r>
              <a:rPr sz="2000" i="0">
                <a:solidFill>
                  <a:srgbClr val="7DCEA0"/>
                </a:solidFill>
                <a:latin typeface="Consolas"/>
              </a:rPr>
              <a:t>:</a:t>
            </a:r>
            <a:r>
              <a:rPr sz="2000" i="0">
                <a:solidFill>
                  <a:srgbClr val="7DCEA0"/>
                </a:solidFill>
                <a:latin typeface="Consolas"/>
              </a:rPr>
              <a:t>.4f</a:t>
            </a:r>
            <a:r>
              <a:rPr sz="2000" i="0">
                <a:solidFill>
                  <a:srgbClr val="7DCEA0"/>
                </a:solidFill>
                <a:latin typeface="Consolas"/>
              </a:rPr>
              <a:t>}</a:t>
            </a:r>
            <a:r>
              <a:rPr sz="2000" i="0">
                <a:solidFill>
                  <a:srgbClr val="7DCEA0"/>
                </a:solidFill>
                <a:latin typeface="Consolas"/>
              </a:rPr>
              <a:t>"</a:t>
            </a:r>
            <a:r>
              <a:rPr sz="2000" i="0">
                <a:solidFill>
                  <a:srgbClr val="AEB6BF"/>
                </a:solidFill>
                <a:latin typeface="Consolas"/>
              </a:rPr>
              <a:t>)</a:t>
            </a:r>
          </a:p>
        </p:txBody>
      </p:sp>
      <p:sp>
        <p:nvSpPr>
          <p:cNvPr id="15" name="!!code-num"/>
          <p:cNvSpPr txBox="1"/>
          <p:nvPr/>
        </p:nvSpPr>
        <p:spPr>
          <a:xfrm>
            <a:off x="768096" y="2523744"/>
            <a:ext cx="393192" cy="1024127"/>
          </a:xfrm>
          <a:prstGeom prst="rect">
            <a:avLst/>
          </a:prstGeom>
          <a:noFill/>
        </p:spPr>
        <p:txBody>
          <a:bodyPr wrap="none" anchor="t" lIns="0" rIns="0" tIns="0" bIns="0">
            <a:noAutofit/>
          </a:bodyPr>
          <a:lstStyle/>
          <a:p>
            <a:pPr algn="r">
              <a:lnSpc>
                <a:spcPct val="100000"/>
              </a:lnSpc>
            </a:pPr>
            <a:r>
              <a:rPr sz="2000">
                <a:solidFill>
                  <a:srgbClr val="4F5D6A"/>
                </a:solidFill>
                <a:latin typeface="Consolas"/>
              </a:rPr>
              <a:t>25</a:t>
            </a:r>
          </a:p>
          <a:p>
            <a:pPr algn="r">
              <a:lnSpc>
                <a:spcPct val="100000"/>
              </a:lnSpc>
            </a:pPr>
            <a:r>
              <a:rPr sz="2000">
                <a:solidFill>
                  <a:srgbClr val="4F5D6A"/>
                </a:solidFill>
                <a:latin typeface="Consolas"/>
              </a:rPr>
              <a:t>26</a:t>
            </a:r>
          </a:p>
          <a:p>
            <a:pPr algn="r">
              <a:lnSpc>
                <a:spcPct val="100000"/>
              </a:lnSpc>
            </a:pPr>
            <a:r>
              <a:rPr sz="2000">
                <a:solidFill>
                  <a:srgbClr val="4F5D6A"/>
                </a:solidFill>
                <a:latin typeface="Consolas"/>
              </a:rPr>
              <a:t>27</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8669649"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A Network from Scratch, then with a Framework</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5 OF 5</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17  ·  Neural Network Foundations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§17.5  ·  Handout p. 112     </a:t>
            </a:r>
            <a:fld id="{F491D6E3-F0D9-4E3F-AA82-CF933ECDA94A}" type="slidenum">
              <a:rPr lang="en-GB" sz="1000">
                <a:solidFill>
                  <a:srgbClr val="8795A1"/>
                </a:solidFill>
                <a:latin typeface="Segoe UI"/>
              </a:rPr>
              <a:t>33</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The same thing with a framework, plus early stopping</a:t>
            </a:r>
          </a:p>
        </p:txBody>
      </p:sp>
      <p:sp>
        <p:nvSpPr>
          <p:cNvPr id="8" name="!!code-bg">
            <a:extLst>
              <a:ext uri="{C183D7F6-B498-43B3-948B-1728B52AA6E4}">
                <adec:decorative xmlns:adec="http://schemas.microsoft.com/office/drawing/2017/decorative" val="1"/>
              </a:ext>
            </a:extLst>
          </p:cNvPr>
          <p:cNvSpPr/>
          <p:nvPr/>
        </p:nvSpPr>
        <p:spPr>
          <a:xfrm>
            <a:off x="658368" y="2084831"/>
            <a:ext cx="10874959" cy="3194304"/>
          </a:xfrm>
          <a:prstGeom prst="roundRect">
            <a:avLst>
              <a:gd name="adj" fmla="val 2862"/>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  ·  code/ch17_network_from_scratch.py</a:t>
            </a:r>
          </a:p>
        </p:txBody>
      </p:sp>
      <p:sp>
        <p:nvSpPr>
          <p:cNvPr id="14" name="!!code-text" descr="# ---- the same thing with a framework, plus early stopping ------------ # from tensorflow import keras # model = keras.Sequential([ # keras.layers.Dense(32, activation=&quot;relu&quot;, input_shape=(3,)), # keras.layers.Dropout(0.3), # keras.layers.Dense(1, activation=&quot;sigmoid&quot;)]) # model.compile(optimizer=&quot;adam&quot;, loss=&quot;binary_crossentropy&quot;, metrics=[&quot;AUC&quot;]) # model.fit(X, y, epochs=200, validation_split=0.2, # callbacks=[keras.callbacks.EarlyStopping(patience=10, # restore_best_weights=True)])"/>
          <p:cNvSpPr txBox="1"/>
          <p:nvPr/>
        </p:nvSpPr>
        <p:spPr>
          <a:xfrm>
            <a:off x="1362456" y="2523744"/>
            <a:ext cx="9987991" cy="2700528"/>
          </a:xfrm>
          <a:prstGeom prst="rect">
            <a:avLst/>
          </a:prstGeom>
          <a:noFill/>
        </p:spPr>
        <p:txBody>
          <a:bodyPr wrap="none" anchor="t" lIns="0" rIns="0" tIns="0" bIns="0">
            <a:noAutofit/>
          </a:bodyPr>
          <a:lstStyle/>
          <a:p>
            <a:pPr>
              <a:lnSpc>
                <a:spcPct val="100000"/>
              </a:lnSpc>
              <a:spcAft>
                <a:spcPts val="0"/>
              </a:spcAft>
            </a:pPr>
            <a:r>
              <a:rPr sz="1700" i="1">
                <a:solidFill>
                  <a:srgbClr val="8795A1"/>
                </a:solidFill>
                <a:latin typeface="Consolas"/>
              </a:rPr>
              <a:t># ---- the same thing with a framework, plus early stopping ------------</a:t>
            </a:r>
          </a:p>
          <a:p>
            <a:pPr>
              <a:lnSpc>
                <a:spcPct val="100000"/>
              </a:lnSpc>
              <a:spcAft>
                <a:spcPts val="0"/>
              </a:spcAft>
            </a:pPr>
            <a:r>
              <a:rPr sz="1700" i="1">
                <a:solidFill>
                  <a:srgbClr val="8795A1"/>
                </a:solidFill>
                <a:latin typeface="Consolas"/>
              </a:rPr>
              <a:t># from tensorflow import keras</a:t>
            </a:r>
          </a:p>
          <a:p>
            <a:pPr>
              <a:lnSpc>
                <a:spcPct val="100000"/>
              </a:lnSpc>
              <a:spcAft>
                <a:spcPts val="0"/>
              </a:spcAft>
            </a:pPr>
            <a:r>
              <a:rPr sz="1700" i="1">
                <a:solidFill>
                  <a:srgbClr val="8795A1"/>
                </a:solidFill>
                <a:latin typeface="Consolas"/>
              </a:rPr>
              <a:t># model = keras.Sequential([</a:t>
            </a:r>
          </a:p>
          <a:p>
            <a:pPr>
              <a:lnSpc>
                <a:spcPct val="100000"/>
              </a:lnSpc>
              <a:spcAft>
                <a:spcPts val="0"/>
              </a:spcAft>
            </a:pPr>
            <a:r>
              <a:rPr sz="1700" i="1">
                <a:solidFill>
                  <a:srgbClr val="8795A1"/>
                </a:solidFill>
                <a:latin typeface="Consolas"/>
              </a:rPr>
              <a:t>#     keras.layers.Dense(32, activation="relu", input_shape=(3,)),</a:t>
            </a:r>
          </a:p>
          <a:p>
            <a:pPr>
              <a:lnSpc>
                <a:spcPct val="100000"/>
              </a:lnSpc>
              <a:spcAft>
                <a:spcPts val="0"/>
              </a:spcAft>
            </a:pPr>
            <a:r>
              <a:rPr sz="1700" i="1">
                <a:solidFill>
                  <a:srgbClr val="8795A1"/>
                </a:solidFill>
                <a:latin typeface="Consolas"/>
              </a:rPr>
              <a:t>#     keras.layers.Dropout(0.3),</a:t>
            </a:r>
          </a:p>
          <a:p>
            <a:pPr>
              <a:lnSpc>
                <a:spcPct val="100000"/>
              </a:lnSpc>
              <a:spcAft>
                <a:spcPts val="0"/>
              </a:spcAft>
            </a:pPr>
            <a:r>
              <a:rPr sz="1700" i="1">
                <a:solidFill>
                  <a:srgbClr val="8795A1"/>
                </a:solidFill>
                <a:latin typeface="Consolas"/>
              </a:rPr>
              <a:t>#     keras.layers.Dense(1,  activation="sigmoid")])</a:t>
            </a:r>
          </a:p>
          <a:p>
            <a:pPr>
              <a:lnSpc>
                <a:spcPct val="100000"/>
              </a:lnSpc>
              <a:spcAft>
                <a:spcPts val="0"/>
              </a:spcAft>
            </a:pPr>
            <a:r>
              <a:rPr sz="1700" i="1">
                <a:solidFill>
                  <a:srgbClr val="8795A1"/>
                </a:solidFill>
                <a:latin typeface="Consolas"/>
              </a:rPr>
              <a:t># model.compile(optimizer="adam", loss="binary_crossentropy", metrics=["AUC"])</a:t>
            </a:r>
          </a:p>
          <a:p>
            <a:pPr>
              <a:lnSpc>
                <a:spcPct val="100000"/>
              </a:lnSpc>
              <a:spcAft>
                <a:spcPts val="0"/>
              </a:spcAft>
            </a:pPr>
            <a:r>
              <a:rPr sz="1700" i="1">
                <a:solidFill>
                  <a:srgbClr val="8795A1"/>
                </a:solidFill>
                <a:latin typeface="Consolas"/>
              </a:rPr>
              <a:t># model.fit(X, y, epochs=200, validation_split=0.2,</a:t>
            </a:r>
          </a:p>
          <a:p>
            <a:pPr>
              <a:lnSpc>
                <a:spcPct val="100000"/>
              </a:lnSpc>
              <a:spcAft>
                <a:spcPts val="0"/>
              </a:spcAft>
            </a:pPr>
            <a:r>
              <a:rPr sz="1700" i="1">
                <a:solidFill>
                  <a:srgbClr val="8795A1"/>
                </a:solidFill>
                <a:latin typeface="Consolas"/>
              </a:rPr>
              <a:t>#           callbacks=[keras.callbacks.EarlyStopping(patience=10,</a:t>
            </a:r>
          </a:p>
          <a:p>
            <a:pPr>
              <a:lnSpc>
                <a:spcPct val="100000"/>
              </a:lnSpc>
              <a:spcAft>
                <a:spcPts val="0"/>
              </a:spcAft>
            </a:pPr>
            <a:r>
              <a:rPr sz="1700" i="1">
                <a:solidFill>
                  <a:srgbClr val="8795A1"/>
                </a:solidFill>
                <a:latin typeface="Consolas"/>
              </a:rPr>
              <a:t>#                                                    restore_best_weights=True)])</a:t>
            </a:r>
          </a:p>
        </p:txBody>
      </p:sp>
      <p:sp>
        <p:nvSpPr>
          <p:cNvPr id="15" name="!!code-num"/>
          <p:cNvSpPr txBox="1"/>
          <p:nvPr/>
        </p:nvSpPr>
        <p:spPr>
          <a:xfrm>
            <a:off x="768096" y="2523744"/>
            <a:ext cx="393192" cy="2700528"/>
          </a:xfrm>
          <a:prstGeom prst="rect">
            <a:avLst/>
          </a:prstGeom>
          <a:noFill/>
        </p:spPr>
        <p:txBody>
          <a:bodyPr wrap="none" anchor="t" lIns="0" rIns="0" tIns="0" bIns="0">
            <a:noAutofit/>
          </a:bodyPr>
          <a:lstStyle/>
          <a:p>
            <a:pPr algn="r">
              <a:lnSpc>
                <a:spcPct val="100000"/>
              </a:lnSpc>
            </a:pPr>
            <a:r>
              <a:rPr sz="1700">
                <a:solidFill>
                  <a:srgbClr val="4F5D6A"/>
                </a:solidFill>
                <a:latin typeface="Consolas"/>
              </a:rPr>
              <a:t>28</a:t>
            </a:r>
          </a:p>
          <a:p>
            <a:pPr algn="r">
              <a:lnSpc>
                <a:spcPct val="100000"/>
              </a:lnSpc>
            </a:pPr>
            <a:r>
              <a:rPr sz="1700">
                <a:solidFill>
                  <a:srgbClr val="4F5D6A"/>
                </a:solidFill>
                <a:latin typeface="Consolas"/>
              </a:rPr>
              <a:t>29</a:t>
            </a:r>
          </a:p>
          <a:p>
            <a:pPr algn="r">
              <a:lnSpc>
                <a:spcPct val="100000"/>
              </a:lnSpc>
            </a:pPr>
            <a:r>
              <a:rPr sz="1700">
                <a:solidFill>
                  <a:srgbClr val="4F5D6A"/>
                </a:solidFill>
                <a:latin typeface="Consolas"/>
              </a:rPr>
              <a:t>30</a:t>
            </a:r>
          </a:p>
          <a:p>
            <a:pPr algn="r">
              <a:lnSpc>
                <a:spcPct val="100000"/>
              </a:lnSpc>
            </a:pPr>
            <a:r>
              <a:rPr sz="1700">
                <a:solidFill>
                  <a:srgbClr val="4F5D6A"/>
                </a:solidFill>
                <a:latin typeface="Consolas"/>
              </a:rPr>
              <a:t>31</a:t>
            </a:r>
          </a:p>
          <a:p>
            <a:pPr algn="r">
              <a:lnSpc>
                <a:spcPct val="100000"/>
              </a:lnSpc>
            </a:pPr>
            <a:r>
              <a:rPr sz="1700">
                <a:solidFill>
                  <a:srgbClr val="4F5D6A"/>
                </a:solidFill>
                <a:latin typeface="Consolas"/>
              </a:rPr>
              <a:t>32</a:t>
            </a:r>
          </a:p>
          <a:p>
            <a:pPr algn="r">
              <a:lnSpc>
                <a:spcPct val="100000"/>
              </a:lnSpc>
            </a:pPr>
            <a:r>
              <a:rPr sz="1700">
                <a:solidFill>
                  <a:srgbClr val="4F5D6A"/>
                </a:solidFill>
                <a:latin typeface="Consolas"/>
              </a:rPr>
              <a:t>33</a:t>
            </a:r>
          </a:p>
          <a:p>
            <a:pPr algn="r">
              <a:lnSpc>
                <a:spcPct val="100000"/>
              </a:lnSpc>
            </a:pPr>
            <a:r>
              <a:rPr sz="1700">
                <a:solidFill>
                  <a:srgbClr val="4F5D6A"/>
                </a:solidFill>
                <a:latin typeface="Consolas"/>
              </a:rPr>
              <a:t>34</a:t>
            </a:r>
          </a:p>
          <a:p>
            <a:pPr algn="r">
              <a:lnSpc>
                <a:spcPct val="100000"/>
              </a:lnSpc>
            </a:pPr>
            <a:r>
              <a:rPr sz="1700">
                <a:solidFill>
                  <a:srgbClr val="4F5D6A"/>
                </a:solidFill>
                <a:latin typeface="Consolas"/>
              </a:rPr>
              <a:t>35</a:t>
            </a:r>
          </a:p>
          <a:p>
            <a:pPr algn="r">
              <a:lnSpc>
                <a:spcPct val="100000"/>
              </a:lnSpc>
            </a:pPr>
            <a:r>
              <a:rPr sz="1700">
                <a:solidFill>
                  <a:srgbClr val="4F5D6A"/>
                </a:solidFill>
                <a:latin typeface="Consolas"/>
              </a:rPr>
              <a:t>36</a:t>
            </a:r>
          </a:p>
          <a:p>
            <a:pPr algn="r">
              <a:lnSpc>
                <a:spcPct val="100000"/>
              </a:lnSpc>
            </a:pPr>
            <a:r>
              <a:rPr sz="1700">
                <a:solidFill>
                  <a:srgbClr val="4F5D6A"/>
                </a:solidFill>
                <a:latin typeface="Consolas"/>
              </a:rPr>
              <a:t>37</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8940576"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the lab shows</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TRY IT YOURSELF</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17  ·  Neural Network Foundations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§17.5  ·  Handout p. 112     </a:t>
            </a:r>
            <a:fld id="{27EB81D0-EFFA-4A35-9487-A78B5E4C09EB}" type="slidenum">
              <a:rPr lang="en-GB" sz="1000">
                <a:solidFill>
                  <a:srgbClr val="8795A1"/>
                </a:solidFill>
                <a:latin typeface="Segoe UI"/>
              </a:rPr>
              <a:t>34</a:t>
            </a:fld>
          </a:p>
        </p:txBody>
      </p:sp>
      <p:sp>
        <p:nvSpPr>
          <p:cNvPr id="7" name="!!card">
            <a:extLst>
              <a:ext uri="{C183D7F6-B498-43B3-948B-1728B52AA6E4}">
                <adec:decorative xmlns:adec="http://schemas.microsoft.com/office/drawing/2017/decorative" val="1"/>
              </a:ext>
            </a:extLst>
          </p:cNvPr>
          <p:cNvSpPr/>
          <p:nvPr/>
        </p:nvSpPr>
        <p:spPr>
          <a:xfrm>
            <a:off x="658368" y="1737360"/>
            <a:ext cx="10874959" cy="1350873"/>
          </a:xfrm>
          <a:prstGeom prst="roundRect">
            <a:avLst>
              <a:gd name="adj" fmla="val 6768"/>
            </a:avLst>
          </a:prstGeom>
          <a:solidFill>
            <a:srgbClr val="EEF6F4"/>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1350873"/>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774801"/>
          </a:xfrm>
          <a:prstGeom prst="rect">
            <a:avLst/>
          </a:prstGeom>
          <a:noFill/>
        </p:spPr>
        <p:txBody>
          <a:bodyPr wrap="square" anchor="t" lIns="0" rIns="0" tIns="0" bIns="0">
            <a:noAutofit/>
          </a:bodyPr>
          <a:lstStyle/>
          <a:p>
            <a:pPr algn="l">
              <a:lnSpc>
                <a:spcPct val="104000"/>
              </a:lnSpc>
              <a:spcBef>
                <a:spcPts val="0"/>
              </a:spcBef>
              <a:spcAft>
                <a:spcPts val="0"/>
              </a:spcAft>
            </a:pPr>
            <a:r>
              <a:rPr sz="2300" b="1" i="0">
                <a:solidFill>
                  <a:srgbClr val="0E6655"/>
                </a:solidFill>
                <a:latin typeface="Segoe UI"/>
              </a:rPr>
              <a:t>Experiment:</a:t>
            </a:r>
            <a:r>
              <a:rPr sz="2300" b="0" i="0">
                <a:solidFill>
                  <a:srgbClr val="1C252B"/>
                </a:solidFill>
                <a:latin typeface="Segoe UI"/>
              </a:rPr>
              <a:t> set </a:t>
            </a:r>
            <a:r>
              <a:rPr sz="2150" b="0" i="0">
                <a:solidFill>
                  <a:srgbClr val="1F4E79"/>
                </a:solidFill>
                <a:latin typeface="Consolas"/>
              </a:rPr>
              <a:t>lr = 5.0</a:t>
            </a:r>
            <a:r>
              <a:rPr sz="2300" b="0" i="0">
                <a:solidFill>
                  <a:srgbClr val="1C252B"/>
                </a:solidFill>
                <a:latin typeface="Segoe UI"/>
              </a:rPr>
              <a:t> and watch the loss bounce, reproducing the right-hand panel of Figure 17.4.</a:t>
            </a:r>
          </a:p>
        </p:txBody>
      </p:sp>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9211503"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236694"/>
        </a:solidFill>
        <a:effectLst/>
      </p:bgPr>
    </p:bg>
    <p:spTree>
      <p:nvGrpSpPr>
        <p:cNvPr id="1" name=""/>
        <p:cNvGrpSpPr/>
        <p:nvPr/>
      </p:nvGrpSpPr>
      <p:grpSpPr/>
      <p:sp>
        <p:nvSpPr>
          <p:cNvPr id="2" name="!!q"/>
          <p:cNvSpPr>
            <a:spLocks noGrp="1"/>
          </p:cNvSpPr>
          <p:nvPr>
            <p:ph type="title"/>
          </p:nvPr>
        </p:nvSpPr>
        <p:spPr>
          <a:xfrm>
            <a:off x="658368" y="2011680"/>
            <a:ext cx="10874959" cy="3017520"/>
          </a:xfrm>
        </p:spPr>
        <p:txBody>
          <a:bodyPr wrap="square" lIns="0" rIns="0" tIns="0" bIns="0" anchor="t">
            <a:noAutofit/>
          </a:bodyPr>
          <a:lstStyle/>
          <a:p>
            <a:pPr algn="l">
              <a:lnSpc>
                <a:spcPct val="96000"/>
              </a:lnSpc>
            </a:pPr>
            <a:r>
              <a:rPr sz="3400" b="0" i="0">
                <a:solidFill>
                  <a:srgbClr val="FFFFFF"/>
                </a:solidFill>
                <a:latin typeface="Segoe UI Semibold"/>
              </a:rPr>
              <a:t>A neuron has </a:t>
            </a:r>
            <a:r>
              <a:rPr sz="3400" b="0" i="1">
                <a:solidFill>
                  <a:srgbClr val="FFFFFF"/>
                </a:solidFill>
                <a:latin typeface="Cambria"/>
              </a:rPr>
              <a:t>w</a:t>
            </a:r>
            <a:r>
              <a:rPr sz="3400" b="0" i="0">
                <a:solidFill>
                  <a:srgbClr val="FFFFFF"/>
                </a:solidFill>
                <a:latin typeface="Cambria"/>
              </a:rPr>
              <a:t> = [0.5, −1.0]</a:t>
            </a:r>
            <a:r>
              <a:rPr sz="3400" b="0" i="0">
                <a:solidFill>
                  <a:srgbClr val="FFFFFF"/>
                </a:solidFill>
                <a:latin typeface="Segoe UI Semibold"/>
              </a:rPr>
              <a:t>, </a:t>
            </a:r>
            <a:r>
              <a:rPr sz="3400" b="0" i="1">
                <a:solidFill>
                  <a:srgbClr val="FFFFFF"/>
                </a:solidFill>
                <a:latin typeface="Cambria"/>
              </a:rPr>
              <a:t>b</a:t>
            </a:r>
            <a:r>
              <a:rPr sz="3400" b="0" i="0">
                <a:solidFill>
                  <a:srgbClr val="FFFFFF"/>
                </a:solidFill>
                <a:latin typeface="Cambria"/>
              </a:rPr>
              <a:t> = 0.3</a:t>
            </a:r>
            <a:r>
              <a:rPr sz="3400" b="0" i="0">
                <a:solidFill>
                  <a:srgbClr val="FFFFFF"/>
                </a:solidFill>
                <a:latin typeface="Segoe UI Semibold"/>
              </a:rPr>
              <a:t>, input </a:t>
            </a:r>
            <a:r>
              <a:rPr sz="3400" b="0" i="1">
                <a:solidFill>
                  <a:srgbClr val="FFFFFF"/>
                </a:solidFill>
                <a:latin typeface="Cambria"/>
              </a:rPr>
              <a:t>x</a:t>
            </a:r>
            <a:r>
              <a:rPr sz="3400" b="0" i="0">
                <a:solidFill>
                  <a:srgbClr val="FFFFFF"/>
                </a:solidFill>
                <a:latin typeface="Cambria"/>
              </a:rPr>
              <a:t> = [2.0, 1.0]</a:t>
            </a:r>
            <a:r>
              <a:rPr sz="3400" b="0" i="0">
                <a:solidFill>
                  <a:srgbClr val="FFFFFF"/>
                </a:solidFill>
                <a:latin typeface="Segoe UI Semibold"/>
              </a:rPr>
              <a:t>, ReLU activation. Compute its output.</a:t>
            </a:r>
          </a:p>
        </p:txBody>
      </p:sp>
      <p:pic>
        <p:nvPicPr>
          <p:cNvPr id="3" name="!!qicon" descr="question-circle-FFFFFF.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298448"/>
            <a:ext cx="396772" cy="384048"/>
          </a:xfrm>
          <a:prstGeom prst="rect">
            <a:avLst/>
          </a:prstGeom>
        </p:spPr>
      </p:pic>
      <p:sp>
        <p:nvSpPr>
          <p:cNvPr id="4" name="!!qlab"/>
          <p:cNvSpPr txBox="1"/>
          <p:nvPr/>
        </p:nvSpPr>
        <p:spPr>
          <a:xfrm>
            <a:off x="1225295" y="1344168"/>
            <a:ext cx="7315200" cy="310896"/>
          </a:xfrm>
          <a:prstGeom prst="rect">
            <a:avLst/>
          </a:prstGeom>
          <a:noFill/>
        </p:spPr>
        <p:txBody>
          <a:bodyPr wrap="square" anchor="t" lIns="0" rIns="0" tIns="0" bIns="0">
            <a:noAutofit/>
          </a:bodyPr>
          <a:lstStyle/>
          <a:p>
            <a:pPr algn="l">
              <a:lnSpc>
                <a:spcPct val="100000"/>
              </a:lnSpc>
              <a:spcBef>
                <a:spcPts val="0"/>
              </a:spcBef>
              <a:spcAft>
                <a:spcPts val="0"/>
              </a:spcAft>
            </a:pPr>
            <a:r>
              <a:rPr sz="1400" b="1" i="0" spc="200">
                <a:solidFill>
                  <a:srgbClr val="BDD1DF"/>
                </a:solidFill>
                <a:latin typeface="Segoe UI"/>
              </a:rPr>
              <a:t>CHECKPOINT  1 OF 3</a:t>
            </a:r>
          </a:p>
        </p:txBody>
      </p:sp>
      <p:sp>
        <p:nvSpPr>
          <p:cNvPr id="5" name="!!qhint"/>
          <p:cNvSpPr txBox="1"/>
          <p:nvPr/>
        </p:nvSpPr>
        <p:spPr>
          <a:xfrm>
            <a:off x="658368" y="5760720"/>
            <a:ext cx="10874959" cy="310896"/>
          </a:xfrm>
          <a:prstGeom prst="rect">
            <a:avLst/>
          </a:prstGeom>
          <a:noFill/>
        </p:spPr>
        <p:txBody>
          <a:bodyPr wrap="square" anchor="t" lIns="0" rIns="0" tIns="0" bIns="0">
            <a:noAutofit/>
          </a:bodyPr>
          <a:lstStyle/>
          <a:p>
            <a:pPr algn="l">
              <a:lnSpc>
                <a:spcPct val="100000"/>
              </a:lnSpc>
              <a:spcBef>
                <a:spcPts val="0"/>
              </a:spcBef>
              <a:spcAft>
                <a:spcPts val="0"/>
              </a:spcAft>
            </a:pPr>
            <a:r>
              <a:rPr sz="1400" b="0" i="1">
                <a:solidFill>
                  <a:srgbClr val="9CBACF"/>
                </a:solidFill>
                <a:latin typeface="Segoe UI"/>
              </a:rPr>
              <a:t>Discuss with the person next to you, then advance.</a:t>
            </a:r>
          </a:p>
        </p:txBody>
      </p:sp>
      <p:sp>
        <p:nvSpPr>
          <p:cNvPr id="6"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Data Science  ·  Chapter 17  ·  Neural Network Foundations</a:t>
            </a:r>
          </a:p>
        </p:txBody>
      </p:sp>
      <p:sp>
        <p:nvSpPr>
          <p:cNvPr id="7"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B9C6D0"/>
                </a:solidFill>
                <a:latin typeface="Segoe UI"/>
              </a:rPr>
              <a:t>Handout p. 114  ·  answers in Appendix D     </a:t>
            </a:r>
            <a:fld id="{F8CB7987-811B-4CAC-84CA-91803EEB3A05}" type="slidenum">
              <a:rPr lang="en-GB" sz="1000">
                <a:solidFill>
                  <a:srgbClr val="D5DEE5"/>
                </a:solidFill>
                <a:latin typeface="Segoe UI"/>
              </a:rPr>
              <a:t>35</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q"/>
          <p:cNvSpPr>
            <a:spLocks noGrp="1"/>
          </p:cNvSpPr>
          <p:nvPr>
            <p:ph type="title"/>
          </p:nvPr>
        </p:nvSpPr>
        <p:spPr>
          <a:xfrm>
            <a:off x="658368" y="676656"/>
            <a:ext cx="10874959" cy="747979"/>
          </a:xfrm>
        </p:spPr>
        <p:txBody>
          <a:bodyPr wrap="square" lIns="0" rIns="0" tIns="0" bIns="0" anchor="t">
            <a:noAutofit/>
          </a:bodyPr>
          <a:lstStyle/>
          <a:p>
            <a:pPr algn="l">
              <a:lnSpc>
                <a:spcPct val="96000"/>
              </a:lnSpc>
            </a:pPr>
            <a:r>
              <a:rPr sz="2400" b="0" i="0">
                <a:solidFill>
                  <a:srgbClr val="1A5276"/>
                </a:solidFill>
                <a:latin typeface="Segoe UI Semibold"/>
              </a:rPr>
              <a:t>A neuron has </a:t>
            </a:r>
            <a:r>
              <a:rPr sz="2400" b="0" i="1">
                <a:solidFill>
                  <a:srgbClr val="1A5276"/>
                </a:solidFill>
                <a:latin typeface="Cambria"/>
              </a:rPr>
              <a:t>w</a:t>
            </a:r>
            <a:r>
              <a:rPr sz="2400" b="0" i="0">
                <a:solidFill>
                  <a:srgbClr val="1A5276"/>
                </a:solidFill>
                <a:latin typeface="Cambria"/>
              </a:rPr>
              <a:t> = [0.5, −1.0]</a:t>
            </a:r>
            <a:r>
              <a:rPr sz="2400" b="0" i="0">
                <a:solidFill>
                  <a:srgbClr val="1A5276"/>
                </a:solidFill>
                <a:latin typeface="Segoe UI Semibold"/>
              </a:rPr>
              <a:t>, </a:t>
            </a:r>
            <a:r>
              <a:rPr sz="2400" b="0" i="1">
                <a:solidFill>
                  <a:srgbClr val="1A5276"/>
                </a:solidFill>
                <a:latin typeface="Cambria"/>
              </a:rPr>
              <a:t>b</a:t>
            </a:r>
            <a:r>
              <a:rPr sz="2400" b="0" i="0">
                <a:solidFill>
                  <a:srgbClr val="1A5276"/>
                </a:solidFill>
                <a:latin typeface="Cambria"/>
              </a:rPr>
              <a:t> = 0.3</a:t>
            </a:r>
            <a:r>
              <a:rPr sz="2400" b="0" i="0">
                <a:solidFill>
                  <a:srgbClr val="1A5276"/>
                </a:solidFill>
                <a:latin typeface="Segoe UI Semibold"/>
              </a:rPr>
              <a:t>, input </a:t>
            </a:r>
            <a:r>
              <a:rPr sz="2400" b="0" i="1">
                <a:solidFill>
                  <a:srgbClr val="1A5276"/>
                </a:solidFill>
                <a:latin typeface="Cambria"/>
              </a:rPr>
              <a:t>x</a:t>
            </a:r>
            <a:r>
              <a:rPr sz="2400" b="0" i="0">
                <a:solidFill>
                  <a:srgbClr val="1A5276"/>
                </a:solidFill>
                <a:latin typeface="Cambria"/>
              </a:rPr>
              <a:t> = [2.0, 1.0]</a:t>
            </a:r>
            <a:r>
              <a:rPr sz="2400" b="0" i="0">
                <a:solidFill>
                  <a:srgbClr val="1A5276"/>
                </a:solidFill>
                <a:latin typeface="Segoe UI Semibold"/>
              </a:rPr>
              <a:t>, ReLU activation. Compute its output.</a:t>
            </a:r>
          </a:p>
        </p:txBody>
      </p:sp>
      <p:pic>
        <p:nvPicPr>
          <p:cNvPr id="3" name="!!kicker-icon" descr="check-256B9A.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9063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56B9A"/>
                </a:solidFill>
                <a:latin typeface="Segoe UI"/>
              </a:rPr>
              <a:t>CHECKPOINT 1 OF 3  ·  ANSWER</a:t>
            </a:r>
          </a:p>
        </p:txBody>
      </p:sp>
      <p:sp>
        <p:nvSpPr>
          <p:cNvPr id="5" name="!!abar">
            <a:extLst>
              <a:ext uri="{C183D7F6-B498-43B3-948B-1728B52AA6E4}">
                <adec:decorative xmlns:adec="http://schemas.microsoft.com/office/drawing/2017/decorative" val="1"/>
              </a:ext>
            </a:extLst>
          </p:cNvPr>
          <p:cNvSpPr/>
          <p:nvPr/>
        </p:nvSpPr>
        <p:spPr>
          <a:xfrm>
            <a:off x="658368" y="1762963"/>
            <a:ext cx="64008" cy="348691"/>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ans-0"/>
          <p:cNvSpPr txBox="1"/>
          <p:nvPr/>
        </p:nvSpPr>
        <p:spPr>
          <a:xfrm>
            <a:off x="987552" y="1762963"/>
            <a:ext cx="10509199" cy="394411"/>
          </a:xfrm>
          <a:prstGeom prst="rect">
            <a:avLst/>
          </a:prstGeom>
          <a:noFill/>
        </p:spPr>
        <p:txBody>
          <a:bodyPr wrap="square" anchor="t" lIns="0" rIns="0" tIns="0" bIns="0">
            <a:noAutofit/>
          </a:bodyPr>
          <a:lstStyle/>
          <a:p>
            <a:pPr algn="l">
              <a:lnSpc>
                <a:spcPct val="104000"/>
              </a:lnSpc>
              <a:spcBef>
                <a:spcPts val="0"/>
              </a:spcBef>
              <a:spcAft>
                <a:spcPts val="0"/>
              </a:spcAft>
            </a:pPr>
            <a:r>
              <a:rPr sz="2200" b="0" i="1">
                <a:solidFill>
                  <a:srgbClr val="1C252B"/>
                </a:solidFill>
                <a:latin typeface="Cambria"/>
              </a:rPr>
              <a:t>z</a:t>
            </a:r>
            <a:r>
              <a:rPr sz="2200" b="0" i="0">
                <a:solidFill>
                  <a:srgbClr val="1C252B"/>
                </a:solidFill>
                <a:latin typeface="Cambria"/>
              </a:rPr>
              <a:t> = (0.5)(2.0) + (−1.0)(1.0) + 0.3 = 1.0 − 1.0 + 0.3 = 0.3</a:t>
            </a:r>
            <a:r>
              <a:rPr sz="2200" b="0" i="0">
                <a:solidFill>
                  <a:srgbClr val="1C252B"/>
                </a:solidFill>
                <a:latin typeface="Segoe UI"/>
              </a:rPr>
              <a:t>. ReLU</a:t>
            </a:r>
            <a:r>
              <a:rPr sz="2200" b="0" i="0">
                <a:solidFill>
                  <a:srgbClr val="1C252B"/>
                </a:solidFill>
                <a:latin typeface="Cambria"/>
              </a:rPr>
              <a:t>(0.3) = 0.3</a:t>
            </a:r>
            <a:r>
              <a:rPr sz="2200" b="0" i="0">
                <a:solidFill>
                  <a:srgbClr val="1C252B"/>
                </a:solidFill>
                <a:latin typeface="Segoe UI"/>
              </a:rPr>
              <a:t>.</a:t>
            </a:r>
          </a:p>
        </p:txBody>
      </p:sp>
      <p:sp>
        <p:nvSpPr>
          <p:cNvPr id="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17  ·  Neural Network Foundations</a:t>
            </a:r>
          </a:p>
        </p:txBody>
      </p:sp>
      <p:sp>
        <p:nvSpPr>
          <p:cNvPr id="8"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114  ·  answers in Appendix D     </a:t>
            </a:r>
            <a:fld id="{1646B87F-DF83-4827-8C92-CEB980020C31}" type="slidenum">
              <a:rPr lang="en-GB" sz="1000">
                <a:solidFill>
                  <a:srgbClr val="8795A1"/>
                </a:solidFill>
                <a:latin typeface="Segoe UI"/>
              </a:rPr>
              <a:t>36</a:t>
            </a:fld>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9753356"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50">
        <p159:morph option="byObject"/>
      </p:transition>
    </mc:Choice>
    <mc:Fallback>
      <p:transition spd="med">
        <p:fade/>
      </p:transition>
    </mc:Fallback>
  </mc:AlternateContent>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236694"/>
        </a:solidFill>
        <a:effectLst/>
      </p:bgPr>
    </p:bg>
    <p:spTree>
      <p:nvGrpSpPr>
        <p:cNvPr id="1" name=""/>
        <p:cNvGrpSpPr/>
        <p:nvPr/>
      </p:nvGrpSpPr>
      <p:grpSpPr/>
      <p:sp>
        <p:nvSpPr>
          <p:cNvPr id="2" name="!!q"/>
          <p:cNvSpPr>
            <a:spLocks noGrp="1"/>
          </p:cNvSpPr>
          <p:nvPr>
            <p:ph type="title"/>
          </p:nvPr>
        </p:nvSpPr>
        <p:spPr>
          <a:xfrm>
            <a:off x="658368" y="2011680"/>
            <a:ext cx="10874959" cy="3017520"/>
          </a:xfrm>
        </p:spPr>
        <p:txBody>
          <a:bodyPr wrap="square" lIns="0" rIns="0" tIns="0" bIns="0" anchor="t">
            <a:noAutofit/>
          </a:bodyPr>
          <a:lstStyle/>
          <a:p>
            <a:pPr algn="l">
              <a:lnSpc>
                <a:spcPct val="96000"/>
              </a:lnSpc>
            </a:pPr>
            <a:r>
              <a:rPr sz="3400" b="0" i="0">
                <a:solidFill>
                  <a:srgbClr val="FFFFFF"/>
                </a:solidFill>
                <a:latin typeface="Segoe UI Semibold"/>
              </a:rPr>
              <a:t>Why does a network of purely linear layers gain nothing from depth?</a:t>
            </a:r>
          </a:p>
        </p:txBody>
      </p:sp>
      <p:pic>
        <p:nvPicPr>
          <p:cNvPr id="3" name="!!qicon" descr="question-circle-FFFFFF.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298448"/>
            <a:ext cx="396772" cy="384048"/>
          </a:xfrm>
          <a:prstGeom prst="rect">
            <a:avLst/>
          </a:prstGeom>
        </p:spPr>
      </p:pic>
      <p:sp>
        <p:nvSpPr>
          <p:cNvPr id="4" name="!!qlab"/>
          <p:cNvSpPr txBox="1"/>
          <p:nvPr/>
        </p:nvSpPr>
        <p:spPr>
          <a:xfrm>
            <a:off x="1225295" y="1344168"/>
            <a:ext cx="7315200" cy="310896"/>
          </a:xfrm>
          <a:prstGeom prst="rect">
            <a:avLst/>
          </a:prstGeom>
          <a:noFill/>
        </p:spPr>
        <p:txBody>
          <a:bodyPr wrap="square" anchor="t" lIns="0" rIns="0" tIns="0" bIns="0">
            <a:noAutofit/>
          </a:bodyPr>
          <a:lstStyle/>
          <a:p>
            <a:pPr algn="l">
              <a:lnSpc>
                <a:spcPct val="100000"/>
              </a:lnSpc>
              <a:spcBef>
                <a:spcPts val="0"/>
              </a:spcBef>
              <a:spcAft>
                <a:spcPts val="0"/>
              </a:spcAft>
            </a:pPr>
            <a:r>
              <a:rPr sz="1400" b="1" i="0" spc="200">
                <a:solidFill>
                  <a:srgbClr val="BDD1DF"/>
                </a:solidFill>
                <a:latin typeface="Segoe UI"/>
              </a:rPr>
              <a:t>CHECKPOINT  2 OF 3</a:t>
            </a:r>
          </a:p>
        </p:txBody>
      </p:sp>
      <p:sp>
        <p:nvSpPr>
          <p:cNvPr id="5" name="!!qhint"/>
          <p:cNvSpPr txBox="1"/>
          <p:nvPr/>
        </p:nvSpPr>
        <p:spPr>
          <a:xfrm>
            <a:off x="658368" y="5760720"/>
            <a:ext cx="10874959" cy="310896"/>
          </a:xfrm>
          <a:prstGeom prst="rect">
            <a:avLst/>
          </a:prstGeom>
          <a:noFill/>
        </p:spPr>
        <p:txBody>
          <a:bodyPr wrap="square" anchor="t" lIns="0" rIns="0" tIns="0" bIns="0">
            <a:noAutofit/>
          </a:bodyPr>
          <a:lstStyle/>
          <a:p>
            <a:pPr algn="l">
              <a:lnSpc>
                <a:spcPct val="100000"/>
              </a:lnSpc>
              <a:spcBef>
                <a:spcPts val="0"/>
              </a:spcBef>
              <a:spcAft>
                <a:spcPts val="0"/>
              </a:spcAft>
            </a:pPr>
            <a:r>
              <a:rPr sz="1400" b="0" i="1">
                <a:solidFill>
                  <a:srgbClr val="9CBACF"/>
                </a:solidFill>
                <a:latin typeface="Segoe UI"/>
              </a:rPr>
              <a:t>Discuss with the person next to you, then advance.</a:t>
            </a:r>
          </a:p>
        </p:txBody>
      </p:sp>
      <p:sp>
        <p:nvSpPr>
          <p:cNvPr id="6"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Data Science  ·  Chapter 17  ·  Neural Network Foundations</a:t>
            </a:r>
          </a:p>
        </p:txBody>
      </p:sp>
      <p:sp>
        <p:nvSpPr>
          <p:cNvPr id="7"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B9C6D0"/>
                </a:solidFill>
                <a:latin typeface="Segoe UI"/>
              </a:rPr>
              <a:t>Handout p. 114  ·  answers in Appendix D     </a:t>
            </a:r>
            <a:fld id="{C2964F75-55ED-49F6-B093-6C932E1B4ABD}" type="slidenum">
              <a:rPr lang="en-GB" sz="1000">
                <a:solidFill>
                  <a:srgbClr val="D5DEE5"/>
                </a:solidFill>
                <a:latin typeface="Segoe UI"/>
              </a:rPr>
              <a:t>37</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q"/>
          <p:cNvSpPr>
            <a:spLocks noGrp="1"/>
          </p:cNvSpPr>
          <p:nvPr>
            <p:ph type="title"/>
          </p:nvPr>
        </p:nvSpPr>
        <p:spPr>
          <a:xfrm>
            <a:off x="658368" y="676656"/>
            <a:ext cx="10874959" cy="457200"/>
          </a:xfrm>
        </p:spPr>
        <p:txBody>
          <a:bodyPr wrap="square" lIns="0" rIns="0" tIns="0" bIns="0" anchor="t">
            <a:noAutofit/>
          </a:bodyPr>
          <a:lstStyle/>
          <a:p>
            <a:pPr algn="l">
              <a:lnSpc>
                <a:spcPct val="96000"/>
              </a:lnSpc>
            </a:pPr>
            <a:r>
              <a:rPr sz="2400" b="0" i="0">
                <a:solidFill>
                  <a:srgbClr val="1A5276"/>
                </a:solidFill>
                <a:latin typeface="Segoe UI Semibold"/>
              </a:rPr>
              <a:t>Why does a network of purely linear layers gain nothing from depth?</a:t>
            </a:r>
          </a:p>
        </p:txBody>
      </p:sp>
      <p:pic>
        <p:nvPicPr>
          <p:cNvPr id="3" name="!!kicker-icon" descr="check-256B9A.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9063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56B9A"/>
                </a:solidFill>
                <a:latin typeface="Segoe UI"/>
              </a:rPr>
              <a:t>CHECKPOINT 2 OF 3  ·  ANSWER</a:t>
            </a:r>
          </a:p>
        </p:txBody>
      </p:sp>
      <p:sp>
        <p:nvSpPr>
          <p:cNvPr id="5" name="!!abar">
            <a:extLst>
              <a:ext uri="{C183D7F6-B498-43B3-948B-1728B52AA6E4}">
                <adec:decorative xmlns:adec="http://schemas.microsoft.com/office/drawing/2017/decorative" val="1"/>
              </a:ext>
            </a:extLst>
          </p:cNvPr>
          <p:cNvSpPr/>
          <p:nvPr/>
        </p:nvSpPr>
        <p:spPr>
          <a:xfrm>
            <a:off x="658368" y="1411833"/>
            <a:ext cx="64008" cy="697382"/>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ans-0"/>
          <p:cNvSpPr txBox="1"/>
          <p:nvPr/>
        </p:nvSpPr>
        <p:spPr>
          <a:xfrm>
            <a:off x="987552" y="1411833"/>
            <a:ext cx="10509199" cy="743102"/>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Because the composition of linear functions is linear: </a:t>
            </a:r>
            <a:r>
              <a:rPr sz="2200" b="0" i="1">
                <a:solidFill>
                  <a:srgbClr val="1C252B"/>
                </a:solidFill>
                <a:latin typeface="Cambria"/>
              </a:rPr>
              <a:t>W</a:t>
            </a:r>
            <a:r>
              <a:rPr sz="2200" b="0" i="0" baseline="-25000">
                <a:solidFill>
                  <a:srgbClr val="1C252B"/>
                </a:solidFill>
                <a:latin typeface="Cambria"/>
              </a:rPr>
              <a:t>2</a:t>
            </a:r>
            <a:r>
              <a:rPr sz="2200" b="0" i="0">
                <a:solidFill>
                  <a:srgbClr val="1C252B"/>
                </a:solidFill>
                <a:latin typeface="Cambria"/>
              </a:rPr>
              <a:t>(</a:t>
            </a:r>
            <a:r>
              <a:rPr sz="2200" b="0" i="1">
                <a:solidFill>
                  <a:srgbClr val="1C252B"/>
                </a:solidFill>
                <a:latin typeface="Cambria"/>
              </a:rPr>
              <a:t>W</a:t>
            </a:r>
            <a:r>
              <a:rPr sz="2200" b="0" i="0" baseline="-25000">
                <a:solidFill>
                  <a:srgbClr val="1C252B"/>
                </a:solidFill>
                <a:latin typeface="Cambria"/>
              </a:rPr>
              <a:t>1</a:t>
            </a:r>
            <a:r>
              <a:rPr sz="2200" b="0" i="1">
                <a:solidFill>
                  <a:srgbClr val="1C252B"/>
                </a:solidFill>
                <a:latin typeface="Cambria"/>
              </a:rPr>
              <a:t>x</a:t>
            </a:r>
            <a:r>
              <a:rPr sz="2200" b="0" i="0">
                <a:solidFill>
                  <a:srgbClr val="1C252B"/>
                </a:solidFill>
                <a:latin typeface="Cambria"/>
              </a:rPr>
              <a:t>) = (</a:t>
            </a:r>
            <a:r>
              <a:rPr sz="2200" b="0" i="1">
                <a:solidFill>
                  <a:srgbClr val="1C252B"/>
                </a:solidFill>
                <a:latin typeface="Cambria"/>
              </a:rPr>
              <a:t>W</a:t>
            </a:r>
            <a:r>
              <a:rPr sz="2200" b="0" i="0" baseline="-25000">
                <a:solidFill>
                  <a:srgbClr val="1C252B"/>
                </a:solidFill>
                <a:latin typeface="Cambria"/>
              </a:rPr>
              <a:t>2</a:t>
            </a:r>
            <a:r>
              <a:rPr sz="2200" b="0" i="1">
                <a:solidFill>
                  <a:srgbClr val="1C252B"/>
                </a:solidFill>
                <a:latin typeface="Cambria"/>
              </a:rPr>
              <a:t>W</a:t>
            </a:r>
            <a:r>
              <a:rPr sz="2200" b="0" i="0" baseline="-25000">
                <a:solidFill>
                  <a:srgbClr val="1C252B"/>
                </a:solidFill>
                <a:latin typeface="Cambria"/>
              </a:rPr>
              <a:t>1</a:t>
            </a:r>
            <a:r>
              <a:rPr sz="2200" b="0" i="0">
                <a:solidFill>
                  <a:srgbClr val="1C252B"/>
                </a:solidFill>
                <a:latin typeface="Cambria"/>
              </a:rPr>
              <a:t>)</a:t>
            </a:r>
            <a:r>
              <a:rPr sz="2200" b="0" i="1">
                <a:solidFill>
                  <a:srgbClr val="1C252B"/>
                </a:solidFill>
                <a:latin typeface="Cambria"/>
              </a:rPr>
              <a:t>x</a:t>
            </a:r>
            <a:r>
              <a:rPr sz="2200" b="0" i="0">
                <a:solidFill>
                  <a:srgbClr val="1C252B"/>
                </a:solidFill>
                <a:latin typeface="Segoe UI"/>
              </a:rPr>
              <a:t>. A hundred linear layers compute what one linear layer computes.</a:t>
            </a:r>
          </a:p>
        </p:txBody>
      </p:sp>
      <p:sp>
        <p:nvSpPr>
          <p:cNvPr id="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17  ·  Neural Network Foundations</a:t>
            </a:r>
          </a:p>
        </p:txBody>
      </p:sp>
      <p:sp>
        <p:nvSpPr>
          <p:cNvPr id="8"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114  ·  answers in Appendix D     </a:t>
            </a:r>
            <a:fld id="{577B941C-39F6-4CF7-B103-0350F394EF4A}" type="slidenum">
              <a:rPr lang="en-GB" sz="1000">
                <a:solidFill>
                  <a:srgbClr val="8795A1"/>
                </a:solidFill>
                <a:latin typeface="Segoe UI"/>
              </a:rPr>
              <a:t>38</a:t>
            </a:fld>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10295209"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50">
        <p159:morph option="byObject"/>
      </p:transition>
    </mc:Choice>
    <mc:Fallback>
      <p:transition spd="med">
        <p:fade/>
      </p:transition>
    </mc:Fallback>
  </mc:AlternateContent>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236694"/>
        </a:solidFill>
        <a:effectLst/>
      </p:bgPr>
    </p:bg>
    <p:spTree>
      <p:nvGrpSpPr>
        <p:cNvPr id="1" name=""/>
        <p:cNvGrpSpPr/>
        <p:nvPr/>
      </p:nvGrpSpPr>
      <p:grpSpPr/>
      <p:sp>
        <p:nvSpPr>
          <p:cNvPr id="2" name="!!q"/>
          <p:cNvSpPr>
            <a:spLocks noGrp="1"/>
          </p:cNvSpPr>
          <p:nvPr>
            <p:ph type="title"/>
          </p:nvPr>
        </p:nvSpPr>
        <p:spPr>
          <a:xfrm>
            <a:off x="658368" y="2011680"/>
            <a:ext cx="10874959" cy="3017520"/>
          </a:xfrm>
        </p:spPr>
        <p:txBody>
          <a:bodyPr wrap="square" lIns="0" rIns="0" tIns="0" bIns="0" anchor="t">
            <a:noAutofit/>
          </a:bodyPr>
          <a:lstStyle/>
          <a:p>
            <a:pPr algn="l">
              <a:lnSpc>
                <a:spcPct val="96000"/>
              </a:lnSpc>
            </a:pPr>
            <a:r>
              <a:rPr sz="3400" b="0" i="0">
                <a:solidFill>
                  <a:srgbClr val="FFFFFF"/>
                </a:solidFill>
                <a:latin typeface="Segoe UI Semibold"/>
              </a:rPr>
              <a:t>Training loss keeps falling while validation loss has been rising for 12 epochs. What is happening and what should you do?</a:t>
            </a:r>
          </a:p>
        </p:txBody>
      </p:sp>
      <p:pic>
        <p:nvPicPr>
          <p:cNvPr id="3" name="!!qicon" descr="question-circle-FFFFFF.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298448"/>
            <a:ext cx="396772" cy="384048"/>
          </a:xfrm>
          <a:prstGeom prst="rect">
            <a:avLst/>
          </a:prstGeom>
        </p:spPr>
      </p:pic>
      <p:sp>
        <p:nvSpPr>
          <p:cNvPr id="4" name="!!qlab"/>
          <p:cNvSpPr txBox="1"/>
          <p:nvPr/>
        </p:nvSpPr>
        <p:spPr>
          <a:xfrm>
            <a:off x="1225295" y="1344168"/>
            <a:ext cx="7315200" cy="310896"/>
          </a:xfrm>
          <a:prstGeom prst="rect">
            <a:avLst/>
          </a:prstGeom>
          <a:noFill/>
        </p:spPr>
        <p:txBody>
          <a:bodyPr wrap="square" anchor="t" lIns="0" rIns="0" tIns="0" bIns="0">
            <a:noAutofit/>
          </a:bodyPr>
          <a:lstStyle/>
          <a:p>
            <a:pPr algn="l">
              <a:lnSpc>
                <a:spcPct val="100000"/>
              </a:lnSpc>
              <a:spcBef>
                <a:spcPts val="0"/>
              </a:spcBef>
              <a:spcAft>
                <a:spcPts val="0"/>
              </a:spcAft>
            </a:pPr>
            <a:r>
              <a:rPr sz="1400" b="1" i="0" spc="200">
                <a:solidFill>
                  <a:srgbClr val="BDD1DF"/>
                </a:solidFill>
                <a:latin typeface="Segoe UI"/>
              </a:rPr>
              <a:t>CHECKPOINT  3 OF 3</a:t>
            </a:r>
          </a:p>
        </p:txBody>
      </p:sp>
      <p:sp>
        <p:nvSpPr>
          <p:cNvPr id="5" name="!!qhint"/>
          <p:cNvSpPr txBox="1"/>
          <p:nvPr/>
        </p:nvSpPr>
        <p:spPr>
          <a:xfrm>
            <a:off x="658368" y="5760720"/>
            <a:ext cx="10874959" cy="310896"/>
          </a:xfrm>
          <a:prstGeom prst="rect">
            <a:avLst/>
          </a:prstGeom>
          <a:noFill/>
        </p:spPr>
        <p:txBody>
          <a:bodyPr wrap="square" anchor="t" lIns="0" rIns="0" tIns="0" bIns="0">
            <a:noAutofit/>
          </a:bodyPr>
          <a:lstStyle/>
          <a:p>
            <a:pPr algn="l">
              <a:lnSpc>
                <a:spcPct val="100000"/>
              </a:lnSpc>
              <a:spcBef>
                <a:spcPts val="0"/>
              </a:spcBef>
              <a:spcAft>
                <a:spcPts val="0"/>
              </a:spcAft>
            </a:pPr>
            <a:r>
              <a:rPr sz="1400" b="0" i="1">
                <a:solidFill>
                  <a:srgbClr val="9CBACF"/>
                </a:solidFill>
                <a:latin typeface="Segoe UI"/>
              </a:rPr>
              <a:t>Discuss with the person next to you, then advance.</a:t>
            </a:r>
          </a:p>
        </p:txBody>
      </p:sp>
      <p:sp>
        <p:nvSpPr>
          <p:cNvPr id="6"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Data Science  ·  Chapter 17  ·  Neural Network Foundations</a:t>
            </a:r>
          </a:p>
        </p:txBody>
      </p:sp>
      <p:sp>
        <p:nvSpPr>
          <p:cNvPr id="7"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B9C6D0"/>
                </a:solidFill>
                <a:latin typeface="Segoe UI"/>
              </a:rPr>
              <a:t>Handout p. 114  ·  answers in Appendix D     </a:t>
            </a:r>
            <a:fld id="{A7202791-3137-4679-BBBC-601E7A70D3C5}" type="slidenum">
              <a:rPr lang="en-GB" sz="1000">
                <a:solidFill>
                  <a:srgbClr val="D5DEE5"/>
                </a:solidFill>
                <a:latin typeface="Segoe UI"/>
              </a:rPr>
              <a:t>39</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q"/>
          <p:cNvSpPr>
            <a:spLocks noGrp="1"/>
          </p:cNvSpPr>
          <p:nvPr>
            <p:ph type="title"/>
          </p:nvPr>
        </p:nvSpPr>
        <p:spPr>
          <a:xfrm>
            <a:off x="658368" y="676656"/>
            <a:ext cx="10874959" cy="747979"/>
          </a:xfrm>
        </p:spPr>
        <p:txBody>
          <a:bodyPr wrap="square" lIns="0" rIns="0" tIns="0" bIns="0" anchor="t">
            <a:noAutofit/>
          </a:bodyPr>
          <a:lstStyle/>
          <a:p>
            <a:pPr algn="l">
              <a:lnSpc>
                <a:spcPct val="96000"/>
              </a:lnSpc>
            </a:pPr>
            <a:r>
              <a:rPr sz="2400" b="0" i="0">
                <a:solidFill>
                  <a:srgbClr val="1A5276"/>
                </a:solidFill>
                <a:latin typeface="Segoe UI Semibold"/>
              </a:rPr>
              <a:t>Training loss keeps falling while validation loss has been rising for 12 epochs. What is happening and what should you do?</a:t>
            </a:r>
          </a:p>
        </p:txBody>
      </p:sp>
      <p:pic>
        <p:nvPicPr>
          <p:cNvPr id="3" name="!!kicker-icon" descr="check-256B9A.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9063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56B9A"/>
                </a:solidFill>
                <a:latin typeface="Segoe UI"/>
              </a:rPr>
              <a:t>CHECKPOINT 3 OF 3  ·  ANSWER</a:t>
            </a:r>
          </a:p>
        </p:txBody>
      </p:sp>
      <p:sp>
        <p:nvSpPr>
          <p:cNvPr id="5" name="!!abar">
            <a:extLst>
              <a:ext uri="{C183D7F6-B498-43B3-948B-1728B52AA6E4}">
                <adec:decorative xmlns:adec="http://schemas.microsoft.com/office/drawing/2017/decorative" val="1"/>
              </a:ext>
            </a:extLst>
          </p:cNvPr>
          <p:cNvSpPr/>
          <p:nvPr/>
        </p:nvSpPr>
        <p:spPr>
          <a:xfrm>
            <a:off x="658368" y="1762963"/>
            <a:ext cx="64008" cy="697382"/>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ans-0"/>
          <p:cNvSpPr txBox="1"/>
          <p:nvPr/>
        </p:nvSpPr>
        <p:spPr>
          <a:xfrm>
            <a:off x="987552" y="1762963"/>
            <a:ext cx="10509199" cy="743102"/>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Overfitting. Stop training and restore the weights from the epoch with the lowest validation loss — which is exactly what early stopping automates.</a:t>
            </a:r>
          </a:p>
        </p:txBody>
      </p:sp>
      <p:sp>
        <p:nvSpPr>
          <p:cNvPr id="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17  ·  Neural Network Foundations</a:t>
            </a:r>
          </a:p>
        </p:txBody>
      </p:sp>
      <p:sp>
        <p:nvSpPr>
          <p:cNvPr id="8"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114  ·  answers in Appendix D     </a:t>
            </a:r>
            <a:fld id="{89E5FA4E-5870-46B5-8E82-D07D4E6E6CE6}" type="slidenum">
              <a:rPr lang="en-GB" sz="1000">
                <a:solidFill>
                  <a:srgbClr val="8795A1"/>
                </a:solidFill>
                <a:latin typeface="Segoe UI"/>
              </a:rPr>
              <a:t>40</a:t>
            </a:fld>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10837062"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50">
        <p159:morph option="byObject"/>
      </p:transition>
    </mc:Choice>
    <mc:Fallback>
      <p:transition spd="med">
        <p:fade/>
      </p:transition>
    </mc:Fallback>
  </mc:AlternateContent>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to take away</a:t>
            </a:r>
          </a:p>
        </p:txBody>
      </p:sp>
      <p:pic>
        <p:nvPicPr>
          <p:cNvPr id="3" name="!!kicker-icon" descr="clipboard-check-15425E.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6683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5425E"/>
                </a:solidFill>
                <a:latin typeface="Segoe UI"/>
              </a:rPr>
              <a:t>CHAPTER SUMMARY</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17  ·  Neural Network Foundations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114     </a:t>
            </a:r>
            <a:fld id="{2A340AAC-D1BB-4CB0-854A-4D0BAD8F42DB}" type="slidenum">
              <a:rPr lang="en-GB" sz="1000">
                <a:solidFill>
                  <a:srgbClr val="8795A1"/>
                </a:solidFill>
                <a:latin typeface="Segoe UI"/>
              </a:rPr>
              <a:t>41</a:t>
            </a:fld>
          </a:p>
        </p:txBody>
      </p:sp>
      <p:sp>
        <p:nvSpPr>
          <p:cNvPr id="7" name="!!sb0">
            <a:extLst>
              <a:ext uri="{C183D7F6-B498-43B3-948B-1728B52AA6E4}">
                <adec:decorative xmlns:adec="http://schemas.microsoft.com/office/drawing/2017/decorative" val="1"/>
              </a:ext>
            </a:extLst>
          </p:cNvPr>
          <p:cNvSpPr/>
          <p:nvPr/>
        </p:nvSpPr>
        <p:spPr>
          <a:xfrm>
            <a:off x="658368" y="1746504"/>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sbn0"/>
          <p:cNvSpPr txBox="1"/>
          <p:nvPr/>
        </p:nvSpPr>
        <p:spPr>
          <a:xfrm>
            <a:off x="658368" y="1801368"/>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1</a:t>
            </a:r>
          </a:p>
        </p:txBody>
      </p:sp>
      <p:sp>
        <p:nvSpPr>
          <p:cNvPr id="9" name="!!st0"/>
          <p:cNvSpPr txBox="1"/>
          <p:nvPr/>
        </p:nvSpPr>
        <p:spPr>
          <a:xfrm>
            <a:off x="1298448" y="1737360"/>
            <a:ext cx="10234879" cy="665683"/>
          </a:xfrm>
          <a:prstGeom prst="rect">
            <a:avLst/>
          </a:prstGeom>
          <a:noFill/>
        </p:spPr>
        <p:txBody>
          <a:bodyPr wrap="square" anchor="t" lIns="0" rIns="0" tIns="0" bIns="0">
            <a:noAutofit/>
          </a:bodyPr>
          <a:lstStyle/>
          <a:p>
            <a:pPr algn="l">
              <a:lnSpc>
                <a:spcPct val="104000"/>
              </a:lnSpc>
              <a:spcBef>
                <a:spcPts val="0"/>
              </a:spcBef>
              <a:spcAft>
                <a:spcPts val="0"/>
              </a:spcAft>
            </a:pPr>
            <a:r>
              <a:rPr sz="2100" b="0" i="0">
                <a:solidFill>
                  <a:srgbClr val="1C252B"/>
                </a:solidFill>
                <a:latin typeface="Segoe UI"/>
              </a:rPr>
              <a:t>A neuron computes </a:t>
            </a:r>
            <a:r>
              <a:rPr sz="2100" b="0" i="1">
                <a:solidFill>
                  <a:srgbClr val="1C252B"/>
                </a:solidFill>
                <a:latin typeface="Cambria"/>
              </a:rPr>
              <a:t>f</a:t>
            </a:r>
            <a:r>
              <a:rPr sz="2100" b="0" i="0">
                <a:solidFill>
                  <a:srgbClr val="1C252B"/>
                </a:solidFill>
                <a:latin typeface="Cambria"/>
              </a:rPr>
              <a:t>(Σ </a:t>
            </a:r>
            <a:r>
              <a:rPr sz="2100" b="0" i="1">
                <a:solidFill>
                  <a:srgbClr val="1C252B"/>
                </a:solidFill>
                <a:latin typeface="Cambria"/>
              </a:rPr>
              <a:t>w</a:t>
            </a:r>
            <a:r>
              <a:rPr sz="2100" b="0" i="1" baseline="-25000">
                <a:solidFill>
                  <a:srgbClr val="1C252B"/>
                </a:solidFill>
                <a:latin typeface="Cambria"/>
              </a:rPr>
              <a:t>j</a:t>
            </a:r>
            <a:r>
              <a:rPr sz="2100" b="0" i="0">
                <a:solidFill>
                  <a:srgbClr val="1C252B"/>
                </a:solidFill>
                <a:latin typeface="Cambria"/>
              </a:rPr>
              <a:t> </a:t>
            </a:r>
            <a:r>
              <a:rPr sz="2100" b="0" i="1">
                <a:solidFill>
                  <a:srgbClr val="1C252B"/>
                </a:solidFill>
                <a:latin typeface="Cambria"/>
              </a:rPr>
              <a:t>x</a:t>
            </a:r>
            <a:r>
              <a:rPr sz="2100" b="0" i="1" baseline="-25000">
                <a:solidFill>
                  <a:srgbClr val="1C252B"/>
                </a:solidFill>
                <a:latin typeface="Cambria"/>
              </a:rPr>
              <a:t>j</a:t>
            </a:r>
            <a:r>
              <a:rPr sz="2100" b="0" i="0">
                <a:solidFill>
                  <a:srgbClr val="1C252B"/>
                </a:solidFill>
                <a:latin typeface="Cambria"/>
              </a:rPr>
              <a:t> + </a:t>
            </a:r>
            <a:r>
              <a:rPr sz="2100" b="0" i="1">
                <a:solidFill>
                  <a:srgbClr val="1C252B"/>
                </a:solidFill>
                <a:latin typeface="Cambria"/>
              </a:rPr>
              <a:t>b</a:t>
            </a:r>
            <a:r>
              <a:rPr sz="2100" b="0" i="0">
                <a:solidFill>
                  <a:srgbClr val="1C252B"/>
                </a:solidFill>
                <a:latin typeface="Cambria"/>
              </a:rPr>
              <a:t>)</a:t>
            </a:r>
            <a:r>
              <a:rPr sz="2100" b="0" i="0">
                <a:solidFill>
                  <a:srgbClr val="1C252B"/>
                </a:solidFill>
                <a:latin typeface="Segoe UI"/>
              </a:rPr>
              <a:t>. With a sigmoid it is logistic regression; depth is what makes it more.</a:t>
            </a:r>
          </a:p>
        </p:txBody>
      </p:sp>
      <p:sp>
        <p:nvSpPr>
          <p:cNvPr id="10" name="!!sb1">
            <a:extLst>
              <a:ext uri="{C183D7F6-B498-43B3-948B-1728B52AA6E4}">
                <adec:decorative xmlns:adec="http://schemas.microsoft.com/office/drawing/2017/decorative" val="1"/>
              </a:ext>
            </a:extLst>
          </p:cNvPr>
          <p:cNvSpPr/>
          <p:nvPr/>
        </p:nvSpPr>
        <p:spPr>
          <a:xfrm>
            <a:off x="658368" y="2595067"/>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sbn1"/>
          <p:cNvSpPr txBox="1"/>
          <p:nvPr/>
        </p:nvSpPr>
        <p:spPr>
          <a:xfrm>
            <a:off x="658368" y="2649931"/>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2</a:t>
            </a:r>
          </a:p>
        </p:txBody>
      </p:sp>
      <p:sp>
        <p:nvSpPr>
          <p:cNvPr id="12" name="!!st1"/>
          <p:cNvSpPr txBox="1"/>
          <p:nvPr/>
        </p:nvSpPr>
        <p:spPr>
          <a:xfrm>
            <a:off x="1298448" y="2585923"/>
            <a:ext cx="10234879" cy="402336"/>
          </a:xfrm>
          <a:prstGeom prst="rect">
            <a:avLst/>
          </a:prstGeom>
          <a:noFill/>
        </p:spPr>
        <p:txBody>
          <a:bodyPr wrap="square" anchor="t" lIns="0" rIns="0" tIns="0" bIns="0">
            <a:noAutofit/>
          </a:bodyPr>
          <a:lstStyle/>
          <a:p>
            <a:pPr algn="l">
              <a:lnSpc>
                <a:spcPct val="104000"/>
              </a:lnSpc>
              <a:spcBef>
                <a:spcPts val="0"/>
              </a:spcBef>
              <a:spcAft>
                <a:spcPts val="0"/>
              </a:spcAft>
            </a:pPr>
            <a:r>
              <a:rPr sz="2100" b="0" i="0">
                <a:solidFill>
                  <a:srgbClr val="1C252B"/>
                </a:solidFill>
                <a:latin typeface="Segoe UI"/>
              </a:rPr>
              <a:t>Without non-linear activations, stacked layers collapse to a single linear layer.</a:t>
            </a:r>
          </a:p>
        </p:txBody>
      </p:sp>
      <p:sp>
        <p:nvSpPr>
          <p:cNvPr id="13" name="!!sb2">
            <a:extLst>
              <a:ext uri="{C183D7F6-B498-43B3-948B-1728B52AA6E4}">
                <adec:decorative xmlns:adec="http://schemas.microsoft.com/office/drawing/2017/decorative" val="1"/>
              </a:ext>
            </a:extLst>
          </p:cNvPr>
          <p:cNvSpPr/>
          <p:nvPr/>
        </p:nvSpPr>
        <p:spPr>
          <a:xfrm>
            <a:off x="658368" y="3180283"/>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sbn2"/>
          <p:cNvSpPr txBox="1"/>
          <p:nvPr/>
        </p:nvSpPr>
        <p:spPr>
          <a:xfrm>
            <a:off x="658368" y="3235147"/>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3</a:t>
            </a:r>
          </a:p>
        </p:txBody>
      </p:sp>
      <p:sp>
        <p:nvSpPr>
          <p:cNvPr id="15" name="!!st2"/>
          <p:cNvSpPr txBox="1"/>
          <p:nvPr/>
        </p:nvSpPr>
        <p:spPr>
          <a:xfrm>
            <a:off x="1298448" y="3171139"/>
            <a:ext cx="10234879" cy="665683"/>
          </a:xfrm>
          <a:prstGeom prst="rect">
            <a:avLst/>
          </a:prstGeom>
          <a:noFill/>
        </p:spPr>
        <p:txBody>
          <a:bodyPr wrap="square" anchor="t" lIns="0" rIns="0" tIns="0" bIns="0">
            <a:noAutofit/>
          </a:bodyPr>
          <a:lstStyle/>
          <a:p>
            <a:pPr algn="l">
              <a:lnSpc>
                <a:spcPct val="104000"/>
              </a:lnSpc>
              <a:spcBef>
                <a:spcPts val="0"/>
              </a:spcBef>
              <a:spcAft>
                <a:spcPts val="0"/>
              </a:spcAft>
            </a:pPr>
            <a:r>
              <a:rPr sz="2100" b="0" i="0">
                <a:solidFill>
                  <a:srgbClr val="1C252B"/>
                </a:solidFill>
                <a:latin typeface="Segoe UI"/>
              </a:rPr>
              <a:t>ReLU for hidden layers; sigmoid, softmax or linear at the output depending on the task.</a:t>
            </a:r>
          </a:p>
        </p:txBody>
      </p:sp>
      <p:sp>
        <p:nvSpPr>
          <p:cNvPr id="16" name="!!sb3">
            <a:extLst>
              <a:ext uri="{C183D7F6-B498-43B3-948B-1728B52AA6E4}">
                <adec:decorative xmlns:adec="http://schemas.microsoft.com/office/drawing/2017/decorative" val="1"/>
              </a:ext>
            </a:extLst>
          </p:cNvPr>
          <p:cNvSpPr/>
          <p:nvPr/>
        </p:nvSpPr>
        <p:spPr>
          <a:xfrm>
            <a:off x="658368" y="4028846"/>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sbn3"/>
          <p:cNvSpPr txBox="1"/>
          <p:nvPr/>
        </p:nvSpPr>
        <p:spPr>
          <a:xfrm>
            <a:off x="658368" y="4083710"/>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4</a:t>
            </a:r>
          </a:p>
        </p:txBody>
      </p:sp>
      <p:sp>
        <p:nvSpPr>
          <p:cNvPr id="18" name="!!st3"/>
          <p:cNvSpPr txBox="1"/>
          <p:nvPr/>
        </p:nvSpPr>
        <p:spPr>
          <a:xfrm>
            <a:off x="1298448" y="4019702"/>
            <a:ext cx="10234879" cy="402336"/>
          </a:xfrm>
          <a:prstGeom prst="rect">
            <a:avLst/>
          </a:prstGeom>
          <a:noFill/>
        </p:spPr>
        <p:txBody>
          <a:bodyPr wrap="square" anchor="t" lIns="0" rIns="0" tIns="0" bIns="0">
            <a:noAutofit/>
          </a:bodyPr>
          <a:lstStyle/>
          <a:p>
            <a:pPr algn="l">
              <a:lnSpc>
                <a:spcPct val="104000"/>
              </a:lnSpc>
              <a:spcBef>
                <a:spcPts val="0"/>
              </a:spcBef>
              <a:spcAft>
                <a:spcPts val="0"/>
              </a:spcAft>
            </a:pPr>
            <a:r>
              <a:rPr sz="2100" b="0" i="0">
                <a:solidFill>
                  <a:srgbClr val="1C252B"/>
                </a:solidFill>
                <a:latin typeface="Segoe UI"/>
              </a:rPr>
              <a:t>Training is forward pass </a:t>
            </a:r>
            <a:r>
              <a:rPr sz="2100" b="0" i="0">
                <a:solidFill>
                  <a:srgbClr val="1C252B"/>
                </a:solidFill>
                <a:latin typeface="Cambria"/>
              </a:rPr>
              <a:t>→</a:t>
            </a:r>
            <a:r>
              <a:rPr sz="2100" b="0" i="0">
                <a:solidFill>
                  <a:srgbClr val="1C252B"/>
                </a:solidFill>
                <a:latin typeface="Segoe UI"/>
              </a:rPr>
              <a:t> loss </a:t>
            </a:r>
            <a:r>
              <a:rPr sz="2100" b="0" i="0">
                <a:solidFill>
                  <a:srgbClr val="1C252B"/>
                </a:solidFill>
                <a:latin typeface="Cambria"/>
              </a:rPr>
              <a:t>→</a:t>
            </a:r>
            <a:r>
              <a:rPr sz="2100" b="0" i="0">
                <a:solidFill>
                  <a:srgbClr val="1C252B"/>
                </a:solidFill>
                <a:latin typeface="Segoe UI"/>
              </a:rPr>
              <a:t> backpropagation </a:t>
            </a:r>
            <a:r>
              <a:rPr sz="2100" b="0" i="0">
                <a:solidFill>
                  <a:srgbClr val="1C252B"/>
                </a:solidFill>
                <a:latin typeface="Cambria"/>
              </a:rPr>
              <a:t>→</a:t>
            </a:r>
            <a:r>
              <a:rPr sz="2100" b="0" i="0">
                <a:solidFill>
                  <a:srgbClr val="1C252B"/>
                </a:solidFill>
                <a:latin typeface="Segoe UI"/>
              </a:rPr>
              <a:t> update, repeated per batch.</a:t>
            </a:r>
          </a:p>
        </p:txBody>
      </p:sp>
      <p:sp>
        <p:nvSpPr>
          <p:cNvPr id="19" name="!!sb4">
            <a:extLst>
              <a:ext uri="{C183D7F6-B498-43B3-948B-1728B52AA6E4}">
                <adec:decorative xmlns:adec="http://schemas.microsoft.com/office/drawing/2017/decorative" val="1"/>
              </a:ext>
            </a:extLst>
          </p:cNvPr>
          <p:cNvSpPr/>
          <p:nvPr/>
        </p:nvSpPr>
        <p:spPr>
          <a:xfrm>
            <a:off x="658368" y="4614062"/>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sbn4"/>
          <p:cNvSpPr txBox="1"/>
          <p:nvPr/>
        </p:nvSpPr>
        <p:spPr>
          <a:xfrm>
            <a:off x="658368" y="4668926"/>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5</a:t>
            </a:r>
          </a:p>
        </p:txBody>
      </p:sp>
      <p:sp>
        <p:nvSpPr>
          <p:cNvPr id="21" name="!!st4"/>
          <p:cNvSpPr txBox="1"/>
          <p:nvPr/>
        </p:nvSpPr>
        <p:spPr>
          <a:xfrm>
            <a:off x="1298448" y="4604918"/>
            <a:ext cx="10234879" cy="665683"/>
          </a:xfrm>
          <a:prstGeom prst="rect">
            <a:avLst/>
          </a:prstGeom>
          <a:noFill/>
        </p:spPr>
        <p:txBody>
          <a:bodyPr wrap="square" anchor="t" lIns="0" rIns="0" tIns="0" bIns="0">
            <a:noAutofit/>
          </a:bodyPr>
          <a:lstStyle/>
          <a:p>
            <a:pPr algn="l">
              <a:lnSpc>
                <a:spcPct val="104000"/>
              </a:lnSpc>
              <a:spcBef>
                <a:spcPts val="0"/>
              </a:spcBef>
              <a:spcAft>
                <a:spcPts val="0"/>
              </a:spcAft>
            </a:pPr>
            <a:r>
              <a:rPr sz="2100" b="0" i="0">
                <a:solidFill>
                  <a:srgbClr val="1C252B"/>
                </a:solidFill>
                <a:latin typeface="Segoe UI"/>
              </a:rPr>
              <a:t>The learning rate is the hyperparameter that most often decides success. Use early stopping instead of a fixed epoch count.</a:t>
            </a:r>
          </a:p>
        </p:txBody>
      </p:sp>
      <p:sp>
        <p:nvSpPr>
          <p:cNvPr id="22" name="!!sb5">
            <a:extLst>
              <a:ext uri="{C183D7F6-B498-43B3-948B-1728B52AA6E4}">
                <adec:decorative xmlns:adec="http://schemas.microsoft.com/office/drawing/2017/decorative" val="1"/>
              </a:ext>
            </a:extLst>
          </p:cNvPr>
          <p:cNvSpPr/>
          <p:nvPr/>
        </p:nvSpPr>
        <p:spPr>
          <a:xfrm>
            <a:off x="658368" y="5462625"/>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sbn5"/>
          <p:cNvSpPr txBox="1"/>
          <p:nvPr/>
        </p:nvSpPr>
        <p:spPr>
          <a:xfrm>
            <a:off x="658368" y="5517489"/>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6</a:t>
            </a:r>
          </a:p>
        </p:txBody>
      </p:sp>
      <p:sp>
        <p:nvSpPr>
          <p:cNvPr id="24" name="!!st5"/>
          <p:cNvSpPr txBox="1"/>
          <p:nvPr/>
        </p:nvSpPr>
        <p:spPr>
          <a:xfrm>
            <a:off x="1298448" y="5453481"/>
            <a:ext cx="10234879" cy="665683"/>
          </a:xfrm>
          <a:prstGeom prst="rect">
            <a:avLst/>
          </a:prstGeom>
          <a:noFill/>
        </p:spPr>
        <p:txBody>
          <a:bodyPr wrap="square" anchor="t" lIns="0" rIns="0" tIns="0" bIns="0">
            <a:noAutofit/>
          </a:bodyPr>
          <a:lstStyle/>
          <a:p>
            <a:pPr algn="l">
              <a:lnSpc>
                <a:spcPct val="104000"/>
              </a:lnSpc>
              <a:spcBef>
                <a:spcPts val="0"/>
              </a:spcBef>
              <a:spcAft>
                <a:spcPts val="0"/>
              </a:spcAft>
            </a:pPr>
            <a:r>
              <a:rPr sz="2100" b="0" i="0">
                <a:solidFill>
                  <a:srgbClr val="1C252B"/>
                </a:solidFill>
                <a:latin typeface="Segoe UI"/>
              </a:rPr>
              <a:t>Scale inputs. And for moderate tabular data, prefer gradient boosting — knowing when not to use a network is part of the skill.</a:t>
            </a:r>
          </a:p>
        </p:txBody>
      </p:sp>
      <p:sp>
        <p:nvSpPr>
          <p:cNvPr id="7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1" name="!!pfill">
            <a:extLst>
              <a:ext uri="{C183D7F6-B498-43B3-948B-1728B52AA6E4}">
                <adec:decorative xmlns:adec="http://schemas.microsoft.com/office/drawing/2017/decorative" val="1"/>
              </a:ext>
            </a:extLst>
          </p:cNvPr>
          <p:cNvSpPr/>
          <p:nvPr/>
        </p:nvSpPr>
        <p:spPr>
          <a:xfrm>
            <a:off x="0" y="0"/>
            <a:ext cx="11107988"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zoom(in)">
                                      <p:cBhvr>
                                        <p:cTn id="8" dur="26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260"/>
                                        <p:tgtEl>
                                          <p:spTgt spid="8"/>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wipe(right)">
                                      <p:cBhvr>
                                        <p:cTn id="14" dur="400"/>
                                        <p:tgtEl>
                                          <p:spTgt spid="9"/>
                                        </p:tgtEl>
                                      </p:cBhvr>
                                    </p:animEffect>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zoom(in)">
                                      <p:cBhvr>
                                        <p:cTn id="19" dur="260"/>
                                        <p:tgtEl>
                                          <p:spTgt spid="1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260"/>
                                        <p:tgtEl>
                                          <p:spTgt spid="11"/>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wipe(right)">
                                      <p:cBhvr>
                                        <p:cTn id="25" dur="400"/>
                                        <p:tgtEl>
                                          <p:spTgt spid="12"/>
                                        </p:tgtEl>
                                      </p:cBhvr>
                                    </p:animEffect>
                                  </p:childTnLst>
                                </p:cTn>
                              </p:par>
                            </p:childTnLst>
                          </p:cTn>
                        </p:par>
                      </p:childTnLst>
                    </p:cTn>
                  </p:par>
                  <p:par>
                    <p:cTn id="26" fill="hold">
                      <p:stCondLst>
                        <p:cond delay="indefinite"/>
                      </p:stCondLst>
                      <p:childTnLst>
                        <p:par>
                          <p:cTn id="27" fill="hold">
                            <p:stCondLst>
                              <p:cond delay="0"/>
                            </p:stCondLst>
                            <p:childTnLst>
                              <p:par>
                                <p:cTn id="28" presetID="23" presetClass="entr" presetSubtype="16" fill="hold" grpId="0" nodeType="click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zoom(in)">
                                      <p:cBhvr>
                                        <p:cTn id="30" dur="260"/>
                                        <p:tgtEl>
                                          <p:spTgt spid="1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260"/>
                                        <p:tgtEl>
                                          <p:spTgt spid="14"/>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wipe(right)">
                                      <p:cBhvr>
                                        <p:cTn id="36" dur="400"/>
                                        <p:tgtEl>
                                          <p:spTgt spid="15"/>
                                        </p:tgtEl>
                                      </p:cBhvr>
                                    </p:animEffect>
                                  </p:childTnLst>
                                </p:cTn>
                              </p:par>
                            </p:childTnLst>
                          </p:cTn>
                        </p:par>
                      </p:childTnLst>
                    </p:cTn>
                  </p:par>
                  <p:par>
                    <p:cTn id="37" fill="hold">
                      <p:stCondLst>
                        <p:cond delay="indefinite"/>
                      </p:stCondLst>
                      <p:childTnLst>
                        <p:par>
                          <p:cTn id="38" fill="hold">
                            <p:stCondLst>
                              <p:cond delay="0"/>
                            </p:stCondLst>
                            <p:childTnLst>
                              <p:par>
                                <p:cTn id="39" presetID="23" presetClass="entr" presetSubtype="16" fill="hold" grpId="0" nodeType="clickEffect">
                                  <p:stCondLst>
                                    <p:cond delay="0"/>
                                  </p:stCondLst>
                                  <p:childTnLst>
                                    <p:set>
                                      <p:cBhvr>
                                        <p:cTn id="40" dur="1" fill="hold">
                                          <p:stCondLst>
                                            <p:cond delay="0"/>
                                          </p:stCondLst>
                                        </p:cTn>
                                        <p:tgtEl>
                                          <p:spTgt spid="16"/>
                                        </p:tgtEl>
                                        <p:attrNameLst>
                                          <p:attrName>style.visibility</p:attrName>
                                        </p:attrNameLst>
                                      </p:cBhvr>
                                      <p:to>
                                        <p:strVal val="visible"/>
                                      </p:to>
                                    </p:set>
                                    <p:animEffect transition="in" filter="zoom(in)">
                                      <p:cBhvr>
                                        <p:cTn id="41" dur="260"/>
                                        <p:tgtEl>
                                          <p:spTgt spid="16"/>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7"/>
                                        </p:tgtEl>
                                        <p:attrNameLst>
                                          <p:attrName>style.visibility</p:attrName>
                                        </p:attrNameLst>
                                      </p:cBhvr>
                                      <p:to>
                                        <p:strVal val="visible"/>
                                      </p:to>
                                    </p:set>
                                    <p:animEffect transition="in" filter="fade">
                                      <p:cBhvr>
                                        <p:cTn id="44" dur="260"/>
                                        <p:tgtEl>
                                          <p:spTgt spid="17"/>
                                        </p:tgtEl>
                                      </p:cBhvr>
                                    </p:animEffect>
                                  </p:childTnLst>
                                </p:cTn>
                              </p:par>
                              <p:par>
                                <p:cTn id="45" presetID="22" presetClass="entr" presetSubtype="8" fill="hold" grpId="0" nodeType="withEffect">
                                  <p:stCondLst>
                                    <p:cond delay="0"/>
                                  </p:stCondLst>
                                  <p:childTnLst>
                                    <p:set>
                                      <p:cBhvr>
                                        <p:cTn id="46" dur="1" fill="hold">
                                          <p:stCondLst>
                                            <p:cond delay="0"/>
                                          </p:stCondLst>
                                        </p:cTn>
                                        <p:tgtEl>
                                          <p:spTgt spid="18"/>
                                        </p:tgtEl>
                                        <p:attrNameLst>
                                          <p:attrName>style.visibility</p:attrName>
                                        </p:attrNameLst>
                                      </p:cBhvr>
                                      <p:to>
                                        <p:strVal val="visible"/>
                                      </p:to>
                                    </p:set>
                                    <p:animEffect transition="in" filter="wipe(right)">
                                      <p:cBhvr>
                                        <p:cTn id="47" dur="400"/>
                                        <p:tgtEl>
                                          <p:spTgt spid="18"/>
                                        </p:tgtEl>
                                      </p:cBhvr>
                                    </p:animEffect>
                                  </p:childTnLst>
                                </p:cTn>
                              </p:par>
                            </p:childTnLst>
                          </p:cTn>
                        </p:par>
                      </p:childTnLst>
                    </p:cTn>
                  </p:par>
                  <p:par>
                    <p:cTn id="48" fill="hold">
                      <p:stCondLst>
                        <p:cond delay="indefinite"/>
                      </p:stCondLst>
                      <p:childTnLst>
                        <p:par>
                          <p:cTn id="49" fill="hold">
                            <p:stCondLst>
                              <p:cond delay="0"/>
                            </p:stCondLst>
                            <p:childTnLst>
                              <p:par>
                                <p:cTn id="50" presetID="23" presetClass="entr" presetSubtype="16" fill="hold" grpId="0" nodeType="clickEffect">
                                  <p:stCondLst>
                                    <p:cond delay="0"/>
                                  </p:stCondLst>
                                  <p:childTnLst>
                                    <p:set>
                                      <p:cBhvr>
                                        <p:cTn id="51" dur="1" fill="hold">
                                          <p:stCondLst>
                                            <p:cond delay="0"/>
                                          </p:stCondLst>
                                        </p:cTn>
                                        <p:tgtEl>
                                          <p:spTgt spid="19"/>
                                        </p:tgtEl>
                                        <p:attrNameLst>
                                          <p:attrName>style.visibility</p:attrName>
                                        </p:attrNameLst>
                                      </p:cBhvr>
                                      <p:to>
                                        <p:strVal val="visible"/>
                                      </p:to>
                                    </p:set>
                                    <p:animEffect transition="in" filter="zoom(in)">
                                      <p:cBhvr>
                                        <p:cTn id="52" dur="260"/>
                                        <p:tgtEl>
                                          <p:spTgt spid="19"/>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0"/>
                                        </p:tgtEl>
                                        <p:attrNameLst>
                                          <p:attrName>style.visibility</p:attrName>
                                        </p:attrNameLst>
                                      </p:cBhvr>
                                      <p:to>
                                        <p:strVal val="visible"/>
                                      </p:to>
                                    </p:set>
                                    <p:animEffect transition="in" filter="fade">
                                      <p:cBhvr>
                                        <p:cTn id="55" dur="260"/>
                                        <p:tgtEl>
                                          <p:spTgt spid="20"/>
                                        </p:tgtEl>
                                      </p:cBhvr>
                                    </p:animEffect>
                                  </p:childTnLst>
                                </p:cTn>
                              </p:par>
                              <p:par>
                                <p:cTn id="56" presetID="22" presetClass="entr" presetSubtype="8" fill="hold" grpId="0" nodeType="withEffect">
                                  <p:stCondLst>
                                    <p:cond delay="0"/>
                                  </p:stCondLst>
                                  <p:childTnLst>
                                    <p:set>
                                      <p:cBhvr>
                                        <p:cTn id="57" dur="1" fill="hold">
                                          <p:stCondLst>
                                            <p:cond delay="0"/>
                                          </p:stCondLst>
                                        </p:cTn>
                                        <p:tgtEl>
                                          <p:spTgt spid="21"/>
                                        </p:tgtEl>
                                        <p:attrNameLst>
                                          <p:attrName>style.visibility</p:attrName>
                                        </p:attrNameLst>
                                      </p:cBhvr>
                                      <p:to>
                                        <p:strVal val="visible"/>
                                      </p:to>
                                    </p:set>
                                    <p:animEffect transition="in" filter="wipe(right)">
                                      <p:cBhvr>
                                        <p:cTn id="58" dur="400"/>
                                        <p:tgtEl>
                                          <p:spTgt spid="21"/>
                                        </p:tgtEl>
                                      </p:cBhvr>
                                    </p:animEffect>
                                  </p:childTnLst>
                                </p:cTn>
                              </p:par>
                            </p:childTnLst>
                          </p:cTn>
                        </p:par>
                      </p:childTnLst>
                    </p:cTn>
                  </p:par>
                  <p:par>
                    <p:cTn id="59" fill="hold">
                      <p:stCondLst>
                        <p:cond delay="indefinite"/>
                      </p:stCondLst>
                      <p:childTnLst>
                        <p:par>
                          <p:cTn id="60" fill="hold">
                            <p:stCondLst>
                              <p:cond delay="0"/>
                            </p:stCondLst>
                            <p:childTnLst>
                              <p:par>
                                <p:cTn id="61" presetID="23" presetClass="entr" presetSubtype="16" fill="hold" grpId="0" nodeType="clickEffect">
                                  <p:stCondLst>
                                    <p:cond delay="0"/>
                                  </p:stCondLst>
                                  <p:childTnLst>
                                    <p:set>
                                      <p:cBhvr>
                                        <p:cTn id="62" dur="1" fill="hold">
                                          <p:stCondLst>
                                            <p:cond delay="0"/>
                                          </p:stCondLst>
                                        </p:cTn>
                                        <p:tgtEl>
                                          <p:spTgt spid="22"/>
                                        </p:tgtEl>
                                        <p:attrNameLst>
                                          <p:attrName>style.visibility</p:attrName>
                                        </p:attrNameLst>
                                      </p:cBhvr>
                                      <p:to>
                                        <p:strVal val="visible"/>
                                      </p:to>
                                    </p:set>
                                    <p:animEffect transition="in" filter="zoom(in)">
                                      <p:cBhvr>
                                        <p:cTn id="63" dur="260"/>
                                        <p:tgtEl>
                                          <p:spTgt spid="22"/>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3"/>
                                        </p:tgtEl>
                                        <p:attrNameLst>
                                          <p:attrName>style.visibility</p:attrName>
                                        </p:attrNameLst>
                                      </p:cBhvr>
                                      <p:to>
                                        <p:strVal val="visible"/>
                                      </p:to>
                                    </p:set>
                                    <p:animEffect transition="in" filter="fade">
                                      <p:cBhvr>
                                        <p:cTn id="66" dur="260"/>
                                        <p:tgtEl>
                                          <p:spTgt spid="23"/>
                                        </p:tgtEl>
                                      </p:cBhvr>
                                    </p:animEffect>
                                  </p:childTnLst>
                                </p:cTn>
                              </p:par>
                              <p:par>
                                <p:cTn id="67" presetID="22" presetClass="entr" presetSubtype="8" fill="hold" grpId="0" nodeType="withEffect">
                                  <p:stCondLst>
                                    <p:cond delay="0"/>
                                  </p:stCondLst>
                                  <p:childTnLst>
                                    <p:set>
                                      <p:cBhvr>
                                        <p:cTn id="68" dur="1" fill="hold">
                                          <p:stCondLst>
                                            <p:cond delay="0"/>
                                          </p:stCondLst>
                                        </p:cTn>
                                        <p:tgtEl>
                                          <p:spTgt spid="24"/>
                                        </p:tgtEl>
                                        <p:attrNameLst>
                                          <p:attrName>style.visibility</p:attrName>
                                        </p:attrNameLst>
                                      </p:cBhvr>
                                      <p:to>
                                        <p:strVal val="visible"/>
                                      </p:to>
                                    </p:set>
                                    <p:animEffect transition="in" filter="wipe(right)">
                                      <p:cBhvr>
                                        <p:cTn id="69" dur="4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Quick check 1 of 2</a:t>
            </a:r>
          </a:p>
        </p:txBody>
      </p:sp>
      <p:pic>
        <p:nvPicPr>
          <p:cNvPr id="3" name="!!kicker-icon" descr="pen-fancy-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REVIEW  ·  MULTIPLE CHOICE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17  ·  Neural Network Foundations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114     </a:t>
            </a:r>
            <a:fld id="{D575FC5A-8D3A-4956-8E4D-91DAD32254CE}" type="slidenum">
              <a:rPr lang="en-GB" sz="1000">
                <a:solidFill>
                  <a:srgbClr val="8795A1"/>
                </a:solidFill>
                <a:latin typeface="Segoe UI"/>
              </a:rPr>
              <a:t>42</a:t>
            </a:fld>
          </a:p>
        </p:txBody>
      </p:sp>
      <p:sp>
        <p:nvSpPr>
          <p:cNvPr id="7" name="!!mstem"/>
          <p:cNvSpPr txBox="1"/>
          <p:nvPr/>
        </p:nvSpPr>
        <p:spPr>
          <a:xfrm>
            <a:off x="658368" y="1737360"/>
            <a:ext cx="10874959" cy="457809"/>
          </a:xfrm>
          <a:prstGeom prst="rect">
            <a:avLst/>
          </a:prstGeom>
          <a:noFill/>
        </p:spPr>
        <p:txBody>
          <a:bodyPr wrap="square" anchor="t" lIns="0" rIns="0" tIns="0" bIns="0">
            <a:noAutofit/>
          </a:bodyPr>
          <a:lstStyle/>
          <a:p>
            <a:pPr algn="l">
              <a:lnSpc>
                <a:spcPct val="104000"/>
              </a:lnSpc>
              <a:spcBef>
                <a:spcPts val="0"/>
              </a:spcBef>
              <a:spcAft>
                <a:spcPts val="0"/>
              </a:spcAft>
            </a:pPr>
            <a:r>
              <a:rPr sz="2600" b="0" i="0">
                <a:solidFill>
                  <a:srgbClr val="1C252B"/>
                </a:solidFill>
                <a:latin typeface="Segoe UI"/>
              </a:rPr>
              <a:t>The standard activation for hidden layers is:</a:t>
            </a:r>
          </a:p>
        </p:txBody>
      </p:sp>
      <p:sp>
        <p:nvSpPr>
          <p:cNvPr id="8" name="!!mo0">
            <a:extLst>
              <a:ext uri="{C183D7F6-B498-43B3-948B-1728B52AA6E4}">
                <adec:decorative xmlns:adec="http://schemas.microsoft.com/office/drawing/2017/decorative" val="1"/>
              </a:ext>
            </a:extLst>
          </p:cNvPr>
          <p:cNvSpPr/>
          <p:nvPr/>
        </p:nvSpPr>
        <p:spPr>
          <a:xfrm>
            <a:off x="658368"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mol0">
            <a:extLst>
              <a:ext uri="{C183D7F6-B498-43B3-948B-1728B52AA6E4}">
                <adec:decorative xmlns:adec="http://schemas.microsoft.com/office/drawing/2017/decorative" val="1"/>
              </a:ext>
            </a:extLst>
          </p:cNvPr>
          <p:cNvSpPr/>
          <p:nvPr/>
        </p:nvSpPr>
        <p:spPr>
          <a:xfrm>
            <a:off x="841247" y="2789529"/>
            <a:ext cx="457200" cy="457200"/>
          </a:xfrm>
          <a:prstGeom prst="roundRect">
            <a:avLst>
              <a:gd name="adj" fmla="val 50000"/>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molt0"/>
          <p:cNvSpPr txBox="1"/>
          <p:nvPr/>
        </p:nvSpPr>
        <p:spPr>
          <a:xfrm>
            <a:off x="841247"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A</a:t>
            </a:r>
          </a:p>
        </p:txBody>
      </p:sp>
      <p:sp>
        <p:nvSpPr>
          <p:cNvPr id="11" name="!!mot0"/>
          <p:cNvSpPr txBox="1"/>
          <p:nvPr/>
        </p:nvSpPr>
        <p:spPr>
          <a:xfrm>
            <a:off x="1481328"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sigmoid</a:t>
            </a:r>
          </a:p>
        </p:txBody>
      </p:sp>
      <p:sp>
        <p:nvSpPr>
          <p:cNvPr id="12" name="!!mo1">
            <a:extLst>
              <a:ext uri="{C183D7F6-B498-43B3-948B-1728B52AA6E4}">
                <adec:decorative xmlns:adec="http://schemas.microsoft.com/office/drawing/2017/decorative" val="1"/>
              </a:ext>
            </a:extLst>
          </p:cNvPr>
          <p:cNvSpPr/>
          <p:nvPr/>
        </p:nvSpPr>
        <p:spPr>
          <a:xfrm>
            <a:off x="6214719"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mol1">
            <a:extLst>
              <a:ext uri="{C183D7F6-B498-43B3-948B-1728B52AA6E4}">
                <adec:decorative xmlns:adec="http://schemas.microsoft.com/office/drawing/2017/decorative" val="1"/>
              </a:ext>
            </a:extLst>
          </p:cNvPr>
          <p:cNvSpPr/>
          <p:nvPr/>
        </p:nvSpPr>
        <p:spPr>
          <a:xfrm>
            <a:off x="6397599" y="2789529"/>
            <a:ext cx="457200" cy="457200"/>
          </a:xfrm>
          <a:prstGeom prst="roundRect">
            <a:avLst>
              <a:gd name="adj" fmla="val 50000"/>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molt1"/>
          <p:cNvSpPr txBox="1"/>
          <p:nvPr/>
        </p:nvSpPr>
        <p:spPr>
          <a:xfrm>
            <a:off x="6397599"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B</a:t>
            </a:r>
          </a:p>
        </p:txBody>
      </p:sp>
      <p:sp>
        <p:nvSpPr>
          <p:cNvPr id="15" name="!!mot1"/>
          <p:cNvSpPr txBox="1"/>
          <p:nvPr/>
        </p:nvSpPr>
        <p:spPr>
          <a:xfrm>
            <a:off x="7037679"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softmax</a:t>
            </a:r>
          </a:p>
        </p:txBody>
      </p:sp>
      <p:sp>
        <p:nvSpPr>
          <p:cNvPr id="16" name="!!mo2">
            <a:extLst>
              <a:ext uri="{C183D7F6-B498-43B3-948B-1728B52AA6E4}">
                <adec:decorative xmlns:adec="http://schemas.microsoft.com/office/drawing/2017/decorative" val="1"/>
              </a:ext>
            </a:extLst>
          </p:cNvPr>
          <p:cNvSpPr/>
          <p:nvPr/>
        </p:nvSpPr>
        <p:spPr>
          <a:xfrm>
            <a:off x="658368"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mol2">
            <a:extLst>
              <a:ext uri="{C183D7F6-B498-43B3-948B-1728B52AA6E4}">
                <adec:decorative xmlns:adec="http://schemas.microsoft.com/office/drawing/2017/decorative" val="1"/>
              </a:ext>
            </a:extLst>
          </p:cNvPr>
          <p:cNvSpPr/>
          <p:nvPr/>
        </p:nvSpPr>
        <p:spPr>
          <a:xfrm>
            <a:off x="841247" y="3978249"/>
            <a:ext cx="457200" cy="457200"/>
          </a:xfrm>
          <a:prstGeom prst="roundRect">
            <a:avLst>
              <a:gd name="adj" fmla="val 50000"/>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molt2"/>
          <p:cNvSpPr txBox="1"/>
          <p:nvPr/>
        </p:nvSpPr>
        <p:spPr>
          <a:xfrm>
            <a:off x="841247"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C</a:t>
            </a:r>
          </a:p>
        </p:txBody>
      </p:sp>
      <p:sp>
        <p:nvSpPr>
          <p:cNvPr id="19" name="!!mot2"/>
          <p:cNvSpPr txBox="1"/>
          <p:nvPr/>
        </p:nvSpPr>
        <p:spPr>
          <a:xfrm>
            <a:off x="1481328"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ReLU</a:t>
            </a:r>
          </a:p>
        </p:txBody>
      </p:sp>
      <p:sp>
        <p:nvSpPr>
          <p:cNvPr id="20" name="!!mo3">
            <a:extLst>
              <a:ext uri="{C183D7F6-B498-43B3-948B-1728B52AA6E4}">
                <adec:decorative xmlns:adec="http://schemas.microsoft.com/office/drawing/2017/decorative" val="1"/>
              </a:ext>
            </a:extLst>
          </p:cNvPr>
          <p:cNvSpPr/>
          <p:nvPr/>
        </p:nvSpPr>
        <p:spPr>
          <a:xfrm>
            <a:off x="6214719"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mol3">
            <a:extLst>
              <a:ext uri="{C183D7F6-B498-43B3-948B-1728B52AA6E4}">
                <adec:decorative xmlns:adec="http://schemas.microsoft.com/office/drawing/2017/decorative" val="1"/>
              </a:ext>
            </a:extLst>
          </p:cNvPr>
          <p:cNvSpPr/>
          <p:nvPr/>
        </p:nvSpPr>
        <p:spPr>
          <a:xfrm>
            <a:off x="6397599" y="3978249"/>
            <a:ext cx="457200" cy="457200"/>
          </a:xfrm>
          <a:prstGeom prst="roundRect">
            <a:avLst>
              <a:gd name="adj" fmla="val 50000"/>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molt3"/>
          <p:cNvSpPr txBox="1"/>
          <p:nvPr/>
        </p:nvSpPr>
        <p:spPr>
          <a:xfrm>
            <a:off x="6397599"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D</a:t>
            </a:r>
          </a:p>
        </p:txBody>
      </p:sp>
      <p:sp>
        <p:nvSpPr>
          <p:cNvPr id="23" name="!!mot3"/>
          <p:cNvSpPr txBox="1"/>
          <p:nvPr/>
        </p:nvSpPr>
        <p:spPr>
          <a:xfrm>
            <a:off x="7037679"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linear</a:t>
            </a:r>
          </a:p>
        </p:txBody>
      </p:sp>
      <p:sp>
        <p:nvSpPr>
          <p:cNvPr id="2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pfill">
            <a:extLst>
              <a:ext uri="{C183D7F6-B498-43B3-948B-1728B52AA6E4}">
                <adec:decorative xmlns:adec="http://schemas.microsoft.com/office/drawing/2017/decorative" val="1"/>
              </a:ext>
            </a:extLst>
          </p:cNvPr>
          <p:cNvSpPr/>
          <p:nvPr/>
        </p:nvSpPr>
        <p:spPr>
          <a:xfrm>
            <a:off x="0" y="0"/>
            <a:ext cx="11378915"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Quick check 2 of 2</a:t>
            </a:r>
          </a:p>
        </p:txBody>
      </p:sp>
      <p:pic>
        <p:nvPicPr>
          <p:cNvPr id="3" name="!!kicker-icon" descr="pen-fancy-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REVIEW  ·  MULTIPLE CHOICE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17  ·  Neural Network Foundations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114     </a:t>
            </a:r>
            <a:fld id="{2BCDD746-F874-4702-BECE-28DE1C65DE40}" type="slidenum">
              <a:rPr lang="en-GB" sz="1000">
                <a:solidFill>
                  <a:srgbClr val="8795A1"/>
                </a:solidFill>
                <a:latin typeface="Segoe UI"/>
              </a:rPr>
              <a:t>43</a:t>
            </a:fld>
          </a:p>
        </p:txBody>
      </p:sp>
      <p:sp>
        <p:nvSpPr>
          <p:cNvPr id="7" name="!!mstem"/>
          <p:cNvSpPr txBox="1"/>
          <p:nvPr/>
        </p:nvSpPr>
        <p:spPr>
          <a:xfrm>
            <a:off x="658368" y="1737360"/>
            <a:ext cx="10874959" cy="457809"/>
          </a:xfrm>
          <a:prstGeom prst="rect">
            <a:avLst/>
          </a:prstGeom>
          <a:noFill/>
        </p:spPr>
        <p:txBody>
          <a:bodyPr wrap="square" anchor="t" lIns="0" rIns="0" tIns="0" bIns="0">
            <a:noAutofit/>
          </a:bodyPr>
          <a:lstStyle/>
          <a:p>
            <a:pPr algn="l">
              <a:lnSpc>
                <a:spcPct val="104000"/>
              </a:lnSpc>
              <a:spcBef>
                <a:spcPts val="0"/>
              </a:spcBef>
              <a:spcAft>
                <a:spcPts val="0"/>
              </a:spcAft>
            </a:pPr>
            <a:r>
              <a:rPr sz="2600" b="0" i="0">
                <a:solidFill>
                  <a:srgbClr val="1C252B"/>
                </a:solidFill>
                <a:latin typeface="Segoe UI"/>
              </a:rPr>
              <a:t>Backpropagation computes:</a:t>
            </a:r>
          </a:p>
        </p:txBody>
      </p:sp>
      <p:sp>
        <p:nvSpPr>
          <p:cNvPr id="8" name="!!mo0">
            <a:extLst>
              <a:ext uri="{C183D7F6-B498-43B3-948B-1728B52AA6E4}">
                <adec:decorative xmlns:adec="http://schemas.microsoft.com/office/drawing/2017/decorative" val="1"/>
              </a:ext>
            </a:extLst>
          </p:cNvPr>
          <p:cNvSpPr/>
          <p:nvPr/>
        </p:nvSpPr>
        <p:spPr>
          <a:xfrm>
            <a:off x="658368"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mol0">
            <a:extLst>
              <a:ext uri="{C183D7F6-B498-43B3-948B-1728B52AA6E4}">
                <adec:decorative xmlns:adec="http://schemas.microsoft.com/office/drawing/2017/decorative" val="1"/>
              </a:ext>
            </a:extLst>
          </p:cNvPr>
          <p:cNvSpPr/>
          <p:nvPr/>
        </p:nvSpPr>
        <p:spPr>
          <a:xfrm>
            <a:off x="841247" y="2789529"/>
            <a:ext cx="457200" cy="457200"/>
          </a:xfrm>
          <a:prstGeom prst="roundRect">
            <a:avLst>
              <a:gd name="adj" fmla="val 50000"/>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molt0"/>
          <p:cNvSpPr txBox="1"/>
          <p:nvPr/>
        </p:nvSpPr>
        <p:spPr>
          <a:xfrm>
            <a:off x="841247"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A</a:t>
            </a:r>
          </a:p>
        </p:txBody>
      </p:sp>
      <p:sp>
        <p:nvSpPr>
          <p:cNvPr id="11" name="!!mot0"/>
          <p:cNvSpPr txBox="1"/>
          <p:nvPr/>
        </p:nvSpPr>
        <p:spPr>
          <a:xfrm>
            <a:off x="1481328"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the loss</a:t>
            </a:r>
          </a:p>
        </p:txBody>
      </p:sp>
      <p:sp>
        <p:nvSpPr>
          <p:cNvPr id="12" name="!!mo1">
            <a:extLst>
              <a:ext uri="{C183D7F6-B498-43B3-948B-1728B52AA6E4}">
                <adec:decorative xmlns:adec="http://schemas.microsoft.com/office/drawing/2017/decorative" val="1"/>
              </a:ext>
            </a:extLst>
          </p:cNvPr>
          <p:cNvSpPr/>
          <p:nvPr/>
        </p:nvSpPr>
        <p:spPr>
          <a:xfrm>
            <a:off x="6214719"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mol1">
            <a:extLst>
              <a:ext uri="{C183D7F6-B498-43B3-948B-1728B52AA6E4}">
                <adec:decorative xmlns:adec="http://schemas.microsoft.com/office/drawing/2017/decorative" val="1"/>
              </a:ext>
            </a:extLst>
          </p:cNvPr>
          <p:cNvSpPr/>
          <p:nvPr/>
        </p:nvSpPr>
        <p:spPr>
          <a:xfrm>
            <a:off x="6397599" y="2789529"/>
            <a:ext cx="457200" cy="457200"/>
          </a:xfrm>
          <a:prstGeom prst="roundRect">
            <a:avLst>
              <a:gd name="adj" fmla="val 50000"/>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molt1"/>
          <p:cNvSpPr txBox="1"/>
          <p:nvPr/>
        </p:nvSpPr>
        <p:spPr>
          <a:xfrm>
            <a:off x="6397599"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B</a:t>
            </a:r>
          </a:p>
        </p:txBody>
      </p:sp>
      <p:sp>
        <p:nvSpPr>
          <p:cNvPr id="15" name="!!mot1"/>
          <p:cNvSpPr txBox="1"/>
          <p:nvPr/>
        </p:nvSpPr>
        <p:spPr>
          <a:xfrm>
            <a:off x="7037679" y="27133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the gradient of the loss with respect to each weight</a:t>
            </a:r>
          </a:p>
        </p:txBody>
      </p:sp>
      <p:sp>
        <p:nvSpPr>
          <p:cNvPr id="16" name="!!mo2">
            <a:extLst>
              <a:ext uri="{C183D7F6-B498-43B3-948B-1728B52AA6E4}">
                <adec:decorative xmlns:adec="http://schemas.microsoft.com/office/drawing/2017/decorative" val="1"/>
              </a:ext>
            </a:extLst>
          </p:cNvPr>
          <p:cNvSpPr/>
          <p:nvPr/>
        </p:nvSpPr>
        <p:spPr>
          <a:xfrm>
            <a:off x="658368"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mol2">
            <a:extLst>
              <a:ext uri="{C183D7F6-B498-43B3-948B-1728B52AA6E4}">
                <adec:decorative xmlns:adec="http://schemas.microsoft.com/office/drawing/2017/decorative" val="1"/>
              </a:ext>
            </a:extLst>
          </p:cNvPr>
          <p:cNvSpPr/>
          <p:nvPr/>
        </p:nvSpPr>
        <p:spPr>
          <a:xfrm>
            <a:off x="841247" y="3978249"/>
            <a:ext cx="457200" cy="457200"/>
          </a:xfrm>
          <a:prstGeom prst="roundRect">
            <a:avLst>
              <a:gd name="adj" fmla="val 50000"/>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molt2"/>
          <p:cNvSpPr txBox="1"/>
          <p:nvPr/>
        </p:nvSpPr>
        <p:spPr>
          <a:xfrm>
            <a:off x="841247"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C</a:t>
            </a:r>
          </a:p>
        </p:txBody>
      </p:sp>
      <p:sp>
        <p:nvSpPr>
          <p:cNvPr id="19" name="!!mot2"/>
          <p:cNvSpPr txBox="1"/>
          <p:nvPr/>
        </p:nvSpPr>
        <p:spPr>
          <a:xfrm>
            <a:off x="1481328"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the forward predictions</a:t>
            </a:r>
          </a:p>
        </p:txBody>
      </p:sp>
      <p:sp>
        <p:nvSpPr>
          <p:cNvPr id="20" name="!!mo3">
            <a:extLst>
              <a:ext uri="{C183D7F6-B498-43B3-948B-1728B52AA6E4}">
                <adec:decorative xmlns:adec="http://schemas.microsoft.com/office/drawing/2017/decorative" val="1"/>
              </a:ext>
            </a:extLst>
          </p:cNvPr>
          <p:cNvSpPr/>
          <p:nvPr/>
        </p:nvSpPr>
        <p:spPr>
          <a:xfrm>
            <a:off x="6214719"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mol3">
            <a:extLst>
              <a:ext uri="{C183D7F6-B498-43B3-948B-1728B52AA6E4}">
                <adec:decorative xmlns:adec="http://schemas.microsoft.com/office/drawing/2017/decorative" val="1"/>
              </a:ext>
            </a:extLst>
          </p:cNvPr>
          <p:cNvSpPr/>
          <p:nvPr/>
        </p:nvSpPr>
        <p:spPr>
          <a:xfrm>
            <a:off x="6397599" y="3978249"/>
            <a:ext cx="457200" cy="457200"/>
          </a:xfrm>
          <a:prstGeom prst="roundRect">
            <a:avLst>
              <a:gd name="adj" fmla="val 50000"/>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molt3"/>
          <p:cNvSpPr txBox="1"/>
          <p:nvPr/>
        </p:nvSpPr>
        <p:spPr>
          <a:xfrm>
            <a:off x="6397599"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D</a:t>
            </a:r>
          </a:p>
        </p:txBody>
      </p:sp>
      <p:sp>
        <p:nvSpPr>
          <p:cNvPr id="23" name="!!mot3"/>
          <p:cNvSpPr txBox="1"/>
          <p:nvPr/>
        </p:nvSpPr>
        <p:spPr>
          <a:xfrm>
            <a:off x="7037679"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the learning rate</a:t>
            </a:r>
          </a:p>
        </p:txBody>
      </p:sp>
      <p:sp>
        <p:nvSpPr>
          <p:cNvPr id="2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pfill">
            <a:extLst>
              <a:ext uri="{C183D7F6-B498-43B3-948B-1728B52AA6E4}">
                <adec:decorative xmlns:adec="http://schemas.microsoft.com/office/drawing/2017/decorative" val="1"/>
              </a:ext>
            </a:extLst>
          </p:cNvPr>
          <p:cNvSpPr/>
          <p:nvPr/>
        </p:nvSpPr>
        <p:spPr>
          <a:xfrm>
            <a:off x="0" y="0"/>
            <a:ext cx="11649842"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For your notebook</a:t>
            </a:r>
          </a:p>
        </p:txBody>
      </p:sp>
      <p:pic>
        <p:nvPicPr>
          <p:cNvPr id="3" name="!!kicker-icon" descr="pen-fancy-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REVIEW QUESTIONS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17  ·  Neural Network Foundations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114     </a:t>
            </a:r>
            <a:fld id="{7B923582-6A1D-4A82-9198-E2872BD0CDD6}" type="slidenum">
              <a:rPr lang="en-GB" sz="1000">
                <a:solidFill>
                  <a:srgbClr val="8795A1"/>
                </a:solidFill>
                <a:latin typeface="Segoe UI"/>
              </a:rPr>
              <a:t>44</a:t>
            </a:fld>
          </a:p>
        </p:txBody>
      </p:sp>
      <p:sp>
        <p:nvSpPr>
          <p:cNvPr id="7" name="!!rt0">
            <a:extLst>
              <a:ext uri="{C183D7F6-B498-43B3-948B-1728B52AA6E4}">
                <adec:decorative xmlns:adec="http://schemas.microsoft.com/office/drawing/2017/decorative" val="1"/>
              </a:ext>
            </a:extLst>
          </p:cNvPr>
          <p:cNvSpPr/>
          <p:nvPr/>
        </p:nvSpPr>
        <p:spPr>
          <a:xfrm>
            <a:off x="658368" y="1755648"/>
            <a:ext cx="1051560" cy="310896"/>
          </a:xfrm>
          <a:prstGeom prst="roundRect">
            <a:avLst>
              <a:gd name="adj" fmla="val 50000"/>
            </a:avLst>
          </a:prstGeom>
          <a:solidFill>
            <a:srgbClr val="E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rtt0"/>
          <p:cNvSpPr txBox="1"/>
          <p:nvPr/>
        </p:nvSpPr>
        <p:spPr>
          <a:xfrm>
            <a:off x="658368" y="1796795"/>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236794"/>
                </a:solidFill>
                <a:latin typeface="Segoe UI"/>
              </a:rPr>
              <a:t>SHORT</a:t>
            </a:r>
          </a:p>
        </p:txBody>
      </p:sp>
      <p:sp>
        <p:nvSpPr>
          <p:cNvPr id="9" name="!!rq0"/>
          <p:cNvSpPr txBox="1"/>
          <p:nvPr/>
        </p:nvSpPr>
        <p:spPr>
          <a:xfrm>
            <a:off x="1892807" y="1737360"/>
            <a:ext cx="9549079" cy="301142"/>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Explain the vanishing gradient problem and why ReLU mitigates it.</a:t>
            </a:r>
          </a:p>
        </p:txBody>
      </p:sp>
      <p:sp>
        <p:nvSpPr>
          <p:cNvPr id="10" name="!!rt1">
            <a:extLst>
              <a:ext uri="{C183D7F6-B498-43B3-948B-1728B52AA6E4}">
                <adec:decorative xmlns:adec="http://schemas.microsoft.com/office/drawing/2017/decorative" val="1"/>
              </a:ext>
            </a:extLst>
          </p:cNvPr>
          <p:cNvSpPr/>
          <p:nvPr/>
        </p:nvSpPr>
        <p:spPr>
          <a:xfrm>
            <a:off x="658368" y="2276246"/>
            <a:ext cx="1051560" cy="310896"/>
          </a:xfrm>
          <a:prstGeom prst="roundRect">
            <a:avLst>
              <a:gd name="adj" fmla="val 50000"/>
            </a:avLst>
          </a:prstGeom>
          <a:solidFill>
            <a:srgbClr val="E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rtt1"/>
          <p:cNvSpPr txBox="1"/>
          <p:nvPr/>
        </p:nvSpPr>
        <p:spPr>
          <a:xfrm>
            <a:off x="658368" y="2317394"/>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236794"/>
                </a:solidFill>
                <a:latin typeface="Segoe UI"/>
              </a:rPr>
              <a:t>SHORT</a:t>
            </a:r>
          </a:p>
        </p:txBody>
      </p:sp>
      <p:sp>
        <p:nvSpPr>
          <p:cNvPr id="12" name="!!rq1"/>
          <p:cNvSpPr txBox="1"/>
          <p:nvPr/>
        </p:nvSpPr>
        <p:spPr>
          <a:xfrm>
            <a:off x="1892807" y="2257958"/>
            <a:ext cx="9549079" cy="301142"/>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Define an epoch and a batch, and explain how they relate.</a:t>
            </a:r>
          </a:p>
        </p:txBody>
      </p:sp>
      <p:sp>
        <p:nvSpPr>
          <p:cNvPr id="13" name="!!rt2">
            <a:extLst>
              <a:ext uri="{C183D7F6-B498-43B3-948B-1728B52AA6E4}">
                <adec:decorative xmlns:adec="http://schemas.microsoft.com/office/drawing/2017/decorative" val="1"/>
              </a:ext>
            </a:extLst>
          </p:cNvPr>
          <p:cNvSpPr/>
          <p:nvPr/>
        </p:nvSpPr>
        <p:spPr>
          <a:xfrm>
            <a:off x="658368" y="2796844"/>
            <a:ext cx="1051560" cy="310896"/>
          </a:xfrm>
          <a:prstGeom prst="roundRect">
            <a:avLst>
              <a:gd name="adj" fmla="val 50000"/>
            </a:avLst>
          </a:prstGeom>
          <a:solidFill>
            <a:srgbClr val="E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rtt2"/>
          <p:cNvSpPr txBox="1"/>
          <p:nvPr/>
        </p:nvSpPr>
        <p:spPr>
          <a:xfrm>
            <a:off x="658368" y="2837992"/>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236794"/>
                </a:solidFill>
                <a:latin typeface="Segoe UI"/>
              </a:rPr>
              <a:t>SHORT</a:t>
            </a:r>
          </a:p>
        </p:txBody>
      </p:sp>
      <p:sp>
        <p:nvSpPr>
          <p:cNvPr id="15" name="!!rq2"/>
          <p:cNvSpPr txBox="1"/>
          <p:nvPr/>
        </p:nvSpPr>
        <p:spPr>
          <a:xfrm>
            <a:off x="1892807" y="2778556"/>
            <a:ext cx="9549079" cy="602284"/>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Give two reasons to prefer gradient boosting over a neural network on a 5,000-row tabular dataset.</a:t>
            </a:r>
          </a:p>
        </p:txBody>
      </p:sp>
      <p:sp>
        <p:nvSpPr>
          <p:cNvPr id="16" name="!!rt3">
            <a:extLst>
              <a:ext uri="{C183D7F6-B498-43B3-948B-1728B52AA6E4}">
                <adec:decorative xmlns:adec="http://schemas.microsoft.com/office/drawing/2017/decorative" val="1"/>
              </a:ext>
            </a:extLst>
          </p:cNvPr>
          <p:cNvSpPr/>
          <p:nvPr/>
        </p:nvSpPr>
        <p:spPr>
          <a:xfrm>
            <a:off x="658368" y="3618585"/>
            <a:ext cx="1051560" cy="310896"/>
          </a:xfrm>
          <a:prstGeom prst="roundRect">
            <a:avLst>
              <a:gd name="adj" fmla="val 50000"/>
            </a:avLst>
          </a:prstGeom>
          <a:solidFill>
            <a:srgbClr val="E2EFE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rtt3"/>
          <p:cNvSpPr txBox="1"/>
          <p:nvPr/>
        </p:nvSpPr>
        <p:spPr>
          <a:xfrm>
            <a:off x="658368" y="3659733"/>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107964"/>
                </a:solidFill>
                <a:latin typeface="Segoe UI"/>
              </a:rPr>
              <a:t>APPLIED</a:t>
            </a:r>
          </a:p>
        </p:txBody>
      </p:sp>
      <p:sp>
        <p:nvSpPr>
          <p:cNvPr id="18" name="!!rq3"/>
          <p:cNvSpPr txBox="1"/>
          <p:nvPr/>
        </p:nvSpPr>
        <p:spPr>
          <a:xfrm>
            <a:off x="1892807" y="3600297"/>
            <a:ext cx="9549079" cy="602284"/>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A network has 10 inputs, one hidden layer of 20 neurons, and 3 softmax outputs. Count the learnable parameters, showing your working.</a:t>
            </a:r>
          </a:p>
        </p:txBody>
      </p:sp>
      <p:sp>
        <p:nvSpPr>
          <p:cNvPr id="19" name="!!rt4">
            <a:extLst>
              <a:ext uri="{C183D7F6-B498-43B3-948B-1728B52AA6E4}">
                <adec:decorative xmlns:adec="http://schemas.microsoft.com/office/drawing/2017/decorative" val="1"/>
              </a:ext>
            </a:extLst>
          </p:cNvPr>
          <p:cNvSpPr/>
          <p:nvPr/>
        </p:nvSpPr>
        <p:spPr>
          <a:xfrm>
            <a:off x="658368" y="4440326"/>
            <a:ext cx="1051560" cy="310896"/>
          </a:xfrm>
          <a:prstGeom prst="roundRect">
            <a:avLst>
              <a:gd name="adj" fmla="val 50000"/>
            </a:avLst>
          </a:prstGeom>
          <a:solidFill>
            <a:srgbClr val="E2EFE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rtt4"/>
          <p:cNvSpPr txBox="1"/>
          <p:nvPr/>
        </p:nvSpPr>
        <p:spPr>
          <a:xfrm>
            <a:off x="658368" y="4481474"/>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107964"/>
                </a:solidFill>
                <a:latin typeface="Segoe UI"/>
              </a:rPr>
              <a:t>APPLIED</a:t>
            </a:r>
          </a:p>
        </p:txBody>
      </p:sp>
      <p:sp>
        <p:nvSpPr>
          <p:cNvPr id="21" name="!!rq4"/>
          <p:cNvSpPr txBox="1"/>
          <p:nvPr/>
        </p:nvSpPr>
        <p:spPr>
          <a:xfrm>
            <a:off x="1892807" y="4422038"/>
            <a:ext cx="9549079" cy="602284"/>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Your training loss oscillates wildly and never settles. List three candidate causes in the order you would investigate them, with the check you would run for each.</a:t>
            </a:r>
          </a:p>
        </p:txBody>
      </p:sp>
      <p:sp>
        <p:nvSpPr>
          <p:cNvPr id="2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pfill">
            <a:extLst>
              <a:ext uri="{C183D7F6-B498-43B3-948B-1728B52AA6E4}">
                <adec:decorative xmlns:adec="http://schemas.microsoft.com/office/drawing/2017/decorative" val="1"/>
              </a:ext>
            </a:extLst>
          </p:cNvPr>
          <p:cNvSpPr/>
          <p:nvPr/>
        </p:nvSpPr>
        <p:spPr>
          <a:xfrm>
            <a:off x="0" y="0"/>
            <a:ext cx="11920768"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7A3A95"/>
        </a:solidFill>
        <a:effectLst/>
      </p:bgPr>
    </p:bg>
    <p:spTree>
      <p:nvGrpSpPr>
        <p:cNvPr id="1" name=""/>
        <p:cNvGrpSpPr/>
        <p:nvPr/>
      </p:nvGrpSpPr>
      <p:grpSpPr/>
      <p:sp>
        <p:nvSpPr>
          <p:cNvPr id="3" name="!!wm">
            <a:extLst>
              <a:ext uri="{C183D7F6-B498-43B3-948B-1728B52AA6E4}">
                <adec:decorative xmlns:adec="http://schemas.microsoft.com/office/drawing/2017/decorative" val="1"/>
              </a:ext>
            </a:extLst>
          </p:cNvPr>
          <p:cNvSpPr txBox="1"/>
          <p:nvPr/>
        </p:nvSpPr>
        <p:spPr>
          <a:xfrm>
            <a:off x="6430975" y="-502920"/>
            <a:ext cx="5486400" cy="4572000"/>
          </a:xfrm>
          <a:prstGeom prst="rect">
            <a:avLst/>
          </a:prstGeom>
          <a:noFill/>
        </p:spPr>
        <p:txBody>
          <a:bodyPr wrap="square" anchor="t" lIns="0" rIns="0" tIns="0" bIns="0">
            <a:noAutofit/>
          </a:bodyPr>
          <a:lstStyle/>
          <a:p>
            <a:pPr algn="r">
              <a:lnSpc>
                <a:spcPct val="100000"/>
              </a:lnSpc>
              <a:spcBef>
                <a:spcPts val="0"/>
              </a:spcBef>
              <a:spcAft>
                <a:spcPts val="0"/>
              </a:spcAft>
            </a:pPr>
            <a:r>
              <a:rPr sz="28000" b="0" i="0">
                <a:solidFill>
                  <a:srgbClr val="854A9D"/>
                </a:solidFill>
                <a:latin typeface="Segoe UI Black"/>
              </a:rPr>
              <a:t>17</a:t>
            </a:r>
          </a:p>
        </p:txBody>
      </p:sp>
      <p:sp>
        <p:nvSpPr>
          <p:cNvPr id="2" name="!!title"/>
          <p:cNvSpPr>
            <a:spLocks noGrp="1"/>
          </p:cNvSpPr>
          <p:nvPr>
            <p:ph type="title"/>
          </p:nvPr>
        </p:nvSpPr>
        <p:spPr>
          <a:xfrm>
            <a:off x="658368" y="1243584"/>
            <a:ext cx="8229600" cy="822960"/>
          </a:xfrm>
        </p:spPr>
        <p:txBody>
          <a:bodyPr wrap="square" lIns="0" rIns="0" tIns="0" bIns="0" anchor="t">
            <a:noAutofit/>
          </a:bodyPr>
          <a:lstStyle/>
          <a:p>
            <a:pPr algn="l">
              <a:lnSpc>
                <a:spcPct val="96000"/>
              </a:lnSpc>
            </a:pPr>
            <a:r>
              <a:rPr sz="4000" b="0">
                <a:solidFill>
                  <a:srgbClr val="FFFFFF"/>
                </a:solidFill>
                <a:latin typeface="Segoe UI Semibold"/>
              </a:rPr>
              <a:t>End of Chapter 17</a:t>
            </a:r>
          </a:p>
        </p:txBody>
      </p:sp>
      <p:sp>
        <p:nvSpPr>
          <p:cNvPr id="4" name="!!tbar">
            <a:extLst>
              <a:ext uri="{C183D7F6-B498-43B3-948B-1728B52AA6E4}">
                <adec:decorative xmlns:adec="http://schemas.microsoft.com/office/drawing/2017/decorative" val="1"/>
              </a:ext>
            </a:extLst>
          </p:cNvPr>
          <p:cNvSpPr/>
          <p:nvPr/>
        </p:nvSpPr>
        <p:spPr>
          <a:xfrm>
            <a:off x="658368" y="1024128"/>
            <a:ext cx="822960" cy="640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cl0">
            <a:extLst>
              <a:ext uri="{C183D7F6-B498-43B3-948B-1728B52AA6E4}">
                <adec:decorative xmlns:adec="http://schemas.microsoft.com/office/drawing/2017/decorative" val="1"/>
              </a:ext>
            </a:extLst>
          </p:cNvPr>
          <p:cNvSpPr/>
          <p:nvPr/>
        </p:nvSpPr>
        <p:spPr>
          <a:xfrm>
            <a:off x="658368" y="2286000"/>
            <a:ext cx="5300319" cy="1097280"/>
          </a:xfrm>
          <a:prstGeom prst="roundRect">
            <a:avLst>
              <a:gd name="adj" fmla="val 8333"/>
            </a:avLst>
          </a:prstGeom>
          <a:solidFill>
            <a:srgbClr val="5F2D7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cll0"/>
          <p:cNvSpPr txBox="1"/>
          <p:nvPr/>
        </p:nvSpPr>
        <p:spPr>
          <a:xfrm>
            <a:off x="932688" y="2468880"/>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CCB4D7"/>
                </a:solidFill>
                <a:latin typeface="Segoe UI"/>
              </a:rPr>
              <a:t>NEXT</a:t>
            </a:r>
          </a:p>
        </p:txBody>
      </p:sp>
      <p:sp>
        <p:nvSpPr>
          <p:cNvPr id="7" name="!!clv0"/>
          <p:cNvSpPr txBox="1"/>
          <p:nvPr/>
        </p:nvSpPr>
        <p:spPr>
          <a:xfrm>
            <a:off x="932688" y="2761488"/>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2100" b="0" i="0">
                <a:solidFill>
                  <a:srgbClr val="FFFFFF"/>
                </a:solidFill>
                <a:latin typeface="Segoe UI Semibold"/>
              </a:rPr>
              <a:t>Chapter 18 — Deep Architectures</a:t>
            </a:r>
          </a:p>
        </p:txBody>
      </p:sp>
      <p:sp>
        <p:nvSpPr>
          <p:cNvPr id="8" name="!!cl1">
            <a:extLst>
              <a:ext uri="{C183D7F6-B498-43B3-948B-1728B52AA6E4}">
                <adec:decorative xmlns:adec="http://schemas.microsoft.com/office/drawing/2017/decorative" val="1"/>
              </a:ext>
            </a:extLst>
          </p:cNvPr>
          <p:cNvSpPr/>
          <p:nvPr/>
        </p:nvSpPr>
        <p:spPr>
          <a:xfrm>
            <a:off x="6233007" y="2286000"/>
            <a:ext cx="5300319" cy="1097280"/>
          </a:xfrm>
          <a:prstGeom prst="roundRect">
            <a:avLst>
              <a:gd name="adj" fmla="val 8333"/>
            </a:avLst>
          </a:prstGeom>
          <a:solidFill>
            <a:srgbClr val="5F2D7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ll1"/>
          <p:cNvSpPr txBox="1"/>
          <p:nvPr/>
        </p:nvSpPr>
        <p:spPr>
          <a:xfrm>
            <a:off x="6507327" y="2468880"/>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CCB4D7"/>
                </a:solidFill>
                <a:latin typeface="Segoe UI"/>
              </a:rPr>
              <a:t>READ</a:t>
            </a:r>
          </a:p>
        </p:txBody>
      </p:sp>
      <p:sp>
        <p:nvSpPr>
          <p:cNvPr id="10" name="!!clv1"/>
          <p:cNvSpPr txBox="1"/>
          <p:nvPr/>
        </p:nvSpPr>
        <p:spPr>
          <a:xfrm>
            <a:off x="6507327" y="2761488"/>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2100" b="0" i="0">
                <a:solidFill>
                  <a:srgbClr val="FFFFFF"/>
                </a:solidFill>
                <a:latin typeface="Segoe UI Semibold"/>
              </a:rPr>
              <a:t>Handout Chapter 17, pages 109–114</a:t>
            </a:r>
          </a:p>
        </p:txBody>
      </p:sp>
      <p:sp>
        <p:nvSpPr>
          <p:cNvPr id="11" name="!!cl2">
            <a:extLst>
              <a:ext uri="{C183D7F6-B498-43B3-948B-1728B52AA6E4}">
                <adec:decorative xmlns:adec="http://schemas.microsoft.com/office/drawing/2017/decorative" val="1"/>
              </a:ext>
            </a:extLst>
          </p:cNvPr>
          <p:cNvSpPr/>
          <p:nvPr/>
        </p:nvSpPr>
        <p:spPr>
          <a:xfrm>
            <a:off x="658368" y="3584448"/>
            <a:ext cx="5300319" cy="1097280"/>
          </a:xfrm>
          <a:prstGeom prst="roundRect">
            <a:avLst>
              <a:gd name="adj" fmla="val 8333"/>
            </a:avLst>
          </a:prstGeom>
          <a:solidFill>
            <a:srgbClr val="5F2D7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ll2"/>
          <p:cNvSpPr txBox="1"/>
          <p:nvPr/>
        </p:nvSpPr>
        <p:spPr>
          <a:xfrm>
            <a:off x="932688" y="3767328"/>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CCB4D7"/>
                </a:solidFill>
                <a:latin typeface="Segoe UI"/>
              </a:rPr>
              <a:t>THIS WEEK'S LAB</a:t>
            </a:r>
          </a:p>
        </p:txBody>
      </p:sp>
      <p:sp>
        <p:nvSpPr>
          <p:cNvPr id="13" name="!!clv2"/>
          <p:cNvSpPr txBox="1"/>
          <p:nvPr/>
        </p:nvSpPr>
        <p:spPr>
          <a:xfrm>
            <a:off x="932688" y="4059935"/>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FFFFFF"/>
                </a:solidFill>
                <a:latin typeface="Segoe UI Semibold"/>
              </a:rPr>
              <a:t>Network from scratch; transfer learning</a:t>
            </a:r>
          </a:p>
        </p:txBody>
      </p:sp>
      <p:sp>
        <p:nvSpPr>
          <p:cNvPr id="14"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Data Science  ·  Chapter 17  ·  Neural Network Foundations</a:t>
            </a:r>
          </a:p>
        </p:txBody>
      </p:sp>
      <p:sp>
        <p:nvSpPr>
          <p:cNvPr id="15" name="!!footR"/>
          <p:cNvSpPr txBox="1"/>
          <p:nvPr/>
        </p:nvSpPr>
        <p:spPr>
          <a:xfrm>
            <a:off x="6639595" y="6437376"/>
            <a:ext cx="4893731" cy="237744"/>
          </a:xfrm>
          <a:prstGeom prst="rect">
            <a:avLst/>
          </a:prstGeom>
          <a:noFill/>
        </p:spPr>
        <p:txBody>
          <a:bodyPr wrap="square" anchor="t" lIns="0" rIns="0" tIns="0" bIns="0">
            <a:noAutofit/>
          </a:bodyPr>
          <a:lstStyle/>
          <a:p>
            <a:pPr algn="r"/>
            <a:fld id="{904497FD-537F-48C3-8E5C-D6DEE06F6FC6}" type="slidenum">
              <a:rPr lang="en-GB" sz="1000">
                <a:solidFill>
                  <a:srgbClr val="D5DEE5"/>
                </a:solidFill>
                <a:latin typeface="Segoe UI"/>
              </a:rPr>
              <a:t>45</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theme/theme1.xml><?xml version="1.0" encoding="utf-8"?>
<a:theme xmlns:a="http://schemas.openxmlformats.org/drawingml/2006/main" name="Data Science Fall 2026">
  <a:themeElements>
    <a:clrScheme name="Data Science Fall 2026">
      <a:dk1>
        <a:srgbClr val="1C252B"/>
      </a:dk1>
      <a:lt1>
        <a:srgbClr val="FFFFFF"/>
      </a:lt1>
      <a:dk2>
        <a:srgbClr val="1A5276"/>
      </a:dk2>
      <a:lt2>
        <a:srgbClr val="EBF5FB"/>
      </a:lt2>
      <a:accent1>
        <a:srgbClr val="1A5276"/>
      </a:accent1>
      <a:accent2>
        <a:srgbClr val="2E86C1"/>
      </a:accent2>
      <a:accent3>
        <a:srgbClr val="E74C3C"/>
      </a:accent3>
      <a:accent4>
        <a:srgbClr val="27AE60"/>
      </a:accent4>
      <a:accent5>
        <a:srgbClr val="8E44AD"/>
      </a:accent5>
      <a:accent6>
        <a:srgbClr val="B7950B"/>
      </a:accent6>
      <a:hlink>
        <a:srgbClr val="2E86C1"/>
      </a:hlink>
      <a:folHlink>
        <a:srgbClr val="8E44AD"/>
      </a:folHlink>
    </a:clrScheme>
    <a:fontScheme name="Data Science Fall 2026">
      <a:majorFont>
        <a:latin typeface="Segoe UI Semibold"/>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Segoe U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17: Neural Network Foundations</dc:title>
  <dc:subject>Data Science — From Foundations to Intelligent Systems · BSIT · Fall 2026</dc:subject>
  <dc:creator>Dr. Mustafa Hameed</dc:creator>
  <cp:keywords>data science; lecture slides; BSIT; Fall 2026</cp:keywords>
  <dc:description>generated using python-pptx</dc:description>
  <cp:lastModifiedBy>Steve Canny</cp:lastModifiedBy>
  <cp:revision>1</cp:revision>
  <dcterms:created xsi:type="dcterms:W3CDTF">2013-01-27T09:14:16Z</dcterms:created>
  <dcterms:modified xsi:type="dcterms:W3CDTF">2013-01-27T09:15:58Z</dcterms:modified>
  <cp:category>Lecture slides</cp:category>
</cp:coreProperties>
</file>